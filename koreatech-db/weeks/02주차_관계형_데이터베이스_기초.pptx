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데이터베이스 기초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· 키 · 관계 · ERD · 무결성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· 행 · 열 등 관계형 모델 용어를 다온유통 테이블로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차수(Degree)와 카디널리티(Cardinality)를 구분해 계산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 · 외래키 · 후보키 · 복합키를 5개 테이블에서 찾는다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1:1 · 1:N · M:N을 구분하고 M:N을 연결 테이블로 푸는 이유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ERD를 읽고 테이블 간 관계와 참조 방향을 파악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오늘의 모든 예시는 다온유통 5개 테이블 — 「경영 실습 DB」 메뉴에서 함께 확인하세요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테이블의 구조 — 행과 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키(Key)의 종류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 — 1:1, 1:N, M:N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 읽는 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제약조건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테이블의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데이터 모델의 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이론 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 용어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용어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릴레이션(Relation)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테이블(Table)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90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파일(File)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2차원 표 형태의 데이터 집합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튜플(Tuple)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행(Row)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레코드(Record)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하나의 개체 인스턴스 — 고객 한 명, 주문 한 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열(Column)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필드(Field)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개체가 갖는 하나의 특성 — 이름, 등급, 포인트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도메인(Domain)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자료형 + 제약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90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타입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속성이 가질 수 있는 값의 집합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1970년 E. F. Codd가 제안 — 모든 데이터를 2차원 테이블로 · 시험에는 이론 용어(릴레이션 · 튜플 · 속성)가 자주 나온다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테이블의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customers 테이블 예시 (일부)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customers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+---------+--------+--------+------+-------------------+-------------+--------+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| cust_id | name   | grade  | city | email             | joined_date | points |  ← 열(속성) 7개 = 차수 7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+---------+--------+--------+------+-------------------+-------------+--------+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| C001    | 한가람 | VIP    | 서울 | garam@example.com | 2024-03-12  |   4500 |  ← 행(튜플) 하나 = 고객 한 명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| C005    | 박서연 | SILVER | 광주 | NULL              | 2025-04-17  |    300 |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| C010    | 서지안 | SILVER | 대전 | jian@example.com  | 2026-03-01  |      0 |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+---------+--------+--------+------+-------------------+-------------+--------+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(전체 데이터는 고객 10명 → 카디널리티 10)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도메인(grade)  = { 'VIP', 'GOLD', 'SILVER' }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도메인(points) = 0 이상의 정수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열(속성) 7개 = 차수 7 · 행(튜플) 하나 = 고객 한 명 · 전체 고객 10명 = 카디널리티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테이블의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차수와 카디널리티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차수(Degree) = 열의 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테이블은 7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스키마가 바뀌지 않는 한 고정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카디널리티 = 행의 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테이블은 10 (고객 10명)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 · 삭제될 때마다 변한다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신규 고객이 가입하면 카디널리티만 늘고 차수는 그대로 — 「차수 = 열, 기수 = 행」으로 외워 둡니다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테이블의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릴레이션의 네 가지 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튜플의 유일성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튜플은 서로 다르다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고객 행이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존재하지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튜플의 무순서성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튜플 사이에는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순서가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속성의 무순서성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 사이에도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순서가 없다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(이름으로 참조)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속성값의 원자성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이상 분해되지 않는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원자값 — 한 칸에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전화번호 두 개는 안 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키(Key)의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키의 분류 — 유일성과 최소성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유일성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14020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최소성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3860" y="2781300"/>
            <a:ext cx="91211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3860" y="2781300"/>
            <a:ext cx="9121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슈퍼키(Super Key)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344805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0" y="344805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4805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8930" y="344805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23860" y="3448050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110" y="3448050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유일성만 만족 — (cust_id), (cust_id, name)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후보키(Candidate Key)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414337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8750" y="414337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4337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14337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3860" y="4143375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110" y="4143375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유일성 + 최소성 — customers의 cust_id, email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기본키(Primary Key)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483870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483870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83870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483870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3860" y="4838700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110" y="4838700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후보키 중 대표로 선정 — cust_id. NULL 불가, 테이블당 1개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대체키(Alternate Key)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43500" y="553402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8750" y="553402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53402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8930" y="553402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3860" y="5534025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110" y="5534025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선정되지 않은 나머지 후보키 — email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외래키(Foreign Key)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43500" y="622935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38750" y="622935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229350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229350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23860" y="6229350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9110" y="6229350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다른(또는 자기) 테이블의 기본키를 참조 — orders.cust_id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복합키(Composite Key)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43500" y="692467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38750" y="692467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6924675"/>
            <a:ext cx="14020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8930" y="6924675"/>
            <a:ext cx="12115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23860" y="6924675"/>
            <a:ext cx="9121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19110" y="6924675"/>
            <a:ext cx="8930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개 이상의 열을 묶은 키 — order_items의 (order_id, prod_id)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유일성 = 키 값으로 각 튜플을 유일하게 식별 · 최소성 = 식별에 꼭 필요한 최소한의 속성으로만 구성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키(Key)의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 판별 연습 ① — 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customers(cust_id, name, grade, city, email, joined_date, points)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고객번호(cust_id)는 고객마다 유일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이메일(email)도 UNIQUE 제약으로 중복 불가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이름(name)은 동명이인이 있을 수 있음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슈퍼키   : (cust_id), (email), (cust_id, name), (email, city) ...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후보키   : cust_id, email               ← 유일성 + 최소성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기본키   : cust_id                      ← 후보키 중 대표로 선정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대체키   : email                        ← 선정되지 않은 후보키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email은 UNIQUE지만 NULL을 허용(C005 박서연은 이메일 미입력) — 기본키는 NULL이 될 수 없어 cust_id를 선정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키(Key)의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 판별 연습 ② — 복합키와 외래키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order_items(order_id, prod_id, qty, unit_price)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한 주문 안에서 같은 상품은 한 행뿐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(order_id, prod_id) 둘을 묶어야 행이 식별됨 = 복합 기본키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orders(order_id, cust_id, emp_id, order_date, status)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cust_id → customers(cust_id) 참조 = 외래키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emp_id  → employees(emp_id)  참조 = 외래키 (온라인 주문은 NULL)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employees(emp_id, ..., manager_id)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· manager_id → employees(emp_id) 참조 = 자기 테이블을 참조하는 외래키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후보키가 여럿이면 「값이 절대 비지 않고 변하지 않는 쪽」을 기본키로 고르는 것이 실무 원칙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관계의 세 가지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 상대방 행 하나에만 대응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 1명 ↔ 사원증 1장 (별도 테이블로 분리할 경우)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 행 하나가 상대방 여러 행에 대응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1719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1719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1명 → 주문 여러 건 (customers–orders)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M:N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 여러 행에 대응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8958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8958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하나에 상품 여러 개, 상품 하나가 여러 주문에 (orders–products)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관계 = 여러 테이블이 서로 참조하며 연결되는 방식 · 유형은 양쪽에 몇 개의 행이 대응하는가로 나뉜다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customers–orders : 1:N 관계 — 실제 데이터로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8848725" cy="45815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고객은 여러 번 주문하지만 주문 한 건의 주인은 한 명 — N쪽(orders)에 외래키 cust_id를 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orders–products : M:N 관계와 연결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11068050" cy="46243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M:N은 두 테이블만으로 표현할 수 없다 — 가운데 order_items를 두고 1:N 두 개로 해소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연결 테이블은 단순한 다리가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qty — 수량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 자체가 갖는 데이터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1001에 P003이 2개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unit_price — 단가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시점의 단가를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따로 저장한다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왜 따로 저장하나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가격이 나중에 바뀌어도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결제 금액은 그대로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관계가 갖는 데이터를 연결 테이블에 싣는 것 — 경영 데이터 설계의 기본기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employees 자기참조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9010650" cy="43481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직원의 상급자도 같은 직원 — manager_id는 자기 자신의 기본키(emp_id)를 참조하는 외래키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ERD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까마귀발(Crow's Foot) 표기법의 기호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89611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─┼─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정확히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4480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130" y="34480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반드시 하나와 연결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─&lt;  (까마귀발)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(여러 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41719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9130" y="41719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개와 연결될 수 있음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─○─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허용 (선택)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48958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130" y="48958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연결이 없어도 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 ──&lt; 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관계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5619750"/>
            <a:ext cx="89611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5619750"/>
            <a:ext cx="87706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까마귀발이 붙은 쪽이 N쪽 = 외래키가 있는 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ERD(Entity-Relationship Diagram) — 테이블(개체)과 관계를 그림으로 표현한 설계도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ERD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ERD (까마귀발 표기)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12296775" cy="43481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 1:N orders 1:N order_items N:1 products · employees 1:N orders(담당 없음 허용) · 자기참조 1:N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ERD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 읽는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질문은 언제나 「외래키가 어느 쪽에 있는가」 — 이 감각이 있어야 7주차 조인에서 연결할 열이 바로 보인다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개체(박스)부터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5개를 확인한다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관계선을 따라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까마귀발(&lt;)이 붙은 쪽이 N쪽이고, 그쪽에 외래키가 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M:N이 보이면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사이에 연결 테이블이 있는지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orders–products는 order_items로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무결성 제약조건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DBMS가 자동으로 검사하는 네 가지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무결성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6362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규칙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위반 사례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개체 무결성(Entity)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기본키는 NULL이 될 수 없고 중복될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고객번호가 NULL인 고객 행을 삽입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참조 무결성(Referential)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외래키는 참조하는 테이블의 기본키 값이거나 NULL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존재하지 않는 상품번호로 주문 상세를 입력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도메인 무결성(Domain)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속성값은 정의된 도메인에 속해야 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수량(qty)에 0이나 음수를 입력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사용자 정의 무결성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규칙에 따른 제약을 만족해야 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판매가(price)에 음수를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참조 무결성 덕분에 「유령 주문」이 생기지 않는다 — 제약조건을 SQL로 정의하는 법은 3주차 DDL에서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기본키(Primary Key)의 특성으로 옳지 않은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유일성을 만족한다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최소성을 만족한다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값을 가질 수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테이블당 하나만 존재한다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NULL 값을 가질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기본키는 개체 무결성에 따라 NULL을 가질 수 없습니다. NULL을 허용하는 것은 UNIQUE 제약입니다.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= 릴레이션, 행 = 튜플, 열 = 속성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차수 = 열의 수, 카디널리티 = 행의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기본키는 후보키 중 대표 — customers는 cust_id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1:N은 N쪽에 외래키 — orders.cust_id → customers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M:N은 연결 테이블로 — order_items, 복합키 (order_id, prod_id)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employees.manager_id처럼 자기 테이블을 참조하는 외래키도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ERD에서 까마귀발이 붙은 쪽이 N쪽 = 외래키가 있는 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3주차 · SQL 개요와 DDL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SQL의 분류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· DML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DCL · TCL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타입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숫자형 · 문자형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· 시간형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제약조건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PRIMARY KEY · CHECK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FOREIGN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스키마 만들기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5개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 · DROP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2주차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찾은 키와 관계를 다음 주 SQL로 직접 만듭니다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용어 · 차수 · 카디널리티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키의 종류와 기본키 선정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 · M:N · 자기참조 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 읽기와 무결성 제약조건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2주차 실습 문제 9개 · 퀴즈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