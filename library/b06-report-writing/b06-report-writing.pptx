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300" r:id="rId34"/>
    <p:sldId id="301" r:id="rId30"/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1"/>
    <p:sldId id="285" r:id="rId32"/>
    <p:sldId id="286" r:id="rId33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2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627" y="3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4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44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43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6015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0.png"/><Relationship Id="rId4" Type="http://schemas.openxmlformats.org/officeDocument/2006/relationships/image" Target="../media/image13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Relationship Id="rId4" Type="http://schemas.openxmlformats.org/officeDocument/2006/relationships/image" Target="../media/image13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31.png"/><Relationship Id="rId8" Type="http://schemas.openxmlformats.org/officeDocument/2006/relationships/image" Target="../media/image5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0.png"/><Relationship Id="rId4" Type="http://schemas.openxmlformats.org/officeDocument/2006/relationships/image" Target="../media/image41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png"/><Relationship Id="rId9" Type="http://schemas.openxmlformats.org/officeDocument/2006/relationships/image" Target="../media/image7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Relationship Id="rId9" Type="http://schemas.openxmlformats.org/officeDocument/2006/relationships/image" Target="../media/image79.png"/><Relationship Id="rId10" Type="http://schemas.openxmlformats.org/officeDocument/2006/relationships/image" Target="../media/image80.png"/><Relationship Id="rId11" Type="http://schemas.openxmlformats.org/officeDocument/2006/relationships/image" Target="../media/image8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image" Target="../media/image4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Relationship Id="rId9" Type="http://schemas.openxmlformats.org/officeDocument/2006/relationships/image" Target="../media/image101.png"/><Relationship Id="rId10" Type="http://schemas.openxmlformats.org/officeDocument/2006/relationships/image" Target="../media/image10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Relationship Id="rId6" Type="http://schemas.openxmlformats.org/officeDocument/2006/relationships/image" Target="../media/image110.png"/><Relationship Id="rId7" Type="http://schemas.openxmlformats.org/officeDocument/2006/relationships/image" Target="../media/image1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2.png"/><Relationship Id="rId4" Type="http://schemas.openxmlformats.org/officeDocument/2006/relationships/image" Target="../media/image13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41.png"/><Relationship Id="rId6" Type="http://schemas.openxmlformats.org/officeDocument/2006/relationships/image" Target="../media/image117.png"/><Relationship Id="rId7" Type="http://schemas.openxmlformats.org/officeDocument/2006/relationships/image" Target="../media/image118.png"/><Relationship Id="rId8" Type="http://schemas.openxmlformats.org/officeDocument/2006/relationships/image" Target="../media/image1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Relationship Id="rId6" Type="http://schemas.openxmlformats.org/officeDocument/2006/relationships/image" Target="../media/image1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4.png"/><Relationship Id="rId4" Type="http://schemas.openxmlformats.org/officeDocument/2006/relationships/image" Target="../media/image121.png"/><Relationship Id="rId5" Type="http://schemas.openxmlformats.org/officeDocument/2006/relationships/image" Target="../media/image125.png"/><Relationship Id="rId6" Type="http://schemas.openxmlformats.org/officeDocument/2006/relationships/image" Target="../media/image126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33.png"/><Relationship Id="rId4" Type="http://schemas.openxmlformats.org/officeDocument/2006/relationships/image" Target="../media/image13.png"/><Relationship Id="rId5" Type="http://schemas.openxmlformats.org/officeDocument/2006/relationships/image" Target="../media/image53.png"/><Relationship Id="rId6" Type="http://schemas.openxmlformats.org/officeDocument/2006/relationships/image" Target="../media/image13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8.png"/><Relationship Id="rId4" Type="http://schemas.openxmlformats.org/officeDocument/2006/relationships/image" Target="../media/image139.png"/><Relationship Id="rId5" Type="http://schemas.openxmlformats.org/officeDocument/2006/relationships/image" Target="../media/image140.png"/><Relationship Id="rId6" Type="http://schemas.openxmlformats.org/officeDocument/2006/relationships/image" Target="../media/image1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48.png"/><Relationship Id="rId4" Type="http://schemas.openxmlformats.org/officeDocument/2006/relationships/image" Target="../media/image13.png"/><Relationship Id="rId5" Type="http://schemas.openxmlformats.org/officeDocument/2006/relationships/image" Target="../media/image1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50.png"/><Relationship Id="rId4" Type="http://schemas.openxmlformats.org/officeDocument/2006/relationships/image" Target="../media/image9.png"/><Relationship Id="rId5" Type="http://schemas.openxmlformats.org/officeDocument/2006/relationships/image" Target="../media/image151.png"/><Relationship Id="rId6" Type="http://schemas.openxmlformats.org/officeDocument/2006/relationships/image" Target="../media/image15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53.png"/><Relationship Id="rId4" Type="http://schemas.openxmlformats.org/officeDocument/2006/relationships/image" Target="../media/image13.png"/><Relationship Id="rId5" Type="http://schemas.openxmlformats.org/officeDocument/2006/relationships/image" Target="../media/image154.png"/><Relationship Id="rId6" Type="http://schemas.openxmlformats.org/officeDocument/2006/relationships/image" Target="../media/image155.png"/><Relationship Id="rId7" Type="http://schemas.openxmlformats.org/officeDocument/2006/relationships/image" Target="../media/image15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Relationship Id="rId9" Type="http://schemas.openxmlformats.org/officeDocument/2006/relationships/image" Target="../media/image163.png"/><Relationship Id="rId10" Type="http://schemas.openxmlformats.org/officeDocument/2006/relationships/image" Target="../media/image164.png"/><Relationship Id="rId11" Type="http://schemas.openxmlformats.org/officeDocument/2006/relationships/image" Target="../media/image165.png"/><Relationship Id="rId12" Type="http://schemas.openxmlformats.org/officeDocument/2006/relationships/image" Target="../media/image166.png"/><Relationship Id="rId13" Type="http://schemas.openxmlformats.org/officeDocument/2006/relationships/image" Target="../media/image167.png"/><Relationship Id="rId14" Type="http://schemas.openxmlformats.org/officeDocument/2006/relationships/image" Target="../media/image16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5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78.png"/><Relationship Id="rId4" Type="http://schemas.openxmlformats.org/officeDocument/2006/relationships/image" Target="../media/image179.png"/><Relationship Id="rId5" Type="http://schemas.openxmlformats.org/officeDocument/2006/relationships/image" Target="../media/image180.png"/><Relationship Id="rId6" Type="http://schemas.openxmlformats.org/officeDocument/2006/relationships/image" Target="../media/image181.png"/><Relationship Id="rId7" Type="http://schemas.openxmlformats.org/officeDocument/2006/relationships/image" Target="../media/image182.png"/><Relationship Id="rId8" Type="http://schemas.openxmlformats.org/officeDocument/2006/relationships/image" Target="../media/image183.png"/><Relationship Id="rId9" Type="http://schemas.openxmlformats.org/officeDocument/2006/relationships/image" Target="../media/image18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5.png"/><Relationship Id="rId4" Type="http://schemas.openxmlformats.org/officeDocument/2006/relationships/image" Target="../media/image186.png"/><Relationship Id="rId5" Type="http://schemas.openxmlformats.org/officeDocument/2006/relationships/image" Target="../media/image187.png"/><Relationship Id="rId6" Type="http://schemas.openxmlformats.org/officeDocument/2006/relationships/image" Target="../media/image188.png"/><Relationship Id="rId7" Type="http://schemas.openxmlformats.org/officeDocument/2006/relationships/image" Target="../media/image189.png"/><Relationship Id="rId8" Type="http://schemas.openxmlformats.org/officeDocument/2006/relationships/image" Target="../media/image190.png"/><Relationship Id="rId9" Type="http://schemas.openxmlformats.org/officeDocument/2006/relationships/image" Target="../media/image191.png"/><Relationship Id="rId10" Type="http://schemas.openxmlformats.org/officeDocument/2006/relationships/image" Target="../media/image192.png"/><Relationship Id="rId11" Type="http://schemas.openxmlformats.org/officeDocument/2006/relationships/image" Target="../media/image19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.png"/><Relationship Id="rId4" Type="http://schemas.openxmlformats.org/officeDocument/2006/relationships/image" Target="../media/image176.png"/><Relationship Id="rId5" Type="http://schemas.openxmlformats.org/officeDocument/2006/relationships/image" Target="../media/image194.png"/><Relationship Id="rId6" Type="http://schemas.openxmlformats.org/officeDocument/2006/relationships/image" Target="../media/image19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53.png"/><Relationship Id="rId4" Type="http://schemas.openxmlformats.org/officeDocument/2006/relationships/image" Target="../media/image196.png"/><Relationship Id="rId5" Type="http://schemas.openxmlformats.org/officeDocument/2006/relationships/image" Target="../media/image197.png"/><Relationship Id="rId6" Type="http://schemas.openxmlformats.org/officeDocument/2006/relationships/image" Target="../media/image198.png"/><Relationship Id="rId7" Type="http://schemas.openxmlformats.org/officeDocument/2006/relationships/image" Target="../media/image199.png"/><Relationship Id="rId8" Type="http://schemas.openxmlformats.org/officeDocument/2006/relationships/image" Target="../media/image200.png"/><Relationship Id="rId9" Type="http://schemas.openxmlformats.org/officeDocument/2006/relationships/image" Target="../media/image201.png"/><Relationship Id="rId10" Type="http://schemas.openxmlformats.org/officeDocument/2006/relationships/image" Target="../media/image173.png"/><Relationship Id="rId11" Type="http://schemas.openxmlformats.org/officeDocument/2006/relationships/image" Target="../media/image202.png"/><Relationship Id="rId12" Type="http://schemas.openxmlformats.org/officeDocument/2006/relationships/image" Target="../media/image20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04.png"/><Relationship Id="rId4" Type="http://schemas.openxmlformats.org/officeDocument/2006/relationships/image" Target="../media/image43.png"/><Relationship Id="rId5" Type="http://schemas.openxmlformats.org/officeDocument/2006/relationships/image" Target="../media/image41.png"/><Relationship Id="rId6" Type="http://schemas.openxmlformats.org/officeDocument/2006/relationships/image" Target="../media/image205.png"/><Relationship Id="rId7" Type="http://schemas.openxmlformats.org/officeDocument/2006/relationships/image" Target="../media/image206.png"/><Relationship Id="rId8" Type="http://schemas.openxmlformats.org/officeDocument/2006/relationships/image" Target="../media/image20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153.png"/><Relationship Id="rId6" Type="http://schemas.openxmlformats.org/officeDocument/2006/relationships/image" Target="../media/image113.png"/><Relationship Id="rId7" Type="http://schemas.openxmlformats.org/officeDocument/2006/relationships/image" Target="../media/image13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10.png"/><Relationship Id="rId4" Type="http://schemas.openxmlformats.org/officeDocument/2006/relationships/image" Target="../media/image211.png"/><Relationship Id="rId5" Type="http://schemas.openxmlformats.org/officeDocument/2006/relationships/image" Target="../media/image21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449" y="-97739"/>
            <a:ext cx="12191695" cy="6858000"/>
          </a:xfrm>
          <a:prstGeom prst="rect">
            <a:avLst/>
          </a:prstGeom>
          <a:solidFill>
            <a:srgbClr val="00204A"/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448" y="6185408"/>
            <a:ext cx="12191695" cy="688238"/>
          </a:xfrm>
          <a:prstGeom prst="rect">
            <a:avLst/>
          </a:prstGeom>
          <a:solidFill>
            <a:srgbClr val="002B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452575" y="1467612"/>
            <a:ext cx="761695" cy="7589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516211" y="1860836"/>
            <a:ext cx="5741859" cy="652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리포트가 </a:t>
            </a:r>
            <a:r>
              <a:rPr lang="en-US" sz="2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낯선</a:t>
            </a: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대학생을 위한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464527" y="2592527"/>
            <a:ext cx="9500000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 방법</a:t>
            </a:r>
            <a:endParaRPr lang="en-US" sz="7200" dirty="0"/>
          </a:p>
        </p:txBody>
      </p:sp>
      <p:sp>
        <p:nvSpPr>
          <p:cNvPr id="8" name="Text 6"/>
          <p:cNvSpPr txBox="1"/>
          <p:nvPr/>
        </p:nvSpPr>
        <p:spPr>
          <a:xfrm>
            <a:off x="1462024" y="3848710"/>
            <a:ext cx="33723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설득력 있는 학술적 글쓰기의 시작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62024" y="4295851"/>
            <a:ext cx="41870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선정부터 퇴고까지, A+ 리포트를 위한 체계적 가이드</a:t>
            </a:r>
            <a:endParaRPr lang="en-US" sz="13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1092" b="-1092"/>
          <a:stretch/>
        </p:blipFill>
        <p:spPr>
          <a:xfrm>
            <a:off x="381305" y="424282"/>
            <a:ext cx="209398" cy="19019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92042" y="406664"/>
            <a:ext cx="2540000" cy="231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핵심 역량 강화 프로젝트</a:t>
            </a:r>
            <a:endParaRPr lang="en-US" sz="1200" b="1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1305" y="6479844"/>
            <a:ext cx="114300" cy="1335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" y="6444182"/>
            <a:ext cx="13578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대상: 신입생 및 재학생</a:t>
            </a:r>
            <a:endParaRPr lang="en-US" sz="10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8023860" y="6477610"/>
            <a:ext cx="105156" cy="1335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04911" y="6441948"/>
            <a:ext cx="3605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 참고: DBpia 「리포트가 낯선 대학생을 위한 리포트 작성법」에서 아이디어를 얻어 내용을 전면 재구성함</a:t>
            </a:r>
            <a:endParaRPr lang="en-US" sz="1000" dirty="0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F8D76137-595B-552F-5813-D07237E7C526}"/>
              </a:ext>
            </a:extLst>
          </p:cNvPr>
          <p:cNvSpPr/>
          <p:nvPr/>
        </p:nvSpPr>
        <p:spPr>
          <a:xfrm>
            <a:off x="7206386" y="5224856"/>
            <a:ext cx="381305" cy="38130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>
            <a:extLst>
              <a:ext uri="{FF2B5EF4-FFF2-40B4-BE49-F238E27FC236}">
                <a16:creationId xmlns:a16="http://schemas.microsoft.com/office/drawing/2014/main" id="{1B7242BE-723A-9D91-82DD-78B93873868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064" r="-1064"/>
          <a:stretch/>
        </p:blipFill>
        <p:spPr>
          <a:xfrm>
            <a:off x="7286854" y="5330012"/>
            <a:ext cx="219456" cy="171907"/>
          </a:xfrm>
          <a:prstGeom prst="rect">
            <a:avLst/>
          </a:prstGeom>
        </p:spPr>
      </p:pic>
      <p:sp>
        <p:nvSpPr>
          <p:cNvPr id="21" name="Text 11">
            <a:extLst>
              <a:ext uri="{FF2B5EF4-FFF2-40B4-BE49-F238E27FC236}">
                <a16:creationId xmlns:a16="http://schemas.microsoft.com/office/drawing/2014/main" id="{DD919104-3779-2844-6D9C-6E763CF2DBA3}"/>
              </a:ext>
            </a:extLst>
          </p:cNvPr>
          <p:cNvSpPr txBox="1"/>
          <p:nvPr/>
        </p:nvSpPr>
        <p:spPr>
          <a:xfrm>
            <a:off x="7740393" y="5180508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이애본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드림아이티비즈(DreamIT Biz)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/>
            </a:r>
            <a:b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7"/>
              </a:rPr>
              <a:t>aebon@dreamitbiz.com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5" name="Shape 17">
            <a:extLst>
              <a:ext uri="{FF2B5EF4-FFF2-40B4-BE49-F238E27FC236}">
                <a16:creationId xmlns:a16="http://schemas.microsoft.com/office/drawing/2014/main" id="{07B8B944-1806-12D4-2A7B-1B6AE91AC3D9}"/>
              </a:ext>
            </a:extLst>
          </p:cNvPr>
          <p:cNvSpPr/>
          <p:nvPr/>
        </p:nvSpPr>
        <p:spPr>
          <a:xfrm>
            <a:off x="9302230" y="-1219442"/>
            <a:ext cx="3715613" cy="3715613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B60DB3D2-D251-62C9-D6C6-E60C63C22E3B}"/>
              </a:ext>
            </a:extLst>
          </p:cNvPr>
          <p:cNvSpPr/>
          <p:nvPr/>
        </p:nvSpPr>
        <p:spPr>
          <a:xfrm>
            <a:off x="11167719" y="2341575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076B5E5E-860D-2522-BD7E-11A65A53E128}"/>
              </a:ext>
            </a:extLst>
          </p:cNvPr>
          <p:cNvSpPr/>
          <p:nvPr/>
        </p:nvSpPr>
        <p:spPr>
          <a:xfrm>
            <a:off x="8389526" y="512814"/>
            <a:ext cx="1825408" cy="1825408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3619195" y="476402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3619195" y="476402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3838651" y="984809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838651" y="1327709"/>
            <a:ext cx="901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정의와 가치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838651" y="1574597"/>
            <a:ext cx="11777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글쓰기의 본질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49594" y="476402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349594" y="476402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6569050" y="984809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69050" y="1327709"/>
            <a:ext cx="758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분석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69050" y="1574597"/>
            <a:ext cx="12060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출제 의도와 목표 파악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080906" y="476402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080906" y="476402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9299448" y="984809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299448" y="1327709"/>
            <a:ext cx="1101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동사 사전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299448" y="1574597"/>
            <a:ext cx="151150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분석/비교/평가/제안의 차이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19195" y="2508199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3619195" y="2508199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838651" y="3016606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3838651" y="3359506"/>
            <a:ext cx="901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좁히기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838651" y="3606394"/>
            <a:ext cx="105430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5W1H 질문법 적용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49594" y="2508199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349594" y="2508199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569050" y="3016606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569050" y="3359506"/>
            <a:ext cx="901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품질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569050" y="3606394"/>
            <a:ext cx="13203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약한 문장을 강한 논제로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080906" y="2508199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9080906" y="2508199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9299448" y="3016606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299448" y="3359506"/>
            <a:ext cx="11494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자료조사 · 출처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299448" y="3606394"/>
            <a:ext cx="13203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신뢰도 평가와 검색 전략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19195" y="4539996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3619195" y="4539996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3838651" y="504931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3838651" y="5392217"/>
            <a:ext cx="1196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· 문단 매핑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838651" y="5638190"/>
            <a:ext cx="135879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구조와 첫 문장 공식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349594" y="4539996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49594" y="4539996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6569050" y="504931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569050" y="5392217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· 반론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69050" y="5638190"/>
            <a:ext cx="146304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리라이트 실습 및 반박 논리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080906" y="4539996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9080906" y="4539996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9299448" y="504931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9299448" y="5392217"/>
            <a:ext cx="13011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· AI · 마무리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299448" y="5638190"/>
            <a:ext cx="12060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 점검과 최종 루틴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0" y="0"/>
            <a:ext cx="3047695" cy="6858000"/>
          </a:xfrm>
          <a:prstGeom prst="rect">
            <a:avLst/>
          </a:prstGeom>
          <a:solidFill>
            <a:srgbClr val="0018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303855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381305" y="476402"/>
            <a:ext cx="476402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381305" y="800100"/>
            <a:ext cx="8769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</a:t>
            </a:r>
            <a:endParaRPr lang="en-US" sz="2700" dirty="0"/>
          </a:p>
        </p:txBody>
      </p:sp>
      <p:sp>
        <p:nvSpPr>
          <p:cNvPr id="53" name="Text 51"/>
          <p:cNvSpPr txBox="1"/>
          <p:nvPr/>
        </p:nvSpPr>
        <p:spPr>
          <a:xfrm>
            <a:off x="381305" y="1228954"/>
            <a:ext cx="14859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커리큘럼</a:t>
            </a:r>
            <a:endParaRPr lang="en-US" sz="2700" dirty="0"/>
          </a:p>
        </p:txBody>
      </p:sp>
      <p:sp>
        <p:nvSpPr>
          <p:cNvPr id="54" name="Text 52"/>
          <p:cNvSpPr txBox="1"/>
          <p:nvPr/>
        </p:nvSpPr>
        <p:spPr>
          <a:xfrm>
            <a:off x="381305" y="1895551"/>
            <a:ext cx="1552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9단계 모듈.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381305" y="2143354"/>
            <a:ext cx="1743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이론부터 실전 작성법까지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381305" y="239115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완벽하게 마스터합니다.</a:t>
            </a:r>
            <a:endParaRPr lang="en-US" sz="1200" dirty="0"/>
          </a:p>
        </p:txBody>
      </p:sp>
      <p:sp>
        <p:nvSpPr>
          <p:cNvPr id="5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5000854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정의와 가치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60012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리포트는 단순한 정보 전달이 아닌, 논리적인 설득 과정입니다.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37243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521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90" r="-90"/>
          <a:stretch/>
        </p:blipFill>
        <p:spPr>
          <a:xfrm>
            <a:off x="1304849" y="2954426"/>
            <a:ext cx="381305" cy="3044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3764585"/>
            <a:ext cx="1733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글쓰기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" y="4364431"/>
            <a:ext cx="263438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리포트는 자신의 '주장'과 이를 뒷받침하는 '근거'를 통해 독자를 설득하는 학술적 글쓰기입니다.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정보 나열은 리포트가 아닙니다.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419295" y="2373782"/>
            <a:ext cx="3353105" cy="37243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419295" y="2373782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8097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00854" y="2954426"/>
            <a:ext cx="304495" cy="304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9744" y="3764585"/>
            <a:ext cx="18105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역량 강화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4809744" y="4364431"/>
            <a:ext cx="2681935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 리포트 작성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경험은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향후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연구 논문, 직장 내 보고서 및 제안서 작성 등 커리어 전반에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사고와 성과 입증의 기초가 됩니다.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76895" y="2373782"/>
            <a:ext cx="3353105" cy="37243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076895" y="2373782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4673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58454" y="2954426"/>
            <a:ext cx="304495" cy="3044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467344" y="3764585"/>
            <a:ext cx="25054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논제(Thesis)</a:t>
            </a:r>
            <a:endParaRPr lang="en-US" sz="2100" dirty="0"/>
          </a:p>
        </p:txBody>
      </p:sp>
      <p:sp>
        <p:nvSpPr>
          <p:cNvPr id="24" name="Text 19"/>
          <p:cNvSpPr txBox="1"/>
          <p:nvPr/>
        </p:nvSpPr>
        <p:spPr>
          <a:xfrm>
            <a:off x="8467344" y="4364431"/>
            <a:ext cx="263438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리포트는 핵심 내용을 단 한 문장으로 요약할 수 있어야 합니다.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한 문장을 '논제(주장)'라 하며, 나머지 문단은 모두 이 문장을 받치기 위해 존재합니다.</a:t>
            </a:r>
            <a:endParaRPr lang="en-US" sz="1300" dirty="0"/>
          </a:p>
        </p:txBody>
      </p:sp>
      <p:sp>
        <p:nvSpPr>
          <p:cNvPr id="2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7530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체크리스트 &amp; 요약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0776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버튼을 누르기 전, 다음 10가지 항목을 반드시 확인하세요.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761695" y="1845869"/>
            <a:ext cx="142646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5256" y="1800149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및 구조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61695" y="22536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61949" y="24155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2482291"/>
            <a:ext cx="123444" cy="1335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80744" y="2426513"/>
            <a:ext cx="3425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과제의 의도(학습목표)와 기술 규정을 준수했는가?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61695" y="29961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61949" y="3158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3224784"/>
            <a:ext cx="123444" cy="13350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80744" y="3169920"/>
            <a:ext cx="3425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주제문(논제)이 한 문장으로 명확히 표현되었는가?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61695" y="37395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961949" y="39014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3968191"/>
            <a:ext cx="123444" cy="13350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80744" y="3912413"/>
            <a:ext cx="35588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자료(논문, 공식 통계)를 활용했는가?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61695" y="44820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961949" y="46439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4710684"/>
            <a:ext cx="123444" cy="13350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380744" y="4655820"/>
            <a:ext cx="36923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개요의 논리(서론-본론-결론)가 일관성 있게 흐르는가?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61695" y="52254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961949" y="53873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5454091"/>
            <a:ext cx="123444" cy="13350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380744" y="5398313"/>
            <a:ext cx="36640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문단의 첫 문장에 핵심 주장(두괄식)을 배치했는가?</a:t>
            </a:r>
            <a:endParaRPr lang="en-US" sz="12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5"/>
          <a:srcRect l="-7078" r="-7078"/>
          <a:stretch/>
        </p:blipFill>
        <p:spPr>
          <a:xfrm>
            <a:off x="6381598" y="1845869"/>
            <a:ext cx="114300" cy="13350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495898" y="1800149"/>
            <a:ext cx="998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및 형식</a:t>
            </a:r>
            <a:endParaRPr lang="en-US" sz="1000" dirty="0"/>
          </a:p>
        </p:txBody>
      </p:sp>
      <p:sp>
        <p:nvSpPr>
          <p:cNvPr id="31" name="Shape 22"/>
          <p:cNvSpPr/>
          <p:nvPr/>
        </p:nvSpPr>
        <p:spPr>
          <a:xfrm>
            <a:off x="6381598" y="22536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3"/>
          <p:cNvSpPr/>
          <p:nvPr/>
        </p:nvSpPr>
        <p:spPr>
          <a:xfrm>
            <a:off x="6581851" y="24155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2482291"/>
            <a:ext cx="123444" cy="13350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7000646" y="2426513"/>
            <a:ext cx="34546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감정을 배제하고 3인칭 객관적 문체를 유지했는가?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6381598" y="29961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6"/>
          <p:cNvSpPr/>
          <p:nvPr/>
        </p:nvSpPr>
        <p:spPr>
          <a:xfrm>
            <a:off x="6581851" y="3158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3224784"/>
            <a:ext cx="123444" cy="13350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000646" y="3169920"/>
            <a:ext cx="28831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주장을 수치와 출처로 입증하였는가?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6381598" y="37395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9"/>
          <p:cNvSpPr/>
          <p:nvPr/>
        </p:nvSpPr>
        <p:spPr>
          <a:xfrm>
            <a:off x="6581851" y="39014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3968191"/>
            <a:ext cx="123444" cy="1335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7000646" y="3912413"/>
            <a:ext cx="35780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서론-본론-결론이 각자의 역할에 맞게 구성되었는가?</a:t>
            </a:r>
            <a:endParaRPr lang="en-US" sz="1200" dirty="0"/>
          </a:p>
        </p:txBody>
      </p:sp>
      <p:sp>
        <p:nvSpPr>
          <p:cNvPr id="43" name="Shape 31"/>
          <p:cNvSpPr/>
          <p:nvPr/>
        </p:nvSpPr>
        <p:spPr>
          <a:xfrm>
            <a:off x="6381598" y="44820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2"/>
          <p:cNvSpPr/>
          <p:nvPr/>
        </p:nvSpPr>
        <p:spPr>
          <a:xfrm>
            <a:off x="6581851" y="46439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4710684"/>
            <a:ext cx="123444" cy="133502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000646" y="4655820"/>
            <a:ext cx="3606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학과 기준에 맞는 인용 및 참고문헌 형식을 지켰는가?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6381598" y="52254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6581851" y="53873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5454091"/>
            <a:ext cx="123444" cy="133502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7000646" y="5398313"/>
            <a:ext cx="35588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읽으며 퇴고하고 최종 형식을 점검했는가?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761695" y="5973775"/>
            <a:ext cx="10668305" cy="685800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/>
          <p:cNvSpPr/>
          <p:nvPr/>
        </p:nvSpPr>
        <p:spPr>
          <a:xfrm>
            <a:off x="761695" y="5973775"/>
            <a:ext cx="38405" cy="6858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6"/>
          <a:srcRect l="-90" r="-90"/>
          <a:stretch/>
        </p:blipFill>
        <p:spPr>
          <a:xfrm>
            <a:off x="1086307" y="6164885"/>
            <a:ext cx="381305" cy="304495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1657807" y="6191402"/>
            <a:ext cx="74797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체크리스트를 모두 통과했다면, 여러분의 리포트는 단순한 과제를 넘어 '지식'으로서의 가치를 가집니다.</a:t>
            </a:r>
            <a:endParaRPr lang="en-US" sz="13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5056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분석: 의도와 규칙 읽기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3441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교수님이 이 과제를 왜 내셨는지 '의도'를 파악하고, 주어진 '규칙'을 준수하세요.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4129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58409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507285"/>
            <a:ext cx="28392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과제의 숨은 의도(Why)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393338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335731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 파악하기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564331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평가용이 아닙니다. 이 과제를 통해 어떤 역량을 기르길 원하시는지 고민해보세요.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16882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4260190"/>
            <a:ext cx="1467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동사(Verb) 분석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488790"/>
            <a:ext cx="38011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'분석하라', '요약하라', '비교하라' 등 과제문에 쓰인 동사가 요구하는 행동을 정확히 수행해야 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241341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47902" y="5183734"/>
            <a:ext cx="1228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독자 설정: 교수님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47902" y="5412334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교수님은 평가자이자 전문가이지만, '독자'로서 설득해야 할 대상입니다. (배우는 입장이 아닌 가르치는 입장으로 작성)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1848002"/>
          </a:xfrm>
          <a:prstGeom prst="roundRect">
            <a:avLst>
              <a:gd name="adj" fmla="val 10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19902" y="2245766"/>
            <a:ext cx="171907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67705" y="2205533"/>
            <a:ext cx="21927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기술적 가이드라인 (MUST)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19902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rcRect l="-38889" r="-38889"/>
          <a:stretch/>
        </p:blipFill>
        <p:spPr>
          <a:xfrm>
            <a:off x="5762549" y="2732227"/>
            <a:ext cx="190195" cy="14264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52744" y="2695651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 분량 준수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472830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l="-26191" r="-26191"/>
          <a:stretch/>
        </p:blipFill>
        <p:spPr>
          <a:xfrm>
            <a:off x="8615477" y="2732227"/>
            <a:ext cx="190195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805672" y="2695651"/>
            <a:ext cx="10140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지정 서체/크기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619902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8"/>
          <a:srcRect l="-26191" r="-26191"/>
          <a:stretch/>
        </p:blipFill>
        <p:spPr>
          <a:xfrm>
            <a:off x="5762549" y="3282696"/>
            <a:ext cx="190195" cy="14264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952744" y="3246120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마감 엄수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8472830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9"/>
          <a:srcRect l="-16667" r="-16667"/>
          <a:stretch/>
        </p:blipFill>
        <p:spPr>
          <a:xfrm>
            <a:off x="8615477" y="3282696"/>
            <a:ext cx="190195" cy="14264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805672" y="3246120"/>
            <a:ext cx="9564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양식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5372100" y="3996842"/>
            <a:ext cx="6057900" cy="2419502"/>
          </a:xfrm>
          <a:prstGeom prst="roundRect">
            <a:avLst>
              <a:gd name="adj" fmla="val 59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0"/>
          <a:srcRect l="-760" r="-760"/>
          <a:stretch/>
        </p:blipFill>
        <p:spPr>
          <a:xfrm>
            <a:off x="5619902" y="4283964"/>
            <a:ext cx="152705" cy="171907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5848502" y="4244645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분량에 따른 작성 전략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619902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6"/>
          <p:cNvSpPr/>
          <p:nvPr/>
        </p:nvSpPr>
        <p:spPr>
          <a:xfrm>
            <a:off x="5619902" y="4638751"/>
            <a:ext cx="28346" cy="98115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5790895" y="4781398"/>
            <a:ext cx="1295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리포트 (~2p)</a:t>
            </a:r>
            <a:endParaRPr lang="en-US" sz="1200" dirty="0"/>
          </a:p>
        </p:txBody>
      </p:sp>
      <p:sp>
        <p:nvSpPr>
          <p:cNvPr id="40" name="Text 28"/>
          <p:cNvSpPr txBox="1"/>
          <p:nvPr/>
        </p:nvSpPr>
        <p:spPr>
          <a:xfrm>
            <a:off x="5790895" y="5076749"/>
            <a:ext cx="24844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군더더기 없이 핵심만 압축. 광범위한 서론은 생략하고 본론의 논리에 집중.</a:t>
            </a:r>
            <a:endParaRPr lang="en-US" sz="1000" dirty="0"/>
          </a:p>
        </p:txBody>
      </p:sp>
      <p:sp>
        <p:nvSpPr>
          <p:cNvPr id="41" name="Shape 29"/>
          <p:cNvSpPr/>
          <p:nvPr/>
        </p:nvSpPr>
        <p:spPr>
          <a:xfrm>
            <a:off x="8472830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0"/>
          <p:cNvSpPr/>
          <p:nvPr/>
        </p:nvSpPr>
        <p:spPr>
          <a:xfrm>
            <a:off x="8472830" y="4638751"/>
            <a:ext cx="28346" cy="981151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/>
          <p:cNvSpPr txBox="1"/>
          <p:nvPr/>
        </p:nvSpPr>
        <p:spPr>
          <a:xfrm>
            <a:off x="8643823" y="4781398"/>
            <a:ext cx="1248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리포트 (10p~)</a:t>
            </a:r>
            <a:endParaRPr lang="en-US" sz="1200" dirty="0"/>
          </a:p>
        </p:txBody>
      </p:sp>
      <p:sp>
        <p:nvSpPr>
          <p:cNvPr id="44" name="Text 32"/>
          <p:cNvSpPr txBox="1"/>
          <p:nvPr/>
        </p:nvSpPr>
        <p:spPr>
          <a:xfrm>
            <a:off x="8643823" y="5076749"/>
            <a:ext cx="24844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 뒷받침할 상세 예시와 데이터 확장. 심도 있는 논증 과정 전개 가능.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5619902" y="5708599"/>
            <a:ext cx="5562295" cy="457200"/>
          </a:xfrm>
          <a:prstGeom prst="roundRect">
            <a:avLst>
              <a:gd name="adj" fmla="val 16667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743346" y="5868619"/>
            <a:ext cx="133502" cy="13350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952744" y="5832043"/>
            <a:ext cx="45610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이해가 안 되는 부분은 즉시 교수님께 문의하세요. 질문은 적극성의 표현입니다.</a:t>
            </a:r>
            <a:endParaRPr lang="en-US" sz="10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106683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선정: 흥미·실현 가능·자료성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4013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주제는 나의 흥미에서 시작해, 실현 가능한 범위로 완성됩니다.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193999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736799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660904"/>
            <a:ext cx="22293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선정의 3요소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3546043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6249" y="3489350"/>
            <a:ext cx="1696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작성자의 흥미 (Interest)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6249" y="3717950"/>
            <a:ext cx="3724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과제 수행이 아닌, 내가 호기심을 가지고 끝까지 파고들 수 있는 주제여야 중도 포기를 막을 수 있습니다.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61695" y="4470502"/>
            <a:ext cx="171907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76249" y="4412894"/>
            <a:ext cx="17245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실현 가능성 (Feasibility)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76249" y="4641494"/>
            <a:ext cx="38011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기한 내에 나의 현재 역량으로 해결할 수 있는가? 너무 광범위하거나 시간이 오래 걸리는 주제는 위험합니다.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695" y="5394046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249" y="5337353"/>
            <a:ext cx="1515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확보 여부 (Data)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249" y="5565953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주장을 뒷받침할 신뢰성 있는 자료(논문, 통계 등)를 충분히 구할 수 있는지 사전에 확인해야 합니다.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2457907"/>
          </a:xfrm>
          <a:prstGeom prst="roundRect">
            <a:avLst>
              <a:gd name="adj" fmla="val 57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619902" y="2245766"/>
            <a:ext cx="171907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67705" y="2205533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피해야 할 주제 유형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19902" y="2600554"/>
            <a:ext cx="5562295" cy="448056"/>
          </a:xfrm>
          <a:prstGeom prst="roundRect">
            <a:avLst>
              <a:gd name="adj" fmla="val 17369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16667" r="-16667"/>
          <a:stretch/>
        </p:blipFill>
        <p:spPr>
          <a:xfrm>
            <a:off x="5762549" y="2751430"/>
            <a:ext cx="190195" cy="14264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52744" y="2714854"/>
            <a:ext cx="33284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개인이 감당하기 힘든 방대한 통계 조사가 필요한 주제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5619902" y="3160166"/>
            <a:ext cx="5562295" cy="448056"/>
          </a:xfrm>
          <a:prstGeom prst="roundRect">
            <a:avLst>
              <a:gd name="adj" fmla="val 17369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16667" r="-16667"/>
          <a:stretch/>
        </p:blipFill>
        <p:spPr>
          <a:xfrm>
            <a:off x="5762549" y="3311957"/>
            <a:ext cx="190195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952744" y="3274466"/>
            <a:ext cx="30614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너무 오래되어 관련 문헌을 찾기 어려운 고전 주제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619902" y="3720694"/>
            <a:ext cx="5562295" cy="448056"/>
          </a:xfrm>
          <a:prstGeom prst="roundRect">
            <a:avLst>
              <a:gd name="adj" fmla="val 17369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10"/>
          <a:srcRect l="-3333" r="-3333"/>
          <a:stretch/>
        </p:blipFill>
        <p:spPr>
          <a:xfrm>
            <a:off x="5762549" y="3871570"/>
            <a:ext cx="190195" cy="14264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952744" y="3834994"/>
            <a:ext cx="30138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외국어 원문 해독이 필수이나 역량이 부족한 주제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5372100" y="4604004"/>
            <a:ext cx="6057900" cy="2115007"/>
          </a:xfrm>
          <a:prstGeom prst="roundRect">
            <a:avLst>
              <a:gd name="adj" fmla="val 77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619902" y="4892040"/>
            <a:ext cx="171907" cy="171907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867705" y="4851806"/>
            <a:ext cx="19074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범위 좁히기 (예시)</a:t>
            </a:r>
            <a:endParaRPr lang="en-US" sz="1300" dirty="0"/>
          </a:p>
        </p:txBody>
      </p:sp>
      <p:sp>
        <p:nvSpPr>
          <p:cNvPr id="34" name="Shape 23"/>
          <p:cNvSpPr/>
          <p:nvPr/>
        </p:nvSpPr>
        <p:spPr>
          <a:xfrm>
            <a:off x="5619902" y="5245913"/>
            <a:ext cx="2714854" cy="122895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4"/>
          <p:cNvSpPr/>
          <p:nvPr/>
        </p:nvSpPr>
        <p:spPr>
          <a:xfrm>
            <a:off x="5619902" y="5245913"/>
            <a:ext cx="28346" cy="122895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5"/>
          <p:cNvSpPr txBox="1"/>
          <p:nvPr/>
        </p:nvSpPr>
        <p:spPr>
          <a:xfrm>
            <a:off x="5790895" y="5389474"/>
            <a:ext cx="1457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광범위한 주제 (Bad)</a:t>
            </a:r>
            <a:endParaRPr lang="en-US" sz="1200" dirty="0"/>
          </a:p>
        </p:txBody>
      </p:sp>
      <p:sp>
        <p:nvSpPr>
          <p:cNvPr id="37" name="Text 26"/>
          <p:cNvSpPr txBox="1"/>
          <p:nvPr/>
        </p:nvSpPr>
        <p:spPr>
          <a:xfrm>
            <a:off x="5790895" y="5684825"/>
            <a:ext cx="19037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"원전 안전성에 대한 국제 비교"</a:t>
            </a:r>
            <a:endParaRPr lang="en-US" sz="1000" dirty="0"/>
          </a:p>
        </p:txBody>
      </p:sp>
      <p:sp>
        <p:nvSpPr>
          <p:cNvPr id="38" name="Text 27"/>
          <p:cNvSpPr txBox="1"/>
          <p:nvPr/>
        </p:nvSpPr>
        <p:spPr>
          <a:xfrm>
            <a:off x="5790895" y="5952744"/>
            <a:ext cx="13203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>
                    <a:alpha val="6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(기간 부족, 데이터 과다)</a:t>
            </a:r>
            <a:endParaRPr lang="en-US" sz="900" dirty="0"/>
          </a:p>
        </p:txBody>
      </p:sp>
      <p:sp>
        <p:nvSpPr>
          <p:cNvPr id="39" name="Shape 28"/>
          <p:cNvSpPr/>
          <p:nvPr/>
        </p:nvSpPr>
        <p:spPr>
          <a:xfrm>
            <a:off x="8472830" y="5245913"/>
            <a:ext cx="2714854" cy="1228954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9"/>
          <p:cNvSpPr/>
          <p:nvPr/>
        </p:nvSpPr>
        <p:spPr>
          <a:xfrm>
            <a:off x="8472830" y="5245913"/>
            <a:ext cx="28346" cy="122895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0"/>
          <p:cNvSpPr txBox="1"/>
          <p:nvPr/>
        </p:nvSpPr>
        <p:spPr>
          <a:xfrm>
            <a:off x="8643823" y="5389474"/>
            <a:ext cx="1562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구체화된 주제 (Good)</a:t>
            </a:r>
            <a:endParaRPr lang="en-US" sz="1200" dirty="0"/>
          </a:p>
        </p:txBody>
      </p:sp>
      <p:sp>
        <p:nvSpPr>
          <p:cNvPr id="42" name="Text 31"/>
          <p:cNvSpPr txBox="1"/>
          <p:nvPr/>
        </p:nvSpPr>
        <p:spPr>
          <a:xfrm>
            <a:off x="8643823" y="5684825"/>
            <a:ext cx="2417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"후쿠시마 사고 이후 한국 원전 정책의 변화"</a:t>
            </a:r>
            <a:endParaRPr lang="en-US" sz="1000" dirty="0"/>
          </a:p>
        </p:txBody>
      </p:sp>
      <p:sp>
        <p:nvSpPr>
          <p:cNvPr id="43" name="Text 32"/>
          <p:cNvSpPr txBox="1"/>
          <p:nvPr/>
        </p:nvSpPr>
        <p:spPr>
          <a:xfrm>
            <a:off x="8643823" y="6144768"/>
            <a:ext cx="12920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(특정 사건·국가로 한정)</a:t>
            </a:r>
            <a:endParaRPr lang="en-US" sz="900" dirty="0"/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70299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주제문과 키워드: 정보에서 주장으로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4489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정보 나열을 넘어 '나만의 관점'이 담긴 주제문을 완성하세요.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5775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60055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524658"/>
            <a:ext cx="17529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주제문의 조건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409798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353105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공식: 주제 + 주장 = 주제문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581705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사실을 나열하는 것은 리포트가 아닙니다. 주제에 대한 나만의 해석과 주장이 반드시 포함되어야 합니다.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34256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4276649"/>
            <a:ext cx="1743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주장으로 변환하기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505249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질문을 하나씩 지워가는 체크리스트로 대하지 말고, 이를 관통하는 하나의 논리로 통합하세요.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61695" y="5257800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249" y="5201107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발굴 루틴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249" y="5429707"/>
            <a:ext cx="37344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DBpia, 구글 알리미, 뉴스레터 등을 구독하여 평소에 관심 분야의 키워드에 지속적으로 노출되세요.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4486046"/>
          </a:xfrm>
          <a:prstGeom prst="roundRect">
            <a:avLst>
              <a:gd name="adj" fmla="val 173"/>
            </a:avLst>
          </a:prstGeom>
          <a:solidFill>
            <a:srgbClr val="00BBF0">
              <a:alpha val="3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  <a:effectLst>
            <a:outerShdw blurRad="190500" dist="381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rcRect l="-1773" r="-1773"/>
          <a:stretch/>
        </p:blipFill>
        <p:spPr>
          <a:xfrm>
            <a:off x="5667451" y="2293315"/>
            <a:ext cx="133502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76849" y="2253996"/>
            <a:ext cx="13834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변환 예시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67451" y="2695651"/>
            <a:ext cx="5467198" cy="1171346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5667451" y="2695651"/>
            <a:ext cx="38405" cy="117134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5896051" y="2885846"/>
            <a:ext cx="16751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단순 정보 나열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5896051" y="3168396"/>
            <a:ext cx="504108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"대학생의 수면 실태를 살펴보고, 수면 부족이 학업에 주는 여러 영향을 조사한다."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667451" y="4004158"/>
            <a:ext cx="5467198" cy="117134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5667451" y="4004158"/>
            <a:ext cx="38405" cy="11713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5896051" y="4195267"/>
            <a:ext cx="20747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명확한 주장 (THESIS)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5896051" y="4476902"/>
            <a:ext cx="516453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"대학생의 수면 부족은 개인 습관보다 과제·시험이 몰리는 학사 일정에서 비롯된다. 따라서 수면 교육보다 마감 일정 분산이 먼저 필요하다."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5667451" y="5408676"/>
            <a:ext cx="5467198" cy="743407"/>
          </a:xfrm>
          <a:prstGeom prst="roundRect">
            <a:avLst>
              <a:gd name="adj" fmla="val 6308"/>
            </a:avLst>
          </a:prstGeom>
          <a:solidFill>
            <a:srgbClr val="FBBF24">
              <a:alpha val="5000"/>
            </a:srgbClr>
          </a:solidFill>
          <a:ln w="12700">
            <a:solidFill>
              <a:srgbClr val="FBBF2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rcRect t="-556" b="-556"/>
          <a:stretch/>
        </p:blipFill>
        <p:spPr>
          <a:xfrm>
            <a:off x="5820156" y="5598871"/>
            <a:ext cx="123444" cy="14264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057900" y="5561381"/>
            <a:ext cx="50337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주제문은 리포트의 내용을 단 한 문장으로 요약할 수 있어야 합니다. 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문장이 곧 리포트의 뼈대가 됩니다.</a:t>
            </a:r>
            <a:endParaRPr lang="en-US" sz="11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9152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조사: 출처의 격을 높여라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72109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자료를 인용하느냐가 리포트의 신뢰도를 결정합니다. 공신력 있는 자료를 선별하세요.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76956"/>
            <a:ext cx="4028846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619756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2542946"/>
            <a:ext cx="17529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우선순위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61695" y="3409798"/>
            <a:ext cx="571500" cy="286207"/>
          </a:xfrm>
          <a:prstGeom prst="roundRect">
            <a:avLst>
              <a:gd name="adj" fmla="val 42599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812069" y="3448202"/>
            <a:ext cx="446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1순위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476756" y="3372307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공적 지식 (논문, 학술 보고서)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476756" y="3600907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DBpia, 대학 도서관 등에서 검증된 연구 결과.가장 객관적이고 체계적인 근거입니다.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695" y="4381805"/>
            <a:ext cx="571500" cy="304495"/>
          </a:xfrm>
          <a:prstGeom prst="roundRect">
            <a:avLst>
              <a:gd name="adj" fmla="val 37538"/>
            </a:avLst>
          </a:prstGeom>
          <a:noFill/>
          <a:ln w="127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812069" y="4429354"/>
            <a:ext cx="446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2순위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476756" y="43434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언론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476756" y="45720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일간지의 기획 기사, 전문 매체의 데이터.데스크의 팩트 체크를 거친 정보입니다.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1695" y="5352898"/>
            <a:ext cx="571500" cy="304495"/>
          </a:xfrm>
          <a:prstGeom prst="roundRect">
            <a:avLst>
              <a:gd name="adj" fmla="val 37538"/>
            </a:avLst>
          </a:prstGeom>
          <a:noFill/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854131" y="5400446"/>
            <a:ext cx="3602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476756" y="5315407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SNS · 위키 · 생성형 AI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476756" y="5544007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불분명, 개인적 의견, 할루시네이션 위험.아이디어 참고용으로만 사용하세요.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62956" y="1958645"/>
            <a:ext cx="6067044" cy="2180844"/>
          </a:xfrm>
          <a:prstGeom prst="roundRect">
            <a:avLst>
              <a:gd name="adj" fmla="val 7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rcRect l="-1773" r="-1773"/>
          <a:stretch/>
        </p:blipFill>
        <p:spPr>
          <a:xfrm>
            <a:off x="5609844" y="2245766"/>
            <a:ext cx="133502" cy="17190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820156" y="2205533"/>
            <a:ext cx="20308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검증 3대 체크리스트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5609844" y="2600554"/>
            <a:ext cx="1762049" cy="1285646"/>
          </a:xfrm>
          <a:prstGeom prst="roundRect">
            <a:avLst>
              <a:gd name="adj" fmla="val 210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 l="-289600" r="-289600"/>
          <a:stretch/>
        </p:blipFill>
        <p:spPr>
          <a:xfrm>
            <a:off x="3033979" y="2301545"/>
            <a:ext cx="6986930" cy="10287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205118" y="3010205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 검증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6194146" y="3312871"/>
            <a:ext cx="6922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교차 확인이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238037" y="3541471"/>
            <a:ext cx="6062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가능한가?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7515454" y="2600554"/>
            <a:ext cx="1762049" cy="1285646"/>
          </a:xfrm>
          <a:prstGeom prst="roundRect">
            <a:avLst>
              <a:gd name="adj" fmla="val 210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rcRect l="-289600" r="-289600"/>
          <a:stretch/>
        </p:blipFill>
        <p:spPr>
          <a:xfrm>
            <a:off x="4938674" y="2301545"/>
            <a:ext cx="6986930" cy="102870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196682" y="3010205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최신성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8043062" y="3312871"/>
            <a:ext cx="8065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데이터를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8086954" y="3541471"/>
            <a:ext cx="71140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반영했는가?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9420149" y="2600554"/>
            <a:ext cx="1762049" cy="1285646"/>
          </a:xfrm>
          <a:prstGeom prst="roundRect">
            <a:avLst>
              <a:gd name="adj" fmla="val 210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rcRect l="-221680" r="-221680"/>
          <a:stretch/>
        </p:blipFill>
        <p:spPr>
          <a:xfrm>
            <a:off x="6844284" y="2301545"/>
            <a:ext cx="6986930" cy="102870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0101377" y="3010205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대표성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9947758" y="3312871"/>
            <a:ext cx="8065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편향되지 않은</a:t>
            </a:r>
            <a:endParaRPr lang="en-US" sz="900" dirty="0"/>
          </a:p>
        </p:txBody>
      </p:sp>
      <p:sp>
        <p:nvSpPr>
          <p:cNvPr id="39" name="Text 32"/>
          <p:cNvSpPr txBox="1"/>
          <p:nvPr/>
        </p:nvSpPr>
        <p:spPr>
          <a:xfrm>
            <a:off x="10048342" y="3541471"/>
            <a:ext cx="6062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표본인가?</a:t>
            </a:r>
            <a:endParaRPr lang="en-US" sz="900" dirty="0"/>
          </a:p>
        </p:txBody>
      </p:sp>
      <p:sp>
        <p:nvSpPr>
          <p:cNvPr id="40" name="Shape 33"/>
          <p:cNvSpPr/>
          <p:nvPr/>
        </p:nvSpPr>
        <p:spPr>
          <a:xfrm>
            <a:off x="5362956" y="4322369"/>
            <a:ext cx="6067044" cy="2257654"/>
          </a:xfrm>
          <a:prstGeom prst="roundRect">
            <a:avLst>
              <a:gd name="adj" fmla="val 68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609844" y="4610405"/>
            <a:ext cx="171907" cy="171907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5857646" y="4570171"/>
            <a:ext cx="13834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서지정보 기록 팁</a:t>
            </a:r>
            <a:endParaRPr lang="en-US" sz="1300" dirty="0"/>
          </a:p>
        </p:txBody>
      </p:sp>
      <p:sp>
        <p:nvSpPr>
          <p:cNvPr id="43" name="Shape 35"/>
          <p:cNvSpPr/>
          <p:nvPr/>
        </p:nvSpPr>
        <p:spPr>
          <a:xfrm>
            <a:off x="5609844" y="4964278"/>
            <a:ext cx="5572354" cy="1371600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5609844" y="4964278"/>
            <a:ext cx="28346" cy="1371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7"/>
          <p:cNvSpPr txBox="1"/>
          <p:nvPr/>
        </p:nvSpPr>
        <p:spPr>
          <a:xfrm>
            <a:off x="5829300" y="5155387"/>
            <a:ext cx="34719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자료를 찾은 즉시 기록해야 나중에 시간을 낭비하지 않습니다.</a:t>
            </a:r>
            <a:endParaRPr 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5829300" y="5440680"/>
            <a:ext cx="571500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9"/>
          <p:cNvSpPr txBox="1"/>
          <p:nvPr/>
        </p:nvSpPr>
        <p:spPr>
          <a:xfrm>
            <a:off x="5924398" y="5488229"/>
            <a:ext cx="4846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6493154" y="5440680"/>
            <a:ext cx="733349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1"/>
          <p:cNvSpPr txBox="1"/>
          <p:nvPr/>
        </p:nvSpPr>
        <p:spPr>
          <a:xfrm>
            <a:off x="6588252" y="5488229"/>
            <a:ext cx="6464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발행 연도</a:t>
            </a:r>
            <a:endParaRPr lang="en-US" sz="1000" dirty="0"/>
          </a:p>
        </p:txBody>
      </p:sp>
      <p:sp>
        <p:nvSpPr>
          <p:cNvPr id="50" name="Shape 42"/>
          <p:cNvSpPr/>
          <p:nvPr/>
        </p:nvSpPr>
        <p:spPr>
          <a:xfrm>
            <a:off x="7321601" y="5440680"/>
            <a:ext cx="1047902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3"/>
          <p:cNvSpPr txBox="1"/>
          <p:nvPr/>
        </p:nvSpPr>
        <p:spPr>
          <a:xfrm>
            <a:off x="7417613" y="5488229"/>
            <a:ext cx="9601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논문/기사 제목</a:t>
            </a:r>
            <a:endParaRPr lang="en-US" sz="1000" dirty="0"/>
          </a:p>
        </p:txBody>
      </p:sp>
      <p:sp>
        <p:nvSpPr>
          <p:cNvPr id="52" name="Shape 44"/>
          <p:cNvSpPr/>
          <p:nvPr/>
        </p:nvSpPr>
        <p:spPr>
          <a:xfrm>
            <a:off x="8456371" y="5440680"/>
            <a:ext cx="1009498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5"/>
          <p:cNvSpPr txBox="1"/>
          <p:nvPr/>
        </p:nvSpPr>
        <p:spPr>
          <a:xfrm>
            <a:off x="8551469" y="5488229"/>
            <a:ext cx="9226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게재지/출판사</a:t>
            </a:r>
            <a:endParaRPr lang="en-US" sz="1000" dirty="0"/>
          </a:p>
        </p:txBody>
      </p:sp>
      <p:sp>
        <p:nvSpPr>
          <p:cNvPr id="54" name="Shape 46"/>
          <p:cNvSpPr/>
          <p:nvPr/>
        </p:nvSpPr>
        <p:spPr>
          <a:xfrm>
            <a:off x="9552737" y="5440680"/>
            <a:ext cx="866851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7"/>
          <p:cNvSpPr txBox="1"/>
          <p:nvPr/>
        </p:nvSpPr>
        <p:spPr>
          <a:xfrm>
            <a:off x="9647834" y="5488229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번호</a:t>
            </a:r>
            <a:endParaRPr lang="en-US" sz="1000" dirty="0"/>
          </a:p>
        </p:txBody>
      </p:sp>
      <p:sp>
        <p:nvSpPr>
          <p:cNvPr id="56" name="Shape 48"/>
          <p:cNvSpPr/>
          <p:nvPr/>
        </p:nvSpPr>
        <p:spPr>
          <a:xfrm>
            <a:off x="5829300" y="5836615"/>
            <a:ext cx="838505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9"/>
          <p:cNvSpPr txBox="1"/>
          <p:nvPr/>
        </p:nvSpPr>
        <p:spPr>
          <a:xfrm>
            <a:off x="5924398" y="5885078"/>
            <a:ext cx="7507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DOI / URL</a:t>
            </a:r>
            <a:endParaRPr lang="en-US" sz="1000" dirty="0"/>
          </a:p>
        </p:txBody>
      </p:sp>
      <p:sp>
        <p:nvSpPr>
          <p:cNvPr id="5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8580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구성: 갈 길을 먼저 긋는다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5824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 속도를 높이고 논리적 일관성을 확보하는 4단계 프로세스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8098" y="2444191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5625389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5625389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3610051" y="5778094"/>
            <a:ext cx="51462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"개요 없이 쓰면 경로 없이 낯선 도시를 걷듯 같은 골목을 맴돌게 됩니다."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702613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919326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169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1611173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인식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29284" y="4053535"/>
            <a:ext cx="18333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이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말하고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싶은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주제는 무엇인가?</a:t>
            </a:r>
            <a:endParaRPr lang="en-US" sz="11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>
            <a:alphaModFix amt="80000"/>
          </a:blip>
          <a:srcRect l="-50" r="-50"/>
          <a:stretch/>
        </p:blipFill>
        <p:spPr>
          <a:xfrm>
            <a:off x="1874520" y="3196742"/>
            <a:ext cx="228600" cy="304495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3488436" y="2368296"/>
            <a:ext cx="95098" cy="15270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441241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4657039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3500323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4349801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정의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3731623" y="4053535"/>
            <a:ext cx="207024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방대한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한눈에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파악할 수 있도록핵심 문장(Key)으로 요약</a:t>
            </a:r>
            <a:endParaRPr lang="en-US" sz="110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 l="-50" r="-50"/>
          <a:stretch/>
        </p:blipFill>
        <p:spPr>
          <a:xfrm>
            <a:off x="4555541" y="3196742"/>
            <a:ext cx="342900" cy="304495"/>
          </a:xfrm>
          <a:prstGeom prst="rect">
            <a:avLst/>
          </a:prstGeom>
        </p:spPr>
      </p:pic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6226150" y="2368296"/>
            <a:ext cx="95098" cy="152705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7178954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7395667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6238037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7087514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분리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505042" y="4053535"/>
            <a:ext cx="20327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자료를 성격에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따라'블록’화하여</a:t>
            </a:r>
            <a:endParaRPr lang="en-US" sz="11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상·하위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병렬 관계로 분리</a:t>
            </a:r>
            <a:endParaRPr lang="en-US" sz="110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 l="-50" r="-50"/>
          <a:stretch/>
        </p:blipFill>
        <p:spPr>
          <a:xfrm>
            <a:off x="7293254" y="3196742"/>
            <a:ext cx="342900" cy="304495"/>
          </a:xfrm>
          <a:prstGeom prst="rect">
            <a:avLst/>
          </a:prstGeom>
        </p:spPr>
      </p:pic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8964778" y="2368296"/>
            <a:ext cx="95098" cy="152705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9917582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6"/>
          <p:cNvSpPr txBox="1"/>
          <p:nvPr/>
        </p:nvSpPr>
        <p:spPr>
          <a:xfrm>
            <a:off x="10133381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800" dirty="0"/>
          </a:p>
        </p:txBody>
      </p:sp>
      <p:sp>
        <p:nvSpPr>
          <p:cNvPr id="35" name="Shape 27"/>
          <p:cNvSpPr/>
          <p:nvPr/>
        </p:nvSpPr>
        <p:spPr>
          <a:xfrm>
            <a:off x="897666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8"/>
          <p:cNvSpPr txBox="1"/>
          <p:nvPr/>
        </p:nvSpPr>
        <p:spPr>
          <a:xfrm>
            <a:off x="9940442" y="3653942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재배치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9297619" y="4053535"/>
            <a:ext cx="192847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 흐름(서론-본론-결론)에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맞춰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블록을 배치하고설득력 점검</a:t>
            </a:r>
            <a:endParaRPr lang="en-US" sz="1100" dirty="0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7">
            <a:alphaModFix amt="80000"/>
          </a:blip>
          <a:srcRect/>
          <a:stretch/>
        </p:blipFill>
        <p:spPr>
          <a:xfrm>
            <a:off x="10051085" y="3196742"/>
            <a:ext cx="304495" cy="304495"/>
          </a:xfrm>
          <a:prstGeom prst="rect">
            <a:avLst/>
          </a:prstGeom>
        </p:spPr>
      </p:pic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213694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33150"/>
            <a:ext cx="6734556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원칙 1: 두괄식과 문장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772"/>
            <a:ext cx="66961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전달을 위해 핵심을 먼저 말하고, 문장을 간결하게 다듬으세요.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1920880"/>
            <a:ext cx="3409798" cy="4714484"/>
          </a:xfrm>
          <a:prstGeom prst="roundRect">
            <a:avLst>
              <a:gd name="adj" fmla="val 59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1920879"/>
            <a:ext cx="3384194" cy="38405"/>
          </a:xfrm>
          <a:prstGeom prst="roundRect">
            <a:avLst>
              <a:gd name="adj" fmla="val 2380940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76249" y="2234518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685" r="-685"/>
          <a:stretch/>
        </p:blipFill>
        <p:spPr>
          <a:xfrm>
            <a:off x="1228954" y="2406425"/>
            <a:ext cx="304495" cy="2670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76249" y="3073023"/>
            <a:ext cx="12765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전개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076249" y="3568628"/>
            <a:ext cx="2848356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문단마다 하고 싶은 말을 첫 문장에 두세요.</a:t>
            </a:r>
          </a:p>
          <a:p>
            <a:pPr marL="0" indent="0" algn="l">
              <a:buNone/>
            </a:pPr>
            <a:endParaRPr lang="en-US" sz="12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문장만 읽고 넘어가도 문단의 요점이 전달되어야 논지가 흔들리지 않습니다.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76249" y="5566592"/>
            <a:ext cx="2781605" cy="886054"/>
          </a:xfrm>
          <a:prstGeom prst="roundRect">
            <a:avLst>
              <a:gd name="adj" fmla="val 6658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200607" y="5690036"/>
            <a:ext cx="3383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5928694"/>
            <a:ext cx="2500884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결론부터 말하고 근거를 뒤에 붙이는 습관을 들이세요.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394606" y="1920880"/>
            <a:ext cx="3409798" cy="4714484"/>
          </a:xfrm>
          <a:prstGeom prst="roundRect">
            <a:avLst>
              <a:gd name="adj" fmla="val 59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394606" y="1920879"/>
            <a:ext cx="3384194" cy="38405"/>
          </a:xfrm>
          <a:prstGeom prst="roundRect">
            <a:avLst>
              <a:gd name="adj" fmla="val 238094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708246" y="2234518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80153" y="2406425"/>
            <a:ext cx="267005" cy="26700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708246" y="3073023"/>
            <a:ext cx="17529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짧고 명료한 문장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4708246" y="3568628"/>
            <a:ext cx="285750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문장에는 하나의 생각만 담으세요. </a:t>
            </a:r>
          </a:p>
          <a:p>
            <a:pPr marL="0" indent="0" algn="l">
              <a:buNone/>
            </a:pPr>
            <a:endParaRPr lang="en-US" sz="12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주어와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술어의 거리가 멀어질수록 가독성은 떨어집니다.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708246" y="4490343"/>
            <a:ext cx="2781605" cy="914400"/>
          </a:xfrm>
          <a:prstGeom prst="roundRect">
            <a:avLst>
              <a:gd name="adj" fmla="val 6250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4822546" y="4604643"/>
            <a:ext cx="485546" cy="209398"/>
          </a:xfrm>
          <a:prstGeom prst="roundRect">
            <a:avLst>
              <a:gd name="adj" fmla="val 79396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4880153" y="4623845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4822546" y="4889936"/>
            <a:ext cx="2624328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수면 부족은 심각한데 늦게 자는 습관만이 아니라 과제와 시험 일정 등이 겹쳐 있어...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708246" y="5519043"/>
            <a:ext cx="2781605" cy="933602"/>
          </a:xfrm>
          <a:prstGeom prst="roundRect">
            <a:avLst>
              <a:gd name="adj" fmla="val 599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4832604" y="5642487"/>
            <a:ext cx="390449" cy="209398"/>
          </a:xfrm>
          <a:prstGeom prst="roundRect">
            <a:avLst>
              <a:gd name="adj" fmla="val 79396"/>
            </a:avLst>
          </a:prstGeom>
          <a:solidFill>
            <a:srgbClr val="22C55E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 txBox="1"/>
          <p:nvPr/>
        </p:nvSpPr>
        <p:spPr>
          <a:xfrm>
            <a:off x="4889297" y="5661689"/>
            <a:ext cx="3621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6EFA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4832604" y="5928694"/>
            <a:ext cx="2624328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수면 부족은 복합적 문제입니다. 생활 습관뿐 아니라 과제·시험 일정도 작용합니다.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8026603" y="1920880"/>
            <a:ext cx="3409798" cy="4714484"/>
          </a:xfrm>
          <a:prstGeom prst="roundRect">
            <a:avLst>
              <a:gd name="adj" fmla="val 59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/>
          <p:cNvSpPr/>
          <p:nvPr/>
        </p:nvSpPr>
        <p:spPr>
          <a:xfrm>
            <a:off x="8026603" y="1920879"/>
            <a:ext cx="3384194" cy="38405"/>
          </a:xfrm>
          <a:prstGeom prst="roundRect">
            <a:avLst>
              <a:gd name="adj" fmla="val 2380940"/>
            </a:avLst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8"/>
          <p:cNvSpPr/>
          <p:nvPr/>
        </p:nvSpPr>
        <p:spPr>
          <a:xfrm>
            <a:off x="8340242" y="2234518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78317" y="2406425"/>
            <a:ext cx="333756" cy="267005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340242" y="3073023"/>
            <a:ext cx="14859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매끄러운 연결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8340242" y="3768881"/>
            <a:ext cx="2800807" cy="523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문장과 문단 사이를 '따라서', '그러나', '한편' 등의 연결어로 이어 논리의 흐름을 강화하세요. </a:t>
            </a:r>
          </a:p>
          <a:p>
            <a:pPr marL="0" indent="0" algn="l">
              <a:buNone/>
            </a:pPr>
            <a:endParaRPr lang="en-US" sz="12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호흡이 자연스러워집니다.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8340242" y="5566592"/>
            <a:ext cx="2781605" cy="886054"/>
          </a:xfrm>
          <a:prstGeom prst="roundRect">
            <a:avLst>
              <a:gd name="adj" fmla="val 6658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2"/>
          <p:cNvSpPr txBox="1"/>
          <p:nvPr/>
        </p:nvSpPr>
        <p:spPr>
          <a:xfrm>
            <a:off x="8464601" y="5690036"/>
            <a:ext cx="4910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Effect:</a:t>
            </a:r>
            <a:endParaRPr lang="en-US" sz="1000" dirty="0"/>
          </a:p>
        </p:txBody>
      </p:sp>
      <p:sp>
        <p:nvSpPr>
          <p:cNvPr id="38" name="Text 33"/>
          <p:cNvSpPr txBox="1"/>
          <p:nvPr/>
        </p:nvSpPr>
        <p:spPr>
          <a:xfrm>
            <a:off x="8464601" y="5928694"/>
            <a:ext cx="2624328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앞뒤 문맥의 인과관계가 분명해져 설득력이 높아집니다.</a:t>
            </a:r>
            <a:endParaRPr lang="en-US" sz="1000" dirty="0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3629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원칙 2: 문체와 근거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953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감정을 배제한 객관적 문체와 확실한 근거로 신뢰를 얻으세요.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4129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58409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507285"/>
            <a:ext cx="31437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문체: 담백하고 분명하게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393338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335731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3인칭 시점 유지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564331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'나' 대신 '본 리포트는', '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자료에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따르면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’ 등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3인칭 주어로 객관성을 높입니다.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16882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4260190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감정적 표현 지양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488790"/>
            <a:ext cx="381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'정말 걱정스럽다' 같은 속마음 표현, 꾸밈말과 감탄은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덜어 내고 사실만 남기세요.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241341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47902" y="5183734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명료한 서술 어미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47902" y="5412334"/>
            <a:ext cx="3820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'~라고 생각된다' 대신 '~로 판단된다', '~임을 알 수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있다’로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명확히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끝맺으세요.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1848002"/>
          </a:xfrm>
          <a:prstGeom prst="roundRect">
            <a:avLst>
              <a:gd name="adj" fmla="val 10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19902" y="2245766"/>
            <a:ext cx="171907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67705" y="2205533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제시의 핵심 요소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19902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rcRect l="-38889" r="-38889"/>
          <a:stretch/>
        </p:blipFill>
        <p:spPr>
          <a:xfrm>
            <a:off x="5762549" y="2732227"/>
            <a:ext cx="190195" cy="14264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52744" y="2695651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정확한 수치 인용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472830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l="-38889" r="-38889"/>
          <a:stretch/>
        </p:blipFill>
        <p:spPr>
          <a:xfrm>
            <a:off x="8615477" y="2732227"/>
            <a:ext cx="190195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805672" y="2695651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공신력 있는 기관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619902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8"/>
          <a:srcRect l="-26191" r="-26191"/>
          <a:stretch/>
        </p:blipFill>
        <p:spPr>
          <a:xfrm>
            <a:off x="5762549" y="3282696"/>
            <a:ext cx="190195" cy="14264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952744" y="3246120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 데이터 확인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8472830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9"/>
          <a:srcRect l="-3333" r="-3333"/>
          <a:stretch/>
        </p:blipFill>
        <p:spPr>
          <a:xfrm>
            <a:off x="8615477" y="3282696"/>
            <a:ext cx="190195" cy="14264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805672" y="3246120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필수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5372100" y="3996842"/>
            <a:ext cx="6057900" cy="2419502"/>
          </a:xfrm>
          <a:prstGeom prst="roundRect">
            <a:avLst>
              <a:gd name="adj" fmla="val 59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619902" y="4283964"/>
            <a:ext cx="171907" cy="171907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5867705" y="4244645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 사례 비교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619902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6"/>
          <p:cNvSpPr/>
          <p:nvPr/>
        </p:nvSpPr>
        <p:spPr>
          <a:xfrm>
            <a:off x="5619902" y="4638751"/>
            <a:ext cx="28346" cy="981151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5790895" y="4781398"/>
            <a:ext cx="1114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막연한 추측 (X)</a:t>
            </a:r>
            <a:endParaRPr lang="en-US" sz="1200" dirty="0"/>
          </a:p>
        </p:txBody>
      </p:sp>
      <p:sp>
        <p:nvSpPr>
          <p:cNvPr id="40" name="Text 28"/>
          <p:cNvSpPr txBox="1"/>
          <p:nvPr/>
        </p:nvSpPr>
        <p:spPr>
          <a:xfrm>
            <a:off x="5790895" y="5076749"/>
            <a:ext cx="2417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"요즘 다들 잠이 부족한 것 같고, 주변에서도 그런 말을 자주 듣는다."</a:t>
            </a:r>
            <a:endParaRPr lang="en-US" sz="1000" dirty="0"/>
          </a:p>
        </p:txBody>
      </p:sp>
      <p:sp>
        <p:nvSpPr>
          <p:cNvPr id="41" name="Shape 29"/>
          <p:cNvSpPr/>
          <p:nvPr/>
        </p:nvSpPr>
        <p:spPr>
          <a:xfrm>
            <a:off x="8472830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0"/>
          <p:cNvSpPr/>
          <p:nvPr/>
        </p:nvSpPr>
        <p:spPr>
          <a:xfrm>
            <a:off x="8472830" y="4638751"/>
            <a:ext cx="28346" cy="981151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/>
          <p:cNvSpPr txBox="1"/>
          <p:nvPr/>
        </p:nvSpPr>
        <p:spPr>
          <a:xfrm>
            <a:off x="8643823" y="4781398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 근거 (O)</a:t>
            </a:r>
            <a:endParaRPr lang="en-US" sz="1200" dirty="0"/>
          </a:p>
        </p:txBody>
      </p:sp>
      <p:sp>
        <p:nvSpPr>
          <p:cNvPr id="44" name="Text 32"/>
          <p:cNvSpPr txBox="1"/>
          <p:nvPr/>
        </p:nvSpPr>
        <p:spPr>
          <a:xfrm>
            <a:off x="8643823" y="5076749"/>
            <a:ext cx="2417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"학생생활조사(2025)에 따르면 재학생 평일 평균 수면은 5.8시간이다(가상의 예시)."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5619902" y="5708599"/>
            <a:ext cx="5562295" cy="457200"/>
          </a:xfrm>
          <a:prstGeom prst="roundRect">
            <a:avLst>
              <a:gd name="adj" fmla="val 16667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1"/>
          <a:srcRect l="-2512" r="-2512"/>
          <a:stretch/>
        </p:blipFill>
        <p:spPr>
          <a:xfrm>
            <a:off x="5743346" y="5868619"/>
            <a:ext cx="105156" cy="13350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924398" y="5832043"/>
            <a:ext cx="5037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수치를 인용할 때는 반드시 해당 자료의 연도·기관·표본/범위를 명확히 명시해야 합니다.</a:t>
            </a:r>
            <a:endParaRPr lang="en-US" sz="10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591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원칙 3: 스토리텔링과 반론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8772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정보의 나열이 아닌 '서사'를 만들고, 예상되는 반론을 '선제적'으로 방어하세요.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980030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521915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2446020"/>
            <a:ext cx="26389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설득을 위한 서사 구조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372099" y="2319833"/>
            <a:ext cx="6471557" cy="1705356"/>
          </a:xfrm>
          <a:prstGeom prst="roundRect">
            <a:avLst>
              <a:gd name="adj" fmla="val 119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19902" y="2607869"/>
            <a:ext cx="171907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67705" y="2567635"/>
            <a:ext cx="31363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 잠재우기 (DEFENSE STRATEGY)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619902" y="2962656"/>
            <a:ext cx="5989712" cy="724205"/>
          </a:xfrm>
          <a:prstGeom prst="roundRect">
            <a:avLst>
              <a:gd name="adj" fmla="val 664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 txBox="1"/>
          <p:nvPr/>
        </p:nvSpPr>
        <p:spPr>
          <a:xfrm>
            <a:off x="5762549" y="3105302"/>
            <a:ext cx="577630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주장의 약점을 감추지 않고 스스로 드러낸 뒤 방어하면, 독자는 저자가 편향되지 않았으며 깊이 있게 고민했다고 느낍니다. 논리적 완결성이 크게 향상됩니다.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372099" y="4215384"/>
            <a:ext cx="6471557" cy="1714500"/>
          </a:xfrm>
          <a:prstGeom prst="roundRect">
            <a:avLst>
              <a:gd name="adj" fmla="val 118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1064" r="-1064"/>
          <a:stretch/>
        </p:blipFill>
        <p:spPr>
          <a:xfrm>
            <a:off x="5619902" y="4503420"/>
            <a:ext cx="219456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915254" y="4463186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반박 패턴 예시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619902" y="4858207"/>
            <a:ext cx="5989712" cy="2286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/>
          <p:cNvSpPr txBox="1"/>
          <p:nvPr/>
        </p:nvSpPr>
        <p:spPr>
          <a:xfrm>
            <a:off x="5619901" y="4835347"/>
            <a:ext cx="5918955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"혹자는 초기 도입 비용이 과도하게 높다는 점을 들어 이 정책에 반대할 수 있습니다."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619902" y="5201107"/>
            <a:ext cx="5989712" cy="47640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5707684" y="5210251"/>
            <a:ext cx="5831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"그러나 최근 연구에 따르면, 장기적 유지보수 비용이 30%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절감되어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 내에 손익분기점을 넘어서는 것으로 확인되었습니다." (가상의 예시)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761695" y="3274466"/>
            <a:ext cx="418795" cy="418795"/>
          </a:xfrm>
          <a:prstGeom prst="ellipse">
            <a:avLst/>
          </a:prstGeom>
          <a:solidFill>
            <a:srgbClr val="00204A"/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t="-5953" b="-5953"/>
          <a:stretch/>
        </p:blipFill>
        <p:spPr>
          <a:xfrm flipH="1">
            <a:off x="942438" y="3273901"/>
            <a:ext cx="45719" cy="4093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371600" y="3274466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문제 제기 (Problem)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1371600" y="3503066"/>
            <a:ext cx="34482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팩트 나열 금지. 독자가 해결해야 할 갈등 상황이나 문제 의식을 제시하여 몰입을 유도합니다.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61695" y="4198925"/>
            <a:ext cx="418795" cy="418795"/>
          </a:xfrm>
          <a:prstGeom prst="ellipse">
            <a:avLst/>
          </a:prstGeom>
          <a:solidFill>
            <a:srgbClr val="00204A"/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86054" y="4322369"/>
            <a:ext cx="171907" cy="17190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371600" y="4198925"/>
            <a:ext cx="1295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분석 (Analysis)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371600" y="4427525"/>
            <a:ext cx="3505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현상의 이면을 파고드는 심층 분석 단계입니다.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자료를 구조화하여 저자의 관점을 드러냅니다.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761695" y="5122469"/>
            <a:ext cx="418795" cy="418795"/>
          </a:xfrm>
          <a:prstGeom prst="ellipse">
            <a:avLst/>
          </a:prstGeom>
          <a:solidFill>
            <a:srgbClr val="00204A"/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rcRect t="-2222" b="-2222"/>
          <a:stretch/>
        </p:blipFill>
        <p:spPr>
          <a:xfrm>
            <a:off x="909828" y="5245913"/>
            <a:ext cx="123444" cy="171907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371600" y="5122469"/>
            <a:ext cx="1343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제안 (Proposal)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1371600" y="5351069"/>
            <a:ext cx="34582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앞선 분석을 토대로 필연적이고 논리적인 해결책을 제시합니다. 이것이 곧 리포트의 결론이 됩니다.</a:t>
            </a:r>
            <a:endParaRPr lang="en-US" sz="12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7155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구조: 서론 - 본론 - 결론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3059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 완결성을 갖춘 리포트의 3단 구성과 핵심 역할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495398" y="2349094"/>
            <a:ext cx="72009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463747" y="5720486"/>
            <a:ext cx="5266944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463747" y="5720486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3730752" y="5873191"/>
            <a:ext cx="4898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"서론에서 주장을 밝히고, 본론에서 증명하며, 결론에서 완성합니다."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10105" y="2062886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2425903" y="2177186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2805" y="2862986"/>
            <a:ext cx="3086100" cy="2476195"/>
          </a:xfrm>
          <a:prstGeom prst="roundRect">
            <a:avLst>
              <a:gd name="adj" fmla="val 11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1525219" y="3682289"/>
            <a:ext cx="210403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 (Introduction)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09421" y="4155034"/>
            <a:ext cx="24862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소개하고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제기와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주장(논제)을 명확히 선언</a:t>
            </a:r>
            <a:endParaRPr lang="en-US" sz="12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>
            <a:alphaModFix amt="80000"/>
          </a:blip>
          <a:srcRect l="-776" r="-776"/>
          <a:stretch/>
        </p:blipFill>
        <p:spPr>
          <a:xfrm>
            <a:off x="2305202" y="3158338"/>
            <a:ext cx="381305" cy="333756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4560113" y="2272284"/>
            <a:ext cx="95098" cy="15270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810098" y="2062886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6025896" y="2177186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4552798" y="2862986"/>
            <a:ext cx="3086100" cy="2476195"/>
          </a:xfrm>
          <a:prstGeom prst="roundRect">
            <a:avLst>
              <a:gd name="adj" fmla="val 11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5520233" y="3682289"/>
            <a:ext cx="1313078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본론 (Body)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4839919" y="4155034"/>
            <a:ext cx="26289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타당한 근거와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제시하고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예상되는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반론에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대응하며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논리적으로 입증</a:t>
            </a:r>
            <a:endParaRPr lang="en-US" sz="120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 l="-776" r="-776"/>
          <a:stretch/>
        </p:blipFill>
        <p:spPr>
          <a:xfrm>
            <a:off x="5905195" y="3158338"/>
            <a:ext cx="381305" cy="333756"/>
          </a:xfrm>
          <a:prstGeom prst="rect">
            <a:avLst/>
          </a:prstGeom>
        </p:spPr>
      </p:pic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8161020" y="2272284"/>
            <a:ext cx="95098" cy="152705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9411005" y="2062886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9626803" y="2177186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8153705" y="2862986"/>
            <a:ext cx="3086100" cy="2476195"/>
          </a:xfrm>
          <a:prstGeom prst="roundRect">
            <a:avLst>
              <a:gd name="adj" fmla="val 11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8806586" y="3682289"/>
            <a:ext cx="194127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(Conclusion)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8510321" y="4155034"/>
            <a:ext cx="24862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내용을 요약하고주장의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도출하거나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미래를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위한 제언 제시</a:t>
            </a:r>
            <a:endParaRPr lang="en-US" sz="120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/>
          <a:stretch/>
        </p:blipFill>
        <p:spPr>
          <a:xfrm>
            <a:off x="9529877" y="3158338"/>
            <a:ext cx="333756" cy="333756"/>
          </a:xfrm>
          <a:prstGeom prst="rect">
            <a:avLst/>
          </a:prstGeom>
        </p:spPr>
      </p:pic>
      <p:sp>
        <p:nvSpPr>
          <p:cNvPr id="3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5181905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출처·인용 핵심 가이드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711586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피하고 학술적 신뢰를 높이기 위해 정확한 인용 원칙을 준수하세요.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37334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521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50" r="-50"/>
          <a:stretch/>
        </p:blipFill>
        <p:spPr>
          <a:xfrm>
            <a:off x="1380744" y="2954426"/>
            <a:ext cx="228600" cy="3044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3764585"/>
            <a:ext cx="18105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학과 기준 준수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" y="4355287"/>
            <a:ext cx="270113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양식은 APA·MLA·Chicago처럼 여러 가지이고, 전공마다 주로 쓰는 것이 다릅니다.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교수님이나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학과에서 지정한 가이드라인을 최우선으로 확인하고 일관되게 적용하십시오.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419295" y="2373782"/>
            <a:ext cx="3353105" cy="37334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419295" y="2373782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8097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107" r="-107"/>
          <a:stretch/>
        </p:blipFill>
        <p:spPr>
          <a:xfrm>
            <a:off x="5020056" y="2954426"/>
            <a:ext cx="267005" cy="304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9744" y="3764585"/>
            <a:ext cx="20482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인용과 주석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4686300" y="4355287"/>
            <a:ext cx="284117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괄호(내주)를 사용하여 글의 흐름을 유지하되, 추가 설명이 필요하거나 출처가 복잡할 경우에는 각주(외주)를 활용하여 가독성을 높이는 것이 좋습니다.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76895" y="2373782"/>
            <a:ext cx="3353105" cy="37334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076895" y="2373782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4673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58454" y="2954426"/>
            <a:ext cx="304495" cy="3044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467344" y="3764585"/>
            <a:ext cx="20482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요소와 윤리</a:t>
            </a:r>
            <a:endParaRPr lang="en-US" sz="2100" dirty="0"/>
          </a:p>
        </p:txBody>
      </p:sp>
      <p:sp>
        <p:nvSpPr>
          <p:cNvPr id="24" name="Text 19"/>
          <p:cNvSpPr txBox="1"/>
          <p:nvPr/>
        </p:nvSpPr>
        <p:spPr>
          <a:xfrm>
            <a:off x="8467344" y="4355287"/>
            <a:ext cx="261518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저자, 연도, 제목, 페이지 등 필수 서지 정보를 누락하지 마십시오.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문장을 그대로 가져올 때는 반드시 인용 부호를 사용하여 표절 의혹을 방지해야 합니다.</a:t>
            </a:r>
            <a:endParaRPr lang="en-US" sz="1300" dirty="0"/>
          </a:p>
        </p:txBody>
      </p:sp>
      <p:sp>
        <p:nvSpPr>
          <p:cNvPr id="2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62356"/>
            <a:ext cx="53721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과제문 해석 워크시트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133"/>
            <a:ext cx="51727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안내문을 받은 즉시, 다음 6가지 항목을 빈칸에 채워보세요.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1796796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00035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0354" y="2064715"/>
            <a:ext cx="190195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04849" y="2034540"/>
            <a:ext cx="13167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목적 (Goal)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00354" y="2562149"/>
            <a:ext cx="2762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수업 핵심 개념을 적용해 정책 대안을 제시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0354" y="2891333"/>
            <a:ext cx="22274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배운 이론으로 현실 문제 해결하기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381805" y="1796796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619549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648" r="-1648"/>
          <a:stretch/>
        </p:blipFill>
        <p:spPr>
          <a:xfrm>
            <a:off x="4619549" y="2064715"/>
            <a:ext cx="171907" cy="1901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905756" y="2034540"/>
            <a:ext cx="15261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독자 (Reader)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619549" y="2562149"/>
            <a:ext cx="2496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과목 담당 교수님 (전문가이자 학습자)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619549" y="2891333"/>
            <a:ext cx="2141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 독자를 가르친다는 태도로 작성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8001000" y="1796796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23874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38744" y="2064715"/>
            <a:ext cx="190195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44154" y="2034540"/>
            <a:ext cx="14026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동사 (Verbs)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238744" y="2562149"/>
            <a:ext cx="253380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분석(Analyze), 비교(Compare), 제안(Propose)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238744" y="3135478"/>
            <a:ext cx="23134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해야 하는지 지시하는 단어 확인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761695" y="3796589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1000354" y="4406494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00354" y="4065422"/>
            <a:ext cx="190195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304849" y="4034333"/>
            <a:ext cx="14310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 규정 (Specs)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1000354" y="4562856"/>
            <a:ext cx="30294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6~8페이지, Noto Sans KR, APA 인용 형식 준수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1000354" y="5136185"/>
            <a:ext cx="18937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글꼴, 분량, 줄간격 등 필수 형식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381805" y="3796589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4619549" y="4406494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19549" y="4065422"/>
            <a:ext cx="190195" cy="19019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4924044" y="4034333"/>
            <a:ext cx="1469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및 마감 (Due)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619549" y="4562856"/>
            <a:ext cx="2809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LMS 업로드 마감 23:59, 표절률 기준 확인(기관마다 다르며 보통 15~20%)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4619549" y="4892040"/>
            <a:ext cx="16459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엄수는 기본 중의 기본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8001000" y="3796589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8238744" y="4406494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38744" y="4065422"/>
            <a:ext cx="142646" cy="190195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496605" y="4034333"/>
            <a:ext cx="14886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기준 (Rubric)</a:t>
            </a:r>
            <a:endParaRPr lang="en-US" sz="1300" dirty="0"/>
          </a:p>
        </p:txBody>
      </p:sp>
      <p:sp>
        <p:nvSpPr>
          <p:cNvPr id="41" name="Text 33"/>
          <p:cNvSpPr txBox="1"/>
          <p:nvPr/>
        </p:nvSpPr>
        <p:spPr>
          <a:xfrm>
            <a:off x="8238744" y="4562856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 명확성, 근거의 신뢰성, 형식 준수 여부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8238744" y="4892040"/>
            <a:ext cx="19037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점수 비중이 높은지 확인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761695" y="5892394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761695" y="5892394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28700" y="6056071"/>
            <a:ext cx="228600" cy="2286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1410005" y="6044184"/>
            <a:ext cx="4411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여러분의 과제 안내문을 꺼내 위 빈칸을 채워보세요.</a:t>
            </a:r>
            <a:endParaRPr lang="en-US" sz="1300" dirty="0"/>
          </a:p>
        </p:txBody>
      </p:sp>
      <p:sp>
        <p:nvSpPr>
          <p:cNvPr id="47" name="Stage3 Note"/>
          <p:cNvSpPr txBox="1"/>
          <p:nvPr/>
        </p:nvSpPr>
        <p:spPr>
          <a:xfrm>
            <a:off x="571500" y="656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표절률(유사도) 기준은 기관마다 다르며 보통 15~20% 를 쓴다. 과목·학교 규정을 먼저 확인한다.</a:t>
            </a:r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34674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분량별 전략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190695" y="1003097"/>
            <a:ext cx="44293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수에 따라 선택해야 할 작성 전략이 달라집니다.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8027" y="1422350"/>
            <a:ext cx="5143500" cy="4651553"/>
          </a:xfrm>
          <a:prstGeom prst="roundRect">
            <a:avLst>
              <a:gd name="adj" fmla="val 2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87171" y="1380286"/>
            <a:ext cx="5124298" cy="951889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87171" y="2373324"/>
            <a:ext cx="5124298" cy="45719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92326" y="1515161"/>
            <a:ext cx="486369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리포트 (~2p)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792326" y="1974190"/>
            <a:ext cx="4772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압축 &amp; 논리적 완결성</a:t>
            </a:r>
            <a:endParaRPr lang="en-US" sz="12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l="-13318" r="-13318"/>
          <a:stretch/>
        </p:blipFill>
        <p:spPr>
          <a:xfrm>
            <a:off x="925829" y="2658618"/>
            <a:ext cx="190195" cy="13350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116025" y="2622957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(STRUCTURE)</a:t>
            </a:r>
            <a:endParaRPr lang="en-US" sz="10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21233" r="-21233"/>
          <a:stretch/>
        </p:blipFill>
        <p:spPr>
          <a:xfrm>
            <a:off x="925829" y="3551073"/>
            <a:ext cx="190195" cy="1335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16025" y="3514497"/>
            <a:ext cx="12655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(EVIDENCE)</a:t>
            </a:r>
            <a:endParaRPr lang="en-US" sz="10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44978" r="-44978"/>
          <a:stretch/>
        </p:blipFill>
        <p:spPr>
          <a:xfrm>
            <a:off x="868509" y="4442613"/>
            <a:ext cx="247515" cy="1737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16025" y="4406037"/>
            <a:ext cx="12179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(EXAMPLE)</a:t>
            </a:r>
            <a:endParaRPr lang="en-US" sz="10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31409" r="-31409"/>
          <a:stretch/>
        </p:blipFill>
        <p:spPr>
          <a:xfrm>
            <a:off x="925829" y="5110125"/>
            <a:ext cx="190195" cy="1335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16025" y="5074463"/>
            <a:ext cx="15032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(CONCLUSION)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202831" y="1422350"/>
            <a:ext cx="5416209" cy="4651553"/>
          </a:xfrm>
          <a:prstGeom prst="roundRect">
            <a:avLst>
              <a:gd name="adj" fmla="val 2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5"/>
          <p:cNvSpPr/>
          <p:nvPr/>
        </p:nvSpPr>
        <p:spPr>
          <a:xfrm>
            <a:off x="6211975" y="1424174"/>
            <a:ext cx="5416209" cy="968353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6211976" y="2373324"/>
            <a:ext cx="5416208" cy="45719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7"/>
          <p:cNvSpPr txBox="1"/>
          <p:nvPr/>
        </p:nvSpPr>
        <p:spPr>
          <a:xfrm>
            <a:off x="6449720" y="1505039"/>
            <a:ext cx="485455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리포트 (10p+)</a:t>
            </a:r>
            <a:endParaRPr lang="en-US" sz="2100" dirty="0"/>
          </a:p>
        </p:txBody>
      </p:sp>
      <p:sp>
        <p:nvSpPr>
          <p:cNvPr id="24" name="Text 18"/>
          <p:cNvSpPr txBox="1"/>
          <p:nvPr/>
        </p:nvSpPr>
        <p:spPr>
          <a:xfrm>
            <a:off x="6449720" y="1964068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심층 논증 &amp; 다각적 분석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l="-13318" r="-13318"/>
          <a:stretch/>
        </p:blipFill>
        <p:spPr>
          <a:xfrm>
            <a:off x="6449720" y="2658618"/>
            <a:ext cx="190195" cy="1335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40829" y="2622957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(STRUCTURE)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l="-21233" r="-21233"/>
          <a:stretch/>
        </p:blipFill>
        <p:spPr>
          <a:xfrm>
            <a:off x="6449720" y="3551073"/>
            <a:ext cx="190195" cy="13350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640829" y="3514497"/>
            <a:ext cx="12655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(EVIDENCE)</a:t>
            </a:r>
            <a:endParaRPr lang="en-US" sz="10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rcRect l="-21233" r="-21233"/>
          <a:stretch/>
        </p:blipFill>
        <p:spPr>
          <a:xfrm>
            <a:off x="6449720" y="4442613"/>
            <a:ext cx="190195" cy="13350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640829" y="4406037"/>
            <a:ext cx="12179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(EXAMPLE)</a:t>
            </a:r>
            <a:endParaRPr lang="en-US" sz="100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10"/>
          <a:srcRect l="-21233" r="-21233"/>
          <a:stretch/>
        </p:blipFill>
        <p:spPr>
          <a:xfrm>
            <a:off x="6449720" y="5334153"/>
            <a:ext cx="190195" cy="13350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640829" y="5298491"/>
            <a:ext cx="15032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(CONCLUSION)</a:t>
            </a:r>
            <a:endParaRPr lang="en-US" sz="1000" dirty="0"/>
          </a:p>
        </p:txBody>
      </p:sp>
      <p:sp>
        <p:nvSpPr>
          <p:cNvPr id="33" name="Text 23"/>
          <p:cNvSpPr txBox="1"/>
          <p:nvPr/>
        </p:nvSpPr>
        <p:spPr>
          <a:xfrm>
            <a:off x="1163573" y="2866187"/>
            <a:ext cx="44924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서론을 최소화하고 본론 논리에 집중.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논제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(Thesis)를 첫 단락에 명확히 선언.</a:t>
            </a:r>
            <a:endParaRPr lang="en-US" sz="1200" dirty="0"/>
          </a:p>
        </p:txBody>
      </p:sp>
      <p:sp>
        <p:nvSpPr>
          <p:cNvPr id="34" name="Text 24"/>
          <p:cNvSpPr txBox="1"/>
          <p:nvPr/>
        </p:nvSpPr>
        <p:spPr>
          <a:xfrm>
            <a:off x="1163573" y="3758641"/>
            <a:ext cx="44732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강력한 핵심 근거 2가지 선택.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그래프나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도표는 1개 이내로 제한.</a:t>
            </a:r>
            <a:endParaRPr lang="en-US" sz="1200" dirty="0"/>
          </a:p>
        </p:txBody>
      </p:sp>
      <p:sp>
        <p:nvSpPr>
          <p:cNvPr id="35" name="Text 25"/>
          <p:cNvSpPr txBox="1"/>
          <p:nvPr/>
        </p:nvSpPr>
        <p:spPr>
          <a:xfrm>
            <a:off x="1163573" y="4650181"/>
            <a:ext cx="39968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장황한 설명 대신 대표적인 단일 사례 1개로 압축하여 설명.</a:t>
            </a:r>
            <a:endParaRPr lang="en-US" sz="1200" dirty="0"/>
          </a:p>
        </p:txBody>
      </p:sp>
      <p:sp>
        <p:nvSpPr>
          <p:cNvPr id="36" name="Text 26"/>
          <p:cNvSpPr txBox="1"/>
          <p:nvPr/>
        </p:nvSpPr>
        <p:spPr>
          <a:xfrm>
            <a:off x="1163573" y="5317693"/>
            <a:ext cx="3959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단락으로 마무리. 새로운 정보 추가 없이 핵심만 재강조.</a:t>
            </a:r>
            <a:endParaRPr lang="en-US" sz="1200" dirty="0"/>
          </a:p>
        </p:txBody>
      </p:sp>
      <p:sp>
        <p:nvSpPr>
          <p:cNvPr id="37" name="Text 27"/>
          <p:cNvSpPr txBox="1"/>
          <p:nvPr/>
        </p:nvSpPr>
        <p:spPr>
          <a:xfrm>
            <a:off x="6688378" y="2866187"/>
            <a:ext cx="44833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장/절(Chapter) 구조 도입. 목차를 세분화하여 논리의 흐름을 시각화.</a:t>
            </a:r>
            <a:endParaRPr lang="en-US" sz="1200" dirty="0"/>
          </a:p>
        </p:txBody>
      </p:sp>
      <p:sp>
        <p:nvSpPr>
          <p:cNvPr id="38" name="Text 28"/>
          <p:cNvSpPr txBox="1"/>
          <p:nvPr/>
        </p:nvSpPr>
        <p:spPr>
          <a:xfrm>
            <a:off x="6688378" y="3758641"/>
            <a:ext cx="46323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데이터, 선행 연구, 전문가 견해를 복합적으로 인용하여 논증 강화.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6688378" y="4650181"/>
            <a:ext cx="4730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주장별로 구체적 사례 제시. 예상되는 반론을 위한 별도 섹션(Defense) 포함.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6688377" y="5541721"/>
            <a:ext cx="4632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요약, 시사점, 한계, 제언을 각각 분리하여 상세 기술. 참고문헌 15개 이상.</a:t>
            </a:r>
            <a:endParaRPr lang="en-US" sz="1200" dirty="0"/>
          </a:p>
        </p:txBody>
      </p:sp>
      <p:sp>
        <p:nvSpPr>
          <p:cNvPr id="41" name="Shape 31"/>
          <p:cNvSpPr/>
          <p:nvPr/>
        </p:nvSpPr>
        <p:spPr>
          <a:xfrm>
            <a:off x="750265" y="6215637"/>
            <a:ext cx="10668305" cy="386791"/>
          </a:xfrm>
          <a:prstGeom prst="roundRect">
            <a:avLst>
              <a:gd name="adj" fmla="val 11024"/>
            </a:avLst>
          </a:prstGeom>
          <a:solidFill>
            <a:srgbClr val="00BBF0">
              <a:alpha val="15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2"/>
          <p:cNvSpPr txBox="1"/>
          <p:nvPr/>
        </p:nvSpPr>
        <p:spPr>
          <a:xfrm>
            <a:off x="3723894" y="6304334"/>
            <a:ext cx="27166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과제 분량은 어느 쪽인가요?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6754215" y="6304334"/>
            <a:ext cx="18214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전략을 선택하세요.</a:t>
            </a:r>
            <a:endParaRPr lang="en-US" sz="1300" dirty="0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rcRect l="-1082" r="-1082"/>
          <a:stretch/>
        </p:blipFill>
        <p:spPr>
          <a:xfrm>
            <a:off x="6449720" y="6339996"/>
            <a:ext cx="161849" cy="181051"/>
          </a:xfrm>
          <a:prstGeom prst="rect">
            <a:avLst/>
          </a:prstGeom>
        </p:spPr>
      </p:pic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9536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좁히기: Before &amp; After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0204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광범위한 주제는 작성을 어렵게 만듭니다. 대상, 범위, 변수를 구체화하세요.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006194"/>
            <a:ext cx="190195" cy="19019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47902" y="1958645"/>
            <a:ext cx="18105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모호한 주제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61695" y="2434133"/>
            <a:ext cx="5048402" cy="3857854"/>
          </a:xfrm>
          <a:prstGeom prst="roundRect">
            <a:avLst>
              <a:gd name="adj" fmla="val 46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1755648" y="3826764"/>
            <a:ext cx="326715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 수면 부족 대책"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1845259" y="4496105"/>
            <a:ext cx="905256" cy="390449"/>
          </a:xfrm>
          <a:prstGeom prst="roundRect">
            <a:avLst>
              <a:gd name="adj" fmla="val 114240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2007108" y="4581144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과다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37383" y="4496105"/>
            <a:ext cx="905256" cy="390449"/>
          </a:xfrm>
          <a:prstGeom prst="roundRect">
            <a:avLst>
              <a:gd name="adj" fmla="val 114240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2999232" y="4581144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 불명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829507" y="4496105"/>
            <a:ext cx="905256" cy="390449"/>
          </a:xfrm>
          <a:prstGeom prst="roundRect">
            <a:avLst>
              <a:gd name="adj" fmla="val 114240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3991356" y="4581144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 불명</a:t>
            </a:r>
            <a:endParaRPr lang="en-US" sz="11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81598" y="2006194"/>
            <a:ext cx="190195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667805" y="1958645"/>
            <a:ext cx="18288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구체화된 주제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81598" y="2434133"/>
            <a:ext cx="5048402" cy="3857854"/>
          </a:xfrm>
          <a:prstGeom prst="roundRect">
            <a:avLst>
              <a:gd name="adj" fmla="val 46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6724498" y="2825496"/>
            <a:ext cx="4362602" cy="457200"/>
          </a:xfrm>
          <a:prstGeom prst="roundRect">
            <a:avLst>
              <a:gd name="adj" fmla="val 25000"/>
            </a:avLst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6724498" y="2825496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l="-25988" r="-25988"/>
          <a:stretch/>
        </p:blipFill>
        <p:spPr>
          <a:xfrm>
            <a:off x="6953098" y="2968142"/>
            <a:ext cx="228600" cy="171907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24344" y="2939796"/>
            <a:ext cx="1867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대상: 수도권 대학 1학년생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724498" y="3425342"/>
            <a:ext cx="4362602" cy="457200"/>
          </a:xfrm>
          <a:prstGeom prst="roundRect">
            <a:avLst>
              <a:gd name="adj" fmla="val 25000"/>
            </a:avLst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6724498" y="3425342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 l="-38653" r="-38653"/>
          <a:stretch/>
        </p:blipFill>
        <p:spPr>
          <a:xfrm>
            <a:off x="6953098" y="3567989"/>
            <a:ext cx="228600" cy="17190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324344" y="3539642"/>
            <a:ext cx="2486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범위: 중간고사 전후 4주 (학기 중반)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724498" y="4025189"/>
            <a:ext cx="4362602" cy="457200"/>
          </a:xfrm>
          <a:prstGeom prst="roundRect">
            <a:avLst>
              <a:gd name="adj" fmla="val 25000"/>
            </a:avLst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6724498" y="4025189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rcRect l="-16489" r="-16489"/>
          <a:stretch/>
        </p:blipFill>
        <p:spPr>
          <a:xfrm>
            <a:off x="6953098" y="4167835"/>
            <a:ext cx="228600" cy="171907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24344" y="4139489"/>
            <a:ext cx="2533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변수: 평일 수면 시간과 과제 제출률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724498" y="4720133"/>
            <a:ext cx="4362602" cy="533095"/>
          </a:xfrm>
          <a:prstGeom prst="roundRect">
            <a:avLst>
              <a:gd name="adj" fmla="val 18378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7104888" y="4911242"/>
            <a:ext cx="114300" cy="15270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314286" y="4872838"/>
            <a:ext cx="3514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이렇게 좁히면 필요한 자료를 찾기가 훨씬 쉬워집니다!</a:t>
            </a:r>
            <a:endParaRPr lang="en-US" sz="120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rcRect t="-120" b="-120"/>
          <a:stretch/>
        </p:blipFill>
        <p:spPr>
          <a:xfrm>
            <a:off x="6001207" y="3951122"/>
            <a:ext cx="237744" cy="381305"/>
          </a:xfrm>
          <a:prstGeom prst="rect">
            <a:avLst/>
          </a:prstGeom>
        </p:spPr>
      </p:pic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6771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변환 3단계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953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사실 나열을 넘어 나만의 관점과 주장을 담아내는 과정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64946" y="2339645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88543" y="5717438"/>
            <a:ext cx="5943600" cy="381305"/>
          </a:xfrm>
          <a:prstGeom prst="roundRect">
            <a:avLst>
              <a:gd name="adj" fmla="val 23981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2512" r="-2512"/>
          <a:stretch/>
        </p:blipFill>
        <p:spPr>
          <a:xfrm>
            <a:off x="850392" y="5848198"/>
            <a:ext cx="105156" cy="1335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55548" y="5802478"/>
            <a:ext cx="56180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주제도 이 3단계를 거쳐 '한 문장의 주장'으로 다듬어 보세요.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09521" y="2054352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2326234" y="2168652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88543" y="2854452"/>
            <a:ext cx="3419856" cy="2667305"/>
          </a:xfrm>
          <a:prstGeom prst="roundRect">
            <a:avLst>
              <a:gd name="adj" fmla="val 97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927202" y="3987394"/>
            <a:ext cx="2943454" cy="705002"/>
          </a:xfrm>
          <a:prstGeom prst="roundRect">
            <a:avLst>
              <a:gd name="adj" fmla="val 7011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927202" y="3987394"/>
            <a:ext cx="28346" cy="70500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927202" y="4936541"/>
            <a:ext cx="2943454" cy="352044"/>
          </a:xfrm>
          <a:prstGeom prst="roundRect">
            <a:avLst>
              <a:gd name="adj" fmla="val 140400"/>
            </a:avLst>
          </a:prstGeom>
          <a:solidFill>
            <a:srgbClr val="EF4444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574597" y="3549396"/>
            <a:ext cx="17913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1. 정보 (Fact)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69848" y="4101694"/>
            <a:ext cx="27761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"시험 기간에는 대학생의 평균 수면 시간이 줄어든다는 조사가 있다."</a:t>
            </a:r>
            <a:endParaRPr lang="en-US" sz="11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79169" y="5047183"/>
            <a:ext cx="133502" cy="13350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788566" y="5012436"/>
            <a:ext cx="15261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 나열 (주장 없음)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/>
          <a:stretch/>
        </p:blipFill>
        <p:spPr>
          <a:xfrm>
            <a:off x="2243023" y="3092196"/>
            <a:ext cx="304495" cy="304495"/>
          </a:xfrm>
          <a:prstGeom prst="rect">
            <a:avLst/>
          </a:prstGeom>
        </p:spPr>
      </p:pic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4348886" y="2263750"/>
            <a:ext cx="95098" cy="152705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5736946" y="2054352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5952744" y="2168652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4315968" y="2854452"/>
            <a:ext cx="3419856" cy="2667305"/>
          </a:xfrm>
          <a:prstGeom prst="roundRect">
            <a:avLst>
              <a:gd name="adj" fmla="val 97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4553712" y="3987394"/>
            <a:ext cx="2943454" cy="705002"/>
          </a:xfrm>
          <a:prstGeom prst="roundRect">
            <a:avLst>
              <a:gd name="adj" fmla="val 7011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553712" y="3987394"/>
            <a:ext cx="28346" cy="70500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4553712" y="4936541"/>
            <a:ext cx="2943454" cy="352044"/>
          </a:xfrm>
          <a:prstGeom prst="roundRect">
            <a:avLst>
              <a:gd name="adj" fmla="val 140400"/>
            </a:avLst>
          </a:prstGeom>
          <a:solidFill>
            <a:srgbClr val="10B981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4"/>
          <p:cNvSpPr txBox="1"/>
          <p:nvPr/>
        </p:nvSpPr>
        <p:spPr>
          <a:xfrm>
            <a:off x="5172761" y="3549396"/>
            <a:ext cx="18480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2. 관점 (View)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4697273" y="4101694"/>
            <a:ext cx="272857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"수면 부족은 개인에게 수면 습관 교육을 하는 것만으로는 풀기 어렵다."</a:t>
            </a:r>
            <a:endParaRPr lang="en-US" sz="11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205679" y="5047183"/>
            <a:ext cx="133502" cy="13350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415991" y="5012436"/>
            <a:ext cx="15261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의식 포함 (약한 주장)</a:t>
            </a:r>
            <a:endParaRPr lang="en-US" sz="10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>
            <a:alphaModFix amt="80000"/>
          </a:blip>
          <a:srcRect/>
          <a:stretch/>
        </p:blipFill>
        <p:spPr>
          <a:xfrm>
            <a:off x="5870448" y="3092196"/>
            <a:ext cx="304495" cy="304495"/>
          </a:xfrm>
          <a:prstGeom prst="rect">
            <a:avLst/>
          </a:prstGeom>
        </p:spPr>
      </p:pic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7975397" y="2263750"/>
            <a:ext cx="95098" cy="152705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9364370" y="2054352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9580169" y="2168652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29"/>
          <p:cNvSpPr/>
          <p:nvPr/>
        </p:nvSpPr>
        <p:spPr>
          <a:xfrm>
            <a:off x="7943393" y="2854452"/>
            <a:ext cx="3419856" cy="2667305"/>
          </a:xfrm>
          <a:prstGeom prst="roundRect">
            <a:avLst>
              <a:gd name="adj" fmla="val 979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/>
            </a:solidFill>
            <a:prstDash val="solid"/>
          </a:ln>
          <a:effectLst>
            <a:outerShdw blurRad="190500" dist="12700" dir="16200000" algn="bl" rotWithShape="0">
              <a:srgbClr val="00BBF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9"/>
          <a:srcRect l="-107" r="-107"/>
          <a:stretch/>
        </p:blipFill>
        <p:spPr>
          <a:xfrm>
            <a:off x="9516161" y="3092196"/>
            <a:ext cx="267005" cy="304495"/>
          </a:xfrm>
          <a:prstGeom prst="rect">
            <a:avLst/>
          </a:prstGeom>
        </p:spPr>
      </p:pic>
      <p:sp>
        <p:nvSpPr>
          <p:cNvPr id="40" name="Shape 30"/>
          <p:cNvSpPr/>
          <p:nvPr/>
        </p:nvSpPr>
        <p:spPr>
          <a:xfrm>
            <a:off x="8181137" y="3987394"/>
            <a:ext cx="2943454" cy="705002"/>
          </a:xfrm>
          <a:prstGeom prst="roundRect">
            <a:avLst>
              <a:gd name="adj" fmla="val 7011"/>
            </a:avLst>
          </a:prstGeom>
          <a:solidFill>
            <a:srgbClr val="00204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1"/>
          <p:cNvSpPr/>
          <p:nvPr/>
        </p:nvSpPr>
        <p:spPr>
          <a:xfrm>
            <a:off x="8181137" y="3987394"/>
            <a:ext cx="28346" cy="705002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2"/>
          <p:cNvSpPr/>
          <p:nvPr/>
        </p:nvSpPr>
        <p:spPr>
          <a:xfrm>
            <a:off x="8181137" y="4936541"/>
            <a:ext cx="2943454" cy="352044"/>
          </a:xfrm>
          <a:prstGeom prst="roundRect">
            <a:avLst>
              <a:gd name="adj" fmla="val 140400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3"/>
          <p:cNvSpPr txBox="1"/>
          <p:nvPr/>
        </p:nvSpPr>
        <p:spPr>
          <a:xfrm>
            <a:off x="8726119" y="3549396"/>
            <a:ext cx="20007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3. 논제 (Thesis)</a:t>
            </a:r>
            <a:endParaRPr lang="en-US" sz="1500" dirty="0"/>
          </a:p>
        </p:txBody>
      </p:sp>
      <p:sp>
        <p:nvSpPr>
          <p:cNvPr id="44" name="Text 34"/>
          <p:cNvSpPr txBox="1"/>
          <p:nvPr/>
        </p:nvSpPr>
        <p:spPr>
          <a:xfrm>
            <a:off x="8323783" y="4101694"/>
            <a:ext cx="273771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 수면 부족을 줄이려면 과제 마감을 분산하는 학사 운영이 필요하다."</a:t>
            </a:r>
            <a:endParaRPr lang="en-US" sz="1100" dirty="0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10"/>
          <a:srcRect t="-2644" b="-2644"/>
          <a:stretch/>
        </p:blipFill>
        <p:spPr>
          <a:xfrm>
            <a:off x="8841334" y="5047183"/>
            <a:ext cx="142646" cy="133502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9060790" y="5012436"/>
            <a:ext cx="14977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주장과 대안 (완성)</a:t>
            </a:r>
            <a:endParaRPr lang="en-US" sz="10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90938" y="38999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90938" y="571044"/>
            <a:ext cx="48582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→ 검색식 만들기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0938" y="1300735"/>
            <a:ext cx="59820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키워드 나열을 넘어, 논리 연산자를 활용해 검색의 정확도를 높이세요.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5382" y="2534946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5382" y="2077746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7543" y="2001851"/>
            <a:ext cx="2667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확장/축약 규칙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382" y="2887904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99936" y="2830297"/>
            <a:ext cx="1448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동의어/유의어 (확장)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99936" y="3058897"/>
            <a:ext cx="3743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'수면 부족', '수면 박탈', '수면 부채' 등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비슷한 의미의 단어를 묶어 검색 결과 누락을 방지합니다.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785382" y="3811448"/>
            <a:ext cx="190195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19138" y="3753841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상위/하위 개념 (범위 조절)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119138" y="3982441"/>
            <a:ext cx="36868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결과가 적으면 '건강 행동'(상위)으로 넓히고, 너무 많으면 '시험 기간 수면'(하위)으로 좁힙니다.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85382" y="4734992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9936" y="4678300"/>
            <a:ext cx="1429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제한어 추가 (구체화)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99936" y="4906900"/>
            <a:ext cx="38386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'대학생', '1학년', '수도권' 등 대상을 한정하는 단어를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추가해 정확도를 높입니다.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85382" y="5659451"/>
            <a:ext cx="171907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99936" y="5601844"/>
            <a:ext cx="17529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제외어 설정 (노이즈 제거)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99936" y="5830444"/>
            <a:ext cx="3724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논지와 관계없는 분야(예: '수면무호흡', '교대근무')를 검색 결과에서 배제합니다.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497286" y="1709602"/>
            <a:ext cx="6057900" cy="2371955"/>
          </a:xfrm>
          <a:prstGeom prst="roundRect">
            <a:avLst>
              <a:gd name="adj" fmla="val 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745088" y="1825734"/>
            <a:ext cx="171907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92891" y="1785500"/>
            <a:ext cx="13834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검색식 예시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745088" y="2180521"/>
            <a:ext cx="5562295" cy="771754"/>
          </a:xfrm>
          <a:prstGeom prst="roundRect">
            <a:avLst>
              <a:gd name="adj" fmla="val 8777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745088" y="2180521"/>
            <a:ext cx="38405" cy="77175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5926140" y="2323167"/>
            <a:ext cx="14310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DBpia / 학술 DB 검색식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5926140" y="2602974"/>
            <a:ext cx="481065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("대학생" AND 수면) AND (학업 성취 OR 학점) AND 한국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5745088" y="3060174"/>
            <a:ext cx="5562295" cy="771754"/>
          </a:xfrm>
          <a:prstGeom prst="roundRect">
            <a:avLst>
              <a:gd name="adj" fmla="val 8777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5745088" y="3060174"/>
            <a:ext cx="38405" cy="77175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5926140" y="3202820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도서관 통합검색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5926140" y="3483541"/>
            <a:ext cx="4048963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수면 부족 AND 대학생 AND 시험 기간 NOT 수면무호흡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497286" y="4264438"/>
            <a:ext cx="6057900" cy="2371955"/>
          </a:xfrm>
          <a:prstGeom prst="roundRect">
            <a:avLst>
              <a:gd name="adj" fmla="val 56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rcRect l="-1773" r="-1773"/>
          <a:stretch/>
        </p:blipFill>
        <p:spPr>
          <a:xfrm>
            <a:off x="5745088" y="4552474"/>
            <a:ext cx="200254" cy="171907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021237" y="4512241"/>
            <a:ext cx="19266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연산자 미니 가이드</a:t>
            </a:r>
            <a:endParaRPr lang="en-US" sz="1300" dirty="0"/>
          </a:p>
        </p:txBody>
      </p:sp>
      <p:sp>
        <p:nvSpPr>
          <p:cNvPr id="36" name="Shape 27"/>
          <p:cNvSpPr/>
          <p:nvPr/>
        </p:nvSpPr>
        <p:spPr>
          <a:xfrm>
            <a:off x="5745088" y="490634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5945342" y="5020647"/>
            <a:ext cx="3035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 "</a:t>
            </a:r>
            <a:endParaRPr lang="en-US" sz="1000" dirty="0"/>
          </a:p>
        </p:txBody>
      </p:sp>
      <p:sp>
        <p:nvSpPr>
          <p:cNvPr id="38" name="Text 29"/>
          <p:cNvSpPr txBox="1"/>
          <p:nvPr/>
        </p:nvSpPr>
        <p:spPr>
          <a:xfrm>
            <a:off x="7366320" y="5020647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정확한 구절 검색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8583386" y="490634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1"/>
          <p:cNvSpPr txBox="1"/>
          <p:nvPr/>
        </p:nvSpPr>
        <p:spPr>
          <a:xfrm>
            <a:off x="8783640" y="5020647"/>
            <a:ext cx="398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AND</a:t>
            </a:r>
            <a:endParaRPr lang="en-US" sz="1000" dirty="0"/>
          </a:p>
        </p:txBody>
      </p:sp>
      <p:sp>
        <p:nvSpPr>
          <p:cNvPr id="41" name="Text 32"/>
          <p:cNvSpPr txBox="1"/>
          <p:nvPr/>
        </p:nvSpPr>
        <p:spPr>
          <a:xfrm>
            <a:off x="10112263" y="5020647"/>
            <a:ext cx="1160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교집합 (모두 포함)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5745088" y="545498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4"/>
          <p:cNvSpPr txBox="1"/>
          <p:nvPr/>
        </p:nvSpPr>
        <p:spPr>
          <a:xfrm>
            <a:off x="5945342" y="5569287"/>
            <a:ext cx="3035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7312370" y="5569287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합집합 (하나라도)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583386" y="545498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7"/>
          <p:cNvSpPr txBox="1"/>
          <p:nvPr/>
        </p:nvSpPr>
        <p:spPr>
          <a:xfrm>
            <a:off x="8783640" y="5569287"/>
            <a:ext cx="398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</a:t>
            </a:r>
            <a:endParaRPr lang="en-US" sz="1000" dirty="0"/>
          </a:p>
        </p:txBody>
      </p:sp>
      <p:sp>
        <p:nvSpPr>
          <p:cNvPr id="47" name="Text 38"/>
          <p:cNvSpPr txBox="1"/>
          <p:nvPr/>
        </p:nvSpPr>
        <p:spPr>
          <a:xfrm>
            <a:off x="10403042" y="5569287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차집합 (제외)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745088" y="6032888"/>
            <a:ext cx="5562295" cy="457200"/>
          </a:xfrm>
          <a:prstGeom prst="roundRect">
            <a:avLst>
              <a:gd name="adj" fmla="val 16667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10"/>
          <a:srcRect l="-2512" r="-2512"/>
          <a:stretch/>
        </p:blipFill>
        <p:spPr>
          <a:xfrm>
            <a:off x="5868532" y="6192908"/>
            <a:ext cx="105156" cy="133502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6049584" y="6156332"/>
            <a:ext cx="37993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동의어는 OR로 묶고 괄호 ( )를 사용해야 논리가 꼬이지 않습니다.</a:t>
            </a:r>
            <a:endParaRPr lang="en-US" sz="1000" dirty="0"/>
          </a:p>
        </p:txBody>
      </p: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2867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신뢰도 스펙트럼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5440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품격은 인용하는 자료의 신뢰도(Credibility)가 결정합니다.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086246" y="2434133"/>
            <a:ext cx="19202" cy="2667305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99386"/>
            <a:ext cx="2667305" cy="11430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429000" y="2399386"/>
            <a:ext cx="2667305" cy="1143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096305" y="2399386"/>
            <a:ext cx="2667305" cy="1143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762695" y="2399386"/>
            <a:ext cx="2667305" cy="1143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933042" y="2970886"/>
            <a:ext cx="952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낮음 (LOW)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95705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017166" y="3418027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블로그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95705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1954073" y="3929177"/>
            <a:ext cx="9034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익명 커뮤니티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95705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878178" y="4439412"/>
            <a:ext cx="10561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나무위키/지식iN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272991" y="2970886"/>
            <a:ext cx="1267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보통 (MEDIUM)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92017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4431182" y="3418027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뉴스 기사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792017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296766" y="3929177"/>
            <a:ext cx="12079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전문가 칼럼/에세이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92017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4431182" y="4439412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홍보 자료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895490" y="2970886"/>
            <a:ext cx="1019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 (HIGH)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88329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6774790" y="3418027"/>
            <a:ext cx="12463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탐사 보도/기획 기사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88329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730898" y="3929177"/>
            <a:ext cx="13322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정부/공공기관 보고서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88329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6597396" y="4439412"/>
            <a:ext cx="15983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연구원(Think Tank) 자료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221724" y="2970886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매우 높음 (BEST)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784641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099194" y="3418027"/>
            <a:ext cx="1589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 논문 (Peer Review)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784641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9100109" y="3929177"/>
            <a:ext cx="1589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통계 (통계청/OECD)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784641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84818" y="4439412"/>
            <a:ext cx="12179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학위 논문 (석/박사)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828800" y="5188306"/>
            <a:ext cx="8534095" cy="752551"/>
          </a:xfrm>
          <a:prstGeom prst="roundRect">
            <a:avLst>
              <a:gd name="adj" fmla="val 12304"/>
            </a:avLst>
          </a:prstGeom>
          <a:solidFill>
            <a:srgbClr val="00BBF0">
              <a:alpha val="8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 r:embed="rId3"/>
          <a:srcRect t="-817" b="-817"/>
          <a:stretch/>
        </p:blipFill>
        <p:spPr>
          <a:xfrm>
            <a:off x="2560320" y="5426050"/>
            <a:ext cx="237744" cy="276149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2989174" y="5432450"/>
            <a:ext cx="67802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핵심 주장은 반드시 '높음(High)' 이상 등급의 자료로 입증해야 설득력을 얻습니다.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2237537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2"/>
          <p:cNvSpPr/>
          <p:nvPr/>
        </p:nvSpPr>
        <p:spPr>
          <a:xfrm>
            <a:off x="4733849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7230161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9726473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6648602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블록화 예시 (목차 샘플)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856335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완벽한 문장을 쓰려 하지 마세요. 블록 단위로 생각하면 작성 속도가 빨라집니다.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40672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52144" y="2764231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685" r="-685"/>
          <a:stretch/>
        </p:blipFill>
        <p:spPr>
          <a:xfrm>
            <a:off x="1304849" y="2935224"/>
            <a:ext cx="304495" cy="26700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152144" y="4098341"/>
            <a:ext cx="2572207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1152144" y="3602736"/>
            <a:ext cx="24195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I. 서론 (Introduction)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380744" y="4345229"/>
            <a:ext cx="23106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제기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연구 배경 및 필요성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380744" y="4733849"/>
            <a:ext cx="241493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논제(Thesis)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핵심 주장 선언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380744" y="5396789"/>
            <a:ext cx="23106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안내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본론 전개 방향 예고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419295" y="2373782"/>
            <a:ext cx="3353105" cy="40672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419295" y="2373782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809744" y="2764231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l="-685" r="-685"/>
          <a:stretch/>
        </p:blipFill>
        <p:spPr>
          <a:xfrm>
            <a:off x="4962449" y="2935224"/>
            <a:ext cx="304495" cy="267005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809744" y="4098341"/>
            <a:ext cx="2572207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 txBox="1"/>
          <p:nvPr/>
        </p:nvSpPr>
        <p:spPr>
          <a:xfrm>
            <a:off x="4809744" y="3602736"/>
            <a:ext cx="16669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II. 본론 (Body)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5038344" y="4345229"/>
            <a:ext cx="246409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A. 원인 분석: 데이터 기반 현황 파악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5038344" y="5008169"/>
            <a:ext cx="2319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B. 정책 비교: 국내외 사례 대조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5038344" y="5396789"/>
            <a:ext cx="2358238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C. 사례 평가: 예상 반론 및 한계점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8076895" y="2373782"/>
            <a:ext cx="3353105" cy="40672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8076895" y="2373782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8467344" y="2764231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39251" y="2935224"/>
            <a:ext cx="267005" cy="267005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8467344" y="4098341"/>
            <a:ext cx="2572207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8467344" y="3602736"/>
            <a:ext cx="24003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III. 결론 (Conclusion)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8695944" y="4345229"/>
            <a:ext cx="21104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본론의 핵심 내용 정리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8695944" y="4733849"/>
            <a:ext cx="22622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연구 결과의 의미 도출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8695944" y="5122469"/>
            <a:ext cx="2472538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제언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미래를 위한 구체적 제안</a:t>
            </a:r>
            <a:endParaRPr lang="en-US" sz="1300" dirty="0"/>
          </a:p>
        </p:txBody>
      </p: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601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문단 리라이트(두괄식/문장)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2203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장황한 문장을 핵심만 남기는 '두괄식 단문'으로 직접 고쳐보세요.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445106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015338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1958645"/>
            <a:ext cx="17529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수정 전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1695" y="2644445"/>
            <a:ext cx="4038905" cy="3715207"/>
          </a:xfrm>
          <a:prstGeom prst="roundRect">
            <a:avLst>
              <a:gd name="adj" fmla="val 505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61949" y="2539289"/>
            <a:ext cx="972007" cy="2286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1057046" y="2558491"/>
            <a:ext cx="87325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Bad Example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009498" y="2910535"/>
            <a:ext cx="3650285" cy="1095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"수면 부족은 최근 들어 여러 가지 생활 습관과 학업 환경 요인이 복합적으로 얽혀 있고 단순히 늦게 자는 습관만의 문제가 아니라 과제 일정과 아르바이트 등 여러 가지가 얽혀 있어 단기간에 해결이 어렵고..."</a:t>
            </a:r>
            <a:endParaRPr lang="en-US" sz="13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09498" y="4590070"/>
            <a:ext cx="133502" cy="1335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81405" y="4554408"/>
            <a:ext cx="16431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불명확, 문장이 너무 김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372100" y="2445106"/>
            <a:ext cx="6057900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372100" y="2015338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743346" y="1958645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수정 후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372100" y="2834640"/>
            <a:ext cx="6057900" cy="1067105"/>
          </a:xfrm>
          <a:prstGeom prst="roundRect">
            <a:avLst>
              <a:gd name="adj" fmla="val 6121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5572354" y="2729484"/>
            <a:ext cx="1057046" cy="228600"/>
          </a:xfrm>
          <a:prstGeom prst="roundRect">
            <a:avLst>
              <a:gd name="adj" fmla="val 66667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5667451" y="2748686"/>
            <a:ext cx="95829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Good Example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5619902" y="3101645"/>
            <a:ext cx="563179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수면 부족은 학사 일정에서 비롯된다. 특히 과제·시험 마감이 한 주에 몰리는 것이 핵심 원인이다. 마감을 나누는 운영이 필요하다.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372100" y="4090111"/>
            <a:ext cx="6057900" cy="2266798"/>
          </a:xfrm>
          <a:prstGeom prst="roundRect">
            <a:avLst>
              <a:gd name="adj" fmla="val 135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3425" r="-3425"/>
          <a:stretch/>
        </p:blipFill>
        <p:spPr>
          <a:xfrm>
            <a:off x="5619902" y="4326026"/>
            <a:ext cx="142646" cy="1335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838444" y="4290365"/>
            <a:ext cx="14438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리라이트 3단계 가이드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5619902" y="4594860"/>
            <a:ext cx="1762049" cy="1028700"/>
          </a:xfrm>
          <a:prstGeom prst="roundRect">
            <a:avLst>
              <a:gd name="adj" fmla="val 4938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6385255" y="4738421"/>
            <a:ext cx="228600" cy="228600"/>
          </a:xfrm>
          <a:prstGeom prst="ellipse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2"/>
          <p:cNvSpPr txBox="1"/>
          <p:nvPr/>
        </p:nvSpPr>
        <p:spPr>
          <a:xfrm>
            <a:off x="6457493" y="474939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6212434" y="5042916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먼저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6201461" y="5298034"/>
            <a:ext cx="6922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배치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7521854" y="4594860"/>
            <a:ext cx="1762049" cy="1028700"/>
          </a:xfrm>
          <a:prstGeom prst="roundRect">
            <a:avLst>
              <a:gd name="adj" fmla="val 4938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8287207" y="4738421"/>
            <a:ext cx="228600" cy="228600"/>
          </a:xfrm>
          <a:prstGeom prst="ellipse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8359445" y="474939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8047634" y="5042916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쪼개기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8026603" y="5298034"/>
            <a:ext cx="84399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주어-술어 일치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9423806" y="4594860"/>
            <a:ext cx="1762049" cy="1028700"/>
          </a:xfrm>
          <a:prstGeom prst="roundRect">
            <a:avLst>
              <a:gd name="adj" fmla="val 4938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1"/>
          <p:cNvSpPr/>
          <p:nvPr/>
        </p:nvSpPr>
        <p:spPr>
          <a:xfrm>
            <a:off x="10188245" y="4738421"/>
            <a:ext cx="228600" cy="228600"/>
          </a:xfrm>
          <a:prstGeom prst="ellipse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2"/>
          <p:cNvSpPr txBox="1"/>
          <p:nvPr/>
        </p:nvSpPr>
        <p:spPr>
          <a:xfrm>
            <a:off x="10261397" y="474939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9949586" y="5042916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 넣기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9932213" y="5298034"/>
            <a:ext cx="8348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흐름 강화</a:t>
            </a:r>
            <a:endParaRPr lang="en-US" sz="900" dirty="0"/>
          </a:p>
        </p:txBody>
      </p:sp>
      <p:sp>
        <p:nvSpPr>
          <p:cNvPr id="41" name="Shape 35"/>
          <p:cNvSpPr/>
          <p:nvPr/>
        </p:nvSpPr>
        <p:spPr>
          <a:xfrm>
            <a:off x="5619902" y="5719572"/>
            <a:ext cx="5562295" cy="437998"/>
          </a:xfrm>
          <a:prstGeom prst="roundRect">
            <a:avLst>
              <a:gd name="adj" fmla="val 27231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7"/>
          <a:srcRect t="-43" b="-43"/>
          <a:stretch/>
        </p:blipFill>
        <p:spPr>
          <a:xfrm>
            <a:off x="7833665" y="5862218"/>
            <a:ext cx="133502" cy="152705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8043062" y="5823814"/>
            <a:ext cx="1047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</a:t>
            </a:r>
            <a:r>
              <a:rPr lang="en-US" sz="12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2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2분</a:t>
            </a:r>
            <a:endParaRPr lang="en-US" sz="1200" dirty="0"/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8490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인용·참고문헌 미니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4300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막고 신뢰를 높이는 '정확한 출처 표기'의 기본 원칙과 예시를 확인하세요.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562149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10403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028139"/>
            <a:ext cx="142006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4원칙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2914193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2856586"/>
            <a:ext cx="18864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인용은 최소화하되 정확하게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085186"/>
            <a:ext cx="3753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꼭 필요할 때만 인용부호("")를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사용하고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페이지까지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명시합니다.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837737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3781044"/>
            <a:ext cx="2686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재서술(Paraphrasing) 시에도 출처 병기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009644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아이디어를 내 말로 바꾸어 표현할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때도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출처를 밝혀야 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762195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47902" y="4704588"/>
            <a:ext cx="1610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본문과 참고문헌의 일치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47902" y="4933188"/>
            <a:ext cx="37819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인용한 모든 자료는 참고문헌 리스트에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포함되어야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합니다.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685739"/>
            <a:ext cx="142646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47902" y="5628132"/>
            <a:ext cx="1696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자료 우선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47902" y="5856732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공식 통계나 동료 심사(Peer Review)를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자료를 우선 인용하세요.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372100" y="1958645"/>
            <a:ext cx="6057900" cy="2095805"/>
          </a:xfrm>
          <a:prstGeom prst="roundRect">
            <a:avLst>
              <a:gd name="adj" fmla="val 79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rcRect l="-760" r="-760"/>
          <a:stretch/>
        </p:blipFill>
        <p:spPr>
          <a:xfrm>
            <a:off x="5619902" y="2245766"/>
            <a:ext cx="152705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848502" y="2205533"/>
            <a:ext cx="28602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인용 (IN-TEXT CITATION)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619902" y="2600554"/>
            <a:ext cx="5562295" cy="1200607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619902" y="2600554"/>
            <a:ext cx="28346" cy="1200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5838444" y="2800807"/>
            <a:ext cx="516453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"대학생의 수면 부족은 개인 습관보다 학사 일정의 구조에서 기인한다 (김가람, 2024)."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5838444" y="3403397"/>
            <a:ext cx="36182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또는 각주 활용: 1) 김가람, 논문 제목, 학술지명, 2024, p.25.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5372100" y="4285793"/>
            <a:ext cx="6057900" cy="2095805"/>
          </a:xfrm>
          <a:prstGeom prst="roundRect">
            <a:avLst>
              <a:gd name="adj" fmla="val 79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619902" y="4572914"/>
            <a:ext cx="171907" cy="171907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867705" y="4533595"/>
            <a:ext cx="24789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(REFERENCE LIST)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5619902" y="4927702"/>
            <a:ext cx="5562295" cy="1200607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4"/>
          <p:cNvSpPr/>
          <p:nvPr/>
        </p:nvSpPr>
        <p:spPr>
          <a:xfrm>
            <a:off x="5619902" y="4927702"/>
            <a:ext cx="28346" cy="1200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5"/>
          <p:cNvSpPr txBox="1"/>
          <p:nvPr/>
        </p:nvSpPr>
        <p:spPr>
          <a:xfrm>
            <a:off x="5838444" y="5127955"/>
            <a:ext cx="5260543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김가람. (2024). 대학생의 수면과 학업: 시험 기간을 중심으로.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서울: 가람출판사. (가상의 예시)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5838444" y="5730545"/>
            <a:ext cx="33704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APA 스타일 예시 (저자. (연도). 제목. 출판도시: 출판사.)</a:t>
            </a:r>
            <a:endParaRPr lang="en-US" sz="1000" dirty="0"/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9253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퇴고 루틴: 초안 → 완성 4단계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6579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글은 쓰는 것이 아니라 고쳐 쓰는 것에서 완성됩니다.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8098" y="2473452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5702198"/>
            <a:ext cx="10668305" cy="552298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5702198"/>
            <a:ext cx="38405" cy="552298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8700" y="5884164"/>
            <a:ext cx="181051" cy="18105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62456" y="5854903"/>
            <a:ext cx="82643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내 초안에서 가장 긴 단락 3개를 골라, 각각 '한 문장'으로 요약해보세요. 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요약이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 된다면 그 단락은 다시 써야 합니다.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702613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919326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61695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1611173" y="3635654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점검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28623" y="4064508"/>
            <a:ext cx="14328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단락을 한 문장으로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482242" y="4266590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요약해 흐름 확인</a:t>
            </a:r>
            <a:endParaRPr lang="en-US" sz="11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>
            <a:alphaModFix amt="90000"/>
          </a:blip>
          <a:srcRect/>
          <a:stretch/>
        </p:blipFill>
        <p:spPr>
          <a:xfrm>
            <a:off x="1850746" y="3226003"/>
            <a:ext cx="276149" cy="276149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00607" y="4593031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논리 구조 파악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1200607" y="4839005"/>
            <a:ext cx="11740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서론-본론-결론 균형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3488436" y="2397557"/>
            <a:ext cx="95098" cy="152705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441241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4657039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3500323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4349801" y="3635654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정리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4286707" y="4064508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 재배치 및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4145890" y="4266590"/>
            <a:ext cx="12710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병합/삭제로 선명화</a:t>
            </a:r>
            <a:endParaRPr lang="en-US" sz="11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>
            <a:alphaModFix amt="90000"/>
          </a:blip>
          <a:srcRect/>
          <a:stretch/>
        </p:blipFill>
        <p:spPr>
          <a:xfrm>
            <a:off x="4588459" y="3226003"/>
            <a:ext cx="276149" cy="276149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3938321" y="4593031"/>
            <a:ext cx="11265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중복 단락 통합하기</a:t>
            </a:r>
            <a:endParaRPr lang="en-US" sz="1000" dirty="0"/>
          </a:p>
        </p:txBody>
      </p:sp>
      <p:sp>
        <p:nvSpPr>
          <p:cNvPr id="31" name="Text 25"/>
          <p:cNvSpPr txBox="1"/>
          <p:nvPr/>
        </p:nvSpPr>
        <p:spPr>
          <a:xfrm>
            <a:off x="3938321" y="4839005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 이탈 부분 삭제</a:t>
            </a:r>
            <a:endParaRPr lang="en-US" sz="10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6226150" y="2397557"/>
            <a:ext cx="95098" cy="152705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7178954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7"/>
          <p:cNvSpPr txBox="1"/>
          <p:nvPr/>
        </p:nvSpPr>
        <p:spPr>
          <a:xfrm>
            <a:off x="7395667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35" name="Shape 28"/>
          <p:cNvSpPr/>
          <p:nvPr/>
        </p:nvSpPr>
        <p:spPr>
          <a:xfrm>
            <a:off x="6238037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9"/>
          <p:cNvSpPr txBox="1"/>
          <p:nvPr/>
        </p:nvSpPr>
        <p:spPr>
          <a:xfrm>
            <a:off x="6999732" y="3635654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다듬기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6958584" y="4064508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읽으며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7045452" y="4266590"/>
            <a:ext cx="9564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군더더기 제거</a:t>
            </a:r>
            <a:endParaRPr lang="en-US" sz="11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7">
            <a:alphaModFix amt="90000"/>
          </a:blip>
          <a:srcRect/>
          <a:stretch/>
        </p:blipFill>
        <p:spPr>
          <a:xfrm>
            <a:off x="7327087" y="3226003"/>
            <a:ext cx="276149" cy="276149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6676034" y="4593031"/>
            <a:ext cx="11740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주어-술어 호응 확인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6676034" y="4839005"/>
            <a:ext cx="8878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문장 쪼개기</a:t>
            </a:r>
            <a:endParaRPr lang="en-US" sz="10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8964778" y="2397557"/>
            <a:ext cx="95098" cy="152705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9917582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10133381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800" dirty="0"/>
          </a:p>
        </p:txBody>
      </p:sp>
      <p:sp>
        <p:nvSpPr>
          <p:cNvPr id="45" name="Shape 36"/>
          <p:cNvSpPr/>
          <p:nvPr/>
        </p:nvSpPr>
        <p:spPr>
          <a:xfrm>
            <a:off x="8976665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7"/>
          <p:cNvSpPr txBox="1"/>
          <p:nvPr/>
        </p:nvSpPr>
        <p:spPr>
          <a:xfrm>
            <a:off x="9738360" y="3635654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재검토</a:t>
            </a:r>
            <a:endParaRPr lang="en-US" sz="1500" dirty="0"/>
          </a:p>
        </p:txBody>
      </p:sp>
      <p:sp>
        <p:nvSpPr>
          <p:cNvPr id="47" name="Text 38"/>
          <p:cNvSpPr txBox="1"/>
          <p:nvPr/>
        </p:nvSpPr>
        <p:spPr>
          <a:xfrm>
            <a:off x="9563710" y="4064508"/>
            <a:ext cx="13953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수치와 출처 교차확인</a:t>
            </a:r>
            <a:endParaRPr lang="en-US" sz="1100" dirty="0"/>
          </a:p>
        </p:txBody>
      </p:sp>
      <p:sp>
        <p:nvSpPr>
          <p:cNvPr id="48" name="Text 39"/>
          <p:cNvSpPr txBox="1"/>
          <p:nvPr/>
        </p:nvSpPr>
        <p:spPr>
          <a:xfrm>
            <a:off x="9676181" y="4266590"/>
            <a:ext cx="11667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 인용 누락 탐색</a:t>
            </a:r>
            <a:endParaRPr lang="en-US" sz="11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8">
            <a:alphaModFix amt="90000"/>
          </a:blip>
          <a:srcRect t="-817" b="-817"/>
          <a:stretch/>
        </p:blipFill>
        <p:spPr>
          <a:xfrm>
            <a:off x="10084003" y="3226003"/>
            <a:ext cx="237744" cy="276149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414662" y="4593031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 통계 여부 확인</a:t>
            </a:r>
            <a:endParaRPr lang="en-US" sz="1000" dirty="0"/>
          </a:p>
        </p:txBody>
      </p:sp>
      <p:sp>
        <p:nvSpPr>
          <p:cNvPr id="51" name="Text 41"/>
          <p:cNvSpPr txBox="1"/>
          <p:nvPr/>
        </p:nvSpPr>
        <p:spPr>
          <a:xfrm>
            <a:off x="9414662" y="4839005"/>
            <a:ext cx="11265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일치 점검</a:t>
            </a:r>
            <a:endParaRPr lang="en-US" sz="1000" dirty="0"/>
          </a:p>
        </p:txBody>
      </p:sp>
      <p:sp>
        <p:nvSpPr>
          <p:cNvPr id="5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6963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다듬기 체크리스트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2102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명확하고 간결한 문장을 위해 다음 10가지 항목을 점검하세요.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882" r="-3882"/>
          <a:stretch/>
        </p:blipFill>
        <p:spPr>
          <a:xfrm>
            <a:off x="761695" y="2004365"/>
            <a:ext cx="161849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80150" y="1958645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및 논리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1695" y="2412187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61949" y="255483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2606954"/>
            <a:ext cx="105156" cy="1234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43254" y="2553005"/>
            <a:ext cx="3477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전개: 문단 첫 문장에 핵심 주장을 배치했는가?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61695" y="3078785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61949" y="322143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3273552"/>
            <a:ext cx="105156" cy="1234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43254" y="321960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 한 생각: 한 문장에 하나의 아이디어만 담았는가?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61695" y="3745382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961949" y="3888029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3940150"/>
            <a:ext cx="105156" cy="1234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43254" y="3886200"/>
            <a:ext cx="3857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주술 호응: 주어와 서술어의 관계가 명확하고 자연스러운가?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61695" y="4411980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961949" y="455462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4607662"/>
            <a:ext cx="105156" cy="1234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343254" y="4552798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 사용: 문장 간 논리적 연결(따라서, 그러나 등)이 적절한가?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61695" y="5078578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961949" y="522122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5274259"/>
            <a:ext cx="105156" cy="1234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343254" y="5219395"/>
            <a:ext cx="3896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중복 제거: 같은 단어나 의미가 불필요하게 반복되지 않는가?</a:t>
            </a:r>
            <a:endParaRPr lang="en-US" sz="12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381598" y="2004365"/>
            <a:ext cx="142646" cy="13350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580850" y="1958645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및 문체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6381598" y="2412187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3"/>
          <p:cNvSpPr/>
          <p:nvPr/>
        </p:nvSpPr>
        <p:spPr>
          <a:xfrm>
            <a:off x="6581851" y="255483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2606954"/>
            <a:ext cx="105156" cy="123444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963156" y="2553005"/>
            <a:ext cx="4153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 수식 제거: '매우', '너무' 등 불필요한 부사를 삭제했는가?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6381598" y="3078785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6"/>
          <p:cNvSpPr/>
          <p:nvPr/>
        </p:nvSpPr>
        <p:spPr>
          <a:xfrm>
            <a:off x="6581851" y="322143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3273552"/>
            <a:ext cx="105156" cy="123444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6963156" y="3219602"/>
            <a:ext cx="3896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용어 통일: 핵심 키워드나 전문 용어를 일관되게 사용했는가?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6381598" y="3745382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9"/>
          <p:cNvSpPr/>
          <p:nvPr/>
        </p:nvSpPr>
        <p:spPr>
          <a:xfrm>
            <a:off x="6581851" y="3888029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3940150"/>
            <a:ext cx="105156" cy="123444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6963156" y="3886200"/>
            <a:ext cx="3715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3인칭 객관화: '나', '우리' 대신 3인칭 주어를 사용했는가?</a:t>
            </a:r>
            <a:endParaRPr lang="en-US" sz="1200" dirty="0"/>
          </a:p>
        </p:txBody>
      </p:sp>
      <p:sp>
        <p:nvSpPr>
          <p:cNvPr id="43" name="Shape 31"/>
          <p:cNvSpPr/>
          <p:nvPr/>
        </p:nvSpPr>
        <p:spPr>
          <a:xfrm>
            <a:off x="6381598" y="4411980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2"/>
          <p:cNvSpPr/>
          <p:nvPr/>
        </p:nvSpPr>
        <p:spPr>
          <a:xfrm>
            <a:off x="6581851" y="455462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4607662"/>
            <a:ext cx="105156" cy="123444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6963156" y="4552798"/>
            <a:ext cx="37243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단위·기호: 숫자 단위와 문장 부호(마침표 등)가 정확한가?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6381598" y="5078578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6581851" y="522122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5274259"/>
            <a:ext cx="105156" cy="123444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6963156" y="5219395"/>
            <a:ext cx="3943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강도 조절: 단정적 표현 대신 객관적 근거에 기반했는가?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761695" y="5724144"/>
            <a:ext cx="10668305" cy="657454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/>
          <p:cNvSpPr/>
          <p:nvPr/>
        </p:nvSpPr>
        <p:spPr>
          <a:xfrm>
            <a:off x="761695" y="5724144"/>
            <a:ext cx="38405" cy="65745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6"/>
          <a:srcRect t="-333" b="-333"/>
          <a:stretch/>
        </p:blipFill>
        <p:spPr>
          <a:xfrm>
            <a:off x="1086307" y="5915254"/>
            <a:ext cx="342900" cy="276149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1619402" y="5927141"/>
            <a:ext cx="64218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읽기 1회 필수: 눈으로 볼 때 놓친 비문과 어색한 흐름을 귀로 찾아낼 수 있습니다.</a:t>
            </a:r>
            <a:endParaRPr lang="en-US" sz="13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9725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 점검: 디테일의 완성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8966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내용이 아무리 좋아도 형식이 무너지면 신뢰도가 떨어집니다.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264054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2694" r="-2694"/>
          <a:stretch/>
        </p:blipFill>
        <p:spPr>
          <a:xfrm>
            <a:off x="761695" y="2006194"/>
            <a:ext cx="181051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67934" y="195864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· 그림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2386584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23544" y="2510942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2563063"/>
            <a:ext cx="105156" cy="1234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5646" y="2509114"/>
            <a:ext cx="3676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표와 그림에 제목(캡션)과 번호, 출처를 모두 표기했는가?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2977286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923544" y="3101645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3153766"/>
            <a:ext cx="105156" cy="1234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85646" y="3098902"/>
            <a:ext cx="3848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&lt;그림 1&gt;, &lt;표 2&gt;와 같이 교차참조로 언급했는가?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61695" y="3567989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923544" y="3691433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3744468"/>
            <a:ext cx="105156" cy="1234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5646" y="3689604"/>
            <a:ext cx="32580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단위(%, 원 등)가 누락되지 않고 통일되어 있는가?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761695" y="4578401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rcRect l="-3892" r="-3892"/>
          <a:stretch/>
        </p:blipFill>
        <p:spPr>
          <a:xfrm>
            <a:off x="761695" y="4320540"/>
            <a:ext cx="123444" cy="15270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011242" y="4272991"/>
            <a:ext cx="762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서식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61695" y="4701845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923544" y="4825289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4877410"/>
            <a:ext cx="105156" cy="1234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285646" y="4823460"/>
            <a:ext cx="3706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규정에 맞는 글꼴, 크기, 줄간격, 여백을 설정했는가?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761695" y="5291633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923544" y="5415991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5468112"/>
            <a:ext cx="105156" cy="12344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285646" y="5414162"/>
            <a:ext cx="3734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개조식(Bullet)과 서술식 문장이 적절히 구분되어 있는가?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6381598" y="2264054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6381598" y="2006194"/>
            <a:ext cx="161849" cy="152705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668634" y="1958645"/>
            <a:ext cx="106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쪽 번호 · 목차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6381598" y="2386584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7"/>
          <p:cNvSpPr/>
          <p:nvPr/>
        </p:nvSpPr>
        <p:spPr>
          <a:xfrm>
            <a:off x="6543446" y="2510942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2563063"/>
            <a:ext cx="105156" cy="123444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905549" y="2509114"/>
            <a:ext cx="3495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표지를 제외하고 본문부터 쪽 번호(1p)가 시작되는가?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6381598" y="2977286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0"/>
          <p:cNvSpPr/>
          <p:nvPr/>
        </p:nvSpPr>
        <p:spPr>
          <a:xfrm>
            <a:off x="6543446" y="3101645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3153766"/>
            <a:ext cx="105156" cy="123444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905549" y="3098902"/>
            <a:ext cx="3534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목차의 페이지 번호가 실제 본문 페이지와 일치하는가?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6381598" y="3987698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7"/>
          <a:srcRect l="-2694" r="-2694"/>
          <a:stretch/>
        </p:blipFill>
        <p:spPr>
          <a:xfrm>
            <a:off x="6381598" y="3729838"/>
            <a:ext cx="181051" cy="152705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6687837" y="3682289"/>
            <a:ext cx="1019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오탈자 · 기호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6381598" y="4111142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6543446" y="4234586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4286707"/>
            <a:ext cx="105156" cy="123444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6905549" y="4232758"/>
            <a:ext cx="3952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맞춤법 검사기를 돌려 오탈자와 띄어쓰기를 최종 확인했는가?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6381598" y="4701845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/>
          <p:cNvSpPr/>
          <p:nvPr/>
        </p:nvSpPr>
        <p:spPr>
          <a:xfrm>
            <a:off x="6543446" y="4825289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4877410"/>
            <a:ext cx="105156" cy="123444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6905549" y="4823460"/>
            <a:ext cx="3820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특수기호(‘-’, ‘%’, ‘“’)의 모양이 문서 전체에서 일관적인가?</a:t>
            </a:r>
            <a:endParaRPr lang="en-US" sz="1200" dirty="0"/>
          </a:p>
        </p:txBody>
      </p:sp>
      <p:sp>
        <p:nvSpPr>
          <p:cNvPr id="55" name="Shape 40"/>
          <p:cNvSpPr/>
          <p:nvPr/>
        </p:nvSpPr>
        <p:spPr>
          <a:xfrm>
            <a:off x="6381598" y="5291633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1"/>
          <p:cNvSpPr/>
          <p:nvPr/>
        </p:nvSpPr>
        <p:spPr>
          <a:xfrm>
            <a:off x="6543446" y="5415991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Image 1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5468112"/>
            <a:ext cx="105156" cy="123444"/>
          </a:xfrm>
          <a:prstGeom prst="rect">
            <a:avLst/>
          </a:prstGeom>
        </p:spPr>
      </p:pic>
      <p:sp>
        <p:nvSpPr>
          <p:cNvPr id="58" name="Text 42"/>
          <p:cNvSpPr txBox="1"/>
          <p:nvPr/>
        </p:nvSpPr>
        <p:spPr>
          <a:xfrm>
            <a:off x="6905549" y="5414162"/>
            <a:ext cx="2924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빈 줄이나 공백이 남아있지 않은가?</a:t>
            </a:r>
            <a:endParaRPr lang="en-US" sz="1200" dirty="0"/>
          </a:p>
        </p:txBody>
      </p:sp>
      <p:sp>
        <p:nvSpPr>
          <p:cNvPr id="59" name="Shape 43"/>
          <p:cNvSpPr/>
          <p:nvPr/>
        </p:nvSpPr>
        <p:spPr>
          <a:xfrm>
            <a:off x="761695" y="5896051"/>
            <a:ext cx="10668305" cy="580644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44"/>
          <p:cNvSpPr/>
          <p:nvPr/>
        </p:nvSpPr>
        <p:spPr>
          <a:xfrm>
            <a:off x="761695" y="5896051"/>
            <a:ext cx="38405" cy="58064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4" descr="preencoded.png"/>
          <p:cNvPicPr>
            <a:picLocks noChangeAspect="1"/>
          </p:cNvPicPr>
          <p:nvPr/>
        </p:nvPicPr>
        <p:blipFill>
          <a:blip r:embed="rId8"/>
          <a:srcRect t="-1013" b="-1013"/>
          <a:stretch/>
        </p:blipFill>
        <p:spPr>
          <a:xfrm>
            <a:off x="1028700" y="6048756"/>
            <a:ext cx="304495" cy="276149"/>
          </a:xfrm>
          <a:prstGeom prst="rect">
            <a:avLst/>
          </a:prstGeom>
        </p:spPr>
      </p:pic>
      <p:sp>
        <p:nvSpPr>
          <p:cNvPr id="62" name="Text 45"/>
          <p:cNvSpPr txBox="1"/>
          <p:nvPr/>
        </p:nvSpPr>
        <p:spPr>
          <a:xfrm>
            <a:off x="1485900" y="6066130"/>
            <a:ext cx="80448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교수님은 '형식'을 통해 학생의 성실함과 기본기를 가장 먼저 평가합니다. 사소한 실수가 감점 요인이 되지 않도록 하세요.</a:t>
            </a:r>
            <a:endParaRPr lang="en-US" sz="1200" dirty="0"/>
          </a:p>
        </p:txBody>
      </p:sp>
      <p:sp>
        <p:nvSpPr>
          <p:cNvPr id="6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2678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관리 &amp; 제출 타임라인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6299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실수 없는 제출을 위한 체계적인 '파일 관리'와 '마감 역산' 전략입니다.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501798"/>
            <a:ext cx="5048402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043684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1967789"/>
            <a:ext cx="23152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 버전 관리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61695" y="2939796"/>
            <a:ext cx="5048402" cy="2486254"/>
          </a:xfrm>
          <a:prstGeom prst="roundRect">
            <a:avLst>
              <a:gd name="adj" fmla="val 112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009498" y="3186684"/>
            <a:ext cx="24249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RECOMMENDED FILE NAMING RULE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009498" y="3453689"/>
            <a:ext cx="4552798" cy="485546"/>
          </a:xfrm>
          <a:prstGeom prst="roundRect">
            <a:avLst>
              <a:gd name="adj" fmla="val 14771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-2222" b="-2222"/>
          <a:stretch/>
        </p:blipFill>
        <p:spPr>
          <a:xfrm>
            <a:off x="1152144" y="3608222"/>
            <a:ext cx="123444" cy="17190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76502" y="3596335"/>
            <a:ext cx="31455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B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YYYY-학기_과목명_문서성격_v03.hwpx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09498" y="4371746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09498" y="4076395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v01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580998" y="4067251"/>
            <a:ext cx="23280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 작성 완료 (서론-본론 구조 잡기)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009498" y="4770425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1009498" y="447507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v02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580998" y="4465015"/>
            <a:ext cx="24423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 퇴고 (문장 다듬기, 인용 출처 보강)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09498" y="5168189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1009498" y="4872838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v03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1580998" y="4863694"/>
            <a:ext cx="24524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완성 (오탈자 점검, 참고문헌 정리)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761695" y="5737860"/>
            <a:ext cx="5048402" cy="761695"/>
          </a:xfrm>
          <a:prstGeom prst="roundRect">
            <a:avLst>
              <a:gd name="adj" fmla="val 600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923544" y="5908853"/>
            <a:ext cx="4796028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파일명에 날짜, 과목, 버전을 명시하면 수정 이력을 추적하기 쉽고, 실수로 구버전을 제출하는 사고를 예방할 수 있습니다.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381598" y="1958645"/>
            <a:ext cx="5048402" cy="3495751"/>
          </a:xfrm>
          <a:prstGeom prst="rect">
            <a:avLst/>
          </a:prstGeom>
          <a:solidFill>
            <a:srgbClr val="00204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6381598" y="1958645"/>
            <a:ext cx="38405" cy="3495751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5"/>
          <p:cNvSpPr/>
          <p:nvPr/>
        </p:nvSpPr>
        <p:spPr>
          <a:xfrm>
            <a:off x="6381598" y="5782666"/>
            <a:ext cx="5048402" cy="714146"/>
          </a:xfrm>
          <a:prstGeom prst="roundRect">
            <a:avLst>
              <a:gd name="adj" fmla="val 10243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34302" y="6043270"/>
            <a:ext cx="237744" cy="190195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6924751" y="5935370"/>
            <a:ext cx="20994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백업 2중 원칙 (2-Way Backup)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6924751" y="6180430"/>
            <a:ext cx="41248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유실 대비: 클라우드(Google Drive/OneDrive) + 로컬(USB/PC) 동시 저장 필수</a:t>
            </a:r>
            <a:endParaRPr lang="en-US" sz="900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65B0AF9-C93F-2189-B70F-B69D5F0414C2}"/>
              </a:ext>
            </a:extLst>
          </p:cNvPr>
          <p:cNvGrpSpPr/>
          <p:nvPr/>
        </p:nvGrpSpPr>
        <p:grpSpPr>
          <a:xfrm>
            <a:off x="7113574" y="1827184"/>
            <a:ext cx="3201315" cy="3598082"/>
            <a:chOff x="6657746" y="2196389"/>
            <a:chExt cx="2478939" cy="2786176"/>
          </a:xfrm>
        </p:grpSpPr>
        <p:pic>
          <p:nvPicPr>
            <p:cNvPr id="28" name="Image 2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657746" y="2243023"/>
              <a:ext cx="181051" cy="181051"/>
            </a:xfrm>
            <a:prstGeom prst="rect">
              <a:avLst/>
            </a:prstGeom>
          </p:spPr>
        </p:pic>
        <p:sp>
          <p:nvSpPr>
            <p:cNvPr id="29" name="Text 24"/>
            <p:cNvSpPr txBox="1"/>
            <p:nvPr/>
          </p:nvSpPr>
          <p:spPr>
            <a:xfrm>
              <a:off x="6953098" y="2196389"/>
              <a:ext cx="161391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제출 D-7 역산 플랜</a:t>
              </a:r>
              <a:endParaRPr lang="en-US" dirty="0"/>
            </a:p>
          </p:txBody>
        </p:sp>
        <p:sp>
          <p:nvSpPr>
            <p:cNvPr id="35" name="Shape 29"/>
            <p:cNvSpPr/>
            <p:nvPr/>
          </p:nvSpPr>
          <p:spPr>
            <a:xfrm>
              <a:off x="6657746" y="2756002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6711696" y="2819095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D-7</a:t>
              </a:r>
              <a:endParaRPr lang="en-US" sz="1000" dirty="0"/>
            </a:p>
          </p:txBody>
        </p:sp>
        <p:sp>
          <p:nvSpPr>
            <p:cNvPr id="37" name="Text 31"/>
            <p:cNvSpPr txBox="1"/>
            <p:nvPr/>
          </p:nvSpPr>
          <p:spPr>
            <a:xfrm>
              <a:off x="7086600" y="2660904"/>
              <a:ext cx="6272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Drafting</a:t>
              </a:r>
              <a:endParaRPr lang="en-US" sz="1100" dirty="0"/>
            </a:p>
          </p:txBody>
        </p:sp>
        <p:sp>
          <p:nvSpPr>
            <p:cNvPr id="38" name="Text 32"/>
            <p:cNvSpPr txBox="1"/>
            <p:nvPr/>
          </p:nvSpPr>
          <p:spPr>
            <a:xfrm>
              <a:off x="7086600" y="2885846"/>
              <a:ext cx="1145743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초안 작성 완료</a:t>
              </a:r>
              <a:endParaRPr lang="en-US" sz="1600" dirty="0"/>
            </a:p>
          </p:txBody>
        </p:sp>
        <p:sp>
          <p:nvSpPr>
            <p:cNvPr id="39" name="Shape 33"/>
            <p:cNvSpPr/>
            <p:nvPr/>
          </p:nvSpPr>
          <p:spPr>
            <a:xfrm>
              <a:off x="6657746" y="3375965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0" name="Text 34"/>
            <p:cNvSpPr txBox="1"/>
            <p:nvPr/>
          </p:nvSpPr>
          <p:spPr>
            <a:xfrm>
              <a:off x="6711696" y="3438144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D-5</a:t>
              </a:r>
              <a:endParaRPr lang="en-US" sz="1000" dirty="0"/>
            </a:p>
          </p:txBody>
        </p:sp>
        <p:sp>
          <p:nvSpPr>
            <p:cNvPr id="41" name="Text 35"/>
            <p:cNvSpPr txBox="1"/>
            <p:nvPr/>
          </p:nvSpPr>
          <p:spPr>
            <a:xfrm>
              <a:off x="7086600" y="3280867"/>
              <a:ext cx="64648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Revision</a:t>
              </a:r>
              <a:endParaRPr lang="en-US" sz="1100" dirty="0"/>
            </a:p>
          </p:txBody>
        </p:sp>
        <p:sp>
          <p:nvSpPr>
            <p:cNvPr id="42" name="Text 36"/>
            <p:cNvSpPr txBox="1"/>
            <p:nvPr/>
          </p:nvSpPr>
          <p:spPr>
            <a:xfrm>
              <a:off x="7086600" y="3504895"/>
              <a:ext cx="1621231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1차 퇴고 &amp; 논리 점검</a:t>
              </a:r>
              <a:endParaRPr lang="en-US" sz="1600" dirty="0"/>
            </a:p>
          </p:txBody>
        </p:sp>
        <p:sp>
          <p:nvSpPr>
            <p:cNvPr id="43" name="Shape 37"/>
            <p:cNvSpPr/>
            <p:nvPr/>
          </p:nvSpPr>
          <p:spPr>
            <a:xfrm>
              <a:off x="6657746" y="3995014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4" name="Text 38"/>
            <p:cNvSpPr txBox="1"/>
            <p:nvPr/>
          </p:nvSpPr>
          <p:spPr>
            <a:xfrm>
              <a:off x="6711696" y="4058107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D-3</a:t>
              </a:r>
              <a:endParaRPr lang="en-US" sz="1000" dirty="0"/>
            </a:p>
          </p:txBody>
        </p:sp>
        <p:sp>
          <p:nvSpPr>
            <p:cNvPr id="45" name="Text 39"/>
            <p:cNvSpPr txBox="1"/>
            <p:nvPr/>
          </p:nvSpPr>
          <p:spPr>
            <a:xfrm>
              <a:off x="7086600" y="3899916"/>
              <a:ext cx="104607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Citation Check</a:t>
              </a:r>
              <a:endParaRPr lang="en-US" sz="1100" dirty="0"/>
            </a:p>
          </p:txBody>
        </p:sp>
        <p:sp>
          <p:nvSpPr>
            <p:cNvPr id="46" name="Text 40"/>
            <p:cNvSpPr txBox="1"/>
            <p:nvPr/>
          </p:nvSpPr>
          <p:spPr>
            <a:xfrm>
              <a:off x="7086600" y="4124858"/>
              <a:ext cx="1707185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인용 및 형식 정밀 점검</a:t>
              </a:r>
              <a:endParaRPr lang="en-US" sz="1600" dirty="0"/>
            </a:p>
          </p:txBody>
        </p:sp>
        <p:sp>
          <p:nvSpPr>
            <p:cNvPr id="47" name="Shape 41"/>
            <p:cNvSpPr/>
            <p:nvPr/>
          </p:nvSpPr>
          <p:spPr>
            <a:xfrm>
              <a:off x="6657746" y="4614062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8" name="Text 42"/>
            <p:cNvSpPr txBox="1"/>
            <p:nvPr/>
          </p:nvSpPr>
          <p:spPr>
            <a:xfrm>
              <a:off x="6711696" y="4677156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D-1</a:t>
              </a:r>
              <a:endParaRPr lang="en-US" sz="1000" dirty="0"/>
            </a:p>
          </p:txBody>
        </p:sp>
        <p:sp>
          <p:nvSpPr>
            <p:cNvPr id="49" name="Text 43"/>
            <p:cNvSpPr txBox="1"/>
            <p:nvPr/>
          </p:nvSpPr>
          <p:spPr>
            <a:xfrm>
              <a:off x="7086600" y="4518965"/>
              <a:ext cx="91257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Final Review</a:t>
              </a:r>
              <a:endParaRPr lang="en-US" sz="1100" dirty="0"/>
            </a:p>
          </p:txBody>
        </p:sp>
        <p:sp>
          <p:nvSpPr>
            <p:cNvPr id="50" name="Text 44"/>
            <p:cNvSpPr txBox="1"/>
            <p:nvPr/>
          </p:nvSpPr>
          <p:spPr>
            <a:xfrm>
              <a:off x="7086600" y="4743907"/>
              <a:ext cx="2050085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최종 검토 &amp; PDF 변환 저장</a:t>
              </a:r>
              <a:endParaRPr lang="en-US" sz="1600" dirty="0"/>
            </a:p>
          </p:txBody>
        </p:sp>
      </p:grpSp>
      <p:sp>
        <p:nvSpPr>
          <p:cNvPr id="5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295" y="32363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295" y="504684"/>
            <a:ext cx="64300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오해 방지: 인용 원칙과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09295" y="1234375"/>
            <a:ext cx="59253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정직한 인용은 학술적 글쓰기의 기본이며, '내 주장'을 더욱 빛나게 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7322" y="2460650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7322" y="200345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9483" y="1926641"/>
            <a:ext cx="19815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 5원칙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2812694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03529" y="2756002"/>
            <a:ext cx="29187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재서술(Paraphrasing)도 출처 표기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103529" y="3067812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생각을 내 말로 바꿔 써도 원천 아이디어의 출처는 필수입니다.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3772814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03529" y="3715207"/>
            <a:ext cx="17565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명확하게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103529" y="4027932"/>
            <a:ext cx="3753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그대로 가져올 땐 큰따옴표("")와 페이지 번호를 반드시 명시합니다.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4732934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03529" y="4675327"/>
            <a:ext cx="22137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데이터·그림·도표 출처 명시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103529" y="4988052"/>
            <a:ext cx="37344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 수치나 시각 자료 하단에 '자료: 출처(연도)'를 기재합니다.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5693054"/>
            <a:ext cx="142646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03529" y="5635447"/>
            <a:ext cx="191841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 시 검증 및 표기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1103529" y="5948172"/>
            <a:ext cx="381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AI가 만든 문장을 그대로 쓰지 말고, 사실 확인 후 참고용으로만 활용하세요.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475884" y="1387145"/>
            <a:ext cx="6057900" cy="3504895"/>
          </a:xfrm>
          <a:prstGeom prst="roundRect">
            <a:avLst>
              <a:gd name="adj" fmla="val 28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23686" y="1674266"/>
            <a:ext cx="171907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71489" y="1634033"/>
            <a:ext cx="12216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실전 비교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723686" y="2124151"/>
            <a:ext cx="5562295" cy="1190549"/>
          </a:xfrm>
          <a:prstGeom prst="roundRect">
            <a:avLst>
              <a:gd name="adj" fmla="val 2458"/>
            </a:avLst>
          </a:prstGeom>
          <a:solidFill>
            <a:srgbClr val="EF4444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723686" y="2124151"/>
            <a:ext cx="38405" cy="1190549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10285628" y="2164819"/>
            <a:ext cx="9491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BAD (표절 위험)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5952286" y="2324405"/>
            <a:ext cx="51361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대학생의 수면 부족은 개인 습관보다 과제·시험 마감이 몰리는 학사 일정에서 비롯된다.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5952286" y="2926994"/>
            <a:ext cx="32909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타인의 견해를 마치 내 생각인 것처럼 서술함 (출처 누락)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5723686" y="3450946"/>
            <a:ext cx="5562295" cy="1190549"/>
          </a:xfrm>
          <a:prstGeom prst="roundRect">
            <a:avLst>
              <a:gd name="adj" fmla="val 2458"/>
            </a:avLst>
          </a:prstGeom>
          <a:solidFill>
            <a:srgbClr val="10B981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5723686" y="3450946"/>
            <a:ext cx="38405" cy="1190549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4"/>
          <p:cNvSpPr txBox="1"/>
          <p:nvPr/>
        </p:nvSpPr>
        <p:spPr>
          <a:xfrm>
            <a:off x="10059771" y="3546043"/>
            <a:ext cx="11777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GOOD (올바른 인용)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5951806" y="3765956"/>
            <a:ext cx="51361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대학생의 수면 부족은 개인 습관보다 과제·시험 마감이 몰리는 학사 일정에서 비롯된다(김가람, 2023).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5951806" y="4368546"/>
            <a:ext cx="30056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원작자를 밝혀 근거로 활용함 (가상의 예시)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5475884" y="5073091"/>
            <a:ext cx="6057900" cy="1638605"/>
          </a:xfrm>
          <a:prstGeom prst="roundRect">
            <a:avLst>
              <a:gd name="adj" fmla="val 129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6"/>
          <a:srcRect l="-760" r="-760"/>
          <a:stretch/>
        </p:blipFill>
        <p:spPr>
          <a:xfrm>
            <a:off x="5723686" y="5361127"/>
            <a:ext cx="152705" cy="171907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952286" y="5320894"/>
            <a:ext cx="12216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예시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5723686" y="5810098"/>
            <a:ext cx="5562295" cy="657454"/>
          </a:xfrm>
          <a:prstGeom prst="roundRect">
            <a:avLst>
              <a:gd name="adj" fmla="val 8063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0"/>
          <p:cNvSpPr/>
          <p:nvPr/>
        </p:nvSpPr>
        <p:spPr>
          <a:xfrm>
            <a:off x="5723686" y="5810098"/>
            <a:ext cx="38405" cy="65745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1"/>
          <p:cNvSpPr txBox="1"/>
          <p:nvPr/>
        </p:nvSpPr>
        <p:spPr>
          <a:xfrm>
            <a:off x="10244480" y="5906110"/>
            <a:ext cx="99669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 QUOTE</a:t>
            </a:r>
            <a:endParaRPr lang="en-US" sz="900" dirty="0"/>
          </a:p>
        </p:txBody>
      </p:sp>
      <p:sp>
        <p:nvSpPr>
          <p:cNvPr id="41" name="Text 32"/>
          <p:cNvSpPr txBox="1"/>
          <p:nvPr/>
        </p:nvSpPr>
        <p:spPr>
          <a:xfrm>
            <a:off x="5901275" y="6134253"/>
            <a:ext cx="4898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김가람(2023)은 "마감 분산이 가장 시급하다"(p.45)고 강조했다.</a:t>
            </a:r>
            <a:endParaRPr lang="en-US" sz="1300" dirty="0"/>
          </a:p>
        </p:txBody>
      </p: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448696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양식 3종 비교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66394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학과별로 선호하는 인용 스타일을 확인하고, 일관성 있게 적용하세요.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278685"/>
            <a:ext cx="3353105" cy="43049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278685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76249" y="259232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881" r="-881"/>
          <a:stretch/>
        </p:blipFill>
        <p:spPr>
          <a:xfrm>
            <a:off x="1242670" y="2745029"/>
            <a:ext cx="237744" cy="2670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76249" y="3392424"/>
            <a:ext cx="21433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(내주) 사회과학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076249" y="3888029"/>
            <a:ext cx="2723998" cy="11521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1076249" y="3888029"/>
            <a:ext cx="28346" cy="1152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218895" y="4002329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예시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18895" y="4240987"/>
            <a:ext cx="25722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연구 결과에 따르면 대학생의 수면 부족은 학사 일정에 기인한다 (김가람, 2024, p. 23).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76249" y="5192878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076249" y="5192878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218895" y="5307178"/>
            <a:ext cx="9290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예시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218895" y="5545836"/>
            <a:ext cx="25722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김가람. (2024). 글쓰기 연구와 실제. 서울: 가람출판사.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419295" y="2278685"/>
            <a:ext cx="3353105" cy="43049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4419295" y="2278685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4733849" y="259232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86554" y="2745029"/>
            <a:ext cx="267005" cy="26700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733849" y="3392424"/>
            <a:ext cx="229605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IEEE (번호주) 공학/IT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4733849" y="3888029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4733849" y="3888029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3"/>
          <p:cNvSpPr txBox="1"/>
          <p:nvPr/>
        </p:nvSpPr>
        <p:spPr>
          <a:xfrm>
            <a:off x="4876495" y="4002329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예시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4876495" y="4240987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알고리즘은 기존 방식 대비 30% 향상된 성능을 보인다 [1].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4733849" y="4964278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6"/>
          <p:cNvSpPr/>
          <p:nvPr/>
        </p:nvSpPr>
        <p:spPr>
          <a:xfrm>
            <a:off x="4733849" y="4964278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 txBox="1"/>
          <p:nvPr/>
        </p:nvSpPr>
        <p:spPr>
          <a:xfrm>
            <a:off x="4876495" y="5078578"/>
            <a:ext cx="9290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예시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876495" y="5317236"/>
            <a:ext cx="25722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[1] G. Kim, Advanced Algorithms, Seoul: Tech Press, 2024.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8076895" y="2278685"/>
            <a:ext cx="3353105" cy="43049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0"/>
          <p:cNvSpPr/>
          <p:nvPr/>
        </p:nvSpPr>
        <p:spPr>
          <a:xfrm>
            <a:off x="8076895" y="2278685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1"/>
          <p:cNvSpPr/>
          <p:nvPr/>
        </p:nvSpPr>
        <p:spPr>
          <a:xfrm>
            <a:off x="8391449" y="259232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577072" y="2745029"/>
            <a:ext cx="200254" cy="267005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8391449" y="3392424"/>
            <a:ext cx="23820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Chicago (각주) 인문학</a:t>
            </a:r>
            <a:endParaRPr lang="en-US" sz="1800" dirty="0"/>
          </a:p>
        </p:txBody>
      </p:sp>
      <p:sp>
        <p:nvSpPr>
          <p:cNvPr id="38" name="Shape 33"/>
          <p:cNvSpPr/>
          <p:nvPr/>
        </p:nvSpPr>
        <p:spPr>
          <a:xfrm>
            <a:off x="8391449" y="3888029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4"/>
          <p:cNvSpPr/>
          <p:nvPr/>
        </p:nvSpPr>
        <p:spPr>
          <a:xfrm>
            <a:off x="8391449" y="3888029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5"/>
          <p:cNvSpPr txBox="1"/>
          <p:nvPr/>
        </p:nvSpPr>
        <p:spPr>
          <a:xfrm>
            <a:off x="8534095" y="4002329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예시</a:t>
            </a:r>
            <a:endParaRPr lang="en-US" sz="1000" dirty="0"/>
          </a:p>
        </p:txBody>
      </p:sp>
      <p:sp>
        <p:nvSpPr>
          <p:cNvPr id="41" name="Text 36"/>
          <p:cNvSpPr txBox="1"/>
          <p:nvPr/>
        </p:nvSpPr>
        <p:spPr>
          <a:xfrm>
            <a:off x="8534095" y="4240987"/>
            <a:ext cx="24771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역사적 맥락을 고려할 때 이 사건은 중대한 의미를 갖는다.¹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8391449" y="4964278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8"/>
          <p:cNvSpPr/>
          <p:nvPr/>
        </p:nvSpPr>
        <p:spPr>
          <a:xfrm>
            <a:off x="8391449" y="4964278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9"/>
          <p:cNvSpPr txBox="1"/>
          <p:nvPr/>
        </p:nvSpPr>
        <p:spPr>
          <a:xfrm>
            <a:off x="8534095" y="5078578"/>
            <a:ext cx="662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각주 예시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8534095" y="5317236"/>
            <a:ext cx="25722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1) 김가람, 조선시대사 연구 (서울: 가람출판사, 2024), 45.</a:t>
            </a:r>
            <a:endParaRPr lang="en-US" sz="12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724205"/>
            <a:ext cx="838505" cy="323698"/>
          </a:xfrm>
          <a:prstGeom prst="roundRect">
            <a:avLst>
              <a:gd name="adj" fmla="val 33234"/>
            </a:avLst>
          </a:prstGeom>
          <a:solidFill>
            <a:srgbClr val="F43F5E">
              <a:alpha val="20000"/>
            </a:srgbClr>
          </a:solidFill>
          <a:ln w="12700">
            <a:solidFill>
              <a:srgbClr val="F43F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886054" y="771754"/>
            <a:ext cx="705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 NOT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057046"/>
            <a:ext cx="3172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절대 하지 말 것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786738"/>
            <a:ext cx="5000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신뢰를 무너뜨리는 8가지 치명적 실수를 경계하세요.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761695" y="2403958"/>
            <a:ext cx="142646" cy="1335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05256" y="2358238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태도 및 과정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61695" y="28117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61949" y="29736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3040380"/>
            <a:ext cx="105156" cy="1335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80744" y="2985516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표지 꾸미기에 불필요한 시간을 쏟지 마세요.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61695" y="35551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961949" y="37170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3783787"/>
            <a:ext cx="105156" cy="1335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80744" y="3728009"/>
            <a:ext cx="3187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범위에서 벗어난 주제로 이탈하지 마세요.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61695" y="42976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961949" y="44595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4526280"/>
            <a:ext cx="105156" cy="1335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80744" y="4471416"/>
            <a:ext cx="35304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 직전에 급하게 작성하여 퇴고를 놓치지 마세요.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61695" y="50410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961949" y="52029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5269687"/>
            <a:ext cx="105156" cy="1335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380744" y="5213909"/>
            <a:ext cx="3568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백업을 하지 않아 데이터를 잃지 않도록 하세요.</a:t>
            </a:r>
            <a:endParaRPr lang="en-US" sz="12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381598" y="2403958"/>
            <a:ext cx="142646" cy="13350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524244" y="2358238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및 윤리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81598" y="28117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6581851" y="29736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3040380"/>
            <a:ext cx="105156" cy="13350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7000646" y="2985516"/>
            <a:ext cx="3568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글꼴과 여백으로 분량 늘리기 꼼수를 쓰지 마세요.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6381598" y="35551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5"/>
          <p:cNvSpPr/>
          <p:nvPr/>
        </p:nvSpPr>
        <p:spPr>
          <a:xfrm>
            <a:off x="6581851" y="37170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3783787"/>
            <a:ext cx="105156" cy="13350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000646" y="3728009"/>
            <a:ext cx="3539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불명(SNS, 위키)의 자료를 근거로 삼지 마세요.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6381598" y="42976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8"/>
          <p:cNvSpPr/>
          <p:nvPr/>
        </p:nvSpPr>
        <p:spPr>
          <a:xfrm>
            <a:off x="6581851" y="44595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4526280"/>
            <a:ext cx="105156" cy="133502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7000646" y="4471416"/>
            <a:ext cx="41586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없이 생성형 AI의 답변을 무비판적으로 복사하지 마세요.</a:t>
            </a:r>
            <a:endParaRPr lang="en-US" sz="1200" dirty="0"/>
          </a:p>
        </p:txBody>
      </p:sp>
      <p:sp>
        <p:nvSpPr>
          <p:cNvPr id="41" name="Shape 30"/>
          <p:cNvSpPr/>
          <p:nvPr/>
        </p:nvSpPr>
        <p:spPr>
          <a:xfrm>
            <a:off x="6381598" y="50410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1"/>
          <p:cNvSpPr/>
          <p:nvPr/>
        </p:nvSpPr>
        <p:spPr>
          <a:xfrm>
            <a:off x="6581851" y="52029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5269687"/>
            <a:ext cx="105156" cy="133502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7000646" y="5213909"/>
            <a:ext cx="3235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표기를 누락하여 표절 의심을 사지 마세요.</a:t>
            </a:r>
            <a:endParaRPr lang="en-US" sz="1200" dirty="0"/>
          </a:p>
        </p:txBody>
      </p:sp>
      <p:sp>
        <p:nvSpPr>
          <p:cNvPr id="45" name="Shape 33"/>
          <p:cNvSpPr/>
          <p:nvPr/>
        </p:nvSpPr>
        <p:spPr>
          <a:xfrm>
            <a:off x="761695" y="5695798"/>
            <a:ext cx="10668305" cy="685800"/>
          </a:xfrm>
          <a:prstGeom prst="rect">
            <a:avLst/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4"/>
          <p:cNvSpPr/>
          <p:nvPr/>
        </p:nvSpPr>
        <p:spPr>
          <a:xfrm>
            <a:off x="761695" y="5695798"/>
            <a:ext cx="38405" cy="6858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5886907"/>
            <a:ext cx="304495" cy="304495"/>
          </a:xfrm>
          <a:prstGeom prst="rect">
            <a:avLst/>
          </a:prstGeom>
        </p:spPr>
      </p:pic>
      <p:sp>
        <p:nvSpPr>
          <p:cNvPr id="48" name="Text 35"/>
          <p:cNvSpPr txBox="1"/>
          <p:nvPr/>
        </p:nvSpPr>
        <p:spPr>
          <a:xfrm>
            <a:off x="1580998" y="5913425"/>
            <a:ext cx="59271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8가지 실수만 피해도, 여러분의 리포트는 기본 점수와 신뢰를 확보할 수 있습니다.</a:t>
            </a:r>
            <a:endParaRPr lang="en-US" sz="13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458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루브릭 예시(채점기준)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020410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교수님이 무엇을 보고 점수를 주시는지 알면, </a:t>
            </a:r>
          </a:p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A+ 리포트의 조건이 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28635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761695" y="2829154"/>
            <a:ext cx="286207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90549" y="2753258"/>
            <a:ext cx="23911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기준 및 가중치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639312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581705"/>
            <a:ext cx="103327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 명확성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347972" y="358536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 txBox="1"/>
          <p:nvPr/>
        </p:nvSpPr>
        <p:spPr>
          <a:xfrm>
            <a:off x="4424782" y="360456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40%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047902" y="389443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주제문이 서론 첫 단락에 명확히 제시되는가?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70832"/>
            <a:ext cx="142646" cy="17190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47902" y="4313225"/>
            <a:ext cx="159471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신뢰성·적합성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347972" y="431688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3"/>
          <p:cNvSpPr txBox="1"/>
          <p:nvPr/>
        </p:nvSpPr>
        <p:spPr>
          <a:xfrm>
            <a:off x="4424782" y="433608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30%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047902" y="462595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최신/공식/피어리뷰 자료로 주장을 입증했는가?</a:t>
            </a:r>
            <a:endParaRPr lang="en-US" sz="12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102352"/>
            <a:ext cx="142646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47902" y="5044745"/>
            <a:ext cx="104241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구조·글쓰기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4347972" y="504840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7"/>
          <p:cNvSpPr txBox="1"/>
          <p:nvPr/>
        </p:nvSpPr>
        <p:spPr>
          <a:xfrm>
            <a:off x="4424782" y="506760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20%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047902" y="535747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서론-본론-결론 일관성, 두괄식, 문장 명료성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833872"/>
            <a:ext cx="142646" cy="17190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47902" y="5776265"/>
            <a:ext cx="87142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형식·인용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347972" y="577992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4424782" y="579912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10%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047902" y="608899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규정 준수, 인용-참고문헌 일치, 캡션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524804" y="1437437"/>
            <a:ext cx="6057900" cy="1104595"/>
          </a:xfrm>
          <a:prstGeom prst="roundRect">
            <a:avLst>
              <a:gd name="adj" fmla="val 2855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5862218" y="1761134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2400" dirty="0"/>
          </a:p>
        </p:txBody>
      </p:sp>
      <p:sp>
        <p:nvSpPr>
          <p:cNvPr id="32" name="Text 25"/>
          <p:cNvSpPr txBox="1"/>
          <p:nvPr/>
        </p:nvSpPr>
        <p:spPr>
          <a:xfrm>
            <a:off x="6391655" y="1636776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탁월함 (Excellent)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6391655" y="1926641"/>
            <a:ext cx="502371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논제가 첫 문단에 선명하고 반론 대응까지 포함됨. 신뢰할 수 있는 자료 5건 이상 활용, 형식 완벽 준수.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5524804" y="2684678"/>
            <a:ext cx="6057900" cy="1104595"/>
          </a:xfrm>
          <a:prstGeom prst="roundRect">
            <a:avLst>
              <a:gd name="adj" fmla="val 285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8"/>
          <p:cNvSpPr txBox="1"/>
          <p:nvPr/>
        </p:nvSpPr>
        <p:spPr>
          <a:xfrm>
            <a:off x="5856731" y="3008376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2400" dirty="0"/>
          </a:p>
        </p:txBody>
      </p:sp>
      <p:sp>
        <p:nvSpPr>
          <p:cNvPr id="36" name="Text 29"/>
          <p:cNvSpPr txBox="1"/>
          <p:nvPr/>
        </p:nvSpPr>
        <p:spPr>
          <a:xfrm>
            <a:off x="6391655" y="2884932"/>
            <a:ext cx="12024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우수함 (Good)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6391655" y="3173882"/>
            <a:ext cx="5100523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논지는 명확하나 연결성이 다소 약함. 자료 3~4건 활용, 형식이 전반적으로 양호하나 경미한 누락 있음.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5524804" y="3931920"/>
            <a:ext cx="6057900" cy="905256"/>
          </a:xfrm>
          <a:prstGeom prst="roundRect">
            <a:avLst>
              <a:gd name="adj" fmla="val 425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2"/>
          <p:cNvSpPr txBox="1"/>
          <p:nvPr/>
        </p:nvSpPr>
        <p:spPr>
          <a:xfrm>
            <a:off x="5861303" y="4154119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2400" dirty="0"/>
          </a:p>
        </p:txBody>
      </p:sp>
      <p:sp>
        <p:nvSpPr>
          <p:cNvPr id="40" name="Text 33"/>
          <p:cNvSpPr txBox="1"/>
          <p:nvPr/>
        </p:nvSpPr>
        <p:spPr>
          <a:xfrm>
            <a:off x="6391655" y="4132174"/>
            <a:ext cx="12691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보통 (Average)</a:t>
            </a:r>
            <a:endParaRPr lang="en-US" sz="1300" dirty="0"/>
          </a:p>
        </p:txBody>
      </p:sp>
      <p:sp>
        <p:nvSpPr>
          <p:cNvPr id="41" name="Text 34"/>
          <p:cNvSpPr txBox="1"/>
          <p:nvPr/>
        </p:nvSpPr>
        <p:spPr>
          <a:xfrm>
            <a:off x="6391655" y="4422038"/>
            <a:ext cx="49286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논지가 모호하거나 일관성이 부족함. 자료 1~2건에 그치며 구조적 불균형이 보임.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5524804" y="4977079"/>
            <a:ext cx="6057900" cy="905256"/>
          </a:xfrm>
          <a:prstGeom prst="roundRect">
            <a:avLst>
              <a:gd name="adj" fmla="val 4253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6"/>
          <p:cNvSpPr txBox="1"/>
          <p:nvPr/>
        </p:nvSpPr>
        <p:spPr>
          <a:xfrm>
            <a:off x="5725058" y="5199278"/>
            <a:ext cx="762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0A5FA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D/F</a:t>
            </a:r>
            <a:endParaRPr lang="en-US" sz="2400" dirty="0"/>
          </a:p>
        </p:txBody>
      </p:sp>
      <p:sp>
        <p:nvSpPr>
          <p:cNvPr id="44" name="Text 37"/>
          <p:cNvSpPr txBox="1"/>
          <p:nvPr/>
        </p:nvSpPr>
        <p:spPr>
          <a:xfrm>
            <a:off x="6440118" y="5176418"/>
            <a:ext cx="17355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미흡/낙제 (Poor/Fail)</a:t>
            </a:r>
            <a:endParaRPr lang="en-US" sz="1300" dirty="0"/>
          </a:p>
        </p:txBody>
      </p:sp>
      <p:sp>
        <p:nvSpPr>
          <p:cNvPr id="45" name="Text 38"/>
          <p:cNvSpPr txBox="1"/>
          <p:nvPr/>
        </p:nvSpPr>
        <p:spPr>
          <a:xfrm>
            <a:off x="6440118" y="5466283"/>
            <a:ext cx="38907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주장이 불명확하거나 근거 없음. 출처 오류 다수 또는 표절 의심.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5524804" y="6116422"/>
            <a:ext cx="6057900" cy="466344"/>
          </a:xfrm>
          <a:prstGeom prst="roundRect">
            <a:avLst>
              <a:gd name="adj" fmla="val 16006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5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6933894" y="6277356"/>
            <a:ext cx="105156" cy="142646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7114946" y="6240780"/>
            <a:ext cx="31757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"채점 기준을 역설계하면 작성이 훨씬 쉬워집니다."</a:t>
            </a:r>
            <a:endParaRPr lang="en-US" sz="11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36676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흔한 실수 Top 10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477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점수를 깎아먹는 대표적인 감점 요인들을 미리 확인하고 제거하세요.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244852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761695" y="2004365"/>
            <a:ext cx="142646" cy="1335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30444" y="1958645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및 태도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1695" y="247802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61949" y="262158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2688336"/>
            <a:ext cx="123444" cy="1335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380744" y="2638044"/>
            <a:ext cx="3076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과제문 오독: 핵심 동사(분석/비교/제안) 미충족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3145536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961949" y="328818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3354934"/>
            <a:ext cx="123444" cy="1335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80744" y="3305556"/>
            <a:ext cx="3124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분량 꼼수: 큰 글꼴·넓은 여백으로 페이지 늘리기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61695" y="381213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961949" y="395478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4021531"/>
            <a:ext cx="123444" cy="1335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80744" y="3972154"/>
            <a:ext cx="3124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과대: 기간·대상 미한정으로 자료 수집 불가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761695" y="4478731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961949" y="462137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4688129"/>
            <a:ext cx="123444" cy="13350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80744" y="4638751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부재: 블록화·목차 설계 없이 초안 직행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761695" y="5145329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961949" y="52879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5354726"/>
            <a:ext cx="123444" cy="13350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380744" y="5305349"/>
            <a:ext cx="2886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 임박: 퇴고 시간 부족 및 버전 관리 실패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6381598" y="2244852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381598" y="2004365"/>
            <a:ext cx="142646" cy="13350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649432" y="1958645"/>
            <a:ext cx="998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및 형식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81598" y="247802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5"/>
          <p:cNvSpPr/>
          <p:nvPr/>
        </p:nvSpPr>
        <p:spPr>
          <a:xfrm>
            <a:off x="6581851" y="262158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2688336"/>
            <a:ext cx="123444" cy="13350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000646" y="2638044"/>
            <a:ext cx="308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미사용: 핵심이 문단 말미나 중간에 묻힘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6381598" y="3145536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8"/>
          <p:cNvSpPr/>
          <p:nvPr/>
        </p:nvSpPr>
        <p:spPr>
          <a:xfrm>
            <a:off x="6581851" y="328818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3354934"/>
            <a:ext cx="123444" cy="133502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7000646" y="3305556"/>
            <a:ext cx="31720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주관적 문체: 1·2인칭(나/우리) 및 감정 표현 사용</a:t>
            </a:r>
            <a:endParaRPr lang="en-US" sz="1200" dirty="0"/>
          </a:p>
        </p:txBody>
      </p:sp>
      <p:sp>
        <p:nvSpPr>
          <p:cNvPr id="41" name="Shape 30"/>
          <p:cNvSpPr/>
          <p:nvPr/>
        </p:nvSpPr>
        <p:spPr>
          <a:xfrm>
            <a:off x="6381598" y="381213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1"/>
          <p:cNvSpPr/>
          <p:nvPr/>
        </p:nvSpPr>
        <p:spPr>
          <a:xfrm>
            <a:off x="6581851" y="395478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4021531"/>
            <a:ext cx="123444" cy="133502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7000646" y="3972154"/>
            <a:ext cx="2658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무근거 주장: 통계·연구 없이 단정적 서술</a:t>
            </a:r>
            <a:endParaRPr lang="en-US" sz="1200" dirty="0"/>
          </a:p>
        </p:txBody>
      </p:sp>
      <p:sp>
        <p:nvSpPr>
          <p:cNvPr id="45" name="Shape 33"/>
          <p:cNvSpPr/>
          <p:nvPr/>
        </p:nvSpPr>
        <p:spPr>
          <a:xfrm>
            <a:off x="6381598" y="4478731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4"/>
          <p:cNvSpPr/>
          <p:nvPr/>
        </p:nvSpPr>
        <p:spPr>
          <a:xfrm>
            <a:off x="6581851" y="462137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4688129"/>
            <a:ext cx="123444" cy="133502"/>
          </a:xfrm>
          <a:prstGeom prst="rect">
            <a:avLst/>
          </a:prstGeom>
        </p:spPr>
      </p:pic>
      <p:sp>
        <p:nvSpPr>
          <p:cNvPr id="48" name="Text 35"/>
          <p:cNvSpPr txBox="1"/>
          <p:nvPr/>
        </p:nvSpPr>
        <p:spPr>
          <a:xfrm>
            <a:off x="7000646" y="4638751"/>
            <a:ext cx="308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오류: 본문 인용과 참고문헌 리스트 불일치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6381598" y="5145329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37"/>
          <p:cNvSpPr/>
          <p:nvPr/>
        </p:nvSpPr>
        <p:spPr>
          <a:xfrm>
            <a:off x="6581851" y="52879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5354726"/>
            <a:ext cx="123444" cy="133502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7000646" y="5305349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캡션 누락: 표·그림의 제목/출처 및 교차참조 미비</a:t>
            </a:r>
            <a:endParaRPr lang="en-US" sz="1200" dirty="0"/>
          </a:p>
        </p:txBody>
      </p:sp>
      <p:sp>
        <p:nvSpPr>
          <p:cNvPr id="53" name="Shape 39"/>
          <p:cNvSpPr/>
          <p:nvPr/>
        </p:nvSpPr>
        <p:spPr>
          <a:xfrm>
            <a:off x="761695" y="5790895"/>
            <a:ext cx="10668305" cy="685800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0"/>
          <p:cNvSpPr/>
          <p:nvPr/>
        </p:nvSpPr>
        <p:spPr>
          <a:xfrm>
            <a:off x="761695" y="5790895"/>
            <a:ext cx="38405" cy="6858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5" name="Image 12" descr="preencoded.png"/>
          <p:cNvPicPr>
            <a:picLocks noChangeAspect="1"/>
          </p:cNvPicPr>
          <p:nvPr/>
        </p:nvPicPr>
        <p:blipFill>
          <a:blip r:embed="rId6"/>
          <a:srcRect l="-50" r="-50"/>
          <a:stretch/>
        </p:blipFill>
        <p:spPr>
          <a:xfrm>
            <a:off x="1086307" y="5982005"/>
            <a:ext cx="342900" cy="304495"/>
          </a:xfrm>
          <a:prstGeom prst="rect">
            <a:avLst/>
          </a:prstGeom>
        </p:spPr>
      </p:pic>
      <p:sp>
        <p:nvSpPr>
          <p:cNvPr id="56" name="Text 41"/>
          <p:cNvSpPr txBox="1"/>
          <p:nvPr/>
        </p:nvSpPr>
        <p:spPr>
          <a:xfrm>
            <a:off x="1619402" y="6008522"/>
            <a:ext cx="45171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이 리스트에서 실수 2개만 줄여도 점수가 확실히 오릅니다.</a:t>
            </a:r>
            <a:endParaRPr lang="en-US" sz="1300" dirty="0"/>
          </a:p>
        </p:txBody>
      </p:sp>
      <p:sp>
        <p:nvSpPr>
          <p:cNvPr id="5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50809" y="320824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50809" y="501876"/>
            <a:ext cx="59061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표·그림 캡션 및 교차참조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80484" y="1330367"/>
            <a:ext cx="434914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 자료는 독립적인 정보로서 가치를 가져야 하며, </a:t>
            </a:r>
          </a:p>
          <a:p>
            <a:pPr marL="0" indent="0" algn="l">
              <a:buNone/>
            </a:pPr>
            <a:r>
              <a:rPr lang="en-US" sz="15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본문과 연결되어야 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0346" y="2451420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90346" y="199422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507" y="1917411"/>
            <a:ext cx="142006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5원칙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2803464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6553" y="2746771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캡션 필수 요소 포함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6553" y="2975371"/>
            <a:ext cx="3734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표/그림 번호, 핵심 제목, 단위, 출처를 반드시 명기하세요.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3450859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76553" y="3394167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번호 체계 유지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76553" y="3622767"/>
            <a:ext cx="3857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&lt;표 1&gt;, &lt;그림 1&gt; 처럼 표와 그림의 번호를 분리하여 매기세요.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4327769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553" y="4270162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교차참조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553" y="4498762"/>
            <a:ext cx="3820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"아래 표 참조" 대신 "표 1에 따르면"과 같이 구체적으로 지칭하세요.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5203764"/>
            <a:ext cx="142646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76553" y="5147071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서식 유지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76553" y="5375671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값 정렬(우측 정렬), 자릿수, 단위 표기를 통일하세요.</a:t>
            </a:r>
            <a:endParaRPr lang="en-US" sz="12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5851159"/>
            <a:ext cx="142646" cy="17190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076553" y="5794467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해상도와 가독성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1076553" y="6023067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그림은 뭉개지지 않게, 범례와 축 제목은 식별 가능해야 합니다.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5448300" y="1220594"/>
            <a:ext cx="6057900" cy="2076602"/>
          </a:xfrm>
          <a:prstGeom prst="roundRect">
            <a:avLst>
              <a:gd name="adj" fmla="val 121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5648554" y="1456509"/>
            <a:ext cx="142646" cy="13350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791200" y="1419933"/>
            <a:ext cx="177027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캡션(CAPTION) 작성 예시</a:t>
            </a:r>
            <a:endParaRPr lang="en-US" sz="1000" dirty="0"/>
          </a:p>
        </p:txBody>
      </p:sp>
      <p:sp>
        <p:nvSpPr>
          <p:cNvPr id="28" name="Shape 19"/>
          <p:cNvSpPr/>
          <p:nvPr/>
        </p:nvSpPr>
        <p:spPr>
          <a:xfrm>
            <a:off x="5648554" y="1720771"/>
            <a:ext cx="5658307" cy="1371600"/>
          </a:xfrm>
          <a:prstGeom prst="roundRect">
            <a:avLst>
              <a:gd name="adj" fmla="val 1852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0"/>
          <p:cNvSpPr/>
          <p:nvPr/>
        </p:nvSpPr>
        <p:spPr>
          <a:xfrm>
            <a:off x="5648554" y="1720771"/>
            <a:ext cx="28346" cy="13716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1"/>
          <p:cNvSpPr txBox="1"/>
          <p:nvPr/>
        </p:nvSpPr>
        <p:spPr>
          <a:xfrm>
            <a:off x="5819546" y="1864331"/>
            <a:ext cx="2781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&lt;표 1&gt; 평일 수면 시간 추이 (2021~2025)</a:t>
            </a:r>
            <a:endParaRPr lang="en-US" sz="1200" dirty="0"/>
          </a:p>
        </p:txBody>
      </p:sp>
      <p:sp>
        <p:nvSpPr>
          <p:cNvPr id="31" name="Text 22"/>
          <p:cNvSpPr txBox="1"/>
          <p:nvPr/>
        </p:nvSpPr>
        <p:spPr>
          <a:xfrm>
            <a:off x="10615574" y="2140480"/>
            <a:ext cx="6556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(단위: h)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5819546" y="2393769"/>
            <a:ext cx="5343754" cy="9144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/>
          <p:cNvSpPr txBox="1"/>
          <p:nvPr/>
        </p:nvSpPr>
        <p:spPr>
          <a:xfrm>
            <a:off x="5819546" y="2450462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[데이터 표 영역]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5819546" y="2692778"/>
            <a:ext cx="5343754" cy="9144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5819546" y="2750385"/>
            <a:ext cx="21927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○○대 학생생활조사 (2025, 가상)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448300" y="3429784"/>
            <a:ext cx="6057900" cy="1752905"/>
          </a:xfrm>
          <a:prstGeom prst="roundRect">
            <a:avLst>
              <a:gd name="adj" fmla="val 170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rcRect l="-4247" r="-4247"/>
          <a:stretch/>
        </p:blipFill>
        <p:spPr>
          <a:xfrm>
            <a:off x="5648554" y="3666614"/>
            <a:ext cx="181051" cy="13350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5829605" y="3630038"/>
            <a:ext cx="2475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교차참조(CROSS-REFERENCE)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5648554" y="3930875"/>
            <a:ext cx="5658307" cy="1047902"/>
          </a:xfrm>
          <a:prstGeom prst="roundRect">
            <a:avLst>
              <a:gd name="adj" fmla="val 317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0"/>
          <p:cNvSpPr/>
          <p:nvPr/>
        </p:nvSpPr>
        <p:spPr>
          <a:xfrm>
            <a:off x="5648554" y="3930875"/>
            <a:ext cx="28346" cy="1047902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1"/>
          <p:cNvSpPr txBox="1"/>
          <p:nvPr/>
        </p:nvSpPr>
        <p:spPr>
          <a:xfrm>
            <a:off x="5819546" y="4074436"/>
            <a:ext cx="54489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"과제 마감 분산제 도입 이후 1학년의 평일 수면 시간은 &lt;표 1&gt;과 같이 꾸준히 늘어나는 추세를 보였다." (가상의 예시)</a:t>
            </a:r>
            <a:endParaRPr lang="en-US" sz="1200" dirty="0"/>
          </a:p>
        </p:txBody>
      </p:sp>
      <p:sp>
        <p:nvSpPr>
          <p:cNvPr id="42" name="Text 32"/>
          <p:cNvSpPr txBox="1"/>
          <p:nvPr/>
        </p:nvSpPr>
        <p:spPr>
          <a:xfrm>
            <a:off x="5819546" y="4607531"/>
            <a:ext cx="5372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"세부적인 변수 간의 상관관계는 &lt;그림 2&gt;를 참조하면 더욱 명확히 확인할 수 있다."</a:t>
            </a:r>
            <a:endParaRPr lang="en-US" sz="1200" dirty="0"/>
          </a:p>
        </p:txBody>
      </p:sp>
      <p:sp>
        <p:nvSpPr>
          <p:cNvPr id="43" name="Shape 33"/>
          <p:cNvSpPr/>
          <p:nvPr/>
        </p:nvSpPr>
        <p:spPr>
          <a:xfrm>
            <a:off x="5448300" y="5321678"/>
            <a:ext cx="6057900" cy="1399946"/>
          </a:xfrm>
          <a:prstGeom prst="roundRect">
            <a:avLst>
              <a:gd name="adj" fmla="val 266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7"/>
          <a:srcRect l="-2838" r="-2838"/>
          <a:stretch/>
        </p:blipFill>
        <p:spPr>
          <a:xfrm>
            <a:off x="5648554" y="5557593"/>
            <a:ext cx="123444" cy="133502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5771998" y="5521931"/>
            <a:ext cx="119877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주석(NOTE) 활용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5648554" y="5822769"/>
            <a:ext cx="5658307" cy="705002"/>
          </a:xfrm>
          <a:prstGeom prst="roundRect">
            <a:avLst>
              <a:gd name="adj" fmla="val 7011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6"/>
          <p:cNvSpPr/>
          <p:nvPr/>
        </p:nvSpPr>
        <p:spPr>
          <a:xfrm>
            <a:off x="5648554" y="5822769"/>
            <a:ext cx="28346" cy="705002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7"/>
          <p:cNvSpPr txBox="1"/>
          <p:nvPr/>
        </p:nvSpPr>
        <p:spPr>
          <a:xfrm>
            <a:off x="5819546" y="5965415"/>
            <a:ext cx="5361127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Note. N=1,200. 괄호 안의 수치는 표준편차를 의미함. *p &lt; .05. 결측치는 분석에서 제외하였음.</a:t>
            </a:r>
            <a:endParaRPr lang="en-US" sz="10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4202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 가이드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5059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범위와 금지 사항을 명확히 구분하고, 반드시 '공적 자료'로 교차 검증하세요.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501798"/>
            <a:ext cx="5048402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761695" y="2043684"/>
            <a:ext cx="286207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90549" y="1967789"/>
            <a:ext cx="31053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허용(Do) vs 금지(Don't)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7138" y="2836469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9498" y="2796235"/>
            <a:ext cx="178308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범위 (Safe Zone)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3161995"/>
            <a:ext cx="133502" cy="152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90295" y="3161995"/>
            <a:ext cx="21150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 및 개요 초안 구조화</a:t>
            </a:r>
            <a:endParaRPr lang="en-US" sz="12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3486607"/>
            <a:ext cx="133502" cy="15270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90295" y="3486607"/>
            <a:ext cx="2686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확장 및 검색식(Query) 작성 보조</a:t>
            </a:r>
            <a:endParaRPr lang="en-US" sz="12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3810305"/>
            <a:ext cx="133502" cy="15270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90295" y="3810305"/>
            <a:ext cx="20290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다듬기 및 번역/요약 제안</a:t>
            </a:r>
            <a:endParaRPr lang="en-US" sz="12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4134002"/>
            <a:ext cx="133502" cy="152705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90295" y="4134002"/>
            <a:ext cx="2171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코딩/데이터 분석 코드 초안 생성</a:t>
            </a:r>
            <a:endParaRPr lang="en-US" sz="12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695" y="4830775"/>
            <a:ext cx="171907" cy="171907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09498" y="4791456"/>
            <a:ext cx="201168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금지 사항 (Danger Zone)</a:t>
            </a:r>
            <a:endParaRPr lang="en-US" sz="13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5157216"/>
            <a:ext cx="114300" cy="152705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972007" y="5157216"/>
            <a:ext cx="3048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없는 사실이나 통계 생성 (팩트 조작 위험)</a:t>
            </a:r>
            <a:endParaRPr lang="en-US" sz="120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5480914"/>
            <a:ext cx="114300" cy="152705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72007" y="5480914"/>
            <a:ext cx="1991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날조 (할루시네이션)</a:t>
            </a:r>
            <a:endParaRPr lang="en-US" sz="12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5804611"/>
            <a:ext cx="114300" cy="152705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972007" y="5804611"/>
            <a:ext cx="2438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결과물을 검증 없이 그대로 복사·제출</a:t>
            </a:r>
            <a:endParaRPr lang="en-US" sz="12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6128309"/>
            <a:ext cx="114300" cy="152705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972007" y="6128309"/>
            <a:ext cx="2438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개인정보 및 저작권 민감 데이터 입력</a:t>
            </a:r>
            <a:endParaRPr lang="en-US" sz="1200" dirty="0"/>
          </a:p>
        </p:txBody>
      </p:sp>
      <p:sp>
        <p:nvSpPr>
          <p:cNvPr id="30" name="Shape 17"/>
          <p:cNvSpPr/>
          <p:nvPr/>
        </p:nvSpPr>
        <p:spPr>
          <a:xfrm>
            <a:off x="6381598" y="1958645"/>
            <a:ext cx="5048402" cy="4743907"/>
          </a:xfrm>
          <a:prstGeom prst="roundRect">
            <a:avLst>
              <a:gd name="adj" fmla="val 15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18"/>
          <p:cNvSpPr/>
          <p:nvPr/>
        </p:nvSpPr>
        <p:spPr>
          <a:xfrm>
            <a:off x="6629400" y="2634386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629400" y="2253996"/>
            <a:ext cx="142646" cy="190195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6848856" y="2205533"/>
            <a:ext cx="1828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검증 체크리스트</a:t>
            </a:r>
            <a:endParaRPr lang="en-US" sz="1500" dirty="0"/>
          </a:p>
        </p:txBody>
      </p:sp>
      <p:sp>
        <p:nvSpPr>
          <p:cNvPr id="34" name="Shape 20"/>
          <p:cNvSpPr/>
          <p:nvPr/>
        </p:nvSpPr>
        <p:spPr>
          <a:xfrm>
            <a:off x="6629400" y="2834640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1"/>
          <p:cNvSpPr/>
          <p:nvPr/>
        </p:nvSpPr>
        <p:spPr>
          <a:xfrm>
            <a:off x="6629400" y="2834640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9"/>
          <a:srcRect l="-12275" r="-12275"/>
          <a:stretch/>
        </p:blipFill>
        <p:spPr>
          <a:xfrm>
            <a:off x="6810451" y="2987345"/>
            <a:ext cx="190195" cy="152705"/>
          </a:xfrm>
          <a:prstGeom prst="rect">
            <a:avLst/>
          </a:prstGeom>
        </p:spPr>
      </p:pic>
      <p:sp>
        <p:nvSpPr>
          <p:cNvPr id="37" name="Text 22"/>
          <p:cNvSpPr txBox="1"/>
          <p:nvPr/>
        </p:nvSpPr>
        <p:spPr>
          <a:xfrm>
            <a:off x="7000646" y="2948940"/>
            <a:ext cx="3495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 교차 검증: 공식 통계/원문과 반드시 대조했는가?</a:t>
            </a:r>
            <a:endParaRPr lang="en-US" sz="1200" dirty="0"/>
          </a:p>
        </p:txBody>
      </p:sp>
      <p:sp>
        <p:nvSpPr>
          <p:cNvPr id="38" name="Shape 23"/>
          <p:cNvSpPr/>
          <p:nvPr/>
        </p:nvSpPr>
        <p:spPr>
          <a:xfrm>
            <a:off x="6629400" y="3434486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4"/>
          <p:cNvSpPr/>
          <p:nvPr/>
        </p:nvSpPr>
        <p:spPr>
          <a:xfrm>
            <a:off x="6629400" y="3434486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3" descr="preencoded.png"/>
          <p:cNvPicPr>
            <a:picLocks noChangeAspect="1"/>
          </p:cNvPicPr>
          <p:nvPr/>
        </p:nvPicPr>
        <p:blipFill>
          <a:blip r:embed="rId10"/>
          <a:srcRect t="-180" b="-180"/>
          <a:stretch/>
        </p:blipFill>
        <p:spPr>
          <a:xfrm>
            <a:off x="6810451" y="3587191"/>
            <a:ext cx="190195" cy="152705"/>
          </a:xfrm>
          <a:prstGeom prst="rect">
            <a:avLst/>
          </a:prstGeom>
        </p:spPr>
      </p:pic>
      <p:sp>
        <p:nvSpPr>
          <p:cNvPr id="41" name="Text 25"/>
          <p:cNvSpPr txBox="1"/>
          <p:nvPr/>
        </p:nvSpPr>
        <p:spPr>
          <a:xfrm>
            <a:off x="7000646" y="3548786"/>
            <a:ext cx="3305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열람: 제시된 URL/DOI가 실제로 접속되는가?</a:t>
            </a:r>
            <a:endParaRPr lang="en-US" sz="1200" dirty="0"/>
          </a:p>
        </p:txBody>
      </p:sp>
      <p:sp>
        <p:nvSpPr>
          <p:cNvPr id="42" name="Shape 26"/>
          <p:cNvSpPr/>
          <p:nvPr/>
        </p:nvSpPr>
        <p:spPr>
          <a:xfrm>
            <a:off x="6629400" y="4034333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27"/>
          <p:cNvSpPr/>
          <p:nvPr/>
        </p:nvSpPr>
        <p:spPr>
          <a:xfrm>
            <a:off x="6629400" y="4034333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11"/>
          <a:srcRect l="-21172" r="-21172"/>
          <a:stretch/>
        </p:blipFill>
        <p:spPr>
          <a:xfrm>
            <a:off x="6810451" y="4187038"/>
            <a:ext cx="190195" cy="152705"/>
          </a:xfrm>
          <a:prstGeom prst="rect">
            <a:avLst/>
          </a:prstGeom>
        </p:spPr>
      </p:pic>
      <p:sp>
        <p:nvSpPr>
          <p:cNvPr id="45" name="Text 28"/>
          <p:cNvSpPr txBox="1"/>
          <p:nvPr/>
        </p:nvSpPr>
        <p:spPr>
          <a:xfrm>
            <a:off x="7000646" y="4148633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일치: 해당 페이지에 실제 그 내용이 있는가?</a:t>
            </a:r>
            <a:endParaRPr lang="en-US" sz="1200" dirty="0"/>
          </a:p>
        </p:txBody>
      </p:sp>
      <p:sp>
        <p:nvSpPr>
          <p:cNvPr id="46" name="Shape 29"/>
          <p:cNvSpPr/>
          <p:nvPr/>
        </p:nvSpPr>
        <p:spPr>
          <a:xfrm>
            <a:off x="6629400" y="4635094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0"/>
          <p:cNvSpPr/>
          <p:nvPr/>
        </p:nvSpPr>
        <p:spPr>
          <a:xfrm>
            <a:off x="6629400" y="4635094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15" descr="preencoded.png"/>
          <p:cNvPicPr>
            <a:picLocks noChangeAspect="1"/>
          </p:cNvPicPr>
          <p:nvPr/>
        </p:nvPicPr>
        <p:blipFill>
          <a:blip r:embed="rId12"/>
          <a:srcRect t="-180" b="-180"/>
          <a:stretch/>
        </p:blipFill>
        <p:spPr>
          <a:xfrm>
            <a:off x="6810451" y="4786884"/>
            <a:ext cx="190195" cy="152705"/>
          </a:xfrm>
          <a:prstGeom prst="rect">
            <a:avLst/>
          </a:prstGeom>
        </p:spPr>
      </p:pic>
      <p:sp>
        <p:nvSpPr>
          <p:cNvPr id="49" name="Text 31"/>
          <p:cNvSpPr txBox="1"/>
          <p:nvPr/>
        </p:nvSpPr>
        <p:spPr>
          <a:xfrm>
            <a:off x="7000646" y="4749394"/>
            <a:ext cx="3333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 점검: 저작권 및 개인정보 침해 요소는 없는가?</a:t>
            </a:r>
            <a:endParaRPr lang="en-US" sz="1200" dirty="0"/>
          </a:p>
        </p:txBody>
      </p:sp>
      <p:sp>
        <p:nvSpPr>
          <p:cNvPr id="50" name="Shape 32"/>
          <p:cNvSpPr/>
          <p:nvPr/>
        </p:nvSpPr>
        <p:spPr>
          <a:xfrm>
            <a:off x="6629400" y="5234940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33"/>
          <p:cNvSpPr/>
          <p:nvPr/>
        </p:nvSpPr>
        <p:spPr>
          <a:xfrm>
            <a:off x="6629400" y="5234940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2" name="Image 16" descr="preencoded.png"/>
          <p:cNvPicPr>
            <a:picLocks noChangeAspect="1"/>
          </p:cNvPicPr>
          <p:nvPr/>
        </p:nvPicPr>
        <p:blipFill>
          <a:blip r:embed="rId13"/>
          <a:srcRect l="-12275" r="-12275"/>
          <a:stretch/>
        </p:blipFill>
        <p:spPr>
          <a:xfrm>
            <a:off x="6810451" y="5387645"/>
            <a:ext cx="190195" cy="152705"/>
          </a:xfrm>
          <a:prstGeom prst="rect">
            <a:avLst/>
          </a:prstGeom>
        </p:spPr>
      </p:pic>
      <p:sp>
        <p:nvSpPr>
          <p:cNvPr id="53" name="Text 34"/>
          <p:cNvSpPr txBox="1"/>
          <p:nvPr/>
        </p:nvSpPr>
        <p:spPr>
          <a:xfrm>
            <a:off x="7000646" y="5349240"/>
            <a:ext cx="3514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 고지: 과제 지침에 따라 AI 사용 여부를 밝혔는가?</a:t>
            </a:r>
            <a:endParaRPr lang="en-US" sz="1200" dirty="0"/>
          </a:p>
        </p:txBody>
      </p:sp>
      <p:sp>
        <p:nvSpPr>
          <p:cNvPr id="54" name="Shape 35"/>
          <p:cNvSpPr/>
          <p:nvPr/>
        </p:nvSpPr>
        <p:spPr>
          <a:xfrm>
            <a:off x="6629400" y="5692140"/>
            <a:ext cx="4552798" cy="761695"/>
          </a:xfrm>
          <a:prstGeom prst="roundRect">
            <a:avLst>
              <a:gd name="adj" fmla="val 6002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5" name="Image 17" descr="preencoded.png"/>
          <p:cNvPicPr>
            <a:picLocks noChangeAspect="1"/>
          </p:cNvPicPr>
          <p:nvPr/>
        </p:nvPicPr>
        <p:blipFill>
          <a:blip r:embed="rId14"/>
          <a:srcRect t="-100" b="-100"/>
          <a:stretch/>
        </p:blipFill>
        <p:spPr>
          <a:xfrm>
            <a:off x="6782105" y="5996635"/>
            <a:ext cx="114300" cy="152705"/>
          </a:xfrm>
          <a:prstGeom prst="rect">
            <a:avLst/>
          </a:prstGeom>
        </p:spPr>
      </p:pic>
      <p:sp>
        <p:nvSpPr>
          <p:cNvPr id="56" name="Text 36"/>
          <p:cNvSpPr txBox="1"/>
          <p:nvPr/>
        </p:nvSpPr>
        <p:spPr>
          <a:xfrm>
            <a:off x="7010705" y="5844845"/>
            <a:ext cx="39913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훌륭한 '초안 도구'이지만, 리포트의 근거는 반드시 '공적 자료'여야 합니다.</a:t>
            </a:r>
            <a:endParaRPr lang="en-US" sz="1200" dirty="0"/>
          </a:p>
        </p:txBody>
      </p:sp>
      <p:sp>
        <p:nvSpPr>
          <p:cNvPr id="5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62356"/>
            <a:ext cx="44101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과제문 핵심 동사 사전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133"/>
            <a:ext cx="6324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과제에서 요구하는 '행동'을 정확히 이해하고, 그에 맞는 '결과물'을 제출하세요.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708453"/>
            <a:ext cx="5095951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279599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2221992"/>
            <a:ext cx="2686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동사별 의미와 요구 산출물</a:t>
            </a:r>
            <a:endParaRPr lang="en-US" sz="18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16489" r="-16489"/>
          <a:stretch/>
        </p:blipFill>
        <p:spPr>
          <a:xfrm>
            <a:off x="664029" y="3002890"/>
            <a:ext cx="326266" cy="2453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33856" y="2955341"/>
            <a:ext cx="10863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(Analyze)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133856" y="3183941"/>
            <a:ext cx="42583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요소를 분해하고 인과관계를 설명 (산출물: 원인-결과 구조 도식화)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l="-3192" r="-3192"/>
          <a:stretch/>
        </p:blipFill>
        <p:spPr>
          <a:xfrm>
            <a:off x="664029" y="3631997"/>
            <a:ext cx="326266" cy="245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33856" y="3584448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(Compare)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133856" y="3813048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기준을 세워 공통점/차이점 도출 (산출물: 비교표, 평가 기준)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16489" r="-16489"/>
          <a:stretch/>
        </p:blipFill>
        <p:spPr>
          <a:xfrm>
            <a:off x="621860" y="4260190"/>
            <a:ext cx="368435" cy="27706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33856" y="4212641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(Summarize)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133856" y="4441241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핵심을 압축해 자신의 언어로 재서술 (산출물: 불릿 정리, 원문 의존 최소화)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l="-38653" r="-38653"/>
          <a:stretch/>
        </p:blipFill>
        <p:spPr>
          <a:xfrm>
            <a:off x="551101" y="4851196"/>
            <a:ext cx="544749" cy="40965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33856" y="4841748"/>
            <a:ext cx="1153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(Evaluate)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133856" y="5070348"/>
            <a:ext cx="42007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명시된 기준으로 장·단점 및 가치 판단 (산출물: 근거와 한계 병기)</a:t>
            </a:r>
            <a:endParaRPr lang="en-US" sz="12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8653" r="-38653"/>
          <a:stretch/>
        </p:blipFill>
        <p:spPr>
          <a:xfrm>
            <a:off x="551101" y="5479389"/>
            <a:ext cx="544749" cy="409651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133856" y="5469941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(Propose)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1133856" y="5698541"/>
            <a:ext cx="39154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가능한 구체적 대안 제시 (산출물: 주체, 절차, 기대효과)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6334049" y="1890065"/>
            <a:ext cx="5095951" cy="1914754"/>
          </a:xfrm>
          <a:prstGeom prst="roundRect">
            <a:avLst>
              <a:gd name="adj" fmla="val 190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760" r="-760"/>
          <a:stretch/>
        </p:blipFill>
        <p:spPr>
          <a:xfrm>
            <a:off x="6581851" y="2178101"/>
            <a:ext cx="152705" cy="171907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6810451" y="2137867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제출물 필수 포함 요소</a:t>
            </a:r>
            <a:endParaRPr lang="en-US" sz="130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81851" y="2617927"/>
            <a:ext cx="152705" cy="152705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6848856" y="2579522"/>
            <a:ext cx="2800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명시된 '핵심 동사'에 부합하는 결과물 유형</a:t>
            </a:r>
            <a:endParaRPr lang="en-US" sz="1200" dirty="0"/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81851" y="2989174"/>
            <a:ext cx="152705" cy="152705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6848856" y="2951683"/>
            <a:ext cx="2334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표/그림/데이터의 출처와 분석 방법</a:t>
            </a:r>
            <a:endParaRPr lang="en-US" sz="1200" dirty="0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81851" y="3361334"/>
            <a:ext cx="152705" cy="152705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6848856" y="332293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연구의 범위, 가정, 한계점 명시</a:t>
            </a:r>
            <a:endParaRPr lang="en-US" sz="1200" dirty="0"/>
          </a:p>
        </p:txBody>
      </p:sp>
      <p:sp>
        <p:nvSpPr>
          <p:cNvPr id="34" name="Shape 22"/>
          <p:cNvSpPr/>
          <p:nvPr/>
        </p:nvSpPr>
        <p:spPr>
          <a:xfrm>
            <a:off x="6334049" y="3989527"/>
            <a:ext cx="5095951" cy="2276856"/>
          </a:xfrm>
          <a:prstGeom prst="roundRect">
            <a:avLst>
              <a:gd name="adj" fmla="val 1344"/>
            </a:avLst>
          </a:prstGeom>
          <a:solidFill>
            <a:srgbClr val="00BBF0">
              <a:alpha val="5000"/>
            </a:srgbClr>
          </a:solidFill>
          <a:ln w="127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581851" y="4277563"/>
            <a:ext cx="171907" cy="171907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6829654" y="4237330"/>
            <a:ext cx="7836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퀴즈</a:t>
            </a:r>
            <a:endParaRPr lang="en-US" sz="1300" dirty="0"/>
          </a:p>
        </p:txBody>
      </p:sp>
      <p:sp>
        <p:nvSpPr>
          <p:cNvPr id="37" name="Text 24"/>
          <p:cNvSpPr txBox="1"/>
          <p:nvPr/>
        </p:nvSpPr>
        <p:spPr>
          <a:xfrm>
            <a:off x="6581851" y="4669841"/>
            <a:ext cx="455554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Q. '비교' 과제에서 이것이 빠지면 단순 나열이 되어 감점됩니다. </a:t>
            </a:r>
          </a:p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무엇일까요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300" dirty="0"/>
          </a:p>
        </p:txBody>
      </p:sp>
      <p:sp>
        <p:nvSpPr>
          <p:cNvPr id="38" name="Shape 25"/>
          <p:cNvSpPr/>
          <p:nvPr/>
        </p:nvSpPr>
        <p:spPr>
          <a:xfrm>
            <a:off x="6581851" y="5291633"/>
            <a:ext cx="4600346" cy="724205"/>
          </a:xfrm>
          <a:prstGeom prst="rect">
            <a:avLst/>
          </a:prstGeom>
          <a:solidFill>
            <a:srgbClr val="00204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6"/>
          <p:cNvSpPr/>
          <p:nvPr/>
        </p:nvSpPr>
        <p:spPr>
          <a:xfrm>
            <a:off x="6581851" y="5291633"/>
            <a:ext cx="38405" cy="7242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1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762902" y="5472684"/>
            <a:ext cx="142646" cy="142646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7019849" y="5434279"/>
            <a:ext cx="4233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정답:</a:t>
            </a:r>
            <a:endParaRPr lang="en-US" sz="1100" dirty="0"/>
          </a:p>
        </p:txBody>
      </p:sp>
      <p:sp>
        <p:nvSpPr>
          <p:cNvPr id="42" name="Text 28"/>
          <p:cNvSpPr txBox="1"/>
          <p:nvPr/>
        </p:nvSpPr>
        <p:spPr>
          <a:xfrm>
            <a:off x="7326173" y="5434279"/>
            <a:ext cx="7854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'비교 기준'</a:t>
            </a:r>
            <a:endParaRPr lang="en-US" sz="1100" dirty="0"/>
          </a:p>
        </p:txBody>
      </p:sp>
      <p:sp>
        <p:nvSpPr>
          <p:cNvPr id="43" name="Text 29"/>
          <p:cNvSpPr txBox="1"/>
          <p:nvPr/>
        </p:nvSpPr>
        <p:spPr>
          <a:xfrm>
            <a:off x="7993685" y="5434279"/>
            <a:ext cx="7086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(Criteria)</a:t>
            </a:r>
            <a:endParaRPr lang="en-US" sz="1100" dirty="0"/>
          </a:p>
        </p:txBody>
      </p:sp>
      <p:sp>
        <p:nvSpPr>
          <p:cNvPr id="44" name="Text 30"/>
          <p:cNvSpPr txBox="1"/>
          <p:nvPr/>
        </p:nvSpPr>
        <p:spPr>
          <a:xfrm>
            <a:off x="7019849" y="5651906"/>
            <a:ext cx="35003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기준이 없으면 분석이 아닌 단순 정보 나열에 불과합니다.</a:t>
            </a:r>
            <a:endParaRPr lang="en-US" sz="11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62356"/>
            <a:ext cx="49917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주제 좁히기 5W1H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133"/>
            <a:ext cx="54105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광범위한 주제를 6가지 질문으로 구체화해 나만의 주제로 만드세요.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1796796"/>
            <a:ext cx="3429000" cy="1923898"/>
          </a:xfrm>
          <a:prstGeom prst="roundRect">
            <a:avLst>
              <a:gd name="adj" fmla="val 188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00035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0354" y="2064715"/>
            <a:ext cx="237744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2398" y="2034540"/>
            <a:ext cx="14886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(누가/누구를)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000354" y="2562149"/>
            <a:ext cx="3232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대상이나 주체를 구체적으로 한정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00354" y="2891333"/>
            <a:ext cx="26179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'대학생' → '수도권 4년제 대학 1학년'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81805" y="1796796"/>
            <a:ext cx="3429000" cy="1923898"/>
          </a:xfrm>
          <a:prstGeom prst="roundRect">
            <a:avLst>
              <a:gd name="adj" fmla="val 188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619549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9549" y="2064715"/>
            <a:ext cx="190195" cy="1901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924044" y="2034540"/>
            <a:ext cx="11740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What (무엇을)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619549" y="2562149"/>
            <a:ext cx="2965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현상이나 변수를 다룰 것인가?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619549" y="2891333"/>
            <a:ext cx="301843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'수면 문제' → '평일 수면 시간과 과제 제출률의 상관관계'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01000" y="1796796"/>
            <a:ext cx="3429000" cy="1923898"/>
          </a:xfrm>
          <a:prstGeom prst="roundRect">
            <a:avLst>
              <a:gd name="adj" fmla="val 188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23874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1648" r="-1648"/>
          <a:stretch/>
        </p:blipFill>
        <p:spPr>
          <a:xfrm>
            <a:off x="8238744" y="2064715"/>
            <a:ext cx="171907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24951" y="2034540"/>
            <a:ext cx="14310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When (언제/기간)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238744" y="2562149"/>
            <a:ext cx="2467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분석할 시점이나 기간을 제한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238744" y="2891333"/>
            <a:ext cx="23801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'최근' → '2025년 1학기 시험 기간'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761695" y="3906317"/>
            <a:ext cx="3429000" cy="1705356"/>
          </a:xfrm>
          <a:prstGeom prst="roundRect">
            <a:avLst>
              <a:gd name="adj" fmla="val 239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6" name="Shape 21"/>
          <p:cNvSpPr/>
          <p:nvPr/>
        </p:nvSpPr>
        <p:spPr>
          <a:xfrm>
            <a:off x="1000354" y="4516222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00354" y="4175150"/>
            <a:ext cx="142646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257300" y="4144061"/>
            <a:ext cx="16404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Where (어디서/맥락)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000354" y="4672584"/>
            <a:ext cx="2698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지리적 범위나 공간적 배경 설정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1000354" y="5001768"/>
            <a:ext cx="2303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'전국' → '기숙사에 사는 학생'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381805" y="3906317"/>
            <a:ext cx="3429000" cy="1705356"/>
          </a:xfrm>
          <a:prstGeom prst="roundRect">
            <a:avLst>
              <a:gd name="adj" fmla="val 239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2" name="Shape 26"/>
          <p:cNvSpPr/>
          <p:nvPr/>
        </p:nvSpPr>
        <p:spPr>
          <a:xfrm>
            <a:off x="4619549" y="4516222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19549" y="4175150"/>
            <a:ext cx="190195" cy="19019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4924044" y="4144061"/>
            <a:ext cx="11740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(왜/의의)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4619549" y="4672584"/>
            <a:ext cx="3111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주제가 왜 중요한지 문제의식 서술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4619549" y="5001768"/>
            <a:ext cx="24368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'학사 운영 개선의 근거를 찾기 위해'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8001000" y="3906317"/>
            <a:ext cx="3429000" cy="1705356"/>
          </a:xfrm>
          <a:prstGeom prst="roundRect">
            <a:avLst>
              <a:gd name="adj" fmla="val 239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Shape 31"/>
          <p:cNvSpPr/>
          <p:nvPr/>
        </p:nvSpPr>
        <p:spPr>
          <a:xfrm>
            <a:off x="8238744" y="4516222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38744" y="4175150"/>
            <a:ext cx="190195" cy="190195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544154" y="4144061"/>
            <a:ext cx="14977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(어떻게/방법)</a:t>
            </a:r>
            <a:endParaRPr lang="en-US" sz="1400" dirty="0"/>
          </a:p>
        </p:txBody>
      </p:sp>
      <p:sp>
        <p:nvSpPr>
          <p:cNvPr id="41" name="Text 33"/>
          <p:cNvSpPr txBox="1"/>
          <p:nvPr/>
        </p:nvSpPr>
        <p:spPr>
          <a:xfrm>
            <a:off x="8238744" y="4672584"/>
            <a:ext cx="2965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방법과 자료로 접근할 것인가?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8238744" y="5001768"/>
            <a:ext cx="27230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'수면 기록 앱 자료와 설문 비교'</a:t>
            </a:r>
            <a:endParaRPr lang="en-US" sz="1100" dirty="0"/>
          </a:p>
        </p:txBody>
      </p:sp>
      <p:sp>
        <p:nvSpPr>
          <p:cNvPr id="43" name="Shape 35"/>
          <p:cNvSpPr/>
          <p:nvPr/>
        </p:nvSpPr>
        <p:spPr>
          <a:xfrm>
            <a:off x="761695" y="5892394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761695" y="5892394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rcRect l="-57" r="-57"/>
          <a:stretch/>
        </p:blipFill>
        <p:spPr>
          <a:xfrm>
            <a:off x="1028700" y="6056071"/>
            <a:ext cx="200254" cy="2286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1380744" y="6044184"/>
            <a:ext cx="52504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주제를 위 6가지 질문에 맞춰 한 줄씩 적어보세요.</a:t>
            </a:r>
            <a:endParaRPr lang="en-US" sz="13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80644"/>
            <a:ext cx="57918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품질 체크 (Quality Check)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181405"/>
            <a:ext cx="51937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약한 문장은 '사실'만 나열하고, 강한 논제는 '주장'과 '범위'가 명확합니다.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1695" y="2208933"/>
            <a:ext cx="5095951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528" r="-1528"/>
          <a:stretch/>
        </p:blipFill>
        <p:spPr>
          <a:xfrm>
            <a:off x="761695" y="1836772"/>
            <a:ext cx="161849" cy="20939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37844" y="1770021"/>
            <a:ext cx="24103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주제문 체크리스트</a:t>
            </a:r>
            <a:endParaRPr lang="en-US" sz="18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2496969"/>
            <a:ext cx="133502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9498" y="2446677"/>
            <a:ext cx="31930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문장에 주장 + 범위 + 조건이 드러나는가?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2874616"/>
            <a:ext cx="133502" cy="152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9498" y="2824324"/>
            <a:ext cx="29077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사실이 아닌 논쟁 가능성이 있는가?</a:t>
            </a:r>
            <a:endParaRPr lang="en-US" sz="13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3252263"/>
            <a:ext cx="133502" cy="15270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09498" y="3201057"/>
            <a:ext cx="33549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과제의 핵심 동사(분석/제안 등)와 일치하는가?</a:t>
            </a:r>
            <a:endParaRPr lang="en-US" sz="13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3629911"/>
            <a:ext cx="133502" cy="15270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09498" y="3578704"/>
            <a:ext cx="23545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자료와 방법으로 검증 가능한가?</a:t>
            </a:r>
            <a:endParaRPr lang="en-US" sz="13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4007558"/>
            <a:ext cx="133502" cy="152705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09498" y="3956351"/>
            <a:ext cx="24213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과도한 포괄/모호 표현이 없는가?</a:t>
            </a:r>
            <a:endParaRPr lang="en-US" sz="1300" dirty="0"/>
          </a:p>
        </p:txBody>
      </p:sp>
      <p:sp>
        <p:nvSpPr>
          <p:cNvPr id="20" name="Shape 12"/>
          <p:cNvSpPr/>
          <p:nvPr/>
        </p:nvSpPr>
        <p:spPr>
          <a:xfrm>
            <a:off x="761695" y="4486703"/>
            <a:ext cx="5095951" cy="1657807"/>
          </a:xfrm>
          <a:prstGeom prst="roundRect">
            <a:avLst>
              <a:gd name="adj" fmla="val 2536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5"/>
          <a:srcRect t="-2725" b="-2725"/>
          <a:stretch/>
        </p:blipFill>
        <p:spPr>
          <a:xfrm>
            <a:off x="961949" y="4726276"/>
            <a:ext cx="142646" cy="171907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1405" y="4686957"/>
            <a:ext cx="24789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피해야 할 위험 신호 (Red Flags)</a:t>
            </a:r>
            <a:endParaRPr lang="en-US" sz="1300" dirty="0"/>
          </a:p>
        </p:txBody>
      </p:sp>
      <p:sp>
        <p:nvSpPr>
          <p:cNvPr id="23" name="Shape 14"/>
          <p:cNvSpPr/>
          <p:nvPr/>
        </p:nvSpPr>
        <p:spPr>
          <a:xfrm>
            <a:off x="961949" y="5081063"/>
            <a:ext cx="1505102" cy="866851"/>
          </a:xfrm>
          <a:prstGeom prst="roundRect">
            <a:avLst>
              <a:gd name="adj" fmla="val 695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6"/>
          <a:srcRect l="-505" r="-505"/>
          <a:stretch/>
        </p:blipFill>
        <p:spPr>
          <a:xfrm>
            <a:off x="1598371" y="5176161"/>
            <a:ext cx="228600" cy="181051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378001" y="5433107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모호한 단어</a:t>
            </a:r>
            <a:endParaRPr lang="en-US" sz="1000" dirty="0"/>
          </a:p>
        </p:txBody>
      </p:sp>
      <p:sp>
        <p:nvSpPr>
          <p:cNvPr id="26" name="Text 16"/>
          <p:cNvSpPr txBox="1"/>
          <p:nvPr/>
        </p:nvSpPr>
        <p:spPr>
          <a:xfrm>
            <a:off x="1186891" y="5639762"/>
            <a:ext cx="1160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(심각하다, 나쁘다)</a:t>
            </a:r>
            <a:endParaRPr lang="en-US" sz="1000" dirty="0"/>
          </a:p>
        </p:txBody>
      </p:sp>
      <p:sp>
        <p:nvSpPr>
          <p:cNvPr id="27" name="Shape 17"/>
          <p:cNvSpPr/>
          <p:nvPr/>
        </p:nvSpPr>
        <p:spPr>
          <a:xfrm>
            <a:off x="2559406" y="5081063"/>
            <a:ext cx="1505102" cy="866851"/>
          </a:xfrm>
          <a:prstGeom prst="roundRect">
            <a:avLst>
              <a:gd name="adj" fmla="val 695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219602" y="5176161"/>
            <a:ext cx="181051" cy="181051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2893162" y="5433107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너무 넓은 범위</a:t>
            </a:r>
            <a:endParaRPr lang="en-US" sz="1000" dirty="0"/>
          </a:p>
        </p:txBody>
      </p:sp>
      <p:sp>
        <p:nvSpPr>
          <p:cNvPr id="30" name="Text 19"/>
          <p:cNvSpPr txBox="1"/>
          <p:nvPr/>
        </p:nvSpPr>
        <p:spPr>
          <a:xfrm>
            <a:off x="2827325" y="5639762"/>
            <a:ext cx="10744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 세계, 역사상)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4155948" y="5081063"/>
            <a:ext cx="1505102" cy="866851"/>
          </a:xfrm>
          <a:prstGeom prst="roundRect">
            <a:avLst>
              <a:gd name="adj" fmla="val 695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816145" y="5176161"/>
            <a:ext cx="181051" cy="181051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4489704" y="5433107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 나열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4400093" y="5639762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(현황을 조사했다)</a:t>
            </a:r>
            <a:endParaRPr lang="en-US" sz="1000" dirty="0"/>
          </a:p>
        </p:txBody>
      </p:sp>
      <p:sp>
        <p:nvSpPr>
          <p:cNvPr id="35" name="Shape 23"/>
          <p:cNvSpPr/>
          <p:nvPr/>
        </p:nvSpPr>
        <p:spPr>
          <a:xfrm>
            <a:off x="6334049" y="1770021"/>
            <a:ext cx="5095951" cy="1772107"/>
          </a:xfrm>
          <a:prstGeom prst="roundRect">
            <a:avLst>
              <a:gd name="adj" fmla="val 22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4"/>
          <p:cNvSpPr/>
          <p:nvPr/>
        </p:nvSpPr>
        <p:spPr>
          <a:xfrm>
            <a:off x="6581851" y="2017823"/>
            <a:ext cx="1352398" cy="286207"/>
          </a:xfrm>
          <a:prstGeom prst="roundRect">
            <a:avLst>
              <a:gd name="adj" fmla="val 42599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5"/>
          <p:cNvSpPr txBox="1"/>
          <p:nvPr/>
        </p:nvSpPr>
        <p:spPr>
          <a:xfrm>
            <a:off x="6676949" y="2056228"/>
            <a:ext cx="12655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WEAK (약한 문장)</a:t>
            </a:r>
            <a:endParaRPr lang="en-US" sz="1000" dirty="0"/>
          </a:p>
        </p:txBody>
      </p:sp>
      <p:sp>
        <p:nvSpPr>
          <p:cNvPr id="38" name="Text 26"/>
          <p:cNvSpPr txBox="1"/>
          <p:nvPr/>
        </p:nvSpPr>
        <p:spPr>
          <a:xfrm>
            <a:off x="6581851" y="2500090"/>
            <a:ext cx="27267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수면 부족은 요즘 매우 심각한 문제다.</a:t>
            </a:r>
            <a:endParaRPr lang="en-US" sz="1300" dirty="0"/>
          </a:p>
        </p:txBody>
      </p:sp>
      <p:sp>
        <p:nvSpPr>
          <p:cNvPr id="39" name="Shape 27"/>
          <p:cNvSpPr/>
          <p:nvPr/>
        </p:nvSpPr>
        <p:spPr>
          <a:xfrm>
            <a:off x="6581851" y="2979772"/>
            <a:ext cx="4600346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581851" y="3130648"/>
            <a:ext cx="133502" cy="133502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6752844" y="3084928"/>
            <a:ext cx="2265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 진술, '심각하다'는 주관적임</a:t>
            </a:r>
            <a:endParaRPr lang="en-US" sz="1000" dirty="0"/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10"/>
          <a:srcRect l="-133" r="-133"/>
          <a:stretch/>
        </p:blipFill>
        <p:spPr>
          <a:xfrm>
            <a:off x="8796528" y="3633568"/>
            <a:ext cx="171907" cy="228600"/>
          </a:xfrm>
          <a:prstGeom prst="rect">
            <a:avLst/>
          </a:prstGeom>
        </p:spPr>
      </p:pic>
      <p:sp>
        <p:nvSpPr>
          <p:cNvPr id="43" name="Shape 29"/>
          <p:cNvSpPr/>
          <p:nvPr/>
        </p:nvSpPr>
        <p:spPr>
          <a:xfrm>
            <a:off x="6334049" y="3926398"/>
            <a:ext cx="5095951" cy="2029054"/>
          </a:xfrm>
          <a:prstGeom prst="roundRect">
            <a:avLst>
              <a:gd name="adj" fmla="val 169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0"/>
          <p:cNvSpPr/>
          <p:nvPr/>
        </p:nvSpPr>
        <p:spPr>
          <a:xfrm>
            <a:off x="6581851" y="4205068"/>
            <a:ext cx="1543507" cy="286207"/>
          </a:xfrm>
          <a:prstGeom prst="roundRect">
            <a:avLst>
              <a:gd name="adj" fmla="val 42599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1"/>
          <p:cNvSpPr txBox="1"/>
          <p:nvPr/>
        </p:nvSpPr>
        <p:spPr>
          <a:xfrm>
            <a:off x="6676949" y="4242559"/>
            <a:ext cx="14557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STRONG (강한 논제)</a:t>
            </a:r>
            <a:endParaRPr lang="en-US" sz="1000" dirty="0"/>
          </a:p>
        </p:txBody>
      </p:sp>
      <p:sp>
        <p:nvSpPr>
          <p:cNvPr id="46" name="Text 32"/>
          <p:cNvSpPr txBox="1"/>
          <p:nvPr/>
        </p:nvSpPr>
        <p:spPr>
          <a:xfrm>
            <a:off x="6553046" y="4694746"/>
            <a:ext cx="472455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수면 부족을 줄이려면 과제·시험 마감을 분산하는 학사 운영 개선이 필요하다.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6581851" y="5418477"/>
            <a:ext cx="4600346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581851" y="5569353"/>
            <a:ext cx="133502" cy="133502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52844" y="5523633"/>
            <a:ext cx="2265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해결책(주장)과 방향성(조건)이 명확함</a:t>
            </a:r>
            <a:endParaRPr lang="en-US" sz="1000" dirty="0"/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72301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평가 간이 프레임 (CRAAP Lite)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4101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정보의 홍수 속에서 '진짜 근거'를 가려내는 4가지 필터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974543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517343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441448"/>
            <a:ext cx="17437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4대 평가 기준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3317443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6249" y="3269894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최신성 (Currency)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6249" y="3498494"/>
            <a:ext cx="3610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정보인가? (통계/IT는 3년, 인문은 10년 이내 권장)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4013302"/>
            <a:ext cx="171907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76249" y="3964838"/>
            <a:ext cx="1209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권위 (Authority)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76249" y="4193438"/>
            <a:ext cx="3333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저자와 기관의 전문성이 입증되었는가? (소속/자격)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4708246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249" y="4660697"/>
            <a:ext cx="11814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(Accuracy)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249" y="4889297"/>
            <a:ext cx="3591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 뒷받침하는 데이터와 참고문헌이 명시되었는가?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5403190"/>
            <a:ext cx="171907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76249" y="5355641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 (Purpose)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76249" y="5584241"/>
            <a:ext cx="3296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객관적 사실 전달인가, 특정 이익을 위한 홍보인가?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372100" y="2187245"/>
            <a:ext cx="6057900" cy="3010205"/>
          </a:xfrm>
          <a:prstGeom prst="roundRect">
            <a:avLst>
              <a:gd name="adj" fmla="val 38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rcRect l="-6738" r="-6738"/>
          <a:stretch/>
        </p:blipFill>
        <p:spPr>
          <a:xfrm>
            <a:off x="5619902" y="2475281"/>
            <a:ext cx="219456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15254" y="2435047"/>
            <a:ext cx="22219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신뢰도 간이 점수표 (0~2점)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619902" y="3563417"/>
            <a:ext cx="5562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5715000" y="3104388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0점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6476695" y="2991917"/>
            <a:ext cx="18864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블로그 · 익명 커뮤니티</a:t>
            </a:r>
            <a:endParaRPr lang="en-US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6476695" y="3238805"/>
            <a:ext cx="21607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검증되지 않은 개인 의견 (사용 지양)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5619902" y="4250131"/>
            <a:ext cx="5562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5715000" y="3795674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1점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6476695" y="3683203"/>
            <a:ext cx="1457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뉴스 기사 · 칼럼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6476695" y="3931006"/>
            <a:ext cx="21040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 가공 정보 (보조 근거로만 활용)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5715000" y="4486961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2점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6476695" y="4374490"/>
            <a:ext cx="2019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통계 · 기관 보고서 · 논문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6476695" y="4622292"/>
            <a:ext cx="22366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전문가가 검증한 1차 자료 (핵심 근거)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5372100" y="5523890"/>
            <a:ext cx="6057900" cy="533095"/>
          </a:xfrm>
          <a:prstGeom prst="roundRect">
            <a:avLst>
              <a:gd name="adj" fmla="val 1225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526987" y="5714086"/>
            <a:ext cx="152705" cy="152705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793078" y="5675681"/>
            <a:ext cx="3600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주장은 반드시 '총점 6점 이상' 자료로 입증하세요. (점수표·6점 기준은 본 자료의 제안)</a:t>
            </a:r>
            <a:endParaRPr lang="en-US" sz="1200" dirty="0"/>
          </a:p>
        </p:txBody>
      </p:sp>
      <p:sp>
        <p:nvSpPr>
          <p:cNvPr id="39" name="Stage3 Note"/>
          <p:cNvSpPr txBox="1"/>
          <p:nvPr/>
        </p:nvSpPr>
        <p:spPr>
          <a:xfrm>
            <a:off x="571500" y="6300000"/>
            <a:ext cx="11049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CRAAP 테스트의 다섯 기준 중 관련성(Relevance)을 뺀 4개를 추린 간이판이다.  Blakeslee, S. (2004). The CRAAP test. LOEX Quarterly, 31(3), 4. https://commons.emich.edu/loexquarterly/vol31/iss3/4</a:t>
            </a:r>
          </a:p>
        </p:txBody>
      </p: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1627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서지카드/노트테이킹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82269" y="1555394"/>
            <a:ext cx="60295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효율적인 자료 </a:t>
            </a:r>
            <a:r>
              <a:rPr lang="en-US" sz="15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정리를</a:t>
            </a: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위해</a:t>
            </a:r>
            <a:endParaRPr lang="en-US" sz="15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'서지 정보'와 '핵심 내용'을 한 곳에 기록하세요.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330245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87213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796235"/>
            <a:ext cx="31153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기록 항목 (8 Fields)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61695" y="362468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61695" y="362468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25988" r="-25988"/>
          <a:stretch/>
        </p:blipFill>
        <p:spPr>
          <a:xfrm>
            <a:off x="942746" y="3779215"/>
            <a:ext cx="228600" cy="17190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5646" y="3738982"/>
            <a:ext cx="11832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 (Author)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2876702" y="362468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2876702" y="362468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25988" r="-25988"/>
          <a:stretch/>
        </p:blipFill>
        <p:spPr>
          <a:xfrm>
            <a:off x="3057754" y="3779215"/>
            <a:ext cx="228600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400654" y="3738982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발행 연도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61695" y="4295851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761695" y="4295851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25988" r="-25988"/>
          <a:stretch/>
        </p:blipFill>
        <p:spPr>
          <a:xfrm>
            <a:off x="942746" y="4449470"/>
            <a:ext cx="228600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5646" y="4410151"/>
            <a:ext cx="10122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논문/책 제목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2876702" y="4295851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2876702" y="4295851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rcRect l="-25988" r="-25988"/>
          <a:stretch/>
        </p:blipFill>
        <p:spPr>
          <a:xfrm>
            <a:off x="3057754" y="4449470"/>
            <a:ext cx="228600" cy="171907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400654" y="4410151"/>
            <a:ext cx="10789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(저널명)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761695" y="4966106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761695" y="4966106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rcRect l="-38653" r="-38653"/>
          <a:stretch/>
        </p:blipFill>
        <p:spPr>
          <a:xfrm>
            <a:off x="942746" y="5120640"/>
            <a:ext cx="228600" cy="17190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85646" y="5080406"/>
            <a:ext cx="10789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(쪽수)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2876702" y="4966106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2876702" y="4966106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rcRect l="-3192" r="-3192"/>
          <a:stretch/>
        </p:blipFill>
        <p:spPr>
          <a:xfrm>
            <a:off x="3057754" y="5120640"/>
            <a:ext cx="228600" cy="171907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3400654" y="5080406"/>
            <a:ext cx="9262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DOI / URL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761695" y="563636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/>
          <p:cNvSpPr/>
          <p:nvPr/>
        </p:nvSpPr>
        <p:spPr>
          <a:xfrm>
            <a:off x="761695" y="563636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rcRect l="-38653" r="-38653"/>
          <a:stretch/>
        </p:blipFill>
        <p:spPr>
          <a:xfrm>
            <a:off x="942746" y="5790895"/>
            <a:ext cx="228600" cy="171907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285646" y="5750662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요지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2876702" y="563636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9"/>
          <p:cNvSpPr/>
          <p:nvPr/>
        </p:nvSpPr>
        <p:spPr>
          <a:xfrm>
            <a:off x="2876702" y="563636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11"/>
          <a:srcRect l="-16489" r="-16489"/>
          <a:stretch/>
        </p:blipFill>
        <p:spPr>
          <a:xfrm>
            <a:off x="3057754" y="5790895"/>
            <a:ext cx="228600" cy="171907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3400654" y="5750662"/>
            <a:ext cx="5925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5467197" y="1455724"/>
            <a:ext cx="6057900" cy="4990795"/>
          </a:xfrm>
          <a:prstGeom prst="roundRect">
            <a:avLst>
              <a:gd name="adj" fmla="val 280"/>
            </a:avLst>
          </a:prstGeom>
          <a:solidFill>
            <a:srgbClr val="FFFFFF"/>
          </a:solidFill>
          <a:ln/>
          <a:effectLst>
            <a:outerShdw blurRad="2413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2"/>
          <p:cNvSpPr/>
          <p:nvPr/>
        </p:nvSpPr>
        <p:spPr>
          <a:xfrm>
            <a:off x="5753404" y="2169870"/>
            <a:ext cx="5486400" cy="1920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 r:embed="rId12"/>
          <a:srcRect l="-1648" r="-1648"/>
          <a:stretch/>
        </p:blipFill>
        <p:spPr>
          <a:xfrm>
            <a:off x="5753404" y="1788565"/>
            <a:ext cx="171907" cy="190195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6000292" y="1741017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서지카드 작성 예시</a:t>
            </a:r>
            <a:endParaRPr lang="en-US" sz="1500" dirty="0"/>
          </a:p>
        </p:txBody>
      </p:sp>
      <p:sp>
        <p:nvSpPr>
          <p:cNvPr id="46" name="Shape 34"/>
          <p:cNvSpPr/>
          <p:nvPr/>
        </p:nvSpPr>
        <p:spPr>
          <a:xfrm>
            <a:off x="10489996" y="1754733"/>
            <a:ext cx="752551" cy="267005"/>
          </a:xfrm>
          <a:prstGeom prst="roundRect">
            <a:avLst>
              <a:gd name="adj" fmla="val 48924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5"/>
          <p:cNvSpPr txBox="1"/>
          <p:nvPr/>
        </p:nvSpPr>
        <p:spPr>
          <a:xfrm>
            <a:off x="10585094" y="1792223"/>
            <a:ext cx="65379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</a:t>
            </a:r>
            <a:endParaRPr lang="en-US" sz="900" dirty="0"/>
          </a:p>
        </p:txBody>
      </p:sp>
      <p:sp>
        <p:nvSpPr>
          <p:cNvPr id="48" name="Shape 36"/>
          <p:cNvSpPr/>
          <p:nvPr/>
        </p:nvSpPr>
        <p:spPr>
          <a:xfrm>
            <a:off x="5753404" y="2379268"/>
            <a:ext cx="5486400" cy="828446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7"/>
          <p:cNvSpPr/>
          <p:nvPr/>
        </p:nvSpPr>
        <p:spPr>
          <a:xfrm>
            <a:off x="5753404" y="2379268"/>
            <a:ext cx="38405" cy="82844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8"/>
          <p:cNvSpPr txBox="1"/>
          <p:nvPr/>
        </p:nvSpPr>
        <p:spPr>
          <a:xfrm>
            <a:off x="5933541" y="2560319"/>
            <a:ext cx="527883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김가람 (2024). "대학생의 수면 시간과 학업 성취: 수도권 사례를 중심으로."</a:t>
            </a:r>
            <a:endParaRPr lang="en-US" sz="1300" dirty="0"/>
          </a:p>
        </p:txBody>
      </p:sp>
      <p:sp>
        <p:nvSpPr>
          <p:cNvPr id="51" name="Text 39"/>
          <p:cNvSpPr txBox="1"/>
          <p:nvPr/>
        </p:nvSpPr>
        <p:spPr>
          <a:xfrm>
            <a:off x="6211519" y="2828238"/>
            <a:ext cx="11356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대학생활연구</a:t>
            </a:r>
            <a:endParaRPr lang="en-US" sz="1300" dirty="0"/>
          </a:p>
        </p:txBody>
      </p:sp>
      <p:sp>
        <p:nvSpPr>
          <p:cNvPr id="52" name="Text 40"/>
          <p:cNvSpPr txBox="1"/>
          <p:nvPr/>
        </p:nvSpPr>
        <p:spPr>
          <a:xfrm>
            <a:off x="7217359" y="2828238"/>
            <a:ext cx="34692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31(2), 45-67. https://doi.org/10.xxxx/kaj.yyyy</a:t>
            </a:r>
            <a:endParaRPr lang="en-US" sz="1300" dirty="0"/>
          </a:p>
        </p:txBody>
      </p:sp>
      <p:sp>
        <p:nvSpPr>
          <p:cNvPr id="53" name="Shape 41"/>
          <p:cNvSpPr/>
          <p:nvPr/>
        </p:nvSpPr>
        <p:spPr>
          <a:xfrm>
            <a:off x="5753404" y="3391509"/>
            <a:ext cx="5486400" cy="905256"/>
          </a:xfrm>
          <a:prstGeom prst="roundRect">
            <a:avLst>
              <a:gd name="adj" fmla="val 638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42"/>
          <p:cNvSpPr txBox="1"/>
          <p:nvPr/>
        </p:nvSpPr>
        <p:spPr>
          <a:xfrm>
            <a:off x="5867704" y="3505809"/>
            <a:ext cx="13926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요지 (SUMMARY)</a:t>
            </a:r>
            <a:endParaRPr lang="en-US" sz="1000" dirty="0"/>
          </a:p>
        </p:txBody>
      </p:sp>
      <p:sp>
        <p:nvSpPr>
          <p:cNvPr id="55" name="Text 43"/>
          <p:cNvSpPr txBox="1"/>
          <p:nvPr/>
        </p:nvSpPr>
        <p:spPr>
          <a:xfrm>
            <a:off x="5867704" y="3738981"/>
            <a:ext cx="53538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 주간에는 평일 수면이 평균 1.2시간 줄었으며, 과제 마감을 분산한 강좌의 수강생은 감소 폭이 절반 수준이었음. (가상의 예시)</a:t>
            </a:r>
            <a:endParaRPr lang="en-US" sz="1200" dirty="0"/>
          </a:p>
        </p:txBody>
      </p:sp>
      <p:sp>
        <p:nvSpPr>
          <p:cNvPr id="56" name="Shape 44"/>
          <p:cNvSpPr/>
          <p:nvPr/>
        </p:nvSpPr>
        <p:spPr>
          <a:xfrm>
            <a:off x="5753404" y="4432096"/>
            <a:ext cx="5486400" cy="905256"/>
          </a:xfrm>
          <a:prstGeom prst="roundRect">
            <a:avLst>
              <a:gd name="adj" fmla="val 6380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5"/>
          <p:cNvSpPr txBox="1"/>
          <p:nvPr/>
        </p:nvSpPr>
        <p:spPr>
          <a:xfrm>
            <a:off x="5867704" y="4546396"/>
            <a:ext cx="1707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A58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(DIRECT QUOTE)</a:t>
            </a:r>
            <a:endParaRPr lang="en-US" sz="1000" dirty="0"/>
          </a:p>
        </p:txBody>
      </p:sp>
      <p:sp>
        <p:nvSpPr>
          <p:cNvPr id="58" name="Text 46"/>
          <p:cNvSpPr txBox="1"/>
          <p:nvPr/>
        </p:nvSpPr>
        <p:spPr>
          <a:xfrm>
            <a:off x="5867704" y="4778653"/>
            <a:ext cx="5334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"수면을 개인의 의지 문제로만 보는 한, 학사 일정이 만드는 수면 부족은 줄어들지 않는다." (p. 52)</a:t>
            </a:r>
            <a:endParaRPr lang="en-US" sz="1200" dirty="0"/>
          </a:p>
        </p:txBody>
      </p:sp>
      <p:sp>
        <p:nvSpPr>
          <p:cNvPr id="59" name="Shape 47"/>
          <p:cNvSpPr/>
          <p:nvPr/>
        </p:nvSpPr>
        <p:spPr>
          <a:xfrm>
            <a:off x="5753404" y="5472683"/>
            <a:ext cx="5486400" cy="685800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Text 48"/>
          <p:cNvSpPr txBox="1"/>
          <p:nvPr/>
        </p:nvSpPr>
        <p:spPr>
          <a:xfrm>
            <a:off x="5867704" y="5586983"/>
            <a:ext cx="13167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(KEYWORDS)</a:t>
            </a:r>
            <a:endParaRPr lang="en-US" sz="1000" dirty="0"/>
          </a:p>
        </p:txBody>
      </p:sp>
      <p:sp>
        <p:nvSpPr>
          <p:cNvPr id="61" name="Text 49"/>
          <p:cNvSpPr txBox="1"/>
          <p:nvPr/>
        </p:nvSpPr>
        <p:spPr>
          <a:xfrm>
            <a:off x="5867704" y="5819241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#수면부족 #학업성취 #학사일정 #시험기간</a:t>
            </a:r>
            <a:endParaRPr lang="en-US" sz="1200" dirty="0"/>
          </a:p>
        </p:txBody>
      </p:sp>
      <p:sp>
        <p:nvSpPr>
          <p:cNvPr id="6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591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→ 문단 매핑: 첫 문장 템플릿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4293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개요의 블록을 실제 문장으로 전환하는 4단계 프로세스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8098" y="2444191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5625389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5625389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842" b="-842"/>
          <a:stretch/>
        </p:blipFill>
        <p:spPr>
          <a:xfrm>
            <a:off x="2891333" y="5817413"/>
            <a:ext cx="190195" cy="17190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3195828" y="5778094"/>
            <a:ext cx="62700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(2분): 내 목차 중 3개 블록을 골라 각 블록의 '첫 문장(두괄식)'을 지금 작성해보세요.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702613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921154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6169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1410005" y="3653942"/>
            <a:ext cx="1305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블록 확인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4053535"/>
            <a:ext cx="204277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설계한 개요의 핵심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블록을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A 원인, B 대안,C 사례</a:t>
            </a:r>
            <a:endParaRPr lang="en-US" sz="11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>
            <a:alphaModFix amt="80000"/>
          </a:blip>
          <a:srcRect l="-50" r="-50"/>
          <a:stretch/>
        </p:blipFill>
        <p:spPr>
          <a:xfrm>
            <a:off x="1816913" y="3196742"/>
            <a:ext cx="342900" cy="304495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3488436" y="2368296"/>
            <a:ext cx="95098" cy="152705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441241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4659782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3500323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4235501" y="3653942"/>
            <a:ext cx="11338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문장 작성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3766414" y="4053535"/>
            <a:ext cx="20327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블록의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</a:t>
            </a:r>
            <a:endParaRPr lang="en-US" sz="11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문장으로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선언하세요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단락은 ...을 주장한다."</a:t>
            </a:r>
            <a:endParaRPr lang="en-US" sz="11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/>
          <a:stretch/>
        </p:blipFill>
        <p:spPr>
          <a:xfrm>
            <a:off x="4574743" y="3196742"/>
            <a:ext cx="304495" cy="304495"/>
          </a:xfrm>
          <a:prstGeom prst="rect">
            <a:avLst/>
          </a:prstGeom>
        </p:spPr>
      </p:pic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6226150" y="2368296"/>
            <a:ext cx="95098" cy="152705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7178954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7397496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6238037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3"/>
          <p:cNvSpPr txBox="1"/>
          <p:nvPr/>
        </p:nvSpPr>
        <p:spPr>
          <a:xfrm>
            <a:off x="7087514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배치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6533388" y="4053535"/>
            <a:ext cx="1976018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 뒷받침할 자료를 순서대로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선행 연구 → 사례</a:t>
            </a:r>
            <a:endParaRPr lang="en-US" sz="11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7">
            <a:alphaModFix amt="80000"/>
          </a:blip>
          <a:srcRect l="-107" r="-107"/>
          <a:stretch/>
        </p:blipFill>
        <p:spPr>
          <a:xfrm>
            <a:off x="7331659" y="3196742"/>
            <a:ext cx="267005" cy="304495"/>
          </a:xfrm>
          <a:prstGeom prst="rect">
            <a:avLst/>
          </a:prstGeom>
        </p:spPr>
      </p:pic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8964778" y="2368296"/>
            <a:ext cx="95098" cy="152705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9917582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10135210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Shape 27"/>
          <p:cNvSpPr/>
          <p:nvPr/>
        </p:nvSpPr>
        <p:spPr>
          <a:xfrm>
            <a:off x="897666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9738360" y="3653942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 삽입</a:t>
            </a:r>
            <a:endParaRPr lang="en-US" sz="1500" dirty="0"/>
          </a:p>
        </p:txBody>
      </p:sp>
      <p:sp>
        <p:nvSpPr>
          <p:cNvPr id="38" name="Text 29"/>
          <p:cNvSpPr txBox="1"/>
          <p:nvPr/>
        </p:nvSpPr>
        <p:spPr>
          <a:xfrm>
            <a:off x="9364370" y="4053535"/>
            <a:ext cx="1794967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간의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관계를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따라서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그러나 / 한편</a:t>
            </a:r>
            <a:endParaRPr lang="en-US" sz="1100" dirty="0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8">
            <a:alphaModFix amt="80000"/>
          </a:blip>
          <a:srcRect l="-90" r="-90"/>
          <a:stretch/>
        </p:blipFill>
        <p:spPr>
          <a:xfrm>
            <a:off x="10012680" y="3196742"/>
            <a:ext cx="381305" cy="304495"/>
          </a:xfrm>
          <a:prstGeom prst="rect">
            <a:avLst/>
          </a:prstGeom>
        </p:spPr>
      </p:pic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5420563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반론–반박 한 줄 템플릿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61695" y="1649578"/>
            <a:ext cx="8725205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61949" y="1735531"/>
            <a:ext cx="84966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공식: 반론 (Opposing View) → 그러나 → 근거 (Evidence) → 따라서 (Rebuttal)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1695" y="2449678"/>
            <a:ext cx="3353105" cy="3258007"/>
          </a:xfrm>
          <a:prstGeom prst="roundRect">
            <a:avLst>
              <a:gd name="adj" fmla="val 3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2449678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76249" y="2764231"/>
            <a:ext cx="533095" cy="53309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1214323" y="2916936"/>
            <a:ext cx="256946" cy="2286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076249" y="3525926"/>
            <a:ext cx="1543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문제 반박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076249" y="4021531"/>
            <a:ext cx="28291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"반론: A 정책 도입은 초기 비용을 과도하게 증가시킨다는 지적이 있다."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76249" y="4661611"/>
            <a:ext cx="2800807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"그러나 최근 연구(2024)에 따르면, 자동화로 인한 장기 유지비용은 오히려 30% 감소하는 것으로 나타났다." (가상의 예시)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419295" y="2449678"/>
            <a:ext cx="3353105" cy="3258007"/>
          </a:xfrm>
          <a:prstGeom prst="roundRect">
            <a:avLst>
              <a:gd name="adj" fmla="val 3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419295" y="2449678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733849" y="2764231"/>
            <a:ext cx="533095" cy="53309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86554" y="2916936"/>
            <a:ext cx="228600" cy="2286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733849" y="3525926"/>
            <a:ext cx="1543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표본 한계 반박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4733849" y="4021531"/>
            <a:ext cx="28291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"반론: 연구 표본이 작아 결과를 일반화하기 어렵다는 비판이 있을 수 있다."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733849" y="4661611"/>
            <a:ext cx="2809951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"하지만 메타분석 결과, 다수의 선행 연구에서도 동일한 상관관계가 일관되게 확인된다."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076895" y="2449678"/>
            <a:ext cx="3353105" cy="3258007"/>
          </a:xfrm>
          <a:prstGeom prst="roundRect">
            <a:avLst>
              <a:gd name="adj" fmla="val 3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8076895" y="2449678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8391449" y="2764231"/>
            <a:ext cx="533095" cy="53309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544154" y="2916936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391449" y="3525926"/>
            <a:ext cx="17529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 불분명 반박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8391449" y="4021531"/>
            <a:ext cx="26865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"반론: 해당 제도의 실질적인 개선 효과가 불분명하다는 의견이 있다."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8391449" y="4661611"/>
            <a:ext cx="2724912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"이에 대해 본 보고서는 KPI 정량 지표 분석을 통해 구체적인 개선 수치를 입증했다."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61695" y="5935370"/>
            <a:ext cx="106683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l="-760" r="-760"/>
          <a:stretch/>
        </p:blipFill>
        <p:spPr>
          <a:xfrm>
            <a:off x="3467405" y="6090818"/>
            <a:ext cx="152705" cy="171907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696005" y="6040526"/>
            <a:ext cx="49295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반론은 공정하게 인정하고, 반박은 확실한 근거 데이터로 대응하세요</a:t>
            </a:r>
            <a:endParaRPr lang="en-US" sz="13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 l="-760" r="-760"/>
          <a:stretch/>
        </p:blipFill>
        <p:spPr>
          <a:xfrm>
            <a:off x="8572500" y="6090818"/>
            <a:ext cx="152705" cy="171907"/>
          </a:xfrm>
          <a:prstGeom prst="rect">
            <a:avLst/>
          </a:prstGeom>
        </p:spPr>
      </p:pic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4038905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문장 템플릿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62865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결론은 본론의 요약과 시사점입니다. 주의: 새로운 정보 도입 금지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3724351"/>
          </a:xfrm>
          <a:prstGeom prst="roundRect">
            <a:avLst>
              <a:gd name="adj" fmla="val 6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oundRect">
            <a:avLst>
              <a:gd name="adj" fmla="val 2380940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57046" y="266913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09751" y="2820924"/>
            <a:ext cx="267005" cy="2670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57046" y="3469234"/>
            <a:ext cx="19056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(Summary)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057046" y="3963924"/>
            <a:ext cx="27148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본론에서 증명한 핵심 논지와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간결하게 재진술합니다.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057046" y="5042916"/>
            <a:ext cx="2762402" cy="761695"/>
          </a:xfrm>
          <a:prstGeom prst="roundRect">
            <a:avLst>
              <a:gd name="adj" fmla="val 9004"/>
            </a:avLst>
          </a:prstGeom>
          <a:solidFill>
            <a:srgbClr val="00204A">
              <a:alpha val="6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Text 11"/>
          <p:cNvSpPr txBox="1"/>
          <p:nvPr/>
        </p:nvSpPr>
        <p:spPr>
          <a:xfrm>
            <a:off x="1218895" y="5204765"/>
            <a:ext cx="255666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"본 보고서는 [주장]을 [핵심 근거 1, 2]를 통해 입증했다."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419295" y="2373782"/>
            <a:ext cx="3353105" cy="3724351"/>
          </a:xfrm>
          <a:prstGeom prst="roundRect">
            <a:avLst>
              <a:gd name="adj" fmla="val 6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419295" y="2373782"/>
            <a:ext cx="3333902" cy="38405"/>
          </a:xfrm>
          <a:prstGeom prst="roundRect">
            <a:avLst>
              <a:gd name="adj" fmla="val 238094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714646" y="266913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00270" y="2820924"/>
            <a:ext cx="200254" cy="26700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714646" y="3469234"/>
            <a:ext cx="22960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 (Implication)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4714646" y="3963924"/>
            <a:ext cx="276240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주장이 해당 분야나 현실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해결에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갖는 의미를 설명합니다.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714646" y="5042916"/>
            <a:ext cx="2762402" cy="761695"/>
          </a:xfrm>
          <a:prstGeom prst="roundRect">
            <a:avLst>
              <a:gd name="adj" fmla="val 9004"/>
            </a:avLst>
          </a:prstGeom>
          <a:solidFill>
            <a:srgbClr val="00204A">
              <a:alpha val="6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Text 18"/>
          <p:cNvSpPr txBox="1"/>
          <p:nvPr/>
        </p:nvSpPr>
        <p:spPr>
          <a:xfrm>
            <a:off x="4876495" y="5204765"/>
            <a:ext cx="242316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"이는 [정책/실무/이론]적 관점에서 [구체적 의미]를 갖는다."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76895" y="2373782"/>
            <a:ext cx="3353105" cy="3724351"/>
          </a:xfrm>
          <a:prstGeom prst="roundRect">
            <a:avLst>
              <a:gd name="adj" fmla="val 6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8076895" y="2373782"/>
            <a:ext cx="3333902" cy="38405"/>
          </a:xfrm>
          <a:prstGeom prst="roundRect">
            <a:avLst>
              <a:gd name="adj" fmla="val 2380940"/>
            </a:avLst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/>
          <p:cNvSpPr/>
          <p:nvPr/>
        </p:nvSpPr>
        <p:spPr>
          <a:xfrm>
            <a:off x="8372246" y="266913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 l="-881" r="-881"/>
          <a:stretch/>
        </p:blipFill>
        <p:spPr>
          <a:xfrm>
            <a:off x="8539582" y="2820924"/>
            <a:ext cx="237744" cy="267005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372246" y="3469234"/>
            <a:ext cx="204825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제언 (Suggestion)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372246" y="3963924"/>
            <a:ext cx="28575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연구의 한계를 밝히거나 미래를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위한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구체적인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행동을 제안합니다.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8372246" y="5042916"/>
            <a:ext cx="2762402" cy="761695"/>
          </a:xfrm>
          <a:prstGeom prst="roundRect">
            <a:avLst>
              <a:gd name="adj" fmla="val 9004"/>
            </a:avLst>
          </a:prstGeom>
          <a:solidFill>
            <a:srgbClr val="00204A">
              <a:alpha val="6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5"/>
          <p:cNvSpPr txBox="1"/>
          <p:nvPr/>
        </p:nvSpPr>
        <p:spPr>
          <a:xfrm>
            <a:off x="8534095" y="5204765"/>
            <a:ext cx="25475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"따라서 [주체]는 향후 [구체적 행동/후속 연구]를 수행할 것을 제안한다."</a:t>
            </a:r>
            <a:endParaRPr lang="en-US" sz="1200" dirty="0"/>
          </a:p>
        </p:txBody>
      </p:sp>
      <p:sp>
        <p:nvSpPr>
          <p:cNvPr id="3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6131</Words>
  <Application>Microsoft Office PowerPoint</Application>
  <PresentationFormat>와이드스크린</PresentationFormat>
  <Paragraphs>952</Paragraphs>
  <Slides>45</Slides>
  <Notes>45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1" baseType="lpstr">
      <vt:lpstr>Noto Sans KR</vt:lpstr>
      <vt:lpstr>ui-monospace</vt:lpstr>
      <vt:lpstr>Arial</vt:lpstr>
      <vt:lpstr>Courier New</vt:lpstr>
      <vt:lpstr>Times New Roman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7</cp:revision>
  <dcterms:created xsi:type="dcterms:W3CDTF">2026-01-19T07:09:49Z</dcterms:created>
  <dcterms:modified xsi:type="dcterms:W3CDTF">2026-01-25T18:44:33Z</dcterms:modified>
</cp:coreProperties>
</file>