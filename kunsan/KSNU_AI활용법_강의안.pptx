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6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6F6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9EA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4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DEE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EED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9EA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snu-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822580" cy="5715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교수 AI 캠프 · 2차 세션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2782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AI 활용법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프롬프트 엔지니어링부터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내 교과목 챗봇까지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6897624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2026. 12. 17.(목) 13:00~15:00 · 강사 이애본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교육혁신처 미래교육과 AX교육지원센터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2026학년도 교수 AI 캠프 · 2차 세션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이 세션의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2시간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프롬프트를 다섯 라벨(역할·자료·과업·형식·조건)로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내 수업계획서를 AI에 넣어 분석표와 개선안을 받는다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한 주차의 활동안·평가 문항·루브릭을 프롬프트로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내 교과목 학습도우미 챗봇을 만들고 시험해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이론은 15분, 나머지는 교수님 본인 교과목으로 실습입니다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캠프 안에서의 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1박 2일 캠프 네 세션 가운데 두 번째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1차 수업 설계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오늘 2교시에 쓰는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수업계획서가 여기서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27348B"/>
          </a:solidFill>
          <a:ln w="9525">
            <a:solidFill>
              <a:srgbClr val="27348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2차 AI 도구 활용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프롬프트 엔지니어링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챗봇 만들기 — 오늘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3차 자료 제작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오늘 만든 챗봇·안내문이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재료가 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4차 교수법 적용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수업에 어떻게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녹일 것인가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오늘의 진행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2시간 구성 — 1부 프롬프트 · 2부 챗봇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1562100" cy="59055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1562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2781300"/>
            <a:ext cx="6682740" cy="59055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산출물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13:00~13:15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3448050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8610" y="3448050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344805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8810" y="344805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오리엔테이션 · 프롬프트 기본기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0" y="344805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9650" y="344805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13:15~13:35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4143375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8610" y="4143375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14337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14337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내 수업계획서로 프롬프트 실습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14337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14337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① 수업계획서 분석·개선안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13:35~13:55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4838700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4838700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23560" y="483870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8810" y="483870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수업 활동·평가 문항 만들기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0" y="483870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39650" y="483870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② 주차 활동안 · 평가 문항 세트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13:55~14:05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23360" y="5534025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8610" y="5534025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23560" y="553402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18810" y="553402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휴식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344400" y="553402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439650" y="553402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14:05~14:35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23360" y="6229350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8610" y="6229350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23560" y="622935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18810" y="622935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내 교과목 챗봇 만들기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344400" y="622935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439650" y="622935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③ 교과목 학습도우미 챗봇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14:35~15:00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23360" y="6924675"/>
            <a:ext cx="156210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8610" y="6924675"/>
            <a:ext cx="1371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23560" y="692467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18810" y="692467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챗봇 점검 · 학생 안내문 · 정리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344400" y="692467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439650" y="692467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④ 챗봇 학생 안내문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모든 프롬프트는 학습사이트 kunsan.dreamitbiz.com 「실습 프롬프트」에서 복사할 수 있습니다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준비물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이 네 가지만 있으면 바로 시작합니다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내 수업계획서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1차 세션 산출물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없으면 예제파일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AI 계정 하나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ChatGPT · Gemini · Claude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파일 업로드 되는 개인 계정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구글 계정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챗봇은 Gemini Gems 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만듭니다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저장 폴더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바탕화면에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「AI캠프_교과목명」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학생 개인정보는 지우고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6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1교시 · 13:00~13:15 · 15분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오리엔테이션 · 프롬프트 기본기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프롬프트는 새로 온 조교에게 건네는 업무 지시서입니다 — 다섯 칸을 채우면 되묻지 않고 일을 시작합니다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프롬프트 구성법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라벨 다섯 종 — [역할] [자료] [과업] [형식] [조건]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[역할]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누구로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일할지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[자료]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무엇을 보고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일할지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[과업]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번호 붙여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무엇을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[형식]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결과가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어떤 모양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[조건]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지킬 것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하지 말 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비어 있는 칸은 AI가 알아서 채웁니다 — 알아서 채운 자리가 결과가 엉뚱해지는 자리입니다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같은 요청, 다른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「분석해 줘」 한 줄과 다섯 라벨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한 줄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매번 다른 답이 나온다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내 수업계획서 좀 분석해 줘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어떤 날은 칭찬만, 어떤 날은 장황한 개선안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무엇이 부족했는지 알 수 없다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다섯 라벨 요청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표 하나가 같은 모양으로 나온다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[역할] 대학 교수설계 전문가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[형식] 표(번호/원문/측정 가능/이유)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[조건] 없는 내용은 "문서에 없음"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대괄호 두 가지 · 초안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AI 답을 그대로 믿지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라벨 다섯 개는 그대로, [교과목명] 같은 대괄호는 내 값으로 바꾸는 빈칸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근거는 문서 안에서 — 결과의 학습성과·주차가 원문에 정말 있는지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숫자는 직접 더해 본다 — 평가 비율 합이 100인지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"문서에 없음"이 한 군데도 없으면 오히려 의심한다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마음에 안 들면 처음부터 다시 말고, 부족한 라벨 한 줄만 덧붙인다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오늘 AI가 만드는 것은 전부 초안 — 최종 편집자는 교수님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2부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챗봇도 프롬프트입니다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매번 말로 시키기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대화마다 프롬프트를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다시 붙여 넣는다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벽에 붙인 안내문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한 번 써 두면 그 뒤로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모든 대화가 따른다 = 지침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27348B"/>
          </a:solidFill>
          <a:ln w="9525">
            <a:solidFill>
              <a:srgbClr val="27348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뼈대는 같다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1부에서 익힌 다섯 라벨이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그대로 챗봇 지침의 뼈대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6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2교시 · 13:15~13:35 · 20분 · 1부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내 수업계획서로 프롬프트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1차 세션에서 다룬 수업계획서를 그대로 AI에 올립니다 — 산출물 ① 수업계획서 분석·개선안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진행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20분 동안 네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2~3교시는 같은 대화창에서 이어서 합니다 — 앞 결과를 AI가 기억해야 다음 프롬프트가 짧아집니다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올리기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새 대화 열고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수업계획서 첨부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분석표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프롬프트 2·1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표 네 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개선안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프롬프트 2·2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빈틈 → 다시 쓰기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문서로 붙여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폴더에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프롬프트 2·1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수업계획서 구조·학습성과·평가·주차 흐름 분석표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핵심 — 표 네 개로 지금 모습을 본다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[역할] 대학 교수설계 전문가 [자료] 첨부한 [교과목명] 수업계획서 [과업] ① 구조 ② 학습성과(측정 가능한 동사인지) ③ 평가–학습성과 대응 ④ 주차 흐름 [형식] 표 4개 + 종합 의견 5줄 [조건] 적힌 것만 근거, 없으면 "문서에 없음"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표 2 행 수 = 학습성과 개수, 표 3 비율 합 =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프롬프트 2·2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정렬 점검 → 빈틈 목록 → 학습성과 다시 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핵심 — 끊어진 곳을 찾고, 측정 가능한 문장으로 고친다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[자료] 앞 결과(표 네 개) [과업] ① 학습성과–주차–평가 정렬 점검(정렬됨·부분·빈틈) ② 빈틈 목록(왜 문제인지·보완 방향) ③ 모호한 학습성과를 측정 가능한 동사로 다시 쓰기 [조건] 학습성과 개수와 번호는 그대로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"이해한다·안다"류 동사가 남아 있지 않은지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결과가 이렇게 나오면 맞습니다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2교시 결과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표가 네 개, 표 2의 행 수가 수업계획서의 학습성과 개수와 같다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몇 군데 "문서에 없음"이 있다 — 정상입니다, 정말 없는 항목이니까요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정렬 점검표에 학습성과가 한 줄씩, 판정은 정렬됨·부분·빈틈 중 하나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빈틈 목록의 주차 번호를 원문에서 실제로 찾을 수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(시간이 남으면) 프롬프트 2·3 — 학생 눈으로 읽은 주차별 부하표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저장: 교과목명_수업계획서분석개선안_20261217.docx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자주 막히는 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2교시에서 막히면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이렇게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파일을 읽을 수 없다고 한다(hwp·스캔 pdf)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4480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9050" y="34480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본문을 복사해 프롬프트 맨 아래에 붙여 넣는다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표 대신 줄글로 길게 답한다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1719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41719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"표 1~4를 표 형식으로 다시 정리해 주세요" 한 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학습성과 개수가 원문과 다르다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8958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8958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"문서에 적힌 대로 [개수]개, 순서 그대로"라고 되묻는다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빈틈이 너무 많이 나온다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56197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9050" y="56197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"수업 운영에 영향이 큰 것 3개만" — 판단은 교수님 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6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3교시 · 13:35~13:55 · 20분 · 1부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수업 활동·평가 문항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한 주차를 골라 학생 활동안과 형성평가 문항·루브릭을 만듭니다 — 산출물 ② 주차 활동안 · 평가 문항 세트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진행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한 주차를 골라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개선안에서 한 주차를 고릅니다 — 가장 자신 있는 주차보다 고치고 싶은 주차가 좋습니다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주차 고르기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[N]주차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[주차 주제]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활동안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프롬프트 3·1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활동 2개·시간 배분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평가 문항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프롬프트 3·2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객관식 5 + 서술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루브릭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프롬프트 3·3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4수준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세 결과를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한 문서로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프롬프트 3·1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한 주차 학생 활동안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핵심 — 도입·전개·정리, 학생 활동 2개, 분 단위 시간표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[자료] 수업계획서 + [N]주차 「[주차 주제]」 [과업] 학습목표 3개(학습성과 번호 대응) · 도입–전개–정리 흐름표(분) · 학생이 직접 하는 활동 2개(지시문·산출물·시간) · 형성 확인 [조건] 시간 합계는 총 수업 분과 같게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흐름표의 분 합계 — AI가 자주 넘깁니다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프롬프트 3·2 · 3·3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형성평가 문항과 루브릭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핵심 — 활동안 내용만으로 풀리는 문항, 같은 기준으로 매기는 루브릭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3·2 [과업] 객관식 5문항 + 서술 2문항, 정답·해설, 대응 학습성과 번호, 학생용 문제지 따로 [조건] 정답 번호는 흩어지게 · 3·3 [과업] 서술형·과제 루브릭 4수준(기준·배점·수준 설명·채점 예시) [조건] "잘함·적절함" 같은 말 금지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교수님이 직접 풀어 보기 · 배점 합이 총점인지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결과 확인 · 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3교시 결과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학습목표 3개가 대응 학습성과 번호와 실제로 이어진다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객관식 5문항을 직접 풀어 보면 활동안 내용만으로 풀린다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학생용 문제지에 정답·해설이 섞여 있지 않다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루브릭 채점 예시를 교수님이 다시 매겨도 같은 점수가 나온다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20분이 모자라면 루브릭(3·3)은 캠프 뒤에 — 프롬프트는 사이트에 그대로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저장: 교과목명_활동안평가문항_03주차_20261217.docx → 13:55~14:05 휴식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6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4교시 · 14:05~14:35 · 30분 · 2부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내 교과목 챗봇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지침 한 장이 전부입니다 — 산출물 ③ 교과목 학습도우미 챗봇(지침 + 지식자료 + 공유 링크)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챗봇이란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새로 온 조교에게 주는 업무 안내문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업무 안내문 = 지침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누구에게, 무엇만, 어떤 말투로,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하지 말 것 — 다섯 라벨 그대로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수업 자료 묶음 = 지식 파일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수업계획서 · 강의안 ·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FAQ 요약본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이름표 = 이름 · 첫 인사말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학생이 처음 보는 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도구는 셋, 하는 일은 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지침을 넣는 자리만 찾으면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3482340" cy="59055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챗봇을 부르는 이름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781300"/>
            <a:ext cx="4122420" cy="59055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지침을 넣는 자리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Gemini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857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Gem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901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「지침」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구글 계정이면 만들 수 있음 (2026.10 기준) — 오늘 기본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ChatGPT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857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GPT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901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「Instructions」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만들기에는 유료 플랜이 필요할 수 있음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Claude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Project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901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「Project instructions」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유료 플랜이 필요할 수 있음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어느 것도 안 될 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0332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9857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새 대화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2376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901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첫 메시지로 붙여 넣기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"이 지침대로 답해 주세요" — 그 대화 안에서는 같은 챗봇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메뉴 이름·요금 정책은 바뀝니다 — 「지침」「Instructions」「지식」「Knowledge」 낱말을 찾으세요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프롬프트 4·1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챗봇 지침(시스템 프롬프트) 작성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핵심 — 아홉 항목을 번호로 못 박고, 평문으로 받는다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[역할] 수업용 AI 챗봇을 설계하는 교수설계 전문가 [자료] [교과목명] 수업계획서 [과업] 학습도우미 챗봇 지침 — 역할·대상·범위·말투·힌트 먼저·자료에 없으면 없다고·대리 작성 거절·답변 형식·첫 인사말 [형식] 코드 블록·표·설명 없이 평문 600자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5번(힌트 먼저)과 7번(대신 써 주지 않기)이 실제로 들어 있는가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지침에 들어가는 아홉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학습도우미와 답안 제조기를 가르는 두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번호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781300"/>
            <a:ext cx="3962400" cy="59055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43700" y="2781300"/>
            <a:ext cx="10401300" cy="59055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3700" y="2781300"/>
            <a:ext cx="10401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562100" cy="519793"/>
          </a:xfrm>
          <a:prstGeom prst="roundRect">
            <a:avLst>
              <a:gd name="adj" fmla="val 7329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371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448050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8450" y="3448050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43700" y="3448050"/>
            <a:ext cx="10401300" cy="519793"/>
          </a:xfrm>
          <a:prstGeom prst="roundRect">
            <a:avLst>
              <a:gd name="adj" fmla="val 7329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8950" y="3448050"/>
            <a:ext cx="10210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챗봇 이름과 정체 — 교수가 아니라 학습도우미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1562100" cy="519793"/>
          </a:xfrm>
          <a:prstGeom prst="roundRect">
            <a:avLst>
              <a:gd name="adj" fmla="val 7329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1371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2·3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044043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8450" y="4044043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대상 · 범위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43700" y="4044043"/>
            <a:ext cx="10401300" cy="519793"/>
          </a:xfrm>
          <a:prstGeom prst="roundRect">
            <a:avLst>
              <a:gd name="adj" fmla="val 7329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8950" y="4044043"/>
            <a:ext cx="10210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이 수업 학생 · 수업계획서와 강의 자료 안에서만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1562100" cy="519793"/>
          </a:xfrm>
          <a:prstGeom prst="roundRect">
            <a:avLst>
              <a:gd name="adj" fmla="val 7329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1371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640036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8450" y="4640036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말투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43700" y="4640036"/>
            <a:ext cx="10401300" cy="519793"/>
          </a:xfrm>
          <a:prstGeom prst="roundRect">
            <a:avLst>
              <a:gd name="adj" fmla="val 7329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8950" y="4640036"/>
            <a:ext cx="10210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존댓말, 한 번에 한 가지, 쉬운 말로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1562100" cy="519793"/>
          </a:xfrm>
          <a:prstGeom prst="roundRect">
            <a:avLst>
              <a:gd name="adj" fmla="val 7329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1371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5236029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8450" y="5236029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답하는 방식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43700" y="5236029"/>
            <a:ext cx="10401300" cy="519793"/>
          </a:xfrm>
          <a:prstGeom prst="roundRect">
            <a:avLst>
              <a:gd name="adj" fmla="val 7329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8950" y="5236029"/>
            <a:ext cx="10210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정답을 바로 주지 않고 힌트 먼저 — 학생이 시도한 뒤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1562100" cy="519793"/>
          </a:xfrm>
          <a:prstGeom prst="roundRect">
            <a:avLst>
              <a:gd name="adj" fmla="val 7329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1371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5832021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8450" y="5832021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모르는 것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43700" y="5832021"/>
            <a:ext cx="10401300" cy="519793"/>
          </a:xfrm>
          <a:prstGeom prst="roundRect">
            <a:avLst>
              <a:gd name="adj" fmla="val 7329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8950" y="5832021"/>
            <a:ext cx="10210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자료에 없으면 "수업 자료에 없음"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1562100" cy="519793"/>
          </a:xfrm>
          <a:prstGeom prst="roundRect">
            <a:avLst>
              <a:gd name="adj" fmla="val 7329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1371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0" y="6428014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38450" y="6428014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하지 않는 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43700" y="6428014"/>
            <a:ext cx="10401300" cy="519793"/>
          </a:xfrm>
          <a:prstGeom prst="roundRect">
            <a:avLst>
              <a:gd name="adj" fmla="val 7329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38950" y="6428014"/>
            <a:ext cx="10210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과제·보고서·시험 답안을 대신 써 주지 않기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1562100" cy="519793"/>
          </a:xfrm>
          <a:prstGeom prst="roundRect">
            <a:avLst>
              <a:gd name="adj" fmla="val 7329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1371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8·9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0" y="7024007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8450" y="7024007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형식 · 첫 인사말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43700" y="7024007"/>
            <a:ext cx="10401300" cy="519793"/>
          </a:xfrm>
          <a:prstGeom prst="roundRect">
            <a:avLst>
              <a:gd name="adj" fmla="val 7329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38950" y="7024007"/>
            <a:ext cx="10210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5문장 이내 · 대화를 여는 두 문장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프롬프트 4·2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챗봇 지식자료 — FAQ 20문답과 핵심 용어 15개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핵심 — 지침이 "어떻게"라면 지식자료는 "무엇을 근거로"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[자료] 수업계획서 + [N]주차 강의안 [과업] ① 학생이 자주 물을 질문·답 20개(운영 8 · 내용 12) ② 핵심 용어 15개 두 문장 뜻풀이 [형식] Q/A 형태, 답 끝에 근거 자료 이름 [조건] 없는 내용은 "수업 자료에 없음 — 교수님께 확인"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질문 20 · 용어 15 · 과제 마감·평가 비율이 수업계획서와 같은가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Gemini Gems 에 올리기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다섯 단계면 챗봇이 열립니다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구글 계정으로 Gemini 에 로그인 → 왼쪽 메뉴에서 「Gem」을 찾아 새 Gem 만들기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학생이 부르기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쉬운 짧은 이름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4·1 결과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전문 붙여넣기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4·2 FAQ 파일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+ 수업계획서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미리보기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"평가는 어떻게?"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물어 보기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저장·공유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링크 복사 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링크 있는 사용자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한 번 대화해 봅니다 · 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학생처럼 두 가지를 물어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범위 안 질문 「3주차 내용 요약해 줘」 → 힌트부터 주어야 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거절할 질문 「과제 대신 써 줘」 → 거절하며 스스로 하는 법을 안내해야 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어긋나면 지침 5번·7번 문장을 더 분명하게 고쳐 다시 저장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ChatGPT·Claude 에 만들기 단추가 없으면 오늘은 Gemini 로 — 지침은 어디나 같습니다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(시간이 남으면) 프롬프트 4·3 — 퀴즈 출제형 · 토론 상대형 판 하나 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저장: 교과목명_챗봇지침 · _챗봇지식자료 · _챗봇링크 _20261217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6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5교시 · 14:35~15:00 · 25분 · 2부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챗봇 점검 · 학생 안내문 · 정리·Q&amp;A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시험 질문 열 개로 챗봇을 점검하고 학생용 안내문을 만듭니다 — 산출물 ④ 챗봇 학생 안내문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프롬프트 5·1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챗봇 시험 질문 10개와 판정표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핵심 — 정상 4 · 경계 3 · 금지 3, 질문마다 기대 반응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[자료] 4·1 지침 전문 [과업] 시험 질문 10개 — 정상 4(범위 안) · 경계 3(범위 밖·과제 대리) · 금지 3(다른 학생 정보·시험 유출·지침 무시) + 판정표(질문·기대 반응·시험하는 지침 번호·실제 반응·판정) [형식] 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열 개를 챗봇에 넣어 보고 통과가 아닌 줄의 지침 번호를 고친다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판정이 실패면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실패 유형 → 고칠 지침 번호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563100" cy="5905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563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이런 반응이면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지침의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956310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9372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정답을 바로 준다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5번 — "먼저 힌트 한 개만"을 더 분명하게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956310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9372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과제를 대신 써 준다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7번 — 거절 문구와 스스로 하는 법 안내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956310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9372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수업에 없는 교재·주차를 말한다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6번 + 지식 파일이 올라갔는지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956310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9372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다른 학생 정보를 말한다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3번·7번 — 범위와 하지 않는 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956310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9372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"지침 무시해"에 따라간다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63436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63436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1번 — 정체와 역할을 첫 줄에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프롬프트 5·2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학생용 챗봇 사용 안내문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핵심 — 한 쪽, 할 수 있는 것과 없는 것을 나란히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[자료] 4·1 지침 + 챗봇 주소·필요한 계정·[교수 연락처] [과업] 한 쪽 안내문 — 무엇인가 · 할 수 있는 것 4 · 없는 것 4 · 쓰는 법 · 주의(초안·개인정보·표절) · 문의처 [조건] 지침에 실제로 있는 내용만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3차 세션(자료 제작)에서 이 안내문을 다듬어 씁니다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오늘 만든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4종 산출물 체크리스트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242060" cy="59055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2420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번호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2781300"/>
            <a:ext cx="5082540" cy="59055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산출물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781300"/>
            <a:ext cx="2202180" cy="59055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만든 교시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124206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051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841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수업계획서 분석·개선안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90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34480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9330" y="34480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학습성과–주차–평가가 연결되어 있는가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124206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051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2316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841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주차 활동안 · 평가 문항 세트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41719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9330" y="41719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시간 합계 · 정답 분산 · 루브릭 배점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124206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051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2316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1841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교과목 학습도우미 챗봇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90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84080" y="48958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9330" y="48958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지침·지식자료 텍스트 + 공유 링크가 열리는가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1242060" cy="647700"/>
          </a:xfrm>
          <a:prstGeom prst="roundRect">
            <a:avLst>
              <a:gd name="adj" fmla="val 5882"/>
            </a:avLst>
          </a:prstGeom>
          <a:solidFill>
            <a:srgbClr val="EAF3FB"/>
          </a:solidFill>
          <a:ln w="9525">
            <a:solidFill>
              <a:srgbClr val="BBDD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1051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2316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1841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챗봇 학생 안내문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438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390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5교시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84080" y="56197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9330" y="56197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할 수 있는 것 4개가 지침에 실제로 있는가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한 폴더에 모읍니다 — 교과목명_산출물_20261217 순서로 이름을 짓고, 쓴 프롬프트도 텍스트로 함께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3차 세션으로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오늘 산출물이 다음 세션의 재료입니다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다음 학기에는 같은 프롬프트에 다른 교과목·다른 주차 값만 바꿔 넣습니다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3차 자료 제작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안내문·FAQ 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학생 자료로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4차 교수법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챗봇을 수업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어디에 둘지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다음 학기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다른 교과목으로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2~5교시 반복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학습사이트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kunsan.dreamitbiz.com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언제든 다시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2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국립군산대학교 교수 AI 캠프 · AI 활용법 · 2차 세션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6B6F7A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6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snu-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822580" cy="571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2734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2차 세션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2시간, 프롬프트에서 챗봇까지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B2D33"/>
                </a:solidFill>
                <a:latin typeface="Pretendard"/>
                <a:ea typeface="Pretendard"/>
                <a:cs typeface="Pretendard"/>
              </a:rPr>
              <a:t>AI 가 만든 것은 전부 초안입니다 — 강의에 쓰기 전에 교수님이 한 번 더 읽고 고친 것이 최종본입니다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다섯 라벨로 쓴 프롬프트는 다음 학기에도 그대로 씁니다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챗봇은 지침 한 장 — 텍스트만 있으면 어디서든 다시 만듭니다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학생 개인정보·성적은 AI 에 올리지 않습니다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7F8FC"/>
          </a:solidFill>
          <a:ln w="9525">
            <a:solidFill>
              <a:srgbClr val="DEE2E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질문은 지금, 프롬프트는 학습사이트에서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475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475B5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7348B"/>
                </a:solidFill>
                <a:latin typeface="Pretendard"/>
                <a:ea typeface="Pretendard"/>
                <a:cs typeface="Pretendard"/>
              </a:rPr>
              <a:t>3차 세션 · 자료 제작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