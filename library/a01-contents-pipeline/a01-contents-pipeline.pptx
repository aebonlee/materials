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96" r:id="rId20"/>
    <p:sldId id="297" r:id="rId48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8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41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295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ebon@dreamitbiz.com" TargetMode="External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jpg"/><Relationship Id="rId6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jp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18.png"/><Relationship Id="rId5" Type="http://schemas.openxmlformats.org/officeDocument/2006/relationships/image" Target="../media/image35.jp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jp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jpg"/><Relationship Id="rId9" Type="http://schemas.openxmlformats.org/officeDocument/2006/relationships/image" Target="../media/image43.png"/><Relationship Id="rId10" Type="http://schemas.openxmlformats.org/officeDocument/2006/relationships/image" Target="../media/image4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9.png"/><Relationship Id="rId4" Type="http://schemas.openxmlformats.org/officeDocument/2006/relationships/image" Target="../media/image18.png"/><Relationship Id="rId5" Type="http://schemas.openxmlformats.org/officeDocument/2006/relationships/image" Target="../media/image70.jpg"/><Relationship Id="rId6" Type="http://schemas.openxmlformats.org/officeDocument/2006/relationships/image" Target="../media/image7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2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5.png"/><Relationship Id="rId4" Type="http://schemas.openxmlformats.org/officeDocument/2006/relationships/image" Target="../media/image18.png"/><Relationship Id="rId5" Type="http://schemas.openxmlformats.org/officeDocument/2006/relationships/image" Target="../media/image86.jpg"/><Relationship Id="rId6" Type="http://schemas.openxmlformats.org/officeDocument/2006/relationships/image" Target="../media/image8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59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3.png"/><Relationship Id="rId4" Type="http://schemas.openxmlformats.org/officeDocument/2006/relationships/image" Target="../media/image31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jpg"/><Relationship Id="rId8" Type="http://schemas.openxmlformats.org/officeDocument/2006/relationships/image" Target="../media/image10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8.png"/><Relationship Id="rId4" Type="http://schemas.openxmlformats.org/officeDocument/2006/relationships/image" Target="../media/image10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46.png"/><Relationship Id="rId8" Type="http://schemas.openxmlformats.org/officeDocument/2006/relationships/image" Target="../media/image117.png"/><Relationship Id="rId9" Type="http://schemas.openxmlformats.org/officeDocument/2006/relationships/image" Target="../media/image63.png"/><Relationship Id="rId10" Type="http://schemas.openxmlformats.org/officeDocument/2006/relationships/image" Target="../media/image118.png"/><Relationship Id="rId11" Type="http://schemas.openxmlformats.org/officeDocument/2006/relationships/image" Target="../media/image47.png"/><Relationship Id="rId12" Type="http://schemas.openxmlformats.org/officeDocument/2006/relationships/image" Target="../media/image51.png"/><Relationship Id="rId13" Type="http://schemas.openxmlformats.org/officeDocument/2006/relationships/image" Target="../media/image80.png"/><Relationship Id="rId14" Type="http://schemas.openxmlformats.org/officeDocument/2006/relationships/image" Target="../media/image1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0.png"/><Relationship Id="rId4" Type="http://schemas.openxmlformats.org/officeDocument/2006/relationships/image" Target="../media/image57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jpg"/><Relationship Id="rId8" Type="http://schemas.openxmlformats.org/officeDocument/2006/relationships/image" Target="../media/image1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92.png"/><Relationship Id="rId7" Type="http://schemas.openxmlformats.org/officeDocument/2006/relationships/image" Target="../media/image12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image" Target="../media/image1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3.png"/><Relationship Id="rId4" Type="http://schemas.openxmlformats.org/officeDocument/2006/relationships/image" Target="../media/image154.png"/><Relationship Id="rId5" Type="http://schemas.openxmlformats.org/officeDocument/2006/relationships/image" Target="../media/image59.png"/><Relationship Id="rId6" Type="http://schemas.openxmlformats.org/officeDocument/2006/relationships/image" Target="../media/image155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6.png"/><Relationship Id="rId4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Relationship Id="rId7" Type="http://schemas.openxmlformats.org/officeDocument/2006/relationships/image" Target="../media/image1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65.jpg"/><Relationship Id="rId8" Type="http://schemas.openxmlformats.org/officeDocument/2006/relationships/image" Target="../media/image8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6.png"/><Relationship Id="rId4" Type="http://schemas.openxmlformats.org/officeDocument/2006/relationships/image" Target="../media/image167.png"/><Relationship Id="rId5" Type="http://schemas.openxmlformats.org/officeDocument/2006/relationships/image" Target="../media/image168.png"/><Relationship Id="rId6" Type="http://schemas.openxmlformats.org/officeDocument/2006/relationships/image" Target="../media/image169.png"/><Relationship Id="rId7" Type="http://schemas.openxmlformats.org/officeDocument/2006/relationships/image" Target="../media/image170.png"/><Relationship Id="rId8" Type="http://schemas.openxmlformats.org/officeDocument/2006/relationships/image" Target="../media/image15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1.png"/><Relationship Id="rId4" Type="http://schemas.openxmlformats.org/officeDocument/2006/relationships/image" Target="../media/image172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7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6.png"/><Relationship Id="rId4" Type="http://schemas.openxmlformats.org/officeDocument/2006/relationships/image" Target="../media/image177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Relationship Id="rId7" Type="http://schemas.openxmlformats.org/officeDocument/2006/relationships/image" Target="../media/image180.jpg"/><Relationship Id="rId8" Type="http://schemas.openxmlformats.org/officeDocument/2006/relationships/image" Target="../media/image18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2.png"/><Relationship Id="rId4" Type="http://schemas.openxmlformats.org/officeDocument/2006/relationships/image" Target="../media/image183.png"/><Relationship Id="rId5" Type="http://schemas.openxmlformats.org/officeDocument/2006/relationships/image" Target="../media/image77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187.png"/><Relationship Id="rId10" Type="http://schemas.openxmlformats.org/officeDocument/2006/relationships/image" Target="../media/image78.png"/><Relationship Id="rId11" Type="http://schemas.openxmlformats.org/officeDocument/2006/relationships/image" Target="../media/image18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9.png"/><Relationship Id="rId4" Type="http://schemas.openxmlformats.org/officeDocument/2006/relationships/image" Target="../media/image190.png"/><Relationship Id="rId5" Type="http://schemas.openxmlformats.org/officeDocument/2006/relationships/image" Target="../media/image191.png"/><Relationship Id="rId6" Type="http://schemas.openxmlformats.org/officeDocument/2006/relationships/image" Target="../media/image192.png"/><Relationship Id="rId7" Type="http://schemas.openxmlformats.org/officeDocument/2006/relationships/image" Target="../media/image193.png"/><Relationship Id="rId8" Type="http://schemas.openxmlformats.org/officeDocument/2006/relationships/image" Target="../media/image194.png"/><Relationship Id="rId9" Type="http://schemas.openxmlformats.org/officeDocument/2006/relationships/image" Target="../media/image182.png"/><Relationship Id="rId10" Type="http://schemas.openxmlformats.org/officeDocument/2006/relationships/image" Target="../media/image195.png"/><Relationship Id="rId11" Type="http://schemas.openxmlformats.org/officeDocument/2006/relationships/hyperlink" Target="mailto:aebon@dreamitbiz.com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886206" y="1578602"/>
            <a:ext cx="761695" cy="57607"/>
          </a:xfrm>
          <a:prstGeom prst="roundRect">
            <a:avLst>
              <a:gd name="adj" fmla="val 793654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86206" y="1797143"/>
            <a:ext cx="4474159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제작</a:t>
            </a:r>
            <a:endParaRPr lang="en-US" sz="5100" dirty="0"/>
          </a:p>
        </p:txBody>
      </p:sp>
      <p:sp>
        <p:nvSpPr>
          <p:cNvPr id="8" name="Text 6"/>
          <p:cNvSpPr txBox="1"/>
          <p:nvPr/>
        </p:nvSpPr>
        <p:spPr>
          <a:xfrm>
            <a:off x="886206" y="2586271"/>
            <a:ext cx="4835347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파이프라인과</a:t>
            </a:r>
            <a:endParaRPr lang="en-US" sz="5100" dirty="0"/>
          </a:p>
        </p:txBody>
      </p:sp>
      <p:sp>
        <p:nvSpPr>
          <p:cNvPr id="9" name="Text 7"/>
          <p:cNvSpPr txBox="1"/>
          <p:nvPr/>
        </p:nvSpPr>
        <p:spPr>
          <a:xfrm>
            <a:off x="886206" y="3374483"/>
            <a:ext cx="4474159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저작권·윤리</a:t>
            </a:r>
            <a:endParaRPr lang="en-US" sz="5100" dirty="0"/>
          </a:p>
        </p:txBody>
      </p:sp>
      <p:sp>
        <p:nvSpPr>
          <p:cNvPr id="10" name="Text 8"/>
          <p:cNvSpPr txBox="1"/>
          <p:nvPr/>
        </p:nvSpPr>
        <p:spPr>
          <a:xfrm>
            <a:off x="886206" y="4629955"/>
            <a:ext cx="51151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기획부터 배포까지,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크리에이터를 위한 완벽 가이드</a:t>
            </a:r>
            <a:endParaRPr lang="en-US" sz="1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62509B9-89C5-B272-C183-3F347B18D317}"/>
              </a:ext>
            </a:extLst>
          </p:cNvPr>
          <p:cNvGrpSpPr/>
          <p:nvPr/>
        </p:nvGrpSpPr>
        <p:grpSpPr>
          <a:xfrm>
            <a:off x="8309131" y="5528070"/>
            <a:ext cx="2968317" cy="631851"/>
            <a:chOff x="609905" y="5558463"/>
            <a:chExt cx="2968317" cy="631851"/>
          </a:xfrm>
        </p:grpSpPr>
        <p:sp>
          <p:nvSpPr>
            <p:cNvPr id="11" name="Text 9"/>
            <p:cNvSpPr txBox="1"/>
            <p:nvPr/>
          </p:nvSpPr>
          <p:spPr>
            <a:xfrm>
              <a:off x="609905" y="5650992"/>
              <a:ext cx="4005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강사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077163" y="5631790"/>
              <a:ext cx="9144" cy="304495"/>
            </a:xfrm>
            <a:prstGeom prst="rect">
              <a:avLst/>
            </a:prstGeom>
            <a:solidFill>
              <a:srgbClr val="D1D5D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09905" y="5558463"/>
              <a:ext cx="2968317" cy="631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50000"/>
                </a:lnSpc>
                <a:buNone/>
              </a:pPr>
              <a:r>
                <a:rPr lang="ko-KR" altLang="en-US" sz="20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이애본</a:t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b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  <a:hlinkClick r:id="rId3"/>
                </a:rPr>
                <a:t>aebon@dreamitbiz.com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</a:p>
            <a:p>
              <a:pPr marL="0" indent="0" algn="r">
                <a:buNone/>
              </a:pP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드림아이티비즈(DreamIT Biz)</a:t>
              </a:r>
              <a:r>
                <a:rPr lang="en-US" altLang="ko-KR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endParaRPr lang="en-US" sz="1300" dirty="0"/>
            </a:p>
          </p:txBody>
        </p:sp>
      </p:grp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33948" y="1200955"/>
            <a:ext cx="5143500" cy="3429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905348" y="4401355"/>
            <a:ext cx="2609698" cy="45720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190641" y="4524799"/>
            <a:ext cx="2254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UNIVERSITY STUDENTS</a:t>
            </a:r>
            <a:endParaRPr lang="en-US" sz="1200" dirty="0"/>
          </a:p>
        </p:txBody>
      </p:sp>
      <p:sp>
        <p:nvSpPr>
          <p:cNvPr id="1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571500" cy="38405"/>
          </a:xfrm>
          <a:prstGeom prst="roundRect">
            <a:avLst>
              <a:gd name="adj" fmla="val 119047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657454"/>
            <a:ext cx="566745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 OF CONTENTS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905" y="1828800"/>
            <a:ext cx="10972800" cy="152705"/>
          </a:xfrm>
          <a:prstGeom prst="roundRect">
            <a:avLst>
              <a:gd name="adj" fmla="val 598802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49304" b="49304"/>
          <a:stretch/>
        </p:blipFill>
        <p:spPr>
          <a:xfrm>
            <a:off x="609905" y="1591057"/>
            <a:ext cx="10972800" cy="3904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905" y="2354580"/>
            <a:ext cx="19202" cy="120060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Text 7"/>
          <p:cNvSpPr txBox="1"/>
          <p:nvPr/>
        </p:nvSpPr>
        <p:spPr>
          <a:xfrm>
            <a:off x="780898" y="2449678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80898" y="2888590"/>
            <a:ext cx="15444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개요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80898" y="3202229"/>
            <a:ext cx="26526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프로세스 소개 및 전체 흐름 이해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2354580"/>
            <a:ext cx="19202" cy="120060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Text 11"/>
          <p:cNvSpPr txBox="1"/>
          <p:nvPr/>
        </p:nvSpPr>
        <p:spPr>
          <a:xfrm>
            <a:off x="4515307" y="2449678"/>
            <a:ext cx="4480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4515307" y="2888590"/>
            <a:ext cx="9354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심화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15307" y="3202229"/>
            <a:ext cx="29251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분석, 아이디어 발굴 및 콘텐츠 캘린더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76895" y="2354580"/>
            <a:ext cx="19202" cy="120060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8" name="Text 15"/>
          <p:cNvSpPr txBox="1"/>
          <p:nvPr/>
        </p:nvSpPr>
        <p:spPr>
          <a:xfrm>
            <a:off x="8248802" y="2449678"/>
            <a:ext cx="4480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8248802" y="2888590"/>
            <a:ext cx="138988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 &amp; 제작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48802" y="3202229"/>
            <a:ext cx="3055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스토리텔링 구조, 스크립트 작성 및 촬영 기초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9905" y="3779215"/>
            <a:ext cx="19202" cy="120060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2" name="Text 19"/>
          <p:cNvSpPr txBox="1"/>
          <p:nvPr/>
        </p:nvSpPr>
        <p:spPr>
          <a:xfrm>
            <a:off x="780898" y="3875227"/>
            <a:ext cx="4572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780898" y="4313225"/>
            <a:ext cx="159288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&amp; 후반작업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80898" y="4627778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컷 편집, 자막, 색보정 및 사운드 디자인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43400" y="3779215"/>
            <a:ext cx="19202" cy="120060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6" name="Text 23"/>
          <p:cNvSpPr txBox="1"/>
          <p:nvPr/>
        </p:nvSpPr>
        <p:spPr>
          <a:xfrm>
            <a:off x="4515307" y="3875227"/>
            <a:ext cx="4480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4515307" y="4313225"/>
            <a:ext cx="138988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&amp; 최적화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515307" y="4627778"/>
            <a:ext cx="2634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플랫폼별 특성, SEO 및 성과 분석 지표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076895" y="3779215"/>
            <a:ext cx="19202" cy="120060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0" name="Text 27"/>
          <p:cNvSpPr txBox="1"/>
          <p:nvPr/>
        </p:nvSpPr>
        <p:spPr>
          <a:xfrm>
            <a:off x="8248802" y="3875227"/>
            <a:ext cx="4572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8248802" y="4313225"/>
            <a:ext cx="15444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 이해하기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48802" y="4627778"/>
            <a:ext cx="29251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저작권법 기초, 공정 이용 및 라이선스 종류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09905" y="5204765"/>
            <a:ext cx="19202" cy="120060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4" name="Text 31"/>
          <p:cNvSpPr txBox="1"/>
          <p:nvPr/>
        </p:nvSpPr>
        <p:spPr>
          <a:xfrm>
            <a:off x="780898" y="5299862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780898" y="5737860"/>
            <a:ext cx="113842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윤리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80898" y="6052414"/>
            <a:ext cx="29571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크리에이터 윤리, AI 활용 및 허위정보 방지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343400" y="5204765"/>
            <a:ext cx="19202" cy="120060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8" name="Text 35"/>
          <p:cNvSpPr txBox="1"/>
          <p:nvPr/>
        </p:nvSpPr>
        <p:spPr>
          <a:xfrm>
            <a:off x="4515307" y="5299862"/>
            <a:ext cx="4572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2800" dirty="0"/>
          </a:p>
        </p:txBody>
      </p:sp>
      <p:sp>
        <p:nvSpPr>
          <p:cNvPr id="39" name="Text 36"/>
          <p:cNvSpPr txBox="1"/>
          <p:nvPr/>
        </p:nvSpPr>
        <p:spPr>
          <a:xfrm>
            <a:off x="4515307" y="5737860"/>
            <a:ext cx="1340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가이드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515307" y="6052414"/>
            <a:ext cx="31034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아이덴티티 구축 및 일관된 비주얼 전략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076895" y="5204765"/>
            <a:ext cx="19202" cy="120060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2" name="Text 39"/>
          <p:cNvSpPr txBox="1"/>
          <p:nvPr/>
        </p:nvSpPr>
        <p:spPr>
          <a:xfrm>
            <a:off x="8248802" y="5299862"/>
            <a:ext cx="4572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2800" dirty="0"/>
          </a:p>
        </p:txBody>
      </p:sp>
      <p:sp>
        <p:nvSpPr>
          <p:cNvPr id="43" name="Text 40"/>
          <p:cNvSpPr txBox="1"/>
          <p:nvPr/>
        </p:nvSpPr>
        <p:spPr>
          <a:xfrm>
            <a:off x="8248802" y="5737860"/>
            <a:ext cx="17154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체크리스트 &amp; Q&amp;A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8248802" y="6052414"/>
            <a:ext cx="25658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점검 사항 및 참고 리소스 공유</a:t>
            </a:r>
            <a:endParaRPr lang="en-US" sz="12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6111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INSIGHTS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800100"/>
            <a:ext cx="11144707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크리에이터 이코노미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폭발적 성장과 기회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2354580"/>
            <a:ext cx="3457346" cy="2476195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254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602" y="2678278"/>
            <a:ext cx="533095" cy="533095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1057046" y="2830982"/>
            <a:ext cx="286207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29105" y="2689251"/>
            <a:ext cx="227529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200M+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975665" y="3650285"/>
            <a:ext cx="21945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 크리에이터 수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7435" y="4003243"/>
            <a:ext cx="292086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누구나 콘텐츠를 생산하는 시대, 전문 크리에이터와 캐주얼 크리에이터의 경계가 허물어지고 있습니다.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69003" y="2354580"/>
            <a:ext cx="3457346" cy="2476195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254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692701" y="2678278"/>
            <a:ext cx="533095" cy="533095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5406" y="2830982"/>
            <a:ext cx="228600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940602" y="2597811"/>
            <a:ext cx="780898" cy="267005"/>
          </a:xfrm>
          <a:prstGeom prst="roundRect">
            <a:avLst>
              <a:gd name="adj" fmla="val 4892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7016497" y="2636215"/>
            <a:ext cx="705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CAGR 14%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588204" y="2816352"/>
            <a:ext cx="203088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$480B</a:t>
            </a:r>
            <a:endParaRPr lang="en-US" sz="4800" dirty="0"/>
          </a:p>
        </p:txBody>
      </p:sp>
      <p:sp>
        <p:nvSpPr>
          <p:cNvPr id="19" name="Text 15"/>
          <p:cNvSpPr txBox="1"/>
          <p:nvPr/>
        </p:nvSpPr>
        <p:spPr>
          <a:xfrm>
            <a:off x="4675327" y="3726180"/>
            <a:ext cx="215432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규모 전망 (2027)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675327" y="4062679"/>
            <a:ext cx="28867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취미 활동을 넘어 거대한 산업 </a:t>
            </a:r>
            <a:r>
              <a:rPr lang="en-US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생태계로</a:t>
            </a: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진화하며</a:t>
            </a: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새로운 경제적 가치를 창출하고 있습니다.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28102" y="2354580"/>
            <a:ext cx="3457346" cy="2476195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254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451799" y="2678278"/>
            <a:ext cx="533095" cy="533095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8632850" y="2830982"/>
            <a:ext cx="171907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627462" y="2636215"/>
            <a:ext cx="848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HOT TREND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9364067" y="2790749"/>
            <a:ext cx="13624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9:16</a:t>
            </a:r>
            <a:endParaRPr lang="en-US" sz="4800" dirty="0"/>
          </a:p>
        </p:txBody>
      </p:sp>
      <p:sp>
        <p:nvSpPr>
          <p:cNvPr id="26" name="Text 21"/>
          <p:cNvSpPr txBox="1"/>
          <p:nvPr/>
        </p:nvSpPr>
        <p:spPr>
          <a:xfrm>
            <a:off x="8451799" y="3717950"/>
            <a:ext cx="21945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세로형 숏폼의 확산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460029" y="4165092"/>
            <a:ext cx="28867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세로형(9:16) 비디오가 주요 플랫폼의</a:t>
            </a:r>
            <a:r>
              <a:rPr lang="en-US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형식으로 자리 잡았습</a:t>
            </a: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니다.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09905" y="5043438"/>
            <a:ext cx="10972800" cy="1200607"/>
          </a:xfrm>
          <a:prstGeom prst="roundRect">
            <a:avLst>
              <a:gd name="adj" fmla="val 12089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914400" y="5414685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1677" y="5548187"/>
            <a:ext cx="142646" cy="19019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524305" y="5272038"/>
            <a:ext cx="5324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522846" y="5643284"/>
            <a:ext cx="6259982" cy="572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"대학생 크리에이터에게는 </a:t>
            </a: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가능한 </a:t>
            </a:r>
            <a:r>
              <a:rPr lang="en-US" sz="1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</a:t>
            </a: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루틴</a:t>
            </a:r>
            <a:r>
              <a:rPr lang="en-US" sz="13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</a:t>
            </a: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</a:t>
            </a: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r>
              <a:rPr lang="en-US" sz="13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3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</a:t>
            </a:r>
            <a:r>
              <a:rPr lang="en-US" altLang="ko-KR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역량입니다</a:t>
            </a:r>
            <a:r>
              <a:rPr lang="en-US" altLang="ko-KR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."</a:t>
            </a:r>
            <a:endParaRPr lang="en-US" altLang="ko-KR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6977722" y="5476864"/>
            <a:ext cx="1561795" cy="333756"/>
          </a:xfrm>
          <a:prstGeom prst="roundRect">
            <a:avLst>
              <a:gd name="adj" fmla="val 156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7139571" y="5577448"/>
            <a:ext cx="152705" cy="13350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424014" y="5476864"/>
            <a:ext cx="144109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YouTube Shorts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703259" y="5476864"/>
            <a:ext cx="1543507" cy="333756"/>
          </a:xfrm>
          <a:prstGeom prst="roundRect">
            <a:avLst>
              <a:gd name="adj" fmla="val 156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865108" y="5577448"/>
            <a:ext cx="114300" cy="13350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056218" y="5476864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 Reels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10356494" y="5476864"/>
            <a:ext cx="923544" cy="333756"/>
          </a:xfrm>
          <a:prstGeom prst="roundRect">
            <a:avLst>
              <a:gd name="adj" fmla="val 156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10518343" y="5577448"/>
            <a:ext cx="114300" cy="13350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709453" y="5476864"/>
            <a:ext cx="4672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TikTok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512064" y="6410465"/>
            <a:ext cx="11087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200M+ — Linktree Creator Report(2022) · $480B·연 14% — Goldman Sachs Research(2023). 크리에이터 수 추정은 정의에 따라 다름(Goldman Sachs 약 5,000만 명)</a:t>
            </a:r>
            <a:endParaRPr lang="en-US" sz="9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">
            <a:extLst>
              <a:ext uri="{FF2B5EF4-FFF2-40B4-BE49-F238E27FC236}">
                <a16:creationId xmlns:a16="http://schemas.microsoft.com/office/drawing/2014/main" id="{6F0CA1A3-070A-7D76-EC87-F54CA9EFCF5C}"/>
              </a:ext>
            </a:extLst>
          </p:cNvPr>
          <p:cNvSpPr/>
          <p:nvPr/>
        </p:nvSpPr>
        <p:spPr>
          <a:xfrm>
            <a:off x="609905" y="3406547"/>
            <a:ext cx="10976456" cy="1027219"/>
          </a:xfrm>
          <a:prstGeom prst="roundRect">
            <a:avLst>
              <a:gd name="adj" fmla="val 6322"/>
            </a:avLst>
          </a:prstGeom>
          <a:solidFill>
            <a:srgbClr val="FFF9F5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752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PROCESS OVERVIEW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902686"/>
            <a:ext cx="695218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제작 파이프라인 5단계</a:t>
            </a:r>
            <a:endParaRPr lang="en-US" sz="3100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8EB7673B-D80B-E503-61EF-AF8F3C8ECCF3}"/>
              </a:ext>
            </a:extLst>
          </p:cNvPr>
          <p:cNvGrpSpPr/>
          <p:nvPr/>
        </p:nvGrpSpPr>
        <p:grpSpPr>
          <a:xfrm>
            <a:off x="3146450" y="5896225"/>
            <a:ext cx="5803697" cy="362102"/>
            <a:chOff x="3398825" y="5907023"/>
            <a:chExt cx="5401361" cy="362102"/>
          </a:xfrm>
        </p:grpSpPr>
        <p:sp>
          <p:nvSpPr>
            <p:cNvPr id="7" name="Text 5"/>
            <p:cNvSpPr txBox="1"/>
            <p:nvPr/>
          </p:nvSpPr>
          <p:spPr>
            <a:xfrm>
              <a:off x="3398825" y="5907023"/>
              <a:ext cx="5401361" cy="362102"/>
            </a:xfrm>
            <a:prstGeom prst="rect">
              <a:avLst/>
            </a:prstGeom>
            <a:solidFill>
              <a:srgbClr val="F9FAFB"/>
            </a:solidFill>
            <a:ln w="12700">
              <a:solidFill>
                <a:srgbClr val="F3F4F6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각 단계 사이에는 </a:t>
              </a:r>
              <a:r>
                <a:rPr lang="en-US" sz="1200" b="1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'검수(Review)'</a:t>
              </a: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과정이 포함되어야 퀄리티를 보장할 수 있습니다. </a:t>
              </a:r>
              <a:endParaRPr lang="en-US" sz="1200" dirty="0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503067" y="6028638"/>
              <a:ext cx="133502" cy="133502"/>
            </a:xfrm>
            <a:prstGeom prst="rect">
              <a:avLst/>
            </a:prstGeom>
          </p:spPr>
        </p:pic>
      </p:grpSp>
      <p:sp>
        <p:nvSpPr>
          <p:cNvPr id="10" name="Shape 7"/>
          <p:cNvSpPr/>
          <p:nvPr/>
        </p:nvSpPr>
        <p:spPr>
          <a:xfrm>
            <a:off x="609905" y="1983333"/>
            <a:ext cx="2076602" cy="3619195"/>
          </a:xfrm>
          <a:prstGeom prst="roundRect">
            <a:avLst>
              <a:gd name="adj" fmla="val 3232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341425" y="2535630"/>
            <a:ext cx="609905" cy="333756"/>
          </a:xfrm>
          <a:prstGeom prst="roundRect">
            <a:avLst>
              <a:gd name="adj" fmla="val 136986"/>
            </a:avLst>
          </a:prstGeom>
          <a:solidFill>
            <a:srgbClr val="FFF3EB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559966" y="2586837"/>
            <a:ext cx="171907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1754" y="3743553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Shape 10"/>
          <p:cNvSpPr/>
          <p:nvPr/>
        </p:nvSpPr>
        <p:spPr>
          <a:xfrm>
            <a:off x="771754" y="4053534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5" name="Shape 11"/>
          <p:cNvSpPr/>
          <p:nvPr/>
        </p:nvSpPr>
        <p:spPr>
          <a:xfrm>
            <a:off x="771754" y="4643322"/>
            <a:ext cx="1752905" cy="724205"/>
          </a:xfrm>
          <a:prstGeom prst="roundRect">
            <a:avLst>
              <a:gd name="adj" fmla="val 19936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2"/>
          <p:cNvSpPr txBox="1"/>
          <p:nvPr/>
        </p:nvSpPr>
        <p:spPr>
          <a:xfrm>
            <a:off x="1316736" y="2231135"/>
            <a:ext cx="659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32865" y="3057753"/>
            <a:ext cx="428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057046" y="3495750"/>
            <a:ext cx="11786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오디언스 분석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226210" y="3805732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발굴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226210" y="4114799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톤앤매너 설정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356316" y="4736024"/>
            <a:ext cx="56235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062533" y="4943246"/>
            <a:ext cx="11704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크리에이티브 브리프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1450238" y="5092293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</a:t>
            </a:r>
            <a:endParaRPr lang="en-US" sz="10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2710743" y="3815790"/>
            <a:ext cx="105156" cy="171907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2834640" y="1983333"/>
            <a:ext cx="2076602" cy="3619195"/>
          </a:xfrm>
          <a:prstGeom prst="roundRect">
            <a:avLst>
              <a:gd name="adj" fmla="val 3232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3566160" y="2535630"/>
            <a:ext cx="609905" cy="333756"/>
          </a:xfrm>
          <a:prstGeom prst="roundRect">
            <a:avLst>
              <a:gd name="adj" fmla="val 136986"/>
            </a:avLst>
          </a:prstGeom>
          <a:solidFill>
            <a:srgbClr val="FFF3EB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56355" y="2586837"/>
            <a:ext cx="228600" cy="2286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2996489" y="3743553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9" name="Shape 23"/>
          <p:cNvSpPr/>
          <p:nvPr/>
        </p:nvSpPr>
        <p:spPr>
          <a:xfrm>
            <a:off x="2996489" y="4053534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0" name="Shape 24"/>
          <p:cNvSpPr/>
          <p:nvPr/>
        </p:nvSpPr>
        <p:spPr>
          <a:xfrm>
            <a:off x="2996489" y="4643322"/>
            <a:ext cx="1752905" cy="724205"/>
          </a:xfrm>
          <a:prstGeom prst="roundRect">
            <a:avLst>
              <a:gd name="adj" fmla="val 19936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5"/>
          <p:cNvSpPr txBox="1"/>
          <p:nvPr/>
        </p:nvSpPr>
        <p:spPr>
          <a:xfrm>
            <a:off x="3532327" y="2231135"/>
            <a:ext cx="6766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3569818" y="3057753"/>
            <a:ext cx="609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3232404" y="3495750"/>
            <a:ext cx="12865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 구조화 (3막)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3283610" y="3805732"/>
            <a:ext cx="11795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대본/스크립트 작성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3384194" y="4114799"/>
            <a:ext cx="9747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콘티/스토리보드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3581051" y="4736024"/>
            <a:ext cx="56235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3592678" y="4943246"/>
            <a:ext cx="5614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 대본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3476092" y="5128869"/>
            <a:ext cx="7891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스토리보드</a:t>
            </a:r>
            <a:endParaRPr lang="en-US" sz="105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4936393" y="3815790"/>
            <a:ext cx="105156" cy="171907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5059375" y="1983333"/>
            <a:ext cx="2076602" cy="3619195"/>
          </a:xfrm>
          <a:prstGeom prst="roundRect">
            <a:avLst>
              <a:gd name="adj" fmla="val 3232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5790895" y="2535630"/>
            <a:ext cx="609905" cy="333756"/>
          </a:xfrm>
          <a:prstGeom prst="roundRect">
            <a:avLst>
              <a:gd name="adj" fmla="val 136986"/>
            </a:avLst>
          </a:prstGeom>
          <a:solidFill>
            <a:srgbClr val="FFF3EB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5967374" y="2586837"/>
            <a:ext cx="256946" cy="22860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5221224" y="3743553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4" name="Shape 36"/>
          <p:cNvSpPr/>
          <p:nvPr/>
        </p:nvSpPr>
        <p:spPr>
          <a:xfrm>
            <a:off x="5221224" y="4053534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5" name="Shape 37"/>
          <p:cNvSpPr/>
          <p:nvPr/>
        </p:nvSpPr>
        <p:spPr>
          <a:xfrm>
            <a:off x="5221224" y="4643322"/>
            <a:ext cx="1752905" cy="724205"/>
          </a:xfrm>
          <a:prstGeom prst="roundRect">
            <a:avLst>
              <a:gd name="adj" fmla="val 19936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6" name="Text 38"/>
          <p:cNvSpPr txBox="1"/>
          <p:nvPr/>
        </p:nvSpPr>
        <p:spPr>
          <a:xfrm>
            <a:off x="5758891" y="2231135"/>
            <a:ext cx="6766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03</a:t>
            </a:r>
            <a:endParaRPr lang="en-US" sz="1050" dirty="0"/>
          </a:p>
        </p:txBody>
      </p:sp>
      <p:sp>
        <p:nvSpPr>
          <p:cNvPr id="47" name="Text 39"/>
          <p:cNvSpPr txBox="1"/>
          <p:nvPr/>
        </p:nvSpPr>
        <p:spPr>
          <a:xfrm>
            <a:off x="5882335" y="3057753"/>
            <a:ext cx="428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</a:t>
            </a:r>
            <a:endParaRPr lang="en-US" sz="1600" dirty="0"/>
          </a:p>
        </p:txBody>
      </p:sp>
      <p:sp>
        <p:nvSpPr>
          <p:cNvPr id="48" name="Text 40"/>
          <p:cNvSpPr txBox="1"/>
          <p:nvPr/>
        </p:nvSpPr>
        <p:spPr>
          <a:xfrm>
            <a:off x="5468112" y="3495750"/>
            <a:ext cx="125821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촬영 (Camera)</a:t>
            </a:r>
            <a:endParaRPr lang="en-US" sz="1100" dirty="0"/>
          </a:p>
        </p:txBody>
      </p:sp>
      <p:sp>
        <p:nvSpPr>
          <p:cNvPr id="49" name="Text 41"/>
          <p:cNvSpPr txBox="1"/>
          <p:nvPr/>
        </p:nvSpPr>
        <p:spPr>
          <a:xfrm>
            <a:off x="5547665" y="3805732"/>
            <a:ext cx="110002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오디오 녹음 (Mic)</a:t>
            </a:r>
            <a:endParaRPr lang="en-US" sz="1100" dirty="0"/>
          </a:p>
        </p:txBody>
      </p:sp>
      <p:sp>
        <p:nvSpPr>
          <p:cNvPr id="50" name="Text 42"/>
          <p:cNvSpPr txBox="1"/>
          <p:nvPr/>
        </p:nvSpPr>
        <p:spPr>
          <a:xfrm>
            <a:off x="5558638" y="4114799"/>
            <a:ext cx="1077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 세팅 (Light)</a:t>
            </a:r>
            <a:endParaRPr lang="en-US" sz="1100" dirty="0"/>
          </a:p>
        </p:txBody>
      </p:sp>
      <p:sp>
        <p:nvSpPr>
          <p:cNvPr id="51" name="Text 43"/>
          <p:cNvSpPr txBox="1"/>
          <p:nvPr/>
        </p:nvSpPr>
        <p:spPr>
          <a:xfrm>
            <a:off x="5805786" y="4736024"/>
            <a:ext cx="56235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5657393" y="4943246"/>
            <a:ext cx="87782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원본 소스</a:t>
            </a:r>
            <a:endParaRPr lang="en-US" sz="1050" dirty="0"/>
          </a:p>
        </p:txBody>
      </p:sp>
      <p:sp>
        <p:nvSpPr>
          <p:cNvPr id="53" name="Text 45"/>
          <p:cNvSpPr txBox="1"/>
          <p:nvPr/>
        </p:nvSpPr>
        <p:spPr>
          <a:xfrm>
            <a:off x="5756148" y="5092293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오디오 파일</a:t>
            </a:r>
            <a:endParaRPr lang="en-US" sz="1050" dirty="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7161128" y="3815790"/>
            <a:ext cx="105156" cy="171907"/>
          </a:xfrm>
          <a:prstGeom prst="rect">
            <a:avLst/>
          </a:prstGeom>
        </p:spPr>
      </p:pic>
      <p:sp>
        <p:nvSpPr>
          <p:cNvPr id="55" name="Shape 46"/>
          <p:cNvSpPr/>
          <p:nvPr/>
        </p:nvSpPr>
        <p:spPr>
          <a:xfrm>
            <a:off x="7285025" y="1983333"/>
            <a:ext cx="2076602" cy="3619195"/>
          </a:xfrm>
          <a:prstGeom prst="roundRect">
            <a:avLst>
              <a:gd name="adj" fmla="val 3232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7"/>
          <p:cNvSpPr/>
          <p:nvPr/>
        </p:nvSpPr>
        <p:spPr>
          <a:xfrm>
            <a:off x="8016545" y="2535630"/>
            <a:ext cx="609905" cy="333756"/>
          </a:xfrm>
          <a:prstGeom prst="roundRect">
            <a:avLst>
              <a:gd name="adj" fmla="val 136986"/>
            </a:avLst>
          </a:prstGeom>
          <a:solidFill>
            <a:srgbClr val="FFF3EB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8178394" y="2586837"/>
            <a:ext cx="286207" cy="228600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7446874" y="3743553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9" name="Shape 49"/>
          <p:cNvSpPr/>
          <p:nvPr/>
        </p:nvSpPr>
        <p:spPr>
          <a:xfrm>
            <a:off x="7446874" y="4053534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0" name="Shape 50"/>
          <p:cNvSpPr/>
          <p:nvPr/>
        </p:nvSpPr>
        <p:spPr>
          <a:xfrm>
            <a:off x="7446874" y="4643322"/>
            <a:ext cx="1752905" cy="724205"/>
          </a:xfrm>
          <a:prstGeom prst="roundRect">
            <a:avLst>
              <a:gd name="adj" fmla="val 19936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1" name="Text 51"/>
          <p:cNvSpPr txBox="1"/>
          <p:nvPr/>
        </p:nvSpPr>
        <p:spPr>
          <a:xfrm>
            <a:off x="7981798" y="2231135"/>
            <a:ext cx="685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04</a:t>
            </a:r>
            <a:endParaRPr lang="en-US" sz="1050" dirty="0"/>
          </a:p>
        </p:txBody>
      </p:sp>
      <p:sp>
        <p:nvSpPr>
          <p:cNvPr id="62" name="Text 52"/>
          <p:cNvSpPr txBox="1"/>
          <p:nvPr/>
        </p:nvSpPr>
        <p:spPr>
          <a:xfrm>
            <a:off x="8107985" y="3057753"/>
            <a:ext cx="428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</a:t>
            </a:r>
            <a:endParaRPr lang="en-US" sz="1600" dirty="0"/>
          </a:p>
        </p:txBody>
      </p:sp>
      <p:sp>
        <p:nvSpPr>
          <p:cNvPr id="63" name="Text 53"/>
          <p:cNvSpPr txBox="1"/>
          <p:nvPr/>
        </p:nvSpPr>
        <p:spPr>
          <a:xfrm>
            <a:off x="7694676" y="3495750"/>
            <a:ext cx="12554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컷 편집 및 트랜지션</a:t>
            </a:r>
            <a:endParaRPr lang="en-US" sz="1100" dirty="0"/>
          </a:p>
        </p:txBody>
      </p:sp>
      <p:sp>
        <p:nvSpPr>
          <p:cNvPr id="64" name="Text 54"/>
          <p:cNvSpPr txBox="1"/>
          <p:nvPr/>
        </p:nvSpPr>
        <p:spPr>
          <a:xfrm>
            <a:off x="7863840" y="3805732"/>
            <a:ext cx="92354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색보정 및 자막</a:t>
            </a:r>
            <a:endParaRPr lang="en-US" sz="1100" dirty="0"/>
          </a:p>
        </p:txBody>
      </p:sp>
      <p:sp>
        <p:nvSpPr>
          <p:cNvPr id="65" name="Text 55"/>
          <p:cNvSpPr txBox="1"/>
          <p:nvPr/>
        </p:nvSpPr>
        <p:spPr>
          <a:xfrm>
            <a:off x="7964424" y="4114799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사운드 믹싱</a:t>
            </a:r>
            <a:endParaRPr lang="en-US" sz="1100" dirty="0"/>
          </a:p>
        </p:txBody>
      </p:sp>
      <p:sp>
        <p:nvSpPr>
          <p:cNvPr id="66" name="Text 56"/>
          <p:cNvSpPr txBox="1"/>
          <p:nvPr/>
        </p:nvSpPr>
        <p:spPr>
          <a:xfrm>
            <a:off x="8031436" y="4736024"/>
            <a:ext cx="56235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000" dirty="0"/>
          </a:p>
        </p:txBody>
      </p:sp>
      <p:sp>
        <p:nvSpPr>
          <p:cNvPr id="67" name="Text 57"/>
          <p:cNvSpPr txBox="1"/>
          <p:nvPr/>
        </p:nvSpPr>
        <p:spPr>
          <a:xfrm>
            <a:off x="7825435" y="4943246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마스터 영상</a:t>
            </a:r>
            <a:endParaRPr lang="en-US" sz="1050" dirty="0"/>
          </a:p>
        </p:txBody>
      </p:sp>
      <p:sp>
        <p:nvSpPr>
          <p:cNvPr id="68" name="Text 58"/>
          <p:cNvSpPr txBox="1"/>
          <p:nvPr/>
        </p:nvSpPr>
        <p:spPr>
          <a:xfrm>
            <a:off x="7920533" y="5092293"/>
            <a:ext cx="80467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썸네일 이미지</a:t>
            </a:r>
            <a:endParaRPr lang="en-US" sz="1050" dirty="0"/>
          </a:p>
        </p:txBody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9385863" y="3815790"/>
            <a:ext cx="105156" cy="171907"/>
          </a:xfrm>
          <a:prstGeom prst="rect">
            <a:avLst/>
          </a:prstGeom>
        </p:spPr>
      </p:pic>
      <p:sp>
        <p:nvSpPr>
          <p:cNvPr id="70" name="Shape 59"/>
          <p:cNvSpPr/>
          <p:nvPr/>
        </p:nvSpPr>
        <p:spPr>
          <a:xfrm>
            <a:off x="9509760" y="1983333"/>
            <a:ext cx="2076602" cy="3619195"/>
          </a:xfrm>
          <a:prstGeom prst="roundRect">
            <a:avLst>
              <a:gd name="adj" fmla="val 3232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0"/>
          <p:cNvSpPr/>
          <p:nvPr/>
        </p:nvSpPr>
        <p:spPr>
          <a:xfrm>
            <a:off x="10241280" y="2535630"/>
            <a:ext cx="609905" cy="333756"/>
          </a:xfrm>
          <a:prstGeom prst="roundRect">
            <a:avLst>
              <a:gd name="adj" fmla="val 136986"/>
            </a:avLst>
          </a:prstGeom>
          <a:solidFill>
            <a:srgbClr val="FFF3EB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72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431475" y="2586837"/>
            <a:ext cx="228600" cy="228600"/>
          </a:xfrm>
          <a:prstGeom prst="rect">
            <a:avLst/>
          </a:prstGeom>
        </p:spPr>
      </p:pic>
      <p:sp>
        <p:nvSpPr>
          <p:cNvPr id="73" name="Shape 61"/>
          <p:cNvSpPr/>
          <p:nvPr/>
        </p:nvSpPr>
        <p:spPr>
          <a:xfrm>
            <a:off x="9671609" y="3743553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4" name="Shape 62"/>
          <p:cNvSpPr/>
          <p:nvPr/>
        </p:nvSpPr>
        <p:spPr>
          <a:xfrm>
            <a:off x="9671609" y="4053534"/>
            <a:ext cx="17529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5" name="Shape 63"/>
          <p:cNvSpPr/>
          <p:nvPr/>
        </p:nvSpPr>
        <p:spPr>
          <a:xfrm>
            <a:off x="9671609" y="4643322"/>
            <a:ext cx="1752905" cy="724205"/>
          </a:xfrm>
          <a:prstGeom prst="roundRect">
            <a:avLst>
              <a:gd name="adj" fmla="val 19936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6" name="Text 64"/>
          <p:cNvSpPr txBox="1"/>
          <p:nvPr/>
        </p:nvSpPr>
        <p:spPr>
          <a:xfrm>
            <a:off x="10209276" y="2231135"/>
            <a:ext cx="6766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05</a:t>
            </a:r>
            <a:endParaRPr lang="en-US" sz="1050" dirty="0"/>
          </a:p>
        </p:txBody>
      </p:sp>
      <p:sp>
        <p:nvSpPr>
          <p:cNvPr id="77" name="Text 65"/>
          <p:cNvSpPr txBox="1"/>
          <p:nvPr/>
        </p:nvSpPr>
        <p:spPr>
          <a:xfrm>
            <a:off x="10332720" y="3057753"/>
            <a:ext cx="428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</a:t>
            </a:r>
            <a:endParaRPr lang="en-US" sz="1600" dirty="0"/>
          </a:p>
        </p:txBody>
      </p:sp>
      <p:sp>
        <p:nvSpPr>
          <p:cNvPr id="78" name="Text 66"/>
          <p:cNvSpPr txBox="1"/>
          <p:nvPr/>
        </p:nvSpPr>
        <p:spPr>
          <a:xfrm>
            <a:off x="10126066" y="3495750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업로드</a:t>
            </a:r>
            <a:endParaRPr lang="en-US" sz="1100" dirty="0"/>
          </a:p>
        </p:txBody>
      </p:sp>
      <p:sp>
        <p:nvSpPr>
          <p:cNvPr id="79" name="Text 67"/>
          <p:cNvSpPr txBox="1"/>
          <p:nvPr/>
        </p:nvSpPr>
        <p:spPr>
          <a:xfrm>
            <a:off x="10046513" y="3805732"/>
            <a:ext cx="10021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메타데이터(SEO)</a:t>
            </a:r>
            <a:endParaRPr lang="en-US" sz="1100" dirty="0"/>
          </a:p>
        </p:txBody>
      </p:sp>
      <p:sp>
        <p:nvSpPr>
          <p:cNvPr id="80" name="Text 68"/>
          <p:cNvSpPr txBox="1"/>
          <p:nvPr/>
        </p:nvSpPr>
        <p:spPr>
          <a:xfrm>
            <a:off x="9984334" y="4114799"/>
            <a:ext cx="112745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분석 및 소통</a:t>
            </a:r>
            <a:endParaRPr lang="en-US" sz="1100" dirty="0"/>
          </a:p>
        </p:txBody>
      </p:sp>
      <p:sp>
        <p:nvSpPr>
          <p:cNvPr id="81" name="Text 69"/>
          <p:cNvSpPr txBox="1"/>
          <p:nvPr/>
        </p:nvSpPr>
        <p:spPr>
          <a:xfrm>
            <a:off x="10256171" y="4736024"/>
            <a:ext cx="56235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000" dirty="0"/>
          </a:p>
        </p:txBody>
      </p:sp>
      <p:sp>
        <p:nvSpPr>
          <p:cNvPr id="82" name="Text 70"/>
          <p:cNvSpPr txBox="1"/>
          <p:nvPr/>
        </p:nvSpPr>
        <p:spPr>
          <a:xfrm>
            <a:off x="10206533" y="4943246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게시물 링크</a:t>
            </a:r>
            <a:endParaRPr lang="en-US" sz="1050" dirty="0"/>
          </a:p>
        </p:txBody>
      </p:sp>
      <p:sp>
        <p:nvSpPr>
          <p:cNvPr id="83" name="Text 71"/>
          <p:cNvSpPr txBox="1"/>
          <p:nvPr/>
        </p:nvSpPr>
        <p:spPr>
          <a:xfrm>
            <a:off x="10206533" y="5092293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리포트</a:t>
            </a:r>
            <a:endParaRPr lang="en-US" sz="1050" dirty="0"/>
          </a:p>
        </p:txBody>
      </p:sp>
      <p:sp>
        <p:nvSpPr>
          <p:cNvPr id="8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8223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01: PLANNING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327629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: 기획</a:t>
            </a:r>
            <a:endParaRPr lang="en-US" sz="36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C7DF3D1-2416-F2AB-3CA5-5901B66B23FD}"/>
              </a:ext>
            </a:extLst>
          </p:cNvPr>
          <p:cNvGrpSpPr/>
          <p:nvPr/>
        </p:nvGrpSpPr>
        <p:grpSpPr>
          <a:xfrm>
            <a:off x="609905" y="1577340"/>
            <a:ext cx="5771692" cy="4762194"/>
            <a:chOff x="609905" y="1577340"/>
            <a:chExt cx="5771692" cy="4059936"/>
          </a:xfrm>
        </p:grpSpPr>
        <p:sp>
          <p:nvSpPr>
            <p:cNvPr id="7" name="Shape 5"/>
            <p:cNvSpPr/>
            <p:nvPr/>
          </p:nvSpPr>
          <p:spPr>
            <a:xfrm>
              <a:off x="609905" y="1577340"/>
              <a:ext cx="5581498" cy="1285646"/>
            </a:xfrm>
            <a:prstGeom prst="roundRect">
              <a:avLst>
                <a:gd name="adj" fmla="val 6322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1577340"/>
              <a:ext cx="38405" cy="1285646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123798" y="1805940"/>
              <a:ext cx="502920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 핵심 목표</a:t>
              </a:r>
              <a:endParaRPr lang="en-US" sz="1400" dirty="0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75995" y="1848917"/>
              <a:ext cx="171907" cy="171907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875995" y="2139696"/>
              <a:ext cx="5162702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"누구에게, 어떤 가치를, 어떤 방식으로 전달할 것인가?"를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명확히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정의하여 콘텐츠의 방향성을 잃지 않도록 합니다.</a:t>
              </a:r>
              <a:endParaRPr lang="en-US" sz="1400" dirty="0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3255264"/>
              <a:ext cx="152705" cy="152705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875995" y="3160166"/>
              <a:ext cx="5505602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타겟 오디언스 &amp; 페르소나 설정</a:t>
              </a:r>
              <a:endParaRPr lang="en-US" sz="1400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875995" y="3455518"/>
              <a:ext cx="53913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구체적인 시청자층(나이, 관심사, 고민)을 정의하고,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그들의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니즈를 해결하거나 공감을 이끌어낼 포인트를 찾습니다.</a:t>
              </a:r>
              <a:endParaRPr lang="en-US" sz="1200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4132174"/>
              <a:ext cx="152705" cy="15270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875995" y="4036162"/>
              <a:ext cx="54297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톤앤매너(Tone &amp; Manner) 정의</a:t>
              </a:r>
              <a:endParaRPr lang="en-US" sz="14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875995" y="4331513"/>
              <a:ext cx="53913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콘텐츠의 분위기(진지함, 유머러스함, 감성적 등)와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시각적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스타일을 결정하여 일관된 브랜드 이미지를 구축합니다.</a:t>
              </a:r>
              <a:endParaRPr lang="en-US" sz="120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5008169"/>
              <a:ext cx="152705" cy="152705"/>
            </a:xfrm>
            <a:prstGeom prst="rect">
              <a:avLst/>
            </a:prstGeom>
          </p:spPr>
        </p:pic>
        <p:sp>
          <p:nvSpPr>
            <p:cNvPr id="19" name="Text 13"/>
            <p:cNvSpPr txBox="1"/>
            <p:nvPr/>
          </p:nvSpPr>
          <p:spPr>
            <a:xfrm>
              <a:off x="875995" y="4913071"/>
              <a:ext cx="5505602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아이디어 소스 &amp; 레퍼런스</a:t>
              </a:r>
              <a:endParaRPr lang="en-US" sz="14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875995" y="5208422"/>
              <a:ext cx="53913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유튜브 트렌드, 커뮤니티 반응, 경쟁 채널 분석을 </a:t>
              </a: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통해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검증된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소재를 발굴하고 차별화 요소를 기획합니다.</a:t>
              </a:r>
              <a:endParaRPr lang="en-US" sz="1200" dirty="0"/>
            </a:p>
          </p:txBody>
        </p:sp>
      </p:grp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15382" r="15382"/>
          <a:stretch/>
        </p:blipFill>
        <p:spPr>
          <a:xfrm>
            <a:off x="6644945" y="1607515"/>
            <a:ext cx="4943246" cy="476219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73545" y="4865522"/>
            <a:ext cx="4486046" cy="1276502"/>
          </a:xfrm>
          <a:prstGeom prst="roundRect">
            <a:avLst>
              <a:gd name="adj" fmla="val 855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073798" y="5084064"/>
            <a:ext cx="1028700" cy="247802"/>
          </a:xfrm>
          <a:prstGeom prst="roundRect">
            <a:avLst>
              <a:gd name="adj" fmla="val 283849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88098" y="5122469"/>
            <a:ext cx="8823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OUTPUT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073798" y="5484571"/>
            <a:ext cx="17620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크리에이티브 브리프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73798" y="5751576"/>
            <a:ext cx="18589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Creative Brief &amp; Proposal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0906049" y="5637276"/>
            <a:ext cx="114300" cy="152705"/>
          </a:xfrm>
          <a:prstGeom prst="rect">
            <a:avLst/>
          </a:prstGeom>
        </p:spPr>
      </p:pic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254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02: STORYTELLING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492587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: 스토리텔링</a:t>
            </a:r>
            <a:endParaRPr lang="en-US" sz="36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3F2B0BB-B910-603C-751A-233B78744086}"/>
              </a:ext>
            </a:extLst>
          </p:cNvPr>
          <p:cNvGrpSpPr/>
          <p:nvPr/>
        </p:nvGrpSpPr>
        <p:grpSpPr>
          <a:xfrm>
            <a:off x="609905" y="1577340"/>
            <a:ext cx="5695797" cy="4698274"/>
            <a:chOff x="609905" y="1577340"/>
            <a:chExt cx="5695797" cy="4267496"/>
          </a:xfrm>
        </p:grpSpPr>
        <p:sp>
          <p:nvSpPr>
            <p:cNvPr id="7" name="Shape 5"/>
            <p:cNvSpPr/>
            <p:nvPr/>
          </p:nvSpPr>
          <p:spPr>
            <a:xfrm>
              <a:off x="609905" y="1577340"/>
              <a:ext cx="5581498" cy="1285646"/>
            </a:xfrm>
            <a:prstGeom prst="roundRect">
              <a:avLst>
                <a:gd name="adj" fmla="val 6322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1577340"/>
              <a:ext cx="38405" cy="1285646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123798" y="1805940"/>
              <a:ext cx="502920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 이야기 설계의 힘</a:t>
              </a:r>
              <a:endParaRPr lang="en-US" sz="1400" dirty="0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75995" y="1848917"/>
              <a:ext cx="171907" cy="171907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875995" y="2139696"/>
              <a:ext cx="5162702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"시청자를 3초 안에 사로잡고 끝까지 보게 만드는 </a:t>
              </a: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구조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 단순 정보 전달을 넘어 감정적 연결과 몰입을 </a:t>
              </a: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유도하는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내러티브를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완성합니다.</a:t>
              </a:r>
              <a:endParaRPr lang="en-US" sz="1400" dirty="0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3255264"/>
              <a:ext cx="152705" cy="152705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875995" y="3160166"/>
              <a:ext cx="54297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3막 구조 &amp; 훅(Hook)</a:t>
              </a:r>
              <a:endParaRPr lang="en-US" sz="1400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875995" y="3411417"/>
              <a:ext cx="5220005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오프닝 3초 안에 시선을 끄는 강력한 훅, 갈등과 해결의 본론,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명확한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결말의 구조로 이탈률을 최소화합니다.</a:t>
              </a:r>
              <a:endParaRPr lang="en-US" sz="1200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4245422"/>
              <a:ext cx="152705" cy="15270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875995" y="4149410"/>
              <a:ext cx="54297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스크립트 작성(Script Writing)</a:t>
              </a:r>
              <a:endParaRPr lang="en-US" sz="14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875995" y="4400660"/>
              <a:ext cx="5220005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자연스러운 구어체 사용, B-roll(자료화면) 및 자막 타이밍을 </a:t>
              </a: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포함한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시각적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지시문으로 촬영 효율을 높입니다.</a:t>
              </a:r>
              <a:endParaRPr lang="en-US" sz="120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5259830"/>
              <a:ext cx="152705" cy="152705"/>
            </a:xfrm>
            <a:prstGeom prst="rect">
              <a:avLst/>
            </a:prstGeom>
          </p:spPr>
        </p:pic>
        <p:sp>
          <p:nvSpPr>
            <p:cNvPr id="19" name="Text 13"/>
            <p:cNvSpPr txBox="1"/>
            <p:nvPr/>
          </p:nvSpPr>
          <p:spPr>
            <a:xfrm>
              <a:off x="875995" y="5164732"/>
              <a:ext cx="54297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콜투액션(Call to Action)</a:t>
              </a:r>
              <a:endParaRPr lang="en-US" sz="14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875995" y="5415982"/>
              <a:ext cx="5220005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"구독과 좋아요", "댓글 참여" 등 시청자가 영상 시청 후 취해야 할 </a:t>
              </a: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행동을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명확하게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제안하여 참여도를 높입니다.</a:t>
              </a:r>
              <a:endParaRPr lang="en-US" sz="1200" dirty="0"/>
            </a:p>
          </p:txBody>
        </p:sp>
      </p:grp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11022" r="11022"/>
          <a:stretch/>
        </p:blipFill>
        <p:spPr>
          <a:xfrm>
            <a:off x="6644945" y="1607515"/>
            <a:ext cx="4943246" cy="476219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73545" y="4865522"/>
            <a:ext cx="4486046" cy="1276502"/>
          </a:xfrm>
          <a:prstGeom prst="roundRect">
            <a:avLst>
              <a:gd name="adj" fmla="val 855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073798" y="5084064"/>
            <a:ext cx="1028700" cy="247802"/>
          </a:xfrm>
          <a:prstGeom prst="roundRect">
            <a:avLst>
              <a:gd name="adj" fmla="val 283849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88098" y="5122469"/>
            <a:ext cx="8823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OUTPUT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073798" y="5484571"/>
            <a:ext cx="209214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 대본 &amp; 스토리보드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73798" y="5751576"/>
            <a:ext cx="1772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 &amp; Storyboard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86846" y="5637276"/>
            <a:ext cx="152705" cy="152705"/>
          </a:xfrm>
          <a:prstGeom prst="rect">
            <a:avLst/>
          </a:prstGeom>
        </p:spPr>
      </p:pic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381305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381305"/>
            <a:ext cx="2041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03: PRODUCTION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50723"/>
            <a:ext cx="653064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: 제작 (촬영 및 녹음)</a:t>
            </a:r>
            <a:endParaRPr lang="en-US" sz="31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104EDFB-C830-0569-A7CC-10B832974C3E}"/>
              </a:ext>
            </a:extLst>
          </p:cNvPr>
          <p:cNvGrpSpPr/>
          <p:nvPr/>
        </p:nvGrpSpPr>
        <p:grpSpPr>
          <a:xfrm>
            <a:off x="609905" y="1662903"/>
            <a:ext cx="5695797" cy="4558675"/>
            <a:chOff x="609905" y="1662903"/>
            <a:chExt cx="5695797" cy="4001141"/>
          </a:xfrm>
        </p:grpSpPr>
        <p:sp>
          <p:nvSpPr>
            <p:cNvPr id="7" name="Shape 5"/>
            <p:cNvSpPr/>
            <p:nvPr/>
          </p:nvSpPr>
          <p:spPr>
            <a:xfrm>
              <a:off x="609905" y="1662903"/>
              <a:ext cx="5581498" cy="1114654"/>
            </a:xfrm>
            <a:prstGeom prst="roundRect">
              <a:avLst>
                <a:gd name="adj" fmla="val 8414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1662903"/>
              <a:ext cx="38405" cy="1114654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095451" y="1853098"/>
              <a:ext cx="502005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 고품질 원본 확보 (Source Quality)</a:t>
              </a:r>
              <a:endParaRPr lang="en-US" sz="1400" dirty="0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 t="-284" b="-284"/>
            <a:stretch/>
          </p:blipFill>
          <p:spPr>
            <a:xfrm>
              <a:off x="838505" y="1894246"/>
              <a:ext cx="181051" cy="161849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838505" y="2153936"/>
              <a:ext cx="523951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"편집으로 살릴 수 없는 것은 없습니다." 촬영과 녹음 </a:t>
              </a: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단계에서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기술적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결함 없는 최상의 원본 퀄리티를 확보하는 것이 핵심입니다.</a:t>
              </a:r>
              <a:endParaRPr lang="en-US" sz="1400" dirty="0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3151409"/>
              <a:ext cx="142646" cy="142646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866851" y="3076428"/>
              <a:ext cx="5438851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촬영 기술 (Cinematography)</a:t>
              </a:r>
              <a:endParaRPr lang="en-US" sz="1400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866851" y="3348005"/>
              <a:ext cx="5401361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180도 규칙 준수로 공간감 유지, 삼등분 구도(Rule of Thirds)를 </a:t>
              </a: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통한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안정적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프레이밍, 키라이트와 필라이트를 활용한 입체적 조명 배치.</a:t>
              </a:r>
              <a:endParaRPr lang="en-US" sz="1200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4111271"/>
              <a:ext cx="142646" cy="142646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866851" y="4036290"/>
              <a:ext cx="5438851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오디오 녹음 (Audio Recording)</a:t>
              </a:r>
              <a:endParaRPr lang="en-US" sz="14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866851" y="4307867"/>
              <a:ext cx="5401361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환경에 맞는 마이크 선택(지향성 샷건 vs 라발리에),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윈드스크린으로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노이즈 최소화, 피크가 뜨지 않는 적정 게인(Gain) 확보.</a:t>
              </a:r>
              <a:endParaRPr lang="en-US" sz="120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5066941"/>
              <a:ext cx="142646" cy="142646"/>
            </a:xfrm>
            <a:prstGeom prst="rect">
              <a:avLst/>
            </a:prstGeom>
          </p:spPr>
        </p:pic>
        <p:sp>
          <p:nvSpPr>
            <p:cNvPr id="19" name="Text 13"/>
            <p:cNvSpPr txBox="1"/>
            <p:nvPr/>
          </p:nvSpPr>
          <p:spPr>
            <a:xfrm>
              <a:off x="866851" y="4991960"/>
              <a:ext cx="5438851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소스 관리 (File Management)</a:t>
              </a:r>
              <a:endParaRPr lang="en-US" sz="14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866851" y="5263537"/>
              <a:ext cx="5401361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날짜_씬_테이크 규칙으로 파일명 통일, 촬영 직후 현장 백업(더블 백업),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스크립터의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OK/NG컷 기록 관리.</a:t>
              </a:r>
              <a:endParaRPr lang="en-US" sz="1200" dirty="0"/>
            </a:p>
          </p:txBody>
        </p:sp>
      </p:grp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19659" r="19659"/>
          <a:stretch/>
        </p:blipFill>
        <p:spPr>
          <a:xfrm>
            <a:off x="6644945" y="1649578"/>
            <a:ext cx="4943246" cy="45720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35140" y="4892954"/>
            <a:ext cx="4562856" cy="1143000"/>
          </a:xfrm>
          <a:prstGeom prst="roundRect">
            <a:avLst>
              <a:gd name="adj" fmla="val 10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035394" y="5083150"/>
            <a:ext cx="961949" cy="237744"/>
          </a:xfrm>
          <a:prstGeom prst="roundRect">
            <a:avLst>
              <a:gd name="adj" fmla="val 307692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49694" y="5121554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OUTPUT</a:t>
            </a:r>
            <a:endParaRPr lang="en-US" sz="800" dirty="0"/>
          </a:p>
        </p:txBody>
      </p:sp>
      <p:sp>
        <p:nvSpPr>
          <p:cNvPr id="25" name="Text 18"/>
          <p:cNvSpPr txBox="1"/>
          <p:nvPr/>
        </p:nvSpPr>
        <p:spPr>
          <a:xfrm>
            <a:off x="7035394" y="5412334"/>
            <a:ext cx="17903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클립 &amp; 오디오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35394" y="5678424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Footage &amp; Audio Files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25251" y="5564124"/>
            <a:ext cx="152705" cy="152705"/>
          </a:xfrm>
          <a:prstGeom prst="rect">
            <a:avLst/>
          </a:prstGeom>
        </p:spPr>
      </p:pic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381305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381305"/>
            <a:ext cx="17117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04: EDITING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647395"/>
            <a:ext cx="300289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: 편집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609905" y="1398118"/>
            <a:ext cx="5581498" cy="1589150"/>
          </a:xfrm>
          <a:prstGeom prst="roundRect">
            <a:avLst>
              <a:gd name="adj" fmla="val 8275"/>
            </a:avLst>
          </a:prstGeom>
          <a:solidFill>
            <a:srgbClr val="FFF9F5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8" name="Shape 6"/>
          <p:cNvSpPr/>
          <p:nvPr/>
        </p:nvSpPr>
        <p:spPr>
          <a:xfrm>
            <a:off x="609905" y="1398118"/>
            <a:ext cx="38405" cy="1589150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1086307" y="1533035"/>
            <a:ext cx="5106010" cy="36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후반 작업의 마법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505" y="1593808"/>
            <a:ext cx="171907" cy="24309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38505" y="1977840"/>
            <a:ext cx="5239512" cy="606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편집은 단순한 '자르기'가 아닙니다.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영상에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호흡과 리듬을 부여하고, 시청각적 요소를 결합해 </a:t>
            </a: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스토리의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몰입도를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극대화하는 제2의 연출 과정입니다.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3377765"/>
            <a:ext cx="152705" cy="2159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75995" y="3257513"/>
            <a:ext cx="5429707" cy="35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컷 편집 &amp; 리듬감 (Cutting &amp; Rhythm)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75995" y="3641547"/>
            <a:ext cx="5391302" cy="56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부분을 덜어내고 L-cut, J-cut을 활용해 매끄럽게 연결합니다.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영상의</a:t>
            </a: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템포를 조절하여 지루함을 없애는 것이 핵심입니다.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609905" y="4542796"/>
            <a:ext cx="171907" cy="2159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5198" y="4422543"/>
            <a:ext cx="5410505" cy="35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자막 &amp; 그래픽 (Subtitles &amp; Graphics)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95198" y="4806577"/>
            <a:ext cx="5372100" cy="56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전달을 위한 가독성 높은 자막과 시선을 끄는 모션 그래픽을 추가합니다.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폰트와</a:t>
            </a: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컬러의 일관성을 유지해야 합니다.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5" y="5707828"/>
            <a:ext cx="152705" cy="2159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5995" y="5587575"/>
            <a:ext cx="5429707" cy="35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색보정 &amp; 포맷 설정 (Color &amp; Format)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75995" y="5971608"/>
            <a:ext cx="5391302" cy="56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컬러 그레이딩으로 영상의 무드(Mood)를 설정하고,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플랫폼별</a:t>
            </a: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최적화된 해상도(4K/FHD)와 비율(16:9/9:16)로 출력합니다.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10849" r="10849"/>
          <a:stretch/>
        </p:blipFill>
        <p:spPr>
          <a:xfrm>
            <a:off x="6800141" y="588416"/>
            <a:ext cx="4943246" cy="45720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73545" y="5375758"/>
            <a:ext cx="4486046" cy="1162202"/>
          </a:xfrm>
          <a:prstGeom prst="roundRect">
            <a:avLst>
              <a:gd name="adj" fmla="val 1031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Shape 16"/>
          <p:cNvSpPr/>
          <p:nvPr/>
        </p:nvSpPr>
        <p:spPr>
          <a:xfrm>
            <a:off x="7073798" y="5565954"/>
            <a:ext cx="1029967" cy="237744"/>
          </a:xfrm>
          <a:prstGeom prst="roundRect">
            <a:avLst>
              <a:gd name="adj" fmla="val 307692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Text 17"/>
          <p:cNvSpPr txBox="1"/>
          <p:nvPr/>
        </p:nvSpPr>
        <p:spPr>
          <a:xfrm>
            <a:off x="7188098" y="5604358"/>
            <a:ext cx="128058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OUTPUT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073798" y="5913426"/>
            <a:ext cx="190926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편집본 &amp; 마스터 파일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073798" y="6180430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Cut &amp; Master File</a:t>
            </a:r>
            <a:endParaRPr lang="en-US" sz="10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10906049" y="6066130"/>
            <a:ext cx="114300" cy="152705"/>
          </a:xfrm>
          <a:prstGeom prst="rect">
            <a:avLst/>
          </a:prstGeom>
        </p:spPr>
      </p:pic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252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05: DISTRIBUTION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603138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: 배포 및 최적화</a:t>
            </a:r>
            <a:endParaRPr lang="en-US" sz="36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7462702-72F3-8CC3-2890-D3EA9AB55920}"/>
              </a:ext>
            </a:extLst>
          </p:cNvPr>
          <p:cNvGrpSpPr/>
          <p:nvPr/>
        </p:nvGrpSpPr>
        <p:grpSpPr>
          <a:xfrm>
            <a:off x="609905" y="1577340"/>
            <a:ext cx="5771692" cy="4823460"/>
            <a:chOff x="609905" y="1577340"/>
            <a:chExt cx="5771692" cy="3983127"/>
          </a:xfrm>
        </p:grpSpPr>
        <p:sp>
          <p:nvSpPr>
            <p:cNvPr id="7" name="Shape 5"/>
            <p:cNvSpPr/>
            <p:nvPr/>
          </p:nvSpPr>
          <p:spPr>
            <a:xfrm>
              <a:off x="609905" y="1577340"/>
              <a:ext cx="5581498" cy="1285646"/>
            </a:xfrm>
            <a:prstGeom prst="roundRect">
              <a:avLst>
                <a:gd name="adj" fmla="val 6322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1577340"/>
              <a:ext cx="38405" cy="1285646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123798" y="1805940"/>
              <a:ext cx="502920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 도달률 극대화 전략</a:t>
              </a:r>
              <a:endParaRPr lang="en-US" sz="1400" dirty="0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75995" y="1848917"/>
              <a:ext cx="171907" cy="171907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875995" y="2139696"/>
              <a:ext cx="5162702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"콘텐츠는 업로드되는 순간 끝나는 것이 아니라 시작됩니다." 플랫폼별 알고리즘에 맞춘 최적화와 능동적인 커뮤니티 관리가 필수적입니다.</a:t>
              </a:r>
              <a:endParaRPr lang="en-US" sz="1400" dirty="0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3179369"/>
              <a:ext cx="152705" cy="152705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875995" y="3084271"/>
              <a:ext cx="54297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플랫폼별 최적화 (SEO)</a:t>
              </a:r>
              <a:endParaRPr lang="en-US" sz="1400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875995" y="3379622"/>
              <a:ext cx="53913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유튜브(제목/설명/태그), 인스타그램(해시태그/릴스), 틱톡(트렌딩 음원) 등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각 플랫폼의 노출 로직에 맞춰 메타데이터를 정교하게 설정합니다.</a:t>
              </a:r>
              <a:endParaRPr lang="en-US" sz="1200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4055364"/>
              <a:ext cx="152705" cy="15270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875995" y="3960266"/>
              <a:ext cx="5505602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게시 스케줄링 &amp; 타이밍</a:t>
              </a:r>
              <a:endParaRPr lang="en-US" sz="14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875995" y="4255618"/>
              <a:ext cx="53913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타겟 오디언스가 가장 활발히 활동하는 시간대를 분석하여 업로드하고,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정기적인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콘텐츠 캘린더를 통해 시청 습관을 형성합니다.</a:t>
              </a:r>
              <a:endParaRPr lang="en-US" sz="120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4932274"/>
              <a:ext cx="152705" cy="152705"/>
            </a:xfrm>
            <a:prstGeom prst="rect">
              <a:avLst/>
            </a:prstGeom>
          </p:spPr>
        </p:pic>
        <p:sp>
          <p:nvSpPr>
            <p:cNvPr id="19" name="Text 13"/>
            <p:cNvSpPr txBox="1"/>
            <p:nvPr/>
          </p:nvSpPr>
          <p:spPr>
            <a:xfrm>
              <a:off x="875995" y="4836262"/>
              <a:ext cx="54297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커뮤니티 관리 (Engagement)</a:t>
              </a:r>
              <a:endParaRPr lang="en-US" sz="14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875995" y="5131613"/>
              <a:ext cx="53913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초반 1시간 댓글 대응, 고정 댓글 활용, 커뮤니티 탭 설문조사 등을 </a:t>
              </a: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통해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시청자와의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상호작용을 높이고 팬덤을 강화합니다.</a:t>
              </a:r>
              <a:endParaRPr lang="en-US" sz="1200" dirty="0"/>
            </a:p>
          </p:txBody>
        </p:sp>
      </p:grp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13021" r="13021"/>
          <a:stretch/>
        </p:blipFill>
        <p:spPr>
          <a:xfrm>
            <a:off x="6644945" y="1607515"/>
            <a:ext cx="4943246" cy="476219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73545" y="4865522"/>
            <a:ext cx="4486046" cy="1276502"/>
          </a:xfrm>
          <a:prstGeom prst="roundRect">
            <a:avLst>
              <a:gd name="adj" fmla="val 855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073798" y="5084064"/>
            <a:ext cx="1028700" cy="247802"/>
          </a:xfrm>
          <a:prstGeom prst="roundRect">
            <a:avLst>
              <a:gd name="adj" fmla="val 283849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88098" y="5122469"/>
            <a:ext cx="8823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OUTPUT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073798" y="5484571"/>
            <a:ext cx="20473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게시물 &amp; 데이터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73798" y="5751576"/>
            <a:ext cx="22558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Published Content &amp; Analytics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10896905" y="5637276"/>
            <a:ext cx="133502" cy="152705"/>
          </a:xfrm>
          <a:prstGeom prst="rect">
            <a:avLst/>
          </a:prstGeom>
        </p:spPr>
      </p:pic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8223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01: PLANNING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94015" y="317297"/>
            <a:ext cx="3937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오디언스 분석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94944" y="1067105"/>
            <a:ext cx="3504895" cy="5619902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4917" b="4917"/>
          <a:stretch/>
        </p:blipFill>
        <p:spPr>
          <a:xfrm>
            <a:off x="704088" y="1076249"/>
            <a:ext cx="3486607" cy="20958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2688" y="3400654"/>
            <a:ext cx="1190549" cy="247802"/>
          </a:xfrm>
          <a:prstGeom prst="roundRect">
            <a:avLst>
              <a:gd name="adj" fmla="val 17031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046988" y="3439058"/>
            <a:ext cx="1038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 TARGET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762756"/>
            <a:ext cx="31437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 새내기 (The Newbie)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4114800"/>
            <a:ext cx="3143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20세 · 대학교 1학년 · 서울 거주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2688" y="4500677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12304" y="4467758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932688" y="4677156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캠퍼스 라이프, 맛집 탐방, OOTD,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연애</a:t>
            </a: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아이패드 꾸미기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2688" y="5224882"/>
            <a:ext cx="114300" cy="1143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12304" y="5191049"/>
            <a:ext cx="11896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고민 (PAIN POINT)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932688" y="5400446"/>
            <a:ext cx="35990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환경 적응, 용돈 관리, 인간관계 형성의 어려움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32688" y="5867705"/>
            <a:ext cx="3029407" cy="580644"/>
          </a:xfrm>
          <a:prstGeom prst="roundRect">
            <a:avLst>
              <a:gd name="adj" fmla="val 3098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5"/>
          <p:cNvSpPr txBox="1"/>
          <p:nvPr/>
        </p:nvSpPr>
        <p:spPr>
          <a:xfrm>
            <a:off x="901599" y="6018799"/>
            <a:ext cx="28767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대학 생활 꿀팁이나 선배들의 현실적인 </a:t>
            </a:r>
            <a:r>
              <a:rPr lang="en-US" sz="1000" i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조언이</a:t>
            </a:r>
            <a:r>
              <a:rPr lang="en-US" sz="1000" i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00" i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담긴</a:t>
            </a:r>
            <a:r>
              <a:rPr lang="en-US" sz="1000" i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브이로그를 주로 봐요. 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1068019" y="6032297"/>
            <a:ext cx="85954" cy="95098"/>
          </a:xfrm>
          <a:prstGeom prst="rect">
            <a:avLst/>
          </a:prstGeom>
        </p:spPr>
      </p:pic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3036112" y="6171504"/>
            <a:ext cx="85954" cy="9509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428439" y="1067105"/>
            <a:ext cx="3514954" cy="5619902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t="5035" b="5035"/>
          <a:stretch/>
        </p:blipFill>
        <p:spPr>
          <a:xfrm>
            <a:off x="4437583" y="1076249"/>
            <a:ext cx="3495751" cy="209580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666183" y="3400654"/>
            <a:ext cx="1380744" cy="247802"/>
          </a:xfrm>
          <a:prstGeom prst="roundRect">
            <a:avLst>
              <a:gd name="adj" fmla="val 170310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4780483" y="3439058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SECONDARY TARGET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666183" y="3762756"/>
            <a:ext cx="31528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취업 준비생 (The Seeker)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666183" y="4114800"/>
            <a:ext cx="31528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24-26세 · 대학교 4학년/졸업생</a:t>
            </a:r>
            <a:endParaRPr lang="en-US" sz="11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6183" y="4700930"/>
            <a:ext cx="114300" cy="1143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845799" y="4667098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</a:t>
            </a:r>
            <a:endParaRPr lang="en-US" sz="1050" dirty="0"/>
          </a:p>
        </p:txBody>
      </p:sp>
      <p:sp>
        <p:nvSpPr>
          <p:cNvPr id="31" name="Text 22"/>
          <p:cNvSpPr txBox="1"/>
          <p:nvPr/>
        </p:nvSpPr>
        <p:spPr>
          <a:xfrm>
            <a:off x="4666183" y="4877410"/>
            <a:ext cx="3679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자격증, 인턴십, 자기소개서, 멘탈 관리, 동기부여 영상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6183" y="5224882"/>
            <a:ext cx="114300" cy="1143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845799" y="5191049"/>
            <a:ext cx="11896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고민 (PAIN POINT)</a:t>
            </a:r>
            <a:endParaRPr lang="en-US" sz="1050" dirty="0"/>
          </a:p>
        </p:txBody>
      </p:sp>
      <p:sp>
        <p:nvSpPr>
          <p:cNvPr id="34" name="Text 24"/>
          <p:cNvSpPr txBox="1"/>
          <p:nvPr/>
        </p:nvSpPr>
        <p:spPr>
          <a:xfrm>
            <a:off x="4666183" y="5400446"/>
            <a:ext cx="34710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불확실한 미래에 대한 불안감, 정보 부족, 시간 관리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666183" y="5867705"/>
            <a:ext cx="3038551" cy="580644"/>
          </a:xfrm>
          <a:prstGeom prst="roundRect">
            <a:avLst>
              <a:gd name="adj" fmla="val 3098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Text 26"/>
          <p:cNvSpPr txBox="1"/>
          <p:nvPr/>
        </p:nvSpPr>
        <p:spPr>
          <a:xfrm>
            <a:off x="4625950" y="6018799"/>
            <a:ext cx="28867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짧은 시간에 확실한 정보를 얻거나, 공부할 때 </a:t>
            </a:r>
          </a:p>
          <a:p>
            <a:pPr marL="0" indent="0" algn="ctr">
              <a:buNone/>
            </a:pPr>
            <a:r>
              <a:rPr lang="en-US" sz="1000" i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틀어놓을</a:t>
            </a:r>
            <a:r>
              <a:rPr lang="en-US" sz="1000" i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 있는 콘텐츠가 필요해요. </a:t>
            </a:r>
            <a:endParaRPr lang="en-US" sz="10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4822546" y="6032297"/>
            <a:ext cx="95098" cy="95098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050939" y="6195278"/>
            <a:ext cx="85954" cy="95098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8161934" y="1067105"/>
            <a:ext cx="3504895" cy="5619902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0"/>
          <a:srcRect t="4917" b="4917"/>
          <a:stretch/>
        </p:blipFill>
        <p:spPr>
          <a:xfrm>
            <a:off x="8171993" y="1076249"/>
            <a:ext cx="3486607" cy="2095805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8400593" y="3400654"/>
            <a:ext cx="1047902" cy="247802"/>
          </a:xfrm>
          <a:prstGeom prst="roundRect">
            <a:avLst>
              <a:gd name="adj" fmla="val 170310"/>
            </a:avLst>
          </a:prstGeom>
          <a:solidFill>
            <a:srgbClr val="6666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9"/>
          <p:cNvSpPr txBox="1"/>
          <p:nvPr/>
        </p:nvSpPr>
        <p:spPr>
          <a:xfrm>
            <a:off x="8514893" y="3439058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NICHE TARGET</a:t>
            </a:r>
            <a:endParaRPr lang="en-US" sz="900" dirty="0"/>
          </a:p>
        </p:txBody>
      </p:sp>
      <p:sp>
        <p:nvSpPr>
          <p:cNvPr id="43" name="Text 30"/>
          <p:cNvSpPr txBox="1"/>
          <p:nvPr/>
        </p:nvSpPr>
        <p:spPr>
          <a:xfrm>
            <a:off x="8400593" y="3762756"/>
            <a:ext cx="318119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동아리 운영진 (The Leader)</a:t>
            </a:r>
            <a:endParaRPr lang="en-US" sz="1600" dirty="0"/>
          </a:p>
        </p:txBody>
      </p:sp>
      <p:sp>
        <p:nvSpPr>
          <p:cNvPr id="44" name="Text 31"/>
          <p:cNvSpPr txBox="1"/>
          <p:nvPr/>
        </p:nvSpPr>
        <p:spPr>
          <a:xfrm>
            <a:off x="8400593" y="4114800"/>
            <a:ext cx="3143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21-23세 · 과대표/학회장 활동</a:t>
            </a:r>
            <a:endParaRPr lang="en-US" sz="11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00593" y="4700930"/>
            <a:ext cx="114300" cy="114300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8580209" y="4667098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</a:t>
            </a:r>
            <a:endParaRPr lang="en-US" sz="1050" dirty="0"/>
          </a:p>
        </p:txBody>
      </p:sp>
      <p:sp>
        <p:nvSpPr>
          <p:cNvPr id="47" name="Text 33"/>
          <p:cNvSpPr txBox="1"/>
          <p:nvPr/>
        </p:nvSpPr>
        <p:spPr>
          <a:xfrm>
            <a:off x="8400593" y="4877410"/>
            <a:ext cx="34235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리더십, 행사 기획, 홍보 디자인, 팀워크, 네트워킹</a:t>
            </a:r>
            <a:endParaRPr lang="en-US" sz="11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00593" y="5224882"/>
            <a:ext cx="114300" cy="114300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8580209" y="5191049"/>
            <a:ext cx="11896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고민 (PAIN POINT)</a:t>
            </a:r>
            <a:endParaRPr lang="en-US" sz="1050" dirty="0"/>
          </a:p>
        </p:txBody>
      </p:sp>
      <p:sp>
        <p:nvSpPr>
          <p:cNvPr id="50" name="Text 35"/>
          <p:cNvSpPr txBox="1"/>
          <p:nvPr/>
        </p:nvSpPr>
        <p:spPr>
          <a:xfrm>
            <a:off x="8400593" y="5400446"/>
            <a:ext cx="3551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신입 부원 모집, 예산 부족, 효율적인 회의 진행 방법</a:t>
            </a:r>
            <a:endParaRPr lang="en-US" sz="1100" dirty="0"/>
          </a:p>
        </p:txBody>
      </p:sp>
      <p:sp>
        <p:nvSpPr>
          <p:cNvPr id="51" name="Shape 36"/>
          <p:cNvSpPr/>
          <p:nvPr/>
        </p:nvSpPr>
        <p:spPr>
          <a:xfrm>
            <a:off x="8400593" y="5867705"/>
            <a:ext cx="3029407" cy="580644"/>
          </a:xfrm>
          <a:prstGeom prst="roundRect">
            <a:avLst>
              <a:gd name="adj" fmla="val 3098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2" name="Text 37"/>
          <p:cNvSpPr txBox="1"/>
          <p:nvPr/>
        </p:nvSpPr>
        <p:spPr>
          <a:xfrm>
            <a:off x="8382610" y="6018799"/>
            <a:ext cx="28767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사람들을 모으고 조직을 이끄는 데 도움이 </a:t>
            </a:r>
            <a:r>
              <a:rPr lang="en-US" sz="1000" i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되는</a:t>
            </a:r>
            <a:r>
              <a:rPr lang="en-US" sz="1000" i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00" i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실무적인</a:t>
            </a:r>
            <a:r>
              <a:rPr lang="en-US" sz="1000" i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팁이 궁금해요. </a:t>
            </a:r>
            <a:endParaRPr lang="en-US" sz="1000" dirty="0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8517636" y="6032297"/>
            <a:ext cx="85954" cy="95098"/>
          </a:xfrm>
          <a:prstGeom prst="rect">
            <a:avLst/>
          </a:prstGeom>
        </p:spPr>
      </p:pic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10441533" y="6191968"/>
            <a:ext cx="85954" cy="95098"/>
          </a:xfrm>
          <a:prstGeom prst="rect">
            <a:avLst/>
          </a:prstGeom>
        </p:spPr>
      </p:pic>
      <p:sp>
        <p:nvSpPr>
          <p:cNvPr id="5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8223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01: PLANNING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761878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발굴과 트렌드 도구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3281782" y="1881835"/>
            <a:ext cx="58155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369003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972300" y="1881835"/>
            <a:ext cx="6483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128102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737799" y="1881835"/>
            <a:ext cx="63825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880006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46097" y="2386584"/>
            <a:ext cx="381305" cy="3813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86054" y="3834994"/>
            <a:ext cx="290596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사람들이 가장 많이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검색하고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관심을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가지는 키워드를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파악하여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시의성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있는 주제를 선정합니다.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23544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83080" y="5300777"/>
            <a:ext cx="114300" cy="1143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885493" y="5257800"/>
            <a:ext cx="11000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Trends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613916" y="5576926"/>
            <a:ext cx="105156" cy="1143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74266" y="5533949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Blackkiwi (블랙키위)</a:t>
            </a:r>
            <a:endParaRPr lang="en-US" sz="11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80337" y="5853074"/>
            <a:ext cx="114300" cy="1143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883664" y="5810098"/>
            <a:ext cx="11000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Naver DataLab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1657807" y="3339389"/>
            <a:ext cx="13661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분석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639105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13" b="-13"/>
          <a:stretch/>
        </p:blipFill>
        <p:spPr>
          <a:xfrm>
            <a:off x="5881421" y="2386584"/>
            <a:ext cx="428854" cy="3813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45152" y="3834994"/>
            <a:ext cx="290596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플랫폼 내 '인기 급상승'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탭이나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숏폼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챌린지를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모니터링하여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즉각적인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반응을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이끌어낼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요소를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찾습니다.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683557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5437022" y="5300777"/>
            <a:ext cx="105156" cy="1143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509260" y="5257800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YouTube Trending</a:t>
            </a:r>
            <a:endParaRPr lang="en-US" sz="11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278831" y="5576926"/>
            <a:ext cx="114300" cy="1143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331866" y="5533949"/>
            <a:ext cx="172364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TikTok Creative Center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5411419" y="5853074"/>
            <a:ext cx="142646" cy="1143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521147" y="5810098"/>
            <a:ext cx="1371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 Explore</a:t>
            </a:r>
            <a:endParaRPr lang="en-US" sz="1100" dirty="0"/>
          </a:p>
        </p:txBody>
      </p:sp>
      <p:sp>
        <p:nvSpPr>
          <p:cNvPr id="34" name="Text 24"/>
          <p:cNvSpPr txBox="1"/>
          <p:nvPr/>
        </p:nvSpPr>
        <p:spPr>
          <a:xfrm>
            <a:off x="5172761" y="3339389"/>
            <a:ext cx="185348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인사이트</a:t>
            </a:r>
            <a:endParaRPr lang="en-US" sz="1800" dirty="0"/>
          </a:p>
        </p:txBody>
      </p:sp>
      <p:sp>
        <p:nvSpPr>
          <p:cNvPr id="35" name="Shape 25"/>
          <p:cNvSpPr/>
          <p:nvPr/>
        </p:nvSpPr>
        <p:spPr>
          <a:xfrm>
            <a:off x="9398203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t="-24" b="-24"/>
          <a:stretch/>
        </p:blipFill>
        <p:spPr>
          <a:xfrm>
            <a:off x="9616745" y="2386584"/>
            <a:ext cx="476402" cy="38130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404250" y="3834994"/>
            <a:ext cx="290596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오디언스가 실제로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모여있는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커뮤니티에서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자주 묻는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질문과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고민을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수집하여 해결책을 제시합니다.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8442655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301277" y="5300777"/>
            <a:ext cx="114300" cy="11430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404604" y="5257800"/>
            <a:ext cx="11000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Reddit / Quora</a:t>
            </a:r>
            <a:endParaRPr lang="en-US" sz="11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3"/>
          <a:srcRect t="-80" b="-80"/>
          <a:stretch/>
        </p:blipFill>
        <p:spPr>
          <a:xfrm>
            <a:off x="9018727" y="5576926"/>
            <a:ext cx="142646" cy="1143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110167" y="5533949"/>
            <a:ext cx="17126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Everytime (에브리타임)</a:t>
            </a:r>
            <a:endParaRPr lang="en-US" sz="11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129370" y="5853074"/>
            <a:ext cx="114300" cy="11430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199778" y="5810098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Naver Cafe / Jisik-iN</a:t>
            </a:r>
            <a:endParaRPr lang="en-US" sz="1100" dirty="0"/>
          </a:p>
        </p:txBody>
      </p:sp>
      <p:sp>
        <p:nvSpPr>
          <p:cNvPr id="45" name="Text 31"/>
          <p:cNvSpPr txBox="1"/>
          <p:nvPr/>
        </p:nvSpPr>
        <p:spPr>
          <a:xfrm>
            <a:off x="8947404" y="3339389"/>
            <a:ext cx="18233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커뮤니티 &amp; Q&amp;A</a:t>
            </a:r>
            <a:endParaRPr lang="en-US" sz="18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8223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01: PLANNING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504291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분석과 벤치마킹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11038" y="1359146"/>
            <a:ext cx="10972800" cy="4230668"/>
          </a:xfrm>
          <a:prstGeom prst="roundRect">
            <a:avLst>
              <a:gd name="adj" fmla="val 154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0182" y="1368290"/>
            <a:ext cx="10953598" cy="7808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0182" y="2129985"/>
            <a:ext cx="10953598" cy="1920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48782" y="1635295"/>
            <a:ext cx="17995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분석 항목 (CRITERIA)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87410" y="159689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63305" y="1672785"/>
            <a:ext cx="152705" cy="152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006205" y="1635295"/>
            <a:ext cx="2315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벤치마킹 대상 (COMPETITOR)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94895" y="159689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7761646" y="1672785"/>
            <a:ext cx="171907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113690" y="1635295"/>
            <a:ext cx="3053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나의 차별화 전략 (DIFFERENTIATION)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0182" y="2997751"/>
            <a:ext cx="109535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848782" y="2459169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포맷 및 길이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587410" y="2466484"/>
            <a:ext cx="39118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 이상의 긴 호흡, 정보 나열식 전개, 컷 편집 위주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885090" y="2340297"/>
            <a:ext cx="2777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숏폼(60초)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핵심 요약 후 본편 유도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694895" y="2380531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885090" y="2592671"/>
            <a:ext cx="25155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속도감 있는 편집과 자막 활용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694895" y="2632905"/>
            <a:ext cx="114300" cy="13350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20182" y="3855458"/>
            <a:ext cx="109535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 txBox="1"/>
          <p:nvPr/>
        </p:nvSpPr>
        <p:spPr>
          <a:xfrm>
            <a:off x="848782" y="3315962"/>
            <a:ext cx="13834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 훅 (Hook)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3587410" y="3323277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일반적인 인사말("안녕하세요 ~입니다")로 시작,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서론</a:t>
            </a:r>
            <a:r>
              <a:rPr lang="ko-KR" alt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길지 않게</a:t>
            </a:r>
            <a:r>
              <a:rPr lang="en-US" altLang="ko-KR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</a:t>
            </a:r>
            <a:r>
              <a:rPr lang="ko-KR" alt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짧고 임팩트 있게</a:t>
            </a:r>
            <a:r>
              <a:rPr lang="en-US" altLang="ko-KR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</a:t>
            </a:r>
            <a:r>
              <a:rPr lang="ko-KR" alt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구성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885090" y="3197090"/>
            <a:ext cx="23948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결론/하이라이트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선공개로 시선 고정</a:t>
            </a:r>
            <a:endParaRPr lang="en-US" sz="12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694895" y="3237323"/>
            <a:ext cx="114300" cy="1335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885090" y="3449464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"3초 안에 이탈 막기" 전략 적용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694895" y="3489698"/>
            <a:ext cx="114300" cy="1335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8782" y="4173669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썸네일 및 디자인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3587410" y="4180984"/>
            <a:ext cx="31226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텍스트 배치, 일관성 없는 폰트 사용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885090" y="4054797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브랜드 컬러(#FF6908) 활용한 </a:t>
            </a: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톤앤매너 통일</a:t>
            </a:r>
            <a:endParaRPr lang="en-US" sz="12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694895" y="4095031"/>
            <a:ext cx="114300" cy="13350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885090" y="4307171"/>
            <a:ext cx="28108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인물 표정 강조 + 핵심 키워드 1개</a:t>
            </a:r>
            <a:endParaRPr lang="en-US" sz="12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694895" y="4347405"/>
            <a:ext cx="114300" cy="13350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48782" y="503046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깊이 (Insight)</a:t>
            </a:r>
            <a:endParaRPr lang="en-US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3587410" y="5037777"/>
            <a:ext cx="334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누구나 아는 뻔한 정보, 뉴스 기사 재가공 수준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7885090" y="4911590"/>
            <a:ext cx="2478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대학생의 </a:t>
            </a: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경험담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솔직한 후기</a:t>
            </a:r>
            <a:endParaRPr lang="en-US" sz="12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694895" y="4951823"/>
            <a:ext cx="114300" cy="13350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885090" y="5163964"/>
            <a:ext cx="2341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현직자 인터뷰 등 독점 콘텐츠 확보</a:t>
            </a:r>
            <a:endParaRPr lang="en-US" sz="12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694895" y="5204198"/>
            <a:ext cx="114300" cy="133502"/>
          </a:xfrm>
          <a:prstGeom prst="rect">
            <a:avLst/>
          </a:prstGeom>
        </p:spPr>
      </p:pic>
      <p:sp>
        <p:nvSpPr>
          <p:cNvPr id="54" name="Shape 32"/>
          <p:cNvSpPr/>
          <p:nvPr/>
        </p:nvSpPr>
        <p:spPr>
          <a:xfrm>
            <a:off x="620182" y="5692488"/>
            <a:ext cx="5372100" cy="991342"/>
          </a:xfrm>
          <a:prstGeom prst="roundRect">
            <a:avLst>
              <a:gd name="adj" fmla="val 11814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33"/>
          <p:cNvSpPr/>
          <p:nvPr/>
        </p:nvSpPr>
        <p:spPr>
          <a:xfrm>
            <a:off x="612868" y="5692487"/>
            <a:ext cx="45719" cy="947799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782" y="5919258"/>
            <a:ext cx="133502" cy="133502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1058179" y="5892740"/>
            <a:ext cx="14081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주의사항 (CAUTION)</a:t>
            </a:r>
            <a:endParaRPr lang="en-US" sz="1100" dirty="0"/>
          </a:p>
        </p:txBody>
      </p:sp>
      <p:sp>
        <p:nvSpPr>
          <p:cNvPr id="58" name="Text 35"/>
          <p:cNvSpPr txBox="1"/>
          <p:nvPr/>
        </p:nvSpPr>
        <p:spPr>
          <a:xfrm>
            <a:off x="848782" y="6159745"/>
            <a:ext cx="502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벤치마킹은 '복제'가 아닙니다. 경쟁사의 성공 요인을 분석하되, 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</a:t>
            </a: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나만의 관점과 목소리를 더해 재해석해야 합니다. (Blind Copying 금지)</a:t>
            </a:r>
            <a:endParaRPr lang="en-US" sz="1100" dirty="0"/>
          </a:p>
        </p:txBody>
      </p:sp>
      <p:sp>
        <p:nvSpPr>
          <p:cNvPr id="59" name="Shape 36"/>
          <p:cNvSpPr/>
          <p:nvPr/>
        </p:nvSpPr>
        <p:spPr>
          <a:xfrm>
            <a:off x="6220882" y="5692488"/>
            <a:ext cx="5372100" cy="991342"/>
          </a:xfrm>
          <a:prstGeom prst="roundRect">
            <a:avLst>
              <a:gd name="adj" fmla="val 11814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37"/>
          <p:cNvSpPr/>
          <p:nvPr/>
        </p:nvSpPr>
        <p:spPr>
          <a:xfrm>
            <a:off x="6213568" y="5692487"/>
            <a:ext cx="45719" cy="947799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6449482" y="5919258"/>
            <a:ext cx="105156" cy="133502"/>
          </a:xfrm>
          <a:prstGeom prst="rect">
            <a:avLst/>
          </a:prstGeom>
        </p:spPr>
      </p:pic>
      <p:sp>
        <p:nvSpPr>
          <p:cNvPr id="62" name="Text 38"/>
          <p:cNvSpPr txBox="1"/>
          <p:nvPr/>
        </p:nvSpPr>
        <p:spPr>
          <a:xfrm>
            <a:off x="6630533" y="5892740"/>
            <a:ext cx="19705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액션 포인트 (ACTION ITEM)</a:t>
            </a:r>
            <a:endParaRPr lang="en-US" sz="1100" dirty="0"/>
          </a:p>
        </p:txBody>
      </p:sp>
      <p:sp>
        <p:nvSpPr>
          <p:cNvPr id="63" name="Text 39"/>
          <p:cNvSpPr txBox="1"/>
          <p:nvPr/>
        </p:nvSpPr>
        <p:spPr>
          <a:xfrm>
            <a:off x="6449482" y="6159745"/>
            <a:ext cx="502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카테고리 상위 5개 채널을 선정하고, 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댓글</a:t>
            </a:r>
            <a:r>
              <a:rPr lang="en-US" sz="11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반응을 분석하여 시청자들이 아쉬워하는 부분(Unmet Needs)을 공략하세요.</a:t>
            </a:r>
            <a:endParaRPr lang="en-US" sz="1100" dirty="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195F80C-2A8C-6EF5-D5D6-32539AC64315}"/>
              </a:ext>
            </a:extLst>
          </p:cNvPr>
          <p:cNvCxnSpPr/>
          <p:nvPr/>
        </p:nvCxnSpPr>
        <p:spPr>
          <a:xfrm>
            <a:off x="609905" y="4751614"/>
            <a:ext cx="1098307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8223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01: PLANNING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462686"/>
            <a:ext cx="3683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캘린더 설계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00761" y="1219810"/>
            <a:ext cx="10972800" cy="5363872"/>
          </a:xfrm>
          <a:prstGeom prst="roundRect">
            <a:avLst>
              <a:gd name="adj" fmla="val 58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6"/>
          <p:cNvSpPr/>
          <p:nvPr/>
        </p:nvSpPr>
        <p:spPr>
          <a:xfrm>
            <a:off x="839419" y="1809598"/>
            <a:ext cx="10496398" cy="1920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7"/>
          <p:cNvSpPr/>
          <p:nvPr/>
        </p:nvSpPr>
        <p:spPr>
          <a:xfrm>
            <a:off x="953719" y="2300630"/>
            <a:ext cx="228600" cy="237744"/>
          </a:xfrm>
          <a:prstGeom prst="roundRect">
            <a:avLst>
              <a:gd name="adj" fmla="val 10000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4000" b="-4000"/>
          <a:stretch/>
        </p:blipFill>
        <p:spPr>
          <a:xfrm>
            <a:off x="1010412" y="2357323"/>
            <a:ext cx="114300" cy="1234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58213" y="2327148"/>
            <a:ext cx="9513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 시리즈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53719" y="3172054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025042" y="3229661"/>
            <a:ext cx="85954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58213" y="3198571"/>
            <a:ext cx="11622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숏폼 (Shorts)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53719" y="4043477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10412" y="4101084"/>
            <a:ext cx="114300" cy="1143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58214" y="4069994"/>
            <a:ext cx="781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일정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53719" y="4914900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0412" y="4972507"/>
            <a:ext cx="114300" cy="1143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58214" y="4941417"/>
            <a:ext cx="112451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(Buffer)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39419" y="5544007"/>
            <a:ext cx="33723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1268" y="5725058"/>
            <a:ext cx="190195" cy="1901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05763" y="5723378"/>
            <a:ext cx="3177980" cy="18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주기적 업로드 (Consistency)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1305763" y="5943600"/>
            <a:ext cx="244053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요일과 시간을 고정하여 시청자에게 습관을 형성합니다. (예: 매주 월요일 6시)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401922" y="5544007"/>
            <a:ext cx="33723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4563770" y="5725058"/>
            <a:ext cx="219456" cy="1901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896612" y="5723378"/>
            <a:ext cx="3145385" cy="18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버퍼 확보 (Safe Buffer)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4896612" y="5943600"/>
            <a:ext cx="254921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2주 분량의 '세이브 원고'를 미리 제작하여 일정 지연이나 슬럼프에 대비합니다.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7963510" y="5544007"/>
            <a:ext cx="33723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126273" y="5725058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430768" y="5723378"/>
            <a:ext cx="3177980" cy="18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유연성 (Flexibility)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8430768" y="5943600"/>
            <a:ext cx="253114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이슈나 트렌드 발생 시 즉각 대응할 수 있는 '빈 슬롯'을 남겨둡니다.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953719" y="1467612"/>
            <a:ext cx="781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3212287" y="1467612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 1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5468112" y="1467612"/>
            <a:ext cx="5532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 2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7736738" y="1467612"/>
            <a:ext cx="5532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 3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10001707" y="1467612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 4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2420417" y="2057400"/>
            <a:ext cx="2115007" cy="724205"/>
          </a:xfrm>
          <a:prstGeom prst="roundRect">
            <a:avLst>
              <a:gd name="adj" fmla="val 13291"/>
            </a:avLst>
          </a:prstGeom>
          <a:solidFill>
            <a:srgbClr val="FFF9F5"/>
          </a:solidFill>
          <a:ln w="12700">
            <a:solidFill>
              <a:srgbClr val="FFDCC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Text 30"/>
          <p:cNvSpPr txBox="1"/>
          <p:nvPr/>
        </p:nvSpPr>
        <p:spPr>
          <a:xfrm>
            <a:off x="2543860" y="2141787"/>
            <a:ext cx="1202437" cy="14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EP.01 UPLOAD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2543861" y="2321924"/>
            <a:ext cx="2245976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브이로그 1화</a:t>
            </a:r>
            <a:endParaRPr lang="en-US" sz="1050" dirty="0"/>
          </a:p>
        </p:txBody>
      </p:sp>
      <p:sp>
        <p:nvSpPr>
          <p:cNvPr id="41" name="Text 32"/>
          <p:cNvSpPr txBox="1"/>
          <p:nvPr/>
        </p:nvSpPr>
        <p:spPr>
          <a:xfrm>
            <a:off x="2543861" y="2541791"/>
            <a:ext cx="720139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Mon, 18:00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6954012" y="2057400"/>
            <a:ext cx="2115007" cy="724205"/>
          </a:xfrm>
          <a:prstGeom prst="roundRect">
            <a:avLst>
              <a:gd name="adj" fmla="val 13291"/>
            </a:avLst>
          </a:prstGeom>
          <a:solidFill>
            <a:srgbClr val="FFF9F5"/>
          </a:solidFill>
          <a:ln w="12700">
            <a:solidFill>
              <a:srgbClr val="FFDCC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Text 34"/>
          <p:cNvSpPr txBox="1"/>
          <p:nvPr/>
        </p:nvSpPr>
        <p:spPr>
          <a:xfrm>
            <a:off x="7078369" y="2141787"/>
            <a:ext cx="1202437" cy="14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EP.02 UPLOAD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7078370" y="2321924"/>
            <a:ext cx="2245976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브이로그 2화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7078370" y="2541791"/>
            <a:ext cx="720139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Mon, 18:00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2420417" y="3026664"/>
            <a:ext cx="2115007" cy="523951"/>
          </a:xfrm>
          <a:prstGeom prst="roundRect">
            <a:avLst>
              <a:gd name="adj" fmla="val 2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Text 38"/>
          <p:cNvSpPr txBox="1"/>
          <p:nvPr/>
        </p:nvSpPr>
        <p:spPr>
          <a:xfrm>
            <a:off x="2543861" y="3125179"/>
            <a:ext cx="329002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CLIP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2543861" y="3291188"/>
            <a:ext cx="2245976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 클립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4687214" y="3026664"/>
            <a:ext cx="2115007" cy="523951"/>
          </a:xfrm>
          <a:prstGeom prst="roundRect">
            <a:avLst>
              <a:gd name="adj" fmla="val 2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0" name="Text 41"/>
          <p:cNvSpPr txBox="1"/>
          <p:nvPr/>
        </p:nvSpPr>
        <p:spPr>
          <a:xfrm>
            <a:off x="4811573" y="3125179"/>
            <a:ext cx="499106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BEHIND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4811573" y="3291188"/>
            <a:ext cx="2245976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 비하인드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6954012" y="3026664"/>
            <a:ext cx="2115007" cy="523951"/>
          </a:xfrm>
          <a:prstGeom prst="roundRect">
            <a:avLst>
              <a:gd name="adj" fmla="val 2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Text 44"/>
          <p:cNvSpPr txBox="1"/>
          <p:nvPr/>
        </p:nvSpPr>
        <p:spPr>
          <a:xfrm>
            <a:off x="7078370" y="3125179"/>
            <a:ext cx="329002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CLIP</a:t>
            </a:r>
            <a:endParaRPr lang="en-US" sz="1000" dirty="0"/>
          </a:p>
        </p:txBody>
      </p:sp>
      <p:sp>
        <p:nvSpPr>
          <p:cNvPr id="54" name="Text 45"/>
          <p:cNvSpPr txBox="1"/>
          <p:nvPr/>
        </p:nvSpPr>
        <p:spPr>
          <a:xfrm>
            <a:off x="7078370" y="3291188"/>
            <a:ext cx="2245976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 클립</a:t>
            </a:r>
            <a:endParaRPr lang="en-US" sz="1050" dirty="0"/>
          </a:p>
        </p:txBody>
      </p:sp>
      <p:sp>
        <p:nvSpPr>
          <p:cNvPr id="55" name="Shape 46"/>
          <p:cNvSpPr/>
          <p:nvPr/>
        </p:nvSpPr>
        <p:spPr>
          <a:xfrm>
            <a:off x="9220810" y="3026664"/>
            <a:ext cx="2115007" cy="523951"/>
          </a:xfrm>
          <a:prstGeom prst="roundRect">
            <a:avLst>
              <a:gd name="adj" fmla="val 2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47"/>
          <p:cNvSpPr txBox="1"/>
          <p:nvPr/>
        </p:nvSpPr>
        <p:spPr>
          <a:xfrm>
            <a:off x="9345168" y="3125179"/>
            <a:ext cx="446139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TREND</a:t>
            </a:r>
            <a:endParaRPr lang="en-US" sz="1000" dirty="0"/>
          </a:p>
        </p:txBody>
      </p:sp>
      <p:sp>
        <p:nvSpPr>
          <p:cNvPr id="57" name="Text 48"/>
          <p:cNvSpPr txBox="1"/>
          <p:nvPr/>
        </p:nvSpPr>
        <p:spPr>
          <a:xfrm>
            <a:off x="9345168" y="3291188"/>
            <a:ext cx="2245976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댄스 챌린지</a:t>
            </a:r>
            <a:endParaRPr lang="en-US" sz="1050" dirty="0"/>
          </a:p>
        </p:txBody>
      </p:sp>
      <p:sp>
        <p:nvSpPr>
          <p:cNvPr id="58" name="Shape 49"/>
          <p:cNvSpPr/>
          <p:nvPr/>
        </p:nvSpPr>
        <p:spPr>
          <a:xfrm>
            <a:off x="4687214" y="3801161"/>
            <a:ext cx="2115007" cy="714146"/>
          </a:xfrm>
          <a:prstGeom prst="roundRect">
            <a:avLst>
              <a:gd name="adj" fmla="val 1365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Shape 50"/>
          <p:cNvSpPr/>
          <p:nvPr/>
        </p:nvSpPr>
        <p:spPr>
          <a:xfrm>
            <a:off x="4687213" y="3863647"/>
            <a:ext cx="45719" cy="6516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0" name="Text 51"/>
          <p:cNvSpPr txBox="1"/>
          <p:nvPr/>
        </p:nvSpPr>
        <p:spPr>
          <a:xfrm>
            <a:off x="4829861" y="3898761"/>
            <a:ext cx="906910" cy="1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SHOOTING</a:t>
            </a:r>
            <a:endParaRPr lang="en-US" sz="1000" dirty="0"/>
          </a:p>
        </p:txBody>
      </p:sp>
      <p:sp>
        <p:nvSpPr>
          <p:cNvPr id="61" name="Text 52"/>
          <p:cNvSpPr txBox="1"/>
          <p:nvPr/>
        </p:nvSpPr>
        <p:spPr>
          <a:xfrm>
            <a:off x="4829861" y="4064771"/>
            <a:ext cx="2144118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Ep.03 촬영일</a:t>
            </a:r>
            <a:endParaRPr lang="en-US" sz="1050" dirty="0"/>
          </a:p>
        </p:txBody>
      </p:sp>
      <p:sp>
        <p:nvSpPr>
          <p:cNvPr id="62" name="Text 53"/>
          <p:cNvSpPr txBox="1"/>
          <p:nvPr/>
        </p:nvSpPr>
        <p:spPr>
          <a:xfrm>
            <a:off x="4829861" y="4284638"/>
            <a:ext cx="644763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Sat, 13:00</a:t>
            </a:r>
            <a:endParaRPr lang="en-US" sz="1000" dirty="0"/>
          </a:p>
        </p:txBody>
      </p:sp>
      <p:sp>
        <p:nvSpPr>
          <p:cNvPr id="63" name="Shape 54"/>
          <p:cNvSpPr/>
          <p:nvPr/>
        </p:nvSpPr>
        <p:spPr>
          <a:xfrm>
            <a:off x="9220810" y="3801161"/>
            <a:ext cx="2115007" cy="714146"/>
          </a:xfrm>
          <a:prstGeom prst="roundRect">
            <a:avLst>
              <a:gd name="adj" fmla="val 1365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Shape 55"/>
          <p:cNvSpPr/>
          <p:nvPr/>
        </p:nvSpPr>
        <p:spPr>
          <a:xfrm>
            <a:off x="9220809" y="3863647"/>
            <a:ext cx="45719" cy="6516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Text 56"/>
          <p:cNvSpPr txBox="1"/>
          <p:nvPr/>
        </p:nvSpPr>
        <p:spPr>
          <a:xfrm>
            <a:off x="9364370" y="3898761"/>
            <a:ext cx="520496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EDITING</a:t>
            </a:r>
            <a:endParaRPr lang="en-US" sz="1000" dirty="0"/>
          </a:p>
        </p:txBody>
      </p:sp>
      <p:sp>
        <p:nvSpPr>
          <p:cNvPr id="66" name="Text 57"/>
          <p:cNvSpPr txBox="1"/>
          <p:nvPr/>
        </p:nvSpPr>
        <p:spPr>
          <a:xfrm>
            <a:off x="9364370" y="4064771"/>
            <a:ext cx="2144118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Ep.03 편집 마감</a:t>
            </a:r>
            <a:endParaRPr lang="en-US" sz="1050" dirty="0"/>
          </a:p>
        </p:txBody>
      </p:sp>
      <p:sp>
        <p:nvSpPr>
          <p:cNvPr id="67" name="Text 58"/>
          <p:cNvSpPr txBox="1"/>
          <p:nvPr/>
        </p:nvSpPr>
        <p:spPr>
          <a:xfrm>
            <a:off x="9364370" y="4284638"/>
            <a:ext cx="593834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Fri, 23:59</a:t>
            </a:r>
            <a:endParaRPr lang="en-US" sz="1000" dirty="0"/>
          </a:p>
        </p:txBody>
      </p:sp>
      <p:sp>
        <p:nvSpPr>
          <p:cNvPr id="68" name="Shape 59"/>
          <p:cNvSpPr/>
          <p:nvPr/>
        </p:nvSpPr>
        <p:spPr>
          <a:xfrm>
            <a:off x="4687214" y="4770425"/>
            <a:ext cx="2115007" cy="523951"/>
          </a:xfrm>
          <a:prstGeom prst="roundRect">
            <a:avLst>
              <a:gd name="adj" fmla="val 2538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9" name="Text 60"/>
          <p:cNvSpPr txBox="1"/>
          <p:nvPr/>
        </p:nvSpPr>
        <p:spPr>
          <a:xfrm>
            <a:off x="4811573" y="4868025"/>
            <a:ext cx="520496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BACKUP</a:t>
            </a:r>
            <a:endParaRPr lang="en-US" sz="1000" dirty="0"/>
          </a:p>
        </p:txBody>
      </p:sp>
      <p:sp>
        <p:nvSpPr>
          <p:cNvPr id="70" name="Text 61"/>
          <p:cNvSpPr txBox="1"/>
          <p:nvPr/>
        </p:nvSpPr>
        <p:spPr>
          <a:xfrm>
            <a:off x="4811573" y="5034035"/>
            <a:ext cx="2245976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세이브 원고 작성</a:t>
            </a:r>
            <a:endParaRPr lang="en-US" sz="1050" dirty="0"/>
          </a:p>
        </p:txBody>
      </p:sp>
      <p:sp>
        <p:nvSpPr>
          <p:cNvPr id="71" name="Shape 62"/>
          <p:cNvSpPr/>
          <p:nvPr/>
        </p:nvSpPr>
        <p:spPr>
          <a:xfrm>
            <a:off x="9220810" y="4770425"/>
            <a:ext cx="2115007" cy="523951"/>
          </a:xfrm>
          <a:prstGeom prst="roundRect">
            <a:avLst>
              <a:gd name="adj" fmla="val 2538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2" name="Text 63"/>
          <p:cNvSpPr txBox="1"/>
          <p:nvPr/>
        </p:nvSpPr>
        <p:spPr>
          <a:xfrm>
            <a:off x="9345168" y="4868025"/>
            <a:ext cx="488920" cy="1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</a:t>
            </a:r>
            <a:endParaRPr lang="en-US" sz="1000" dirty="0"/>
          </a:p>
        </p:txBody>
      </p:sp>
      <p:sp>
        <p:nvSpPr>
          <p:cNvPr id="73" name="Text 64"/>
          <p:cNvSpPr txBox="1"/>
          <p:nvPr/>
        </p:nvSpPr>
        <p:spPr>
          <a:xfrm>
            <a:off x="9345168" y="5034035"/>
            <a:ext cx="2245976" cy="17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점검/피드백</a:t>
            </a:r>
            <a:endParaRPr lang="en-US" sz="1050" dirty="0"/>
          </a:p>
        </p:txBody>
      </p:sp>
      <p:sp>
        <p:nvSpPr>
          <p:cNvPr id="7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254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02: STORYTELLING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591708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 구조와 훅 (Hook)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1577340"/>
            <a:ext cx="5581498" cy="1584992"/>
          </a:xfrm>
          <a:prstGeom prst="roundRect">
            <a:avLst>
              <a:gd name="adj" fmla="val 6322"/>
            </a:avLst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8" name="Shape 6"/>
          <p:cNvSpPr/>
          <p:nvPr/>
        </p:nvSpPr>
        <p:spPr>
          <a:xfrm>
            <a:off x="609905" y="1577340"/>
            <a:ext cx="38405" cy="1584992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1104595" y="1717718"/>
            <a:ext cx="5048402" cy="31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오프닝 3초의 법칙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875995" y="1770701"/>
            <a:ext cx="152705" cy="21193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75995" y="2129184"/>
            <a:ext cx="5162702" cy="61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시청자가 스크롤을 멈추게 만드는 결정적 3초.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질문, 충격적인 비주얼, 혹은 결론부터 보여주는 방식으로 이탈을 막아야 합니다.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3552380"/>
            <a:ext cx="152705" cy="1882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75995" y="3435140"/>
            <a:ext cx="5429707" cy="31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문제-해결-결과 (PSR) 구조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75995" y="3799260"/>
            <a:ext cx="5391302" cy="528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 Point(문제) 공감 → Solution(해결책) 제시 → Result(변화된 결과)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확인의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흐름으로 몰입감을 유지합니다.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4632339"/>
            <a:ext cx="152705" cy="1882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5995" y="4515099"/>
            <a:ext cx="5505602" cy="31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곡선과 텐션 유지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75995" y="4879220"/>
            <a:ext cx="5391302" cy="528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단조로운 정보 나열을 피하고, 유머, 반전, 시각적 자료 전환을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시청자의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감정 텐션을 지속적으로 자극합니다.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5713426"/>
            <a:ext cx="152705" cy="1882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5995" y="5595059"/>
            <a:ext cx="5429707" cy="31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콜투액션 (CTA)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75995" y="5959179"/>
            <a:ext cx="5391302" cy="528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종료 후 시청자가 수행해야 할 행동(구독, 댓글, 링크 클릭)을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구체적이고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단호하게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제안하여 전환율을 높입니다.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15393" r="15393"/>
          <a:stretch/>
        </p:blipFill>
        <p:spPr>
          <a:xfrm>
            <a:off x="6644945" y="1607515"/>
            <a:ext cx="4943246" cy="476219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73545" y="4865522"/>
            <a:ext cx="4486046" cy="1276502"/>
          </a:xfrm>
          <a:prstGeom prst="roundRect">
            <a:avLst>
              <a:gd name="adj" fmla="val 855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073798" y="5084064"/>
            <a:ext cx="1076249" cy="247802"/>
          </a:xfrm>
          <a:prstGeom prst="roundRect">
            <a:avLst>
              <a:gd name="adj" fmla="val 283849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88098" y="5122469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ELEMENT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073798" y="5484571"/>
            <a:ext cx="176936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 아크 &amp; 훅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73798" y="5751576"/>
            <a:ext cx="19504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 Arc &amp; Opening Hook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10877702" y="5637276"/>
            <a:ext cx="171907" cy="152705"/>
          </a:xfrm>
          <a:prstGeom prst="rect">
            <a:avLst/>
          </a:prstGeom>
        </p:spPr>
      </p:pic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254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02: STORYTELLING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695218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 작성법 &amp; 체크리스트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1438093"/>
            <a:ext cx="30888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SCRIPT FORMULA (3-ACT STRUCTURE)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905" y="1690010"/>
            <a:ext cx="4390949" cy="3019349"/>
          </a:xfrm>
          <a:prstGeom prst="roundRect">
            <a:avLst>
              <a:gd name="adj" fmla="val 152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Shape 7"/>
          <p:cNvSpPr/>
          <p:nvPr/>
        </p:nvSpPr>
        <p:spPr>
          <a:xfrm>
            <a:off x="847649" y="1928668"/>
            <a:ext cx="38405" cy="676656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1037844" y="1928668"/>
            <a:ext cx="16102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HOOK (0-15s)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223105"/>
            <a:ext cx="38011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"이 영상을 왜 봐야 하는가?"</a:t>
            </a:r>
            <a:endParaRPr lang="en-US" sz="10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결론 선공개, 호기심 자극 질문, 공감대 형성으로 이탈 방지.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7649" y="2765825"/>
            <a:ext cx="38405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Text 11"/>
          <p:cNvSpPr txBox="1"/>
          <p:nvPr/>
        </p:nvSpPr>
        <p:spPr>
          <a:xfrm>
            <a:off x="1037844" y="2765825"/>
            <a:ext cx="18251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BODY (Content)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37844" y="3061176"/>
            <a:ext cx="38011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본론과 가치 전달.</a:t>
            </a:r>
            <a:endParaRPr lang="en-US" sz="10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 제기 → 해결책 제시 → 예시/증명 순서로 논리적 전개. 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7649" y="3662853"/>
            <a:ext cx="38405" cy="85770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1037844" y="3662853"/>
            <a:ext cx="221101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CTA (Call To Action)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37844" y="3958204"/>
            <a:ext cx="38011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명확한 행동 유도.</a:t>
            </a:r>
            <a:endParaRPr lang="en-US" sz="10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"더 많은 꿀팁이 궁금하다면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구독해주세요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",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"댓글로 의견 남겨주세요". 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9905" y="5006539"/>
            <a:ext cx="4390949" cy="1295705"/>
          </a:xfrm>
          <a:prstGeom prst="roundRect">
            <a:avLst>
              <a:gd name="adj" fmla="val 622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Text 17"/>
          <p:cNvSpPr txBox="1"/>
          <p:nvPr/>
        </p:nvSpPr>
        <p:spPr>
          <a:xfrm>
            <a:off x="847649" y="5244283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Video Script Format</a:t>
            </a:r>
            <a:endParaRPr lang="en-US" sz="14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4646066" y="5282687"/>
            <a:ext cx="114300" cy="15270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47649" y="5549692"/>
            <a:ext cx="1886407" cy="514807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2" name="Text 19"/>
          <p:cNvSpPr txBox="1"/>
          <p:nvPr/>
        </p:nvSpPr>
        <p:spPr>
          <a:xfrm>
            <a:off x="933602" y="5625587"/>
            <a:ext cx="12472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(말하는 내용)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" y="5787436"/>
            <a:ext cx="1518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안녕하세요, 오늘은...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880360" y="5549692"/>
            <a:ext cx="1886407" cy="514807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5" name="Text 22"/>
          <p:cNvSpPr txBox="1"/>
          <p:nvPr/>
        </p:nvSpPr>
        <p:spPr>
          <a:xfrm>
            <a:off x="2966314" y="5625587"/>
            <a:ext cx="110002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VIDEO (화면 지시)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966314" y="5787436"/>
            <a:ext cx="18233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[자료화면] 그래프 삽입...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456225" y="1438093"/>
            <a:ext cx="14602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SELF-CHECK POINTS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56225" y="1690009"/>
            <a:ext cx="6133795" cy="924459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9" name="Shape 26"/>
          <p:cNvSpPr/>
          <p:nvPr/>
        </p:nvSpPr>
        <p:spPr>
          <a:xfrm>
            <a:off x="5655564" y="190946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0" name="Text 27"/>
          <p:cNvSpPr txBox="1"/>
          <p:nvPr/>
        </p:nvSpPr>
        <p:spPr>
          <a:xfrm>
            <a:off x="6036869" y="1890263"/>
            <a:ext cx="54681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구어체 확인 (Read Aloud)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036869" y="2185615"/>
            <a:ext cx="5429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 내어 읽었을 때 걸리는 부분이 없는가?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문어체</a:t>
            </a: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(~하였습니다)보다는 구어체(~했어요)를 사용하세요.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56225" y="2705473"/>
            <a:ext cx="6133795" cy="924459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3" name="Shape 30"/>
          <p:cNvSpPr/>
          <p:nvPr/>
        </p:nvSpPr>
        <p:spPr>
          <a:xfrm>
            <a:off x="5655564" y="2924930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4" name="Text 31"/>
          <p:cNvSpPr txBox="1"/>
          <p:nvPr/>
        </p:nvSpPr>
        <p:spPr>
          <a:xfrm>
            <a:off x="6036869" y="2905728"/>
            <a:ext cx="54681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 지시문 포함 (Visual Cues)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036869" y="3201079"/>
            <a:ext cx="5429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말하는 내용에 맞는 B-roll(자료화면), 텍스트 오버레이, 자막 타이밍이 대본에 표시되어 있는가?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56225" y="3731608"/>
            <a:ext cx="6133795" cy="93853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7" name="Shape 34"/>
          <p:cNvSpPr/>
          <p:nvPr/>
        </p:nvSpPr>
        <p:spPr>
          <a:xfrm>
            <a:off x="5655564" y="3950150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8" name="Text 35"/>
          <p:cNvSpPr txBox="1"/>
          <p:nvPr/>
        </p:nvSpPr>
        <p:spPr>
          <a:xfrm>
            <a:off x="6036869" y="3931862"/>
            <a:ext cx="46579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단문 위주 작성 (Short Sentences)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036869" y="4226299"/>
            <a:ext cx="5385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문장이 너무 길지 않은가? 호흡이 길어지면 시청자의 집중력이 떨어집니다.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456225" y="4793226"/>
            <a:ext cx="6133795" cy="924459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1" name="Shape 38"/>
          <p:cNvSpPr/>
          <p:nvPr/>
        </p:nvSpPr>
        <p:spPr>
          <a:xfrm>
            <a:off x="5655564" y="5012683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2" name="Text 39"/>
          <p:cNvSpPr txBox="1"/>
          <p:nvPr/>
        </p:nvSpPr>
        <p:spPr>
          <a:xfrm>
            <a:off x="6036869" y="4993481"/>
            <a:ext cx="54681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 리드 (Table Read)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036869" y="5288832"/>
            <a:ext cx="5429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촬영 속도로 읽어보며 예상 러닝타임을 체크했는가?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(글자 수보다 실제로 읽은 시간이 정확합니다)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448300" y="5812299"/>
            <a:ext cx="6133795" cy="800100"/>
          </a:xfrm>
          <a:prstGeom prst="roundRect">
            <a:avLst>
              <a:gd name="adj" fmla="val 16327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5638495" y="6098507"/>
            <a:ext cx="171907" cy="228600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5962193" y="6002495"/>
            <a:ext cx="5162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 TIP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5962193" y="6231095"/>
            <a:ext cx="6143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대본을 쓸 때 '삭제할 용기'가 필요합니다. 주제와 관련 없는 사족(TMI)은 과감히 덜어내세요.</a:t>
            </a:r>
            <a:endParaRPr lang="en-US" sz="105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02: STORYTELLING &amp; PRODUCTION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51809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썸네일/타이틀 전략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3281782" y="1881835"/>
            <a:ext cx="58155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369003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972300" y="1881835"/>
            <a:ext cx="6483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128102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737799" y="1881835"/>
            <a:ext cx="63825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880006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2122322" y="2386584"/>
            <a:ext cx="428854" cy="3813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86054" y="3834994"/>
            <a:ext cx="290596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스크롤을 멈추게 하는 강력한 시각적 훅이 필요합니다. 고대비 색상과 명확한 피사체로 시선을 사로잡으세요.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23544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23" name="Text 17"/>
          <p:cNvSpPr txBox="1"/>
          <p:nvPr/>
        </p:nvSpPr>
        <p:spPr>
          <a:xfrm>
            <a:off x="1097280" y="3339389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 대비와 주목도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639105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 t="-120" b="-120"/>
          <a:stretch/>
        </p:blipFill>
        <p:spPr>
          <a:xfrm>
            <a:off x="5976518" y="2386584"/>
            <a:ext cx="237744" cy="3813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45152" y="3834994"/>
            <a:ext cx="290596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시청자의 호기심을 자극하거나 구체적인 이득을 제시하여 클릭하고 싶은 욕구를 불러일으키는 제목을 짓습니다.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683557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4" name="Text 24"/>
          <p:cNvSpPr txBox="1"/>
          <p:nvPr/>
        </p:nvSpPr>
        <p:spPr>
          <a:xfrm>
            <a:off x="4856378" y="3339389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클릭을 부르는 타이틀</a:t>
            </a:r>
            <a:endParaRPr lang="en-US" sz="1800" dirty="0"/>
          </a:p>
        </p:txBody>
      </p:sp>
      <p:sp>
        <p:nvSpPr>
          <p:cNvPr id="35" name="Shape 25"/>
          <p:cNvSpPr/>
          <p:nvPr/>
        </p:nvSpPr>
        <p:spPr>
          <a:xfrm>
            <a:off x="9398203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64294" y="2386584"/>
            <a:ext cx="381305" cy="38130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404250" y="3834994"/>
            <a:ext cx="290596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낚시성 썸네일은 단기적 클릭은 높일 수 있으나, 시청 지속 시간을 떨어뜨려 장기적으로 채널 성장을 저해합니다.</a:t>
            </a:r>
            <a:endParaRPr lang="en-US" sz="1400" dirty="0"/>
          </a:p>
        </p:txBody>
      </p:sp>
      <p:sp>
        <p:nvSpPr>
          <p:cNvPr id="38" name="Shape 27"/>
          <p:cNvSpPr/>
          <p:nvPr/>
        </p:nvSpPr>
        <p:spPr>
          <a:xfrm>
            <a:off x="8442655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E377564-B4E6-6218-C449-0792B139C03D}"/>
              </a:ext>
            </a:extLst>
          </p:cNvPr>
          <p:cNvGrpSpPr/>
          <p:nvPr/>
        </p:nvGrpSpPr>
        <p:grpSpPr>
          <a:xfrm>
            <a:off x="1360169" y="5314950"/>
            <a:ext cx="9232697" cy="752552"/>
            <a:chOff x="1440180" y="5257800"/>
            <a:chExt cx="9232697" cy="752552"/>
          </a:xfrm>
        </p:grpSpPr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564538" y="5300777"/>
              <a:ext cx="114300" cy="114300"/>
            </a:xfrm>
            <a:prstGeom prst="rect">
              <a:avLst/>
            </a:prstGeom>
          </p:spPr>
        </p:pic>
        <p:sp>
          <p:nvSpPr>
            <p:cNvPr id="18" name="Text 14"/>
            <p:cNvSpPr txBox="1"/>
            <p:nvPr/>
          </p:nvSpPr>
          <p:spPr>
            <a:xfrm>
              <a:off x="1596542" y="5257800"/>
              <a:ext cx="168066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인물 감정/표정 클로즈업</a:t>
              </a:r>
              <a:endParaRPr lang="en-US" sz="1050" dirty="0"/>
            </a:p>
          </p:txBody>
        </p:sp>
        <p:pic>
          <p:nvPicPr>
            <p:cNvPr id="19" name="Image 2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440180" y="5576926"/>
              <a:ext cx="114300" cy="114300"/>
            </a:xfrm>
            <a:prstGeom prst="rect">
              <a:avLst/>
            </a:prstGeom>
          </p:spPr>
        </p:pic>
        <p:sp>
          <p:nvSpPr>
            <p:cNvPr id="20" name="Text 15"/>
            <p:cNvSpPr txBox="1"/>
            <p:nvPr/>
          </p:nvSpPr>
          <p:spPr>
            <a:xfrm>
              <a:off x="1477670" y="5533949"/>
              <a:ext cx="191566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보색 대비 (Color Contrast)</a:t>
              </a:r>
              <a:endParaRPr lang="en-US" sz="1050" dirty="0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8"/>
            <a:srcRect l="-2571" r="-2571"/>
            <a:stretch/>
          </p:blipFill>
          <p:spPr>
            <a:xfrm>
              <a:off x="1489558" y="5853074"/>
              <a:ext cx="105156" cy="114300"/>
            </a:xfrm>
            <a:prstGeom prst="rect">
              <a:avLst/>
            </a:prstGeom>
          </p:spPr>
        </p:pic>
        <p:sp>
          <p:nvSpPr>
            <p:cNvPr id="22" name="Text 16"/>
            <p:cNvSpPr txBox="1"/>
            <p:nvPr/>
          </p:nvSpPr>
          <p:spPr>
            <a:xfrm>
              <a:off x="1457554" y="5810098"/>
              <a:ext cx="194035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텍스트 최소화 (3단어 이내)</a:t>
              </a:r>
              <a:endParaRPr lang="en-US" sz="1050" dirty="0"/>
            </a:p>
          </p:txBody>
        </p:sp>
        <p:pic>
          <p:nvPicPr>
            <p:cNvPr id="28" name="Image 5" descr="preencoded.png"/>
            <p:cNvPicPr>
              <a:picLocks noChangeAspect="1"/>
            </p:cNvPicPr>
            <p:nvPr/>
          </p:nvPicPr>
          <p:blipFill>
            <a:blip r:embed="rId9"/>
            <a:srcRect l="-1911" r="-1911"/>
            <a:stretch/>
          </p:blipFill>
          <p:spPr>
            <a:xfrm>
              <a:off x="5524805" y="5300777"/>
              <a:ext cx="133502" cy="114300"/>
            </a:xfrm>
            <a:prstGeom prst="rect">
              <a:avLst/>
            </a:prstGeom>
          </p:spPr>
        </p:pic>
        <p:sp>
          <p:nvSpPr>
            <p:cNvPr id="29" name="Text 21"/>
            <p:cNvSpPr txBox="1"/>
            <p:nvPr/>
          </p:nvSpPr>
          <p:spPr>
            <a:xfrm>
              <a:off x="5618074" y="5257800"/>
              <a:ext cx="116677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구체적 수치 제시</a:t>
              </a:r>
              <a:endParaRPr lang="en-US" sz="1050" dirty="0"/>
            </a:p>
          </p:txBody>
        </p:sp>
        <p:pic>
          <p:nvPicPr>
            <p:cNvPr id="30" name="Image 6" descr="preencoded.png"/>
            <p:cNvPicPr>
              <a:picLocks noChangeAspect="1"/>
            </p:cNvPicPr>
            <p:nvPr/>
          </p:nvPicPr>
          <p:blipFill>
            <a:blip r:embed="rId10"/>
            <a:srcRect l="-2571" r="-2571"/>
            <a:stretch/>
          </p:blipFill>
          <p:spPr>
            <a:xfrm>
              <a:off x="5275174" y="5576926"/>
              <a:ext cx="105156" cy="114300"/>
            </a:xfrm>
            <a:prstGeom prst="rect">
              <a:avLst/>
            </a:prstGeom>
          </p:spPr>
        </p:pic>
        <p:sp>
          <p:nvSpPr>
            <p:cNvPr id="31" name="Text 22"/>
            <p:cNvSpPr txBox="1"/>
            <p:nvPr/>
          </p:nvSpPr>
          <p:spPr>
            <a:xfrm>
              <a:off x="5278831" y="5533949"/>
              <a:ext cx="182057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강력한 동사와 키워드 배치</a:t>
              </a:r>
              <a:endParaRPr lang="en-US" sz="1050" dirty="0"/>
            </a:p>
          </p:txBody>
        </p:sp>
        <p:pic>
          <p:nvPicPr>
            <p:cNvPr id="32" name="Image 7" descr="preencoded.png"/>
            <p:cNvPicPr>
              <a:picLocks noChangeAspect="1"/>
            </p:cNvPicPr>
            <p:nvPr/>
          </p:nvPicPr>
          <p:blipFill>
            <a:blip r:embed="rId11"/>
            <a:srcRect l="-3120" r="-3120"/>
            <a:stretch/>
          </p:blipFill>
          <p:spPr>
            <a:xfrm>
              <a:off x="5491886" y="5853074"/>
              <a:ext cx="75895" cy="114300"/>
            </a:xfrm>
            <a:prstGeom prst="rect">
              <a:avLst/>
            </a:prstGeom>
          </p:spPr>
        </p:pic>
        <p:sp>
          <p:nvSpPr>
            <p:cNvPr id="33" name="Text 23"/>
            <p:cNvSpPr txBox="1"/>
            <p:nvPr/>
          </p:nvSpPr>
          <p:spPr>
            <a:xfrm>
              <a:off x="5518404" y="5810098"/>
              <a:ext cx="130850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호기심 유발형 질문</a:t>
              </a:r>
              <a:endParaRPr lang="en-US" sz="1050" dirty="0"/>
            </a:p>
          </p:txBody>
        </p:sp>
        <p:pic>
          <p:nvPicPr>
            <p:cNvPr id="39" name="Image 9" descr="preencoded.png"/>
            <p:cNvPicPr>
              <a:picLocks noChangeAspect="1"/>
            </p:cNvPicPr>
            <p:nvPr/>
          </p:nvPicPr>
          <p:blipFill>
            <a:blip r:embed="rId12"/>
            <a:srcRect l="-2571" r="-2571"/>
            <a:stretch/>
          </p:blipFill>
          <p:spPr>
            <a:xfrm>
              <a:off x="9175090" y="5300777"/>
              <a:ext cx="105156" cy="114300"/>
            </a:xfrm>
            <a:prstGeom prst="rect">
              <a:avLst/>
            </a:prstGeom>
          </p:spPr>
        </p:pic>
        <p:sp>
          <p:nvSpPr>
            <p:cNvPr id="40" name="Text 28"/>
            <p:cNvSpPr txBox="1"/>
            <p:nvPr/>
          </p:nvSpPr>
          <p:spPr>
            <a:xfrm>
              <a:off x="9221724" y="5257800"/>
              <a:ext cx="145115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영상 내용과의 일치성</a:t>
              </a:r>
              <a:endParaRPr lang="en-US" sz="1050" dirty="0"/>
            </a:p>
          </p:txBody>
        </p:sp>
        <p:pic>
          <p:nvPicPr>
            <p:cNvPr id="41" name="Image 10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9293047" y="5576926"/>
              <a:ext cx="114300" cy="114300"/>
            </a:xfrm>
            <a:prstGeom prst="rect">
              <a:avLst/>
            </a:prstGeom>
          </p:spPr>
        </p:pic>
        <p:sp>
          <p:nvSpPr>
            <p:cNvPr id="42" name="Text 29"/>
            <p:cNvSpPr txBox="1"/>
            <p:nvPr/>
          </p:nvSpPr>
          <p:spPr>
            <a:xfrm>
              <a:off x="9367114" y="5533949"/>
              <a:ext cx="116677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시청자 기대 충족</a:t>
              </a:r>
              <a:endParaRPr lang="en-US" sz="1050" dirty="0"/>
            </a:p>
          </p:txBody>
        </p:sp>
        <p:pic>
          <p:nvPicPr>
            <p:cNvPr id="43" name="Image 11" descr="preencoded.png"/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9293047" y="5853074"/>
              <a:ext cx="114300" cy="114300"/>
            </a:xfrm>
            <a:prstGeom prst="rect">
              <a:avLst/>
            </a:prstGeom>
          </p:spPr>
        </p:pic>
        <p:sp>
          <p:nvSpPr>
            <p:cNvPr id="44" name="Text 30"/>
            <p:cNvSpPr txBox="1"/>
            <p:nvPr/>
          </p:nvSpPr>
          <p:spPr>
            <a:xfrm>
              <a:off x="9367114" y="5810098"/>
              <a:ext cx="116677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과장된 왜곡 금지</a:t>
              </a:r>
              <a:endParaRPr lang="en-US" sz="1050" dirty="0"/>
            </a:p>
          </p:txBody>
        </p:sp>
      </p:grpSp>
      <p:sp>
        <p:nvSpPr>
          <p:cNvPr id="45" name="Text 31"/>
          <p:cNvSpPr txBox="1"/>
          <p:nvPr/>
        </p:nvSpPr>
        <p:spPr>
          <a:xfrm>
            <a:off x="8932774" y="3339389"/>
            <a:ext cx="185348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클릭베이트 회피</a:t>
            </a:r>
            <a:endParaRPr lang="en-US" sz="18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381305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381305"/>
            <a:ext cx="2041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03: PRODUCTION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647395"/>
            <a:ext cx="552846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촬영·오디오 녹음 기초</a:t>
            </a:r>
            <a:endParaRPr lang="en-US" sz="33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B02730D-B42B-41A5-F268-9F1CE3A86A16}"/>
              </a:ext>
            </a:extLst>
          </p:cNvPr>
          <p:cNvGrpSpPr/>
          <p:nvPr/>
        </p:nvGrpSpPr>
        <p:grpSpPr>
          <a:xfrm>
            <a:off x="609905" y="1651406"/>
            <a:ext cx="5771692" cy="4572000"/>
            <a:chOff x="609905" y="2154326"/>
            <a:chExt cx="5771692" cy="3567075"/>
          </a:xfrm>
        </p:grpSpPr>
        <p:sp>
          <p:nvSpPr>
            <p:cNvPr id="7" name="Shape 5"/>
            <p:cNvSpPr/>
            <p:nvPr/>
          </p:nvSpPr>
          <p:spPr>
            <a:xfrm>
              <a:off x="609905" y="2154326"/>
              <a:ext cx="5581498" cy="1123798"/>
            </a:xfrm>
            <a:prstGeom prst="roundRect">
              <a:avLst>
                <a:gd name="adj" fmla="val 8275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2154326"/>
              <a:ext cx="38405" cy="1123798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105510" y="2344522"/>
              <a:ext cx="50868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 고품질 영상 제작의 핵심</a:t>
              </a:r>
              <a:endParaRPr lang="en-US" sz="1400" dirty="0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 t="-842" b="-842"/>
            <a:stretch/>
          </p:blipFill>
          <p:spPr>
            <a:xfrm>
              <a:off x="838505" y="2387498"/>
              <a:ext cx="190195" cy="171907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838505" y="2659075"/>
              <a:ext cx="523951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"보는 재미와 듣는 편안함"을 동시에 잡아야 합니다.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안정적인</a:t>
              </a:r>
              <a:r>
                <a:rPr lang="en-US" sz="12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구도와 깨끗한 오디오는 콘텐츠의 신뢰도를 </a:t>
              </a:r>
              <a:r>
                <a:rPr lang="en-US" sz="12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결정하는</a:t>
              </a:r>
              <a:r>
                <a:rPr lang="en-US" sz="12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가장</a:t>
              </a:r>
              <a:r>
                <a:rPr lang="en-US" sz="12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기본적이고 중요한 요소입니다.</a:t>
              </a:r>
              <a:endParaRPr lang="en-US" sz="1200" dirty="0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3554273"/>
              <a:ext cx="152705" cy="152705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875995" y="3468319"/>
              <a:ext cx="542970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180도 룰 &amp; 삼등분 구도</a:t>
              </a:r>
              <a:endParaRPr lang="en-US" sz="1400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875995" y="3730752"/>
              <a:ext cx="539130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인물의 시선 방향을 유지하여 공간감을 깨지 않는 180도 법칙과,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화면을</a:t>
              </a:r>
              <a:r>
                <a:rPr lang="en-US" sz="105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3분할하여 피사체를 교차점에 배치하는 구도로 안정감을 줍니다.</a:t>
              </a:r>
              <a:endParaRPr lang="en-US" sz="1050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4349801"/>
              <a:ext cx="152705" cy="15270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875995" y="4263847"/>
              <a:ext cx="542970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조명 설정: 3점 조명 (3-Point Lighting)</a:t>
              </a:r>
              <a:endParaRPr lang="en-US" sz="14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875995" y="4525366"/>
              <a:ext cx="539130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주광(Key Light), 보조광(Fill Light), 역광(Back Light)을 </a:t>
              </a:r>
              <a:r>
                <a:rPr lang="en-US" sz="105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활용하여</a:t>
              </a:r>
              <a:r>
                <a:rPr lang="en-US" sz="105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피사체의</a:t>
              </a:r>
              <a:r>
                <a:rPr lang="en-US" sz="105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입체감을 살리고 배경과 분리합니다.</a:t>
              </a:r>
              <a:endParaRPr lang="en-US" sz="105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5144414"/>
              <a:ext cx="152705" cy="152705"/>
            </a:xfrm>
            <a:prstGeom prst="rect">
              <a:avLst/>
            </a:prstGeom>
          </p:spPr>
        </p:pic>
        <p:sp>
          <p:nvSpPr>
            <p:cNvPr id="19" name="Text 13"/>
            <p:cNvSpPr txBox="1"/>
            <p:nvPr/>
          </p:nvSpPr>
          <p:spPr>
            <a:xfrm>
              <a:off x="875995" y="5059375"/>
              <a:ext cx="5505602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오디오: 마이크 선택과 수음</a:t>
              </a:r>
              <a:endParaRPr lang="en-US" sz="14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875995" y="5320894"/>
              <a:ext cx="539130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상황에 맞는 마이크(샷건, 핀 마이크 등)를 선택하고,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잡음을</a:t>
              </a:r>
              <a:r>
                <a:rPr lang="en-US" sz="105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최소화하여 명료한 목소리를 담는 것이 영상 화질보다 더 중요할 수 있습니다.</a:t>
              </a:r>
              <a:endParaRPr lang="en-US" sz="1050" dirty="0"/>
            </a:p>
          </p:txBody>
        </p:sp>
      </p:grp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19591" r="19591"/>
          <a:stretch/>
        </p:blipFill>
        <p:spPr>
          <a:xfrm>
            <a:off x="6644945" y="1651406"/>
            <a:ext cx="4943246" cy="45720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35140" y="4933188"/>
            <a:ext cx="4562856" cy="1104595"/>
          </a:xfrm>
          <a:prstGeom prst="roundRect">
            <a:avLst>
              <a:gd name="adj" fmla="val 1141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6996989" y="5123383"/>
            <a:ext cx="809244" cy="237744"/>
          </a:xfrm>
          <a:prstGeom prst="roundRect">
            <a:avLst>
              <a:gd name="adj" fmla="val 307692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11289" y="5161788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CHECKLIST</a:t>
            </a:r>
            <a:endParaRPr lang="en-US" sz="800" dirty="0"/>
          </a:p>
        </p:txBody>
      </p:sp>
      <p:sp>
        <p:nvSpPr>
          <p:cNvPr id="25" name="Text 18"/>
          <p:cNvSpPr txBox="1"/>
          <p:nvPr/>
        </p:nvSpPr>
        <p:spPr>
          <a:xfrm>
            <a:off x="6996989" y="5451653"/>
            <a:ext cx="162580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체크리스트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996989" y="5718658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On-set Production Checklist</a:t>
            </a:r>
            <a:endParaRPr lang="en-US" sz="9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0981944" y="5585155"/>
            <a:ext cx="114300" cy="152705"/>
          </a:xfrm>
          <a:prstGeom prst="rect">
            <a:avLst/>
          </a:prstGeom>
        </p:spPr>
      </p:pic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02: STORYTELLING &amp; PRODUCTION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05002"/>
            <a:ext cx="97000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틱톡 숏폼 제작 사례 연구 (가상의 예시)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0379529" y="950062"/>
            <a:ext cx="1204090" cy="342900"/>
          </a:xfrm>
          <a:prstGeom prst="roundRect">
            <a:avLst>
              <a:gd name="adj" fmla="val 14814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10586229" y="1036016"/>
            <a:ext cx="91143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905" y="1470355"/>
            <a:ext cx="2857500" cy="4934102"/>
          </a:xfrm>
          <a:prstGeom prst="roundRect">
            <a:avLst>
              <a:gd name="adj" fmla="val 256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95198" y="1649578"/>
            <a:ext cx="2286000" cy="4572000"/>
          </a:xfrm>
          <a:prstGeom prst="roundRect">
            <a:avLst>
              <a:gd name="adj" fmla="val 5333"/>
            </a:avLst>
          </a:prstGeom>
          <a:solidFill>
            <a:srgbClr val="000000"/>
          </a:solidFill>
          <a:ln w="101600">
            <a:solidFill>
              <a:srgbClr val="1F2937"/>
            </a:solidFill>
            <a:prstDash val="solid"/>
          </a:ln>
          <a:effectLst>
            <a:outerShdw blurRad="381000" dist="1905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37932" r="37932"/>
          <a:stretch/>
        </p:blipFill>
        <p:spPr>
          <a:xfrm>
            <a:off x="972007" y="1726387"/>
            <a:ext cx="2133295" cy="44192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771900" y="1470355"/>
            <a:ext cx="7810805" cy="1543507"/>
          </a:xfrm>
          <a:prstGeom prst="roundRect">
            <a:avLst>
              <a:gd name="adj" fmla="val 5851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10"/>
          <p:cNvSpPr/>
          <p:nvPr/>
        </p:nvSpPr>
        <p:spPr>
          <a:xfrm>
            <a:off x="3771900" y="1470355"/>
            <a:ext cx="57607" cy="1543507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Shape 11"/>
          <p:cNvSpPr/>
          <p:nvPr/>
        </p:nvSpPr>
        <p:spPr>
          <a:xfrm>
            <a:off x="4019702" y="166146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05656" y="1746504"/>
            <a:ext cx="133502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38498" y="1694383"/>
            <a:ext cx="1837944" cy="163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99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 (문제)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438498" y="2131379"/>
            <a:ext cx="82881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3초 이내 이탈률이 60% 이상으로 높고,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시청 지속 시간(Retention)이 낮아 알고리즘 추천을 받지 못하는 상황 발생.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771900" y="3164738"/>
            <a:ext cx="7810805" cy="1543507"/>
          </a:xfrm>
          <a:prstGeom prst="roundRect">
            <a:avLst>
              <a:gd name="adj" fmla="val 5851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5"/>
          <p:cNvSpPr/>
          <p:nvPr/>
        </p:nvSpPr>
        <p:spPr>
          <a:xfrm>
            <a:off x="3771900" y="3164738"/>
            <a:ext cx="57607" cy="154350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6"/>
          <p:cNvSpPr/>
          <p:nvPr/>
        </p:nvSpPr>
        <p:spPr>
          <a:xfrm>
            <a:off x="4019702" y="335493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4119372" y="3440887"/>
            <a:ext cx="105156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438498" y="3388766"/>
            <a:ext cx="1760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1E40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SOLUTION (해결)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438498" y="3825762"/>
            <a:ext cx="70299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오프닝 훅 </a:t>
            </a:r>
            <a:r>
              <a:rPr lang="en-US" sz="12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영상 시작과 동시에 "시험 기간 유형 TOP 3" 텍스트와 빠른 점프컷으로 시선 고정.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비트 </a:t>
            </a:r>
            <a:r>
              <a:rPr lang="en-US" sz="12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싱크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자막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배경음악 박자에 맞춰 자막이 등장하도록 편집하여 몰입감 증대.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771900" y="4859122"/>
            <a:ext cx="7810805" cy="1543507"/>
          </a:xfrm>
          <a:prstGeom prst="roundRect">
            <a:avLst>
              <a:gd name="adj" fmla="val 585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Shape 20"/>
          <p:cNvSpPr/>
          <p:nvPr/>
        </p:nvSpPr>
        <p:spPr>
          <a:xfrm>
            <a:off x="3771900" y="4859122"/>
            <a:ext cx="57607" cy="154350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Shape 21"/>
          <p:cNvSpPr/>
          <p:nvPr/>
        </p:nvSpPr>
        <p:spPr>
          <a:xfrm>
            <a:off x="4019702" y="504931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05656" y="5135270"/>
            <a:ext cx="133502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438497" y="5083150"/>
            <a:ext cx="1597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065F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 (결과)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4438498" y="5556808"/>
            <a:ext cx="7639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조회수 대비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완시율(Completion Rate) 25% 상승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공유 수 3배 증가.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틱톡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'추천(For You)' 피드 노출 빈도 급상승.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241954" y="5871276"/>
            <a:ext cx="2153567" cy="331099"/>
          </a:xfrm>
          <a:prstGeom prst="roundRect">
            <a:avLst>
              <a:gd name="adj" fmla="val 685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9351483" y="5960080"/>
            <a:ext cx="149951" cy="16006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589191" y="5933652"/>
            <a:ext cx="1325203" cy="22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Avg. Watch Time :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10871812" y="5933652"/>
            <a:ext cx="638923" cy="22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+45%</a:t>
            </a:r>
            <a:endParaRPr lang="en-US" sz="11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838298" y="4888382"/>
            <a:ext cx="190195" cy="190195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838298" y="5231282"/>
            <a:ext cx="190195" cy="190195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838298" y="5574182"/>
            <a:ext cx="190195" cy="190195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773832" y="2117206"/>
            <a:ext cx="228600" cy="228600"/>
          </a:xfrm>
          <a:prstGeom prst="ellipse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8"/>
          <p:cNvSpPr txBox="1"/>
          <p:nvPr/>
        </p:nvSpPr>
        <p:spPr>
          <a:xfrm>
            <a:off x="1429207" y="5092294"/>
            <a:ext cx="8823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@campus_life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1123798" y="5792723"/>
            <a:ext cx="190195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공감 100% 시험기간 유형 ㅋㅋㅋ #시험기간 #대학생 #공감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1466698" y="1726387"/>
            <a:ext cx="1143000" cy="228600"/>
          </a:xfrm>
          <a:prstGeom prst="roundRect">
            <a:avLst>
              <a:gd name="adj" fmla="val 2000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7117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04: EDITING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97155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소프트웨어 비교 (Software Comparison)</a:t>
            </a:r>
            <a:endParaRPr lang="en-US" sz="3100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2B27021F-1234-4DA8-AA73-64F2598D0481}"/>
              </a:ext>
            </a:extLst>
          </p:cNvPr>
          <p:cNvGrpSpPr/>
          <p:nvPr/>
        </p:nvGrpSpPr>
        <p:grpSpPr>
          <a:xfrm>
            <a:off x="609905" y="1584655"/>
            <a:ext cx="10972800" cy="4820717"/>
            <a:chOff x="609905" y="1584655"/>
            <a:chExt cx="10972800" cy="4820717"/>
          </a:xfrm>
        </p:grpSpPr>
        <p:sp>
          <p:nvSpPr>
            <p:cNvPr id="7" name="Shape 5"/>
            <p:cNvSpPr/>
            <p:nvPr/>
          </p:nvSpPr>
          <p:spPr>
            <a:xfrm>
              <a:off x="609905" y="1584655"/>
              <a:ext cx="10972800" cy="3676802"/>
            </a:xfrm>
            <a:prstGeom prst="roundRect">
              <a:avLst>
                <a:gd name="adj" fmla="val 1289"/>
              </a:avLst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8" name="Shape 6"/>
            <p:cNvSpPr/>
            <p:nvPr/>
          </p:nvSpPr>
          <p:spPr>
            <a:xfrm>
              <a:off x="619049" y="1594714"/>
              <a:ext cx="10953598" cy="666598"/>
            </a:xfrm>
            <a:prstGeom prst="rect">
              <a:avLst/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9" name="Shape 7"/>
            <p:cNvSpPr/>
            <p:nvPr/>
          </p:nvSpPr>
          <p:spPr>
            <a:xfrm>
              <a:off x="619049" y="2242109"/>
              <a:ext cx="10953598" cy="19202"/>
            </a:xfrm>
            <a:prstGeom prst="rect">
              <a:avLst/>
            </a:prstGeom>
            <a:solidFill>
              <a:srgbClr val="E5E5E5"/>
            </a:solidFill>
            <a:ln w="12700">
              <a:solidFill>
                <a:srgbClr val="E5E5E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847649" y="1811426"/>
              <a:ext cx="137983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소프트웨어 (TOOL)</a:t>
              </a:r>
              <a:endParaRPr lang="en-US" sz="12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083357" y="1594714"/>
              <a:ext cx="4248302" cy="647395"/>
            </a:xfrm>
            <a:prstGeom prst="rect">
              <a:avLst/>
            </a:prstGeom>
            <a:solidFill>
              <a:srgbClr val="FFF9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2" name="Shape 10"/>
            <p:cNvSpPr/>
            <p:nvPr/>
          </p:nvSpPr>
          <p:spPr>
            <a:xfrm>
              <a:off x="3311957" y="1784909"/>
              <a:ext cx="267005" cy="267005"/>
            </a:xfrm>
            <a:prstGeom prst="roundRect">
              <a:avLst>
                <a:gd name="adj" fmla="val 73385"/>
              </a:avLst>
            </a:prstGeom>
            <a:solidFill>
              <a:srgbClr val="FFF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378708" y="1851660"/>
              <a:ext cx="133502" cy="133502"/>
            </a:xfrm>
            <a:prstGeom prst="rect">
              <a:avLst/>
            </a:prstGeom>
          </p:spPr>
        </p:pic>
        <p:sp>
          <p:nvSpPr>
            <p:cNvPr id="14" name="Text 11"/>
            <p:cNvSpPr txBox="1"/>
            <p:nvPr/>
          </p:nvSpPr>
          <p:spPr>
            <a:xfrm>
              <a:off x="3674059" y="1811426"/>
              <a:ext cx="132222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주요 장점 (PROS)</a:t>
              </a:r>
              <a:endParaRPr lang="en-US" sz="12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7556602" y="1784909"/>
              <a:ext cx="267005" cy="267005"/>
            </a:xfrm>
            <a:prstGeom prst="roundRect">
              <a:avLst>
                <a:gd name="adj" fmla="val 73385"/>
              </a:avLst>
            </a:prstGeom>
            <a:solidFill>
              <a:srgbClr val="FFF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pic>
          <p:nvPicPr>
            <p:cNvPr id="16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623353" y="1851660"/>
              <a:ext cx="133502" cy="133502"/>
            </a:xfrm>
            <a:prstGeom prst="rect">
              <a:avLst/>
            </a:prstGeom>
          </p:spPr>
        </p:pic>
        <p:sp>
          <p:nvSpPr>
            <p:cNvPr id="17" name="Text 13"/>
            <p:cNvSpPr txBox="1"/>
            <p:nvPr/>
          </p:nvSpPr>
          <p:spPr>
            <a:xfrm>
              <a:off x="7918704" y="1811426"/>
              <a:ext cx="1323137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고려 사항 (CONS)</a:t>
              </a:r>
              <a:endParaRPr lang="en-US" sz="120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619049" y="3004718"/>
              <a:ext cx="10953598" cy="9144"/>
            </a:xfrm>
            <a:prstGeom prst="rect">
              <a:avLst/>
            </a:prstGeom>
            <a:solidFill>
              <a:srgbClr val="E5E5E5"/>
            </a:solidFill>
            <a:ln w="12700">
              <a:solidFill>
                <a:srgbClr val="E5E5E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847649" y="2432304"/>
              <a:ext cx="17602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Adobe Premiere Pro</a:t>
              </a:r>
              <a:endParaRPr lang="en-US" sz="1400" dirty="0"/>
            </a:p>
          </p:txBody>
        </p:sp>
        <p:sp>
          <p:nvSpPr>
            <p:cNvPr id="20" name="Text 16"/>
            <p:cNvSpPr txBox="1"/>
            <p:nvPr/>
          </p:nvSpPr>
          <p:spPr>
            <a:xfrm>
              <a:off x="847649" y="2680106"/>
              <a:ext cx="1208837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888888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Industry Standard</a:t>
              </a:r>
              <a:endParaRPr lang="en-US" sz="1000" dirty="0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3502152" y="2414016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업계 표준</a:t>
              </a: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포토샵/애펙과 완벽한 호환</a:t>
              </a:r>
              <a:endParaRPr lang="en-US" sz="1050" dirty="0"/>
            </a:p>
          </p:txBody>
        </p:sp>
        <p:pic>
          <p:nvPicPr>
            <p:cNvPr id="22" name="Image 2" descr="preencoded.png"/>
            <p:cNvPicPr>
              <a:picLocks noChangeAspect="1"/>
            </p:cNvPicPr>
            <p:nvPr/>
          </p:nvPicPr>
          <p:blipFill>
            <a:blip r:embed="rId5"/>
            <a:srcRect t="-1100" b="-1100"/>
            <a:stretch/>
          </p:blipFill>
          <p:spPr>
            <a:xfrm>
              <a:off x="3311957" y="2451506"/>
              <a:ext cx="114300" cy="133502"/>
            </a:xfrm>
            <a:prstGeom prst="rect">
              <a:avLst/>
            </a:prstGeom>
          </p:spPr>
        </p:pic>
        <p:sp>
          <p:nvSpPr>
            <p:cNvPr id="23" name="Text 18"/>
            <p:cNvSpPr txBox="1"/>
            <p:nvPr/>
          </p:nvSpPr>
          <p:spPr>
            <a:xfrm>
              <a:off x="3502152" y="2651760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가장 방대한 플러그인과 튜토리얼 보유</a:t>
              </a:r>
              <a:endParaRPr lang="en-US" sz="1050" dirty="0"/>
            </a:p>
          </p:txBody>
        </p:sp>
        <p:pic>
          <p:nvPicPr>
            <p:cNvPr id="24" name="Image 3" descr="preencoded.png"/>
            <p:cNvPicPr>
              <a:picLocks noChangeAspect="1"/>
            </p:cNvPicPr>
            <p:nvPr/>
          </p:nvPicPr>
          <p:blipFill>
            <a:blip r:embed="rId5"/>
            <a:srcRect t="-1100" b="-1100"/>
            <a:stretch/>
          </p:blipFill>
          <p:spPr>
            <a:xfrm>
              <a:off x="3311957" y="2690165"/>
              <a:ext cx="114300" cy="133502"/>
            </a:xfrm>
            <a:prstGeom prst="rect">
              <a:avLst/>
            </a:prstGeom>
          </p:spPr>
        </p:pic>
        <p:sp>
          <p:nvSpPr>
            <p:cNvPr id="25" name="Text 19"/>
            <p:cNvSpPr txBox="1"/>
            <p:nvPr/>
          </p:nvSpPr>
          <p:spPr>
            <a:xfrm>
              <a:off x="7746797" y="2414016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매월 구독료 발생 (학생 할인 필수)</a:t>
              </a:r>
              <a:endParaRPr lang="en-US" sz="1050" dirty="0"/>
            </a:p>
          </p:txBody>
        </p:sp>
        <p:pic>
          <p:nvPicPr>
            <p:cNvPr id="26" name="Image 4" descr="preencoded.png"/>
            <p:cNvPicPr>
              <a:picLocks noChangeAspect="1"/>
            </p:cNvPicPr>
            <p:nvPr/>
          </p:nvPicPr>
          <p:blipFill>
            <a:blip r:embed="rId6"/>
            <a:srcRect t="-1100" b="-1100"/>
            <a:stretch/>
          </p:blipFill>
          <p:spPr>
            <a:xfrm>
              <a:off x="7556602" y="2451506"/>
              <a:ext cx="114300" cy="133502"/>
            </a:xfrm>
            <a:prstGeom prst="rect">
              <a:avLst/>
            </a:prstGeom>
          </p:spPr>
        </p:pic>
        <p:sp>
          <p:nvSpPr>
            <p:cNvPr id="27" name="Text 20"/>
            <p:cNvSpPr txBox="1"/>
            <p:nvPr/>
          </p:nvSpPr>
          <p:spPr>
            <a:xfrm>
              <a:off x="7746797" y="2651760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고사양 PC 필요, 잦은 오류 발생 가능성</a:t>
              </a:r>
              <a:endParaRPr lang="en-US" sz="1050" dirty="0"/>
            </a:p>
          </p:txBody>
        </p:sp>
        <p:pic>
          <p:nvPicPr>
            <p:cNvPr id="28" name="Image 5" descr="preencoded.png"/>
            <p:cNvPicPr>
              <a:picLocks noChangeAspect="1"/>
            </p:cNvPicPr>
            <p:nvPr/>
          </p:nvPicPr>
          <p:blipFill>
            <a:blip r:embed="rId6"/>
            <a:srcRect t="-1100" b="-1100"/>
            <a:stretch/>
          </p:blipFill>
          <p:spPr>
            <a:xfrm>
              <a:off x="7556602" y="2690165"/>
              <a:ext cx="114300" cy="133502"/>
            </a:xfrm>
            <a:prstGeom prst="rect">
              <a:avLst/>
            </a:prstGeom>
          </p:spPr>
        </p:pic>
        <p:sp>
          <p:nvSpPr>
            <p:cNvPr id="29" name="Shape 21"/>
            <p:cNvSpPr/>
            <p:nvPr/>
          </p:nvSpPr>
          <p:spPr>
            <a:xfrm>
              <a:off x="619049" y="3757270"/>
              <a:ext cx="10953598" cy="9144"/>
            </a:xfrm>
            <a:prstGeom prst="rect">
              <a:avLst/>
            </a:prstGeom>
            <a:solidFill>
              <a:srgbClr val="E5E5E5"/>
            </a:solidFill>
            <a:ln w="12700">
              <a:solidFill>
                <a:srgbClr val="E5E5E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0" name="Text 22"/>
            <p:cNvSpPr txBox="1"/>
            <p:nvPr/>
          </p:nvSpPr>
          <p:spPr>
            <a:xfrm>
              <a:off x="847649" y="3184855"/>
              <a:ext cx="113385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Final Cut Pro</a:t>
              </a:r>
              <a:endParaRPr lang="en-US" sz="1400" dirty="0"/>
            </a:p>
          </p:txBody>
        </p:sp>
        <p:sp>
          <p:nvSpPr>
            <p:cNvPr id="31" name="Text 23"/>
            <p:cNvSpPr txBox="1"/>
            <p:nvPr/>
          </p:nvSpPr>
          <p:spPr>
            <a:xfrm>
              <a:off x="847649" y="3432658"/>
              <a:ext cx="924458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888888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Mac Exclusive</a:t>
              </a:r>
              <a:endParaRPr lang="en-US" sz="1000" dirty="0"/>
            </a:p>
          </p:txBody>
        </p:sp>
        <p:sp>
          <p:nvSpPr>
            <p:cNvPr id="32" name="Text 24"/>
            <p:cNvSpPr txBox="1"/>
            <p:nvPr/>
          </p:nvSpPr>
          <p:spPr>
            <a:xfrm>
              <a:off x="3502152" y="3166567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최적화된 성능</a:t>
              </a: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빠른 렌더링 속도</a:t>
              </a:r>
              <a:endParaRPr lang="en-US" sz="1050" dirty="0"/>
            </a:p>
          </p:txBody>
        </p:sp>
        <p:pic>
          <p:nvPicPr>
            <p:cNvPr id="33" name="Image 6" descr="preencoded.png"/>
            <p:cNvPicPr>
              <a:picLocks noChangeAspect="1"/>
            </p:cNvPicPr>
            <p:nvPr/>
          </p:nvPicPr>
          <p:blipFill>
            <a:blip r:embed="rId5"/>
            <a:srcRect t="-1100" b="-1100"/>
            <a:stretch/>
          </p:blipFill>
          <p:spPr>
            <a:xfrm>
              <a:off x="3311957" y="3204058"/>
              <a:ext cx="114300" cy="133502"/>
            </a:xfrm>
            <a:prstGeom prst="rect">
              <a:avLst/>
            </a:prstGeom>
          </p:spPr>
        </p:pic>
        <p:sp>
          <p:nvSpPr>
            <p:cNvPr id="34" name="Text 25"/>
            <p:cNvSpPr txBox="1"/>
            <p:nvPr/>
          </p:nvSpPr>
          <p:spPr>
            <a:xfrm>
              <a:off x="3502152" y="3404311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직관적인 마그네틱 타임라인, 1회 구매(영구)</a:t>
              </a:r>
              <a:endParaRPr lang="en-US" sz="1050" dirty="0"/>
            </a:p>
          </p:txBody>
        </p:sp>
        <p:pic>
          <p:nvPicPr>
            <p:cNvPr id="35" name="Image 7" descr="preencoded.png"/>
            <p:cNvPicPr>
              <a:picLocks noChangeAspect="1"/>
            </p:cNvPicPr>
            <p:nvPr/>
          </p:nvPicPr>
          <p:blipFill>
            <a:blip r:embed="rId5"/>
            <a:srcRect t="-1100" b="-1100"/>
            <a:stretch/>
          </p:blipFill>
          <p:spPr>
            <a:xfrm>
              <a:off x="3311957" y="3442716"/>
              <a:ext cx="114300" cy="133502"/>
            </a:xfrm>
            <a:prstGeom prst="rect">
              <a:avLst/>
            </a:prstGeom>
          </p:spPr>
        </p:pic>
        <p:sp>
          <p:nvSpPr>
            <p:cNvPr id="36" name="Text 26"/>
            <p:cNvSpPr txBox="1"/>
            <p:nvPr/>
          </p:nvSpPr>
          <p:spPr>
            <a:xfrm>
              <a:off x="7746797" y="3166567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맥(Mac) 환경에서만 사용 가능</a:t>
              </a:r>
              <a:endParaRPr lang="en-US" sz="1050" dirty="0"/>
            </a:p>
          </p:txBody>
        </p:sp>
        <p:pic>
          <p:nvPicPr>
            <p:cNvPr id="37" name="Image 8" descr="preencoded.png"/>
            <p:cNvPicPr>
              <a:picLocks noChangeAspect="1"/>
            </p:cNvPicPr>
            <p:nvPr/>
          </p:nvPicPr>
          <p:blipFill>
            <a:blip r:embed="rId6"/>
            <a:srcRect t="-1100" b="-1100"/>
            <a:stretch/>
          </p:blipFill>
          <p:spPr>
            <a:xfrm>
              <a:off x="7556602" y="3204058"/>
              <a:ext cx="114300" cy="133502"/>
            </a:xfrm>
            <a:prstGeom prst="rect">
              <a:avLst/>
            </a:prstGeom>
          </p:spPr>
        </p:pic>
        <p:sp>
          <p:nvSpPr>
            <p:cNvPr id="38" name="Text 27"/>
            <p:cNvSpPr txBox="1"/>
            <p:nvPr/>
          </p:nvSpPr>
          <p:spPr>
            <a:xfrm>
              <a:off x="7746797" y="3404311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윈도우 기반 협업 시 호환성 문제</a:t>
              </a:r>
              <a:endParaRPr lang="en-US" sz="1050" dirty="0"/>
            </a:p>
          </p:txBody>
        </p:sp>
        <p:pic>
          <p:nvPicPr>
            <p:cNvPr id="39" name="Image 9" descr="preencoded.png"/>
            <p:cNvPicPr>
              <a:picLocks noChangeAspect="1"/>
            </p:cNvPicPr>
            <p:nvPr/>
          </p:nvPicPr>
          <p:blipFill>
            <a:blip r:embed="rId6"/>
            <a:srcRect t="-1100" b="-1100"/>
            <a:stretch/>
          </p:blipFill>
          <p:spPr>
            <a:xfrm>
              <a:off x="7556602" y="3442716"/>
              <a:ext cx="114300" cy="133502"/>
            </a:xfrm>
            <a:prstGeom prst="rect">
              <a:avLst/>
            </a:prstGeom>
          </p:spPr>
        </p:pic>
        <p:sp>
          <p:nvSpPr>
            <p:cNvPr id="40" name="Shape 28"/>
            <p:cNvSpPr/>
            <p:nvPr/>
          </p:nvSpPr>
          <p:spPr>
            <a:xfrm>
              <a:off x="619049" y="4509821"/>
              <a:ext cx="10953598" cy="9144"/>
            </a:xfrm>
            <a:prstGeom prst="rect">
              <a:avLst/>
            </a:prstGeom>
            <a:solidFill>
              <a:srgbClr val="E5E5E5"/>
            </a:solidFill>
            <a:ln w="12700">
              <a:solidFill>
                <a:srgbClr val="E5E5E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41" name="Text 29"/>
            <p:cNvSpPr txBox="1"/>
            <p:nvPr/>
          </p:nvSpPr>
          <p:spPr>
            <a:xfrm>
              <a:off x="847649" y="393740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DaVinci Resolve</a:t>
              </a:r>
              <a:endParaRPr lang="en-US" sz="1400" dirty="0"/>
            </a:p>
          </p:txBody>
        </p:sp>
        <p:sp>
          <p:nvSpPr>
            <p:cNvPr id="42" name="Text 30"/>
            <p:cNvSpPr txBox="1"/>
            <p:nvPr/>
          </p:nvSpPr>
          <p:spPr>
            <a:xfrm>
              <a:off x="847649" y="4185209"/>
              <a:ext cx="1280160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888888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Color Grading King</a:t>
              </a:r>
              <a:endParaRPr lang="en-US" sz="1000" dirty="0"/>
            </a:p>
          </p:txBody>
        </p:sp>
        <p:sp>
          <p:nvSpPr>
            <p:cNvPr id="43" name="Text 31"/>
            <p:cNvSpPr txBox="1"/>
            <p:nvPr/>
          </p:nvSpPr>
          <p:spPr>
            <a:xfrm>
              <a:off x="3502152" y="3918204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강력한 무료 버전</a:t>
              </a: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제공 (기능 제한 적음)</a:t>
              </a:r>
              <a:endParaRPr lang="en-US" sz="1050" dirty="0"/>
            </a:p>
          </p:txBody>
        </p:sp>
        <p:pic>
          <p:nvPicPr>
            <p:cNvPr id="44" name="Image 10" descr="preencoded.png"/>
            <p:cNvPicPr>
              <a:picLocks noChangeAspect="1"/>
            </p:cNvPicPr>
            <p:nvPr/>
          </p:nvPicPr>
          <p:blipFill>
            <a:blip r:embed="rId5"/>
            <a:srcRect t="-1100" b="-1100"/>
            <a:stretch/>
          </p:blipFill>
          <p:spPr>
            <a:xfrm>
              <a:off x="3311957" y="3956609"/>
              <a:ext cx="114300" cy="133502"/>
            </a:xfrm>
            <a:prstGeom prst="rect">
              <a:avLst/>
            </a:prstGeom>
          </p:spPr>
        </p:pic>
        <p:sp>
          <p:nvSpPr>
            <p:cNvPr id="45" name="Text 32"/>
            <p:cNvSpPr txBox="1"/>
            <p:nvPr/>
          </p:nvSpPr>
          <p:spPr>
            <a:xfrm>
              <a:off x="3502152" y="4156862"/>
              <a:ext cx="371520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세계 최고 수준의 색보정(Color Grading) 기능</a:t>
              </a:r>
              <a:endParaRPr lang="en-US" sz="1050" dirty="0"/>
            </a:p>
          </p:txBody>
        </p:sp>
        <p:pic>
          <p:nvPicPr>
            <p:cNvPr id="46" name="Image 11" descr="preencoded.png"/>
            <p:cNvPicPr>
              <a:picLocks noChangeAspect="1"/>
            </p:cNvPicPr>
            <p:nvPr/>
          </p:nvPicPr>
          <p:blipFill>
            <a:blip r:embed="rId5"/>
            <a:srcRect t="-1100" b="-1100"/>
            <a:stretch/>
          </p:blipFill>
          <p:spPr>
            <a:xfrm>
              <a:off x="3311957" y="4195267"/>
              <a:ext cx="114300" cy="133502"/>
            </a:xfrm>
            <a:prstGeom prst="rect">
              <a:avLst/>
            </a:prstGeom>
          </p:spPr>
        </p:pic>
        <p:sp>
          <p:nvSpPr>
            <p:cNvPr id="47" name="Text 33"/>
            <p:cNvSpPr txBox="1"/>
            <p:nvPr/>
          </p:nvSpPr>
          <p:spPr>
            <a:xfrm>
              <a:off x="7746797" y="3918204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인터페이스가 복잡하여 학습 곡선이 높음</a:t>
              </a:r>
              <a:endParaRPr lang="en-US" sz="1050" dirty="0"/>
            </a:p>
          </p:txBody>
        </p:sp>
        <p:pic>
          <p:nvPicPr>
            <p:cNvPr id="48" name="Image 12" descr="preencoded.png"/>
            <p:cNvPicPr>
              <a:picLocks noChangeAspect="1"/>
            </p:cNvPicPr>
            <p:nvPr/>
          </p:nvPicPr>
          <p:blipFill>
            <a:blip r:embed="rId6"/>
            <a:srcRect t="-1100" b="-1100"/>
            <a:stretch/>
          </p:blipFill>
          <p:spPr>
            <a:xfrm>
              <a:off x="7556602" y="3956609"/>
              <a:ext cx="114300" cy="133502"/>
            </a:xfrm>
            <a:prstGeom prst="rect">
              <a:avLst/>
            </a:prstGeom>
          </p:spPr>
        </p:pic>
        <p:sp>
          <p:nvSpPr>
            <p:cNvPr id="49" name="Text 34"/>
            <p:cNvSpPr txBox="1"/>
            <p:nvPr/>
          </p:nvSpPr>
          <p:spPr>
            <a:xfrm>
              <a:off x="7746797" y="4156862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그래픽 카드 등 하드웨어 요구 사양 높음</a:t>
              </a:r>
              <a:endParaRPr lang="en-US" sz="1050" dirty="0"/>
            </a:p>
          </p:txBody>
        </p:sp>
        <p:pic>
          <p:nvPicPr>
            <p:cNvPr id="50" name="Image 13" descr="preencoded.png"/>
            <p:cNvPicPr>
              <a:picLocks noChangeAspect="1"/>
            </p:cNvPicPr>
            <p:nvPr/>
          </p:nvPicPr>
          <p:blipFill>
            <a:blip r:embed="rId6"/>
            <a:srcRect t="-1100" b="-1100"/>
            <a:stretch/>
          </p:blipFill>
          <p:spPr>
            <a:xfrm>
              <a:off x="7556602" y="4195267"/>
              <a:ext cx="114300" cy="133502"/>
            </a:xfrm>
            <a:prstGeom prst="rect">
              <a:avLst/>
            </a:prstGeom>
          </p:spPr>
        </p:pic>
        <p:sp>
          <p:nvSpPr>
            <p:cNvPr id="51" name="Text 35"/>
            <p:cNvSpPr txBox="1"/>
            <p:nvPr/>
          </p:nvSpPr>
          <p:spPr>
            <a:xfrm>
              <a:off x="847649" y="4689958"/>
              <a:ext cx="65745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CapCut</a:t>
              </a:r>
              <a:endParaRPr lang="en-US" sz="1400" dirty="0"/>
            </a:p>
          </p:txBody>
        </p:sp>
        <p:sp>
          <p:nvSpPr>
            <p:cNvPr id="52" name="Text 36"/>
            <p:cNvSpPr txBox="1"/>
            <p:nvPr/>
          </p:nvSpPr>
          <p:spPr>
            <a:xfrm>
              <a:off x="847649" y="4937760"/>
              <a:ext cx="782726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888888"/>
                  </a:solidFill>
                  <a:latin typeface="Sora" pitchFamily="34" charset="0"/>
                  <a:ea typeface="Sora" pitchFamily="34" charset="-122"/>
                  <a:cs typeface="Sora" pitchFamily="34" charset="-120"/>
                </a:rPr>
                <a:t>Mobile &amp; PC</a:t>
              </a:r>
              <a:endParaRPr lang="en-US" sz="1000" dirty="0"/>
            </a:p>
          </p:txBody>
        </p:sp>
        <p:sp>
          <p:nvSpPr>
            <p:cNvPr id="53" name="Text 37"/>
            <p:cNvSpPr txBox="1"/>
            <p:nvPr/>
          </p:nvSpPr>
          <p:spPr>
            <a:xfrm>
              <a:off x="3502152" y="4670755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가장 쉬운 사용성</a:t>
              </a: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자동 자막 및 트렌디한 효과</a:t>
              </a:r>
              <a:endParaRPr lang="en-US" sz="1050" dirty="0"/>
            </a:p>
          </p:txBody>
        </p:sp>
        <p:pic>
          <p:nvPicPr>
            <p:cNvPr id="54" name="Image 14" descr="preencoded.png"/>
            <p:cNvPicPr>
              <a:picLocks noChangeAspect="1"/>
            </p:cNvPicPr>
            <p:nvPr/>
          </p:nvPicPr>
          <p:blipFill>
            <a:blip r:embed="rId5"/>
            <a:srcRect t="-1100" b="-1100"/>
            <a:stretch/>
          </p:blipFill>
          <p:spPr>
            <a:xfrm>
              <a:off x="3311957" y="4709160"/>
              <a:ext cx="114300" cy="133502"/>
            </a:xfrm>
            <a:prstGeom prst="rect">
              <a:avLst/>
            </a:prstGeom>
          </p:spPr>
        </p:pic>
        <p:sp>
          <p:nvSpPr>
            <p:cNvPr id="55" name="Text 38"/>
            <p:cNvSpPr txBox="1"/>
            <p:nvPr/>
          </p:nvSpPr>
          <p:spPr>
            <a:xfrm>
              <a:off x="3502152" y="4909414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모바일-PC 연동 용이, 숏폼 제작 최적화</a:t>
              </a:r>
              <a:endParaRPr lang="en-US" sz="1050" dirty="0"/>
            </a:p>
          </p:txBody>
        </p:sp>
        <p:pic>
          <p:nvPicPr>
            <p:cNvPr id="56" name="Image 15" descr="preencoded.png"/>
            <p:cNvPicPr>
              <a:picLocks noChangeAspect="1"/>
            </p:cNvPicPr>
            <p:nvPr/>
          </p:nvPicPr>
          <p:blipFill>
            <a:blip r:embed="rId5"/>
            <a:srcRect t="-1100" b="-1100"/>
            <a:stretch/>
          </p:blipFill>
          <p:spPr>
            <a:xfrm>
              <a:off x="3311957" y="4946904"/>
              <a:ext cx="114300" cy="133502"/>
            </a:xfrm>
            <a:prstGeom prst="rect">
              <a:avLst/>
            </a:prstGeom>
          </p:spPr>
        </p:pic>
        <p:sp>
          <p:nvSpPr>
            <p:cNvPr id="57" name="Text 39"/>
            <p:cNvSpPr txBox="1"/>
            <p:nvPr/>
          </p:nvSpPr>
          <p:spPr>
            <a:xfrm>
              <a:off x="7746797" y="4670755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디테일한 오디오/색보정 기능 부족</a:t>
              </a:r>
              <a:endParaRPr lang="en-US" sz="1050" dirty="0"/>
            </a:p>
          </p:txBody>
        </p:sp>
        <p:pic>
          <p:nvPicPr>
            <p:cNvPr id="58" name="Image 16" descr="preencoded.png"/>
            <p:cNvPicPr>
              <a:picLocks noChangeAspect="1"/>
            </p:cNvPicPr>
            <p:nvPr/>
          </p:nvPicPr>
          <p:blipFill>
            <a:blip r:embed="rId6"/>
            <a:srcRect t="-1100" b="-1100"/>
            <a:stretch/>
          </p:blipFill>
          <p:spPr>
            <a:xfrm>
              <a:off x="7556602" y="4709160"/>
              <a:ext cx="114300" cy="133502"/>
            </a:xfrm>
            <a:prstGeom prst="rect">
              <a:avLst/>
            </a:prstGeom>
          </p:spPr>
        </p:pic>
        <p:sp>
          <p:nvSpPr>
            <p:cNvPr id="59" name="Text 40"/>
            <p:cNvSpPr txBox="1"/>
            <p:nvPr/>
          </p:nvSpPr>
          <p:spPr>
            <a:xfrm>
              <a:off x="7746797" y="4909414"/>
              <a:ext cx="379201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전문적인 방송/영화 작업에는 한계</a:t>
              </a:r>
              <a:endParaRPr lang="en-US" sz="1050" dirty="0"/>
            </a:p>
          </p:txBody>
        </p:sp>
        <p:pic>
          <p:nvPicPr>
            <p:cNvPr id="60" name="Image 17" descr="preencoded.png"/>
            <p:cNvPicPr>
              <a:picLocks noChangeAspect="1"/>
            </p:cNvPicPr>
            <p:nvPr/>
          </p:nvPicPr>
          <p:blipFill>
            <a:blip r:embed="rId6"/>
            <a:srcRect t="-1100" b="-1100"/>
            <a:stretch/>
          </p:blipFill>
          <p:spPr>
            <a:xfrm>
              <a:off x="7556602" y="4946904"/>
              <a:ext cx="114300" cy="133502"/>
            </a:xfrm>
            <a:prstGeom prst="rect">
              <a:avLst/>
            </a:prstGeom>
          </p:spPr>
        </p:pic>
        <p:sp>
          <p:nvSpPr>
            <p:cNvPr id="61" name="Shape 41"/>
            <p:cNvSpPr/>
            <p:nvPr/>
          </p:nvSpPr>
          <p:spPr>
            <a:xfrm>
              <a:off x="609905" y="5481828"/>
              <a:ext cx="5372100" cy="923544"/>
            </a:xfrm>
            <a:prstGeom prst="roundRect">
              <a:avLst>
                <a:gd name="adj" fmla="val 16332"/>
              </a:avLst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62" name="Shape 42"/>
            <p:cNvSpPr/>
            <p:nvPr/>
          </p:nvSpPr>
          <p:spPr>
            <a:xfrm>
              <a:off x="609905" y="5481828"/>
              <a:ext cx="38405" cy="923544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pic>
          <p:nvPicPr>
            <p:cNvPr id="63" name="Image 18" descr="preencoded.png"/>
            <p:cNvPicPr>
              <a:picLocks noChangeAspect="1"/>
            </p:cNvPicPr>
            <p:nvPr/>
          </p:nvPicPr>
          <p:blipFill>
            <a:blip r:embed="rId7"/>
            <a:srcRect t="-829" b="-829"/>
            <a:stretch/>
          </p:blipFill>
          <p:spPr>
            <a:xfrm>
              <a:off x="838505" y="5659222"/>
              <a:ext cx="75895" cy="123444"/>
            </a:xfrm>
            <a:prstGeom prst="rect">
              <a:avLst/>
            </a:prstGeom>
          </p:spPr>
        </p:pic>
        <p:sp>
          <p:nvSpPr>
            <p:cNvPr id="64" name="Text 43"/>
            <p:cNvSpPr txBox="1"/>
            <p:nvPr/>
          </p:nvSpPr>
          <p:spPr>
            <a:xfrm>
              <a:off x="990295" y="5633618"/>
              <a:ext cx="207568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초보자 추천 (RECOMMENDATION)</a:t>
              </a:r>
              <a:endParaRPr lang="en-US" sz="1000" dirty="0"/>
            </a:p>
          </p:txBody>
        </p:sp>
        <p:sp>
          <p:nvSpPr>
            <p:cNvPr id="65" name="Text 44"/>
            <p:cNvSpPr txBox="1"/>
            <p:nvPr/>
          </p:nvSpPr>
          <p:spPr>
            <a:xfrm>
              <a:off x="838505" y="5876849"/>
              <a:ext cx="5029200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처음 시작은 </a:t>
              </a:r>
              <a:r>
                <a:rPr lang="en-US" sz="10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CapCut</a:t>
              </a:r>
              <a:r>
                <a:rPr lang="en-US" sz="1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으로 영상의 구조를 익히고, </a:t>
              </a:r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더 정교한 편집이 필요할 때 </a:t>
              </a:r>
              <a:r>
                <a:rPr lang="en-US" sz="10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Premiere Pro</a:t>
              </a:r>
              <a:r>
                <a:rPr lang="en-US" sz="1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나 </a:t>
              </a:r>
              <a:r>
                <a:rPr lang="en-US" sz="10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DaVinci Resolve</a:t>
              </a:r>
              <a:r>
                <a:rPr lang="en-US" sz="1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로 넘어가는 것을 추천합니다.</a:t>
              </a:r>
              <a:endParaRPr lang="en-US" sz="1000" dirty="0"/>
            </a:p>
          </p:txBody>
        </p:sp>
        <p:sp>
          <p:nvSpPr>
            <p:cNvPr id="66" name="Shape 45"/>
            <p:cNvSpPr/>
            <p:nvPr/>
          </p:nvSpPr>
          <p:spPr>
            <a:xfrm>
              <a:off x="6210605" y="5481828"/>
              <a:ext cx="5372100" cy="923544"/>
            </a:xfrm>
            <a:prstGeom prst="roundRect">
              <a:avLst>
                <a:gd name="adj" fmla="val 16332"/>
              </a:avLst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67" name="Shape 46"/>
            <p:cNvSpPr/>
            <p:nvPr/>
          </p:nvSpPr>
          <p:spPr>
            <a:xfrm>
              <a:off x="6210605" y="5481828"/>
              <a:ext cx="38405" cy="923544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pic>
          <p:nvPicPr>
            <p:cNvPr id="68" name="Image 19" descr="preencoded.png"/>
            <p:cNvPicPr>
              <a:picLocks noChangeAspect="1"/>
            </p:cNvPicPr>
            <p:nvPr/>
          </p:nvPicPr>
          <p:blipFill>
            <a:blip r:embed="rId8"/>
            <a:srcRect t="-524" b="-524"/>
            <a:stretch/>
          </p:blipFill>
          <p:spPr>
            <a:xfrm>
              <a:off x="6439205" y="5659222"/>
              <a:ext cx="152705" cy="123444"/>
            </a:xfrm>
            <a:prstGeom prst="rect">
              <a:avLst/>
            </a:prstGeom>
          </p:spPr>
        </p:pic>
        <p:sp>
          <p:nvSpPr>
            <p:cNvPr id="69" name="Text 47"/>
            <p:cNvSpPr txBox="1"/>
            <p:nvPr/>
          </p:nvSpPr>
          <p:spPr>
            <a:xfrm>
              <a:off x="6667805" y="5633618"/>
              <a:ext cx="19467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3333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장비 고려 (HARDWARE CHECK)</a:t>
              </a:r>
              <a:endParaRPr lang="en-US" sz="1000" dirty="0"/>
            </a:p>
          </p:txBody>
        </p:sp>
        <p:sp>
          <p:nvSpPr>
            <p:cNvPr id="70" name="Text 48"/>
            <p:cNvSpPr txBox="1"/>
            <p:nvPr/>
          </p:nvSpPr>
          <p:spPr>
            <a:xfrm>
              <a:off x="6439205" y="5876849"/>
              <a:ext cx="5029200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본인의 노트북 사양을 먼저 체크하세요. </a:t>
              </a:r>
            </a:p>
            <a:p>
              <a:pPr marL="0" indent="0" algn="l">
                <a:buNone/>
              </a:pPr>
              <a:r>
                <a:rPr lang="en-US" sz="10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맥북</a:t>
              </a:r>
              <a:r>
                <a:rPr lang="en-US" sz="1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유저라면 파이널컷이, 저사양 노트북이라면 캡컷 PC 버전이 가장 쾌적합니다.</a:t>
              </a:r>
              <a:endParaRPr lang="en-US" sz="1000" dirty="0"/>
            </a:p>
          </p:txBody>
        </p:sp>
      </p:grpSp>
      <p:sp>
        <p:nvSpPr>
          <p:cNvPr id="7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3429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342900"/>
            <a:ext cx="17117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04: EDITING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609905"/>
            <a:ext cx="791961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컷 편집·리듬 만들기 &amp; 체크리스트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1385316"/>
            <a:ext cx="240487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ESSENTIAL CUTTING TECHNIQUES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0862" y="1694166"/>
            <a:ext cx="4390949" cy="3357982"/>
          </a:xfrm>
          <a:prstGeom prst="roundRect">
            <a:avLst>
              <a:gd name="adj" fmla="val 230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9" name="Shape 7"/>
          <p:cNvSpPr/>
          <p:nvPr/>
        </p:nvSpPr>
        <p:spPr>
          <a:xfrm>
            <a:off x="802887" y="2041854"/>
            <a:ext cx="45719" cy="693831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982108" y="1929651"/>
            <a:ext cx="3703320" cy="32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L-Cut &amp; J-Cut (Audio Bridge)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2108" y="2286936"/>
            <a:ext cx="3896258" cy="48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오디오가 영상보다 먼저 나오거나(J), 영상 전환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후에도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오디오가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이어지는(L) 기법으로 자연스러운 연결감 형성.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2887" y="3066862"/>
            <a:ext cx="45719" cy="69383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982108" y="2954659"/>
            <a:ext cx="3855168" cy="32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Jump Cut (Time Compression)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82108" y="3313194"/>
            <a:ext cx="3803120" cy="48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 사이의 공백이나 숨소리를 제거하여 속도감을 높이는 기법.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유튜브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콘텐츠의 기본 편집 방식.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2887" y="4142106"/>
            <a:ext cx="45719" cy="69383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982108" y="4029903"/>
            <a:ext cx="3297975" cy="32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Pattern Interrupt (B-Roll)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82108" y="4388438"/>
            <a:ext cx="3803120" cy="48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 지루함을 깨기 위해 자료화면(B-Roll), 자막, 줌인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등을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3-5초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마다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삽입하여 주의 환기.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0862" y="5204853"/>
            <a:ext cx="4390949" cy="1200607"/>
          </a:xfrm>
          <a:prstGeom prst="roundRect">
            <a:avLst>
              <a:gd name="adj" fmla="val 725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Text 17"/>
          <p:cNvSpPr txBox="1"/>
          <p:nvPr/>
        </p:nvSpPr>
        <p:spPr>
          <a:xfrm>
            <a:off x="772711" y="5366702"/>
            <a:ext cx="16888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Invisible Editing Flow</a:t>
            </a:r>
            <a:endParaRPr lang="en-US" sz="10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85428" y="5384990"/>
            <a:ext cx="152705" cy="15270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72711" y="5632792"/>
            <a:ext cx="1362456" cy="152705"/>
          </a:xfrm>
          <a:prstGeom prst="roundRect">
            <a:avLst>
              <a:gd name="adj" fmla="val 74850"/>
            </a:avLst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2" name="Shape 19"/>
          <p:cNvSpPr/>
          <p:nvPr/>
        </p:nvSpPr>
        <p:spPr>
          <a:xfrm>
            <a:off x="3219645" y="5632792"/>
            <a:ext cx="1362456" cy="152705"/>
          </a:xfrm>
          <a:prstGeom prst="roundRect">
            <a:avLst>
              <a:gd name="adj" fmla="val 74850"/>
            </a:avLst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Shape 20"/>
          <p:cNvSpPr/>
          <p:nvPr/>
        </p:nvSpPr>
        <p:spPr>
          <a:xfrm>
            <a:off x="1077206" y="5861392"/>
            <a:ext cx="1019556" cy="114300"/>
          </a:xfrm>
          <a:prstGeom prst="roundRect">
            <a:avLst>
              <a:gd name="adj" fmla="val 133333"/>
            </a:avLst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Shape 21"/>
          <p:cNvSpPr/>
          <p:nvPr/>
        </p:nvSpPr>
        <p:spPr>
          <a:xfrm>
            <a:off x="2131509" y="5861392"/>
            <a:ext cx="2038198" cy="114300"/>
          </a:xfrm>
          <a:prstGeom prst="roundRect">
            <a:avLst>
              <a:gd name="adj" fmla="val 133333"/>
            </a:avLst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5" name="Text 22"/>
          <p:cNvSpPr txBox="1"/>
          <p:nvPr/>
        </p:nvSpPr>
        <p:spPr>
          <a:xfrm>
            <a:off x="772711" y="6100051"/>
            <a:ext cx="495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A-Roll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222035" y="6100051"/>
            <a:ext cx="9720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B-Roll Insert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151419" y="6100051"/>
            <a:ext cx="7717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Transition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456225" y="1385316"/>
            <a:ext cx="15444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EDITING SELF-CHECK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57182" y="1635950"/>
            <a:ext cx="6133795" cy="923544"/>
          </a:xfrm>
          <a:prstGeom prst="roundRect">
            <a:avLst>
              <a:gd name="adj" fmla="val 1224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0" name="Shape 27"/>
          <p:cNvSpPr/>
          <p:nvPr/>
        </p:nvSpPr>
        <p:spPr>
          <a:xfrm>
            <a:off x="5599828" y="1798713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1" name="Text 28"/>
          <p:cNvSpPr txBox="1"/>
          <p:nvPr/>
        </p:nvSpPr>
        <p:spPr>
          <a:xfrm>
            <a:off x="5942728" y="1779511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템포 조절 (Pacing &amp; Rhythm)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942728" y="2041029"/>
            <a:ext cx="55824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영상의 목적에 맞는 속도인가?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전달은 명확하게, 예능/하이라이트는 빠르게 편집되었는지 확인하세요.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57182" y="2652763"/>
            <a:ext cx="6133795" cy="923544"/>
          </a:xfrm>
          <a:prstGeom prst="roundRect">
            <a:avLst>
              <a:gd name="adj" fmla="val 1224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4" name="Shape 31"/>
          <p:cNvSpPr/>
          <p:nvPr/>
        </p:nvSpPr>
        <p:spPr>
          <a:xfrm>
            <a:off x="5599828" y="2814612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5" name="Text 32"/>
          <p:cNvSpPr txBox="1"/>
          <p:nvPr/>
        </p:nvSpPr>
        <p:spPr>
          <a:xfrm>
            <a:off x="5942728" y="2795409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비트 매칭 (Beat Sync)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942728" y="3057842"/>
            <a:ext cx="55824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배경음악의 비트(Kick/Snare)나 분위기 전환 시점에 맞춰 컷을 잘랐는가?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음악과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영상의 싱크는 몰입감을 높입니다.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57182" y="3668661"/>
            <a:ext cx="6133795" cy="923544"/>
          </a:xfrm>
          <a:prstGeom prst="roundRect">
            <a:avLst>
              <a:gd name="adj" fmla="val 1224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8" name="Shape 35"/>
          <p:cNvSpPr/>
          <p:nvPr/>
        </p:nvSpPr>
        <p:spPr>
          <a:xfrm>
            <a:off x="5599828" y="3830510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9" name="Text 36"/>
          <p:cNvSpPr txBox="1"/>
          <p:nvPr/>
        </p:nvSpPr>
        <p:spPr>
          <a:xfrm>
            <a:off x="5942728" y="3811308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호흡 정리 (Breathing Space)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942728" y="4151812"/>
            <a:ext cx="55824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정보나 감정적인 순간 직후에 시청자가 내용을 소화할 수 있도록 충분한 여백(공백)을 두었는가?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457182" y="4684560"/>
            <a:ext cx="6133795" cy="923544"/>
          </a:xfrm>
          <a:prstGeom prst="roundRect">
            <a:avLst>
              <a:gd name="adj" fmla="val 1224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2" name="Shape 39"/>
          <p:cNvSpPr/>
          <p:nvPr/>
        </p:nvSpPr>
        <p:spPr>
          <a:xfrm>
            <a:off x="5599828" y="4847323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3" name="Text 40"/>
          <p:cNvSpPr txBox="1"/>
          <p:nvPr/>
        </p:nvSpPr>
        <p:spPr>
          <a:xfrm>
            <a:off x="5942728" y="4828120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 유도 (Eye Trace)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5942728" y="5089639"/>
            <a:ext cx="55824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컷이 전환될 때 피사체의 위치가 자연스럽게 연결되는가?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시청자의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시선 이동 피로도를 최소화하세요.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457182" y="5701372"/>
            <a:ext cx="6133795" cy="838505"/>
          </a:xfrm>
          <a:prstGeom prst="roundRect">
            <a:avLst>
              <a:gd name="adj" fmla="val 14871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08972" y="6025070"/>
            <a:ext cx="142646" cy="190195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5866833" y="5815672"/>
            <a:ext cx="5686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 TIP: Kill Your Darlings</a:t>
            </a:r>
            <a:endParaRPr lang="en-US" sz="1050" dirty="0"/>
          </a:p>
        </p:txBody>
      </p:sp>
      <p:sp>
        <p:nvSpPr>
          <p:cNvPr id="48" name="Text 44"/>
          <p:cNvSpPr txBox="1"/>
          <p:nvPr/>
        </p:nvSpPr>
        <p:spPr>
          <a:xfrm>
            <a:off x="5846716" y="5975692"/>
            <a:ext cx="5649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아무리 공들여 찍은 장면이라도 전체 흐름(Flow)을 방해한다면 과감히 삭제하세요.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</a:t>
            </a:r>
            <a:r>
              <a:rPr lang="en-US" sz="10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편집은 '빼기'에서 시작됩니다.</a:t>
            </a:r>
            <a:endParaRPr lang="en-US" sz="105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381305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381305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05: EDITING &amp; POST-PRODUCTION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647395"/>
            <a:ext cx="451439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색보정과 그레이딩</a:t>
            </a:r>
            <a:endParaRPr lang="en-US" sz="33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76BA103-D938-2B7E-8725-400AA4E000C6}"/>
              </a:ext>
            </a:extLst>
          </p:cNvPr>
          <p:cNvGrpSpPr/>
          <p:nvPr/>
        </p:nvGrpSpPr>
        <p:grpSpPr>
          <a:xfrm>
            <a:off x="609905" y="1398118"/>
            <a:ext cx="5695798" cy="4825288"/>
            <a:chOff x="609905" y="1398118"/>
            <a:chExt cx="5695798" cy="3494837"/>
          </a:xfrm>
        </p:grpSpPr>
        <p:sp>
          <p:nvSpPr>
            <p:cNvPr id="7" name="Shape 5"/>
            <p:cNvSpPr/>
            <p:nvPr/>
          </p:nvSpPr>
          <p:spPr>
            <a:xfrm>
              <a:off x="609905" y="1398118"/>
              <a:ext cx="5581498" cy="1123798"/>
            </a:xfrm>
            <a:prstGeom prst="roundRect">
              <a:avLst>
                <a:gd name="adj" fmla="val 8275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400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1398118"/>
              <a:ext cx="38405" cy="1123798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40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086307" y="1588313"/>
              <a:ext cx="510601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 시각적 스토리텔링</a:t>
              </a:r>
              <a:endParaRPr lang="en-US" sz="1600" dirty="0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38505" y="1631290"/>
              <a:ext cx="171907" cy="171907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838505" y="1902866"/>
              <a:ext cx="5106010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"색감은 감정입니다." 단순한 화질 개선을 넘어, 콘텐츠의 </a:t>
              </a: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무드를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결정하고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브랜드 아이덴티티를 시각적으로 완성하는 핵심 단계입니다.</a:t>
              </a:r>
              <a:endParaRPr lang="en-US" sz="1400" dirty="0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2798064"/>
              <a:ext cx="152705" cy="152705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875995" y="2713025"/>
              <a:ext cx="542970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1차 보정 (Primary Correction)</a:t>
              </a:r>
              <a:endParaRPr lang="en-US" sz="1600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875995" y="2974543"/>
              <a:ext cx="539130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촬영된 소스의 노출(밝기), 대비, 화이트 밸런스를 조정하여 </a:t>
              </a:r>
              <a:r>
                <a:rPr lang="en-US" sz="11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이미지를</a:t>
              </a: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기술적으로</a:t>
              </a: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올바르고 균형 잡힌 상태로 만듭니다.</a:t>
              </a:r>
              <a:endParaRPr lang="en-US" sz="1100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09905" y="3567074"/>
              <a:ext cx="152705" cy="15270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875995" y="3481121"/>
              <a:ext cx="542970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2차 그레이딩 (Secondary Grading)</a:t>
              </a:r>
              <a:endParaRPr lang="en-US" sz="16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875995" y="3743554"/>
              <a:ext cx="539130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특정 색상(예: 스킨톤)을 분리하여 조정하거나 틸&amp;오렌지 같은 스타일라이징을 </a:t>
              </a:r>
              <a:r>
                <a:rPr lang="en-US" sz="11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통해</a:t>
              </a: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영상의</a:t>
              </a: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독창적인 '룩(Look)'을 창조합니다.</a:t>
              </a:r>
              <a:endParaRPr lang="en-US" sz="110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6"/>
            <a:srcRect l="-33" r="-33"/>
            <a:stretch/>
          </p:blipFill>
          <p:spPr>
            <a:xfrm>
              <a:off x="609905" y="4335170"/>
              <a:ext cx="171907" cy="152705"/>
            </a:xfrm>
            <a:prstGeom prst="rect">
              <a:avLst/>
            </a:prstGeom>
          </p:spPr>
        </p:pic>
        <p:sp>
          <p:nvSpPr>
            <p:cNvPr id="19" name="Text 13"/>
            <p:cNvSpPr txBox="1"/>
            <p:nvPr/>
          </p:nvSpPr>
          <p:spPr>
            <a:xfrm>
              <a:off x="895198" y="4250131"/>
              <a:ext cx="5410505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룩 통일 (Look Consistency)</a:t>
              </a:r>
              <a:endParaRPr lang="en-US" sz="16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895198" y="4511650"/>
              <a:ext cx="537210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서로 다른 시간대와 장소에서 촬영된 컷들의 톤을 일치시켜,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시청자가</a:t>
              </a: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영상의 흐름을 자연스럽게 느끼도록 만듭니다.</a:t>
              </a:r>
              <a:endParaRPr lang="en-US" sz="1100" dirty="0"/>
            </a:p>
          </p:txBody>
        </p:sp>
      </p:grp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13942" r="13942"/>
          <a:stretch/>
        </p:blipFill>
        <p:spPr>
          <a:xfrm>
            <a:off x="6644945" y="1651406"/>
            <a:ext cx="4943246" cy="45720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35140" y="4933188"/>
            <a:ext cx="4562856" cy="1104595"/>
          </a:xfrm>
          <a:prstGeom prst="roundRect">
            <a:avLst>
              <a:gd name="adj" fmla="val 1141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035394" y="5123383"/>
            <a:ext cx="905256" cy="237744"/>
          </a:xfrm>
          <a:prstGeom prst="roundRect">
            <a:avLst>
              <a:gd name="adj" fmla="val 307692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49694" y="5161788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TOUCH</a:t>
            </a:r>
            <a:endParaRPr lang="en-US" sz="800" dirty="0"/>
          </a:p>
        </p:txBody>
      </p:sp>
      <p:sp>
        <p:nvSpPr>
          <p:cNvPr id="25" name="Text 18"/>
          <p:cNvSpPr txBox="1"/>
          <p:nvPr/>
        </p:nvSpPr>
        <p:spPr>
          <a:xfrm>
            <a:off x="7035394" y="5451653"/>
            <a:ext cx="1410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그레이딩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35394" y="5718658"/>
            <a:ext cx="15535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Consistent Look &amp; Mood</a:t>
            </a:r>
            <a:endParaRPr lang="en-US" sz="9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925251" y="5585155"/>
            <a:ext cx="152705" cy="152705"/>
          </a:xfrm>
          <a:prstGeom prst="rect">
            <a:avLst/>
          </a:prstGeom>
        </p:spPr>
      </p:pic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3429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342900"/>
            <a:ext cx="17117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04: EDITING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609905"/>
            <a:ext cx="767181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자막·그래픽 디자인 &amp; 체크리스트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28583" y="1220564"/>
            <a:ext cx="2868473" cy="31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HIERARCHY &amp; STANDARDS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8584" y="1622680"/>
            <a:ext cx="4390949" cy="2951230"/>
          </a:xfrm>
          <a:prstGeom prst="roundRect">
            <a:avLst>
              <a:gd name="adj" fmla="val 245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9" name="Shape 7"/>
          <p:cNvSpPr/>
          <p:nvPr/>
        </p:nvSpPr>
        <p:spPr>
          <a:xfrm>
            <a:off x="827923" y="1845627"/>
            <a:ext cx="38405" cy="667818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980628" y="1845627"/>
            <a:ext cx="2165299" cy="25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PRIMARY (Title/Point)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80628" y="2121509"/>
            <a:ext cx="3915461" cy="39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키워드 및 강조 자막.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크고 굵은 고딕체, 강한 대비색 사용, 화면 중앙/상단 배치.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7923" y="2787386"/>
            <a:ext cx="38405" cy="66781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3" name="Text 11"/>
          <p:cNvSpPr txBox="1"/>
          <p:nvPr/>
        </p:nvSpPr>
        <p:spPr>
          <a:xfrm>
            <a:off x="980628" y="2787386"/>
            <a:ext cx="2516429" cy="25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SECONDARY (Description)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80628" y="3041890"/>
            <a:ext cx="3915461" cy="39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보조 설명 및 네임태그.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중간 크기 폰트, 가독성 위주, 하단 좌우 또는 인물 근처. 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7923" y="3746481"/>
            <a:ext cx="38405" cy="66781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980628" y="3746481"/>
            <a:ext cx="2120494" cy="25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CAPTIONS (Subtitles)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80628" y="4022364"/>
            <a:ext cx="3915461" cy="39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음성 대사 자막 (CC).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눈이 편한 기본 고딕체, 하단 중앙 고정, 반투명 배경 권장. 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8584" y="4679784"/>
            <a:ext cx="4390949" cy="1802907"/>
          </a:xfrm>
          <a:prstGeom prst="roundRect">
            <a:avLst>
              <a:gd name="adj" fmla="val 398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9" name="Text 17"/>
          <p:cNvSpPr txBox="1"/>
          <p:nvPr/>
        </p:nvSpPr>
        <p:spPr>
          <a:xfrm>
            <a:off x="790433" y="4859974"/>
            <a:ext cx="1281074" cy="212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 Zone Guide</a:t>
            </a:r>
            <a:endParaRPr lang="en-US" sz="10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4722353" y="4881352"/>
            <a:ext cx="133502" cy="170009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90433" y="5157235"/>
            <a:ext cx="4067251" cy="848007"/>
          </a:xfrm>
          <a:prstGeom prst="roundRect">
            <a:avLst>
              <a:gd name="adj" fmla="val 6002"/>
            </a:avLst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22" name="Shape 19"/>
          <p:cNvSpPr/>
          <p:nvPr/>
        </p:nvSpPr>
        <p:spPr>
          <a:xfrm>
            <a:off x="837981" y="5210171"/>
            <a:ext cx="3972154" cy="742134"/>
          </a:xfrm>
          <a:prstGeom prst="rect">
            <a:avLst/>
          </a:prstGeom>
          <a:noFill/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23" name="Shape 20"/>
          <p:cNvSpPr/>
          <p:nvPr/>
        </p:nvSpPr>
        <p:spPr>
          <a:xfrm>
            <a:off x="876386" y="5251910"/>
            <a:ext cx="3895344" cy="657638"/>
          </a:xfrm>
          <a:prstGeom prst="rect">
            <a:avLst/>
          </a:prstGeom>
          <a:solidFill>
            <a:srgbClr val="FFFFFF">
              <a:alpha val="3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24" name="Shape 21"/>
          <p:cNvSpPr/>
          <p:nvPr/>
        </p:nvSpPr>
        <p:spPr>
          <a:xfrm>
            <a:off x="1627609" y="5389071"/>
            <a:ext cx="2375241" cy="374630"/>
          </a:xfrm>
          <a:prstGeom prst="roundRect">
            <a:avLst>
              <a:gd name="adj" fmla="val 489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25" name="Text 22"/>
          <p:cNvSpPr txBox="1"/>
          <p:nvPr/>
        </p:nvSpPr>
        <p:spPr>
          <a:xfrm>
            <a:off x="1789458" y="5361855"/>
            <a:ext cx="2487996" cy="37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 AREA (TEXT HERE)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2825" y="6047999"/>
            <a:ext cx="4181551" cy="25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잘림 방지를 위해 Title Safe(80%) 영역 준수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74904" y="1220564"/>
            <a:ext cx="2048286" cy="31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QUALITY CHECK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34866" y="1602320"/>
            <a:ext cx="6372453" cy="986458"/>
          </a:xfrm>
          <a:prstGeom prst="roundRect">
            <a:avLst>
              <a:gd name="adj" fmla="val 1331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29" name="Shape 26"/>
          <p:cNvSpPr/>
          <p:nvPr/>
        </p:nvSpPr>
        <p:spPr>
          <a:xfrm>
            <a:off x="5636753" y="1792689"/>
            <a:ext cx="190195" cy="211747"/>
          </a:xfrm>
          <a:prstGeom prst="roundRect">
            <a:avLst>
              <a:gd name="adj" fmla="val 1442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0" name="Text 27"/>
          <p:cNvSpPr txBox="1"/>
          <p:nvPr/>
        </p:nvSpPr>
        <p:spPr>
          <a:xfrm>
            <a:off x="5941248" y="1761130"/>
            <a:ext cx="5619902" cy="25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 확보 (Readability &amp; Contrast)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941248" y="2037013"/>
            <a:ext cx="5582412" cy="39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배경과 텍스트의 명도 대비가 충분한가?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배경에는 '테두리(Stroke)'나 '그림자(Drop Shadow)'를 적용하세요.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434866" y="2667587"/>
            <a:ext cx="6372453" cy="795070"/>
          </a:xfrm>
          <a:prstGeom prst="roundRect">
            <a:avLst>
              <a:gd name="adj" fmla="val 2048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3" name="Shape 30"/>
          <p:cNvSpPr/>
          <p:nvPr/>
        </p:nvSpPr>
        <p:spPr>
          <a:xfrm>
            <a:off x="5636753" y="2878913"/>
            <a:ext cx="190195" cy="211747"/>
          </a:xfrm>
          <a:prstGeom prst="roundRect">
            <a:avLst>
              <a:gd name="adj" fmla="val 1442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4" name="Text 31"/>
          <p:cNvSpPr txBox="1"/>
          <p:nvPr/>
        </p:nvSpPr>
        <p:spPr>
          <a:xfrm>
            <a:off x="5941248" y="2847354"/>
            <a:ext cx="4315054" cy="25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영역 준수 (Safe Zone Compliance)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941248" y="3122218"/>
            <a:ext cx="5005426" cy="20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모바일의 노치나 하단 바, 유튜브의 진행 바에 자막이 가려지지 않는지 확인했나요?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434866" y="3560388"/>
            <a:ext cx="6372453" cy="795070"/>
          </a:xfrm>
          <a:prstGeom prst="roundRect">
            <a:avLst>
              <a:gd name="adj" fmla="val 2048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7" name="Shape 34"/>
          <p:cNvSpPr/>
          <p:nvPr/>
        </p:nvSpPr>
        <p:spPr>
          <a:xfrm>
            <a:off x="5636753" y="3771713"/>
            <a:ext cx="190195" cy="211747"/>
          </a:xfrm>
          <a:prstGeom prst="roundRect">
            <a:avLst>
              <a:gd name="adj" fmla="val 1442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8" name="Text 35"/>
          <p:cNvSpPr txBox="1"/>
          <p:nvPr/>
        </p:nvSpPr>
        <p:spPr>
          <a:xfrm>
            <a:off x="5941248" y="3740155"/>
            <a:ext cx="4562856" cy="25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스타일 (Brand Consistency)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941248" y="4016037"/>
            <a:ext cx="5406847" cy="20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내내 폰트 종류(최대 2~3개), 컬러 팔레트, 자막 위치가 일관되게 유지되고 있나요?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434866" y="4454206"/>
            <a:ext cx="6372453" cy="795070"/>
          </a:xfrm>
          <a:prstGeom prst="roundRect">
            <a:avLst>
              <a:gd name="adj" fmla="val 2048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41" name="Shape 38"/>
          <p:cNvSpPr/>
          <p:nvPr/>
        </p:nvSpPr>
        <p:spPr>
          <a:xfrm>
            <a:off x="5636753" y="4664513"/>
            <a:ext cx="190195" cy="211747"/>
          </a:xfrm>
          <a:prstGeom prst="roundRect">
            <a:avLst>
              <a:gd name="adj" fmla="val 1442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42" name="Text 39"/>
          <p:cNvSpPr txBox="1"/>
          <p:nvPr/>
        </p:nvSpPr>
        <p:spPr>
          <a:xfrm>
            <a:off x="5941248" y="4632955"/>
            <a:ext cx="5486400" cy="25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읽는 속도 고려 (Reading Time)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5426941" y="5459584"/>
            <a:ext cx="6372453" cy="1043164"/>
          </a:xfrm>
          <a:prstGeom prst="roundRect">
            <a:avLst>
              <a:gd name="adj" fmla="val 16327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18769" y="5798583"/>
            <a:ext cx="142646" cy="211747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5876630" y="5608214"/>
            <a:ext cx="5686654" cy="212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 TIP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5876630" y="5862718"/>
            <a:ext cx="5649163" cy="3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자막은 '장식'이 아니라 '정보 전달'이 주 목적입니다.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화려한</a:t>
            </a: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효과보다는 모바일 화면에서의 가독성을 최우선으로 두세요.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941248" y="4968140"/>
            <a:ext cx="6372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시청자가 자막을 다 읽기도 전에 화면이 넘어가진 않나요? 컷 전환 속도에 맞춰 텍스트 길이를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조절하세요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05: EDITING &amp; POST-PRODUCTION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551383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음악·효과음과 라이선스</a:t>
            </a:r>
            <a:endParaRPr lang="en-US" sz="3100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677A7F1-956C-7E3D-CB64-713B1FEB1619}"/>
              </a:ext>
            </a:extLst>
          </p:cNvPr>
          <p:cNvGrpSpPr/>
          <p:nvPr/>
        </p:nvGrpSpPr>
        <p:grpSpPr>
          <a:xfrm>
            <a:off x="610057" y="1552160"/>
            <a:ext cx="10971885" cy="4990795"/>
            <a:chOff x="609905" y="1584655"/>
            <a:chExt cx="10971885" cy="5229454"/>
          </a:xfrm>
        </p:grpSpPr>
        <p:sp>
          <p:nvSpPr>
            <p:cNvPr id="7" name="Shape 5"/>
            <p:cNvSpPr/>
            <p:nvPr/>
          </p:nvSpPr>
          <p:spPr>
            <a:xfrm>
              <a:off x="609905" y="1584655"/>
              <a:ext cx="3047695" cy="2800807"/>
            </a:xfrm>
            <a:prstGeom prst="roundRect">
              <a:avLst>
                <a:gd name="adj" fmla="val 2221"/>
              </a:avLst>
            </a:prstGeom>
            <a:solidFill>
              <a:srgbClr val="FEF2F2"/>
            </a:solidFill>
            <a:ln w="254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904695" y="1909267"/>
              <a:ext cx="457200" cy="457200"/>
            </a:xfrm>
            <a:prstGeom prst="rect">
              <a:avLst/>
            </a:prstGeom>
          </p:spPr>
        </p:pic>
        <p:sp>
          <p:nvSpPr>
            <p:cNvPr id="9" name="Text 6"/>
            <p:cNvSpPr txBox="1"/>
            <p:nvPr/>
          </p:nvSpPr>
          <p:spPr>
            <a:xfrm>
              <a:off x="1412749" y="2395728"/>
              <a:ext cx="1347826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991B1B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LEGAL ALERT</a:t>
              </a:r>
              <a:endParaRPr lang="en-US" sz="1600" dirty="0"/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770840" y="2786177"/>
              <a:ext cx="262890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7F1D1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"저작권 침해는 채널 </a:t>
              </a:r>
              <a:r>
                <a:rPr lang="en-US" sz="1200" dirty="0" err="1">
                  <a:solidFill>
                    <a:srgbClr val="7F1D1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삭제의</a:t>
              </a:r>
              <a:r>
                <a:rPr lang="en-US" sz="1200" dirty="0">
                  <a:solidFill>
                    <a:srgbClr val="7F1D1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7F1D1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가장</a:t>
              </a:r>
              <a:r>
                <a:rPr lang="en-US" sz="1200" dirty="0">
                  <a:solidFill>
                    <a:srgbClr val="7F1D1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큰 원인입니다."</a:t>
              </a:r>
              <a:endParaRPr lang="en-US" sz="1200" dirty="0"/>
            </a:p>
            <a:p>
              <a:pPr marL="0" indent="0" algn="ctr">
                <a:lnSpc>
                  <a:spcPct val="150000"/>
                </a:lnSpc>
                <a:buNone/>
              </a:pPr>
              <a:endParaRPr lang="en-US" sz="1200" dirty="0"/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7F1D1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3번 경고(Strike) 누적 시 </a:t>
              </a:r>
              <a:r>
                <a:rPr lang="en-US" sz="1200" dirty="0" err="1">
                  <a:solidFill>
                    <a:srgbClr val="7F1D1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계정이</a:t>
              </a:r>
              <a:endParaRPr lang="en-US" sz="12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7F1D1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영구 정지될 수 있습니다. </a:t>
              </a:r>
              <a:endParaRPr lang="en-US" sz="12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609905" y="4614062"/>
              <a:ext cx="3047695" cy="2200046"/>
            </a:xfrm>
            <a:prstGeom prst="roundRect">
              <a:avLst>
                <a:gd name="adj" fmla="val 2879"/>
              </a:avLst>
            </a:prstGeom>
            <a:solidFill>
              <a:srgbClr val="F3F4F6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847649" y="4861865"/>
              <a:ext cx="181965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 kern="0" spc="38" dirty="0">
                  <a:solidFill>
                    <a:srgbClr val="4B5563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COMMON LICENSE TYPES</a:t>
              </a:r>
              <a:endParaRPr lang="en-US" sz="105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847649" y="5204765"/>
              <a:ext cx="2572207" cy="381305"/>
            </a:xfrm>
            <a:prstGeom prst="roundRect">
              <a:avLst>
                <a:gd name="adj" fmla="val 47962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4"/>
            <a:srcRect l="-12035" r="-12035"/>
            <a:stretch/>
          </p:blipFill>
          <p:spPr>
            <a:xfrm>
              <a:off x="942746" y="5299862"/>
              <a:ext cx="228600" cy="190195"/>
            </a:xfrm>
            <a:prstGeom prst="rect">
              <a:avLst/>
            </a:prstGeom>
          </p:spPr>
        </p:pic>
        <p:sp>
          <p:nvSpPr>
            <p:cNvPr id="15" name="Text 11"/>
            <p:cNvSpPr txBox="1"/>
            <p:nvPr/>
          </p:nvSpPr>
          <p:spPr>
            <a:xfrm>
              <a:off x="1285646" y="5302606"/>
              <a:ext cx="1587398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CC BY (저작자 표시 필수)</a:t>
              </a:r>
              <a:endParaRPr lang="en-US" sz="100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847649" y="5699455"/>
              <a:ext cx="2572207" cy="381305"/>
            </a:xfrm>
            <a:prstGeom prst="roundRect">
              <a:avLst>
                <a:gd name="adj" fmla="val 47962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5"/>
            <a:srcRect l="-46154" r="-46154"/>
            <a:stretch/>
          </p:blipFill>
          <p:spPr>
            <a:xfrm>
              <a:off x="942746" y="5795467"/>
              <a:ext cx="228600" cy="190195"/>
            </a:xfrm>
            <a:prstGeom prst="rect">
              <a:avLst/>
            </a:prstGeom>
          </p:spPr>
        </p:pic>
        <p:sp>
          <p:nvSpPr>
            <p:cNvPr id="18" name="Text 13"/>
            <p:cNvSpPr txBox="1"/>
            <p:nvPr/>
          </p:nvSpPr>
          <p:spPr>
            <a:xfrm>
              <a:off x="1285646" y="5797296"/>
              <a:ext cx="1200607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NC (비영리만 가능)</a:t>
              </a:r>
              <a:endParaRPr lang="en-US" sz="1000" dirty="0"/>
            </a:p>
          </p:txBody>
        </p:sp>
        <p:sp>
          <p:nvSpPr>
            <p:cNvPr id="19" name="Shape 14"/>
            <p:cNvSpPr/>
            <p:nvPr/>
          </p:nvSpPr>
          <p:spPr>
            <a:xfrm>
              <a:off x="847649" y="6195060"/>
              <a:ext cx="2572207" cy="381305"/>
            </a:xfrm>
            <a:prstGeom prst="roundRect">
              <a:avLst>
                <a:gd name="adj" fmla="val 47962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pic>
          <p:nvPicPr>
            <p:cNvPr id="20" name="Image 3" descr="preencoded.png"/>
            <p:cNvPicPr>
              <a:picLocks noChangeAspect="1"/>
            </p:cNvPicPr>
            <p:nvPr/>
          </p:nvPicPr>
          <p:blipFill>
            <a:blip r:embed="rId6"/>
            <a:srcRect l="-10096" r="-10096"/>
            <a:stretch/>
          </p:blipFill>
          <p:spPr>
            <a:xfrm>
              <a:off x="942746" y="6290158"/>
              <a:ext cx="228600" cy="190195"/>
            </a:xfrm>
            <a:prstGeom prst="rect">
              <a:avLst/>
            </a:prstGeom>
          </p:spPr>
        </p:pic>
        <p:sp>
          <p:nvSpPr>
            <p:cNvPr id="21" name="Text 15"/>
            <p:cNvSpPr txBox="1"/>
            <p:nvPr/>
          </p:nvSpPr>
          <p:spPr>
            <a:xfrm>
              <a:off x="1285646" y="6292901"/>
              <a:ext cx="1984248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ND (변경 금지, BGM 사용 불가)</a:t>
              </a:r>
              <a:endParaRPr lang="en-US" sz="1000" dirty="0"/>
            </a:p>
          </p:txBody>
        </p:sp>
        <p:sp>
          <p:nvSpPr>
            <p:cNvPr id="22" name="Shape 16"/>
            <p:cNvSpPr/>
            <p:nvPr/>
          </p:nvSpPr>
          <p:spPr>
            <a:xfrm>
              <a:off x="3962095" y="1584655"/>
              <a:ext cx="7619695" cy="1266444"/>
            </a:xfrm>
            <a:prstGeom prst="roundRect">
              <a:avLst>
                <a:gd name="adj" fmla="val 8686"/>
              </a:avLst>
            </a:prstGeom>
            <a:solidFill>
              <a:srgbClr val="FAFAFA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23" name="Shape 17"/>
            <p:cNvSpPr/>
            <p:nvPr/>
          </p:nvSpPr>
          <p:spPr>
            <a:xfrm>
              <a:off x="4200754" y="1823314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24" name="Text 18"/>
            <p:cNvSpPr txBox="1"/>
            <p:nvPr/>
          </p:nvSpPr>
          <p:spPr>
            <a:xfrm>
              <a:off x="4296766" y="1885493"/>
              <a:ext cx="267005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01</a:t>
              </a:r>
              <a:endParaRPr lang="en-US" sz="1400" dirty="0"/>
            </a:p>
          </p:txBody>
        </p:sp>
        <p:sp>
          <p:nvSpPr>
            <p:cNvPr id="25" name="Text 19"/>
            <p:cNvSpPr txBox="1"/>
            <p:nvPr/>
          </p:nvSpPr>
          <p:spPr>
            <a:xfrm>
              <a:off x="4772254" y="1823314"/>
              <a:ext cx="66870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11111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상업적 이용 가능 여부 확인 </a:t>
              </a:r>
              <a:r>
                <a:rPr lang="en-US" sz="900" b="1" dirty="0">
                  <a:solidFill>
                    <a:srgbClr val="EF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MUST CHECK</a:t>
              </a:r>
              <a:endParaRPr lang="en-US" sz="1400" dirty="0"/>
            </a:p>
          </p:txBody>
        </p:sp>
        <p:sp>
          <p:nvSpPr>
            <p:cNvPr id="26" name="Text 20"/>
            <p:cNvSpPr txBox="1"/>
            <p:nvPr/>
          </p:nvSpPr>
          <p:spPr>
            <a:xfrm>
              <a:off x="4772254" y="2156155"/>
              <a:ext cx="66486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무료 음원이라고 해서 모두 수익 창출이 가능한 것은 아닙니다.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'Royalty-</a:t>
              </a:r>
              <a:r>
                <a:rPr lang="en-US" sz="12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Free'와</a:t>
              </a: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'Free for Commercial Use'는 다릅니다. 반드시 라이선스 범위를 확인하세요.</a:t>
              </a:r>
              <a:endParaRPr lang="en-US" sz="1200" dirty="0"/>
            </a:p>
          </p:txBody>
        </p:sp>
        <p:sp>
          <p:nvSpPr>
            <p:cNvPr id="27" name="Shape 21"/>
            <p:cNvSpPr/>
            <p:nvPr/>
          </p:nvSpPr>
          <p:spPr>
            <a:xfrm>
              <a:off x="3962095" y="3042209"/>
              <a:ext cx="7619695" cy="1266444"/>
            </a:xfrm>
            <a:prstGeom prst="roundRect">
              <a:avLst>
                <a:gd name="adj" fmla="val 8686"/>
              </a:avLst>
            </a:prstGeom>
            <a:solidFill>
              <a:srgbClr val="FAFAFA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28" name="Shape 22"/>
            <p:cNvSpPr/>
            <p:nvPr/>
          </p:nvSpPr>
          <p:spPr>
            <a:xfrm>
              <a:off x="4200754" y="3280867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29" name="Text 23"/>
            <p:cNvSpPr txBox="1"/>
            <p:nvPr/>
          </p:nvSpPr>
          <p:spPr>
            <a:xfrm>
              <a:off x="4283050" y="3342132"/>
              <a:ext cx="29535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02</a:t>
              </a:r>
              <a:endParaRPr lang="en-US" sz="1400" dirty="0"/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4772254" y="3280867"/>
              <a:ext cx="66870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11111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공식 라이브러리 활용 </a:t>
              </a:r>
              <a:r>
                <a:rPr lang="en-US" sz="900" b="1" dirty="0">
                  <a:solidFill>
                    <a:srgbClr val="16A34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SAFE ZONE</a:t>
              </a:r>
              <a:endParaRPr lang="en-US" sz="14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4772254" y="3613709"/>
              <a:ext cx="66486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YouTube Audio Library, TikTok Sounds 등 플랫폼에서 공식 제공하는 음원을 사용하면 저작권 문제(Copyright Claim)로부터 가장 안전합니다.</a:t>
              </a:r>
              <a:endParaRPr lang="en-US" sz="1200" dirty="0"/>
            </a:p>
          </p:txBody>
        </p:sp>
        <p:sp>
          <p:nvSpPr>
            <p:cNvPr id="32" name="Shape 26"/>
            <p:cNvSpPr/>
            <p:nvPr/>
          </p:nvSpPr>
          <p:spPr>
            <a:xfrm>
              <a:off x="3962095" y="4499762"/>
              <a:ext cx="7619695" cy="1266444"/>
            </a:xfrm>
            <a:prstGeom prst="roundRect">
              <a:avLst>
                <a:gd name="adj" fmla="val 8686"/>
              </a:avLst>
            </a:prstGeom>
            <a:solidFill>
              <a:srgbClr val="FAFAFA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33" name="Shape 27"/>
            <p:cNvSpPr/>
            <p:nvPr/>
          </p:nvSpPr>
          <p:spPr>
            <a:xfrm>
              <a:off x="4200754" y="4737506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4284878" y="4799686"/>
              <a:ext cx="29535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03</a:t>
              </a:r>
              <a:endParaRPr lang="en-US" sz="1400" dirty="0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4772254" y="4737506"/>
              <a:ext cx="66870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11111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크레딧 표기 원칙 (Attribution) </a:t>
              </a:r>
              <a:r>
                <a:rPr lang="en-US" sz="900" b="1" dirty="0">
                  <a:solidFill>
                    <a:srgbClr val="0284C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ETHICS</a:t>
              </a:r>
              <a:endParaRPr lang="en-US" sz="1400" dirty="0"/>
            </a:p>
          </p:txBody>
        </p:sp>
        <p:sp>
          <p:nvSpPr>
            <p:cNvPr id="36" name="Text 30"/>
            <p:cNvSpPr txBox="1"/>
            <p:nvPr/>
          </p:nvSpPr>
          <p:spPr>
            <a:xfrm>
              <a:off x="4772254" y="5071262"/>
              <a:ext cx="66486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CC BY 라이선스 음원을 사용할 경우, 영상 설명란(Description) </a:t>
              </a:r>
              <a:r>
                <a:rPr lang="en-US" sz="12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하단에</a:t>
              </a: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아티스트</a:t>
              </a:r>
              <a:r>
                <a:rPr lang="en-US" sz="12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이름, 곡 제목, 원본 링크를 반드시 명시해야 합니다.</a:t>
              </a:r>
              <a:endParaRPr lang="en-US" sz="1200" dirty="0"/>
            </a:p>
          </p:txBody>
        </p:sp>
        <p:sp>
          <p:nvSpPr>
            <p:cNvPr id="37" name="Shape 31"/>
            <p:cNvSpPr/>
            <p:nvPr/>
          </p:nvSpPr>
          <p:spPr>
            <a:xfrm>
              <a:off x="3962095" y="6128309"/>
              <a:ext cx="7619695" cy="685800"/>
            </a:xfrm>
            <a:prstGeom prst="roundRect">
              <a:avLst>
                <a:gd name="adj" fmla="val 29630"/>
              </a:avLst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pic>
          <p:nvPicPr>
            <p:cNvPr id="38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4267505" y="6376111"/>
              <a:ext cx="190195" cy="190195"/>
            </a:xfrm>
            <a:prstGeom prst="rect">
              <a:avLst/>
            </a:prstGeom>
          </p:spPr>
        </p:pic>
        <p:sp>
          <p:nvSpPr>
            <p:cNvPr id="39" name="Text 32"/>
            <p:cNvSpPr txBox="1"/>
            <p:nvPr/>
          </p:nvSpPr>
          <p:spPr>
            <a:xfrm>
              <a:off x="4572000" y="6395313"/>
              <a:ext cx="2280514" cy="1901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Recommended Sources</a:t>
              </a:r>
              <a:endParaRPr lang="en-US" sz="1400" dirty="0"/>
            </a:p>
          </p:txBody>
        </p:sp>
        <p:sp>
          <p:nvSpPr>
            <p:cNvPr id="40" name="Shape 33"/>
            <p:cNvSpPr/>
            <p:nvPr/>
          </p:nvSpPr>
          <p:spPr>
            <a:xfrm>
              <a:off x="7146950" y="6318504"/>
              <a:ext cx="1410005" cy="304495"/>
            </a:xfrm>
            <a:prstGeom prst="roundRect">
              <a:avLst>
                <a:gd name="adj" fmla="val 187688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41" name="Text 34"/>
            <p:cNvSpPr txBox="1"/>
            <p:nvPr/>
          </p:nvSpPr>
          <p:spPr>
            <a:xfrm>
              <a:off x="7270394" y="6385255"/>
              <a:ext cx="138348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E5E5E5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YouTube Audio Library</a:t>
              </a:r>
              <a:endParaRPr lang="en-US" sz="1000" dirty="0"/>
            </a:p>
          </p:txBody>
        </p:sp>
        <p:sp>
          <p:nvSpPr>
            <p:cNvPr id="42" name="Shape 35"/>
            <p:cNvSpPr/>
            <p:nvPr/>
          </p:nvSpPr>
          <p:spPr>
            <a:xfrm>
              <a:off x="8648395" y="6318504"/>
              <a:ext cx="571500" cy="304495"/>
            </a:xfrm>
            <a:prstGeom prst="roundRect">
              <a:avLst>
                <a:gd name="adj" fmla="val 187688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43" name="Text 36"/>
            <p:cNvSpPr txBox="1"/>
            <p:nvPr/>
          </p:nvSpPr>
          <p:spPr>
            <a:xfrm>
              <a:off x="8771839" y="6385255"/>
              <a:ext cx="4005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E5E5E5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Artlist</a:t>
              </a:r>
              <a:endParaRPr lang="en-US" sz="1000" dirty="0"/>
            </a:p>
          </p:txBody>
        </p:sp>
        <p:sp>
          <p:nvSpPr>
            <p:cNvPr id="44" name="Shape 37"/>
            <p:cNvSpPr/>
            <p:nvPr/>
          </p:nvSpPr>
          <p:spPr>
            <a:xfrm>
              <a:off x="9309506" y="6318504"/>
              <a:ext cx="1095451" cy="304495"/>
            </a:xfrm>
            <a:prstGeom prst="roundRect">
              <a:avLst>
                <a:gd name="adj" fmla="val 187688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45" name="Text 38"/>
            <p:cNvSpPr txBox="1"/>
            <p:nvPr/>
          </p:nvSpPr>
          <p:spPr>
            <a:xfrm>
              <a:off x="9433865" y="6385255"/>
              <a:ext cx="99486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E5E5E5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Epidemic Sound</a:t>
              </a:r>
              <a:endParaRPr lang="en-US" sz="1000" dirty="0"/>
            </a:p>
          </p:txBody>
        </p:sp>
        <p:sp>
          <p:nvSpPr>
            <p:cNvPr id="46" name="Shape 39"/>
            <p:cNvSpPr/>
            <p:nvPr/>
          </p:nvSpPr>
          <p:spPr>
            <a:xfrm>
              <a:off x="10496398" y="6318504"/>
              <a:ext cx="790956" cy="304495"/>
            </a:xfrm>
            <a:prstGeom prst="roundRect">
              <a:avLst>
                <a:gd name="adj" fmla="val 187688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 sz="2000"/>
            </a:p>
          </p:txBody>
        </p:sp>
        <p:sp>
          <p:nvSpPr>
            <p:cNvPr id="47" name="Text 40"/>
            <p:cNvSpPr txBox="1"/>
            <p:nvPr/>
          </p:nvSpPr>
          <p:spPr>
            <a:xfrm>
              <a:off x="10619842" y="6385255"/>
              <a:ext cx="6199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E5E5E5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Bensound</a:t>
              </a:r>
              <a:endParaRPr lang="en-US" sz="1000" dirty="0"/>
            </a:p>
          </p:txBody>
        </p:sp>
      </p:grp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252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05: DISTRIBUTION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74477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플랫폼별 특성 (Platform DNA)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3281782" y="1881835"/>
            <a:ext cx="58155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369003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972300" y="1881835"/>
            <a:ext cx="6483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128102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737799" y="1881835"/>
            <a:ext cx="63825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880006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2122322" y="2386584"/>
            <a:ext cx="428854" cy="3813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86054" y="3742463"/>
            <a:ext cx="297728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 최대 영상 검색 엔진입니다.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호흡의 정보 전달과 깊이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스토리텔링에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최적화되어 있습니다.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23544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17"/>
          <p:cNvSpPr txBox="1"/>
          <p:nvPr/>
        </p:nvSpPr>
        <p:spPr>
          <a:xfrm>
            <a:off x="1738274" y="3282239"/>
            <a:ext cx="131932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7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YouTube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5639105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5928970" y="2386584"/>
            <a:ext cx="333756" cy="3813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45152" y="3742463"/>
            <a:ext cx="297545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비주얼과 라이프스타일 중심입니다.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릴스로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새로운 팔로워를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유입하고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스토리로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팬덤을 유지합니다.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683557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Text 24"/>
          <p:cNvSpPr txBox="1"/>
          <p:nvPr/>
        </p:nvSpPr>
        <p:spPr>
          <a:xfrm>
            <a:off x="5366613" y="3282239"/>
            <a:ext cx="166009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7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</a:t>
            </a:r>
            <a:endParaRPr lang="en-US" sz="2400" dirty="0"/>
          </a:p>
        </p:txBody>
      </p:sp>
      <p:sp>
        <p:nvSpPr>
          <p:cNvPr id="35" name="Shape 25"/>
          <p:cNvSpPr/>
          <p:nvPr/>
        </p:nvSpPr>
        <p:spPr>
          <a:xfrm>
            <a:off x="9398203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rcRect l="-17" r="-17"/>
          <a:stretch/>
        </p:blipFill>
        <p:spPr>
          <a:xfrm>
            <a:off x="9688982" y="2386584"/>
            <a:ext cx="333756" cy="38130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404250" y="3742463"/>
            <a:ext cx="290596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숏폼 네이티브 플랫폼입니다.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음원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트렌드와 챌린지를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팔로워 없이도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폭발적인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확산이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가능합니다.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8442655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DFA0DB-E716-0C04-44F9-C0EDB96F034D}"/>
              </a:ext>
            </a:extLst>
          </p:cNvPr>
          <p:cNvGrpSpPr/>
          <p:nvPr/>
        </p:nvGrpSpPr>
        <p:grpSpPr>
          <a:xfrm>
            <a:off x="1508760" y="5257800"/>
            <a:ext cx="9256471" cy="925286"/>
            <a:chOff x="1508760" y="5257800"/>
            <a:chExt cx="9256471" cy="752552"/>
          </a:xfrm>
        </p:grpSpPr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508760" y="5300777"/>
              <a:ext cx="114300" cy="114300"/>
            </a:xfrm>
            <a:prstGeom prst="rect">
              <a:avLst/>
            </a:prstGeom>
          </p:spPr>
        </p:pic>
        <p:sp>
          <p:nvSpPr>
            <p:cNvPr id="18" name="Text 14"/>
            <p:cNvSpPr txBox="1"/>
            <p:nvPr/>
          </p:nvSpPr>
          <p:spPr>
            <a:xfrm>
              <a:off x="1559966" y="5257800"/>
              <a:ext cx="174559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롱폼 &amp; 쇼츠(Shorts) 병행</a:t>
              </a:r>
              <a:endParaRPr lang="en-US" sz="1100" dirty="0"/>
            </a:p>
          </p:txBody>
        </p:sp>
        <p:pic>
          <p:nvPicPr>
            <p:cNvPr id="19" name="Image 2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623974" y="5576926"/>
              <a:ext cx="114300" cy="114300"/>
            </a:xfrm>
            <a:prstGeom prst="rect">
              <a:avLst/>
            </a:prstGeom>
          </p:spPr>
        </p:pic>
        <p:sp>
          <p:nvSpPr>
            <p:cNvPr id="20" name="Text 15"/>
            <p:cNvSpPr txBox="1"/>
            <p:nvPr/>
          </p:nvSpPr>
          <p:spPr>
            <a:xfrm>
              <a:off x="1672438" y="5533949"/>
              <a:ext cx="152156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강력한 SEO 검색 노출</a:t>
              </a:r>
              <a:endParaRPr lang="en-US" sz="1100" dirty="0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8"/>
            <a:srcRect l="-133" r="-133"/>
            <a:stretch/>
          </p:blipFill>
          <p:spPr>
            <a:xfrm>
              <a:off x="1599286" y="5853074"/>
              <a:ext cx="85954" cy="114300"/>
            </a:xfrm>
            <a:prstGeom prst="rect">
              <a:avLst/>
            </a:prstGeom>
          </p:spPr>
        </p:pic>
        <p:sp>
          <p:nvSpPr>
            <p:cNvPr id="22" name="Text 16"/>
            <p:cNvSpPr txBox="1"/>
            <p:nvPr/>
          </p:nvSpPr>
          <p:spPr>
            <a:xfrm>
              <a:off x="1605686" y="5810098"/>
              <a:ext cx="162671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챕터 &amp; 타임스탬프 기능</a:t>
              </a:r>
              <a:endParaRPr lang="en-US" sz="1100" dirty="0"/>
            </a:p>
          </p:txBody>
        </p:sp>
        <p:pic>
          <p:nvPicPr>
            <p:cNvPr id="28" name="Image 5" descr="preencoded.png"/>
            <p:cNvPicPr>
              <a:picLocks noChangeAspect="1"/>
            </p:cNvPicPr>
            <p:nvPr/>
          </p:nvPicPr>
          <p:blipFill>
            <a:blip r:embed="rId9"/>
            <a:srcRect l="-133" r="-133"/>
            <a:stretch/>
          </p:blipFill>
          <p:spPr>
            <a:xfrm>
              <a:off x="5326380" y="5300777"/>
              <a:ext cx="85954" cy="114300"/>
            </a:xfrm>
            <a:prstGeom prst="rect">
              <a:avLst/>
            </a:prstGeom>
          </p:spPr>
        </p:pic>
        <p:sp>
          <p:nvSpPr>
            <p:cNvPr id="29" name="Text 21"/>
            <p:cNvSpPr txBox="1"/>
            <p:nvPr/>
          </p:nvSpPr>
          <p:spPr>
            <a:xfrm>
              <a:off x="5357470" y="5257800"/>
              <a:ext cx="164409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릴스(Reels) 도달률 활용</a:t>
              </a:r>
              <a:endParaRPr lang="en-US" sz="1100" dirty="0"/>
            </a:p>
          </p:txBody>
        </p:sp>
        <p:pic>
          <p:nvPicPr>
            <p:cNvPr id="30" name="Image 6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288890" y="5576926"/>
              <a:ext cx="114300" cy="114300"/>
            </a:xfrm>
            <a:prstGeom prst="rect">
              <a:avLst/>
            </a:prstGeom>
          </p:spPr>
        </p:pic>
        <p:sp>
          <p:nvSpPr>
            <p:cNvPr id="31" name="Text 22"/>
            <p:cNvSpPr txBox="1"/>
            <p:nvPr/>
          </p:nvSpPr>
          <p:spPr>
            <a:xfrm>
              <a:off x="5326380" y="5533949"/>
              <a:ext cx="173553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감성적인 비주얼 톤앤매너</a:t>
              </a:r>
              <a:endParaRPr lang="en-US" sz="1100" dirty="0"/>
            </a:p>
          </p:txBody>
        </p:sp>
        <p:pic>
          <p:nvPicPr>
            <p:cNvPr id="32" name="Image 7" descr="preencoded.png"/>
            <p:cNvPicPr>
              <a:picLocks noChangeAspect="1"/>
            </p:cNvPicPr>
            <p:nvPr/>
          </p:nvPicPr>
          <p:blipFill>
            <a:blip r:embed="rId11"/>
            <a:srcRect l="-2571" r="-2571"/>
            <a:stretch/>
          </p:blipFill>
          <p:spPr>
            <a:xfrm>
              <a:off x="5410505" y="5853074"/>
              <a:ext cx="105156" cy="114300"/>
            </a:xfrm>
            <a:prstGeom prst="rect">
              <a:avLst/>
            </a:prstGeom>
          </p:spPr>
        </p:pic>
        <p:sp>
          <p:nvSpPr>
            <p:cNvPr id="33" name="Text 23"/>
            <p:cNvSpPr txBox="1"/>
            <p:nvPr/>
          </p:nvSpPr>
          <p:spPr>
            <a:xfrm>
              <a:off x="5445252" y="5810098"/>
              <a:ext cx="148498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해시태그 &amp; 계정 태그</a:t>
              </a:r>
              <a:endParaRPr lang="en-US" sz="1100" dirty="0"/>
            </a:p>
          </p:txBody>
        </p:sp>
        <p:pic>
          <p:nvPicPr>
            <p:cNvPr id="39" name="Image 9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9165031" y="5300777"/>
              <a:ext cx="114300" cy="114300"/>
            </a:xfrm>
            <a:prstGeom prst="rect">
              <a:avLst/>
            </a:prstGeom>
          </p:spPr>
        </p:pic>
        <p:sp>
          <p:nvSpPr>
            <p:cNvPr id="40" name="Text 28"/>
            <p:cNvSpPr txBox="1"/>
            <p:nvPr/>
          </p:nvSpPr>
          <p:spPr>
            <a:xfrm>
              <a:off x="9208922" y="5257800"/>
              <a:ext cx="148498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트렌드 음원 &amp; 챌린지</a:t>
              </a:r>
              <a:endParaRPr lang="en-US" sz="1100" dirty="0"/>
            </a:p>
          </p:txBody>
        </p:sp>
        <p:pic>
          <p:nvPicPr>
            <p:cNvPr id="41" name="Image 10" descr="preencoded.png"/>
            <p:cNvPicPr>
              <a:picLocks noChangeAspect="1"/>
            </p:cNvPicPr>
            <p:nvPr/>
          </p:nvPicPr>
          <p:blipFill>
            <a:blip r:embed="rId13"/>
            <a:srcRect l="-2571" r="-2571"/>
            <a:stretch/>
          </p:blipFill>
          <p:spPr>
            <a:xfrm>
              <a:off x="9080906" y="5576926"/>
              <a:ext cx="105156" cy="114300"/>
            </a:xfrm>
            <a:prstGeom prst="rect">
              <a:avLst/>
            </a:prstGeom>
          </p:spPr>
        </p:pic>
        <p:sp>
          <p:nvSpPr>
            <p:cNvPr id="42" name="Text 29"/>
            <p:cNvSpPr txBox="1"/>
            <p:nvPr/>
          </p:nvSpPr>
          <p:spPr>
            <a:xfrm>
              <a:off x="9132113" y="5533949"/>
              <a:ext cx="163311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초반 3초 훅(Hook) 필수</a:t>
              </a:r>
              <a:endParaRPr lang="en-US" sz="1100" dirty="0"/>
            </a:p>
          </p:txBody>
        </p:sp>
        <p:pic>
          <p:nvPicPr>
            <p:cNvPr id="43" name="Image 11" descr="preencoded.png"/>
            <p:cNvPicPr>
              <a:picLocks noChangeAspect="1"/>
            </p:cNvPicPr>
            <p:nvPr/>
          </p:nvPicPr>
          <p:blipFill>
            <a:blip r:embed="rId14"/>
            <a:srcRect t="-80" b="-80"/>
            <a:stretch/>
          </p:blipFill>
          <p:spPr>
            <a:xfrm>
              <a:off x="9150401" y="5853074"/>
              <a:ext cx="142646" cy="114300"/>
            </a:xfrm>
            <a:prstGeom prst="rect">
              <a:avLst/>
            </a:prstGeom>
          </p:spPr>
        </p:pic>
        <p:sp>
          <p:nvSpPr>
            <p:cNvPr id="44" name="Text 30"/>
            <p:cNvSpPr txBox="1"/>
            <p:nvPr/>
          </p:nvSpPr>
          <p:spPr>
            <a:xfrm>
              <a:off x="9223553" y="5810098"/>
              <a:ext cx="148498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듀엣 &amp; 이어찍기 기능</a:t>
              </a:r>
              <a:endParaRPr lang="en-US" sz="1100" dirty="0"/>
            </a:p>
          </p:txBody>
        </p:sp>
      </p:grpSp>
      <p:sp>
        <p:nvSpPr>
          <p:cNvPr id="45" name="Text 31"/>
          <p:cNvSpPr txBox="1"/>
          <p:nvPr/>
        </p:nvSpPr>
        <p:spPr>
          <a:xfrm>
            <a:off x="9347911" y="3282239"/>
            <a:ext cx="108622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7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TikTok</a:t>
            </a:r>
            <a:endParaRPr lang="en-US" sz="24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897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05: DISTRIBUTION &amp; SEO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48966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SEO &amp; 알고리즘 이해</a:t>
            </a:r>
            <a:endParaRPr lang="en-US" sz="36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958090E-5091-3483-B827-D197ACDEA463}"/>
              </a:ext>
            </a:extLst>
          </p:cNvPr>
          <p:cNvGrpSpPr/>
          <p:nvPr/>
        </p:nvGrpSpPr>
        <p:grpSpPr>
          <a:xfrm>
            <a:off x="609905" y="1577340"/>
            <a:ext cx="5772607" cy="4792370"/>
            <a:chOff x="609905" y="1577340"/>
            <a:chExt cx="5772607" cy="3983127"/>
          </a:xfrm>
        </p:grpSpPr>
        <p:sp>
          <p:nvSpPr>
            <p:cNvPr id="7" name="Shape 5"/>
            <p:cNvSpPr/>
            <p:nvPr/>
          </p:nvSpPr>
          <p:spPr>
            <a:xfrm>
              <a:off x="609905" y="1577340"/>
              <a:ext cx="5581498" cy="1285646"/>
            </a:xfrm>
            <a:prstGeom prst="roundRect">
              <a:avLst>
                <a:gd name="adj" fmla="val 6322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1577340"/>
              <a:ext cx="38405" cy="1285646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171346" y="1805940"/>
              <a:ext cx="498165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 알고리즘의 핵심</a:t>
              </a:r>
              <a:endParaRPr lang="en-US" sz="1400" dirty="0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 l="-1064" r="-1064"/>
            <a:stretch/>
          </p:blipFill>
          <p:spPr>
            <a:xfrm>
              <a:off x="875995" y="1848917"/>
              <a:ext cx="219456" cy="171907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875995" y="2139696"/>
              <a:ext cx="5162702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플랫폼은 시청자가 오래 머물고 만족하는 콘텐츠를 추천합니다.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기계적인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키워드 반복보다 '시청자 만족도'가 우선시됩니다.</a:t>
              </a:r>
              <a:endParaRPr lang="en-US" sz="1400" dirty="0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3179369"/>
              <a:ext cx="152705" cy="152705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875995" y="3084271"/>
              <a:ext cx="54297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메타데이터 최적화 (Metadata)</a:t>
              </a:r>
              <a:endParaRPr lang="en-US" sz="1400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875995" y="3379622"/>
              <a:ext cx="53913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검색 노출의 기본입니다. 타겟 키워드를 제목, 설명, 태그에 자연스럽게 </a:t>
              </a: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배치하여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검색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엔진이 콘텐츠 주제를 명확히 이해하도록 돕습니다.</a:t>
              </a:r>
              <a:endParaRPr lang="en-US" sz="1200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09905" y="4055364"/>
              <a:ext cx="152705" cy="15270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875995" y="3960266"/>
              <a:ext cx="54297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시청 지표 (Watch Metrics)</a:t>
              </a:r>
              <a:endParaRPr lang="en-US" sz="14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875995" y="4255618"/>
              <a:ext cx="53913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알고리즘 신호의 핵심입니다. 클릭률(CTR)로 시선을 끌고,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평균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시청 지속 시간(AVD)을 높여 추천 시스템의 선택을 받아야 합니다.</a:t>
              </a:r>
              <a:endParaRPr lang="en-US" sz="120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6"/>
            <a:srcRect t="-180" b="-180"/>
            <a:stretch/>
          </p:blipFill>
          <p:spPr>
            <a:xfrm>
              <a:off x="609905" y="4932274"/>
              <a:ext cx="190195" cy="152705"/>
            </a:xfrm>
            <a:prstGeom prst="rect">
              <a:avLst/>
            </a:prstGeom>
          </p:spPr>
        </p:pic>
        <p:sp>
          <p:nvSpPr>
            <p:cNvPr id="19" name="Text 13"/>
            <p:cNvSpPr txBox="1"/>
            <p:nvPr/>
          </p:nvSpPr>
          <p:spPr>
            <a:xfrm>
              <a:off x="914400" y="4836262"/>
              <a:ext cx="5468112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콘텐츠-시청자 적합도 (Fit)</a:t>
              </a:r>
              <a:endParaRPr lang="en-US" sz="14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914400" y="5131613"/>
              <a:ext cx="535381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단순 조회수보다 내 콘텐츠가 타겟 </a:t>
              </a: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오디언스에게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얼마나</a:t>
              </a:r>
              <a:r>
                <a:rPr lang="en-US" sz="12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긍정적인 반응(좋아요, 공유, 댓글)을 이끌어내는지가 중요합니다.</a:t>
              </a:r>
              <a:endParaRPr lang="en-US" sz="1200" dirty="0"/>
            </a:p>
          </p:txBody>
        </p:sp>
      </p:grp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15421" r="15421"/>
          <a:stretch/>
        </p:blipFill>
        <p:spPr>
          <a:xfrm>
            <a:off x="6644945" y="1607515"/>
            <a:ext cx="4943246" cy="476219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73545" y="4865522"/>
            <a:ext cx="4486046" cy="1276502"/>
          </a:xfrm>
          <a:prstGeom prst="roundRect">
            <a:avLst>
              <a:gd name="adj" fmla="val 855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073798" y="5084064"/>
            <a:ext cx="809244" cy="247802"/>
          </a:xfrm>
          <a:prstGeom prst="roundRect">
            <a:avLst>
              <a:gd name="adj" fmla="val 283849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88098" y="5122469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STRATEGY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073798" y="5484571"/>
            <a:ext cx="187269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엔진 최적화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73798" y="5751576"/>
            <a:ext cx="20638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Search Engine Optimization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886846" y="5637276"/>
            <a:ext cx="152705" cy="152705"/>
          </a:xfrm>
          <a:prstGeom prst="rect">
            <a:avLst/>
          </a:prstGeom>
        </p:spPr>
      </p:pic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06: DISTRIBUTION &amp; OPTIMIZATION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55632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썸네일 A/B 테스트 사례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0152888" y="871423"/>
            <a:ext cx="1429207" cy="342900"/>
          </a:xfrm>
          <a:prstGeom prst="roundRect">
            <a:avLst>
              <a:gd name="adj" fmla="val 14814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10314737" y="957377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EXPERIMENT STUDY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" y="1414577"/>
            <a:ext cx="3619195" cy="5040652"/>
          </a:xfrm>
          <a:prstGeom prst="roundRect">
            <a:avLst>
              <a:gd name="adj" fmla="val 1596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4108" y="1969618"/>
            <a:ext cx="3161995" cy="1952244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64108" y="1969618"/>
            <a:ext cx="3161995" cy="1524305"/>
          </a:xfrm>
          <a:prstGeom prst="rect">
            <a:avLst/>
          </a:prstGeom>
          <a:solidFill>
            <a:srgbClr val="E5E7EB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0686" y="2464308"/>
            <a:ext cx="2152498" cy="75895"/>
          </a:xfrm>
          <a:prstGeom prst="roundRect">
            <a:avLst>
              <a:gd name="adj" fmla="val 602411"/>
            </a:avLst>
          </a:prstGeom>
          <a:solidFill>
            <a:srgbClr val="9CA3A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370686" y="2617013"/>
            <a:ext cx="2152498" cy="75895"/>
          </a:xfrm>
          <a:prstGeom prst="roundRect">
            <a:avLst>
              <a:gd name="adj" fmla="val 602411"/>
            </a:avLst>
          </a:prstGeom>
          <a:solidFill>
            <a:srgbClr val="9CA3A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370686" y="2769718"/>
            <a:ext cx="1295705" cy="75895"/>
          </a:xfrm>
          <a:prstGeom prst="roundRect">
            <a:avLst>
              <a:gd name="adj" fmla="val 602411"/>
            </a:avLst>
          </a:prstGeom>
          <a:solidFill>
            <a:srgbClr val="9CA3A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370686" y="2921508"/>
            <a:ext cx="2152498" cy="75895"/>
          </a:xfrm>
          <a:prstGeom prst="roundRect">
            <a:avLst>
              <a:gd name="adj" fmla="val 602411"/>
            </a:avLst>
          </a:prstGeom>
          <a:solidFill>
            <a:srgbClr val="9CA3A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58845" y="3198571"/>
            <a:ext cx="390449" cy="219456"/>
          </a:xfrm>
          <a:prstGeom prst="roundRect">
            <a:avLst>
              <a:gd name="adj" fmla="val 72464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635654" y="3236062"/>
            <a:ext cx="314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12:30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3617366"/>
            <a:ext cx="119054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Variant A (기존)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253435" y="3617366"/>
            <a:ext cx="77083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CTR: 2.5%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" y="4092854"/>
            <a:ext cx="3228746" cy="203819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90500" dist="101600" dir="16200000" algn="bl" rotWithShape="0">
              <a:srgbClr val="10B98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968350" y="5792724"/>
            <a:ext cx="1213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Variant B (변경)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247949" y="5792724"/>
            <a:ext cx="771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CTR: 5.8%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" y="4112057"/>
            <a:ext cx="3191256" cy="1561795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51306" y="4112057"/>
            <a:ext cx="3191256" cy="1561795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046074" y="4500677"/>
            <a:ext cx="13432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SHOCKING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46074" y="4850892"/>
            <a:ext cx="10671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RESULT!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60750" y="4597603"/>
            <a:ext cx="590702" cy="590702"/>
          </a:xfrm>
          <a:prstGeom prst="ellipse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35401" y="4773168"/>
            <a:ext cx="237744" cy="237744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3562502" y="5365699"/>
            <a:ext cx="400507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3640226" y="5404104"/>
            <a:ext cx="324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12:30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382366" y="4208983"/>
            <a:ext cx="562356" cy="228600"/>
          </a:xfrm>
          <a:prstGeom prst="roundRect">
            <a:avLst>
              <a:gd name="adj" fmla="val 66667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3460090" y="4248302"/>
            <a:ext cx="486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WINNER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59198" y="1414577"/>
            <a:ext cx="7030822" cy="1628546"/>
          </a:xfrm>
          <a:prstGeom prst="roundRect">
            <a:avLst>
              <a:gd name="adj" fmla="val 5254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Shape 31"/>
          <p:cNvSpPr/>
          <p:nvPr/>
        </p:nvSpPr>
        <p:spPr>
          <a:xfrm>
            <a:off x="4559198" y="1414577"/>
            <a:ext cx="60964" cy="162854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Shape 32"/>
          <p:cNvSpPr/>
          <p:nvPr/>
        </p:nvSpPr>
        <p:spPr>
          <a:xfrm>
            <a:off x="4845406" y="1643177"/>
            <a:ext cx="322241" cy="304495"/>
          </a:xfrm>
          <a:prstGeom prst="roundRect">
            <a:avLst>
              <a:gd name="adj" fmla="val 750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Text 33"/>
          <p:cNvSpPr txBox="1"/>
          <p:nvPr/>
        </p:nvSpPr>
        <p:spPr>
          <a:xfrm>
            <a:off x="5264200" y="1677010"/>
            <a:ext cx="1600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99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 (문제)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5264202" y="1924507"/>
            <a:ext cx="57140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노출 클릭률(CTR) 정체 현상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영상 퀄리티는 높으나, 초기 클릭률이 2.5% 수준에 머물러 알고리즘의 선택을 받지 못하고 조회수 확장이 제한됨.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559198" y="3226003"/>
            <a:ext cx="7030822" cy="1628546"/>
          </a:xfrm>
          <a:prstGeom prst="roundRect">
            <a:avLst>
              <a:gd name="adj" fmla="val 5254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Shape 36"/>
          <p:cNvSpPr/>
          <p:nvPr/>
        </p:nvSpPr>
        <p:spPr>
          <a:xfrm>
            <a:off x="4559198" y="3226003"/>
            <a:ext cx="60964" cy="162854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0" name="Shape 37"/>
          <p:cNvSpPr/>
          <p:nvPr/>
        </p:nvSpPr>
        <p:spPr>
          <a:xfrm>
            <a:off x="4845406" y="3454603"/>
            <a:ext cx="322241" cy="304495"/>
          </a:xfrm>
          <a:prstGeom prst="roundRect">
            <a:avLst>
              <a:gd name="adj" fmla="val 7507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4940502" y="3540557"/>
            <a:ext cx="120961" cy="13350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264200" y="3488436"/>
            <a:ext cx="196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1E40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EXPERIMENT (실험)</a:t>
            </a:r>
            <a:endParaRPr lang="en-US" sz="1600" dirty="0"/>
          </a:p>
        </p:txBody>
      </p:sp>
      <p:sp>
        <p:nvSpPr>
          <p:cNvPr id="43" name="Text 39"/>
          <p:cNvSpPr txBox="1"/>
          <p:nvPr/>
        </p:nvSpPr>
        <p:spPr>
          <a:xfrm>
            <a:off x="5264201" y="3735019"/>
            <a:ext cx="61761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썸네일 A/B 테스트 진행 (2주간)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A안 (기존):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텍스트 중심의 상세 정보 전달형 디자인.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B안 (변경):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고대비 배경색 + 인물 표정 확대 + 텍스트 최소화(3단어 이내).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4559198" y="5037430"/>
            <a:ext cx="7030822" cy="1477670"/>
          </a:xfrm>
          <a:prstGeom prst="roundRect">
            <a:avLst>
              <a:gd name="adj" fmla="val 5254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Shape 41"/>
          <p:cNvSpPr/>
          <p:nvPr/>
        </p:nvSpPr>
        <p:spPr>
          <a:xfrm>
            <a:off x="4559198" y="5037430"/>
            <a:ext cx="60963" cy="141779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6" name="Shape 42"/>
          <p:cNvSpPr/>
          <p:nvPr/>
        </p:nvSpPr>
        <p:spPr>
          <a:xfrm>
            <a:off x="4845406" y="5266030"/>
            <a:ext cx="322241" cy="304495"/>
          </a:xfrm>
          <a:prstGeom prst="roundRect">
            <a:avLst>
              <a:gd name="adj" fmla="val 75075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4921301" y="5351983"/>
            <a:ext cx="161605" cy="133502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5264200" y="5298948"/>
            <a:ext cx="1474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065F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 (결과)</a:t>
            </a:r>
            <a:endParaRPr lang="en-US" sz="1600" dirty="0"/>
          </a:p>
        </p:txBody>
      </p:sp>
      <p:sp>
        <p:nvSpPr>
          <p:cNvPr id="49" name="Text 44"/>
          <p:cNvSpPr txBox="1"/>
          <p:nvPr/>
        </p:nvSpPr>
        <p:spPr>
          <a:xfrm>
            <a:off x="5264201" y="5684825"/>
            <a:ext cx="61761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후 클릭률이 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2배 이상 상승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하며 채널 성장을 견인함.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특히 '탐색 기능(Browse Features)' 유입 비중이 급격히 증가.</a:t>
            </a:r>
            <a:endParaRPr lang="en-US" sz="1400" dirty="0"/>
          </a:p>
        </p:txBody>
      </p:sp>
      <p:sp>
        <p:nvSpPr>
          <p:cNvPr id="50" name="Shape 45"/>
          <p:cNvSpPr/>
          <p:nvPr/>
        </p:nvSpPr>
        <p:spPr>
          <a:xfrm>
            <a:off x="8596457" y="5181817"/>
            <a:ext cx="2791610" cy="314554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8721177" y="5275086"/>
            <a:ext cx="111285" cy="133502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8935192" y="5239425"/>
            <a:ext cx="14718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 Improvement :</a:t>
            </a:r>
            <a:endParaRPr lang="en-US" sz="1100" dirty="0"/>
          </a:p>
        </p:txBody>
      </p:sp>
      <p:sp>
        <p:nvSpPr>
          <p:cNvPr id="53" name="Text 47"/>
          <p:cNvSpPr txBox="1"/>
          <p:nvPr/>
        </p:nvSpPr>
        <p:spPr>
          <a:xfrm>
            <a:off x="10338059" y="5239425"/>
            <a:ext cx="999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2.5% → 5.8%</a:t>
            </a:r>
            <a:endParaRPr lang="en-US" sz="1100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0A574662-B960-A15B-A45A-E7471249FF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0377" y="1735215"/>
            <a:ext cx="137086" cy="121854"/>
          </a:xfrm>
          <a:prstGeom prst="rect">
            <a:avLst/>
          </a:prstGeom>
        </p:spPr>
      </p:pic>
      <p:sp>
        <p:nvSpPr>
          <p:cNvPr id="5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0"/>
          <p:cNvSpPr/>
          <p:nvPr/>
        </p:nvSpPr>
        <p:spPr>
          <a:xfrm>
            <a:off x="8128102" y="2278685"/>
            <a:ext cx="3457346" cy="2667305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25400">
            <a:solidFill>
              <a:srgbClr val="F0F0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3665865E-BE3E-6780-0DA6-F5BCDDA5AA1E}"/>
              </a:ext>
            </a:extLst>
          </p:cNvPr>
          <p:cNvSpPr/>
          <p:nvPr/>
        </p:nvSpPr>
        <p:spPr>
          <a:xfrm>
            <a:off x="10586009" y="2450806"/>
            <a:ext cx="800100" cy="267005"/>
          </a:xfrm>
          <a:prstGeom prst="roundRect">
            <a:avLst>
              <a:gd name="adj" fmla="val 48924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06: DISTRIBUTION &amp; OPTIMIZATION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800100"/>
            <a:ext cx="11144707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지표와 인사이트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성장 전략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2278685"/>
            <a:ext cx="3457346" cy="2667305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25400">
            <a:solidFill>
              <a:srgbClr val="F0F0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602" y="2602382"/>
            <a:ext cx="533095" cy="533095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1128370" y="2754173"/>
            <a:ext cx="142646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49854" y="2455423"/>
            <a:ext cx="790956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3026664" y="2492914"/>
            <a:ext cx="7598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683409" y="2524940"/>
            <a:ext cx="1143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CTR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975665" y="3331389"/>
            <a:ext cx="113842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노출 클릭률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928470" y="3330596"/>
            <a:ext cx="2324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(Click-Through Rate)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8806" y="3691723"/>
            <a:ext cx="28867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썸네일과 제목의 매력도를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판단하는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번째 관문입니다.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YouTube 전체 채널·동영상의 절반은 노출 클릭률이 2~10%입니다(YouTube 고객센터)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69003" y="2278685"/>
            <a:ext cx="3457346" cy="2667305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25400">
            <a:solidFill>
              <a:srgbClr val="F0F0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692701" y="2602382"/>
            <a:ext cx="533095" cy="533095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4859122" y="2754173"/>
            <a:ext cx="200254" cy="2286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701638" y="2455423"/>
            <a:ext cx="800100" cy="267005"/>
          </a:xfrm>
          <a:prstGeom prst="roundRect">
            <a:avLst>
              <a:gd name="adj" fmla="val 4892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6777533" y="2492914"/>
            <a:ext cx="7708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658868" y="3864993"/>
            <a:ext cx="28867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콘텐츠의 몰입도를 보여주는 핵심 지표입니다. 오래 볼수록 시청자를 붙잡는 콘텐츠라는 뜻입니다.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658868" y="3503805"/>
            <a:ext cx="199247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시청 지속 시간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5353505" y="2523020"/>
            <a:ext cx="142402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AVD</a:t>
            </a:r>
            <a:endParaRPr lang="en-US" sz="4200" dirty="0"/>
          </a:p>
        </p:txBody>
      </p:sp>
      <p:sp>
        <p:nvSpPr>
          <p:cNvPr id="25" name="Shape 21"/>
          <p:cNvSpPr/>
          <p:nvPr/>
        </p:nvSpPr>
        <p:spPr>
          <a:xfrm>
            <a:off x="8451799" y="2602382"/>
            <a:ext cx="533095" cy="533095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04504" y="2754173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763402" y="2492914"/>
            <a:ext cx="4992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460029" y="3933573"/>
            <a:ext cx="28867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구독, 좋아요, 공유, 댓글 등 시청자의 실제 행동을 유도했는지 확인합니다.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찐팬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형성을 위한 척도입니다.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8460029" y="3571471"/>
            <a:ext cx="28117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및 전환 (Engagement)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9122969" y="2522249"/>
            <a:ext cx="11622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</a:t>
            </a:r>
            <a:endParaRPr lang="en-US" sz="4200" dirty="0"/>
          </a:p>
        </p:txBody>
      </p:sp>
      <p:sp>
        <p:nvSpPr>
          <p:cNvPr id="31" name="Shape 26"/>
          <p:cNvSpPr/>
          <p:nvPr/>
        </p:nvSpPr>
        <p:spPr>
          <a:xfrm>
            <a:off x="660197" y="5113325"/>
            <a:ext cx="10972800" cy="1200607"/>
          </a:xfrm>
          <a:prstGeom prst="roundRect">
            <a:avLst>
              <a:gd name="adj" fmla="val 12089"/>
            </a:avLst>
          </a:prstGeom>
          <a:solidFill>
            <a:srgbClr val="FAF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965606" y="5484571"/>
            <a:ext cx="466344" cy="457200"/>
          </a:xfrm>
          <a:prstGeom prst="roundRect">
            <a:avLst>
              <a:gd name="adj" fmla="val 200000"/>
            </a:avLst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l="-3526" r="-3526"/>
          <a:stretch/>
        </p:blipFill>
        <p:spPr>
          <a:xfrm>
            <a:off x="1122883" y="5618074"/>
            <a:ext cx="152705" cy="19019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651406" y="5341925"/>
            <a:ext cx="4229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TO ACTION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2034212" y="5633092"/>
            <a:ext cx="50054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"데이터는 거짓말을 하지 않습니다. </a:t>
            </a: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지점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분석하고, 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1072822" y="5890038"/>
            <a:ext cx="5588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</a:t>
            </a:r>
            <a:r>
              <a:rPr lang="en-US" sz="13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콘텐츠 실험의 </a:t>
            </a: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가설 수립 근거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활용하세요."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7246620" y="5527548"/>
            <a:ext cx="1352398" cy="371246"/>
          </a:xfrm>
          <a:prstGeom prst="roundRect">
            <a:avLst>
              <a:gd name="adj" fmla="val 1263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08469" y="5646420"/>
            <a:ext cx="133502" cy="13350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617866" y="5527548"/>
            <a:ext cx="8769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구간 분석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705088" y="5527548"/>
            <a:ext cx="1171346" cy="371246"/>
          </a:xfrm>
          <a:prstGeom prst="roundRect">
            <a:avLst>
              <a:gd name="adj" fmla="val 1263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66937" y="5646420"/>
            <a:ext cx="133502" cy="13350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076334" y="5527548"/>
            <a:ext cx="6958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A/B 테스트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9984334" y="5527548"/>
            <a:ext cx="1352398" cy="371246"/>
          </a:xfrm>
          <a:prstGeom prst="roundRect">
            <a:avLst>
              <a:gd name="adj" fmla="val 1263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146182" y="5646420"/>
            <a:ext cx="133502" cy="13350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0355580" y="5527548"/>
            <a:ext cx="8769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경로 파악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495605" y="6602882"/>
            <a:ext cx="11087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YouTube 고객센터 「Impressions and click-through rate FAQ」 support.google.com/youtube/answer/7628154 (2026-10 확인)</a:t>
            </a:r>
            <a:endParaRPr lang="en-US" sz="9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900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07: COPYRIGHT &amp; ETHICS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6704381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 기초와 저작물의 범주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09905" y="1395724"/>
            <a:ext cx="3238805" cy="2419502"/>
          </a:xfrm>
          <a:prstGeom prst="roundRect">
            <a:avLst>
              <a:gd name="adj" fmla="val 2976"/>
            </a:avLst>
          </a:prstGeom>
          <a:solidFill>
            <a:srgbClr val="FFF7ED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43100" y="1649577"/>
            <a:ext cx="5715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2514" y="2268626"/>
            <a:ext cx="171632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341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PRINCIPLE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19302" y="2659075"/>
            <a:ext cx="28200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4314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"저작권은 창작과 동시에 발생하며, 별도의 등록 절차가 필요 없습니다."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4314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(무방식주의 Principle)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9905" y="4043827"/>
            <a:ext cx="3238805" cy="2523744"/>
          </a:xfrm>
          <a:prstGeom prst="roundRect">
            <a:avLst>
              <a:gd name="adj" fmla="val 21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2" name="Text 9"/>
          <p:cNvSpPr txBox="1"/>
          <p:nvPr/>
        </p:nvSpPr>
        <p:spPr>
          <a:xfrm>
            <a:off x="847649" y="4291629"/>
            <a:ext cx="13551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TYPES OF RIGHTS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47649" y="4552884"/>
            <a:ext cx="2762402" cy="905256"/>
          </a:xfrm>
          <a:prstGeom prst="roundRect">
            <a:avLst>
              <a:gd name="adj" fmla="val 11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1949" y="4695530"/>
            <a:ext cx="152705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28954" y="4667184"/>
            <a:ext cx="2358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저작재산권 (Economic Rights)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228954" y="4886640"/>
            <a:ext cx="23436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복제권, 배포권, 공중송신권, 2차적저작물작성권 등 양도 가능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47649" y="5539785"/>
            <a:ext cx="2762402" cy="931774"/>
          </a:xfrm>
          <a:prstGeom prst="roundRect">
            <a:avLst>
              <a:gd name="adj" fmla="val 11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961949" y="5682431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66444" y="5654085"/>
            <a:ext cx="23180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저작인격권 (Moral Rights)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1266444" y="5872627"/>
            <a:ext cx="2102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공표권, 성명표시권, 동일성유지권 등 일신전속 권리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153205" y="1395724"/>
            <a:ext cx="7429500" cy="1371600"/>
          </a:xfrm>
          <a:prstGeom prst="roundRect">
            <a:avLst>
              <a:gd name="adj" fmla="val 740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2" name="Shape 17"/>
          <p:cNvSpPr/>
          <p:nvPr/>
        </p:nvSpPr>
        <p:spPr>
          <a:xfrm>
            <a:off x="4390949" y="1615180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Text 18"/>
          <p:cNvSpPr txBox="1"/>
          <p:nvPr/>
        </p:nvSpPr>
        <p:spPr>
          <a:xfrm>
            <a:off x="4478731" y="1671873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924044" y="1595978"/>
            <a:ext cx="65343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보호받는 저작물 </a:t>
            </a:r>
            <a:r>
              <a:rPr lang="en-US" sz="1200" b="1" dirty="0">
                <a:solidFill>
                  <a:srgbClr val="4338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924044" y="1895901"/>
            <a:ext cx="64968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 사상이나 감정을 표현한 창작물이어야 합니다.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소설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각본(어문), 음악(작곡/가사), 미술(썸네일/로고), 영상(유튜브 콘텐츠), 사진, </a:t>
            </a:r>
            <a:b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소프트웨어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등이 포함됩니다.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153205" y="2917286"/>
            <a:ext cx="7429500" cy="1371600"/>
          </a:xfrm>
          <a:prstGeom prst="roundRect">
            <a:avLst>
              <a:gd name="adj" fmla="val 740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7" name="Shape 22"/>
          <p:cNvSpPr/>
          <p:nvPr/>
        </p:nvSpPr>
        <p:spPr>
          <a:xfrm>
            <a:off x="4390949" y="3135827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8" name="Text 23"/>
          <p:cNvSpPr txBox="1"/>
          <p:nvPr/>
        </p:nvSpPr>
        <p:spPr>
          <a:xfrm>
            <a:off x="4466844" y="3193435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4924044" y="3116625"/>
            <a:ext cx="65343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보호받지 못하는 것 </a:t>
            </a:r>
            <a:r>
              <a:rPr lang="en-US" sz="1100" b="1" dirty="0">
                <a:solidFill>
                  <a:srgbClr val="4B556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 DOMAIN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4924044" y="3417463"/>
            <a:ext cx="64968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'아이디어-표현 이분법'에 따라 단순한 아이디어, 팩트(사실), 역사적 사건, 조리법, 기능적 절차, 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사실의 전달에 불과한 시사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보도 등은 저작권 보호 대상이 아닙니다.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153205" y="4437933"/>
            <a:ext cx="7429500" cy="1371600"/>
          </a:xfrm>
          <a:prstGeom prst="roundRect">
            <a:avLst>
              <a:gd name="adj" fmla="val 740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2" name="Shape 27"/>
          <p:cNvSpPr/>
          <p:nvPr/>
        </p:nvSpPr>
        <p:spPr>
          <a:xfrm>
            <a:off x="4390949" y="4656475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3" name="Text 28"/>
          <p:cNvSpPr txBox="1"/>
          <p:nvPr/>
        </p:nvSpPr>
        <p:spPr>
          <a:xfrm>
            <a:off x="4467758" y="4714082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4924044" y="4638187"/>
            <a:ext cx="65343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저작권의 제한 (자유 이용) </a:t>
            </a:r>
            <a:r>
              <a:rPr lang="en-US" sz="1100" b="1" dirty="0">
                <a:solidFill>
                  <a:srgbClr val="1580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EXCEPTION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4924044" y="4938110"/>
            <a:ext cx="64968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조건 하에서는 허락 없이 이용 가능합니다.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사적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복제(개인 소장), 학교 교육 목적, 시사 보도, 재판 절차, 그리고 '공정한 이용(Fair Use)’이 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이에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해당합니다.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153205" y="5958580"/>
            <a:ext cx="7429500" cy="609905"/>
          </a:xfrm>
          <a:prstGeom prst="roundRect">
            <a:avLst>
              <a:gd name="adj" fmla="val 37481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4457700" y="6167978"/>
            <a:ext cx="219456" cy="190195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4791456" y="6148775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Legal Terms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7341718" y="6111285"/>
            <a:ext cx="780898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0" name="Text 34"/>
          <p:cNvSpPr txBox="1"/>
          <p:nvPr/>
        </p:nvSpPr>
        <p:spPr>
          <a:xfrm>
            <a:off x="7465162" y="617803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5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무방식주의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8210398" y="6111285"/>
            <a:ext cx="1266444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2" name="Text 36"/>
          <p:cNvSpPr txBox="1"/>
          <p:nvPr/>
        </p:nvSpPr>
        <p:spPr>
          <a:xfrm>
            <a:off x="8333842" y="6178036"/>
            <a:ext cx="12070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5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아이디어-표현 이분법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9571025" y="6111285"/>
            <a:ext cx="914400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4" name="Text 38"/>
          <p:cNvSpPr txBox="1"/>
          <p:nvPr/>
        </p:nvSpPr>
        <p:spPr>
          <a:xfrm>
            <a:off x="9695383" y="6178036"/>
            <a:ext cx="780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5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퍼블릭 도메인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10576865" y="6111285"/>
            <a:ext cx="705002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6" name="Text 40"/>
          <p:cNvSpPr txBox="1"/>
          <p:nvPr/>
        </p:nvSpPr>
        <p:spPr>
          <a:xfrm>
            <a:off x="10701223" y="6178036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5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이용</a:t>
            </a:r>
            <a:endParaRPr lang="en-US" sz="10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342900"/>
            <a:ext cx="190195" cy="19202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3407" y="342900"/>
            <a:ext cx="25694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07: COPYRIGHT &amp; ETHICS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52298"/>
            <a:ext cx="478322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이용(Fair Use) 이해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225296"/>
            <a:ext cx="3047695" cy="3200400"/>
          </a:xfrm>
          <a:prstGeom prst="roundRect">
            <a:avLst>
              <a:gd name="adj" fmla="val 1500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24" b="-24"/>
          <a:stretch/>
        </p:blipFill>
        <p:spPr>
          <a:xfrm>
            <a:off x="1742846" y="1875522"/>
            <a:ext cx="476402" cy="3813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4052" y="2515580"/>
            <a:ext cx="121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RISK FACTOR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93826" y="3002933"/>
            <a:ext cx="2074774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"공정 이용은 명확한 권리가 아닌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항변(Defense)입니다."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플랫폼의 AI 필터링은 공정 이용을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자동으로 판단하지 못합니다. 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610405"/>
            <a:ext cx="3047695" cy="1904695"/>
          </a:xfrm>
          <a:prstGeom prst="roundRect">
            <a:avLst>
              <a:gd name="adj" fmla="val 336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57454" y="4809744"/>
            <a:ext cx="20473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8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흔한 오해 (MISCONCEPTIONS)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7454" y="5110582"/>
            <a:ext cx="2648102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2275" r="-12275"/>
          <a:stretch/>
        </p:blipFill>
        <p:spPr>
          <a:xfrm>
            <a:off x="733349" y="5202936"/>
            <a:ext cx="190195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19556" y="5186477"/>
            <a:ext cx="15142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출처만 밝히면 문제없다?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57454" y="5544007"/>
            <a:ext cx="2648102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l="-12275" r="-12275"/>
          <a:stretch/>
        </p:blipFill>
        <p:spPr>
          <a:xfrm>
            <a:off x="733349" y="5636362"/>
            <a:ext cx="190195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19556" y="5619902"/>
            <a:ext cx="16678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창출 안 하면 괜찮다?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57454" y="5976518"/>
            <a:ext cx="2648102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l="-12275" r="-12275"/>
          <a:stretch/>
        </p:blipFill>
        <p:spPr>
          <a:xfrm>
            <a:off x="733349" y="6069787"/>
            <a:ext cx="19019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19556" y="6053328"/>
            <a:ext cx="14182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10초 미만은 허용된다?</a:t>
            </a:r>
            <a:endParaRPr lang="en-US" sz="1050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069D922-A601-CAF0-4DAC-6C40F07614FE}"/>
              </a:ext>
            </a:extLst>
          </p:cNvPr>
          <p:cNvGrpSpPr/>
          <p:nvPr/>
        </p:nvGrpSpPr>
        <p:grpSpPr>
          <a:xfrm>
            <a:off x="3771900" y="1225296"/>
            <a:ext cx="8382305" cy="4489704"/>
            <a:chOff x="3771900" y="1225296"/>
            <a:chExt cx="8382305" cy="3963924"/>
          </a:xfrm>
        </p:grpSpPr>
        <p:sp>
          <p:nvSpPr>
            <p:cNvPr id="22" name="Shape 16"/>
            <p:cNvSpPr/>
            <p:nvPr/>
          </p:nvSpPr>
          <p:spPr>
            <a:xfrm>
              <a:off x="3771900" y="1225296"/>
              <a:ext cx="7962595" cy="952805"/>
            </a:xfrm>
            <a:prstGeom prst="roundRect">
              <a:avLst>
                <a:gd name="adj" fmla="val 13436"/>
              </a:avLst>
            </a:prstGeom>
            <a:solidFill>
              <a:srgbClr val="FAFAFA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3" name="Shape 17"/>
            <p:cNvSpPr/>
            <p:nvPr/>
          </p:nvSpPr>
          <p:spPr>
            <a:xfrm>
              <a:off x="3972154" y="1405433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4" name="Text 18"/>
            <p:cNvSpPr txBox="1"/>
            <p:nvPr/>
          </p:nvSpPr>
          <p:spPr>
            <a:xfrm>
              <a:off x="4050792" y="1458468"/>
              <a:ext cx="2286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01</a:t>
              </a:r>
              <a:endParaRPr lang="en-US" sz="1050" dirty="0"/>
            </a:p>
          </p:txBody>
        </p:sp>
        <p:sp>
          <p:nvSpPr>
            <p:cNvPr id="25" name="Text 19"/>
            <p:cNvSpPr txBox="1"/>
            <p:nvPr/>
          </p:nvSpPr>
          <p:spPr>
            <a:xfrm>
              <a:off x="4429354" y="1387145"/>
              <a:ext cx="72201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1111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이용의 목적과 성격 </a:t>
              </a:r>
              <a:r>
                <a:rPr lang="en-US" sz="900" b="1" dirty="0">
                  <a:solidFill>
                    <a:srgbClr val="EF4444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KEY FACTOR</a:t>
              </a:r>
              <a:endParaRPr lang="en-US" sz="1400" dirty="0"/>
            </a:p>
          </p:txBody>
        </p:sp>
        <p:sp>
          <p:nvSpPr>
            <p:cNvPr id="26" name="Text 20"/>
            <p:cNvSpPr txBox="1"/>
            <p:nvPr/>
          </p:nvSpPr>
          <p:spPr>
            <a:xfrm>
              <a:off x="4429354" y="1653235"/>
              <a:ext cx="7182612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콘텐츠가 상업적인지, 비영리·교육적인지 </a:t>
              </a:r>
              <a:r>
                <a:rPr lang="en-US" sz="11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판단합니다</a:t>
              </a: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원작을</a:t>
              </a: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새로운 의미나 메시지로 재해석하는 '변형적 이용(Transformative Use)'일수록 인정받을 가능성이 높습니다.</a:t>
              </a:r>
              <a:endParaRPr lang="en-US" sz="1100" dirty="0"/>
            </a:p>
          </p:txBody>
        </p:sp>
        <p:sp>
          <p:nvSpPr>
            <p:cNvPr id="27" name="Shape 21"/>
            <p:cNvSpPr/>
            <p:nvPr/>
          </p:nvSpPr>
          <p:spPr>
            <a:xfrm>
              <a:off x="3771900" y="2288743"/>
              <a:ext cx="7962595" cy="771754"/>
            </a:xfrm>
            <a:prstGeom prst="roundRect">
              <a:avLst>
                <a:gd name="adj" fmla="val 20479"/>
              </a:avLst>
            </a:prstGeom>
            <a:solidFill>
              <a:srgbClr val="FAFAFA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8" name="Shape 22"/>
            <p:cNvSpPr/>
            <p:nvPr/>
          </p:nvSpPr>
          <p:spPr>
            <a:xfrm>
              <a:off x="3972154" y="2469794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9" name="Text 23"/>
            <p:cNvSpPr txBox="1"/>
            <p:nvPr/>
          </p:nvSpPr>
          <p:spPr>
            <a:xfrm>
              <a:off x="4040734" y="2521915"/>
              <a:ext cx="24780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02</a:t>
              </a:r>
              <a:endParaRPr lang="en-US" sz="1050" dirty="0"/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4429354" y="2450592"/>
              <a:ext cx="66010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1111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저작물의 성격</a:t>
              </a:r>
              <a:endParaRPr lang="en-US" sz="14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4429354" y="2717597"/>
              <a:ext cx="7724851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사실에 입각한 정보(뉴스, 역사)보다 창의적인 저작물(영화, 소설, 음악)을 무단 사용할 때 침해로 간주될 가능성이 더 높습니다.</a:t>
              </a:r>
              <a:endParaRPr lang="en-US" sz="1100" dirty="0"/>
            </a:p>
          </p:txBody>
        </p:sp>
        <p:sp>
          <p:nvSpPr>
            <p:cNvPr id="32" name="Shape 26"/>
            <p:cNvSpPr/>
            <p:nvPr/>
          </p:nvSpPr>
          <p:spPr>
            <a:xfrm>
              <a:off x="3771900" y="3172968"/>
              <a:ext cx="7962595" cy="952805"/>
            </a:xfrm>
            <a:prstGeom prst="roundRect">
              <a:avLst>
                <a:gd name="adj" fmla="val 13436"/>
              </a:avLst>
            </a:prstGeom>
            <a:solidFill>
              <a:srgbClr val="FAFAFA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3" name="Shape 27"/>
            <p:cNvSpPr/>
            <p:nvPr/>
          </p:nvSpPr>
          <p:spPr>
            <a:xfrm>
              <a:off x="3972154" y="3354019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4041648" y="3406140"/>
              <a:ext cx="24780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03</a:t>
              </a:r>
              <a:endParaRPr lang="en-US" sz="1050" dirty="0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4429354" y="3334817"/>
              <a:ext cx="72201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1111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이용된 양과 중요성 </a:t>
              </a:r>
              <a:r>
                <a:rPr lang="en-US" sz="900" b="1" dirty="0">
                  <a:solidFill>
                    <a:srgbClr val="0284C7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HEART OF WORK</a:t>
              </a:r>
              <a:endParaRPr lang="en-US" sz="1400" dirty="0"/>
            </a:p>
          </p:txBody>
        </p:sp>
        <p:sp>
          <p:nvSpPr>
            <p:cNvPr id="36" name="Text 30"/>
            <p:cNvSpPr txBox="1"/>
            <p:nvPr/>
          </p:nvSpPr>
          <p:spPr>
            <a:xfrm>
              <a:off x="4429354" y="3601822"/>
              <a:ext cx="7182612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전체 분량 대비 사용된 비율뿐만 아니라,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양이</a:t>
              </a: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적더라도 작품의 핵심적인 부분(결정적 장면, 클라이맥스)을 사용했다면 공정 이용으로 인정받기 어렵습니다.</a:t>
              </a:r>
              <a:endParaRPr lang="en-US" sz="1100" dirty="0"/>
            </a:p>
          </p:txBody>
        </p:sp>
        <p:sp>
          <p:nvSpPr>
            <p:cNvPr id="37" name="Shape 31"/>
            <p:cNvSpPr/>
            <p:nvPr/>
          </p:nvSpPr>
          <p:spPr>
            <a:xfrm>
              <a:off x="3771900" y="4236415"/>
              <a:ext cx="7962595" cy="952805"/>
            </a:xfrm>
            <a:prstGeom prst="roundRect">
              <a:avLst>
                <a:gd name="adj" fmla="val 13436"/>
              </a:avLst>
            </a:prstGeom>
            <a:solidFill>
              <a:srgbClr val="FAFAFA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8" name="Shape 32"/>
            <p:cNvSpPr/>
            <p:nvPr/>
          </p:nvSpPr>
          <p:spPr>
            <a:xfrm>
              <a:off x="3972154" y="441746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9" name="Text 33"/>
            <p:cNvSpPr txBox="1"/>
            <p:nvPr/>
          </p:nvSpPr>
          <p:spPr>
            <a:xfrm>
              <a:off x="4039819" y="4470502"/>
              <a:ext cx="24780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04</a:t>
              </a:r>
              <a:endParaRPr lang="en-US" sz="1050" dirty="0"/>
            </a:p>
          </p:txBody>
        </p:sp>
        <p:sp>
          <p:nvSpPr>
            <p:cNvPr id="40" name="Text 34"/>
            <p:cNvSpPr txBox="1"/>
            <p:nvPr/>
          </p:nvSpPr>
          <p:spPr>
            <a:xfrm>
              <a:off x="4429354" y="4399178"/>
              <a:ext cx="72201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1111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시장에 미치는 영향 </a:t>
              </a:r>
              <a:r>
                <a:rPr lang="en-US" sz="900" b="1" dirty="0">
                  <a:solidFill>
                    <a:srgbClr val="EF4444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ECONOMICS</a:t>
              </a:r>
              <a:endParaRPr lang="en-US" sz="1400" dirty="0"/>
            </a:p>
          </p:txBody>
        </p:sp>
        <p:sp>
          <p:nvSpPr>
            <p:cNvPr id="41" name="Text 35"/>
            <p:cNvSpPr txBox="1"/>
            <p:nvPr/>
          </p:nvSpPr>
          <p:spPr>
            <a:xfrm>
              <a:off x="4429354" y="4665269"/>
              <a:ext cx="7182612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나의 콘텐츠가 원저작물의 잠재적 시장이나 가치를 훼손하는지,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대체재</a:t>
              </a:r>
              <a:r>
                <a:rPr lang="en-US" sz="1100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역할을 하여 원작자의 수익을 감소시키는지 여부가 가장 중요한 판단 기준입니다.</a:t>
              </a:r>
              <a:endParaRPr lang="en-US" sz="1100" dirty="0"/>
            </a:p>
          </p:txBody>
        </p:sp>
      </p:grpSp>
      <p:sp>
        <p:nvSpPr>
          <p:cNvPr id="42" name="Shape 36"/>
          <p:cNvSpPr/>
          <p:nvPr/>
        </p:nvSpPr>
        <p:spPr>
          <a:xfrm>
            <a:off x="3771900" y="6034126"/>
            <a:ext cx="7962595" cy="485546"/>
          </a:xfrm>
          <a:prstGeom prst="roundRect">
            <a:avLst>
              <a:gd name="adj" fmla="val 51697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0" y="6179515"/>
            <a:ext cx="190195" cy="19019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4286707" y="6174943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인정 범위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7802575" y="6148426"/>
            <a:ext cx="914400" cy="256946"/>
          </a:xfrm>
          <a:prstGeom prst="roundRect">
            <a:avLst>
              <a:gd name="adj" fmla="val 2108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 txBox="1"/>
          <p:nvPr/>
        </p:nvSpPr>
        <p:spPr>
          <a:xfrm>
            <a:off x="7906817" y="6195974"/>
            <a:ext cx="8394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5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비평(Criticism)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8784641" y="6148426"/>
            <a:ext cx="743407" cy="256946"/>
          </a:xfrm>
          <a:prstGeom prst="roundRect">
            <a:avLst>
              <a:gd name="adj" fmla="val 2108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1"/>
          <p:cNvSpPr txBox="1"/>
          <p:nvPr/>
        </p:nvSpPr>
        <p:spPr>
          <a:xfrm>
            <a:off x="8889797" y="6195974"/>
            <a:ext cx="609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5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보도(News)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9601200" y="6148426"/>
            <a:ext cx="914400" cy="256946"/>
          </a:xfrm>
          <a:prstGeom prst="roundRect">
            <a:avLst>
              <a:gd name="adj" fmla="val 2108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3"/>
          <p:cNvSpPr txBox="1"/>
          <p:nvPr/>
        </p:nvSpPr>
        <p:spPr>
          <a:xfrm>
            <a:off x="9706356" y="6195974"/>
            <a:ext cx="8394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5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교육(Teaching)</a:t>
            </a:r>
            <a:endParaRPr lang="en-US" sz="800" dirty="0"/>
          </a:p>
        </p:txBody>
      </p:sp>
      <p:sp>
        <p:nvSpPr>
          <p:cNvPr id="51" name="Shape 44"/>
          <p:cNvSpPr/>
          <p:nvPr/>
        </p:nvSpPr>
        <p:spPr>
          <a:xfrm>
            <a:off x="10589666" y="6148426"/>
            <a:ext cx="923544" cy="256946"/>
          </a:xfrm>
          <a:prstGeom prst="roundRect">
            <a:avLst>
              <a:gd name="adj" fmla="val 21088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5"/>
          <p:cNvSpPr txBox="1"/>
          <p:nvPr/>
        </p:nvSpPr>
        <p:spPr>
          <a:xfrm>
            <a:off x="10693908" y="6195974"/>
            <a:ext cx="8503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5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연구(Research)</a:t>
            </a:r>
            <a:endParaRPr lang="en-US" sz="8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900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07: COPYRIGHT &amp; ETHICS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644103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 침해 사례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0564063" y="457200"/>
            <a:ext cx="1019556" cy="342900"/>
          </a:xfrm>
          <a:prstGeom prst="roundRect">
            <a:avLst>
              <a:gd name="adj" fmla="val 14814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725912" y="543154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9905" y="1584655"/>
            <a:ext cx="2857500" cy="5000854"/>
          </a:xfrm>
          <a:prstGeom prst="roundRect">
            <a:avLst>
              <a:gd name="adj" fmla="val 256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895198" y="1796796"/>
            <a:ext cx="2286000" cy="4572000"/>
          </a:xfrm>
          <a:prstGeom prst="roundRect">
            <a:avLst>
              <a:gd name="adj" fmla="val 5333"/>
            </a:avLst>
          </a:prstGeom>
          <a:solidFill>
            <a:srgbClr val="000000"/>
          </a:solidFill>
          <a:ln w="101600">
            <a:solidFill>
              <a:srgbClr val="1F2937"/>
            </a:solidFill>
            <a:prstDash val="solid"/>
          </a:ln>
          <a:effectLst>
            <a:outerShdw blurRad="381000" dist="1905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1014985" y="1961388"/>
            <a:ext cx="2133295" cy="4419295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38275" y="2532887"/>
            <a:ext cx="571500" cy="457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57634" y="3376879"/>
            <a:ext cx="19184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동영상을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재생할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 없음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69779" y="3961181"/>
            <a:ext cx="1690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저작권 침해 신고로 인해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계정이 해지되었습니다.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Claimant: Major Studio Ent.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71900" y="1584655"/>
            <a:ext cx="7810805" cy="1543507"/>
          </a:xfrm>
          <a:prstGeom prst="roundRect">
            <a:avLst>
              <a:gd name="adj" fmla="val 5851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3"/>
          <p:cNvSpPr/>
          <p:nvPr/>
        </p:nvSpPr>
        <p:spPr>
          <a:xfrm>
            <a:off x="3771900" y="1584655"/>
            <a:ext cx="57607" cy="1543507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Shape 14"/>
          <p:cNvSpPr/>
          <p:nvPr/>
        </p:nvSpPr>
        <p:spPr>
          <a:xfrm>
            <a:off x="4058107" y="181325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43146" y="1899209"/>
            <a:ext cx="133502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476902" y="1847088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99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CASE 01: 영화 요약 (FAST MOVIE)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495647" y="2085355"/>
            <a:ext cx="6954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영화를 10분 안팎으로 요약·편집해 결말까지 공개한 유튜브 영상. </a:t>
            </a:r>
          </a:p>
          <a:p>
            <a:pPr marL="179388" indent="-17938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 센다이지방법원이 2021년 업로더 3명에게 저작권법 위반으로 형을 선고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476902" y="2766060"/>
            <a:ext cx="2511857" cy="314554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62856" y="2859329"/>
            <a:ext cx="133502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782532" y="2823667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146463" y="2823667"/>
            <a:ext cx="5500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징역형 집행유예 및 벌금 (센다이지법, 2021)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771900" y="3313786"/>
            <a:ext cx="7810805" cy="1543507"/>
          </a:xfrm>
          <a:prstGeom prst="roundRect">
            <a:avLst>
              <a:gd name="adj" fmla="val 5851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Shape 21"/>
          <p:cNvSpPr/>
          <p:nvPr/>
        </p:nvSpPr>
        <p:spPr>
          <a:xfrm>
            <a:off x="3771900" y="3313786"/>
            <a:ext cx="57607" cy="154350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Shape 22"/>
          <p:cNvSpPr/>
          <p:nvPr/>
        </p:nvSpPr>
        <p:spPr>
          <a:xfrm>
            <a:off x="4058107" y="354238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4143146" y="3627425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476902" y="3575304"/>
            <a:ext cx="2702226" cy="200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1E40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CASE 02: SNS 무단 리그램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4495647" y="3813571"/>
            <a:ext cx="6954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사진/영상을 출처만 밝히고 허락 없이 </a:t>
            </a: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재업로드하거나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상업적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계정(공구, 홍보)에서 활용하는 경우. </a:t>
            </a:r>
          </a:p>
          <a:p>
            <a:pPr marL="179388" indent="-17938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특히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원작자의 삭제 요청을 무시할 시 고의성이 인정됨.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3771900" y="5042002"/>
            <a:ext cx="7810805" cy="1543507"/>
          </a:xfrm>
          <a:prstGeom prst="roundRect">
            <a:avLst>
              <a:gd name="adj" fmla="val 585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2" name="Shape 26"/>
          <p:cNvSpPr/>
          <p:nvPr/>
        </p:nvSpPr>
        <p:spPr>
          <a:xfrm>
            <a:off x="3771900" y="5042002"/>
            <a:ext cx="57607" cy="154350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Shape 27"/>
          <p:cNvSpPr/>
          <p:nvPr/>
        </p:nvSpPr>
        <p:spPr>
          <a:xfrm>
            <a:off x="4058107" y="5270602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43146" y="5356555"/>
            <a:ext cx="133502" cy="13350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476901" y="5303520"/>
            <a:ext cx="27022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065F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LESSON (핵심 교훈)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4495647" y="5541787"/>
            <a:ext cx="69540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출처 표시는 면책 </a:t>
            </a:r>
            <a:r>
              <a:rPr lang="en-US" sz="14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사유가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아님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반드시 사전에 DM이나 메일로 명시적 동의를 받아야 함.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원작의 </a:t>
            </a:r>
            <a:r>
              <a:rPr lang="en-US" sz="14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존중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2차 창작물이라도 원작의 잠재적 시장(VOD 판매 등)을 잠식하면 공정 이용(Fair Use)으로 인정받기 어려움.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1466698" y="1872691"/>
            <a:ext cx="1143000" cy="228600"/>
          </a:xfrm>
          <a:prstGeom prst="roundRect">
            <a:avLst>
              <a:gd name="adj" fmla="val 2000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S3 각주"/>
          <p:cNvSpPr txBox="1"/>
          <p:nvPr/>
        </p:nvSpPr>
        <p:spPr>
          <a:xfrm>
            <a:off x="500000" y="6560000"/>
            <a:ext cx="112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sz="900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仙台地方裁判所 2021.11.16 판결(주범 징역 2년·집행유예 4년·벌금 200만 엔 등) — KAI-YOU 2021.11.16 보도 · 「지상파 '패스트무비' 첫 고소」 전자신문 2024.9.25</a:t>
            </a:r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34335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07: COPYRIGHT UNDERSTANDING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415960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신고와 대응 (DMCA)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95732" y="1388973"/>
            <a:ext cx="3047695" cy="2648102"/>
          </a:xfrm>
          <a:prstGeom prst="roundRect">
            <a:avLst>
              <a:gd name="adj" fmla="val 2484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90522" y="1749247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423" y="2368296"/>
            <a:ext cx="1591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3-STRIKE RULE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95325" y="2758744"/>
            <a:ext cx="22485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"플랫폼의 3진 아웃제 주의"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90일 안에 경고 3회를 받으면,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 해지·모든 영상 삭제. 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5732" y="4261104"/>
            <a:ext cx="3047695" cy="2190902"/>
          </a:xfrm>
          <a:prstGeom prst="roundRect">
            <a:avLst>
              <a:gd name="adj" fmla="val 290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33476" y="4508906"/>
            <a:ext cx="12865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4B556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DMCA KEY TERMS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3476" y="4851806"/>
            <a:ext cx="2572207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9102" r="-9102"/>
          <a:stretch/>
        </p:blipFill>
        <p:spPr>
          <a:xfrm>
            <a:off x="928573" y="4954219"/>
            <a:ext cx="228600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71473" y="4946904"/>
            <a:ext cx="17391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Takedown (게시 중단 요청)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33476" y="5332127"/>
            <a:ext cx="2572207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16489" r="-16489"/>
          <a:stretch/>
        </p:blipFill>
        <p:spPr>
          <a:xfrm>
            <a:off x="928573" y="5444337"/>
            <a:ext cx="228600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71473" y="5437022"/>
            <a:ext cx="1802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Counter-Notice (이의 제기)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33476" y="5832957"/>
            <a:ext cx="2572207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16489" r="-16489"/>
          <a:stretch/>
        </p:blipFill>
        <p:spPr>
          <a:xfrm>
            <a:off x="928573" y="5935370"/>
            <a:ext cx="228600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71473" y="5918258"/>
            <a:ext cx="14630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Retraction (신고 철회)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947922" y="1388973"/>
            <a:ext cx="7619695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4186581" y="1627632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282593" y="1689811"/>
            <a:ext cx="2670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758081" y="1627632"/>
            <a:ext cx="6687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신고 절차 (Reporting) </a:t>
            </a:r>
            <a:r>
              <a:rPr lang="en-US" sz="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4758081" y="1960473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콘텐츠가 도용되었다면 플랫폼의 '저작권 침해 신고 양식'을 제출하세요. </a:t>
            </a:r>
            <a:b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영상 링크, 타임스탬프 등 구체적인 증빙 자료를 첨부해야 신속히 처리됩니다.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947922" y="2846527"/>
            <a:ext cx="7619695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186581" y="3085185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4268877" y="3146450"/>
            <a:ext cx="2953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758081" y="3085185"/>
            <a:ext cx="6687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이의 제기 (Counter Notification) </a:t>
            </a:r>
            <a:r>
              <a:rPr lang="en-US" sz="8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DEFENSE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4758081" y="3418027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이용에 해당하거나 실수로 인한 신고를 받았다면 '반론 통지'를 제출할 수 있습니다. </a:t>
            </a:r>
            <a:b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허위 주장은 법적 책임을 질 수 있으므로 신중해야 합니다.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3947922" y="4304080"/>
            <a:ext cx="7619695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4186581" y="4541824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4270705" y="4604004"/>
            <a:ext cx="2953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4758081" y="4541824"/>
            <a:ext cx="6687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콘텐츠 보호 전략 </a:t>
            </a:r>
            <a:r>
              <a:rPr lang="en-US" sz="8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4758081" y="4875580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영상에 워터마크를 상시 삽입하고, 프로젝트 원본 파일(Project File)과 로우 데이터(Raw Data)를 </a:t>
            </a:r>
            <a:b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영구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보관하여 원작자임을 증명할 대비를 하세요.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3947922" y="5761634"/>
            <a:ext cx="7619695" cy="685800"/>
          </a:xfrm>
          <a:prstGeom prst="roundRect">
            <a:avLst>
              <a:gd name="adj" fmla="val 29630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53332" y="6008522"/>
            <a:ext cx="190195" cy="19019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4557827" y="599023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Protection Tools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6632601" y="5951829"/>
            <a:ext cx="1076249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1" name="Text 34"/>
          <p:cNvSpPr txBox="1"/>
          <p:nvPr/>
        </p:nvSpPr>
        <p:spPr>
          <a:xfrm>
            <a:off x="6756959" y="6018580"/>
            <a:ext cx="9866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YouTube Studio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7799375" y="5951829"/>
            <a:ext cx="1380744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3" name="Text 36"/>
          <p:cNvSpPr txBox="1"/>
          <p:nvPr/>
        </p:nvSpPr>
        <p:spPr>
          <a:xfrm>
            <a:off x="7923733" y="6018580"/>
            <a:ext cx="1349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Copyright Match Tool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9267901" y="5951829"/>
            <a:ext cx="1086307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5" name="Text 38"/>
          <p:cNvSpPr txBox="1"/>
          <p:nvPr/>
        </p:nvSpPr>
        <p:spPr>
          <a:xfrm>
            <a:off x="9391345" y="6018580"/>
            <a:ext cx="99395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Rights Manager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10440162" y="5951829"/>
            <a:ext cx="828446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7" name="Text 40"/>
          <p:cNvSpPr txBox="1"/>
          <p:nvPr/>
        </p:nvSpPr>
        <p:spPr>
          <a:xfrm>
            <a:off x="10564521" y="6018580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Watermark</a:t>
            </a:r>
            <a:endParaRPr lang="en-US" sz="1000" dirty="0"/>
          </a:p>
        </p:txBody>
      </p:sp>
      <p:sp>
        <p:nvSpPr>
          <p:cNvPr id="48" name="S3 각주"/>
          <p:cNvSpPr txBox="1"/>
          <p:nvPr/>
        </p:nvSpPr>
        <p:spPr>
          <a:xfrm>
            <a:off x="500000" y="6560000"/>
            <a:ext cx="112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sz="900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YouTube 고객센터 「Copyright strike basics」 support.google.com/youtube/answer/2814000 (2026-10 확인)</a:t>
            </a:r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932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07: COPYRIGHT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772119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 이해 (CC &amp; 로열티프리)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19049" y="1481244"/>
            <a:ext cx="10972800" cy="3803774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6"/>
          <p:cNvSpPr/>
          <p:nvPr/>
        </p:nvSpPr>
        <p:spPr>
          <a:xfrm>
            <a:off x="628193" y="1491303"/>
            <a:ext cx="10953598" cy="705002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7"/>
          <p:cNvSpPr/>
          <p:nvPr/>
        </p:nvSpPr>
        <p:spPr>
          <a:xfrm>
            <a:off x="628193" y="2177103"/>
            <a:ext cx="10953598" cy="1920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856793" y="1719903"/>
            <a:ext cx="1723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라이선스 유형 (TYPE)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0926" y="168149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3376879" y="1757393"/>
            <a:ext cx="133502" cy="152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709721" y="1719903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정의 및 특징 (DEFINITION)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551115" y="168149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27010" y="1757393"/>
            <a:ext cx="15270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969910" y="1719903"/>
            <a:ext cx="2641920" cy="21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사용 규칙 (USAGE RULES)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8193" y="3215861"/>
            <a:ext cx="109535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4"/>
          <p:cNvSpPr txBox="1"/>
          <p:nvPr/>
        </p:nvSpPr>
        <p:spPr>
          <a:xfrm>
            <a:off x="856793" y="2505372"/>
            <a:ext cx="1559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크리에이티브 커먼즈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56793" y="2733972"/>
            <a:ext cx="162123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(CCL: Creative Commons)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3290926" y="2505372"/>
            <a:ext cx="3886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저작자가 </a:t>
            </a:r>
            <a:r>
              <a:rPr lang="en-US" sz="11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'이용 조건'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미리 표시하여 허락한 저작물.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조건(BY, NC, ND, SA)의 조합으로 구성됨.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741310" y="2348095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준수 시 무료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이용 가능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551115" y="2386500"/>
            <a:ext cx="114300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760513" y="2605956"/>
            <a:ext cx="3715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출처 표시(BY)는 필수, 비영리(NC) 확인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51115" y="2643447"/>
            <a:ext cx="133502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760513" y="2862903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변경 금지(ND)인 경우 컷 편집 불가</a:t>
            </a:r>
            <a:endParaRPr lang="en-US" sz="11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51115" y="2900393"/>
            <a:ext cx="133502" cy="13350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28193" y="4244561"/>
            <a:ext cx="109535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 21"/>
          <p:cNvSpPr txBox="1"/>
          <p:nvPr/>
        </p:nvSpPr>
        <p:spPr>
          <a:xfrm>
            <a:off x="856793" y="3534072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로열티 프리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56793" y="3762672"/>
            <a:ext cx="11228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(RF: Royalty Free)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3290926" y="3534072"/>
            <a:ext cx="3886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'저작권료(Royalty)'가 추가로 발생하지 않는다(Free)는 뜻.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'무료'라는 뜻이 아님.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7741310" y="3376795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 구매(유료)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후 범위 내 반복 사용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551115" y="3415200"/>
            <a:ext cx="114300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760513" y="3634656"/>
            <a:ext cx="3715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재배포/재판매(Resale) 절대 금지</a:t>
            </a:r>
            <a:endParaRPr lang="en-US" sz="11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51115" y="3672147"/>
            <a:ext cx="133502" cy="1335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741310" y="3891603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대부분 1인 1라이선스 원칙 (팀 공유 불가)</a:t>
            </a:r>
            <a:endParaRPr lang="en-US" sz="11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551115" y="3929093"/>
            <a:ext cx="114300" cy="1335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56793" y="4562772"/>
            <a:ext cx="1072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퍼블릭 도메인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856793" y="4791372"/>
            <a:ext cx="16550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(CC0: No Rights Reserved)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3290926" y="4562772"/>
            <a:ext cx="3886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 보호 기간이 만료되었거나,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저작권자가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권리를 포기하여 </a:t>
            </a:r>
            <a:r>
              <a:rPr lang="en-US" sz="11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누구나 자유롭게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이용 가능.</a:t>
            </a:r>
            <a:endParaRPr lang="en-US" sz="1100" dirty="0"/>
          </a:p>
        </p:txBody>
      </p:sp>
      <p:sp>
        <p:nvSpPr>
          <p:cNvPr id="40" name="Text 30"/>
          <p:cNvSpPr txBox="1"/>
          <p:nvPr/>
        </p:nvSpPr>
        <p:spPr>
          <a:xfrm>
            <a:off x="7741310" y="4405495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출처 표시 의무 없음 (해도 됨)</a:t>
            </a:r>
            <a:endParaRPr lang="en-US" sz="11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551115" y="4443900"/>
            <a:ext cx="114300" cy="13350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741310" y="4663356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상업적 이용 및 2차 저작(수정) 가능</a:t>
            </a:r>
            <a:endParaRPr lang="en-US" sz="11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551115" y="4700847"/>
            <a:ext cx="114300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760513" y="4920303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단, 인물 사진의 </a:t>
            </a:r>
            <a:r>
              <a:rPr lang="en-US" sz="11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초상권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별도 확인</a:t>
            </a:r>
            <a:endParaRPr lang="en-US" sz="11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51115" y="4957793"/>
            <a:ext cx="133502" cy="133502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19049" y="5429103"/>
            <a:ext cx="5029200" cy="1163851"/>
          </a:xfrm>
          <a:prstGeom prst="roundRect">
            <a:avLst>
              <a:gd name="adj" fmla="val 12692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Shape 34"/>
          <p:cNvSpPr/>
          <p:nvPr/>
        </p:nvSpPr>
        <p:spPr>
          <a:xfrm>
            <a:off x="619049" y="5429104"/>
            <a:ext cx="38405" cy="1047902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7649" y="5674163"/>
            <a:ext cx="133502" cy="133502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1057046" y="5648560"/>
            <a:ext cx="18973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로열티 프리(RF) 오해 금지</a:t>
            </a:r>
            <a:endParaRPr lang="en-US" sz="1100" dirty="0"/>
          </a:p>
        </p:txBody>
      </p:sp>
      <p:sp>
        <p:nvSpPr>
          <p:cNvPr id="50" name="Text 36"/>
          <p:cNvSpPr txBox="1"/>
          <p:nvPr/>
        </p:nvSpPr>
        <p:spPr>
          <a:xfrm>
            <a:off x="847649" y="5896362"/>
            <a:ext cx="463156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'Free'라는 단어 때문에 무료로 착각하기 쉽지만, </a:t>
            </a:r>
            <a:b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RF는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'추가 과금이 없는 유료 라이선스'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경우가 대부분입니다. </a:t>
            </a:r>
            <a:b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사이트라도 상업적 이용 범위를 반드시 체크해야 합니다.</a:t>
            </a:r>
            <a:endParaRPr lang="en-US" sz="1200" dirty="0"/>
          </a:p>
        </p:txBody>
      </p:sp>
      <p:sp>
        <p:nvSpPr>
          <p:cNvPr id="51" name="Shape 37"/>
          <p:cNvSpPr/>
          <p:nvPr/>
        </p:nvSpPr>
        <p:spPr>
          <a:xfrm>
            <a:off x="5838443" y="5438337"/>
            <a:ext cx="5753405" cy="1163851"/>
          </a:xfrm>
          <a:prstGeom prst="roundRect">
            <a:avLst>
              <a:gd name="adj" fmla="val 12692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2" name="Shape 38"/>
          <p:cNvSpPr/>
          <p:nvPr/>
        </p:nvSpPr>
        <p:spPr>
          <a:xfrm>
            <a:off x="5838444" y="5438338"/>
            <a:ext cx="38405" cy="10479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067044" y="5683397"/>
            <a:ext cx="105156" cy="133502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6248095" y="5657794"/>
            <a:ext cx="15444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라이선스 위반 방지 팁</a:t>
            </a:r>
            <a:endParaRPr lang="en-US" sz="1100" dirty="0"/>
          </a:p>
        </p:txBody>
      </p:sp>
      <p:sp>
        <p:nvSpPr>
          <p:cNvPr id="55" name="Text 40"/>
          <p:cNvSpPr txBox="1"/>
          <p:nvPr/>
        </p:nvSpPr>
        <p:spPr>
          <a:xfrm>
            <a:off x="6067044" y="5905596"/>
            <a:ext cx="540867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 시점의 </a:t>
            </a: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 페이지를 캡처(PDF)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해두세요.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추후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약관이 변경되거나 저작권자가 권리를 주장할 때 증빙 자료로 활용할 수 있습니다.</a:t>
            </a:r>
            <a:endParaRPr lang="en-US" sz="1200" dirty="0"/>
          </a:p>
        </p:txBody>
      </p:sp>
      <p:sp>
        <p:nvSpPr>
          <p:cNvPr id="5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90885" y="413352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33785" y="413352"/>
            <a:ext cx="24716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08: CONTENT ETHICS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90885" y="661155"/>
            <a:ext cx="814273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크리에이터 윤리 강령 &amp; 체크리스트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490885" y="1436566"/>
            <a:ext cx="26554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3 PILLARS OF CREATOR ETHICS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0885" y="1692071"/>
            <a:ext cx="4545253" cy="3234233"/>
          </a:xfrm>
          <a:prstGeom prst="roundRect">
            <a:avLst>
              <a:gd name="adj" fmla="val 121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28629" y="1930729"/>
            <a:ext cx="38405" cy="857707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918824" y="1930729"/>
            <a:ext cx="251185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TRANSPARENCY (투명성)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8824" y="2228367"/>
            <a:ext cx="38011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"시청자를 기만하지 않는다"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광고, 협찬, 이해관계를 명확히 공개하여 콘텐츠의 순수성을 보증합니다.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8629" y="2899993"/>
            <a:ext cx="38405" cy="85770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8824" y="2899993"/>
            <a:ext cx="2686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RESPONSIBILITY (책임감)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8824" y="3197631"/>
            <a:ext cx="39630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"영향력을 인지한다"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정보의 정확성을 검증하고, 사회적 파급력을 고려하여 신중하게 제작합니다. 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8629" y="3869257"/>
            <a:ext cx="38405" cy="85770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18824" y="3869257"/>
            <a:ext cx="17455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RESPECT (존중)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8824" y="4166895"/>
            <a:ext cx="38011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"타인의 권리를 침해하지 않는다"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저작권, 초상권, 인격권을 존중하며 혐오나 차별적 표현을 배제합니다. 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0885" y="5527065"/>
            <a:ext cx="4390949" cy="972007"/>
          </a:xfrm>
          <a:prstGeom prst="roundRect">
            <a:avLst>
              <a:gd name="adj" fmla="val 1106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8629" y="5869965"/>
            <a:ext cx="286207" cy="28620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66626" y="5765723"/>
            <a:ext cx="151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TRUSTED CREATOR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66626" y="6061074"/>
            <a:ext cx="20418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신뢰는 가장 강력한 자산입니다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30212" y="1462170"/>
            <a:ext cx="14602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ETHICS SELF-CHECK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30212" y="1680185"/>
            <a:ext cx="6299249" cy="961949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592061" y="186123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5972451" y="1842033"/>
            <a:ext cx="5914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광고/협찬 표기 확인 (Disclosure)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972451" y="2189544"/>
            <a:ext cx="587396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 광고나 제품 지원 사실을 '유료 광고 포함' 기능이나 자막, 설명란 최상단에 명확히 표기했는가?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30212" y="2753690"/>
            <a:ext cx="6299249" cy="961949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5592061" y="2934741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5972451" y="2915539"/>
            <a:ext cx="5914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팩트 체크 및 출처 (Verification)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972451" y="3177057"/>
            <a:ext cx="587396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콘텐츠에 포함된 정보의 진위 여부를 확인했는가?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출처가</a:t>
            </a: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불분명하거나 오해를 살 만한 내용은 없는가?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30212" y="3826281"/>
            <a:ext cx="6299249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5592061" y="4007333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5972451" y="3989045"/>
            <a:ext cx="492960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혐오/차별 표현 점검 (No Hate Speech)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972450" y="4250563"/>
            <a:ext cx="59744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성별, 인종, 지역, 장애 등에 대한 비하, 조롱, 혐오 표현이 포함되지 않았는가?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30212" y="4713249"/>
            <a:ext cx="6299249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5592061" y="4894301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5972450" y="4875098"/>
            <a:ext cx="52544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및 유해성 검토 (Safety)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972450" y="5137531"/>
            <a:ext cx="60934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위험한 행동을 모방하게 하거나, 미성년자에게 유해한 영향을 줄 수 있는 요소는 없는가?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30212" y="5610276"/>
            <a:ext cx="6299249" cy="914400"/>
          </a:xfrm>
          <a:prstGeom prst="roundRect">
            <a:avLst>
              <a:gd name="adj" fmla="val 12500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5582002" y="5953176"/>
            <a:ext cx="171907" cy="228600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5905700" y="5762066"/>
            <a:ext cx="5619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ETHICS TIP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5905699" y="5990666"/>
            <a:ext cx="594071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윤리적 고민이 들 </a:t>
            </a:r>
            <a:r>
              <a:rPr lang="en-US" sz="11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때는</a:t>
            </a: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영상을 가족이나 가장 존경하는 사람에게 당당히 보여줄 수 있는가?"를 자문해보세요.</a:t>
            </a:r>
            <a:endParaRPr lang="en-US" sz="1100" dirty="0"/>
          </a:p>
        </p:txBody>
      </p:sp>
      <p:sp>
        <p:nvSpPr>
          <p:cNvPr id="4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4716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08: CONTENT ETHICS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4844491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콘텐츠 윤리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09905" y="1388708"/>
            <a:ext cx="3047695" cy="2800807"/>
          </a:xfrm>
          <a:prstGeom prst="roundRect">
            <a:avLst>
              <a:gd name="adj" fmla="val 2221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48002" y="1713320"/>
            <a:ext cx="5715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00861" y="2332369"/>
            <a:ext cx="14712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ETHICS ALERT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9302" y="2722818"/>
            <a:ext cx="2628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"AI 사용 고지 누락은 시청자 기만이 될 수 있습니다."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플랫폼 정책 위반 시 영상 삭제 및 채널 제재의 위험이 있습니다. 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9905" y="4418115"/>
            <a:ext cx="3047695" cy="2190902"/>
          </a:xfrm>
          <a:prstGeom prst="roundRect">
            <a:avLst>
              <a:gd name="adj" fmla="val 290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47649" y="4665918"/>
            <a:ext cx="135605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4B556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PRINCIPLES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47649" y="5008818"/>
            <a:ext cx="2572207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9102" r="-9102"/>
          <a:stretch/>
        </p:blipFill>
        <p:spPr>
          <a:xfrm>
            <a:off x="942746" y="5111231"/>
            <a:ext cx="228600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85646" y="5103915"/>
            <a:ext cx="153070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 (Transparency)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47649" y="5498936"/>
            <a:ext cx="2572207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3192" r="-3192"/>
          <a:stretch/>
        </p:blipFill>
        <p:spPr>
          <a:xfrm>
            <a:off x="942746" y="5601349"/>
            <a:ext cx="228600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5646" y="5594034"/>
            <a:ext cx="15873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책임성 (Accountability)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47649" y="5989969"/>
            <a:ext cx="2572207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16489" r="-16489"/>
          <a:stretch/>
        </p:blipFill>
        <p:spPr>
          <a:xfrm>
            <a:off x="942746" y="6092382"/>
            <a:ext cx="228600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5646" y="6085067"/>
            <a:ext cx="10094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안전성 (Safety)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962095" y="1388708"/>
            <a:ext cx="7619695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4200754" y="1627367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296766" y="1689546"/>
            <a:ext cx="2670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772254" y="1627367"/>
            <a:ext cx="6687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사실의 고지 </a:t>
            </a:r>
            <a:r>
              <a:rPr lang="en-US" sz="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MANDATORY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4772254" y="1960208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YouTube(2024.3~)·TikTok 등 주요 플랫폼은 실제처럼 보이는 AI 생성·변형 콘텐츠에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200" dirty="0">
              <a:solidFill>
                <a:srgbClr val="555555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'AI 생성' 표시를 요구합니다. 시청자에게 혼동을 주지 않도록 반드시 표기하세요.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962095" y="2846262"/>
            <a:ext cx="7619695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200754" y="3084920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4283050" y="3146185"/>
            <a:ext cx="2953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772254" y="3084920"/>
            <a:ext cx="6687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 창작적 기여 </a:t>
            </a:r>
            <a:r>
              <a:rPr lang="en-US" sz="8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COPYRIGHT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4772254" y="3417762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창작적 개입 없이 AI가 만든 결과물은 저작권 등록이 어렵습니다(문화체육관광부, 2023).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인정을 위해서는 인간의 구체적인 아이디어, 선택, 배열 등 창작적 개입이 필수적입니다.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3962095" y="4303815"/>
            <a:ext cx="7619695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4200754" y="4541559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4284878" y="4603739"/>
            <a:ext cx="2953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4772254" y="4541559"/>
            <a:ext cx="6687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딥페이크 악용 금지 </a:t>
            </a:r>
            <a:r>
              <a:rPr lang="en-US" sz="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PROHIBITED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4772254" y="4875315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동의 없는 딥페이크 제작, 특히 실존 인물의 명예를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훼손하거나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성적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불쾌감을 주는 콘텐츠 생성은 심각한 범죄 행위이며 법적 처벌 대상입니다.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3962095" y="5918646"/>
            <a:ext cx="7619695" cy="685800"/>
          </a:xfrm>
          <a:prstGeom prst="roundRect">
            <a:avLst>
              <a:gd name="adj" fmla="val 29630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67505" y="6165534"/>
            <a:ext cx="190195" cy="19019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4572000" y="6147246"/>
            <a:ext cx="1723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Ethical Checkpoints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7154266" y="6108841"/>
            <a:ext cx="819302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4"/>
          <p:cNvSpPr txBox="1"/>
          <p:nvPr/>
        </p:nvSpPr>
        <p:spPr>
          <a:xfrm>
            <a:off x="7277710" y="6175592"/>
            <a:ext cx="6803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Labeling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8064094" y="6108841"/>
            <a:ext cx="838505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 txBox="1"/>
          <p:nvPr/>
        </p:nvSpPr>
        <p:spPr>
          <a:xfrm>
            <a:off x="8187538" y="6175592"/>
            <a:ext cx="7031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Fact Check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8994038" y="6108841"/>
            <a:ext cx="1276502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 txBox="1"/>
          <p:nvPr/>
        </p:nvSpPr>
        <p:spPr>
          <a:xfrm>
            <a:off x="9118397" y="6175592"/>
            <a:ext cx="12070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10360152" y="6108841"/>
            <a:ext cx="923544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0"/>
          <p:cNvSpPr txBox="1"/>
          <p:nvPr/>
        </p:nvSpPr>
        <p:spPr>
          <a:xfrm>
            <a:off x="10483596" y="6175592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Deepfake</a:t>
            </a:r>
            <a:endParaRPr lang="en-US" sz="900" dirty="0"/>
          </a:p>
        </p:txBody>
      </p:sp>
      <p:sp>
        <p:nvSpPr>
          <p:cNvPr id="48" name="S3 각주"/>
          <p:cNvSpPr txBox="1"/>
          <p:nvPr/>
        </p:nvSpPr>
        <p:spPr>
          <a:xfrm>
            <a:off x="500000" y="6650000"/>
            <a:ext cx="11200000" cy="1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sz="900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YouTube 고객센터 「altered or synthetic content」 공개 정책(2024.3) · TikTok 고객센터 「About AI-generated content」 · 문체부·한국저작권위원회 「생성형 AI 저작권 안내서」(2023.12), 2026-10 확인</a:t>
            </a:r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4716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08: CONTENT ETHICS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54361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허위정보와 팩트체크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1577340"/>
            <a:ext cx="5581498" cy="1285646"/>
          </a:xfrm>
          <a:prstGeom prst="roundRect">
            <a:avLst>
              <a:gd name="adj" fmla="val 6322"/>
            </a:avLst>
          </a:prstGeom>
          <a:solidFill>
            <a:srgbClr val="FFF9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1577340"/>
            <a:ext cx="38405" cy="12856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123798" y="1805940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신뢰성 확보 (Building Trust)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5995" y="1848917"/>
            <a:ext cx="171907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75995" y="2139696"/>
            <a:ext cx="51627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"정보의 홍수 속에서 크리에이터의 가장 강력한 자산은 신뢰입니다.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철저한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사실 검증은 브랜드 가치를 지키는 방패입니다."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3172054"/>
            <a:ext cx="171907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52805" y="3084271"/>
            <a:ext cx="53538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출처 확인 (Primary Source)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52805" y="3397910"/>
            <a:ext cx="53154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인용된 기사나 소문의 원본 데이터, 공식 문서, 당사자의 직접 발언 등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가공되지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않은 1차 출처를 반드시 추적하여 확인합니다.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049" y="4214516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52805" y="4126734"/>
            <a:ext cx="53538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검증 (Cross-Verification)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4440373"/>
            <a:ext cx="53154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2개 이상의 독립적이고 신뢰할 수 있는 출처를 대조합니다.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편향된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시각을 배제하고 전문가 의견이나 통계로 사실을 뒷받침하세요.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9049" y="5289633"/>
            <a:ext cx="171907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52805" y="5200937"/>
            <a:ext cx="53538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정정 공지 (Correction)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952805" y="5515490"/>
            <a:ext cx="53154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오류가 발견되면 숨기거나 삭제하지 않고 즉시 정정 공지를 게시합니다.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댓글이나 설명란을 통해 수정 내용을 투명하게 밝혀야 합니다.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15382" r="15382"/>
          <a:stretch/>
        </p:blipFill>
        <p:spPr>
          <a:xfrm>
            <a:off x="6644945" y="1607515"/>
            <a:ext cx="4943246" cy="476219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73545" y="4865522"/>
            <a:ext cx="4486046" cy="1276502"/>
          </a:xfrm>
          <a:prstGeom prst="roundRect">
            <a:avLst>
              <a:gd name="adj" fmla="val 855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073798" y="5084064"/>
            <a:ext cx="1333195" cy="247802"/>
          </a:xfrm>
          <a:prstGeom prst="roundRect">
            <a:avLst>
              <a:gd name="adj" fmla="val 283849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88098" y="512246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ETHICAL STANDARD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073798" y="5484571"/>
            <a:ext cx="13981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팩트체크 리스트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73798" y="5751576"/>
            <a:ext cx="14968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Fact-Check Protocol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10906049" y="5637276"/>
            <a:ext cx="114300" cy="152705"/>
          </a:xfrm>
          <a:prstGeom prst="rect">
            <a:avLst/>
          </a:prstGeom>
        </p:spPr>
      </p:pic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4716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08: CONTENT ETHICS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02970" y="741147"/>
            <a:ext cx="504291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혐오표현과 차별 예방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32065" y="1469440"/>
            <a:ext cx="3047695" cy="2276857"/>
          </a:xfrm>
          <a:prstGeom prst="roundRect">
            <a:avLst>
              <a:gd name="adj" fmla="val 2633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89365" y="1730959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03058" y="2741371"/>
            <a:ext cx="2628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"혐오 표현(Hate Speech)은 플랫폼이 가장 강력하게 규제하는 영역입니다."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폭력을</a:t>
            </a: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조장하거나 증오를 </a:t>
            </a:r>
            <a:r>
              <a:rPr lang="en-US" sz="1100" dirty="0" err="1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선동하는</a:t>
            </a: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콘텐츠는</a:t>
            </a: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즉시 삭제됩니다.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065" y="3902203"/>
            <a:ext cx="3047695" cy="2467051"/>
          </a:xfrm>
          <a:prstGeom prst="roundRect">
            <a:avLst>
              <a:gd name="adj" fmla="val 229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70723" y="4492905"/>
            <a:ext cx="2572207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1285023" y="4585260"/>
            <a:ext cx="190195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70723" y="4926331"/>
            <a:ext cx="2572207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1285023" y="5018685"/>
            <a:ext cx="190195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170723" y="5358842"/>
            <a:ext cx="2572207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1285023" y="5452111"/>
            <a:ext cx="190195" cy="1527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70723" y="5792268"/>
            <a:ext cx="2572207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1285023" y="5885537"/>
            <a:ext cx="190195" cy="15270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399376" y="1435152"/>
            <a:ext cx="6984229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4637120" y="1673810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/>
          <p:cNvSpPr txBox="1"/>
          <p:nvPr/>
        </p:nvSpPr>
        <p:spPr>
          <a:xfrm>
            <a:off x="4734046" y="1735075"/>
            <a:ext cx="2670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208620" y="1673810"/>
            <a:ext cx="6696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차별·낙인 표현 리스트업 </a:t>
            </a:r>
            <a:r>
              <a:rPr lang="en-US" sz="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208620" y="2006652"/>
            <a:ext cx="60952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집단에 대한 고정관념이나 비하 발언이 스크립트에 포함되지 않았는지 </a:t>
            </a: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점검하세요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'농담'이나 '유행어'라도 차별적 어원이 있다면 사용을 피해야 합니다.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399376" y="2892705"/>
            <a:ext cx="6984229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8"/>
          <p:cNvSpPr/>
          <p:nvPr/>
        </p:nvSpPr>
        <p:spPr>
          <a:xfrm>
            <a:off x="4637120" y="3130449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 txBox="1"/>
          <p:nvPr/>
        </p:nvSpPr>
        <p:spPr>
          <a:xfrm>
            <a:off x="4720330" y="3192629"/>
            <a:ext cx="2953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208620" y="3130449"/>
            <a:ext cx="6696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문맥과 풍자의 주의점 </a:t>
            </a:r>
            <a:r>
              <a:rPr lang="en-US" sz="8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208621" y="3464205"/>
            <a:ext cx="6028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교육적 목적이나 다큐멘터리, 풍자 콘텐츠라 하더라도 그 의도가 시청자에게 명확하지 </a:t>
            </a: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않다면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제재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대상이 될 수 있습니다. </a:t>
            </a: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충분한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맥락 설명과 경고 문구가 필요합니다.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399376" y="4350259"/>
            <a:ext cx="6984229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4637120" y="4588003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4722159" y="4650182"/>
            <a:ext cx="2953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5208620" y="4588003"/>
            <a:ext cx="6696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괴롭힘 및 사이버 폭력 방지 </a:t>
            </a:r>
            <a:r>
              <a:rPr lang="en-US" sz="8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208620" y="4921759"/>
            <a:ext cx="60952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개인을 표적으로 삼아 모욕하거나, 신상 정보를 공개하는 행위(Doxing),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악의적인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딥페이크 합성은 커뮤니티 가이드라인 위반입니다.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415278" y="5719142"/>
            <a:ext cx="6984229" cy="685800"/>
          </a:xfrm>
          <a:prstGeom prst="roundRect">
            <a:avLst>
              <a:gd name="adj" fmla="val 29630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19773" y="5966030"/>
            <a:ext cx="190195" cy="190195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7720413" y="5909337"/>
            <a:ext cx="1266444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9074640" y="5909337"/>
            <a:ext cx="895198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0"/>
          <p:cNvSpPr/>
          <p:nvPr/>
        </p:nvSpPr>
        <p:spPr>
          <a:xfrm>
            <a:off x="10057620" y="5909337"/>
            <a:ext cx="981151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1"/>
          <p:cNvSpPr txBox="1"/>
          <p:nvPr/>
        </p:nvSpPr>
        <p:spPr>
          <a:xfrm>
            <a:off x="1540141" y="2350008"/>
            <a:ext cx="17629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ZERO TOLERANCE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1170723" y="4150005"/>
            <a:ext cx="238018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4B556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PROTECTED GROUPS (보호 대상)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1589519" y="4568801"/>
            <a:ext cx="1111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인종, 민족, 국적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589519" y="5002226"/>
            <a:ext cx="1111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종교, 장애, 질병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1589519" y="5435652"/>
            <a:ext cx="1454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성별, 성적 지향, 나이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1589519" y="5869077"/>
            <a:ext cx="1638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참전 용사 및 사회적 약자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5025183" y="5947742"/>
            <a:ext cx="1270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Safety Policies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7843857" y="5976089"/>
            <a:ext cx="121340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Hate Speech Policy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9198998" y="5976089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Harassment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10181064" y="5976089"/>
            <a:ext cx="8732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Cyberbullying</a:t>
            </a:r>
            <a:endParaRPr lang="en-US" sz="9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4716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08: CONTENT ETHICS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43407"/>
            <a:ext cx="623346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개인정보·초상권·촬영 동의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09905" y="1584655"/>
            <a:ext cx="3047695" cy="2800807"/>
          </a:xfrm>
          <a:prstGeom prst="roundRect">
            <a:avLst>
              <a:gd name="adj" fmla="val 2221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48002" y="1909267"/>
            <a:ext cx="5715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40510" y="2528316"/>
            <a:ext cx="15928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1B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PRIVACY ALERT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9302" y="2918765"/>
            <a:ext cx="2628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"초상권 침해는 법적 </a:t>
            </a:r>
            <a:r>
              <a:rPr lang="en-US" sz="1100" dirty="0" err="1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분쟁의</a:t>
            </a: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원인입니다."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동의 없는 촬영은 민형사상 </a:t>
            </a:r>
            <a:r>
              <a:rPr lang="en-US" sz="1100" dirty="0" err="1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책임을</a:t>
            </a: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 수 있으며 신뢰를 잃게 합니다. 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8134" y="4461358"/>
            <a:ext cx="3047695" cy="2190902"/>
          </a:xfrm>
          <a:prstGeom prst="roundRect">
            <a:avLst>
              <a:gd name="adj" fmla="val 290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55878" y="5051146"/>
            <a:ext cx="2572207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6489" r="-16489"/>
          <a:stretch/>
        </p:blipFill>
        <p:spPr>
          <a:xfrm>
            <a:off x="951890" y="5153558"/>
            <a:ext cx="228600" cy="1719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55878" y="5542178"/>
            <a:ext cx="2572207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25988" r="-25988"/>
          <a:stretch/>
        </p:blipFill>
        <p:spPr>
          <a:xfrm>
            <a:off x="951890" y="5644591"/>
            <a:ext cx="228600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55878" y="6032297"/>
            <a:ext cx="2572207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16489" r="-16489"/>
          <a:stretch/>
        </p:blipFill>
        <p:spPr>
          <a:xfrm>
            <a:off x="951890" y="6134710"/>
            <a:ext cx="228600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5878" y="4708246"/>
            <a:ext cx="18123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4B556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PROTECTION CHECKLIST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94790" y="5147158"/>
            <a:ext cx="13149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동의 (Consent)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294790" y="5637276"/>
            <a:ext cx="1257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비식별화 (모자이크)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294790" y="6128309"/>
            <a:ext cx="11786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민감정보 노출 금지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962095" y="1584655"/>
            <a:ext cx="7619695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4200754" y="1823314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296766" y="1885493"/>
            <a:ext cx="2670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772254" y="1823314"/>
            <a:ext cx="6687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촬영 시 고지 및 동의 절차 </a:t>
            </a:r>
            <a:r>
              <a:rPr lang="en-US" sz="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MANDATORY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4772254" y="2156155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야외 촬영 시 '촬영 중' 안내판을 설치하여 행인들에게 알리고,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인터뷰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대상자에게는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서면 동의서(Model Release)를 받아야 합니다.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배경에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찍힌 타인은 반드시 모자이크 처리하세요.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962095" y="3042209"/>
            <a:ext cx="7619695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200754" y="3280867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4283050" y="3342132"/>
            <a:ext cx="2953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772254" y="3280867"/>
            <a:ext cx="6762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미성년자·민감정보 추가 보호 </a:t>
            </a:r>
            <a:r>
              <a:rPr lang="en-US" sz="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STRICT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4772254" y="3613709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14세 미만 아동의 개인정보를 처리하려면 법정대리인의 동의를 받아야 합니다(개인정보 보호법 제22조의2).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또한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주소, 전화번호, 자동차 번호판 등 개인 식별 정보(PII)는 영상에서 절대 노출되지 않도록 하세요.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962095" y="4499762"/>
            <a:ext cx="7619695" cy="1266444"/>
          </a:xfrm>
          <a:prstGeom prst="roundRect">
            <a:avLst>
              <a:gd name="adj" fmla="val 868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4200754" y="473750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4284878" y="4799686"/>
            <a:ext cx="2953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4772254" y="4737506"/>
            <a:ext cx="6762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 시 법적·평판 리스크 </a:t>
            </a:r>
            <a:r>
              <a:rPr lang="en-US" sz="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4772254" y="5071262"/>
            <a:ext cx="664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초상권 침해는 영상 삭제 및 손해배상 청구로 이어질 수 있습니다.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</a:t>
            </a: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제재보다 더 무서운 것은 크리에이터로서의 윤리적 평판 하락입니다.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3962095" y="5875934"/>
            <a:ext cx="7619695" cy="685800"/>
          </a:xfrm>
          <a:prstGeom prst="roundRect">
            <a:avLst>
              <a:gd name="adj" fmla="val 29630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67505" y="6123737"/>
            <a:ext cx="142646" cy="19019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7966253" y="6067044"/>
            <a:ext cx="847649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8903513" y="6067044"/>
            <a:ext cx="1190549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10183673" y="6067044"/>
            <a:ext cx="1095451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 txBox="1"/>
          <p:nvPr/>
        </p:nvSpPr>
        <p:spPr>
          <a:xfrm>
            <a:off x="4524451" y="6104534"/>
            <a:ext cx="13834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Essential Forms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8090611" y="6133795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출연 동의서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9027871" y="6133795"/>
            <a:ext cx="10222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법정대리인 동의서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0308031" y="6133795"/>
            <a:ext cx="9738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5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장소 섭외 요청서</a:t>
            </a:r>
            <a:endParaRPr lang="en-US" sz="900" dirty="0"/>
          </a:p>
        </p:txBody>
      </p:sp>
      <p:sp>
        <p:nvSpPr>
          <p:cNvPr id="46" name="S3 각주"/>
          <p:cNvSpPr txBox="1"/>
          <p:nvPr/>
        </p:nvSpPr>
        <p:spPr>
          <a:xfrm>
            <a:off x="500000" y="6560000"/>
            <a:ext cx="112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sz="900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개인정보 보호법 제22조의2(아동의 개인정보 보호) — 국가법령정보센터 law.go.kr</a:t>
            </a:r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791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09: DESIGN GUIDELINES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89794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</a:t>
            </a: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브랜드 아이덴티티</a:t>
            </a:r>
            <a:endParaRPr lang="en-US" sz="36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E58BE4-D85F-114F-A972-F1B29F80CAB0}"/>
              </a:ext>
            </a:extLst>
          </p:cNvPr>
          <p:cNvGrpSpPr/>
          <p:nvPr/>
        </p:nvGrpSpPr>
        <p:grpSpPr>
          <a:xfrm>
            <a:off x="609905" y="1577340"/>
            <a:ext cx="5772607" cy="4762194"/>
            <a:chOff x="609905" y="1577340"/>
            <a:chExt cx="5772607" cy="4059936"/>
          </a:xfrm>
        </p:grpSpPr>
        <p:sp>
          <p:nvSpPr>
            <p:cNvPr id="7" name="Shape 5"/>
            <p:cNvSpPr/>
            <p:nvPr/>
          </p:nvSpPr>
          <p:spPr>
            <a:xfrm>
              <a:off x="609905" y="1577340"/>
              <a:ext cx="5581498" cy="1285646"/>
            </a:xfrm>
            <a:prstGeom prst="roundRect">
              <a:avLst>
                <a:gd name="adj" fmla="val 6322"/>
              </a:avLst>
            </a:prstGeom>
            <a:solidFill>
              <a:srgbClr val="FFF9F5"/>
            </a:solidFill>
            <a:ln/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1577340"/>
              <a:ext cx="38405" cy="1285646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143000" y="1805940"/>
              <a:ext cx="5009998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 브랜드 일관성의 힘</a:t>
              </a:r>
              <a:endParaRPr lang="en-US" sz="1300" dirty="0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 t="-842" b="-842"/>
            <a:stretch/>
          </p:blipFill>
          <p:spPr>
            <a:xfrm>
              <a:off x="875995" y="1848917"/>
              <a:ext cx="190195" cy="171907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875995" y="2139696"/>
              <a:ext cx="5162702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로고, 컬러, 타이포그래피는 브랜드의 첫인상을 결정짓는 시각적 언어입니다.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일관된</a:t>
              </a:r>
              <a:r>
                <a:rPr lang="en-US" sz="12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규칙을 적용하여 콘텐츠의 신뢰도와 전문성을 높여야 합니다.</a:t>
              </a:r>
              <a:endParaRPr lang="en-US" sz="1200" dirty="0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9905" y="3255264"/>
              <a:ext cx="152705" cy="152705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875995" y="3160166"/>
              <a:ext cx="542970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컬러 팔레트 (Color Palette)</a:t>
              </a:r>
              <a:endParaRPr lang="en-US" sz="1300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875995" y="3455518"/>
              <a:ext cx="53913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주색상(#FF6908)은 강조 포인트에 10-20% 비율로 제한하고,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배경은</a:t>
              </a: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화이트, 텍스트는 블랙/다크 그레이를 사용하여 가독성을 최우선으로 합니다.</a:t>
              </a:r>
              <a:endParaRPr lang="en-US" sz="1100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5"/>
            <a:srcRect t="-43" b="-43"/>
            <a:stretch/>
          </p:blipFill>
          <p:spPr>
            <a:xfrm>
              <a:off x="609905" y="4132174"/>
              <a:ext cx="133502" cy="15270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857707" y="4036162"/>
              <a:ext cx="544891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타이포그래피 (Typography)</a:t>
              </a:r>
              <a:endParaRPr lang="en-US" sz="13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857707" y="4331513"/>
              <a:ext cx="5410505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헤드라인은 주목도 높은 고딕 계열(Pretendard 등)을,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본문은</a:t>
              </a: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가독성이 뛰어난 서체(Noto Sans KR)를 사용하여 정보 위계를 명확히 구분합니다.</a:t>
              </a:r>
              <a:endParaRPr lang="en-US" sz="110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6"/>
            <a:srcRect t="-43" b="-43"/>
            <a:stretch/>
          </p:blipFill>
          <p:spPr>
            <a:xfrm>
              <a:off x="609905" y="5008169"/>
              <a:ext cx="133502" cy="152705"/>
            </a:xfrm>
            <a:prstGeom prst="rect">
              <a:avLst/>
            </a:prstGeom>
          </p:spPr>
        </p:pic>
        <p:sp>
          <p:nvSpPr>
            <p:cNvPr id="19" name="Text 13"/>
            <p:cNvSpPr txBox="1"/>
            <p:nvPr/>
          </p:nvSpPr>
          <p:spPr>
            <a:xfrm>
              <a:off x="857707" y="4913071"/>
              <a:ext cx="5524805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로고 및 레이아웃 원칙</a:t>
              </a:r>
              <a:endParaRPr lang="en-US" sz="13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857707" y="5208422"/>
              <a:ext cx="5410505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로고 주변에 충분한 안전 영역(Safe Zone)을 확보하고,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그리드</a:t>
              </a: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시스템을 활용하여 모든 시각 요소가 정돈된 느낌을 주도록 배치합니다.</a:t>
              </a:r>
              <a:endParaRPr lang="en-US" sz="1100" dirty="0"/>
            </a:p>
          </p:txBody>
        </p:sp>
      </p:grp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11465" b="11465"/>
          <a:stretch/>
        </p:blipFill>
        <p:spPr>
          <a:xfrm>
            <a:off x="6644945" y="1607515"/>
            <a:ext cx="4943246" cy="476219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73545" y="4865522"/>
            <a:ext cx="4486046" cy="1276502"/>
          </a:xfrm>
          <a:prstGeom prst="roundRect">
            <a:avLst>
              <a:gd name="adj" fmla="val 855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7073798" y="5084064"/>
            <a:ext cx="1123798" cy="247802"/>
          </a:xfrm>
          <a:prstGeom prst="roundRect">
            <a:avLst>
              <a:gd name="adj" fmla="val 283849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7188098" y="5122469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SYSTEM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073798" y="5484571"/>
            <a:ext cx="18781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스타일 가이드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073798" y="5751576"/>
            <a:ext cx="20071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 Style Guide &amp; Assets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886846" y="5637276"/>
            <a:ext cx="152705" cy="152705"/>
          </a:xfrm>
          <a:prstGeom prst="rect">
            <a:avLst/>
          </a:prstGeom>
        </p:spPr>
      </p:pic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2791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09: DESIGN GUIDELINES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33349"/>
            <a:ext cx="89794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시스템 사례와 템플릿 활용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3281782" y="1881835"/>
            <a:ext cx="58155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369003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972300" y="1881835"/>
            <a:ext cx="6483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128102" y="1730045"/>
            <a:ext cx="3457346" cy="4677156"/>
          </a:xfrm>
          <a:prstGeom prst="roundRect">
            <a:avLst>
              <a:gd name="adj" fmla="val 1749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737799" y="1881835"/>
            <a:ext cx="63825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880006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86054" y="3834994"/>
            <a:ext cx="2905963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 어디서나 동일한 브랜드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경험을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제공하기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위해 엄격한 비주얼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가이드라인을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적용합니다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썸네일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아트워크의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규격화와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배치가 핵심입니다.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3544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1297534" y="5300777"/>
            <a:ext cx="105156" cy="1143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97534" y="5257800"/>
            <a:ext cx="2267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단일 브랜드 보이스 (One Voice)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1225296" y="5576926"/>
            <a:ext cx="105156" cy="1143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15238" y="5533949"/>
            <a:ext cx="243047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엄격한 로고 세이프존 (Safe Zone)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1228954" y="5853074"/>
            <a:ext cx="105156" cy="1143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16152" y="5810098"/>
            <a:ext cx="24259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글로벌 폰트 시스템 (Netflix Sans)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247242" y="3339389"/>
            <a:ext cx="218815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넷플릭스 (Netflix)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5639105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l="-251" r="-251"/>
          <a:stretch/>
        </p:blipFill>
        <p:spPr>
          <a:xfrm>
            <a:off x="5910682" y="2386584"/>
            <a:ext cx="371246" cy="3813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645152" y="3834994"/>
            <a:ext cx="2905963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장르와 무드를 표현하기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위해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다채로운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컬러와 듀오톤 이미지를 활용합니다.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브랜드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속에서도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창의적인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유연성을 허용합니다.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683557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63363" y="5300777"/>
            <a:ext cx="114300" cy="1143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956048" y="5257800"/>
            <a:ext cx="24716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대담한 컬러 대비 (Color Contrast)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93208" y="5576926"/>
            <a:ext cx="114300" cy="1143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131613" y="5533949"/>
            <a:ext cx="212323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듀오톤 이미지 처리 (Duotone)</a:t>
            </a:r>
            <a:endParaRPr lang="en-US" sz="11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63947" y="5853074"/>
            <a:ext cx="114300" cy="1143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105095" y="5810098"/>
            <a:ext cx="2175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역동적인 도형 그래픽 (Shapes)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4848149" y="3339389"/>
            <a:ext cx="25054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스포티파이 (Spotify)</a:t>
            </a:r>
            <a:endParaRPr lang="en-US" sz="1800" dirty="0"/>
          </a:p>
        </p:txBody>
      </p:sp>
      <p:sp>
        <p:nvSpPr>
          <p:cNvPr id="34" name="Shape 25"/>
          <p:cNvSpPr/>
          <p:nvPr/>
        </p:nvSpPr>
        <p:spPr>
          <a:xfrm>
            <a:off x="9398203" y="2120494"/>
            <a:ext cx="914400" cy="9144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 t="-13" b="-13"/>
          <a:stretch/>
        </p:blipFill>
        <p:spPr>
          <a:xfrm>
            <a:off x="9640519" y="2386584"/>
            <a:ext cx="428854" cy="38130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04250" y="3834994"/>
            <a:ext cx="2905963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시간을 단축하고 브랜드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통일성을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유지하기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위해 모듈화된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시스템을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구축합니다.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요소를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자산화하여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효율을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극대화합니다.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8442655" y="5057546"/>
            <a:ext cx="2829154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755380" y="5300777"/>
            <a:ext cx="114300" cy="1143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755380" y="5257800"/>
            <a:ext cx="23920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마스터 레이아웃 (Master Layout)</a:t>
            </a:r>
            <a:endParaRPr lang="en-US" sz="11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8727948" y="5576926"/>
            <a:ext cx="105156" cy="1143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711489" y="5533949"/>
            <a:ext cx="24716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타이포그래피 스타일 (Text Styles)</a:t>
            </a:r>
            <a:endParaRPr lang="en-US" sz="11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974836" y="5853074"/>
            <a:ext cx="114300" cy="1143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9015984" y="5810098"/>
            <a:ext cx="18708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공통 그래픽 에셋 (Assets)</a:t>
            </a:r>
            <a:endParaRPr lang="en-US" sz="1100" dirty="0"/>
          </a:p>
        </p:txBody>
      </p:sp>
      <p:sp>
        <p:nvSpPr>
          <p:cNvPr id="44" name="Text 31"/>
          <p:cNvSpPr txBox="1"/>
          <p:nvPr/>
        </p:nvSpPr>
        <p:spPr>
          <a:xfrm>
            <a:off x="8738006" y="3339389"/>
            <a:ext cx="224393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시스템 구축</a:t>
            </a:r>
            <a:endParaRPr lang="en-US" sz="1800" dirty="0"/>
          </a:p>
        </p:txBody>
      </p:sp>
      <p:pic>
        <p:nvPicPr>
          <p:cNvPr id="45" name="Image 7" descr="preencoded.png">
            <a:extLst>
              <a:ext uri="{FF2B5EF4-FFF2-40B4-BE49-F238E27FC236}">
                <a16:creationId xmlns:a16="http://schemas.microsoft.com/office/drawing/2014/main" id="{C239A0B0-B048-C729-19DF-F86AF68038F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3" b="-13"/>
          <a:stretch/>
        </p:blipFill>
        <p:spPr>
          <a:xfrm>
            <a:off x="2134209" y="2386583"/>
            <a:ext cx="428854" cy="381305"/>
          </a:xfrm>
          <a:prstGeom prst="rect">
            <a:avLst/>
          </a:prstGeom>
        </p:spPr>
      </p:pic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457200"/>
            <a:ext cx="228600" cy="28346"/>
          </a:xfrm>
          <a:prstGeom prst="rect">
            <a:avLst/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52805" y="457200"/>
            <a:ext cx="18233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CHECK &amp; Q&amp;A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69341" y="716453"/>
            <a:ext cx="566849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</a:t>
            </a: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체크리스트·Q&amp;A·리소스</a:t>
            </a:r>
            <a:endParaRPr lang="en-US" sz="3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673" y="1624140"/>
            <a:ext cx="171907" cy="1719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6086" y="2006815"/>
            <a:ext cx="6362395" cy="2348638"/>
          </a:xfrm>
          <a:prstGeom prst="roundRect">
            <a:avLst>
              <a:gd name="adj" fmla="val 216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669341" y="4715033"/>
            <a:ext cx="219456" cy="171907"/>
          </a:xfrm>
          <a:prstGeom prst="rect">
            <a:avLst/>
          </a:prstGeom>
        </p:spPr>
      </p:pic>
      <p:grpSp>
        <p:nvGrpSpPr>
          <p:cNvPr id="75" name="그룹 74">
            <a:extLst>
              <a:ext uri="{FF2B5EF4-FFF2-40B4-BE49-F238E27FC236}">
                <a16:creationId xmlns:a16="http://schemas.microsoft.com/office/drawing/2014/main" id="{A3E6E576-D780-4C32-F90C-F3E81F315E0E}"/>
              </a:ext>
            </a:extLst>
          </p:cNvPr>
          <p:cNvGrpSpPr/>
          <p:nvPr/>
        </p:nvGrpSpPr>
        <p:grpSpPr>
          <a:xfrm>
            <a:off x="666598" y="4983576"/>
            <a:ext cx="6358737" cy="714146"/>
            <a:chOff x="669341" y="5063033"/>
            <a:chExt cx="6358737" cy="714146"/>
          </a:xfrm>
        </p:grpSpPr>
        <p:sp>
          <p:nvSpPr>
            <p:cNvPr id="22" name="Shape 14"/>
            <p:cNvSpPr/>
            <p:nvPr/>
          </p:nvSpPr>
          <p:spPr>
            <a:xfrm>
              <a:off x="669341" y="5063033"/>
              <a:ext cx="3105302" cy="714146"/>
            </a:xfrm>
            <a:prstGeom prst="roundRect">
              <a:avLst>
                <a:gd name="adj" fmla="val 27315"/>
              </a:avLst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5"/>
            <p:cNvSpPr/>
            <p:nvPr/>
          </p:nvSpPr>
          <p:spPr>
            <a:xfrm>
              <a:off x="831190" y="5230368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6" descr="preencoded.png"/>
            <p:cNvPicPr>
              <a:picLocks noChangeAspect="1"/>
            </p:cNvPicPr>
            <p:nvPr/>
          </p:nvPicPr>
          <p:blipFill>
            <a:blip r:embed="rId5"/>
            <a:srcRect t="-842" b="-842"/>
            <a:stretch/>
          </p:blipFill>
          <p:spPr>
            <a:xfrm>
              <a:off x="926287" y="5334610"/>
              <a:ext cx="190195" cy="171907"/>
            </a:xfrm>
            <a:prstGeom prst="rect">
              <a:avLst/>
            </a:prstGeom>
          </p:spPr>
        </p:pic>
        <p:sp>
          <p:nvSpPr>
            <p:cNvPr id="25" name="Text 16"/>
            <p:cNvSpPr txBox="1"/>
            <p:nvPr/>
          </p:nvSpPr>
          <p:spPr>
            <a:xfrm>
              <a:off x="1325880" y="5224882"/>
              <a:ext cx="171175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11111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YouTube Audio Library</a:t>
              </a:r>
              <a:endParaRPr lang="en-US" sz="1000" dirty="0"/>
            </a:p>
          </p:txBody>
        </p:sp>
        <p:sp>
          <p:nvSpPr>
            <p:cNvPr id="26" name="Text 17"/>
            <p:cNvSpPr txBox="1"/>
            <p:nvPr/>
          </p:nvSpPr>
          <p:spPr>
            <a:xfrm>
              <a:off x="1325880" y="5444338"/>
              <a:ext cx="1596542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저작권 걱정 없는 무료 음원</a:t>
              </a:r>
              <a:endParaRPr lang="en-US" sz="900" dirty="0"/>
            </a:p>
          </p:txBody>
        </p:sp>
        <p:sp>
          <p:nvSpPr>
            <p:cNvPr id="27" name="Shape 18"/>
            <p:cNvSpPr/>
            <p:nvPr/>
          </p:nvSpPr>
          <p:spPr>
            <a:xfrm>
              <a:off x="3922776" y="5063033"/>
              <a:ext cx="3105302" cy="714146"/>
            </a:xfrm>
            <a:prstGeom prst="roundRect">
              <a:avLst>
                <a:gd name="adj" fmla="val 27315"/>
              </a:avLst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19"/>
            <p:cNvSpPr/>
            <p:nvPr/>
          </p:nvSpPr>
          <p:spPr>
            <a:xfrm>
              <a:off x="4084625" y="5230368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9" name="Image 7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4189781" y="5334610"/>
              <a:ext cx="171907" cy="171907"/>
            </a:xfrm>
            <a:prstGeom prst="rect">
              <a:avLst/>
            </a:prstGeom>
          </p:spPr>
        </p:pic>
        <p:sp>
          <p:nvSpPr>
            <p:cNvPr id="30" name="Text 20"/>
            <p:cNvSpPr txBox="1"/>
            <p:nvPr/>
          </p:nvSpPr>
          <p:spPr>
            <a:xfrm>
              <a:off x="4580230" y="5224882"/>
              <a:ext cx="146761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11111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Google Trends</a:t>
              </a:r>
              <a:endParaRPr lang="en-US" sz="1000" dirty="0"/>
            </a:p>
          </p:txBody>
        </p:sp>
        <p:sp>
          <p:nvSpPr>
            <p:cNvPr id="31" name="Text 21"/>
            <p:cNvSpPr txBox="1"/>
            <p:nvPr/>
          </p:nvSpPr>
          <p:spPr>
            <a:xfrm>
              <a:off x="4580230" y="5444338"/>
              <a:ext cx="170261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실시간 검색어 및 트렌드 분석</a:t>
              </a:r>
              <a:endParaRPr lang="en-US" sz="900" dirty="0"/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5AD818D-E3EC-D42B-7367-52C442F0E1F9}"/>
              </a:ext>
            </a:extLst>
          </p:cNvPr>
          <p:cNvGrpSpPr/>
          <p:nvPr/>
        </p:nvGrpSpPr>
        <p:grpSpPr>
          <a:xfrm>
            <a:off x="659744" y="5871987"/>
            <a:ext cx="6358737" cy="714146"/>
            <a:chOff x="669341" y="5929884"/>
            <a:chExt cx="6358737" cy="714146"/>
          </a:xfrm>
        </p:grpSpPr>
        <p:sp>
          <p:nvSpPr>
            <p:cNvPr id="32" name="Shape 22"/>
            <p:cNvSpPr/>
            <p:nvPr/>
          </p:nvSpPr>
          <p:spPr>
            <a:xfrm>
              <a:off x="669341" y="5929884"/>
              <a:ext cx="3105302" cy="714146"/>
            </a:xfrm>
            <a:prstGeom prst="roundRect">
              <a:avLst>
                <a:gd name="adj" fmla="val 27315"/>
              </a:avLst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23"/>
            <p:cNvSpPr/>
            <p:nvPr/>
          </p:nvSpPr>
          <p:spPr>
            <a:xfrm>
              <a:off x="831190" y="6096305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4" name="Image 8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935431" y="6201461"/>
              <a:ext cx="171907" cy="171907"/>
            </a:xfrm>
            <a:prstGeom prst="rect">
              <a:avLst/>
            </a:prstGeom>
          </p:spPr>
        </p:pic>
        <p:sp>
          <p:nvSpPr>
            <p:cNvPr id="35" name="Text 24"/>
            <p:cNvSpPr txBox="1"/>
            <p:nvPr/>
          </p:nvSpPr>
          <p:spPr>
            <a:xfrm>
              <a:off x="1325880" y="6091733"/>
              <a:ext cx="153070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11111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Canva / Miricanvas</a:t>
              </a:r>
              <a:endParaRPr lang="en-US" sz="1000" dirty="0"/>
            </a:p>
          </p:txBody>
        </p:sp>
        <p:sp>
          <p:nvSpPr>
            <p:cNvPr id="36" name="Text 25"/>
            <p:cNvSpPr txBox="1"/>
            <p:nvPr/>
          </p:nvSpPr>
          <p:spPr>
            <a:xfrm>
              <a:off x="1325880" y="6311189"/>
              <a:ext cx="1584655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썸네일 및 채널 아트 디자인</a:t>
              </a:r>
              <a:endParaRPr lang="en-US" sz="900" dirty="0"/>
            </a:p>
          </p:txBody>
        </p:sp>
        <p:sp>
          <p:nvSpPr>
            <p:cNvPr id="37" name="Shape 26"/>
            <p:cNvSpPr/>
            <p:nvPr/>
          </p:nvSpPr>
          <p:spPr>
            <a:xfrm>
              <a:off x="3922776" y="5929884"/>
              <a:ext cx="3105302" cy="714146"/>
            </a:xfrm>
            <a:prstGeom prst="roundRect">
              <a:avLst>
                <a:gd name="adj" fmla="val 27315"/>
              </a:avLst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27"/>
            <p:cNvSpPr/>
            <p:nvPr/>
          </p:nvSpPr>
          <p:spPr>
            <a:xfrm>
              <a:off x="4084625" y="6096305"/>
              <a:ext cx="381305" cy="381305"/>
            </a:xfrm>
            <a:prstGeom prst="roundRect">
              <a:avLst>
                <a:gd name="adj" fmla="val 59952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9" name="Image 9" descr="preencoded.png"/>
            <p:cNvPicPr>
              <a:picLocks noChangeAspect="1"/>
            </p:cNvPicPr>
            <p:nvPr/>
          </p:nvPicPr>
          <p:blipFill>
            <a:blip r:embed="rId8"/>
            <a:srcRect l="-1064" r="-1064"/>
            <a:stretch/>
          </p:blipFill>
          <p:spPr>
            <a:xfrm>
              <a:off x="4166006" y="6201461"/>
              <a:ext cx="219456" cy="171907"/>
            </a:xfrm>
            <a:prstGeom prst="rect">
              <a:avLst/>
            </a:prstGeom>
          </p:spPr>
        </p:pic>
        <p:sp>
          <p:nvSpPr>
            <p:cNvPr id="40" name="Text 28"/>
            <p:cNvSpPr txBox="1"/>
            <p:nvPr/>
          </p:nvSpPr>
          <p:spPr>
            <a:xfrm>
              <a:off x="4580230" y="6091733"/>
              <a:ext cx="127558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11111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한국저작권위원회</a:t>
              </a:r>
              <a:endParaRPr lang="en-US" sz="1000" dirty="0"/>
            </a:p>
          </p:txBody>
        </p:sp>
        <p:sp>
          <p:nvSpPr>
            <p:cNvPr id="41" name="Text 29"/>
            <p:cNvSpPr txBox="1"/>
            <p:nvPr/>
          </p:nvSpPr>
          <p:spPr>
            <a:xfrm>
              <a:off x="4580230" y="6311189"/>
              <a:ext cx="146669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저작권 상담 및 등록 지원</a:t>
              </a:r>
              <a:endParaRPr lang="en-US" sz="900" dirty="0"/>
            </a:p>
          </p:txBody>
        </p:sp>
      </p:grpSp>
      <p:sp>
        <p:nvSpPr>
          <p:cNvPr id="42" name="Text 30"/>
          <p:cNvSpPr txBox="1"/>
          <p:nvPr/>
        </p:nvSpPr>
        <p:spPr>
          <a:xfrm>
            <a:off x="1055183" y="1591221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GATEWAY CHECKLIST</a:t>
            </a:r>
            <a:endParaRPr lang="en-US" sz="1300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552B532-2E06-7A4F-EEB5-2D8C5498AE41}"/>
              </a:ext>
            </a:extLst>
          </p:cNvPr>
          <p:cNvGrpSpPr/>
          <p:nvPr/>
        </p:nvGrpSpPr>
        <p:grpSpPr>
          <a:xfrm>
            <a:off x="942113" y="2192668"/>
            <a:ext cx="5886907" cy="476402"/>
            <a:chOff x="907085" y="1825142"/>
            <a:chExt cx="5886907" cy="476402"/>
          </a:xfrm>
        </p:grpSpPr>
        <p:sp>
          <p:nvSpPr>
            <p:cNvPr id="9" name="Shape 6"/>
            <p:cNvSpPr/>
            <p:nvPr/>
          </p:nvSpPr>
          <p:spPr>
            <a:xfrm>
              <a:off x="907085" y="1825142"/>
              <a:ext cx="5886907" cy="476402"/>
            </a:xfrm>
            <a:prstGeom prst="roundRect">
              <a:avLst>
                <a:gd name="adj" fmla="val 46065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1068934" y="1948586"/>
              <a:ext cx="228600" cy="228600"/>
            </a:xfrm>
            <a:prstGeom prst="ellipse">
              <a:avLst/>
            </a:prstGeom>
            <a:solidFill>
              <a:srgbClr val="FFF3EB"/>
            </a:solidFill>
            <a:ln w="25400">
              <a:solidFill>
                <a:srgbClr val="FF690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1131113" y="2005279"/>
              <a:ext cx="105156" cy="114300"/>
            </a:xfrm>
            <a:prstGeom prst="rect">
              <a:avLst/>
            </a:prstGeom>
          </p:spPr>
        </p:pic>
        <p:sp>
          <p:nvSpPr>
            <p:cNvPr id="43" name="Text 31"/>
            <p:cNvSpPr txBox="1"/>
            <p:nvPr/>
          </p:nvSpPr>
          <p:spPr>
            <a:xfrm>
              <a:off x="1450238" y="1976933"/>
              <a:ext cx="3813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PLAN</a:t>
              </a:r>
              <a:endParaRPr lang="en-US" sz="900" dirty="0"/>
            </a:p>
          </p:txBody>
        </p:sp>
        <p:sp>
          <p:nvSpPr>
            <p:cNvPr id="44" name="Text 32"/>
            <p:cNvSpPr txBox="1"/>
            <p:nvPr/>
          </p:nvSpPr>
          <p:spPr>
            <a:xfrm>
              <a:off x="2097634" y="1955902"/>
              <a:ext cx="358536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타겟 오디언스의 니즈와 영상의 목적이 일치하는가?</a:t>
              </a:r>
              <a:endParaRPr lang="en-US" sz="1100" dirty="0"/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10517151-3994-6B86-5E7A-0EC42BCB8FCA}"/>
              </a:ext>
            </a:extLst>
          </p:cNvPr>
          <p:cNvGrpSpPr/>
          <p:nvPr/>
        </p:nvGrpSpPr>
        <p:grpSpPr>
          <a:xfrm>
            <a:off x="922911" y="2728963"/>
            <a:ext cx="5886907" cy="476402"/>
            <a:chOff x="907085" y="2453335"/>
            <a:chExt cx="5886907" cy="476402"/>
          </a:xfrm>
        </p:grpSpPr>
        <p:sp>
          <p:nvSpPr>
            <p:cNvPr id="12" name="Shape 8"/>
            <p:cNvSpPr/>
            <p:nvPr/>
          </p:nvSpPr>
          <p:spPr>
            <a:xfrm>
              <a:off x="907085" y="2453335"/>
              <a:ext cx="5886907" cy="476402"/>
            </a:xfrm>
            <a:prstGeom prst="roundRect">
              <a:avLst>
                <a:gd name="adj" fmla="val 46065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9"/>
            <p:cNvSpPr/>
            <p:nvPr/>
          </p:nvSpPr>
          <p:spPr>
            <a:xfrm>
              <a:off x="1068934" y="2576779"/>
              <a:ext cx="228600" cy="228600"/>
            </a:xfrm>
            <a:prstGeom prst="ellipse">
              <a:avLst/>
            </a:prstGeom>
            <a:solidFill>
              <a:srgbClr val="FFF3EB"/>
            </a:solidFill>
            <a:ln w="25400">
              <a:solidFill>
                <a:srgbClr val="FF690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4" name="Image 2" descr="preencoded.png"/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1131113" y="2634386"/>
              <a:ext cx="105156" cy="114300"/>
            </a:xfrm>
            <a:prstGeom prst="rect">
              <a:avLst/>
            </a:prstGeom>
          </p:spPr>
        </p:pic>
        <p:sp>
          <p:nvSpPr>
            <p:cNvPr id="45" name="Text 33"/>
            <p:cNvSpPr txBox="1"/>
            <p:nvPr/>
          </p:nvSpPr>
          <p:spPr>
            <a:xfrm>
              <a:off x="1450238" y="2606040"/>
              <a:ext cx="4389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LEGAL</a:t>
              </a:r>
              <a:endParaRPr lang="en-US" sz="900" dirty="0"/>
            </a:p>
          </p:txBody>
        </p:sp>
        <p:sp>
          <p:nvSpPr>
            <p:cNvPr id="46" name="Text 34"/>
            <p:cNvSpPr txBox="1"/>
            <p:nvPr/>
          </p:nvSpPr>
          <p:spPr>
            <a:xfrm>
              <a:off x="2097634" y="2584094"/>
              <a:ext cx="375727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사용된 음원, 폰트, 자료화면의 라이선스는 안전한가?</a:t>
              </a:r>
              <a:endParaRPr lang="en-US" sz="110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CA50382-C7F9-E1D3-804A-17270597FDC6}"/>
              </a:ext>
            </a:extLst>
          </p:cNvPr>
          <p:cNvGrpSpPr/>
          <p:nvPr/>
        </p:nvGrpSpPr>
        <p:grpSpPr>
          <a:xfrm>
            <a:off x="922911" y="3249257"/>
            <a:ext cx="5886907" cy="476402"/>
            <a:chOff x="907085" y="3082442"/>
            <a:chExt cx="5886907" cy="476402"/>
          </a:xfrm>
        </p:grpSpPr>
        <p:sp>
          <p:nvSpPr>
            <p:cNvPr id="15" name="Shape 10"/>
            <p:cNvSpPr/>
            <p:nvPr/>
          </p:nvSpPr>
          <p:spPr>
            <a:xfrm>
              <a:off x="907085" y="3082442"/>
              <a:ext cx="5886907" cy="476402"/>
            </a:xfrm>
            <a:prstGeom prst="roundRect">
              <a:avLst>
                <a:gd name="adj" fmla="val 46065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Shape 11"/>
            <p:cNvSpPr/>
            <p:nvPr/>
          </p:nvSpPr>
          <p:spPr>
            <a:xfrm>
              <a:off x="1068934" y="3205886"/>
              <a:ext cx="228600" cy="228600"/>
            </a:xfrm>
            <a:prstGeom prst="ellipse">
              <a:avLst/>
            </a:prstGeom>
            <a:solidFill>
              <a:srgbClr val="FFF3EB"/>
            </a:solidFill>
            <a:ln w="25400">
              <a:solidFill>
                <a:srgbClr val="FF690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1131113" y="3262579"/>
              <a:ext cx="105156" cy="114300"/>
            </a:xfrm>
            <a:prstGeom prst="rect">
              <a:avLst/>
            </a:prstGeom>
          </p:spPr>
        </p:pic>
        <p:sp>
          <p:nvSpPr>
            <p:cNvPr id="47" name="Text 35"/>
            <p:cNvSpPr txBox="1"/>
            <p:nvPr/>
          </p:nvSpPr>
          <p:spPr>
            <a:xfrm>
              <a:off x="1450238" y="3234233"/>
              <a:ext cx="3429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EDIT</a:t>
              </a:r>
              <a:endParaRPr lang="en-US" sz="900" dirty="0"/>
            </a:p>
          </p:txBody>
        </p:sp>
        <p:sp>
          <p:nvSpPr>
            <p:cNvPr id="48" name="Text 36"/>
            <p:cNvSpPr txBox="1"/>
            <p:nvPr/>
          </p:nvSpPr>
          <p:spPr>
            <a:xfrm>
              <a:off x="2097634" y="3213202"/>
              <a:ext cx="367131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오디오 레벨은 균일하며, 자막의 가독성은 충분한가?</a:t>
              </a:r>
              <a:endParaRPr lang="en-US" sz="1100" dirty="0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6AE0B73-90FC-2E9D-A100-26DEE28A1CFA}"/>
              </a:ext>
            </a:extLst>
          </p:cNvPr>
          <p:cNvGrpSpPr/>
          <p:nvPr/>
        </p:nvGrpSpPr>
        <p:grpSpPr>
          <a:xfrm>
            <a:off x="906653" y="3769551"/>
            <a:ext cx="5886907" cy="476402"/>
            <a:chOff x="907085" y="3710635"/>
            <a:chExt cx="5886907" cy="476402"/>
          </a:xfrm>
        </p:grpSpPr>
        <p:sp>
          <p:nvSpPr>
            <p:cNvPr id="18" name="Shape 12"/>
            <p:cNvSpPr/>
            <p:nvPr/>
          </p:nvSpPr>
          <p:spPr>
            <a:xfrm>
              <a:off x="907085" y="3710635"/>
              <a:ext cx="5886907" cy="476402"/>
            </a:xfrm>
            <a:prstGeom prst="roundRect">
              <a:avLst>
                <a:gd name="adj" fmla="val 46065"/>
              </a:avLst>
            </a:prstGeom>
            <a:solidFill>
              <a:srgbClr val="FFFFFF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3"/>
            <p:cNvSpPr/>
            <p:nvPr/>
          </p:nvSpPr>
          <p:spPr>
            <a:xfrm>
              <a:off x="1068934" y="3834079"/>
              <a:ext cx="228600" cy="228600"/>
            </a:xfrm>
            <a:prstGeom prst="ellipse">
              <a:avLst/>
            </a:prstGeom>
            <a:solidFill>
              <a:srgbClr val="FFF3EB"/>
            </a:solidFill>
            <a:ln w="25400">
              <a:solidFill>
                <a:srgbClr val="FF690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1131113" y="3891686"/>
              <a:ext cx="105156" cy="114300"/>
            </a:xfrm>
            <a:prstGeom prst="rect">
              <a:avLst/>
            </a:prstGeom>
          </p:spPr>
        </p:pic>
        <p:sp>
          <p:nvSpPr>
            <p:cNvPr id="49" name="Text 37"/>
            <p:cNvSpPr txBox="1"/>
            <p:nvPr/>
          </p:nvSpPr>
          <p:spPr>
            <a:xfrm>
              <a:off x="1450238" y="3863340"/>
              <a:ext cx="3145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SEO</a:t>
              </a:r>
              <a:endParaRPr lang="en-US" sz="900" dirty="0"/>
            </a:p>
          </p:txBody>
        </p:sp>
        <p:sp>
          <p:nvSpPr>
            <p:cNvPr id="50" name="Text 38"/>
            <p:cNvSpPr txBox="1"/>
            <p:nvPr/>
          </p:nvSpPr>
          <p:spPr>
            <a:xfrm>
              <a:off x="2097634" y="3841394"/>
              <a:ext cx="362011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검색을 고려한 제목, 태그, 썸네일이 준비되었는가?</a:t>
              </a:r>
              <a:endParaRPr lang="en-US" sz="1100" dirty="0"/>
            </a:p>
          </p:txBody>
        </p:sp>
      </p:grpSp>
      <p:sp>
        <p:nvSpPr>
          <p:cNvPr id="51" name="Text 39"/>
          <p:cNvSpPr txBox="1"/>
          <p:nvPr/>
        </p:nvSpPr>
        <p:spPr>
          <a:xfrm>
            <a:off x="1029399" y="468211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USEFUL RESOURCES</a:t>
            </a:r>
            <a:endParaRPr lang="en-US" sz="1300" dirty="0"/>
          </a:p>
        </p:txBody>
      </p:sp>
      <p:sp>
        <p:nvSpPr>
          <p:cNvPr id="52" name="Shape 40"/>
          <p:cNvSpPr/>
          <p:nvPr/>
        </p:nvSpPr>
        <p:spPr>
          <a:xfrm>
            <a:off x="7404811" y="1113218"/>
            <a:ext cx="4238244" cy="5467198"/>
          </a:xfrm>
          <a:prstGeom prst="roundRect">
            <a:avLst>
              <a:gd name="adj" fmla="val 116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1"/>
          <p:cNvSpPr/>
          <p:nvPr/>
        </p:nvSpPr>
        <p:spPr>
          <a:xfrm>
            <a:off x="10312142" y="668034"/>
            <a:ext cx="1714500" cy="1714500"/>
          </a:xfrm>
          <a:prstGeom prst="ellipse">
            <a:avLst/>
          </a:prstGeom>
          <a:solidFill>
            <a:srgbClr val="FF690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2"/>
          <p:cNvSpPr/>
          <p:nvPr/>
        </p:nvSpPr>
        <p:spPr>
          <a:xfrm>
            <a:off x="7710221" y="4856771"/>
            <a:ext cx="3629254" cy="990295"/>
          </a:xfrm>
          <a:prstGeom prst="roundRect">
            <a:avLst>
              <a:gd name="adj" fmla="val 1420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5"/>
          <p:cNvSpPr txBox="1"/>
          <p:nvPr/>
        </p:nvSpPr>
        <p:spPr>
          <a:xfrm>
            <a:off x="9153144" y="6008915"/>
            <a:ext cx="21899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 FOR LISTENING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7710221" y="1494523"/>
            <a:ext cx="761695" cy="761695"/>
          </a:xfrm>
          <a:prstGeom prst="roundRect">
            <a:avLst>
              <a:gd name="adj" fmla="val 300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05318" y="1647227"/>
            <a:ext cx="571500" cy="457200"/>
          </a:xfrm>
          <a:prstGeom prst="rect">
            <a:avLst/>
          </a:prstGeom>
        </p:spPr>
      </p:pic>
      <p:grpSp>
        <p:nvGrpSpPr>
          <p:cNvPr id="66" name="그룹 65">
            <a:extLst>
              <a:ext uri="{FF2B5EF4-FFF2-40B4-BE49-F238E27FC236}">
                <a16:creationId xmlns:a16="http://schemas.microsoft.com/office/drawing/2014/main" id="{8A2140DB-58C1-ED51-3A32-AB64B9C85A36}"/>
              </a:ext>
            </a:extLst>
          </p:cNvPr>
          <p:cNvGrpSpPr/>
          <p:nvPr/>
        </p:nvGrpSpPr>
        <p:grpSpPr>
          <a:xfrm>
            <a:off x="8056342" y="5018172"/>
            <a:ext cx="2968317" cy="631851"/>
            <a:chOff x="609905" y="5558463"/>
            <a:chExt cx="2968317" cy="631851"/>
          </a:xfrm>
        </p:grpSpPr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A10A878A-797B-ED7A-5D60-831A1444391C}"/>
                </a:ext>
              </a:extLst>
            </p:cNvPr>
            <p:cNvSpPr txBox="1"/>
            <p:nvPr/>
          </p:nvSpPr>
          <p:spPr>
            <a:xfrm>
              <a:off x="609905" y="5650992"/>
              <a:ext cx="4005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강사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68" name="Shape 10">
              <a:extLst>
                <a:ext uri="{FF2B5EF4-FFF2-40B4-BE49-F238E27FC236}">
                  <a16:creationId xmlns:a16="http://schemas.microsoft.com/office/drawing/2014/main" id="{056A8566-CDAA-1D24-1D60-A98F4B2127A1}"/>
                </a:ext>
              </a:extLst>
            </p:cNvPr>
            <p:cNvSpPr/>
            <p:nvPr/>
          </p:nvSpPr>
          <p:spPr>
            <a:xfrm>
              <a:off x="1077163" y="5631790"/>
              <a:ext cx="9144" cy="304495"/>
            </a:xfrm>
            <a:prstGeom prst="rect">
              <a:avLst/>
            </a:prstGeom>
            <a:solidFill>
              <a:srgbClr val="D1D5D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69" name="Text 11">
              <a:extLst>
                <a:ext uri="{FF2B5EF4-FFF2-40B4-BE49-F238E27FC236}">
                  <a16:creationId xmlns:a16="http://schemas.microsoft.com/office/drawing/2014/main" id="{7691FE99-3593-5ED7-AC39-88A92548C762}"/>
                </a:ext>
              </a:extLst>
            </p:cNvPr>
            <p:cNvSpPr txBox="1"/>
            <p:nvPr/>
          </p:nvSpPr>
          <p:spPr>
            <a:xfrm>
              <a:off x="609905" y="5558463"/>
              <a:ext cx="2968317" cy="631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50000"/>
                </a:lnSpc>
                <a:buNone/>
              </a:pPr>
              <a:r>
                <a:rPr lang="ko-KR" altLang="en-US" sz="2000" b="1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이애본</a:t>
              </a:r>
              <a:r>
                <a:rPr lang="ko-KR" altLang="en-US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br>
                <a:rPr lang="en-US" altLang="ko-KR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altLang="ko-KR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en-US" altLang="ko-KR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  <a:hlinkClick r:id="rId1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aebon@dreamitbiz.com</a:t>
              </a:r>
              <a:r>
                <a:rPr lang="en-US" altLang="ko-KR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</a:p>
            <a:p>
              <a:pPr marL="0" indent="0" algn="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드림아이티비즈(DreamIT Biz)</a:t>
              </a:r>
              <a:r>
                <a:rPr lang="en-US" altLang="ko-KR" sz="14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4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300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</p:grpSp>
      <p:sp>
        <p:nvSpPr>
          <p:cNvPr id="7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6159</Words>
  <Application>Microsoft Office PowerPoint</Application>
  <PresentationFormat>와이드스크린</PresentationFormat>
  <Paragraphs>1043</Paragraphs>
  <Slides>41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8" baseType="lpstr">
      <vt:lpstr>Manrope</vt:lpstr>
      <vt:lpstr>Noto Sans KR</vt:lpstr>
      <vt:lpstr>Pretendard</vt:lpstr>
      <vt:lpstr>Sora</vt:lpstr>
      <vt:lpstr>ui-monospace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9</cp:revision>
  <dcterms:created xsi:type="dcterms:W3CDTF">2026-01-27T16:36:01Z</dcterms:created>
  <dcterms:modified xsi:type="dcterms:W3CDTF">2026-01-29T18:23:29Z</dcterms:modified>
</cp:coreProperties>
</file>