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강의 소개와 데이터베이스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경영과 DB · DBMS · 실습 환경 · SQL 첫걸음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현장에서 데이터베이스가 왜 필요한지 사례로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· 정보 · 데이터베이스의 개념을 구분해 설명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시스템의 한계와 DBMS 3대 기능(정의·조작·제어) 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8.0과 Workbench 또는 DBeaver를 설치하고 접속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문장을 실행하고 결과와 오류 메시지를 읽는다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강의 → 퀴즈 → 시험 → 총괄보고서 흐름을 알고 가입을 마친다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경영데이터베이스및실습 1주차 · 다온유통 데이터베이스로 한 학기를 배웁니다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과목 소개 — 경영데이터베이스및실습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데이터베이스란 무엇인가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시스템의 한계와 DBMS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300" y="63246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우리의 실습 무대 — 다온유통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학습사이트 사용법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환경 준비 — Windows와 macOS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첫걸음 — 쓰고, 실행하고, 결과 읽기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과목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학기 동안 배우는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전반부 2~7주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데이터베이스 이론과 SQL 핵심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· DML · SELECT · 집계 · 조인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후반부 9~15주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· 뷰 · 인덱스 · 권한 · 설계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웹과 DB 연동 · 경영 데이터 종합 실습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평가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8주차 중간고사(10/26) · 주차별 퀴즈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15주차 총정리 + 기말고사(12/14)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10/5(월)은 대체휴일 휴강, 보강은 12/7(월) — 6주차부터 한 주씩 밀려 총 15주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과목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경영학도에게 SQL은 개발자의 전유물이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1A2A5E"/>
          </a:solidFill>
          <a:ln w="952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확인하는 사람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「지난달 매출이 왜 줄었는가」를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직접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보고서만 기다리는 사람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남이 만들어 준 보고서만 기다린다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이 차이는 매우 크다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생성형 AI 전면 허용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SQL을 대신 짜 주는 도구가 아니라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이해 · 디버깅을 돕는 보조 도구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과목의 목표는 여러분이 첫 번째가 되는 것 — 시험장에서 답을 쓰는 것은 결국 여러분 자신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데이터베이스란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→ 정보 → 지식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41224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유통회사 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가공되지 않은 사실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주문번호 1001, 결제금액 79,000원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가공 · 처리된 결과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카테고리별 월 매출액, VIP 고객의 평균 적립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정보의 패턴화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취소율이 높은 카테고리는 재고 정책을 재검토해야 한다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데이터베이스는 정보를 만들어 내기 위한 데이터의 조직화된 저장소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데이터베이스란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데이터베이스의 정의 — 네 가지 성질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통합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Integrated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동일한 데이터의 중복을 최소화하여 통합 관리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저장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Stored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컴퓨터가 접근 가능한 저장 매체에 저장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데이터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Operational 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조직의 핵심 업무 수행에 반드시 필요한 데이터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공용 데이터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Shared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사용자 · 응용 프로그램이 함께 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여러 사용자가 공유하여 사용할 목적으로 통합 · 저장하여 운영하는 데이터의 집합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데이터베이스란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데이터베이스의 네 가지 특징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실시간 접근성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Real-time Accessibility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질의에 즉시 응답한다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계속적인 변화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Continuous Evolution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삽입·삭제·수정으로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상태를 유지한다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 공유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Concurrent Sharing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사용자가 동시에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데이터를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내용에 의한 참조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Content Reference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주소·위치가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값으로 검색한다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통합 · 저장 · 운영 · 공용(정의)과 실시간 · 변화 · 공유 · 내용 참조(특징)를 구분해 둡니다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파일 시스템의 한계와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시스템의 문제점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중복(Redundancy)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고객 정보가 주문 · 배송 · 마케팅 파일에 각각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불일치(Inconsistency)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719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719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배송 파일만 주소를 수정하면 파일 간 값이 달라짐 — 엉뚱한 곳으로 배송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종속성(Dependency)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958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958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구조가 바뀌면 모든 응용 프로그램을 수정해야 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훼손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6197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6197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「재고는 0 이상」 같은 규칙을 프로그램마다 따로 구현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동시성 · 보안 취약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343650"/>
            <a:ext cx="10881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343650"/>
            <a:ext cx="10690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동시 접근 제어와 접근 권한 관리가 어려움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 파일 · 배송 파일 · 마케팅 파일이 제각각 고객 정보를 들고 있는 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파일 시스템의 한계와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DBMS의 장점과 단점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중복과 불일치 최소화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전문 인력(DBA)이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일관성 · 무결성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전산 비용(하드웨어 · 소프트웨어) 증가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공유와 표준화 용이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시스템이 복잡하고 백업 · 회복이 까다로움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보안 · 동시성 제어 강화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장애 발생 시 파급 효과가 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DBMS — 사용자와 데이터베이스 사이에서 정의 · 조작 · 제어하는 소프트웨어, 응용 프로그램은 반드시 DBMS를 거친다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파일 시스템의 한계와 DBMS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DBMS의 3대 필수 기능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대표 명령어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기능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 (Data Definition Language)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913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CREATE, ALTER, DROP, TRUNCATE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구조(스키마)를 정의 · 변경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조작 기능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DML (Data Manipulation Language)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SELECT, INSERT, UPDATE, DELETE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조회 · 삽입 · 수정 · 삭제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제어 기능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DCL (Data Control Language)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GRANT, REVOKE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권한과 보안을 제어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COMMIT · ROLLBACK · SAVEPOINT는 TCL(Transaction Control Language)로 따로 분류하기도 한다 — 시험에는 두 관점이 모두 나온다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우리의 실습 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— 테이블 5개로 운영되는 유통회사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48000" cy="5715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429000"/>
            <a:ext cx="3048000" cy="1295400"/>
          </a:xfrm>
          <a:prstGeom prst="roundRect">
            <a:avLst>
              <a:gd name="adj" fmla="val 36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3429000"/>
            <a:ext cx="285750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1500" y="2781300"/>
            <a:ext cx="3048000" cy="5715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1500" y="27813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3429000"/>
            <a:ext cx="3048000" cy="1295400"/>
          </a:xfrm>
          <a:prstGeom prst="roundRect">
            <a:avLst>
              <a:gd name="adj" fmla="val 36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6750" y="3429000"/>
            <a:ext cx="285750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0" y="2781300"/>
            <a:ext cx="3048000" cy="5715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7813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employees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3429000"/>
            <a:ext cx="3048000" cy="1295400"/>
          </a:xfrm>
          <a:prstGeom prst="roundRect">
            <a:avLst>
              <a:gd name="adj" fmla="val 36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5250" y="3429000"/>
            <a:ext cx="285750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직원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인사 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58500" y="2781300"/>
            <a:ext cx="3048000" cy="5715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0" y="27813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58500" y="3429000"/>
            <a:ext cx="3048000" cy="1295400"/>
          </a:xfrm>
          <a:prstGeom prst="roundRect">
            <a:avLst>
              <a:gd name="adj" fmla="val 36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0" y="3429000"/>
            <a:ext cx="285750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097000" y="2781300"/>
            <a:ext cx="3048000" cy="5715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0" y="2781300"/>
            <a:ext cx="3048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097000" y="3429000"/>
            <a:ext cx="3048000" cy="1295400"/>
          </a:xfrm>
          <a:prstGeom prst="roundRect">
            <a:avLst>
              <a:gd name="adj" fmla="val 36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92250" y="3429000"/>
            <a:ext cx="285750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상세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53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온라인 쇼핑몰과 오프라인 영업으로 판매 — 모든 예제 · 실습 · 퀴즈 · 시험이 이 DB 하나로 진행된다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5448300"/>
            <a:ext cx="3829050" cy="685800"/>
          </a:xfrm>
          <a:prstGeom prst="roundRect">
            <a:avLst>
              <a:gd name="adj" fmla="val 694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448300"/>
            <a:ext cx="38290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가전</a:t>
            </a:r>
          </a:p>
        </p:txBody>
      </p:sp>
      <p:sp>
        <p:nvSpPr>
          <p:cNvPr id="31" name="deckgen:ornament"/>
          <p:cNvSpPr txBox="1"/>
          <p:nvPr/>
        </p:nvSpPr>
        <p:spPr>
          <a:xfrm>
            <a:off x="4972050" y="5448300"/>
            <a:ext cx="228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00650" y="5448300"/>
            <a:ext cx="3829050" cy="685800"/>
          </a:xfrm>
          <a:prstGeom prst="roundRect">
            <a:avLst>
              <a:gd name="adj" fmla="val 694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00650" y="5448300"/>
            <a:ext cx="38290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34" name="deckgen:ornament"/>
          <p:cNvSpPr txBox="1"/>
          <p:nvPr/>
        </p:nvSpPr>
        <p:spPr>
          <a:xfrm>
            <a:off x="9029700" y="5448300"/>
            <a:ext cx="228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8300" y="5448300"/>
            <a:ext cx="3829050" cy="685800"/>
          </a:xfrm>
          <a:prstGeom prst="roundRect">
            <a:avLst>
              <a:gd name="adj" fmla="val 694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58300" y="5448300"/>
            <a:ext cx="38290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생활용품</a:t>
            </a:r>
          </a:p>
        </p:txBody>
      </p:sp>
      <p:sp>
        <p:nvSpPr>
          <p:cNvPr id="37" name="deckgen:ornament"/>
          <p:cNvSpPr txBox="1"/>
          <p:nvPr/>
        </p:nvSpPr>
        <p:spPr>
          <a:xfrm>
            <a:off x="13087350" y="5448300"/>
            <a:ext cx="228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·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15950" y="5448300"/>
            <a:ext cx="3829050" cy="685800"/>
          </a:xfrm>
          <a:prstGeom prst="roundRect">
            <a:avLst>
              <a:gd name="adj" fmla="val 694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15950" y="5448300"/>
            <a:ext cx="382905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테이블 명세와 전체 데이터는 학습사이트 「경영 실습 DB」 메뉴에서 언제든 확인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학습사이트 사용법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매주 이 흐름으로 학습합니다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학습사이트는 한 학기 수업의 중심 도구 — 가입해야 퀴즈 · 시험 응시 기록이 남습니다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주차별 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이론과 예제를 읽고 실습 문제(lab)를 직접 푼다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퀴즈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강의를 마친 주차는 퀴즈로 이해도를 점검한다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중간고사 8주차(10/26)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기말고사 15주차(12/14)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총괄보고서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학기 동안의 퀴즈 · 시험 이력을 한눈에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학습사이트 사용법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1주차에 할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6384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971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7336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학습사이트에 가입(로그인)하고 기본 정보 입력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가입해야 퀴즈 · 시험 응시 기록이 남는다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8576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1910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9528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8.0과 클라이언트 도구 설치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6절 운영체제별 안내(Windows / macOS)를 따라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0768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4102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1720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첫걸음으로 문장 입력 · 실행 · 결과 읽기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7절 — 치고, 실행하고, 결과를 읽는 감각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62960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629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63912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테이블 5개의 구성을 훑어 두기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「경영 실습 DB」 메뉴에서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설치 전이라도 실습 문제는 사이트에서 바로 풀 수 있습니다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구성 요소 — 서버는 창고, 도구는 창구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권장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 서버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저장하고 SQL을 처리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8.0 Community Server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클라이언트 도구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작성 · 실행 · 결과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Workbench 또는 DBeaver (하나만)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명령행(CLI)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터미널에서 직접 접속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명령행 클라이언트 (서버와 함께 설치됨)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창구만 설치하고 서버를 빼먹으면 접속할 곳이 없다 — 둘 다 설치 · 실습 문제는 설치 없이 사이트에서도 실행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Windows와 macOS 설치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81250"/>
            <a:ext cx="16002000" cy="609600"/>
          </a:xfrm>
          <a:prstGeom prst="roundRect">
            <a:avLst>
              <a:gd name="adj" fmla="val 9375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381250"/>
            <a:ext cx="9525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공통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6500" y="2381250"/>
            <a:ext cx="143827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root 비밀번호는 꼭 메모 — 잊으면 접속이 안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181350"/>
            <a:ext cx="7829550" cy="4248150"/>
          </a:xfrm>
          <a:prstGeom prst="roundRect">
            <a:avLst>
              <a:gd name="adj" fmla="val 179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181350"/>
            <a:ext cx="7829550" cy="8001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276600"/>
            <a:ext cx="73723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676650"/>
            <a:ext cx="73723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MySQL Installer for Windows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4227909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227909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90700" y="4210050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Installer 전체판 내려받기</a:t>
            </a:r>
          </a:p>
        </p:txBody>
      </p:sp>
      <p:sp>
        <p:nvSpPr>
          <p:cNvPr id="18" name="Oval 17"/>
          <p:cNvSpPr/>
          <p:nvPr/>
        </p:nvSpPr>
        <p:spPr>
          <a:xfrm>
            <a:off x="1371600" y="4720828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720828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0700" y="4702969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 — Server 8.0 + Workbench 8.0</a:t>
            </a:r>
          </a:p>
        </p:txBody>
      </p:sp>
      <p:sp>
        <p:nvSpPr>
          <p:cNvPr id="21" name="Oval 20"/>
          <p:cNvSpPr/>
          <p:nvPr/>
        </p:nvSpPr>
        <p:spPr>
          <a:xfrm>
            <a:off x="1371600" y="5213747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213747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90700" y="5195888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3306 · Strong Password 기본값</a:t>
            </a:r>
          </a:p>
        </p:txBody>
      </p:sp>
      <p:sp>
        <p:nvSpPr>
          <p:cNvPr id="24" name="Oval 23"/>
          <p:cNvSpPr/>
          <p:nvPr/>
        </p:nvSpPr>
        <p:spPr>
          <a:xfrm>
            <a:off x="1371600" y="5706666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706666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90700" y="5688806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root 비밀번호 정하기</a:t>
            </a:r>
          </a:p>
        </p:txBody>
      </p:sp>
      <p:sp>
        <p:nvSpPr>
          <p:cNvPr id="27" name="Oval 26"/>
          <p:cNvSpPr/>
          <p:nvPr/>
        </p:nvSpPr>
        <p:spPr>
          <a:xfrm>
            <a:off x="1371600" y="6199584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6199584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0700" y="6181725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서비스로 등록 · 시작 시 자동 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5450" y="3181350"/>
            <a:ext cx="7829550" cy="4248150"/>
          </a:xfrm>
          <a:prstGeom prst="roundRect">
            <a:avLst>
              <a:gd name="adj" fmla="val 179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15450" y="3181350"/>
            <a:ext cx="7829550" cy="8001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4050" y="3276600"/>
            <a:ext cx="73723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4050" y="3676650"/>
            <a:ext cx="73723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먼저 내 맥의 칩을 확인</a:t>
            </a:r>
          </a:p>
        </p:txBody>
      </p:sp>
      <p:sp>
        <p:nvSpPr>
          <p:cNvPr id="34" name="Oval 33"/>
          <p:cNvSpPr/>
          <p:nvPr/>
        </p:nvSpPr>
        <p:spPr>
          <a:xfrm>
            <a:off x="9544050" y="4227909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44050" y="4227909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3150" y="4210050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칩 확인 — Apple Silicon 또는 Intel</a:t>
            </a:r>
          </a:p>
        </p:txBody>
      </p:sp>
      <p:sp>
        <p:nvSpPr>
          <p:cNvPr id="37" name="Oval 36"/>
          <p:cNvSpPr/>
          <p:nvPr/>
        </p:nvSpPr>
        <p:spPr>
          <a:xfrm>
            <a:off x="9544050" y="4720828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44050" y="4720828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3150" y="4702969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칩에 맞는 서버 DMG 내려받기</a:t>
            </a:r>
          </a:p>
        </p:txBody>
      </p:sp>
      <p:sp>
        <p:nvSpPr>
          <p:cNvPr id="40" name="Oval 39"/>
          <p:cNvSpPr/>
          <p:nvPr/>
        </p:nvSpPr>
        <p:spPr>
          <a:xfrm>
            <a:off x="9544050" y="5213747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4050" y="5213747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3150" y="5195888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 마지막 화면에서 root 비밀번호</a:t>
            </a:r>
          </a:p>
        </p:txBody>
      </p:sp>
      <p:sp>
        <p:nvSpPr>
          <p:cNvPr id="43" name="Oval 42"/>
          <p:cNvSpPr/>
          <p:nvPr/>
        </p:nvSpPr>
        <p:spPr>
          <a:xfrm>
            <a:off x="9544050" y="5706666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5706666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3150" y="5688806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 설정 → MySQL → Start</a:t>
            </a:r>
          </a:p>
        </p:txBody>
      </p:sp>
      <p:sp>
        <p:nvSpPr>
          <p:cNvPr id="46" name="Oval 45"/>
          <p:cNvSpPr/>
          <p:nvPr/>
        </p:nvSpPr>
        <p:spPr>
          <a:xfrm>
            <a:off x="9544050" y="6199584"/>
            <a:ext cx="285750" cy="28575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44050" y="6199584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3150" y="6181725"/>
            <a:ext cx="6953250" cy="359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Workbench · DBeaver도 칩에 맞는 DMG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접속 확인 — Windows는 시작 메뉴 MySQL 8.0 Command Line Client, macOS는 터미널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macOS — 칩에 맞는 파일 고르기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Apple Silicon (M1~M4)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Intel (i5·i7·i9)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서버 DMG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ARM, 64-bit DMG Archive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x86, 64-bit DMG Archive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Workbench DMG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macOS (ARM, 64-bit)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044043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044043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macOS (x86, 64-bit)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DBeaver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macOS for Apple Silicon (.dmg)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640036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640036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macOS for Intel (.dmg)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Homebrew 설치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/opt/homebrew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236029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236029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/usr/local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DMG 설치 후 mysql 경로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/usr/local/mysql/bin (칩 무관)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5832021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5832021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/usr/local/mysql/bin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brew 설치 시 mysql 경로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/opt/homebrew/opt/mysql@8.0/bin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384280" y="6428014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79530" y="6428014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/usr/local/opt/mysql@8.0/bin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명령 결과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uname -m → arm64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84280" y="7024007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79530" y="7024007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uname -m → x86_64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다른 칩용 파일을 받으면 설치가 안 되거나 「손상되어 열 수 없습니다」가 뜬다 — 설치 실패의 1순위 원인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macOS — mysql 명령을 짧게 쓰기 위한 PATH 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# 터미널에 그대로 붙여 넣고 Enter (zsh 기준, macOS 기본 셸)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echo 'export PATH="/usr/local/mysql/bin:$PATH"' &gt;&gt; ~/.zshrc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# 터미널을 새로 열고 확인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uname -m            # arm64 = Apple Silicon, x86_64 = Intel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mysql --version     # mysql  Ver 8.0.xx for macos.. on arm64(또는 x86_64)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mysql -u root -p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번만 실행하면 된다(칩 무관) · Homebrew는 brew install mysql@8.0 → PATH 등록 → brew services start mysql@8.0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Workbench 첫 접속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Local instance 카드 누르기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Windows는 Local instance MySQL80, 맥은 Local instance 3306 · root 비밀번호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카드가 없으면 ⊕ 새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Hostname 127.0.0.1 · Port 3306 · Username root → Test Connection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Query 탭에 SQL 쓰고 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번개 아이콘 또는 단축키 — 커서 문장 하나 / 전체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Result Grid와 Output 읽기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결과는 표로, 메시지는 초록 ✓ / 빨간 ✗ — ✗는 끝까지 읽는다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실행 단축키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Ctrl+Enter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맥은 ⌘+Enter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DBeaver 첫 접속 — Workbench 대신 쓸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Community 판 설치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dbeaver.io/download — Windows 설치 파일 / macOS DMG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새 연결 → MySQL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Host localhost · Port 3306 · Username root · Password → Test Connection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드라이버 다운로드 창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접속 때 뜨면 Download (인터넷 필요)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Public Key Retrieval is not allowed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Driver properties에서 allowPublicKeyRetrieval = TRUE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편집기 열기와 실행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Ctrl+] 새 편집기 · Ctrl+Enter 커서 문장 · Alt+X 전체 (맥은 ⌘ · ⌥)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문자셋 확인과 실습 DB 생성 — 한글 처리는 utf8mb4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7429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18738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86784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6515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VARIABLES LIKE 'character_set%';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DATABASE IF NOT EXISTS daon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DEFAULT CHARACTER SET utf8mb4;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 daon;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725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201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1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2343150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5631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4600" y="2457450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문자셋 설정값 확인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% = 뒤에 무엇이 와도 됨 · character_set_server 가 utf8mb4 면 정상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725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201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01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34500" y="3648075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345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5631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31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4600" y="3762375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IF NOT EXISTS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있으면 오류 없이 건너뛴다 — 두 번 실행해도 안전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725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8201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01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34500" y="4953000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345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631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631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4600" y="5067300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DEFAULT CHARACTER SET utf8mb4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이모지를 포함한 4바이트 문자까지 — 습관처럼 명시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25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201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201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34500" y="6257925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345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5631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631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34600" y="6372225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USE daon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이제부터의 명령은 daon 안에서 실행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 8.0은 기본 문자셋이 utf8mb4 — 그래도 실습 DB를 만들 때는 명시적으로 지정한다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 · 접속 때 자주 만나는 오류 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14896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'mysql'은(는) 내부 또는 외부 명령... (Windows)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 미등록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14896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메뉴 MySQL 8.0 Command Line Client 사용, 또는 Path 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91668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17004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zsh: command not found: mysql (macOS)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91668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91668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 미등록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91668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17004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PATH 등록 명령 실행 후 터미널 새로 열기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93776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19112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1045 (28000): Access denied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93776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93776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오류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93776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19112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 때 정한 root 비밀번호 확인 — 잊었으면 Reconfigure / Initialize Database(데이터 초기화)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95884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621220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2003 (HY000): Can't connect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95884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95884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서버가 꺼져 있음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95884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621220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Windows services.msc → MySQL80 시작 / macOS 시스템 설정 → MySQL → Start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97992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723328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맥: 「손상되어 열 수 없습니다」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97992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97992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칩에 맞지 않는 DMG 또는 Gatekeeper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97992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723328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칩 확인 후 다시 내려받기 · 정상 파일이면 「그래도 열기」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 · 접속 때 자주 만나는 오류 ②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14896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1049 (42000): Unknown database 'daon'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DB를 안 만들었거나 이름 오타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14896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CREATE DATABASE daon ...; 먼저, 그다음 USE daon;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91668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17004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1146 (42S02): Table 'daon.orders' doesn't exist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91668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91668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미생성 또는 다른 DB 선택 상태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91668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17004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「경영 실습 DB」 스크립트 ① 실행 · SELECT DATABASE(); 로 현재 DB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93776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19112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1064 (42000): You have an error in your SQL syntax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93776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93776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오타 · 세미콜론 · 따옴표 짝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93776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19112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메시지의 near '...' 뒤가 문제 지점 — 그 앞을 다시 읽는다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95884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621220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Public Key Retrieval is not allowed (DBeaver)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95884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95884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 옵션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95884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621220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Driver properties → allowPublicKeyRetrieval = TRUE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97992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723328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한글이 ??? 로 보임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97992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97992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문자셋 불일치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97992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723328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DB를 utf8mb4로 생성했는지 확인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한 문장 = 명령어 + 대상 (+ 옵션 · 조건) + 세미콜론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7429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68580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198114"/>
            <a:ext cx="68580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19811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881628"/>
            <a:ext cx="68580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565142"/>
            <a:ext cx="68580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565142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248656"/>
            <a:ext cx="68580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248656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6515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VERSION();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DATABASES;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DATABASE daon DEFAULT CHARACTER SET utf8mb4;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 daon;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COUNT(*) FROM orders;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2500" y="266642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20150" y="249497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0150" y="249497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34500" y="234315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34500" y="234315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63100" y="260794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63100" y="26079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34600" y="245745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명령어 + 함수 + 세미콜론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8.0.xx — 접속이 됐다는 첫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72500" y="33499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820150" y="31784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0150" y="31784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338709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338709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563100" y="365188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36518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350139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명령어 + 대상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 DB + 내가 만든 DB 목록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2500" y="40334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20150" y="38620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0150" y="38620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34500" y="443103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34500" y="443103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5631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631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4600" y="454533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만들어라 · 무엇을 · 이름 · 옵션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한글을 다루는 DB라면 utf8mb4를 습관처럼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2500" y="471697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820150" y="454552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20150" y="454552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34500" y="547497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547497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563100" y="573976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63100" y="57397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34600" y="558927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 선택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빼먹으면 뒤의 SELECT가 ERROR 1046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2500" y="540048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20150" y="522903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20150" y="522903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34500" y="651891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34500" y="651891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63100" y="678370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63100" y="67837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34600" y="663321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조회하라 · 무엇을 · 어디서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— 주문이 몇 건인가를 숫자 한 칸으로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문법은 3주차(DDL) · 4주차(DML) · 5주차(SELECT)에서 깊이 — 이번 주는 「치고 → 실행하고 → 결과 읽기」 감각만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문장을 쓸 때 알아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키워드는 대문자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이름은 소문자 — 관례일 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version(); 도 실행된다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줄에 걸쳐도 된다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줄바꿈 · 들여쓰기는 영향 없음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세미콜론까지가 한 문장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문자열은 작은따옴표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'VIP', '2026-09-01'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큰따옴표는 쓰지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줄은 -- (붙임표 두 개 + 공백)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줄은 /* ... */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철자에는 예민하다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SELET, DATABSE 처럼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글자만 틀려도 ERROR 1064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띄어쓰기에는 너그럽다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공백의 개수는 실행에 영향 없음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쉽게 절 단위로 줄을 바꾼다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어디에 입력하고 어떻게 실행하는가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9624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입력하는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 방법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결과가 나오는 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학습사이트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문제 아래 SQL 입력창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439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1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[▶ 실행·확인] 버튼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입력창 바로 아래에 표로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Workbench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Query 탭 편집기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439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1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Ctrl+Enter · Ctrl+Shift+Enter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 ⌘+Enter · ⌘+Shift+Enter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Result Grid(표) + Output(메시지)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DBeaver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편집기 (Ctrl+] / ⌘+])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Ctrl+Enter · Alt+X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 ⌘+Enter · ⌥+X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편집기 아래 결과 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명령행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mysql&gt; 프롬프트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439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91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세미콜론까지 치고 Enter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텍스트 표로 바로 아래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문법과 결과 확인은 학습사이트에서, 서버를 다루는 감각은 Workbench · DBeaver에서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명령행과 실습 화면에서 자주 묻는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76500"/>
            <a:ext cx="6286500" cy="12192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24765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3600" y="247650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세미콜론 없이 Enter를 쳤어요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9500" y="2476500"/>
            <a:ext cx="9715500" cy="12192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5250" y="24765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100" y="247650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아니라 프롬프트가 바뀌어 다음 줄을 기다리는 것 — ; 를 치고 Enter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3867150"/>
            <a:ext cx="6286500" cy="12192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38671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3600" y="386715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문장을 잘못 시작했어요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29500" y="3867150"/>
            <a:ext cx="9715500" cy="12192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5250" y="38671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0100" y="386715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\c 를 치고 Enter 하면 취소된다 · 나갈 때는 EXIT;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57800"/>
            <a:ext cx="6286500" cy="12192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578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3600" y="525780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학습사이트 실습 화면도 MySQL 문법인가요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9500" y="5257800"/>
            <a:ext cx="9715500" cy="12192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15250" y="525780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0100" y="525780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MySQL 8.0 — SHOW · DESCRIBE · USE · GRANT도 결과가 나온다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648450"/>
            <a:ext cx="6286500" cy="12192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8750" y="66484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3600" y="6648450"/>
            <a:ext cx="5029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그럼 Workbench는 왜 설치하나요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9500" y="6648450"/>
            <a:ext cx="9715500" cy="12192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5250" y="6648450"/>
            <a:ext cx="5334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0100" y="6648450"/>
            <a:ext cx="8458200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표 모양은 조금 다를 수 있고, 성능 · 권한은 진짜 서버라야 체감된다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주에 쓰는 명령 8개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결과 모양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서버 버전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2269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2971324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VERSION();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8.0.xx 한 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481388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481388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481388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555206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3614261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DATABASES;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481388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시스템 DB + 내가 만든 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124325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124325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124325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 만들기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198144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4257199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DATABASE daon DEFAULT CHARACTER SET utf8mb4;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124325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Query OK, 1 row affected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4767262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4767262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4767262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 선택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4841081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4900136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 daon;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4767262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Database changed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410200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410200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9700" y="5410200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누구로 · 어느 DB에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72100" y="5484019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deckgen:code"/>
          <p:cNvSpPr txBox="1"/>
          <p:nvPr/>
        </p:nvSpPr>
        <p:spPr>
          <a:xfrm>
            <a:off x="5524500" y="5543074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USER(), DATABASE();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39750" y="5410200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root@localhost · daon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" y="6053138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" y="6053138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09700" y="6053138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목록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72100" y="6126956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deckgen:code"/>
          <p:cNvSpPr txBox="1"/>
          <p:nvPr/>
        </p:nvSpPr>
        <p:spPr>
          <a:xfrm>
            <a:off x="5524500" y="6186011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TABLES;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39750" y="6053138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없으면 Empty set — 3주차에 5개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6696075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" y="6696075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09700" y="6696075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열 구조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2100" y="6769894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deckgen:code"/>
          <p:cNvSpPr txBox="1"/>
          <p:nvPr/>
        </p:nvSpPr>
        <p:spPr>
          <a:xfrm>
            <a:off x="5524500" y="6828949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DESC orders;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239750" y="6696075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열마다 한 줄인 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3000" y="7339012"/>
            <a:ext cx="4000500" cy="528638"/>
          </a:xfrm>
          <a:prstGeom prst="roundRect">
            <a:avLst>
              <a:gd name="adj" fmla="val 108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" y="7339012"/>
            <a:ext cx="57150" cy="528638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9700" y="7339012"/>
            <a:ext cx="34671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372100" y="7412831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deckgen:code"/>
          <p:cNvSpPr txBox="1"/>
          <p:nvPr/>
        </p:nvSpPr>
        <p:spPr>
          <a:xfrm>
            <a:off x="5524500" y="7471886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COUNT(*) FROM orders;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239750" y="7339012"/>
            <a:ext cx="3810000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시드 적재 후 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오류는 「ERROR 번호 (상태코드): 설명」 모양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 — 오타 · 세미콜론 · 따옴표 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없음 — CREATE DATABASE 먼저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없음 — 지금 어느 DB인지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— 설치 때 정한 root 비밀번호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꺼짐 — 서버를 먼저 켠다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다섯 가지면 이번 학기 오류의 대부분 — 번호를 검색하거나 생성형 AI에 그대로 붙여 물어 보세요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SQL 첫걸음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실행 따라하기 — 위에서부터 한 문장씩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7429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86784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354830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090922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827014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6515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VERSION();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DATABASES;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DATABASE IF NOT EXISTS daon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DEFAULT CHARACTER SET utf8mb4;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 daon;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DATABASE();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725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201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01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34500" y="234315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34500" y="234315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63100" y="260794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3100" y="26079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245745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서버가 살아 있고 접속됐는지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버전이 찍히면 서버 켜짐 + 비밀번호 통과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725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201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01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34500" y="338709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34500" y="338709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563100" y="365188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63100" y="36518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34600" y="350139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어떤 DB가 있는지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여기에 daon이 없어야 정상 — ③에서 만든다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2500" y="433578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820150" y="416433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0150" y="416433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34500" y="443103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34500" y="443103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631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31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34600" y="454533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실습 DB 만들기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IF NOT EXISTS 덕분에 재실행해도 ERROR 1007이 안 난다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25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8201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201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34500" y="547497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34500" y="547497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563100" y="573976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63100" y="57397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4600" y="558927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만든 DB를 선택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표 없이 Database changed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2500" y="599198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20150" y="582053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20150" y="582053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34500" y="6518910"/>
            <a:ext cx="7810500" cy="910590"/>
          </a:xfrm>
          <a:prstGeom prst="roundRect">
            <a:avLst>
              <a:gd name="adj" fmla="val 62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34500" y="6518910"/>
            <a:ext cx="57150" cy="91059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563100" y="678370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63100" y="67837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34600" y="6633210"/>
            <a:ext cx="6800850" cy="681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⑤ 확인</a:t>
            </a:r>
          </a:p>
          <a:p>
            <a:pPr>
              <a:lnSpc>
                <a:spcPct val="130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결과가 daon이면 성공 — NULL이면 ④를 빠뜨린 것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테이블 생성과 데이터 입력은 3주차 · 4주차에 직접 배우면서 진행합니다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실습실 안전 수칙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실습실에서 지킬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31908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952750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실습실 내 음식물 · 음료 반입 금지 — 쏟으면 장비가 고장 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76700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4100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4171950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전원 케이블 · 멀티탭 · 본체를 임의로 분해하거나 옮기지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295900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6292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391150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공용 PC에 개인 비밀번호를 저장하지 않고, 실습 종료 시 반드시 로그아웃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6515100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8484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6610350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이상이 있는 장비는 직접 손대지 말고 담당 교수 · 조교에게 알린다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DBMS의 3대 필수 기능에 해당하지 않는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기능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조작 기능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제어 기능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연산 기능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연산 기능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DBMS의 3대 기능은 정의(DDL) · 조작(DML) · 제어(DCL)입니다.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데이터베이스는 통합 · 저장 · 운영 · 공용 데이터의 집합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시스템의 중복 · 불일치 · 종속성 문제를 풀려고 DBMS 등장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DBMS의 3대 기능은 정의(DDL) · 조작(DML) · 제어(DCL)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무대는 다온유통 DB(테이블 5개), 실습 환경은 MySQL 8.0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한 문장 = 명령어 + 대상 (+ 조건) + 세미콜론(;)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주에 학습사이트 가입과 MySQL 설치를 마친다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Workbench는 Ctrl+Enter(맥 ⌘+Enter)로 커서가 있는 문장 하나를 실행한다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2주차 · 관계형 데이터베이스 기초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테이블의 구조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· 열 · 차수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카디널리티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키의 종류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 · 후보키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외래키 · 복합키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1:1 · 1:N · M:N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 테이블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ERD와 무결성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까마귀발 표기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무결성 제약조건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가입과 설치를 마치면 다음 주 실습을 그대로 따라옵니다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데이터베이스의 정의와 특징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시스템의 한계와 DBMS 3대 기능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MySQL 8.0과 Workbench · DBeaver 설치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문장 실행과 오류 읽기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1주차 실습 문제 9개 · 설치 점검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