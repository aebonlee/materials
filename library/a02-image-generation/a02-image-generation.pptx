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345" r:id="rId96"/>
    <p:sldId id="346" r:id="rId97"/>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44" r:id="rId41"/>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7" r:id="rId9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9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19.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notesMaster" Target="notesMasters/notesMaster1.xml"/><Relationship Id="rId92" Type="http://schemas.openxmlformats.org/officeDocument/2006/relationships/presProps" Target="presProps.xml"/><Relationship Id="rId93" Type="http://schemas.openxmlformats.org/officeDocument/2006/relationships/viewProps" Target="viewProps.xml"/><Relationship Id="rId94" Type="http://schemas.openxmlformats.org/officeDocument/2006/relationships/theme" Target="theme/theme1.xml"/><Relationship Id="rId95" Type="http://schemas.openxmlformats.org/officeDocument/2006/relationships/tableStyles" Target="tableStyles.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84023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mailto:aebon@dreamitbiz.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2.jp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g"/><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jpeg"/><Relationship Id="rId8"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28.jpg"/><Relationship Id="rId8" Type="http://schemas.openxmlformats.org/officeDocument/2006/relationships/image" Target="../media/image23.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29.jpg"/><Relationship Id="rId8" Type="http://schemas.openxmlformats.org/officeDocument/2006/relationships/image" Target="../media/image23.png"/><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31.jpg"/><Relationship Id="rId8" Type="http://schemas.openxmlformats.org/officeDocument/2006/relationships/image" Target="../media/image23.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33.jpg"/><Relationship Id="rId8" Type="http://schemas.openxmlformats.org/officeDocument/2006/relationships/image" Target="../media/image34.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35.jpg"/><Relationship Id="rId8" Type="http://schemas.openxmlformats.org/officeDocument/2006/relationships/image" Target="../media/image23.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36.jpg"/><Relationship Id="rId8" Type="http://schemas.openxmlformats.org/officeDocument/2006/relationships/image" Target="../media/image23.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37.jpg"/><Relationship Id="rId8" Type="http://schemas.openxmlformats.org/officeDocument/2006/relationships/image" Target="../media/image34.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39.jpg"/><Relationship Id="rId8" Type="http://schemas.openxmlformats.org/officeDocument/2006/relationships/image" Target="../media/image34.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40.jpg"/><Relationship Id="rId8" Type="http://schemas.openxmlformats.org/officeDocument/2006/relationships/image" Target="../media/image23.png"/><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42.jpg"/><Relationship Id="rId8" Type="http://schemas.openxmlformats.org/officeDocument/2006/relationships/image" Target="../media/image34.png"/><Relationship Id="rId9"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44.jpg"/><Relationship Id="rId8" Type="http://schemas.openxmlformats.org/officeDocument/2006/relationships/image" Target="../media/image23.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45.jpg"/><Relationship Id="rId8" Type="http://schemas.openxmlformats.org/officeDocument/2006/relationships/image" Target="../media/image34.png"/><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46.jpg"/><Relationship Id="rId8" Type="http://schemas.openxmlformats.org/officeDocument/2006/relationships/image" Target="../media/image23.png"/><Relationship Id="rId9"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47.jpg"/><Relationship Id="rId8" Type="http://schemas.openxmlformats.org/officeDocument/2006/relationships/image" Target="../media/image34.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49.jpg"/><Relationship Id="rId8" Type="http://schemas.openxmlformats.org/officeDocument/2006/relationships/image" Target="../media/image23.png"/><Relationship Id="rId9"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51.jpg"/><Relationship Id="rId8" Type="http://schemas.openxmlformats.org/officeDocument/2006/relationships/image" Target="../media/image34.png"/><Relationship Id="rId9"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53.jpg"/><Relationship Id="rId8" Type="http://schemas.openxmlformats.org/officeDocument/2006/relationships/image" Target="../media/image34.png"/><Relationship Id="rId9"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55.jpg"/><Relationship Id="rId8" Type="http://schemas.openxmlformats.org/officeDocument/2006/relationships/image" Target="../media/image23.png"/><Relationship Id="rId9"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56.jpg"/><Relationship Id="rId8" Type="http://schemas.openxmlformats.org/officeDocument/2006/relationships/image" Target="../media/image34.png"/><Relationship Id="rId9"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57.jpg"/><Relationship Id="rId8" Type="http://schemas.openxmlformats.org/officeDocument/2006/relationships/image" Target="../media/image23.png"/><Relationship Id="rId9"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58.jpg"/><Relationship Id="rId8" Type="http://schemas.openxmlformats.org/officeDocument/2006/relationships/image" Target="../media/image34.png"/><Relationship Id="rId9"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9.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60.jpg"/><Relationship Id="rId8" Type="http://schemas.openxmlformats.org/officeDocument/2006/relationships/image" Target="../media/image23.png"/><Relationship Id="rId9"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61.jpg"/><Relationship Id="rId8" Type="http://schemas.openxmlformats.org/officeDocument/2006/relationships/image" Target="../media/image23.png"/><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62.jpg"/><Relationship Id="rId8" Type="http://schemas.openxmlformats.org/officeDocument/2006/relationships/image" Target="../media/image23.png"/><Relationship Id="rId9"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63.jpg"/><Relationship Id="rId8" Type="http://schemas.openxmlformats.org/officeDocument/2006/relationships/image" Target="../media/image23.png"/><Relationship Id="rId9"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64.jpg"/><Relationship Id="rId8" Type="http://schemas.openxmlformats.org/officeDocument/2006/relationships/image" Target="../media/image34.png"/><Relationship Id="rId9"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5.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66.jpg"/><Relationship Id="rId8" Type="http://schemas.openxmlformats.org/officeDocument/2006/relationships/image" Target="../media/image34.png"/><Relationship Id="rId9"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7.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68.jpg"/><Relationship Id="rId8" Type="http://schemas.openxmlformats.org/officeDocument/2006/relationships/image" Target="../media/image34.png"/><Relationship Id="rId9"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9.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70.jpg"/><Relationship Id="rId8" Type="http://schemas.openxmlformats.org/officeDocument/2006/relationships/image" Target="../media/image34.png"/><Relationship Id="rId9"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72.jpg"/><Relationship Id="rId8" Type="http://schemas.openxmlformats.org/officeDocument/2006/relationships/image" Target="../media/image23.png"/><Relationship Id="rId9"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74.jpg"/><Relationship Id="rId8" Type="http://schemas.openxmlformats.org/officeDocument/2006/relationships/image" Target="../media/image34.png"/><Relationship Id="rId9"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75.jpg"/><Relationship Id="rId8" Type="http://schemas.openxmlformats.org/officeDocument/2006/relationships/image" Target="../media/image34.png"/><Relationship Id="rId9"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6.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77.jpg"/><Relationship Id="rId8" Type="http://schemas.openxmlformats.org/officeDocument/2006/relationships/image" Target="../media/image34.png"/><Relationship Id="rId9"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79.jpg"/><Relationship Id="rId8" Type="http://schemas.openxmlformats.org/officeDocument/2006/relationships/image" Target="../media/image34.png"/><Relationship Id="rId9"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80.jpg"/><Relationship Id="rId8" Type="http://schemas.openxmlformats.org/officeDocument/2006/relationships/image" Target="../media/image23.png"/><Relationship Id="rId9"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7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81.jpg"/><Relationship Id="rId8" Type="http://schemas.openxmlformats.org/officeDocument/2006/relationships/image" Target="../media/image23.png"/><Relationship Id="rId9"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6.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82.jpg"/><Relationship Id="rId8" Type="http://schemas.openxmlformats.org/officeDocument/2006/relationships/image" Target="../media/image34.png"/><Relationship Id="rId9"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83.jpg"/><Relationship Id="rId8" Type="http://schemas.openxmlformats.org/officeDocument/2006/relationships/image" Target="../media/image34.png"/><Relationship Id="rId9"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84.jpg"/><Relationship Id="rId8" Type="http://schemas.openxmlformats.org/officeDocument/2006/relationships/image" Target="../media/image34.png"/><Relationship Id="rId9"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85.jpg"/><Relationship Id="rId8" Type="http://schemas.openxmlformats.org/officeDocument/2006/relationships/image" Target="../media/image34.png"/><Relationship Id="rId9"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86.jpg"/><Relationship Id="rId8" Type="http://schemas.openxmlformats.org/officeDocument/2006/relationships/image" Target="../media/image23.png"/><Relationship Id="rId9"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87.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88.jpg"/><Relationship Id="rId8" Type="http://schemas.openxmlformats.org/officeDocument/2006/relationships/image" Target="../media/image34.png"/><Relationship Id="rId9"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89.jpg"/><Relationship Id="rId8" Type="http://schemas.openxmlformats.org/officeDocument/2006/relationships/image" Target="../media/image34.png"/><Relationship Id="rId9"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3.png"/><Relationship Id="rId4" Type="http://schemas.openxmlformats.org/officeDocument/2006/relationships/image" Target="../media/image90.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91.jpg"/><Relationship Id="rId8" Type="http://schemas.openxmlformats.org/officeDocument/2006/relationships/image" Target="../media/image23.png"/><Relationship Id="rId9" Type="http://schemas.openxmlformats.org/officeDocument/2006/relationships/image" Target="../media/image9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93.jpg"/><Relationship Id="rId8" Type="http://schemas.openxmlformats.org/officeDocument/2006/relationships/image" Target="../media/image23.png"/><Relationship Id="rId9"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94.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95.jpg"/><Relationship Id="rId8" Type="http://schemas.openxmlformats.org/officeDocument/2006/relationships/image" Target="../media/image23.png"/><Relationship Id="rId9"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96.png"/><Relationship Id="rId4" Type="http://schemas.openxmlformats.org/officeDocument/2006/relationships/image" Target="../media/image21.png"/><Relationship Id="rId5" Type="http://schemas.openxmlformats.org/officeDocument/2006/relationships/image" Target="../media/image97.png"/><Relationship Id="rId6" Type="http://schemas.openxmlformats.org/officeDocument/2006/relationships/image" Target="../media/image27.png"/><Relationship Id="rId7" Type="http://schemas.openxmlformats.org/officeDocument/2006/relationships/image" Target="../media/image98.jpg"/><Relationship Id="rId8" Type="http://schemas.openxmlformats.org/officeDocument/2006/relationships/image" Target="../media/image23.png"/><Relationship Id="rId9"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99.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100.jpg"/><Relationship Id="rId8" Type="http://schemas.openxmlformats.org/officeDocument/2006/relationships/image" Target="../media/image34.png"/><Relationship Id="rId9" Type="http://schemas.openxmlformats.org/officeDocument/2006/relationships/image" Target="../media/image10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102.jpg"/><Relationship Id="rId8" Type="http://schemas.openxmlformats.org/officeDocument/2006/relationships/image" Target="../media/image34.png"/><Relationship Id="rId9"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0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104.jpg"/><Relationship Id="rId8" Type="http://schemas.openxmlformats.org/officeDocument/2006/relationships/image" Target="../media/image34.png"/><Relationship Id="rId9"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05.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106.jpg"/><Relationship Id="rId8" Type="http://schemas.openxmlformats.org/officeDocument/2006/relationships/image" Target="../media/image34.png"/><Relationship Id="rId9"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07.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08.jpg"/><Relationship Id="rId8" Type="http://schemas.openxmlformats.org/officeDocument/2006/relationships/image" Target="../media/image23.png"/><Relationship Id="rId9"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09.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110.jpg"/><Relationship Id="rId8" Type="http://schemas.openxmlformats.org/officeDocument/2006/relationships/image" Target="../media/image34.png"/><Relationship Id="rId9"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09.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11.jpg"/><Relationship Id="rId8" Type="http://schemas.openxmlformats.org/officeDocument/2006/relationships/image" Target="../media/image23.png"/><Relationship Id="rId9" Type="http://schemas.openxmlformats.org/officeDocument/2006/relationships/image" Target="../media/image2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1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13.jpg"/><Relationship Id="rId8" Type="http://schemas.openxmlformats.org/officeDocument/2006/relationships/image" Target="../media/image23.png"/><Relationship Id="rId9" Type="http://schemas.openxmlformats.org/officeDocument/2006/relationships/image" Target="../media/image2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97.png"/><Relationship Id="rId6" Type="http://schemas.openxmlformats.org/officeDocument/2006/relationships/image" Target="../media/image27.png"/><Relationship Id="rId7" Type="http://schemas.openxmlformats.org/officeDocument/2006/relationships/image" Target="../media/image116.jpg"/><Relationship Id="rId8" Type="http://schemas.openxmlformats.org/officeDocument/2006/relationships/image" Target="../media/image23.png"/><Relationship Id="rId9" Type="http://schemas.openxmlformats.org/officeDocument/2006/relationships/image" Target="../media/image2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14.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117.jpg"/><Relationship Id="rId8" Type="http://schemas.openxmlformats.org/officeDocument/2006/relationships/image" Target="../media/image34.png"/><Relationship Id="rId9" Type="http://schemas.openxmlformats.org/officeDocument/2006/relationships/image" Target="../media/image1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19.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20.jpg"/><Relationship Id="rId8" Type="http://schemas.openxmlformats.org/officeDocument/2006/relationships/image" Target="../media/image23.png"/><Relationship Id="rId9"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4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21.jpg"/><Relationship Id="rId8" Type="http://schemas.openxmlformats.org/officeDocument/2006/relationships/image" Target="../media/image23.png"/><Relationship Id="rId9" Type="http://schemas.openxmlformats.org/officeDocument/2006/relationships/image" Target="../media/image2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24.jpg"/><Relationship Id="rId8" Type="http://schemas.openxmlformats.org/officeDocument/2006/relationships/image" Target="../media/image23.png"/><Relationship Id="rId9" Type="http://schemas.openxmlformats.org/officeDocument/2006/relationships/image" Target="../media/image1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26.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27.jpg"/><Relationship Id="rId8" Type="http://schemas.openxmlformats.org/officeDocument/2006/relationships/image" Target="../media/image23.png"/><Relationship Id="rId9"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2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29.jpg"/><Relationship Id="rId8" Type="http://schemas.openxmlformats.org/officeDocument/2006/relationships/image" Target="../media/image23.png"/><Relationship Id="rId9" Type="http://schemas.openxmlformats.org/officeDocument/2006/relationships/image" Target="../media/image10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2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30.jpg"/><Relationship Id="rId8" Type="http://schemas.openxmlformats.org/officeDocument/2006/relationships/image" Target="../media/image23.png"/><Relationship Id="rId9" Type="http://schemas.openxmlformats.org/officeDocument/2006/relationships/image" Target="../media/image1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34.jpg"/><Relationship Id="rId8" Type="http://schemas.openxmlformats.org/officeDocument/2006/relationships/image" Target="../media/image23.png"/><Relationship Id="rId9" Type="http://schemas.openxmlformats.org/officeDocument/2006/relationships/image" Target="../media/image13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32.png"/><Relationship Id="rId4" Type="http://schemas.openxmlformats.org/officeDocument/2006/relationships/image" Target="../media/image21.png"/><Relationship Id="rId5" Type="http://schemas.openxmlformats.org/officeDocument/2006/relationships/image" Target="../media/image136.png"/><Relationship Id="rId6" Type="http://schemas.openxmlformats.org/officeDocument/2006/relationships/image" Target="../media/image27.png"/><Relationship Id="rId7" Type="http://schemas.openxmlformats.org/officeDocument/2006/relationships/image" Target="../media/image137.jpg"/><Relationship Id="rId8" Type="http://schemas.openxmlformats.org/officeDocument/2006/relationships/image" Target="../media/image23.png"/><Relationship Id="rId9"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52.png"/><Relationship Id="rId4" Type="http://schemas.openxmlformats.org/officeDocument/2006/relationships/image" Target="../media/image21.png"/><Relationship Id="rId5" Type="http://schemas.openxmlformats.org/officeDocument/2006/relationships/image" Target="../media/image97.png"/><Relationship Id="rId6" Type="http://schemas.openxmlformats.org/officeDocument/2006/relationships/image" Target="../media/image27.png"/><Relationship Id="rId7" Type="http://schemas.openxmlformats.org/officeDocument/2006/relationships/image" Target="../media/image138.jpg"/><Relationship Id="rId8" Type="http://schemas.openxmlformats.org/officeDocument/2006/relationships/image" Target="../media/image23.png"/><Relationship Id="rId9" Type="http://schemas.openxmlformats.org/officeDocument/2006/relationships/image" Target="../media/image2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39.png"/><Relationship Id="rId4" Type="http://schemas.openxmlformats.org/officeDocument/2006/relationships/image" Target="../media/image21.png"/><Relationship Id="rId5" Type="http://schemas.openxmlformats.org/officeDocument/2006/relationships/image" Target="../media/image136.png"/><Relationship Id="rId6" Type="http://schemas.openxmlformats.org/officeDocument/2006/relationships/image" Target="../media/image27.png"/><Relationship Id="rId7" Type="http://schemas.openxmlformats.org/officeDocument/2006/relationships/image" Target="../media/image140.jpg"/><Relationship Id="rId8" Type="http://schemas.openxmlformats.org/officeDocument/2006/relationships/image" Target="../media/image23.png"/><Relationship Id="rId9" Type="http://schemas.openxmlformats.org/officeDocument/2006/relationships/image" Target="../media/image1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42.jpg"/><Relationship Id="rId8" Type="http://schemas.openxmlformats.org/officeDocument/2006/relationships/image" Target="../media/image23.png"/><Relationship Id="rId9" Type="http://schemas.openxmlformats.org/officeDocument/2006/relationships/image" Target="../media/image1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32.png"/><Relationship Id="rId4" Type="http://schemas.openxmlformats.org/officeDocument/2006/relationships/image" Target="../media/image21.png"/><Relationship Id="rId5" Type="http://schemas.openxmlformats.org/officeDocument/2006/relationships/image" Target="../media/image97.png"/><Relationship Id="rId6" Type="http://schemas.openxmlformats.org/officeDocument/2006/relationships/image" Target="../media/image27.png"/><Relationship Id="rId7" Type="http://schemas.openxmlformats.org/officeDocument/2006/relationships/image" Target="../media/image143.jpg"/><Relationship Id="rId8" Type="http://schemas.openxmlformats.org/officeDocument/2006/relationships/image" Target="../media/image23.png"/><Relationship Id="rId9" Type="http://schemas.openxmlformats.org/officeDocument/2006/relationships/image" Target="../media/image2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3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44.jpg"/><Relationship Id="rId8" Type="http://schemas.openxmlformats.org/officeDocument/2006/relationships/image" Target="../media/image23.png"/><Relationship Id="rId9" Type="http://schemas.openxmlformats.org/officeDocument/2006/relationships/image" Target="../media/image2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4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45.jpg"/><Relationship Id="rId8" Type="http://schemas.openxmlformats.org/officeDocument/2006/relationships/image" Target="../media/image23.png"/><Relationship Id="rId9" Type="http://schemas.openxmlformats.org/officeDocument/2006/relationships/image" Target="../media/image2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73.png"/><Relationship Id="rId4" Type="http://schemas.openxmlformats.org/officeDocument/2006/relationships/image" Target="../media/image146.png"/><Relationship Id="rId5" Type="http://schemas.openxmlformats.org/officeDocument/2006/relationships/image" Target="../media/image97.png"/><Relationship Id="rId6" Type="http://schemas.openxmlformats.org/officeDocument/2006/relationships/image" Target="../media/image27.png"/><Relationship Id="rId7" Type="http://schemas.openxmlformats.org/officeDocument/2006/relationships/image" Target="../media/image147.jpg"/><Relationship Id="rId8" Type="http://schemas.openxmlformats.org/officeDocument/2006/relationships/image" Target="../media/image23.png"/><Relationship Id="rId9" Type="http://schemas.openxmlformats.org/officeDocument/2006/relationships/image" Target="../media/image13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48.png"/><Relationship Id="rId4" Type="http://schemas.openxmlformats.org/officeDocument/2006/relationships/image" Target="../media/image149.png"/><Relationship Id="rId5" Type="http://schemas.openxmlformats.org/officeDocument/2006/relationships/image" Target="../media/image150.png"/><Relationship Id="rId6" Type="http://schemas.openxmlformats.org/officeDocument/2006/relationships/image" Target="../media/image151.png"/><Relationship Id="rId7" Type="http://schemas.openxmlformats.org/officeDocument/2006/relationships/image" Target="../media/image147.jpg"/><Relationship Id="rId8" Type="http://schemas.openxmlformats.org/officeDocument/2006/relationships/image" Target="../media/image152.png"/><Relationship Id="rId9" Type="http://schemas.openxmlformats.org/officeDocument/2006/relationships/image" Target="../media/image15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4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27.png"/><Relationship Id="rId7" Type="http://schemas.openxmlformats.org/officeDocument/2006/relationships/image" Target="../media/image156.jpg"/><Relationship Id="rId8" Type="http://schemas.openxmlformats.org/officeDocument/2006/relationships/image" Target="../media/image23.png"/><Relationship Id="rId9" Type="http://schemas.openxmlformats.org/officeDocument/2006/relationships/image" Target="../media/image15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58.png"/><Relationship Id="rId4" Type="http://schemas.openxmlformats.org/officeDocument/2006/relationships/image" Target="../media/image159.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60.jpg"/><Relationship Id="rId8" Type="http://schemas.openxmlformats.org/officeDocument/2006/relationships/image" Target="../media/image23.png"/><Relationship Id="rId9" Type="http://schemas.openxmlformats.org/officeDocument/2006/relationships/image" Target="../media/image16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64.jpg"/><Relationship Id="rId8" Type="http://schemas.openxmlformats.org/officeDocument/2006/relationships/image" Target="../media/image23.png"/><Relationship Id="rId9" Type="http://schemas.openxmlformats.org/officeDocument/2006/relationships/image" Target="../media/image1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66.png"/><Relationship Id="rId4" Type="http://schemas.openxmlformats.org/officeDocument/2006/relationships/image" Target="../media/image123.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67.jpg"/><Relationship Id="rId8" Type="http://schemas.openxmlformats.org/officeDocument/2006/relationships/image" Target="../media/image23.png"/><Relationship Id="rId9" Type="http://schemas.openxmlformats.org/officeDocument/2006/relationships/image" Target="../media/image2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43.png"/><Relationship Id="rId4" Type="http://schemas.openxmlformats.org/officeDocument/2006/relationships/image" Target="../media/image123.png"/><Relationship Id="rId5" Type="http://schemas.openxmlformats.org/officeDocument/2006/relationships/image" Target="../media/image97.png"/><Relationship Id="rId6" Type="http://schemas.openxmlformats.org/officeDocument/2006/relationships/image" Target="../media/image27.png"/><Relationship Id="rId7" Type="http://schemas.openxmlformats.org/officeDocument/2006/relationships/image" Target="../media/image168.jpg"/><Relationship Id="rId8" Type="http://schemas.openxmlformats.org/officeDocument/2006/relationships/image" Target="../media/image23.png"/><Relationship Id="rId9" Type="http://schemas.openxmlformats.org/officeDocument/2006/relationships/image" Target="../media/image13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05.png"/><Relationship Id="rId4" Type="http://schemas.openxmlformats.org/officeDocument/2006/relationships/image" Target="../media/image149.png"/><Relationship Id="rId5" Type="http://schemas.openxmlformats.org/officeDocument/2006/relationships/image" Target="../media/image155.png"/><Relationship Id="rId6" Type="http://schemas.openxmlformats.org/officeDocument/2006/relationships/image" Target="../media/image32.png"/><Relationship Id="rId7" Type="http://schemas.openxmlformats.org/officeDocument/2006/relationships/image" Target="../media/image169.jpg"/><Relationship Id="rId8" Type="http://schemas.openxmlformats.org/officeDocument/2006/relationships/image" Target="../media/image34.png"/><Relationship Id="rId9" Type="http://schemas.openxmlformats.org/officeDocument/2006/relationships/image" Target="../media/image2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txBox="1"/>
          <p:nvPr/>
        </p:nvSpPr>
        <p:spPr>
          <a:xfrm>
            <a:off x="1016429" y="553821"/>
            <a:ext cx="6415875" cy="2145878"/>
          </a:xfrm>
          <a:prstGeom prst="rect">
            <a:avLst/>
          </a:prstGeom>
          <a:noFill/>
          <a:ln/>
        </p:spPr>
        <p:txBody>
          <a:bodyPr wrap="square" lIns="0" tIns="0" rIns="0" bIns="0" rtlCol="0" anchor="ctr"/>
          <a:lstStyle/>
          <a:p>
            <a:pPr marL="0" indent="0" algn="l">
              <a:buNone/>
            </a:pPr>
            <a:r>
              <a:rPr lang="en-US" sz="4800" b="1" kern="0" spc="-37" dirty="0">
                <a:solidFill>
                  <a:srgbClr val="FF6908"/>
                </a:solidFill>
                <a:latin typeface="ADLaM Display" panose="020F0502020204030204" pitchFamily="2" charset="0"/>
                <a:ea typeface="ADLaM Display" panose="020F0502020204030204" pitchFamily="2" charset="0"/>
                <a:cs typeface="ADLaM Display" panose="020F0502020204030204" pitchFamily="2" charset="0"/>
              </a:rPr>
              <a:t>Gen AI</a:t>
            </a:r>
            <a:r>
              <a:rPr lang="ko-KR" altLang="en-US" sz="4800" b="1" kern="0" spc="-37" dirty="0">
                <a:solidFill>
                  <a:srgbClr val="FF6908"/>
                </a:solidFill>
                <a:latin typeface="ADLaM Display" panose="020F0502020204030204" pitchFamily="2" charset="0"/>
                <a:cs typeface="ADLaM Display" panose="020F0502020204030204" pitchFamily="2" charset="0"/>
              </a:rPr>
              <a:t> </a:t>
            </a:r>
            <a:endParaRPr lang="en-US" altLang="ko-KR" sz="4800" b="1" kern="0" spc="-37" dirty="0">
              <a:solidFill>
                <a:srgbClr val="FF6908"/>
              </a:solidFill>
              <a:latin typeface="ADLaM Display" panose="020F0502020204030204" pitchFamily="2" charset="0"/>
              <a:ea typeface="ADLaM Display" panose="020F0502020204030204" pitchFamily="2" charset="0"/>
              <a:cs typeface="ADLaM Display" panose="020F0502020204030204" pitchFamily="2" charset="0"/>
            </a:endParaRPr>
          </a:p>
          <a:p>
            <a:pPr marL="0" indent="0" algn="l">
              <a:buNone/>
            </a:pPr>
            <a:r>
              <a:rPr lang="en-US" altLang="ko-KR" sz="4800" b="1" kern="0" spc="-37" dirty="0">
                <a:solidFill>
                  <a:srgbClr val="FF6908"/>
                </a:solidFill>
                <a:latin typeface="Pretendard" pitchFamily="34" charset="0"/>
              </a:rPr>
              <a:t>[</a:t>
            </a:r>
            <a:r>
              <a:rPr lang="ko-KR" altLang="en-US" sz="4800" b="1" kern="0" spc="-37" dirty="0">
                <a:solidFill>
                  <a:srgbClr val="FF6908"/>
                </a:solidFill>
                <a:latin typeface="Pretendard" pitchFamily="34" charset="0"/>
              </a:rPr>
              <a:t>수려한 이미지 만들기</a:t>
            </a:r>
            <a:r>
              <a:rPr lang="en-US" altLang="ko-KR" sz="4800" b="1" kern="0" spc="-37" dirty="0">
                <a:solidFill>
                  <a:srgbClr val="FF6908"/>
                </a:solidFill>
                <a:latin typeface="Pretendard" pitchFamily="34" charset="0"/>
                <a:ea typeface="Pretendard" pitchFamily="34" charset="-122"/>
              </a:rPr>
              <a:t>] </a:t>
            </a:r>
          </a:p>
          <a:p>
            <a:pPr marL="0" indent="0" algn="l">
              <a:lnSpc>
                <a:spcPct val="150000"/>
              </a:lnSpc>
              <a:buNone/>
            </a:pPr>
            <a:r>
              <a:rPr lang="en-US" altLang="ko-KR" sz="2000" b="1" kern="0" spc="-37" dirty="0">
                <a:solidFill>
                  <a:srgbClr val="FF6908"/>
                </a:solidFill>
                <a:latin typeface="Pretendard" pitchFamily="34" charset="0"/>
                <a:ea typeface="Pretendard" pitchFamily="34" charset="-122"/>
              </a:rPr>
              <a:t>이미지 생성 AI 공통 원리와 도구별 메모</a:t>
            </a:r>
            <a:r>
              <a:rPr lang="en-US" altLang="ko-KR" sz="2000" b="1" kern="0" spc="-37" dirty="0" err="1">
                <a:solidFill>
                  <a:srgbClr val="FF6908"/>
                </a:solidFill>
                <a:latin typeface="Pretendard" pitchFamily="34" charset="0"/>
                <a:ea typeface="Pretendard" pitchFamily="34" charset="-122"/>
              </a:rPr>
              <a:t/>
            </a:r>
            <a:r>
              <a:rPr lang="en-US" altLang="ko-KR" sz="2000" b="1" kern="0" spc="-37" dirty="0">
                <a:solidFill>
                  <a:srgbClr val="FF6908"/>
                </a:solidFill>
                <a:latin typeface="Pretendard" pitchFamily="34" charset="0"/>
                <a:ea typeface="Pretendard" pitchFamily="34" charset="-122"/>
              </a:rPr>
              <a:t/>
            </a:r>
            <a:endParaRPr lang="en-US" sz="2800" b="1" kern="0" spc="-37" dirty="0">
              <a:solidFill>
                <a:srgbClr val="FF6908"/>
              </a:solidFill>
              <a:latin typeface="Pretendard" pitchFamily="34" charset="0"/>
              <a:ea typeface="Pretendard" pitchFamily="34" charset="-122"/>
            </a:endParaRPr>
          </a:p>
        </p:txBody>
      </p:sp>
      <p:sp>
        <p:nvSpPr>
          <p:cNvPr id="6" name="Text 4"/>
          <p:cNvSpPr txBox="1"/>
          <p:nvPr/>
        </p:nvSpPr>
        <p:spPr>
          <a:xfrm>
            <a:off x="6464774" y="3646724"/>
            <a:ext cx="4394128" cy="644878"/>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ü"/>
            </a:pPr>
            <a:r>
              <a:rPr lang="en-US" altLang="ko-KR" sz="1400" b="1" kern="0" spc="-37" dirty="0">
                <a:solidFill>
                  <a:srgbClr val="FF6908"/>
                </a:solidFill>
                <a:latin typeface="Pretendard" pitchFamily="34" charset="0"/>
                <a:ea typeface="Pretendard" pitchFamily="34" charset="-122"/>
                <a:cs typeface="Pretendard" pitchFamily="34" charset="-120"/>
              </a:rPr>
              <a:t>AI </a:t>
            </a:r>
            <a:r>
              <a:rPr lang="en-US" altLang="ko-KR" sz="1400" b="1" kern="0" spc="-37" dirty="0" err="1">
                <a:solidFill>
                  <a:srgbClr val="FF6908"/>
                </a:solidFill>
                <a:latin typeface="Pretendard" pitchFamily="34" charset="0"/>
                <a:ea typeface="Pretendard" pitchFamily="34" charset="-122"/>
                <a:cs typeface="Pretendard" pitchFamily="34" charset="-120"/>
              </a:rPr>
              <a:t>이미지</a:t>
            </a:r>
            <a:r>
              <a:rPr lang="en-US" altLang="ko-KR" sz="1400" b="1" kern="0" spc="-37" dirty="0">
                <a:solidFill>
                  <a:srgbClr val="FF6908"/>
                </a:solidFill>
                <a:latin typeface="Pretendard" pitchFamily="34" charset="0"/>
                <a:ea typeface="Pretendard" pitchFamily="34" charset="-122"/>
                <a:cs typeface="Pretendard" pitchFamily="34" charset="-120"/>
              </a:rPr>
              <a:t> </a:t>
            </a:r>
            <a:r>
              <a:rPr lang="en-US" altLang="ko-KR" sz="1400" b="1" kern="0" spc="-37" dirty="0" err="1">
                <a:solidFill>
                  <a:srgbClr val="FF6908"/>
                </a:solidFill>
                <a:latin typeface="Pretendard" pitchFamily="34" charset="0"/>
                <a:ea typeface="Pretendard" pitchFamily="34" charset="-122"/>
                <a:cs typeface="Pretendard" pitchFamily="34" charset="-120"/>
              </a:rPr>
              <a:t>생성</a:t>
            </a:r>
            <a:r>
              <a:rPr lang="en-US" altLang="ko-KR" sz="1400" dirty="0"/>
              <a:t> </a:t>
            </a:r>
            <a:r>
              <a:rPr lang="en-US" altLang="ko-KR" sz="1400" b="1" kern="0" spc="-37" dirty="0" err="1">
                <a:solidFill>
                  <a:srgbClr val="FF6908"/>
                </a:solidFill>
                <a:latin typeface="Pretendard" pitchFamily="34" charset="0"/>
                <a:ea typeface="Pretendard" pitchFamily="34" charset="-122"/>
                <a:cs typeface="Pretendard" pitchFamily="34" charset="-120"/>
              </a:rPr>
              <a:t>마스터</a:t>
            </a:r>
            <a:r>
              <a:rPr lang="en-US" altLang="ko-KR" sz="1400" b="1" kern="0" spc="-37" dirty="0">
                <a:solidFill>
                  <a:srgbClr val="FF6908"/>
                </a:solidFill>
                <a:latin typeface="Pretendard" pitchFamily="34" charset="0"/>
                <a:ea typeface="Pretendard" pitchFamily="34" charset="-122"/>
                <a:cs typeface="Pretendard" pitchFamily="34" charset="-120"/>
              </a:rPr>
              <a:t> </a:t>
            </a:r>
            <a:r>
              <a:rPr lang="en-US" altLang="ko-KR" sz="1400" b="1" kern="0" spc="-37" dirty="0" err="1">
                <a:solidFill>
                  <a:srgbClr val="FF6908"/>
                </a:solidFill>
                <a:latin typeface="Pretendard" pitchFamily="34" charset="0"/>
                <a:ea typeface="Pretendard" pitchFamily="34" charset="-122"/>
                <a:cs typeface="Pretendard" pitchFamily="34" charset="-120"/>
              </a:rPr>
              <a:t>강의</a:t>
            </a:r>
            <a:r>
              <a:rPr lang="en-US" altLang="ko-KR" sz="1400" b="1" kern="0" spc="-37" dirty="0">
                <a:solidFill>
                  <a:srgbClr val="FF6908"/>
                </a:solidFill>
                <a:latin typeface="Pretendard" pitchFamily="34" charset="0"/>
                <a:ea typeface="Pretendard" pitchFamily="34" charset="-122"/>
                <a:cs typeface="Pretendard" pitchFamily="34" charset="-120"/>
              </a:rPr>
              <a:t> : </a:t>
            </a:r>
            <a:r>
              <a:rPr lang="en-US" altLang="ko-KR" sz="1400" b="1" kern="0" spc="-37" dirty="0" err="1">
                <a:latin typeface="Pretendard" pitchFamily="34" charset="0"/>
                <a:ea typeface="Pretendard" pitchFamily="34" charset="-122"/>
                <a:cs typeface="Pretendard" pitchFamily="34" charset="-120"/>
              </a:rPr>
              <a:t>실패</a:t>
            </a:r>
            <a:r>
              <a:rPr lang="en-US" altLang="ko-KR" sz="1400" b="1" kern="0" spc="-37" dirty="0">
                <a:latin typeface="Pretendard" pitchFamily="34" charset="0"/>
                <a:ea typeface="Pretendard" pitchFamily="34" charset="-122"/>
                <a:cs typeface="Pretendard" pitchFamily="34" charset="-120"/>
              </a:rPr>
              <a:t> </a:t>
            </a:r>
            <a:r>
              <a:rPr lang="en-US" altLang="ko-KR" sz="1400" b="1" kern="0" spc="-37" dirty="0" err="1">
                <a:latin typeface="Pretendard" pitchFamily="34" charset="0"/>
                <a:ea typeface="Pretendard" pitchFamily="34" charset="-122"/>
                <a:cs typeface="Pretendard" pitchFamily="34" charset="-120"/>
              </a:rPr>
              <a:t>없는</a:t>
            </a:r>
            <a:r>
              <a:rPr lang="en-US" altLang="ko-KR" sz="1400" b="1" kern="0" spc="-37" dirty="0">
                <a:latin typeface="Pretendard" pitchFamily="34" charset="0"/>
                <a:ea typeface="Pretendard" pitchFamily="34" charset="-122"/>
                <a:cs typeface="Pretendard" pitchFamily="34" charset="-120"/>
              </a:rPr>
              <a:t> </a:t>
            </a:r>
            <a:r>
              <a:rPr lang="en-US" altLang="ko-KR" sz="1400" b="1" kern="0" spc="-37" dirty="0" err="1">
                <a:latin typeface="Pretendard" pitchFamily="34" charset="0"/>
                <a:ea typeface="Pretendard" pitchFamily="34" charset="-122"/>
                <a:cs typeface="Pretendard" pitchFamily="34" charset="-120"/>
              </a:rPr>
              <a:t>고퀄리티</a:t>
            </a:r>
            <a:r>
              <a:rPr lang="en-US" altLang="ko-KR" sz="1400" b="1" kern="0" spc="-37" dirty="0">
                <a:latin typeface="Pretendard" pitchFamily="34" charset="0"/>
                <a:ea typeface="Pretendard" pitchFamily="34" charset="-122"/>
                <a:cs typeface="Pretendard" pitchFamily="34" charset="-120"/>
              </a:rPr>
              <a:t> </a:t>
            </a:r>
            <a:r>
              <a:rPr lang="en-US" altLang="ko-KR" sz="1400" b="1" kern="0" spc="-37" dirty="0" err="1">
                <a:latin typeface="Pretendard" pitchFamily="34" charset="0"/>
                <a:ea typeface="Pretendard" pitchFamily="34" charset="-122"/>
                <a:cs typeface="Pretendard" pitchFamily="34" charset="-120"/>
              </a:rPr>
              <a:t>공식</a:t>
            </a:r>
            <a:endParaRPr lang="en-US" sz="1500" b="1" dirty="0">
              <a:latin typeface="Noto Sans KR" pitchFamily="34" charset="0"/>
              <a:ea typeface="Noto Sans KR" pitchFamily="34" charset="-122"/>
            </a:endParaRPr>
          </a:p>
          <a:p>
            <a:pPr marL="285750" indent="-285750" algn="l">
              <a:lnSpc>
                <a:spcPct val="150000"/>
              </a:lnSpc>
              <a:buFont typeface="Wingdings" panose="05000000000000000000" pitchFamily="2" charset="2"/>
              <a:buChar char="ü"/>
            </a:pPr>
            <a:r>
              <a:rPr lang="en-US" sz="1500" b="1" dirty="0" err="1">
                <a:solidFill>
                  <a:srgbClr val="FF6908"/>
                </a:solidFill>
                <a:latin typeface="Noto Sans KR" pitchFamily="34" charset="0"/>
                <a:ea typeface="Noto Sans KR" pitchFamily="34" charset="-122"/>
              </a:rPr>
              <a:t>목표</a:t>
            </a:r>
            <a:r>
              <a:rPr lang="en-US" sz="1500" b="1" dirty="0">
                <a:solidFill>
                  <a:srgbClr val="FF6908"/>
                </a:solidFill>
                <a:latin typeface="Noto Sans KR" pitchFamily="34" charset="0"/>
                <a:ea typeface="Noto Sans KR" pitchFamily="34" charset="-122"/>
              </a:rPr>
              <a:t> : </a:t>
            </a:r>
            <a:r>
              <a:rPr lang="en-US" sz="1500" b="1" dirty="0">
                <a:solidFill>
                  <a:srgbClr val="000000"/>
                </a:solidFill>
                <a:latin typeface="Noto Sans KR" pitchFamily="34" charset="0"/>
                <a:ea typeface="Noto Sans KR" pitchFamily="34" charset="-122"/>
                <a:cs typeface="Noto Sans KR" pitchFamily="34" charset="-120"/>
              </a:rPr>
              <a:t>5요소 공식, 13가지 구도 정복</a:t>
            </a:r>
            <a:endParaRPr lang="en-US" sz="1500" b="1" dirty="0"/>
          </a:p>
          <a:p>
            <a:pPr marL="285750" indent="-285750" algn="l">
              <a:lnSpc>
                <a:spcPct val="150000"/>
              </a:lnSpc>
              <a:buFont typeface="Wingdings" panose="05000000000000000000" pitchFamily="2" charset="2"/>
              <a:buChar char="ü"/>
            </a:pPr>
            <a:r>
              <a:rPr lang="en-US" sz="1500" b="1" dirty="0" err="1">
                <a:solidFill>
                  <a:srgbClr val="FF6908"/>
                </a:solidFill>
                <a:latin typeface="Noto Sans KR" pitchFamily="34" charset="0"/>
                <a:ea typeface="Noto Sans KR" pitchFamily="34" charset="-122"/>
                <a:cs typeface="Noto Sans KR" pitchFamily="34" charset="-120"/>
              </a:rPr>
              <a:t>기대</a:t>
            </a:r>
            <a:r>
              <a:rPr lang="en-US" sz="1500" b="1" dirty="0">
                <a:solidFill>
                  <a:srgbClr val="FF6908"/>
                </a:solidFill>
                <a:latin typeface="Noto Sans KR" pitchFamily="34" charset="0"/>
                <a:ea typeface="Noto Sans KR" pitchFamily="34" charset="-122"/>
                <a:cs typeface="Noto Sans KR" pitchFamily="34" charset="-120"/>
              </a:rPr>
              <a:t> </a:t>
            </a:r>
            <a:r>
              <a:rPr lang="en-US" sz="1500" b="1" dirty="0" err="1">
                <a:solidFill>
                  <a:srgbClr val="FF6908"/>
                </a:solidFill>
                <a:latin typeface="Noto Sans KR" pitchFamily="34" charset="0"/>
                <a:ea typeface="Noto Sans KR" pitchFamily="34" charset="-122"/>
                <a:cs typeface="Noto Sans KR" pitchFamily="34" charset="-120"/>
              </a:rPr>
              <a:t>성과</a:t>
            </a:r>
            <a:r>
              <a:rPr lang="en-US" sz="1500" b="1" dirty="0">
                <a:solidFill>
                  <a:srgbClr val="FF6908"/>
                </a:solidFill>
                <a:latin typeface="Noto Sans KR" pitchFamily="34" charset="0"/>
                <a:ea typeface="Noto Sans KR" pitchFamily="34" charset="-122"/>
                <a:cs typeface="Noto Sans KR" pitchFamily="34" charset="-120"/>
              </a:rPr>
              <a:t> : </a:t>
            </a:r>
            <a:r>
              <a:rPr lang="en-US" sz="1500" b="1" dirty="0">
                <a:solidFill>
                  <a:srgbClr val="000000"/>
                </a:solidFill>
                <a:latin typeface="Noto Sans KR" pitchFamily="34" charset="0"/>
                <a:ea typeface="Noto Sans KR" pitchFamily="34" charset="-122"/>
                <a:cs typeface="Noto Sans KR" pitchFamily="34" charset="-120"/>
              </a:rPr>
              <a:t>실패율↓ 비용↓ 퀄리티↑</a:t>
            </a:r>
            <a:endParaRPr lang="en-US" sz="1500" b="1" dirty="0"/>
          </a:p>
        </p:txBody>
      </p:sp>
      <p:sp>
        <p:nvSpPr>
          <p:cNvPr id="7" name="Shape 5"/>
          <p:cNvSpPr/>
          <p:nvPr/>
        </p:nvSpPr>
        <p:spPr>
          <a:xfrm>
            <a:off x="8997253" y="763400"/>
            <a:ext cx="2457907" cy="418795"/>
          </a:xfrm>
          <a:prstGeom prst="roundRect">
            <a:avLst>
              <a:gd name="adj" fmla="val 148869"/>
            </a:avLst>
          </a:prstGeom>
          <a:solidFill>
            <a:srgbClr val="FFFFFF"/>
          </a:solidFill>
          <a:ln w="25400">
            <a:solidFill>
              <a:srgbClr val="FF6908"/>
            </a:solidFill>
            <a:prstDash val="solid"/>
          </a:ln>
        </p:spPr>
        <p:txBody>
          <a:bodyPr/>
          <a:lstStyle/>
          <a:p>
            <a:endParaRPr lang="ko-KR" altLang="en-US"/>
          </a:p>
        </p:txBody>
      </p:sp>
      <p:sp>
        <p:nvSpPr>
          <p:cNvPr id="8" name="Text 6"/>
          <p:cNvSpPr txBox="1"/>
          <p:nvPr/>
        </p:nvSpPr>
        <p:spPr>
          <a:xfrm>
            <a:off x="9245055" y="858497"/>
            <a:ext cx="2370125" cy="228600"/>
          </a:xfrm>
          <a:prstGeom prst="rect">
            <a:avLst/>
          </a:prstGeom>
          <a:noFill/>
          <a:ln/>
        </p:spPr>
        <p:txBody>
          <a:bodyPr wrap="square" lIns="0" tIns="0" rIns="0" bIns="0" rtlCol="0" anchor="ctr"/>
          <a:lstStyle/>
          <a:p>
            <a:pPr marL="0" indent="0" algn="l">
              <a:buNone/>
            </a:pPr>
            <a:r>
              <a:rPr lang="en-US" sz="1200" dirty="0">
                <a:solidFill>
                  <a:srgbClr val="FF6908"/>
                </a:solidFill>
                <a:latin typeface="Noto Sans KR" pitchFamily="34" charset="0"/>
                <a:ea typeface="Noto Sans KR" pitchFamily="34" charset="-122"/>
                <a:cs typeface="Noto Sans KR" pitchFamily="34" charset="-120"/>
              </a:rPr>
              <a:t>프롬프트 디자인 &amp; 수익화 전략</a:t>
            </a:r>
            <a:endParaRPr lang="en-US" sz="1200" dirty="0"/>
          </a:p>
        </p:txBody>
      </p:sp>
      <p:pic>
        <p:nvPicPr>
          <p:cNvPr id="9" name="Image 0" descr="preencoded.png"/>
          <p:cNvPicPr>
            <a:picLocks noChangeAspect="1"/>
          </p:cNvPicPr>
          <p:nvPr/>
        </p:nvPicPr>
        <p:blipFill>
          <a:blip r:embed="rId3"/>
          <a:srcRect l="3491" r="3491"/>
          <a:stretch/>
        </p:blipFill>
        <p:spPr>
          <a:xfrm>
            <a:off x="980332" y="3148866"/>
            <a:ext cx="4762195" cy="2857500"/>
          </a:xfrm>
          <a:prstGeom prst="rect">
            <a:avLst/>
          </a:prstGeom>
        </p:spPr>
      </p:pic>
      <p:sp>
        <p:nvSpPr>
          <p:cNvPr id="10" name="Text 7"/>
          <p:cNvSpPr txBox="1"/>
          <p:nvPr/>
        </p:nvSpPr>
        <p:spPr>
          <a:xfrm>
            <a:off x="903522" y="6194320"/>
            <a:ext cx="4839005" cy="286207"/>
          </a:xfrm>
          <a:prstGeom prst="rect">
            <a:avLst/>
          </a:prstGeom>
          <a:noFill/>
          <a:ln/>
        </p:spPr>
        <p:txBody>
          <a:bodyPr wrap="square" lIns="0" tIns="0" rIns="0" bIns="0" rtlCol="0" anchor="t"/>
          <a:lstStyle/>
          <a:p>
            <a:pPr marL="0" indent="0" algn="r">
              <a:buNone/>
            </a:pPr>
            <a:r>
              <a:rPr lang="en-US" sz="800" dirty="0">
                <a:solidFill>
                  <a:srgbClr val="888888"/>
                </a:solidFill>
                <a:latin typeface="Noto Sans KR" pitchFamily="34" charset="0"/>
                <a:ea typeface="Noto Sans KR" pitchFamily="34" charset="-122"/>
                <a:cs typeface="Noto Sans KR" pitchFamily="34" charset="-120"/>
              </a:rPr>
              <a:t>Prompt: cinematic studio lighting, minimal photo studio, clean white backdrop, a stylish creative director in black outfit reviewing AI-generated images on a large monitor...</a:t>
            </a:r>
            <a:endParaRPr lang="en-US" sz="800" dirty="0"/>
          </a:p>
        </p:txBody>
      </p:sp>
      <p:grpSp>
        <p:nvGrpSpPr>
          <p:cNvPr id="11" name="그룹 10">
            <a:extLst>
              <a:ext uri="{FF2B5EF4-FFF2-40B4-BE49-F238E27FC236}">
                <a16:creationId xmlns:a16="http://schemas.microsoft.com/office/drawing/2014/main" id="{46DDB58C-A20B-F4C5-23AB-746B238F5690}"/>
              </a:ext>
            </a:extLst>
          </p:cNvPr>
          <p:cNvGrpSpPr/>
          <p:nvPr/>
        </p:nvGrpSpPr>
        <p:grpSpPr>
          <a:xfrm>
            <a:off x="8529995" y="5673546"/>
            <a:ext cx="2968317" cy="631851"/>
            <a:chOff x="609905" y="5558463"/>
            <a:chExt cx="2968317" cy="631851"/>
          </a:xfrm>
        </p:grpSpPr>
        <p:sp>
          <p:nvSpPr>
            <p:cNvPr id="12" name="Text 9">
              <a:extLst>
                <a:ext uri="{FF2B5EF4-FFF2-40B4-BE49-F238E27FC236}">
                  <a16:creationId xmlns:a16="http://schemas.microsoft.com/office/drawing/2014/main" id="{DFE8DDB0-381C-EA64-4F0F-C68BD3B9862E}"/>
                </a:ext>
              </a:extLst>
            </p:cNvPr>
            <p:cNvSpPr txBox="1"/>
            <p:nvPr/>
          </p:nvSpPr>
          <p:spPr>
            <a:xfrm>
              <a:off x="609905" y="5650992"/>
              <a:ext cx="400507" cy="267005"/>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강사</a:t>
              </a:r>
              <a:endParaRPr lang="en-US" sz="1300" dirty="0"/>
            </a:p>
          </p:txBody>
        </p:sp>
        <p:sp>
          <p:nvSpPr>
            <p:cNvPr id="13" name="Shape 10">
              <a:extLst>
                <a:ext uri="{FF2B5EF4-FFF2-40B4-BE49-F238E27FC236}">
                  <a16:creationId xmlns:a16="http://schemas.microsoft.com/office/drawing/2014/main" id="{21086F10-3237-E60E-0BBD-D3107F94FD86}"/>
                </a:ext>
              </a:extLst>
            </p:cNvPr>
            <p:cNvSpPr/>
            <p:nvPr/>
          </p:nvSpPr>
          <p:spPr>
            <a:xfrm>
              <a:off x="1077163" y="5631790"/>
              <a:ext cx="9144" cy="304495"/>
            </a:xfrm>
            <a:prstGeom prst="rect">
              <a:avLst/>
            </a:prstGeom>
            <a:solidFill>
              <a:srgbClr val="D1D5DB"/>
            </a:solidFill>
            <a:ln w="12700">
              <a:solidFill>
                <a:srgbClr val="FFFFFF">
                  <a:alpha val="0"/>
                </a:srgbClr>
              </a:solidFill>
              <a:prstDash val="solid"/>
            </a:ln>
          </p:spPr>
          <p:txBody>
            <a:bodyPr/>
            <a:lstStyle/>
            <a:p>
              <a:endParaRPr lang="ko-KR" altLang="en-US"/>
            </a:p>
          </p:txBody>
        </p:sp>
        <p:sp>
          <p:nvSpPr>
            <p:cNvPr id="14" name="Text 11">
              <a:extLst>
                <a:ext uri="{FF2B5EF4-FFF2-40B4-BE49-F238E27FC236}">
                  <a16:creationId xmlns:a16="http://schemas.microsoft.com/office/drawing/2014/main" id="{A0795872-B241-8C7B-B306-DEEBCD185246}"/>
                </a:ext>
              </a:extLst>
            </p:cNvPr>
            <p:cNvSpPr txBox="1"/>
            <p:nvPr/>
          </p:nvSpPr>
          <p:spPr>
            <a:xfrm>
              <a:off x="609905" y="5558463"/>
              <a:ext cx="2968317" cy="631851"/>
            </a:xfrm>
            <a:prstGeom prst="rect">
              <a:avLst/>
            </a:prstGeom>
            <a:noFill/>
            <a:ln/>
          </p:spPr>
          <p:txBody>
            <a:bodyPr wrap="square" lIns="0" tIns="0" rIns="0" bIns="0" rtlCol="0" anchor="ctr"/>
            <a:lstStyle/>
            <a:p>
              <a:pPr marL="0" indent="0" algn="r">
                <a:lnSpc>
                  <a:spcPct val="150000"/>
                </a:lnSpc>
                <a:buNone/>
              </a:pPr>
              <a:r>
                <a:rPr lang="ko-KR" altLang="en-US" sz="2000" b="1" dirty="0">
                  <a:solidFill>
                    <a:srgbClr val="000000"/>
                  </a:solidFill>
                  <a:latin typeface="Noto Sans KR" pitchFamily="34" charset="0"/>
                  <a:ea typeface="Noto Sans KR" pitchFamily="34" charset="-122"/>
                  <a:cs typeface="Noto Sans KR" pitchFamily="34" charset="-120"/>
                </a:rPr>
                <a:t>이애본</a:t>
              </a:r>
              <a:r>
                <a:rPr lang="ko-KR" altLang="en-US" sz="1300" dirty="0">
                  <a:solidFill>
                    <a:srgbClr val="000000"/>
                  </a:solidFill>
                  <a:latin typeface="Noto Sans KR" pitchFamily="34" charset="0"/>
                  <a:ea typeface="Noto Sans KR" pitchFamily="34" charset="-122"/>
                  <a:cs typeface="Noto Sans KR" pitchFamily="34" charset="-120"/>
                </a:rPr>
                <a:t/>
              </a:r>
              <a:br>
                <a:rPr lang="en-US" altLang="ko-KR" sz="1300" dirty="0">
                  <a:solidFill>
                    <a:srgbClr val="000000"/>
                  </a:solidFill>
                  <a:latin typeface="Noto Sans KR" pitchFamily="34" charset="0"/>
                  <a:ea typeface="Noto Sans KR" pitchFamily="34" charset="-122"/>
                  <a:cs typeface="Noto Sans KR" pitchFamily="34" charset="-120"/>
                </a:rPr>
              </a:br>
              <a:r>
                <a:rPr lang="en-US" altLang="ko-KR" sz="1300" dirty="0">
                  <a:solidFill>
                    <a:srgbClr val="000000"/>
                  </a:solidFill>
                  <a:latin typeface="Noto Sans KR" pitchFamily="34" charset="0"/>
                  <a:ea typeface="Noto Sans KR" pitchFamily="34" charset="-122"/>
                  <a:cs typeface="Noto Sans KR" pitchFamily="34" charset="-120"/>
                </a:rPr>
                <a:t>(</a:t>
              </a:r>
              <a:r>
                <a:rPr lang="en-US" altLang="ko-KR" sz="1300" dirty="0">
                  <a:solidFill>
                    <a:srgbClr val="000000"/>
                  </a:solidFill>
                  <a:latin typeface="Noto Sans KR" pitchFamily="34" charset="0"/>
                  <a:ea typeface="Noto Sans KR" pitchFamily="34" charset="-122"/>
                  <a:cs typeface="Noto Sans KR" pitchFamily="34" charset="-120"/>
                  <a:hlinkClick r:id="rId4"/>
                </a:rPr>
                <a:t>aebon@dreamitbiz.com</a:t>
              </a:r>
              <a:r>
                <a:rPr lang="en-US" altLang="ko-KR" sz="1300" dirty="0">
                  <a:solidFill>
                    <a:srgbClr val="000000"/>
                  </a:solidFill>
                  <a:latin typeface="Noto Sans KR" pitchFamily="34" charset="0"/>
                  <a:ea typeface="Noto Sans KR" pitchFamily="34" charset="-122"/>
                  <a:cs typeface="Noto Sans KR" pitchFamily="34" charset="-120"/>
                </a:rPr>
                <a:t>)</a:t>
              </a:r>
            </a:p>
            <a:p>
              <a:pPr marL="0" indent="0" algn="r">
                <a:buNone/>
              </a:pPr>
              <a:r>
                <a:rPr lang="ko-KR" altLang="en-US" sz="1400" dirty="0">
                  <a:solidFill>
                    <a:srgbClr val="000000"/>
                  </a:solidFill>
                  <a:latin typeface="Noto Sans KR" pitchFamily="34" charset="0"/>
                  <a:ea typeface="Noto Sans KR" pitchFamily="34" charset="-122"/>
                  <a:cs typeface="Noto Sans KR" pitchFamily="34" charset="-120"/>
                </a:rPr>
                <a:t>드림아이티비즈(DreamIT Biz)</a:t>
              </a:r>
              <a:r>
                <a:rPr lang="en-US" altLang="ko-KR" sz="1400" dirty="0">
                  <a:solidFill>
                    <a:srgbClr val="000000"/>
                  </a:solidFill>
                  <a:latin typeface="Noto Sans KR" pitchFamily="34" charset="0"/>
                  <a:ea typeface="Noto Sans KR" pitchFamily="34" charset="-122"/>
                  <a:cs typeface="Noto Sans KR" pitchFamily="34" charset="-120"/>
                </a:rPr>
                <a:t/>
              </a:r>
              <a:r>
                <a:rPr lang="ko-KR" altLang="en-US" sz="1400" dirty="0">
                  <a:solidFill>
                    <a:srgbClr val="000000"/>
                  </a:solidFill>
                  <a:latin typeface="Noto Sans KR" pitchFamily="34" charset="0"/>
                  <a:ea typeface="Noto Sans KR" pitchFamily="34" charset="-122"/>
                  <a:cs typeface="Noto Sans KR" pitchFamily="34" charset="-120"/>
                </a:rPr>
                <a:t/>
              </a:r>
              <a:r>
                <a:rPr lang="ko-KR" altLang="en-US" sz="1300" dirty="0">
                  <a:solidFill>
                    <a:srgbClr val="000000"/>
                  </a:solidFill>
                  <a:latin typeface="Noto Sans KR" pitchFamily="34" charset="0"/>
                  <a:ea typeface="Noto Sans KR" pitchFamily="34" charset="-122"/>
                  <a:cs typeface="Noto Sans KR" pitchFamily="34" charset="-120"/>
                </a:rPr>
                <a:t> </a:t>
              </a:r>
              <a:endParaRPr lang="en-US" sz="1300" dirty="0"/>
            </a:p>
          </p:txBody>
        </p:sp>
      </p:grpSp>
      <p:sp>
        <p:nvSpPr>
          <p:cNvPr id="15"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txBox="1"/>
          <p:nvPr/>
        </p:nvSpPr>
        <p:spPr>
          <a:xfrm>
            <a:off x="609905" y="609905"/>
            <a:ext cx="8401507" cy="1239012"/>
          </a:xfrm>
          <a:prstGeom prst="rect">
            <a:avLst/>
          </a:prstGeom>
          <a:noFill/>
          <a:ln/>
        </p:spPr>
        <p:txBody>
          <a:bodyPr wrap="square" lIns="0" tIns="0" rIns="0" bIns="0" rtlCol="0" anchor="t"/>
          <a:lstStyle/>
          <a:p>
            <a:pPr marL="0" indent="0" algn="l">
              <a:buNone/>
            </a:pPr>
            <a:r>
              <a:rPr lang="en-US" sz="4000" b="1" kern="0" spc="-75" dirty="0">
                <a:solidFill>
                  <a:srgbClr val="FF6908"/>
                </a:solidFill>
                <a:latin typeface="Pretendard" pitchFamily="34" charset="0"/>
                <a:ea typeface="Pretendard" pitchFamily="34" charset="-122"/>
                <a:cs typeface="Pretendard" pitchFamily="34" charset="-120"/>
              </a:rPr>
              <a:t>AI 이미지 </a:t>
            </a:r>
            <a:r>
              <a:rPr lang="en-US" sz="4000" b="1" kern="0" spc="-75" dirty="0" err="1">
                <a:solidFill>
                  <a:srgbClr val="FF6908"/>
                </a:solidFill>
                <a:latin typeface="Pretendard" pitchFamily="34" charset="0"/>
                <a:ea typeface="Pretendard" pitchFamily="34" charset="-122"/>
                <a:cs typeface="Pretendard" pitchFamily="34" charset="-120"/>
              </a:rPr>
              <a:t>생성의</a:t>
            </a:r>
            <a:r>
              <a:rPr lang="en-US" sz="4000" b="1" kern="0" spc="-75" dirty="0">
                <a:solidFill>
                  <a:srgbClr val="FF6908"/>
                </a:solidFill>
                <a:latin typeface="Pretendard" pitchFamily="34" charset="0"/>
                <a:ea typeface="Pretendard" pitchFamily="34" charset="-122"/>
                <a:cs typeface="Pretendard" pitchFamily="34" charset="-120"/>
              </a:rPr>
              <a:t> </a:t>
            </a:r>
            <a:r>
              <a:rPr lang="en-US" sz="4000" b="1" kern="0" spc="-75" dirty="0" err="1">
                <a:solidFill>
                  <a:srgbClr val="FF6908"/>
                </a:solidFill>
                <a:latin typeface="Pretendard" pitchFamily="34" charset="0"/>
                <a:ea typeface="Pretendard" pitchFamily="34" charset="-122"/>
                <a:cs typeface="Pretendard" pitchFamily="34" charset="-120"/>
              </a:rPr>
              <a:t>혁명</a:t>
            </a:r>
            <a:r>
              <a:rPr lang="en-US" sz="4000" b="1" kern="0" spc="-75" dirty="0">
                <a:solidFill>
                  <a:srgbClr val="FF6908"/>
                </a:solidFill>
                <a:latin typeface="Pretendard" pitchFamily="34" charset="0"/>
                <a:ea typeface="Pretendard" pitchFamily="34" charset="-122"/>
                <a:cs typeface="Pretendard" pitchFamily="34" charset="-120"/>
              </a:rPr>
              <a:t> :</a:t>
            </a:r>
            <a:endParaRPr lang="en-US" sz="4000" dirty="0"/>
          </a:p>
          <a:p>
            <a:pPr marL="0" indent="0" algn="l">
              <a:buNone/>
            </a:pPr>
            <a:r>
              <a:rPr lang="en-US" sz="4000" b="1" kern="0" spc="-75" dirty="0">
                <a:solidFill>
                  <a:srgbClr val="FF6908"/>
                </a:solidFill>
                <a:latin typeface="Pretendard" pitchFamily="34" charset="0"/>
                <a:ea typeface="Pretendard" pitchFamily="34" charset="-122"/>
                <a:cs typeface="Pretendard" pitchFamily="34" charset="-120"/>
              </a:rPr>
              <a:t>비용 · 시간 · 퀄리티</a:t>
            </a:r>
            <a:endParaRPr lang="en-US" sz="4000" dirty="0"/>
          </a:p>
        </p:txBody>
      </p:sp>
      <p:sp>
        <p:nvSpPr>
          <p:cNvPr id="5" name="Text 3"/>
          <p:cNvSpPr txBox="1"/>
          <p:nvPr/>
        </p:nvSpPr>
        <p:spPr>
          <a:xfrm>
            <a:off x="10156241" y="609905"/>
            <a:ext cx="1436522" cy="257861"/>
          </a:xfrm>
          <a:prstGeom prst="rect">
            <a:avLst/>
          </a:prstGeom>
          <a:noFill/>
          <a:ln/>
        </p:spPr>
        <p:txBody>
          <a:bodyPr wrap="square" lIns="0" tIns="0" rIns="0" bIns="0" rtlCol="0" anchor="ctr"/>
          <a:lstStyle/>
          <a:p>
            <a:pPr marL="0" indent="0" algn="r">
              <a:buNone/>
            </a:pPr>
            <a:r>
              <a:rPr lang="en-US" sz="1300" b="1" dirty="0">
                <a:solidFill>
                  <a:srgbClr val="FF6908"/>
                </a:solidFill>
                <a:latin typeface="Pretendard" pitchFamily="34" charset="0"/>
                <a:ea typeface="Pretendard" pitchFamily="34" charset="-122"/>
                <a:cs typeface="Pretendard" pitchFamily="34" charset="-120"/>
              </a:rPr>
              <a:t>AI REVOLUTION</a:t>
            </a:r>
            <a:endParaRPr lang="en-US" sz="1300" dirty="0"/>
          </a:p>
        </p:txBody>
      </p:sp>
      <p:sp>
        <p:nvSpPr>
          <p:cNvPr id="6" name="Text 4"/>
          <p:cNvSpPr txBox="1"/>
          <p:nvPr/>
        </p:nvSpPr>
        <p:spPr>
          <a:xfrm>
            <a:off x="609905" y="2440534"/>
            <a:ext cx="6096305" cy="305410"/>
          </a:xfrm>
          <a:prstGeom prst="rect">
            <a:avLst/>
          </a:prstGeom>
          <a:noFill/>
          <a:ln/>
        </p:spPr>
        <p:txBody>
          <a:bodyPr wrap="square" lIns="0" tIns="0" rIns="0" bIns="0" rtlCol="0" anchor="ctr"/>
          <a:lstStyle/>
          <a:p>
            <a:pPr marL="0" indent="0" algn="l">
              <a:buNone/>
            </a:pPr>
            <a:r>
              <a:rPr lang="en-US" sz="1800" b="1" dirty="0">
                <a:solidFill>
                  <a:srgbClr val="FF6908"/>
                </a:solidFill>
                <a:latin typeface="Pretendard" pitchFamily="34" charset="0"/>
                <a:ea typeface="Pretendard" pitchFamily="34" charset="-122"/>
                <a:cs typeface="Pretendard" pitchFamily="34" charset="-120"/>
              </a:rPr>
              <a:t>비용 절감</a:t>
            </a:r>
            <a:endParaRPr lang="en-US" sz="1800" dirty="0"/>
          </a:p>
        </p:txBody>
      </p:sp>
      <p:sp>
        <p:nvSpPr>
          <p:cNvPr id="7" name="Text 5"/>
          <p:cNvSpPr txBox="1"/>
          <p:nvPr/>
        </p:nvSpPr>
        <p:spPr>
          <a:xfrm>
            <a:off x="1243274" y="2813609"/>
            <a:ext cx="4800994" cy="495605"/>
          </a:xfrm>
          <a:prstGeom prst="rect">
            <a:avLst/>
          </a:prstGeom>
          <a:noFill/>
          <a:ln/>
        </p:spPr>
        <p:txBody>
          <a:bodyPr wrap="square" lIns="0" tIns="0" rIns="0" bIns="0" rtlCol="0" anchor="t"/>
          <a:lstStyle/>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모델·스튜디오가 필요한 촬영보다 AI 생성 비용이 훨씬 적습니다. </a:t>
            </a:r>
          </a:p>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장당 요금은 도구마다 달라 공식 안내 참조(2026-10 기준).</a:t>
            </a:r>
            <a:endParaRPr lang="en-US" sz="1200" dirty="0"/>
          </a:p>
        </p:txBody>
      </p:sp>
      <p:pic>
        <p:nvPicPr>
          <p:cNvPr id="8" name="Image 0" descr="preencoded.png"/>
          <p:cNvPicPr>
            <a:picLocks noChangeAspect="1"/>
          </p:cNvPicPr>
          <p:nvPr/>
        </p:nvPicPr>
        <p:blipFill>
          <a:blip r:embed="rId3">
            <a:alphaModFix amt="40000"/>
          </a:blip>
          <a:srcRect l="-2083" r="-2083"/>
          <a:stretch/>
        </p:blipFill>
        <p:spPr>
          <a:xfrm>
            <a:off x="609905" y="3529584"/>
            <a:ext cx="5973775" cy="9144"/>
          </a:xfrm>
          <a:prstGeom prst="rect">
            <a:avLst/>
          </a:prstGeom>
        </p:spPr>
      </p:pic>
      <p:sp>
        <p:nvSpPr>
          <p:cNvPr id="9" name="Text 6"/>
          <p:cNvSpPr txBox="1"/>
          <p:nvPr/>
        </p:nvSpPr>
        <p:spPr>
          <a:xfrm>
            <a:off x="609905" y="3768242"/>
            <a:ext cx="6096305" cy="305410"/>
          </a:xfrm>
          <a:prstGeom prst="rect">
            <a:avLst/>
          </a:prstGeom>
          <a:noFill/>
          <a:ln/>
        </p:spPr>
        <p:txBody>
          <a:bodyPr wrap="square" lIns="0" tIns="0" rIns="0" bIns="0" rtlCol="0" anchor="ctr"/>
          <a:lstStyle/>
          <a:p>
            <a:pPr marL="0" indent="0" algn="l">
              <a:buNone/>
            </a:pPr>
            <a:r>
              <a:rPr lang="en-US" sz="1800" b="1" dirty="0">
                <a:solidFill>
                  <a:srgbClr val="FF6908"/>
                </a:solidFill>
                <a:latin typeface="Pretendard" pitchFamily="34" charset="0"/>
                <a:ea typeface="Pretendard" pitchFamily="34" charset="-122"/>
                <a:cs typeface="Pretendard" pitchFamily="34" charset="-120"/>
              </a:rPr>
              <a:t>즉각적인 결과 확인 (1일 vs 5분)</a:t>
            </a:r>
            <a:endParaRPr lang="en-US" sz="1800" dirty="0"/>
          </a:p>
        </p:txBody>
      </p:sp>
      <p:sp>
        <p:nvSpPr>
          <p:cNvPr id="10" name="Text 7"/>
          <p:cNvSpPr txBox="1"/>
          <p:nvPr/>
        </p:nvSpPr>
        <p:spPr>
          <a:xfrm>
            <a:off x="1243274" y="4141318"/>
            <a:ext cx="4800994" cy="495605"/>
          </a:xfrm>
          <a:prstGeom prst="rect">
            <a:avLst/>
          </a:prstGeom>
          <a:noFill/>
          <a:ln/>
        </p:spPr>
        <p:txBody>
          <a:bodyPr wrap="square" lIns="0" tIns="0" rIns="0" bIns="0" rtlCol="0" anchor="t"/>
          <a:lstStyle/>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기획부터 섭외, 촬영, 보정까지 최소 하루 이상 걸리던 작업 </a:t>
            </a:r>
            <a:r>
              <a:rPr lang="en-US" sz="1200" dirty="0" err="1">
                <a:solidFill>
                  <a:srgbClr val="000000"/>
                </a:solidFill>
                <a:latin typeface="Noto Sans KR" pitchFamily="34" charset="0"/>
                <a:ea typeface="Noto Sans KR" pitchFamily="34" charset="-122"/>
                <a:cs typeface="Noto Sans KR" pitchFamily="34" charset="-120"/>
              </a:rPr>
              <a:t>프로세스가</a:t>
            </a:r>
            <a:r>
              <a:rPr lang="en-US" sz="1200" dirty="0">
                <a:solidFill>
                  <a:srgbClr val="000000"/>
                </a:solidFill>
                <a:latin typeface="Noto Sans KR" pitchFamily="34" charset="0"/>
                <a:ea typeface="Noto Sans KR" pitchFamily="34" charset="-122"/>
                <a:cs typeface="Noto Sans KR" pitchFamily="34" charset="-120"/>
              </a:rPr>
              <a:t> </a:t>
            </a:r>
          </a:p>
          <a:p>
            <a:pPr marL="0" indent="0" algn="l">
              <a:lnSpc>
                <a:spcPct val="150000"/>
              </a:lnSpc>
              <a:buNone/>
            </a:pPr>
            <a:r>
              <a:rPr lang="en-US" sz="1200" dirty="0" err="1">
                <a:solidFill>
                  <a:srgbClr val="000000"/>
                </a:solidFill>
                <a:latin typeface="Noto Sans KR" pitchFamily="34" charset="0"/>
                <a:ea typeface="Noto Sans KR" pitchFamily="34" charset="-122"/>
                <a:cs typeface="Noto Sans KR" pitchFamily="34" charset="-120"/>
              </a:rPr>
              <a:t>이제</a:t>
            </a:r>
            <a:r>
              <a:rPr lang="en-US" sz="1200" dirty="0">
                <a:solidFill>
                  <a:srgbClr val="000000"/>
                </a:solidFill>
                <a:latin typeface="Noto Sans KR" pitchFamily="34" charset="0"/>
                <a:ea typeface="Noto Sans KR" pitchFamily="34" charset="-122"/>
                <a:cs typeface="Noto Sans KR" pitchFamily="34" charset="-120"/>
              </a:rPr>
              <a:t> 프롬프트 입력 후 5분 내에 생성과 수정까지 완료됩니다.</a:t>
            </a:r>
            <a:endParaRPr lang="en-US" sz="1200" dirty="0"/>
          </a:p>
        </p:txBody>
      </p:sp>
      <p:pic>
        <p:nvPicPr>
          <p:cNvPr id="11" name="Image 1" descr="preencoded.png"/>
          <p:cNvPicPr>
            <a:picLocks noChangeAspect="1"/>
          </p:cNvPicPr>
          <p:nvPr/>
        </p:nvPicPr>
        <p:blipFill>
          <a:blip r:embed="rId3">
            <a:alphaModFix amt="40000"/>
          </a:blip>
          <a:srcRect l="-2083" r="-2083"/>
          <a:stretch/>
        </p:blipFill>
        <p:spPr>
          <a:xfrm>
            <a:off x="609905" y="4857293"/>
            <a:ext cx="5973775" cy="9144"/>
          </a:xfrm>
          <a:prstGeom prst="rect">
            <a:avLst/>
          </a:prstGeom>
        </p:spPr>
      </p:pic>
      <p:sp>
        <p:nvSpPr>
          <p:cNvPr id="12" name="Text 8"/>
          <p:cNvSpPr txBox="1"/>
          <p:nvPr/>
        </p:nvSpPr>
        <p:spPr>
          <a:xfrm>
            <a:off x="609905" y="5095951"/>
            <a:ext cx="6172200" cy="305410"/>
          </a:xfrm>
          <a:prstGeom prst="rect">
            <a:avLst/>
          </a:prstGeom>
          <a:noFill/>
          <a:ln/>
        </p:spPr>
        <p:txBody>
          <a:bodyPr wrap="square" lIns="0" tIns="0" rIns="0" bIns="0" rtlCol="0" anchor="ctr"/>
          <a:lstStyle/>
          <a:p>
            <a:pPr marL="0" indent="0" algn="l">
              <a:buNone/>
            </a:pPr>
            <a:r>
              <a:rPr lang="en-US" sz="1800" b="1" dirty="0">
                <a:solidFill>
                  <a:srgbClr val="FF6908"/>
                </a:solidFill>
                <a:latin typeface="Pretendard" pitchFamily="34" charset="0"/>
                <a:ea typeface="Pretendard" pitchFamily="34" charset="-122"/>
                <a:cs typeface="Pretendard" pitchFamily="34" charset="-120"/>
              </a:rPr>
              <a:t>한계를 넘는 퀄리티 제어</a:t>
            </a:r>
            <a:endParaRPr lang="en-US" sz="1800" dirty="0"/>
          </a:p>
        </p:txBody>
      </p:sp>
      <p:sp>
        <p:nvSpPr>
          <p:cNvPr id="13" name="Text 9"/>
          <p:cNvSpPr txBox="1"/>
          <p:nvPr/>
        </p:nvSpPr>
        <p:spPr>
          <a:xfrm>
            <a:off x="1243274" y="5469026"/>
            <a:ext cx="4800994" cy="495605"/>
          </a:xfrm>
          <a:prstGeom prst="rect">
            <a:avLst/>
          </a:prstGeom>
          <a:noFill/>
          <a:ln/>
        </p:spPr>
        <p:txBody>
          <a:bodyPr wrap="square" lIns="0" tIns="0" rIns="0" bIns="0" rtlCol="0" anchor="t"/>
          <a:lstStyle/>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재촬영의 부담 없이 조명, 구도, 스타일을 정밀하게 </a:t>
            </a:r>
            <a:r>
              <a:rPr lang="en-US" sz="1200" dirty="0" err="1">
                <a:solidFill>
                  <a:srgbClr val="000000"/>
                </a:solidFill>
                <a:latin typeface="Noto Sans KR" pitchFamily="34" charset="0"/>
                <a:ea typeface="Noto Sans KR" pitchFamily="34" charset="-122"/>
                <a:cs typeface="Noto Sans KR" pitchFamily="34" charset="-120"/>
              </a:rPr>
              <a:t>제어하여</a:t>
            </a:r>
            <a:r>
              <a:rPr lang="en-US" sz="1200" dirty="0">
                <a:solidFill>
                  <a:srgbClr val="000000"/>
                </a:solidFill>
                <a:latin typeface="Noto Sans KR" pitchFamily="34" charset="0"/>
                <a:ea typeface="Noto Sans KR" pitchFamily="34" charset="-122"/>
                <a:cs typeface="Noto Sans KR" pitchFamily="34" charset="-120"/>
              </a:rPr>
              <a:t> </a:t>
            </a:r>
          </a:p>
          <a:p>
            <a:pPr marL="0" indent="0" algn="l">
              <a:lnSpc>
                <a:spcPct val="150000"/>
              </a:lnSpc>
              <a:buNone/>
            </a:pPr>
            <a:r>
              <a:rPr lang="en-US" sz="1200" dirty="0" err="1">
                <a:solidFill>
                  <a:srgbClr val="000000"/>
                </a:solidFill>
                <a:latin typeface="Noto Sans KR" pitchFamily="34" charset="0"/>
                <a:ea typeface="Noto Sans KR" pitchFamily="34" charset="-122"/>
                <a:cs typeface="Noto Sans KR" pitchFamily="34" charset="-120"/>
              </a:rPr>
              <a:t>전문가급의</a:t>
            </a:r>
            <a:r>
              <a:rPr lang="en-US" sz="1200" dirty="0">
                <a:solidFill>
                  <a:srgbClr val="000000"/>
                </a:solidFill>
                <a:latin typeface="Noto Sans KR" pitchFamily="34" charset="0"/>
                <a:ea typeface="Noto Sans KR" pitchFamily="34" charset="-122"/>
                <a:cs typeface="Noto Sans KR" pitchFamily="34" charset="-120"/>
              </a:rPr>
              <a:t> 고퀄리티 결과물을 즉시 얻을 수 있습니다.</a:t>
            </a:r>
            <a:endParaRPr lang="en-US" sz="1200" dirty="0"/>
          </a:p>
        </p:txBody>
      </p:sp>
      <p:sp>
        <p:nvSpPr>
          <p:cNvPr id="14" name="Shape 10"/>
          <p:cNvSpPr/>
          <p:nvPr/>
        </p:nvSpPr>
        <p:spPr>
          <a:xfrm>
            <a:off x="7193585" y="2148840"/>
            <a:ext cx="4390949" cy="4105656"/>
          </a:xfrm>
          <a:prstGeom prst="roundRect">
            <a:avLst>
              <a:gd name="adj" fmla="val 1550"/>
            </a:avLst>
          </a:prstGeom>
          <a:solidFill>
            <a:srgbClr val="FFFFFF"/>
          </a:solidFill>
          <a:ln w="12700">
            <a:solidFill>
              <a:srgbClr val="FFFFFF">
                <a:alpha val="0"/>
              </a:srgbClr>
            </a:solidFill>
            <a:prstDash val="solid"/>
          </a:ln>
          <a:effectLst>
            <a:outerShdw blurRad="114300" dist="38100" dir="16200000" algn="bl" rotWithShape="0">
              <a:srgbClr val="000000">
                <a:alpha val="5000"/>
              </a:srgbClr>
            </a:outerShdw>
          </a:effectLst>
        </p:spPr>
        <p:txBody>
          <a:bodyPr/>
          <a:lstStyle/>
          <a:p>
            <a:endParaRPr lang="ko-KR" altLang="en-US"/>
          </a:p>
        </p:txBody>
      </p:sp>
      <p:pic>
        <p:nvPicPr>
          <p:cNvPr id="15" name="Image 2" descr="preencoded.png"/>
          <p:cNvPicPr>
            <a:picLocks noChangeAspect="1"/>
          </p:cNvPicPr>
          <p:nvPr/>
        </p:nvPicPr>
        <p:blipFill>
          <a:blip r:embed="rId4"/>
          <a:srcRect l="20154" r="20154"/>
          <a:stretch/>
        </p:blipFill>
        <p:spPr>
          <a:xfrm>
            <a:off x="7193585" y="2148840"/>
            <a:ext cx="4390949" cy="4105656"/>
          </a:xfrm>
          <a:prstGeom prst="rect">
            <a:avLst/>
          </a:prstGeom>
        </p:spPr>
      </p:pic>
      <p:sp>
        <p:nvSpPr>
          <p:cNvPr id="1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6" name="Text 4"/>
          <p:cNvSpPr txBox="1"/>
          <p:nvPr/>
        </p:nvSpPr>
        <p:spPr>
          <a:xfrm>
            <a:off x="1177748" y="1587231"/>
            <a:ext cx="3221889" cy="2019910"/>
          </a:xfrm>
          <a:prstGeom prst="rect">
            <a:avLst/>
          </a:prstGeom>
          <a:noFill/>
          <a:ln/>
        </p:spPr>
        <p:txBody>
          <a:bodyPr wrap="square" lIns="0" tIns="0" rIns="0" bIns="0" rtlCol="0" anchor="t"/>
          <a:lstStyle/>
          <a:p>
            <a:pPr marL="0" indent="0" algn="l">
              <a:buNone/>
            </a:pPr>
            <a:r>
              <a:rPr lang="en-US" sz="4800" b="1" kern="0" spc="-75" dirty="0">
                <a:solidFill>
                  <a:srgbClr val="FF6908"/>
                </a:solidFill>
                <a:latin typeface="Pretendard" pitchFamily="34" charset="0"/>
                <a:ea typeface="Pretendard" pitchFamily="34" charset="-122"/>
                <a:cs typeface="Pretendard" pitchFamily="34" charset="-120"/>
              </a:rPr>
              <a:t>초보자가</a:t>
            </a:r>
            <a:endParaRPr lang="en-US" sz="4800" dirty="0"/>
          </a:p>
          <a:p>
            <a:pPr marL="0" indent="0" algn="l">
              <a:buNone/>
            </a:pPr>
            <a:r>
              <a:rPr lang="en-US" sz="4800" b="1" kern="0" spc="-75" dirty="0">
                <a:solidFill>
                  <a:srgbClr val="FF6908"/>
                </a:solidFill>
                <a:latin typeface="Pretendard" pitchFamily="34" charset="0"/>
                <a:ea typeface="Pretendard" pitchFamily="34" charset="-122"/>
                <a:cs typeface="Pretendard" pitchFamily="34" charset="-120"/>
              </a:rPr>
              <a:t>빠지는</a:t>
            </a:r>
            <a:endParaRPr lang="en-US" sz="4800" dirty="0"/>
          </a:p>
          <a:p>
            <a:pPr marL="0" indent="0" algn="l">
              <a:buNone/>
            </a:pPr>
            <a:r>
              <a:rPr lang="en-US" sz="4800" b="1" kern="0" spc="-75" dirty="0">
                <a:solidFill>
                  <a:srgbClr val="FF6908"/>
                </a:solidFill>
                <a:latin typeface="Pretendard" pitchFamily="34" charset="0"/>
                <a:ea typeface="Pretendard" pitchFamily="34" charset="-122"/>
                <a:cs typeface="Pretendard" pitchFamily="34" charset="-120"/>
              </a:rPr>
              <a:t>5가지 착각</a:t>
            </a:r>
            <a:endParaRPr lang="en-US" sz="4800" dirty="0"/>
          </a:p>
        </p:txBody>
      </p:sp>
      <p:sp>
        <p:nvSpPr>
          <p:cNvPr id="7" name="Shape 5"/>
          <p:cNvSpPr/>
          <p:nvPr/>
        </p:nvSpPr>
        <p:spPr>
          <a:xfrm>
            <a:off x="1107797" y="4661020"/>
            <a:ext cx="38405" cy="828446"/>
          </a:xfrm>
          <a:prstGeom prst="rect">
            <a:avLst/>
          </a:prstGeom>
          <a:solidFill>
            <a:srgbClr val="FF6908"/>
          </a:solidFill>
          <a:ln w="12700">
            <a:solidFill>
              <a:srgbClr val="FF6908">
                <a:alpha val="0"/>
              </a:srgbClr>
            </a:solidFill>
            <a:prstDash val="solid"/>
          </a:ln>
        </p:spPr>
        <p:txBody>
          <a:bodyPr/>
          <a:lstStyle/>
          <a:p>
            <a:endParaRPr lang="ko-KR" altLang="en-US"/>
          </a:p>
        </p:txBody>
      </p:sp>
      <p:sp>
        <p:nvSpPr>
          <p:cNvPr id="8" name="Text 6"/>
          <p:cNvSpPr txBox="1"/>
          <p:nvPr/>
        </p:nvSpPr>
        <p:spPr>
          <a:xfrm>
            <a:off x="1373887" y="4661020"/>
            <a:ext cx="3896258" cy="829361"/>
          </a:xfrm>
          <a:prstGeom prst="rect">
            <a:avLst/>
          </a:prstGeom>
          <a:noFill/>
          <a:ln/>
        </p:spPr>
        <p:txBody>
          <a:bodyPr wrap="square" lIns="0" tIns="0" rIns="0" bIns="0" rtlCol="0" anchor="t"/>
          <a:lstStyle/>
          <a:p>
            <a:pPr marL="0" indent="0" algn="l">
              <a:lnSpc>
                <a:spcPct val="150000"/>
              </a:lnSpc>
              <a:buNone/>
            </a:pPr>
            <a:r>
              <a:rPr lang="en-US" sz="1300" dirty="0">
                <a:solidFill>
                  <a:srgbClr val="333333"/>
                </a:solidFill>
                <a:latin typeface="Noto Sans KR" pitchFamily="34" charset="0"/>
                <a:ea typeface="Noto Sans KR" pitchFamily="34" charset="-122"/>
                <a:cs typeface="Noto Sans KR" pitchFamily="34" charset="-120"/>
              </a:rPr>
              <a:t> AI 이미지 생성에서</a:t>
            </a:r>
            <a:endParaRPr lang="en-US" sz="1300" dirty="0"/>
          </a:p>
          <a:p>
            <a:pPr marL="0" indent="0" algn="l">
              <a:lnSpc>
                <a:spcPct val="150000"/>
              </a:lnSpc>
              <a:buNone/>
            </a:pPr>
            <a:r>
              <a:rPr lang="en-US" sz="1300" dirty="0">
                <a:solidFill>
                  <a:srgbClr val="333333"/>
                </a:solidFill>
                <a:latin typeface="Noto Sans KR" pitchFamily="34" charset="0"/>
                <a:ea typeface="Noto Sans KR" pitchFamily="34" charset="-122"/>
                <a:cs typeface="Noto Sans KR" pitchFamily="34" charset="-120"/>
              </a:rPr>
              <a:t> 흔히 범하는 실수들을</a:t>
            </a:r>
            <a:endParaRPr lang="en-US" sz="1300" dirty="0"/>
          </a:p>
          <a:p>
            <a:pPr marL="0" indent="0" algn="l">
              <a:lnSpc>
                <a:spcPct val="150000"/>
              </a:lnSpc>
              <a:buNone/>
            </a:pPr>
            <a:r>
              <a:rPr lang="en-US" sz="1300" dirty="0">
                <a:solidFill>
                  <a:srgbClr val="333333"/>
                </a:solidFill>
                <a:latin typeface="Noto Sans KR" pitchFamily="34" charset="0"/>
                <a:ea typeface="Noto Sans KR" pitchFamily="34" charset="-122"/>
                <a:cs typeface="Noto Sans KR" pitchFamily="34" charset="-120"/>
              </a:rPr>
              <a:t> 피해야 실력이 늡니다. </a:t>
            </a:r>
            <a:endParaRPr lang="en-US" sz="1300" dirty="0"/>
          </a:p>
        </p:txBody>
      </p:sp>
      <p:grpSp>
        <p:nvGrpSpPr>
          <p:cNvPr id="29" name="그룹 28">
            <a:extLst>
              <a:ext uri="{FF2B5EF4-FFF2-40B4-BE49-F238E27FC236}">
                <a16:creationId xmlns:a16="http://schemas.microsoft.com/office/drawing/2014/main" id="{5E27BE2F-EAB2-2D9D-C7D7-B7D7412E8632}"/>
              </a:ext>
            </a:extLst>
          </p:cNvPr>
          <p:cNvGrpSpPr/>
          <p:nvPr/>
        </p:nvGrpSpPr>
        <p:grpSpPr>
          <a:xfrm>
            <a:off x="5379415" y="1097862"/>
            <a:ext cx="6401715" cy="786384"/>
            <a:chOff x="5379415" y="896526"/>
            <a:chExt cx="6401715" cy="786384"/>
          </a:xfrm>
        </p:grpSpPr>
        <p:sp>
          <p:nvSpPr>
            <p:cNvPr id="9" name="Shape 7"/>
            <p:cNvSpPr/>
            <p:nvPr/>
          </p:nvSpPr>
          <p:spPr>
            <a:xfrm>
              <a:off x="5379415" y="934017"/>
              <a:ext cx="381305" cy="381305"/>
            </a:xfrm>
            <a:prstGeom prst="ellipse">
              <a:avLst/>
            </a:prstGeom>
            <a:solidFill>
              <a:srgbClr val="FF6908"/>
            </a:solidFill>
            <a:ln w="12700">
              <a:solidFill>
                <a:srgbClr val="FFFFFF">
                  <a:alpha val="0"/>
                </a:srgbClr>
              </a:solidFill>
              <a:prstDash val="solid"/>
            </a:ln>
          </p:spPr>
          <p:txBody>
            <a:bodyPr/>
            <a:lstStyle/>
            <a:p>
              <a:endParaRPr lang="ko-KR" altLang="en-US"/>
            </a:p>
          </p:txBody>
        </p:sp>
        <p:sp>
          <p:nvSpPr>
            <p:cNvPr id="10" name="Text 8"/>
            <p:cNvSpPr txBox="1"/>
            <p:nvPr/>
          </p:nvSpPr>
          <p:spPr>
            <a:xfrm>
              <a:off x="5517490" y="982480"/>
              <a:ext cx="191110"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11" name="Text 9"/>
            <p:cNvSpPr txBox="1"/>
            <p:nvPr/>
          </p:nvSpPr>
          <p:spPr>
            <a:xfrm>
              <a:off x="5989320" y="896526"/>
              <a:ext cx="5791810" cy="277063"/>
            </a:xfrm>
            <a:prstGeom prst="rect">
              <a:avLst/>
            </a:prstGeom>
            <a:noFill/>
            <a:ln/>
          </p:spPr>
          <p:txBody>
            <a:bodyPr wrap="square" lIns="0" tIns="0" rIns="0" bIns="0" rtlCol="0" anchor="ctr"/>
            <a:lstStyle/>
            <a:p>
              <a:pPr marL="0" indent="0" algn="l">
                <a:buNone/>
              </a:pPr>
              <a:r>
                <a:rPr lang="en-US" sz="1600" b="1" dirty="0">
                  <a:solidFill>
                    <a:srgbClr val="000000"/>
                  </a:solidFill>
                  <a:latin typeface="Pretendard" pitchFamily="34" charset="0"/>
                  <a:ea typeface="Pretendard" pitchFamily="34" charset="-122"/>
                  <a:cs typeface="Pretendard" pitchFamily="34" charset="-120"/>
                </a:rPr>
                <a:t>한 번에 완벽 결과를 기대함</a:t>
              </a:r>
              <a:endParaRPr lang="en-US" sz="1600" dirty="0"/>
            </a:p>
          </p:txBody>
        </p:sp>
        <p:sp>
          <p:nvSpPr>
            <p:cNvPr id="12" name="Text 10"/>
            <p:cNvSpPr txBox="1"/>
            <p:nvPr/>
          </p:nvSpPr>
          <p:spPr>
            <a:xfrm>
              <a:off x="5989320" y="1225710"/>
              <a:ext cx="5677510" cy="457200"/>
            </a:xfrm>
            <a:prstGeom prst="rect">
              <a:avLst/>
            </a:prstGeom>
            <a:noFill/>
            <a:ln/>
          </p:spPr>
          <p:txBody>
            <a:bodyPr wrap="square" lIns="0" tIns="0" rIns="0" bIns="0" rtlCol="0" anchor="t"/>
            <a:lstStyle/>
            <a:p>
              <a:pPr marL="0" indent="0" algn="l">
                <a:lnSpc>
                  <a:spcPct val="150000"/>
                </a:lnSpc>
                <a:buNone/>
              </a:pPr>
              <a:r>
                <a:rPr lang="en-US" sz="1200" dirty="0">
                  <a:solidFill>
                    <a:srgbClr val="555555"/>
                  </a:solidFill>
                  <a:latin typeface="Noto Sans KR" pitchFamily="34" charset="0"/>
                  <a:ea typeface="Noto Sans KR" pitchFamily="34" charset="-122"/>
                  <a:cs typeface="Noto Sans KR" pitchFamily="34" charset="-120"/>
                </a:rPr>
                <a:t>한 번의 프롬프트로 완벽한 이미지는 불가능합니다. </a:t>
              </a:r>
            </a:p>
            <a:p>
              <a:pPr marL="0" indent="0" algn="l">
                <a:lnSpc>
                  <a:spcPct val="150000"/>
                </a:lnSpc>
                <a:buNone/>
              </a:pPr>
              <a:r>
                <a:rPr lang="en-US" sz="1200" dirty="0" err="1">
                  <a:solidFill>
                    <a:srgbClr val="555555"/>
                  </a:solidFill>
                  <a:latin typeface="Noto Sans KR" pitchFamily="34" charset="0"/>
                  <a:ea typeface="Noto Sans KR" pitchFamily="34" charset="-122"/>
                  <a:cs typeface="Noto Sans KR" pitchFamily="34" charset="-120"/>
                </a:rPr>
                <a:t>짧은</a:t>
              </a:r>
              <a:r>
                <a:rPr lang="en-US" sz="1200" dirty="0">
                  <a:solidFill>
                    <a:srgbClr val="555555"/>
                  </a:solidFill>
                  <a:latin typeface="Noto Sans KR" pitchFamily="34" charset="0"/>
                  <a:ea typeface="Noto Sans KR" pitchFamily="34" charset="-122"/>
                  <a:cs typeface="Noto Sans KR" pitchFamily="34" charset="-120"/>
                </a:rPr>
                <a:t> 반복 테스트와 수정이 핵심입니다.</a:t>
              </a:r>
              <a:endParaRPr lang="en-US" sz="1200" dirty="0"/>
            </a:p>
          </p:txBody>
        </p:sp>
      </p:grpSp>
      <p:grpSp>
        <p:nvGrpSpPr>
          <p:cNvPr id="30" name="그룹 29">
            <a:extLst>
              <a:ext uri="{FF2B5EF4-FFF2-40B4-BE49-F238E27FC236}">
                <a16:creationId xmlns:a16="http://schemas.microsoft.com/office/drawing/2014/main" id="{D9D58D02-07F0-C413-585B-A72B1EC72811}"/>
              </a:ext>
            </a:extLst>
          </p:cNvPr>
          <p:cNvGrpSpPr/>
          <p:nvPr/>
        </p:nvGrpSpPr>
        <p:grpSpPr>
          <a:xfrm>
            <a:off x="5379415" y="2203615"/>
            <a:ext cx="6945783" cy="612573"/>
            <a:chOff x="5379415" y="2096719"/>
            <a:chExt cx="6945783" cy="612573"/>
          </a:xfrm>
        </p:grpSpPr>
        <p:sp>
          <p:nvSpPr>
            <p:cNvPr id="13" name="Shape 11"/>
            <p:cNvSpPr/>
            <p:nvPr/>
          </p:nvSpPr>
          <p:spPr>
            <a:xfrm>
              <a:off x="5379415" y="2134210"/>
              <a:ext cx="381305" cy="381305"/>
            </a:xfrm>
            <a:prstGeom prst="ellipse">
              <a:avLst/>
            </a:prstGeom>
            <a:solidFill>
              <a:srgbClr val="FF6908"/>
            </a:solidFill>
            <a:ln w="12700">
              <a:solidFill>
                <a:srgbClr val="FFFFFF">
                  <a:alpha val="0"/>
                </a:srgbClr>
              </a:solidFill>
              <a:prstDash val="solid"/>
            </a:ln>
          </p:spPr>
          <p:txBody>
            <a:bodyPr/>
            <a:lstStyle/>
            <a:p>
              <a:endParaRPr lang="ko-KR" altLang="en-US"/>
            </a:p>
          </p:txBody>
        </p:sp>
        <p:sp>
          <p:nvSpPr>
            <p:cNvPr id="14" name="Text 12"/>
            <p:cNvSpPr txBox="1"/>
            <p:nvPr/>
          </p:nvSpPr>
          <p:spPr>
            <a:xfrm>
              <a:off x="5517490" y="2182673"/>
              <a:ext cx="191110"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15" name="Text 13"/>
            <p:cNvSpPr txBox="1"/>
            <p:nvPr/>
          </p:nvSpPr>
          <p:spPr>
            <a:xfrm>
              <a:off x="5989320" y="2096719"/>
              <a:ext cx="5791810" cy="277063"/>
            </a:xfrm>
            <a:prstGeom prst="rect">
              <a:avLst/>
            </a:prstGeom>
            <a:noFill/>
            <a:ln/>
          </p:spPr>
          <p:txBody>
            <a:bodyPr wrap="square" lIns="0" tIns="0" rIns="0" bIns="0" rtlCol="0" anchor="ctr"/>
            <a:lstStyle/>
            <a:p>
              <a:pPr marL="0" indent="0" algn="l">
                <a:buNone/>
              </a:pPr>
              <a:r>
                <a:rPr lang="en-US" sz="1600" b="1" dirty="0">
                  <a:solidFill>
                    <a:srgbClr val="000000"/>
                  </a:solidFill>
                  <a:latin typeface="Pretendard" pitchFamily="34" charset="0"/>
                  <a:ea typeface="Pretendard" pitchFamily="34" charset="-122"/>
                  <a:cs typeface="Pretendard" pitchFamily="34" charset="-120"/>
                </a:rPr>
                <a:t>프롬프트를 두루뭉술하게 작성</a:t>
              </a:r>
              <a:endParaRPr lang="en-US" sz="1600" dirty="0"/>
            </a:p>
          </p:txBody>
        </p:sp>
        <p:sp>
          <p:nvSpPr>
            <p:cNvPr id="16" name="Text 14"/>
            <p:cNvSpPr txBox="1"/>
            <p:nvPr/>
          </p:nvSpPr>
          <p:spPr>
            <a:xfrm>
              <a:off x="5989320" y="2480692"/>
              <a:ext cx="6335878" cy="228600"/>
            </a:xfrm>
            <a:prstGeom prst="rect">
              <a:avLst/>
            </a:prstGeom>
            <a:noFill/>
            <a:ln/>
          </p:spPr>
          <p:txBody>
            <a:bodyPr wrap="square" lIns="0" tIns="0" rIns="0" bIns="0" rtlCol="0" anchor="ctr"/>
            <a:lstStyle/>
            <a:p>
              <a:pPr marL="0" indent="0" algn="l">
                <a:lnSpc>
                  <a:spcPct val="150000"/>
                </a:lnSpc>
                <a:buNone/>
              </a:pPr>
              <a:r>
                <a:rPr lang="en-US" sz="1200" dirty="0">
                  <a:solidFill>
                    <a:srgbClr val="555555"/>
                  </a:solidFill>
                  <a:latin typeface="Noto Sans KR" pitchFamily="34" charset="0"/>
                  <a:ea typeface="Noto Sans KR" pitchFamily="34" charset="-122"/>
                  <a:cs typeface="Noto Sans KR" pitchFamily="34" charset="-120"/>
                </a:rPr>
                <a:t>AI는 명확한 지시를 원합니다. </a:t>
              </a:r>
            </a:p>
            <a:p>
              <a:pPr marL="0" indent="0" algn="l">
                <a:lnSpc>
                  <a:spcPct val="150000"/>
                </a:lnSpc>
                <a:buNone/>
              </a:pPr>
              <a:r>
                <a:rPr lang="en-US" sz="1200" dirty="0" err="1">
                  <a:solidFill>
                    <a:srgbClr val="555555"/>
                  </a:solidFill>
                  <a:latin typeface="Noto Sans KR" pitchFamily="34" charset="0"/>
                  <a:ea typeface="Noto Sans KR" pitchFamily="34" charset="-122"/>
                  <a:cs typeface="Noto Sans KR" pitchFamily="34" charset="-120"/>
                </a:rPr>
                <a:t>스타일</a:t>
              </a:r>
              <a:r>
                <a:rPr lang="en-US" sz="1200" dirty="0">
                  <a:solidFill>
                    <a:srgbClr val="555555"/>
                  </a:solidFill>
                  <a:latin typeface="Noto Sans KR" pitchFamily="34" charset="0"/>
                  <a:ea typeface="Noto Sans KR" pitchFamily="34" charset="-122"/>
                  <a:cs typeface="Noto Sans KR" pitchFamily="34" charset="-120"/>
                </a:rPr>
                <a:t>, 조명, 구도 등 요소별로 구체화가 필요합니다.</a:t>
              </a:r>
              <a:endParaRPr lang="en-US" sz="1200" dirty="0"/>
            </a:p>
          </p:txBody>
        </p:sp>
      </p:grpSp>
      <p:grpSp>
        <p:nvGrpSpPr>
          <p:cNvPr id="31" name="그룹 30">
            <a:extLst>
              <a:ext uri="{FF2B5EF4-FFF2-40B4-BE49-F238E27FC236}">
                <a16:creationId xmlns:a16="http://schemas.microsoft.com/office/drawing/2014/main" id="{C271A56E-DEB1-2329-2AC1-179BD7245A9B}"/>
              </a:ext>
            </a:extLst>
          </p:cNvPr>
          <p:cNvGrpSpPr/>
          <p:nvPr/>
        </p:nvGrpSpPr>
        <p:grpSpPr>
          <a:xfrm>
            <a:off x="5379415" y="3275380"/>
            <a:ext cx="6401715" cy="786384"/>
            <a:chOff x="5379415" y="3139711"/>
            <a:chExt cx="6401715" cy="786384"/>
          </a:xfrm>
        </p:grpSpPr>
        <p:sp>
          <p:nvSpPr>
            <p:cNvPr id="17" name="Shape 15"/>
            <p:cNvSpPr/>
            <p:nvPr/>
          </p:nvSpPr>
          <p:spPr>
            <a:xfrm>
              <a:off x="5379415" y="3177201"/>
              <a:ext cx="381305" cy="381305"/>
            </a:xfrm>
            <a:prstGeom prst="ellipse">
              <a:avLst/>
            </a:prstGeom>
            <a:solidFill>
              <a:srgbClr val="FF6908"/>
            </a:solidFill>
            <a:ln w="12700">
              <a:solidFill>
                <a:srgbClr val="FFFFFF">
                  <a:alpha val="0"/>
                </a:srgbClr>
              </a:solidFill>
              <a:prstDash val="solid"/>
            </a:ln>
          </p:spPr>
          <p:txBody>
            <a:bodyPr/>
            <a:lstStyle/>
            <a:p>
              <a:endParaRPr lang="ko-KR" altLang="en-US"/>
            </a:p>
          </p:txBody>
        </p:sp>
        <p:sp>
          <p:nvSpPr>
            <p:cNvPr id="18" name="Text 16"/>
            <p:cNvSpPr txBox="1"/>
            <p:nvPr/>
          </p:nvSpPr>
          <p:spPr>
            <a:xfrm>
              <a:off x="5517490" y="3225665"/>
              <a:ext cx="191110"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19" name="Text 17"/>
            <p:cNvSpPr txBox="1"/>
            <p:nvPr/>
          </p:nvSpPr>
          <p:spPr>
            <a:xfrm>
              <a:off x="5989320" y="3139711"/>
              <a:ext cx="5791810" cy="277063"/>
            </a:xfrm>
            <a:prstGeom prst="rect">
              <a:avLst/>
            </a:prstGeom>
            <a:noFill/>
            <a:ln/>
          </p:spPr>
          <p:txBody>
            <a:bodyPr wrap="square" lIns="0" tIns="0" rIns="0" bIns="0" rtlCol="0" anchor="ctr"/>
            <a:lstStyle/>
            <a:p>
              <a:pPr marL="0" indent="0" algn="l">
                <a:buNone/>
              </a:pPr>
              <a:r>
                <a:rPr lang="en-US" sz="1600" b="1" dirty="0">
                  <a:solidFill>
                    <a:srgbClr val="000000"/>
                  </a:solidFill>
                  <a:latin typeface="Pretendard" pitchFamily="34" charset="0"/>
                  <a:ea typeface="Pretendard" pitchFamily="34" charset="-122"/>
                  <a:cs typeface="Pretendard" pitchFamily="34" charset="-120"/>
                </a:rPr>
                <a:t>구도, 시선, 매체 무시</a:t>
              </a:r>
              <a:endParaRPr lang="en-US" sz="1600" dirty="0"/>
            </a:p>
          </p:txBody>
        </p:sp>
        <p:sp>
          <p:nvSpPr>
            <p:cNvPr id="20" name="Text 18"/>
            <p:cNvSpPr txBox="1"/>
            <p:nvPr/>
          </p:nvSpPr>
          <p:spPr>
            <a:xfrm>
              <a:off x="5989320" y="3468895"/>
              <a:ext cx="5677510" cy="457200"/>
            </a:xfrm>
            <a:prstGeom prst="rect">
              <a:avLst/>
            </a:prstGeom>
            <a:noFill/>
            <a:ln/>
          </p:spPr>
          <p:txBody>
            <a:bodyPr wrap="square" lIns="0" tIns="0" rIns="0" bIns="0" rtlCol="0" anchor="t"/>
            <a:lstStyle/>
            <a:p>
              <a:pPr marL="0" indent="0" algn="l">
                <a:buNone/>
              </a:pPr>
              <a:r>
                <a:rPr lang="en-US" sz="1200" dirty="0">
                  <a:solidFill>
                    <a:srgbClr val="555555"/>
                  </a:solidFill>
                  <a:latin typeface="Noto Sans KR" pitchFamily="34" charset="0"/>
                  <a:ea typeface="Noto Sans KR" pitchFamily="34" charset="-122"/>
                  <a:cs typeface="Noto Sans KR" pitchFamily="34" charset="-120"/>
                </a:rPr>
                <a:t>기본적인 사진 이론 없이 생성하면 결과물의 일관성이 붕괴되어 상업적 사용이 어렵습니다.</a:t>
              </a:r>
              <a:endParaRPr lang="en-US" sz="1200" dirty="0"/>
            </a:p>
          </p:txBody>
        </p:sp>
      </p:grpSp>
      <p:grpSp>
        <p:nvGrpSpPr>
          <p:cNvPr id="32" name="그룹 31">
            <a:extLst>
              <a:ext uri="{FF2B5EF4-FFF2-40B4-BE49-F238E27FC236}">
                <a16:creationId xmlns:a16="http://schemas.microsoft.com/office/drawing/2014/main" id="{E52764A9-2921-6905-04AB-73C6F90F1E5A}"/>
              </a:ext>
            </a:extLst>
          </p:cNvPr>
          <p:cNvGrpSpPr/>
          <p:nvPr/>
        </p:nvGrpSpPr>
        <p:grpSpPr>
          <a:xfrm>
            <a:off x="5379415" y="4241310"/>
            <a:ext cx="6401715" cy="786384"/>
            <a:chOff x="5379415" y="3974897"/>
            <a:chExt cx="6401715" cy="786384"/>
          </a:xfrm>
        </p:grpSpPr>
        <p:sp>
          <p:nvSpPr>
            <p:cNvPr id="21" name="Shape 19"/>
            <p:cNvSpPr/>
            <p:nvPr/>
          </p:nvSpPr>
          <p:spPr>
            <a:xfrm>
              <a:off x="5379415" y="4013302"/>
              <a:ext cx="381305" cy="381305"/>
            </a:xfrm>
            <a:prstGeom prst="ellipse">
              <a:avLst/>
            </a:prstGeom>
            <a:solidFill>
              <a:srgbClr val="FF6908"/>
            </a:solidFill>
            <a:ln w="12700">
              <a:solidFill>
                <a:srgbClr val="FFFFFF">
                  <a:alpha val="0"/>
                </a:srgbClr>
              </a:solidFill>
              <a:prstDash val="solid"/>
            </a:ln>
          </p:spPr>
          <p:txBody>
            <a:bodyPr/>
            <a:lstStyle/>
            <a:p>
              <a:endParaRPr lang="ko-KR" altLang="en-US"/>
            </a:p>
          </p:txBody>
        </p:sp>
        <p:sp>
          <p:nvSpPr>
            <p:cNvPr id="22" name="Text 20"/>
            <p:cNvSpPr txBox="1"/>
            <p:nvPr/>
          </p:nvSpPr>
          <p:spPr>
            <a:xfrm>
              <a:off x="5517490" y="4060850"/>
              <a:ext cx="191110"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23" name="Text 21"/>
            <p:cNvSpPr txBox="1"/>
            <p:nvPr/>
          </p:nvSpPr>
          <p:spPr>
            <a:xfrm>
              <a:off x="5989320" y="3974897"/>
              <a:ext cx="5791810" cy="277063"/>
            </a:xfrm>
            <a:prstGeom prst="rect">
              <a:avLst/>
            </a:prstGeom>
            <a:noFill/>
            <a:ln/>
          </p:spPr>
          <p:txBody>
            <a:bodyPr wrap="square" lIns="0" tIns="0" rIns="0" bIns="0" rtlCol="0" anchor="ctr"/>
            <a:lstStyle/>
            <a:p>
              <a:pPr marL="0" indent="0" algn="l">
                <a:buNone/>
              </a:pPr>
              <a:r>
                <a:rPr lang="en-US" sz="1600" b="1" dirty="0">
                  <a:solidFill>
                    <a:srgbClr val="000000"/>
                  </a:solidFill>
                  <a:latin typeface="Pretendard" pitchFamily="34" charset="0"/>
                  <a:ea typeface="Pretendard" pitchFamily="34" charset="-122"/>
                  <a:cs typeface="Pretendard" pitchFamily="34" charset="-120"/>
                </a:rPr>
                <a:t>한 가지 툴만 고집</a:t>
              </a:r>
              <a:endParaRPr lang="en-US" sz="1600" dirty="0"/>
            </a:p>
          </p:txBody>
        </p:sp>
        <p:sp>
          <p:nvSpPr>
            <p:cNvPr id="24" name="Text 22"/>
            <p:cNvSpPr txBox="1"/>
            <p:nvPr/>
          </p:nvSpPr>
          <p:spPr>
            <a:xfrm>
              <a:off x="5989320" y="4304081"/>
              <a:ext cx="5677510" cy="457200"/>
            </a:xfrm>
            <a:prstGeom prst="rect">
              <a:avLst/>
            </a:prstGeom>
            <a:noFill/>
            <a:ln/>
          </p:spPr>
          <p:txBody>
            <a:bodyPr wrap="square" lIns="0" tIns="0" rIns="0" bIns="0" rtlCol="0" anchor="t"/>
            <a:lstStyle/>
            <a:p>
              <a:pPr marL="0" indent="0" algn="l">
                <a:lnSpc>
                  <a:spcPct val="150000"/>
                </a:lnSpc>
                <a:buNone/>
              </a:pPr>
              <a:r>
                <a:rPr lang="en-US" sz="1200" dirty="0">
                  <a:solidFill>
                    <a:srgbClr val="555555"/>
                  </a:solidFill>
                  <a:latin typeface="Noto Sans KR" pitchFamily="34" charset="0"/>
                  <a:ea typeface="Noto Sans KR" pitchFamily="34" charset="-122"/>
                  <a:cs typeface="Noto Sans KR" pitchFamily="34" charset="-120"/>
                </a:rPr>
                <a:t>AI 툴마다 장단점이 다릅니다. </a:t>
              </a:r>
            </a:p>
            <a:p>
              <a:pPr marL="0" indent="0" algn="l">
                <a:lnSpc>
                  <a:spcPct val="150000"/>
                </a:lnSpc>
                <a:buNone/>
              </a:pPr>
              <a:r>
                <a:rPr lang="en-US" sz="1200" dirty="0" err="1">
                  <a:solidFill>
                    <a:srgbClr val="555555"/>
                  </a:solidFill>
                  <a:latin typeface="Noto Sans KR" pitchFamily="34" charset="0"/>
                  <a:ea typeface="Noto Sans KR" pitchFamily="34" charset="-122"/>
                  <a:cs typeface="Noto Sans KR" pitchFamily="34" charset="-120"/>
                </a:rPr>
                <a:t>생성</a:t>
              </a:r>
              <a:r>
                <a:rPr lang="en-US" sz="1200" dirty="0">
                  <a:solidFill>
                    <a:srgbClr val="555555"/>
                  </a:solidFill>
                  <a:latin typeface="Noto Sans KR" pitchFamily="34" charset="0"/>
                  <a:ea typeface="Noto Sans KR" pitchFamily="34" charset="-122"/>
                  <a:cs typeface="Noto Sans KR" pitchFamily="34" charset="-120"/>
                </a:rPr>
                <a:t>, 합성, 후보정을 연결하는 파이프라인 설계가 필요합니다.</a:t>
              </a:r>
              <a:endParaRPr lang="en-US" sz="1200" dirty="0"/>
            </a:p>
          </p:txBody>
        </p:sp>
      </p:grpSp>
      <p:grpSp>
        <p:nvGrpSpPr>
          <p:cNvPr id="33" name="그룹 32">
            <a:extLst>
              <a:ext uri="{FF2B5EF4-FFF2-40B4-BE49-F238E27FC236}">
                <a16:creationId xmlns:a16="http://schemas.microsoft.com/office/drawing/2014/main" id="{E71E0F32-DE76-93CC-18B0-899367F2A3AC}"/>
              </a:ext>
            </a:extLst>
          </p:cNvPr>
          <p:cNvGrpSpPr/>
          <p:nvPr/>
        </p:nvGrpSpPr>
        <p:grpSpPr>
          <a:xfrm>
            <a:off x="5379415" y="5347064"/>
            <a:ext cx="6401715" cy="786384"/>
            <a:chOff x="5379415" y="5145728"/>
            <a:chExt cx="6401715" cy="786384"/>
          </a:xfrm>
        </p:grpSpPr>
        <p:sp>
          <p:nvSpPr>
            <p:cNvPr id="25" name="Shape 23"/>
            <p:cNvSpPr/>
            <p:nvPr/>
          </p:nvSpPr>
          <p:spPr>
            <a:xfrm>
              <a:off x="5379415" y="5184132"/>
              <a:ext cx="381305" cy="381305"/>
            </a:xfrm>
            <a:prstGeom prst="ellipse">
              <a:avLst/>
            </a:prstGeom>
            <a:solidFill>
              <a:srgbClr val="FF6908"/>
            </a:solidFill>
            <a:ln w="12700">
              <a:solidFill>
                <a:srgbClr val="FFFFFF">
                  <a:alpha val="0"/>
                </a:srgbClr>
              </a:solidFill>
              <a:prstDash val="solid"/>
            </a:ln>
          </p:spPr>
          <p:txBody>
            <a:bodyPr/>
            <a:lstStyle/>
            <a:p>
              <a:endParaRPr lang="ko-KR" altLang="en-US"/>
            </a:p>
          </p:txBody>
        </p:sp>
        <p:sp>
          <p:nvSpPr>
            <p:cNvPr id="26" name="Text 24"/>
            <p:cNvSpPr txBox="1"/>
            <p:nvPr/>
          </p:nvSpPr>
          <p:spPr>
            <a:xfrm>
              <a:off x="5517490" y="5231681"/>
              <a:ext cx="191110"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Pretendard" pitchFamily="34" charset="0"/>
                  <a:ea typeface="Pretendard" pitchFamily="34" charset="-122"/>
                  <a:cs typeface="Pretendard" pitchFamily="34" charset="-120"/>
                </a:rPr>
                <a:t>5</a:t>
              </a:r>
              <a:endParaRPr lang="en-US" sz="1500" dirty="0"/>
            </a:p>
          </p:txBody>
        </p:sp>
        <p:sp>
          <p:nvSpPr>
            <p:cNvPr id="27" name="Text 25"/>
            <p:cNvSpPr txBox="1"/>
            <p:nvPr/>
          </p:nvSpPr>
          <p:spPr>
            <a:xfrm>
              <a:off x="5989320" y="5145728"/>
              <a:ext cx="5791810" cy="277063"/>
            </a:xfrm>
            <a:prstGeom prst="rect">
              <a:avLst/>
            </a:prstGeom>
            <a:noFill/>
            <a:ln/>
          </p:spPr>
          <p:txBody>
            <a:bodyPr wrap="square" lIns="0" tIns="0" rIns="0" bIns="0" rtlCol="0" anchor="ctr"/>
            <a:lstStyle/>
            <a:p>
              <a:pPr marL="0" indent="0" algn="l">
                <a:buNone/>
              </a:pPr>
              <a:r>
                <a:rPr lang="en-US" sz="1600" b="1" dirty="0">
                  <a:solidFill>
                    <a:srgbClr val="000000"/>
                  </a:solidFill>
                  <a:latin typeface="Pretendard" pitchFamily="34" charset="0"/>
                  <a:ea typeface="Pretendard" pitchFamily="34" charset="-122"/>
                  <a:cs typeface="Pretendard" pitchFamily="34" charset="-120"/>
                </a:rPr>
                <a:t>모든 걸 처음부터 생성하려고 함</a:t>
              </a:r>
              <a:endParaRPr lang="en-US" sz="1600" dirty="0"/>
            </a:p>
          </p:txBody>
        </p:sp>
        <p:sp>
          <p:nvSpPr>
            <p:cNvPr id="28" name="Text 26"/>
            <p:cNvSpPr txBox="1"/>
            <p:nvPr/>
          </p:nvSpPr>
          <p:spPr>
            <a:xfrm>
              <a:off x="5989320" y="5474912"/>
              <a:ext cx="5677510" cy="457200"/>
            </a:xfrm>
            <a:prstGeom prst="rect">
              <a:avLst/>
            </a:prstGeom>
            <a:noFill/>
            <a:ln/>
          </p:spPr>
          <p:txBody>
            <a:bodyPr wrap="square" lIns="0" tIns="0" rIns="0" bIns="0" rtlCol="0" anchor="t"/>
            <a:lstStyle/>
            <a:p>
              <a:pPr marL="0" indent="0" algn="l">
                <a:lnSpc>
                  <a:spcPct val="150000"/>
                </a:lnSpc>
                <a:buNone/>
              </a:pPr>
              <a:r>
                <a:rPr lang="en-US" sz="1200" dirty="0">
                  <a:solidFill>
                    <a:srgbClr val="555555"/>
                  </a:solidFill>
                  <a:latin typeface="Noto Sans KR" pitchFamily="34" charset="0"/>
                  <a:ea typeface="Noto Sans KR" pitchFamily="34" charset="-122"/>
                  <a:cs typeface="Noto Sans KR" pitchFamily="34" charset="-120"/>
                </a:rPr>
                <a:t>처음부터 완벽하게 만들려 하지 마세요. </a:t>
              </a:r>
            </a:p>
            <a:p>
              <a:pPr marL="0" indent="0" algn="l">
                <a:lnSpc>
                  <a:spcPct val="150000"/>
                </a:lnSpc>
                <a:buNone/>
              </a:pPr>
              <a:r>
                <a:rPr lang="en-US" sz="1200" dirty="0" err="1">
                  <a:solidFill>
                    <a:srgbClr val="555555"/>
                  </a:solidFill>
                  <a:latin typeface="Noto Sans KR" pitchFamily="34" charset="0"/>
                  <a:ea typeface="Noto Sans KR" pitchFamily="34" charset="-122"/>
                  <a:cs typeface="Noto Sans KR" pitchFamily="34" charset="-120"/>
                </a:rPr>
                <a:t>기존</a:t>
              </a:r>
              <a:r>
                <a:rPr lang="en-US" sz="1200" dirty="0">
                  <a:solidFill>
                    <a:srgbClr val="555555"/>
                  </a:solidFill>
                  <a:latin typeface="Noto Sans KR" pitchFamily="34" charset="0"/>
                  <a:ea typeface="Noto Sans KR" pitchFamily="34" charset="-122"/>
                  <a:cs typeface="Noto Sans KR" pitchFamily="34" charset="-120"/>
                </a:rPr>
                <a:t> 소스를 재활용하고 리믹스하는 전략이 효율적입니다.</a:t>
              </a:r>
              <a:endParaRPr lang="en-US" sz="1200" dirty="0"/>
            </a:p>
          </p:txBody>
        </p:sp>
      </p:grpSp>
      <p:sp>
        <p:nvSpPr>
          <p:cNvPr id="34"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txBox="1"/>
          <p:nvPr/>
        </p:nvSpPr>
        <p:spPr>
          <a:xfrm>
            <a:off x="457200" y="609905"/>
            <a:ext cx="11278210" cy="571500"/>
          </a:xfrm>
          <a:prstGeom prst="rect">
            <a:avLst/>
          </a:prstGeom>
          <a:noFill/>
          <a:ln/>
        </p:spPr>
        <p:txBody>
          <a:bodyPr wrap="square" lIns="0" tIns="0" rIns="0" bIns="0" rtlCol="0" anchor="ctr"/>
          <a:lstStyle/>
          <a:p>
            <a:pPr marL="0" indent="0" algn="ctr">
              <a:buNone/>
            </a:pPr>
            <a:r>
              <a:rPr lang="en-US" sz="4000" b="1" kern="0" spc="-75" dirty="0">
                <a:solidFill>
                  <a:srgbClr val="FF6908"/>
                </a:solidFill>
                <a:latin typeface="Pretendard" pitchFamily="34" charset="0"/>
                <a:ea typeface="Pretendard" pitchFamily="34" charset="-122"/>
                <a:cs typeface="Pretendard" pitchFamily="34" charset="-120"/>
              </a:rPr>
              <a:t>좋은 AI 이미지를 만드는 5요소 공식</a:t>
            </a:r>
            <a:endParaRPr lang="en-US" sz="4000" dirty="0"/>
          </a:p>
        </p:txBody>
      </p:sp>
      <p:sp>
        <p:nvSpPr>
          <p:cNvPr id="5" name="Text 3"/>
          <p:cNvSpPr txBox="1"/>
          <p:nvPr/>
        </p:nvSpPr>
        <p:spPr>
          <a:xfrm>
            <a:off x="514807" y="1289304"/>
            <a:ext cx="11163910" cy="286207"/>
          </a:xfrm>
          <a:prstGeom prst="rect">
            <a:avLst/>
          </a:prstGeom>
          <a:noFill/>
          <a:ln/>
        </p:spPr>
        <p:txBody>
          <a:bodyPr wrap="square" lIns="0" tIns="0" rIns="0" bIns="0" rtlCol="0" anchor="ctr"/>
          <a:lstStyle/>
          <a:p>
            <a:pPr marL="0" indent="0" algn="ctr">
              <a:buNone/>
            </a:pPr>
            <a:r>
              <a:rPr lang="en-US" sz="1500" dirty="0">
                <a:solidFill>
                  <a:srgbClr val="333333"/>
                </a:solidFill>
                <a:latin typeface="Noto Sans KR" pitchFamily="34" charset="0"/>
                <a:ea typeface="Noto Sans KR" pitchFamily="34" charset="-122"/>
                <a:cs typeface="Noto Sans KR" pitchFamily="34" charset="-120"/>
              </a:rPr>
              <a:t>실패 없는 프롬프트 작성을 위해 반드시 정의해야 할 핵심 구조</a:t>
            </a:r>
            <a:endParaRPr lang="en-US" sz="1500" dirty="0"/>
          </a:p>
        </p:txBody>
      </p:sp>
      <p:sp>
        <p:nvSpPr>
          <p:cNvPr id="6" name="Shape 4"/>
          <p:cNvSpPr/>
          <p:nvPr/>
        </p:nvSpPr>
        <p:spPr>
          <a:xfrm>
            <a:off x="724205" y="2043592"/>
            <a:ext cx="3429000" cy="1714500"/>
          </a:xfrm>
          <a:prstGeom prst="roundRect">
            <a:avLst>
              <a:gd name="adj" fmla="val 7111"/>
            </a:avLst>
          </a:prstGeom>
          <a:solidFill>
            <a:srgbClr val="FFFFFF"/>
          </a:solidFill>
          <a:ln w="25400">
            <a:solidFill>
              <a:srgbClr val="F2F2F2"/>
            </a:solidFill>
            <a:prstDash val="solid"/>
          </a:ln>
          <a:effectLst>
            <a:outerShdw blurRad="114300" dist="38100" dir="16200000" algn="bl" rotWithShape="0">
              <a:srgbClr val="000000">
                <a:alpha val="2000"/>
              </a:srgbClr>
            </a:outerShdw>
          </a:effectLst>
        </p:spPr>
        <p:txBody>
          <a:bodyPr/>
          <a:lstStyle/>
          <a:p>
            <a:endParaRPr lang="ko-KR" altLang="en-US"/>
          </a:p>
        </p:txBody>
      </p:sp>
      <p:sp>
        <p:nvSpPr>
          <p:cNvPr id="7" name="Text 5"/>
          <p:cNvSpPr txBox="1"/>
          <p:nvPr/>
        </p:nvSpPr>
        <p:spPr>
          <a:xfrm>
            <a:off x="3545129" y="2094799"/>
            <a:ext cx="608076" cy="505663"/>
          </a:xfrm>
          <a:prstGeom prst="rect">
            <a:avLst/>
          </a:prstGeom>
          <a:noFill/>
          <a:ln/>
        </p:spPr>
        <p:txBody>
          <a:bodyPr wrap="square" lIns="0" tIns="0" rIns="0" bIns="0" rtlCol="0" anchor="ctr"/>
          <a:lstStyle/>
          <a:p>
            <a:pPr marL="0" indent="0" algn="l">
              <a:buNone/>
            </a:pPr>
            <a:r>
              <a:rPr lang="en-US" sz="3200" b="1" dirty="0">
                <a:solidFill>
                  <a:schemeClr val="bg1">
                    <a:lumMod val="75000"/>
                  </a:schemeClr>
                </a:solidFill>
                <a:latin typeface="Pretendard" pitchFamily="34" charset="0"/>
                <a:ea typeface="Pretendard" pitchFamily="34" charset="-122"/>
                <a:cs typeface="Pretendard" pitchFamily="34" charset="-120"/>
              </a:rPr>
              <a:t>01</a:t>
            </a:r>
            <a:endParaRPr lang="en-US" sz="3200" dirty="0">
              <a:solidFill>
                <a:schemeClr val="bg1">
                  <a:lumMod val="75000"/>
                </a:schemeClr>
              </a:solidFill>
            </a:endParaRPr>
          </a:p>
        </p:txBody>
      </p:sp>
      <p:sp>
        <p:nvSpPr>
          <p:cNvPr id="8" name="Shape 6"/>
          <p:cNvSpPr/>
          <p:nvPr/>
        </p:nvSpPr>
        <p:spPr>
          <a:xfrm>
            <a:off x="4381805" y="2043592"/>
            <a:ext cx="3429000" cy="1714500"/>
          </a:xfrm>
          <a:prstGeom prst="roundRect">
            <a:avLst>
              <a:gd name="adj" fmla="val 7111"/>
            </a:avLst>
          </a:prstGeom>
          <a:solidFill>
            <a:srgbClr val="FFFFFF"/>
          </a:solidFill>
          <a:ln w="25400">
            <a:solidFill>
              <a:srgbClr val="F2F2F2"/>
            </a:solidFill>
            <a:prstDash val="solid"/>
          </a:ln>
          <a:effectLst>
            <a:outerShdw blurRad="114300" dist="38100" dir="16200000" algn="bl" rotWithShape="0">
              <a:srgbClr val="000000">
                <a:alpha val="2000"/>
              </a:srgbClr>
            </a:outerShdw>
          </a:effectLst>
        </p:spPr>
        <p:txBody>
          <a:bodyPr/>
          <a:lstStyle/>
          <a:p>
            <a:endParaRPr lang="ko-KR" altLang="en-US"/>
          </a:p>
        </p:txBody>
      </p:sp>
      <p:sp>
        <p:nvSpPr>
          <p:cNvPr id="9" name="Text 7"/>
          <p:cNvSpPr txBox="1"/>
          <p:nvPr/>
        </p:nvSpPr>
        <p:spPr>
          <a:xfrm>
            <a:off x="7202729" y="2094799"/>
            <a:ext cx="608076" cy="505663"/>
          </a:xfrm>
          <a:prstGeom prst="rect">
            <a:avLst/>
          </a:prstGeom>
          <a:noFill/>
          <a:ln/>
        </p:spPr>
        <p:txBody>
          <a:bodyPr wrap="square" lIns="0" tIns="0" rIns="0" bIns="0" rtlCol="0" anchor="ctr"/>
          <a:lstStyle/>
          <a:p>
            <a:pPr marL="0" indent="0" algn="l">
              <a:buNone/>
            </a:pPr>
            <a:r>
              <a:rPr lang="en-US" sz="3200" b="1" dirty="0">
                <a:solidFill>
                  <a:schemeClr val="bg1">
                    <a:lumMod val="75000"/>
                  </a:schemeClr>
                </a:solidFill>
                <a:latin typeface="Pretendard" pitchFamily="34" charset="0"/>
                <a:ea typeface="Pretendard" pitchFamily="34" charset="-122"/>
                <a:cs typeface="Pretendard" pitchFamily="34" charset="-120"/>
              </a:rPr>
              <a:t>02</a:t>
            </a:r>
            <a:endParaRPr lang="en-US" sz="3200" dirty="0">
              <a:solidFill>
                <a:schemeClr val="bg1">
                  <a:lumMod val="75000"/>
                </a:schemeClr>
              </a:solidFill>
            </a:endParaRPr>
          </a:p>
        </p:txBody>
      </p:sp>
      <p:sp>
        <p:nvSpPr>
          <p:cNvPr id="10" name="Shape 8"/>
          <p:cNvSpPr/>
          <p:nvPr/>
        </p:nvSpPr>
        <p:spPr>
          <a:xfrm>
            <a:off x="8039405" y="2043592"/>
            <a:ext cx="3429000" cy="1714500"/>
          </a:xfrm>
          <a:prstGeom prst="roundRect">
            <a:avLst>
              <a:gd name="adj" fmla="val 7111"/>
            </a:avLst>
          </a:prstGeom>
          <a:solidFill>
            <a:srgbClr val="FFFFFF"/>
          </a:solidFill>
          <a:ln w="25400">
            <a:solidFill>
              <a:srgbClr val="F2F2F2"/>
            </a:solidFill>
            <a:prstDash val="solid"/>
          </a:ln>
          <a:effectLst>
            <a:outerShdw blurRad="114300" dist="38100" dir="16200000" algn="bl" rotWithShape="0">
              <a:srgbClr val="000000">
                <a:alpha val="2000"/>
              </a:srgbClr>
            </a:outerShdw>
          </a:effectLst>
        </p:spPr>
        <p:txBody>
          <a:bodyPr/>
          <a:lstStyle/>
          <a:p>
            <a:endParaRPr lang="ko-KR" altLang="en-US"/>
          </a:p>
        </p:txBody>
      </p:sp>
      <p:sp>
        <p:nvSpPr>
          <p:cNvPr id="11" name="Text 9"/>
          <p:cNvSpPr txBox="1"/>
          <p:nvPr/>
        </p:nvSpPr>
        <p:spPr>
          <a:xfrm>
            <a:off x="10860329" y="2094799"/>
            <a:ext cx="608076" cy="505663"/>
          </a:xfrm>
          <a:prstGeom prst="rect">
            <a:avLst/>
          </a:prstGeom>
          <a:noFill/>
          <a:ln/>
        </p:spPr>
        <p:txBody>
          <a:bodyPr wrap="square" lIns="0" tIns="0" rIns="0" bIns="0" rtlCol="0" anchor="ctr"/>
          <a:lstStyle/>
          <a:p>
            <a:pPr marL="0" indent="0" algn="l">
              <a:buNone/>
            </a:pPr>
            <a:r>
              <a:rPr lang="en-US" sz="3200" b="1" dirty="0">
                <a:solidFill>
                  <a:schemeClr val="bg1">
                    <a:lumMod val="75000"/>
                  </a:schemeClr>
                </a:solidFill>
                <a:latin typeface="Pretendard" pitchFamily="34" charset="0"/>
                <a:ea typeface="Pretendard" pitchFamily="34" charset="-122"/>
                <a:cs typeface="Pretendard" pitchFamily="34" charset="-120"/>
              </a:rPr>
              <a:t>03</a:t>
            </a:r>
            <a:endParaRPr lang="en-US" sz="3200" dirty="0">
              <a:solidFill>
                <a:schemeClr val="bg1">
                  <a:lumMod val="75000"/>
                </a:schemeClr>
              </a:solidFill>
            </a:endParaRPr>
          </a:p>
        </p:txBody>
      </p:sp>
      <p:sp>
        <p:nvSpPr>
          <p:cNvPr id="12" name="Shape 10"/>
          <p:cNvSpPr/>
          <p:nvPr/>
        </p:nvSpPr>
        <p:spPr>
          <a:xfrm>
            <a:off x="2553005" y="3986692"/>
            <a:ext cx="3429000" cy="1714500"/>
          </a:xfrm>
          <a:prstGeom prst="roundRect">
            <a:avLst>
              <a:gd name="adj" fmla="val 7111"/>
            </a:avLst>
          </a:prstGeom>
          <a:solidFill>
            <a:srgbClr val="FFFFFF"/>
          </a:solidFill>
          <a:ln w="25400">
            <a:solidFill>
              <a:srgbClr val="F2F2F2"/>
            </a:solidFill>
            <a:prstDash val="solid"/>
          </a:ln>
          <a:effectLst>
            <a:outerShdw blurRad="114300" dist="38100" dir="16200000" algn="bl" rotWithShape="0">
              <a:srgbClr val="000000">
                <a:alpha val="2000"/>
              </a:srgbClr>
            </a:outerShdw>
          </a:effectLst>
        </p:spPr>
        <p:txBody>
          <a:bodyPr/>
          <a:lstStyle/>
          <a:p>
            <a:endParaRPr lang="ko-KR" altLang="en-US"/>
          </a:p>
        </p:txBody>
      </p:sp>
      <p:sp>
        <p:nvSpPr>
          <p:cNvPr id="13" name="Text 11"/>
          <p:cNvSpPr txBox="1"/>
          <p:nvPr/>
        </p:nvSpPr>
        <p:spPr>
          <a:xfrm>
            <a:off x="5373929" y="4037899"/>
            <a:ext cx="608076" cy="505663"/>
          </a:xfrm>
          <a:prstGeom prst="rect">
            <a:avLst/>
          </a:prstGeom>
          <a:noFill/>
          <a:ln/>
        </p:spPr>
        <p:txBody>
          <a:bodyPr wrap="square" lIns="0" tIns="0" rIns="0" bIns="0" rtlCol="0" anchor="ctr"/>
          <a:lstStyle/>
          <a:p>
            <a:pPr marL="0" indent="0" algn="l">
              <a:buNone/>
            </a:pPr>
            <a:r>
              <a:rPr lang="en-US" sz="3200" b="1" dirty="0">
                <a:solidFill>
                  <a:schemeClr val="bg1">
                    <a:lumMod val="75000"/>
                  </a:schemeClr>
                </a:solidFill>
                <a:latin typeface="Pretendard" pitchFamily="34" charset="0"/>
                <a:ea typeface="Pretendard" pitchFamily="34" charset="-122"/>
                <a:cs typeface="Pretendard" pitchFamily="34" charset="-120"/>
              </a:rPr>
              <a:t>04</a:t>
            </a:r>
            <a:endParaRPr lang="en-US" sz="3200" dirty="0">
              <a:solidFill>
                <a:schemeClr val="bg1">
                  <a:lumMod val="75000"/>
                </a:schemeClr>
              </a:solidFill>
            </a:endParaRPr>
          </a:p>
        </p:txBody>
      </p:sp>
      <p:sp>
        <p:nvSpPr>
          <p:cNvPr id="14" name="Shape 12"/>
          <p:cNvSpPr/>
          <p:nvPr/>
        </p:nvSpPr>
        <p:spPr>
          <a:xfrm>
            <a:off x="6210605" y="3986692"/>
            <a:ext cx="3429000" cy="1714500"/>
          </a:xfrm>
          <a:prstGeom prst="roundRect">
            <a:avLst>
              <a:gd name="adj" fmla="val 7111"/>
            </a:avLst>
          </a:prstGeom>
          <a:solidFill>
            <a:srgbClr val="FFFFFF"/>
          </a:solidFill>
          <a:ln w="25400">
            <a:solidFill>
              <a:srgbClr val="F2F2F2"/>
            </a:solidFill>
            <a:prstDash val="solid"/>
          </a:ln>
          <a:effectLst>
            <a:outerShdw blurRad="114300" dist="38100" dir="16200000" algn="bl" rotWithShape="0">
              <a:srgbClr val="000000">
                <a:alpha val="2000"/>
              </a:srgbClr>
            </a:outerShdw>
          </a:effectLst>
        </p:spPr>
        <p:txBody>
          <a:bodyPr/>
          <a:lstStyle/>
          <a:p>
            <a:endParaRPr lang="ko-KR" altLang="en-US"/>
          </a:p>
        </p:txBody>
      </p:sp>
      <p:sp>
        <p:nvSpPr>
          <p:cNvPr id="15" name="Text 13"/>
          <p:cNvSpPr txBox="1"/>
          <p:nvPr/>
        </p:nvSpPr>
        <p:spPr>
          <a:xfrm>
            <a:off x="9031529" y="4037899"/>
            <a:ext cx="608076" cy="505663"/>
          </a:xfrm>
          <a:prstGeom prst="rect">
            <a:avLst/>
          </a:prstGeom>
          <a:noFill/>
          <a:ln/>
        </p:spPr>
        <p:txBody>
          <a:bodyPr wrap="square" lIns="0" tIns="0" rIns="0" bIns="0" rtlCol="0" anchor="ctr"/>
          <a:lstStyle/>
          <a:p>
            <a:pPr marL="0" indent="0" algn="l">
              <a:buNone/>
            </a:pPr>
            <a:r>
              <a:rPr lang="en-US" sz="3200" b="1" dirty="0">
                <a:solidFill>
                  <a:schemeClr val="bg1">
                    <a:lumMod val="75000"/>
                  </a:schemeClr>
                </a:solidFill>
                <a:latin typeface="Pretendard" pitchFamily="34" charset="0"/>
                <a:ea typeface="Pretendard" pitchFamily="34" charset="-122"/>
                <a:cs typeface="Pretendard" pitchFamily="34" charset="-120"/>
              </a:rPr>
              <a:t>05</a:t>
            </a:r>
            <a:endParaRPr lang="en-US" sz="3200" dirty="0">
              <a:solidFill>
                <a:schemeClr val="bg1">
                  <a:lumMod val="75000"/>
                </a:schemeClr>
              </a:solidFill>
            </a:endParaRPr>
          </a:p>
        </p:txBody>
      </p:sp>
      <p:sp>
        <p:nvSpPr>
          <p:cNvPr id="16" name="Shape 14"/>
          <p:cNvSpPr/>
          <p:nvPr/>
        </p:nvSpPr>
        <p:spPr>
          <a:xfrm>
            <a:off x="3638398" y="5869442"/>
            <a:ext cx="4914900" cy="543154"/>
          </a:xfrm>
          <a:prstGeom prst="roundRect">
            <a:avLst>
              <a:gd name="adj" fmla="val 147675"/>
            </a:avLst>
          </a:prstGeom>
          <a:solidFill>
            <a:srgbClr val="FFF9F5"/>
          </a:solidFill>
          <a:ln w="12700">
            <a:solidFill>
              <a:srgbClr val="FFE4D1"/>
            </a:solidFill>
            <a:prstDash val="solid"/>
          </a:ln>
        </p:spPr>
        <p:txBody>
          <a:bodyPr/>
          <a:lstStyle/>
          <a:p>
            <a:endParaRPr lang="ko-KR" altLang="en-US"/>
          </a:p>
        </p:txBody>
      </p:sp>
      <p:sp>
        <p:nvSpPr>
          <p:cNvPr id="17" name="Text 15"/>
          <p:cNvSpPr txBox="1"/>
          <p:nvPr/>
        </p:nvSpPr>
        <p:spPr>
          <a:xfrm>
            <a:off x="4028846" y="6040435"/>
            <a:ext cx="773582" cy="191110"/>
          </a:xfrm>
          <a:prstGeom prst="rect">
            <a:avLst/>
          </a:prstGeom>
          <a:noFill/>
          <a:ln/>
        </p:spPr>
        <p:txBody>
          <a:bodyPr wrap="square" lIns="0" tIns="0" rIns="0" bIns="0" rtlCol="0" anchor="ctr"/>
          <a:lstStyle/>
          <a:p>
            <a:pPr marL="0" indent="0" algn="l">
              <a:buNone/>
            </a:pPr>
            <a:r>
              <a:rPr lang="en-US" sz="1300" b="1" dirty="0">
                <a:solidFill>
                  <a:srgbClr val="FF6908"/>
                </a:solidFill>
                <a:latin typeface="Pretendard" pitchFamily="34" charset="0"/>
                <a:ea typeface="Pretendard" pitchFamily="34" charset="-122"/>
                <a:cs typeface="Pretendard" pitchFamily="34" charset="-120"/>
              </a:rPr>
              <a:t>[스타일]</a:t>
            </a:r>
            <a:endParaRPr lang="en-US" sz="1300" dirty="0"/>
          </a:p>
        </p:txBody>
      </p:sp>
      <p:pic>
        <p:nvPicPr>
          <p:cNvPr id="18" name="Image 0" descr="preencoded.png"/>
          <p:cNvPicPr>
            <a:picLocks noChangeAspect="1"/>
          </p:cNvPicPr>
          <p:nvPr/>
        </p:nvPicPr>
        <p:blipFill>
          <a:blip r:embed="rId3">
            <a:alphaModFix amt="50000"/>
          </a:blip>
          <a:srcRect t="-1100" b="-1100"/>
          <a:stretch/>
        </p:blipFill>
        <p:spPr>
          <a:xfrm>
            <a:off x="4809744" y="6074268"/>
            <a:ext cx="114300" cy="133502"/>
          </a:xfrm>
          <a:prstGeom prst="rect">
            <a:avLst/>
          </a:prstGeom>
        </p:spPr>
      </p:pic>
      <p:sp>
        <p:nvSpPr>
          <p:cNvPr id="19" name="Text 16"/>
          <p:cNvSpPr txBox="1"/>
          <p:nvPr/>
        </p:nvSpPr>
        <p:spPr>
          <a:xfrm>
            <a:off x="5076749" y="6040435"/>
            <a:ext cx="544068" cy="191110"/>
          </a:xfrm>
          <a:prstGeom prst="rect">
            <a:avLst/>
          </a:prstGeom>
          <a:noFill/>
          <a:ln/>
        </p:spPr>
        <p:txBody>
          <a:bodyPr wrap="square" lIns="0" tIns="0" rIns="0" bIns="0" rtlCol="0" anchor="ctr"/>
          <a:lstStyle/>
          <a:p>
            <a:pPr marL="0" indent="0" algn="l">
              <a:buNone/>
            </a:pPr>
            <a:r>
              <a:rPr lang="en-US" sz="1300" b="1" dirty="0">
                <a:solidFill>
                  <a:srgbClr val="FF6908"/>
                </a:solidFill>
                <a:latin typeface="Pretendard" pitchFamily="34" charset="0"/>
                <a:ea typeface="Pretendard" pitchFamily="34" charset="-122"/>
                <a:cs typeface="Pretendard" pitchFamily="34" charset="-120"/>
              </a:rPr>
              <a:t>[구도]</a:t>
            </a:r>
            <a:endParaRPr lang="en-US" sz="1300" dirty="0"/>
          </a:p>
        </p:txBody>
      </p:sp>
      <p:pic>
        <p:nvPicPr>
          <p:cNvPr id="20" name="Image 1" descr="preencoded.png"/>
          <p:cNvPicPr>
            <a:picLocks noChangeAspect="1"/>
          </p:cNvPicPr>
          <p:nvPr/>
        </p:nvPicPr>
        <p:blipFill>
          <a:blip r:embed="rId3">
            <a:alphaModFix amt="50000"/>
          </a:blip>
          <a:srcRect t="-1100" b="-1100"/>
          <a:stretch/>
        </p:blipFill>
        <p:spPr>
          <a:xfrm>
            <a:off x="5686654" y="6074268"/>
            <a:ext cx="114300" cy="133502"/>
          </a:xfrm>
          <a:prstGeom prst="rect">
            <a:avLst/>
          </a:prstGeom>
        </p:spPr>
      </p:pic>
      <p:sp>
        <p:nvSpPr>
          <p:cNvPr id="21" name="Text 17"/>
          <p:cNvSpPr txBox="1"/>
          <p:nvPr/>
        </p:nvSpPr>
        <p:spPr>
          <a:xfrm>
            <a:off x="5952744" y="6040435"/>
            <a:ext cx="544068" cy="191110"/>
          </a:xfrm>
          <a:prstGeom prst="rect">
            <a:avLst/>
          </a:prstGeom>
          <a:noFill/>
          <a:ln/>
        </p:spPr>
        <p:txBody>
          <a:bodyPr wrap="square" lIns="0" tIns="0" rIns="0" bIns="0" rtlCol="0" anchor="ctr"/>
          <a:lstStyle/>
          <a:p>
            <a:pPr marL="0" indent="0" algn="l">
              <a:buNone/>
            </a:pPr>
            <a:r>
              <a:rPr lang="en-US" sz="1300" b="1" dirty="0">
                <a:solidFill>
                  <a:srgbClr val="FF6908"/>
                </a:solidFill>
                <a:latin typeface="Pretendard" pitchFamily="34" charset="0"/>
                <a:ea typeface="Pretendard" pitchFamily="34" charset="-122"/>
                <a:cs typeface="Pretendard" pitchFamily="34" charset="-120"/>
              </a:rPr>
              <a:t>[매체]</a:t>
            </a:r>
            <a:endParaRPr lang="en-US" sz="1300" dirty="0"/>
          </a:p>
        </p:txBody>
      </p:sp>
      <p:pic>
        <p:nvPicPr>
          <p:cNvPr id="22" name="Image 2" descr="preencoded.png"/>
          <p:cNvPicPr>
            <a:picLocks noChangeAspect="1"/>
          </p:cNvPicPr>
          <p:nvPr/>
        </p:nvPicPr>
        <p:blipFill>
          <a:blip r:embed="rId3">
            <a:alphaModFix amt="50000"/>
          </a:blip>
          <a:srcRect t="-1100" b="-1100"/>
          <a:stretch/>
        </p:blipFill>
        <p:spPr>
          <a:xfrm>
            <a:off x="6562649" y="6074268"/>
            <a:ext cx="114300" cy="133502"/>
          </a:xfrm>
          <a:prstGeom prst="rect">
            <a:avLst/>
          </a:prstGeom>
        </p:spPr>
      </p:pic>
      <p:sp>
        <p:nvSpPr>
          <p:cNvPr id="23" name="Text 18"/>
          <p:cNvSpPr txBox="1"/>
          <p:nvPr/>
        </p:nvSpPr>
        <p:spPr>
          <a:xfrm>
            <a:off x="6829654" y="6040435"/>
            <a:ext cx="544068" cy="191110"/>
          </a:xfrm>
          <a:prstGeom prst="rect">
            <a:avLst/>
          </a:prstGeom>
          <a:noFill/>
          <a:ln/>
        </p:spPr>
        <p:txBody>
          <a:bodyPr wrap="square" lIns="0" tIns="0" rIns="0" bIns="0" rtlCol="0" anchor="ctr"/>
          <a:lstStyle/>
          <a:p>
            <a:pPr marL="0" indent="0" algn="l">
              <a:buNone/>
            </a:pPr>
            <a:r>
              <a:rPr lang="en-US" sz="1300" b="1" dirty="0">
                <a:solidFill>
                  <a:srgbClr val="FF6908"/>
                </a:solidFill>
                <a:latin typeface="Pretendard" pitchFamily="34" charset="0"/>
                <a:ea typeface="Pretendard" pitchFamily="34" charset="-122"/>
                <a:cs typeface="Pretendard" pitchFamily="34" charset="-120"/>
              </a:rPr>
              <a:t>[주제]</a:t>
            </a:r>
            <a:endParaRPr lang="en-US" sz="1300" dirty="0"/>
          </a:p>
        </p:txBody>
      </p:sp>
      <p:pic>
        <p:nvPicPr>
          <p:cNvPr id="24" name="Image 3" descr="preencoded.png"/>
          <p:cNvPicPr>
            <a:picLocks noChangeAspect="1"/>
          </p:cNvPicPr>
          <p:nvPr/>
        </p:nvPicPr>
        <p:blipFill>
          <a:blip r:embed="rId3">
            <a:alphaModFix amt="50000"/>
          </a:blip>
          <a:srcRect t="-1100" b="-1100"/>
          <a:stretch/>
        </p:blipFill>
        <p:spPr>
          <a:xfrm>
            <a:off x="7438644" y="6074268"/>
            <a:ext cx="114300" cy="133502"/>
          </a:xfrm>
          <a:prstGeom prst="rect">
            <a:avLst/>
          </a:prstGeom>
        </p:spPr>
      </p:pic>
      <p:sp>
        <p:nvSpPr>
          <p:cNvPr id="25" name="Text 19"/>
          <p:cNvSpPr txBox="1"/>
          <p:nvPr/>
        </p:nvSpPr>
        <p:spPr>
          <a:xfrm>
            <a:off x="7705649" y="6040435"/>
            <a:ext cx="544068" cy="191110"/>
          </a:xfrm>
          <a:prstGeom prst="rect">
            <a:avLst/>
          </a:prstGeom>
          <a:noFill/>
          <a:ln/>
        </p:spPr>
        <p:txBody>
          <a:bodyPr wrap="square" lIns="0" tIns="0" rIns="0" bIns="0" rtlCol="0" anchor="ctr"/>
          <a:lstStyle/>
          <a:p>
            <a:pPr marL="0" indent="0" algn="l">
              <a:buNone/>
            </a:pPr>
            <a:r>
              <a:rPr lang="en-US" sz="1300" b="1" dirty="0">
                <a:solidFill>
                  <a:srgbClr val="FF6908"/>
                </a:solidFill>
                <a:latin typeface="Pretendard" pitchFamily="34" charset="0"/>
                <a:ea typeface="Pretendard" pitchFamily="34" charset="-122"/>
                <a:cs typeface="Pretendard" pitchFamily="34" charset="-120"/>
              </a:rPr>
              <a:t>[환경]</a:t>
            </a:r>
            <a:endParaRPr lang="en-US" sz="1300" dirty="0"/>
          </a:p>
        </p:txBody>
      </p:sp>
      <p:sp>
        <p:nvSpPr>
          <p:cNvPr id="26" name="Shape 20"/>
          <p:cNvSpPr/>
          <p:nvPr/>
        </p:nvSpPr>
        <p:spPr>
          <a:xfrm>
            <a:off x="972007" y="2291395"/>
            <a:ext cx="457200" cy="457200"/>
          </a:xfrm>
          <a:prstGeom prst="roundRect">
            <a:avLst>
              <a:gd name="adj" fmla="val 50000"/>
            </a:avLst>
          </a:prstGeom>
          <a:solidFill>
            <a:srgbClr val="FFF3EB"/>
          </a:solidFill>
          <a:ln w="12700">
            <a:solidFill>
              <a:srgbClr val="FFFFFF">
                <a:alpha val="0"/>
              </a:srgbClr>
            </a:solidFill>
            <a:prstDash val="solid"/>
          </a:ln>
        </p:spPr>
        <p:txBody>
          <a:bodyPr/>
          <a:lstStyle/>
          <a:p>
            <a:endParaRPr lang="ko-KR" altLang="en-US"/>
          </a:p>
        </p:txBody>
      </p:sp>
      <p:pic>
        <p:nvPicPr>
          <p:cNvPr id="27" name="Image 4" descr="preencoded.png"/>
          <p:cNvPicPr>
            <a:picLocks noChangeAspect="1"/>
          </p:cNvPicPr>
          <p:nvPr/>
        </p:nvPicPr>
        <p:blipFill>
          <a:blip r:embed="rId4"/>
          <a:srcRect/>
          <a:stretch/>
        </p:blipFill>
        <p:spPr>
          <a:xfrm>
            <a:off x="1104595" y="2424897"/>
            <a:ext cx="190195" cy="190195"/>
          </a:xfrm>
          <a:prstGeom prst="rect">
            <a:avLst/>
          </a:prstGeom>
        </p:spPr>
      </p:pic>
      <p:sp>
        <p:nvSpPr>
          <p:cNvPr id="28" name="Text 21"/>
          <p:cNvSpPr txBox="1"/>
          <p:nvPr/>
        </p:nvSpPr>
        <p:spPr>
          <a:xfrm>
            <a:off x="1580998" y="2349002"/>
            <a:ext cx="1734617" cy="342900"/>
          </a:xfrm>
          <a:prstGeom prst="rect">
            <a:avLst/>
          </a:prstGeom>
          <a:noFill/>
          <a:ln/>
        </p:spPr>
        <p:txBody>
          <a:bodyPr wrap="square" lIns="0" tIns="0" rIns="0" bIns="0" rtlCol="0" anchor="ctr"/>
          <a:lstStyle/>
          <a:p>
            <a:pPr marL="0" indent="0" algn="l">
              <a:buNone/>
            </a:pPr>
            <a:r>
              <a:rPr lang="en-US" sz="1800" b="1" dirty="0">
                <a:solidFill>
                  <a:srgbClr val="000000"/>
                </a:solidFill>
                <a:latin typeface="Pretendard" pitchFamily="34" charset="0"/>
                <a:ea typeface="Pretendard" pitchFamily="34" charset="-122"/>
                <a:cs typeface="Pretendard" pitchFamily="34" charset="-120"/>
              </a:rPr>
              <a:t>스타일 (Style)</a:t>
            </a:r>
            <a:endParaRPr lang="en-US" sz="1800" dirty="0"/>
          </a:p>
        </p:txBody>
      </p:sp>
      <p:sp>
        <p:nvSpPr>
          <p:cNvPr id="29" name="Text 22"/>
          <p:cNvSpPr txBox="1"/>
          <p:nvPr/>
        </p:nvSpPr>
        <p:spPr>
          <a:xfrm>
            <a:off x="972007" y="2862895"/>
            <a:ext cx="3010205" cy="428854"/>
          </a:xfrm>
          <a:prstGeom prst="rect">
            <a:avLst/>
          </a:prstGeom>
          <a:noFill/>
          <a:ln/>
        </p:spPr>
        <p:txBody>
          <a:bodyPr wrap="square" lIns="0" tIns="0" rIns="0" bIns="0" rtlCol="0" anchor="t"/>
          <a:lstStyle/>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이미지의 분위기, 톤, 감성을 결정합니다.</a:t>
            </a:r>
            <a:endParaRPr lang="en-US" sz="1100" dirty="0"/>
          </a:p>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예: 지브리, 사이버펑크, 미니멀리즘</a:t>
            </a:r>
            <a:endParaRPr lang="en-US" sz="1100" dirty="0"/>
          </a:p>
        </p:txBody>
      </p:sp>
      <p:sp>
        <p:nvSpPr>
          <p:cNvPr id="30" name="Shape 23"/>
          <p:cNvSpPr/>
          <p:nvPr/>
        </p:nvSpPr>
        <p:spPr>
          <a:xfrm>
            <a:off x="4629607" y="2291395"/>
            <a:ext cx="457200" cy="457200"/>
          </a:xfrm>
          <a:prstGeom prst="roundRect">
            <a:avLst>
              <a:gd name="adj" fmla="val 50000"/>
            </a:avLst>
          </a:prstGeom>
          <a:solidFill>
            <a:srgbClr val="FFF3EB"/>
          </a:solidFill>
          <a:ln w="12700">
            <a:solidFill>
              <a:srgbClr val="FFFFFF">
                <a:alpha val="0"/>
              </a:srgbClr>
            </a:solidFill>
            <a:prstDash val="solid"/>
          </a:ln>
        </p:spPr>
        <p:txBody>
          <a:bodyPr/>
          <a:lstStyle/>
          <a:p>
            <a:endParaRPr lang="ko-KR" altLang="en-US"/>
          </a:p>
        </p:txBody>
      </p:sp>
      <p:pic>
        <p:nvPicPr>
          <p:cNvPr id="31" name="Image 5" descr="preencoded.png"/>
          <p:cNvPicPr>
            <a:picLocks noChangeAspect="1"/>
          </p:cNvPicPr>
          <p:nvPr/>
        </p:nvPicPr>
        <p:blipFill>
          <a:blip r:embed="rId5"/>
          <a:srcRect/>
          <a:stretch/>
        </p:blipFill>
        <p:spPr>
          <a:xfrm>
            <a:off x="4762195" y="2424897"/>
            <a:ext cx="190195" cy="190195"/>
          </a:xfrm>
          <a:prstGeom prst="rect">
            <a:avLst/>
          </a:prstGeom>
        </p:spPr>
      </p:pic>
      <p:sp>
        <p:nvSpPr>
          <p:cNvPr id="32" name="Text 24"/>
          <p:cNvSpPr txBox="1"/>
          <p:nvPr/>
        </p:nvSpPr>
        <p:spPr>
          <a:xfrm>
            <a:off x="5238598" y="2349002"/>
            <a:ext cx="1866597" cy="342900"/>
          </a:xfrm>
          <a:prstGeom prst="rect">
            <a:avLst/>
          </a:prstGeom>
          <a:noFill/>
          <a:ln/>
        </p:spPr>
        <p:txBody>
          <a:bodyPr wrap="square" lIns="0" tIns="0" rIns="0" bIns="0" rtlCol="0" anchor="ctr"/>
          <a:lstStyle/>
          <a:p>
            <a:pPr marL="0" indent="0" algn="l">
              <a:buNone/>
            </a:pPr>
            <a:r>
              <a:rPr lang="en-US" sz="1800" b="1" dirty="0">
                <a:solidFill>
                  <a:srgbClr val="000000"/>
                </a:solidFill>
                <a:latin typeface="Pretendard" pitchFamily="34" charset="0"/>
                <a:ea typeface="Pretendard" pitchFamily="34" charset="-122"/>
                <a:cs typeface="Pretendard" pitchFamily="34" charset="-120"/>
              </a:rPr>
              <a:t>구도 (Composition)</a:t>
            </a:r>
            <a:endParaRPr lang="en-US" sz="1800" dirty="0"/>
          </a:p>
        </p:txBody>
      </p:sp>
      <p:sp>
        <p:nvSpPr>
          <p:cNvPr id="33" name="Text 25"/>
          <p:cNvSpPr txBox="1"/>
          <p:nvPr/>
        </p:nvSpPr>
        <p:spPr>
          <a:xfrm>
            <a:off x="4629607" y="2862895"/>
            <a:ext cx="3010205" cy="428854"/>
          </a:xfrm>
          <a:prstGeom prst="rect">
            <a:avLst/>
          </a:prstGeom>
          <a:noFill/>
          <a:ln/>
        </p:spPr>
        <p:txBody>
          <a:bodyPr wrap="square" lIns="0" tIns="0" rIns="0" bIns="0" rtlCol="0" anchor="t"/>
          <a:lstStyle/>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시선의 흐름과 피사체의 배치를 결정합니다.</a:t>
            </a:r>
            <a:endParaRPr lang="en-US" sz="1100" dirty="0"/>
          </a:p>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예: 탑뷰, 로우앵글, 클로즈업</a:t>
            </a:r>
            <a:endParaRPr lang="en-US" sz="1100" dirty="0"/>
          </a:p>
        </p:txBody>
      </p:sp>
      <p:sp>
        <p:nvSpPr>
          <p:cNvPr id="34" name="Shape 26"/>
          <p:cNvSpPr/>
          <p:nvPr/>
        </p:nvSpPr>
        <p:spPr>
          <a:xfrm>
            <a:off x="8287207" y="2291395"/>
            <a:ext cx="457200" cy="457200"/>
          </a:xfrm>
          <a:prstGeom prst="roundRect">
            <a:avLst>
              <a:gd name="adj" fmla="val 50000"/>
            </a:avLst>
          </a:prstGeom>
          <a:solidFill>
            <a:srgbClr val="FFF3EB"/>
          </a:solidFill>
          <a:ln w="12700">
            <a:solidFill>
              <a:srgbClr val="FFFFFF">
                <a:alpha val="0"/>
              </a:srgbClr>
            </a:solidFill>
            <a:prstDash val="solid"/>
          </a:ln>
        </p:spPr>
        <p:txBody>
          <a:bodyPr/>
          <a:lstStyle/>
          <a:p>
            <a:endParaRPr lang="ko-KR" altLang="en-US"/>
          </a:p>
        </p:txBody>
      </p:sp>
      <p:pic>
        <p:nvPicPr>
          <p:cNvPr id="35" name="Image 6" descr="preencoded.png"/>
          <p:cNvPicPr>
            <a:picLocks noChangeAspect="1"/>
          </p:cNvPicPr>
          <p:nvPr/>
        </p:nvPicPr>
        <p:blipFill>
          <a:blip r:embed="rId6"/>
          <a:srcRect l="-1282" r="-1282"/>
          <a:stretch/>
        </p:blipFill>
        <p:spPr>
          <a:xfrm>
            <a:off x="8406079" y="2424897"/>
            <a:ext cx="219456" cy="190195"/>
          </a:xfrm>
          <a:prstGeom prst="rect">
            <a:avLst/>
          </a:prstGeom>
        </p:spPr>
      </p:pic>
      <p:sp>
        <p:nvSpPr>
          <p:cNvPr id="36" name="Text 27"/>
          <p:cNvSpPr txBox="1"/>
          <p:nvPr/>
        </p:nvSpPr>
        <p:spPr>
          <a:xfrm>
            <a:off x="8896198" y="2349002"/>
            <a:ext cx="1576426" cy="342900"/>
          </a:xfrm>
          <a:prstGeom prst="rect">
            <a:avLst/>
          </a:prstGeom>
          <a:noFill/>
          <a:ln/>
        </p:spPr>
        <p:txBody>
          <a:bodyPr wrap="square" lIns="0" tIns="0" rIns="0" bIns="0" rtlCol="0" anchor="ctr"/>
          <a:lstStyle/>
          <a:p>
            <a:pPr marL="0" indent="0" algn="l">
              <a:buNone/>
            </a:pPr>
            <a:r>
              <a:rPr lang="en-US" sz="1800" b="1" dirty="0">
                <a:solidFill>
                  <a:srgbClr val="000000"/>
                </a:solidFill>
                <a:latin typeface="Pretendard" pitchFamily="34" charset="0"/>
                <a:ea typeface="Pretendard" pitchFamily="34" charset="-122"/>
                <a:cs typeface="Pretendard" pitchFamily="34" charset="-120"/>
              </a:rPr>
              <a:t>매체 (Media)</a:t>
            </a:r>
            <a:endParaRPr lang="en-US" sz="1800" dirty="0"/>
          </a:p>
        </p:txBody>
      </p:sp>
      <p:sp>
        <p:nvSpPr>
          <p:cNvPr id="37" name="Text 28"/>
          <p:cNvSpPr txBox="1"/>
          <p:nvPr/>
        </p:nvSpPr>
        <p:spPr>
          <a:xfrm>
            <a:off x="8287207" y="2862895"/>
            <a:ext cx="3010205" cy="428854"/>
          </a:xfrm>
          <a:prstGeom prst="rect">
            <a:avLst/>
          </a:prstGeom>
          <a:noFill/>
          <a:ln/>
        </p:spPr>
        <p:txBody>
          <a:bodyPr wrap="square" lIns="0" tIns="0" rIns="0" bIns="0" rtlCol="0" anchor="t"/>
          <a:lstStyle/>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이미지의 질감과 표현 방식을 결정합니다.</a:t>
            </a:r>
            <a:endParaRPr lang="en-US" sz="1100" dirty="0"/>
          </a:p>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예: 사진, 3D 렌더링, 수채화, 유화</a:t>
            </a:r>
            <a:endParaRPr lang="en-US" sz="1100" dirty="0"/>
          </a:p>
        </p:txBody>
      </p:sp>
      <p:sp>
        <p:nvSpPr>
          <p:cNvPr id="38" name="Shape 29"/>
          <p:cNvSpPr/>
          <p:nvPr/>
        </p:nvSpPr>
        <p:spPr>
          <a:xfrm>
            <a:off x="2800807" y="4234495"/>
            <a:ext cx="457200" cy="457200"/>
          </a:xfrm>
          <a:prstGeom prst="roundRect">
            <a:avLst>
              <a:gd name="adj" fmla="val 50000"/>
            </a:avLst>
          </a:prstGeom>
          <a:solidFill>
            <a:srgbClr val="FFF3EB"/>
          </a:solidFill>
          <a:ln w="12700">
            <a:solidFill>
              <a:srgbClr val="FFFFFF">
                <a:alpha val="0"/>
              </a:srgbClr>
            </a:solidFill>
            <a:prstDash val="solid"/>
          </a:ln>
        </p:spPr>
        <p:txBody>
          <a:bodyPr/>
          <a:lstStyle/>
          <a:p>
            <a:endParaRPr lang="ko-KR" altLang="en-US"/>
          </a:p>
        </p:txBody>
      </p:sp>
      <p:pic>
        <p:nvPicPr>
          <p:cNvPr id="39" name="Image 7" descr="preencoded.png"/>
          <p:cNvPicPr>
            <a:picLocks noChangeAspect="1"/>
          </p:cNvPicPr>
          <p:nvPr/>
        </p:nvPicPr>
        <p:blipFill>
          <a:blip r:embed="rId7"/>
          <a:srcRect/>
          <a:stretch/>
        </p:blipFill>
        <p:spPr>
          <a:xfrm>
            <a:off x="2909621" y="4367997"/>
            <a:ext cx="237744" cy="190195"/>
          </a:xfrm>
          <a:prstGeom prst="rect">
            <a:avLst/>
          </a:prstGeom>
        </p:spPr>
      </p:pic>
      <p:sp>
        <p:nvSpPr>
          <p:cNvPr id="40" name="Text 30"/>
          <p:cNvSpPr txBox="1"/>
          <p:nvPr/>
        </p:nvSpPr>
        <p:spPr>
          <a:xfrm>
            <a:off x="3409798" y="4292102"/>
            <a:ext cx="1791310" cy="342900"/>
          </a:xfrm>
          <a:prstGeom prst="rect">
            <a:avLst/>
          </a:prstGeom>
          <a:noFill/>
          <a:ln/>
        </p:spPr>
        <p:txBody>
          <a:bodyPr wrap="square" lIns="0" tIns="0" rIns="0" bIns="0" rtlCol="0" anchor="ctr"/>
          <a:lstStyle/>
          <a:p>
            <a:pPr marL="0" indent="0" algn="l">
              <a:buNone/>
            </a:pPr>
            <a:r>
              <a:rPr lang="en-US" sz="1800" b="1" dirty="0">
                <a:solidFill>
                  <a:srgbClr val="000000"/>
                </a:solidFill>
                <a:latin typeface="Pretendard" pitchFamily="34" charset="0"/>
                <a:ea typeface="Pretendard" pitchFamily="34" charset="-122"/>
                <a:cs typeface="Pretendard" pitchFamily="34" charset="-120"/>
              </a:rPr>
              <a:t>주제 (Subject)</a:t>
            </a:r>
            <a:endParaRPr lang="en-US" sz="1800" dirty="0"/>
          </a:p>
        </p:txBody>
      </p:sp>
      <p:sp>
        <p:nvSpPr>
          <p:cNvPr id="41" name="Text 31"/>
          <p:cNvSpPr txBox="1"/>
          <p:nvPr/>
        </p:nvSpPr>
        <p:spPr>
          <a:xfrm>
            <a:off x="2800807" y="4805995"/>
            <a:ext cx="3010205" cy="428854"/>
          </a:xfrm>
          <a:prstGeom prst="rect">
            <a:avLst/>
          </a:prstGeom>
          <a:noFill/>
          <a:ln/>
        </p:spPr>
        <p:txBody>
          <a:bodyPr wrap="square" lIns="0" tIns="0" rIns="0" bIns="0" rtlCol="0" anchor="t"/>
          <a:lstStyle/>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핵심 피사체와 그들의 행동, 의상을 묘사합니다.</a:t>
            </a:r>
            <a:endParaRPr lang="en-US" sz="1100" dirty="0"/>
          </a:p>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예: 20대 여성 모델, 검정 수트, 걷는 포즈</a:t>
            </a:r>
            <a:endParaRPr lang="en-US" sz="1100" dirty="0"/>
          </a:p>
        </p:txBody>
      </p:sp>
      <p:sp>
        <p:nvSpPr>
          <p:cNvPr id="42" name="Shape 32"/>
          <p:cNvSpPr/>
          <p:nvPr/>
        </p:nvSpPr>
        <p:spPr>
          <a:xfrm>
            <a:off x="6458407" y="4234495"/>
            <a:ext cx="457200" cy="457200"/>
          </a:xfrm>
          <a:prstGeom prst="roundRect">
            <a:avLst>
              <a:gd name="adj" fmla="val 50000"/>
            </a:avLst>
          </a:prstGeom>
          <a:solidFill>
            <a:srgbClr val="FFF3EB"/>
          </a:solidFill>
          <a:ln w="12700">
            <a:solidFill>
              <a:srgbClr val="FFFFFF">
                <a:alpha val="0"/>
              </a:srgbClr>
            </a:solidFill>
            <a:prstDash val="solid"/>
          </a:ln>
        </p:spPr>
        <p:txBody>
          <a:bodyPr/>
          <a:lstStyle/>
          <a:p>
            <a:endParaRPr lang="ko-KR" altLang="en-US"/>
          </a:p>
        </p:txBody>
      </p:sp>
      <p:pic>
        <p:nvPicPr>
          <p:cNvPr id="43" name="Image 8" descr="preencoded.png"/>
          <p:cNvPicPr>
            <a:picLocks noChangeAspect="1"/>
          </p:cNvPicPr>
          <p:nvPr/>
        </p:nvPicPr>
        <p:blipFill>
          <a:blip r:embed="rId8"/>
          <a:srcRect/>
          <a:stretch/>
        </p:blipFill>
        <p:spPr>
          <a:xfrm>
            <a:off x="6567221" y="4367997"/>
            <a:ext cx="237744" cy="190195"/>
          </a:xfrm>
          <a:prstGeom prst="rect">
            <a:avLst/>
          </a:prstGeom>
        </p:spPr>
      </p:pic>
      <p:sp>
        <p:nvSpPr>
          <p:cNvPr id="44" name="Text 33"/>
          <p:cNvSpPr txBox="1"/>
          <p:nvPr/>
        </p:nvSpPr>
        <p:spPr>
          <a:xfrm>
            <a:off x="7067398" y="4292102"/>
            <a:ext cx="1900433" cy="342900"/>
          </a:xfrm>
          <a:prstGeom prst="rect">
            <a:avLst/>
          </a:prstGeom>
          <a:noFill/>
          <a:ln/>
        </p:spPr>
        <p:txBody>
          <a:bodyPr wrap="square" lIns="0" tIns="0" rIns="0" bIns="0" rtlCol="0" anchor="ctr"/>
          <a:lstStyle/>
          <a:p>
            <a:pPr marL="0" indent="0" algn="l">
              <a:buNone/>
            </a:pPr>
            <a:r>
              <a:rPr lang="en-US" sz="1800" b="1" dirty="0">
                <a:solidFill>
                  <a:srgbClr val="000000"/>
                </a:solidFill>
                <a:latin typeface="Pretendard" pitchFamily="34" charset="0"/>
                <a:ea typeface="Pretendard" pitchFamily="34" charset="-122"/>
                <a:cs typeface="Pretendard" pitchFamily="34" charset="-120"/>
              </a:rPr>
              <a:t>환경 (Environment)</a:t>
            </a:r>
            <a:endParaRPr lang="en-US" sz="1800" dirty="0"/>
          </a:p>
        </p:txBody>
      </p:sp>
      <p:sp>
        <p:nvSpPr>
          <p:cNvPr id="45" name="Text 34"/>
          <p:cNvSpPr txBox="1"/>
          <p:nvPr/>
        </p:nvSpPr>
        <p:spPr>
          <a:xfrm>
            <a:off x="6458407" y="4805995"/>
            <a:ext cx="3010205" cy="428854"/>
          </a:xfrm>
          <a:prstGeom prst="rect">
            <a:avLst/>
          </a:prstGeom>
          <a:noFill/>
          <a:ln/>
        </p:spPr>
        <p:txBody>
          <a:bodyPr wrap="square" lIns="0" tIns="0" rIns="0" bIns="0" rtlCol="0" anchor="t"/>
          <a:lstStyle/>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피사체가 놓인 배경, 조명, 시간을 설정합니다.</a:t>
            </a:r>
            <a:endParaRPr lang="en-US" sz="1100" dirty="0"/>
          </a:p>
          <a:p>
            <a:pPr marL="0" indent="0" algn="l">
              <a:lnSpc>
                <a:spcPct val="150000"/>
              </a:lnSpc>
              <a:buNone/>
            </a:pPr>
            <a:r>
              <a:rPr lang="en-US" sz="1100" dirty="0">
                <a:solidFill>
                  <a:srgbClr val="555555"/>
                </a:solidFill>
                <a:latin typeface="Noto Sans KR" pitchFamily="34" charset="0"/>
                <a:ea typeface="Noto Sans KR" pitchFamily="34" charset="-122"/>
                <a:cs typeface="Noto Sans KR" pitchFamily="34" charset="-120"/>
              </a:rPr>
              <a:t>예: 모던 오피스, 자연광, 골든아워</a:t>
            </a:r>
            <a:endParaRPr lang="en-US" sz="1100" dirty="0"/>
          </a:p>
        </p:txBody>
      </p:sp>
      <p:sp>
        <p:nvSpPr>
          <p:cNvPr id="4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7" name="Image 2" descr="preencoded.png"/>
          <p:cNvPicPr>
            <a:picLocks noChangeAspect="1"/>
          </p:cNvPicPr>
          <p:nvPr/>
        </p:nvPicPr>
        <p:blipFill>
          <a:blip r:embed="rId3"/>
          <a:srcRect l="17079" r="17079"/>
          <a:stretch/>
        </p:blipFill>
        <p:spPr>
          <a:xfrm>
            <a:off x="10025557" y="4515655"/>
            <a:ext cx="1856315" cy="1885456"/>
          </a:xfrm>
          <a:prstGeom prst="rect">
            <a:avLst/>
          </a:prstGeom>
        </p:spPr>
      </p:pic>
      <p:grpSp>
        <p:nvGrpSpPr>
          <p:cNvPr id="57" name="그룹 56">
            <a:extLst>
              <a:ext uri="{FF2B5EF4-FFF2-40B4-BE49-F238E27FC236}">
                <a16:creationId xmlns:a16="http://schemas.microsoft.com/office/drawing/2014/main" id="{36D2E925-C418-38BA-CD85-997419E92763}"/>
              </a:ext>
            </a:extLst>
          </p:cNvPr>
          <p:cNvGrpSpPr/>
          <p:nvPr/>
        </p:nvGrpSpPr>
        <p:grpSpPr>
          <a:xfrm>
            <a:off x="8833953" y="6204204"/>
            <a:ext cx="1657807" cy="352958"/>
            <a:chOff x="5715000" y="13585241"/>
            <a:chExt cx="1657807" cy="352958"/>
          </a:xfrm>
        </p:grpSpPr>
        <p:sp>
          <p:nvSpPr>
            <p:cNvPr id="8" name="Shape 3"/>
            <p:cNvSpPr/>
            <p:nvPr/>
          </p:nvSpPr>
          <p:spPr>
            <a:xfrm>
              <a:off x="5715000" y="13585241"/>
              <a:ext cx="1657807" cy="352044"/>
            </a:xfrm>
            <a:prstGeom prst="roundRect">
              <a:avLst>
                <a:gd name="adj" fmla="val 210600"/>
              </a:avLst>
            </a:prstGeom>
            <a:solidFill>
              <a:srgbClr val="FFFFFF">
                <a:alpha val="95000"/>
              </a:srgbClr>
            </a:solidFill>
            <a:ln w="12700">
              <a:solidFill>
                <a:srgbClr val="FFFFFF">
                  <a:alpha val="0"/>
                </a:srgbClr>
              </a:solidFill>
              <a:prstDash val="solid"/>
            </a:ln>
            <a:effectLst>
              <a:outerShdw blurRad="101600" dist="38100" dir="16200000" algn="bl" rotWithShape="0">
                <a:srgbClr val="000000">
                  <a:alpha val="10000"/>
                </a:srgbClr>
              </a:outerShdw>
            </a:effectLst>
          </p:spPr>
          <p:txBody>
            <a:bodyPr/>
            <a:lstStyle/>
            <a:p>
              <a:endParaRPr lang="ko-KR" altLang="en-US"/>
            </a:p>
          </p:txBody>
        </p:sp>
        <p:pic>
          <p:nvPicPr>
            <p:cNvPr id="9" name="Image 3" descr="preencoded.png"/>
            <p:cNvPicPr>
              <a:picLocks noChangeAspect="1"/>
            </p:cNvPicPr>
            <p:nvPr/>
          </p:nvPicPr>
          <p:blipFill>
            <a:blip r:embed="rId4"/>
            <a:srcRect l="-837" r="-837"/>
            <a:stretch/>
          </p:blipFill>
          <p:spPr>
            <a:xfrm>
              <a:off x="5867705" y="13694969"/>
              <a:ext cx="152705" cy="133502"/>
            </a:xfrm>
            <a:prstGeom prst="rect">
              <a:avLst/>
            </a:prstGeom>
          </p:spPr>
        </p:pic>
        <p:sp>
          <p:nvSpPr>
            <p:cNvPr id="10" name="Text 4"/>
            <p:cNvSpPr txBox="1"/>
            <p:nvPr/>
          </p:nvSpPr>
          <p:spPr>
            <a:xfrm>
              <a:off x="6077102" y="13585241"/>
              <a:ext cx="1200607" cy="352958"/>
            </a:xfrm>
            <a:prstGeom prst="rect">
              <a:avLst/>
            </a:prstGeom>
            <a:noFill/>
            <a:ln/>
          </p:spPr>
          <p:txBody>
            <a:bodyPr wrap="square" lIns="0" tIns="0" rIns="0" bIns="0" rtlCol="0" anchor="ctr"/>
            <a:lstStyle/>
            <a:p>
              <a:pPr marL="0" indent="0" algn="l">
                <a:buNone/>
              </a:pPr>
              <a:r>
                <a:rPr lang="en-US" sz="1000" b="1" dirty="0">
                  <a:solidFill>
                    <a:srgbClr val="FF6908"/>
                  </a:solidFill>
                  <a:latin typeface="Manrope" pitchFamily="34" charset="0"/>
                  <a:ea typeface="Manrope" pitchFamily="34" charset="-122"/>
                  <a:cs typeface="Manrope" pitchFamily="34" charset="-120"/>
                </a:rPr>
                <a:t>Top View Example</a:t>
              </a:r>
              <a:endParaRPr lang="en-US" sz="1000" dirty="0"/>
            </a:p>
          </p:txBody>
        </p:sp>
      </p:grpSp>
      <p:grpSp>
        <p:nvGrpSpPr>
          <p:cNvPr id="56" name="그룹 55">
            <a:extLst>
              <a:ext uri="{FF2B5EF4-FFF2-40B4-BE49-F238E27FC236}">
                <a16:creationId xmlns:a16="http://schemas.microsoft.com/office/drawing/2014/main" id="{53E19402-B632-6A5D-3095-65C4D7CD6674}"/>
              </a:ext>
            </a:extLst>
          </p:cNvPr>
          <p:cNvGrpSpPr/>
          <p:nvPr/>
        </p:nvGrpSpPr>
        <p:grpSpPr>
          <a:xfrm>
            <a:off x="6989216" y="283210"/>
            <a:ext cx="4917948" cy="4066337"/>
            <a:chOff x="5524805" y="761695"/>
            <a:chExt cx="6405938" cy="6152998"/>
          </a:xfrm>
        </p:grpSpPr>
        <p:pic>
          <p:nvPicPr>
            <p:cNvPr id="3" name="Image 0" descr="preencoded.png"/>
            <p:cNvPicPr>
              <a:picLocks noChangeAspect="1"/>
            </p:cNvPicPr>
            <p:nvPr/>
          </p:nvPicPr>
          <p:blipFill>
            <a:blip r:embed="rId5"/>
            <a:srcRect t="16143" b="16143"/>
            <a:stretch/>
          </p:blipFill>
          <p:spPr>
            <a:xfrm>
              <a:off x="5524805" y="761695"/>
              <a:ext cx="6405938" cy="6152998"/>
            </a:xfrm>
            <a:prstGeom prst="rect">
              <a:avLst/>
            </a:prstGeom>
          </p:spPr>
        </p:pic>
        <p:sp>
          <p:nvSpPr>
            <p:cNvPr id="4" name="Shape 1"/>
            <p:cNvSpPr/>
            <p:nvPr/>
          </p:nvSpPr>
          <p:spPr>
            <a:xfrm>
              <a:off x="5715000" y="6367882"/>
              <a:ext cx="1752905" cy="352044"/>
            </a:xfrm>
            <a:prstGeom prst="roundRect">
              <a:avLst>
                <a:gd name="adj" fmla="val 210600"/>
              </a:avLst>
            </a:prstGeom>
            <a:solidFill>
              <a:srgbClr val="FFFFFF">
                <a:alpha val="95000"/>
              </a:srgbClr>
            </a:solidFill>
            <a:ln w="12700">
              <a:solidFill>
                <a:srgbClr val="FFFFFF">
                  <a:alpha val="0"/>
                </a:srgbClr>
              </a:solidFill>
              <a:prstDash val="solid"/>
            </a:ln>
            <a:effectLst>
              <a:outerShdw blurRad="101600" dist="38100" dir="16200000" algn="bl" rotWithShape="0">
                <a:srgbClr val="000000">
                  <a:alpha val="10000"/>
                </a:srgbClr>
              </a:outerShdw>
            </a:effectLst>
          </p:spPr>
          <p:txBody>
            <a:bodyPr/>
            <a:lstStyle/>
            <a:p>
              <a:endParaRPr lang="ko-KR" altLang="en-US" sz="1400"/>
            </a:p>
          </p:txBody>
        </p:sp>
        <p:pic>
          <p:nvPicPr>
            <p:cNvPr id="5" name="Image 1" descr="preencoded.png"/>
            <p:cNvPicPr>
              <a:picLocks noChangeAspect="1"/>
            </p:cNvPicPr>
            <p:nvPr/>
          </p:nvPicPr>
          <p:blipFill>
            <a:blip r:embed="rId6"/>
            <a:srcRect/>
            <a:stretch/>
          </p:blipFill>
          <p:spPr>
            <a:xfrm>
              <a:off x="5867705" y="6476695"/>
              <a:ext cx="133502" cy="133502"/>
            </a:xfrm>
            <a:prstGeom prst="rect">
              <a:avLst/>
            </a:prstGeom>
          </p:spPr>
        </p:pic>
        <p:sp>
          <p:nvSpPr>
            <p:cNvPr id="6" name="Text 2"/>
            <p:cNvSpPr txBox="1"/>
            <p:nvPr/>
          </p:nvSpPr>
          <p:spPr>
            <a:xfrm>
              <a:off x="6057900" y="6367882"/>
              <a:ext cx="1314907" cy="352958"/>
            </a:xfrm>
            <a:prstGeom prst="rect">
              <a:avLst/>
            </a:prstGeom>
            <a:noFill/>
            <a:ln/>
          </p:spPr>
          <p:txBody>
            <a:bodyPr wrap="square" lIns="0" tIns="0" rIns="0" bIns="0" rtlCol="0" anchor="ctr"/>
            <a:lstStyle/>
            <a:p>
              <a:pPr marL="0" indent="0" algn="l">
                <a:buNone/>
              </a:pPr>
              <a:r>
                <a:rPr lang="en-US" sz="800" b="1" dirty="0">
                  <a:solidFill>
                    <a:srgbClr val="FF6908"/>
                  </a:solidFill>
                  <a:latin typeface="Manrope" pitchFamily="34" charset="0"/>
                  <a:ea typeface="Manrope" pitchFamily="34" charset="-122"/>
                  <a:cs typeface="Manrope" pitchFamily="34" charset="-120"/>
                </a:rPr>
                <a:t>Front View Example</a:t>
              </a:r>
              <a:endParaRPr lang="en-US" sz="800" dirty="0"/>
            </a:p>
          </p:txBody>
        </p:sp>
        <p:sp>
          <p:nvSpPr>
            <p:cNvPr id="11" name="Text 5"/>
            <p:cNvSpPr txBox="1"/>
            <p:nvPr/>
          </p:nvSpPr>
          <p:spPr>
            <a:xfrm>
              <a:off x="9527134" y="6019495"/>
              <a:ext cx="2056486" cy="210312"/>
            </a:xfrm>
            <a:prstGeom prst="rect">
              <a:avLst/>
            </a:prstGeom>
            <a:noFill/>
            <a:ln/>
          </p:spPr>
          <p:txBody>
            <a:bodyPr wrap="square" lIns="0" tIns="0" rIns="0" bIns="0" rtlCol="0" anchor="ctr"/>
            <a:lstStyle/>
            <a:p>
              <a:pPr marL="0" indent="0" algn="r">
                <a:buNone/>
              </a:pPr>
              <a:r>
                <a:rPr lang="en-US" sz="1050" b="1" dirty="0">
                  <a:solidFill>
                    <a:srgbClr val="FF6908"/>
                  </a:solidFill>
                  <a:latin typeface="Manrope" pitchFamily="34" charset="0"/>
                  <a:ea typeface="Manrope" pitchFamily="34" charset="-122"/>
                  <a:cs typeface="Manrope" pitchFamily="34" charset="-120"/>
                </a:rPr>
                <a:t>AI IMAGE MASTER CLASS</a:t>
              </a:r>
              <a:endParaRPr lang="en-US" sz="1050" dirty="0"/>
            </a:p>
          </p:txBody>
        </p:sp>
      </p:grpSp>
      <p:grpSp>
        <p:nvGrpSpPr>
          <p:cNvPr id="2" name="그룹 1">
            <a:extLst>
              <a:ext uri="{FF2B5EF4-FFF2-40B4-BE49-F238E27FC236}">
                <a16:creationId xmlns:a16="http://schemas.microsoft.com/office/drawing/2014/main" id="{603710BB-0212-B3F4-F0A8-11934E609A20}"/>
              </a:ext>
            </a:extLst>
          </p:cNvPr>
          <p:cNvGrpSpPr/>
          <p:nvPr/>
        </p:nvGrpSpPr>
        <p:grpSpPr>
          <a:xfrm>
            <a:off x="727806" y="446229"/>
            <a:ext cx="5922000" cy="5867703"/>
            <a:chOff x="690372" y="779984"/>
            <a:chExt cx="5922000" cy="5867703"/>
          </a:xfrm>
        </p:grpSpPr>
        <p:sp>
          <p:nvSpPr>
            <p:cNvPr id="13" name="Text 7"/>
            <p:cNvSpPr txBox="1"/>
            <p:nvPr/>
          </p:nvSpPr>
          <p:spPr>
            <a:xfrm>
              <a:off x="690372" y="779984"/>
              <a:ext cx="4476902" cy="1133856"/>
            </a:xfrm>
            <a:prstGeom prst="rect">
              <a:avLst/>
            </a:prstGeom>
            <a:noFill/>
            <a:ln/>
          </p:spPr>
          <p:txBody>
            <a:bodyPr wrap="square" lIns="0" tIns="0" rIns="0" bIns="0" rtlCol="0" anchor="t"/>
            <a:lstStyle/>
            <a:p>
              <a:pPr marL="0" indent="0" algn="l">
                <a:buNone/>
              </a:pPr>
              <a:r>
                <a:rPr lang="en-US" sz="4000" b="1" kern="0" spc="-37" dirty="0">
                  <a:solidFill>
                    <a:srgbClr val="FF6908"/>
                  </a:solidFill>
                  <a:latin typeface="Manrope" pitchFamily="34" charset="0"/>
                  <a:ea typeface="Manrope" pitchFamily="34" charset="-122"/>
                  <a:cs typeface="Manrope" pitchFamily="34" charset="-120"/>
                </a:rPr>
                <a:t>구도</a:t>
              </a:r>
              <a:endParaRPr lang="en-US" sz="4000" dirty="0"/>
            </a:p>
            <a:p>
              <a:pPr marL="0" indent="0" algn="l">
                <a:buNone/>
              </a:pPr>
              <a:r>
                <a:rPr lang="en-US" sz="4000" b="1" kern="0" spc="-37" dirty="0">
                  <a:solidFill>
                    <a:srgbClr val="FF6908"/>
                  </a:solidFill>
                  <a:latin typeface="Manrope" pitchFamily="34" charset="0"/>
                  <a:ea typeface="Manrope" pitchFamily="34" charset="-122"/>
                  <a:cs typeface="Manrope" pitchFamily="34" charset="-120"/>
                </a:rPr>
                <a:t>완전 정복 Part 1</a:t>
              </a:r>
              <a:endParaRPr lang="en-US" sz="4000" dirty="0"/>
            </a:p>
          </p:txBody>
        </p:sp>
        <p:sp>
          <p:nvSpPr>
            <p:cNvPr id="14" name="Shape 8"/>
            <p:cNvSpPr/>
            <p:nvPr/>
          </p:nvSpPr>
          <p:spPr>
            <a:xfrm>
              <a:off x="690372" y="2160727"/>
              <a:ext cx="5618149" cy="638251"/>
            </a:xfrm>
            <a:prstGeom prst="rect">
              <a:avLst/>
            </a:prstGeom>
            <a:solidFill>
              <a:srgbClr val="FFFFFF"/>
            </a:solidFill>
            <a:ln/>
          </p:spPr>
          <p:txBody>
            <a:bodyPr/>
            <a:lstStyle/>
            <a:p>
              <a:endParaRPr lang="ko-KR" altLang="en-US"/>
            </a:p>
          </p:txBody>
        </p:sp>
        <p:sp>
          <p:nvSpPr>
            <p:cNvPr id="15" name="Shape 9"/>
            <p:cNvSpPr/>
            <p:nvPr/>
          </p:nvSpPr>
          <p:spPr>
            <a:xfrm>
              <a:off x="690372" y="2789835"/>
              <a:ext cx="4304995" cy="9144"/>
            </a:xfrm>
            <a:prstGeom prst="rect">
              <a:avLst/>
            </a:prstGeom>
            <a:solidFill>
              <a:srgbClr val="FF6908">
                <a:alpha val="20000"/>
              </a:srgbClr>
            </a:solidFill>
            <a:ln w="12700">
              <a:solidFill>
                <a:srgbClr val="FF6908">
                  <a:alpha val="0"/>
                </a:srgbClr>
              </a:solidFill>
              <a:prstDash val="solid"/>
            </a:ln>
          </p:spPr>
          <p:txBody>
            <a:bodyPr/>
            <a:lstStyle/>
            <a:p>
              <a:endParaRPr lang="ko-KR" altLang="en-US"/>
            </a:p>
          </p:txBody>
        </p:sp>
        <p:sp>
          <p:nvSpPr>
            <p:cNvPr id="16" name="Shape 10"/>
            <p:cNvSpPr/>
            <p:nvPr/>
          </p:nvSpPr>
          <p:spPr>
            <a:xfrm>
              <a:off x="690372" y="2350923"/>
              <a:ext cx="286207"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17" name="Shape 11"/>
            <p:cNvSpPr/>
            <p:nvPr/>
          </p:nvSpPr>
          <p:spPr>
            <a:xfrm>
              <a:off x="690372" y="2798979"/>
              <a:ext cx="5618149" cy="638251"/>
            </a:xfrm>
            <a:prstGeom prst="rect">
              <a:avLst/>
            </a:prstGeom>
            <a:solidFill>
              <a:srgbClr val="FFFFFF"/>
            </a:solidFill>
            <a:ln/>
          </p:spPr>
          <p:txBody>
            <a:bodyPr/>
            <a:lstStyle/>
            <a:p>
              <a:endParaRPr lang="ko-KR" altLang="en-US"/>
            </a:p>
          </p:txBody>
        </p:sp>
        <p:sp>
          <p:nvSpPr>
            <p:cNvPr id="18" name="Shape 12"/>
            <p:cNvSpPr/>
            <p:nvPr/>
          </p:nvSpPr>
          <p:spPr>
            <a:xfrm>
              <a:off x="690372" y="3428086"/>
              <a:ext cx="4304995" cy="9144"/>
            </a:xfrm>
            <a:prstGeom prst="rect">
              <a:avLst/>
            </a:prstGeom>
            <a:solidFill>
              <a:srgbClr val="FF6908">
                <a:alpha val="20000"/>
              </a:srgbClr>
            </a:solidFill>
            <a:ln w="12700">
              <a:solidFill>
                <a:srgbClr val="FF6908">
                  <a:alpha val="0"/>
                </a:srgbClr>
              </a:solidFill>
              <a:prstDash val="solid"/>
            </a:ln>
          </p:spPr>
          <p:txBody>
            <a:bodyPr/>
            <a:lstStyle/>
            <a:p>
              <a:endParaRPr lang="ko-KR" altLang="en-US"/>
            </a:p>
          </p:txBody>
        </p:sp>
        <p:sp>
          <p:nvSpPr>
            <p:cNvPr id="19" name="Shape 13"/>
            <p:cNvSpPr/>
            <p:nvPr/>
          </p:nvSpPr>
          <p:spPr>
            <a:xfrm>
              <a:off x="690372" y="2989174"/>
              <a:ext cx="304495"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20" name="Shape 14"/>
            <p:cNvSpPr/>
            <p:nvPr/>
          </p:nvSpPr>
          <p:spPr>
            <a:xfrm>
              <a:off x="690372" y="3437230"/>
              <a:ext cx="5618149" cy="638251"/>
            </a:xfrm>
            <a:prstGeom prst="rect">
              <a:avLst/>
            </a:prstGeom>
            <a:solidFill>
              <a:srgbClr val="FFFFFF"/>
            </a:solidFill>
            <a:ln/>
          </p:spPr>
          <p:txBody>
            <a:bodyPr/>
            <a:lstStyle/>
            <a:p>
              <a:endParaRPr lang="ko-KR" altLang="en-US"/>
            </a:p>
          </p:txBody>
        </p:sp>
        <p:sp>
          <p:nvSpPr>
            <p:cNvPr id="21" name="Shape 15"/>
            <p:cNvSpPr/>
            <p:nvPr/>
          </p:nvSpPr>
          <p:spPr>
            <a:xfrm>
              <a:off x="690372" y="4066337"/>
              <a:ext cx="4304995" cy="9144"/>
            </a:xfrm>
            <a:prstGeom prst="rect">
              <a:avLst/>
            </a:prstGeom>
            <a:solidFill>
              <a:srgbClr val="FF6908">
                <a:alpha val="20000"/>
              </a:srgbClr>
            </a:solidFill>
            <a:ln w="12700">
              <a:solidFill>
                <a:srgbClr val="FF6908">
                  <a:alpha val="0"/>
                </a:srgbClr>
              </a:solidFill>
              <a:prstDash val="solid"/>
            </a:ln>
          </p:spPr>
          <p:txBody>
            <a:bodyPr/>
            <a:lstStyle/>
            <a:p>
              <a:endParaRPr lang="ko-KR" altLang="en-US"/>
            </a:p>
          </p:txBody>
        </p:sp>
        <p:sp>
          <p:nvSpPr>
            <p:cNvPr id="22" name="Shape 16"/>
            <p:cNvSpPr/>
            <p:nvPr/>
          </p:nvSpPr>
          <p:spPr>
            <a:xfrm>
              <a:off x="690372" y="3627425"/>
              <a:ext cx="295351"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23" name="Shape 17"/>
            <p:cNvSpPr/>
            <p:nvPr/>
          </p:nvSpPr>
          <p:spPr>
            <a:xfrm>
              <a:off x="690372" y="4075481"/>
              <a:ext cx="5618149" cy="638251"/>
            </a:xfrm>
            <a:prstGeom prst="rect">
              <a:avLst/>
            </a:prstGeom>
            <a:solidFill>
              <a:srgbClr val="FFFFFF"/>
            </a:solidFill>
            <a:ln/>
          </p:spPr>
          <p:txBody>
            <a:bodyPr/>
            <a:lstStyle/>
            <a:p>
              <a:endParaRPr lang="ko-KR" altLang="en-US"/>
            </a:p>
          </p:txBody>
        </p:sp>
        <p:sp>
          <p:nvSpPr>
            <p:cNvPr id="24" name="Shape 18"/>
            <p:cNvSpPr/>
            <p:nvPr/>
          </p:nvSpPr>
          <p:spPr>
            <a:xfrm>
              <a:off x="690372" y="4704588"/>
              <a:ext cx="4304995" cy="9144"/>
            </a:xfrm>
            <a:prstGeom prst="rect">
              <a:avLst/>
            </a:prstGeom>
            <a:solidFill>
              <a:srgbClr val="FF6908">
                <a:alpha val="20000"/>
              </a:srgbClr>
            </a:solidFill>
            <a:ln w="12700">
              <a:solidFill>
                <a:srgbClr val="FF6908">
                  <a:alpha val="0"/>
                </a:srgbClr>
              </a:solidFill>
              <a:prstDash val="solid"/>
            </a:ln>
          </p:spPr>
          <p:txBody>
            <a:bodyPr/>
            <a:lstStyle/>
            <a:p>
              <a:endParaRPr lang="ko-KR" altLang="en-US"/>
            </a:p>
          </p:txBody>
        </p:sp>
        <p:sp>
          <p:nvSpPr>
            <p:cNvPr id="25" name="Shape 19"/>
            <p:cNvSpPr/>
            <p:nvPr/>
          </p:nvSpPr>
          <p:spPr>
            <a:xfrm>
              <a:off x="690372" y="4265676"/>
              <a:ext cx="304495"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26" name="Shape 20"/>
            <p:cNvSpPr/>
            <p:nvPr/>
          </p:nvSpPr>
          <p:spPr>
            <a:xfrm>
              <a:off x="690372" y="4713732"/>
              <a:ext cx="5618149" cy="638251"/>
            </a:xfrm>
            <a:prstGeom prst="rect">
              <a:avLst/>
            </a:prstGeom>
            <a:solidFill>
              <a:srgbClr val="FFFFFF"/>
            </a:solidFill>
            <a:ln/>
          </p:spPr>
          <p:txBody>
            <a:bodyPr/>
            <a:lstStyle/>
            <a:p>
              <a:endParaRPr lang="ko-KR" altLang="en-US"/>
            </a:p>
          </p:txBody>
        </p:sp>
        <p:sp>
          <p:nvSpPr>
            <p:cNvPr id="27" name="Shape 21"/>
            <p:cNvSpPr/>
            <p:nvPr/>
          </p:nvSpPr>
          <p:spPr>
            <a:xfrm>
              <a:off x="690372" y="5342839"/>
              <a:ext cx="4304995" cy="9144"/>
            </a:xfrm>
            <a:prstGeom prst="rect">
              <a:avLst/>
            </a:prstGeom>
            <a:solidFill>
              <a:srgbClr val="FF6908">
                <a:alpha val="20000"/>
              </a:srgbClr>
            </a:solidFill>
            <a:ln w="12700">
              <a:solidFill>
                <a:srgbClr val="FF6908">
                  <a:alpha val="0"/>
                </a:srgbClr>
              </a:solidFill>
              <a:prstDash val="solid"/>
            </a:ln>
          </p:spPr>
          <p:txBody>
            <a:bodyPr/>
            <a:lstStyle/>
            <a:p>
              <a:endParaRPr lang="ko-KR" altLang="en-US"/>
            </a:p>
          </p:txBody>
        </p:sp>
        <p:sp>
          <p:nvSpPr>
            <p:cNvPr id="28" name="Shape 22"/>
            <p:cNvSpPr/>
            <p:nvPr/>
          </p:nvSpPr>
          <p:spPr>
            <a:xfrm>
              <a:off x="690372" y="4903927"/>
              <a:ext cx="295351"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29" name="Shape 23"/>
            <p:cNvSpPr/>
            <p:nvPr/>
          </p:nvSpPr>
          <p:spPr>
            <a:xfrm>
              <a:off x="690372" y="5351983"/>
              <a:ext cx="5618149" cy="638251"/>
            </a:xfrm>
            <a:prstGeom prst="rect">
              <a:avLst/>
            </a:prstGeom>
            <a:solidFill>
              <a:srgbClr val="FFFFFF"/>
            </a:solidFill>
            <a:ln/>
          </p:spPr>
          <p:txBody>
            <a:bodyPr/>
            <a:lstStyle/>
            <a:p>
              <a:endParaRPr lang="ko-KR" altLang="en-US"/>
            </a:p>
          </p:txBody>
        </p:sp>
        <p:sp>
          <p:nvSpPr>
            <p:cNvPr id="30" name="Shape 24"/>
            <p:cNvSpPr/>
            <p:nvPr/>
          </p:nvSpPr>
          <p:spPr>
            <a:xfrm>
              <a:off x="690372" y="5981091"/>
              <a:ext cx="4304995" cy="9144"/>
            </a:xfrm>
            <a:prstGeom prst="rect">
              <a:avLst/>
            </a:prstGeom>
            <a:solidFill>
              <a:srgbClr val="FF6908">
                <a:alpha val="20000"/>
              </a:srgbClr>
            </a:solidFill>
            <a:ln w="12700">
              <a:solidFill>
                <a:srgbClr val="FF6908">
                  <a:alpha val="0"/>
                </a:srgbClr>
              </a:solidFill>
              <a:prstDash val="solid"/>
            </a:ln>
          </p:spPr>
          <p:txBody>
            <a:bodyPr/>
            <a:lstStyle/>
            <a:p>
              <a:endParaRPr lang="ko-KR" altLang="en-US"/>
            </a:p>
          </p:txBody>
        </p:sp>
        <p:sp>
          <p:nvSpPr>
            <p:cNvPr id="31" name="Shape 25"/>
            <p:cNvSpPr/>
            <p:nvPr/>
          </p:nvSpPr>
          <p:spPr>
            <a:xfrm>
              <a:off x="690372" y="5542179"/>
              <a:ext cx="304495"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32" name="Shape 26"/>
            <p:cNvSpPr/>
            <p:nvPr/>
          </p:nvSpPr>
          <p:spPr>
            <a:xfrm>
              <a:off x="690372" y="5989320"/>
              <a:ext cx="5618149" cy="629107"/>
            </a:xfrm>
            <a:prstGeom prst="rect">
              <a:avLst/>
            </a:prstGeom>
            <a:solidFill>
              <a:srgbClr val="FFFFFF"/>
            </a:solidFill>
            <a:ln w="12700">
              <a:solidFill>
                <a:srgbClr val="FFFFFF">
                  <a:alpha val="0"/>
                </a:srgbClr>
              </a:solidFill>
              <a:prstDash val="solid"/>
            </a:ln>
          </p:spPr>
          <p:txBody>
            <a:bodyPr/>
            <a:lstStyle/>
            <a:p>
              <a:endParaRPr lang="ko-KR" altLang="en-US"/>
            </a:p>
          </p:txBody>
        </p:sp>
        <p:sp>
          <p:nvSpPr>
            <p:cNvPr id="33" name="Shape 27"/>
            <p:cNvSpPr/>
            <p:nvPr/>
          </p:nvSpPr>
          <p:spPr>
            <a:xfrm>
              <a:off x="690372" y="6180430"/>
              <a:ext cx="295351"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34" name="Text 28"/>
            <p:cNvSpPr txBox="1"/>
            <p:nvPr/>
          </p:nvSpPr>
          <p:spPr>
            <a:xfrm>
              <a:off x="766267" y="2389327"/>
              <a:ext cx="210312"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01</a:t>
              </a:r>
              <a:endParaRPr lang="en-US" sz="900" dirty="0"/>
            </a:p>
          </p:txBody>
        </p:sp>
        <p:sp>
          <p:nvSpPr>
            <p:cNvPr id="35" name="Text 29"/>
            <p:cNvSpPr txBox="1"/>
            <p:nvPr/>
          </p:nvSpPr>
          <p:spPr>
            <a:xfrm>
              <a:off x="1081735" y="2346351"/>
              <a:ext cx="842162"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프론트 뷰</a:t>
              </a:r>
              <a:endParaRPr lang="en-US" sz="1300" dirty="0"/>
            </a:p>
          </p:txBody>
        </p:sp>
        <p:sp>
          <p:nvSpPr>
            <p:cNvPr id="36" name="Text 30"/>
            <p:cNvSpPr txBox="1"/>
            <p:nvPr/>
          </p:nvSpPr>
          <p:spPr>
            <a:xfrm>
              <a:off x="2400163" y="2418587"/>
              <a:ext cx="4054668"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정면 시점. 인물이나 제품을 직관적으로 보여주며 신뢰감 전달.</a:t>
              </a:r>
              <a:endParaRPr lang="en-US" sz="1100" dirty="0"/>
            </a:p>
          </p:txBody>
        </p:sp>
        <p:sp>
          <p:nvSpPr>
            <p:cNvPr id="37" name="Text 31"/>
            <p:cNvSpPr txBox="1"/>
            <p:nvPr/>
          </p:nvSpPr>
          <p:spPr>
            <a:xfrm>
              <a:off x="766267" y="3027579"/>
              <a:ext cx="22860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02</a:t>
              </a:r>
              <a:endParaRPr lang="en-US" sz="900" dirty="0"/>
            </a:p>
          </p:txBody>
        </p:sp>
        <p:sp>
          <p:nvSpPr>
            <p:cNvPr id="38" name="Text 32"/>
            <p:cNvSpPr txBox="1"/>
            <p:nvPr/>
          </p:nvSpPr>
          <p:spPr>
            <a:xfrm>
              <a:off x="1100023" y="2984602"/>
              <a:ext cx="400507"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탑뷰</a:t>
              </a:r>
              <a:endParaRPr lang="en-US" sz="1300" dirty="0"/>
            </a:p>
          </p:txBody>
        </p:sp>
        <p:sp>
          <p:nvSpPr>
            <p:cNvPr id="39" name="Text 33"/>
            <p:cNvSpPr txBox="1"/>
            <p:nvPr/>
          </p:nvSpPr>
          <p:spPr>
            <a:xfrm>
              <a:off x="2417536" y="3056839"/>
              <a:ext cx="4054668"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위에서 수직으로 내려다보는 시점. 전체 배치와 구성 파악 용이.</a:t>
              </a:r>
              <a:endParaRPr lang="en-US" sz="1100" dirty="0"/>
            </a:p>
          </p:txBody>
        </p:sp>
        <p:sp>
          <p:nvSpPr>
            <p:cNvPr id="40" name="Text 34"/>
            <p:cNvSpPr txBox="1"/>
            <p:nvPr/>
          </p:nvSpPr>
          <p:spPr>
            <a:xfrm>
              <a:off x="766267" y="3665830"/>
              <a:ext cx="219456"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03</a:t>
              </a:r>
              <a:endParaRPr lang="en-US" sz="900" dirty="0"/>
            </a:p>
          </p:txBody>
        </p:sp>
        <p:sp>
          <p:nvSpPr>
            <p:cNvPr id="41" name="Text 35"/>
            <p:cNvSpPr txBox="1"/>
            <p:nvPr/>
          </p:nvSpPr>
          <p:spPr>
            <a:xfrm>
              <a:off x="1098194" y="3622853"/>
              <a:ext cx="731520"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하이앵글</a:t>
              </a:r>
              <a:endParaRPr lang="en-US" sz="1300" dirty="0"/>
            </a:p>
          </p:txBody>
        </p:sp>
        <p:sp>
          <p:nvSpPr>
            <p:cNvPr id="42" name="Text 36"/>
            <p:cNvSpPr txBox="1"/>
            <p:nvPr/>
          </p:nvSpPr>
          <p:spPr>
            <a:xfrm>
              <a:off x="2416621" y="3695090"/>
              <a:ext cx="3993673"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위에서 아래로. 피사체를 작게 표현하거나 정보 구조 요약.</a:t>
              </a:r>
              <a:endParaRPr lang="en-US" sz="1100" dirty="0"/>
            </a:p>
          </p:txBody>
        </p:sp>
        <p:sp>
          <p:nvSpPr>
            <p:cNvPr id="43" name="Text 37"/>
            <p:cNvSpPr txBox="1"/>
            <p:nvPr/>
          </p:nvSpPr>
          <p:spPr>
            <a:xfrm>
              <a:off x="766267" y="4304081"/>
              <a:ext cx="22860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04</a:t>
              </a:r>
              <a:endParaRPr lang="en-US" sz="900" dirty="0"/>
            </a:p>
          </p:txBody>
        </p:sp>
        <p:sp>
          <p:nvSpPr>
            <p:cNvPr id="44" name="Text 38"/>
            <p:cNvSpPr txBox="1"/>
            <p:nvPr/>
          </p:nvSpPr>
          <p:spPr>
            <a:xfrm>
              <a:off x="1101852" y="4261104"/>
              <a:ext cx="731520"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로우앵글</a:t>
              </a:r>
              <a:endParaRPr lang="en-US" sz="1300" dirty="0"/>
            </a:p>
          </p:txBody>
        </p:sp>
        <p:sp>
          <p:nvSpPr>
            <p:cNvPr id="45" name="Text 39"/>
            <p:cNvSpPr txBox="1"/>
            <p:nvPr/>
          </p:nvSpPr>
          <p:spPr>
            <a:xfrm>
              <a:off x="2419364" y="4333341"/>
              <a:ext cx="3993673"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아래에서 위로. 피사체를 웅장하게 만들어 권위와 힘 강조.</a:t>
              </a:r>
              <a:endParaRPr lang="en-US" sz="1100" dirty="0"/>
            </a:p>
          </p:txBody>
        </p:sp>
        <p:sp>
          <p:nvSpPr>
            <p:cNvPr id="46" name="Text 40"/>
            <p:cNvSpPr txBox="1"/>
            <p:nvPr/>
          </p:nvSpPr>
          <p:spPr>
            <a:xfrm>
              <a:off x="766267" y="4942332"/>
              <a:ext cx="219456"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05</a:t>
              </a:r>
              <a:endParaRPr lang="en-US" sz="900" dirty="0"/>
            </a:p>
          </p:txBody>
        </p:sp>
        <p:sp>
          <p:nvSpPr>
            <p:cNvPr id="47" name="Text 41"/>
            <p:cNvSpPr txBox="1"/>
            <p:nvPr/>
          </p:nvSpPr>
          <p:spPr>
            <a:xfrm>
              <a:off x="1099109" y="4899355"/>
              <a:ext cx="731520"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클로즈업</a:t>
              </a:r>
              <a:endParaRPr lang="en-US" sz="1300" dirty="0"/>
            </a:p>
          </p:txBody>
        </p:sp>
        <p:sp>
          <p:nvSpPr>
            <p:cNvPr id="48" name="Text 42"/>
            <p:cNvSpPr txBox="1"/>
            <p:nvPr/>
          </p:nvSpPr>
          <p:spPr>
            <a:xfrm>
              <a:off x="2416621" y="4971592"/>
              <a:ext cx="3979151"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근접 촬영. 질감, 표정 등 디테일과 감성적 요소 강조.</a:t>
              </a:r>
              <a:endParaRPr lang="en-US" sz="1100" dirty="0"/>
            </a:p>
          </p:txBody>
        </p:sp>
        <p:sp>
          <p:nvSpPr>
            <p:cNvPr id="49" name="Text 43"/>
            <p:cNvSpPr txBox="1"/>
            <p:nvPr/>
          </p:nvSpPr>
          <p:spPr>
            <a:xfrm>
              <a:off x="766267" y="5580583"/>
              <a:ext cx="22860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06</a:t>
              </a:r>
              <a:endParaRPr lang="en-US" sz="900" dirty="0"/>
            </a:p>
          </p:txBody>
        </p:sp>
        <p:sp>
          <p:nvSpPr>
            <p:cNvPr id="50" name="Text 44"/>
            <p:cNvSpPr txBox="1"/>
            <p:nvPr/>
          </p:nvSpPr>
          <p:spPr>
            <a:xfrm>
              <a:off x="1102766" y="5537607"/>
              <a:ext cx="428854"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POV</a:t>
              </a:r>
              <a:endParaRPr lang="en-US" sz="1300" dirty="0"/>
            </a:p>
          </p:txBody>
        </p:sp>
        <p:sp>
          <p:nvSpPr>
            <p:cNvPr id="51" name="Text 45"/>
            <p:cNvSpPr txBox="1"/>
            <p:nvPr/>
          </p:nvSpPr>
          <p:spPr>
            <a:xfrm>
              <a:off x="2421194" y="5609843"/>
              <a:ext cx="4191178"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1인칭 시점. 관객에게 현장감과 몰입감을 제공.</a:t>
              </a:r>
              <a:endParaRPr lang="en-US" sz="1100" dirty="0"/>
            </a:p>
          </p:txBody>
        </p:sp>
        <p:sp>
          <p:nvSpPr>
            <p:cNvPr id="52" name="Text 46"/>
            <p:cNvSpPr txBox="1"/>
            <p:nvPr/>
          </p:nvSpPr>
          <p:spPr>
            <a:xfrm>
              <a:off x="766267" y="6217920"/>
              <a:ext cx="219456"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07</a:t>
              </a:r>
              <a:endParaRPr lang="en-US" sz="900" dirty="0"/>
            </a:p>
          </p:txBody>
        </p:sp>
        <p:sp>
          <p:nvSpPr>
            <p:cNvPr id="53" name="Text 47"/>
            <p:cNvSpPr txBox="1"/>
            <p:nvPr/>
          </p:nvSpPr>
          <p:spPr>
            <a:xfrm>
              <a:off x="1092708" y="6175858"/>
              <a:ext cx="842162" cy="247802"/>
            </a:xfrm>
            <a:prstGeom prst="rect">
              <a:avLst/>
            </a:prstGeom>
            <a:noFill/>
            <a:ln/>
          </p:spPr>
          <p:txBody>
            <a:bodyPr wrap="square" lIns="0" tIns="0" rIns="0" bIns="0" rtlCol="0" anchor="ctr"/>
            <a:lstStyle/>
            <a:p>
              <a:pPr marL="0" indent="0" algn="l">
                <a:buNone/>
              </a:pPr>
              <a:r>
                <a:rPr lang="en-US" sz="1300" b="1" dirty="0">
                  <a:solidFill>
                    <a:srgbClr val="000000"/>
                  </a:solidFill>
                  <a:latin typeface="Noto Sans KR" pitchFamily="34" charset="0"/>
                  <a:ea typeface="Noto Sans KR" pitchFamily="34" charset="-122"/>
                  <a:cs typeface="Noto Sans KR" pitchFamily="34" charset="-120"/>
                </a:rPr>
                <a:t>미디엄 샷</a:t>
              </a:r>
              <a:endParaRPr lang="en-US" sz="1300" dirty="0"/>
            </a:p>
          </p:txBody>
        </p:sp>
        <p:sp>
          <p:nvSpPr>
            <p:cNvPr id="54" name="Text 48"/>
            <p:cNvSpPr txBox="1"/>
            <p:nvPr/>
          </p:nvSpPr>
          <p:spPr>
            <a:xfrm>
              <a:off x="2411135" y="6247180"/>
              <a:ext cx="4054668"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상반신 위주. 인물과 배경의 균형을 맞추는 안정적 구도.</a:t>
              </a:r>
              <a:endParaRPr lang="en-US" sz="1100" dirty="0"/>
            </a:p>
          </p:txBody>
        </p:sp>
      </p:grpSp>
      <p:sp>
        <p:nvSpPr>
          <p:cNvPr id="5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l="29" r="29"/>
          <a:stretch/>
        </p:blipFill>
        <p:spPr>
          <a:xfrm>
            <a:off x="7188052" y="532199"/>
            <a:ext cx="4489009" cy="5926643"/>
          </a:xfrm>
          <a:prstGeom prst="rect">
            <a:avLst/>
          </a:prstGeom>
        </p:spPr>
      </p:pic>
      <p:grpSp>
        <p:nvGrpSpPr>
          <p:cNvPr id="2" name="그룹 1">
            <a:extLst>
              <a:ext uri="{FF2B5EF4-FFF2-40B4-BE49-F238E27FC236}">
                <a16:creationId xmlns:a16="http://schemas.microsoft.com/office/drawing/2014/main" id="{9AE0EBAB-0953-CF86-5CE9-ABD75A8FB690}"/>
              </a:ext>
            </a:extLst>
          </p:cNvPr>
          <p:cNvGrpSpPr/>
          <p:nvPr/>
        </p:nvGrpSpPr>
        <p:grpSpPr>
          <a:xfrm>
            <a:off x="632024" y="936692"/>
            <a:ext cx="6923112" cy="5399178"/>
            <a:chOff x="632024" y="936692"/>
            <a:chExt cx="6923112" cy="5399178"/>
          </a:xfrm>
        </p:grpSpPr>
        <p:sp>
          <p:nvSpPr>
            <p:cNvPr id="5" name="Text 2"/>
            <p:cNvSpPr txBox="1"/>
            <p:nvPr/>
          </p:nvSpPr>
          <p:spPr>
            <a:xfrm>
              <a:off x="753829" y="936692"/>
              <a:ext cx="4610405" cy="571500"/>
            </a:xfrm>
            <a:prstGeom prst="rect">
              <a:avLst/>
            </a:prstGeom>
            <a:noFill/>
            <a:ln/>
          </p:spPr>
          <p:txBody>
            <a:bodyPr wrap="square" lIns="0" tIns="0" rIns="0" bIns="0" rtlCol="0" anchor="ctr"/>
            <a:lstStyle/>
            <a:p>
              <a:pPr marL="0" indent="0" algn="l">
                <a:buNone/>
              </a:pPr>
              <a:r>
                <a:rPr lang="en-US" sz="4000" b="1" kern="0" spc="-37" dirty="0" err="1">
                  <a:solidFill>
                    <a:srgbClr val="FF6908"/>
                  </a:solidFill>
                  <a:latin typeface="Manrope" pitchFamily="34" charset="0"/>
                  <a:ea typeface="Manrope" pitchFamily="34" charset="-122"/>
                  <a:cs typeface="Manrope" pitchFamily="34" charset="-120"/>
                </a:rPr>
                <a:t>구도</a:t>
              </a:r>
              <a:r>
                <a:rPr lang="en-US" sz="4000" b="1" kern="0" spc="-37" dirty="0">
                  <a:solidFill>
                    <a:srgbClr val="FF6908"/>
                  </a:solidFill>
                  <a:latin typeface="Manrope" pitchFamily="34" charset="0"/>
                  <a:ea typeface="Manrope" pitchFamily="34" charset="-122"/>
                  <a:cs typeface="Manrope" pitchFamily="34" charset="-120"/>
                </a:rPr>
                <a:t> </a:t>
              </a:r>
            </a:p>
            <a:p>
              <a:pPr marL="0" indent="0" algn="l">
                <a:buNone/>
              </a:pPr>
              <a:r>
                <a:rPr lang="en-US" sz="4000" b="1" kern="0" spc="-37" dirty="0" err="1">
                  <a:solidFill>
                    <a:srgbClr val="FF6908"/>
                  </a:solidFill>
                  <a:latin typeface="Manrope" pitchFamily="34" charset="0"/>
                  <a:ea typeface="Manrope" pitchFamily="34" charset="-122"/>
                  <a:cs typeface="Manrope" pitchFamily="34" charset="-120"/>
                </a:rPr>
                <a:t>완전</a:t>
              </a:r>
              <a:r>
                <a:rPr lang="en-US" sz="4000" b="1" kern="0" spc="-37" dirty="0">
                  <a:solidFill>
                    <a:srgbClr val="FF6908"/>
                  </a:solidFill>
                  <a:latin typeface="Manrope" pitchFamily="34" charset="0"/>
                  <a:ea typeface="Manrope" pitchFamily="34" charset="-122"/>
                  <a:cs typeface="Manrope" pitchFamily="34" charset="-120"/>
                </a:rPr>
                <a:t> 정복</a:t>
              </a:r>
              <a:endParaRPr lang="en-US" sz="4000" dirty="0"/>
            </a:p>
          </p:txBody>
        </p:sp>
        <p:sp>
          <p:nvSpPr>
            <p:cNvPr id="6" name="Text 3"/>
            <p:cNvSpPr txBox="1"/>
            <p:nvPr/>
          </p:nvSpPr>
          <p:spPr>
            <a:xfrm>
              <a:off x="3059031" y="1263460"/>
              <a:ext cx="4496105" cy="571500"/>
            </a:xfrm>
            <a:prstGeom prst="rect">
              <a:avLst/>
            </a:prstGeom>
            <a:noFill/>
            <a:ln/>
          </p:spPr>
          <p:txBody>
            <a:bodyPr wrap="square" lIns="0" tIns="0" rIns="0" bIns="0" rtlCol="0" anchor="ctr"/>
            <a:lstStyle/>
            <a:p>
              <a:pPr marL="0" indent="0" algn="l">
                <a:buNone/>
              </a:pPr>
              <a:r>
                <a:rPr lang="en-US" sz="4000" b="1" kern="0" spc="-37" dirty="0">
                  <a:solidFill>
                    <a:srgbClr val="FF6908"/>
                  </a:solidFill>
                  <a:latin typeface="Manrope" pitchFamily="34" charset="0"/>
                  <a:ea typeface="Manrope" pitchFamily="34" charset="-122"/>
                  <a:cs typeface="Manrope" pitchFamily="34" charset="-120"/>
                </a:rPr>
                <a:t>Part 2</a:t>
              </a:r>
              <a:endParaRPr lang="en-US" sz="4000" dirty="0"/>
            </a:p>
          </p:txBody>
        </p:sp>
        <p:sp>
          <p:nvSpPr>
            <p:cNvPr id="7" name="Shape 4"/>
            <p:cNvSpPr/>
            <p:nvPr/>
          </p:nvSpPr>
          <p:spPr>
            <a:xfrm>
              <a:off x="632024" y="2267705"/>
              <a:ext cx="6051279" cy="599846"/>
            </a:xfrm>
            <a:prstGeom prst="rect">
              <a:avLst/>
            </a:prstGeom>
            <a:solidFill>
              <a:srgbClr val="FFFFFF"/>
            </a:solidFill>
            <a:ln/>
          </p:spPr>
          <p:txBody>
            <a:bodyPr/>
            <a:lstStyle/>
            <a:p>
              <a:endParaRPr lang="ko-KR" altLang="en-US"/>
            </a:p>
          </p:txBody>
        </p:sp>
        <p:sp>
          <p:nvSpPr>
            <p:cNvPr id="9" name="Shape 6"/>
            <p:cNvSpPr/>
            <p:nvPr/>
          </p:nvSpPr>
          <p:spPr>
            <a:xfrm>
              <a:off x="794180" y="2280686"/>
              <a:ext cx="286207"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10" name="Shape 7"/>
            <p:cNvSpPr/>
            <p:nvPr/>
          </p:nvSpPr>
          <p:spPr>
            <a:xfrm>
              <a:off x="632024" y="2963563"/>
              <a:ext cx="6051279" cy="599846"/>
            </a:xfrm>
            <a:prstGeom prst="rect">
              <a:avLst/>
            </a:prstGeom>
            <a:solidFill>
              <a:srgbClr val="FFFFFF"/>
            </a:solidFill>
            <a:ln/>
          </p:spPr>
          <p:txBody>
            <a:bodyPr/>
            <a:lstStyle/>
            <a:p>
              <a:endParaRPr lang="ko-KR" altLang="en-US"/>
            </a:p>
          </p:txBody>
        </p:sp>
        <p:sp>
          <p:nvSpPr>
            <p:cNvPr id="12" name="Shape 9"/>
            <p:cNvSpPr/>
            <p:nvPr/>
          </p:nvSpPr>
          <p:spPr>
            <a:xfrm>
              <a:off x="794180" y="2976544"/>
              <a:ext cx="304495"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13" name="Shape 10"/>
            <p:cNvSpPr/>
            <p:nvPr/>
          </p:nvSpPr>
          <p:spPr>
            <a:xfrm>
              <a:off x="632024" y="3658507"/>
              <a:ext cx="6051279" cy="599846"/>
            </a:xfrm>
            <a:prstGeom prst="rect">
              <a:avLst/>
            </a:prstGeom>
            <a:solidFill>
              <a:srgbClr val="FFFFFF"/>
            </a:solidFill>
            <a:ln/>
          </p:spPr>
          <p:txBody>
            <a:bodyPr/>
            <a:lstStyle/>
            <a:p>
              <a:endParaRPr lang="ko-KR" altLang="en-US"/>
            </a:p>
          </p:txBody>
        </p:sp>
        <p:sp>
          <p:nvSpPr>
            <p:cNvPr id="15" name="Shape 12"/>
            <p:cNvSpPr/>
            <p:nvPr/>
          </p:nvSpPr>
          <p:spPr>
            <a:xfrm>
              <a:off x="794180" y="3671488"/>
              <a:ext cx="295351"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16" name="Shape 13"/>
            <p:cNvSpPr/>
            <p:nvPr/>
          </p:nvSpPr>
          <p:spPr>
            <a:xfrm>
              <a:off x="632024" y="4354365"/>
              <a:ext cx="6051279" cy="599846"/>
            </a:xfrm>
            <a:prstGeom prst="rect">
              <a:avLst/>
            </a:prstGeom>
            <a:solidFill>
              <a:srgbClr val="FFFFFF"/>
            </a:solidFill>
            <a:ln/>
          </p:spPr>
          <p:txBody>
            <a:bodyPr/>
            <a:lstStyle/>
            <a:p>
              <a:endParaRPr lang="ko-KR" altLang="en-US"/>
            </a:p>
          </p:txBody>
        </p:sp>
        <p:sp>
          <p:nvSpPr>
            <p:cNvPr id="18" name="Shape 15"/>
            <p:cNvSpPr/>
            <p:nvPr/>
          </p:nvSpPr>
          <p:spPr>
            <a:xfrm>
              <a:off x="794180" y="4367346"/>
              <a:ext cx="304495"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19" name="Shape 16"/>
            <p:cNvSpPr/>
            <p:nvPr/>
          </p:nvSpPr>
          <p:spPr>
            <a:xfrm>
              <a:off x="632024" y="5049309"/>
              <a:ext cx="6051279" cy="599846"/>
            </a:xfrm>
            <a:prstGeom prst="rect">
              <a:avLst/>
            </a:prstGeom>
            <a:solidFill>
              <a:srgbClr val="FFFFFF"/>
            </a:solidFill>
            <a:ln/>
          </p:spPr>
          <p:txBody>
            <a:bodyPr/>
            <a:lstStyle/>
            <a:p>
              <a:endParaRPr lang="ko-KR" altLang="en-US"/>
            </a:p>
          </p:txBody>
        </p:sp>
        <p:sp>
          <p:nvSpPr>
            <p:cNvPr id="21" name="Shape 18"/>
            <p:cNvSpPr/>
            <p:nvPr/>
          </p:nvSpPr>
          <p:spPr>
            <a:xfrm>
              <a:off x="794180" y="5062290"/>
              <a:ext cx="295351"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22" name="Shape 19"/>
            <p:cNvSpPr/>
            <p:nvPr/>
          </p:nvSpPr>
          <p:spPr>
            <a:xfrm>
              <a:off x="632024" y="5745168"/>
              <a:ext cx="6051279" cy="590702"/>
            </a:xfrm>
            <a:prstGeom prst="rect">
              <a:avLst/>
            </a:prstGeom>
            <a:solidFill>
              <a:srgbClr val="FFFFFF"/>
            </a:solidFill>
            <a:ln w="12700">
              <a:solidFill>
                <a:srgbClr val="FFFFFF">
                  <a:alpha val="0"/>
                </a:srgbClr>
              </a:solidFill>
              <a:prstDash val="solid"/>
            </a:ln>
          </p:spPr>
          <p:txBody>
            <a:bodyPr/>
            <a:lstStyle/>
            <a:p>
              <a:endParaRPr lang="ko-KR" altLang="en-US"/>
            </a:p>
          </p:txBody>
        </p:sp>
        <p:sp>
          <p:nvSpPr>
            <p:cNvPr id="23" name="Shape 20"/>
            <p:cNvSpPr/>
            <p:nvPr/>
          </p:nvSpPr>
          <p:spPr>
            <a:xfrm>
              <a:off x="794180" y="5758149"/>
              <a:ext cx="304495" cy="247802"/>
            </a:xfrm>
            <a:prstGeom prst="roundRect">
              <a:avLst>
                <a:gd name="adj" fmla="val 56770"/>
              </a:avLst>
            </a:prstGeom>
            <a:solidFill>
              <a:srgbClr val="FFF3EB"/>
            </a:solidFill>
            <a:ln w="12700">
              <a:solidFill>
                <a:srgbClr val="FFFFFF">
                  <a:alpha val="0"/>
                </a:srgbClr>
              </a:solidFill>
              <a:prstDash val="solid"/>
            </a:ln>
          </p:spPr>
          <p:txBody>
            <a:bodyPr/>
            <a:lstStyle/>
            <a:p>
              <a:endParaRPr lang="ko-KR" altLang="en-US"/>
            </a:p>
          </p:txBody>
        </p:sp>
        <p:sp>
          <p:nvSpPr>
            <p:cNvPr id="24" name="Text 21"/>
            <p:cNvSpPr txBox="1"/>
            <p:nvPr/>
          </p:nvSpPr>
          <p:spPr>
            <a:xfrm>
              <a:off x="870075" y="2319090"/>
              <a:ext cx="210312"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01</a:t>
              </a:r>
              <a:endParaRPr lang="en-US" sz="900" dirty="0"/>
            </a:p>
          </p:txBody>
        </p:sp>
        <p:sp>
          <p:nvSpPr>
            <p:cNvPr id="25" name="Text 22"/>
            <p:cNvSpPr txBox="1"/>
            <p:nvPr/>
          </p:nvSpPr>
          <p:spPr>
            <a:xfrm>
              <a:off x="1186458" y="2280686"/>
              <a:ext cx="795528" cy="23865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매크로 샷</a:t>
              </a:r>
              <a:endParaRPr lang="en-US" sz="1200" dirty="0"/>
            </a:p>
          </p:txBody>
        </p:sp>
        <p:sp>
          <p:nvSpPr>
            <p:cNvPr id="26" name="Text 23"/>
            <p:cNvSpPr txBox="1"/>
            <p:nvPr/>
          </p:nvSpPr>
          <p:spPr>
            <a:xfrm>
              <a:off x="2405046" y="2357496"/>
              <a:ext cx="3908886"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초근접 촬영. 눈으로 볼 수 없는 미세한 디테일과 질감을 포착.</a:t>
              </a:r>
              <a:endParaRPr lang="en-US" sz="1100" dirty="0"/>
            </a:p>
          </p:txBody>
        </p:sp>
        <p:sp>
          <p:nvSpPr>
            <p:cNvPr id="27" name="Text 24"/>
            <p:cNvSpPr txBox="1"/>
            <p:nvPr/>
          </p:nvSpPr>
          <p:spPr>
            <a:xfrm>
              <a:off x="870075" y="3014949"/>
              <a:ext cx="22860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02</a:t>
              </a:r>
              <a:endParaRPr lang="en-US" sz="900" dirty="0"/>
            </a:p>
          </p:txBody>
        </p:sp>
        <p:sp>
          <p:nvSpPr>
            <p:cNvPr id="28" name="Text 25"/>
            <p:cNvSpPr txBox="1"/>
            <p:nvPr/>
          </p:nvSpPr>
          <p:spPr>
            <a:xfrm>
              <a:off x="1203831" y="2976544"/>
              <a:ext cx="381305" cy="23865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롱샷</a:t>
              </a:r>
              <a:endParaRPr lang="en-US" sz="1200" dirty="0"/>
            </a:p>
          </p:txBody>
        </p:sp>
        <p:sp>
          <p:nvSpPr>
            <p:cNvPr id="29" name="Text 26"/>
            <p:cNvSpPr txBox="1"/>
            <p:nvPr/>
          </p:nvSpPr>
          <p:spPr>
            <a:xfrm>
              <a:off x="2423333" y="3052440"/>
              <a:ext cx="3774785"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원거리 촬영. 피사체와 배경의 관계를 보여주며 위치나 상황 설명.</a:t>
              </a:r>
              <a:endParaRPr lang="en-US" sz="1100" dirty="0"/>
            </a:p>
          </p:txBody>
        </p:sp>
        <p:sp>
          <p:nvSpPr>
            <p:cNvPr id="30" name="Text 27"/>
            <p:cNvSpPr txBox="1"/>
            <p:nvPr/>
          </p:nvSpPr>
          <p:spPr>
            <a:xfrm>
              <a:off x="870075" y="3709893"/>
              <a:ext cx="219456"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03</a:t>
              </a:r>
              <a:endParaRPr lang="en-US" sz="900" dirty="0"/>
            </a:p>
          </p:txBody>
        </p:sp>
        <p:sp>
          <p:nvSpPr>
            <p:cNvPr id="31" name="Text 28"/>
            <p:cNvSpPr txBox="1"/>
            <p:nvPr/>
          </p:nvSpPr>
          <p:spPr>
            <a:xfrm>
              <a:off x="1202917" y="3671488"/>
              <a:ext cx="691286" cy="23865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와이드샷</a:t>
              </a:r>
              <a:endParaRPr lang="en-US" sz="1200" dirty="0"/>
            </a:p>
          </p:txBody>
        </p:sp>
        <p:sp>
          <p:nvSpPr>
            <p:cNvPr id="32" name="Text 29"/>
            <p:cNvSpPr txBox="1"/>
            <p:nvPr/>
          </p:nvSpPr>
          <p:spPr>
            <a:xfrm>
              <a:off x="2421505" y="3747384"/>
              <a:ext cx="3716295"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넓은 화각. 인물보다는 광활한 공간감과 전체적인 분위기 강조.</a:t>
              </a:r>
              <a:endParaRPr lang="en-US" sz="1100" dirty="0"/>
            </a:p>
          </p:txBody>
        </p:sp>
        <p:sp>
          <p:nvSpPr>
            <p:cNvPr id="33" name="Text 30"/>
            <p:cNvSpPr txBox="1"/>
            <p:nvPr/>
          </p:nvSpPr>
          <p:spPr>
            <a:xfrm>
              <a:off x="870075" y="4404837"/>
              <a:ext cx="22860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04</a:t>
              </a:r>
              <a:endParaRPr lang="en-US" sz="900" dirty="0"/>
            </a:p>
          </p:txBody>
        </p:sp>
        <p:sp>
          <p:nvSpPr>
            <p:cNvPr id="34" name="Text 31"/>
            <p:cNvSpPr txBox="1"/>
            <p:nvPr/>
          </p:nvSpPr>
          <p:spPr>
            <a:xfrm>
              <a:off x="1205660" y="4367346"/>
              <a:ext cx="1313078" cy="23865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미디엄 클로즈업</a:t>
              </a:r>
              <a:endParaRPr lang="en-US" sz="1200" dirty="0"/>
            </a:p>
          </p:txBody>
        </p:sp>
        <p:sp>
          <p:nvSpPr>
            <p:cNvPr id="35" name="Text 32"/>
            <p:cNvSpPr txBox="1"/>
            <p:nvPr/>
          </p:nvSpPr>
          <p:spPr>
            <a:xfrm>
              <a:off x="2425163" y="4443242"/>
              <a:ext cx="3908886"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가슴 위~머리. 표정과 제스처를 동시에 담아 감정 전달에 효과적.</a:t>
              </a:r>
              <a:endParaRPr lang="en-US" sz="1100" dirty="0"/>
            </a:p>
          </p:txBody>
        </p:sp>
        <p:sp>
          <p:nvSpPr>
            <p:cNvPr id="36" name="Text 33"/>
            <p:cNvSpPr txBox="1"/>
            <p:nvPr/>
          </p:nvSpPr>
          <p:spPr>
            <a:xfrm>
              <a:off x="870075" y="5100695"/>
              <a:ext cx="219456"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05</a:t>
              </a:r>
              <a:endParaRPr lang="en-US" sz="900" dirty="0"/>
            </a:p>
          </p:txBody>
        </p:sp>
        <p:sp>
          <p:nvSpPr>
            <p:cNvPr id="37" name="Text 34"/>
            <p:cNvSpPr txBox="1"/>
            <p:nvPr/>
          </p:nvSpPr>
          <p:spPr>
            <a:xfrm>
              <a:off x="1202917" y="5062290"/>
              <a:ext cx="967435" cy="23865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미디엄 롱샷</a:t>
              </a:r>
              <a:endParaRPr lang="en-US" sz="1200" dirty="0"/>
            </a:p>
          </p:txBody>
        </p:sp>
        <p:sp>
          <p:nvSpPr>
            <p:cNvPr id="38" name="Text 35"/>
            <p:cNvSpPr txBox="1"/>
            <p:nvPr/>
          </p:nvSpPr>
          <p:spPr>
            <a:xfrm>
              <a:off x="2422420" y="5138186"/>
              <a:ext cx="3908886"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무릎 위~머리. 인물의 움직임과 신체 언어를 잘 보여주는 구도.</a:t>
              </a:r>
              <a:endParaRPr lang="en-US" sz="1100" dirty="0"/>
            </a:p>
          </p:txBody>
        </p:sp>
        <p:sp>
          <p:nvSpPr>
            <p:cNvPr id="39" name="Text 36"/>
            <p:cNvSpPr txBox="1"/>
            <p:nvPr/>
          </p:nvSpPr>
          <p:spPr>
            <a:xfrm>
              <a:off x="870075" y="5795639"/>
              <a:ext cx="22860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06</a:t>
              </a:r>
              <a:endParaRPr lang="en-US" sz="900" dirty="0"/>
            </a:p>
          </p:txBody>
        </p:sp>
        <p:sp>
          <p:nvSpPr>
            <p:cNvPr id="40" name="Text 37"/>
            <p:cNvSpPr txBox="1"/>
            <p:nvPr/>
          </p:nvSpPr>
          <p:spPr>
            <a:xfrm>
              <a:off x="1207489" y="5758149"/>
              <a:ext cx="1140257" cy="23865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스플릿 스크린</a:t>
              </a:r>
              <a:endParaRPr lang="en-US" sz="1200" dirty="0"/>
            </a:p>
          </p:txBody>
        </p:sp>
        <p:sp>
          <p:nvSpPr>
            <p:cNvPr id="41" name="Text 38"/>
            <p:cNvSpPr txBox="1"/>
            <p:nvPr/>
          </p:nvSpPr>
          <p:spPr>
            <a:xfrm>
              <a:off x="2426078" y="5834044"/>
              <a:ext cx="3848968" cy="400507"/>
            </a:xfrm>
            <a:prstGeom prst="rect">
              <a:avLst/>
            </a:prstGeom>
            <a:noFill/>
            <a:ln/>
          </p:spPr>
          <p:txBody>
            <a:bodyPr wrap="square" lIns="0" tIns="0" rIns="0" bIns="0" rtlCol="0" anchor="t"/>
            <a:lstStyle/>
            <a:p>
              <a:pPr marL="0" indent="0" algn="l">
                <a:buNone/>
              </a:pPr>
              <a:r>
                <a:rPr lang="en-US" sz="1100" dirty="0">
                  <a:solidFill>
                    <a:srgbClr val="555555"/>
                  </a:solidFill>
                  <a:latin typeface="Noto Sans KR" pitchFamily="34" charset="0"/>
                  <a:ea typeface="Noto Sans KR" pitchFamily="34" charset="-122"/>
                  <a:cs typeface="Noto Sans KR" pitchFamily="34" charset="-120"/>
                </a:rPr>
                <a:t>화면 분할. 서로 다른 시점이나 장면을 동시에 보여주어 서사 강화.</a:t>
              </a:r>
              <a:endParaRPr lang="en-US" sz="1100" dirty="0"/>
            </a:p>
          </p:txBody>
        </p:sp>
        <p:cxnSp>
          <p:nvCxnSpPr>
            <p:cNvPr id="43" name="직선 연결선 42">
              <a:extLst>
                <a:ext uri="{FF2B5EF4-FFF2-40B4-BE49-F238E27FC236}">
                  <a16:creationId xmlns:a16="http://schemas.microsoft.com/office/drawing/2014/main" id="{C6225819-0688-9071-1A01-42C04B0B20E6}"/>
                </a:ext>
              </a:extLst>
            </p:cNvPr>
            <p:cNvCxnSpPr>
              <a:cxnSpLocks/>
            </p:cNvCxnSpPr>
            <p:nvPr/>
          </p:nvCxnSpPr>
          <p:spPr>
            <a:xfrm>
              <a:off x="711884" y="2688861"/>
              <a:ext cx="554627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4" name="직선 연결선 43">
              <a:extLst>
                <a:ext uri="{FF2B5EF4-FFF2-40B4-BE49-F238E27FC236}">
                  <a16:creationId xmlns:a16="http://schemas.microsoft.com/office/drawing/2014/main" id="{4AB3699B-85D8-BE88-16CF-B9FAB6710290}"/>
                </a:ext>
              </a:extLst>
            </p:cNvPr>
            <p:cNvCxnSpPr>
              <a:cxnSpLocks/>
            </p:cNvCxnSpPr>
            <p:nvPr/>
          </p:nvCxnSpPr>
          <p:spPr>
            <a:xfrm>
              <a:off x="711884" y="3397999"/>
              <a:ext cx="554627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5" name="직선 연결선 44">
              <a:extLst>
                <a:ext uri="{FF2B5EF4-FFF2-40B4-BE49-F238E27FC236}">
                  <a16:creationId xmlns:a16="http://schemas.microsoft.com/office/drawing/2014/main" id="{69C935EA-ABCC-1108-F077-022930AFB53C}"/>
                </a:ext>
              </a:extLst>
            </p:cNvPr>
            <p:cNvCxnSpPr>
              <a:cxnSpLocks/>
            </p:cNvCxnSpPr>
            <p:nvPr/>
          </p:nvCxnSpPr>
          <p:spPr>
            <a:xfrm>
              <a:off x="711884" y="4107137"/>
              <a:ext cx="554627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6" name="직선 연결선 45">
              <a:extLst>
                <a:ext uri="{FF2B5EF4-FFF2-40B4-BE49-F238E27FC236}">
                  <a16:creationId xmlns:a16="http://schemas.microsoft.com/office/drawing/2014/main" id="{7D46BE3A-9393-1597-E084-C99EAA6D72E3}"/>
                </a:ext>
              </a:extLst>
            </p:cNvPr>
            <p:cNvCxnSpPr>
              <a:cxnSpLocks/>
            </p:cNvCxnSpPr>
            <p:nvPr/>
          </p:nvCxnSpPr>
          <p:spPr>
            <a:xfrm>
              <a:off x="711884" y="4816275"/>
              <a:ext cx="554627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7" name="직선 연결선 46">
              <a:extLst>
                <a:ext uri="{FF2B5EF4-FFF2-40B4-BE49-F238E27FC236}">
                  <a16:creationId xmlns:a16="http://schemas.microsoft.com/office/drawing/2014/main" id="{EFE6EA9B-2A2F-4457-FE58-446C8D6D14ED}"/>
                </a:ext>
              </a:extLst>
            </p:cNvPr>
            <p:cNvCxnSpPr>
              <a:cxnSpLocks/>
            </p:cNvCxnSpPr>
            <p:nvPr/>
          </p:nvCxnSpPr>
          <p:spPr>
            <a:xfrm>
              <a:off x="711884" y="5525413"/>
              <a:ext cx="554627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8" name="직선 연결선 47">
              <a:extLst>
                <a:ext uri="{FF2B5EF4-FFF2-40B4-BE49-F238E27FC236}">
                  <a16:creationId xmlns:a16="http://schemas.microsoft.com/office/drawing/2014/main" id="{E2DF4B85-A3A2-D546-2807-39F1067450B8}"/>
                </a:ext>
              </a:extLst>
            </p:cNvPr>
            <p:cNvCxnSpPr>
              <a:cxnSpLocks/>
            </p:cNvCxnSpPr>
            <p:nvPr/>
          </p:nvCxnSpPr>
          <p:spPr>
            <a:xfrm>
              <a:off x="711884" y="6234551"/>
              <a:ext cx="5546271" cy="0"/>
            </a:xfrm>
            <a:prstGeom prst="line">
              <a:avLst/>
            </a:prstGeom>
          </p:spPr>
          <p:style>
            <a:lnRef idx="1">
              <a:schemeClr val="accent2"/>
            </a:lnRef>
            <a:fillRef idx="0">
              <a:schemeClr val="accent2"/>
            </a:fillRef>
            <a:effectRef idx="0">
              <a:schemeClr val="accent2"/>
            </a:effectRef>
            <a:fontRef idx="minor">
              <a:schemeClr val="tx1"/>
            </a:fontRef>
          </p:style>
        </p:cxnSp>
      </p:grpSp>
      <p:sp>
        <p:nvSpPr>
          <p:cNvPr id="49"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1"/>
          <p:cNvSpPr/>
          <p:nvPr/>
        </p:nvSpPr>
        <p:spPr>
          <a:xfrm>
            <a:off x="6202375" y="600761"/>
            <a:ext cx="5524805" cy="2476195"/>
          </a:xfrm>
          <a:prstGeom prst="roundRect">
            <a:avLst>
              <a:gd name="adj" fmla="val 4261"/>
            </a:avLst>
          </a:prstGeom>
          <a:solidFill>
            <a:srgbClr val="F3F4F6"/>
          </a:solidFill>
          <a:ln w="12700">
            <a:solidFill>
              <a:srgbClr val="FFFFFF">
                <a:alpha val="0"/>
              </a:srgbClr>
            </a:solidFill>
            <a:prstDash val="solid"/>
          </a:ln>
          <a:effectLst>
            <a:outerShdw blurRad="63500" dist="38100" dir="16200000" algn="bl" rotWithShape="0">
              <a:srgbClr val="000000">
                <a:alpha val="5000"/>
              </a:srgbClr>
            </a:outerShdw>
          </a:effectLst>
        </p:spPr>
        <p:txBody>
          <a:bodyPr/>
          <a:lstStyle/>
          <a:p>
            <a:endParaRPr lang="ko-KR" altLang="en-US"/>
          </a:p>
        </p:txBody>
      </p:sp>
      <p:pic>
        <p:nvPicPr>
          <p:cNvPr id="4" name="Image 0" descr="preencoded.png"/>
          <p:cNvPicPr>
            <a:picLocks noChangeAspect="1"/>
          </p:cNvPicPr>
          <p:nvPr/>
        </p:nvPicPr>
        <p:blipFill>
          <a:blip r:embed="rId3"/>
          <a:srcRect t="9849" b="9849"/>
          <a:stretch/>
        </p:blipFill>
        <p:spPr>
          <a:xfrm>
            <a:off x="6199632" y="574243"/>
            <a:ext cx="5524805" cy="2476195"/>
          </a:xfrm>
          <a:prstGeom prst="rect">
            <a:avLst/>
          </a:prstGeom>
        </p:spPr>
      </p:pic>
      <p:sp>
        <p:nvSpPr>
          <p:cNvPr id="5" name="Shape 2"/>
          <p:cNvSpPr/>
          <p:nvPr/>
        </p:nvSpPr>
        <p:spPr>
          <a:xfrm>
            <a:off x="2383841" y="2703881"/>
            <a:ext cx="3286354" cy="476402"/>
          </a:xfrm>
          <a:prstGeom prst="roundRect">
            <a:avLst>
              <a:gd name="adj" fmla="val 115163"/>
            </a:avLst>
          </a:prstGeom>
          <a:solidFill>
            <a:srgbClr val="FFFFFF"/>
          </a:solidFill>
          <a:ln w="25400">
            <a:solidFill>
              <a:srgbClr val="FF6908"/>
            </a:solidFill>
            <a:prstDash val="solid"/>
          </a:ln>
        </p:spPr>
        <p:txBody>
          <a:bodyPr/>
          <a:lstStyle/>
          <a:p>
            <a:endParaRPr lang="ko-KR" altLang="en-US"/>
          </a:p>
        </p:txBody>
      </p:sp>
      <p:sp>
        <p:nvSpPr>
          <p:cNvPr id="6" name="Text 3"/>
          <p:cNvSpPr txBox="1"/>
          <p:nvPr/>
        </p:nvSpPr>
        <p:spPr>
          <a:xfrm>
            <a:off x="2631643" y="2799893"/>
            <a:ext cx="3545129" cy="277063"/>
          </a:xfrm>
          <a:prstGeom prst="rect">
            <a:avLst/>
          </a:prstGeom>
          <a:noFill/>
          <a:ln/>
        </p:spPr>
        <p:txBody>
          <a:bodyPr wrap="square" lIns="0" tIns="0" rIns="0" bIns="0" rtlCol="0" anchor="ctr"/>
          <a:lstStyle/>
          <a:p>
            <a:pPr marL="0" indent="0" algn="l">
              <a:buNone/>
            </a:pPr>
            <a:r>
              <a:rPr lang="en-US" sz="1500" b="1" dirty="0">
                <a:solidFill>
                  <a:srgbClr val="FF6908"/>
                </a:solidFill>
                <a:latin typeface="Noto Sans KR" pitchFamily="34" charset="0"/>
                <a:ea typeface="Noto Sans KR" pitchFamily="34" charset="-122"/>
                <a:cs typeface="Noto Sans KR" pitchFamily="34" charset="-120"/>
              </a:rPr>
              <a:t>장문 서술 대신 '블록'으로 분해하라</a:t>
            </a:r>
            <a:endParaRPr lang="en-US" sz="1500" dirty="0"/>
          </a:p>
        </p:txBody>
      </p:sp>
      <p:sp>
        <p:nvSpPr>
          <p:cNvPr id="7" name="Text 4"/>
          <p:cNvSpPr txBox="1"/>
          <p:nvPr/>
        </p:nvSpPr>
        <p:spPr>
          <a:xfrm>
            <a:off x="888144" y="739751"/>
            <a:ext cx="5153558" cy="1038758"/>
          </a:xfrm>
          <a:prstGeom prst="rect">
            <a:avLst/>
          </a:prstGeom>
          <a:noFill/>
          <a:ln/>
        </p:spPr>
        <p:txBody>
          <a:bodyPr wrap="square" lIns="0" tIns="0" rIns="0" bIns="0" rtlCol="0" anchor="t"/>
          <a:lstStyle/>
          <a:p>
            <a:pPr marL="0" indent="0" algn="l">
              <a:buNone/>
            </a:pPr>
            <a:r>
              <a:rPr lang="en-US" sz="4800" b="1" kern="0" spc="-75" dirty="0">
                <a:solidFill>
                  <a:srgbClr val="FF6908"/>
                </a:solidFill>
                <a:latin typeface="Pretendard" pitchFamily="34" charset="0"/>
                <a:ea typeface="Pretendard" pitchFamily="34" charset="-122"/>
                <a:cs typeface="Pretendard" pitchFamily="34" charset="-120"/>
              </a:rPr>
              <a:t>STRUCTURED</a:t>
            </a:r>
            <a:endParaRPr lang="en-US" sz="4800" dirty="0"/>
          </a:p>
        </p:txBody>
      </p:sp>
      <p:sp>
        <p:nvSpPr>
          <p:cNvPr id="8" name="Text 5"/>
          <p:cNvSpPr txBox="1"/>
          <p:nvPr/>
        </p:nvSpPr>
        <p:spPr>
          <a:xfrm>
            <a:off x="933864" y="1589228"/>
            <a:ext cx="3851496" cy="1038758"/>
          </a:xfrm>
          <a:prstGeom prst="rect">
            <a:avLst/>
          </a:prstGeom>
          <a:noFill/>
          <a:ln/>
        </p:spPr>
        <p:txBody>
          <a:bodyPr wrap="square" lIns="0" tIns="0" rIns="0" bIns="0" rtlCol="0" anchor="t"/>
          <a:lstStyle/>
          <a:p>
            <a:pPr marL="0" indent="0" algn="l">
              <a:buNone/>
            </a:pPr>
            <a:r>
              <a:rPr lang="en-US" sz="4800" b="1" kern="0" spc="-75" dirty="0">
                <a:solidFill>
                  <a:srgbClr val="FF6908"/>
                </a:solidFill>
                <a:latin typeface="Pretendard" pitchFamily="34" charset="0"/>
                <a:ea typeface="Pretendard" pitchFamily="34" charset="-122"/>
                <a:cs typeface="Pretendard" pitchFamily="34" charset="-120"/>
              </a:rPr>
              <a:t>PROMPT</a:t>
            </a:r>
            <a:endParaRPr lang="en-US" sz="4800" dirty="0"/>
          </a:p>
        </p:txBody>
      </p:sp>
      <p:sp>
        <p:nvSpPr>
          <p:cNvPr id="9" name="Text 6"/>
          <p:cNvSpPr txBox="1"/>
          <p:nvPr/>
        </p:nvSpPr>
        <p:spPr>
          <a:xfrm>
            <a:off x="933864" y="3458262"/>
            <a:ext cx="10967357" cy="495605"/>
          </a:xfrm>
          <a:prstGeom prst="rect">
            <a:avLst/>
          </a:prstGeom>
          <a:noFill/>
          <a:ln/>
        </p:spPr>
        <p:txBody>
          <a:bodyPr wrap="square" lIns="0" tIns="0" rIns="0" bIns="0" rtlCol="0" anchor="t"/>
          <a:lstStyle/>
          <a:p>
            <a:pPr marL="0" indent="0" algn="l">
              <a:lnSpc>
                <a:spcPct val="150000"/>
              </a:lnSpc>
              <a:buNone/>
            </a:pPr>
            <a:r>
              <a:rPr lang="en-US" sz="1400" dirty="0">
                <a:solidFill>
                  <a:srgbClr val="000000"/>
                </a:solidFill>
                <a:latin typeface="Noto Sans KR" pitchFamily="34" charset="0"/>
                <a:ea typeface="Noto Sans KR" pitchFamily="34" charset="-122"/>
                <a:cs typeface="Noto Sans KR" pitchFamily="34" charset="-120"/>
              </a:rPr>
              <a:t>AI가 인식하기 쉬운 순서대로 요소를 나열하는 것이 핵심입니다. </a:t>
            </a:r>
          </a:p>
          <a:p>
            <a:pPr marL="0" indent="0" algn="l">
              <a:lnSpc>
                <a:spcPct val="150000"/>
              </a:lnSpc>
              <a:buNone/>
            </a:pPr>
            <a:r>
              <a:rPr lang="en-US" sz="1400" dirty="0" err="1">
                <a:solidFill>
                  <a:srgbClr val="000000"/>
                </a:solidFill>
                <a:latin typeface="Noto Sans KR" pitchFamily="34" charset="0"/>
                <a:ea typeface="Noto Sans KR" pitchFamily="34" charset="-122"/>
                <a:cs typeface="Noto Sans KR" pitchFamily="34" charset="-120"/>
              </a:rPr>
              <a:t>챗GPT의</a:t>
            </a:r>
            <a:r>
              <a:rPr lang="en-US" sz="1400" dirty="0">
                <a:solidFill>
                  <a:srgbClr val="000000"/>
                </a:solidFill>
                <a:latin typeface="Noto Sans KR" pitchFamily="34" charset="0"/>
                <a:ea typeface="Noto Sans KR" pitchFamily="34" charset="-122"/>
                <a:cs typeface="Noto Sans KR" pitchFamily="34" charset="-120"/>
              </a:rPr>
              <a:t> 복잡한 문장 대신, 명확한 [키워드 블록] 형식을 사용하여 제어력을 높이세요.</a:t>
            </a:r>
            <a:endParaRPr lang="en-US" sz="1400" dirty="0"/>
          </a:p>
        </p:txBody>
      </p:sp>
      <p:grpSp>
        <p:nvGrpSpPr>
          <p:cNvPr id="16" name="그룹 15">
            <a:extLst>
              <a:ext uri="{FF2B5EF4-FFF2-40B4-BE49-F238E27FC236}">
                <a16:creationId xmlns:a16="http://schemas.microsoft.com/office/drawing/2014/main" id="{FF0C30C4-350A-2588-E6B5-4BDAC5C68FD9}"/>
              </a:ext>
            </a:extLst>
          </p:cNvPr>
          <p:cNvGrpSpPr/>
          <p:nvPr/>
        </p:nvGrpSpPr>
        <p:grpSpPr>
          <a:xfrm>
            <a:off x="888144" y="4307739"/>
            <a:ext cx="11429042" cy="2134210"/>
            <a:chOff x="1149401" y="4367174"/>
            <a:chExt cx="7247535" cy="2134210"/>
          </a:xfrm>
        </p:grpSpPr>
        <p:pic>
          <p:nvPicPr>
            <p:cNvPr id="10" name="Image 1" descr="preencoded.png"/>
            <p:cNvPicPr>
              <a:picLocks noChangeAspect="1"/>
            </p:cNvPicPr>
            <p:nvPr/>
          </p:nvPicPr>
          <p:blipFill>
            <a:blip r:embed="rId4"/>
            <a:srcRect t="-12" b="-12"/>
            <a:stretch/>
          </p:blipFill>
          <p:spPr>
            <a:xfrm>
              <a:off x="1149401" y="4367174"/>
              <a:ext cx="6858000" cy="795528"/>
            </a:xfrm>
            <a:prstGeom prst="rect">
              <a:avLst/>
            </a:prstGeom>
          </p:spPr>
        </p:pic>
        <p:sp>
          <p:nvSpPr>
            <p:cNvPr id="11" name="Text 7"/>
            <p:cNvSpPr txBox="1"/>
            <p:nvPr/>
          </p:nvSpPr>
          <p:spPr>
            <a:xfrm>
              <a:off x="1416406" y="4519879"/>
              <a:ext cx="6553505" cy="200254"/>
            </a:xfrm>
            <a:prstGeom prst="rect">
              <a:avLst/>
            </a:prstGeom>
            <a:noFill/>
            <a:ln/>
          </p:spPr>
          <p:txBody>
            <a:bodyPr wrap="square" lIns="0" tIns="0" rIns="0" bIns="0" rtlCol="0" anchor="ctr"/>
            <a:lstStyle/>
            <a:p>
              <a:pPr marL="0" indent="0" algn="l">
                <a:buNone/>
              </a:pPr>
              <a:r>
                <a:rPr lang="en-US" sz="1200" b="1" dirty="0">
                  <a:solidFill>
                    <a:srgbClr val="666666"/>
                  </a:solidFill>
                  <a:latin typeface="Noto Sans KR" pitchFamily="34" charset="0"/>
                  <a:ea typeface="Noto Sans KR" pitchFamily="34" charset="-122"/>
                  <a:cs typeface="Noto Sans KR" pitchFamily="34" charset="-120"/>
                </a:rPr>
                <a:t>기본 템플릿 구조</a:t>
              </a:r>
              <a:endParaRPr lang="en-US" sz="1200" dirty="0"/>
            </a:p>
          </p:txBody>
        </p:sp>
        <p:sp>
          <p:nvSpPr>
            <p:cNvPr id="12" name="Text 8"/>
            <p:cNvSpPr txBox="1"/>
            <p:nvPr/>
          </p:nvSpPr>
          <p:spPr>
            <a:xfrm>
              <a:off x="1416406" y="4796028"/>
              <a:ext cx="6980530" cy="219456"/>
            </a:xfrm>
            <a:prstGeom prst="rect">
              <a:avLst/>
            </a:prstGeom>
            <a:noFill/>
            <a:ln/>
          </p:spPr>
          <p:txBody>
            <a:bodyPr wrap="square" lIns="0" tIns="0" rIns="0" bIns="0" rtlCol="0" anchor="ctr"/>
            <a:lstStyle/>
            <a:p>
              <a:pPr marL="0" indent="0" algn="l">
                <a:buNone/>
              </a:pPr>
              <a:r>
                <a:rPr lang="en-US" sz="1400" dirty="0">
                  <a:solidFill>
                    <a:srgbClr val="333333"/>
                  </a:solidFill>
                  <a:latin typeface="Noto Sans KR" pitchFamily="34" charset="0"/>
                  <a:ea typeface="Noto Sans KR" pitchFamily="34" charset="-122"/>
                  <a:cs typeface="Noto Sans KR" pitchFamily="34" charset="-120"/>
                </a:rPr>
                <a:t>[스타일] [구도] [매체] [주제: 헤어/의상/표정/포즈/소품] [환경: 장소/조명/색감] [카메라 세팅]</a:t>
              </a:r>
              <a:endParaRPr lang="en-US" sz="1400" dirty="0"/>
            </a:p>
          </p:txBody>
        </p:sp>
        <p:pic>
          <p:nvPicPr>
            <p:cNvPr id="13" name="Image 2" descr="preencoded.png"/>
            <p:cNvPicPr>
              <a:picLocks noChangeAspect="1"/>
            </p:cNvPicPr>
            <p:nvPr/>
          </p:nvPicPr>
          <p:blipFill>
            <a:blip r:embed="rId5"/>
            <a:srcRect t="-17" b="-17"/>
            <a:stretch/>
          </p:blipFill>
          <p:spPr>
            <a:xfrm>
              <a:off x="1149401" y="5277002"/>
              <a:ext cx="6858000" cy="1224382"/>
            </a:xfrm>
            <a:prstGeom prst="rect">
              <a:avLst/>
            </a:prstGeom>
          </p:spPr>
        </p:pic>
        <p:sp>
          <p:nvSpPr>
            <p:cNvPr id="14" name="Text 9"/>
            <p:cNvSpPr txBox="1"/>
            <p:nvPr/>
          </p:nvSpPr>
          <p:spPr>
            <a:xfrm>
              <a:off x="1416406" y="5429707"/>
              <a:ext cx="6553505" cy="200254"/>
            </a:xfrm>
            <a:prstGeom prst="rect">
              <a:avLst/>
            </a:prstGeom>
            <a:noFill/>
            <a:ln/>
          </p:spPr>
          <p:txBody>
            <a:bodyPr wrap="square" lIns="0" tIns="0" rIns="0" bIns="0" rtlCol="0" anchor="ctr"/>
            <a:lstStyle/>
            <a:p>
              <a:pPr marL="0" indent="0" algn="l">
                <a:buNone/>
              </a:pPr>
              <a:r>
                <a:rPr lang="en-US" sz="1200" b="1" dirty="0">
                  <a:solidFill>
                    <a:srgbClr val="666666"/>
                  </a:solidFill>
                  <a:latin typeface="Noto Sans KR" pitchFamily="34" charset="0"/>
                  <a:ea typeface="Noto Sans KR" pitchFamily="34" charset="-122"/>
                  <a:cs typeface="Noto Sans KR" pitchFamily="34" charset="-120"/>
                </a:rPr>
                <a:t>실전 작성 예시</a:t>
              </a:r>
              <a:endParaRPr lang="en-US" sz="1200" dirty="0"/>
            </a:p>
          </p:txBody>
        </p:sp>
        <p:sp>
          <p:nvSpPr>
            <p:cNvPr id="15" name="Text 10"/>
            <p:cNvSpPr txBox="1"/>
            <p:nvPr/>
          </p:nvSpPr>
          <p:spPr>
            <a:xfrm>
              <a:off x="1416406" y="5705856"/>
              <a:ext cx="6439205" cy="648310"/>
            </a:xfrm>
            <a:prstGeom prst="rect">
              <a:avLst/>
            </a:prstGeom>
            <a:noFill/>
            <a:ln/>
          </p:spPr>
          <p:txBody>
            <a:bodyPr wrap="square" lIns="0" tIns="0" rIns="0" bIns="0" rtlCol="0" anchor="t"/>
            <a:lstStyle/>
            <a:p>
              <a:pPr marL="0" indent="0" algn="l">
                <a:lnSpc>
                  <a:spcPct val="150000"/>
                </a:lnSpc>
                <a:buNone/>
              </a:pPr>
              <a:r>
                <a:rPr lang="en-US" sz="1400" b="1" dirty="0">
                  <a:solidFill>
                    <a:srgbClr val="FF6908"/>
                  </a:solidFill>
                  <a:latin typeface="Noto Sans KR" pitchFamily="34" charset="0"/>
                  <a:ea typeface="Noto Sans KR" pitchFamily="34" charset="-122"/>
                  <a:cs typeface="Noto Sans KR" pitchFamily="34" charset="-120"/>
                </a:rPr>
                <a:t>[스타일]</a:t>
              </a:r>
              <a:r>
                <a:rPr lang="en-US" sz="1400" dirty="0">
                  <a:solidFill>
                    <a:srgbClr val="333333"/>
                  </a:solidFill>
                  <a:latin typeface="Noto Sans KR" pitchFamily="34" charset="0"/>
                  <a:ea typeface="Noto Sans KR" pitchFamily="34" charset="-122"/>
                  <a:cs typeface="Noto Sans KR" pitchFamily="34" charset="-120"/>
                </a:rPr>
                <a:t> Cinematic, Photorealistic </a:t>
              </a:r>
              <a:r>
                <a:rPr lang="en-US" sz="1400" b="1" dirty="0">
                  <a:solidFill>
                    <a:srgbClr val="FF6908"/>
                  </a:solidFill>
                  <a:latin typeface="Noto Sans KR" pitchFamily="34" charset="0"/>
                  <a:ea typeface="Noto Sans KR" pitchFamily="34" charset="-122"/>
                  <a:cs typeface="Noto Sans KR" pitchFamily="34" charset="-120"/>
                </a:rPr>
                <a:t>[구도]</a:t>
              </a:r>
              <a:r>
                <a:rPr lang="en-US" sz="1400" dirty="0">
                  <a:solidFill>
                    <a:srgbClr val="333333"/>
                  </a:solidFill>
                  <a:latin typeface="Noto Sans KR" pitchFamily="34" charset="0"/>
                  <a:ea typeface="Noto Sans KR" pitchFamily="34" charset="-122"/>
                  <a:cs typeface="Noto Sans KR" pitchFamily="34" charset="-120"/>
                </a:rPr>
                <a:t> Low-angle, Medium Shot </a:t>
              </a:r>
              <a:r>
                <a:rPr lang="en-US" sz="1400" b="1" dirty="0">
                  <a:solidFill>
                    <a:srgbClr val="FF6908"/>
                  </a:solidFill>
                  <a:latin typeface="Noto Sans KR" pitchFamily="34" charset="0"/>
                  <a:ea typeface="Noto Sans KR" pitchFamily="34" charset="-122"/>
                  <a:cs typeface="Noto Sans KR" pitchFamily="34" charset="-120"/>
                </a:rPr>
                <a:t>[주제]</a:t>
              </a:r>
              <a:r>
                <a:rPr lang="en-US" sz="1400" dirty="0">
                  <a:solidFill>
                    <a:srgbClr val="333333"/>
                  </a:solidFill>
                  <a:latin typeface="Noto Sans KR" pitchFamily="34" charset="0"/>
                  <a:ea typeface="Noto Sans KR" pitchFamily="34" charset="-122"/>
                  <a:cs typeface="Noto Sans KR" pitchFamily="34" charset="-120"/>
                </a:rPr>
                <a:t> Professional woman, Short black hair, Black suit, Confident smile </a:t>
              </a:r>
              <a:r>
                <a:rPr lang="en-US" sz="1400" b="1" dirty="0">
                  <a:solidFill>
                    <a:srgbClr val="FF6908"/>
                  </a:solidFill>
                  <a:latin typeface="Noto Sans KR" pitchFamily="34" charset="0"/>
                  <a:ea typeface="Noto Sans KR" pitchFamily="34" charset="-122"/>
                  <a:cs typeface="Noto Sans KR" pitchFamily="34" charset="-120"/>
                </a:rPr>
                <a:t>[환경]</a:t>
              </a:r>
              <a:r>
                <a:rPr lang="en-US" sz="1400" dirty="0">
                  <a:solidFill>
                    <a:srgbClr val="333333"/>
                  </a:solidFill>
                  <a:latin typeface="Noto Sans KR" pitchFamily="34" charset="0"/>
                  <a:ea typeface="Noto Sans KR" pitchFamily="34" charset="-122"/>
                  <a:cs typeface="Noto Sans KR" pitchFamily="34" charset="-120"/>
                </a:rPr>
                <a:t> Glass wall office, Soft sunlight, Neutral tones </a:t>
              </a:r>
              <a:r>
                <a:rPr lang="en-US" sz="1400" b="1" dirty="0">
                  <a:solidFill>
                    <a:srgbClr val="FF6908"/>
                  </a:solidFill>
                  <a:latin typeface="Noto Sans KR" pitchFamily="34" charset="0"/>
                  <a:ea typeface="Noto Sans KR" pitchFamily="34" charset="-122"/>
                  <a:cs typeface="Noto Sans KR" pitchFamily="34" charset="-120"/>
                </a:rPr>
                <a:t>[카메라]</a:t>
              </a:r>
              <a:r>
                <a:rPr lang="en-US" sz="1400" dirty="0">
                  <a:solidFill>
                    <a:srgbClr val="333333"/>
                  </a:solidFill>
                  <a:latin typeface="Noto Sans KR" pitchFamily="34" charset="0"/>
                  <a:ea typeface="Noto Sans KR" pitchFamily="34" charset="-122"/>
                  <a:cs typeface="Noto Sans KR" pitchFamily="34" charset="-120"/>
                </a:rPr>
                <a:t> 50mm, f/2.8 </a:t>
              </a:r>
              <a:endParaRPr lang="en-US" sz="1400" dirty="0"/>
            </a:p>
          </p:txBody>
        </p:sp>
      </p:grpSp>
      <p:sp>
        <p:nvSpPr>
          <p:cNvPr id="17"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txBox="1"/>
          <p:nvPr/>
        </p:nvSpPr>
        <p:spPr>
          <a:xfrm>
            <a:off x="10886846" y="381305"/>
            <a:ext cx="819302" cy="228600"/>
          </a:xfrm>
          <a:prstGeom prst="rect">
            <a:avLst/>
          </a:prstGeom>
          <a:noFill/>
          <a:ln/>
        </p:spPr>
        <p:txBody>
          <a:bodyPr wrap="square" lIns="0" tIns="0" rIns="0" bIns="0" rtlCol="0" anchor="ctr"/>
          <a:lstStyle/>
          <a:p>
            <a:pPr marL="0" indent="0" algn="l">
              <a:buNone/>
            </a:pPr>
            <a:r>
              <a:rPr lang="en-US" sz="1200" dirty="0">
                <a:solidFill>
                  <a:srgbClr val="FF6908"/>
                </a:solidFill>
                <a:latin typeface="Noto Sans KR" pitchFamily="34" charset="0"/>
                <a:ea typeface="Noto Sans KR" pitchFamily="34" charset="-122"/>
                <a:cs typeface="Noto Sans KR" pitchFamily="34" charset="-120"/>
              </a:rPr>
              <a:t>ROADMAP</a:t>
            </a:r>
            <a:endParaRPr lang="en-US" sz="1200" dirty="0"/>
          </a:p>
        </p:txBody>
      </p:sp>
      <p:sp>
        <p:nvSpPr>
          <p:cNvPr id="4" name="Text 2"/>
          <p:cNvSpPr txBox="1"/>
          <p:nvPr/>
        </p:nvSpPr>
        <p:spPr>
          <a:xfrm>
            <a:off x="457200" y="609905"/>
            <a:ext cx="11278210" cy="648310"/>
          </a:xfrm>
          <a:prstGeom prst="rect">
            <a:avLst/>
          </a:prstGeom>
          <a:noFill/>
          <a:ln/>
        </p:spPr>
        <p:txBody>
          <a:bodyPr wrap="square" lIns="0" tIns="0" rIns="0" bIns="0" rtlCol="0" anchor="ctr"/>
          <a:lstStyle/>
          <a:p>
            <a:pPr marL="0" indent="0" algn="ctr">
              <a:buNone/>
            </a:pPr>
            <a:r>
              <a:rPr lang="en-US" sz="4200" b="1" kern="0" spc="-75" dirty="0">
                <a:solidFill>
                  <a:srgbClr val="FF6908"/>
                </a:solidFill>
                <a:latin typeface="Noto Sans KR" pitchFamily="34" charset="0"/>
                <a:ea typeface="Noto Sans KR" pitchFamily="34" charset="-122"/>
                <a:cs typeface="Noto Sans KR" pitchFamily="34" charset="-120"/>
              </a:rPr>
              <a:t>AI+디자인 수익화 로드맵</a:t>
            </a:r>
            <a:endParaRPr lang="en-US" sz="4200" dirty="0"/>
          </a:p>
        </p:txBody>
      </p:sp>
      <p:sp>
        <p:nvSpPr>
          <p:cNvPr id="5" name="Shape 3"/>
          <p:cNvSpPr/>
          <p:nvPr/>
        </p:nvSpPr>
        <p:spPr>
          <a:xfrm>
            <a:off x="609905" y="1630375"/>
            <a:ext cx="10972800" cy="2210105"/>
          </a:xfrm>
          <a:prstGeom prst="roundRect">
            <a:avLst>
              <a:gd name="adj" fmla="val 5350"/>
            </a:avLst>
          </a:prstGeom>
          <a:solidFill>
            <a:srgbClr val="F3F3F3"/>
          </a:solidFill>
          <a:ln w="12700">
            <a:solidFill>
              <a:srgbClr val="FFFFFF">
                <a:alpha val="0"/>
              </a:srgbClr>
            </a:solidFill>
            <a:prstDash val="solid"/>
          </a:ln>
          <a:effectLst>
            <a:outerShdw blurRad="114300" dist="38100" dir="16200000" algn="bl" rotWithShape="0">
              <a:srgbClr val="000000">
                <a:alpha val="5000"/>
              </a:srgbClr>
            </a:outerShdw>
          </a:effectLst>
        </p:spPr>
        <p:txBody>
          <a:bodyPr/>
          <a:lstStyle/>
          <a:p>
            <a:endParaRPr lang="ko-KR" altLang="en-US"/>
          </a:p>
        </p:txBody>
      </p:sp>
      <p:pic>
        <p:nvPicPr>
          <p:cNvPr id="6" name="Image 0" descr="preencoded.png"/>
          <p:cNvPicPr>
            <a:picLocks noChangeAspect="1"/>
          </p:cNvPicPr>
          <p:nvPr/>
        </p:nvPicPr>
        <p:blipFill>
          <a:blip r:embed="rId3"/>
          <a:srcRect t="34888" b="34888"/>
          <a:stretch/>
        </p:blipFill>
        <p:spPr>
          <a:xfrm>
            <a:off x="609905" y="1630375"/>
            <a:ext cx="10972800" cy="2210105"/>
          </a:xfrm>
          <a:prstGeom prst="rect">
            <a:avLst/>
          </a:prstGeom>
        </p:spPr>
      </p:pic>
      <p:sp>
        <p:nvSpPr>
          <p:cNvPr id="7" name="Text 4"/>
          <p:cNvSpPr txBox="1"/>
          <p:nvPr/>
        </p:nvSpPr>
        <p:spPr>
          <a:xfrm>
            <a:off x="609905" y="4123944"/>
            <a:ext cx="991210" cy="1105510"/>
          </a:xfrm>
          <a:prstGeom prst="rect">
            <a:avLst/>
          </a:prstGeom>
          <a:noFill/>
          <a:ln/>
        </p:spPr>
        <p:txBody>
          <a:bodyPr wrap="square" lIns="0" tIns="0" rIns="0" bIns="0" rtlCol="0" anchor="t"/>
          <a:lstStyle/>
          <a:p>
            <a:pPr marL="0" indent="0" algn="l">
              <a:buNone/>
            </a:pPr>
            <a:r>
              <a:rPr lang="en-US" sz="6000" b="1" dirty="0">
                <a:solidFill>
                  <a:srgbClr val="FF6908"/>
                </a:solidFill>
                <a:latin typeface="Noto Sans KR" pitchFamily="34" charset="0"/>
                <a:ea typeface="Noto Sans KR" pitchFamily="34" charset="-122"/>
                <a:cs typeface="Noto Sans KR" pitchFamily="34" charset="-120"/>
              </a:rPr>
              <a:t>01</a:t>
            </a:r>
            <a:endParaRPr lang="en-US" sz="6000" dirty="0"/>
          </a:p>
        </p:txBody>
      </p:sp>
      <p:pic>
        <p:nvPicPr>
          <p:cNvPr id="8" name="Image 1" descr="preencoded.png"/>
          <p:cNvPicPr>
            <a:picLocks noChangeAspect="1"/>
          </p:cNvPicPr>
          <p:nvPr/>
        </p:nvPicPr>
        <p:blipFill>
          <a:blip r:embed="rId4">
            <a:alphaModFix amt="30000"/>
          </a:blip>
          <a:srcRect t="-360" b="-360"/>
          <a:stretch/>
        </p:blipFill>
        <p:spPr>
          <a:xfrm>
            <a:off x="707877" y="5134356"/>
            <a:ext cx="573154" cy="38405"/>
          </a:xfrm>
          <a:prstGeom prst="rect">
            <a:avLst/>
          </a:prstGeom>
        </p:spPr>
      </p:pic>
      <p:sp>
        <p:nvSpPr>
          <p:cNvPr id="9" name="Text 5"/>
          <p:cNvSpPr txBox="1"/>
          <p:nvPr/>
        </p:nvSpPr>
        <p:spPr>
          <a:xfrm>
            <a:off x="1009881" y="5310424"/>
            <a:ext cx="2513906" cy="247802"/>
          </a:xfrm>
          <a:prstGeom prst="rect">
            <a:avLst/>
          </a:prstGeom>
          <a:noFill/>
          <a:ln/>
        </p:spPr>
        <p:txBody>
          <a:bodyPr wrap="square" lIns="0" tIns="0" rIns="0" bIns="0" rtlCol="0" anchor="ctr"/>
          <a:lstStyle/>
          <a:p>
            <a:pPr marL="0" indent="0" algn="l">
              <a:buNone/>
            </a:pPr>
            <a:r>
              <a:rPr lang="en-US" b="1" kern="0" spc="-37" dirty="0">
                <a:solidFill>
                  <a:srgbClr val="000000"/>
                </a:solidFill>
                <a:latin typeface="Noto Sans KR" pitchFamily="34" charset="0"/>
                <a:ea typeface="Noto Sans KR" pitchFamily="34" charset="-122"/>
                <a:cs typeface="Noto Sans KR" pitchFamily="34" charset="-120"/>
              </a:rPr>
              <a:t>AI+디자인의 본질</a:t>
            </a:r>
            <a:endParaRPr lang="en-US" dirty="0"/>
          </a:p>
        </p:txBody>
      </p:sp>
      <p:sp>
        <p:nvSpPr>
          <p:cNvPr id="10" name="Text 6"/>
          <p:cNvSpPr txBox="1"/>
          <p:nvPr/>
        </p:nvSpPr>
        <p:spPr>
          <a:xfrm>
            <a:off x="1009881" y="5634122"/>
            <a:ext cx="2442433" cy="600761"/>
          </a:xfrm>
          <a:prstGeom prst="rect">
            <a:avLst/>
          </a:prstGeom>
          <a:noFill/>
          <a:ln/>
        </p:spPr>
        <p:txBody>
          <a:bodyPr wrap="square" lIns="0" tIns="0" rIns="0" bIns="0" rtlCol="0" anchor="t"/>
          <a:lstStyle/>
          <a:p>
            <a:pPr marL="0" indent="0" algn="l">
              <a:buNone/>
            </a:pPr>
            <a:r>
              <a:rPr lang="en-US" sz="1100" dirty="0">
                <a:solidFill>
                  <a:srgbClr val="4A4A4A"/>
                </a:solidFill>
                <a:latin typeface="Noto Sans KR" pitchFamily="34" charset="0"/>
                <a:ea typeface="Noto Sans KR" pitchFamily="34" charset="-122"/>
                <a:cs typeface="Noto Sans KR" pitchFamily="34" charset="-120"/>
              </a:rPr>
              <a:t> AI 결과물 90점에</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디자인 10% 리터치를 더해</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100점짜리 상업 퀄리티 완성 </a:t>
            </a:r>
            <a:endParaRPr lang="en-US" sz="1100" dirty="0"/>
          </a:p>
        </p:txBody>
      </p:sp>
      <p:sp>
        <p:nvSpPr>
          <p:cNvPr id="11" name="Text 7"/>
          <p:cNvSpPr txBox="1"/>
          <p:nvPr/>
        </p:nvSpPr>
        <p:spPr>
          <a:xfrm>
            <a:off x="3409798" y="4123944"/>
            <a:ext cx="991210" cy="1105510"/>
          </a:xfrm>
          <a:prstGeom prst="rect">
            <a:avLst/>
          </a:prstGeom>
          <a:noFill/>
          <a:ln/>
        </p:spPr>
        <p:txBody>
          <a:bodyPr wrap="square" lIns="0" tIns="0" rIns="0" bIns="0" rtlCol="0" anchor="t"/>
          <a:lstStyle/>
          <a:p>
            <a:pPr marL="0" indent="0" algn="l">
              <a:buNone/>
            </a:pPr>
            <a:r>
              <a:rPr lang="en-US" sz="6000" b="1" dirty="0">
                <a:solidFill>
                  <a:srgbClr val="FF6908"/>
                </a:solidFill>
                <a:latin typeface="Noto Sans KR" pitchFamily="34" charset="0"/>
                <a:ea typeface="Noto Sans KR" pitchFamily="34" charset="-122"/>
                <a:cs typeface="Noto Sans KR" pitchFamily="34" charset="-120"/>
              </a:rPr>
              <a:t>02</a:t>
            </a:r>
            <a:endParaRPr lang="en-US" sz="6000" dirty="0"/>
          </a:p>
        </p:txBody>
      </p:sp>
      <p:pic>
        <p:nvPicPr>
          <p:cNvPr id="12" name="Image 2" descr="preencoded.png"/>
          <p:cNvPicPr>
            <a:picLocks noChangeAspect="1"/>
          </p:cNvPicPr>
          <p:nvPr/>
        </p:nvPicPr>
        <p:blipFill>
          <a:blip r:embed="rId4">
            <a:alphaModFix amt="30000"/>
          </a:blip>
          <a:srcRect t="-360" b="-360"/>
          <a:stretch/>
        </p:blipFill>
        <p:spPr>
          <a:xfrm>
            <a:off x="3507770" y="5134356"/>
            <a:ext cx="573154" cy="38405"/>
          </a:xfrm>
          <a:prstGeom prst="rect">
            <a:avLst/>
          </a:prstGeom>
        </p:spPr>
      </p:pic>
      <p:sp>
        <p:nvSpPr>
          <p:cNvPr id="13" name="Text 8"/>
          <p:cNvSpPr txBox="1"/>
          <p:nvPr/>
        </p:nvSpPr>
        <p:spPr>
          <a:xfrm>
            <a:off x="3809774" y="5310424"/>
            <a:ext cx="1969615" cy="247802"/>
          </a:xfrm>
          <a:prstGeom prst="rect">
            <a:avLst/>
          </a:prstGeom>
          <a:noFill/>
          <a:ln/>
        </p:spPr>
        <p:txBody>
          <a:bodyPr wrap="square" lIns="0" tIns="0" rIns="0" bIns="0" rtlCol="0" anchor="ctr"/>
          <a:lstStyle/>
          <a:p>
            <a:pPr marL="0" indent="0" algn="l">
              <a:buNone/>
            </a:pPr>
            <a:r>
              <a:rPr lang="en-US" b="1" kern="0" spc="-37" dirty="0">
                <a:solidFill>
                  <a:srgbClr val="000000"/>
                </a:solidFill>
                <a:latin typeface="Noto Sans KR" pitchFamily="34" charset="0"/>
                <a:ea typeface="Noto Sans KR" pitchFamily="34" charset="-122"/>
                <a:cs typeface="Noto Sans KR" pitchFamily="34" charset="-120"/>
              </a:rPr>
              <a:t>유튜브의 본질</a:t>
            </a:r>
            <a:endParaRPr lang="en-US" dirty="0"/>
          </a:p>
        </p:txBody>
      </p:sp>
      <p:sp>
        <p:nvSpPr>
          <p:cNvPr id="14" name="Text 9"/>
          <p:cNvSpPr txBox="1"/>
          <p:nvPr/>
        </p:nvSpPr>
        <p:spPr>
          <a:xfrm>
            <a:off x="3809773" y="5634122"/>
            <a:ext cx="1918759" cy="600761"/>
          </a:xfrm>
          <a:prstGeom prst="rect">
            <a:avLst/>
          </a:prstGeom>
          <a:noFill/>
          <a:ln/>
        </p:spPr>
        <p:txBody>
          <a:bodyPr wrap="square" lIns="0" tIns="0" rIns="0" bIns="0" rtlCol="0" anchor="t"/>
          <a:lstStyle/>
          <a:p>
            <a:pPr marL="0" indent="0" algn="l">
              <a:buNone/>
            </a:pPr>
            <a:r>
              <a:rPr lang="en-US" sz="1100" dirty="0">
                <a:solidFill>
                  <a:srgbClr val="4A4A4A"/>
                </a:solidFill>
                <a:latin typeface="Noto Sans KR" pitchFamily="34" charset="0"/>
                <a:ea typeface="Noto Sans KR" pitchFamily="34" charset="-122"/>
                <a:cs typeface="Noto Sans KR" pitchFamily="34" charset="-120"/>
              </a:rPr>
              <a:t> 쇼츠 및 테마 시리즈로</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지속 가능한 트래픽</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파이프라인 확보 전략 </a:t>
            </a:r>
            <a:endParaRPr lang="en-US" sz="1100" dirty="0"/>
          </a:p>
        </p:txBody>
      </p:sp>
      <p:sp>
        <p:nvSpPr>
          <p:cNvPr id="15" name="Text 10"/>
          <p:cNvSpPr txBox="1"/>
          <p:nvPr/>
        </p:nvSpPr>
        <p:spPr>
          <a:xfrm>
            <a:off x="6210605" y="4123944"/>
            <a:ext cx="991210" cy="1105510"/>
          </a:xfrm>
          <a:prstGeom prst="rect">
            <a:avLst/>
          </a:prstGeom>
          <a:noFill/>
          <a:ln/>
        </p:spPr>
        <p:txBody>
          <a:bodyPr wrap="square" lIns="0" tIns="0" rIns="0" bIns="0" rtlCol="0" anchor="t"/>
          <a:lstStyle/>
          <a:p>
            <a:pPr marL="0" indent="0" algn="l">
              <a:buNone/>
            </a:pPr>
            <a:r>
              <a:rPr lang="en-US" sz="6000" b="1" dirty="0">
                <a:solidFill>
                  <a:srgbClr val="FF6908"/>
                </a:solidFill>
                <a:latin typeface="Noto Sans KR" pitchFamily="34" charset="0"/>
                <a:ea typeface="Noto Sans KR" pitchFamily="34" charset="-122"/>
                <a:cs typeface="Noto Sans KR" pitchFamily="34" charset="-120"/>
              </a:rPr>
              <a:t>03</a:t>
            </a:r>
            <a:endParaRPr lang="en-US" sz="6000" dirty="0"/>
          </a:p>
        </p:txBody>
      </p:sp>
      <p:pic>
        <p:nvPicPr>
          <p:cNvPr id="16" name="Image 3" descr="preencoded.png"/>
          <p:cNvPicPr>
            <a:picLocks noChangeAspect="1"/>
          </p:cNvPicPr>
          <p:nvPr/>
        </p:nvPicPr>
        <p:blipFill>
          <a:blip r:embed="rId4">
            <a:alphaModFix amt="30000"/>
          </a:blip>
          <a:srcRect t="-360" b="-360"/>
          <a:stretch/>
        </p:blipFill>
        <p:spPr>
          <a:xfrm>
            <a:off x="6308577" y="5134356"/>
            <a:ext cx="573154" cy="38405"/>
          </a:xfrm>
          <a:prstGeom prst="rect">
            <a:avLst/>
          </a:prstGeom>
        </p:spPr>
      </p:pic>
      <p:sp>
        <p:nvSpPr>
          <p:cNvPr id="17" name="Text 11"/>
          <p:cNvSpPr txBox="1"/>
          <p:nvPr/>
        </p:nvSpPr>
        <p:spPr>
          <a:xfrm>
            <a:off x="6610581" y="5310424"/>
            <a:ext cx="2210147" cy="247802"/>
          </a:xfrm>
          <a:prstGeom prst="rect">
            <a:avLst/>
          </a:prstGeom>
          <a:noFill/>
          <a:ln/>
        </p:spPr>
        <p:txBody>
          <a:bodyPr wrap="square" lIns="0" tIns="0" rIns="0" bIns="0" rtlCol="0" anchor="ctr"/>
          <a:lstStyle/>
          <a:p>
            <a:pPr marL="0" indent="0" algn="l">
              <a:buNone/>
            </a:pPr>
            <a:r>
              <a:rPr lang="en-US" b="1" kern="0" spc="-37" dirty="0">
                <a:solidFill>
                  <a:srgbClr val="000000"/>
                </a:solidFill>
                <a:latin typeface="Noto Sans KR" pitchFamily="34" charset="0"/>
                <a:ea typeface="Noto Sans KR" pitchFamily="34" charset="-122"/>
                <a:cs typeface="Noto Sans KR" pitchFamily="34" charset="-120"/>
              </a:rPr>
              <a:t>AI 영상의 본질</a:t>
            </a:r>
            <a:endParaRPr lang="en-US" dirty="0"/>
          </a:p>
        </p:txBody>
      </p:sp>
      <p:sp>
        <p:nvSpPr>
          <p:cNvPr id="18" name="Text 12"/>
          <p:cNvSpPr txBox="1"/>
          <p:nvPr/>
        </p:nvSpPr>
        <p:spPr>
          <a:xfrm>
            <a:off x="6610581" y="5634122"/>
            <a:ext cx="2546892" cy="600761"/>
          </a:xfrm>
          <a:prstGeom prst="rect">
            <a:avLst/>
          </a:prstGeom>
          <a:noFill/>
          <a:ln/>
        </p:spPr>
        <p:txBody>
          <a:bodyPr wrap="square" lIns="0" tIns="0" rIns="0" bIns="0" rtlCol="0" anchor="t"/>
          <a:lstStyle/>
          <a:p>
            <a:pPr marL="0" indent="0" algn="l">
              <a:buNone/>
            </a:pPr>
            <a:r>
              <a:rPr lang="en-US" sz="1100" dirty="0">
                <a:solidFill>
                  <a:srgbClr val="4A4A4A"/>
                </a:solidFill>
                <a:latin typeface="Noto Sans KR" pitchFamily="34" charset="0"/>
                <a:ea typeface="Noto Sans KR" pitchFamily="34" charset="-122"/>
                <a:cs typeface="Noto Sans KR" pitchFamily="34" charset="-120"/>
              </a:rPr>
              <a:t> 포맷 표준화와 에피소드 확장,</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협찬 및 광고와 연계된</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수익 모델 구축 </a:t>
            </a:r>
            <a:endParaRPr lang="en-US" sz="1100" dirty="0"/>
          </a:p>
        </p:txBody>
      </p:sp>
      <p:sp>
        <p:nvSpPr>
          <p:cNvPr id="19" name="Text 13"/>
          <p:cNvSpPr txBox="1"/>
          <p:nvPr/>
        </p:nvSpPr>
        <p:spPr>
          <a:xfrm>
            <a:off x="9010498" y="4123944"/>
            <a:ext cx="991210" cy="1105510"/>
          </a:xfrm>
          <a:prstGeom prst="rect">
            <a:avLst/>
          </a:prstGeom>
          <a:noFill/>
          <a:ln/>
        </p:spPr>
        <p:txBody>
          <a:bodyPr wrap="square" lIns="0" tIns="0" rIns="0" bIns="0" rtlCol="0" anchor="t"/>
          <a:lstStyle/>
          <a:p>
            <a:pPr marL="0" indent="0" algn="l">
              <a:buNone/>
            </a:pPr>
            <a:r>
              <a:rPr lang="en-US" sz="6000" b="1" dirty="0">
                <a:solidFill>
                  <a:srgbClr val="FF6908"/>
                </a:solidFill>
                <a:latin typeface="Noto Sans KR" pitchFamily="34" charset="0"/>
                <a:ea typeface="Noto Sans KR" pitchFamily="34" charset="-122"/>
                <a:cs typeface="Noto Sans KR" pitchFamily="34" charset="-120"/>
              </a:rPr>
              <a:t>04</a:t>
            </a:r>
            <a:endParaRPr lang="en-US" sz="6000" dirty="0"/>
          </a:p>
        </p:txBody>
      </p:sp>
      <p:pic>
        <p:nvPicPr>
          <p:cNvPr id="20" name="Image 4" descr="preencoded.png"/>
          <p:cNvPicPr>
            <a:picLocks noChangeAspect="1"/>
          </p:cNvPicPr>
          <p:nvPr/>
        </p:nvPicPr>
        <p:blipFill>
          <a:blip r:embed="rId4">
            <a:alphaModFix amt="30000"/>
          </a:blip>
          <a:srcRect t="-360" b="-360"/>
          <a:stretch/>
        </p:blipFill>
        <p:spPr>
          <a:xfrm>
            <a:off x="9108470" y="5134356"/>
            <a:ext cx="573154" cy="38405"/>
          </a:xfrm>
          <a:prstGeom prst="rect">
            <a:avLst/>
          </a:prstGeom>
        </p:spPr>
      </p:pic>
      <p:sp>
        <p:nvSpPr>
          <p:cNvPr id="21" name="Text 14"/>
          <p:cNvSpPr txBox="1"/>
          <p:nvPr/>
        </p:nvSpPr>
        <p:spPr>
          <a:xfrm>
            <a:off x="9410474" y="5310424"/>
            <a:ext cx="1671354" cy="247802"/>
          </a:xfrm>
          <a:prstGeom prst="rect">
            <a:avLst/>
          </a:prstGeom>
          <a:noFill/>
          <a:ln/>
        </p:spPr>
        <p:txBody>
          <a:bodyPr wrap="square" lIns="0" tIns="0" rIns="0" bIns="0" rtlCol="0" anchor="ctr"/>
          <a:lstStyle/>
          <a:p>
            <a:pPr marL="0" indent="0" algn="l">
              <a:buNone/>
            </a:pPr>
            <a:r>
              <a:rPr lang="en-US" b="1" kern="0" spc="-37" dirty="0">
                <a:solidFill>
                  <a:srgbClr val="000000"/>
                </a:solidFill>
                <a:latin typeface="Noto Sans KR" pitchFamily="34" charset="0"/>
                <a:ea typeface="Noto Sans KR" pitchFamily="34" charset="-122"/>
                <a:cs typeface="Noto Sans KR" pitchFamily="34" charset="-120"/>
              </a:rPr>
              <a:t>판매의 본질</a:t>
            </a:r>
            <a:endParaRPr lang="en-US" dirty="0"/>
          </a:p>
        </p:txBody>
      </p:sp>
      <p:sp>
        <p:nvSpPr>
          <p:cNvPr id="22" name="Text 15"/>
          <p:cNvSpPr txBox="1"/>
          <p:nvPr/>
        </p:nvSpPr>
        <p:spPr>
          <a:xfrm>
            <a:off x="9395047" y="5634122"/>
            <a:ext cx="2353092" cy="600761"/>
          </a:xfrm>
          <a:prstGeom prst="rect">
            <a:avLst/>
          </a:prstGeom>
          <a:noFill/>
          <a:ln/>
        </p:spPr>
        <p:txBody>
          <a:bodyPr wrap="square" lIns="0" tIns="0" rIns="0" bIns="0" rtlCol="0" anchor="t"/>
          <a:lstStyle/>
          <a:p>
            <a:pPr marL="0" indent="0" algn="l">
              <a:buNone/>
            </a:pPr>
            <a:r>
              <a:rPr lang="en-US" sz="1100" dirty="0">
                <a:solidFill>
                  <a:srgbClr val="4A4A4A"/>
                </a:solidFill>
                <a:latin typeface="Noto Sans KR" pitchFamily="34" charset="0"/>
                <a:ea typeface="Noto Sans KR" pitchFamily="34" charset="-122"/>
                <a:cs typeface="Noto Sans KR" pitchFamily="34" charset="-120"/>
              </a:rPr>
              <a:t> 브랜드 가이드 준수 및</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패키지, 템플릿, 프리셋화로</a:t>
            </a:r>
            <a:endParaRPr lang="en-US" sz="1100" dirty="0"/>
          </a:p>
          <a:p>
            <a:pPr marL="0" indent="0" algn="l">
              <a:buNone/>
            </a:pPr>
            <a:r>
              <a:rPr lang="en-US" sz="1100" dirty="0">
                <a:solidFill>
                  <a:srgbClr val="4A4A4A"/>
                </a:solidFill>
                <a:latin typeface="Noto Sans KR" pitchFamily="34" charset="0"/>
                <a:ea typeface="Noto Sans KR" pitchFamily="34" charset="-122"/>
                <a:cs typeface="Noto Sans KR" pitchFamily="34" charset="-120"/>
              </a:rPr>
              <a:t> 디지털 상품 판매 </a:t>
            </a:r>
            <a:endParaRPr lang="en-US" sz="1100" dirty="0"/>
          </a:p>
        </p:txBody>
      </p:sp>
      <p:sp>
        <p:nvSpPr>
          <p:cNvPr id="23"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791870"/>
            <a:ext cx="161849" cy="133502"/>
          </a:xfrm>
          <a:prstGeom prst="rect">
            <a:avLst/>
          </a:prstGeom>
        </p:spPr>
      </p:pic>
      <p:sp>
        <p:nvSpPr>
          <p:cNvPr id="6" name="Text 3"/>
          <p:cNvSpPr txBox="1"/>
          <p:nvPr/>
        </p:nvSpPr>
        <p:spPr>
          <a:xfrm>
            <a:off x="714146" y="758038"/>
            <a:ext cx="142555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01</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지브리 스타일</a:t>
            </a:r>
            <a:endParaRPr lang="en-US" sz="3100" dirty="0"/>
          </a:p>
        </p:txBody>
      </p:sp>
      <p:sp>
        <p:nvSpPr>
          <p:cNvPr id="8" name="Text 5"/>
          <p:cNvSpPr txBox="1"/>
          <p:nvPr/>
        </p:nvSpPr>
        <p:spPr>
          <a:xfrm>
            <a:off x="476401" y="1522476"/>
            <a:ext cx="2574951" cy="200254"/>
          </a:xfrm>
          <a:prstGeom prst="rect">
            <a:avLst/>
          </a:prstGeom>
          <a:noFill/>
          <a:ln/>
        </p:spPr>
        <p:txBody>
          <a:bodyPr wrap="square" lIns="0" tIns="0" rIns="0" bIns="0" rtlCol="0" anchor="ctr"/>
          <a:lstStyle/>
          <a:p>
            <a:pPr marL="0" indent="0" algn="l">
              <a:buNone/>
            </a:pPr>
            <a:r>
              <a:rPr lang="en-US" sz="1600" dirty="0">
                <a:solidFill>
                  <a:srgbClr val="666666"/>
                </a:solidFill>
                <a:latin typeface="Manrope" pitchFamily="34" charset="0"/>
                <a:ea typeface="Manrope" pitchFamily="34" charset="-122"/>
                <a:cs typeface="Manrope" pitchFamily="34" charset="-120"/>
              </a:rPr>
              <a:t>Ghibli Animation Style</a:t>
            </a:r>
            <a:endParaRPr lang="en-US" sz="16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따뜻한 톤과 수채화 질감, 동화적인 배경 묘사가 특징입니다. </a:t>
            </a:r>
          </a:p>
          <a:p>
            <a:pPr marL="0" indent="0" algn="l">
              <a:buNone/>
            </a:pPr>
            <a:r>
              <a:rPr lang="en-US" sz="1200" dirty="0" err="1">
                <a:solidFill>
                  <a:srgbClr val="4B5563"/>
                </a:solidFill>
                <a:latin typeface="Noto Sans KR" pitchFamily="34" charset="0"/>
                <a:ea typeface="Noto Sans KR" pitchFamily="34" charset="-122"/>
                <a:cs typeface="Noto Sans KR" pitchFamily="34" charset="-120"/>
              </a:rPr>
              <a:t>낮은</a:t>
            </a:r>
            <a:r>
              <a:rPr lang="en-US" sz="1200" dirty="0">
                <a:solidFill>
                  <a:srgbClr val="4B5563"/>
                </a:solidFill>
                <a:latin typeface="Noto Sans KR" pitchFamily="34" charset="0"/>
                <a:ea typeface="Noto Sans KR" pitchFamily="34" charset="-122"/>
                <a:cs typeface="Noto Sans KR" pitchFamily="34" charset="-120"/>
              </a:rPr>
              <a:t> 대비와 부드러운 빛 처리를 통해 평온하고 몽환적인 분위기를 연출합니다.</a:t>
            </a:r>
            <a:endParaRPr lang="en-US" sz="12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sz="2400"/>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sz="2400"/>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1050" b="1" dirty="0">
                <a:solidFill>
                  <a:srgbClr val="999999"/>
                </a:solidFill>
                <a:latin typeface="Manrope" pitchFamily="34" charset="0"/>
                <a:ea typeface="Manrope" pitchFamily="34" charset="-122"/>
                <a:cs typeface="Manrope" pitchFamily="34" charset="-120"/>
              </a:rPr>
              <a:t>REPRESENTATIVE PROMPT</a:t>
            </a:r>
            <a:endParaRPr lang="en-US" sz="105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562356" cy="171907"/>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[스타일]</a:t>
            </a:r>
            <a:endParaRPr lang="en-US" sz="1050" dirty="0"/>
          </a:p>
        </p:txBody>
      </p:sp>
      <p:sp>
        <p:nvSpPr>
          <p:cNvPr id="15" name="Text 11"/>
          <p:cNvSpPr txBox="1"/>
          <p:nvPr/>
        </p:nvSpPr>
        <p:spPr>
          <a:xfrm>
            <a:off x="1257300" y="3279953"/>
            <a:ext cx="1794053" cy="191110"/>
          </a:xfrm>
          <a:prstGeom prst="rect">
            <a:avLst/>
          </a:prstGeom>
          <a:noFill/>
          <a:ln/>
        </p:spPr>
        <p:txBody>
          <a:bodyPr wrap="square" lIns="0" tIns="0" rIns="0" bIns="0" rtlCol="0" anchor="ctr"/>
          <a:lstStyle/>
          <a:p>
            <a:pPr marL="0" indent="0" algn="l">
              <a:buNone/>
            </a:pPr>
            <a:r>
              <a:rPr lang="en-US" sz="1100" dirty="0">
                <a:solidFill>
                  <a:srgbClr val="333333"/>
                </a:solidFill>
                <a:latin typeface="Noto Sans KR" pitchFamily="34" charset="0"/>
                <a:ea typeface="Noto Sans KR" pitchFamily="34" charset="-122"/>
                <a:cs typeface="Noto Sans KR" pitchFamily="34" charset="-120"/>
              </a:rPr>
              <a:t>지브리, 수채화, 파스텔 톤</a:t>
            </a:r>
            <a:endParaRPr lang="en-US" sz="11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[구도]</a:t>
            </a:r>
            <a:endParaRPr lang="en-US" sz="1050" dirty="0"/>
          </a:p>
        </p:txBody>
      </p:sp>
      <p:sp>
        <p:nvSpPr>
          <p:cNvPr id="17" name="Text 13"/>
          <p:cNvSpPr txBox="1"/>
          <p:nvPr/>
        </p:nvSpPr>
        <p:spPr>
          <a:xfrm>
            <a:off x="1257300" y="3561588"/>
            <a:ext cx="1773022" cy="191110"/>
          </a:xfrm>
          <a:prstGeom prst="rect">
            <a:avLst/>
          </a:prstGeom>
          <a:noFill/>
          <a:ln/>
        </p:spPr>
        <p:txBody>
          <a:bodyPr wrap="square" lIns="0" tIns="0" rIns="0" bIns="0" rtlCol="0" anchor="ctr"/>
          <a:lstStyle/>
          <a:p>
            <a:pPr marL="0" indent="0" algn="l">
              <a:buNone/>
            </a:pPr>
            <a:r>
              <a:rPr lang="en-US" sz="1100" dirty="0">
                <a:solidFill>
                  <a:srgbClr val="333333"/>
                </a:solidFill>
                <a:latin typeface="Noto Sans KR" pitchFamily="34" charset="0"/>
                <a:ea typeface="Noto Sans KR" pitchFamily="34" charset="-122"/>
                <a:cs typeface="Noto Sans KR" pitchFamily="34" charset="-120"/>
              </a:rPr>
              <a:t>미디엄 샷 (Medium Shot)</a:t>
            </a:r>
            <a:endParaRPr lang="en-US" sz="11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[매체]</a:t>
            </a:r>
            <a:endParaRPr lang="en-US" sz="1050" dirty="0"/>
          </a:p>
        </p:txBody>
      </p:sp>
      <p:sp>
        <p:nvSpPr>
          <p:cNvPr id="19" name="Text 15"/>
          <p:cNvSpPr txBox="1"/>
          <p:nvPr/>
        </p:nvSpPr>
        <p:spPr>
          <a:xfrm>
            <a:off x="1257300" y="3843223"/>
            <a:ext cx="965606" cy="191110"/>
          </a:xfrm>
          <a:prstGeom prst="rect">
            <a:avLst/>
          </a:prstGeom>
          <a:noFill/>
          <a:ln/>
        </p:spPr>
        <p:txBody>
          <a:bodyPr wrap="square" lIns="0" tIns="0" rIns="0" bIns="0" rtlCol="0" anchor="ctr"/>
          <a:lstStyle/>
          <a:p>
            <a:pPr marL="0" indent="0" algn="l">
              <a:buNone/>
            </a:pPr>
            <a:r>
              <a:rPr lang="en-US" sz="1100" dirty="0">
                <a:solidFill>
                  <a:srgbClr val="333333"/>
                </a:solidFill>
                <a:latin typeface="Noto Sans KR" pitchFamily="34" charset="0"/>
                <a:ea typeface="Noto Sans KR" pitchFamily="34" charset="-122"/>
                <a:cs typeface="Noto Sans KR" pitchFamily="34" charset="-120"/>
              </a:rPr>
              <a:t>일러스트레이션</a:t>
            </a:r>
            <a:endParaRPr lang="en-US" sz="11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[주제]</a:t>
            </a:r>
            <a:endParaRPr lang="en-US" sz="1050" dirty="0"/>
          </a:p>
        </p:txBody>
      </p:sp>
      <p:sp>
        <p:nvSpPr>
          <p:cNvPr id="21" name="Text 17"/>
          <p:cNvSpPr txBox="1"/>
          <p:nvPr/>
        </p:nvSpPr>
        <p:spPr>
          <a:xfrm>
            <a:off x="1257300" y="4124858"/>
            <a:ext cx="2125066" cy="191110"/>
          </a:xfrm>
          <a:prstGeom prst="rect">
            <a:avLst/>
          </a:prstGeom>
          <a:noFill/>
          <a:ln/>
        </p:spPr>
        <p:txBody>
          <a:bodyPr wrap="square" lIns="0" tIns="0" rIns="0" bIns="0" rtlCol="0" anchor="ctr"/>
          <a:lstStyle/>
          <a:p>
            <a:pPr marL="0" indent="0" algn="l">
              <a:buNone/>
            </a:pPr>
            <a:r>
              <a:rPr lang="en-US" sz="1100" dirty="0">
                <a:solidFill>
                  <a:srgbClr val="333333"/>
                </a:solidFill>
                <a:latin typeface="Noto Sans KR" pitchFamily="34" charset="0"/>
                <a:ea typeface="Noto Sans KR" pitchFamily="34" charset="-122"/>
                <a:cs typeface="Noto Sans KR" pitchFamily="34" charset="-120"/>
              </a:rPr>
              <a:t>숲길을 걷는 소녀와 작은 고양이</a:t>
            </a:r>
            <a:endParaRPr lang="en-US" sz="11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[환경]</a:t>
            </a:r>
            <a:endParaRPr lang="en-US" sz="1050" dirty="0"/>
          </a:p>
        </p:txBody>
      </p:sp>
      <p:sp>
        <p:nvSpPr>
          <p:cNvPr id="23" name="Text 19"/>
          <p:cNvSpPr txBox="1"/>
          <p:nvPr/>
        </p:nvSpPr>
        <p:spPr>
          <a:xfrm>
            <a:off x="1257300" y="4407408"/>
            <a:ext cx="1794053" cy="191110"/>
          </a:xfrm>
          <a:prstGeom prst="rect">
            <a:avLst/>
          </a:prstGeom>
          <a:noFill/>
          <a:ln/>
        </p:spPr>
        <p:txBody>
          <a:bodyPr wrap="square" lIns="0" tIns="0" rIns="0" bIns="0" rtlCol="0" anchor="ctr"/>
          <a:lstStyle/>
          <a:p>
            <a:pPr marL="0" indent="0" algn="l">
              <a:buNone/>
            </a:pPr>
            <a:r>
              <a:rPr lang="en-US" sz="1100" dirty="0">
                <a:solidFill>
                  <a:srgbClr val="333333"/>
                </a:solidFill>
                <a:latin typeface="Noto Sans KR" pitchFamily="34" charset="0"/>
                <a:ea typeface="Noto Sans KR" pitchFamily="34" charset="-122"/>
                <a:cs typeface="Noto Sans KR" pitchFamily="34" charset="-120"/>
              </a:rPr>
              <a:t>안개 낀 숲, 부드러운 역광</a:t>
            </a:r>
            <a:endParaRPr lang="en-US" sz="1100" dirty="0"/>
          </a:p>
        </p:txBody>
      </p:sp>
      <p:sp>
        <p:nvSpPr>
          <p:cNvPr id="24" name="Text 20"/>
          <p:cNvSpPr txBox="1"/>
          <p:nvPr/>
        </p:nvSpPr>
        <p:spPr>
          <a:xfrm>
            <a:off x="705002" y="4708246"/>
            <a:ext cx="562356" cy="171907"/>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[카메라]</a:t>
            </a:r>
            <a:endParaRPr lang="en-US" sz="1050" dirty="0"/>
          </a:p>
        </p:txBody>
      </p:sp>
      <p:sp>
        <p:nvSpPr>
          <p:cNvPr id="25" name="Text 21"/>
          <p:cNvSpPr txBox="1"/>
          <p:nvPr/>
        </p:nvSpPr>
        <p:spPr>
          <a:xfrm>
            <a:off x="1257300" y="4689043"/>
            <a:ext cx="1460297" cy="191110"/>
          </a:xfrm>
          <a:prstGeom prst="rect">
            <a:avLst/>
          </a:prstGeom>
          <a:noFill/>
          <a:ln/>
        </p:spPr>
        <p:txBody>
          <a:bodyPr wrap="square" lIns="0" tIns="0" rIns="0" bIns="0" rtlCol="0" anchor="ctr"/>
          <a:lstStyle/>
          <a:p>
            <a:pPr marL="0" indent="0" algn="l">
              <a:buNone/>
            </a:pPr>
            <a:r>
              <a:rPr lang="en-US" sz="1100" dirty="0">
                <a:solidFill>
                  <a:srgbClr val="333333"/>
                </a:solidFill>
                <a:latin typeface="Noto Sans KR" pitchFamily="34" charset="0"/>
                <a:ea typeface="Noto Sans KR" pitchFamily="34" charset="-122"/>
                <a:cs typeface="Noto Sans KR" pitchFamily="34" charset="-120"/>
              </a:rPr>
              <a:t>50mm 느낌, 얕은 심도</a:t>
            </a:r>
            <a:endParaRPr lang="en-US" sz="1100" dirty="0"/>
          </a:p>
        </p:txBody>
      </p:sp>
      <p:sp>
        <p:nvSpPr>
          <p:cNvPr id="26" name="Shape 22"/>
          <p:cNvSpPr/>
          <p:nvPr/>
        </p:nvSpPr>
        <p:spPr>
          <a:xfrm>
            <a:off x="476402" y="5276088"/>
            <a:ext cx="3619195" cy="113477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sz="2400"/>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1050" b="1" dirty="0">
                <a:solidFill>
                  <a:srgbClr val="FF6908"/>
                </a:solidFill>
                <a:latin typeface="Noto Sans KR" pitchFamily="34" charset="0"/>
                <a:ea typeface="Noto Sans KR" pitchFamily="34" charset="-122"/>
                <a:cs typeface="Noto Sans KR" pitchFamily="34" charset="-120"/>
              </a:rPr>
              <a:t>Tip:</a:t>
            </a:r>
            <a:endParaRPr lang="en-US" sz="1050" dirty="0"/>
          </a:p>
        </p:txBody>
      </p:sp>
      <p:sp>
        <p:nvSpPr>
          <p:cNvPr id="29" name="Text 24"/>
          <p:cNvSpPr txBox="1"/>
          <p:nvPr/>
        </p:nvSpPr>
        <p:spPr>
          <a:xfrm>
            <a:off x="809244" y="5636362"/>
            <a:ext cx="30961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배경을 '바닷가 마을'이나 '오래된 시계탑'으로 바꾸고, [색감]을 '청량한 여름'으로 변경하면 마녀 배달부 키키 같은 분위기를 낼 수 있습니다.</a:t>
            </a:r>
            <a:endParaRPr lang="en-US" sz="1100" dirty="0"/>
          </a:p>
        </p:txBody>
      </p:sp>
      <p:pic>
        <p:nvPicPr>
          <p:cNvPr id="32" name="Image 5" descr="preencoded.png"/>
          <p:cNvPicPr>
            <a:picLocks noChangeAspect="1"/>
          </p:cNvPicPr>
          <p:nvPr/>
        </p:nvPicPr>
        <p:blipFill>
          <a:blip r:embed="rId6"/>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1050" b="1" dirty="0">
                <a:solidFill>
                  <a:srgbClr val="FF6908"/>
                </a:solidFill>
                <a:latin typeface="Manrope" pitchFamily="34" charset="0"/>
                <a:ea typeface="Manrope" pitchFamily="34" charset="-122"/>
                <a:cs typeface="Manrope" pitchFamily="34" charset="-120"/>
              </a:rPr>
              <a:t>FULL PROMPT (KOREAN)</a:t>
            </a:r>
            <a:endParaRPr lang="en-US" sz="105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지브리 애니메이션 스타일. 안개 낀 숲길을 걷는 소녀와 작은 고양이, 따뜻한 파스텔 색조, 수채화 질감, 부드러운 역광, 동화적인 분위기, 나뭇잎이 햇빛을 투과하며 빛나는 장면, 50mm 렌즈 느낌, 얕은 심도. 이미지 내 모든 텍스트는 한국어로 표시되어야 합니다.</a:t>
            </a:r>
            <a:endParaRPr lang="en-US" sz="1200" dirty="0"/>
          </a:p>
        </p:txBody>
      </p:sp>
      <p:pic>
        <p:nvPicPr>
          <p:cNvPr id="39" name="그림 38">
            <a:extLst>
              <a:ext uri="{FF2B5EF4-FFF2-40B4-BE49-F238E27FC236}">
                <a16:creationId xmlns:a16="http://schemas.microsoft.com/office/drawing/2014/main" id="{92F5E99D-2B2F-9022-6ADA-22C7625F6B20}"/>
              </a:ext>
            </a:extLst>
          </p:cNvPr>
          <p:cNvPicPr>
            <a:picLocks noChangeAspect="1"/>
          </p:cNvPicPr>
          <p:nvPr/>
        </p:nvPicPr>
        <p:blipFill>
          <a:blip r:embed="rId7"/>
          <a:stretch>
            <a:fillRect/>
          </a:stretch>
        </p:blipFill>
        <p:spPr>
          <a:xfrm>
            <a:off x="4476902" y="901598"/>
            <a:ext cx="7210003" cy="4024188"/>
          </a:xfrm>
          <a:prstGeom prst="rect">
            <a:avLst/>
          </a:prstGeom>
        </p:spPr>
      </p:pic>
      <p:sp>
        <p:nvSpPr>
          <p:cNvPr id="40" name="Shape 27"/>
          <p:cNvSpPr/>
          <p:nvPr/>
        </p:nvSpPr>
        <p:spPr>
          <a:xfrm>
            <a:off x="10040112" y="1126366"/>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41" name="Image 6" descr="preencoded.png"/>
          <p:cNvPicPr>
            <a:picLocks noChangeAspect="1"/>
          </p:cNvPicPr>
          <p:nvPr/>
        </p:nvPicPr>
        <p:blipFill>
          <a:blip r:embed="rId8"/>
          <a:srcRect/>
          <a:stretch/>
        </p:blipFill>
        <p:spPr>
          <a:xfrm>
            <a:off x="10173614" y="1212320"/>
            <a:ext cx="114300" cy="114300"/>
          </a:xfrm>
          <a:prstGeom prst="rect">
            <a:avLst/>
          </a:prstGeom>
        </p:spPr>
      </p:pic>
      <p:sp>
        <p:nvSpPr>
          <p:cNvPr id="42" name="Text 28"/>
          <p:cNvSpPr txBox="1"/>
          <p:nvPr/>
        </p:nvSpPr>
        <p:spPr>
          <a:xfrm>
            <a:off x="10345521" y="1126366"/>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43"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84225"/>
            <a:ext cx="142646" cy="133502"/>
          </a:xfrm>
          <a:prstGeom prst="rect">
            <a:avLst/>
          </a:prstGeom>
        </p:spPr>
      </p:pic>
      <p:sp>
        <p:nvSpPr>
          <p:cNvPr id="6" name="Text 3"/>
          <p:cNvSpPr txBox="1"/>
          <p:nvPr/>
        </p:nvSpPr>
        <p:spPr>
          <a:xfrm>
            <a:off x="694944" y="851306"/>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02</a:t>
            </a:r>
            <a:endParaRPr lang="en-US" sz="1000" dirty="0"/>
          </a:p>
        </p:txBody>
      </p:sp>
      <p:sp>
        <p:nvSpPr>
          <p:cNvPr id="7" name="Text 4"/>
          <p:cNvSpPr txBox="1"/>
          <p:nvPr/>
        </p:nvSpPr>
        <p:spPr>
          <a:xfrm>
            <a:off x="476402" y="1127455"/>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픽사 스타일</a:t>
            </a:r>
            <a:endParaRPr lang="en-US" sz="3100" dirty="0"/>
          </a:p>
        </p:txBody>
      </p:sp>
      <p:sp>
        <p:nvSpPr>
          <p:cNvPr id="8" name="Text 5"/>
          <p:cNvSpPr txBox="1"/>
          <p:nvPr/>
        </p:nvSpPr>
        <p:spPr>
          <a:xfrm>
            <a:off x="476402" y="1614830"/>
            <a:ext cx="206380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Pixar 3D Animation Style</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선명한 색감과 매끄러운 반광택 질감, 캐릭터의 풍부한 표정이 특징입니다. 완벽한 글로벌 일루미네이션 조명을 통해 생동감 넘치는 3D 애니메이션 룩을 구현합니다.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72307"/>
            <a:ext cx="191292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픽사, 3D 렌더, 반광택 질감</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61025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36492"/>
            <a:ext cx="97749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3D CGI 렌더링</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18127"/>
            <a:ext cx="215432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웃는 로봇 캐릭터 (풍부한 표정)</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240030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밝은 스튜디오, 글로벌 일루미네이션</a:t>
            </a:r>
            <a:endParaRPr lang="en-US" sz="1000" dirty="0"/>
          </a:p>
        </p:txBody>
      </p:sp>
      <p:sp>
        <p:nvSpPr>
          <p:cNvPr id="24" name="Text 20"/>
          <p:cNvSpPr txBox="1"/>
          <p:nvPr/>
        </p:nvSpPr>
        <p:spPr>
          <a:xfrm>
            <a:off x="705002" y="48006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5" name="Text 21"/>
          <p:cNvSpPr txBox="1"/>
          <p:nvPr/>
        </p:nvSpPr>
        <p:spPr>
          <a:xfrm>
            <a:off x="1257300" y="4781398"/>
            <a:ext cx="111282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85mm, 얕은 심도</a:t>
            </a:r>
            <a:endParaRPr lang="en-US" sz="1000" dirty="0"/>
          </a:p>
        </p:txBody>
      </p:sp>
      <p:sp>
        <p:nvSpPr>
          <p:cNvPr id="26" name="Shape 22"/>
          <p:cNvSpPr/>
          <p:nvPr/>
        </p:nvSpPr>
        <p:spPr>
          <a:xfrm>
            <a:off x="476402" y="5368442"/>
            <a:ext cx="3619195" cy="868681"/>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75411" y="5720922"/>
            <a:ext cx="3226003"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조명을 'Softbox Lighting'이나 'Rim </a:t>
            </a:r>
            <a:r>
              <a:rPr lang="en-US" sz="1100" dirty="0" err="1">
                <a:solidFill>
                  <a:srgbClr val="444444"/>
                </a:solidFill>
                <a:latin typeface="Noto Sans KR" pitchFamily="34" charset="0"/>
                <a:ea typeface="Noto Sans KR" pitchFamily="34" charset="-122"/>
                <a:cs typeface="Noto Sans KR" pitchFamily="34" charset="-120"/>
              </a:rPr>
              <a:t>Light’로</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설정하면</a:t>
            </a:r>
            <a:r>
              <a:rPr lang="en-US" sz="1100" dirty="0">
                <a:solidFill>
                  <a:srgbClr val="444444"/>
                </a:solidFill>
                <a:latin typeface="Noto Sans KR" pitchFamily="34" charset="0"/>
                <a:ea typeface="Noto Sans KR" pitchFamily="34" charset="-122"/>
                <a:cs typeface="Noto Sans KR" pitchFamily="34" charset="-120"/>
              </a:rPr>
              <a:t> 캐릭터의 입체감과 볼륨감이 더욱 살아납니다.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픽사 애니메이션 스타일. 밝은 스튜디오 조명 아래 서 있는 귀여운 웃는 로봇 캐릭터, 매끄러운 반광택 재질감, 생동감 넘치는 표정, 3D CGI 렌더링, 8K 고해상도, 옥테인 렌더 느낌, 글로벌 일루미네이션.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84225"/>
            <a:ext cx="142646" cy="133502"/>
          </a:xfrm>
          <a:prstGeom prst="rect">
            <a:avLst/>
          </a:prstGeom>
        </p:spPr>
      </p:pic>
      <p:sp>
        <p:nvSpPr>
          <p:cNvPr id="6" name="Text 3"/>
          <p:cNvSpPr txBox="1"/>
          <p:nvPr/>
        </p:nvSpPr>
        <p:spPr>
          <a:xfrm>
            <a:off x="694944" y="851306"/>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03</a:t>
            </a:r>
            <a:endParaRPr lang="en-US" sz="1000" dirty="0"/>
          </a:p>
        </p:txBody>
      </p:sp>
      <p:sp>
        <p:nvSpPr>
          <p:cNvPr id="7" name="Text 4"/>
          <p:cNvSpPr txBox="1"/>
          <p:nvPr/>
        </p:nvSpPr>
        <p:spPr>
          <a:xfrm>
            <a:off x="476402" y="1127455"/>
            <a:ext cx="4247388"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사이버펑크 스타일</a:t>
            </a:r>
            <a:endParaRPr lang="en-US" sz="3100" dirty="0"/>
          </a:p>
        </p:txBody>
      </p:sp>
      <p:sp>
        <p:nvSpPr>
          <p:cNvPr id="8" name="Text 5"/>
          <p:cNvSpPr txBox="1"/>
          <p:nvPr/>
        </p:nvSpPr>
        <p:spPr>
          <a:xfrm>
            <a:off x="476402" y="1614830"/>
            <a:ext cx="1406347"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Cyberpunk Style</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네온 조명, 비 오는 밤거리, 하이테크와 로우라이프의 조화가 특징입니다. 강렬한 대비와 인공적인 색감으로 미래지향적인 분위기를 연출합니다.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72307"/>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사이버펑크, 네온, 하이 콘트라스트</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93761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로우앵글 (Low-Angle Shot)</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36492"/>
            <a:ext cx="142463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사진 (Photography)</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18127"/>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레인코트 입은 인물, 뒷모습</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비 오는 밤 골목, 네온사인 반사</a:t>
            </a:r>
            <a:endParaRPr lang="en-US" sz="1000" dirty="0"/>
          </a:p>
        </p:txBody>
      </p:sp>
      <p:sp>
        <p:nvSpPr>
          <p:cNvPr id="24" name="Text 20"/>
          <p:cNvSpPr txBox="1"/>
          <p:nvPr/>
        </p:nvSpPr>
        <p:spPr>
          <a:xfrm>
            <a:off x="705002" y="48006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5" name="Text 21"/>
          <p:cNvSpPr txBox="1"/>
          <p:nvPr/>
        </p:nvSpPr>
        <p:spPr>
          <a:xfrm>
            <a:off x="1257300" y="4781398"/>
            <a:ext cx="159837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35mm, f/1.8, ISO 800</a:t>
            </a:r>
            <a:endParaRPr lang="en-US" sz="1000" dirty="0"/>
          </a:p>
        </p:txBody>
      </p:sp>
      <p:sp>
        <p:nvSpPr>
          <p:cNvPr id="26" name="Shape 22"/>
          <p:cNvSpPr/>
          <p:nvPr/>
        </p:nvSpPr>
        <p:spPr>
          <a:xfrm>
            <a:off x="476402" y="5368442"/>
            <a:ext cx="3619195" cy="1158193"/>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1014" y="5786873"/>
            <a:ext cx="3200400"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[네온 컬러 팔레트]를 '블루/</a:t>
            </a:r>
            <a:r>
              <a:rPr lang="en-US" sz="1100" dirty="0" err="1">
                <a:solidFill>
                  <a:srgbClr val="444444"/>
                </a:solidFill>
                <a:latin typeface="Noto Sans KR" pitchFamily="34" charset="0"/>
                <a:ea typeface="Noto Sans KR" pitchFamily="34" charset="-122"/>
                <a:cs typeface="Noto Sans KR" pitchFamily="34" charset="-120"/>
              </a:rPr>
              <a:t>마젠타’에서</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a:solidFill>
                  <a:srgbClr val="444444"/>
                </a:solidFill>
                <a:latin typeface="Noto Sans KR" pitchFamily="34" charset="0"/>
                <a:ea typeface="Noto Sans KR" pitchFamily="34" charset="-122"/>
                <a:cs typeface="Noto Sans KR" pitchFamily="34" charset="-120"/>
              </a:rPr>
              <a:t>'그린/</a:t>
            </a:r>
            <a:r>
              <a:rPr lang="en-US" sz="1100" dirty="0" err="1">
                <a:solidFill>
                  <a:srgbClr val="444444"/>
                </a:solidFill>
                <a:latin typeface="Noto Sans KR" pitchFamily="34" charset="0"/>
                <a:ea typeface="Noto Sans KR" pitchFamily="34" charset="-122"/>
                <a:cs typeface="Noto Sans KR" pitchFamily="34" charset="-120"/>
              </a:rPr>
              <a:t>오렌지’로</a:t>
            </a:r>
            <a:r>
              <a:rPr lang="en-US" sz="1100" dirty="0">
                <a:solidFill>
                  <a:srgbClr val="444444"/>
                </a:solidFill>
                <a:latin typeface="Noto Sans KR" pitchFamily="34" charset="0"/>
                <a:ea typeface="Noto Sans KR" pitchFamily="34" charset="-122"/>
                <a:cs typeface="Noto Sans KR" pitchFamily="34" charset="-120"/>
              </a:rPr>
              <a:t> </a:t>
            </a:r>
            <a:r>
              <a:rPr lang="en-US" sz="1100" dirty="0" err="1">
                <a:solidFill>
                  <a:srgbClr val="444444"/>
                </a:solidFill>
                <a:latin typeface="Noto Sans KR" pitchFamily="34" charset="0"/>
                <a:ea typeface="Noto Sans KR" pitchFamily="34" charset="-122"/>
                <a:cs typeface="Noto Sans KR" pitchFamily="34" charset="-120"/>
              </a:rPr>
              <a:t>변경하면</a:t>
            </a:r>
            <a:r>
              <a:rPr lang="en-US" sz="1100" dirty="0">
                <a:solidFill>
                  <a:srgbClr val="444444"/>
                </a:solidFill>
                <a:latin typeface="Noto Sans KR" pitchFamily="34" charset="0"/>
                <a:ea typeface="Noto Sans KR" pitchFamily="34" charset="-122"/>
                <a:cs typeface="Noto Sans KR" pitchFamily="34" charset="-120"/>
              </a:rPr>
              <a:t> 완전히 다른 </a:t>
            </a:r>
            <a:r>
              <a:rPr lang="en-US" sz="1100" dirty="0" err="1">
                <a:solidFill>
                  <a:srgbClr val="444444"/>
                </a:solidFill>
                <a:latin typeface="Noto Sans KR" pitchFamily="34" charset="0"/>
                <a:ea typeface="Noto Sans KR" pitchFamily="34" charset="-122"/>
                <a:cs typeface="Noto Sans KR" pitchFamily="34" charset="-120"/>
              </a:rPr>
              <a:t>분위기의</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도시를</a:t>
            </a:r>
            <a:r>
              <a:rPr lang="en-US" sz="1100" dirty="0">
                <a:solidFill>
                  <a:srgbClr val="444444"/>
                </a:solidFill>
                <a:latin typeface="Noto Sans KR" pitchFamily="34" charset="0"/>
                <a:ea typeface="Noto Sans KR" pitchFamily="34" charset="-122"/>
                <a:cs typeface="Noto Sans KR" pitchFamily="34" charset="-120"/>
              </a:rPr>
              <a:t> 연출할 수 있습니다.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사이버펑크 스타일. 비 오는 밤의 네온사인이 반사되는 젖은 아스팔트 거리, 레인코트를 입은 인물의 뒷모습, 하이 콘트라스트 조명, 자욱한 안개, 시네마틱 로우 앵글, 35mm 렌즈, 미래지향적 분위기.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04</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빈티지 필름</a:t>
            </a:r>
            <a:endParaRPr lang="en-US" sz="3100" dirty="0"/>
          </a:p>
        </p:txBody>
      </p:sp>
      <p:sp>
        <p:nvSpPr>
          <p:cNvPr id="8" name="Text 5"/>
          <p:cNvSpPr txBox="1"/>
          <p:nvPr/>
        </p:nvSpPr>
        <p:spPr>
          <a:xfrm>
            <a:off x="476402" y="1522476"/>
            <a:ext cx="150784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Vintage Film Style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필름 특유의 그레인(Grain)과 빛바랜 색감(Faded Color), 자연스러운 광학 플레어가 특징입니다. 디지털의 선명함 대신 아날로그의 감성과 질감을 강조하여 향수를 자극합니다.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279953"/>
            <a:ext cx="17913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빈티지 필름, 1970s 레트로</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561588"/>
            <a:ext cx="20080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클로즈업 (Medium CU)</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843223"/>
            <a:ext cx="21086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아날로그 사진 (Analog Photo)</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124858"/>
            <a:ext cx="215889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70년대 스트리트 패션, 선글라스</a:t>
            </a:r>
            <a:endParaRPr lang="en-US" sz="1000" dirty="0"/>
          </a:p>
        </p:txBody>
      </p:sp>
      <p:sp>
        <p:nvSpPr>
          <p:cNvPr id="22" name="Text 18"/>
          <p:cNvSpPr txBox="1"/>
          <p:nvPr/>
        </p:nvSpPr>
        <p:spPr>
          <a:xfrm>
            <a:off x="705002" y="442569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407408"/>
            <a:ext cx="17913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85mm, f/2.0, 광학 플레어</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[필름]</a:t>
            </a:r>
            <a:endParaRPr lang="en-US" sz="900" dirty="0"/>
          </a:p>
        </p:txBody>
      </p:sp>
      <p:sp>
        <p:nvSpPr>
          <p:cNvPr id="25" name="Text 21"/>
          <p:cNvSpPr txBox="1"/>
          <p:nvPr/>
        </p:nvSpPr>
        <p:spPr>
          <a:xfrm>
            <a:off x="1257300" y="4689043"/>
            <a:ext cx="218815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Kodak Portra 400 느낌, 그레인</a:t>
            </a:r>
            <a:endParaRPr lang="en-US" sz="1000" dirty="0"/>
          </a:p>
        </p:txBody>
      </p:sp>
      <p:sp>
        <p:nvSpPr>
          <p:cNvPr id="26" name="Shape 22"/>
          <p:cNvSpPr/>
          <p:nvPr/>
        </p:nvSpPr>
        <p:spPr>
          <a:xfrm>
            <a:off x="502005"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648249"/>
            <a:ext cx="3143707"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[그레인 강도]와 [페이드 정도]를 조절하여 </a:t>
            </a:r>
            <a:r>
              <a:rPr lang="en-US" sz="1100" dirty="0" err="1">
                <a:solidFill>
                  <a:srgbClr val="444444"/>
                </a:solidFill>
                <a:latin typeface="Noto Sans KR" pitchFamily="34" charset="0"/>
                <a:ea typeface="Noto Sans KR" pitchFamily="34" charset="-122"/>
                <a:cs typeface="Noto Sans KR" pitchFamily="34" charset="-120"/>
              </a:rPr>
              <a:t>시대감을</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a:solidFill>
                  <a:srgbClr val="444444"/>
                </a:solidFill>
                <a:latin typeface="Noto Sans KR" pitchFamily="34" charset="0"/>
                <a:ea typeface="Noto Sans KR" pitchFamily="34" charset="-122"/>
                <a:cs typeface="Noto Sans KR" pitchFamily="34" charset="-120"/>
              </a:rPr>
              <a:t>60년대나 80년대로 변경할 수 </a:t>
            </a:r>
            <a:r>
              <a:rPr lang="en-US" sz="1100" dirty="0" err="1">
                <a:solidFill>
                  <a:srgbClr val="444444"/>
                </a:solidFill>
                <a:latin typeface="Noto Sans KR" pitchFamily="34" charset="0"/>
                <a:ea typeface="Noto Sans KR" pitchFamily="34" charset="-122"/>
                <a:cs typeface="Noto Sans KR" pitchFamily="34" charset="-120"/>
              </a:rPr>
              <a:t>있습니다</a:t>
            </a:r>
            <a:r>
              <a:rPr lang="en-US" sz="1100" dirty="0">
                <a:solidFill>
                  <a:srgbClr val="444444"/>
                </a:solidFill>
                <a:latin typeface="Noto Sans KR" pitchFamily="34" charset="0"/>
                <a:ea typeface="Noto Sans KR" pitchFamily="34" charset="-122"/>
                <a:cs typeface="Noto Sans KR" pitchFamily="34" charset="-120"/>
              </a:rPr>
              <a:t>.</a:t>
            </a:r>
          </a:p>
          <a:p>
            <a:pPr marL="0" indent="0" algn="l">
              <a:buNone/>
            </a:pPr>
            <a:r>
              <a:rPr lang="en-US" sz="1100" dirty="0">
                <a:solidFill>
                  <a:srgbClr val="444444"/>
                </a:solidFill>
                <a:latin typeface="Noto Sans KR" pitchFamily="34" charset="0"/>
                <a:ea typeface="Noto Sans KR" pitchFamily="34" charset="-122"/>
                <a:cs typeface="Noto Sans KR" pitchFamily="34" charset="-120"/>
              </a:rPr>
              <a:t> '빛샘(Light Leak)' 키워드를 추가하면 더 드라마틱해집니다.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빈티지 필름 스타일. 1970년대 레트로 감성의 스트리트 패션, 선글라스를 쓴 인물, 미디엄 클로즈업, 아날로그 사진 질감, 85mm f/</a:t>
            </a:r>
            <a:r>
              <a:rPr lang="en-US" sz="1200" dirty="0">
                <a:solidFill>
                  <a:srgbClr val="333333"/>
                </a:solidFill>
                <a:latin typeface="Noto Sans KR" pitchFamily="34" charset="0"/>
                <a:ea typeface="Noto Sans KR" pitchFamily="34" charset="-122"/>
              </a:rPr>
              <a:t>2.0</a:t>
            </a:r>
            <a:r>
              <a:rPr lang="en-US" sz="1200" dirty="0">
                <a:solidFill>
                  <a:srgbClr val="333333"/>
                </a:solidFill>
                <a:latin typeface="Noto Sans KR" pitchFamily="34" charset="0"/>
                <a:ea typeface="Noto Sans KR" pitchFamily="34" charset="-122"/>
                <a:cs typeface="Noto Sans KR" pitchFamily="34" charset="-120"/>
              </a:rPr>
              <a:t> 렌즈, 자연스러운 광학 플레어 효과, 코닥 포트라 400 필름 느낌, 그레인과 페이드 컬러.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884225"/>
            <a:ext cx="161849" cy="133502"/>
          </a:xfrm>
          <a:prstGeom prst="rect">
            <a:avLst/>
          </a:prstGeom>
        </p:spPr>
      </p:pic>
      <p:sp>
        <p:nvSpPr>
          <p:cNvPr id="6" name="Text 3"/>
          <p:cNvSpPr txBox="1"/>
          <p:nvPr/>
        </p:nvSpPr>
        <p:spPr>
          <a:xfrm>
            <a:off x="714146" y="851306"/>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05</a:t>
            </a:r>
            <a:endParaRPr lang="en-US" sz="1000" dirty="0"/>
          </a:p>
        </p:txBody>
      </p:sp>
      <p:sp>
        <p:nvSpPr>
          <p:cNvPr id="7" name="Text 4"/>
          <p:cNvSpPr txBox="1"/>
          <p:nvPr/>
        </p:nvSpPr>
        <p:spPr>
          <a:xfrm>
            <a:off x="476402" y="1127455"/>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팝 아트 스타일</a:t>
            </a:r>
            <a:endParaRPr lang="en-US" sz="3100" dirty="0"/>
          </a:p>
        </p:txBody>
      </p:sp>
      <p:sp>
        <p:nvSpPr>
          <p:cNvPr id="8" name="Text 5"/>
          <p:cNvSpPr txBox="1"/>
          <p:nvPr/>
        </p:nvSpPr>
        <p:spPr>
          <a:xfrm>
            <a:off x="476402" y="1614830"/>
            <a:ext cx="110002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Pop Art Style</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높은 채도와 굵은 검은색 윤곽선, 그래픽적인 질감이 특징입니다. 앤디 워홀이나 리히텐슈타인 스타일처럼 대중문화적 요소와 강렬한 색채 대비를 강조합니다.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72307"/>
            <a:ext cx="20153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팝 아트, 하이채도, 볼드 라인</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61025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36492"/>
            <a:ext cx="184983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벡터 아트 / 일러스트레이션</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18127"/>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선글라스를 쓴 여성의 정면 초상</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163311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단색 배경 (Solid Color)</a:t>
            </a:r>
            <a:endParaRPr lang="en-US" sz="1000" dirty="0"/>
          </a:p>
        </p:txBody>
      </p:sp>
      <p:sp>
        <p:nvSpPr>
          <p:cNvPr id="24" name="Text 20"/>
          <p:cNvSpPr txBox="1"/>
          <p:nvPr/>
        </p:nvSpPr>
        <p:spPr>
          <a:xfrm>
            <a:off x="705002" y="480060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[특징]</a:t>
            </a:r>
            <a:endParaRPr lang="en-US" sz="900" dirty="0"/>
          </a:p>
        </p:txBody>
      </p:sp>
      <p:sp>
        <p:nvSpPr>
          <p:cNvPr id="25" name="Text 21"/>
          <p:cNvSpPr txBox="1"/>
          <p:nvPr/>
        </p:nvSpPr>
        <p:spPr>
          <a:xfrm>
            <a:off x="1257300" y="4781398"/>
            <a:ext cx="18480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4색 분할 효과 (빨/파/노/검)</a:t>
            </a:r>
            <a:endParaRPr lang="en-US" sz="1000" dirty="0"/>
          </a:p>
        </p:txBody>
      </p:sp>
      <p:sp>
        <p:nvSpPr>
          <p:cNvPr id="26" name="Shape 22"/>
          <p:cNvSpPr/>
          <p:nvPr/>
        </p:nvSpPr>
        <p:spPr>
          <a:xfrm>
            <a:off x="476402" y="5368442"/>
            <a:ext cx="3619195" cy="1095275"/>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751341"/>
            <a:ext cx="3152851"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브랜드 컬러 3~4가지만 사용하여 팔레트를 </a:t>
            </a:r>
            <a:r>
              <a:rPr lang="en-US" sz="1100" dirty="0" err="1">
                <a:solidFill>
                  <a:srgbClr val="444444"/>
                </a:solidFill>
                <a:latin typeface="Noto Sans KR" pitchFamily="34" charset="0"/>
                <a:ea typeface="Noto Sans KR" pitchFamily="34" charset="-122"/>
                <a:cs typeface="Noto Sans KR" pitchFamily="34" charset="-120"/>
              </a:rPr>
              <a:t>제한하면</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더욱</a:t>
            </a:r>
            <a:r>
              <a:rPr lang="en-US" sz="1100" dirty="0">
                <a:solidFill>
                  <a:srgbClr val="444444"/>
                </a:solidFill>
                <a:latin typeface="Noto Sans KR" pitchFamily="34" charset="0"/>
                <a:ea typeface="Noto Sans KR" pitchFamily="34" charset="-122"/>
                <a:cs typeface="Noto Sans KR" pitchFamily="34" charset="-120"/>
              </a:rPr>
              <a:t> 상징적이고 일관된 브랜드 이미지를 만들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팝 아트 스타일. 선글라스를 쓴 여성의 전면 초상, 앤디 워홀 스타일, 고채도 4색 분할, 굵은 검은색 윤곽선, 벡터 아트 느낌, 단색 배경, 강렬한 색채 대비.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884225"/>
            <a:ext cx="161849" cy="133502"/>
          </a:xfrm>
          <a:prstGeom prst="rect">
            <a:avLst/>
          </a:prstGeom>
        </p:spPr>
      </p:pic>
      <p:sp>
        <p:nvSpPr>
          <p:cNvPr id="6" name="Text 3"/>
          <p:cNvSpPr txBox="1"/>
          <p:nvPr/>
        </p:nvSpPr>
        <p:spPr>
          <a:xfrm>
            <a:off x="714146" y="851306"/>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06</a:t>
            </a:r>
            <a:endParaRPr lang="en-US" sz="1000" dirty="0"/>
          </a:p>
        </p:txBody>
      </p:sp>
      <p:sp>
        <p:nvSpPr>
          <p:cNvPr id="7" name="Text 4"/>
          <p:cNvSpPr txBox="1"/>
          <p:nvPr/>
        </p:nvSpPr>
        <p:spPr>
          <a:xfrm>
            <a:off x="476402" y="1127455"/>
            <a:ext cx="4247388"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미니멀리즘 스타일</a:t>
            </a:r>
            <a:endParaRPr lang="en-US" sz="3100" dirty="0"/>
          </a:p>
        </p:txBody>
      </p:sp>
      <p:sp>
        <p:nvSpPr>
          <p:cNvPr id="8" name="Text 5"/>
          <p:cNvSpPr txBox="1"/>
          <p:nvPr/>
        </p:nvSpPr>
        <p:spPr>
          <a:xfrm>
            <a:off x="476402" y="1614830"/>
            <a:ext cx="142829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Minimalism Style</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여백의 미를 살리고 단순한 형태와 제한된 색상을 사용하여 깔끔하고 현대적인 느낌을 줍니다. 복잡한 요소를 배제하고 본질에 집중하는 스타일입니다.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72307"/>
            <a:ext cx="15736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미니멀리즘, 클린, 심플</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8141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탑뷰 (Top View) 또는 정면</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36492"/>
            <a:ext cx="107716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사진, 3D 렌더링</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18127"/>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화이트 데스크, 노트북, 커피잔</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216529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확산광(Soft Light), 깨끗한 여백</a:t>
            </a:r>
            <a:endParaRPr lang="en-US" sz="1000" dirty="0"/>
          </a:p>
        </p:txBody>
      </p:sp>
      <p:sp>
        <p:nvSpPr>
          <p:cNvPr id="24" name="Text 20"/>
          <p:cNvSpPr txBox="1"/>
          <p:nvPr/>
        </p:nvSpPr>
        <p:spPr>
          <a:xfrm>
            <a:off x="705002" y="480060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5" name="Text 21"/>
          <p:cNvSpPr txBox="1"/>
          <p:nvPr/>
        </p:nvSpPr>
        <p:spPr>
          <a:xfrm>
            <a:off x="1257300" y="4781398"/>
            <a:ext cx="20720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중립적인 색조 (화이트/베이지)</a:t>
            </a:r>
            <a:endParaRPr lang="en-US" sz="1000" dirty="0"/>
          </a:p>
        </p:txBody>
      </p:sp>
      <p:sp>
        <p:nvSpPr>
          <p:cNvPr id="26" name="Shape 22"/>
          <p:cNvSpPr/>
          <p:nvPr/>
        </p:nvSpPr>
        <p:spPr>
          <a:xfrm>
            <a:off x="476402" y="5368443"/>
            <a:ext cx="3619195" cy="1032358"/>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750203"/>
            <a:ext cx="3172054"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오브제의 개수를 3개 이하로 제한하여 시선의 분산을 막고, 그림자를 부드럽게 처리하여 정적인 느낌을 강조하세요.</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미니멀리즘 스타일. 흰색 책상 위의 심플한 작업 공간, 노트북 한 대, 화분 하나, 커피잔, 깨끗한 구성, 중립적인 색조 (흰색/베이지/회색), 부드러운 그림자, 탑뷰 구도, 자연광, 여백의 미, 스칸디나비안 디자인 감성.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791870"/>
            <a:ext cx="161849" cy="133502"/>
          </a:xfrm>
          <a:prstGeom prst="rect">
            <a:avLst/>
          </a:prstGeom>
        </p:spPr>
      </p:pic>
      <p:sp>
        <p:nvSpPr>
          <p:cNvPr id="6" name="Text 3"/>
          <p:cNvSpPr txBox="1"/>
          <p:nvPr/>
        </p:nvSpPr>
        <p:spPr>
          <a:xfrm>
            <a:off x="714146" y="758038"/>
            <a:ext cx="142555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07</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바로크 스타일</a:t>
            </a:r>
            <a:endParaRPr lang="en-US" sz="3100" dirty="0"/>
          </a:p>
        </p:txBody>
      </p:sp>
      <p:sp>
        <p:nvSpPr>
          <p:cNvPr id="8" name="Text 5"/>
          <p:cNvSpPr txBox="1"/>
          <p:nvPr/>
        </p:nvSpPr>
        <p:spPr>
          <a:xfrm>
            <a:off x="476402" y="1522476"/>
            <a:ext cx="1190549"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Baroque Style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풍부한 장식과 깊은 그림자, 드라마틱한 명암 대비가 특징입니다. 카라바조의 조명 기법(Chiaroscuro)을 활용하여 피사체의 입체감을 극대화하고 웅장한 분위기를 연출합니다.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279953"/>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바로크, 카라바조 라이팅, 유화풍</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561588"/>
            <a:ext cx="232074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롱샷 (Medium Long Shot)</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843223"/>
            <a:ext cx="116677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유화풍 3D 렌더링</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124858"/>
            <a:ext cx="20153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와인병, 포도, 흐르는 실크 천</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407408"/>
            <a:ext cx="24835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하드 사이드 라이팅, 드라마틱 섀도우</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[배경]</a:t>
            </a:r>
            <a:endParaRPr lang="en-US" sz="900" dirty="0"/>
          </a:p>
        </p:txBody>
      </p:sp>
      <p:sp>
        <p:nvSpPr>
          <p:cNvPr id="25" name="Text 21"/>
          <p:cNvSpPr txBox="1"/>
          <p:nvPr/>
        </p:nvSpPr>
        <p:spPr>
          <a:xfrm>
            <a:off x="1257300" y="4689043"/>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어두운 실내, 풍부한 장식</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변형 팁:</a:t>
            </a:r>
            <a:endParaRPr lang="en-US" sz="900" dirty="0"/>
          </a:p>
        </p:txBody>
      </p:sp>
      <p:sp>
        <p:nvSpPr>
          <p:cNvPr id="29" name="Text 24"/>
          <p:cNvSpPr txBox="1"/>
          <p:nvPr/>
        </p:nvSpPr>
        <p:spPr>
          <a:xfrm>
            <a:off x="809244" y="5649164"/>
            <a:ext cx="3191256"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'금속 촛대'나 '오래된 책' 같은 고전적인 소품을 추가하고, [텍스처]를 '거친 캔버스'로 설정하면 명화 같은 느낌을 더할 수 있습니다.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바로크 미술 스타일. 카라바조의 키아로스쿠로 조명 기법을 활용한 정물화 구성, 어둠 속에서 빛나는 와인병과 포도, 부드러운 실크 천의 질감, 깊은 그림자와 극적인 명암 대비, 유화 텍스처, 웅장하고 고전적인 분위기.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791870"/>
            <a:ext cx="161849" cy="133502"/>
          </a:xfrm>
          <a:prstGeom prst="rect">
            <a:avLst/>
          </a:prstGeom>
        </p:spPr>
      </p:pic>
      <p:sp>
        <p:nvSpPr>
          <p:cNvPr id="6" name="Text 3"/>
          <p:cNvSpPr txBox="1"/>
          <p:nvPr/>
        </p:nvSpPr>
        <p:spPr>
          <a:xfrm>
            <a:off x="714146" y="758038"/>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08</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아르누보 스타일</a:t>
            </a:r>
            <a:endParaRPr lang="en-US" sz="3100" dirty="0"/>
          </a:p>
        </p:txBody>
      </p:sp>
      <p:sp>
        <p:nvSpPr>
          <p:cNvPr id="8" name="Text 5"/>
          <p:cNvSpPr txBox="1"/>
          <p:nvPr/>
        </p:nvSpPr>
        <p:spPr>
          <a:xfrm>
            <a:off x="476402" y="1522476"/>
            <a:ext cx="153070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Art Nouveau Style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유기적인 곡선과 자연물(꽃, 덩굴, 나비)에서 영감을 받은 장식적인 양식이 특징입니다. 알폰스 무하 스타일의 우아한 선과 파스텔 톤 색감이 돋보입니다.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279953"/>
            <a:ext cx="29251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아르누보 포스터, 알폰스 무하, 유기적 곡선</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561588"/>
            <a:ext cx="2618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 장식적 프레임</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843223"/>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일러스트레이션, 아트 포스터</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124858"/>
            <a:ext cx="165597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향수 광고 보틀, 꽃 장식</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7300" y="4407408"/>
            <a:ext cx="21570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파스텔 색조 (연보라/연두/황금)</a:t>
            </a:r>
            <a:endParaRPr lang="en-US" sz="1000" dirty="0"/>
          </a:p>
        </p:txBody>
      </p:sp>
      <p:sp>
        <p:nvSpPr>
          <p:cNvPr id="24" name="Text 20"/>
          <p:cNvSpPr txBox="1"/>
          <p:nvPr/>
        </p:nvSpPr>
        <p:spPr>
          <a:xfrm>
            <a:off x="705002" y="470824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5" name="Text 21"/>
          <p:cNvSpPr txBox="1"/>
          <p:nvPr/>
        </p:nvSpPr>
        <p:spPr>
          <a:xfrm>
            <a:off x="1257300" y="4689043"/>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섬세한 라인 워크, 덩굴 무늬</a:t>
            </a:r>
            <a:endParaRPr lang="en-US" sz="1000" dirty="0"/>
          </a:p>
        </p:txBody>
      </p:sp>
      <p:sp>
        <p:nvSpPr>
          <p:cNvPr id="26" name="Shape 22"/>
          <p:cNvSpPr/>
          <p:nvPr/>
        </p:nvSpPr>
        <p:spPr>
          <a:xfrm>
            <a:off x="495604" y="5240426"/>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sz="1100"/>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변형 팁:</a:t>
            </a:r>
            <a:endParaRPr lang="en-US" sz="900" dirty="0"/>
          </a:p>
        </p:txBody>
      </p:sp>
      <p:sp>
        <p:nvSpPr>
          <p:cNvPr id="29" name="Text 24"/>
          <p:cNvSpPr txBox="1"/>
          <p:nvPr/>
        </p:nvSpPr>
        <p:spPr>
          <a:xfrm>
            <a:off x="809244" y="5705665"/>
            <a:ext cx="318211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프롬프트에 'Decorative Frame'이나 'Floral Border'를 추가하면 아르누보 특유의 액자 구성을 더 쉽게 구현할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317029"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317029" cy="1124712"/>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920985"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아르누보 </a:t>
            </a:r>
            <a:r>
              <a:rPr lang="en-US" sz="1200" dirty="0" err="1">
                <a:solidFill>
                  <a:srgbClr val="333333"/>
                </a:solidFill>
                <a:latin typeface="Noto Sans KR" pitchFamily="34" charset="0"/>
                <a:ea typeface="Noto Sans KR" pitchFamily="34" charset="-122"/>
                <a:cs typeface="Noto Sans KR" pitchFamily="34" charset="-120"/>
              </a:rPr>
              <a:t>스타일</a:t>
            </a:r>
            <a:r>
              <a:rPr lang="en-US" sz="1200" dirty="0">
                <a:solidFill>
                  <a:srgbClr val="333333"/>
                </a:solidFill>
                <a:latin typeface="Noto Sans KR" pitchFamily="34" charset="0"/>
                <a:ea typeface="Noto Sans KR" pitchFamily="34" charset="-122"/>
                <a:cs typeface="Noto Sans KR" pitchFamily="34" charset="-120"/>
              </a:rPr>
              <a:t>. </a:t>
            </a:r>
            <a:r>
              <a:rPr lang="en-US" sz="1200" dirty="0" err="1">
                <a:solidFill>
                  <a:srgbClr val="333333"/>
                </a:solidFill>
                <a:latin typeface="Noto Sans KR" pitchFamily="34" charset="0"/>
                <a:ea typeface="Noto Sans KR" pitchFamily="34" charset="-122"/>
                <a:cs typeface="Noto Sans KR" pitchFamily="34" charset="-120"/>
              </a:rPr>
              <a:t>우아한</a:t>
            </a:r>
            <a:r>
              <a:rPr lang="en-US" sz="1200" dirty="0">
                <a:solidFill>
                  <a:srgbClr val="333333"/>
                </a:solidFill>
                <a:latin typeface="Noto Sans KR" pitchFamily="34" charset="0"/>
                <a:ea typeface="Noto Sans KR" pitchFamily="34" charset="-122"/>
                <a:cs typeface="Noto Sans KR" pitchFamily="34" charset="-120"/>
              </a:rPr>
              <a:t> 곡선 장식과 꽃 모티브, 나비와 덩굴 무늬, 유기적인 선, 파스텔 색조(</a:t>
            </a:r>
            <a:r>
              <a:rPr lang="en-US" sz="1200" dirty="0" err="1">
                <a:solidFill>
                  <a:srgbClr val="333333"/>
                </a:solidFill>
                <a:latin typeface="Noto Sans KR" pitchFamily="34" charset="0"/>
                <a:ea typeface="Noto Sans KR" pitchFamily="34" charset="-122"/>
                <a:cs typeface="Noto Sans KR" pitchFamily="34" charset="-120"/>
              </a:rPr>
              <a:t>연보라</a:t>
            </a:r>
            <a:r>
              <a:rPr lang="en-US" sz="1200" dirty="0">
                <a:solidFill>
                  <a:srgbClr val="333333"/>
                </a:solidFill>
                <a:latin typeface="Noto Sans KR" pitchFamily="34" charset="0"/>
                <a:ea typeface="Noto Sans KR" pitchFamily="34" charset="-122"/>
                <a:cs typeface="Noto Sans KR" pitchFamily="34" charset="-120"/>
              </a:rPr>
              <a:t>/</a:t>
            </a:r>
            <a:r>
              <a:rPr lang="en-US" sz="1200" dirty="0" err="1">
                <a:solidFill>
                  <a:srgbClr val="333333"/>
                </a:solidFill>
                <a:latin typeface="Noto Sans KR" pitchFamily="34" charset="0"/>
                <a:ea typeface="Noto Sans KR" pitchFamily="34" charset="-122"/>
                <a:cs typeface="Noto Sans KR" pitchFamily="34" charset="-120"/>
              </a:rPr>
              <a:t>연두</a:t>
            </a:r>
            <a:r>
              <a:rPr lang="en-US" sz="1200" dirty="0">
                <a:solidFill>
                  <a:srgbClr val="333333"/>
                </a:solidFill>
                <a:latin typeface="Noto Sans KR" pitchFamily="34" charset="0"/>
                <a:ea typeface="Noto Sans KR" pitchFamily="34" charset="-122"/>
                <a:cs typeface="Noto Sans KR" pitchFamily="34" charset="-120"/>
              </a:rPr>
              <a:t>/황금), 아트 포스터 느낌, 장식적인 프레임, 클래식한 우아함, 섬세한 디테일.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09</a:t>
            </a:r>
            <a:endParaRPr lang="en-US" sz="1000" dirty="0"/>
          </a:p>
        </p:txBody>
      </p:sp>
      <p:sp>
        <p:nvSpPr>
          <p:cNvPr id="7" name="Text 4"/>
          <p:cNvSpPr txBox="1"/>
          <p:nvPr/>
        </p:nvSpPr>
        <p:spPr>
          <a:xfrm>
            <a:off x="476402" y="1034186"/>
            <a:ext cx="4486046"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수채화 동화 스타일</a:t>
            </a:r>
            <a:endParaRPr lang="en-US" sz="3100" dirty="0"/>
          </a:p>
        </p:txBody>
      </p:sp>
      <p:sp>
        <p:nvSpPr>
          <p:cNvPr id="8" name="Text 5"/>
          <p:cNvSpPr txBox="1"/>
          <p:nvPr/>
        </p:nvSpPr>
        <p:spPr>
          <a:xfrm>
            <a:off x="476402" y="1522476"/>
            <a:ext cx="224485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Watercolor Fairy Tale Style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물감이 종이에 번지는 듯한 자연스러운 효과와 부드러운 가장자리 처리가 특징입니다. 따뜻하고 몽환적인 감성을 자아내며 동화책 삽화와 같은 느낌을 연출합니다.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279953"/>
            <a:ext cx="259506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수채 동화, 물감 번짐 효과, 파스텔 톤</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561588"/>
            <a:ext cx="12243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롱샷 (Long Shot)</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843223"/>
            <a:ext cx="142829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수채화 (Watercolor)</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124858"/>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숲 속 오두막과 동물 친구들</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07408"/>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따뜻한 햇살, 부드러운 그림자</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[질감]</a:t>
            </a:r>
            <a:endParaRPr lang="en-US" sz="900" dirty="0"/>
          </a:p>
        </p:txBody>
      </p:sp>
      <p:sp>
        <p:nvSpPr>
          <p:cNvPr id="25" name="Text 21"/>
          <p:cNvSpPr txBox="1"/>
          <p:nvPr/>
        </p:nvSpPr>
        <p:spPr>
          <a:xfrm>
            <a:off x="1257300" y="4689043"/>
            <a:ext cx="232440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거친 종이 텍스처 (Paper Texture)</a:t>
            </a:r>
            <a:endParaRPr lang="en-US" sz="1000" dirty="0"/>
          </a:p>
        </p:txBody>
      </p:sp>
      <p:sp>
        <p:nvSpPr>
          <p:cNvPr id="26" name="Shape 22"/>
          <p:cNvSpPr/>
          <p:nvPr/>
        </p:nvSpPr>
        <p:spPr>
          <a:xfrm>
            <a:off x="476402" y="5276087"/>
            <a:ext cx="3619195" cy="120056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63105" y="5690311"/>
            <a:ext cx="3191256"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프롬프트에 'wet-on-wet' 기법을 추가하여 번짐 효과를 극대화하거나, 'pen and wash'를 추가해 펜 선의 디테일을 살릴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1074378"/>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785763"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수채화 동화 스타일. 숲 속 작은 오두막과 동물 친구들, 부드러운 색감, 물감이 번지는 효과, 종이 질감, 따뜻한 파스텔 톤, 동화책 일러스트레이션, 어린이 감성, 손그림 느낌, 부드러운 윤곽선.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884225"/>
            <a:ext cx="161849" cy="133502"/>
          </a:xfrm>
          <a:prstGeom prst="rect">
            <a:avLst/>
          </a:prstGeom>
        </p:spPr>
      </p:pic>
      <p:sp>
        <p:nvSpPr>
          <p:cNvPr id="6" name="Text 3"/>
          <p:cNvSpPr txBox="1"/>
          <p:nvPr/>
        </p:nvSpPr>
        <p:spPr>
          <a:xfrm>
            <a:off x="714146" y="851306"/>
            <a:ext cx="142555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STYLE MASTER 10</a:t>
            </a:r>
            <a:endParaRPr lang="en-US" sz="1000" dirty="0"/>
          </a:p>
        </p:txBody>
      </p:sp>
      <p:sp>
        <p:nvSpPr>
          <p:cNvPr id="7" name="Text 4"/>
          <p:cNvSpPr txBox="1"/>
          <p:nvPr/>
        </p:nvSpPr>
        <p:spPr>
          <a:xfrm>
            <a:off x="476402" y="1127455"/>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컨템포러리 아트</a:t>
            </a:r>
            <a:endParaRPr lang="en-US" sz="3100" dirty="0"/>
          </a:p>
        </p:txBody>
      </p:sp>
      <p:sp>
        <p:nvSpPr>
          <p:cNvPr id="8" name="Text 5"/>
          <p:cNvSpPr txBox="1"/>
          <p:nvPr/>
        </p:nvSpPr>
        <p:spPr>
          <a:xfrm>
            <a:off x="476402" y="1614830"/>
            <a:ext cx="200710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Contemporary Art Style</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현대적인 감각의 추상적 기하학 도형과 대담한 색상 블록이 특징입니다. 갤러리 조명과 미니멀한 구성을 통해 세련되고 도시적인 분위기를 연출합니다.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72307"/>
            <a:ext cx="226314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컨템포러리 에디토리얼, 모던 아트</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5645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와이드 샷 (Wide Shot)</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36492"/>
            <a:ext cx="147401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사진 / 3D 렌더링 믹스</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18127"/>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추상적 기하학 도형, 미술관 공간</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갤러리 조명, 대담한 색상 블록</a:t>
            </a:r>
            <a:endParaRPr lang="en-US" sz="1000" dirty="0"/>
          </a:p>
        </p:txBody>
      </p:sp>
      <p:sp>
        <p:nvSpPr>
          <p:cNvPr id="24" name="Text 20"/>
          <p:cNvSpPr txBox="1"/>
          <p:nvPr/>
        </p:nvSpPr>
        <p:spPr>
          <a:xfrm>
            <a:off x="705002" y="48006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5" name="Text 21"/>
          <p:cNvSpPr txBox="1"/>
          <p:nvPr/>
        </p:nvSpPr>
        <p:spPr>
          <a:xfrm>
            <a:off x="1257300" y="4781398"/>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선명한 초점, 하이 콘트라스트</a:t>
            </a:r>
            <a:endParaRPr lang="en-US" sz="1000" dirty="0"/>
          </a:p>
        </p:txBody>
      </p:sp>
      <p:sp>
        <p:nvSpPr>
          <p:cNvPr id="26" name="Shape 22"/>
          <p:cNvSpPr/>
          <p:nvPr/>
        </p:nvSpPr>
        <p:spPr>
          <a:xfrm>
            <a:off x="476402" y="5368442"/>
            <a:ext cx="3619195" cy="1032358"/>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89584" y="5744941"/>
            <a:ext cx="3143707"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브랜드 고유의 컬러 팔레트나 타이포그래피를 결합하면 세련된 브랜드 포스터나 광고 비주얼로 활용하기 좋습니다.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컨템포러리 아트 스타일. 추상적 기하학 도형과 현대 미술관 공간을 담은 와이드 샷, 대담한 색상 블록(Red/ Blue/ Yellow)과 갤러리 조명, 사진과 3D 렌더링이 혼합된 에디토리얼 느낌, 선명한 초점과 하이 콘트라스트.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txBox="1"/>
          <p:nvPr/>
        </p:nvSpPr>
        <p:spPr>
          <a:xfrm>
            <a:off x="609905" y="609905"/>
            <a:ext cx="8401507" cy="1239012"/>
          </a:xfrm>
          <a:prstGeom prst="rect">
            <a:avLst/>
          </a:prstGeom>
          <a:noFill/>
          <a:ln/>
        </p:spPr>
        <p:txBody>
          <a:bodyPr wrap="square" lIns="0" tIns="0" rIns="0" bIns="0" rtlCol="0" anchor="t"/>
          <a:lstStyle/>
          <a:p>
            <a:pPr marL="0" indent="0" algn="l">
              <a:buNone/>
            </a:pPr>
            <a:r>
              <a:rPr lang="en-US" sz="4000" b="1" kern="0" spc="-75" dirty="0">
                <a:solidFill>
                  <a:srgbClr val="FF6908"/>
                </a:solidFill>
                <a:latin typeface="Pretendard" pitchFamily="34" charset="0"/>
                <a:ea typeface="Pretendard" pitchFamily="34" charset="-122"/>
                <a:cs typeface="Pretendard" pitchFamily="34" charset="-120"/>
              </a:rPr>
              <a:t>작가·스튜디오 이름을 프롬프트에 쓰는 것 :</a:t>
            </a:r>
            <a:br>
              <a:rPr lang="en-US" sz="4000" b="1" kern="0" spc="-75" dirty="0">
                <a:solidFill>
                  <a:srgbClr val="FF6908"/>
                </a:solidFill>
                <a:latin typeface="Pretendard" pitchFamily="34" charset="0"/>
                <a:ea typeface="Pretendard" pitchFamily="34" charset="-122"/>
                <a:cs typeface="Pretendard" pitchFamily="34" charset="-120"/>
              </a:rPr>
            </a:br>
            <a:r>
              <a:rPr lang="en-US" sz="4000" b="1" kern="0" spc="-75" dirty="0">
                <a:solidFill>
                  <a:srgbClr val="FF6908"/>
                </a:solidFill>
                <a:latin typeface="Pretendard" pitchFamily="34" charset="0"/>
                <a:ea typeface="Pretendard" pitchFamily="34" charset="-122"/>
                <a:cs typeface="Pretendard" pitchFamily="34" charset="-120"/>
              </a:rPr>
              <a:t>법과 윤리</a:t>
            </a:r>
            <a:endParaRPr lang="en-US" sz="4000" dirty="0"/>
          </a:p>
        </p:txBody>
      </p:sp>
      <p:sp>
        <p:nvSpPr>
          <p:cNvPr id="5" name="Text 3"/>
          <p:cNvSpPr txBox="1"/>
          <p:nvPr/>
        </p:nvSpPr>
        <p:spPr>
          <a:xfrm>
            <a:off x="10156241" y="609905"/>
            <a:ext cx="1436522" cy="257861"/>
          </a:xfrm>
          <a:prstGeom prst="rect">
            <a:avLst/>
          </a:prstGeom>
          <a:noFill/>
          <a:ln/>
        </p:spPr>
        <p:txBody>
          <a:bodyPr wrap="square" lIns="0" tIns="0" rIns="0" bIns="0" rtlCol="0" anchor="ctr"/>
          <a:lstStyle/>
          <a:p>
            <a:pPr marL="0" indent="0" algn="r">
              <a:buNone/>
            </a:pPr>
            <a:r>
              <a:rPr lang="en-US" sz="1300" b="1" dirty="0">
                <a:solidFill>
                  <a:srgbClr val="FF6908"/>
                </a:solidFill>
                <a:latin typeface="Pretendard" pitchFamily="34" charset="0"/>
                <a:ea typeface="Pretendard" pitchFamily="34" charset="-122"/>
                <a:cs typeface="Pretendard" pitchFamily="34" charset="-120"/>
              </a:rPr>
              <a:t>LAW &amp; ETHICS</a:t>
            </a:r>
            <a:endParaRPr lang="en-US" sz="1300" dirty="0"/>
          </a:p>
        </p:txBody>
      </p:sp>
      <p:sp>
        <p:nvSpPr>
          <p:cNvPr id="6" name="Text 4"/>
          <p:cNvSpPr txBox="1"/>
          <p:nvPr/>
        </p:nvSpPr>
        <p:spPr>
          <a:xfrm>
            <a:off x="609905" y="2250000"/>
            <a:ext cx="10900000" cy="305410"/>
          </a:xfrm>
          <a:prstGeom prst="rect">
            <a:avLst/>
          </a:prstGeom>
          <a:noFill/>
          <a:ln/>
        </p:spPr>
        <p:txBody>
          <a:bodyPr wrap="square" lIns="0" tIns="0" rIns="0" bIns="0" rtlCol="0" anchor="ctr"/>
          <a:lstStyle/>
          <a:p>
            <a:pPr marL="0" indent="0" algn="l">
              <a:buNone/>
            </a:pPr>
            <a:r>
              <a:rPr lang="en-US" sz="1800" b="1" dirty="0">
                <a:solidFill>
                  <a:srgbClr val="FF6908"/>
                </a:solidFill>
                <a:latin typeface="Pretendard" pitchFamily="34" charset="0"/>
                <a:ea typeface="Pretendard" pitchFamily="34" charset="-122"/>
                <a:cs typeface="Pretendard" pitchFamily="34" charset="-120"/>
              </a:rPr>
              <a:t>나라마다 결론이 다르고, 소송이 진행 중입니다</a:t>
            </a:r>
            <a:endParaRPr lang="en-US" sz="1800" dirty="0"/>
          </a:p>
        </p:txBody>
      </p:sp>
      <p:sp>
        <p:nvSpPr>
          <p:cNvPr id="7" name="Text 5"/>
          <p:cNvSpPr txBox="1"/>
          <p:nvPr/>
        </p:nvSpPr>
        <p:spPr>
          <a:xfrm>
            <a:off x="1243274" y="2630000"/>
            <a:ext cx="10300000" cy="700000"/>
          </a:xfrm>
          <a:prstGeom prst="rect">
            <a:avLst/>
          </a:prstGeom>
          <a:noFill/>
          <a:ln/>
        </p:spPr>
        <p:txBody>
          <a:bodyPr wrap="square" lIns="0" tIns="0" rIns="0" bIns="0" rtlCol="0" anchor="t"/>
          <a:lstStyle/>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특정 작가·스튜디오의 화풍을 흉내 내도록 이름을 넣어 생성하는 것이 저작권·인격권 침해인지는 나라마다 법과 판단이 다릅니다.</a:t>
            </a:r>
            <a:br>
              <a:rPr lang="en-US" sz="1200" dirty="0">
                <a:solidFill>
                  <a:srgbClr val="000000"/>
                </a:solidFill>
                <a:latin typeface="Noto Sans KR" pitchFamily="34" charset="0"/>
                <a:ea typeface="Noto Sans KR" pitchFamily="34" charset="-122"/>
                <a:cs typeface="Noto Sans KR" pitchFamily="34" charset="-120"/>
              </a:rPr>
            </a:br>
            <a:r>
              <a:rPr lang="en-US" sz="1200" dirty="0">
                <a:solidFill>
                  <a:srgbClr val="000000"/>
                </a:solidFill>
                <a:latin typeface="Noto Sans KR" pitchFamily="34" charset="0"/>
                <a:ea typeface="Noto Sans KR" pitchFamily="34" charset="-122"/>
                <a:cs typeface="Noto Sans KR" pitchFamily="34" charset="-120"/>
              </a:rPr>
              <a:t>미국에서는 작가들이 이미지 생성 AI 회사를 상대로 낸 소송(Andersen v. Stability AI)이 진행 중이고, 영국 고등법원은 Getty Images v. Stability AI 사건에서 저작권 주장 대부분을 받아들이지 않았습니다(2025).</a:t>
            </a:r>
          </a:p>
        </p:txBody>
      </p:sp>
      <p:sp>
        <p:nvSpPr>
          <p:cNvPr id="9" name="Text 6"/>
          <p:cNvSpPr txBox="1"/>
          <p:nvPr/>
        </p:nvSpPr>
        <p:spPr>
          <a:xfrm>
            <a:off x="609905" y="3650000"/>
            <a:ext cx="10900000" cy="305410"/>
          </a:xfrm>
          <a:prstGeom prst="rect">
            <a:avLst/>
          </a:prstGeom>
          <a:noFill/>
          <a:ln/>
        </p:spPr>
        <p:txBody>
          <a:bodyPr wrap="square" lIns="0" tIns="0" rIns="0" bIns="0" rtlCol="0" anchor="ctr"/>
          <a:lstStyle/>
          <a:p>
            <a:pPr marL="0" indent="0" algn="l">
              <a:buNone/>
            </a:pPr>
            <a:r>
              <a:rPr lang="en-US" sz="1800" b="1" dirty="0">
                <a:solidFill>
                  <a:srgbClr val="FF6908"/>
                </a:solidFill>
                <a:latin typeface="Pretendard" pitchFamily="34" charset="0"/>
                <a:ea typeface="Pretendard" pitchFamily="34" charset="-122"/>
                <a:cs typeface="Pretendard" pitchFamily="34" charset="-120"/>
              </a:rPr>
              <a:t>교육·실습에서는 이름 대신 특징을 말로 씁니다</a:t>
            </a:r>
            <a:endParaRPr lang="en-US" sz="1800" dirty="0"/>
          </a:p>
        </p:txBody>
      </p:sp>
      <p:sp>
        <p:nvSpPr>
          <p:cNvPr id="10" name="Text 7"/>
          <p:cNvSpPr txBox="1"/>
          <p:nvPr/>
        </p:nvSpPr>
        <p:spPr>
          <a:xfrm>
            <a:off x="1243274" y="4030000"/>
            <a:ext cx="10300000" cy="700000"/>
          </a:xfrm>
          <a:prstGeom prst="rect">
            <a:avLst/>
          </a:prstGeom>
          <a:noFill/>
          <a:ln/>
        </p:spPr>
        <p:txBody>
          <a:bodyPr wrap="square" lIns="0" tIns="0" rIns="0" bIns="0" rtlCol="0" anchor="t"/>
          <a:lstStyle/>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생존 작가·현존 스튜디오의 이름 대신 '수채 애니메이션 풍', '굵은 붓 터치의 후기 인상주의 풍'처럼 화풍의 특징을 말로 풀어 쓰거나,</a:t>
            </a:r>
            <a:br>
              <a:rPr lang="en-US" sz="1200" dirty="0">
                <a:solidFill>
                  <a:srgbClr val="000000"/>
                </a:solidFill>
                <a:latin typeface="Noto Sans KR" pitchFamily="34" charset="0"/>
                <a:ea typeface="Noto Sans KR" pitchFamily="34" charset="-122"/>
                <a:cs typeface="Noto Sans KR" pitchFamily="34" charset="-120"/>
              </a:rPr>
            </a:br>
            <a:r>
              <a:rPr lang="en-US" sz="1200" dirty="0">
                <a:solidFill>
                  <a:srgbClr val="000000"/>
                </a:solidFill>
                <a:latin typeface="Noto Sans KR" pitchFamily="34" charset="0"/>
                <a:ea typeface="Noto Sans KR" pitchFamily="34" charset="-122"/>
                <a:cs typeface="Noto Sans KR" pitchFamily="34" charset="-120"/>
              </a:rPr>
              <a:t>공개 라이선스(CC0·퍼블릭 도메인) 작품을 참고 자료로 쓰는 것을 권합니다.</a:t>
            </a:r>
          </a:p>
        </p:txBody>
      </p:sp>
      <p:sp>
        <p:nvSpPr>
          <p:cNvPr id="12" name="Text 8"/>
          <p:cNvSpPr txBox="1"/>
          <p:nvPr/>
        </p:nvSpPr>
        <p:spPr>
          <a:xfrm>
            <a:off x="609905" y="5050000"/>
            <a:ext cx="10900000" cy="305410"/>
          </a:xfrm>
          <a:prstGeom prst="rect">
            <a:avLst/>
          </a:prstGeom>
          <a:noFill/>
          <a:ln/>
        </p:spPr>
        <p:txBody>
          <a:bodyPr wrap="square" lIns="0" tIns="0" rIns="0" bIns="0" rtlCol="0" anchor="ctr"/>
          <a:lstStyle/>
          <a:p>
            <a:pPr marL="0" indent="0" algn="l">
              <a:buNone/>
            </a:pPr>
            <a:r>
              <a:rPr lang="en-US" sz="1800" b="1" dirty="0">
                <a:solidFill>
                  <a:srgbClr val="FF6908"/>
                </a:solidFill>
                <a:latin typeface="Pretendard" pitchFamily="34" charset="0"/>
                <a:ea typeface="Pretendard" pitchFamily="34" charset="-122"/>
                <a:cs typeface="Pretendard" pitchFamily="34" charset="-120"/>
              </a:rPr>
              <a:t>생성 이미지는 도구의 이용 약관을 따릅니다</a:t>
            </a:r>
            <a:endParaRPr lang="en-US" sz="1800" dirty="0"/>
          </a:p>
        </p:txBody>
      </p:sp>
      <p:sp>
        <p:nvSpPr>
          <p:cNvPr id="13" name="Text 9"/>
          <p:cNvSpPr txBox="1"/>
          <p:nvPr/>
        </p:nvSpPr>
        <p:spPr>
          <a:xfrm>
            <a:off x="1243274" y="5430000"/>
            <a:ext cx="10300000" cy="700000"/>
          </a:xfrm>
          <a:prstGeom prst="rect">
            <a:avLst/>
          </a:prstGeom>
          <a:noFill/>
          <a:ln/>
        </p:spPr>
        <p:txBody>
          <a:bodyPr wrap="square" lIns="0" tIns="0" rIns="0" bIns="0" rtlCol="0" anchor="t"/>
          <a:lstStyle/>
          <a:p>
            <a:pPr marL="0" indent="0" algn="l">
              <a:lnSpc>
                <a:spcPct val="150000"/>
              </a:lnSpc>
              <a:buNone/>
            </a:pPr>
            <a:r>
              <a:rPr lang="en-US" sz="1200" dirty="0">
                <a:solidFill>
                  <a:srgbClr val="000000"/>
                </a:solidFill>
                <a:latin typeface="Noto Sans KR" pitchFamily="34" charset="0"/>
                <a:ea typeface="Noto Sans KR" pitchFamily="34" charset="-122"/>
                <a:cs typeface="Noto Sans KR" pitchFamily="34" charset="-120"/>
              </a:rPr>
              <a:t>생성한 이미지를 상업적으로 쓰거나 출판할 수 있는지는 사용한 도구의 이용 약관이 정합니다.</a:t>
            </a:r>
            <a:br>
              <a:rPr lang="en-US" sz="1200" dirty="0">
                <a:solidFill>
                  <a:srgbClr val="000000"/>
                </a:solidFill>
                <a:latin typeface="Noto Sans KR" pitchFamily="34" charset="0"/>
                <a:ea typeface="Noto Sans KR" pitchFamily="34" charset="-122"/>
                <a:cs typeface="Noto Sans KR" pitchFamily="34" charset="-120"/>
              </a:rPr>
            </a:br>
            <a:r>
              <a:rPr lang="en-US" sz="1200" dirty="0">
                <a:solidFill>
                  <a:srgbClr val="000000"/>
                </a:solidFill>
                <a:latin typeface="Noto Sans KR" pitchFamily="34" charset="0"/>
                <a:ea typeface="Noto Sans KR" pitchFamily="34" charset="-122"/>
                <a:cs typeface="Noto Sans KR" pitchFamily="34" charset="-120"/>
              </a:rPr>
              <a:t>사람의 창작적 개입 없이 AI가 만든 결과물은 저작권 등록이 어렵다는 것이 국내 정부 안내입니다(문화체육관광부·한국저작권위원회, 2023).</a:t>
            </a:r>
          </a:p>
        </p:txBody>
      </p:sp>
      <p:sp>
        <p:nvSpPr>
          <p:cNvPr id="14" name="S3 각주"/>
          <p:cNvSpPr txBox="1"/>
          <p:nvPr/>
        </p:nvSpPr>
        <p:spPr>
          <a:xfrm>
            <a:off x="500000" y="6560000"/>
            <a:ext cx="11200000" cy="250000"/>
          </a:xfrm>
          <a:prstGeom prst="rect">
            <a:avLst/>
          </a:prstGeom>
          <a:noFill/>
        </p:spPr>
        <p:txBody>
          <a:bodyPr wrap="square" lIns="0" tIns="0" rIns="0" bIns="0" anchor="t">
            <a:spAutoFit/>
          </a:bodyPr>
          <a:lstStyle/>
          <a:p>
            <a:r>
              <a:rPr lang="ko-KR" sz="900" dirty="0">
                <a:solidFill>
                  <a:srgbClr val="6B7280"/>
                </a:solidFill>
                <a:latin typeface="Noto Sans KR"/>
                <a:ea typeface="Noto Sans KR"/>
                <a:cs typeface="Noto Sans KR"/>
              </a:rPr>
              <a:t>Andersen v. Stability AI, No. 3:23-cv-00201 (N.D. Cal., 진행 중) · Getty Images v. Stability AI [2025] EWHC 2863 (Ch) · 문체부·한국저작권위원회 「생성형 AI 저작권 안내서」(2023.12)</a:t>
            </a:r>
          </a:p>
        </p:txBody>
      </p:sp>
      <p:sp>
        <p:nvSpPr>
          <p:cNvPr id="15"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25703"/>
            <a:ext cx="142646" cy="133502"/>
          </a:xfrm>
          <a:prstGeom prst="rect">
            <a:avLst/>
          </a:prstGeom>
        </p:spPr>
      </p:pic>
      <p:sp>
        <p:nvSpPr>
          <p:cNvPr id="6" name="Text 3"/>
          <p:cNvSpPr txBox="1"/>
          <p:nvPr/>
        </p:nvSpPr>
        <p:spPr>
          <a:xfrm>
            <a:off x="694944" y="791870"/>
            <a:ext cx="2191817"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01</a:t>
            </a:r>
            <a:endParaRPr lang="en-US" sz="1000" dirty="0"/>
          </a:p>
        </p:txBody>
      </p:sp>
      <p:sp>
        <p:nvSpPr>
          <p:cNvPr id="7" name="Text 4"/>
          <p:cNvSpPr txBox="1"/>
          <p:nvPr/>
        </p:nvSpPr>
        <p:spPr>
          <a:xfrm>
            <a:off x="476402" y="1068019"/>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프론트 뷰 구도</a:t>
            </a:r>
            <a:endParaRPr lang="en-US" sz="3100" dirty="0"/>
          </a:p>
        </p:txBody>
      </p:sp>
      <p:sp>
        <p:nvSpPr>
          <p:cNvPr id="8" name="Text 5"/>
          <p:cNvSpPr txBox="1"/>
          <p:nvPr/>
        </p:nvSpPr>
        <p:spPr>
          <a:xfrm>
            <a:off x="476402" y="1556309"/>
            <a:ext cx="201808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Front View Composition</a:t>
            </a:r>
            <a:endParaRPr lang="en-US" sz="1200" dirty="0"/>
          </a:p>
        </p:txBody>
      </p:sp>
      <p:sp>
        <p:nvSpPr>
          <p:cNvPr id="9" name="Text 6"/>
          <p:cNvSpPr txBox="1"/>
          <p:nvPr/>
        </p:nvSpPr>
        <p:spPr>
          <a:xfrm>
            <a:off x="476402" y="1965960"/>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피사체를 정면에서 바라보는 가장 직관적인 구도입니다. 제품의 형태를 왜곡 없이 보여주어 신뢰감과 정직함을 전달할 때, 혹은 인물의 증명사진처럼 명확성이 필요할 때 주로 사용됩니다.</a:t>
            </a:r>
            <a:endParaRPr lang="en-US" sz="1100" dirty="0"/>
          </a:p>
        </p:txBody>
      </p:sp>
      <p:sp>
        <p:nvSpPr>
          <p:cNvPr id="10" name="Shape 7"/>
          <p:cNvSpPr/>
          <p:nvPr/>
        </p:nvSpPr>
        <p:spPr>
          <a:xfrm>
            <a:off x="476402" y="3051353"/>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51353"/>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5160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51606"/>
            <a:ext cx="114300" cy="171907"/>
          </a:xfrm>
          <a:prstGeom prst="rect">
            <a:avLst/>
          </a:prstGeom>
        </p:spPr>
      </p:pic>
      <p:sp>
        <p:nvSpPr>
          <p:cNvPr id="14" name="Text 10"/>
          <p:cNvSpPr txBox="1"/>
          <p:nvPr/>
        </p:nvSpPr>
        <p:spPr>
          <a:xfrm>
            <a:off x="705002" y="35469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527755"/>
            <a:ext cx="232440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 수평 앵글</a:t>
            </a:r>
            <a:endParaRPr lang="en-US" sz="1000" dirty="0"/>
          </a:p>
        </p:txBody>
      </p:sp>
      <p:sp>
        <p:nvSpPr>
          <p:cNvPr id="16" name="Text 12"/>
          <p:cNvSpPr txBox="1"/>
          <p:nvPr/>
        </p:nvSpPr>
        <p:spPr>
          <a:xfrm>
            <a:off x="705002" y="382859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809390"/>
            <a:ext cx="14904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화장품 제품 정면 배치</a:t>
            </a:r>
            <a:endParaRPr lang="en-US" sz="1000" dirty="0"/>
          </a:p>
        </p:txBody>
      </p:sp>
      <p:sp>
        <p:nvSpPr>
          <p:cNvPr id="18" name="Text 14"/>
          <p:cNvSpPr txBox="1"/>
          <p:nvPr/>
        </p:nvSpPr>
        <p:spPr>
          <a:xfrm>
            <a:off x="705002" y="41102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9" name="Text 15"/>
          <p:cNvSpPr txBox="1"/>
          <p:nvPr/>
        </p:nvSpPr>
        <p:spPr>
          <a:xfrm>
            <a:off x="1257300" y="4091026"/>
            <a:ext cx="28200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소프트박스 2점 (좌우 대칭), 부드러운 빛</a:t>
            </a:r>
            <a:endParaRPr lang="en-US" sz="1000" dirty="0"/>
          </a:p>
        </p:txBody>
      </p:sp>
      <p:sp>
        <p:nvSpPr>
          <p:cNvPr id="20" name="Text 16"/>
          <p:cNvSpPr txBox="1"/>
          <p:nvPr/>
        </p:nvSpPr>
        <p:spPr>
          <a:xfrm>
            <a:off x="705002" y="43927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[배경]</a:t>
            </a:r>
            <a:endParaRPr lang="en-US" sz="900" dirty="0"/>
          </a:p>
        </p:txBody>
      </p:sp>
      <p:sp>
        <p:nvSpPr>
          <p:cNvPr id="21" name="Text 17"/>
          <p:cNvSpPr txBox="1"/>
          <p:nvPr/>
        </p:nvSpPr>
        <p:spPr>
          <a:xfrm>
            <a:off x="1257300" y="4373575"/>
            <a:ext cx="270936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심플 그라운드, 흰색 배경 (Clean White)</a:t>
            </a:r>
            <a:endParaRPr lang="en-US" sz="1000" dirty="0"/>
          </a:p>
        </p:txBody>
      </p:sp>
      <p:sp>
        <p:nvSpPr>
          <p:cNvPr id="22" name="Text 18"/>
          <p:cNvSpPr txBox="1"/>
          <p:nvPr/>
        </p:nvSpPr>
        <p:spPr>
          <a:xfrm>
            <a:off x="705002" y="467441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655210"/>
            <a:ext cx="19714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50mm (표준 화각), 왜곡 없음</a:t>
            </a:r>
            <a:endParaRPr lang="en-US" sz="1000" dirty="0"/>
          </a:p>
        </p:txBody>
      </p:sp>
      <p:sp>
        <p:nvSpPr>
          <p:cNvPr id="24" name="Shape 20"/>
          <p:cNvSpPr/>
          <p:nvPr/>
        </p:nvSpPr>
        <p:spPr>
          <a:xfrm>
            <a:off x="476402" y="5242254"/>
            <a:ext cx="3619195" cy="1069849"/>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29707"/>
            <a:ext cx="105156" cy="133502"/>
          </a:xfrm>
          <a:prstGeom prst="rect">
            <a:avLst/>
          </a:prstGeom>
        </p:spPr>
      </p:pic>
      <p:sp>
        <p:nvSpPr>
          <p:cNvPr id="26" name="Text 21"/>
          <p:cNvSpPr txBox="1"/>
          <p:nvPr/>
        </p:nvSpPr>
        <p:spPr>
          <a:xfrm>
            <a:off x="809244" y="5374843"/>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실습 팁:</a:t>
            </a:r>
            <a:endParaRPr lang="en-US" sz="900" dirty="0"/>
          </a:p>
        </p:txBody>
      </p:sp>
      <p:sp>
        <p:nvSpPr>
          <p:cNvPr id="27" name="Text 22"/>
          <p:cNvSpPr txBox="1"/>
          <p:nvPr/>
        </p:nvSpPr>
        <p:spPr>
          <a:xfrm>
            <a:off x="804671" y="5624931"/>
            <a:ext cx="3229661"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정면 샷과 45도 측면 샷을 생성하여 비교해보세요.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정면</a:t>
            </a:r>
            <a:r>
              <a:rPr lang="en-US" sz="1100" dirty="0">
                <a:solidFill>
                  <a:srgbClr val="444444"/>
                </a:solidFill>
                <a:latin typeface="Noto Sans KR" pitchFamily="34" charset="0"/>
                <a:ea typeface="Noto Sans KR" pitchFamily="34" charset="-122"/>
                <a:cs typeface="Noto Sans KR" pitchFamily="34" charset="-120"/>
              </a:rPr>
              <a:t> 샷은 '정보 전달'에 강하고,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측면</a:t>
            </a:r>
            <a:r>
              <a:rPr lang="en-US" sz="1100" dirty="0">
                <a:solidFill>
                  <a:srgbClr val="444444"/>
                </a:solidFill>
                <a:latin typeface="Noto Sans KR" pitchFamily="34" charset="0"/>
                <a:ea typeface="Noto Sans KR" pitchFamily="34" charset="-122"/>
                <a:cs typeface="Noto Sans KR" pitchFamily="34" charset="-120"/>
              </a:rPr>
              <a:t> 샷은 '입체감' 표현에 더 유리합니다.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1099193"/>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프론트 뷰 구도. 화장품 제품 정면 배치, 수평 앵글, 소프트박스 2점 조명 (좌우 대칭), 부드러운 빛, 심플 그라운드, 깨끗한 흰색 배경, 50mm 표준 화각 렌즈, 왜곡 없음, 고해상도 제품 사진.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791870"/>
            <a:ext cx="161849" cy="133502"/>
          </a:xfrm>
          <a:prstGeom prst="rect">
            <a:avLst/>
          </a:prstGeom>
        </p:spPr>
      </p:pic>
      <p:sp>
        <p:nvSpPr>
          <p:cNvPr id="6" name="Text 3"/>
          <p:cNvSpPr txBox="1"/>
          <p:nvPr/>
        </p:nvSpPr>
        <p:spPr>
          <a:xfrm>
            <a:off x="714146" y="758038"/>
            <a:ext cx="2098548"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02</a:t>
            </a:r>
            <a:endParaRPr lang="en-US" sz="1000" dirty="0"/>
          </a:p>
        </p:txBody>
      </p:sp>
      <p:sp>
        <p:nvSpPr>
          <p:cNvPr id="7" name="Text 4"/>
          <p:cNvSpPr txBox="1"/>
          <p:nvPr/>
        </p:nvSpPr>
        <p:spPr>
          <a:xfrm>
            <a:off x="476402" y="1034186"/>
            <a:ext cx="38103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탑뷰 (Top View)</a:t>
            </a:r>
            <a:endParaRPr lang="en-US" sz="3100" dirty="0"/>
          </a:p>
        </p:txBody>
      </p:sp>
      <p:sp>
        <p:nvSpPr>
          <p:cNvPr id="8" name="Text 5"/>
          <p:cNvSpPr txBox="1"/>
          <p:nvPr/>
        </p:nvSpPr>
        <p:spPr>
          <a:xfrm>
            <a:off x="476402" y="1522476"/>
            <a:ext cx="206380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Overhead / Flat Lay Shot</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피사체를 수직 위에서 내려다보는 시점으로, 전체적인 배치와 구성을 한눈에 파악할 수 있습니다. 제품 정리컷(Knolling)이나 요리, 책상 셋업 등에 자주 사용됩니다.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279953"/>
            <a:ext cx="18141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탑뷰 (Top View), 플랫레이</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561588"/>
            <a:ext cx="160202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노트북, 커피, 노트, 펜</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[배치]</a:t>
            </a:r>
            <a:endParaRPr lang="en-US" sz="900" dirty="0"/>
          </a:p>
        </p:txBody>
      </p:sp>
      <p:sp>
        <p:nvSpPr>
          <p:cNvPr id="19" name="Text 15"/>
          <p:cNvSpPr txBox="1"/>
          <p:nvPr/>
        </p:nvSpPr>
        <p:spPr>
          <a:xfrm>
            <a:off x="1257300" y="3843223"/>
            <a:ext cx="20857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그리드 정렬 (Grid Alignment)</a:t>
            </a:r>
            <a:endParaRPr lang="en-US" sz="1000" dirty="0"/>
          </a:p>
        </p:txBody>
      </p:sp>
      <p:sp>
        <p:nvSpPr>
          <p:cNvPr id="20" name="Text 16"/>
          <p:cNvSpPr txBox="1"/>
          <p:nvPr/>
        </p:nvSpPr>
        <p:spPr>
          <a:xfrm>
            <a:off x="705002" y="414406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1" name="Text 17"/>
          <p:cNvSpPr txBox="1"/>
          <p:nvPr/>
        </p:nvSpPr>
        <p:spPr>
          <a:xfrm>
            <a:off x="1257300" y="4124858"/>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미니멀리즘, 인스타그램 감성</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407408"/>
            <a:ext cx="10488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자연광</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[앵글]</a:t>
            </a:r>
            <a:endParaRPr lang="en-US" sz="900" dirty="0"/>
          </a:p>
        </p:txBody>
      </p:sp>
      <p:sp>
        <p:nvSpPr>
          <p:cNvPr id="25" name="Text 21"/>
          <p:cNvSpPr txBox="1"/>
          <p:nvPr/>
        </p:nvSpPr>
        <p:spPr>
          <a:xfrm>
            <a:off x="1257300" y="4689043"/>
            <a:ext cx="102870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90도 수직 촬영</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95527" y="5683910"/>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소품들을 직각으로 반듯하게 나열하는 '놀링(Knolling)' 키워드를 프롬프트에 추가하면 더욱 정리되고 기하학적인 이미지를 얻을 수 있습니다.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탑뷰(Top View) 구도의 플랫레이 샷. 책상 위에 노트북, 커피, 노트, 펜이 그리드 형태로 깔끔하게 정렬된 데스크 셋업. 미니멀리즘과 인스타그램 감성을 담아 90도 수직에서 촬영, 부드러운 자연광 조명.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684886"/>
            <a:ext cx="142646" cy="133502"/>
          </a:xfrm>
          <a:prstGeom prst="rect">
            <a:avLst/>
          </a:prstGeom>
        </p:spPr>
      </p:pic>
      <p:sp>
        <p:nvSpPr>
          <p:cNvPr id="6" name="Text 3"/>
          <p:cNvSpPr txBox="1"/>
          <p:nvPr/>
        </p:nvSpPr>
        <p:spPr>
          <a:xfrm>
            <a:off x="694944" y="651053"/>
            <a:ext cx="200253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03</a:t>
            </a:r>
            <a:endParaRPr lang="en-US" sz="1000" dirty="0"/>
          </a:p>
        </p:txBody>
      </p:sp>
      <p:sp>
        <p:nvSpPr>
          <p:cNvPr id="7" name="Text 4"/>
          <p:cNvSpPr txBox="1"/>
          <p:nvPr/>
        </p:nvSpPr>
        <p:spPr>
          <a:xfrm>
            <a:off x="476402" y="927202"/>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하이 앵글 샷</a:t>
            </a:r>
            <a:endParaRPr lang="en-US" sz="3100" dirty="0"/>
          </a:p>
        </p:txBody>
      </p:sp>
      <p:sp>
        <p:nvSpPr>
          <p:cNvPr id="8" name="Text 5"/>
          <p:cNvSpPr txBox="1"/>
          <p:nvPr/>
        </p:nvSpPr>
        <p:spPr>
          <a:xfrm>
            <a:off x="476402" y="1415491"/>
            <a:ext cx="139446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High-Angle Shot</a:t>
            </a:r>
            <a:endParaRPr lang="en-US" sz="1200" dirty="0"/>
          </a:p>
        </p:txBody>
      </p:sp>
      <p:sp>
        <p:nvSpPr>
          <p:cNvPr id="9" name="Text 6"/>
          <p:cNvSpPr txBox="1"/>
          <p:nvPr/>
        </p:nvSpPr>
        <p:spPr>
          <a:xfrm>
            <a:off x="476402" y="1824228"/>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위에서 아래로 내려다보는 부감 시점입니다. 피사체를 작고 왜소하게 표현하여 심리적 위축감을 주거나, 넓은 공간의 전체적인 배치와 맥락을 한눈에 파악하는 정보 전달 목적으로 사용됩니다.</a:t>
            </a:r>
            <a:endParaRPr lang="en-US" sz="1100" dirty="0"/>
          </a:p>
        </p:txBody>
      </p:sp>
      <p:sp>
        <p:nvSpPr>
          <p:cNvPr id="10" name="Shape 7"/>
          <p:cNvSpPr/>
          <p:nvPr/>
        </p:nvSpPr>
        <p:spPr>
          <a:xfrm>
            <a:off x="476402" y="291053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1053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10789"/>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10789"/>
            <a:ext cx="114300" cy="171907"/>
          </a:xfrm>
          <a:prstGeom prst="rect">
            <a:avLst/>
          </a:prstGeom>
        </p:spPr>
      </p:pic>
      <p:sp>
        <p:nvSpPr>
          <p:cNvPr id="14" name="Text 10"/>
          <p:cNvSpPr txBox="1"/>
          <p:nvPr/>
        </p:nvSpPr>
        <p:spPr>
          <a:xfrm>
            <a:off x="705002" y="340614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386938"/>
            <a:ext cx="20180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하이 앵글 (High-Angle), 부감</a:t>
            </a:r>
            <a:endParaRPr lang="en-US" sz="1000" dirty="0"/>
          </a:p>
        </p:txBody>
      </p:sp>
      <p:sp>
        <p:nvSpPr>
          <p:cNvPr id="16" name="Text 12"/>
          <p:cNvSpPr txBox="1"/>
          <p:nvPr/>
        </p:nvSpPr>
        <p:spPr>
          <a:xfrm>
            <a:off x="705002" y="368777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668573"/>
            <a:ext cx="253837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도심 거리와 횡단보도를 건너는 사람들</a:t>
            </a:r>
            <a:endParaRPr lang="en-US" sz="1000" dirty="0"/>
          </a:p>
        </p:txBody>
      </p:sp>
      <p:sp>
        <p:nvSpPr>
          <p:cNvPr id="18" name="Text 14"/>
          <p:cNvSpPr txBox="1"/>
          <p:nvPr/>
        </p:nvSpPr>
        <p:spPr>
          <a:xfrm>
            <a:off x="705002" y="396941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19" name="Text 15"/>
          <p:cNvSpPr txBox="1"/>
          <p:nvPr/>
        </p:nvSpPr>
        <p:spPr>
          <a:xfrm>
            <a:off x="1257300" y="3950208"/>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고층 빌딩 숲 사이, 바쁜 출근길</a:t>
            </a:r>
            <a:endParaRPr lang="en-US" sz="1000" dirty="0"/>
          </a:p>
        </p:txBody>
      </p:sp>
      <p:sp>
        <p:nvSpPr>
          <p:cNvPr id="20" name="Text 16"/>
          <p:cNvSpPr txBox="1"/>
          <p:nvPr/>
        </p:nvSpPr>
        <p:spPr>
          <a:xfrm>
            <a:off x="705002" y="42510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32758"/>
            <a:ext cx="143560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아침 햇살, 긴 그림자</a:t>
            </a:r>
            <a:endParaRPr lang="en-US" sz="1000" dirty="0"/>
          </a:p>
        </p:txBody>
      </p:sp>
      <p:sp>
        <p:nvSpPr>
          <p:cNvPr id="22" name="Text 18"/>
          <p:cNvSpPr txBox="1"/>
          <p:nvPr/>
        </p:nvSpPr>
        <p:spPr>
          <a:xfrm>
            <a:off x="705002" y="4533595"/>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3" name="Text 19"/>
          <p:cNvSpPr txBox="1"/>
          <p:nvPr/>
        </p:nvSpPr>
        <p:spPr>
          <a:xfrm>
            <a:off x="1257300" y="4514393"/>
            <a:ext cx="244876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도시 풍경, 미니어처 효과 (Tilt-shift)</a:t>
            </a:r>
            <a:endParaRPr lang="en-US" sz="1000" dirty="0"/>
          </a:p>
        </p:txBody>
      </p:sp>
      <p:sp>
        <p:nvSpPr>
          <p:cNvPr id="24" name="Text 20"/>
          <p:cNvSpPr txBox="1"/>
          <p:nvPr/>
        </p:nvSpPr>
        <p:spPr>
          <a:xfrm>
            <a:off x="705002" y="48152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[렌즈]</a:t>
            </a:r>
            <a:endParaRPr lang="en-US" sz="900" dirty="0"/>
          </a:p>
        </p:txBody>
      </p:sp>
      <p:sp>
        <p:nvSpPr>
          <p:cNvPr id="25" name="Text 21"/>
          <p:cNvSpPr txBox="1"/>
          <p:nvPr/>
        </p:nvSpPr>
        <p:spPr>
          <a:xfrm>
            <a:off x="1257300" y="4796028"/>
            <a:ext cx="16440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광각 렌즈 (Wide Angle)</a:t>
            </a:r>
            <a:endParaRPr lang="en-US" sz="1000" dirty="0"/>
          </a:p>
        </p:txBody>
      </p:sp>
      <p:sp>
        <p:nvSpPr>
          <p:cNvPr id="26" name="Shape 22"/>
          <p:cNvSpPr/>
          <p:nvPr/>
        </p:nvSpPr>
        <p:spPr>
          <a:xfrm>
            <a:off x="476402" y="5383072"/>
            <a:ext cx="3619195" cy="101772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70525"/>
            <a:ext cx="105156" cy="133502"/>
          </a:xfrm>
          <a:prstGeom prst="rect">
            <a:avLst/>
          </a:prstGeom>
        </p:spPr>
      </p:pic>
      <p:sp>
        <p:nvSpPr>
          <p:cNvPr id="28" name="Text 23"/>
          <p:cNvSpPr txBox="1"/>
          <p:nvPr/>
        </p:nvSpPr>
        <p:spPr>
          <a:xfrm>
            <a:off x="809244" y="551657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779578"/>
            <a:ext cx="3191256"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건축물의 기하학적 패턴이나 군중의 움직임(Flow)을 강조할 때 효과적입니다. 'Tilt-shift' 키워드를 더하면 장난감 세상 같은 독특한 느낌을 낼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하이 앵글 샷. 높은 곳에서 내려다본 도시 거리와 사람들, 부감 시점, 미니어처 효과, 패턴과 </a:t>
            </a:r>
            <a:r>
              <a:rPr lang="en-US" sz="1200" dirty="0" err="1">
                <a:solidFill>
                  <a:srgbClr val="333333"/>
                </a:solidFill>
                <a:latin typeface="Noto Sans KR" pitchFamily="34" charset="0"/>
                <a:ea typeface="Noto Sans KR" pitchFamily="34" charset="-122"/>
                <a:cs typeface="Noto Sans KR" pitchFamily="34" charset="-120"/>
              </a:rPr>
              <a:t>움직임이</a:t>
            </a:r>
            <a:r>
              <a:rPr lang="en-US" sz="1200" dirty="0">
                <a:solidFill>
                  <a:srgbClr val="333333"/>
                </a:solidFill>
                <a:latin typeface="Noto Sans KR" pitchFamily="34" charset="0"/>
                <a:ea typeface="Noto Sans KR" pitchFamily="34" charset="-122"/>
                <a:cs typeface="Noto Sans KR" pitchFamily="34" charset="-120"/>
              </a:rPr>
              <a:t> </a:t>
            </a:r>
          </a:p>
          <a:p>
            <a:pPr marL="0" indent="0" algn="l">
              <a:buNone/>
            </a:pPr>
            <a:r>
              <a:rPr lang="en-US" sz="1200" dirty="0" err="1">
                <a:solidFill>
                  <a:srgbClr val="333333"/>
                </a:solidFill>
                <a:latin typeface="Noto Sans KR" pitchFamily="34" charset="0"/>
                <a:ea typeface="Noto Sans KR" pitchFamily="34" charset="-122"/>
                <a:cs typeface="Noto Sans KR" pitchFamily="34" charset="-120"/>
              </a:rPr>
              <a:t>보이는</a:t>
            </a:r>
            <a:r>
              <a:rPr lang="en-US" sz="1200" dirty="0">
                <a:solidFill>
                  <a:srgbClr val="333333"/>
                </a:solidFill>
                <a:latin typeface="Noto Sans KR" pitchFamily="34" charset="0"/>
                <a:ea typeface="Noto Sans KR" pitchFamily="34" charset="-122"/>
                <a:cs typeface="Noto Sans KR" pitchFamily="34" charset="-120"/>
              </a:rPr>
              <a:t> 구성, 와이드 앵글, 건축적인 구도, 도시 풍경.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219273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04</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로우 앵글 샷</a:t>
            </a:r>
            <a:endParaRPr lang="en-US" sz="3100" dirty="0"/>
          </a:p>
        </p:txBody>
      </p:sp>
      <p:sp>
        <p:nvSpPr>
          <p:cNvPr id="8" name="Text 5"/>
          <p:cNvSpPr txBox="1"/>
          <p:nvPr/>
        </p:nvSpPr>
        <p:spPr>
          <a:xfrm>
            <a:off x="476402" y="1663294"/>
            <a:ext cx="132588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Low-Angle Shot</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피사체를 아래에서 위로 올려다보는 시점입니다. 인물이나 건물을 더 크고 웅장하게 보이게 하여 권위와 힘을 강조할 때 사용됩니다.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20770"/>
            <a:ext cx="278892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로우 앵글 (Low-Angle), 와이드 앵글 렌즈</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24286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히어로 포즈를 취한 인물, 고층 빌딩</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19" name="Text 15"/>
          <p:cNvSpPr txBox="1"/>
          <p:nvPr/>
        </p:nvSpPr>
        <p:spPr>
          <a:xfrm>
            <a:off x="1257300" y="3984041"/>
            <a:ext cx="26206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드라마틱한 하늘 배경, 도시 스카이라인</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66590"/>
            <a:ext cx="21762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역광 (Backlight) 또는 강한 대비</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[시간]</a:t>
            </a:r>
            <a:endParaRPr lang="en-US" sz="900" dirty="0"/>
          </a:p>
        </p:txBody>
      </p:sp>
      <p:sp>
        <p:nvSpPr>
          <p:cNvPr id="23" name="Text 19"/>
          <p:cNvSpPr txBox="1"/>
          <p:nvPr/>
        </p:nvSpPr>
        <p:spPr>
          <a:xfrm>
            <a:off x="1257300" y="4548226"/>
            <a:ext cx="168981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골든아워 (Golden Hour)</a:t>
            </a:r>
            <a:endParaRPr lang="en-US" sz="1000" dirty="0"/>
          </a:p>
        </p:txBody>
      </p:sp>
      <p:sp>
        <p:nvSpPr>
          <p:cNvPr id="24" name="Shape 20"/>
          <p:cNvSpPr/>
          <p:nvPr/>
        </p:nvSpPr>
        <p:spPr>
          <a:xfrm>
            <a:off x="476402" y="5134355"/>
            <a:ext cx="3619195" cy="110276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실습 팁:</a:t>
            </a:r>
            <a:endParaRPr lang="en-US" sz="900" dirty="0"/>
          </a:p>
        </p:txBody>
      </p:sp>
      <p:sp>
        <p:nvSpPr>
          <p:cNvPr id="27" name="Text 22"/>
          <p:cNvSpPr txBox="1"/>
          <p:nvPr/>
        </p:nvSpPr>
        <p:spPr>
          <a:xfrm>
            <a:off x="798523" y="5538008"/>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프레임에서 하늘의 비율을 조절해보세요. 하늘을 더 많이 포함시키면 개방감과 함께 피사체의 웅장함이 더욱 강조됩니다.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로우 앵글 샷. 히어로 포즈를 취한 인물과 뒤로 보이는 고층 빌딩, 드라마틱한 하늘 배경, 도시 스카이라인, 역광 또는 강한 대비, 골든아워의 따뜻한 빛, 웅장하고 압도적인 분위기, 와이드 앵글 렌즈.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219273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05</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클로즈업 샷</a:t>
            </a:r>
            <a:endParaRPr lang="en-US" sz="3100" dirty="0"/>
          </a:p>
        </p:txBody>
      </p:sp>
      <p:sp>
        <p:nvSpPr>
          <p:cNvPr id="8" name="Text 5"/>
          <p:cNvSpPr txBox="1"/>
          <p:nvPr/>
        </p:nvSpPr>
        <p:spPr>
          <a:xfrm>
            <a:off x="476402" y="1663294"/>
            <a:ext cx="123078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Close-up Shot</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피사체를 프레임에 가득 차게 담아 미세한 질감이나 인물의 미묘한 표정 변화를 강조하는 구도입니다. 배경을 배제하여 시선을 오직 주제에만 집중시킵니다.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20770"/>
            <a:ext cx="18141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클로즈업 (Close-up Shot)</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20994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얼굴의 감정 표현 (눈물, 눈빛)</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234635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극사실적 초상화 (Hyper-realistic)</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66590"/>
            <a:ext cx="15453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스튜디오 조명</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548226"/>
            <a:ext cx="177485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85mm, 얕은 심도 (Bokeh)</a:t>
            </a:r>
            <a:endParaRPr lang="en-US" sz="1000" dirty="0"/>
          </a:p>
        </p:txBody>
      </p:sp>
      <p:sp>
        <p:nvSpPr>
          <p:cNvPr id="24" name="Shape 20"/>
          <p:cNvSpPr/>
          <p:nvPr/>
        </p:nvSpPr>
        <p:spPr>
          <a:xfrm>
            <a:off x="476402" y="5134356"/>
            <a:ext cx="3619195" cy="109728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85779" y="5548579"/>
            <a:ext cx="316291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조명의 성격(Hard vs Soft)에 따라 질감 표현이 달라집니다. 거친 질감은 하드 라이팅, 부드러운 피부는 소프트 라이팅을 사용해 비교해보세요.</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극사실적</a:t>
            </a:r>
            <a:r>
              <a:rPr lang="en-US" sz="1200" dirty="0">
                <a:solidFill>
                  <a:srgbClr val="333333"/>
                </a:solidFill>
                <a:latin typeface="Noto Sans KR" pitchFamily="34" charset="0"/>
                <a:ea typeface="Noto Sans KR" pitchFamily="34" charset="-122"/>
                <a:cs typeface="Noto Sans KR" pitchFamily="34" charset="-120"/>
              </a:rPr>
              <a:t> 초상화 스타일. 얼굴의 미묘한 감정 표현(눈물, 눈빛)을 강조하는 클로즈업 샷, 85mm 렌즈의 얕은 심도 효과, 부드러운 스튜디오 조명, 배경 흐림 처리(보케).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932688"/>
            <a:ext cx="161849" cy="133502"/>
          </a:xfrm>
          <a:prstGeom prst="rect">
            <a:avLst/>
          </a:prstGeom>
        </p:spPr>
      </p:pic>
      <p:sp>
        <p:nvSpPr>
          <p:cNvPr id="6" name="Text 3"/>
          <p:cNvSpPr txBox="1"/>
          <p:nvPr/>
        </p:nvSpPr>
        <p:spPr>
          <a:xfrm>
            <a:off x="714146" y="898855"/>
            <a:ext cx="219273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06</a:t>
            </a:r>
            <a:endParaRPr lang="en-US" sz="1000" dirty="0"/>
          </a:p>
        </p:txBody>
      </p:sp>
      <p:sp>
        <p:nvSpPr>
          <p:cNvPr id="7" name="Text 4"/>
          <p:cNvSpPr txBox="1"/>
          <p:nvPr/>
        </p:nvSpPr>
        <p:spPr>
          <a:xfrm>
            <a:off x="476402" y="1175004"/>
            <a:ext cx="38103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POV 샷</a:t>
            </a:r>
            <a:endParaRPr lang="en-US" sz="3100" dirty="0"/>
          </a:p>
        </p:txBody>
      </p:sp>
      <p:sp>
        <p:nvSpPr>
          <p:cNvPr id="8" name="Text 5"/>
          <p:cNvSpPr txBox="1"/>
          <p:nvPr/>
        </p:nvSpPr>
        <p:spPr>
          <a:xfrm>
            <a:off x="476402" y="1663294"/>
            <a:ext cx="257312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Point of View Shot (1인칭 시점)</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관객이 마치 현장에 있는 것처럼 느끼게 하는 주관적 시점입니다. 손이나 발, 들고 있는 도구가 프레임 안에 들어와 몰입감을 극대화하며, 체험형 콘텐츠에 효과적입니다.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20770"/>
            <a:ext cx="212049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POV Shot (1인칭), 몰입형 구도</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커피잔을 들고 있는 손과 카페 풍경</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84041"/>
            <a:ext cx="142463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사진 (Photography)</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66590"/>
            <a:ext cx="25658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창가 테이블, 거리 풍경이 보이는 배경</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3" name="Text 19"/>
          <p:cNvSpPr txBox="1"/>
          <p:nvPr/>
        </p:nvSpPr>
        <p:spPr>
          <a:xfrm>
            <a:off x="1257300" y="4548226"/>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자연스러운 손 포즈, 따뜻한 조명</a:t>
            </a:r>
            <a:endParaRPr lang="en-US" sz="1000" dirty="0"/>
          </a:p>
        </p:txBody>
      </p:sp>
      <p:sp>
        <p:nvSpPr>
          <p:cNvPr id="24" name="Shape 20"/>
          <p:cNvSpPr/>
          <p:nvPr/>
        </p:nvSpPr>
        <p:spPr>
          <a:xfrm>
            <a:off x="476402" y="5134355"/>
            <a:ext cx="3619195" cy="110276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76325" y="5554786"/>
            <a:ext cx="3166501"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카메라 높이를 사람의 눈높이와 일치시키고, 손이나 소품을 프레임 하단이나 측면에 배치하여 '내가 보고 있다'는 느낌을 강조하세요.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POV 샷 (1인칭 시점). 1인칭 시점으로 바라본 카페 풍경, 손에 들고 있는 따뜻한 커피잔, 창가 테이블 너머로 보이는 거리 풍경, 자연스러운 손의 포즈, 따뜻하고 아늑한 조명, 사진(Photography) 스타일, 몰입감 있는 구도.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684886"/>
            <a:ext cx="142646" cy="133502"/>
          </a:xfrm>
          <a:prstGeom prst="rect">
            <a:avLst/>
          </a:prstGeom>
        </p:spPr>
      </p:pic>
      <p:sp>
        <p:nvSpPr>
          <p:cNvPr id="6" name="Text 3"/>
          <p:cNvSpPr txBox="1"/>
          <p:nvPr/>
        </p:nvSpPr>
        <p:spPr>
          <a:xfrm>
            <a:off x="694944" y="651053"/>
            <a:ext cx="219273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07</a:t>
            </a:r>
            <a:endParaRPr lang="en-US" sz="1000" dirty="0"/>
          </a:p>
        </p:txBody>
      </p:sp>
      <p:sp>
        <p:nvSpPr>
          <p:cNvPr id="7" name="Text 4"/>
          <p:cNvSpPr txBox="1"/>
          <p:nvPr/>
        </p:nvSpPr>
        <p:spPr>
          <a:xfrm>
            <a:off x="476402" y="927202"/>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미디엄 샷</a:t>
            </a:r>
            <a:endParaRPr lang="en-US" sz="3100" dirty="0"/>
          </a:p>
        </p:txBody>
      </p:sp>
      <p:sp>
        <p:nvSpPr>
          <p:cNvPr id="8" name="Text 5"/>
          <p:cNvSpPr txBox="1"/>
          <p:nvPr/>
        </p:nvSpPr>
        <p:spPr>
          <a:xfrm>
            <a:off x="476402" y="1415491"/>
            <a:ext cx="1044245"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Medium Shot</a:t>
            </a:r>
            <a:endParaRPr lang="en-US" sz="1200" dirty="0"/>
          </a:p>
        </p:txBody>
      </p:sp>
      <p:sp>
        <p:nvSpPr>
          <p:cNvPr id="9" name="Text 6"/>
          <p:cNvSpPr txBox="1"/>
          <p:nvPr/>
        </p:nvSpPr>
        <p:spPr>
          <a:xfrm>
            <a:off x="476402" y="1824228"/>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인물의 허리부터 머리까지를 담는 구도로, 인물의 표정과 제스처를 균형 있게 보여줍니다. 인물과 배경의 적절한 조화를 통해 안정감을 주며, 인터뷰나 프로필 촬영에 가장 많이 사용됩니다.</a:t>
            </a:r>
            <a:endParaRPr lang="en-US" sz="1100" dirty="0"/>
          </a:p>
        </p:txBody>
      </p:sp>
      <p:sp>
        <p:nvSpPr>
          <p:cNvPr id="10" name="Shape 7"/>
          <p:cNvSpPr/>
          <p:nvPr/>
        </p:nvSpPr>
        <p:spPr>
          <a:xfrm>
            <a:off x="476402" y="291053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1053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10789"/>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10789"/>
            <a:ext cx="114300" cy="171907"/>
          </a:xfrm>
          <a:prstGeom prst="rect">
            <a:avLst/>
          </a:prstGeom>
        </p:spPr>
      </p:pic>
      <p:sp>
        <p:nvSpPr>
          <p:cNvPr id="14" name="Text 10"/>
          <p:cNvSpPr txBox="1"/>
          <p:nvPr/>
        </p:nvSpPr>
        <p:spPr>
          <a:xfrm>
            <a:off x="705002" y="340614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386938"/>
            <a:ext cx="238109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샷 (Medium Shot), 허리 위</a:t>
            </a:r>
            <a:endParaRPr lang="en-US" sz="1000" dirty="0"/>
          </a:p>
        </p:txBody>
      </p:sp>
      <p:sp>
        <p:nvSpPr>
          <p:cNvPr id="16" name="Text 12"/>
          <p:cNvSpPr txBox="1"/>
          <p:nvPr/>
        </p:nvSpPr>
        <p:spPr>
          <a:xfrm>
            <a:off x="705002" y="3687775"/>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668573"/>
            <a:ext cx="21863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룩북 (Fashion Lookbook)</a:t>
            </a:r>
            <a:endParaRPr lang="en-US" sz="1000" dirty="0"/>
          </a:p>
        </p:txBody>
      </p:sp>
      <p:sp>
        <p:nvSpPr>
          <p:cNvPr id="18" name="Text 14"/>
          <p:cNvSpPr txBox="1"/>
          <p:nvPr/>
        </p:nvSpPr>
        <p:spPr>
          <a:xfrm>
            <a:off x="705002" y="396941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50208"/>
            <a:ext cx="24835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스트리트 패션 인물, 자연스러운 포즈</a:t>
            </a:r>
            <a:endParaRPr lang="en-US" sz="1000" dirty="0"/>
          </a:p>
        </p:txBody>
      </p:sp>
      <p:sp>
        <p:nvSpPr>
          <p:cNvPr id="20" name="Text 16"/>
          <p:cNvSpPr txBox="1"/>
          <p:nvPr/>
        </p:nvSpPr>
        <p:spPr>
          <a:xfrm>
            <a:off x="705002" y="42510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[배경]</a:t>
            </a:r>
            <a:endParaRPr lang="en-US" sz="900" dirty="0"/>
          </a:p>
        </p:txBody>
      </p:sp>
      <p:sp>
        <p:nvSpPr>
          <p:cNvPr id="21" name="Text 17"/>
          <p:cNvSpPr txBox="1"/>
          <p:nvPr/>
        </p:nvSpPr>
        <p:spPr>
          <a:xfrm>
            <a:off x="1257300" y="4232758"/>
            <a:ext cx="188183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거리 풍경 (Street Context)</a:t>
            </a:r>
            <a:endParaRPr lang="en-US" sz="1000" dirty="0"/>
          </a:p>
        </p:txBody>
      </p:sp>
      <p:sp>
        <p:nvSpPr>
          <p:cNvPr id="22" name="Text 18"/>
          <p:cNvSpPr txBox="1"/>
          <p:nvPr/>
        </p:nvSpPr>
        <p:spPr>
          <a:xfrm>
            <a:off x="705002" y="453359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514393"/>
            <a:ext cx="258500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자연광 (Soft Natural Light)</a:t>
            </a:r>
            <a:endParaRPr lang="en-US" sz="1000" dirty="0"/>
          </a:p>
        </p:txBody>
      </p:sp>
      <p:sp>
        <p:nvSpPr>
          <p:cNvPr id="24" name="Text 20"/>
          <p:cNvSpPr txBox="1"/>
          <p:nvPr/>
        </p:nvSpPr>
        <p:spPr>
          <a:xfrm>
            <a:off x="705002" y="48152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[렌즈]</a:t>
            </a:r>
            <a:endParaRPr lang="en-US" sz="900" dirty="0"/>
          </a:p>
        </p:txBody>
      </p:sp>
      <p:sp>
        <p:nvSpPr>
          <p:cNvPr id="25" name="Text 21"/>
          <p:cNvSpPr txBox="1"/>
          <p:nvPr/>
        </p:nvSpPr>
        <p:spPr>
          <a:xfrm>
            <a:off x="1257300" y="4796028"/>
            <a:ext cx="10479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50mm 렌즈 느낌</a:t>
            </a:r>
            <a:endParaRPr lang="en-US" sz="1000" dirty="0"/>
          </a:p>
        </p:txBody>
      </p:sp>
      <p:sp>
        <p:nvSpPr>
          <p:cNvPr id="26" name="Shape 22"/>
          <p:cNvSpPr/>
          <p:nvPr/>
        </p:nvSpPr>
        <p:spPr>
          <a:xfrm>
            <a:off x="476402" y="5383072"/>
            <a:ext cx="3619195" cy="101772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70525"/>
            <a:ext cx="105156" cy="133502"/>
          </a:xfrm>
          <a:prstGeom prst="rect">
            <a:avLst/>
          </a:prstGeom>
        </p:spPr>
      </p:pic>
      <p:sp>
        <p:nvSpPr>
          <p:cNvPr id="28" name="Text 23"/>
          <p:cNvSpPr txBox="1"/>
          <p:nvPr/>
        </p:nvSpPr>
        <p:spPr>
          <a:xfrm>
            <a:off x="809244" y="551657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791809"/>
            <a:ext cx="3134563"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배경 심도(Depth of Field)를 조절해보세요. 배경을 흐리게 하면 인물에 집중도가 높아지고, 선명하게 하면 장소의 분위기를 함께 전달할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미디엄 샷. 허리부터 위를 담은 인물 구성, 패션 룩북 스타일, 자연스러운 포즈, 배경과 인물의 균형, 스트리트 패션 컨텍스트, 부드러운 자연광, 50mm 렌즈 느낌.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219273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08</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매크로 샷</a:t>
            </a:r>
            <a:endParaRPr lang="en-US" sz="3100" dirty="0"/>
          </a:p>
        </p:txBody>
      </p:sp>
      <p:sp>
        <p:nvSpPr>
          <p:cNvPr id="8" name="Text 5"/>
          <p:cNvSpPr txBox="1"/>
          <p:nvPr/>
        </p:nvSpPr>
        <p:spPr>
          <a:xfrm>
            <a:off x="476402" y="1522476"/>
            <a:ext cx="94823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Macro Shot</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피사체에 극도로 접근하여 육안으로 보기 힘든 미세한 디테일과 질감을 포착합니다. 자연물의 패턴, 재질의 특성, 작은 소품의 정교함을 표현할 때 사용됩니다.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279953"/>
            <a:ext cx="157276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매크로 샷, 초근접 촬영</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561588"/>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꽃잎 위의 물방울, 섬유 조직</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9" name="Text 15"/>
          <p:cNvSpPr txBox="1"/>
          <p:nvPr/>
        </p:nvSpPr>
        <p:spPr>
          <a:xfrm>
            <a:off x="1257300" y="3843223"/>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아침 빛, 확산광</a:t>
            </a:r>
            <a:endParaRPr lang="en-US" sz="1000" dirty="0"/>
          </a:p>
        </p:txBody>
      </p:sp>
      <p:sp>
        <p:nvSpPr>
          <p:cNvPr id="20" name="Text 16"/>
          <p:cNvSpPr txBox="1"/>
          <p:nvPr/>
        </p:nvSpPr>
        <p:spPr>
          <a:xfrm>
            <a:off x="705002" y="414406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1" name="Text 17"/>
          <p:cNvSpPr txBox="1"/>
          <p:nvPr/>
        </p:nvSpPr>
        <p:spPr>
          <a:xfrm>
            <a:off x="1257300" y="4124858"/>
            <a:ext cx="124815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100mm 매크로 렌즈</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[초점]</a:t>
            </a:r>
            <a:endParaRPr lang="en-US" sz="900" dirty="0"/>
          </a:p>
        </p:txBody>
      </p:sp>
      <p:sp>
        <p:nvSpPr>
          <p:cNvPr id="23" name="Text 19"/>
          <p:cNvSpPr txBox="1"/>
          <p:nvPr/>
        </p:nvSpPr>
        <p:spPr>
          <a:xfrm>
            <a:off x="1257300" y="4407408"/>
            <a:ext cx="175564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극한의 얕은 심도 (Bokeh)</a:t>
            </a:r>
            <a:endParaRPr lang="en-US" sz="1000" dirty="0"/>
          </a:p>
        </p:txBody>
      </p:sp>
      <p:sp>
        <p:nvSpPr>
          <p:cNvPr id="24" name="Text 20"/>
          <p:cNvSpPr txBox="1"/>
          <p:nvPr/>
        </p:nvSpPr>
        <p:spPr>
          <a:xfrm>
            <a:off x="705002" y="470824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5" name="Text 21"/>
          <p:cNvSpPr txBox="1"/>
          <p:nvPr/>
        </p:nvSpPr>
        <p:spPr>
          <a:xfrm>
            <a:off x="1257300" y="4689043"/>
            <a:ext cx="126918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미세한 텍스처 강조</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82021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실습 포인트:</a:t>
            </a:r>
            <a:endParaRPr lang="en-US" sz="900" dirty="0"/>
          </a:p>
        </p:txBody>
      </p:sp>
      <p:sp>
        <p:nvSpPr>
          <p:cNvPr id="29" name="Text 24"/>
          <p:cNvSpPr txBox="1"/>
          <p:nvPr/>
        </p:nvSpPr>
        <p:spPr>
          <a:xfrm>
            <a:off x="809244" y="5691821"/>
            <a:ext cx="3229661"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패브릭, 가죽, 식물 등 서로 다른 3가지 재질의 텍스처를 매크로 샷으로 생성하여 질감 표현의 차이를 비교해보세요.</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매크로</a:t>
            </a:r>
            <a:r>
              <a:rPr lang="en-US" sz="1200" dirty="0">
                <a:solidFill>
                  <a:srgbClr val="333333"/>
                </a:solidFill>
                <a:latin typeface="Noto Sans KR" pitchFamily="34" charset="0"/>
                <a:ea typeface="Noto Sans KR" pitchFamily="34" charset="-122"/>
                <a:cs typeface="Noto Sans KR" pitchFamily="34" charset="-120"/>
              </a:rPr>
              <a:t> 샷. 꽃잎의 물방울 초근접 촬영, 미세한 디테일과 텍스처, 100mm 매크로 렌즈 효과, 극한의 얕은 피사계 심도, 배경 완전 흐림, 부드러운 아침 빛, 생명력 있는 색감.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25703"/>
            <a:ext cx="142646" cy="133502"/>
          </a:xfrm>
          <a:prstGeom prst="rect">
            <a:avLst/>
          </a:prstGeom>
        </p:spPr>
      </p:pic>
      <p:sp>
        <p:nvSpPr>
          <p:cNvPr id="6" name="Text 3"/>
          <p:cNvSpPr txBox="1"/>
          <p:nvPr/>
        </p:nvSpPr>
        <p:spPr>
          <a:xfrm>
            <a:off x="694944" y="791870"/>
            <a:ext cx="219273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09</a:t>
            </a:r>
            <a:endParaRPr lang="en-US" sz="1000" dirty="0"/>
          </a:p>
        </p:txBody>
      </p:sp>
      <p:sp>
        <p:nvSpPr>
          <p:cNvPr id="7" name="Text 4"/>
          <p:cNvSpPr txBox="1"/>
          <p:nvPr/>
        </p:nvSpPr>
        <p:spPr>
          <a:xfrm>
            <a:off x="476402" y="1068019"/>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롱 샷</a:t>
            </a:r>
            <a:endParaRPr lang="en-US" sz="3100" dirty="0"/>
          </a:p>
        </p:txBody>
      </p:sp>
      <p:sp>
        <p:nvSpPr>
          <p:cNvPr id="8" name="Text 5"/>
          <p:cNvSpPr txBox="1"/>
          <p:nvPr/>
        </p:nvSpPr>
        <p:spPr>
          <a:xfrm>
            <a:off x="476402" y="1556309"/>
            <a:ext cx="853135"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Long Shot</a:t>
            </a:r>
            <a:endParaRPr lang="en-US" sz="1200" dirty="0"/>
          </a:p>
        </p:txBody>
      </p:sp>
      <p:sp>
        <p:nvSpPr>
          <p:cNvPr id="9" name="Text 6"/>
          <p:cNvSpPr txBox="1"/>
          <p:nvPr/>
        </p:nvSpPr>
        <p:spPr>
          <a:xfrm>
            <a:off x="476402" y="1965960"/>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인물과 주변 환경의 관계를 보여주는 구도입니다. 피사체가 어디에 위치해 있는지, 어떤 상황에 처해 있는지 '맥락(Context)'을 설명하거나 장소의 분위기를 강조할 때 효과적입니다.</a:t>
            </a:r>
            <a:endParaRPr lang="en-US" sz="1100" dirty="0"/>
          </a:p>
        </p:txBody>
      </p:sp>
      <p:sp>
        <p:nvSpPr>
          <p:cNvPr id="10" name="Shape 7"/>
          <p:cNvSpPr/>
          <p:nvPr/>
        </p:nvSpPr>
        <p:spPr>
          <a:xfrm>
            <a:off x="476402" y="3051353"/>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51353"/>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5160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51606"/>
            <a:ext cx="114300" cy="171907"/>
          </a:xfrm>
          <a:prstGeom prst="rect">
            <a:avLst/>
          </a:prstGeom>
        </p:spPr>
      </p:pic>
      <p:sp>
        <p:nvSpPr>
          <p:cNvPr id="14" name="Text 10"/>
          <p:cNvSpPr txBox="1"/>
          <p:nvPr/>
        </p:nvSpPr>
        <p:spPr>
          <a:xfrm>
            <a:off x="705002" y="35469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527755"/>
            <a:ext cx="129844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롱 샷, 와이드 앵글</a:t>
            </a:r>
            <a:endParaRPr lang="en-US" sz="1000" dirty="0"/>
          </a:p>
        </p:txBody>
      </p:sp>
      <p:sp>
        <p:nvSpPr>
          <p:cNvPr id="16" name="Text 12"/>
          <p:cNvSpPr txBox="1"/>
          <p:nvPr/>
        </p:nvSpPr>
        <p:spPr>
          <a:xfrm>
            <a:off x="705002" y="382859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809390"/>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산 정상의 등산객 실루엣</a:t>
            </a:r>
            <a:endParaRPr lang="en-US" sz="1000" dirty="0"/>
          </a:p>
        </p:txBody>
      </p:sp>
      <p:sp>
        <p:nvSpPr>
          <p:cNvPr id="18" name="Text 14"/>
          <p:cNvSpPr txBox="1"/>
          <p:nvPr/>
        </p:nvSpPr>
        <p:spPr>
          <a:xfrm>
            <a:off x="705002" y="41102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19" name="Text 15"/>
          <p:cNvSpPr txBox="1"/>
          <p:nvPr/>
        </p:nvSpPr>
        <p:spPr>
          <a:xfrm>
            <a:off x="1257300" y="4091026"/>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웅장한 산맥, 구름, 광활한 자연</a:t>
            </a:r>
            <a:endParaRPr lang="en-US" sz="1000" dirty="0"/>
          </a:p>
        </p:txBody>
      </p:sp>
      <p:sp>
        <p:nvSpPr>
          <p:cNvPr id="20" name="Text 16"/>
          <p:cNvSpPr txBox="1"/>
          <p:nvPr/>
        </p:nvSpPr>
        <p:spPr>
          <a:xfrm>
            <a:off x="705002" y="43927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373575"/>
            <a:ext cx="13533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골든아워, 따뜻한 빛</a:t>
            </a:r>
            <a:endParaRPr lang="en-US" sz="1000" dirty="0"/>
          </a:p>
        </p:txBody>
      </p:sp>
      <p:sp>
        <p:nvSpPr>
          <p:cNvPr id="22" name="Text 18"/>
          <p:cNvSpPr txBox="1"/>
          <p:nvPr/>
        </p:nvSpPr>
        <p:spPr>
          <a:xfrm>
            <a:off x="705002" y="467441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3" name="Text 19"/>
          <p:cNvSpPr txBox="1"/>
          <p:nvPr/>
        </p:nvSpPr>
        <p:spPr>
          <a:xfrm>
            <a:off x="1257300" y="4655210"/>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시네마틱, 여행 사진, 에픽 무드</a:t>
            </a:r>
            <a:endParaRPr lang="en-US" sz="1000" dirty="0"/>
          </a:p>
        </p:txBody>
      </p:sp>
      <p:sp>
        <p:nvSpPr>
          <p:cNvPr id="24" name="Shape 20"/>
          <p:cNvSpPr/>
          <p:nvPr/>
        </p:nvSpPr>
        <p:spPr>
          <a:xfrm>
            <a:off x="476402" y="5242254"/>
            <a:ext cx="3619195" cy="115854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29707"/>
            <a:ext cx="105156" cy="133502"/>
          </a:xfrm>
          <a:prstGeom prst="rect">
            <a:avLst/>
          </a:prstGeom>
        </p:spPr>
      </p:pic>
      <p:sp>
        <p:nvSpPr>
          <p:cNvPr id="26" name="Text 21"/>
          <p:cNvSpPr txBox="1"/>
          <p:nvPr/>
        </p:nvSpPr>
        <p:spPr>
          <a:xfrm>
            <a:off x="809244" y="5374843"/>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636362"/>
            <a:ext cx="321960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피사체를 화면의 1/3 지점이나 중앙에 작게 배치하여 배경의 압도적인 스케일감을 강조하세요. '고독함', '자유', '여정' 같은 스토리텔링에 적합합니다.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롱 샷(Long Shot) 구도. 웅장한 산맥과 구름이 펼쳐진 광활한 자연 풍경 속 산 정상에 서 있는 등산객의 실루엣, 인물과 배경의 압도적인 스케일감 대비, 골든아워의 따뜻한 빛, 시네마틱한 여행 사진 스타일, 에픽 무드.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2191817"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10</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와이드 샷</a:t>
            </a:r>
            <a:endParaRPr lang="en-US" sz="3100" dirty="0"/>
          </a:p>
        </p:txBody>
      </p:sp>
      <p:sp>
        <p:nvSpPr>
          <p:cNvPr id="8" name="Text 5"/>
          <p:cNvSpPr txBox="1"/>
          <p:nvPr/>
        </p:nvSpPr>
        <p:spPr>
          <a:xfrm>
            <a:off x="476402" y="1663294"/>
            <a:ext cx="853135"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Wide Shot</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넓은 화각으로 인물보다는 광활한 공간감과 전체적인 분위기를 강조하는 구도입니다. 도시 풍경이나 자연의 웅장함을 담아낼 때 효과적입니다.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20770"/>
            <a:ext cx="15645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와이드 샷 (Wide Shot)</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14072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도시 거리의 파노라마</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[렌즈]</a:t>
            </a:r>
            <a:endParaRPr lang="en-US" sz="900" dirty="0"/>
          </a:p>
        </p:txBody>
      </p:sp>
      <p:sp>
        <p:nvSpPr>
          <p:cNvPr id="19" name="Text 15"/>
          <p:cNvSpPr txBox="1"/>
          <p:nvPr/>
        </p:nvSpPr>
        <p:spPr>
          <a:xfrm>
            <a:off x="1257300" y="3984041"/>
            <a:ext cx="144292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광각 렌즈 (16-24mm)</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66590"/>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드라마틱한 하늘, 수평선 강조</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[비율]</a:t>
            </a:r>
            <a:endParaRPr lang="en-US" sz="900" dirty="0"/>
          </a:p>
        </p:txBody>
      </p:sp>
      <p:sp>
        <p:nvSpPr>
          <p:cNvPr id="23" name="Text 19"/>
          <p:cNvSpPr txBox="1"/>
          <p:nvPr/>
        </p:nvSpPr>
        <p:spPr>
          <a:xfrm>
            <a:off x="1257300" y="4548226"/>
            <a:ext cx="188183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시네마틱 비율 (2.35:1 느낌)</a:t>
            </a:r>
            <a:endParaRPr lang="en-US" sz="1000" dirty="0"/>
          </a:p>
        </p:txBody>
      </p:sp>
      <p:sp>
        <p:nvSpPr>
          <p:cNvPr id="24" name="Shape 20"/>
          <p:cNvSpPr/>
          <p:nvPr/>
        </p:nvSpPr>
        <p:spPr>
          <a:xfrm>
            <a:off x="476402" y="5134355"/>
            <a:ext cx="3619195" cy="1132941"/>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82411"/>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도로나 건물의 선을 활용한 '리딩 라인(Leading Lines)'을 구성하면 시선을 자연스럽게 이끌어 깊이감을 더할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1132941"/>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와이드 샷 구도. 광각 렌즈(16-24mm)로 담은 도시 거리의 파노라마, 드라마틱한 하늘과 수평선이 강조된 웅장한 풍경, 인물보다는 공간감과 분위기 강조, 시네마틱 2.35:1 비율 느낌.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77240"/>
            <a:ext cx="142646" cy="133502"/>
          </a:xfrm>
          <a:prstGeom prst="rect">
            <a:avLst/>
          </a:prstGeom>
        </p:spPr>
      </p:pic>
      <p:sp>
        <p:nvSpPr>
          <p:cNvPr id="6" name="Text 3"/>
          <p:cNvSpPr txBox="1"/>
          <p:nvPr/>
        </p:nvSpPr>
        <p:spPr>
          <a:xfrm>
            <a:off x="694944" y="744322"/>
            <a:ext cx="2000707"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11</a:t>
            </a:r>
            <a:endParaRPr lang="en-US" sz="1000" dirty="0"/>
          </a:p>
        </p:txBody>
      </p:sp>
      <p:sp>
        <p:nvSpPr>
          <p:cNvPr id="7" name="Text 4"/>
          <p:cNvSpPr txBox="1"/>
          <p:nvPr/>
        </p:nvSpPr>
        <p:spPr>
          <a:xfrm>
            <a:off x="476402" y="1020470"/>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미디엄 클로즈업</a:t>
            </a:r>
            <a:endParaRPr lang="en-US" sz="3100" dirty="0"/>
          </a:p>
        </p:txBody>
      </p:sp>
      <p:sp>
        <p:nvSpPr>
          <p:cNvPr id="8" name="Text 5"/>
          <p:cNvSpPr txBox="1"/>
          <p:nvPr/>
        </p:nvSpPr>
        <p:spPr>
          <a:xfrm>
            <a:off x="476402" y="1507846"/>
            <a:ext cx="199156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Medium Close-up (MCU)</a:t>
            </a:r>
            <a:endParaRPr lang="en-US" sz="1200" dirty="0"/>
          </a:p>
        </p:txBody>
      </p:sp>
      <p:sp>
        <p:nvSpPr>
          <p:cNvPr id="9" name="Text 6"/>
          <p:cNvSpPr txBox="1"/>
          <p:nvPr/>
        </p:nvSpPr>
        <p:spPr>
          <a:xfrm>
            <a:off x="476402" y="1917497"/>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가슴 위쪽부터 머리까지를 담는 구도로, 얼굴 표정이 잘 드러나면서도 어깨와 상체의 움직임을 함께 보여줄 수 있습니다. 감정 전달과 상황 설명의 균형이 좋아 인터뷰나 대화 장면에 자주 사용됩니다.</a:t>
            </a:r>
            <a:endParaRPr lang="en-US" sz="1100" dirty="0"/>
          </a:p>
        </p:txBody>
      </p:sp>
      <p:sp>
        <p:nvSpPr>
          <p:cNvPr id="10" name="Shape 7"/>
          <p:cNvSpPr/>
          <p:nvPr/>
        </p:nvSpPr>
        <p:spPr>
          <a:xfrm>
            <a:off x="476402" y="3003804"/>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03804"/>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03143"/>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03143"/>
            <a:ext cx="114300" cy="171907"/>
          </a:xfrm>
          <a:prstGeom prst="rect">
            <a:avLst/>
          </a:prstGeom>
        </p:spPr>
      </p:pic>
      <p:sp>
        <p:nvSpPr>
          <p:cNvPr id="14" name="Text 10"/>
          <p:cNvSpPr txBox="1"/>
          <p:nvPr/>
        </p:nvSpPr>
        <p:spPr>
          <a:xfrm>
            <a:off x="705002" y="34984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79292"/>
            <a:ext cx="21561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Medium Close-up Shot (MCU)</a:t>
            </a:r>
            <a:endParaRPr lang="en-US" sz="1000" dirty="0"/>
          </a:p>
        </p:txBody>
      </p:sp>
      <p:sp>
        <p:nvSpPr>
          <p:cNvPr id="16" name="Text 12"/>
          <p:cNvSpPr txBox="1"/>
          <p:nvPr/>
        </p:nvSpPr>
        <p:spPr>
          <a:xfrm>
            <a:off x="705002" y="37801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61842"/>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어깨 위 인물 구도, 섬세한 표정</a:t>
            </a:r>
            <a:endParaRPr lang="en-US" sz="1000" dirty="0"/>
          </a:p>
        </p:txBody>
      </p:sp>
      <p:sp>
        <p:nvSpPr>
          <p:cNvPr id="18" name="Text 14"/>
          <p:cNvSpPr txBox="1"/>
          <p:nvPr/>
        </p:nvSpPr>
        <p:spPr>
          <a:xfrm>
            <a:off x="705002" y="406267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9" name="Text 15"/>
          <p:cNvSpPr txBox="1"/>
          <p:nvPr/>
        </p:nvSpPr>
        <p:spPr>
          <a:xfrm>
            <a:off x="1257300" y="4043477"/>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소프트 라이팅, 렘브란트 조명</a:t>
            </a:r>
            <a:endParaRPr lang="en-US" sz="1000" dirty="0"/>
          </a:p>
        </p:txBody>
      </p:sp>
      <p:sp>
        <p:nvSpPr>
          <p:cNvPr id="20" name="Text 16"/>
          <p:cNvSpPr txBox="1"/>
          <p:nvPr/>
        </p:nvSpPr>
        <p:spPr>
          <a:xfrm>
            <a:off x="705002" y="434431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[배경]</a:t>
            </a:r>
            <a:endParaRPr lang="en-US" sz="900" dirty="0"/>
          </a:p>
        </p:txBody>
      </p:sp>
      <p:sp>
        <p:nvSpPr>
          <p:cNvPr id="21" name="Text 17"/>
          <p:cNvSpPr txBox="1"/>
          <p:nvPr/>
        </p:nvSpPr>
        <p:spPr>
          <a:xfrm>
            <a:off x="1257300" y="4325112"/>
            <a:ext cx="218815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자연스러운 흐림 (Bokeh Effect)</a:t>
            </a:r>
            <a:endParaRPr lang="en-US" sz="1000" dirty="0"/>
          </a:p>
        </p:txBody>
      </p:sp>
      <p:sp>
        <p:nvSpPr>
          <p:cNvPr id="22" name="Text 18"/>
          <p:cNvSpPr txBox="1"/>
          <p:nvPr/>
        </p:nvSpPr>
        <p:spPr>
          <a:xfrm>
            <a:off x="705002" y="462595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3" name="Text 19"/>
          <p:cNvSpPr txBox="1"/>
          <p:nvPr/>
        </p:nvSpPr>
        <p:spPr>
          <a:xfrm>
            <a:off x="1257300" y="4606747"/>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인터뷰, 포토리얼리즘 초상화</a:t>
            </a:r>
            <a:endParaRPr lang="en-US" sz="1000" dirty="0"/>
          </a:p>
        </p:txBody>
      </p:sp>
      <p:sp>
        <p:nvSpPr>
          <p:cNvPr id="24" name="Text 20"/>
          <p:cNvSpPr txBox="1"/>
          <p:nvPr/>
        </p:nvSpPr>
        <p:spPr>
          <a:xfrm>
            <a:off x="705002" y="490849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[초점]</a:t>
            </a:r>
            <a:endParaRPr lang="en-US" sz="900" dirty="0"/>
          </a:p>
        </p:txBody>
      </p:sp>
      <p:sp>
        <p:nvSpPr>
          <p:cNvPr id="25" name="Text 21"/>
          <p:cNvSpPr txBox="1"/>
          <p:nvPr/>
        </p:nvSpPr>
        <p:spPr>
          <a:xfrm>
            <a:off x="1257300" y="4889297"/>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눈에 맞춘 선명한 포커스</a:t>
            </a:r>
            <a:endParaRPr lang="en-US" sz="1000" dirty="0"/>
          </a:p>
        </p:txBody>
      </p:sp>
      <p:sp>
        <p:nvSpPr>
          <p:cNvPr id="26" name="Shape 22"/>
          <p:cNvSpPr/>
          <p:nvPr/>
        </p:nvSpPr>
        <p:spPr>
          <a:xfrm>
            <a:off x="476402" y="5475427"/>
            <a:ext cx="3619195" cy="984096"/>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663794"/>
            <a:ext cx="105156" cy="133502"/>
          </a:xfrm>
          <a:prstGeom prst="rect">
            <a:avLst/>
          </a:prstGeom>
        </p:spPr>
      </p:pic>
      <p:sp>
        <p:nvSpPr>
          <p:cNvPr id="28" name="Text 23"/>
          <p:cNvSpPr txBox="1"/>
          <p:nvPr/>
        </p:nvSpPr>
        <p:spPr>
          <a:xfrm>
            <a:off x="809244" y="5608930"/>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873191"/>
            <a:ext cx="3210458"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시선 처리가 중요합니다. 렌즈를 정면으로 응시하면 관객과의 소통을, 측면을 보면 자연스러운 인터뷰 느낌을 줍니다.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미디엄</a:t>
            </a:r>
            <a:r>
              <a:rPr lang="en-US" sz="1200" dirty="0">
                <a:solidFill>
                  <a:srgbClr val="333333"/>
                </a:solidFill>
                <a:latin typeface="Noto Sans KR" pitchFamily="34" charset="0"/>
                <a:ea typeface="Noto Sans KR" pitchFamily="34" charset="-122"/>
                <a:cs typeface="Noto Sans KR" pitchFamily="34" charset="-120"/>
              </a:rPr>
              <a:t> 클로즈업 샷. 가슴 위부터 머리까지 담는 구도, 섬세한 표정 묘사, 부드러운 소프트 라이팅, 렘브란트 조명, 자연스러운 보케 배경, 인터뷰 스타일, 포토리얼리즘 초상화, 눈에 맞춘 선명한 초점.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2001622"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12</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미디엄 롱 샷</a:t>
            </a:r>
            <a:endParaRPr lang="en-US" sz="3100" dirty="0"/>
          </a:p>
        </p:txBody>
      </p:sp>
      <p:sp>
        <p:nvSpPr>
          <p:cNvPr id="8" name="Text 5"/>
          <p:cNvSpPr txBox="1"/>
          <p:nvPr/>
        </p:nvSpPr>
        <p:spPr>
          <a:xfrm>
            <a:off x="476402" y="1663294"/>
            <a:ext cx="208391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Medium Long Shot (MLS)</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무릎 위부터 머리까지(Knees up) 담는 구도로, 인물의 움직임과 신체 언어를 잘 보여주면서도 배경의 맥락을 함께 전달하여 패션 화보나 역동적인 장면에 적합합니다.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20770"/>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롱 샷, 무릎 위 프레이밍</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모델의 워킹, 자연스러운 포즈</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19" name="Text 15"/>
          <p:cNvSpPr txBox="1"/>
          <p:nvPr/>
        </p:nvSpPr>
        <p:spPr>
          <a:xfrm>
            <a:off x="1257300" y="3984041"/>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도심 스트리트, 배경 컨텍스트 포함</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66590"/>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자연광, 부드러운 그림자</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3" name="Text 19"/>
          <p:cNvSpPr txBox="1"/>
          <p:nvPr/>
        </p:nvSpPr>
        <p:spPr>
          <a:xfrm>
            <a:off x="1257300" y="4548226"/>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화보, 현대적인 감각</a:t>
            </a:r>
            <a:endParaRPr lang="en-US" sz="1000" dirty="0"/>
          </a:p>
        </p:txBody>
      </p:sp>
      <p:sp>
        <p:nvSpPr>
          <p:cNvPr id="24" name="Shape 20"/>
          <p:cNvSpPr/>
          <p:nvPr/>
        </p:nvSpPr>
        <p:spPr>
          <a:xfrm>
            <a:off x="476402" y="5134356"/>
            <a:ext cx="3619195" cy="1266444"/>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606370"/>
            <a:ext cx="32104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셔터 스피드를 조절하여 배경에 약간의 모션 블러를 주거나, 인물의 옷자락이 휘날리는 순간을 포착하면 더욱 역동적인 느낌을 연출할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미디엄 롱 샷, 무릎 위 프레이밍, 인물과 환경의 조화, 패션 사진 스타일, 자연스러운 포즈, 배경 컨텍스트 포함, 균형 잡힌 구도.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2001622"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COMPOSITION MASTER 13</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스플릿 스크린</a:t>
            </a:r>
            <a:endParaRPr lang="en-US" sz="3100" dirty="0"/>
          </a:p>
        </p:txBody>
      </p:sp>
      <p:sp>
        <p:nvSpPr>
          <p:cNvPr id="8" name="Text 5"/>
          <p:cNvSpPr txBox="1"/>
          <p:nvPr/>
        </p:nvSpPr>
        <p:spPr>
          <a:xfrm>
            <a:off x="476402" y="1522476"/>
            <a:ext cx="147401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Split Screen Shot</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화면을 분할하여 서로 다른 시점이나 장면을 동시에 보여주는 기법입니다. 비교, 대조 또는 동시 다발적인 상황을 서사적으로 전달할 때 효과적입니다.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279953"/>
            <a:ext cx="199522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스플릿 스크린 (Split Screen)</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17" name="Text 13"/>
          <p:cNvSpPr txBox="1"/>
          <p:nvPr/>
        </p:nvSpPr>
        <p:spPr>
          <a:xfrm>
            <a:off x="1257300" y="3561588"/>
            <a:ext cx="16596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좌우 2분할, 대칭적 배치</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843223"/>
            <a:ext cx="22704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대비되는 두 장면 (도시 vs 자연)</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124858"/>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각 장면에 맞는 대비 조명</a:t>
            </a:r>
            <a:endParaRPr lang="en-US" sz="1000" dirty="0"/>
          </a:p>
        </p:txBody>
      </p:sp>
      <p:sp>
        <p:nvSpPr>
          <p:cNvPr id="22" name="Text 18"/>
          <p:cNvSpPr txBox="1"/>
          <p:nvPr/>
        </p:nvSpPr>
        <p:spPr>
          <a:xfrm>
            <a:off x="705002" y="442569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3" name="Text 19"/>
          <p:cNvSpPr txBox="1"/>
          <p:nvPr/>
        </p:nvSpPr>
        <p:spPr>
          <a:xfrm>
            <a:off x="1257300" y="4407408"/>
            <a:ext cx="20418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현대적인 에디토리얼, 시네마틱</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[효과]</a:t>
            </a:r>
            <a:endParaRPr lang="en-US" sz="900" dirty="0"/>
          </a:p>
        </p:txBody>
      </p:sp>
      <p:sp>
        <p:nvSpPr>
          <p:cNvPr id="25" name="Text 21"/>
          <p:cNvSpPr txBox="1"/>
          <p:nvPr/>
        </p:nvSpPr>
        <p:spPr>
          <a:xfrm>
            <a:off x="1257300" y="4689043"/>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시각적 비교, 병렬 내러티브</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702198"/>
            <a:ext cx="321960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분할 비율을 50:50에서 30:70으로 변경하거나, 'Split Screen 3'와 같이 숫자를 넣어 다양한 레이아웃을 실험해보세요.</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스플릿</a:t>
            </a:r>
            <a:r>
              <a:rPr lang="en-US" sz="1200" dirty="0">
                <a:solidFill>
                  <a:srgbClr val="333333"/>
                </a:solidFill>
                <a:latin typeface="Noto Sans KR" pitchFamily="34" charset="0"/>
                <a:ea typeface="Noto Sans KR" pitchFamily="34" charset="-122"/>
                <a:cs typeface="Noto Sans KR" pitchFamily="34" charset="-120"/>
              </a:rPr>
              <a:t> 스크린 구도. 화면을 좌우로 분할하여 대비되는 두 장면(현대적인 도시의 밤과 평화로운 자연의 낮)을 동시에 보여주는 구성, 대칭적인 레이아웃, 모던 에디토리얼 스타일, 시각적 대비 효과.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142555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01</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포토리얼리즘</a:t>
            </a:r>
            <a:endParaRPr lang="en-US" sz="3100" dirty="0"/>
          </a:p>
        </p:txBody>
      </p:sp>
      <p:sp>
        <p:nvSpPr>
          <p:cNvPr id="8" name="Text 5"/>
          <p:cNvSpPr txBox="1"/>
          <p:nvPr/>
        </p:nvSpPr>
        <p:spPr>
          <a:xfrm>
            <a:off x="476402" y="1522476"/>
            <a:ext cx="161025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Photorealism Style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실제 사진과 구별할 수 없을 정도의 극사실적인 묘사 방식입니다. 피부의 미세한 질감, 빛의 반사, 물리 기반의 조명을 정밀하게 구현합니다.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279953"/>
            <a:ext cx="14081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사진, 포토리얼리스틱</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561588"/>
            <a:ext cx="113111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모델 초상화</a:t>
            </a:r>
            <a:endParaRPr lang="en-US" sz="1000" dirty="0"/>
          </a:p>
        </p:txBody>
      </p:sp>
      <p:sp>
        <p:nvSpPr>
          <p:cNvPr id="18" name="Text 14"/>
          <p:cNvSpPr txBox="1"/>
          <p:nvPr/>
        </p:nvSpPr>
        <p:spPr>
          <a:xfrm>
            <a:off x="705002" y="386242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19" name="Text 15"/>
          <p:cNvSpPr txBox="1"/>
          <p:nvPr/>
        </p:nvSpPr>
        <p:spPr>
          <a:xfrm>
            <a:off x="1257300" y="3843223"/>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피부 텍스처, 솜털, 머리카락</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124858"/>
            <a:ext cx="11631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자연광, 3점 조명</a:t>
            </a:r>
            <a:endParaRPr lang="en-US" sz="1000" dirty="0"/>
          </a:p>
        </p:txBody>
      </p:sp>
      <p:sp>
        <p:nvSpPr>
          <p:cNvPr id="22" name="Text 18"/>
          <p:cNvSpPr txBox="1"/>
          <p:nvPr/>
        </p:nvSpPr>
        <p:spPr>
          <a:xfrm>
            <a:off x="705002" y="442569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407408"/>
            <a:ext cx="18434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DSLR, 85mm 렌즈, 8K UHD</a:t>
            </a:r>
            <a:endParaRPr lang="en-US" sz="1000" dirty="0"/>
          </a:p>
        </p:txBody>
      </p:sp>
      <p:sp>
        <p:nvSpPr>
          <p:cNvPr id="24" name="Text 20"/>
          <p:cNvSpPr txBox="1"/>
          <p:nvPr/>
        </p:nvSpPr>
        <p:spPr>
          <a:xfrm>
            <a:off x="705002" y="470824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[후보정]</a:t>
            </a:r>
            <a:endParaRPr lang="en-US" sz="900" dirty="0"/>
          </a:p>
        </p:txBody>
      </p:sp>
      <p:sp>
        <p:nvSpPr>
          <p:cNvPr id="25" name="Text 21"/>
          <p:cNvSpPr txBox="1"/>
          <p:nvPr/>
        </p:nvSpPr>
        <p:spPr>
          <a:xfrm>
            <a:off x="1257300" y="4689043"/>
            <a:ext cx="16989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샤프니스 증가, RAW 느낌</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88213" y="5683910"/>
            <a:ext cx="320040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'Unreal Engine 5', 'Octane Render' 키워드는 디지털 아트 느낌을 줄 수 있습니다. 순수 사진 느낌을 원한다면 'Fujifilm', 'Kodak' 같은 필름 브랜드를 명시하세요.</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포토리얼리즘</a:t>
            </a:r>
            <a:r>
              <a:rPr lang="en-US" sz="1200" dirty="0">
                <a:solidFill>
                  <a:srgbClr val="333333"/>
                </a:solidFill>
                <a:latin typeface="Noto Sans KR" pitchFamily="34" charset="0"/>
                <a:ea typeface="Noto Sans KR" pitchFamily="34" charset="-122"/>
                <a:cs typeface="Noto Sans KR" pitchFamily="34" charset="-120"/>
              </a:rPr>
              <a:t> 스타일. 패션 모델의 초상화, 극사실적인 피부 질감과 솜털 디테일, 자연스러운 모공, 눈동자의 반사, 85mm 인물 렌즈, 자연광 조명, DSLR 촬영, 8K 고해상도, RAW 사진 느낌.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25703"/>
            <a:ext cx="142646" cy="133502"/>
          </a:xfrm>
          <a:prstGeom prst="rect">
            <a:avLst/>
          </a:prstGeom>
        </p:spPr>
      </p:pic>
      <p:sp>
        <p:nvSpPr>
          <p:cNvPr id="6" name="Text 3"/>
          <p:cNvSpPr txBox="1"/>
          <p:nvPr/>
        </p:nvSpPr>
        <p:spPr>
          <a:xfrm>
            <a:off x="694944" y="791870"/>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02</a:t>
            </a:r>
            <a:endParaRPr lang="en-US" sz="1000" dirty="0"/>
          </a:p>
        </p:txBody>
      </p:sp>
      <p:sp>
        <p:nvSpPr>
          <p:cNvPr id="7" name="Text 4"/>
          <p:cNvSpPr txBox="1"/>
          <p:nvPr/>
        </p:nvSpPr>
        <p:spPr>
          <a:xfrm>
            <a:off x="476402" y="1068019"/>
            <a:ext cx="38103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3D 렌더링</a:t>
            </a:r>
            <a:endParaRPr lang="en-US" sz="3100" dirty="0"/>
          </a:p>
        </p:txBody>
      </p:sp>
      <p:sp>
        <p:nvSpPr>
          <p:cNvPr id="8" name="Text 5"/>
          <p:cNvSpPr txBox="1"/>
          <p:nvPr/>
        </p:nvSpPr>
        <p:spPr>
          <a:xfrm>
            <a:off x="476402" y="1556309"/>
            <a:ext cx="262981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High-End Product Visualization</a:t>
            </a:r>
            <a:endParaRPr lang="en-US" sz="1200" dirty="0"/>
          </a:p>
        </p:txBody>
      </p:sp>
      <p:sp>
        <p:nvSpPr>
          <p:cNvPr id="9" name="Text 6"/>
          <p:cNvSpPr txBox="1"/>
          <p:nvPr/>
        </p:nvSpPr>
        <p:spPr>
          <a:xfrm>
            <a:off x="476402" y="1965960"/>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매끄러운 표면 질감과 정밀한 조명 계산이 특징인 디지털 아트 형식입니다. 물리 기반 렌더링(PBR)을 통해 금속, 유리 등의 재질을 사실적으로 표현하며 미래지향적인 분위기를 연출합니다.</a:t>
            </a:r>
            <a:endParaRPr lang="en-US" sz="1100" dirty="0"/>
          </a:p>
        </p:txBody>
      </p:sp>
      <p:sp>
        <p:nvSpPr>
          <p:cNvPr id="10" name="Shape 7"/>
          <p:cNvSpPr/>
          <p:nvPr/>
        </p:nvSpPr>
        <p:spPr>
          <a:xfrm>
            <a:off x="476402" y="3051353"/>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51353"/>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5160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51606"/>
            <a:ext cx="114300" cy="171907"/>
          </a:xfrm>
          <a:prstGeom prst="rect">
            <a:avLst/>
          </a:prstGeom>
        </p:spPr>
      </p:pic>
      <p:sp>
        <p:nvSpPr>
          <p:cNvPr id="14" name="Text 10"/>
          <p:cNvSpPr txBox="1"/>
          <p:nvPr/>
        </p:nvSpPr>
        <p:spPr>
          <a:xfrm>
            <a:off x="705002" y="35469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527755"/>
            <a:ext cx="21314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3D Render, Cinema 4D Style</a:t>
            </a:r>
            <a:endParaRPr lang="en-US" sz="1000" dirty="0"/>
          </a:p>
        </p:txBody>
      </p:sp>
      <p:sp>
        <p:nvSpPr>
          <p:cNvPr id="16" name="Text 12"/>
          <p:cNvSpPr txBox="1"/>
          <p:nvPr/>
        </p:nvSpPr>
        <p:spPr>
          <a:xfrm>
            <a:off x="705002" y="382859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809390"/>
            <a:ext cx="255209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미래형 제품 디자인 (Modern Gadget)</a:t>
            </a:r>
            <a:endParaRPr lang="en-US" sz="1000" dirty="0"/>
          </a:p>
        </p:txBody>
      </p:sp>
      <p:sp>
        <p:nvSpPr>
          <p:cNvPr id="18" name="Text 14"/>
          <p:cNvSpPr txBox="1"/>
          <p:nvPr/>
        </p:nvSpPr>
        <p:spPr>
          <a:xfrm>
            <a:off x="705002" y="41102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[재질]</a:t>
            </a:r>
            <a:endParaRPr lang="en-US" sz="900" dirty="0"/>
          </a:p>
        </p:txBody>
      </p:sp>
      <p:sp>
        <p:nvSpPr>
          <p:cNvPr id="19" name="Text 15"/>
          <p:cNvSpPr txBox="1"/>
          <p:nvPr/>
        </p:nvSpPr>
        <p:spPr>
          <a:xfrm>
            <a:off x="1257300" y="4091026"/>
            <a:ext cx="179405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광택 있는 금속, 투명 유리</a:t>
            </a:r>
            <a:endParaRPr lang="en-US" sz="1000" dirty="0"/>
          </a:p>
        </p:txBody>
      </p:sp>
      <p:sp>
        <p:nvSpPr>
          <p:cNvPr id="20" name="Text 16"/>
          <p:cNvSpPr txBox="1"/>
          <p:nvPr/>
        </p:nvSpPr>
        <p:spPr>
          <a:xfrm>
            <a:off x="705002" y="43927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373575"/>
            <a:ext cx="253928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스튜디오 조명, 림 라이트 (Rim Light)</a:t>
            </a:r>
            <a:endParaRPr lang="en-US" sz="1000" dirty="0"/>
          </a:p>
        </p:txBody>
      </p:sp>
      <p:sp>
        <p:nvSpPr>
          <p:cNvPr id="22" name="Text 18"/>
          <p:cNvSpPr txBox="1"/>
          <p:nvPr/>
        </p:nvSpPr>
        <p:spPr>
          <a:xfrm>
            <a:off x="705002" y="467441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[렌더]</a:t>
            </a:r>
            <a:endParaRPr lang="en-US" sz="900" dirty="0"/>
          </a:p>
        </p:txBody>
      </p:sp>
      <p:sp>
        <p:nvSpPr>
          <p:cNvPr id="23" name="Text 19"/>
          <p:cNvSpPr txBox="1"/>
          <p:nvPr/>
        </p:nvSpPr>
        <p:spPr>
          <a:xfrm>
            <a:off x="1257300" y="4655210"/>
            <a:ext cx="298185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Octane Render, 8K, Global Illumination</a:t>
            </a:r>
            <a:endParaRPr lang="en-US" sz="1000" dirty="0"/>
          </a:p>
        </p:txBody>
      </p:sp>
      <p:sp>
        <p:nvSpPr>
          <p:cNvPr id="24" name="Shape 20"/>
          <p:cNvSpPr/>
          <p:nvPr/>
        </p:nvSpPr>
        <p:spPr>
          <a:xfrm>
            <a:off x="476402" y="5242254"/>
            <a:ext cx="3619195" cy="115397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29707"/>
            <a:ext cx="105156" cy="133502"/>
          </a:xfrm>
          <a:prstGeom prst="rect">
            <a:avLst/>
          </a:prstGeom>
        </p:spPr>
      </p:pic>
      <p:sp>
        <p:nvSpPr>
          <p:cNvPr id="26" name="Text 21"/>
          <p:cNvSpPr txBox="1"/>
          <p:nvPr/>
        </p:nvSpPr>
        <p:spPr>
          <a:xfrm>
            <a:off x="809244" y="5374843"/>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0099" y="5661905"/>
            <a:ext cx="316291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HDRI 맵 환경을 적용하면 반사면에 주변 환경이 비치면서 더욱 사실적인 금속 질감을 얻을 수 있습니다. [배경]을 '추상적 도형'으로 설정하면 모션 그래픽 느낌을 줍니다.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3D 렌더링 스타일. 미래형 제품 디자인(Modern Gadget), 시네마 4D 스타일, 광택 있는 금속과 투명 유리 재질, 스튜디오 조명 및 림 라이트(Rim Light), 옥테인 렌더, 8K 고해상도, 글로벌 일루미네이션.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25703"/>
            <a:ext cx="142646" cy="133502"/>
          </a:xfrm>
          <a:prstGeom prst="rect">
            <a:avLst/>
          </a:prstGeom>
        </p:spPr>
      </p:pic>
      <p:sp>
        <p:nvSpPr>
          <p:cNvPr id="6" name="Text 3"/>
          <p:cNvSpPr txBox="1"/>
          <p:nvPr/>
        </p:nvSpPr>
        <p:spPr>
          <a:xfrm>
            <a:off x="694944" y="791870"/>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03</a:t>
            </a:r>
            <a:endParaRPr lang="en-US" sz="1000" dirty="0"/>
          </a:p>
        </p:txBody>
      </p:sp>
      <p:sp>
        <p:nvSpPr>
          <p:cNvPr id="7" name="Text 4"/>
          <p:cNvSpPr txBox="1"/>
          <p:nvPr/>
        </p:nvSpPr>
        <p:spPr>
          <a:xfrm>
            <a:off x="476402" y="1068019"/>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수채화</a:t>
            </a:r>
            <a:endParaRPr lang="en-US" sz="3100" dirty="0"/>
          </a:p>
        </p:txBody>
      </p:sp>
      <p:sp>
        <p:nvSpPr>
          <p:cNvPr id="8" name="Text 5"/>
          <p:cNvSpPr txBox="1"/>
          <p:nvPr/>
        </p:nvSpPr>
        <p:spPr>
          <a:xfrm>
            <a:off x="476402" y="1556309"/>
            <a:ext cx="1688897"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Watercolor Painting</a:t>
            </a:r>
            <a:endParaRPr lang="en-US" sz="1200" dirty="0"/>
          </a:p>
        </p:txBody>
      </p:sp>
      <p:sp>
        <p:nvSpPr>
          <p:cNvPr id="9" name="Text 6"/>
          <p:cNvSpPr txBox="1"/>
          <p:nvPr/>
        </p:nvSpPr>
        <p:spPr>
          <a:xfrm>
            <a:off x="476402" y="1965960"/>
            <a:ext cx="3696005" cy="857707"/>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물의 투명함과 안료의 자연스러운 번짐 효과를 통해 서정적이고 감성적인 분위기를 연출합니다. 종이의 질감과 브러시의 흔적이 디지털 이미지에 아날로그 감성을 더해줍니다.</a:t>
            </a:r>
            <a:endParaRPr lang="en-US" sz="1100" dirty="0"/>
          </a:p>
        </p:txBody>
      </p:sp>
      <p:sp>
        <p:nvSpPr>
          <p:cNvPr id="10" name="Shape 7"/>
          <p:cNvSpPr/>
          <p:nvPr/>
        </p:nvSpPr>
        <p:spPr>
          <a:xfrm>
            <a:off x="476402" y="3051353"/>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51353"/>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5160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51606"/>
            <a:ext cx="114300" cy="171907"/>
          </a:xfrm>
          <a:prstGeom prst="rect">
            <a:avLst/>
          </a:prstGeom>
        </p:spPr>
      </p:pic>
      <p:sp>
        <p:nvSpPr>
          <p:cNvPr id="14" name="Text 10"/>
          <p:cNvSpPr txBox="1"/>
          <p:nvPr/>
        </p:nvSpPr>
        <p:spPr>
          <a:xfrm>
            <a:off x="705002" y="35469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527755"/>
            <a:ext cx="170078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수채화 (Watercolor Art)</a:t>
            </a:r>
            <a:endParaRPr lang="en-US" sz="1000" dirty="0"/>
          </a:p>
        </p:txBody>
      </p:sp>
      <p:sp>
        <p:nvSpPr>
          <p:cNvPr id="16" name="Text 12"/>
          <p:cNvSpPr txBox="1"/>
          <p:nvPr/>
        </p:nvSpPr>
        <p:spPr>
          <a:xfrm>
            <a:off x="705002" y="382859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[기법]</a:t>
            </a:r>
            <a:endParaRPr lang="en-US" sz="900" dirty="0"/>
          </a:p>
        </p:txBody>
      </p:sp>
      <p:sp>
        <p:nvSpPr>
          <p:cNvPr id="17" name="Text 13"/>
          <p:cNvSpPr txBox="1"/>
          <p:nvPr/>
        </p:nvSpPr>
        <p:spPr>
          <a:xfrm>
            <a:off x="1257300" y="3809390"/>
            <a:ext cx="154167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물 번짐 (Wet-on-Wet)</a:t>
            </a:r>
            <a:endParaRPr lang="en-US" sz="1000" dirty="0"/>
          </a:p>
        </p:txBody>
      </p:sp>
      <p:sp>
        <p:nvSpPr>
          <p:cNvPr id="18" name="Text 14"/>
          <p:cNvSpPr txBox="1"/>
          <p:nvPr/>
        </p:nvSpPr>
        <p:spPr>
          <a:xfrm>
            <a:off x="705002" y="41102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4091026"/>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파스텔 톤, 소프트, 핸드 드로잉</a:t>
            </a:r>
            <a:endParaRPr lang="en-US" sz="1000" dirty="0"/>
          </a:p>
        </p:txBody>
      </p:sp>
      <p:sp>
        <p:nvSpPr>
          <p:cNvPr id="20" name="Text 16"/>
          <p:cNvSpPr txBox="1"/>
          <p:nvPr/>
        </p:nvSpPr>
        <p:spPr>
          <a:xfrm>
            <a:off x="705002" y="43927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[텍스처]</a:t>
            </a:r>
            <a:endParaRPr lang="en-US" sz="900" dirty="0"/>
          </a:p>
        </p:txBody>
      </p:sp>
      <p:sp>
        <p:nvSpPr>
          <p:cNvPr id="21" name="Text 17"/>
          <p:cNvSpPr txBox="1"/>
          <p:nvPr/>
        </p:nvSpPr>
        <p:spPr>
          <a:xfrm>
            <a:off x="1257300" y="4373575"/>
            <a:ext cx="19275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거친 종이 질감 (Cold Press)</a:t>
            </a:r>
            <a:endParaRPr lang="en-US" sz="1000" dirty="0"/>
          </a:p>
        </p:txBody>
      </p:sp>
      <p:sp>
        <p:nvSpPr>
          <p:cNvPr id="22" name="Text 18"/>
          <p:cNvSpPr txBox="1"/>
          <p:nvPr/>
        </p:nvSpPr>
        <p:spPr>
          <a:xfrm>
            <a:off x="705002" y="467441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3" name="Text 19"/>
          <p:cNvSpPr txBox="1"/>
          <p:nvPr/>
        </p:nvSpPr>
        <p:spPr>
          <a:xfrm>
            <a:off x="1257300" y="4655210"/>
            <a:ext cx="15736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따뜻함, 가벼움, 몽환적</a:t>
            </a:r>
            <a:endParaRPr lang="en-US" sz="1000" dirty="0"/>
          </a:p>
        </p:txBody>
      </p:sp>
      <p:sp>
        <p:nvSpPr>
          <p:cNvPr id="24" name="Shape 20"/>
          <p:cNvSpPr/>
          <p:nvPr/>
        </p:nvSpPr>
        <p:spPr>
          <a:xfrm>
            <a:off x="476402" y="5242254"/>
            <a:ext cx="3619195" cy="115854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29707"/>
            <a:ext cx="105156" cy="133502"/>
          </a:xfrm>
          <a:prstGeom prst="rect">
            <a:avLst/>
          </a:prstGeom>
        </p:spPr>
      </p:pic>
      <p:sp>
        <p:nvSpPr>
          <p:cNvPr id="26" name="Text 21"/>
          <p:cNvSpPr txBox="1"/>
          <p:nvPr/>
        </p:nvSpPr>
        <p:spPr>
          <a:xfrm>
            <a:off x="809244" y="5374843"/>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99848" y="5707684"/>
            <a:ext cx="3124505"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프롬프트에 'Water stain(물 얼룩)'이나 'Paint splatter(물감 튐)' 키워드를 추가하면 수채화 특유의 우연한 효과를 극대화할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수채화 아트 스타일. 물의 투명함과 자연스러운 번짐 효과, 거친 종이 질감(Cold Press Paper Texture), 부드러운 파스텔 톤, 따뜻하고 몽환적인 분위기, 핸드 드로잉 감성, 예술적인 붓 터치, 물 얼룩 디테일.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04</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유화 매체</a:t>
            </a:r>
            <a:endParaRPr lang="en-US" sz="3100" dirty="0"/>
          </a:p>
        </p:txBody>
      </p:sp>
      <p:sp>
        <p:nvSpPr>
          <p:cNvPr id="8" name="Text 5"/>
          <p:cNvSpPr txBox="1"/>
          <p:nvPr/>
        </p:nvSpPr>
        <p:spPr>
          <a:xfrm>
            <a:off x="476402" y="1663294"/>
            <a:ext cx="144018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Oil Painting Style</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물감의 두꺼운 질감(Materia)과 입체적인 붓터치를 강조하여, 디지털 이미지에 클래식한 회화의 깊이와 무게감을 부여합니다.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420770"/>
            <a:ext cx="20180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유화 (Oil Painting), 임파스토</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거친 파도가 치는 바다 풍경</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반 고흐 스타일, 두꺼운 붓터치</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1" name="Text 17"/>
          <p:cNvSpPr txBox="1"/>
          <p:nvPr/>
        </p:nvSpPr>
        <p:spPr>
          <a:xfrm>
            <a:off x="1257300" y="4266590"/>
            <a:ext cx="12152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쿨톤, 깊은 파란색</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548226"/>
            <a:ext cx="14072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드라마틱한 명암 대비</a:t>
            </a:r>
            <a:endParaRPr lang="en-US" sz="1000" dirty="0"/>
          </a:p>
        </p:txBody>
      </p:sp>
      <p:sp>
        <p:nvSpPr>
          <p:cNvPr id="24" name="Shape 20"/>
          <p:cNvSpPr/>
          <p:nvPr/>
        </p:nvSpPr>
        <p:spPr>
          <a:xfrm>
            <a:off x="476402" y="5134356"/>
            <a:ext cx="3619195" cy="109728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26176"/>
            <a:ext cx="318211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'Palette Knife (팔레트 나이프)' 또는 'Heavy Impasto (헤비 임파스토)' 키워드를 추가하면 물감이 튀어나올 듯한 거친 질감을 더욱 극대화할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유화 스타일. 거친 파도가 치는 바다 풍경, 반 고흐 스타일의 두꺼운 붓터치와 임파스토 기법, 쿨톤의 깊은 파란색 색감, 드라마틱한 명암 대비.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05</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연필 드로잉</a:t>
            </a:r>
            <a:endParaRPr lang="en-US" sz="3100" dirty="0"/>
          </a:p>
        </p:txBody>
      </p:sp>
      <p:sp>
        <p:nvSpPr>
          <p:cNvPr id="8" name="Text 5"/>
          <p:cNvSpPr txBox="1"/>
          <p:nvPr/>
        </p:nvSpPr>
        <p:spPr>
          <a:xfrm>
            <a:off x="476402" y="1522476"/>
            <a:ext cx="202905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Pencil Sketch &amp; Drawing</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흑백의 명암과 선의 질감만으로 깊이감을 표현하는 고전적인 방식입니다. 해칭(Hatching)과 스머징(Smudging) 기법을 통해 아날로그적이고 예술적인 감성을 전달합니다.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279953"/>
            <a:ext cx="12152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연필 드로잉, 흑연</a:t>
            </a:r>
            <a:endParaRPr lang="en-US" sz="1000" dirty="0"/>
          </a:p>
        </p:txBody>
      </p:sp>
      <p:sp>
        <p:nvSpPr>
          <p:cNvPr id="16" name="Text 12"/>
          <p:cNvSpPr txBox="1"/>
          <p:nvPr/>
        </p:nvSpPr>
        <p:spPr>
          <a:xfrm>
            <a:off x="705002" y="358079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561588"/>
            <a:ext cx="14904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핸드 드로잉, 모노크롬</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843223"/>
            <a:ext cx="7735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인물 초상화</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[기법]</a:t>
            </a:r>
            <a:endParaRPr lang="en-US" sz="900" dirty="0"/>
          </a:p>
        </p:txBody>
      </p:sp>
      <p:sp>
        <p:nvSpPr>
          <p:cNvPr id="21" name="Text 17"/>
          <p:cNvSpPr txBox="1"/>
          <p:nvPr/>
        </p:nvSpPr>
        <p:spPr>
          <a:xfrm>
            <a:off x="1257300" y="4124858"/>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크로스 해칭, 섬세한 음영</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[질감]</a:t>
            </a:r>
            <a:endParaRPr lang="en-US" sz="900" dirty="0"/>
          </a:p>
        </p:txBody>
      </p:sp>
      <p:sp>
        <p:nvSpPr>
          <p:cNvPr id="23" name="Text 19"/>
          <p:cNvSpPr txBox="1"/>
          <p:nvPr/>
        </p:nvSpPr>
        <p:spPr>
          <a:xfrm>
            <a:off x="1257300" y="4407408"/>
            <a:ext cx="99395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거친 종이 질감</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[도구]</a:t>
            </a:r>
            <a:endParaRPr lang="en-US" sz="900" dirty="0"/>
          </a:p>
        </p:txBody>
      </p:sp>
      <p:sp>
        <p:nvSpPr>
          <p:cNvPr id="25" name="Text 21"/>
          <p:cNvSpPr txBox="1"/>
          <p:nvPr/>
        </p:nvSpPr>
        <p:spPr>
          <a:xfrm>
            <a:off x="1257300" y="4689043"/>
            <a:ext cx="9189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4B 연필, 목탄</a:t>
            </a:r>
            <a:endParaRPr lang="en-US" sz="1000" dirty="0"/>
          </a:p>
        </p:txBody>
      </p:sp>
      <p:sp>
        <p:nvSpPr>
          <p:cNvPr id="26" name="Shape 22"/>
          <p:cNvSpPr/>
          <p:nvPr/>
        </p:nvSpPr>
        <p:spPr>
          <a:xfrm>
            <a:off x="476402" y="5276087"/>
            <a:ext cx="3619195" cy="107857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685282"/>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'스케치북 배경'이나 '연필 자국(Pencil Smudge)' 키워드를 추가하면 더욱 사실적이고 자연스러운 아날로그 느낌을 연출할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연필 드로잉 매체. 흑백 스케치, 연필 선의 질감, 음영 표현, 핸드 드로잉 느낌, 아티스틱한 분위기, 종이 텍스처, 섬세한 라인워크, 모노크롬.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06</a:t>
            </a:r>
            <a:endParaRPr lang="en-US" sz="1000" dirty="0"/>
          </a:p>
        </p:txBody>
      </p:sp>
      <p:sp>
        <p:nvSpPr>
          <p:cNvPr id="7" name="Text 4"/>
          <p:cNvSpPr txBox="1"/>
          <p:nvPr/>
        </p:nvSpPr>
        <p:spPr>
          <a:xfrm>
            <a:off x="476402" y="1175004"/>
            <a:ext cx="4024274"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벡터 아트 스타일</a:t>
            </a:r>
            <a:endParaRPr lang="en-US" sz="3100" dirty="0"/>
          </a:p>
        </p:txBody>
      </p:sp>
      <p:sp>
        <p:nvSpPr>
          <p:cNvPr id="8" name="Text 5"/>
          <p:cNvSpPr txBox="1"/>
          <p:nvPr/>
        </p:nvSpPr>
        <p:spPr>
          <a:xfrm>
            <a:off x="476402" y="1663294"/>
            <a:ext cx="132679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Vector Art Style</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깔끔한 윤곽선과 단색 면 분할이 특징인 그래픽 스타일입니다. 해상도에 구애받지 않는 플랫하고 단순화된 형태의 비주얼을 생성할 때 유용합니다.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420770"/>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벡터 아트, 디지털 그래픽</a:t>
            </a:r>
            <a:endParaRPr lang="en-US" sz="1000" dirty="0"/>
          </a:p>
        </p:txBody>
      </p:sp>
      <p:sp>
        <p:nvSpPr>
          <p:cNvPr id="16" name="Text 12"/>
          <p:cNvSpPr txBox="1"/>
          <p:nvPr/>
        </p:nvSpPr>
        <p:spPr>
          <a:xfrm>
            <a:off x="705002" y="372160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702406"/>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플랫 디자인, 단순화된 형태</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84041"/>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앱 아이콘 세트, 그래픽 포스터</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1" name="Text 17"/>
          <p:cNvSpPr txBox="1"/>
          <p:nvPr/>
        </p:nvSpPr>
        <p:spPr>
          <a:xfrm>
            <a:off x="1257300" y="4266590"/>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단색 블록 색상, 선명한 대비</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23" name="Text 19"/>
          <p:cNvSpPr txBox="1"/>
          <p:nvPr/>
        </p:nvSpPr>
        <p:spPr>
          <a:xfrm>
            <a:off x="1257300" y="4548226"/>
            <a:ext cx="17657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기하학적 배치, 미니멀리즘</a:t>
            </a:r>
            <a:endParaRPr lang="en-US" sz="1000" dirty="0"/>
          </a:p>
        </p:txBody>
      </p:sp>
      <p:sp>
        <p:nvSpPr>
          <p:cNvPr id="24" name="Shape 20"/>
          <p:cNvSpPr/>
          <p:nvPr/>
        </p:nvSpPr>
        <p:spPr>
          <a:xfrm>
            <a:off x="476402" y="5134356"/>
            <a:ext cx="3619195" cy="109728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36498"/>
            <a:ext cx="3191256"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'SVG', 'Sticker', 'Icon' 등의 키워드를 추가하면 배경이 투명하거나 흰색으로 깔끔하게 분리된 로고나 아이콘 소스를 얻기 쉽습니다.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벡터</a:t>
            </a:r>
            <a:r>
              <a:rPr lang="en-US" sz="1200" dirty="0">
                <a:solidFill>
                  <a:srgbClr val="333333"/>
                </a:solidFill>
                <a:latin typeface="Noto Sans KR" pitchFamily="34" charset="0"/>
                <a:ea typeface="Noto Sans KR" pitchFamily="34" charset="-122"/>
                <a:cs typeface="Noto Sans KR" pitchFamily="34" charset="-120"/>
              </a:rPr>
              <a:t> 아트 스타일. 깔끔한 윤곽선, 플랫 디자인, 단순화된 형태, 일러스트레이터 포스터 스타일, 단색 면 분할, 기하학적 구성.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932688"/>
            <a:ext cx="181051" cy="133502"/>
          </a:xfrm>
          <a:prstGeom prst="rect">
            <a:avLst/>
          </a:prstGeom>
        </p:spPr>
      </p:pic>
      <p:sp>
        <p:nvSpPr>
          <p:cNvPr id="6" name="Text 3"/>
          <p:cNvSpPr txBox="1"/>
          <p:nvPr/>
        </p:nvSpPr>
        <p:spPr>
          <a:xfrm>
            <a:off x="733349" y="898855"/>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07</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픽셀 아트</a:t>
            </a:r>
            <a:endParaRPr lang="en-US" sz="3100" dirty="0"/>
          </a:p>
        </p:txBody>
      </p:sp>
      <p:sp>
        <p:nvSpPr>
          <p:cNvPr id="8" name="Text 5"/>
          <p:cNvSpPr txBox="1"/>
          <p:nvPr/>
        </p:nvSpPr>
        <p:spPr>
          <a:xfrm>
            <a:off x="476402" y="1663294"/>
            <a:ext cx="117957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Pixel Art Style</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해상도를 의도적으로 제한하여 만드는 디지털 아트의 고전입니다. 레트로 게임의 향수와 도트 그래픽 특유의 직관적이고 단순한 미학을 표현합니다.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352398" y="3420770"/>
            <a:ext cx="167792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픽셀 아트, 8-bit / 16-bit</a:t>
            </a:r>
            <a:endParaRPr lang="en-US" sz="1000" dirty="0"/>
          </a:p>
        </p:txBody>
      </p:sp>
      <p:sp>
        <p:nvSpPr>
          <p:cNvPr id="16" name="Text 12"/>
          <p:cNvSpPr txBox="1"/>
          <p:nvPr/>
        </p:nvSpPr>
        <p:spPr>
          <a:xfrm>
            <a:off x="705002" y="372160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[해상도]</a:t>
            </a:r>
            <a:endParaRPr lang="en-US" sz="900" dirty="0"/>
          </a:p>
        </p:txBody>
      </p:sp>
      <p:sp>
        <p:nvSpPr>
          <p:cNvPr id="17" name="Text 13"/>
          <p:cNvSpPr txBox="1"/>
          <p:nvPr/>
        </p:nvSpPr>
        <p:spPr>
          <a:xfrm>
            <a:off x="1352398" y="3702406"/>
            <a:ext cx="17227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32x32 ~ 128x128 픽셀화</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352398" y="3984041"/>
            <a:ext cx="20418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레트로 게임 캐릭터 스프라이트</a:t>
            </a:r>
            <a:endParaRPr lang="en-US" sz="1000" dirty="0"/>
          </a:p>
        </p:txBody>
      </p:sp>
      <p:sp>
        <p:nvSpPr>
          <p:cNvPr id="20" name="Text 16"/>
          <p:cNvSpPr txBox="1"/>
          <p:nvPr/>
        </p:nvSpPr>
        <p:spPr>
          <a:xfrm>
            <a:off x="705002" y="42848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1" name="Text 17"/>
          <p:cNvSpPr txBox="1"/>
          <p:nvPr/>
        </p:nvSpPr>
        <p:spPr>
          <a:xfrm>
            <a:off x="1352398" y="4266590"/>
            <a:ext cx="24286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도트 그래픽, 레트로, 제한된 팔레트</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352398" y="4548226"/>
            <a:ext cx="18937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플랫 라이팅 (Flat Lighting)</a:t>
            </a:r>
            <a:endParaRPr lang="en-US" sz="1000" dirty="0"/>
          </a:p>
        </p:txBody>
      </p:sp>
      <p:sp>
        <p:nvSpPr>
          <p:cNvPr id="24" name="Shape 20"/>
          <p:cNvSpPr/>
          <p:nvPr/>
        </p:nvSpPr>
        <p:spPr>
          <a:xfrm>
            <a:off x="476402" y="5134355"/>
            <a:ext cx="3619195" cy="123708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48579"/>
            <a:ext cx="318211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'Isometric view'를 추가하면 쿼터뷰 시점의 타이쿤 게임 같은 느낌을, 'Gameboy style'을 추가하면 녹색 계열의 4색 팔레트로 제한된 고전적인 느낌을 낼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픽셀 아트 레트로 게임 스타일. 8비트 질감의 도트 그래픽, 제한된 색상 팔레트, 레트로 게임 캐릭터 스프라이트, 플랫 라이팅, 32x32 픽셀화 느낌, 고전 게임의 향수.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42646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MEDIA MASTER 08</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콜라주</a:t>
            </a:r>
            <a:endParaRPr lang="en-US" sz="3100" dirty="0"/>
          </a:p>
        </p:txBody>
      </p:sp>
      <p:sp>
        <p:nvSpPr>
          <p:cNvPr id="8" name="Text 5"/>
          <p:cNvSpPr txBox="1"/>
          <p:nvPr/>
        </p:nvSpPr>
        <p:spPr>
          <a:xfrm>
            <a:off x="476402" y="1663294"/>
            <a:ext cx="141732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Collage Art Style</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서로 다른 재질의 종이, 사진, 텍스트 등을 오려 붙여 조합하는 기법입니다. 이질적인 요소들의 시각적 충돌과 조화를 통해 독창적이고 현대적인 예술 감성을 표현합니다.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5" name="Text 11"/>
          <p:cNvSpPr txBox="1"/>
          <p:nvPr/>
        </p:nvSpPr>
        <p:spPr>
          <a:xfrm>
            <a:off x="1257300" y="3420770"/>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종이 콜라주, 믹스드 미디어</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잡지식 패션 보드, 인물과 자연</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현대 미술, 다다이즘, 스크랩북</a:t>
            </a:r>
            <a:endParaRPr lang="en-US" sz="1000" dirty="0"/>
          </a:p>
        </p:txBody>
      </p:sp>
      <p:sp>
        <p:nvSpPr>
          <p:cNvPr id="20" name="Text 16"/>
          <p:cNvSpPr txBox="1"/>
          <p:nvPr/>
        </p:nvSpPr>
        <p:spPr>
          <a:xfrm>
            <a:off x="705002" y="42848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1" name="Text 17"/>
          <p:cNvSpPr txBox="1"/>
          <p:nvPr/>
        </p:nvSpPr>
        <p:spPr>
          <a:xfrm>
            <a:off x="1257300" y="4266590"/>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찢어진 가장자리, 텍스처 레이어</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548226"/>
            <a:ext cx="15078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 라이트 (Top Light)</a:t>
            </a:r>
            <a:endParaRPr lang="en-US" sz="1000" dirty="0"/>
          </a:p>
        </p:txBody>
      </p:sp>
      <p:sp>
        <p:nvSpPr>
          <p:cNvPr id="24" name="Shape 20"/>
          <p:cNvSpPr/>
          <p:nvPr/>
        </p:nvSpPr>
        <p:spPr>
          <a:xfrm>
            <a:off x="476402" y="5134355"/>
            <a:ext cx="3619195" cy="1132941"/>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변형 팁:</a:t>
            </a:r>
            <a:endParaRPr lang="en-US" sz="900" dirty="0"/>
          </a:p>
        </p:txBody>
      </p:sp>
      <p:sp>
        <p:nvSpPr>
          <p:cNvPr id="27" name="Text 22"/>
          <p:cNvSpPr txBox="1"/>
          <p:nvPr/>
        </p:nvSpPr>
        <p:spPr>
          <a:xfrm>
            <a:off x="809244" y="5556070"/>
            <a:ext cx="32104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'스크랩북 스타일', '빈티지 엽서', '손글씨 메모', '테이프 자국' 등의 키워드를 추가하면 아날로그적인 감성과 밀도를 높일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콜라주 아트 스타일. 다양한 재질의 종이와 사진, 텍스트를 오려 붙인 구성, 잡지식 패션 보드 느낌, 인물과 자연의 독창적인 결합, 믹스드 미디어, 다다이즘적 현대 미술 감성, 찢어진 가장자리와 풍부한 텍스처, 탑 라이트 조명.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932688"/>
            <a:ext cx="114300" cy="133502"/>
          </a:xfrm>
          <a:prstGeom prst="rect">
            <a:avLst/>
          </a:prstGeom>
        </p:spPr>
      </p:pic>
      <p:sp>
        <p:nvSpPr>
          <p:cNvPr id="6" name="Text 3"/>
          <p:cNvSpPr txBox="1"/>
          <p:nvPr/>
        </p:nvSpPr>
        <p:spPr>
          <a:xfrm>
            <a:off x="666598" y="898855"/>
            <a:ext cx="1711757"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01</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하드 라이팅</a:t>
            </a:r>
            <a:endParaRPr lang="en-US" sz="3100" dirty="0"/>
          </a:p>
        </p:txBody>
      </p:sp>
      <p:sp>
        <p:nvSpPr>
          <p:cNvPr id="8" name="Text 5"/>
          <p:cNvSpPr txBox="1"/>
          <p:nvPr/>
        </p:nvSpPr>
        <p:spPr>
          <a:xfrm>
            <a:off x="476402" y="1663294"/>
            <a:ext cx="1144829"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Hard Lighting</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강한 직사광선으로 명확한 그림자와 높은 대비를 만들어냅니다. 피사체의 질감과 윤곽을 강조하여 드라마틱하고 강렬한 인상을 줍니다.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5" name="Text 11"/>
          <p:cNvSpPr txBox="1"/>
          <p:nvPr/>
        </p:nvSpPr>
        <p:spPr>
          <a:xfrm>
            <a:off x="1257300" y="3420770"/>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하드 사이드 라이팅, 스누트</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702406"/>
            <a:ext cx="141732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클로즈업 (Close-up)</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84041"/>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가죽 제품 또는 질감 오브제</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66590"/>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어두운 배경, 강한 명암 대비</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548226"/>
            <a:ext cx="157642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50mm, f/8 (깊은 심도)</a:t>
            </a:r>
            <a:endParaRPr lang="en-US" sz="1000" dirty="0"/>
          </a:p>
        </p:txBody>
      </p:sp>
      <p:sp>
        <p:nvSpPr>
          <p:cNvPr id="24" name="Shape 20"/>
          <p:cNvSpPr/>
          <p:nvPr/>
        </p:nvSpPr>
        <p:spPr>
          <a:xfrm>
            <a:off x="495604" y="5125873"/>
            <a:ext cx="3619195" cy="104842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26176"/>
            <a:ext cx="320040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남성적인 인물 사진이나 금속, 가죽, 돌과 같은 거친 질감의 제품 촬영에 효과적입니다. 그림자가 너무 짙다면 '필 라이트'로 조절하세요.</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하드</a:t>
            </a:r>
            <a:r>
              <a:rPr lang="en-US" sz="1200" dirty="0">
                <a:solidFill>
                  <a:srgbClr val="333333"/>
                </a:solidFill>
                <a:latin typeface="Noto Sans KR" pitchFamily="34" charset="0"/>
                <a:ea typeface="Noto Sans KR" pitchFamily="34" charset="-122"/>
                <a:cs typeface="Noto Sans KR" pitchFamily="34" charset="-120"/>
              </a:rPr>
              <a:t> 라이팅. 강한 직사광선, 명확한 그림자, 높은 대비, 드라마틱한 분위기, 윤곽이 뚜렷한 조명, 햇빛이 강하게 비추는 여름날 오후 느낌.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791870"/>
            <a:ext cx="114300" cy="133502"/>
          </a:xfrm>
          <a:prstGeom prst="rect">
            <a:avLst/>
          </a:prstGeom>
        </p:spPr>
      </p:pic>
      <p:sp>
        <p:nvSpPr>
          <p:cNvPr id="6" name="Text 3"/>
          <p:cNvSpPr txBox="1"/>
          <p:nvPr/>
        </p:nvSpPr>
        <p:spPr>
          <a:xfrm>
            <a:off x="666598" y="758038"/>
            <a:ext cx="171267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02</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소프트 라이팅</a:t>
            </a:r>
            <a:endParaRPr lang="en-US" sz="3100" dirty="0"/>
          </a:p>
        </p:txBody>
      </p:sp>
      <p:sp>
        <p:nvSpPr>
          <p:cNvPr id="8" name="Text 5"/>
          <p:cNvSpPr txBox="1"/>
          <p:nvPr/>
        </p:nvSpPr>
        <p:spPr>
          <a:xfrm>
            <a:off x="476402" y="1522476"/>
            <a:ext cx="110002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Soft Lighting</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부드럽게 확산된 빛을 사용하여 그림자를 은은하게 만들고, 피사체의 질감을 부드럽게 표현하는 조명 기법입니다. 인물 사진이나 제품 촬영에 널리 사용됩니다.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5" name="Text 11"/>
          <p:cNvSpPr txBox="1"/>
          <p:nvPr/>
        </p:nvSpPr>
        <p:spPr>
          <a:xfrm>
            <a:off x="1257300" y="3279953"/>
            <a:ext cx="14904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소프트 라이팅, 확산광</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561588"/>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클로즈업 또는 미디엄 샷</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843223"/>
            <a:ext cx="142463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사진 (Photography)</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124858"/>
            <a:ext cx="157276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뷰티 모델, 화장품 제품</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07408"/>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밝은 스튜디오, 라이트 그레이 배경</a:t>
            </a:r>
            <a:endParaRPr lang="en-US" sz="1000" dirty="0"/>
          </a:p>
        </p:txBody>
      </p:sp>
      <p:sp>
        <p:nvSpPr>
          <p:cNvPr id="24" name="Text 20"/>
          <p:cNvSpPr txBox="1"/>
          <p:nvPr/>
        </p:nvSpPr>
        <p:spPr>
          <a:xfrm>
            <a:off x="705002" y="470824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5" name="Text 21"/>
          <p:cNvSpPr txBox="1"/>
          <p:nvPr/>
        </p:nvSpPr>
        <p:spPr>
          <a:xfrm>
            <a:off x="1257300" y="4689043"/>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따뜻하고 평온함, 낮은 대비</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24204" y="5744260"/>
            <a:ext cx="320040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피부 톤을 깨끗하게 표현하거나 제품의 고급스러운 무광 질감을 강조할 때 효과적입니다. '디퓨저'나 '반사판' 키워드를 추가하여 빛을 더욱 부드럽게 만들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소프트 라이팅. 부드럽게 확산된 빛, 은은한 그림자, 낮은 대비, 따뜻하고 평온한 분위기, 디퓨저를 통한 빛, 스튜디오 소프트박스 느낌, 화장품 광고 스타일.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71267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03</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골든아워</a:t>
            </a:r>
            <a:endParaRPr lang="en-US" sz="3100" dirty="0"/>
          </a:p>
        </p:txBody>
      </p:sp>
      <p:sp>
        <p:nvSpPr>
          <p:cNvPr id="8" name="Text 5"/>
          <p:cNvSpPr txBox="1"/>
          <p:nvPr/>
        </p:nvSpPr>
        <p:spPr>
          <a:xfrm>
            <a:off x="476402" y="1663294"/>
            <a:ext cx="179131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Golden Hour Lighting</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일몰 직전의 태양이 만들어내는 황금빛 조명입니다. 낮은 태양 각도로 인해 긴 그림자와 따뜻한 톤이 형성되어, 피사체에 로맨틱하고 드라마틱한 깊이감을 부여합니다.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[시간]</a:t>
            </a:r>
            <a:endParaRPr lang="en-US" sz="900" dirty="0"/>
          </a:p>
        </p:txBody>
      </p:sp>
      <p:sp>
        <p:nvSpPr>
          <p:cNvPr id="15" name="Text 11"/>
          <p:cNvSpPr txBox="1"/>
          <p:nvPr/>
        </p:nvSpPr>
        <p:spPr>
          <a:xfrm>
            <a:off x="1257300" y="3420770"/>
            <a:ext cx="23692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Golden Hour, Sunset (일몰 직전)</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7" name="Text 13"/>
          <p:cNvSpPr txBox="1"/>
          <p:nvPr/>
        </p:nvSpPr>
        <p:spPr>
          <a:xfrm>
            <a:off x="1257300" y="3702406"/>
            <a:ext cx="202905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Warm Backlight, Rim Light</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84041"/>
            <a:ext cx="126918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스트리트 패션 인물</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1" name="Text 17"/>
          <p:cNvSpPr txBox="1"/>
          <p:nvPr/>
        </p:nvSpPr>
        <p:spPr>
          <a:xfrm>
            <a:off x="1257300" y="4266590"/>
            <a:ext cx="182422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Warm Tones (오렌지/골드)</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[렌즈]</a:t>
            </a:r>
            <a:endParaRPr lang="en-US" sz="900" dirty="0"/>
          </a:p>
        </p:txBody>
      </p:sp>
      <p:sp>
        <p:nvSpPr>
          <p:cNvPr id="23" name="Text 19"/>
          <p:cNvSpPr txBox="1"/>
          <p:nvPr/>
        </p:nvSpPr>
        <p:spPr>
          <a:xfrm>
            <a:off x="1257300" y="4548226"/>
            <a:ext cx="218815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85mm f/1.8 (배경 압축 및 보케)</a:t>
            </a:r>
            <a:endParaRPr lang="en-US" sz="1000" dirty="0"/>
          </a:p>
        </p:txBody>
      </p:sp>
      <p:sp>
        <p:nvSpPr>
          <p:cNvPr id="24" name="Shape 20"/>
          <p:cNvSpPr/>
          <p:nvPr/>
        </p:nvSpPr>
        <p:spPr>
          <a:xfrm>
            <a:off x="476402" y="5134356"/>
            <a:ext cx="3619195" cy="109728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95150" y="5526176"/>
            <a:ext cx="32104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태양을 피사체 바로 뒤에 두어 머리카락 끝이 빛나는 '림 라이트(Rim Light)' 효과를 만들면 인물이 배경에서 입체적으로 분리됩니다.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골든아워</a:t>
            </a:r>
            <a:r>
              <a:rPr lang="en-US" sz="1200" dirty="0">
                <a:solidFill>
                  <a:srgbClr val="333333"/>
                </a:solidFill>
                <a:latin typeface="Noto Sans KR" pitchFamily="34" charset="0"/>
                <a:ea typeface="Noto Sans KR" pitchFamily="34" charset="-122"/>
                <a:cs typeface="Noto Sans KR" pitchFamily="34" charset="-120"/>
              </a:rPr>
              <a:t> 조명. 일몰 직전 황금빛 따뜻한 햇살, 긴 그림자, 따뜻한 오렌지와 노란 톤, 로맨틱하고 시네마틱한 분위기, 부드러운 백라이트, 마법 같은 느낌.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932688"/>
            <a:ext cx="114300" cy="133502"/>
          </a:xfrm>
          <a:prstGeom prst="rect">
            <a:avLst/>
          </a:prstGeom>
        </p:spPr>
      </p:pic>
      <p:sp>
        <p:nvSpPr>
          <p:cNvPr id="6" name="Text 3"/>
          <p:cNvSpPr txBox="1"/>
          <p:nvPr/>
        </p:nvSpPr>
        <p:spPr>
          <a:xfrm>
            <a:off x="666598" y="898855"/>
            <a:ext cx="171267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04</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블루아워 조명</a:t>
            </a:r>
            <a:endParaRPr lang="en-US" sz="3100" dirty="0"/>
          </a:p>
        </p:txBody>
      </p:sp>
      <p:sp>
        <p:nvSpPr>
          <p:cNvPr id="8" name="Text 5"/>
          <p:cNvSpPr txBox="1"/>
          <p:nvPr/>
        </p:nvSpPr>
        <p:spPr>
          <a:xfrm>
            <a:off x="476402" y="1663294"/>
            <a:ext cx="156453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Blue Hour Lighting</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일몰 직후의 푸른 하늘 빛과 도시의 불빛이 공존하는 마법 같은 시간입니다. 차가운 쿨 톤과 고요하고 신비로운 분위기를 연출할 때 사용합니다.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[시간]</a:t>
            </a:r>
            <a:endParaRPr lang="en-US" sz="900" dirty="0"/>
          </a:p>
        </p:txBody>
      </p:sp>
      <p:sp>
        <p:nvSpPr>
          <p:cNvPr id="15" name="Text 11"/>
          <p:cNvSpPr txBox="1"/>
          <p:nvPr/>
        </p:nvSpPr>
        <p:spPr>
          <a:xfrm>
            <a:off x="1257300" y="3420770"/>
            <a:ext cx="223296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블루아워 (Blue Hour), 일몰 직후</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7" name="Text 13"/>
          <p:cNvSpPr txBox="1"/>
          <p:nvPr/>
        </p:nvSpPr>
        <p:spPr>
          <a:xfrm>
            <a:off x="1257300" y="3702406"/>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쿨 톤 자연광, 부드러운 산란광</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9" name="Text 15"/>
          <p:cNvSpPr txBox="1"/>
          <p:nvPr/>
        </p:nvSpPr>
        <p:spPr>
          <a:xfrm>
            <a:off x="1257300" y="3984041"/>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깊은 파란색, 오렌지 포인트</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66590"/>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도시 풍경, 가로등이 켜지는 거리</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3" name="Text 19"/>
          <p:cNvSpPr txBox="1"/>
          <p:nvPr/>
        </p:nvSpPr>
        <p:spPr>
          <a:xfrm>
            <a:off x="1257300" y="4548226"/>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고요함, 차가움, 트와일라이트</a:t>
            </a:r>
            <a:endParaRPr lang="en-US" sz="1000" dirty="0"/>
          </a:p>
        </p:txBody>
      </p:sp>
      <p:sp>
        <p:nvSpPr>
          <p:cNvPr id="24" name="Shape 20"/>
          <p:cNvSpPr/>
          <p:nvPr/>
        </p:nvSpPr>
        <p:spPr>
          <a:xfrm>
            <a:off x="476402" y="5134355"/>
            <a:ext cx="3619195" cy="113641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38504" y="5574182"/>
            <a:ext cx="3108516"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따뜻한 가로등 불빛이나 실내 조명(오렌지/옐로우)을 대비 요소로 추가하면 '차가움 vs 따뜻함'의 보색 대비 효과가 극대화됩니다.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1099193"/>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블루아워</a:t>
            </a:r>
            <a:r>
              <a:rPr lang="en-US" sz="1200" dirty="0">
                <a:solidFill>
                  <a:srgbClr val="333333"/>
                </a:solidFill>
                <a:latin typeface="Noto Sans KR" pitchFamily="34" charset="0"/>
                <a:ea typeface="Noto Sans KR" pitchFamily="34" charset="-122"/>
                <a:cs typeface="Noto Sans KR" pitchFamily="34" charset="-120"/>
              </a:rPr>
              <a:t> 조명. 일몰 직후의 푸른 하늘 빛, 쿨 톤의 부드러운 자연광, 도시의 불빛이 켜지는 거리 풍경, 차갑고 고요한 트와일라이트 무드, 오렌지 빛 가로등과의 보색 대비.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1025042"/>
            <a:ext cx="114300" cy="133502"/>
          </a:xfrm>
          <a:prstGeom prst="rect">
            <a:avLst/>
          </a:prstGeom>
        </p:spPr>
      </p:pic>
      <p:sp>
        <p:nvSpPr>
          <p:cNvPr id="6" name="Text 3"/>
          <p:cNvSpPr txBox="1"/>
          <p:nvPr/>
        </p:nvSpPr>
        <p:spPr>
          <a:xfrm>
            <a:off x="666598" y="992124"/>
            <a:ext cx="171267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05</a:t>
            </a:r>
            <a:endParaRPr lang="en-US" sz="1000" dirty="0"/>
          </a:p>
        </p:txBody>
      </p:sp>
      <p:sp>
        <p:nvSpPr>
          <p:cNvPr id="7" name="Text 4"/>
          <p:cNvSpPr txBox="1"/>
          <p:nvPr/>
        </p:nvSpPr>
        <p:spPr>
          <a:xfrm>
            <a:off x="476402" y="1268273"/>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네온 라이팅</a:t>
            </a:r>
            <a:endParaRPr lang="en-US" sz="3100" dirty="0"/>
          </a:p>
        </p:txBody>
      </p:sp>
      <p:sp>
        <p:nvSpPr>
          <p:cNvPr id="8" name="Text 5"/>
          <p:cNvSpPr txBox="1"/>
          <p:nvPr/>
        </p:nvSpPr>
        <p:spPr>
          <a:xfrm>
            <a:off x="476402" y="1755648"/>
            <a:ext cx="1190549"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Neon Lighting</a:t>
            </a:r>
            <a:endParaRPr lang="en-US" sz="1200" dirty="0"/>
          </a:p>
        </p:txBody>
      </p:sp>
      <p:sp>
        <p:nvSpPr>
          <p:cNvPr id="9" name="Text 6"/>
          <p:cNvSpPr txBox="1"/>
          <p:nvPr/>
        </p:nvSpPr>
        <p:spPr>
          <a:xfrm>
            <a:off x="476402" y="2165299"/>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밤거리의 형광 네온 사인과 인공 조명을 활용하여 미래지향적이고 감각적인 분위기를 연출합니다. 컬러 캐스트와 반사광이 핵심입니다.</a:t>
            </a:r>
            <a:endParaRPr lang="en-US" sz="1100" dirty="0"/>
          </a:p>
        </p:txBody>
      </p:sp>
      <p:sp>
        <p:nvSpPr>
          <p:cNvPr id="10" name="Shape 7"/>
          <p:cNvSpPr/>
          <p:nvPr/>
        </p:nvSpPr>
        <p:spPr>
          <a:xfrm>
            <a:off x="476402" y="3036722"/>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36722"/>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3697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36976"/>
            <a:ext cx="114300" cy="171907"/>
          </a:xfrm>
          <a:prstGeom prst="rect">
            <a:avLst/>
          </a:prstGeom>
        </p:spPr>
      </p:pic>
      <p:sp>
        <p:nvSpPr>
          <p:cNvPr id="14" name="Text 10"/>
          <p:cNvSpPr txBox="1"/>
          <p:nvPr/>
        </p:nvSpPr>
        <p:spPr>
          <a:xfrm>
            <a:off x="705002" y="353232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5" name="Text 11"/>
          <p:cNvSpPr txBox="1"/>
          <p:nvPr/>
        </p:nvSpPr>
        <p:spPr>
          <a:xfrm>
            <a:off x="1257300" y="3513125"/>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네온 라이팅, 인공 형광등</a:t>
            </a:r>
            <a:endParaRPr lang="en-US" sz="1000" dirty="0"/>
          </a:p>
        </p:txBody>
      </p:sp>
      <p:sp>
        <p:nvSpPr>
          <p:cNvPr id="16" name="Text 12"/>
          <p:cNvSpPr txBox="1"/>
          <p:nvPr/>
        </p:nvSpPr>
        <p:spPr>
          <a:xfrm>
            <a:off x="705002" y="381396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95674"/>
            <a:ext cx="14904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비 오는 밤거리의 인물</a:t>
            </a:r>
            <a:endParaRPr lang="en-US" sz="1000" dirty="0"/>
          </a:p>
        </p:txBody>
      </p:sp>
      <p:sp>
        <p:nvSpPr>
          <p:cNvPr id="18" name="Text 14"/>
          <p:cNvSpPr txBox="1"/>
          <p:nvPr/>
        </p:nvSpPr>
        <p:spPr>
          <a:xfrm>
            <a:off x="705002" y="409651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9" name="Text 15"/>
          <p:cNvSpPr txBox="1"/>
          <p:nvPr/>
        </p:nvSpPr>
        <p:spPr>
          <a:xfrm>
            <a:off x="1257300" y="4077310"/>
            <a:ext cx="216529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보라(Purple), 청록(Cyan), 핑크</a:t>
            </a:r>
            <a:endParaRPr lang="en-US" sz="1000" dirty="0"/>
          </a:p>
        </p:txBody>
      </p:sp>
      <p:sp>
        <p:nvSpPr>
          <p:cNvPr id="20" name="Text 16"/>
          <p:cNvSpPr txBox="1"/>
          <p:nvPr/>
        </p:nvSpPr>
        <p:spPr>
          <a:xfrm>
            <a:off x="705002" y="437814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358945"/>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사이버펑크 도시, 젖은 바닥</a:t>
            </a:r>
            <a:endParaRPr lang="en-US" sz="1000" dirty="0"/>
          </a:p>
        </p:txBody>
      </p:sp>
      <p:sp>
        <p:nvSpPr>
          <p:cNvPr id="22" name="Text 18"/>
          <p:cNvSpPr txBox="1"/>
          <p:nvPr/>
        </p:nvSpPr>
        <p:spPr>
          <a:xfrm>
            <a:off x="705002" y="4659782"/>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640580"/>
            <a:ext cx="16440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35mm, f/1.8, 얕은 심도</a:t>
            </a:r>
            <a:endParaRPr lang="en-US" sz="1000" dirty="0"/>
          </a:p>
        </p:txBody>
      </p:sp>
      <p:sp>
        <p:nvSpPr>
          <p:cNvPr id="24" name="Shape 20"/>
          <p:cNvSpPr/>
          <p:nvPr/>
        </p:nvSpPr>
        <p:spPr>
          <a:xfrm>
            <a:off x="476402" y="5227625"/>
            <a:ext cx="3619195" cy="1069847"/>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15991"/>
            <a:ext cx="105156" cy="133502"/>
          </a:xfrm>
          <a:prstGeom prst="rect">
            <a:avLst/>
          </a:prstGeom>
        </p:spPr>
      </p:pic>
      <p:sp>
        <p:nvSpPr>
          <p:cNvPr id="26" name="Text 21"/>
          <p:cNvSpPr txBox="1"/>
          <p:nvPr/>
        </p:nvSpPr>
        <p:spPr>
          <a:xfrm>
            <a:off x="809244" y="5361127"/>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5" y="5627217"/>
            <a:ext cx="3133582"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인물의 얼굴에 네온 컬러가 묻어나는 '컬러 캐스트(Color Cast)' 효과를 의도적으로 사용하여 무드를 강화하세요.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네온</a:t>
            </a:r>
            <a:r>
              <a:rPr lang="en-US" sz="1200" dirty="0">
                <a:solidFill>
                  <a:srgbClr val="333333"/>
                </a:solidFill>
                <a:latin typeface="Noto Sans KR" pitchFamily="34" charset="0"/>
                <a:ea typeface="Noto Sans KR" pitchFamily="34" charset="-122"/>
                <a:cs typeface="Noto Sans KR" pitchFamily="34" charset="-120"/>
              </a:rPr>
              <a:t> 라이팅. 비 오는 밤거리의 인물, 사이버펑크 도시 배경, 젖은 바닥의 반사, 보라(Purple)와 청록(Cyan) 및 핑크(Pink) 톤의 인공 형광등 조명, 35mm 렌즈, f/1.8 얕은 심도, 미래지향적이고 감각적인 분위기.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884225"/>
            <a:ext cx="114300" cy="133502"/>
          </a:xfrm>
          <a:prstGeom prst="rect">
            <a:avLst/>
          </a:prstGeom>
        </p:spPr>
      </p:pic>
      <p:sp>
        <p:nvSpPr>
          <p:cNvPr id="6" name="Text 3"/>
          <p:cNvSpPr txBox="1"/>
          <p:nvPr/>
        </p:nvSpPr>
        <p:spPr>
          <a:xfrm>
            <a:off x="666598" y="851306"/>
            <a:ext cx="171267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06</a:t>
            </a:r>
            <a:endParaRPr lang="en-US" sz="1000" dirty="0"/>
          </a:p>
        </p:txBody>
      </p:sp>
      <p:sp>
        <p:nvSpPr>
          <p:cNvPr id="7" name="Text 4"/>
          <p:cNvSpPr txBox="1"/>
          <p:nvPr/>
        </p:nvSpPr>
        <p:spPr>
          <a:xfrm>
            <a:off x="476402" y="1127455"/>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스튜디오 조명</a:t>
            </a:r>
            <a:endParaRPr lang="en-US" sz="3100" dirty="0"/>
          </a:p>
        </p:txBody>
      </p:sp>
      <p:sp>
        <p:nvSpPr>
          <p:cNvPr id="8" name="Text 5"/>
          <p:cNvSpPr txBox="1"/>
          <p:nvPr/>
        </p:nvSpPr>
        <p:spPr>
          <a:xfrm>
            <a:off x="476402" y="1614830"/>
            <a:ext cx="130393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Studio Lighting</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3점 조명(Key, Fill, Back) 시스템을 활용하여 피사체를 완벽하게 제어된 환경에서 표현합니다. 재현성이 높고 일관된 퀄리티를 보장하여 제품 및 인물 촬영의 표준이 됩니다.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5" name="Text 11"/>
          <p:cNvSpPr txBox="1"/>
          <p:nvPr/>
        </p:nvSpPr>
        <p:spPr>
          <a:xfrm>
            <a:off x="1257300" y="3372307"/>
            <a:ext cx="227868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3점 조명 시스템 (Key+Fill+Back)</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61025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936492"/>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상업 사진, 포토리얼리즘</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18127"/>
            <a:ext cx="14904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인물 초상화 또는 제품</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14072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깔끔한 스튜디오 배경</a:t>
            </a:r>
            <a:endParaRPr lang="en-US" sz="1000" dirty="0"/>
          </a:p>
        </p:txBody>
      </p:sp>
      <p:sp>
        <p:nvSpPr>
          <p:cNvPr id="24" name="Text 20"/>
          <p:cNvSpPr txBox="1"/>
          <p:nvPr/>
        </p:nvSpPr>
        <p:spPr>
          <a:xfrm>
            <a:off x="705002" y="48006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5" name="Text 21"/>
          <p:cNvSpPr txBox="1"/>
          <p:nvPr/>
        </p:nvSpPr>
        <p:spPr>
          <a:xfrm>
            <a:off x="1257300" y="4781398"/>
            <a:ext cx="171175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85mm, f/8 (선명한 초점)</a:t>
            </a:r>
            <a:endParaRPr lang="en-US" sz="1000" dirty="0"/>
          </a:p>
        </p:txBody>
      </p:sp>
      <p:sp>
        <p:nvSpPr>
          <p:cNvPr id="26" name="Shape 22"/>
          <p:cNvSpPr/>
          <p:nvPr/>
        </p:nvSpPr>
        <p:spPr>
          <a:xfrm>
            <a:off x="476402" y="5368442"/>
            <a:ext cx="3619195" cy="998802"/>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96442" y="5766664"/>
            <a:ext cx="3200400"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키라이트를 45도 측면으로 이동하면 입체감이 살아나고, 필라이트 강도로 그림자 농도를 제어할 수 있습니다.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3점 조명 시스템을 활용한 스튜디오 촬영. 키라이트, 필라이트, 백라이트가 완벽하게 배치된 인물 또는 제품 사진, 깔끔한 배경, 전문적인 상업 사진 품질, 포토리얼리즘, 85mm 렌즈의 선명한 초점.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711757"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LIGHTING MASTER 07</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자연광 조명</a:t>
            </a:r>
            <a:endParaRPr lang="en-US" sz="3100" dirty="0"/>
          </a:p>
        </p:txBody>
      </p:sp>
      <p:sp>
        <p:nvSpPr>
          <p:cNvPr id="8" name="Text 5"/>
          <p:cNvSpPr txBox="1"/>
          <p:nvPr/>
        </p:nvSpPr>
        <p:spPr>
          <a:xfrm>
            <a:off x="476402" y="1663294"/>
            <a:ext cx="1360627"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Natural Lighting</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창문을 통해 들어오는 빛을 활용하여 인위적이지 않고 편안한 분위기를 연출합니다. 라이프스타일 컷이나 감성적인 인물 사진에 가장 적합하며, 비용 효율이 높은 기법입니다.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5" name="Text 11"/>
          <p:cNvSpPr txBox="1"/>
          <p:nvPr/>
        </p:nvSpPr>
        <p:spPr>
          <a:xfrm>
            <a:off x="1257300" y="3420770"/>
            <a:ext cx="265267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창가 확산광 (Window Diffused Light)</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17657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북카페에서 책을 읽는 인물</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[시간]</a:t>
            </a:r>
            <a:endParaRPr lang="en-US" sz="900" dirty="0"/>
          </a:p>
        </p:txBody>
      </p:sp>
      <p:sp>
        <p:nvSpPr>
          <p:cNvPr id="19" name="Text 15"/>
          <p:cNvSpPr txBox="1"/>
          <p:nvPr/>
        </p:nvSpPr>
        <p:spPr>
          <a:xfrm>
            <a:off x="1257300" y="3984041"/>
            <a:ext cx="152430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오전 10시의 맑은 느낌</a:t>
            </a:r>
            <a:endParaRPr lang="en-US" sz="1000" dirty="0"/>
          </a:p>
        </p:txBody>
      </p:sp>
      <p:sp>
        <p:nvSpPr>
          <p:cNvPr id="20" name="Text 16"/>
          <p:cNvSpPr txBox="1"/>
          <p:nvPr/>
        </p:nvSpPr>
        <p:spPr>
          <a:xfrm>
            <a:off x="705002" y="42848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1" name="Text 17"/>
          <p:cNvSpPr txBox="1"/>
          <p:nvPr/>
        </p:nvSpPr>
        <p:spPr>
          <a:xfrm>
            <a:off x="1257300" y="4266590"/>
            <a:ext cx="217170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따뜻하고 편안한 (Warm &amp; Cozy)</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548226"/>
            <a:ext cx="17657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밝고 쾌적한 실내 인테리어</a:t>
            </a:r>
            <a:endParaRPr lang="en-US" sz="1000" dirty="0"/>
          </a:p>
        </p:txBody>
      </p:sp>
      <p:sp>
        <p:nvSpPr>
          <p:cNvPr id="24" name="Shape 20"/>
          <p:cNvSpPr/>
          <p:nvPr/>
        </p:nvSpPr>
        <p:spPr>
          <a:xfrm>
            <a:off x="476402" y="5134356"/>
            <a:ext cx="3619195" cy="109728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74182"/>
            <a:ext cx="320040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직사광선이 너무 강할 때는 '쉬폰 커튼(Sheer Curtain)' 키워드를 추가하여 빛을 한 번 걸러주면(Diffusing) 훨씬 부드러운 결과물을 얻을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자연광</a:t>
            </a:r>
            <a:r>
              <a:rPr lang="en-US" sz="1200" dirty="0">
                <a:solidFill>
                  <a:srgbClr val="333333"/>
                </a:solidFill>
                <a:latin typeface="Noto Sans KR" pitchFamily="34" charset="0"/>
                <a:ea typeface="Noto Sans KR" pitchFamily="34" charset="-122"/>
                <a:cs typeface="Noto Sans KR" pitchFamily="34" charset="-120"/>
              </a:rPr>
              <a:t> 조명. 창문을 통해 들어오는 부드러운 햇빛, 은은하고 자연스러운 그림자, 따뜻하고 편안한 분위기, 실내 인테리어나 라이프스타일 촬영 느낌, 밝고 쾌적한 공간.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52339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COLOR CONTROL 01</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모노크롬 색감</a:t>
            </a:r>
            <a:endParaRPr lang="en-US" sz="3100" dirty="0"/>
          </a:p>
        </p:txBody>
      </p:sp>
      <p:sp>
        <p:nvSpPr>
          <p:cNvPr id="8" name="Text 5"/>
          <p:cNvSpPr txBox="1"/>
          <p:nvPr/>
        </p:nvSpPr>
        <p:spPr>
          <a:xfrm>
            <a:off x="476402" y="1663294"/>
            <a:ext cx="170627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Monochrome Palette</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색상을 배제하여 피사체의 형태, 질감, 명암 대비를 극대화하는 기법입니다. 클래식하고 시대를 초월한(Timeless) 분위기를 연출할 때 사용합니다.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5" name="Text 11"/>
          <p:cNvSpPr txBox="1"/>
          <p:nvPr/>
        </p:nvSpPr>
        <p:spPr>
          <a:xfrm>
            <a:off x="1257300" y="3420770"/>
            <a:ext cx="253837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모노크롬 (Monochrome), 흑백 (B&amp;W)</a:t>
            </a:r>
            <a:endParaRPr lang="en-US" sz="1000" dirty="0"/>
          </a:p>
        </p:txBody>
      </p:sp>
      <p:sp>
        <p:nvSpPr>
          <p:cNvPr id="16" name="Text 12"/>
          <p:cNvSpPr txBox="1"/>
          <p:nvPr/>
        </p:nvSpPr>
        <p:spPr>
          <a:xfrm>
            <a:off x="705002" y="3721608"/>
            <a:ext cx="314554"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[톤]</a:t>
            </a:r>
            <a:endParaRPr lang="en-US" sz="900" dirty="0"/>
          </a:p>
        </p:txBody>
      </p:sp>
      <p:sp>
        <p:nvSpPr>
          <p:cNvPr id="17" name="Text 13"/>
          <p:cNvSpPr txBox="1"/>
          <p:nvPr/>
        </p:nvSpPr>
        <p:spPr>
          <a:xfrm>
            <a:off x="1257300" y="3702406"/>
            <a:ext cx="279989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높은 대비 (High Contrast), 그레이스케일</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아트 포토그래피, 클래식 느와르</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266590"/>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인물 초상화 또는 건축물</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3" name="Text 19"/>
          <p:cNvSpPr txBox="1"/>
          <p:nvPr/>
        </p:nvSpPr>
        <p:spPr>
          <a:xfrm>
            <a:off x="1257300" y="4548226"/>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질감 강조, 깊이감 있는 그림자</a:t>
            </a:r>
            <a:endParaRPr lang="en-US" sz="1000" dirty="0"/>
          </a:p>
        </p:txBody>
      </p:sp>
      <p:sp>
        <p:nvSpPr>
          <p:cNvPr id="24" name="Shape 20"/>
          <p:cNvSpPr/>
          <p:nvPr/>
        </p:nvSpPr>
        <p:spPr>
          <a:xfrm>
            <a:off x="476402" y="5134355"/>
            <a:ext cx="3619195" cy="120352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95070" y="5526176"/>
            <a:ext cx="29818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단순히 '흑백'이라고만 쓰기보다 '필름 그레인(Film Grain)'을 추가하면 빈티지한 느낌을, '샤프니스(Sharpness)'를 높이면 현대적인 느낌을 줄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모노크롬 색감. 흑백 이미지, 회색조의 깊이감, 클래식하고 타임리스한 느낌, 명암 대비 강조, 아트 사진 스타일, 감성적인 분위기.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143835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COLOR MASTER 02</a:t>
            </a:r>
            <a:endParaRPr lang="en-US" sz="1000" dirty="0"/>
          </a:p>
        </p:txBody>
      </p:sp>
      <p:sp>
        <p:nvSpPr>
          <p:cNvPr id="7" name="Text 4"/>
          <p:cNvSpPr txBox="1"/>
          <p:nvPr/>
        </p:nvSpPr>
        <p:spPr>
          <a:xfrm>
            <a:off x="476402" y="1034186"/>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세피아 색감</a:t>
            </a:r>
            <a:endParaRPr lang="en-US" sz="3100" dirty="0"/>
          </a:p>
        </p:txBody>
      </p:sp>
      <p:sp>
        <p:nvSpPr>
          <p:cNvPr id="8" name="Text 5"/>
          <p:cNvSpPr txBox="1"/>
          <p:nvPr/>
        </p:nvSpPr>
        <p:spPr>
          <a:xfrm>
            <a:off x="476402" y="1522476"/>
            <a:ext cx="1734617"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Sepia / Vintage Tone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갈색 톤의 빈티지한 색감으로, 오래된 사진의 느낌과 노스탤지어 분위기를 연출합니다. 따뜻하고 부드러운 톤이 과거 회상 장면이나 감성적인 무드에 적합합니다.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279953"/>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세피아, 빈티지 필름, 노스탤지어</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7" name="Text 13"/>
          <p:cNvSpPr txBox="1"/>
          <p:nvPr/>
        </p:nvSpPr>
        <p:spPr>
          <a:xfrm>
            <a:off x="1257300" y="3561588"/>
            <a:ext cx="234635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갈색 톤 (Brown Tones), 웜 페이드</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3843223"/>
            <a:ext cx="20857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오래된 사진 (Old Photo), 필름</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124858"/>
            <a:ext cx="17657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추억이 담긴 인물이나 풍경</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[효과]</a:t>
            </a:r>
            <a:endParaRPr lang="en-US" sz="900" dirty="0"/>
          </a:p>
        </p:txBody>
      </p:sp>
      <p:sp>
        <p:nvSpPr>
          <p:cNvPr id="23" name="Text 19"/>
          <p:cNvSpPr txBox="1"/>
          <p:nvPr/>
        </p:nvSpPr>
        <p:spPr>
          <a:xfrm>
            <a:off x="1257300" y="4407408"/>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필름 그레인, 비네팅, 흐린 초점</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5" name="Text 21"/>
          <p:cNvSpPr txBox="1"/>
          <p:nvPr/>
        </p:nvSpPr>
        <p:spPr>
          <a:xfrm>
            <a:off x="1257300" y="4689043"/>
            <a:ext cx="15453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부드럽고 따뜻한 확산광</a:t>
            </a:r>
            <a:endParaRPr lang="en-US" sz="1000" dirty="0"/>
          </a:p>
        </p:txBody>
      </p:sp>
      <p:sp>
        <p:nvSpPr>
          <p:cNvPr id="26" name="Shape 22"/>
          <p:cNvSpPr/>
          <p:nvPr/>
        </p:nvSpPr>
        <p:spPr>
          <a:xfrm>
            <a:off x="476402" y="5276087"/>
            <a:ext cx="3619195" cy="107857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82852" y="5677736"/>
            <a:ext cx="316291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프롬프트에 '오래된 종이 질감(Old Paper Texture)'이나 '스크래치(Scratches)'를 추가하면 더 사실적인 빈티지 룩을 완성할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세피아</a:t>
            </a:r>
            <a:r>
              <a:rPr lang="en-US" sz="1200" dirty="0">
                <a:solidFill>
                  <a:srgbClr val="333333"/>
                </a:solidFill>
                <a:latin typeface="Noto Sans KR" pitchFamily="34" charset="0"/>
                <a:ea typeface="Noto Sans KR" pitchFamily="34" charset="-122"/>
                <a:cs typeface="Noto Sans KR" pitchFamily="34" charset="-120"/>
              </a:rPr>
              <a:t> 톤의 빈티지 스타일. 오래된 사진 질감과 갈색 톤의 색감, 노스탤지어 분위기, 필름 그레인과 비네팅 효과, 부드럽고 따뜻한 확산광, 추억이 담긴 인물이나 풍경.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52339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COLOR MASTER 03</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쿨톤 색감</a:t>
            </a:r>
            <a:endParaRPr lang="en-US" sz="3100" dirty="0"/>
          </a:p>
        </p:txBody>
      </p:sp>
      <p:sp>
        <p:nvSpPr>
          <p:cNvPr id="8" name="Text 5"/>
          <p:cNvSpPr txBox="1"/>
          <p:nvPr/>
        </p:nvSpPr>
        <p:spPr>
          <a:xfrm>
            <a:off x="476402" y="1663294"/>
            <a:ext cx="94640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Cool Tones</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차가운 파란색과 청록색 계열을 주조색으로 사용하여 시원하고 깨끗한 느낌을 줍니다. 겨울 풍경, 물, 유리, 금속 등 모던하고 프로페셔널한 분위기 연출에 탁월합니다.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5" name="Text 11"/>
          <p:cNvSpPr txBox="1"/>
          <p:nvPr/>
        </p:nvSpPr>
        <p:spPr>
          <a:xfrm>
            <a:off x="1257300" y="3420770"/>
            <a:ext cx="199522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Cool Tones, Ice Blue, Cyan</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[온도]</a:t>
            </a:r>
            <a:endParaRPr lang="en-US" sz="900" dirty="0"/>
          </a:p>
        </p:txBody>
      </p:sp>
      <p:sp>
        <p:nvSpPr>
          <p:cNvPr id="17" name="Text 13"/>
          <p:cNvSpPr txBox="1"/>
          <p:nvPr/>
        </p:nvSpPr>
        <p:spPr>
          <a:xfrm>
            <a:off x="1257300" y="3702406"/>
            <a:ext cx="272034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낮은 색온도 (Low Color Temperature)</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84041"/>
            <a:ext cx="26206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현대적인 건축물 또는 차가운 물의 질감</a:t>
            </a:r>
            <a:endParaRPr lang="en-US" sz="1000" dirty="0"/>
          </a:p>
        </p:txBody>
      </p:sp>
      <p:sp>
        <p:nvSpPr>
          <p:cNvPr id="20" name="Text 16"/>
          <p:cNvSpPr txBox="1"/>
          <p:nvPr/>
        </p:nvSpPr>
        <p:spPr>
          <a:xfrm>
            <a:off x="705002" y="42848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1" name="Text 17"/>
          <p:cNvSpPr txBox="1"/>
          <p:nvPr/>
        </p:nvSpPr>
        <p:spPr>
          <a:xfrm>
            <a:off x="1257300" y="4266590"/>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청량함, 차분함, 이성적, 모던함</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548226"/>
            <a:ext cx="199522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블루아워(Blue Hour), 형광등</a:t>
            </a:r>
            <a:endParaRPr lang="en-US" sz="1000" dirty="0"/>
          </a:p>
        </p:txBody>
      </p:sp>
      <p:sp>
        <p:nvSpPr>
          <p:cNvPr id="24" name="Shape 20"/>
          <p:cNvSpPr/>
          <p:nvPr/>
        </p:nvSpPr>
        <p:spPr>
          <a:xfrm>
            <a:off x="476402" y="5134355"/>
            <a:ext cx="3619195" cy="1207721"/>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95528" y="5577487"/>
            <a:ext cx="313471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색온도를 낮추고 화이트 밸런스를 파란색 쪽으로 조정하세요. 네온 사인이나 야간 도시 장면과 결합하면 사이버펑크 무드와도 궁합이 좋습니다.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쿨톤</a:t>
            </a:r>
            <a:r>
              <a:rPr lang="en-US" sz="1200" dirty="0">
                <a:solidFill>
                  <a:srgbClr val="333333"/>
                </a:solidFill>
                <a:latin typeface="Noto Sans KR" pitchFamily="34" charset="0"/>
                <a:ea typeface="Noto Sans KR" pitchFamily="34" charset="-122"/>
                <a:cs typeface="Noto Sans KR" pitchFamily="34" charset="-120"/>
              </a:rPr>
              <a:t> 색감. 차가운 파란색과 청록색 계열, 시원하고 깨끗한 느낌, 겨울이나 물 분위기, 모던하고 프로페셔널한 스타일, 청량감.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43835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COLOR MASTER 04</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웜톤 색감</a:t>
            </a:r>
            <a:endParaRPr lang="en-US" sz="3100" dirty="0"/>
          </a:p>
        </p:txBody>
      </p:sp>
      <p:sp>
        <p:nvSpPr>
          <p:cNvPr id="8" name="Text 5"/>
          <p:cNvSpPr txBox="1"/>
          <p:nvPr/>
        </p:nvSpPr>
        <p:spPr>
          <a:xfrm>
            <a:off x="476402" y="1663294"/>
            <a:ext cx="215432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Warm Tone Color Grading</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따뜻한 오렌지, 노란색, 빨간색 계열이 주를 이루는 색감입니다. 아늑하고 포근한 느낌을 주며, 가을 풍경이나 일몰, 감성적이고 친근한 인물 사진에 적합합니다.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5" name="Text 11"/>
          <p:cNvSpPr txBox="1"/>
          <p:nvPr/>
        </p:nvSpPr>
        <p:spPr>
          <a:xfrm>
            <a:off x="1257300" y="3420770"/>
            <a:ext cx="22530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웜톤 (Warm Tones), 오렌지/앰버</a:t>
            </a:r>
            <a:endParaRPr lang="en-US" sz="1000" dirty="0"/>
          </a:p>
        </p:txBody>
      </p:sp>
      <p:sp>
        <p:nvSpPr>
          <p:cNvPr id="16" name="Text 12"/>
          <p:cNvSpPr txBox="1"/>
          <p:nvPr/>
        </p:nvSpPr>
        <p:spPr>
          <a:xfrm>
            <a:off x="705002" y="372160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[색온도]</a:t>
            </a:r>
            <a:endParaRPr lang="en-US" sz="900" dirty="0"/>
          </a:p>
        </p:txBody>
      </p:sp>
      <p:sp>
        <p:nvSpPr>
          <p:cNvPr id="17" name="Text 13"/>
          <p:cNvSpPr txBox="1"/>
          <p:nvPr/>
        </p:nvSpPr>
        <p:spPr>
          <a:xfrm>
            <a:off x="1257300" y="3702406"/>
            <a:ext cx="142646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높음 (3200K~4000K)</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[시간대]</a:t>
            </a:r>
            <a:endParaRPr lang="en-US" sz="900" dirty="0"/>
          </a:p>
        </p:txBody>
      </p:sp>
      <p:sp>
        <p:nvSpPr>
          <p:cNvPr id="19" name="Text 15"/>
          <p:cNvSpPr txBox="1"/>
          <p:nvPr/>
        </p:nvSpPr>
        <p:spPr>
          <a:xfrm>
            <a:off x="1257300" y="3984041"/>
            <a:ext cx="243779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골든아워 (Golden Hour), 가을 오후</a:t>
            </a:r>
            <a:endParaRPr lang="en-US" sz="1000" dirty="0"/>
          </a:p>
        </p:txBody>
      </p:sp>
      <p:sp>
        <p:nvSpPr>
          <p:cNvPr id="20" name="Text 16"/>
          <p:cNvSpPr txBox="1"/>
          <p:nvPr/>
        </p:nvSpPr>
        <p:spPr>
          <a:xfrm>
            <a:off x="705002" y="42848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1" name="Text 17"/>
          <p:cNvSpPr txBox="1"/>
          <p:nvPr/>
        </p:nvSpPr>
        <p:spPr>
          <a:xfrm>
            <a:off x="1257300" y="4266590"/>
            <a:ext cx="20180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아늑함 (Cozy), 포근함, 감성적</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548226"/>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따뜻한 햇살, 부드러운 백라이트</a:t>
            </a:r>
            <a:endParaRPr lang="en-US" sz="1000" dirty="0"/>
          </a:p>
        </p:txBody>
      </p:sp>
      <p:sp>
        <p:nvSpPr>
          <p:cNvPr id="24" name="Shape 20"/>
          <p:cNvSpPr/>
          <p:nvPr/>
        </p:nvSpPr>
        <p:spPr>
          <a:xfrm>
            <a:off x="476402" y="5134355"/>
            <a:ext cx="3619195" cy="110276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2386" y="5551448"/>
            <a:ext cx="316291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인물 사진에서 스킨톤(피부색)을 생기 있고 건강해 보이게 하거나, 음식 사진을 더욱 맛있어 보이게 연출할 때 효과적입니다.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웜톤</a:t>
            </a:r>
            <a:r>
              <a:rPr lang="en-US" sz="1200" dirty="0">
                <a:solidFill>
                  <a:srgbClr val="333333"/>
                </a:solidFill>
                <a:latin typeface="Noto Sans KR" pitchFamily="34" charset="0"/>
                <a:ea typeface="Noto Sans KR" pitchFamily="34" charset="-122"/>
                <a:cs typeface="Noto Sans KR" pitchFamily="34" charset="-120"/>
              </a:rPr>
              <a:t> 색감 스타일. 따뜻한 오렌지와 앰버 톤이 감도는 가을 오후의 아늑한 풍경, 부드러운 햇살과 긴 그림자, 포근하고 감성적인 분위기, 3500K 색온도, 골든아워 조명, 아늑함, 감성 사진.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53436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COLOR CONTROL 05</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하이 컨트라스트</a:t>
            </a:r>
            <a:endParaRPr lang="en-US" sz="3100" dirty="0"/>
          </a:p>
        </p:txBody>
      </p:sp>
      <p:sp>
        <p:nvSpPr>
          <p:cNvPr id="8" name="Text 5"/>
          <p:cNvSpPr txBox="1"/>
          <p:nvPr/>
        </p:nvSpPr>
        <p:spPr>
          <a:xfrm>
            <a:off x="476402" y="1663294"/>
            <a:ext cx="1190549"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High Contrast</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밝은 영역과 어두운 영역의 차이를 극대화하여 강렬하고 드라마틱한 인상을 줍니다. 시선을 집중시키고 피사체의 형태나 실루엣을 강조할 때 효과적입니다.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5" name="Text 11"/>
          <p:cNvSpPr txBox="1"/>
          <p:nvPr/>
        </p:nvSpPr>
        <p:spPr>
          <a:xfrm>
            <a:off x="1257300" y="3420770"/>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하이 컨트라스트, 강렬한 명암 대비</a:t>
            </a:r>
            <a:endParaRPr lang="en-US" sz="1000" dirty="0"/>
          </a:p>
        </p:txBody>
      </p:sp>
      <p:sp>
        <p:nvSpPr>
          <p:cNvPr id="16" name="Text 12"/>
          <p:cNvSpPr txBox="1"/>
          <p:nvPr/>
        </p:nvSpPr>
        <p:spPr>
          <a:xfrm>
            <a:off x="705002" y="3721608"/>
            <a:ext cx="314554"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[톤]</a:t>
            </a:r>
            <a:endParaRPr lang="en-US" sz="900" dirty="0"/>
          </a:p>
        </p:txBody>
      </p:sp>
      <p:sp>
        <p:nvSpPr>
          <p:cNvPr id="17" name="Text 13"/>
          <p:cNvSpPr txBox="1"/>
          <p:nvPr/>
        </p:nvSpPr>
        <p:spPr>
          <a:xfrm>
            <a:off x="1257300" y="3702406"/>
            <a:ext cx="256214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진한 검정색(Deep Black)과 밝은 흰색</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대담함, 현대적인 그래픽, 임팩트</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66590"/>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하드 라이팅, 그림자 강조</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3" name="Text 19"/>
          <p:cNvSpPr txBox="1"/>
          <p:nvPr/>
        </p:nvSpPr>
        <p:spPr>
          <a:xfrm>
            <a:off x="1257300" y="4548226"/>
            <a:ext cx="171175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드라마틱, 긴장감, 모던함</a:t>
            </a:r>
            <a:endParaRPr lang="en-US" sz="1000" dirty="0"/>
          </a:p>
        </p:txBody>
      </p:sp>
      <p:sp>
        <p:nvSpPr>
          <p:cNvPr id="24" name="Shape 20"/>
          <p:cNvSpPr/>
          <p:nvPr/>
        </p:nvSpPr>
        <p:spPr>
          <a:xfrm>
            <a:off x="476402" y="5134356"/>
            <a:ext cx="3619195" cy="1148998"/>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19663" y="5543092"/>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느와르 영화의 한 장면처럼 연출하거나, 제품의 엣지(Edge)를 날카롭게 보여주고 싶을 때 [블랙 포인트]를 낮추고 [대비]를 높이는 키워드를 사용하세요.</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하이 컨트라스트 색감. 강렬한 명암 대비, 진한 검정색과 밝은 흰색, 드라마틱하고 임팩트 있는 느낌, 대담하고 강한 비주얼, 현대적인 그래픽 스타일.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543507"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COLOR CONTROL 06</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파스텔 톤 색감</a:t>
            </a:r>
            <a:endParaRPr lang="en-US" sz="3100" dirty="0"/>
          </a:p>
        </p:txBody>
      </p:sp>
      <p:sp>
        <p:nvSpPr>
          <p:cNvPr id="8" name="Text 5"/>
          <p:cNvSpPr txBox="1"/>
          <p:nvPr/>
        </p:nvSpPr>
        <p:spPr>
          <a:xfrm>
            <a:off x="476402" y="1663294"/>
            <a:ext cx="148498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Pastel Tone Color</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부드럽고 연한 색조로 아기자기하고 귀여운 느낌을 연출합니다. 봄날 같은 따뜻함과 감성적인 분위기를 표현할 때 효과적입니다.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15" name="Text 11"/>
          <p:cNvSpPr txBox="1"/>
          <p:nvPr/>
        </p:nvSpPr>
        <p:spPr>
          <a:xfrm>
            <a:off x="1257300" y="3420770"/>
            <a:ext cx="157276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파스텔 톤, 소프트 컬러</a:t>
            </a:r>
            <a:endParaRPr lang="en-US" sz="1000" dirty="0"/>
          </a:p>
        </p:txBody>
      </p:sp>
      <p:sp>
        <p:nvSpPr>
          <p:cNvPr id="16" name="Text 12"/>
          <p:cNvSpPr txBox="1"/>
          <p:nvPr/>
        </p:nvSpPr>
        <p:spPr>
          <a:xfrm>
            <a:off x="705002" y="372160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[팔레트]</a:t>
            </a:r>
            <a:endParaRPr lang="en-US" sz="900" dirty="0"/>
          </a:p>
        </p:txBody>
      </p:sp>
      <p:sp>
        <p:nvSpPr>
          <p:cNvPr id="17" name="Text 13"/>
          <p:cNvSpPr txBox="1"/>
          <p:nvPr/>
        </p:nvSpPr>
        <p:spPr>
          <a:xfrm>
            <a:off x="1257300" y="3702406"/>
            <a:ext cx="187817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연분홍, 라벤더, 민트, 크림</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9" name="Text 15"/>
          <p:cNvSpPr txBox="1"/>
          <p:nvPr/>
        </p:nvSpPr>
        <p:spPr>
          <a:xfrm>
            <a:off x="1257300" y="3984041"/>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확산광, 밝은 분위기</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[무드]</a:t>
            </a:r>
            <a:endParaRPr lang="en-US" sz="900" dirty="0"/>
          </a:p>
        </p:txBody>
      </p:sp>
      <p:sp>
        <p:nvSpPr>
          <p:cNvPr id="21" name="Text 17"/>
          <p:cNvSpPr txBox="1"/>
          <p:nvPr/>
        </p:nvSpPr>
        <p:spPr>
          <a:xfrm>
            <a:off x="1257300" y="4266590"/>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사랑스러운, 따뜻한, 동화적인</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[적용]</a:t>
            </a:r>
            <a:endParaRPr lang="en-US" sz="900" dirty="0"/>
          </a:p>
        </p:txBody>
      </p:sp>
      <p:sp>
        <p:nvSpPr>
          <p:cNvPr id="23" name="Text 19"/>
          <p:cNvSpPr txBox="1"/>
          <p:nvPr/>
        </p:nvSpPr>
        <p:spPr>
          <a:xfrm>
            <a:off x="1257300" y="4548226"/>
            <a:ext cx="22366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디저트 사진, 유아 용품, 봄 시즌</a:t>
            </a:r>
            <a:endParaRPr lang="en-US" sz="1000" dirty="0"/>
          </a:p>
        </p:txBody>
      </p:sp>
      <p:sp>
        <p:nvSpPr>
          <p:cNvPr id="24" name="Shape 20"/>
          <p:cNvSpPr/>
          <p:nvPr/>
        </p:nvSpPr>
        <p:spPr>
          <a:xfrm>
            <a:off x="495604" y="5125732"/>
            <a:ext cx="3619195" cy="117440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33195" y="5548579"/>
            <a:ext cx="320040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[채도↓, 명도↑] 조정을 통해 화사하고 몽환적인 파스텔 톤으로 변화합니다. 지브리나 수채화 스타일과도 잘 어울립니다.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파스텔 톤 색감. 연분홍과 민트, 크림색의 부드러운 조화, 아기자기한 디저트 테이블 세팅, 부드러운 확산광, 밝고 사랑스러운 분위기, 동화적인 감성, 고해상도 제품 사진.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1001268"/>
            <a:ext cx="161849" cy="133502"/>
          </a:xfrm>
          <a:prstGeom prst="rect">
            <a:avLst/>
          </a:prstGeom>
        </p:spPr>
      </p:pic>
      <p:sp>
        <p:nvSpPr>
          <p:cNvPr id="6" name="Text 3"/>
          <p:cNvSpPr txBox="1"/>
          <p:nvPr/>
        </p:nvSpPr>
        <p:spPr>
          <a:xfrm>
            <a:off x="714146" y="968350"/>
            <a:ext cx="947318"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01</a:t>
            </a:r>
            <a:endParaRPr lang="en-US" sz="1000" dirty="0"/>
          </a:p>
        </p:txBody>
      </p:sp>
      <p:sp>
        <p:nvSpPr>
          <p:cNvPr id="7" name="Text 4"/>
          <p:cNvSpPr txBox="1"/>
          <p:nvPr/>
        </p:nvSpPr>
        <p:spPr>
          <a:xfrm>
            <a:off x="476402" y="1244498"/>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패션 룩북 제작</a:t>
            </a:r>
            <a:endParaRPr lang="en-US" sz="3100" dirty="0"/>
          </a:p>
        </p:txBody>
      </p:sp>
      <p:sp>
        <p:nvSpPr>
          <p:cNvPr id="8" name="Text 5"/>
          <p:cNvSpPr txBox="1"/>
          <p:nvPr/>
        </p:nvSpPr>
        <p:spPr>
          <a:xfrm>
            <a:off x="476402" y="1731874"/>
            <a:ext cx="2732227"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Fashion Lookbook - Project Brief</a:t>
            </a:r>
            <a:endParaRPr lang="en-US" sz="1200" dirty="0"/>
          </a:p>
        </p:txBody>
      </p:sp>
      <p:sp>
        <p:nvSpPr>
          <p:cNvPr id="9" name="Text 6"/>
          <p:cNvSpPr txBox="1"/>
          <p:nvPr/>
        </p:nvSpPr>
        <p:spPr>
          <a:xfrm>
            <a:off x="476402" y="214152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봄 시즌을 겨냥한 감각적인 패션 룩북을 제작합니다. 브랜드 아이덴티티를 살리면서 인스타그램 피드에 최적화된 트렌디한 결과물을 목표로 합니다.</a:t>
            </a:r>
            <a:endParaRPr lang="en-US" sz="1100" dirty="0"/>
          </a:p>
        </p:txBody>
      </p:sp>
      <p:sp>
        <p:nvSpPr>
          <p:cNvPr id="10" name="Shape 7"/>
          <p:cNvSpPr/>
          <p:nvPr/>
        </p:nvSpPr>
        <p:spPr>
          <a:xfrm>
            <a:off x="476402" y="3012948"/>
            <a:ext cx="3619195" cy="2048256"/>
          </a:xfrm>
          <a:prstGeom prst="roundRect">
            <a:avLst>
              <a:gd name="adj" fmla="val 249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12948"/>
            <a:ext cx="38405" cy="2048256"/>
          </a:xfrm>
          <a:prstGeom prst="roundRect">
            <a:avLst>
              <a:gd name="adj" fmla="val 132890"/>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13202"/>
            <a:ext cx="1191463"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PROJECT OVERVIEW</a:t>
            </a:r>
            <a:endParaRPr lang="en-US" sz="900" dirty="0"/>
          </a:p>
        </p:txBody>
      </p:sp>
      <p:pic>
        <p:nvPicPr>
          <p:cNvPr id="13" name="Image 1" descr="preencoded.png"/>
          <p:cNvPicPr>
            <a:picLocks noChangeAspect="1"/>
          </p:cNvPicPr>
          <p:nvPr/>
        </p:nvPicPr>
        <p:blipFill>
          <a:blip r:embed="rId4">
            <a:alphaModFix amt="50000"/>
          </a:blip>
          <a:srcRect t="-25200" b="-25200"/>
          <a:stretch/>
        </p:blipFill>
        <p:spPr>
          <a:xfrm>
            <a:off x="3781044" y="3213202"/>
            <a:ext cx="114300" cy="171907"/>
          </a:xfrm>
          <a:prstGeom prst="rect">
            <a:avLst/>
          </a:prstGeom>
        </p:spPr>
      </p:pic>
      <p:sp>
        <p:nvSpPr>
          <p:cNvPr id="14" name="Text 10"/>
          <p:cNvSpPr txBox="1"/>
          <p:nvPr/>
        </p:nvSpPr>
        <p:spPr>
          <a:xfrm>
            <a:off x="705002" y="3517697"/>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[목표]</a:t>
            </a:r>
            <a:endParaRPr lang="en-US" sz="900" dirty="0"/>
          </a:p>
        </p:txBody>
      </p:sp>
      <p:sp>
        <p:nvSpPr>
          <p:cNvPr id="15" name="Text 11"/>
          <p:cNvSpPr txBox="1"/>
          <p:nvPr/>
        </p:nvSpPr>
        <p:spPr>
          <a:xfrm>
            <a:off x="1371600" y="3517697"/>
            <a:ext cx="282092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봄 시즌 룩북 10컷, 브랜드 톤앤매너 확립</a:t>
            </a:r>
            <a:endParaRPr lang="en-US" sz="1000" dirty="0"/>
          </a:p>
        </p:txBody>
      </p:sp>
      <p:sp>
        <p:nvSpPr>
          <p:cNvPr id="16" name="Text 12"/>
          <p:cNvSpPr txBox="1"/>
          <p:nvPr/>
        </p:nvSpPr>
        <p:spPr>
          <a:xfrm>
            <a:off x="705002" y="3832250"/>
            <a:ext cx="55778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[산출물]</a:t>
            </a:r>
            <a:endParaRPr lang="en-US" sz="900" dirty="0"/>
          </a:p>
        </p:txBody>
      </p:sp>
      <p:sp>
        <p:nvSpPr>
          <p:cNvPr id="17" name="Text 13"/>
          <p:cNvSpPr txBox="1"/>
          <p:nvPr/>
        </p:nvSpPr>
        <p:spPr>
          <a:xfrm>
            <a:off x="1371600" y="3832250"/>
            <a:ext cx="270205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1080x1350px 세로형, 고해상도 리사이징</a:t>
            </a:r>
            <a:endParaRPr lang="en-US" sz="1000" dirty="0"/>
          </a:p>
        </p:txBody>
      </p:sp>
      <p:sp>
        <p:nvSpPr>
          <p:cNvPr id="18" name="Text 14"/>
          <p:cNvSpPr txBox="1"/>
          <p:nvPr/>
        </p:nvSpPr>
        <p:spPr>
          <a:xfrm>
            <a:off x="705002" y="4146804"/>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[제약]</a:t>
            </a:r>
            <a:endParaRPr lang="en-US" sz="900" dirty="0"/>
          </a:p>
        </p:txBody>
      </p:sp>
      <p:sp>
        <p:nvSpPr>
          <p:cNvPr id="19" name="Text 15"/>
          <p:cNvSpPr txBox="1"/>
          <p:nvPr/>
        </p:nvSpPr>
        <p:spPr>
          <a:xfrm>
            <a:off x="1371600" y="4146804"/>
            <a:ext cx="2524658" cy="391363"/>
          </a:xfrm>
          <a:prstGeom prst="rect">
            <a:avLst/>
          </a:prstGeom>
          <a:noFill/>
          <a:ln/>
        </p:spPr>
        <p:txBody>
          <a:bodyPr wrap="square" lIns="0" tIns="0" rIns="0" bIns="0" rtlCol="0" anchor="t"/>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브랜드 컬러(#FF6908) 포인트, 로고 공간 확보</a:t>
            </a:r>
            <a:endParaRPr lang="en-US" sz="1000" dirty="0"/>
          </a:p>
        </p:txBody>
      </p:sp>
      <p:sp>
        <p:nvSpPr>
          <p:cNvPr id="20" name="Text 16"/>
          <p:cNvSpPr txBox="1"/>
          <p:nvPr/>
        </p:nvSpPr>
        <p:spPr>
          <a:xfrm>
            <a:off x="705002" y="4660697"/>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[참고]</a:t>
            </a:r>
            <a:endParaRPr lang="en-US" sz="900" dirty="0"/>
          </a:p>
        </p:txBody>
      </p:sp>
      <p:sp>
        <p:nvSpPr>
          <p:cNvPr id="21" name="Text 17"/>
          <p:cNvSpPr txBox="1"/>
          <p:nvPr/>
        </p:nvSpPr>
        <p:spPr>
          <a:xfrm>
            <a:off x="1371600" y="4660697"/>
            <a:ext cx="289499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컨템포러리 에디토리얼, 미니멀리즘, 자연광</a:t>
            </a:r>
            <a:endParaRPr lang="en-US" sz="1000" dirty="0"/>
          </a:p>
        </p:txBody>
      </p:sp>
      <p:sp>
        <p:nvSpPr>
          <p:cNvPr id="22" name="Shape 18"/>
          <p:cNvSpPr/>
          <p:nvPr/>
        </p:nvSpPr>
        <p:spPr>
          <a:xfrm>
            <a:off x="476402" y="5251399"/>
            <a:ext cx="3619195" cy="897731"/>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3" name="Image 2" descr="preencoded.png"/>
          <p:cNvPicPr>
            <a:picLocks noChangeAspect="1"/>
          </p:cNvPicPr>
          <p:nvPr/>
        </p:nvPicPr>
        <p:blipFill>
          <a:blip r:embed="rId5"/>
          <a:srcRect l="-2512" r="-2512"/>
          <a:stretch/>
        </p:blipFill>
        <p:spPr>
          <a:xfrm>
            <a:off x="609905" y="5439766"/>
            <a:ext cx="105156" cy="133502"/>
          </a:xfrm>
          <a:prstGeom prst="rect">
            <a:avLst/>
          </a:prstGeom>
        </p:spPr>
      </p:pic>
      <p:sp>
        <p:nvSpPr>
          <p:cNvPr id="24" name="Text 19"/>
          <p:cNvSpPr txBox="1"/>
          <p:nvPr/>
        </p:nvSpPr>
        <p:spPr>
          <a:xfrm>
            <a:off x="809244" y="5384902"/>
            <a:ext cx="92994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Check Point:</a:t>
            </a:r>
            <a:endParaRPr lang="en-US" sz="900" dirty="0"/>
          </a:p>
        </p:txBody>
      </p:sp>
      <p:sp>
        <p:nvSpPr>
          <p:cNvPr id="25" name="Text 20"/>
          <p:cNvSpPr txBox="1"/>
          <p:nvPr/>
        </p:nvSpPr>
        <p:spPr>
          <a:xfrm>
            <a:off x="809244" y="5628301"/>
            <a:ext cx="3143707"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모델의 얼굴 선명도를 유지하고, 이미지 우측 하단에 브랜드 로고를 배치할 여백을 고려하세요.</a:t>
            </a:r>
            <a:endParaRPr lang="en-US" sz="1100" dirty="0"/>
          </a:p>
        </p:txBody>
      </p:sp>
      <p:pic>
        <p:nvPicPr>
          <p:cNvPr id="26"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7"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28"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29" name="Text 21"/>
          <p:cNvSpPr txBox="1"/>
          <p:nvPr/>
        </p:nvSpPr>
        <p:spPr>
          <a:xfrm>
            <a:off x="4743907" y="5360213"/>
            <a:ext cx="1400861"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COVER DESIGN PROMPT</a:t>
            </a:r>
            <a:endParaRPr lang="en-US" sz="900" dirty="0"/>
          </a:p>
        </p:txBody>
      </p:sp>
      <p:sp>
        <p:nvSpPr>
          <p:cNvPr id="30" name="Text 22"/>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패션</a:t>
            </a:r>
            <a:r>
              <a:rPr lang="en-US" sz="1200" dirty="0">
                <a:solidFill>
                  <a:srgbClr val="333333"/>
                </a:solidFill>
                <a:latin typeface="Noto Sans KR" pitchFamily="34" charset="0"/>
                <a:ea typeface="Noto Sans KR" pitchFamily="34" charset="-122"/>
                <a:cs typeface="Noto Sans KR" pitchFamily="34" charset="-120"/>
              </a:rPr>
              <a:t> 룩북 프로젝트 커버 디자인. 'Project 1: Fashion Lookbook' 타이틀, 세련된 모델 실루엣, 매거진 커버 스타일, 모던하고 미니멀한 레이아웃, 브랜드 컬러(오렌지) 포인트, 전문적인 에디토리얼 디자인, 자연광 스튜디오 무드. 이미지 내 모든 텍스트는 한국어로 표시되어야 합니다.</a:t>
            </a:r>
            <a:endParaRPr lang="en-US" sz="1200" dirty="0"/>
          </a:p>
        </p:txBody>
      </p:sp>
      <p:sp>
        <p:nvSpPr>
          <p:cNvPr id="31" name="Shape 23"/>
          <p:cNvSpPr/>
          <p:nvPr/>
        </p:nvSpPr>
        <p:spPr>
          <a:xfrm>
            <a:off x="10344607" y="647395"/>
            <a:ext cx="11814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2" name="Image 6" descr="preencoded.png"/>
          <p:cNvPicPr>
            <a:picLocks noChangeAspect="1"/>
          </p:cNvPicPr>
          <p:nvPr/>
        </p:nvPicPr>
        <p:blipFill>
          <a:blip r:embed="rId9"/>
          <a:srcRect/>
          <a:stretch/>
        </p:blipFill>
        <p:spPr>
          <a:xfrm>
            <a:off x="10478110" y="733349"/>
            <a:ext cx="114300" cy="114300"/>
          </a:xfrm>
          <a:prstGeom prst="rect">
            <a:avLst/>
          </a:prstGeom>
        </p:spPr>
      </p:pic>
      <p:sp>
        <p:nvSpPr>
          <p:cNvPr id="33" name="Text 24"/>
          <p:cNvSpPr txBox="1"/>
          <p:nvPr/>
        </p:nvSpPr>
        <p:spPr>
          <a:xfrm>
            <a:off x="10649102" y="647395"/>
            <a:ext cx="8001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Project Cover</a:t>
            </a:r>
            <a:endParaRPr lang="en-US" sz="900" dirty="0"/>
          </a:p>
        </p:txBody>
      </p:sp>
      <p:sp>
        <p:nvSpPr>
          <p:cNvPr id="34"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ko-KR"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ko-KR" altLang="en-US"/>
          </a:p>
        </p:txBody>
      </p:sp>
      <p:pic>
        <p:nvPicPr>
          <p:cNvPr id="5" name="Image 0" descr="preencoded.png"/>
          <p:cNvPicPr>
            <a:picLocks noChangeAspect="1"/>
          </p:cNvPicPr>
          <p:nvPr/>
        </p:nvPicPr>
        <p:blipFill>
          <a:blip r:embed="rId3"/>
          <a:srcRect l="-3425" r="-3425"/>
          <a:stretch/>
        </p:blipFill>
        <p:spPr>
          <a:xfrm>
            <a:off x="476402" y="1025042"/>
            <a:ext cx="142646" cy="133502"/>
          </a:xfrm>
          <a:prstGeom prst="rect">
            <a:avLst/>
          </a:prstGeom>
        </p:spPr>
      </p:pic>
      <p:sp>
        <p:nvSpPr>
          <p:cNvPr id="6" name="Text 3"/>
          <p:cNvSpPr txBox="1"/>
          <p:nvPr/>
        </p:nvSpPr>
        <p:spPr>
          <a:xfrm>
            <a:off x="694944" y="992124"/>
            <a:ext cx="947318"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01</a:t>
            </a:r>
            <a:endParaRPr lang="en-US" sz="1000" dirty="0"/>
          </a:p>
        </p:txBody>
      </p:sp>
      <p:sp>
        <p:nvSpPr>
          <p:cNvPr id="7" name="Text 4"/>
          <p:cNvSpPr txBox="1"/>
          <p:nvPr/>
        </p:nvSpPr>
        <p:spPr>
          <a:xfrm>
            <a:off x="476402" y="1268273"/>
            <a:ext cx="4500677"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패션 룩북: 전신 샷</a:t>
            </a:r>
            <a:endParaRPr lang="en-US" sz="3100" dirty="0"/>
          </a:p>
        </p:txBody>
      </p:sp>
      <p:sp>
        <p:nvSpPr>
          <p:cNvPr id="8" name="Text 5"/>
          <p:cNvSpPr txBox="1"/>
          <p:nvPr/>
        </p:nvSpPr>
        <p:spPr>
          <a:xfrm>
            <a:off x="476402" y="1755648"/>
            <a:ext cx="162123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Full Body Lookbook</a:t>
            </a:r>
            <a:endParaRPr lang="en-US" sz="1200" dirty="0"/>
          </a:p>
        </p:txBody>
      </p:sp>
      <p:sp>
        <p:nvSpPr>
          <p:cNvPr id="9" name="Text 6"/>
          <p:cNvSpPr txBox="1"/>
          <p:nvPr/>
        </p:nvSpPr>
        <p:spPr>
          <a:xfrm>
            <a:off x="476402" y="2165299"/>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룩북의 기본이 되는 전신 샷은 의상의 전체적인 핏과 스타일링을 한눈에 보여주는 것이 핵심입니다. 인물과 배경의 조화를 고려하여 브랜드 무드를 효과적으로 전달합니다.</a:t>
            </a:r>
            <a:endParaRPr lang="en-US" sz="1100" dirty="0"/>
          </a:p>
        </p:txBody>
      </p:sp>
      <p:sp>
        <p:nvSpPr>
          <p:cNvPr id="10" name="Shape 7"/>
          <p:cNvSpPr/>
          <p:nvPr/>
        </p:nvSpPr>
        <p:spPr>
          <a:xfrm>
            <a:off x="476402" y="3036722"/>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36722"/>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3697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36976"/>
            <a:ext cx="114300" cy="171907"/>
          </a:xfrm>
          <a:prstGeom prst="rect">
            <a:avLst/>
          </a:prstGeom>
        </p:spPr>
      </p:pic>
      <p:sp>
        <p:nvSpPr>
          <p:cNvPr id="14" name="Text 10"/>
          <p:cNvSpPr txBox="1"/>
          <p:nvPr/>
        </p:nvSpPr>
        <p:spPr>
          <a:xfrm>
            <a:off x="705002" y="3532327"/>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513125"/>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현대적 스트리트 패션, 룩북</a:t>
            </a:r>
            <a:endParaRPr lang="en-US" sz="1000" dirty="0"/>
          </a:p>
        </p:txBody>
      </p:sp>
      <p:sp>
        <p:nvSpPr>
          <p:cNvPr id="16" name="Text 12"/>
          <p:cNvSpPr txBox="1"/>
          <p:nvPr/>
        </p:nvSpPr>
        <p:spPr>
          <a:xfrm>
            <a:off x="705002" y="381396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795674"/>
            <a:ext cx="240212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롱 샷 (Medium Long Shot)</a:t>
            </a:r>
            <a:endParaRPr lang="en-US" sz="1000" dirty="0"/>
          </a:p>
        </p:txBody>
      </p:sp>
      <p:sp>
        <p:nvSpPr>
          <p:cNvPr id="18" name="Text 14"/>
          <p:cNvSpPr txBox="1"/>
          <p:nvPr/>
        </p:nvSpPr>
        <p:spPr>
          <a:xfrm>
            <a:off x="705002" y="409651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4077310"/>
            <a:ext cx="1710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트렌디한 의상, 여성 모델</a:t>
            </a:r>
            <a:endParaRPr lang="en-US" sz="1000" dirty="0"/>
          </a:p>
        </p:txBody>
      </p:sp>
      <p:sp>
        <p:nvSpPr>
          <p:cNvPr id="20" name="Text 16"/>
          <p:cNvSpPr txBox="1"/>
          <p:nvPr/>
        </p:nvSpPr>
        <p:spPr>
          <a:xfrm>
            <a:off x="705002" y="437814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358945"/>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중립적 베이지 배경, 스튜디오 조명</a:t>
            </a:r>
            <a:endParaRPr lang="en-US" sz="1000" dirty="0"/>
          </a:p>
        </p:txBody>
      </p:sp>
      <p:sp>
        <p:nvSpPr>
          <p:cNvPr id="22" name="Text 18"/>
          <p:cNvSpPr txBox="1"/>
          <p:nvPr/>
        </p:nvSpPr>
        <p:spPr>
          <a:xfrm>
            <a:off x="705002" y="4659782"/>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3" name="Text 19"/>
          <p:cNvSpPr txBox="1"/>
          <p:nvPr/>
        </p:nvSpPr>
        <p:spPr>
          <a:xfrm>
            <a:off x="1257300" y="4640580"/>
            <a:ext cx="226314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자연스러운 포즈, 깔끔한 스타일링</a:t>
            </a:r>
            <a:endParaRPr lang="en-US" sz="1000" dirty="0"/>
          </a:p>
        </p:txBody>
      </p:sp>
      <p:sp>
        <p:nvSpPr>
          <p:cNvPr id="24" name="Shape 20"/>
          <p:cNvSpPr/>
          <p:nvPr/>
        </p:nvSpPr>
        <p:spPr>
          <a:xfrm>
            <a:off x="476402" y="5227625"/>
            <a:ext cx="3619195" cy="1068313"/>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15991"/>
            <a:ext cx="105156" cy="133502"/>
          </a:xfrm>
          <a:prstGeom prst="rect">
            <a:avLst/>
          </a:prstGeom>
        </p:spPr>
      </p:pic>
      <p:sp>
        <p:nvSpPr>
          <p:cNvPr id="26" name="Text 21"/>
          <p:cNvSpPr txBox="1"/>
          <p:nvPr/>
        </p:nvSpPr>
        <p:spPr>
          <a:xfrm>
            <a:off x="809244" y="5361127"/>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799186" y="5614046"/>
            <a:ext cx="3096158"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전신 샷에서는 모델의 발끝이 잘리지 않도록 주의하고, 의상의 색감이 정확하게 표현되도록 조명을 설정하세요.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패션</a:t>
            </a:r>
            <a:r>
              <a:rPr lang="en-US" sz="1200" dirty="0">
                <a:solidFill>
                  <a:srgbClr val="333333"/>
                </a:solidFill>
                <a:latin typeface="Noto Sans KR" pitchFamily="34" charset="0"/>
                <a:ea typeface="Noto Sans KR" pitchFamily="34" charset="-122"/>
                <a:cs typeface="Noto Sans KR" pitchFamily="34" charset="-120"/>
              </a:rPr>
              <a:t> 모델 전신 룩북. 현대 스트리트 패션의 여성 모델, 미디엄 롱 샷(Medium Long Shot), 중립적인 베이지 배경, 부드러운 스튜디오 조명, 자연스러운 포즈, 깔끔한 스타일링, 4K 고해상도, 프로페셔널한 상업 사진 퀄리티.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839419"/>
            <a:ext cx="181051" cy="133502"/>
          </a:xfrm>
          <a:prstGeom prst="rect">
            <a:avLst/>
          </a:prstGeom>
        </p:spPr>
      </p:pic>
      <p:sp>
        <p:nvSpPr>
          <p:cNvPr id="6" name="Text 3"/>
          <p:cNvSpPr txBox="1"/>
          <p:nvPr/>
        </p:nvSpPr>
        <p:spPr>
          <a:xfrm>
            <a:off x="733349" y="806501"/>
            <a:ext cx="257403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1: FASHION LOOKBOOK</a:t>
            </a:r>
            <a:endParaRPr lang="en-US" sz="1000" dirty="0"/>
          </a:p>
        </p:txBody>
      </p:sp>
      <p:sp>
        <p:nvSpPr>
          <p:cNvPr id="7" name="Text 4"/>
          <p:cNvSpPr txBox="1"/>
          <p:nvPr/>
        </p:nvSpPr>
        <p:spPr>
          <a:xfrm>
            <a:off x="476402" y="1082650"/>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디테일 컷</a:t>
            </a:r>
            <a:endParaRPr lang="en-US" sz="3100" dirty="0"/>
          </a:p>
        </p:txBody>
      </p:sp>
      <p:sp>
        <p:nvSpPr>
          <p:cNvPr id="8" name="Text 5"/>
          <p:cNvSpPr txBox="1"/>
          <p:nvPr/>
        </p:nvSpPr>
        <p:spPr>
          <a:xfrm>
            <a:off x="476402" y="1570025"/>
            <a:ext cx="166695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Detail Shot (Macro)</a:t>
            </a:r>
            <a:endParaRPr lang="en-US" sz="1200" dirty="0"/>
          </a:p>
        </p:txBody>
      </p:sp>
      <p:sp>
        <p:nvSpPr>
          <p:cNvPr id="9" name="Text 6"/>
          <p:cNvSpPr txBox="1"/>
          <p:nvPr/>
        </p:nvSpPr>
        <p:spPr>
          <a:xfrm>
            <a:off x="476402" y="1979676"/>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제품의 소재감과 마감을 강조하기 위한 클로즈업 샷입니다.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소비자에게</a:t>
            </a:r>
            <a:r>
              <a:rPr lang="en-US" sz="1100" dirty="0">
                <a:solidFill>
                  <a:srgbClr val="4B5563"/>
                </a:solidFill>
                <a:latin typeface="Noto Sans KR" pitchFamily="34" charset="0"/>
                <a:ea typeface="Noto Sans KR" pitchFamily="34" charset="-122"/>
                <a:cs typeface="Noto Sans KR" pitchFamily="34" charset="-120"/>
              </a:rPr>
              <a:t> 품질에 대한 신뢰를 주고, 제품의 고급스러움을 부각합니다.</a:t>
            </a:r>
            <a:endParaRPr lang="en-US" sz="1100" dirty="0"/>
          </a:p>
        </p:txBody>
      </p:sp>
      <p:sp>
        <p:nvSpPr>
          <p:cNvPr id="10" name="Shape 7"/>
          <p:cNvSpPr/>
          <p:nvPr/>
        </p:nvSpPr>
        <p:spPr>
          <a:xfrm>
            <a:off x="476402" y="2851099"/>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51099"/>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51353"/>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51353"/>
            <a:ext cx="114300" cy="171907"/>
          </a:xfrm>
          <a:prstGeom prst="rect">
            <a:avLst/>
          </a:prstGeom>
        </p:spPr>
      </p:pic>
      <p:sp>
        <p:nvSpPr>
          <p:cNvPr id="14" name="Text 10"/>
          <p:cNvSpPr txBox="1"/>
          <p:nvPr/>
        </p:nvSpPr>
        <p:spPr>
          <a:xfrm>
            <a:off x="705002" y="3346704"/>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27502"/>
            <a:ext cx="226314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럭셔리 에디토리얼, 하이엔드 패션</a:t>
            </a:r>
            <a:endParaRPr lang="en-US" sz="1000" dirty="0"/>
          </a:p>
        </p:txBody>
      </p:sp>
      <p:sp>
        <p:nvSpPr>
          <p:cNvPr id="16" name="Text 12"/>
          <p:cNvSpPr txBox="1"/>
          <p:nvPr/>
        </p:nvSpPr>
        <p:spPr>
          <a:xfrm>
            <a:off x="705002" y="362833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09137"/>
            <a:ext cx="295899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매크로 샷 (Macro Shot), 익스트림 클로즈업</a:t>
            </a:r>
            <a:endParaRPr lang="en-US" sz="1000" dirty="0"/>
          </a:p>
        </p:txBody>
      </p:sp>
      <p:sp>
        <p:nvSpPr>
          <p:cNvPr id="18" name="Text 14"/>
          <p:cNvSpPr txBox="1"/>
          <p:nvPr/>
        </p:nvSpPr>
        <p:spPr>
          <a:xfrm>
            <a:off x="705002" y="391088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891686"/>
            <a:ext cx="264993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고급 원단 텍스처, 스티치 디테일, 단추</a:t>
            </a:r>
            <a:endParaRPr lang="en-US" sz="1000" dirty="0"/>
          </a:p>
        </p:txBody>
      </p:sp>
      <p:sp>
        <p:nvSpPr>
          <p:cNvPr id="20" name="Text 16"/>
          <p:cNvSpPr txBox="1"/>
          <p:nvPr/>
        </p:nvSpPr>
        <p:spPr>
          <a:xfrm>
            <a:off x="705002" y="419252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173322"/>
            <a:ext cx="24835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소프트 라이팅, 질감을 살리는 측면광</a:t>
            </a:r>
            <a:endParaRPr lang="en-US" sz="1000" dirty="0"/>
          </a:p>
        </p:txBody>
      </p:sp>
      <p:sp>
        <p:nvSpPr>
          <p:cNvPr id="22" name="Text 18"/>
          <p:cNvSpPr txBox="1"/>
          <p:nvPr/>
        </p:nvSpPr>
        <p:spPr>
          <a:xfrm>
            <a:off x="705002" y="4474159"/>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454957"/>
            <a:ext cx="25731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100mm 매크로 렌즈, 얕은 심도(f/2.8)</a:t>
            </a:r>
            <a:endParaRPr lang="en-US" sz="1000" dirty="0"/>
          </a:p>
        </p:txBody>
      </p:sp>
      <p:sp>
        <p:nvSpPr>
          <p:cNvPr id="24" name="Shape 20"/>
          <p:cNvSpPr/>
          <p:nvPr/>
        </p:nvSpPr>
        <p:spPr>
          <a:xfrm>
            <a:off x="476402" y="5042002"/>
            <a:ext cx="3619195" cy="1358798"/>
          </a:xfrm>
          <a:prstGeom prst="roundRect">
            <a:avLst>
              <a:gd name="adj" fmla="val 683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230368"/>
            <a:ext cx="105156" cy="133502"/>
          </a:xfrm>
          <a:prstGeom prst="rect">
            <a:avLst/>
          </a:prstGeom>
        </p:spPr>
      </p:pic>
      <p:sp>
        <p:nvSpPr>
          <p:cNvPr id="26" name="Text 21"/>
          <p:cNvSpPr txBox="1"/>
          <p:nvPr/>
        </p:nvSpPr>
        <p:spPr>
          <a:xfrm>
            <a:off x="809244" y="5175504"/>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촬영 팁:</a:t>
            </a:r>
            <a:endParaRPr lang="en-US" sz="900" dirty="0"/>
          </a:p>
        </p:txBody>
      </p:sp>
      <p:sp>
        <p:nvSpPr>
          <p:cNvPr id="27" name="Text 22"/>
          <p:cNvSpPr txBox="1"/>
          <p:nvPr/>
        </p:nvSpPr>
        <p:spPr>
          <a:xfrm>
            <a:off x="809244" y="5506974"/>
            <a:ext cx="3097987" cy="743407"/>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'Extreme Close-up'이나 'Texture focus' 키워드를 추가하여 AI가 전체 형태보다 표면 질감에 집중하도록 유도하세요. 빛의 각도를 조절하여 입체감을 살리는 것이 중요합니다.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럭셔리</a:t>
            </a:r>
            <a:r>
              <a:rPr lang="en-US" sz="1200" dirty="0">
                <a:solidFill>
                  <a:srgbClr val="333333"/>
                </a:solidFill>
                <a:latin typeface="Noto Sans KR" pitchFamily="34" charset="0"/>
                <a:ea typeface="Noto Sans KR" pitchFamily="34" charset="-122"/>
                <a:cs typeface="Noto Sans KR" pitchFamily="34" charset="-120"/>
              </a:rPr>
              <a:t> 에디토리얼 패션 스타일. 의류의 고급 원단 텍스처와 스티치 디테일, 단추를 강조한 매크로 샷. 익스트림 클로즈업 구도, 부드러운 측면광(Soft Lighting)으로 질감 강조, 100mm 매크로 렌즈, 얕은 심도(f/2.8).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1016813"/>
            <a:ext cx="161849" cy="133502"/>
          </a:xfrm>
          <a:prstGeom prst="rect">
            <a:avLst/>
          </a:prstGeom>
        </p:spPr>
      </p:pic>
      <p:sp>
        <p:nvSpPr>
          <p:cNvPr id="6" name="Text 3"/>
          <p:cNvSpPr txBox="1"/>
          <p:nvPr/>
        </p:nvSpPr>
        <p:spPr>
          <a:xfrm>
            <a:off x="714146" y="983894"/>
            <a:ext cx="197236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01 : RESULT 3</a:t>
            </a:r>
            <a:endParaRPr lang="en-US" sz="1000" dirty="0"/>
          </a:p>
        </p:txBody>
      </p:sp>
      <p:sp>
        <p:nvSpPr>
          <p:cNvPr id="7" name="Text 4"/>
          <p:cNvSpPr txBox="1"/>
          <p:nvPr/>
        </p:nvSpPr>
        <p:spPr>
          <a:xfrm>
            <a:off x="476402" y="1260043"/>
            <a:ext cx="3924605" cy="457200"/>
          </a:xfrm>
          <a:prstGeom prst="rect">
            <a:avLst/>
          </a:prstGeom>
          <a:noFill/>
          <a:ln/>
        </p:spPr>
        <p:txBody>
          <a:bodyPr wrap="square" lIns="0" tIns="0" rIns="0" bIns="0" rtlCol="0" anchor="ctr"/>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패션 룩북 결과</a:t>
            </a:r>
            <a:endParaRPr lang="en-US" sz="3000" dirty="0"/>
          </a:p>
        </p:txBody>
      </p:sp>
      <p:sp>
        <p:nvSpPr>
          <p:cNvPr id="8" name="Text 5"/>
          <p:cNvSpPr txBox="1"/>
          <p:nvPr/>
        </p:nvSpPr>
        <p:spPr>
          <a:xfrm>
            <a:off x="476402" y="1764792"/>
            <a:ext cx="257312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Fashion Lookbook Final Layout</a:t>
            </a:r>
            <a:endParaRPr lang="en-US" sz="1200" dirty="0"/>
          </a:p>
        </p:txBody>
      </p:sp>
      <p:sp>
        <p:nvSpPr>
          <p:cNvPr id="9" name="Text 6"/>
          <p:cNvSpPr txBox="1"/>
          <p:nvPr/>
        </p:nvSpPr>
        <p:spPr>
          <a:xfrm>
            <a:off x="476402" y="2174443"/>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개별 컷들을 모아 하나의 완성된 룩북 레이아웃으로 구성한 결과물입니다. 다양한 앵글의 사진과 타이포그래피가 조화를 이루며 전문적인 에디토리얼 디자인을 보여줍니다.</a:t>
            </a:r>
            <a:endParaRPr lang="en-US" sz="1100" dirty="0"/>
          </a:p>
        </p:txBody>
      </p:sp>
      <p:sp>
        <p:nvSpPr>
          <p:cNvPr id="10" name="Shape 7"/>
          <p:cNvSpPr/>
          <p:nvPr/>
        </p:nvSpPr>
        <p:spPr>
          <a:xfrm>
            <a:off x="476402" y="3045866"/>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45866"/>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46120"/>
            <a:ext cx="1397203"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FINAL RESULT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46120"/>
            <a:ext cx="114300" cy="171907"/>
          </a:xfrm>
          <a:prstGeom prst="rect">
            <a:avLst/>
          </a:prstGeom>
        </p:spPr>
      </p:pic>
      <p:sp>
        <p:nvSpPr>
          <p:cNvPr id="14" name="Text 10"/>
          <p:cNvSpPr txBox="1"/>
          <p:nvPr/>
        </p:nvSpPr>
        <p:spPr>
          <a:xfrm>
            <a:off x="705002" y="354147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7300" y="3522269"/>
            <a:ext cx="14072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매거진 레이아웃</a:t>
            </a:r>
            <a:endParaRPr lang="en-US" sz="1000" dirty="0"/>
          </a:p>
        </p:txBody>
      </p:sp>
      <p:sp>
        <p:nvSpPr>
          <p:cNvPr id="16" name="Text 12"/>
          <p:cNvSpPr txBox="1"/>
          <p:nvPr/>
        </p:nvSpPr>
        <p:spPr>
          <a:xfrm>
            <a:off x="705002" y="382310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17" name="Text 13"/>
          <p:cNvSpPr txBox="1"/>
          <p:nvPr/>
        </p:nvSpPr>
        <p:spPr>
          <a:xfrm>
            <a:off x="1257300" y="3803904"/>
            <a:ext cx="24835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다양한 앵글 모델 사진, 타이포그래피</a:t>
            </a:r>
            <a:endParaRPr lang="en-US" sz="1000" dirty="0"/>
          </a:p>
        </p:txBody>
      </p:sp>
      <p:sp>
        <p:nvSpPr>
          <p:cNvPr id="18" name="Text 14"/>
          <p:cNvSpPr txBox="1"/>
          <p:nvPr/>
        </p:nvSpPr>
        <p:spPr>
          <a:xfrm>
            <a:off x="705002" y="4104742"/>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4085539"/>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에디토리얼 디자인, 모던</a:t>
            </a:r>
            <a:endParaRPr lang="en-US" sz="1000" dirty="0"/>
          </a:p>
        </p:txBody>
      </p:sp>
      <p:sp>
        <p:nvSpPr>
          <p:cNvPr id="20" name="Text 16"/>
          <p:cNvSpPr txBox="1"/>
          <p:nvPr/>
        </p:nvSpPr>
        <p:spPr>
          <a:xfrm>
            <a:off x="705002" y="438637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21" name="Text 17"/>
          <p:cNvSpPr txBox="1"/>
          <p:nvPr/>
        </p:nvSpPr>
        <p:spPr>
          <a:xfrm>
            <a:off x="1257300" y="4368089"/>
            <a:ext cx="232440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탑뷰 플랫레이 (Top View Flatlay)</a:t>
            </a:r>
            <a:endParaRPr lang="en-US" sz="1000" dirty="0"/>
          </a:p>
        </p:txBody>
      </p:sp>
      <p:sp>
        <p:nvSpPr>
          <p:cNvPr id="22" name="Text 18"/>
          <p:cNvSpPr txBox="1"/>
          <p:nvPr/>
        </p:nvSpPr>
        <p:spPr>
          <a:xfrm>
            <a:off x="705002" y="46689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649724"/>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자연광, 부드러운 그림자</a:t>
            </a:r>
            <a:endParaRPr lang="en-US" sz="1000" dirty="0"/>
          </a:p>
        </p:txBody>
      </p:sp>
      <p:sp>
        <p:nvSpPr>
          <p:cNvPr id="24" name="Shape 20"/>
          <p:cNvSpPr/>
          <p:nvPr/>
        </p:nvSpPr>
        <p:spPr>
          <a:xfrm>
            <a:off x="476402" y="5235854"/>
            <a:ext cx="3619195" cy="1068473"/>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424221"/>
            <a:ext cx="133502" cy="133502"/>
          </a:xfrm>
          <a:prstGeom prst="rect">
            <a:avLst/>
          </a:prstGeom>
        </p:spPr>
      </p:pic>
      <p:sp>
        <p:nvSpPr>
          <p:cNvPr id="26" name="Text 21"/>
          <p:cNvSpPr txBox="1"/>
          <p:nvPr/>
        </p:nvSpPr>
        <p:spPr>
          <a:xfrm>
            <a:off x="838505" y="5369357"/>
            <a:ext cx="49560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Check:</a:t>
            </a:r>
            <a:endParaRPr lang="en-US" sz="900" dirty="0"/>
          </a:p>
        </p:txBody>
      </p:sp>
      <p:sp>
        <p:nvSpPr>
          <p:cNvPr id="27" name="Text 22"/>
          <p:cNvSpPr txBox="1"/>
          <p:nvPr/>
        </p:nvSpPr>
        <p:spPr>
          <a:xfrm>
            <a:off x="838505" y="5635447"/>
            <a:ext cx="3134563"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룩북 전체의 톤앤매너가 일관성 있게 유지되었는지, 타이포그래피가 브랜드 이미지와 잘 어울리는지 확인하세요.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패션</a:t>
            </a:r>
            <a:r>
              <a:rPr lang="en-US" sz="1200" dirty="0">
                <a:solidFill>
                  <a:srgbClr val="333333"/>
                </a:solidFill>
                <a:latin typeface="Noto Sans KR" pitchFamily="34" charset="0"/>
                <a:ea typeface="Noto Sans KR" pitchFamily="34" charset="-122"/>
                <a:cs typeface="Noto Sans KR" pitchFamily="34" charset="-120"/>
              </a:rPr>
              <a:t> 룩북 최종 결과물. 다페이지 매거진 레이아웃, 펼쳐진 페이지 위에 다양한 각도의 모델 사진들이 감각적으로 배치됨, 세련된 타이포그래피와 제목, 프로페셔널한 에디토리얼 디자인, 탑뷰 플랫레이 구도, 자연광, 모던하고 럭셔리한 분위기.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988466"/>
            <a:ext cx="181051" cy="133502"/>
          </a:xfrm>
          <a:prstGeom prst="rect">
            <a:avLst/>
          </a:prstGeom>
        </p:spPr>
      </p:pic>
      <p:sp>
        <p:nvSpPr>
          <p:cNvPr id="6" name="Text 3"/>
          <p:cNvSpPr txBox="1"/>
          <p:nvPr/>
        </p:nvSpPr>
        <p:spPr>
          <a:xfrm>
            <a:off x="733349" y="955548"/>
            <a:ext cx="123352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BRIEF</a:t>
            </a:r>
            <a:endParaRPr lang="en-US" sz="1000" dirty="0"/>
          </a:p>
        </p:txBody>
      </p:sp>
      <p:sp>
        <p:nvSpPr>
          <p:cNvPr id="7" name="Text 4"/>
          <p:cNvSpPr txBox="1"/>
          <p:nvPr/>
        </p:nvSpPr>
        <p:spPr>
          <a:xfrm>
            <a:off x="476402" y="1231697"/>
            <a:ext cx="4947818"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제품 촬영 시뮬레이션</a:t>
            </a:r>
            <a:endParaRPr lang="en-US" sz="3100" dirty="0"/>
          </a:p>
        </p:txBody>
      </p:sp>
      <p:sp>
        <p:nvSpPr>
          <p:cNvPr id="8" name="Text 5"/>
          <p:cNvSpPr txBox="1"/>
          <p:nvPr/>
        </p:nvSpPr>
        <p:spPr>
          <a:xfrm>
            <a:off x="476402" y="1719072"/>
            <a:ext cx="2777033"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Product Photography Simulation</a:t>
            </a:r>
            <a:endParaRPr lang="en-US" sz="1200" dirty="0"/>
          </a:p>
        </p:txBody>
      </p:sp>
      <p:sp>
        <p:nvSpPr>
          <p:cNvPr id="9" name="Text 6"/>
          <p:cNvSpPr txBox="1"/>
          <p:nvPr/>
        </p:nvSpPr>
        <p:spPr>
          <a:xfrm>
            <a:off x="476402" y="2128723"/>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운동화 6컷 제작을 목표로 하며, 일관된 그림자와 반사 최소화를 통해 깔끔한 스튜디오 컷을 구현합니다. 로고가 뚜렷하게 보이도록 프롬프트를 설계합니다.</a:t>
            </a:r>
            <a:endParaRPr lang="en-US" sz="1100" dirty="0"/>
          </a:p>
        </p:txBody>
      </p:sp>
      <p:sp>
        <p:nvSpPr>
          <p:cNvPr id="10" name="Shape 7"/>
          <p:cNvSpPr/>
          <p:nvPr/>
        </p:nvSpPr>
        <p:spPr>
          <a:xfrm>
            <a:off x="476402" y="3000146"/>
            <a:ext cx="3619195" cy="1895551"/>
          </a:xfrm>
          <a:prstGeom prst="roundRect">
            <a:avLst>
              <a:gd name="adj" fmla="val 2909"/>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00146"/>
            <a:ext cx="38405" cy="1895551"/>
          </a:xfrm>
          <a:prstGeom prst="roundRect">
            <a:avLst>
              <a:gd name="adj" fmla="val 14357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00400"/>
            <a:ext cx="1191463"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PROJECT OVERVIEW</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00400"/>
            <a:ext cx="114300" cy="171907"/>
          </a:xfrm>
          <a:prstGeom prst="rect">
            <a:avLst/>
          </a:prstGeom>
        </p:spPr>
      </p:pic>
      <p:sp>
        <p:nvSpPr>
          <p:cNvPr id="14" name="Text 10"/>
          <p:cNvSpPr txBox="1"/>
          <p:nvPr/>
        </p:nvSpPr>
        <p:spPr>
          <a:xfrm>
            <a:off x="705002" y="349575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15" name="Text 11"/>
          <p:cNvSpPr txBox="1"/>
          <p:nvPr/>
        </p:nvSpPr>
        <p:spPr>
          <a:xfrm>
            <a:off x="1352398" y="3476549"/>
            <a:ext cx="24652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운동화 6컷 (전면/측면/탑뷰/디테일)</a:t>
            </a:r>
            <a:endParaRPr lang="en-US" sz="1000" dirty="0"/>
          </a:p>
        </p:txBody>
      </p:sp>
      <p:sp>
        <p:nvSpPr>
          <p:cNvPr id="16" name="Text 12"/>
          <p:cNvSpPr txBox="1"/>
          <p:nvPr/>
        </p:nvSpPr>
        <p:spPr>
          <a:xfrm>
            <a:off x="705002" y="377738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[산출물]</a:t>
            </a:r>
            <a:endParaRPr lang="en-US" sz="900" dirty="0"/>
          </a:p>
        </p:txBody>
      </p:sp>
      <p:sp>
        <p:nvSpPr>
          <p:cNvPr id="17" name="Text 13"/>
          <p:cNvSpPr txBox="1"/>
          <p:nvPr/>
        </p:nvSpPr>
        <p:spPr>
          <a:xfrm>
            <a:off x="1352398" y="3758184"/>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그림자 일관성 유지, 반사 최소화</a:t>
            </a:r>
            <a:endParaRPr lang="en-US" sz="1000" dirty="0"/>
          </a:p>
        </p:txBody>
      </p:sp>
      <p:sp>
        <p:nvSpPr>
          <p:cNvPr id="18" name="Text 14"/>
          <p:cNvSpPr txBox="1"/>
          <p:nvPr/>
        </p:nvSpPr>
        <p:spPr>
          <a:xfrm>
            <a:off x="705002" y="405902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[제약]</a:t>
            </a:r>
            <a:endParaRPr lang="en-US" sz="900" dirty="0"/>
          </a:p>
        </p:txBody>
      </p:sp>
      <p:sp>
        <p:nvSpPr>
          <p:cNvPr id="19" name="Text 15"/>
          <p:cNvSpPr txBox="1"/>
          <p:nvPr/>
        </p:nvSpPr>
        <p:spPr>
          <a:xfrm>
            <a:off x="1352398" y="4040734"/>
            <a:ext cx="276606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배경 5% 회색 (#F2F2F2), 로고 식별 가능</a:t>
            </a:r>
            <a:endParaRPr lang="en-US" sz="1000" dirty="0"/>
          </a:p>
        </p:txBody>
      </p:sp>
      <p:sp>
        <p:nvSpPr>
          <p:cNvPr id="20" name="Text 16"/>
          <p:cNvSpPr txBox="1"/>
          <p:nvPr/>
        </p:nvSpPr>
        <p:spPr>
          <a:xfrm>
            <a:off x="705002" y="4341571"/>
            <a:ext cx="486461" cy="352958"/>
          </a:xfrm>
          <a:prstGeom prst="rect">
            <a:avLst/>
          </a:prstGeom>
          <a:noFill/>
          <a:ln/>
        </p:spPr>
        <p:txBody>
          <a:bodyPr wrap="square" lIns="0" tIns="0" rIns="0" bIns="0" rtlCol="0" anchor="t"/>
          <a:lstStyle/>
          <a:p>
            <a:pPr marL="0" indent="0" algn="l">
              <a:buNone/>
            </a:pPr>
            <a:r>
              <a:rPr lang="en-US" sz="900" b="1" dirty="0">
                <a:solidFill>
                  <a:srgbClr val="FF6908"/>
                </a:solidFill>
                <a:latin typeface="Manrope" pitchFamily="34" charset="0"/>
                <a:ea typeface="Manrope" pitchFamily="34" charset="-122"/>
                <a:cs typeface="Manrope" pitchFamily="34" charset="-120"/>
              </a:rPr>
              <a:t>[레퍼런스]</a:t>
            </a:r>
            <a:endParaRPr lang="en-US" sz="900" dirty="0"/>
          </a:p>
        </p:txBody>
      </p:sp>
      <p:sp>
        <p:nvSpPr>
          <p:cNvPr id="21" name="Text 17"/>
          <p:cNvSpPr txBox="1"/>
          <p:nvPr/>
        </p:nvSpPr>
        <p:spPr>
          <a:xfrm>
            <a:off x="1352398" y="4322369"/>
            <a:ext cx="238109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미니멀 스튜디오 (Minimal Studio)</a:t>
            </a:r>
            <a:endParaRPr lang="en-US" sz="1000" dirty="0"/>
          </a:p>
        </p:txBody>
      </p:sp>
      <p:sp>
        <p:nvSpPr>
          <p:cNvPr id="22" name="Shape 18"/>
          <p:cNvSpPr/>
          <p:nvPr/>
        </p:nvSpPr>
        <p:spPr>
          <a:xfrm>
            <a:off x="476402" y="5078578"/>
            <a:ext cx="3619195" cy="1153058"/>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3" name="Image 2" descr="preencoded.png"/>
          <p:cNvPicPr>
            <a:picLocks noChangeAspect="1"/>
          </p:cNvPicPr>
          <p:nvPr/>
        </p:nvPicPr>
        <p:blipFill>
          <a:blip r:embed="rId5"/>
          <a:srcRect l="-2512" r="-2512"/>
          <a:stretch/>
        </p:blipFill>
        <p:spPr>
          <a:xfrm>
            <a:off x="609905" y="5266944"/>
            <a:ext cx="105156" cy="133502"/>
          </a:xfrm>
          <a:prstGeom prst="rect">
            <a:avLst/>
          </a:prstGeom>
        </p:spPr>
      </p:pic>
      <p:sp>
        <p:nvSpPr>
          <p:cNvPr id="24" name="Text 19"/>
          <p:cNvSpPr txBox="1"/>
          <p:nvPr/>
        </p:nvSpPr>
        <p:spPr>
          <a:xfrm>
            <a:off x="809244" y="5212080"/>
            <a:ext cx="82021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핵심 포인트:</a:t>
            </a:r>
            <a:endParaRPr lang="en-US" sz="900" dirty="0"/>
          </a:p>
        </p:txBody>
      </p:sp>
      <p:sp>
        <p:nvSpPr>
          <p:cNvPr id="25" name="Text 20"/>
          <p:cNvSpPr txBox="1"/>
          <p:nvPr/>
        </p:nvSpPr>
        <p:spPr>
          <a:xfrm>
            <a:off x="809244" y="5488686"/>
            <a:ext cx="316291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배경색을 5% 회색으로 지정하면 흰색 제품과의 분리가 명확해지고, 3점 조명을 활용해 입체감을 극대화할 수 있습니다.</a:t>
            </a:r>
            <a:endParaRPr lang="en-US" sz="1100" dirty="0"/>
          </a:p>
        </p:txBody>
      </p:sp>
      <p:pic>
        <p:nvPicPr>
          <p:cNvPr id="26"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7"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28"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29" name="Text 21"/>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0" name="Text 22"/>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제품 촬영 커버. 프로젝트 2: 제품 촬영 시뮬레이션, 스튜디오, 미니멀하고 프로페셔널한 디자인, 흰색/회색 톤, 텍스트 한국어 표기.</a:t>
            </a:r>
            <a:endParaRPr lang="en-US" sz="1200" dirty="0"/>
          </a:p>
        </p:txBody>
      </p:sp>
      <p:sp>
        <p:nvSpPr>
          <p:cNvPr id="31" name="Shape 23"/>
          <p:cNvSpPr/>
          <p:nvPr/>
        </p:nvSpPr>
        <p:spPr>
          <a:xfrm>
            <a:off x="10344607" y="647395"/>
            <a:ext cx="11814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2" name="Image 6" descr="preencoded.png"/>
          <p:cNvPicPr>
            <a:picLocks noChangeAspect="1"/>
          </p:cNvPicPr>
          <p:nvPr/>
        </p:nvPicPr>
        <p:blipFill>
          <a:blip r:embed="rId9"/>
          <a:srcRect/>
          <a:stretch/>
        </p:blipFill>
        <p:spPr>
          <a:xfrm>
            <a:off x="10478110" y="733349"/>
            <a:ext cx="114300" cy="114300"/>
          </a:xfrm>
          <a:prstGeom prst="rect">
            <a:avLst/>
          </a:prstGeom>
        </p:spPr>
      </p:pic>
      <p:sp>
        <p:nvSpPr>
          <p:cNvPr id="33" name="Text 24"/>
          <p:cNvSpPr txBox="1"/>
          <p:nvPr/>
        </p:nvSpPr>
        <p:spPr>
          <a:xfrm>
            <a:off x="10649102" y="647395"/>
            <a:ext cx="8001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Project Cover</a:t>
            </a:r>
            <a:endParaRPr lang="en-US" sz="900" dirty="0"/>
          </a:p>
        </p:txBody>
      </p:sp>
      <p:sp>
        <p:nvSpPr>
          <p:cNvPr id="34"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84225"/>
            <a:ext cx="142646" cy="133502"/>
          </a:xfrm>
          <a:prstGeom prst="rect">
            <a:avLst/>
          </a:prstGeom>
        </p:spPr>
      </p:pic>
      <p:sp>
        <p:nvSpPr>
          <p:cNvPr id="6" name="Text 3"/>
          <p:cNvSpPr txBox="1"/>
          <p:nvPr/>
        </p:nvSpPr>
        <p:spPr>
          <a:xfrm>
            <a:off x="694944" y="851306"/>
            <a:ext cx="190012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02: RESULT 1</a:t>
            </a:r>
            <a:endParaRPr lang="en-US" sz="1000" dirty="0"/>
          </a:p>
        </p:txBody>
      </p:sp>
      <p:sp>
        <p:nvSpPr>
          <p:cNvPr id="7" name="Text 4"/>
          <p:cNvSpPr txBox="1"/>
          <p:nvPr/>
        </p:nvSpPr>
        <p:spPr>
          <a:xfrm>
            <a:off x="476402" y="1127455"/>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제품 프론트 뷰</a:t>
            </a:r>
            <a:endParaRPr lang="en-US" sz="3100" dirty="0"/>
          </a:p>
        </p:txBody>
      </p:sp>
      <p:sp>
        <p:nvSpPr>
          <p:cNvPr id="8" name="Text 5"/>
          <p:cNvSpPr txBox="1"/>
          <p:nvPr/>
        </p:nvSpPr>
        <p:spPr>
          <a:xfrm>
            <a:off x="476402" y="1614830"/>
            <a:ext cx="235823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Product Front View Example</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제품의 정면을 깨끗하고 명확하게 보여주는 가장 기본적인 상업 사진 구도입니다. 신뢰감을 주며 제품의 특징과 로고를 직관적으로 전달합니다.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72307"/>
            <a:ext cx="8284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포토리얼리즘</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53942"/>
            <a:ext cx="161025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36492"/>
            <a:ext cx="12929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운동화 (Sneakers)</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18127"/>
            <a:ext cx="224485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스튜디오 조명 (Studio Lighting)</a:t>
            </a:r>
            <a:endParaRPr lang="en-US" sz="1000" dirty="0"/>
          </a:p>
        </p:txBody>
      </p:sp>
      <p:sp>
        <p:nvSpPr>
          <p:cNvPr id="22" name="Text 18"/>
          <p:cNvSpPr txBox="1"/>
          <p:nvPr/>
        </p:nvSpPr>
        <p:spPr>
          <a:xfrm>
            <a:off x="705002" y="4518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99762"/>
            <a:ext cx="113111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깔끔한 흰색 배경</a:t>
            </a:r>
            <a:endParaRPr lang="en-US" sz="1000" dirty="0"/>
          </a:p>
        </p:txBody>
      </p:sp>
      <p:sp>
        <p:nvSpPr>
          <p:cNvPr id="24" name="Text 20"/>
          <p:cNvSpPr txBox="1"/>
          <p:nvPr/>
        </p:nvSpPr>
        <p:spPr>
          <a:xfrm>
            <a:off x="705002" y="48006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5" name="Text 21"/>
          <p:cNvSpPr txBox="1"/>
          <p:nvPr/>
        </p:nvSpPr>
        <p:spPr>
          <a:xfrm>
            <a:off x="1257300" y="4781398"/>
            <a:ext cx="14072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바닥 그림자</a:t>
            </a:r>
            <a:endParaRPr lang="en-US" sz="1000" dirty="0"/>
          </a:p>
        </p:txBody>
      </p:sp>
      <p:sp>
        <p:nvSpPr>
          <p:cNvPr id="26" name="Shape 22"/>
          <p:cNvSpPr/>
          <p:nvPr/>
        </p:nvSpPr>
        <p:spPr>
          <a:xfrm>
            <a:off x="476402" y="5368442"/>
            <a:ext cx="3619195" cy="998525"/>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7872" y="5736945"/>
            <a:ext cx="3143707"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흰색 배경에서 제품이 떠 보이지 않게 하려면 [그라운드 그림자]를 적절히 추가해야 합니다.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제품 프론트 뷰 촬영. 운동화 정면 샷, 깔끔한 흰색 배경, 중앙 배치, 스튜디오 조명, 제품의 디테일과 로고가 명확히 보이는 구성, 프로페셔널한 상업 사진, 부드러운 그림자.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791870"/>
            <a:ext cx="181051" cy="133502"/>
          </a:xfrm>
          <a:prstGeom prst="rect">
            <a:avLst/>
          </a:prstGeom>
        </p:spPr>
      </p:pic>
      <p:sp>
        <p:nvSpPr>
          <p:cNvPr id="6" name="Text 3"/>
          <p:cNvSpPr txBox="1"/>
          <p:nvPr/>
        </p:nvSpPr>
        <p:spPr>
          <a:xfrm>
            <a:off x="733349" y="758038"/>
            <a:ext cx="190378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02 : PRODUCT</a:t>
            </a:r>
            <a:endParaRPr lang="en-US" sz="1000" dirty="0"/>
          </a:p>
        </p:txBody>
      </p:sp>
      <p:sp>
        <p:nvSpPr>
          <p:cNvPr id="7" name="Text 4"/>
          <p:cNvSpPr txBox="1"/>
          <p:nvPr/>
        </p:nvSpPr>
        <p:spPr>
          <a:xfrm>
            <a:off x="476402" y="1034186"/>
            <a:ext cx="4947818"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제품 라이프스타일 컷</a:t>
            </a:r>
            <a:endParaRPr lang="en-US" sz="3100" dirty="0"/>
          </a:p>
        </p:txBody>
      </p:sp>
      <p:sp>
        <p:nvSpPr>
          <p:cNvPr id="8" name="Text 5"/>
          <p:cNvSpPr txBox="1"/>
          <p:nvPr/>
        </p:nvSpPr>
        <p:spPr>
          <a:xfrm>
            <a:off x="476402" y="1522476"/>
            <a:ext cx="345551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Product Photography - Lifestyle Example</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제품이 실제 환경에서 사용되는 모습을 연출하여 소비자에게 공감대와 스타일을 제안하는 컷입니다. 스튜디오 컷과 달리 자연스러운 배경과 움직임을 강조합니다.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7300" y="3279953"/>
            <a:ext cx="269839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운동화를 신은 다리 (Sneakers on legs)</a:t>
            </a:r>
            <a:endParaRPr lang="en-US" sz="1000" dirty="0"/>
          </a:p>
        </p:txBody>
      </p:sp>
      <p:sp>
        <p:nvSpPr>
          <p:cNvPr id="16" name="Text 12"/>
          <p:cNvSpPr txBox="1"/>
          <p:nvPr/>
        </p:nvSpPr>
        <p:spPr>
          <a:xfrm>
            <a:off x="705002" y="358079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17" name="Text 13"/>
          <p:cNvSpPr txBox="1"/>
          <p:nvPr/>
        </p:nvSpPr>
        <p:spPr>
          <a:xfrm>
            <a:off x="1257300" y="3561588"/>
            <a:ext cx="24149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도시 거리, 횡단보도 (Urban street)</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[동작]</a:t>
            </a:r>
            <a:endParaRPr lang="en-US" sz="900" dirty="0"/>
          </a:p>
        </p:txBody>
      </p:sp>
      <p:sp>
        <p:nvSpPr>
          <p:cNvPr id="19" name="Text 15"/>
          <p:cNvSpPr txBox="1"/>
          <p:nvPr/>
        </p:nvSpPr>
        <p:spPr>
          <a:xfrm>
            <a:off x="1257300" y="3843223"/>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걷는 모습, 자연스러운 보폭</a:t>
            </a:r>
            <a:endParaRPr lang="en-US" sz="1000" dirty="0"/>
          </a:p>
        </p:txBody>
      </p:sp>
      <p:sp>
        <p:nvSpPr>
          <p:cNvPr id="20" name="Text 16"/>
          <p:cNvSpPr txBox="1"/>
          <p:nvPr/>
        </p:nvSpPr>
        <p:spPr>
          <a:xfrm>
            <a:off x="705002" y="414406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1" name="Text 17"/>
          <p:cNvSpPr txBox="1"/>
          <p:nvPr/>
        </p:nvSpPr>
        <p:spPr>
          <a:xfrm>
            <a:off x="1257300" y="4124858"/>
            <a:ext cx="21762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스트리트 패션 (Street Fashion)</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3" name="Text 19"/>
          <p:cNvSpPr txBox="1"/>
          <p:nvPr/>
        </p:nvSpPr>
        <p:spPr>
          <a:xfrm>
            <a:off x="1257300" y="4407408"/>
            <a:ext cx="258500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골든아워, 따뜻한 역광 (Golden Hour)</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25" name="Text 21"/>
          <p:cNvSpPr txBox="1"/>
          <p:nvPr/>
        </p:nvSpPr>
        <p:spPr>
          <a:xfrm>
            <a:off x="1257300" y="4689043"/>
            <a:ext cx="143560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로우 앵글, 미디엄 샷</a:t>
            </a:r>
            <a:endParaRPr lang="en-US" sz="1000" dirty="0"/>
          </a:p>
        </p:txBody>
      </p:sp>
      <p:sp>
        <p:nvSpPr>
          <p:cNvPr id="26" name="Shape 22"/>
          <p:cNvSpPr/>
          <p:nvPr/>
        </p:nvSpPr>
        <p:spPr>
          <a:xfrm>
            <a:off x="476402" y="5276088"/>
            <a:ext cx="3619195" cy="1124712"/>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연출 팁:</a:t>
            </a:r>
            <a:endParaRPr lang="en-US" sz="900" dirty="0"/>
          </a:p>
        </p:txBody>
      </p:sp>
      <p:sp>
        <p:nvSpPr>
          <p:cNvPr id="29" name="Text 24"/>
          <p:cNvSpPr txBox="1"/>
          <p:nvPr/>
        </p:nvSpPr>
        <p:spPr>
          <a:xfrm>
            <a:off x="787876" y="5707047"/>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라이프스타일 컷에서는 제품 자체보다 '분위기'가 중요합니다. [조명]을 '오후 햇살'이나 '도시 네온'으로 변경하여 타겟 고객층에 맞는 무드를 조성하세요.</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제품</a:t>
            </a:r>
            <a:r>
              <a:rPr lang="en-US" sz="1200" dirty="0">
                <a:solidFill>
                  <a:srgbClr val="333333"/>
                </a:solidFill>
                <a:latin typeface="Noto Sans KR" pitchFamily="34" charset="0"/>
                <a:ea typeface="Noto Sans KR" pitchFamily="34" charset="-122"/>
                <a:cs typeface="Noto Sans KR" pitchFamily="34" charset="-120"/>
              </a:rPr>
              <a:t> 라이프스타일 촬영 컨셉. 운동화를 신은 다리와 도시 배경, 자연스러운 움직임과 환경, 스트리트 패션 분위기, 미디엄 샷, 골든아워 조명.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2838" r="-2838"/>
          <a:stretch/>
        </p:blipFill>
        <p:spPr>
          <a:xfrm>
            <a:off x="476402" y="884225"/>
            <a:ext cx="123444" cy="133502"/>
          </a:xfrm>
          <a:prstGeom prst="rect">
            <a:avLst/>
          </a:prstGeom>
        </p:spPr>
      </p:pic>
      <p:sp>
        <p:nvSpPr>
          <p:cNvPr id="6" name="Text 3"/>
          <p:cNvSpPr txBox="1"/>
          <p:nvPr/>
        </p:nvSpPr>
        <p:spPr>
          <a:xfrm>
            <a:off x="676656" y="851306"/>
            <a:ext cx="96286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02</a:t>
            </a:r>
            <a:endParaRPr lang="en-US" sz="1000" dirty="0"/>
          </a:p>
        </p:txBody>
      </p:sp>
      <p:sp>
        <p:nvSpPr>
          <p:cNvPr id="7" name="Text 4"/>
          <p:cNvSpPr txBox="1"/>
          <p:nvPr/>
        </p:nvSpPr>
        <p:spPr>
          <a:xfrm>
            <a:off x="476402" y="1127455"/>
            <a:ext cx="4723790"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제품 촬영 최종 결과</a:t>
            </a:r>
            <a:endParaRPr lang="en-US" sz="3100" dirty="0"/>
          </a:p>
        </p:txBody>
      </p:sp>
      <p:sp>
        <p:nvSpPr>
          <p:cNvPr id="8" name="Text 5"/>
          <p:cNvSpPr txBox="1"/>
          <p:nvPr/>
        </p:nvSpPr>
        <p:spPr>
          <a:xfrm>
            <a:off x="476402" y="1614830"/>
            <a:ext cx="290230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Product Photography Final Output</a:t>
            </a:r>
            <a:endParaRPr lang="en-US" sz="1200" dirty="0"/>
          </a:p>
        </p:txBody>
      </p:sp>
      <p:sp>
        <p:nvSpPr>
          <p:cNvPr id="9" name="Text 6"/>
          <p:cNvSpPr txBox="1"/>
          <p:nvPr/>
        </p:nvSpPr>
        <p:spPr>
          <a:xfrm>
            <a:off x="476402" y="202448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여러 각도의 제품 사진을 깔끔한 그리드 레이아웃으로 배치하여 상업용 카탈로그 퀄리티를 완성합니다. 일관된 조명과 톤을 유지하는 것이 핵심입니다.</a:t>
            </a:r>
            <a:endParaRPr lang="en-US" sz="1100" dirty="0"/>
          </a:p>
        </p:txBody>
      </p:sp>
      <p:sp>
        <p:nvSpPr>
          <p:cNvPr id="10" name="Shape 7"/>
          <p:cNvSpPr/>
          <p:nvPr/>
        </p:nvSpPr>
        <p:spPr>
          <a:xfrm>
            <a:off x="476402" y="2895905"/>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95905"/>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96158"/>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96158"/>
            <a:ext cx="114300" cy="171907"/>
          </a:xfrm>
          <a:prstGeom prst="rect">
            <a:avLst/>
          </a:prstGeom>
        </p:spPr>
      </p:pic>
      <p:sp>
        <p:nvSpPr>
          <p:cNvPr id="14" name="Text 10"/>
          <p:cNvSpPr txBox="1"/>
          <p:nvPr/>
        </p:nvSpPr>
        <p:spPr>
          <a:xfrm>
            <a:off x="705002" y="339151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7300" y="3372307"/>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제품 촬영 카탈로그 레이아웃</a:t>
            </a:r>
            <a:endParaRPr lang="en-US" sz="1000" dirty="0"/>
          </a:p>
        </p:txBody>
      </p:sp>
      <p:sp>
        <p:nvSpPr>
          <p:cNvPr id="16" name="Text 12"/>
          <p:cNvSpPr txBox="1"/>
          <p:nvPr/>
        </p:nvSpPr>
        <p:spPr>
          <a:xfrm>
            <a:off x="705002" y="367314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17" name="Text 13"/>
          <p:cNvSpPr txBox="1"/>
          <p:nvPr/>
        </p:nvSpPr>
        <p:spPr>
          <a:xfrm>
            <a:off x="1257300" y="3653942"/>
            <a:ext cx="267919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다양한 각도 사진 (탑뷰, 측면, 디테일)</a:t>
            </a:r>
            <a:endParaRPr lang="en-US" sz="1000" dirty="0"/>
          </a:p>
        </p:txBody>
      </p:sp>
      <p:sp>
        <p:nvSpPr>
          <p:cNvPr id="18" name="Text 14"/>
          <p:cNvSpPr txBox="1"/>
          <p:nvPr/>
        </p:nvSpPr>
        <p:spPr>
          <a:xfrm>
            <a:off x="705002" y="395569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9" name="Text 15"/>
          <p:cNvSpPr txBox="1"/>
          <p:nvPr/>
        </p:nvSpPr>
        <p:spPr>
          <a:xfrm>
            <a:off x="1257300" y="3936492"/>
            <a:ext cx="221101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플랫레이 (Flat Lay), 그리드 정렬</a:t>
            </a:r>
            <a:endParaRPr lang="en-US" sz="1000" dirty="0"/>
          </a:p>
        </p:txBody>
      </p:sp>
      <p:sp>
        <p:nvSpPr>
          <p:cNvPr id="20" name="Text 16"/>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18127"/>
            <a:ext cx="198699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자연광, 깔끔한 스튜디오 배경</a:t>
            </a:r>
            <a:endParaRPr lang="en-US" sz="1000" dirty="0"/>
          </a:p>
        </p:txBody>
      </p:sp>
      <p:sp>
        <p:nvSpPr>
          <p:cNvPr id="22" name="Text 18"/>
          <p:cNvSpPr txBox="1"/>
          <p:nvPr/>
        </p:nvSpPr>
        <p:spPr>
          <a:xfrm>
            <a:off x="705002" y="4518965"/>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3" name="Text 19"/>
          <p:cNvSpPr txBox="1"/>
          <p:nvPr/>
        </p:nvSpPr>
        <p:spPr>
          <a:xfrm>
            <a:off x="1257300" y="4499762"/>
            <a:ext cx="195864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프로페셔널 커머셜 포토그래피</a:t>
            </a:r>
            <a:endParaRPr lang="en-US" sz="1000" dirty="0"/>
          </a:p>
        </p:txBody>
      </p:sp>
      <p:sp>
        <p:nvSpPr>
          <p:cNvPr id="24" name="Text 20"/>
          <p:cNvSpPr txBox="1"/>
          <p:nvPr/>
        </p:nvSpPr>
        <p:spPr>
          <a:xfrm>
            <a:off x="705002" y="48006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5" name="Text 21"/>
          <p:cNvSpPr txBox="1"/>
          <p:nvPr/>
        </p:nvSpPr>
        <p:spPr>
          <a:xfrm>
            <a:off x="1257300" y="4781398"/>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선명한 포커스, 텍스처 강조</a:t>
            </a:r>
            <a:endParaRPr lang="en-US" sz="1000" dirty="0"/>
          </a:p>
        </p:txBody>
      </p:sp>
      <p:sp>
        <p:nvSpPr>
          <p:cNvPr id="26" name="Shape 22"/>
          <p:cNvSpPr/>
          <p:nvPr/>
        </p:nvSpPr>
        <p:spPr>
          <a:xfrm>
            <a:off x="476402" y="5368442"/>
            <a:ext cx="3619195" cy="1032358"/>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56809"/>
            <a:ext cx="105156" cy="133502"/>
          </a:xfrm>
          <a:prstGeom prst="rect">
            <a:avLst/>
          </a:prstGeom>
        </p:spPr>
      </p:pic>
      <p:sp>
        <p:nvSpPr>
          <p:cNvPr id="28" name="Text 23"/>
          <p:cNvSpPr txBox="1"/>
          <p:nvPr/>
        </p:nvSpPr>
        <p:spPr>
          <a:xfrm>
            <a:off x="809244" y="5501945"/>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771753" y="5730545"/>
            <a:ext cx="3182112"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배경색을 브랜드 컬러로 변경하거나, 소품으로 식물이나 문구류를 추가하여 라이프스타일 무드를 더할 수 있습니다.</a:t>
            </a:r>
            <a:endParaRPr lang="en-US" sz="1100" dirty="0"/>
          </a:p>
        </p:txBody>
      </p:sp>
      <p:pic>
        <p:nvPicPr>
          <p:cNvPr id="30"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31"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2"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3" name="Text 25"/>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제품 촬영 최종 결과. 여러 각도의 제품 사진들이 배치된 상업용 카탈로그 레이아웃, 탑뷰 플랫레이, 깔끔한 그리드 배치, 프로페셔널한 제품 사진들, 자연광.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1025042"/>
            <a:ext cx="161849" cy="133502"/>
          </a:xfrm>
          <a:prstGeom prst="rect">
            <a:avLst/>
          </a:prstGeom>
        </p:spPr>
      </p:pic>
      <p:sp>
        <p:nvSpPr>
          <p:cNvPr id="6" name="Text 3"/>
          <p:cNvSpPr txBox="1"/>
          <p:nvPr/>
        </p:nvSpPr>
        <p:spPr>
          <a:xfrm>
            <a:off x="714146" y="992124"/>
            <a:ext cx="96286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03</a:t>
            </a:r>
            <a:endParaRPr lang="en-US" sz="1000" dirty="0"/>
          </a:p>
        </p:txBody>
      </p:sp>
      <p:sp>
        <p:nvSpPr>
          <p:cNvPr id="7" name="Text 4"/>
          <p:cNvSpPr txBox="1"/>
          <p:nvPr/>
        </p:nvSpPr>
        <p:spPr>
          <a:xfrm>
            <a:off x="476402" y="1268273"/>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캐릭터 디자인</a:t>
            </a:r>
            <a:endParaRPr lang="en-US" sz="3100" dirty="0"/>
          </a:p>
        </p:txBody>
      </p:sp>
      <p:sp>
        <p:nvSpPr>
          <p:cNvPr id="8" name="Text 5"/>
          <p:cNvSpPr txBox="1"/>
          <p:nvPr/>
        </p:nvSpPr>
        <p:spPr>
          <a:xfrm>
            <a:off x="476402" y="1755648"/>
            <a:ext cx="2142439"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Character Design Project</a:t>
            </a:r>
            <a:endParaRPr lang="en-US" sz="1200" dirty="0"/>
          </a:p>
        </p:txBody>
      </p:sp>
      <p:sp>
        <p:nvSpPr>
          <p:cNvPr id="9" name="Text 6"/>
          <p:cNvSpPr txBox="1"/>
          <p:nvPr/>
        </p:nvSpPr>
        <p:spPr>
          <a:xfrm>
            <a:off x="476402" y="2165299"/>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3D 렌더링 스타일을 활용하여 브랜드나 채널을 대표할 수 있는 매력적인 마스코트를 디자인합니다. 친근함과 개성을 동시에 담아내는 것이 목표입니다.</a:t>
            </a:r>
            <a:endParaRPr lang="en-US" sz="1100" dirty="0"/>
          </a:p>
        </p:txBody>
      </p:sp>
      <p:sp>
        <p:nvSpPr>
          <p:cNvPr id="10" name="Shape 7"/>
          <p:cNvSpPr/>
          <p:nvPr/>
        </p:nvSpPr>
        <p:spPr>
          <a:xfrm>
            <a:off x="476402" y="3036722"/>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36722"/>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36976"/>
            <a:ext cx="1334110"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COVER IMAGE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36976"/>
            <a:ext cx="114300" cy="171907"/>
          </a:xfrm>
          <a:prstGeom prst="rect">
            <a:avLst/>
          </a:prstGeom>
        </p:spPr>
      </p:pic>
      <p:sp>
        <p:nvSpPr>
          <p:cNvPr id="14" name="Text 10"/>
          <p:cNvSpPr txBox="1"/>
          <p:nvPr/>
        </p:nvSpPr>
        <p:spPr>
          <a:xfrm>
            <a:off x="705002" y="3532327"/>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513125"/>
            <a:ext cx="23820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3D 렌더링, 픽사 애니메이션 스타일</a:t>
            </a:r>
            <a:endParaRPr lang="en-US" sz="1000" dirty="0"/>
          </a:p>
        </p:txBody>
      </p:sp>
      <p:sp>
        <p:nvSpPr>
          <p:cNvPr id="16" name="Text 12"/>
          <p:cNvSpPr txBox="1"/>
          <p:nvPr/>
        </p:nvSpPr>
        <p:spPr>
          <a:xfrm>
            <a:off x="705002" y="381396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795674"/>
            <a:ext cx="129844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전신 샷, 프론트 뷰</a:t>
            </a:r>
            <a:endParaRPr lang="en-US" sz="1000" dirty="0"/>
          </a:p>
        </p:txBody>
      </p:sp>
      <p:sp>
        <p:nvSpPr>
          <p:cNvPr id="18" name="Text 14"/>
          <p:cNvSpPr txBox="1"/>
          <p:nvPr/>
        </p:nvSpPr>
        <p:spPr>
          <a:xfrm>
            <a:off x="705002" y="409651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4077310"/>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귀여운 로봇 마스코트 실루엣</a:t>
            </a:r>
            <a:endParaRPr lang="en-US" sz="1000" dirty="0"/>
          </a:p>
        </p:txBody>
      </p:sp>
      <p:sp>
        <p:nvSpPr>
          <p:cNvPr id="20" name="Text 16"/>
          <p:cNvSpPr txBox="1"/>
          <p:nvPr/>
        </p:nvSpPr>
        <p:spPr>
          <a:xfrm>
            <a:off x="705002" y="437814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358945"/>
            <a:ext cx="168249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스튜디오 라이팅</a:t>
            </a:r>
            <a:endParaRPr lang="en-US" sz="1000" dirty="0"/>
          </a:p>
        </p:txBody>
      </p:sp>
      <p:sp>
        <p:nvSpPr>
          <p:cNvPr id="22" name="Text 18"/>
          <p:cNvSpPr txBox="1"/>
          <p:nvPr/>
        </p:nvSpPr>
        <p:spPr>
          <a:xfrm>
            <a:off x="705002" y="465978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7300" y="4640580"/>
            <a:ext cx="157276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파스텔 톤, 밝고 화사함</a:t>
            </a:r>
            <a:endParaRPr lang="en-US" sz="1000" dirty="0"/>
          </a:p>
        </p:txBody>
      </p:sp>
      <p:sp>
        <p:nvSpPr>
          <p:cNvPr id="24" name="Shape 20"/>
          <p:cNvSpPr/>
          <p:nvPr/>
        </p:nvSpPr>
        <p:spPr>
          <a:xfrm>
            <a:off x="476402" y="5227625"/>
            <a:ext cx="3619195" cy="1080896"/>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15991"/>
            <a:ext cx="105156" cy="133502"/>
          </a:xfrm>
          <a:prstGeom prst="rect">
            <a:avLst/>
          </a:prstGeom>
        </p:spPr>
      </p:pic>
      <p:sp>
        <p:nvSpPr>
          <p:cNvPr id="26" name="Text 21"/>
          <p:cNvSpPr txBox="1"/>
          <p:nvPr/>
        </p:nvSpPr>
        <p:spPr>
          <a:xfrm>
            <a:off x="809244" y="5361127"/>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655564"/>
            <a:ext cx="3133582"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캐릭터의 성격(장난기, 성실함 등)을 포즈와 표정뿐만 아니라 배경 색상과 조명 톤으로도 표현할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3D 렌더링, 픽사 애니메이션 스타일. 귀여운 로봇 마스코트의 전신 실루엣, 프론트 뷰 구도, 부드러운 스튜디오 라이팅, 밝고 화사한 파스텔 톤 배경, 친근하고 개성 있는 캐릭터 디자인 프로젝트 커버. 이미지 내 모든 텍스트는 한국어로 표시되어야 합니다.</a:t>
            </a:r>
            <a:endParaRPr lang="en-US" sz="1200" dirty="0"/>
          </a:p>
        </p:txBody>
      </p:sp>
      <p:sp>
        <p:nvSpPr>
          <p:cNvPr id="33" name="Shape 25"/>
          <p:cNvSpPr/>
          <p:nvPr/>
        </p:nvSpPr>
        <p:spPr>
          <a:xfrm>
            <a:off x="10344607" y="647395"/>
            <a:ext cx="11814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478110" y="733349"/>
            <a:ext cx="114300" cy="114300"/>
          </a:xfrm>
          <a:prstGeom prst="rect">
            <a:avLst/>
          </a:prstGeom>
        </p:spPr>
      </p:pic>
      <p:sp>
        <p:nvSpPr>
          <p:cNvPr id="35" name="Text 26"/>
          <p:cNvSpPr txBox="1"/>
          <p:nvPr/>
        </p:nvSpPr>
        <p:spPr>
          <a:xfrm>
            <a:off x="10649102" y="647395"/>
            <a:ext cx="8001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Project Cover</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2090318"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03 : EXAMPLE 1</a:t>
            </a:r>
            <a:endParaRPr lang="en-US" sz="1000" dirty="0"/>
          </a:p>
        </p:txBody>
      </p:sp>
      <p:sp>
        <p:nvSpPr>
          <p:cNvPr id="7" name="Text 4"/>
          <p:cNvSpPr txBox="1"/>
          <p:nvPr/>
        </p:nvSpPr>
        <p:spPr>
          <a:xfrm>
            <a:off x="476402" y="1175004"/>
            <a:ext cx="4486046"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픽사 스타일 캐릭터</a:t>
            </a:r>
            <a:endParaRPr lang="en-US" sz="3100" dirty="0"/>
          </a:p>
        </p:txBody>
      </p:sp>
      <p:sp>
        <p:nvSpPr>
          <p:cNvPr id="8" name="Text 5"/>
          <p:cNvSpPr txBox="1"/>
          <p:nvPr/>
        </p:nvSpPr>
        <p:spPr>
          <a:xfrm>
            <a:off x="476402" y="1663294"/>
            <a:ext cx="205191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Pixar Style 3D Character</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밝고 친근한 인상의 3D 캐릭터 디자인 예시입니다. 과장된 이목구비와 부드러운 질감 표현으로 대중적인 호감도를 높였습니다.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420770"/>
            <a:ext cx="138805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픽사, 3D 애니메이션</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702406"/>
            <a:ext cx="161025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(Front View)</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84041"/>
            <a:ext cx="229240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귀여운 동물 캐릭터 (친근한 포즈)</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[특징]</a:t>
            </a:r>
            <a:endParaRPr lang="en-US" sz="900" dirty="0"/>
          </a:p>
        </p:txBody>
      </p:sp>
      <p:sp>
        <p:nvSpPr>
          <p:cNvPr id="21" name="Text 17"/>
          <p:cNvSpPr txBox="1"/>
          <p:nvPr/>
        </p:nvSpPr>
        <p:spPr>
          <a:xfrm>
            <a:off x="1257300" y="4266590"/>
            <a:ext cx="23737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큰 눈, 풍부한 표정, 부드러운 질감</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548226"/>
            <a:ext cx="126918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밝은 스튜디오 조명</a:t>
            </a:r>
            <a:endParaRPr lang="en-US" sz="1000" dirty="0"/>
          </a:p>
        </p:txBody>
      </p:sp>
      <p:sp>
        <p:nvSpPr>
          <p:cNvPr id="24" name="Shape 20"/>
          <p:cNvSpPr/>
          <p:nvPr/>
        </p:nvSpPr>
        <p:spPr>
          <a:xfrm>
            <a:off x="476402" y="5134356"/>
            <a:ext cx="3619195" cy="109728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544464"/>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[주제]를 '로봇'이나 '몬스터'로 변경하되 [특징]에 '둥근 모서리'를 추가하면 위협적이지 않고 귀여운 마스코트를 만들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픽사 스타일 3D 캐릭터 디자인. 귀여운 동물 캐릭터, 큰 눈과 풍부한 표정, 밝은 색감, 부드러운 텍스처, 정면 뷰, 스튜디오 조명, 친근한 포즈, 애니메이션 영화 스타일.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616659"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03 RESULT</a:t>
            </a:r>
            <a:endParaRPr lang="en-US" sz="1000" dirty="0"/>
          </a:p>
        </p:txBody>
      </p:sp>
      <p:sp>
        <p:nvSpPr>
          <p:cNvPr id="7" name="Text 4"/>
          <p:cNvSpPr txBox="1"/>
          <p:nvPr/>
        </p:nvSpPr>
        <p:spPr>
          <a:xfrm>
            <a:off x="476402" y="1175004"/>
            <a:ext cx="4024274"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캐릭터 표정 변화</a:t>
            </a:r>
            <a:endParaRPr lang="en-US" sz="3100" dirty="0"/>
          </a:p>
        </p:txBody>
      </p:sp>
      <p:sp>
        <p:nvSpPr>
          <p:cNvPr id="8" name="Text 5"/>
          <p:cNvSpPr txBox="1"/>
          <p:nvPr/>
        </p:nvSpPr>
        <p:spPr>
          <a:xfrm>
            <a:off x="476402" y="1663294"/>
            <a:ext cx="239207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Character Expression Sheet</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하나의 캐릭터 모델에 일관성을 유지하면서 다양한 감정(기쁨, 슬픔, 화남, 놀람)을 표현하는 결과물입니다. 캐릭터 시트 구도를 활용해 한 번에 생성합니다.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991210"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RESULT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20770"/>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캐릭터 시트, 스플릿 스크린</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7" name="Text 13"/>
          <p:cNvSpPr txBox="1"/>
          <p:nvPr/>
        </p:nvSpPr>
        <p:spPr>
          <a:xfrm>
            <a:off x="1257300" y="3702406"/>
            <a:ext cx="171450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같은 캐릭터의 4가지 표정</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188457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3D 애니메이션, 픽사 스타일</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66590"/>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깔끔한 스튜디오 배경, 일관된 조명</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[설정]</a:t>
            </a:r>
            <a:endParaRPr lang="en-US" sz="900" dirty="0"/>
          </a:p>
        </p:txBody>
      </p:sp>
      <p:sp>
        <p:nvSpPr>
          <p:cNvPr id="23" name="Text 19"/>
          <p:cNvSpPr txBox="1"/>
          <p:nvPr/>
        </p:nvSpPr>
        <p:spPr>
          <a:xfrm>
            <a:off x="1257300" y="4548226"/>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동일한 의상 및 디자인 유지</a:t>
            </a:r>
            <a:endParaRPr lang="en-US" sz="1000" dirty="0"/>
          </a:p>
        </p:txBody>
      </p:sp>
      <p:sp>
        <p:nvSpPr>
          <p:cNvPr id="24" name="Shape 20"/>
          <p:cNvSpPr/>
          <p:nvPr/>
        </p:nvSpPr>
        <p:spPr>
          <a:xfrm>
            <a:off x="476402" y="5134355"/>
            <a:ext cx="3619195" cy="110276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322722"/>
            <a:ext cx="105156" cy="133502"/>
          </a:xfrm>
          <a:prstGeom prst="rect">
            <a:avLst/>
          </a:prstGeom>
        </p:spPr>
      </p:pic>
      <p:sp>
        <p:nvSpPr>
          <p:cNvPr id="26" name="Text 21"/>
          <p:cNvSpPr txBox="1"/>
          <p:nvPr/>
        </p:nvSpPr>
        <p:spPr>
          <a:xfrm>
            <a:off x="809244" y="5267858"/>
            <a:ext cx="687629"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디자인 팁:</a:t>
            </a:r>
            <a:endParaRPr lang="en-US" sz="900" dirty="0"/>
          </a:p>
        </p:txBody>
      </p:sp>
      <p:sp>
        <p:nvSpPr>
          <p:cNvPr id="27" name="Text 22"/>
          <p:cNvSpPr txBox="1"/>
          <p:nvPr/>
        </p:nvSpPr>
        <p:spPr>
          <a:xfrm>
            <a:off x="812876" y="5543092"/>
            <a:ext cx="3134563"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프롬프트에 'Character Sheet' 또는 'Multiple Expressions' 키워드를 포함하면 디자인 일관성을 유지하기 유리합니다.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캐릭터</a:t>
            </a:r>
            <a:r>
              <a:rPr lang="en-US" sz="1200" dirty="0">
                <a:solidFill>
                  <a:srgbClr val="333333"/>
                </a:solidFill>
                <a:latin typeface="Noto Sans KR" pitchFamily="34" charset="0"/>
                <a:ea typeface="Noto Sans KR" pitchFamily="34" charset="-122"/>
                <a:cs typeface="Noto Sans KR" pitchFamily="34" charset="-120"/>
              </a:rPr>
              <a:t> 표정 변화 시트. 한 캐릭터의 다양한 감정 표현(기쁨, 슬픔, 화남, 놀람), 스플릿 스크린 구도, 일관된 디자인, 3D 애니메이션 스타일, 픽사 스타일, 밝은 파스텔 톤, 깔끔한 스튜디오 배경.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479146"/>
            <a:ext cx="142646" cy="133502"/>
          </a:xfrm>
          <a:prstGeom prst="rect">
            <a:avLst/>
          </a:prstGeom>
        </p:spPr>
      </p:pic>
      <p:sp>
        <p:nvSpPr>
          <p:cNvPr id="6" name="Text 3"/>
          <p:cNvSpPr txBox="1"/>
          <p:nvPr/>
        </p:nvSpPr>
        <p:spPr>
          <a:xfrm>
            <a:off x="694944" y="445313"/>
            <a:ext cx="236921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03 : FINAL RESULT</a:t>
            </a:r>
            <a:endParaRPr lang="en-US" sz="1000" dirty="0"/>
          </a:p>
        </p:txBody>
      </p:sp>
      <p:sp>
        <p:nvSpPr>
          <p:cNvPr id="7" name="Text 4"/>
          <p:cNvSpPr txBox="1"/>
          <p:nvPr/>
        </p:nvSpPr>
        <p:spPr>
          <a:xfrm>
            <a:off x="476402" y="721462"/>
            <a:ext cx="3764585" cy="886054"/>
          </a:xfrm>
          <a:prstGeom prst="rect">
            <a:avLst/>
          </a:prstGeom>
          <a:noFill/>
          <a:ln/>
        </p:spPr>
        <p:txBody>
          <a:bodyPr wrap="square" lIns="0" tIns="0" rIns="0" bIns="0" rtlCol="0" anchor="t"/>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캐릭터 디자인</a:t>
            </a:r>
            <a:endParaRPr lang="en-US" sz="3100" dirty="0"/>
          </a:p>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최종 결과</a:t>
            </a:r>
            <a:endParaRPr lang="en-US" sz="3100" dirty="0"/>
          </a:p>
        </p:txBody>
      </p:sp>
      <p:sp>
        <p:nvSpPr>
          <p:cNvPr id="8" name="Text 5"/>
          <p:cNvSpPr txBox="1"/>
          <p:nvPr/>
        </p:nvSpPr>
        <p:spPr>
          <a:xfrm>
            <a:off x="476402" y="1649578"/>
            <a:ext cx="217627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Character Portfolio Sheet</a:t>
            </a:r>
            <a:endParaRPr lang="en-US" sz="1200" dirty="0"/>
          </a:p>
        </p:txBody>
      </p:sp>
      <p:sp>
        <p:nvSpPr>
          <p:cNvPr id="9" name="Text 6"/>
          <p:cNvSpPr txBox="1"/>
          <p:nvPr/>
        </p:nvSpPr>
        <p:spPr>
          <a:xfrm>
            <a:off x="476402" y="2059229"/>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여러 각도의 캐릭터 뷰와 표정 변화를 한 장에 담은 포트폴리오 시트입니다. 깔끔한 레이아웃과 일관된 스타일로 캐릭터의 매력을 극대화했습니다.</a:t>
            </a:r>
            <a:endParaRPr lang="en-US" sz="1100" dirty="0"/>
          </a:p>
        </p:txBody>
      </p:sp>
      <p:sp>
        <p:nvSpPr>
          <p:cNvPr id="10" name="Shape 7"/>
          <p:cNvSpPr/>
          <p:nvPr/>
        </p:nvSpPr>
        <p:spPr>
          <a:xfrm>
            <a:off x="476402" y="273680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73680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2937054"/>
            <a:ext cx="1766621"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FINAL COMPOSITION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2937054"/>
            <a:ext cx="114300" cy="171907"/>
          </a:xfrm>
          <a:prstGeom prst="rect">
            <a:avLst/>
          </a:prstGeom>
        </p:spPr>
      </p:pic>
      <p:sp>
        <p:nvSpPr>
          <p:cNvPr id="14" name="Text 10"/>
          <p:cNvSpPr txBox="1"/>
          <p:nvPr/>
        </p:nvSpPr>
        <p:spPr>
          <a:xfrm>
            <a:off x="705002" y="323240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15" name="Text 11"/>
          <p:cNvSpPr txBox="1"/>
          <p:nvPr/>
        </p:nvSpPr>
        <p:spPr>
          <a:xfrm>
            <a:off x="1257300" y="3213202"/>
            <a:ext cx="15453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캐릭터 포트폴리오 시트</a:t>
            </a:r>
            <a:endParaRPr lang="en-US" sz="1000" dirty="0"/>
          </a:p>
        </p:txBody>
      </p:sp>
      <p:sp>
        <p:nvSpPr>
          <p:cNvPr id="16" name="Text 12"/>
          <p:cNvSpPr txBox="1"/>
          <p:nvPr/>
        </p:nvSpPr>
        <p:spPr>
          <a:xfrm>
            <a:off x="705002" y="351404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494838"/>
            <a:ext cx="24149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탑뷰 플랫레이 (Top View Flat Lay)</a:t>
            </a:r>
            <a:endParaRPr lang="en-US" sz="1000" dirty="0"/>
          </a:p>
        </p:txBody>
      </p:sp>
      <p:sp>
        <p:nvSpPr>
          <p:cNvPr id="18" name="Text 14"/>
          <p:cNvSpPr txBox="1"/>
          <p:nvPr/>
        </p:nvSpPr>
        <p:spPr>
          <a:xfrm>
            <a:off x="705002" y="379567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19" name="Text 15"/>
          <p:cNvSpPr txBox="1"/>
          <p:nvPr/>
        </p:nvSpPr>
        <p:spPr>
          <a:xfrm>
            <a:off x="1257300" y="3776473"/>
            <a:ext cx="232623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다각도 뷰(정면/측면/후면) + 표정</a:t>
            </a:r>
            <a:endParaRPr lang="en-US" sz="1000" dirty="0"/>
          </a:p>
        </p:txBody>
      </p:sp>
      <p:sp>
        <p:nvSpPr>
          <p:cNvPr id="20" name="Text 16"/>
          <p:cNvSpPr txBox="1"/>
          <p:nvPr/>
        </p:nvSpPr>
        <p:spPr>
          <a:xfrm>
            <a:off x="705002" y="407731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1" name="Text 17"/>
          <p:cNvSpPr txBox="1"/>
          <p:nvPr/>
        </p:nvSpPr>
        <p:spPr>
          <a:xfrm>
            <a:off x="1257300" y="4059022"/>
            <a:ext cx="182971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픽사 3D 렌더링, 파스텔 톤</a:t>
            </a:r>
            <a:endParaRPr lang="en-US" sz="1000" dirty="0"/>
          </a:p>
        </p:txBody>
      </p:sp>
      <p:sp>
        <p:nvSpPr>
          <p:cNvPr id="22" name="Text 18"/>
          <p:cNvSpPr txBox="1"/>
          <p:nvPr/>
        </p:nvSpPr>
        <p:spPr>
          <a:xfrm>
            <a:off x="705002" y="435986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[배경]</a:t>
            </a:r>
            <a:endParaRPr lang="en-US" sz="900" dirty="0"/>
          </a:p>
        </p:txBody>
      </p:sp>
      <p:sp>
        <p:nvSpPr>
          <p:cNvPr id="23" name="Text 19"/>
          <p:cNvSpPr txBox="1"/>
          <p:nvPr/>
        </p:nvSpPr>
        <p:spPr>
          <a:xfrm>
            <a:off x="1257300" y="4340658"/>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깔끔한 그리드, 자연광 스튜디오</a:t>
            </a:r>
            <a:endParaRPr lang="en-US" sz="1000" dirty="0"/>
          </a:p>
        </p:txBody>
      </p:sp>
      <p:sp>
        <p:nvSpPr>
          <p:cNvPr id="24" name="Text 20"/>
          <p:cNvSpPr txBox="1"/>
          <p:nvPr/>
        </p:nvSpPr>
        <p:spPr>
          <a:xfrm>
            <a:off x="705002" y="464149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[품질]</a:t>
            </a:r>
            <a:endParaRPr lang="en-US" sz="900" dirty="0"/>
          </a:p>
        </p:txBody>
      </p:sp>
      <p:sp>
        <p:nvSpPr>
          <p:cNvPr id="25" name="Text 21"/>
          <p:cNvSpPr txBox="1"/>
          <p:nvPr/>
        </p:nvSpPr>
        <p:spPr>
          <a:xfrm>
            <a:off x="1257300" y="4622293"/>
            <a:ext cx="195864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프로페셔널 프레젠테이션 보드</a:t>
            </a:r>
            <a:endParaRPr lang="en-US" sz="1000" dirty="0"/>
          </a:p>
        </p:txBody>
      </p:sp>
      <p:sp>
        <p:nvSpPr>
          <p:cNvPr id="26" name="Shape 22"/>
          <p:cNvSpPr/>
          <p:nvPr/>
        </p:nvSpPr>
        <p:spPr>
          <a:xfrm>
            <a:off x="476402" y="5209338"/>
            <a:ext cx="3619195" cy="1211580"/>
          </a:xfrm>
          <a:prstGeom prst="roundRect">
            <a:avLst>
              <a:gd name="adj" fmla="val 6836"/>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396790"/>
            <a:ext cx="105156" cy="133502"/>
          </a:xfrm>
          <a:prstGeom prst="rect">
            <a:avLst/>
          </a:prstGeom>
        </p:spPr>
      </p:pic>
      <p:sp>
        <p:nvSpPr>
          <p:cNvPr id="28" name="Text 23"/>
          <p:cNvSpPr txBox="1"/>
          <p:nvPr/>
        </p:nvSpPr>
        <p:spPr>
          <a:xfrm>
            <a:off x="809244" y="5342840"/>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실전 팁:</a:t>
            </a:r>
            <a:endParaRPr lang="en-US" sz="900" dirty="0"/>
          </a:p>
        </p:txBody>
      </p:sp>
      <p:sp>
        <p:nvSpPr>
          <p:cNvPr id="29" name="Text 24"/>
          <p:cNvSpPr txBox="1"/>
          <p:nvPr/>
        </p:nvSpPr>
        <p:spPr>
          <a:xfrm>
            <a:off x="786840" y="5628589"/>
            <a:ext cx="3143707" cy="743407"/>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완성된 시트는 캐릭터의 성격과 스토리를 한눈에 보여주는 것이 중요합니다. [배경]을 투명하게 설정하거나 단색으로 처리하면 추후 굿즈 제작이나 웹툰 활용 시 "누끼 따기" 작업이 훨씬 수월해집니다.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캐릭터</a:t>
            </a:r>
            <a:r>
              <a:rPr lang="en-US" sz="1200" dirty="0">
                <a:solidFill>
                  <a:srgbClr val="333333"/>
                </a:solidFill>
                <a:latin typeface="Noto Sans KR" pitchFamily="34" charset="0"/>
                <a:ea typeface="Noto Sans KR" pitchFamily="34" charset="-122"/>
                <a:cs typeface="Noto Sans KR" pitchFamily="34" charset="-120"/>
              </a:rPr>
              <a:t> 디자인 최종 결과물. 3D 캐릭터 포트폴리오 시트, 여러 각도의 캐릭터 뷰(정면, 측면, 후면), 다양한 포즈와 표정, 탑뷰 플랫레이 레이아웃, 프로페셔널한 프레젠테이션 보드, 픽사 스타일 3D 렌더링, 밝은 파스텔 톤, 깔끔한 그리드 구성, 자연광.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858622"/>
            <a:ext cx="181051" cy="133502"/>
          </a:xfrm>
          <a:prstGeom prst="rect">
            <a:avLst/>
          </a:prstGeom>
        </p:spPr>
      </p:pic>
      <p:sp>
        <p:nvSpPr>
          <p:cNvPr id="6" name="Text 3"/>
          <p:cNvSpPr txBox="1"/>
          <p:nvPr/>
        </p:nvSpPr>
        <p:spPr>
          <a:xfrm>
            <a:off x="733349" y="824789"/>
            <a:ext cx="96286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04</a:t>
            </a:r>
            <a:endParaRPr lang="en-US" sz="1000" dirty="0"/>
          </a:p>
        </p:txBody>
      </p:sp>
      <p:sp>
        <p:nvSpPr>
          <p:cNvPr id="7" name="Text 4"/>
          <p:cNvSpPr txBox="1"/>
          <p:nvPr/>
        </p:nvSpPr>
        <p:spPr>
          <a:xfrm>
            <a:off x="476402" y="1100938"/>
            <a:ext cx="4721962" cy="419710"/>
          </a:xfrm>
          <a:prstGeom prst="rect">
            <a:avLst/>
          </a:prstGeom>
          <a:noFill/>
          <a:ln/>
        </p:spPr>
        <p:txBody>
          <a:bodyPr wrap="square" lIns="0" tIns="0" rIns="0" bIns="0" rtlCol="0" anchor="ctr"/>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공간 인테리어 시각화</a:t>
            </a:r>
            <a:endParaRPr lang="en-US" sz="3000" dirty="0"/>
          </a:p>
        </p:txBody>
      </p:sp>
      <p:sp>
        <p:nvSpPr>
          <p:cNvPr id="8" name="Text 5"/>
          <p:cNvSpPr txBox="1"/>
          <p:nvPr/>
        </p:nvSpPr>
        <p:spPr>
          <a:xfrm>
            <a:off x="476402" y="1568196"/>
            <a:ext cx="200710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Interior 3D Visualization</a:t>
            </a:r>
            <a:endParaRPr lang="en-US" sz="1200" dirty="0"/>
          </a:p>
        </p:txBody>
      </p:sp>
      <p:sp>
        <p:nvSpPr>
          <p:cNvPr id="9" name="Text 6"/>
          <p:cNvSpPr txBox="1"/>
          <p:nvPr/>
        </p:nvSpPr>
        <p:spPr>
          <a:xfrm>
            <a:off x="476402" y="197784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고객 제안용 인테리어 3D 렌더링 프로젝트입니다.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현대적인</a:t>
            </a:r>
            <a:r>
              <a:rPr lang="en-US" sz="1100" dirty="0">
                <a:solidFill>
                  <a:srgbClr val="4B5563"/>
                </a:solidFill>
                <a:latin typeface="Noto Sans KR" pitchFamily="34" charset="0"/>
                <a:ea typeface="Noto Sans KR" pitchFamily="34" charset="-122"/>
                <a:cs typeface="Noto Sans KR" pitchFamily="34" charset="-120"/>
              </a:rPr>
              <a:t> 거실과 주방 공간을 포토리얼리스틱한 3D </a:t>
            </a:r>
            <a:r>
              <a:rPr lang="en-US" sz="1100" dirty="0" err="1">
                <a:solidFill>
                  <a:srgbClr val="4B5563"/>
                </a:solidFill>
                <a:latin typeface="Noto Sans KR" pitchFamily="34" charset="0"/>
                <a:ea typeface="Noto Sans KR" pitchFamily="34" charset="-122"/>
                <a:cs typeface="Noto Sans KR" pitchFamily="34" charset="-120"/>
              </a:rPr>
              <a:t>스타일로</a:t>
            </a: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시각화합니다</a:t>
            </a:r>
            <a:r>
              <a:rPr lang="en-US" sz="1100" dirty="0">
                <a:solidFill>
                  <a:srgbClr val="4B5563"/>
                </a:solidFill>
                <a:latin typeface="Noto Sans KR" pitchFamily="34" charset="0"/>
                <a:ea typeface="Noto Sans KR" pitchFamily="34" charset="-122"/>
                <a:cs typeface="Noto Sans KR" pitchFamily="34" charset="-120"/>
              </a:rPr>
              <a:t>.</a:t>
            </a:r>
            <a:endParaRPr lang="en-US" sz="1100" dirty="0"/>
          </a:p>
        </p:txBody>
      </p:sp>
      <p:sp>
        <p:nvSpPr>
          <p:cNvPr id="10" name="Shape 7"/>
          <p:cNvSpPr/>
          <p:nvPr/>
        </p:nvSpPr>
        <p:spPr>
          <a:xfrm>
            <a:off x="476402" y="2849270"/>
            <a:ext cx="3619195" cy="2171700"/>
          </a:xfrm>
          <a:prstGeom prst="roundRect">
            <a:avLst>
              <a:gd name="adj" fmla="val 2216"/>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49270"/>
            <a:ext cx="38405" cy="2171700"/>
          </a:xfrm>
          <a:prstGeom prst="roundRect">
            <a:avLst>
              <a:gd name="adj" fmla="val 125313"/>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48610"/>
            <a:ext cx="1191463"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PROJECT OVERVIEW</a:t>
            </a:r>
            <a:endParaRPr lang="en-US" sz="900" dirty="0"/>
          </a:p>
        </p:txBody>
      </p:sp>
      <p:pic>
        <p:nvPicPr>
          <p:cNvPr id="13" name="Image 1" descr="preencoded.png"/>
          <p:cNvPicPr>
            <a:picLocks noChangeAspect="1"/>
          </p:cNvPicPr>
          <p:nvPr/>
        </p:nvPicPr>
        <p:blipFill>
          <a:blip r:embed="rId4">
            <a:alphaModFix amt="50000"/>
          </a:blip>
          <a:srcRect t="-24999" b="-24999"/>
          <a:stretch/>
        </p:blipFill>
        <p:spPr>
          <a:xfrm>
            <a:off x="3810305" y="3048610"/>
            <a:ext cx="85954" cy="171907"/>
          </a:xfrm>
          <a:prstGeom prst="rect">
            <a:avLst/>
          </a:prstGeom>
        </p:spPr>
      </p:pic>
      <p:sp>
        <p:nvSpPr>
          <p:cNvPr id="14" name="Text 10"/>
          <p:cNvSpPr txBox="1"/>
          <p:nvPr/>
        </p:nvSpPr>
        <p:spPr>
          <a:xfrm>
            <a:off x="705002" y="33439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15" name="Text 11"/>
          <p:cNvSpPr txBox="1"/>
          <p:nvPr/>
        </p:nvSpPr>
        <p:spPr>
          <a:xfrm>
            <a:off x="1352398" y="3325673"/>
            <a:ext cx="207477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거실 4컷 (전경, 디테일 2, 야간)</a:t>
            </a:r>
            <a:endParaRPr lang="en-US" sz="1000" dirty="0"/>
          </a:p>
        </p:txBody>
      </p:sp>
      <p:sp>
        <p:nvSpPr>
          <p:cNvPr id="16" name="Text 12"/>
          <p:cNvSpPr txBox="1"/>
          <p:nvPr/>
        </p:nvSpPr>
        <p:spPr>
          <a:xfrm>
            <a:off x="705002" y="362651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[컨셉]</a:t>
            </a:r>
            <a:endParaRPr lang="en-US" sz="900" dirty="0"/>
          </a:p>
        </p:txBody>
      </p:sp>
      <p:sp>
        <p:nvSpPr>
          <p:cNvPr id="17" name="Text 13"/>
          <p:cNvSpPr txBox="1"/>
          <p:nvPr/>
        </p:nvSpPr>
        <p:spPr>
          <a:xfrm>
            <a:off x="1352398" y="3607308"/>
            <a:ext cx="132405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미니멀 스칸디나비안</a:t>
            </a:r>
            <a:endParaRPr lang="en-US" sz="1000" dirty="0"/>
          </a:p>
        </p:txBody>
      </p:sp>
      <p:sp>
        <p:nvSpPr>
          <p:cNvPr id="18" name="Text 14"/>
          <p:cNvSpPr txBox="1"/>
          <p:nvPr/>
        </p:nvSpPr>
        <p:spPr>
          <a:xfrm>
            <a:off x="705002" y="3908146"/>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[산출물]</a:t>
            </a:r>
            <a:endParaRPr lang="en-US" sz="900" dirty="0"/>
          </a:p>
        </p:txBody>
      </p:sp>
      <p:sp>
        <p:nvSpPr>
          <p:cNvPr id="19" name="Text 15"/>
          <p:cNvSpPr txBox="1"/>
          <p:nvPr/>
        </p:nvSpPr>
        <p:spPr>
          <a:xfrm>
            <a:off x="1352398" y="3888943"/>
            <a:ext cx="174650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4K 고해상도, 왜곡 최소화</a:t>
            </a:r>
            <a:endParaRPr lang="en-US" sz="1000" dirty="0"/>
          </a:p>
        </p:txBody>
      </p:sp>
      <p:sp>
        <p:nvSpPr>
          <p:cNvPr id="20" name="Text 16"/>
          <p:cNvSpPr txBox="1"/>
          <p:nvPr/>
        </p:nvSpPr>
        <p:spPr>
          <a:xfrm>
            <a:off x="705002" y="418978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[제약]</a:t>
            </a:r>
            <a:endParaRPr lang="en-US" sz="900" dirty="0"/>
          </a:p>
        </p:txBody>
      </p:sp>
      <p:sp>
        <p:nvSpPr>
          <p:cNvPr id="21" name="Text 17"/>
          <p:cNvSpPr txBox="1"/>
          <p:nvPr/>
        </p:nvSpPr>
        <p:spPr>
          <a:xfrm>
            <a:off x="1352398" y="4170578"/>
            <a:ext cx="20994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소재 스펙 준수 (월넛, 그레이)</a:t>
            </a:r>
            <a:endParaRPr lang="en-US" sz="1000" dirty="0"/>
          </a:p>
        </p:txBody>
      </p:sp>
      <p:sp>
        <p:nvSpPr>
          <p:cNvPr id="22" name="Text 18"/>
          <p:cNvSpPr txBox="1"/>
          <p:nvPr/>
        </p:nvSpPr>
        <p:spPr>
          <a:xfrm>
            <a:off x="705002" y="4471416"/>
            <a:ext cx="647396" cy="352958"/>
          </a:xfrm>
          <a:prstGeom prst="rect">
            <a:avLst/>
          </a:prstGeom>
          <a:noFill/>
          <a:ln/>
        </p:spPr>
        <p:txBody>
          <a:bodyPr wrap="square" lIns="0" tIns="0" rIns="0" bIns="0" rtlCol="0" anchor="t"/>
          <a:lstStyle/>
          <a:p>
            <a:pPr marL="0" indent="0" algn="l">
              <a:buNone/>
            </a:pPr>
            <a:r>
              <a:rPr lang="en-US" sz="900" b="1" dirty="0">
                <a:solidFill>
                  <a:srgbClr val="FF6908"/>
                </a:solidFill>
                <a:latin typeface="Manrope" pitchFamily="34" charset="0"/>
                <a:ea typeface="Manrope" pitchFamily="34" charset="-122"/>
                <a:cs typeface="Manrope" pitchFamily="34" charset="-120"/>
              </a:rPr>
              <a:t>[레퍼런스]</a:t>
            </a:r>
            <a:endParaRPr lang="en-US" sz="900" dirty="0"/>
          </a:p>
        </p:txBody>
      </p:sp>
      <p:sp>
        <p:nvSpPr>
          <p:cNvPr id="23" name="Text 19"/>
          <p:cNvSpPr txBox="1"/>
          <p:nvPr/>
        </p:nvSpPr>
        <p:spPr>
          <a:xfrm>
            <a:off x="1352398" y="4453128"/>
            <a:ext cx="14072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미니멀 북유럽 스타일</a:t>
            </a:r>
            <a:endParaRPr lang="en-US" sz="1000" dirty="0"/>
          </a:p>
        </p:txBody>
      </p:sp>
      <p:sp>
        <p:nvSpPr>
          <p:cNvPr id="24" name="Shape 20"/>
          <p:cNvSpPr/>
          <p:nvPr/>
        </p:nvSpPr>
        <p:spPr>
          <a:xfrm>
            <a:off x="476402" y="5209337"/>
            <a:ext cx="3619195" cy="1191464"/>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397703"/>
            <a:ext cx="133502" cy="133502"/>
          </a:xfrm>
          <a:prstGeom prst="rect">
            <a:avLst/>
          </a:prstGeom>
        </p:spPr>
      </p:pic>
      <p:sp>
        <p:nvSpPr>
          <p:cNvPr id="26" name="Text 21"/>
          <p:cNvSpPr txBox="1"/>
          <p:nvPr/>
        </p:nvSpPr>
        <p:spPr>
          <a:xfrm>
            <a:off x="838505" y="5342839"/>
            <a:ext cx="74889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Key Point:</a:t>
            </a:r>
            <a:endParaRPr lang="en-US" sz="900" dirty="0"/>
          </a:p>
        </p:txBody>
      </p:sp>
      <p:sp>
        <p:nvSpPr>
          <p:cNvPr id="27" name="Text 22"/>
          <p:cNvSpPr txBox="1"/>
          <p:nvPr/>
        </p:nvSpPr>
        <p:spPr>
          <a:xfrm>
            <a:off x="838505" y="5644590"/>
            <a:ext cx="3038551"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3D 렌더링 프롬프트를 사용하여 실제 시공 전 공간감을 미리 확인하고, 빛과 그림자의 조화를 통해 사실적인 분위기를 연출하는 것이 중요합니다.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공간 인테리어 프로젝트 커버 디자인. 프로젝트 4: 공간 인테리어 3D 비주얼라이제이션이라는 제목, 현대적인 거실 인테리어 실루엣, 3D 렌더링 스타일, 미니멀하고 프로페셔널한 디자인, 화이트와 그레이 톤, 깨끗한 구성. 이미지 내 모든 텍스트는 한국어로 표시되어야 합니다.</a:t>
            </a:r>
            <a:endParaRPr lang="en-US" sz="1200" dirty="0"/>
          </a:p>
        </p:txBody>
      </p:sp>
      <p:sp>
        <p:nvSpPr>
          <p:cNvPr id="33" name="Shape 25"/>
          <p:cNvSpPr/>
          <p:nvPr/>
        </p:nvSpPr>
        <p:spPr>
          <a:xfrm>
            <a:off x="10344607" y="647395"/>
            <a:ext cx="11814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478110" y="733349"/>
            <a:ext cx="114300" cy="114300"/>
          </a:xfrm>
          <a:prstGeom prst="rect">
            <a:avLst/>
          </a:prstGeom>
        </p:spPr>
      </p:pic>
      <p:sp>
        <p:nvSpPr>
          <p:cNvPr id="35" name="Text 26"/>
          <p:cNvSpPr txBox="1"/>
          <p:nvPr/>
        </p:nvSpPr>
        <p:spPr>
          <a:xfrm>
            <a:off x="10649102" y="647395"/>
            <a:ext cx="8001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Project Cover</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1025042"/>
            <a:ext cx="181051" cy="133502"/>
          </a:xfrm>
          <a:prstGeom prst="rect">
            <a:avLst/>
          </a:prstGeom>
        </p:spPr>
      </p:pic>
      <p:sp>
        <p:nvSpPr>
          <p:cNvPr id="6" name="Text 3"/>
          <p:cNvSpPr txBox="1"/>
          <p:nvPr/>
        </p:nvSpPr>
        <p:spPr>
          <a:xfrm>
            <a:off x="733349" y="992124"/>
            <a:ext cx="96286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04</a:t>
            </a:r>
            <a:endParaRPr lang="en-US" sz="1000" dirty="0"/>
          </a:p>
        </p:txBody>
      </p:sp>
      <p:sp>
        <p:nvSpPr>
          <p:cNvPr id="7" name="Text 4"/>
          <p:cNvSpPr txBox="1"/>
          <p:nvPr/>
        </p:nvSpPr>
        <p:spPr>
          <a:xfrm>
            <a:off x="476402" y="1268273"/>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거실 인테리어</a:t>
            </a:r>
            <a:endParaRPr lang="en-US" sz="3100" dirty="0"/>
          </a:p>
        </p:txBody>
      </p:sp>
      <p:sp>
        <p:nvSpPr>
          <p:cNvPr id="8" name="Text 5"/>
          <p:cNvSpPr txBox="1"/>
          <p:nvPr/>
        </p:nvSpPr>
        <p:spPr>
          <a:xfrm>
            <a:off x="476402" y="1755648"/>
            <a:ext cx="193852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Living Room Wide Shot</a:t>
            </a:r>
            <a:endParaRPr lang="en-US" sz="1200" dirty="0"/>
          </a:p>
        </p:txBody>
      </p:sp>
      <p:sp>
        <p:nvSpPr>
          <p:cNvPr id="9" name="Text 6"/>
          <p:cNvSpPr txBox="1"/>
          <p:nvPr/>
        </p:nvSpPr>
        <p:spPr>
          <a:xfrm>
            <a:off x="476402" y="2165299"/>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모던하고 미니멀한 거실 공간을 자연광과 함께 </a:t>
            </a:r>
            <a:r>
              <a:rPr lang="en-US" sz="1100" dirty="0" err="1">
                <a:solidFill>
                  <a:srgbClr val="4B5563"/>
                </a:solidFill>
                <a:latin typeface="Noto Sans KR" pitchFamily="34" charset="0"/>
                <a:ea typeface="Noto Sans KR" pitchFamily="34" charset="-122"/>
                <a:cs typeface="Noto Sans KR" pitchFamily="34" charset="-120"/>
              </a:rPr>
              <a:t>담아낸</a:t>
            </a:r>
            <a:r>
              <a:rPr lang="en-US" sz="1100" dirty="0">
                <a:solidFill>
                  <a:srgbClr val="4B5563"/>
                </a:solidFill>
                <a:latin typeface="Noto Sans KR" pitchFamily="34" charset="0"/>
                <a:ea typeface="Noto Sans KR" pitchFamily="34" charset="-122"/>
                <a:cs typeface="Noto Sans KR" pitchFamily="34" charset="-120"/>
              </a:rPr>
              <a:t> </a:t>
            </a:r>
          </a:p>
          <a:p>
            <a:pPr marL="0" indent="0" algn="l">
              <a:buNone/>
            </a:pPr>
            <a:r>
              <a:rPr lang="en-US" sz="1100" dirty="0">
                <a:solidFill>
                  <a:srgbClr val="4B5563"/>
                </a:solidFill>
                <a:latin typeface="Noto Sans KR" pitchFamily="34" charset="0"/>
                <a:ea typeface="Noto Sans KR" pitchFamily="34" charset="-122"/>
                <a:cs typeface="Noto Sans KR" pitchFamily="34" charset="-120"/>
              </a:rPr>
              <a:t>3D 렌더링 결과물입니다.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와이드</a:t>
            </a:r>
            <a:r>
              <a:rPr lang="en-US" sz="1100" dirty="0">
                <a:solidFill>
                  <a:srgbClr val="4B5563"/>
                </a:solidFill>
                <a:latin typeface="Noto Sans KR" pitchFamily="34" charset="0"/>
                <a:ea typeface="Noto Sans KR" pitchFamily="34" charset="-122"/>
                <a:cs typeface="Noto Sans KR" pitchFamily="34" charset="-120"/>
              </a:rPr>
              <a:t> 앵글을 활용하여 공간감을 극대화했습니다.</a:t>
            </a:r>
            <a:endParaRPr lang="en-US" sz="1100" dirty="0"/>
          </a:p>
        </p:txBody>
      </p:sp>
      <p:sp>
        <p:nvSpPr>
          <p:cNvPr id="10" name="Shape 7"/>
          <p:cNvSpPr/>
          <p:nvPr/>
        </p:nvSpPr>
        <p:spPr>
          <a:xfrm>
            <a:off x="476402" y="3036722"/>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36722"/>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3697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236976"/>
            <a:ext cx="114300" cy="171907"/>
          </a:xfrm>
          <a:prstGeom prst="rect">
            <a:avLst/>
          </a:prstGeom>
        </p:spPr>
      </p:pic>
      <p:sp>
        <p:nvSpPr>
          <p:cNvPr id="14" name="Text 10"/>
          <p:cNvSpPr txBox="1"/>
          <p:nvPr/>
        </p:nvSpPr>
        <p:spPr>
          <a:xfrm>
            <a:off x="705002" y="353232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513125"/>
            <a:ext cx="231983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와이드 앵글 (Wide Angle), 16mm</a:t>
            </a:r>
            <a:endParaRPr lang="en-US" sz="1000" dirty="0"/>
          </a:p>
        </p:txBody>
      </p:sp>
      <p:sp>
        <p:nvSpPr>
          <p:cNvPr id="16" name="Text 12"/>
          <p:cNvSpPr txBox="1"/>
          <p:nvPr/>
        </p:nvSpPr>
        <p:spPr>
          <a:xfrm>
            <a:off x="705002" y="3813962"/>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795674"/>
            <a:ext cx="152613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미니멀리즘, 3D 렌더링</a:t>
            </a:r>
            <a:endParaRPr lang="en-US" sz="1000" dirty="0"/>
          </a:p>
        </p:txBody>
      </p:sp>
      <p:sp>
        <p:nvSpPr>
          <p:cNvPr id="18" name="Text 14"/>
          <p:cNvSpPr txBox="1"/>
          <p:nvPr/>
        </p:nvSpPr>
        <p:spPr>
          <a:xfrm>
            <a:off x="705002" y="409651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4077310"/>
            <a:ext cx="162763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현대적인 오픈 플랜 거실</a:t>
            </a:r>
            <a:endParaRPr lang="en-US" sz="1000" dirty="0"/>
          </a:p>
        </p:txBody>
      </p:sp>
      <p:sp>
        <p:nvSpPr>
          <p:cNvPr id="20" name="Text 16"/>
          <p:cNvSpPr txBox="1"/>
          <p:nvPr/>
        </p:nvSpPr>
        <p:spPr>
          <a:xfrm>
            <a:off x="705002" y="437814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358945"/>
            <a:ext cx="22677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대형 창문 자연광 (Natural Light)</a:t>
            </a:r>
            <a:endParaRPr lang="en-US" sz="1000" dirty="0"/>
          </a:p>
        </p:txBody>
      </p:sp>
      <p:sp>
        <p:nvSpPr>
          <p:cNvPr id="22" name="Text 18"/>
          <p:cNvSpPr txBox="1"/>
          <p:nvPr/>
        </p:nvSpPr>
        <p:spPr>
          <a:xfrm>
            <a:off x="705002" y="465978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7300" y="4640580"/>
            <a:ext cx="187909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뉴트럴 톤 (베이지, 그레이)</a:t>
            </a:r>
            <a:endParaRPr lang="en-US" sz="1000" dirty="0"/>
          </a:p>
        </p:txBody>
      </p:sp>
      <p:sp>
        <p:nvSpPr>
          <p:cNvPr id="24" name="Shape 20"/>
          <p:cNvSpPr/>
          <p:nvPr/>
        </p:nvSpPr>
        <p:spPr>
          <a:xfrm>
            <a:off x="476402" y="5227625"/>
            <a:ext cx="3619195" cy="854393"/>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415991"/>
            <a:ext cx="105156" cy="133502"/>
          </a:xfrm>
          <a:prstGeom prst="rect">
            <a:avLst/>
          </a:prstGeom>
        </p:spPr>
      </p:pic>
      <p:sp>
        <p:nvSpPr>
          <p:cNvPr id="26" name="Text 21"/>
          <p:cNvSpPr txBox="1"/>
          <p:nvPr/>
        </p:nvSpPr>
        <p:spPr>
          <a:xfrm>
            <a:off x="809244" y="5361127"/>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0100" y="5589727"/>
            <a:ext cx="3182112"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[2-point perspective] 키워드를 추가하면 수직선 왜곡 없이 더욱 전문적인 건축 사진 느낌을 낼 수 있습니다.</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1136943"/>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02782"/>
            <a:ext cx="6820510" cy="428854"/>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현대적인 오픈 플랜 거실과 주방 인테리어 3D 렌더링. 미니멀리스트 디자인, 대형 창문에서 들어오는 자연광, 화이트와 우드 톤의 가구, 깔끔한 선과 모던한 조명, 와이드 앵글 구도, 포토리얼리스틱 3D 렌더링, 아늑하고 세련된 분위기.</a:t>
            </a:r>
            <a:endParaRPr lang="en-US" sz="1200" dirty="0"/>
          </a:p>
        </p:txBody>
      </p:sp>
      <p:sp>
        <p:nvSpPr>
          <p:cNvPr id="33" name="Shape 25"/>
          <p:cNvSpPr/>
          <p:nvPr/>
        </p:nvSpPr>
        <p:spPr>
          <a:xfrm>
            <a:off x="10229393" y="647395"/>
            <a:ext cx="1304849"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362895" y="733349"/>
            <a:ext cx="114300" cy="114300"/>
          </a:xfrm>
          <a:prstGeom prst="rect">
            <a:avLst/>
          </a:prstGeom>
        </p:spPr>
      </p:pic>
      <p:sp>
        <p:nvSpPr>
          <p:cNvPr id="35" name="Text 26"/>
          <p:cNvSpPr txBox="1"/>
          <p:nvPr/>
        </p:nvSpPr>
        <p:spPr>
          <a:xfrm>
            <a:off x="10533888" y="647395"/>
            <a:ext cx="924458"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3D Rendering</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4247" r="-4247"/>
          <a:stretch/>
        </p:blipFill>
        <p:spPr>
          <a:xfrm>
            <a:off x="476402" y="571500"/>
            <a:ext cx="181051" cy="133502"/>
          </a:xfrm>
          <a:prstGeom prst="rect">
            <a:avLst/>
          </a:prstGeom>
        </p:spPr>
      </p:pic>
      <p:sp>
        <p:nvSpPr>
          <p:cNvPr id="6" name="Text 3"/>
          <p:cNvSpPr txBox="1"/>
          <p:nvPr/>
        </p:nvSpPr>
        <p:spPr>
          <a:xfrm>
            <a:off x="733349" y="538582"/>
            <a:ext cx="199430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04 : RESULT 2</a:t>
            </a:r>
            <a:endParaRPr lang="en-US" sz="1000" dirty="0"/>
          </a:p>
        </p:txBody>
      </p:sp>
      <p:sp>
        <p:nvSpPr>
          <p:cNvPr id="7" name="Text 4"/>
          <p:cNvSpPr txBox="1"/>
          <p:nvPr/>
        </p:nvSpPr>
        <p:spPr>
          <a:xfrm>
            <a:off x="476402" y="814730"/>
            <a:ext cx="3764585" cy="886054"/>
          </a:xfrm>
          <a:prstGeom prst="rect">
            <a:avLst/>
          </a:prstGeom>
          <a:noFill/>
          <a:ln/>
        </p:spPr>
        <p:txBody>
          <a:bodyPr wrap="square" lIns="0" tIns="0" rIns="0" bIns="0" rtlCol="0" anchor="t"/>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침실 인테리어</a:t>
            </a:r>
            <a:endParaRPr lang="en-US" sz="3100" dirty="0"/>
          </a:p>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디테일 샷</a:t>
            </a:r>
            <a:endParaRPr lang="en-US" sz="3100" dirty="0"/>
          </a:p>
        </p:txBody>
      </p:sp>
      <p:sp>
        <p:nvSpPr>
          <p:cNvPr id="8" name="Text 5"/>
          <p:cNvSpPr txBox="1"/>
          <p:nvPr/>
        </p:nvSpPr>
        <p:spPr>
          <a:xfrm>
            <a:off x="476402" y="1741932"/>
            <a:ext cx="196138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Bedroom Interior Detail</a:t>
            </a:r>
            <a:endParaRPr lang="en-US" sz="1200" dirty="0"/>
          </a:p>
        </p:txBody>
      </p:sp>
      <p:sp>
        <p:nvSpPr>
          <p:cNvPr id="9" name="Text 6"/>
          <p:cNvSpPr txBox="1"/>
          <p:nvPr/>
        </p:nvSpPr>
        <p:spPr>
          <a:xfrm>
            <a:off x="476402" y="2151583"/>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침실의 아늑하고 고급스러운 분위기를 강조하기 위한 클로즈업 컷입니다. 소재의 질감과 조명의 디테일을 살려 공간의 감성을 전달합니다.</a:t>
            </a:r>
            <a:endParaRPr lang="en-US" sz="1100" dirty="0"/>
          </a:p>
        </p:txBody>
      </p:sp>
      <p:sp>
        <p:nvSpPr>
          <p:cNvPr id="10" name="Shape 7"/>
          <p:cNvSpPr/>
          <p:nvPr/>
        </p:nvSpPr>
        <p:spPr>
          <a:xfrm>
            <a:off x="475793" y="2830068"/>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5793" y="2830068"/>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4393" y="3030322"/>
            <a:ext cx="1324051"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DETAIL SHOT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0435" y="3030322"/>
            <a:ext cx="114300" cy="171907"/>
          </a:xfrm>
          <a:prstGeom prst="rect">
            <a:avLst/>
          </a:prstGeom>
        </p:spPr>
      </p:pic>
      <p:sp>
        <p:nvSpPr>
          <p:cNvPr id="14" name="Text 10"/>
          <p:cNvSpPr txBox="1"/>
          <p:nvPr/>
        </p:nvSpPr>
        <p:spPr>
          <a:xfrm>
            <a:off x="704393" y="33256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6691" y="3306471"/>
            <a:ext cx="24286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침대 헤드보드, 사이드 테이블, 램프</a:t>
            </a:r>
            <a:endParaRPr lang="en-US" sz="1000" dirty="0"/>
          </a:p>
        </p:txBody>
      </p:sp>
      <p:sp>
        <p:nvSpPr>
          <p:cNvPr id="16" name="Text 12"/>
          <p:cNvSpPr txBox="1"/>
          <p:nvPr/>
        </p:nvSpPr>
        <p:spPr>
          <a:xfrm>
            <a:off x="704393" y="36073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6691" y="3589020"/>
            <a:ext cx="17730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샷 (Medium Shot)</a:t>
            </a:r>
            <a:endParaRPr lang="en-US" sz="1000" dirty="0"/>
          </a:p>
        </p:txBody>
      </p:sp>
      <p:sp>
        <p:nvSpPr>
          <p:cNvPr id="18" name="Text 14"/>
          <p:cNvSpPr txBox="1"/>
          <p:nvPr/>
        </p:nvSpPr>
        <p:spPr>
          <a:xfrm>
            <a:off x="704393" y="38898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[재질]</a:t>
            </a:r>
            <a:endParaRPr lang="en-US" sz="900" dirty="0"/>
          </a:p>
        </p:txBody>
      </p:sp>
      <p:sp>
        <p:nvSpPr>
          <p:cNvPr id="19" name="Text 15"/>
          <p:cNvSpPr txBox="1"/>
          <p:nvPr/>
        </p:nvSpPr>
        <p:spPr>
          <a:xfrm>
            <a:off x="1256691" y="3870656"/>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리넨, 우드 텍스처</a:t>
            </a:r>
            <a:endParaRPr lang="en-US" sz="1000" dirty="0"/>
          </a:p>
        </p:txBody>
      </p:sp>
      <p:sp>
        <p:nvSpPr>
          <p:cNvPr id="20" name="Text 16"/>
          <p:cNvSpPr txBox="1"/>
          <p:nvPr/>
        </p:nvSpPr>
        <p:spPr>
          <a:xfrm>
            <a:off x="704393" y="417149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6691" y="4152291"/>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따뜻한 간접 조명, 앰비언트 라이트</a:t>
            </a:r>
            <a:endParaRPr lang="en-US" sz="1000" dirty="0"/>
          </a:p>
        </p:txBody>
      </p:sp>
      <p:sp>
        <p:nvSpPr>
          <p:cNvPr id="22" name="Text 18"/>
          <p:cNvSpPr txBox="1"/>
          <p:nvPr/>
        </p:nvSpPr>
        <p:spPr>
          <a:xfrm>
            <a:off x="704393" y="44531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6691" y="4433926"/>
            <a:ext cx="17977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웜톤 (베이지/크림/브라운)</a:t>
            </a:r>
            <a:endParaRPr lang="en-US" sz="1000" dirty="0"/>
          </a:p>
        </p:txBody>
      </p:sp>
      <p:sp>
        <p:nvSpPr>
          <p:cNvPr id="24" name="Text 20"/>
          <p:cNvSpPr txBox="1"/>
          <p:nvPr/>
        </p:nvSpPr>
        <p:spPr>
          <a:xfrm>
            <a:off x="704393" y="4734764"/>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5" name="Text 21"/>
          <p:cNvSpPr txBox="1"/>
          <p:nvPr/>
        </p:nvSpPr>
        <p:spPr>
          <a:xfrm>
            <a:off x="1256691" y="4716476"/>
            <a:ext cx="171175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아늑함, 고급스러움, 휴식</a:t>
            </a:r>
            <a:endParaRPr lang="en-US" sz="1000" dirty="0"/>
          </a:p>
        </p:txBody>
      </p:sp>
      <p:sp>
        <p:nvSpPr>
          <p:cNvPr id="26" name="Shape 22"/>
          <p:cNvSpPr/>
          <p:nvPr/>
        </p:nvSpPr>
        <p:spPr>
          <a:xfrm>
            <a:off x="475793" y="5302605"/>
            <a:ext cx="3619195" cy="105064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296" y="5490972"/>
            <a:ext cx="105156" cy="133502"/>
          </a:xfrm>
          <a:prstGeom prst="rect">
            <a:avLst/>
          </a:prstGeom>
        </p:spPr>
      </p:pic>
      <p:sp>
        <p:nvSpPr>
          <p:cNvPr id="28" name="Text 23"/>
          <p:cNvSpPr txBox="1"/>
          <p:nvPr/>
        </p:nvSpPr>
        <p:spPr>
          <a:xfrm>
            <a:off x="808635" y="5436108"/>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촬영 팁:</a:t>
            </a:r>
            <a:endParaRPr lang="en-US" sz="900" dirty="0"/>
          </a:p>
        </p:txBody>
      </p:sp>
      <p:sp>
        <p:nvSpPr>
          <p:cNvPr id="29" name="Text 24"/>
          <p:cNvSpPr txBox="1"/>
          <p:nvPr/>
        </p:nvSpPr>
        <p:spPr>
          <a:xfrm>
            <a:off x="808635" y="5711342"/>
            <a:ext cx="321960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디테일 컷에서는 소재의 질감이 중요합니다. [조명]을 부드럽게 설정하여 패브릭의 주름이나 나무결이 자연스럽게 드러나도록 하세요.</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모던</a:t>
            </a:r>
            <a:r>
              <a:rPr lang="en-US" sz="1200" dirty="0">
                <a:solidFill>
                  <a:srgbClr val="333333"/>
                </a:solidFill>
                <a:latin typeface="Noto Sans KR" pitchFamily="34" charset="0"/>
                <a:ea typeface="Noto Sans KR" pitchFamily="34" charset="-122"/>
                <a:cs typeface="Noto Sans KR" pitchFamily="34" charset="-120"/>
              </a:rPr>
              <a:t> 침실 인테리어 클로즈업 디테일 샷. 킹사이즈 침대와 우드 헤드보드, 부드러운 리넨 텍스타일, 사이드 테이블 위의 세련된 램프, 따뜻한 간접 조명, 웜톤 색감(베이지/크림/브라운), 미디엄 샷 구도, 아늑하고 고급스러운 분위기, 3D 렌더링.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668426"/>
            <a:ext cx="161849" cy="133502"/>
          </a:xfrm>
          <a:prstGeom prst="rect">
            <a:avLst/>
          </a:prstGeom>
        </p:spPr>
      </p:pic>
      <p:sp>
        <p:nvSpPr>
          <p:cNvPr id="6" name="Text 3"/>
          <p:cNvSpPr txBox="1"/>
          <p:nvPr/>
        </p:nvSpPr>
        <p:spPr>
          <a:xfrm>
            <a:off x="714146" y="635508"/>
            <a:ext cx="199430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04 : RESULT 3</a:t>
            </a:r>
            <a:endParaRPr lang="en-US" sz="1000" dirty="0"/>
          </a:p>
        </p:txBody>
      </p:sp>
      <p:sp>
        <p:nvSpPr>
          <p:cNvPr id="7" name="Text 4"/>
          <p:cNvSpPr txBox="1"/>
          <p:nvPr/>
        </p:nvSpPr>
        <p:spPr>
          <a:xfrm>
            <a:off x="476402" y="911657"/>
            <a:ext cx="3764585" cy="886054"/>
          </a:xfrm>
          <a:prstGeom prst="rect">
            <a:avLst/>
          </a:prstGeom>
          <a:noFill/>
          <a:ln/>
        </p:spPr>
        <p:txBody>
          <a:bodyPr wrap="square" lIns="0" tIns="0" rIns="0" bIns="0" rtlCol="0" anchor="t"/>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인테리어 시각화</a:t>
            </a:r>
            <a:endParaRPr lang="en-US" sz="3100" dirty="0"/>
          </a:p>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최종 결과물</a:t>
            </a:r>
            <a:endParaRPr lang="en-US" sz="3100" dirty="0"/>
          </a:p>
        </p:txBody>
      </p:sp>
      <p:sp>
        <p:nvSpPr>
          <p:cNvPr id="8" name="Text 5"/>
          <p:cNvSpPr txBox="1"/>
          <p:nvPr/>
        </p:nvSpPr>
        <p:spPr>
          <a:xfrm>
            <a:off x="476402" y="1838858"/>
            <a:ext cx="226771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Interior Design Final Result</a:t>
            </a:r>
            <a:endParaRPr lang="en-US" sz="1200" dirty="0"/>
          </a:p>
        </p:txBody>
      </p:sp>
      <p:sp>
        <p:nvSpPr>
          <p:cNvPr id="9" name="Text 6"/>
          <p:cNvSpPr txBox="1"/>
          <p:nvPr/>
        </p:nvSpPr>
        <p:spPr>
          <a:xfrm>
            <a:off x="476402" y="2248510"/>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클라이언트에게 제안할 수 있는 완성도 높은 프레젠테이션 보드입니다. 공간의 전체적인 분위기와 주요 렌더링 컷, 평면도 등을 조화롭게 배치하여 설득력을 높입니다.</a:t>
            </a:r>
            <a:endParaRPr lang="en-US" sz="1100" dirty="0"/>
          </a:p>
        </p:txBody>
      </p:sp>
      <p:sp>
        <p:nvSpPr>
          <p:cNvPr id="10" name="Shape 7"/>
          <p:cNvSpPr/>
          <p:nvPr/>
        </p:nvSpPr>
        <p:spPr>
          <a:xfrm>
            <a:off x="476402" y="3119933"/>
            <a:ext cx="3619195" cy="2095805"/>
          </a:xfrm>
          <a:prstGeom prst="roundRect">
            <a:avLst>
              <a:gd name="adj" fmla="val 238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119933"/>
            <a:ext cx="38405" cy="2095805"/>
          </a:xfrm>
          <a:prstGeom prst="roundRect">
            <a:avLst>
              <a:gd name="adj" fmla="val 129869"/>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32018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320186"/>
            <a:ext cx="114300" cy="171907"/>
          </a:xfrm>
          <a:prstGeom prst="rect">
            <a:avLst/>
          </a:prstGeom>
        </p:spPr>
      </p:pic>
      <p:sp>
        <p:nvSpPr>
          <p:cNvPr id="14" name="Text 10"/>
          <p:cNvSpPr txBox="1"/>
          <p:nvPr/>
        </p:nvSpPr>
        <p:spPr>
          <a:xfrm>
            <a:off x="705002" y="358719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577133"/>
            <a:ext cx="1357884"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건축 비주얼라이제이션</a:t>
            </a:r>
            <a:endParaRPr lang="en-US" sz="900" dirty="0"/>
          </a:p>
        </p:txBody>
      </p:sp>
      <p:sp>
        <p:nvSpPr>
          <p:cNvPr id="16" name="Text 12"/>
          <p:cNvSpPr txBox="1"/>
          <p:nvPr/>
        </p:nvSpPr>
        <p:spPr>
          <a:xfrm>
            <a:off x="705002" y="383682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826764"/>
            <a:ext cx="1564538"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탑뷰 플랫레이 (Flat Lay)</a:t>
            </a:r>
            <a:endParaRPr lang="en-US" sz="900" dirty="0"/>
          </a:p>
        </p:txBody>
      </p:sp>
      <p:sp>
        <p:nvSpPr>
          <p:cNvPr id="18" name="Text 14"/>
          <p:cNvSpPr txBox="1"/>
          <p:nvPr/>
        </p:nvSpPr>
        <p:spPr>
          <a:xfrm>
            <a:off x="705002" y="408645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4076395"/>
            <a:ext cx="1190549"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3D 렌더링 (V-Ray)</a:t>
            </a:r>
            <a:endParaRPr lang="en-US" sz="900" dirty="0"/>
          </a:p>
        </p:txBody>
      </p:sp>
      <p:sp>
        <p:nvSpPr>
          <p:cNvPr id="20" name="Text 16"/>
          <p:cNvSpPr txBox="1"/>
          <p:nvPr/>
        </p:nvSpPr>
        <p:spPr>
          <a:xfrm>
            <a:off x="705002" y="433608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326026"/>
            <a:ext cx="1845259"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모던 아파트 인테리어, 평면도</a:t>
            </a:r>
            <a:endParaRPr lang="en-US" sz="900" dirty="0"/>
          </a:p>
        </p:txBody>
      </p:sp>
      <p:sp>
        <p:nvSpPr>
          <p:cNvPr id="22" name="Text 18"/>
          <p:cNvSpPr txBox="1"/>
          <p:nvPr/>
        </p:nvSpPr>
        <p:spPr>
          <a:xfrm>
            <a:off x="705002" y="458571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575658"/>
            <a:ext cx="1717243"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화이트 배경, 스튜디오 조명</a:t>
            </a:r>
            <a:endParaRPr lang="en-US" sz="900" dirty="0"/>
          </a:p>
        </p:txBody>
      </p:sp>
      <p:sp>
        <p:nvSpPr>
          <p:cNvPr id="24" name="Text 20"/>
          <p:cNvSpPr txBox="1"/>
          <p:nvPr/>
        </p:nvSpPr>
        <p:spPr>
          <a:xfrm>
            <a:off x="705002" y="483534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25" name="Text 21"/>
          <p:cNvSpPr txBox="1"/>
          <p:nvPr/>
        </p:nvSpPr>
        <p:spPr>
          <a:xfrm>
            <a:off x="1257300" y="4825289"/>
            <a:ext cx="1639519"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타이포그래피, 재질 팔레트</a:t>
            </a:r>
            <a:endParaRPr lang="en-US" sz="900" dirty="0"/>
          </a:p>
        </p:txBody>
      </p:sp>
      <p:sp>
        <p:nvSpPr>
          <p:cNvPr id="26" name="Shape 22"/>
          <p:cNvSpPr/>
          <p:nvPr/>
        </p:nvSpPr>
        <p:spPr>
          <a:xfrm>
            <a:off x="476402" y="5398617"/>
            <a:ext cx="3619195" cy="102321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586984"/>
            <a:ext cx="105156" cy="133502"/>
          </a:xfrm>
          <a:prstGeom prst="rect">
            <a:avLst/>
          </a:prstGeom>
        </p:spPr>
      </p:pic>
      <p:sp>
        <p:nvSpPr>
          <p:cNvPr id="28" name="Text 23"/>
          <p:cNvSpPr txBox="1"/>
          <p:nvPr/>
        </p:nvSpPr>
        <p:spPr>
          <a:xfrm>
            <a:off x="809244" y="5532120"/>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808726"/>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각 렌더링 이미지의 톤 앤 매너를 통일하고, 텍스트와 이미지 사이의 여백(White Space)을 충분히 두어 세련된 인상을 주는 것이 중요합니다.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인테리어 디자인 최종 결과물 프레젠테이션 보드. 여러 각도의 공간 렌더링 이미지들(거실, 침실, 주방), 깔끔한 레이아웃, 탑뷰 플랫레이 구도, 프로페셔널한 건축 비주얼라이제이션 포트폴리오, 그리드 배치, 화이트 배경, 자연광.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2838" r="-2838"/>
          <a:stretch/>
        </p:blipFill>
        <p:spPr>
          <a:xfrm>
            <a:off x="476402" y="769010"/>
            <a:ext cx="123444" cy="133502"/>
          </a:xfrm>
          <a:prstGeom prst="rect">
            <a:avLst/>
          </a:prstGeom>
        </p:spPr>
      </p:pic>
      <p:sp>
        <p:nvSpPr>
          <p:cNvPr id="6" name="Text 3"/>
          <p:cNvSpPr txBox="1"/>
          <p:nvPr/>
        </p:nvSpPr>
        <p:spPr>
          <a:xfrm>
            <a:off x="676656" y="735178"/>
            <a:ext cx="96286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05</a:t>
            </a:r>
            <a:endParaRPr lang="en-US" sz="1000" dirty="0"/>
          </a:p>
        </p:txBody>
      </p:sp>
      <p:sp>
        <p:nvSpPr>
          <p:cNvPr id="7" name="Text 4"/>
          <p:cNvSpPr txBox="1"/>
          <p:nvPr/>
        </p:nvSpPr>
        <p:spPr>
          <a:xfrm>
            <a:off x="476402" y="1011326"/>
            <a:ext cx="3764585" cy="886054"/>
          </a:xfrm>
          <a:prstGeom prst="rect">
            <a:avLst/>
          </a:prstGeom>
          <a:noFill/>
          <a:ln/>
        </p:spPr>
        <p:txBody>
          <a:bodyPr wrap="square" lIns="0" tIns="0" rIns="0" bIns="0" rtlCol="0" anchor="t"/>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소셜 미디어</a:t>
            </a:r>
            <a:endParaRPr lang="en-US" sz="3100" dirty="0"/>
          </a:p>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콘텐츠 제작</a:t>
            </a:r>
            <a:endParaRPr lang="en-US" sz="3100" dirty="0"/>
          </a:p>
        </p:txBody>
      </p:sp>
      <p:sp>
        <p:nvSpPr>
          <p:cNvPr id="8" name="Text 5"/>
          <p:cNvSpPr txBox="1"/>
          <p:nvPr/>
        </p:nvSpPr>
        <p:spPr>
          <a:xfrm>
            <a:off x="476402" y="1939442"/>
            <a:ext cx="259598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Social Media Content Creation</a:t>
            </a:r>
            <a:endParaRPr lang="en-US" sz="1200" dirty="0"/>
          </a:p>
        </p:txBody>
      </p:sp>
      <p:sp>
        <p:nvSpPr>
          <p:cNvPr id="9" name="Text 6"/>
          <p:cNvSpPr txBox="1"/>
          <p:nvPr/>
        </p:nvSpPr>
        <p:spPr>
          <a:xfrm>
            <a:off x="476402" y="2349094"/>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인스타그램 피드에 최적화된 트렌디한 비주얼 콘텐츠 제작입니다. 밝고 생동감 있는 파스텔 톤과 모던한 레이아웃을 결합하여 시선을 사로잡는 이미지를 생성합니다.</a:t>
            </a:r>
            <a:endParaRPr lang="en-US" sz="1100" dirty="0"/>
          </a:p>
        </p:txBody>
      </p:sp>
      <p:sp>
        <p:nvSpPr>
          <p:cNvPr id="10" name="Shape 7"/>
          <p:cNvSpPr/>
          <p:nvPr/>
        </p:nvSpPr>
        <p:spPr>
          <a:xfrm>
            <a:off x="476402" y="3220517"/>
            <a:ext cx="3619195" cy="1895551"/>
          </a:xfrm>
          <a:prstGeom prst="roundRect">
            <a:avLst>
              <a:gd name="adj" fmla="val 2909"/>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220517"/>
            <a:ext cx="38405" cy="1895551"/>
          </a:xfrm>
          <a:prstGeom prst="roundRect">
            <a:avLst>
              <a:gd name="adj" fmla="val 14357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420770"/>
            <a:ext cx="1353312"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PROJECT PARAMETERS</a:t>
            </a:r>
            <a:endParaRPr lang="en-US" sz="900" dirty="0"/>
          </a:p>
        </p:txBody>
      </p:sp>
      <p:pic>
        <p:nvPicPr>
          <p:cNvPr id="13" name="Image 1" descr="preencoded.png"/>
          <p:cNvPicPr>
            <a:picLocks noChangeAspect="1"/>
          </p:cNvPicPr>
          <p:nvPr/>
        </p:nvPicPr>
        <p:blipFill>
          <a:blip r:embed="rId4">
            <a:alphaModFix amt="50000"/>
          </a:blip>
          <a:srcRect t="-25200" b="-25200"/>
          <a:stretch/>
        </p:blipFill>
        <p:spPr>
          <a:xfrm>
            <a:off x="3781044" y="3420770"/>
            <a:ext cx="114300" cy="171907"/>
          </a:xfrm>
          <a:prstGeom prst="rect">
            <a:avLst/>
          </a:prstGeom>
        </p:spPr>
      </p:pic>
      <p:sp>
        <p:nvSpPr>
          <p:cNvPr id="14" name="Text 10"/>
          <p:cNvSpPr txBox="1"/>
          <p:nvPr/>
        </p:nvSpPr>
        <p:spPr>
          <a:xfrm>
            <a:off x="705002" y="371612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15" name="Text 11"/>
          <p:cNvSpPr txBox="1"/>
          <p:nvPr/>
        </p:nvSpPr>
        <p:spPr>
          <a:xfrm>
            <a:off x="1352398" y="3696919"/>
            <a:ext cx="20491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릴스 커버 3종, 피드 3종 세트</a:t>
            </a:r>
            <a:endParaRPr lang="en-US" sz="1000" dirty="0"/>
          </a:p>
        </p:txBody>
      </p:sp>
      <p:sp>
        <p:nvSpPr>
          <p:cNvPr id="16" name="Text 12"/>
          <p:cNvSpPr txBox="1"/>
          <p:nvPr/>
        </p:nvSpPr>
        <p:spPr>
          <a:xfrm>
            <a:off x="705002" y="3997757"/>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[산출물]</a:t>
            </a:r>
            <a:endParaRPr lang="en-US" sz="900" dirty="0"/>
          </a:p>
        </p:txBody>
      </p:sp>
      <p:sp>
        <p:nvSpPr>
          <p:cNvPr id="17" name="Text 13"/>
          <p:cNvSpPr txBox="1"/>
          <p:nvPr/>
        </p:nvSpPr>
        <p:spPr>
          <a:xfrm>
            <a:off x="1352398" y="3978554"/>
            <a:ext cx="260786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1080x1920 (릴스), 1080x1350 (피드)</a:t>
            </a:r>
            <a:endParaRPr lang="en-US" sz="1000" dirty="0"/>
          </a:p>
        </p:txBody>
      </p:sp>
      <p:sp>
        <p:nvSpPr>
          <p:cNvPr id="18" name="Text 14"/>
          <p:cNvSpPr txBox="1"/>
          <p:nvPr/>
        </p:nvSpPr>
        <p:spPr>
          <a:xfrm>
            <a:off x="705002" y="427939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[제약]</a:t>
            </a:r>
            <a:endParaRPr lang="en-US" sz="900" dirty="0"/>
          </a:p>
        </p:txBody>
      </p:sp>
      <p:sp>
        <p:nvSpPr>
          <p:cNvPr id="19" name="Text 15"/>
          <p:cNvSpPr txBox="1"/>
          <p:nvPr/>
        </p:nvSpPr>
        <p:spPr>
          <a:xfrm>
            <a:off x="1352398" y="4260190"/>
            <a:ext cx="275874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브랜드 오렌지 포인트, 굵은 타이포그래피</a:t>
            </a:r>
            <a:endParaRPr lang="en-US" sz="1000" dirty="0"/>
          </a:p>
        </p:txBody>
      </p:sp>
      <p:sp>
        <p:nvSpPr>
          <p:cNvPr id="20" name="Text 16"/>
          <p:cNvSpPr txBox="1"/>
          <p:nvPr/>
        </p:nvSpPr>
        <p:spPr>
          <a:xfrm>
            <a:off x="705002" y="4561027"/>
            <a:ext cx="486461" cy="352958"/>
          </a:xfrm>
          <a:prstGeom prst="rect">
            <a:avLst/>
          </a:prstGeom>
          <a:noFill/>
          <a:ln/>
        </p:spPr>
        <p:txBody>
          <a:bodyPr wrap="square" lIns="0" tIns="0" rIns="0" bIns="0" rtlCol="0" anchor="t"/>
          <a:lstStyle/>
          <a:p>
            <a:pPr marL="0" indent="0" algn="l">
              <a:buNone/>
            </a:pPr>
            <a:r>
              <a:rPr lang="en-US" sz="900" b="1" dirty="0">
                <a:solidFill>
                  <a:srgbClr val="FF6908"/>
                </a:solidFill>
                <a:latin typeface="Manrope" pitchFamily="34" charset="0"/>
                <a:ea typeface="Manrope" pitchFamily="34" charset="-122"/>
                <a:cs typeface="Manrope" pitchFamily="34" charset="-120"/>
              </a:rPr>
              <a:t>[레퍼런스]</a:t>
            </a:r>
            <a:endParaRPr lang="en-US" sz="900" dirty="0"/>
          </a:p>
        </p:txBody>
      </p:sp>
      <p:sp>
        <p:nvSpPr>
          <p:cNvPr id="21" name="Text 17"/>
          <p:cNvSpPr txBox="1"/>
          <p:nvPr/>
        </p:nvSpPr>
        <p:spPr>
          <a:xfrm>
            <a:off x="1352398" y="4542739"/>
            <a:ext cx="23454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컨템포러리 팝, 생동감 있는 비주얼</a:t>
            </a:r>
            <a:endParaRPr lang="en-US" sz="1000" dirty="0"/>
          </a:p>
        </p:txBody>
      </p:sp>
      <p:sp>
        <p:nvSpPr>
          <p:cNvPr id="22" name="Shape 18"/>
          <p:cNvSpPr/>
          <p:nvPr/>
        </p:nvSpPr>
        <p:spPr>
          <a:xfrm>
            <a:off x="476402" y="5298948"/>
            <a:ext cx="3619195" cy="1079906"/>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3" name="Image 2" descr="preencoded.png"/>
          <p:cNvPicPr>
            <a:picLocks noChangeAspect="1"/>
          </p:cNvPicPr>
          <p:nvPr/>
        </p:nvPicPr>
        <p:blipFill>
          <a:blip r:embed="rId5"/>
          <a:srcRect l="-2512" r="-2512"/>
          <a:stretch/>
        </p:blipFill>
        <p:spPr>
          <a:xfrm>
            <a:off x="609905" y="5486400"/>
            <a:ext cx="105156" cy="133502"/>
          </a:xfrm>
          <a:prstGeom prst="rect">
            <a:avLst/>
          </a:prstGeom>
        </p:spPr>
      </p:pic>
      <p:sp>
        <p:nvSpPr>
          <p:cNvPr id="24" name="Text 19"/>
          <p:cNvSpPr txBox="1"/>
          <p:nvPr/>
        </p:nvSpPr>
        <p:spPr>
          <a:xfrm>
            <a:off x="809244" y="5432450"/>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5" name="Text 20"/>
          <p:cNvSpPr txBox="1"/>
          <p:nvPr/>
        </p:nvSpPr>
        <p:spPr>
          <a:xfrm>
            <a:off x="788213" y="5683911"/>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소셜 미디어에서는 첫 1초에 시선을 끄는 것이 중요합니다. [채도]를 높이고 [대비]를 강화하여 모바일 화면에서도 돋보이게 만듭니다.</a:t>
            </a:r>
            <a:endParaRPr lang="en-US" sz="1100" dirty="0"/>
          </a:p>
        </p:txBody>
      </p:sp>
      <p:pic>
        <p:nvPicPr>
          <p:cNvPr id="26"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7"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28"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29" name="Text 21"/>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0" name="Text 22"/>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소셜</a:t>
            </a:r>
            <a:r>
              <a:rPr lang="en-US" sz="1200" dirty="0">
                <a:solidFill>
                  <a:srgbClr val="333333"/>
                </a:solidFill>
                <a:latin typeface="Noto Sans KR" pitchFamily="34" charset="0"/>
                <a:ea typeface="Noto Sans KR" pitchFamily="34" charset="-122"/>
                <a:cs typeface="Noto Sans KR" pitchFamily="34" charset="-120"/>
              </a:rPr>
              <a:t> 미디어 콘텐츠 프로젝트 커버. 프로젝트 5: 소셜 미디어 콘텐츠 제작이라는 제목, 인스타그램 피드 그리드 컨셉, 스마트폰 화면 목업, 트렌디하고 생동감 있는 디자인, 밝은 파스텔 컬러 톤(핑크/민트/옐로우), 젊고 활기찬 분위기. 이미지 내 모든 텍스트는 한국어로 표시되어야 합니다.</a:t>
            </a:r>
            <a:endParaRPr lang="en-US" sz="1200" dirty="0"/>
          </a:p>
        </p:txBody>
      </p:sp>
      <p:sp>
        <p:nvSpPr>
          <p:cNvPr id="31" name="Shape 23"/>
          <p:cNvSpPr/>
          <p:nvPr/>
        </p:nvSpPr>
        <p:spPr>
          <a:xfrm>
            <a:off x="10210190" y="647395"/>
            <a:ext cx="1324051"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2" name="Image 6" descr="preencoded.png"/>
          <p:cNvPicPr>
            <a:picLocks noChangeAspect="1"/>
          </p:cNvPicPr>
          <p:nvPr/>
        </p:nvPicPr>
        <p:blipFill>
          <a:blip r:embed="rId9"/>
          <a:srcRect l="-133" r="-133"/>
          <a:stretch/>
        </p:blipFill>
        <p:spPr>
          <a:xfrm>
            <a:off x="10343693" y="733349"/>
            <a:ext cx="85954" cy="114300"/>
          </a:xfrm>
          <a:prstGeom prst="rect">
            <a:avLst/>
          </a:prstGeom>
        </p:spPr>
      </p:pic>
      <p:sp>
        <p:nvSpPr>
          <p:cNvPr id="33" name="Text 24"/>
          <p:cNvSpPr txBox="1"/>
          <p:nvPr/>
        </p:nvSpPr>
        <p:spPr>
          <a:xfrm>
            <a:off x="10486339" y="647395"/>
            <a:ext cx="972007"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Project 05 Cover</a:t>
            </a:r>
            <a:endParaRPr lang="en-US" sz="900" dirty="0"/>
          </a:p>
        </p:txBody>
      </p:sp>
      <p:sp>
        <p:nvSpPr>
          <p:cNvPr id="34"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2838" r="-2838"/>
          <a:stretch/>
        </p:blipFill>
        <p:spPr>
          <a:xfrm>
            <a:off x="476402" y="634594"/>
            <a:ext cx="123444" cy="133502"/>
          </a:xfrm>
          <a:prstGeom prst="rect">
            <a:avLst/>
          </a:prstGeom>
        </p:spPr>
      </p:pic>
      <p:sp>
        <p:nvSpPr>
          <p:cNvPr id="6" name="Text 3"/>
          <p:cNvSpPr txBox="1"/>
          <p:nvPr/>
        </p:nvSpPr>
        <p:spPr>
          <a:xfrm>
            <a:off x="676656" y="601675"/>
            <a:ext cx="2090318"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05 : EXAMPLE 1</a:t>
            </a:r>
            <a:endParaRPr lang="en-US" sz="1000" dirty="0"/>
          </a:p>
        </p:txBody>
      </p:sp>
      <p:sp>
        <p:nvSpPr>
          <p:cNvPr id="7" name="Text 4"/>
          <p:cNvSpPr txBox="1"/>
          <p:nvPr/>
        </p:nvSpPr>
        <p:spPr>
          <a:xfrm>
            <a:off x="476402" y="877824"/>
            <a:ext cx="3748126" cy="762610"/>
          </a:xfrm>
          <a:prstGeom prst="rect">
            <a:avLst/>
          </a:prstGeom>
          <a:noFill/>
          <a:ln/>
        </p:spPr>
        <p:txBody>
          <a:bodyPr wrap="square" lIns="0" tIns="0" rIns="0" bIns="0" rtlCol="0" anchor="t"/>
          <a:lstStyle/>
          <a:p>
            <a:pPr marL="0" indent="0" algn="l">
              <a:buNone/>
            </a:pPr>
            <a:r>
              <a:rPr lang="en-US" sz="2700" b="1" kern="0" spc="-75" dirty="0">
                <a:solidFill>
                  <a:srgbClr val="111111"/>
                </a:solidFill>
                <a:latin typeface="Noto Sans KR" pitchFamily="34" charset="0"/>
                <a:ea typeface="Noto Sans KR" pitchFamily="34" charset="-122"/>
                <a:cs typeface="Noto Sans KR" pitchFamily="34" charset="-120"/>
              </a:rPr>
              <a:t>인스타그램</a:t>
            </a:r>
            <a:endParaRPr lang="en-US" sz="2700" dirty="0"/>
          </a:p>
          <a:p>
            <a:pPr marL="0" indent="0" algn="l">
              <a:buNone/>
            </a:pPr>
            <a:r>
              <a:rPr lang="en-US" sz="2700" b="1" kern="0" spc="-75" dirty="0">
                <a:solidFill>
                  <a:srgbClr val="111111"/>
                </a:solidFill>
                <a:latin typeface="Noto Sans KR" pitchFamily="34" charset="0"/>
                <a:ea typeface="Noto Sans KR" pitchFamily="34" charset="-122"/>
                <a:cs typeface="Noto Sans KR" pitchFamily="34" charset="-120"/>
              </a:rPr>
              <a:t>피드 포스트</a:t>
            </a:r>
            <a:endParaRPr lang="en-US" sz="2700" dirty="0"/>
          </a:p>
        </p:txBody>
      </p:sp>
      <p:sp>
        <p:nvSpPr>
          <p:cNvPr id="8" name="Text 5"/>
          <p:cNvSpPr txBox="1"/>
          <p:nvPr/>
        </p:nvSpPr>
        <p:spPr>
          <a:xfrm>
            <a:off x="476402" y="1679753"/>
            <a:ext cx="245973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Minimal Flat-lay Composition</a:t>
            </a:r>
            <a:endParaRPr lang="en-US" sz="1200" dirty="0"/>
          </a:p>
        </p:txBody>
      </p:sp>
      <p:sp>
        <p:nvSpPr>
          <p:cNvPr id="9" name="Text 6"/>
          <p:cNvSpPr txBox="1"/>
          <p:nvPr/>
        </p:nvSpPr>
        <p:spPr>
          <a:xfrm>
            <a:off x="476402" y="2089404"/>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화이트 배경과 파스텔 톤 소품을 활용한 깔끔한 플랫레이 샷입니다. 제품을 돋보이게 하면서도 감성적인 무드를 연출하여 피드용 콘텐츠로 적합합니다.</a:t>
            </a:r>
            <a:endParaRPr lang="en-US" sz="1100" dirty="0"/>
          </a:p>
        </p:txBody>
      </p:sp>
      <p:sp>
        <p:nvSpPr>
          <p:cNvPr id="10" name="Shape 7"/>
          <p:cNvSpPr/>
          <p:nvPr/>
        </p:nvSpPr>
        <p:spPr>
          <a:xfrm>
            <a:off x="476402" y="2960827"/>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60827"/>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60166"/>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60166"/>
            <a:ext cx="114300" cy="171907"/>
          </a:xfrm>
          <a:prstGeom prst="rect">
            <a:avLst/>
          </a:prstGeom>
        </p:spPr>
      </p:pic>
      <p:sp>
        <p:nvSpPr>
          <p:cNvPr id="14" name="Text 10"/>
          <p:cNvSpPr txBox="1"/>
          <p:nvPr/>
        </p:nvSpPr>
        <p:spPr>
          <a:xfrm>
            <a:off x="705002" y="345551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5" name="Text 11"/>
          <p:cNvSpPr txBox="1"/>
          <p:nvPr/>
        </p:nvSpPr>
        <p:spPr>
          <a:xfrm>
            <a:off x="1257300" y="3436315"/>
            <a:ext cx="176845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탑뷰 플랫레이 (Top View)</a:t>
            </a:r>
            <a:endParaRPr lang="en-US" sz="1000" dirty="0"/>
          </a:p>
        </p:txBody>
      </p:sp>
      <p:sp>
        <p:nvSpPr>
          <p:cNvPr id="16" name="Text 12"/>
          <p:cNvSpPr txBox="1"/>
          <p:nvPr/>
        </p:nvSpPr>
        <p:spPr>
          <a:xfrm>
            <a:off x="705002" y="3738067"/>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718865"/>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인스타그램 감성, 미니멀리즘</a:t>
            </a:r>
            <a:endParaRPr lang="en-US" sz="1000" dirty="0"/>
          </a:p>
        </p:txBody>
      </p:sp>
      <p:sp>
        <p:nvSpPr>
          <p:cNvPr id="18" name="Text 14"/>
          <p:cNvSpPr txBox="1"/>
          <p:nvPr/>
        </p:nvSpPr>
        <p:spPr>
          <a:xfrm>
            <a:off x="705002" y="401970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4000500"/>
            <a:ext cx="226222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깔끔하게 배치된 문구류와 꽃 소품</a:t>
            </a:r>
            <a:endParaRPr lang="en-US" sz="1000" dirty="0"/>
          </a:p>
        </p:txBody>
      </p:sp>
      <p:sp>
        <p:nvSpPr>
          <p:cNvPr id="20" name="Text 16"/>
          <p:cNvSpPr txBox="1"/>
          <p:nvPr/>
        </p:nvSpPr>
        <p:spPr>
          <a:xfrm>
            <a:off x="705002" y="430133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282135"/>
            <a:ext cx="222199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부드러운 자연광 (Natural Light)</a:t>
            </a:r>
            <a:endParaRPr lang="en-US" sz="1000" dirty="0"/>
          </a:p>
        </p:txBody>
      </p:sp>
      <p:sp>
        <p:nvSpPr>
          <p:cNvPr id="22" name="Text 18"/>
          <p:cNvSpPr txBox="1"/>
          <p:nvPr/>
        </p:nvSpPr>
        <p:spPr>
          <a:xfrm>
            <a:off x="705002" y="4582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7300" y="4564685"/>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화이트 배경, 파스텔 톤 포인트</a:t>
            </a:r>
            <a:endParaRPr lang="en-US" sz="1000" dirty="0"/>
          </a:p>
        </p:txBody>
      </p:sp>
      <p:sp>
        <p:nvSpPr>
          <p:cNvPr id="24" name="Text 20"/>
          <p:cNvSpPr txBox="1"/>
          <p:nvPr/>
        </p:nvSpPr>
        <p:spPr>
          <a:xfrm>
            <a:off x="705002" y="4865522"/>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5" name="Text 21"/>
          <p:cNvSpPr txBox="1"/>
          <p:nvPr/>
        </p:nvSpPr>
        <p:spPr>
          <a:xfrm>
            <a:off x="1257300" y="4846320"/>
            <a:ext cx="157276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밝고 경쾌한, 여백의 미</a:t>
            </a:r>
            <a:endParaRPr lang="en-US" sz="1000" dirty="0"/>
          </a:p>
        </p:txBody>
      </p:sp>
      <p:sp>
        <p:nvSpPr>
          <p:cNvPr id="26" name="Shape 22"/>
          <p:cNvSpPr/>
          <p:nvPr/>
        </p:nvSpPr>
        <p:spPr>
          <a:xfrm>
            <a:off x="476402" y="5432450"/>
            <a:ext cx="3619195" cy="1038146"/>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620817"/>
            <a:ext cx="105156" cy="133502"/>
          </a:xfrm>
          <a:prstGeom prst="rect">
            <a:avLst/>
          </a:prstGeom>
        </p:spPr>
      </p:pic>
      <p:sp>
        <p:nvSpPr>
          <p:cNvPr id="28" name="Text 23"/>
          <p:cNvSpPr txBox="1"/>
          <p:nvPr/>
        </p:nvSpPr>
        <p:spPr>
          <a:xfrm>
            <a:off x="809244" y="5565953"/>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9" name="Text 24"/>
          <p:cNvSpPr txBox="1"/>
          <p:nvPr/>
        </p:nvSpPr>
        <p:spPr>
          <a:xfrm>
            <a:off x="809244" y="5832194"/>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그림자를 부드럽게 만들기 위해 창가 근처에서 촬영하거나 디퓨저를 사용하세요. 소품은 제품 색상과 유사한 톤으로 통일감을 주세요.</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인스타그램</a:t>
            </a:r>
            <a:r>
              <a:rPr lang="en-US" sz="1200" dirty="0">
                <a:solidFill>
                  <a:srgbClr val="333333"/>
                </a:solidFill>
                <a:latin typeface="Noto Sans KR" pitchFamily="34" charset="0"/>
                <a:ea typeface="Noto Sans KR" pitchFamily="34" charset="-122"/>
                <a:cs typeface="Noto Sans KR" pitchFamily="34" charset="-120"/>
              </a:rPr>
              <a:t> 피드 포스트 예시 1. 미니멀한 플랫레이 구도, 화이트 배경 위의 깔끔한 제품 배치, 파스텔 톤 소품(꽃, 문구류), 탑뷰 촬영, 부드러운 자연광, 여백의 미, 인스타그램 감성, 밝고 경쾌한 분위기.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88213"/>
            <a:ext cx="142646" cy="133502"/>
          </a:xfrm>
          <a:prstGeom prst="rect">
            <a:avLst/>
          </a:prstGeom>
        </p:spPr>
      </p:pic>
      <p:sp>
        <p:nvSpPr>
          <p:cNvPr id="6" name="Text 3"/>
          <p:cNvSpPr txBox="1"/>
          <p:nvPr/>
        </p:nvSpPr>
        <p:spPr>
          <a:xfrm>
            <a:off x="694944" y="755294"/>
            <a:ext cx="237744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05 : SOCIAL MEDIA</a:t>
            </a:r>
            <a:endParaRPr lang="en-US" sz="1000" dirty="0"/>
          </a:p>
        </p:txBody>
      </p:sp>
      <p:sp>
        <p:nvSpPr>
          <p:cNvPr id="7" name="Text 4"/>
          <p:cNvSpPr txBox="1"/>
          <p:nvPr/>
        </p:nvSpPr>
        <p:spPr>
          <a:xfrm>
            <a:off x="476402" y="1031443"/>
            <a:ext cx="3762756" cy="914400"/>
          </a:xfrm>
          <a:prstGeom prst="rect">
            <a:avLst/>
          </a:prstGeom>
          <a:noFill/>
          <a:ln/>
        </p:spPr>
        <p:txBody>
          <a:bodyPr wrap="square" lIns="0" tIns="0" rIns="0" bIns="0" rtlCol="0" anchor="t"/>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인스타그램 라이프스타일 포스트</a:t>
            </a:r>
            <a:endParaRPr lang="en-US" sz="3000" dirty="0"/>
          </a:p>
        </p:txBody>
      </p:sp>
      <p:sp>
        <p:nvSpPr>
          <p:cNvPr id="8" name="Text 5"/>
          <p:cNvSpPr txBox="1"/>
          <p:nvPr/>
        </p:nvSpPr>
        <p:spPr>
          <a:xfrm>
            <a:off x="476402" y="1993392"/>
            <a:ext cx="245973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Lifestyle Post Example (POV)</a:t>
            </a:r>
            <a:endParaRPr lang="en-US" sz="1200" dirty="0"/>
          </a:p>
        </p:txBody>
      </p:sp>
      <p:sp>
        <p:nvSpPr>
          <p:cNvPr id="9" name="Text 6"/>
          <p:cNvSpPr txBox="1"/>
          <p:nvPr/>
        </p:nvSpPr>
        <p:spPr>
          <a:xfrm>
            <a:off x="476402" y="2403043"/>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1인칭 시점(POV)을 활용하여 팔로워에게 직접 경험하는 듯한 몰입감을 주는 포스트입니다. 따뜻한 골든아워 조명과 웜톤 색감으로 감성적인 분위기를 연출합니다.</a:t>
            </a:r>
            <a:endParaRPr lang="en-US" sz="1100" dirty="0"/>
          </a:p>
        </p:txBody>
      </p:sp>
      <p:sp>
        <p:nvSpPr>
          <p:cNvPr id="10" name="Shape 7"/>
          <p:cNvSpPr/>
          <p:nvPr/>
        </p:nvSpPr>
        <p:spPr>
          <a:xfrm>
            <a:off x="476402" y="3274466"/>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274466"/>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474720"/>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474720"/>
            <a:ext cx="114300" cy="171907"/>
          </a:xfrm>
          <a:prstGeom prst="rect">
            <a:avLst/>
          </a:prstGeom>
        </p:spPr>
      </p:pic>
      <p:sp>
        <p:nvSpPr>
          <p:cNvPr id="14" name="Text 10"/>
          <p:cNvSpPr txBox="1"/>
          <p:nvPr/>
        </p:nvSpPr>
        <p:spPr>
          <a:xfrm>
            <a:off x="705002" y="3770071"/>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750869"/>
            <a:ext cx="204185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인스타그램 감성, 라이프스타일</a:t>
            </a:r>
            <a:endParaRPr lang="en-US" sz="1000" dirty="0"/>
          </a:p>
        </p:txBody>
      </p:sp>
      <p:sp>
        <p:nvSpPr>
          <p:cNvPr id="16" name="Text 12"/>
          <p:cNvSpPr txBox="1"/>
          <p:nvPr/>
        </p:nvSpPr>
        <p:spPr>
          <a:xfrm>
            <a:off x="705002" y="405170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4032504"/>
            <a:ext cx="206380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POV (1인칭 시점), 손 클로즈업</a:t>
            </a:r>
            <a:endParaRPr lang="en-US" sz="1000" dirty="0"/>
          </a:p>
        </p:txBody>
      </p:sp>
      <p:sp>
        <p:nvSpPr>
          <p:cNvPr id="18" name="Text 14"/>
          <p:cNvSpPr txBox="1"/>
          <p:nvPr/>
        </p:nvSpPr>
        <p:spPr>
          <a:xfrm>
            <a:off x="705002" y="433334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4314139"/>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카페에서 음료 컵을 들고 있는 손</a:t>
            </a:r>
            <a:endParaRPr lang="en-US" sz="1000" dirty="0"/>
          </a:p>
        </p:txBody>
      </p:sp>
      <p:sp>
        <p:nvSpPr>
          <p:cNvPr id="20" name="Text 16"/>
          <p:cNvSpPr txBox="1"/>
          <p:nvPr/>
        </p:nvSpPr>
        <p:spPr>
          <a:xfrm>
            <a:off x="705002" y="461497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596689"/>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블러 처리된 카페 배경, 햇살</a:t>
            </a:r>
            <a:endParaRPr lang="en-US" sz="1000" dirty="0"/>
          </a:p>
        </p:txBody>
      </p:sp>
      <p:sp>
        <p:nvSpPr>
          <p:cNvPr id="22" name="Text 18"/>
          <p:cNvSpPr txBox="1"/>
          <p:nvPr/>
        </p:nvSpPr>
        <p:spPr>
          <a:xfrm>
            <a:off x="705002" y="48975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7300" y="4878324"/>
            <a:ext cx="182239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웜톤 (Warm Tone), 아늑함</a:t>
            </a:r>
            <a:endParaRPr lang="en-US" sz="1000" dirty="0"/>
          </a:p>
        </p:txBody>
      </p:sp>
      <p:sp>
        <p:nvSpPr>
          <p:cNvPr id="24" name="Shape 20"/>
          <p:cNvSpPr/>
          <p:nvPr/>
        </p:nvSpPr>
        <p:spPr>
          <a:xfrm>
            <a:off x="476402" y="5464454"/>
            <a:ext cx="3619195" cy="936346"/>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652821"/>
            <a:ext cx="105156" cy="133502"/>
          </a:xfrm>
          <a:prstGeom prst="rect">
            <a:avLst/>
          </a:prstGeom>
        </p:spPr>
      </p:pic>
      <p:sp>
        <p:nvSpPr>
          <p:cNvPr id="26" name="Text 21"/>
          <p:cNvSpPr txBox="1"/>
          <p:nvPr/>
        </p:nvSpPr>
        <p:spPr>
          <a:xfrm>
            <a:off x="809244" y="5597957"/>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09244" y="5815325"/>
            <a:ext cx="3067812"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타이포그래피 대비를 위해 배경의 복잡한 부분은 심도(Depth of Field) 효과로 부드럽게 날려주세요(Bokeh).</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인스타그램</a:t>
            </a:r>
            <a:r>
              <a:rPr lang="en-US" sz="1200" dirty="0">
                <a:solidFill>
                  <a:srgbClr val="333333"/>
                </a:solidFill>
                <a:latin typeface="Noto Sans KR" pitchFamily="34" charset="0"/>
                <a:ea typeface="Noto Sans KR" pitchFamily="34" charset="-122"/>
                <a:cs typeface="Noto Sans KR" pitchFamily="34" charset="-120"/>
              </a:rPr>
              <a:t> 포스트 예시 2. 카페에서 찍은 라이프스타일 샷, 손으로 들고 있는 음료 컵, POV 구도, 블러 처리된 배경, 따뜻한 골든아워 조명, 웜톤 색감, 감성적이고 자연스러운 분위기, 인스타그램 스타일.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2838" r="-2838"/>
          <a:stretch/>
        </p:blipFill>
        <p:spPr>
          <a:xfrm>
            <a:off x="476402" y="610819"/>
            <a:ext cx="123444" cy="133502"/>
          </a:xfrm>
          <a:prstGeom prst="rect">
            <a:avLst/>
          </a:prstGeom>
        </p:spPr>
      </p:pic>
      <p:sp>
        <p:nvSpPr>
          <p:cNvPr id="6" name="Text 3"/>
          <p:cNvSpPr txBox="1"/>
          <p:nvPr/>
        </p:nvSpPr>
        <p:spPr>
          <a:xfrm>
            <a:off x="676656" y="576986"/>
            <a:ext cx="180502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PROJECT 05 : RESULT</a:t>
            </a:r>
            <a:endParaRPr lang="en-US" sz="1000" dirty="0"/>
          </a:p>
        </p:txBody>
      </p:sp>
      <p:sp>
        <p:nvSpPr>
          <p:cNvPr id="7" name="Text 4"/>
          <p:cNvSpPr txBox="1"/>
          <p:nvPr/>
        </p:nvSpPr>
        <p:spPr>
          <a:xfrm>
            <a:off x="476402" y="853135"/>
            <a:ext cx="3762756" cy="914400"/>
          </a:xfrm>
          <a:prstGeom prst="rect">
            <a:avLst/>
          </a:prstGeom>
          <a:noFill/>
          <a:ln/>
        </p:spPr>
        <p:txBody>
          <a:bodyPr wrap="square" lIns="0" tIns="0" rIns="0" bIns="0" rtlCol="0" anchor="t"/>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소셜 미디어 콘텐츠</a:t>
            </a:r>
            <a:endParaRPr lang="en-US" sz="3000" dirty="0"/>
          </a:p>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최종 결과물</a:t>
            </a:r>
            <a:endParaRPr lang="en-US" sz="3000" dirty="0"/>
          </a:p>
        </p:txBody>
      </p:sp>
      <p:sp>
        <p:nvSpPr>
          <p:cNvPr id="8" name="Text 5"/>
          <p:cNvSpPr txBox="1"/>
          <p:nvPr/>
        </p:nvSpPr>
        <p:spPr>
          <a:xfrm>
            <a:off x="476402" y="1815998"/>
            <a:ext cx="289041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Social Media Content Final Output</a:t>
            </a:r>
            <a:endParaRPr lang="en-US" sz="1200" dirty="0"/>
          </a:p>
        </p:txBody>
      </p:sp>
      <p:sp>
        <p:nvSpPr>
          <p:cNvPr id="9" name="Text 6"/>
          <p:cNvSpPr txBox="1"/>
          <p:nvPr/>
        </p:nvSpPr>
        <p:spPr>
          <a:xfrm>
            <a:off x="476402" y="222473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인스타그램 피드 그리드(3x3) 레이아웃을 통해 브랜드의 일관된 톤앤매너를 보여주는 최종 결과물입니다. 파스텔 톤의 밝은 컬러감과 트렌디한 디자인 요소가 조화를 이룹니다.</a:t>
            </a:r>
            <a:endParaRPr lang="en-US" sz="1100" dirty="0"/>
          </a:p>
        </p:txBody>
      </p:sp>
      <p:sp>
        <p:nvSpPr>
          <p:cNvPr id="10" name="Shape 7"/>
          <p:cNvSpPr/>
          <p:nvPr/>
        </p:nvSpPr>
        <p:spPr>
          <a:xfrm>
            <a:off x="476402" y="2959455"/>
            <a:ext cx="3619195" cy="2171700"/>
          </a:xfrm>
          <a:prstGeom prst="roundRect">
            <a:avLst>
              <a:gd name="adj" fmla="val 2216"/>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59455"/>
            <a:ext cx="38405" cy="2171700"/>
          </a:xfrm>
          <a:prstGeom prst="roundRect">
            <a:avLst>
              <a:gd name="adj" fmla="val 125313"/>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58794"/>
            <a:ext cx="1691640"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FINAL INTEGRATED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58794"/>
            <a:ext cx="114300" cy="171907"/>
          </a:xfrm>
          <a:prstGeom prst="rect">
            <a:avLst/>
          </a:prstGeom>
        </p:spPr>
      </p:pic>
      <p:sp>
        <p:nvSpPr>
          <p:cNvPr id="14" name="Text 10"/>
          <p:cNvSpPr txBox="1"/>
          <p:nvPr/>
        </p:nvSpPr>
        <p:spPr>
          <a:xfrm>
            <a:off x="705002" y="3454145"/>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352398" y="3434943"/>
            <a:ext cx="229148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트렌디, 생동감 있는, 파스텔 컬러</a:t>
            </a:r>
            <a:endParaRPr lang="en-US" sz="1000" dirty="0"/>
          </a:p>
        </p:txBody>
      </p:sp>
      <p:sp>
        <p:nvSpPr>
          <p:cNvPr id="16" name="Text 12"/>
          <p:cNvSpPr txBox="1"/>
          <p:nvPr/>
        </p:nvSpPr>
        <p:spPr>
          <a:xfrm>
            <a:off x="705002" y="373578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352398" y="3717492"/>
            <a:ext cx="20537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인스타그램 피드 그리드 (3x3)</a:t>
            </a:r>
            <a:endParaRPr lang="en-US" sz="1000" dirty="0"/>
          </a:p>
        </p:txBody>
      </p:sp>
      <p:sp>
        <p:nvSpPr>
          <p:cNvPr id="18" name="Text 14"/>
          <p:cNvSpPr txBox="1"/>
          <p:nvPr/>
        </p:nvSpPr>
        <p:spPr>
          <a:xfrm>
            <a:off x="705002" y="4018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352398" y="3999128"/>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통일된 톤앤매너 이미지들, 목업</a:t>
            </a:r>
            <a:endParaRPr lang="en-US" sz="1000" dirty="0"/>
          </a:p>
        </p:txBody>
      </p:sp>
      <p:sp>
        <p:nvSpPr>
          <p:cNvPr id="20" name="Text 16"/>
          <p:cNvSpPr txBox="1"/>
          <p:nvPr/>
        </p:nvSpPr>
        <p:spPr>
          <a:xfrm>
            <a:off x="705002" y="429996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352398" y="4280763"/>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자연광, 깔끔한 화이트 배경</a:t>
            </a:r>
            <a:endParaRPr lang="en-US" sz="1000" dirty="0"/>
          </a:p>
        </p:txBody>
      </p:sp>
      <p:sp>
        <p:nvSpPr>
          <p:cNvPr id="22" name="Text 18"/>
          <p:cNvSpPr txBox="1"/>
          <p:nvPr/>
        </p:nvSpPr>
        <p:spPr>
          <a:xfrm>
            <a:off x="705002" y="4581600"/>
            <a:ext cx="612070" cy="352958"/>
          </a:xfrm>
          <a:prstGeom prst="rect">
            <a:avLst/>
          </a:prstGeom>
          <a:noFill/>
          <a:ln/>
        </p:spPr>
        <p:txBody>
          <a:bodyPr wrap="square" lIns="0" tIns="0" rIns="0" bIns="0" rtlCol="0" anchor="t"/>
          <a:lstStyle/>
          <a:p>
            <a:pPr marL="0" indent="0" algn="l">
              <a:buNone/>
            </a:pPr>
            <a:r>
              <a:rPr lang="en-US" sz="900" b="1" dirty="0">
                <a:solidFill>
                  <a:srgbClr val="FF6908"/>
                </a:solidFill>
                <a:latin typeface="Manrope" pitchFamily="34" charset="0"/>
                <a:ea typeface="Manrope" pitchFamily="34" charset="-122"/>
                <a:cs typeface="Manrope" pitchFamily="34" charset="-120"/>
              </a:rPr>
              <a:t>[레이아웃]</a:t>
            </a:r>
            <a:endParaRPr lang="en-US" sz="900" dirty="0"/>
          </a:p>
        </p:txBody>
      </p:sp>
      <p:sp>
        <p:nvSpPr>
          <p:cNvPr id="23" name="Text 19"/>
          <p:cNvSpPr txBox="1"/>
          <p:nvPr/>
        </p:nvSpPr>
        <p:spPr>
          <a:xfrm>
            <a:off x="1352398" y="4562398"/>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탑뷰 플랫레이, 세련된 배치</a:t>
            </a:r>
            <a:endParaRPr lang="en-US" sz="1000" dirty="0"/>
          </a:p>
        </p:txBody>
      </p:sp>
      <p:sp>
        <p:nvSpPr>
          <p:cNvPr id="24" name="Shape 20"/>
          <p:cNvSpPr/>
          <p:nvPr/>
        </p:nvSpPr>
        <p:spPr>
          <a:xfrm>
            <a:off x="476402" y="5319520"/>
            <a:ext cx="3619195" cy="108627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506973"/>
            <a:ext cx="105156" cy="133502"/>
          </a:xfrm>
          <a:prstGeom prst="rect">
            <a:avLst/>
          </a:prstGeom>
        </p:spPr>
      </p:pic>
      <p:sp>
        <p:nvSpPr>
          <p:cNvPr id="26" name="Text 21"/>
          <p:cNvSpPr txBox="1"/>
          <p:nvPr/>
        </p:nvSpPr>
        <p:spPr>
          <a:xfrm>
            <a:off x="809244" y="5452109"/>
            <a:ext cx="74066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체크포인트:</a:t>
            </a:r>
            <a:endParaRPr lang="en-US" sz="900" dirty="0"/>
          </a:p>
        </p:txBody>
      </p:sp>
      <p:sp>
        <p:nvSpPr>
          <p:cNvPr id="27" name="Text 22"/>
          <p:cNvSpPr txBox="1"/>
          <p:nvPr/>
        </p:nvSpPr>
        <p:spPr>
          <a:xfrm>
            <a:off x="809702" y="5733744"/>
            <a:ext cx="32104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그리드 전체의 조화뿐만 아니라 개별 포스트 하나하나의 퀄리티도 중요합니다. 텍스트 가독성을 위해 배경과의 대비를 확인하세요.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소셜</a:t>
            </a:r>
            <a:r>
              <a:rPr lang="en-US" sz="1200" dirty="0">
                <a:solidFill>
                  <a:srgbClr val="333333"/>
                </a:solidFill>
                <a:latin typeface="Noto Sans KR" pitchFamily="34" charset="0"/>
                <a:ea typeface="Noto Sans KR" pitchFamily="34" charset="-122"/>
                <a:cs typeface="Noto Sans KR" pitchFamily="34" charset="-120"/>
              </a:rPr>
              <a:t> 미디어 콘텐츠 최종 결과물. 인스타그램 피드 그리드 레이아웃 (3x3), 9개의 통일된 톤앤매너 이미지들, 스마트폰 화면 목업, 탑뷰 플랫레이 구도, 밝은 파스텔 컬러, 세련된 그리드 구성, 자연광. 이미지 내 모든 텍스트는 한국어로 표시되어야 합니다.</a:t>
            </a:r>
            <a:endParaRPr lang="en-US" sz="1200" dirty="0"/>
          </a:p>
        </p:txBody>
      </p:sp>
      <p:sp>
        <p:nvSpPr>
          <p:cNvPr id="33" name="Shape 25"/>
          <p:cNvSpPr/>
          <p:nvPr/>
        </p:nvSpPr>
        <p:spPr>
          <a:xfrm>
            <a:off x="10417759" y="647395"/>
            <a:ext cx="1114654"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551262" y="733349"/>
            <a:ext cx="114300" cy="114300"/>
          </a:xfrm>
          <a:prstGeom prst="rect">
            <a:avLst/>
          </a:prstGeom>
        </p:spPr>
      </p:pic>
      <p:sp>
        <p:nvSpPr>
          <p:cNvPr id="35" name="Text 26"/>
          <p:cNvSpPr txBox="1"/>
          <p:nvPr/>
        </p:nvSpPr>
        <p:spPr>
          <a:xfrm>
            <a:off x="10723169" y="647395"/>
            <a:ext cx="734263"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Final Output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ko-KR"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ko-KR" altLang="en-US"/>
          </a:p>
        </p:txBody>
      </p:sp>
      <p:pic>
        <p:nvPicPr>
          <p:cNvPr id="5" name="Image 0" descr="preencoded.png"/>
          <p:cNvPicPr>
            <a:picLocks noChangeAspect="1"/>
          </p:cNvPicPr>
          <p:nvPr/>
        </p:nvPicPr>
        <p:blipFill>
          <a:blip r:embed="rId3"/>
          <a:srcRect l="-3425" r="-3425"/>
          <a:stretch/>
        </p:blipFill>
        <p:spPr>
          <a:xfrm>
            <a:off x="476402" y="1039673"/>
            <a:ext cx="142646" cy="133502"/>
          </a:xfrm>
          <a:prstGeom prst="rect">
            <a:avLst/>
          </a:prstGeom>
        </p:spPr>
      </p:pic>
      <p:sp>
        <p:nvSpPr>
          <p:cNvPr id="6" name="Text 3"/>
          <p:cNvSpPr txBox="1"/>
          <p:nvPr/>
        </p:nvSpPr>
        <p:spPr>
          <a:xfrm>
            <a:off x="694944" y="1006754"/>
            <a:ext cx="1804111"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PART 7 : CASE STUDY</a:t>
            </a:r>
            <a:endParaRPr lang="en-US" sz="1000" dirty="0"/>
          </a:p>
        </p:txBody>
      </p:sp>
      <p:sp>
        <p:nvSpPr>
          <p:cNvPr id="7" name="Text 4"/>
          <p:cNvSpPr txBox="1"/>
          <p:nvPr/>
        </p:nvSpPr>
        <p:spPr>
          <a:xfrm>
            <a:off x="476402" y="1282903"/>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케이스 스터디</a:t>
            </a:r>
            <a:endParaRPr lang="en-US" sz="3100" dirty="0"/>
          </a:p>
        </p:txBody>
      </p:sp>
      <p:sp>
        <p:nvSpPr>
          <p:cNvPr id="8" name="Text 5"/>
          <p:cNvSpPr txBox="1"/>
          <p:nvPr/>
        </p:nvSpPr>
        <p:spPr>
          <a:xfrm>
            <a:off x="476402" y="1770278"/>
            <a:ext cx="1961388"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Scenario Studies</a:t>
            </a:r>
            <a:endParaRPr lang="en-US" sz="1200" dirty="0"/>
          </a:p>
        </p:txBody>
      </p:sp>
      <p:sp>
        <p:nvSpPr>
          <p:cNvPr id="9" name="Text 6"/>
          <p:cNvSpPr txBox="1"/>
          <p:nvPr/>
        </p:nvSpPr>
        <p:spPr>
          <a:xfrm>
            <a:off x="476402" y="2179930"/>
            <a:ext cx="3696005" cy="428854"/>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AI 이미지 생성을 업무에 적용하는 장면을 가상 시나리오로 살펴봅니다. 브랜드와 성과는 학습용 예시입니다.</a:t>
            </a:r>
            <a:endParaRPr lang="en-US" sz="1100" dirty="0"/>
          </a:p>
        </p:txBody>
      </p:sp>
      <p:sp>
        <p:nvSpPr>
          <p:cNvPr id="10" name="Shape 7"/>
          <p:cNvSpPr/>
          <p:nvPr/>
        </p:nvSpPr>
        <p:spPr>
          <a:xfrm>
            <a:off x="476402" y="2837383"/>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37383"/>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36722"/>
            <a:ext cx="1057961"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STUDY OVERVIEW</a:t>
            </a:r>
            <a:endParaRPr lang="en-US" sz="900" dirty="0"/>
          </a:p>
        </p:txBody>
      </p:sp>
      <p:pic>
        <p:nvPicPr>
          <p:cNvPr id="13" name="Image 1" descr="preencoded.png"/>
          <p:cNvPicPr>
            <a:picLocks noChangeAspect="1"/>
          </p:cNvPicPr>
          <p:nvPr/>
        </p:nvPicPr>
        <p:blipFill>
          <a:blip r:embed="rId4">
            <a:alphaModFix amt="50000"/>
          </a:blip>
          <a:srcRect t="-25200" b="-25200"/>
          <a:stretch/>
        </p:blipFill>
        <p:spPr>
          <a:xfrm>
            <a:off x="3781044" y="3036722"/>
            <a:ext cx="114300" cy="171907"/>
          </a:xfrm>
          <a:prstGeom prst="rect">
            <a:avLst/>
          </a:prstGeom>
        </p:spPr>
      </p:pic>
      <p:sp>
        <p:nvSpPr>
          <p:cNvPr id="14" name="Text 10"/>
          <p:cNvSpPr txBox="1"/>
          <p:nvPr/>
        </p:nvSpPr>
        <p:spPr>
          <a:xfrm>
            <a:off x="705002" y="333207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15" name="Text 11"/>
          <p:cNvSpPr txBox="1"/>
          <p:nvPr/>
        </p:nvSpPr>
        <p:spPr>
          <a:xfrm>
            <a:off x="1447495" y="3313786"/>
            <a:ext cx="17428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AI 도입을 통한 성과 분석</a:t>
            </a:r>
            <a:endParaRPr lang="en-US" sz="1000" dirty="0"/>
          </a:p>
        </p:txBody>
      </p:sp>
      <p:sp>
        <p:nvSpPr>
          <p:cNvPr id="16" name="Text 12"/>
          <p:cNvSpPr txBox="1"/>
          <p:nvPr/>
        </p:nvSpPr>
        <p:spPr>
          <a:xfrm>
            <a:off x="705002" y="361462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[구성]</a:t>
            </a:r>
            <a:endParaRPr lang="en-US" sz="900" dirty="0"/>
          </a:p>
        </p:txBody>
      </p:sp>
      <p:sp>
        <p:nvSpPr>
          <p:cNvPr id="17" name="Text 13"/>
          <p:cNvSpPr txBox="1"/>
          <p:nvPr/>
        </p:nvSpPr>
        <p:spPr>
          <a:xfrm>
            <a:off x="1447495" y="3595421"/>
            <a:ext cx="198973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5가지 핵심 비즈니스 시나리오</a:t>
            </a:r>
            <a:endParaRPr lang="en-US" sz="1000" dirty="0"/>
          </a:p>
        </p:txBody>
      </p:sp>
      <p:sp>
        <p:nvSpPr>
          <p:cNvPr id="18" name="Text 14"/>
          <p:cNvSpPr txBox="1"/>
          <p:nvPr/>
        </p:nvSpPr>
        <p:spPr>
          <a:xfrm>
            <a:off x="705002" y="38962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[분야]</a:t>
            </a:r>
            <a:endParaRPr lang="en-US" sz="900" dirty="0"/>
          </a:p>
        </p:txBody>
      </p:sp>
      <p:sp>
        <p:nvSpPr>
          <p:cNvPr id="19" name="Text 15"/>
          <p:cNvSpPr txBox="1"/>
          <p:nvPr/>
        </p:nvSpPr>
        <p:spPr>
          <a:xfrm>
            <a:off x="1447495" y="3877056"/>
            <a:ext cx="201533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제품, 캐릭터, 인테리어</a:t>
            </a:r>
            <a:endParaRPr lang="en-US" sz="1000" dirty="0"/>
          </a:p>
        </p:txBody>
      </p:sp>
      <p:sp>
        <p:nvSpPr>
          <p:cNvPr id="20" name="Text 16"/>
          <p:cNvSpPr txBox="1"/>
          <p:nvPr/>
        </p:nvSpPr>
        <p:spPr>
          <a:xfrm>
            <a:off x="705002" y="4177894"/>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[포인트]</a:t>
            </a:r>
            <a:endParaRPr lang="en-US" sz="900" dirty="0"/>
          </a:p>
        </p:txBody>
      </p:sp>
      <p:sp>
        <p:nvSpPr>
          <p:cNvPr id="21" name="Text 17"/>
          <p:cNvSpPr txBox="1"/>
          <p:nvPr/>
        </p:nvSpPr>
        <p:spPr>
          <a:xfrm>
            <a:off x="1447495" y="4158691"/>
            <a:ext cx="237378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시간 단축, 비용 절감, 퀄리티 향상</a:t>
            </a:r>
            <a:endParaRPr lang="en-US" sz="1000" dirty="0"/>
          </a:p>
        </p:txBody>
      </p:sp>
      <p:sp>
        <p:nvSpPr>
          <p:cNvPr id="22" name="Text 18"/>
          <p:cNvSpPr txBox="1"/>
          <p:nvPr/>
        </p:nvSpPr>
        <p:spPr>
          <a:xfrm>
            <a:off x="705002" y="445952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[지표]</a:t>
            </a:r>
            <a:endParaRPr lang="en-US" sz="900" dirty="0"/>
          </a:p>
        </p:txBody>
      </p:sp>
      <p:sp>
        <p:nvSpPr>
          <p:cNvPr id="23" name="Text 19"/>
          <p:cNvSpPr txBox="1"/>
          <p:nvPr/>
        </p:nvSpPr>
        <p:spPr>
          <a:xfrm>
            <a:off x="1447495" y="4441241"/>
            <a:ext cx="193852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ROI, 제작 시간, 클릭률(CTR)</a:t>
            </a:r>
            <a:endParaRPr lang="en-US" sz="1000" dirty="0"/>
          </a:p>
        </p:txBody>
      </p:sp>
      <p:sp>
        <p:nvSpPr>
          <p:cNvPr id="24" name="Shape 20"/>
          <p:cNvSpPr/>
          <p:nvPr/>
        </p:nvSpPr>
        <p:spPr>
          <a:xfrm>
            <a:off x="476402" y="5027370"/>
            <a:ext cx="3619195" cy="113202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215738"/>
            <a:ext cx="105156" cy="133502"/>
          </a:xfrm>
          <a:prstGeom prst="rect">
            <a:avLst/>
          </a:prstGeom>
        </p:spPr>
      </p:pic>
      <p:sp>
        <p:nvSpPr>
          <p:cNvPr id="26" name="Text 21"/>
          <p:cNvSpPr txBox="1"/>
          <p:nvPr/>
        </p:nvSpPr>
        <p:spPr>
          <a:xfrm>
            <a:off x="809244" y="5160874"/>
            <a:ext cx="608990"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인사이트:</a:t>
            </a:r>
            <a:endParaRPr lang="en-US" sz="900" dirty="0"/>
          </a:p>
        </p:txBody>
      </p:sp>
      <p:sp>
        <p:nvSpPr>
          <p:cNvPr id="27" name="Text 22"/>
          <p:cNvSpPr txBox="1"/>
          <p:nvPr/>
        </p:nvSpPr>
        <p:spPr>
          <a:xfrm>
            <a:off x="827989" y="5436108"/>
            <a:ext cx="3135809"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단순한 이미지 생성을 넘어, 실제 업무 프로세스(파이프라인)를 어떻게 최적화했는지 'Before &amp; After' 비교를 통해 확인하세요.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케이스</a:t>
            </a:r>
            <a:r>
              <a:rPr lang="en-US" sz="1200" dirty="0">
                <a:solidFill>
                  <a:srgbClr val="333333"/>
                </a:solidFill>
                <a:latin typeface="Noto Sans KR" pitchFamily="34" charset="0"/>
                <a:ea typeface="Noto Sans KR" pitchFamily="34" charset="-122"/>
                <a:cs typeface="Noto Sans KR" pitchFamily="34" charset="-120"/>
              </a:rPr>
              <a:t> 스터디 파트 커버 디자인. Part 7: 케이스 스터디라는 제목, 실제 성공 사례 분석 컨셉, 비포/애프터 이미지 실루엣, 프로페셔널한 분석 리포트 스타일, 차분한 블루/그레이 톤, 신뢰감 있는 디자인. 이미지 내 모든 텍스트는 한국어로 표시되어야 합니다.</a:t>
            </a:r>
            <a:endParaRPr lang="en-US" sz="1200" dirty="0"/>
          </a:p>
        </p:txBody>
      </p:sp>
      <p:sp>
        <p:nvSpPr>
          <p:cNvPr id="33" name="Shape 25"/>
          <p:cNvSpPr/>
          <p:nvPr/>
        </p:nvSpPr>
        <p:spPr>
          <a:xfrm>
            <a:off x="10094976" y="647395"/>
            <a:ext cx="1438351"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l="-1911" r="-1911"/>
          <a:stretch/>
        </p:blipFill>
        <p:spPr>
          <a:xfrm>
            <a:off x="10228478" y="733349"/>
            <a:ext cx="133502" cy="114300"/>
          </a:xfrm>
          <a:prstGeom prst="rect">
            <a:avLst/>
          </a:prstGeom>
        </p:spPr>
      </p:pic>
      <p:sp>
        <p:nvSpPr>
          <p:cNvPr id="35" name="Text 26"/>
          <p:cNvSpPr txBox="1"/>
          <p:nvPr/>
        </p:nvSpPr>
        <p:spPr>
          <a:xfrm>
            <a:off x="10419588" y="647395"/>
            <a:ext cx="1038758"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Business Analysis</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32688"/>
            <a:ext cx="142646" cy="133502"/>
          </a:xfrm>
          <a:prstGeom prst="rect">
            <a:avLst/>
          </a:prstGeom>
        </p:spPr>
      </p:pic>
      <p:sp>
        <p:nvSpPr>
          <p:cNvPr id="6" name="Text 3"/>
          <p:cNvSpPr txBox="1"/>
          <p:nvPr/>
        </p:nvSpPr>
        <p:spPr>
          <a:xfrm>
            <a:off x="694944" y="898855"/>
            <a:ext cx="123352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01</a:t>
            </a:r>
            <a:endParaRPr lang="en-US" sz="1000" dirty="0"/>
          </a:p>
        </p:txBody>
      </p:sp>
      <p:sp>
        <p:nvSpPr>
          <p:cNvPr id="7" name="Text 4"/>
          <p:cNvSpPr txBox="1"/>
          <p:nvPr/>
        </p:nvSpPr>
        <p:spPr>
          <a:xfrm>
            <a:off x="476402" y="1175004"/>
            <a:ext cx="4486046"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패션 브랜드 캠페인</a:t>
            </a:r>
            <a:endParaRPr lang="en-US" sz="3100" dirty="0"/>
          </a:p>
        </p:txBody>
      </p:sp>
      <p:sp>
        <p:nvSpPr>
          <p:cNvPr id="8" name="Text 5"/>
          <p:cNvSpPr txBox="1"/>
          <p:nvPr/>
        </p:nvSpPr>
        <p:spPr>
          <a:xfrm>
            <a:off x="476402" y="1663294"/>
            <a:ext cx="283921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Fashion Brand Campaign Example</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실제 브랜드 캠페인 퀄리티의 패션 화보를 AI로 생성한 사례입니다. 세련된 스타일링과 시네마틱한 조명 연출로 고급스러운 브랜드 이미지를 구현했습니다.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44622"/>
            <a:ext cx="114300" cy="171907"/>
          </a:xfrm>
          <a:prstGeom prst="rect">
            <a:avLst/>
          </a:prstGeom>
        </p:spPr>
      </p:pic>
      <p:sp>
        <p:nvSpPr>
          <p:cNvPr id="14" name="Text 10"/>
          <p:cNvSpPr txBox="1"/>
          <p:nvPr/>
        </p:nvSpPr>
        <p:spPr>
          <a:xfrm>
            <a:off x="705002" y="343997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420770"/>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고급 패션 에디토리얼, 시네마틱</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702406"/>
            <a:ext cx="2402129"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롱 샷 (Medium Long Shot)</a:t>
            </a:r>
            <a:endParaRPr lang="en-US" sz="1000" dirty="0"/>
          </a:p>
        </p:txBody>
      </p:sp>
      <p:sp>
        <p:nvSpPr>
          <p:cNvPr id="18" name="Text 14"/>
          <p:cNvSpPr txBox="1"/>
          <p:nvPr/>
        </p:nvSpPr>
        <p:spPr>
          <a:xfrm>
            <a:off x="705002" y="400324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84041"/>
            <a:ext cx="154533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트렌치코트를 입은 모델</a:t>
            </a:r>
            <a:endParaRPr lang="en-US" sz="1000" dirty="0"/>
          </a:p>
        </p:txBody>
      </p:sp>
      <p:sp>
        <p:nvSpPr>
          <p:cNvPr id="20" name="Text 16"/>
          <p:cNvSpPr txBox="1"/>
          <p:nvPr/>
        </p:nvSpPr>
        <p:spPr>
          <a:xfrm>
            <a:off x="705002" y="42848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66590"/>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도시 거리 배경, 골든아워 자연광</a:t>
            </a:r>
            <a:endParaRPr lang="en-US" sz="1000" dirty="0"/>
          </a:p>
        </p:txBody>
      </p:sp>
      <p:sp>
        <p:nvSpPr>
          <p:cNvPr id="22" name="Text 18"/>
          <p:cNvSpPr txBox="1"/>
          <p:nvPr/>
        </p:nvSpPr>
        <p:spPr>
          <a:xfrm>
            <a:off x="705002" y="45674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3" name="Text 19"/>
          <p:cNvSpPr txBox="1"/>
          <p:nvPr/>
        </p:nvSpPr>
        <p:spPr>
          <a:xfrm>
            <a:off x="1257300" y="4548226"/>
            <a:ext cx="240030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세련된 스타일링, 자연스러운 움직임</a:t>
            </a:r>
            <a:endParaRPr lang="en-US" sz="1000" dirty="0"/>
          </a:p>
        </p:txBody>
      </p:sp>
      <p:sp>
        <p:nvSpPr>
          <p:cNvPr id="24" name="Shape 20"/>
          <p:cNvSpPr/>
          <p:nvPr/>
        </p:nvSpPr>
        <p:spPr>
          <a:xfrm>
            <a:off x="476402" y="5134355"/>
            <a:ext cx="3619195" cy="110276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322722"/>
            <a:ext cx="133502" cy="133502"/>
          </a:xfrm>
          <a:prstGeom prst="rect">
            <a:avLst/>
          </a:prstGeom>
        </p:spPr>
      </p:pic>
      <p:sp>
        <p:nvSpPr>
          <p:cNvPr id="26" name="Text 21"/>
          <p:cNvSpPr txBox="1"/>
          <p:nvPr/>
        </p:nvSpPr>
        <p:spPr>
          <a:xfrm>
            <a:off x="838505" y="5267858"/>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Insight:</a:t>
            </a:r>
            <a:endParaRPr lang="en-US" sz="900" dirty="0"/>
          </a:p>
        </p:txBody>
      </p:sp>
      <p:sp>
        <p:nvSpPr>
          <p:cNvPr id="27" name="Text 22"/>
          <p:cNvSpPr txBox="1"/>
          <p:nvPr/>
        </p:nvSpPr>
        <p:spPr>
          <a:xfrm>
            <a:off x="838505" y="5548579"/>
            <a:ext cx="3162910"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로케이션 촬영 없이 시간대와 날씨 제약을 받지 않고 브랜드가 원하는 무드를 연출할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고급</a:t>
            </a:r>
            <a:r>
              <a:rPr lang="en-US" sz="1200" dirty="0">
                <a:solidFill>
                  <a:srgbClr val="333333"/>
                </a:solidFill>
                <a:latin typeface="Noto Sans KR" pitchFamily="34" charset="0"/>
                <a:ea typeface="Noto Sans KR" pitchFamily="34" charset="-122"/>
                <a:cs typeface="Noto Sans KR" pitchFamily="34" charset="-120"/>
              </a:rPr>
              <a:t> 패션 에디토리얼 스타일. 트렌치코트를 입은 모델이 도심 거리에서 포즈를 취하는 미디엄 롱 샷, 골든아워의 따뜻한 자연광, 세련된 스타일링과 자연스러운 움직임, 시네마틱하고 차분한 톤, 럭셔리 브랜드 캠페인 분위기.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82726"/>
            <a:ext cx="142646" cy="133502"/>
          </a:xfrm>
          <a:prstGeom prst="rect">
            <a:avLst/>
          </a:prstGeom>
        </p:spPr>
      </p:pic>
      <p:sp>
        <p:nvSpPr>
          <p:cNvPr id="6" name="Text 3"/>
          <p:cNvSpPr txBox="1"/>
          <p:nvPr/>
        </p:nvSpPr>
        <p:spPr>
          <a:xfrm>
            <a:off x="694944" y="749808"/>
            <a:ext cx="123444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02</a:t>
            </a:r>
            <a:endParaRPr lang="en-US" sz="1000" dirty="0"/>
          </a:p>
        </p:txBody>
      </p:sp>
      <p:sp>
        <p:nvSpPr>
          <p:cNvPr id="7" name="Text 4"/>
          <p:cNvSpPr txBox="1"/>
          <p:nvPr/>
        </p:nvSpPr>
        <p:spPr>
          <a:xfrm>
            <a:off x="476402" y="1025957"/>
            <a:ext cx="3924605" cy="457200"/>
          </a:xfrm>
          <a:prstGeom prst="rect">
            <a:avLst/>
          </a:prstGeom>
          <a:noFill/>
          <a:ln/>
        </p:spPr>
        <p:txBody>
          <a:bodyPr wrap="square" lIns="0" tIns="0" rIns="0" bIns="0" rtlCol="0" anchor="ctr"/>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명품 향수 광고</a:t>
            </a:r>
            <a:endParaRPr lang="en-US" sz="3000" dirty="0"/>
          </a:p>
        </p:txBody>
      </p:sp>
      <p:sp>
        <p:nvSpPr>
          <p:cNvPr id="8" name="Text 5"/>
          <p:cNvSpPr txBox="1"/>
          <p:nvPr/>
        </p:nvSpPr>
        <p:spPr>
          <a:xfrm>
            <a:off x="476402" y="1530706"/>
            <a:ext cx="159837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Luxury Perfume Ad</a:t>
            </a:r>
            <a:endParaRPr lang="en-US" sz="1200" dirty="0"/>
          </a:p>
        </p:txBody>
      </p:sp>
      <p:sp>
        <p:nvSpPr>
          <p:cNvPr id="9" name="Text 6"/>
          <p:cNvSpPr txBox="1"/>
          <p:nvPr/>
        </p:nvSpPr>
        <p:spPr>
          <a:xfrm>
            <a:off x="476402" y="194035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고급 제품 사진의 핵심인 반사와 투명도 제어, 그리고 완벽한 조명을 AI로 구현한 사례입니다. 스튜디오 촬영 없이도 프리미엄 브랜드 퀄리티를 달성했습니다.</a:t>
            </a:r>
            <a:endParaRPr lang="en-US" sz="1100" dirty="0"/>
          </a:p>
        </p:txBody>
      </p:sp>
      <p:sp>
        <p:nvSpPr>
          <p:cNvPr id="10" name="Shape 7"/>
          <p:cNvSpPr/>
          <p:nvPr/>
        </p:nvSpPr>
        <p:spPr>
          <a:xfrm>
            <a:off x="476402" y="281178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1178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12034"/>
            <a:ext cx="1191463"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OPTIMIZED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12034"/>
            <a:ext cx="114300" cy="171907"/>
          </a:xfrm>
          <a:prstGeom prst="rect">
            <a:avLst/>
          </a:prstGeom>
        </p:spPr>
      </p:pic>
      <p:sp>
        <p:nvSpPr>
          <p:cNvPr id="14" name="Text 10"/>
          <p:cNvSpPr txBox="1"/>
          <p:nvPr/>
        </p:nvSpPr>
        <p:spPr>
          <a:xfrm>
            <a:off x="705002" y="330738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7300" y="3288182"/>
            <a:ext cx="207111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유리 향수병 (크리스탈 텍스처)</a:t>
            </a:r>
            <a:endParaRPr lang="en-US" sz="1000" dirty="0"/>
          </a:p>
        </p:txBody>
      </p:sp>
      <p:sp>
        <p:nvSpPr>
          <p:cNvPr id="16" name="Text 12"/>
          <p:cNvSpPr txBox="1"/>
          <p:nvPr/>
        </p:nvSpPr>
        <p:spPr>
          <a:xfrm>
            <a:off x="705002" y="358902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569818"/>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프리미엄 제품 사진, 럭셔리</a:t>
            </a:r>
            <a:endParaRPr lang="en-US" sz="1000" dirty="0"/>
          </a:p>
        </p:txBody>
      </p:sp>
      <p:sp>
        <p:nvSpPr>
          <p:cNvPr id="18" name="Text 14"/>
          <p:cNvSpPr txBox="1"/>
          <p:nvPr/>
        </p:nvSpPr>
        <p:spPr>
          <a:xfrm>
            <a:off x="705002" y="387065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9" name="Text 15"/>
          <p:cNvSpPr txBox="1"/>
          <p:nvPr/>
        </p:nvSpPr>
        <p:spPr>
          <a:xfrm>
            <a:off x="1257300" y="3852367"/>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스튜디오 소프트 조명, 림 라이트</a:t>
            </a:r>
            <a:endParaRPr lang="en-US" sz="1000" dirty="0"/>
          </a:p>
        </p:txBody>
      </p:sp>
      <p:sp>
        <p:nvSpPr>
          <p:cNvPr id="20" name="Text 16"/>
          <p:cNvSpPr txBox="1"/>
          <p:nvPr/>
        </p:nvSpPr>
        <p:spPr>
          <a:xfrm>
            <a:off x="705002" y="415320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21" name="Text 17"/>
          <p:cNvSpPr txBox="1"/>
          <p:nvPr/>
        </p:nvSpPr>
        <p:spPr>
          <a:xfrm>
            <a:off x="1257300" y="4134002"/>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프론트 뷰, 미니멀한 중앙 배치</a:t>
            </a:r>
            <a:endParaRPr lang="en-US" sz="1000" dirty="0"/>
          </a:p>
        </p:txBody>
      </p:sp>
      <p:sp>
        <p:nvSpPr>
          <p:cNvPr id="22" name="Text 18"/>
          <p:cNvSpPr txBox="1"/>
          <p:nvPr/>
        </p:nvSpPr>
        <p:spPr>
          <a:xfrm>
            <a:off x="705002" y="443484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415638"/>
            <a:ext cx="20702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깨끗한 화이트 배경, 바닥 반사</a:t>
            </a:r>
            <a:endParaRPr lang="en-US" sz="1000" dirty="0"/>
          </a:p>
        </p:txBody>
      </p:sp>
      <p:sp>
        <p:nvSpPr>
          <p:cNvPr id="24" name="Text 20"/>
          <p:cNvSpPr txBox="1"/>
          <p:nvPr/>
        </p:nvSpPr>
        <p:spPr>
          <a:xfrm>
            <a:off x="705002" y="4716475"/>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5" name="Text 21"/>
          <p:cNvSpPr txBox="1"/>
          <p:nvPr/>
        </p:nvSpPr>
        <p:spPr>
          <a:xfrm>
            <a:off x="1257300" y="4697273"/>
            <a:ext cx="160843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8k 해상도, 골드 액센트</a:t>
            </a:r>
            <a:endParaRPr lang="en-US" sz="1000" dirty="0"/>
          </a:p>
        </p:txBody>
      </p:sp>
      <p:sp>
        <p:nvSpPr>
          <p:cNvPr id="26" name="Shape 22"/>
          <p:cNvSpPr/>
          <p:nvPr/>
        </p:nvSpPr>
        <p:spPr>
          <a:xfrm>
            <a:off x="476402" y="5284317"/>
            <a:ext cx="3619195" cy="1145843"/>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a:stretch/>
        </p:blipFill>
        <p:spPr>
          <a:xfrm>
            <a:off x="609905" y="5472684"/>
            <a:ext cx="133502" cy="133502"/>
          </a:xfrm>
          <a:prstGeom prst="rect">
            <a:avLst/>
          </a:prstGeom>
        </p:spPr>
      </p:pic>
      <p:sp>
        <p:nvSpPr>
          <p:cNvPr id="28" name="Text 23"/>
          <p:cNvSpPr txBox="1"/>
          <p:nvPr/>
        </p:nvSpPr>
        <p:spPr>
          <a:xfrm>
            <a:off x="838505" y="5417820"/>
            <a:ext cx="82021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성과 포인트:</a:t>
            </a:r>
            <a:endParaRPr lang="en-US" sz="900" dirty="0"/>
          </a:p>
        </p:txBody>
      </p:sp>
      <p:sp>
        <p:nvSpPr>
          <p:cNvPr id="29" name="Text 24"/>
          <p:cNvSpPr txBox="1"/>
          <p:nvPr/>
        </p:nvSpPr>
        <p:spPr>
          <a:xfrm>
            <a:off x="838505" y="5711343"/>
            <a:ext cx="30961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실제 촬영 시 가장 까다로운 '유리병의 반사'와 '액체의 투명감'을 프롬프트만으로 제어하여, 후보정 시간을 획기적으로 단축했습니다.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명품</a:t>
            </a:r>
            <a:r>
              <a:rPr lang="en-US" sz="1200" dirty="0">
                <a:solidFill>
                  <a:srgbClr val="333333"/>
                </a:solidFill>
                <a:latin typeface="Noto Sans KR" pitchFamily="34" charset="0"/>
                <a:ea typeface="Noto Sans KR" pitchFamily="34" charset="-122"/>
                <a:cs typeface="Noto Sans KR" pitchFamily="34" charset="-120"/>
              </a:rPr>
              <a:t> 향수 광고 케이스 스터디. 고급스러운 유리 향수병(크리스탈 텍스처) 제품 샷, 미니멀한 화이트 배경과 반사되는 바닥면, 부드러운 스튜디오 조명과 림 라이트, 우아한 그림자, 럭셔리 브랜드 감성, 깔끔하고 세련된 프론트 뷰 구성, 프리미엄 제품 사진 스타일, 8k 해상도. 이미지 내 모든 텍스트는 한국어로 표시되어야 합니다.</a:t>
            </a:r>
            <a:endParaRPr lang="en-US" sz="1200" dirty="0"/>
          </a:p>
        </p:txBody>
      </p:sp>
      <p:sp>
        <p:nvSpPr>
          <p:cNvPr id="35" name="Shape 27"/>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7" name="Text 28"/>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942746"/>
            <a:ext cx="114300" cy="133502"/>
          </a:xfrm>
          <a:prstGeom prst="rect">
            <a:avLst/>
          </a:prstGeom>
        </p:spPr>
      </p:pic>
      <p:sp>
        <p:nvSpPr>
          <p:cNvPr id="6" name="Text 3"/>
          <p:cNvSpPr txBox="1"/>
          <p:nvPr/>
        </p:nvSpPr>
        <p:spPr>
          <a:xfrm>
            <a:off x="666598" y="909828"/>
            <a:ext cx="123444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03</a:t>
            </a:r>
            <a:endParaRPr lang="en-US" sz="1000" dirty="0"/>
          </a:p>
        </p:txBody>
      </p:sp>
      <p:sp>
        <p:nvSpPr>
          <p:cNvPr id="7" name="Text 4"/>
          <p:cNvSpPr txBox="1"/>
          <p:nvPr/>
        </p:nvSpPr>
        <p:spPr>
          <a:xfrm>
            <a:off x="476402" y="1185977"/>
            <a:ext cx="4282135" cy="419710"/>
          </a:xfrm>
          <a:prstGeom prst="rect">
            <a:avLst/>
          </a:prstGeom>
          <a:noFill/>
          <a:ln/>
        </p:spPr>
        <p:txBody>
          <a:bodyPr wrap="square" lIns="0" tIns="0" rIns="0" bIns="0" rtlCol="0" anchor="ctr"/>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부동산 분양 마케팅</a:t>
            </a:r>
            <a:endParaRPr lang="en-US" sz="3000" dirty="0"/>
          </a:p>
        </p:txBody>
      </p:sp>
      <p:sp>
        <p:nvSpPr>
          <p:cNvPr id="8" name="Text 5"/>
          <p:cNvSpPr txBox="1"/>
          <p:nvPr/>
        </p:nvSpPr>
        <p:spPr>
          <a:xfrm>
            <a:off x="476402" y="1652321"/>
            <a:ext cx="1858975"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Real Estate Marketing</a:t>
            </a:r>
            <a:endParaRPr lang="en-US" sz="1200" dirty="0"/>
          </a:p>
        </p:txBody>
      </p:sp>
      <p:sp>
        <p:nvSpPr>
          <p:cNvPr id="9" name="Text 6"/>
          <p:cNvSpPr txBox="1"/>
          <p:nvPr/>
        </p:nvSpPr>
        <p:spPr>
          <a:xfrm>
            <a:off x="476402" y="2061972"/>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고급 아파트 분양을 위한 외관 시각화 사례입니다. 골든아워의 따뜻한 빛과 현대적인 건축미를 강조하여 프리미엄 라이프스타일을 제안합니다.</a:t>
            </a:r>
            <a:endParaRPr lang="en-US" sz="1100" dirty="0"/>
          </a:p>
        </p:txBody>
      </p:sp>
      <p:sp>
        <p:nvSpPr>
          <p:cNvPr id="10" name="Shape 7"/>
          <p:cNvSpPr/>
          <p:nvPr/>
        </p:nvSpPr>
        <p:spPr>
          <a:xfrm>
            <a:off x="476402" y="2933395"/>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33395"/>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33649"/>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133649"/>
            <a:ext cx="114300" cy="171907"/>
          </a:xfrm>
          <a:prstGeom prst="rect">
            <a:avLst/>
          </a:prstGeom>
        </p:spPr>
      </p:pic>
      <p:sp>
        <p:nvSpPr>
          <p:cNvPr id="14" name="Text 10"/>
          <p:cNvSpPr txBox="1"/>
          <p:nvPr/>
        </p:nvSpPr>
        <p:spPr>
          <a:xfrm>
            <a:off x="705002" y="342900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409798"/>
            <a:ext cx="22988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건축 비주얼라이제이션, 3D 렌더링</a:t>
            </a:r>
            <a:endParaRPr lang="en-US" sz="1000" dirty="0"/>
          </a:p>
        </p:txBody>
      </p:sp>
      <p:sp>
        <p:nvSpPr>
          <p:cNvPr id="16" name="Text 12"/>
          <p:cNvSpPr txBox="1"/>
          <p:nvPr/>
        </p:nvSpPr>
        <p:spPr>
          <a:xfrm>
            <a:off x="705002" y="371063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92347"/>
            <a:ext cx="143560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로우 앵글, 와이드 샷</a:t>
            </a:r>
            <a:endParaRPr lang="en-US" sz="1000" dirty="0"/>
          </a:p>
        </p:txBody>
      </p:sp>
      <p:sp>
        <p:nvSpPr>
          <p:cNvPr id="18" name="Text 14"/>
          <p:cNvSpPr txBox="1"/>
          <p:nvPr/>
        </p:nvSpPr>
        <p:spPr>
          <a:xfrm>
            <a:off x="705002" y="3993185"/>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973982"/>
            <a:ext cx="17657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현대적인 고층 고급 아파트</a:t>
            </a:r>
            <a:endParaRPr lang="en-US" sz="1000" dirty="0"/>
          </a:p>
        </p:txBody>
      </p:sp>
      <p:sp>
        <p:nvSpPr>
          <p:cNvPr id="20" name="Text 16"/>
          <p:cNvSpPr txBox="1"/>
          <p:nvPr/>
        </p:nvSpPr>
        <p:spPr>
          <a:xfrm>
            <a:off x="705002" y="427482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255618"/>
            <a:ext cx="21534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저녁 노을, 골든아워 조명, 조경</a:t>
            </a:r>
            <a:endParaRPr lang="en-US" sz="1000" dirty="0"/>
          </a:p>
        </p:txBody>
      </p:sp>
      <p:sp>
        <p:nvSpPr>
          <p:cNvPr id="22" name="Text 18"/>
          <p:cNvSpPr txBox="1"/>
          <p:nvPr/>
        </p:nvSpPr>
        <p:spPr>
          <a:xfrm>
            <a:off x="705002" y="4556455"/>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[분위기]</a:t>
            </a:r>
            <a:endParaRPr lang="en-US" sz="900" dirty="0"/>
          </a:p>
        </p:txBody>
      </p:sp>
      <p:sp>
        <p:nvSpPr>
          <p:cNvPr id="23" name="Text 19"/>
          <p:cNvSpPr txBox="1"/>
          <p:nvPr/>
        </p:nvSpPr>
        <p:spPr>
          <a:xfrm>
            <a:off x="1257300" y="4537253"/>
            <a:ext cx="184891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세련됨, 고급스러움, 따뜻함</a:t>
            </a:r>
            <a:endParaRPr lang="en-US" sz="1000" dirty="0"/>
          </a:p>
        </p:txBody>
      </p:sp>
      <p:sp>
        <p:nvSpPr>
          <p:cNvPr id="24" name="Shape 20"/>
          <p:cNvSpPr/>
          <p:nvPr/>
        </p:nvSpPr>
        <p:spPr>
          <a:xfrm>
            <a:off x="476402" y="5124297"/>
            <a:ext cx="3619195" cy="1112825"/>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312664"/>
            <a:ext cx="133502" cy="133502"/>
          </a:xfrm>
          <a:prstGeom prst="rect">
            <a:avLst/>
          </a:prstGeom>
        </p:spPr>
      </p:pic>
      <p:sp>
        <p:nvSpPr>
          <p:cNvPr id="26" name="Text 21"/>
          <p:cNvSpPr txBox="1"/>
          <p:nvPr/>
        </p:nvSpPr>
        <p:spPr>
          <a:xfrm>
            <a:off x="838505" y="5257800"/>
            <a:ext cx="352958"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성과:</a:t>
            </a:r>
            <a:endParaRPr lang="en-US" sz="900" dirty="0"/>
          </a:p>
        </p:txBody>
      </p:sp>
      <p:sp>
        <p:nvSpPr>
          <p:cNvPr id="27" name="Text 22"/>
          <p:cNvSpPr txBox="1"/>
          <p:nvPr/>
        </p:nvSpPr>
        <p:spPr>
          <a:xfrm>
            <a:off x="838505" y="5528806"/>
            <a:ext cx="3172054"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완공 전에도 3D 렌더링 수준의 이미지를 빠르게 만들어 마케팅 시안으로 미리 활용할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부동산 분양 마케팅 케이스 스터디. 고급 아파트 외관 3D 렌더링, 저녁 노을 배경, 현대적인 고층 건물, 조경이 아름다운 전면부, 골든아워 조명, 프리미엄 부동산 광고 스타일, 세련되고 고급스러운 분위기. 이미지 내 모든 텍스트는 한국어로 표시되어야 합니다.</a:t>
            </a:r>
            <a:endParaRPr lang="en-US" sz="1200" dirty="0"/>
          </a:p>
        </p:txBody>
      </p:sp>
      <p:sp>
        <p:nvSpPr>
          <p:cNvPr id="33" name="Shape 25"/>
          <p:cNvSpPr/>
          <p:nvPr/>
        </p:nvSpPr>
        <p:spPr>
          <a:xfrm>
            <a:off x="10085832" y="647395"/>
            <a:ext cx="144749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219334" y="733349"/>
            <a:ext cx="114300" cy="114300"/>
          </a:xfrm>
          <a:prstGeom prst="rect">
            <a:avLst/>
          </a:prstGeom>
        </p:spPr>
      </p:pic>
      <p:sp>
        <p:nvSpPr>
          <p:cNvPr id="35" name="Text 26"/>
          <p:cNvSpPr txBox="1"/>
          <p:nvPr/>
        </p:nvSpPr>
        <p:spPr>
          <a:xfrm>
            <a:off x="10391242" y="647395"/>
            <a:ext cx="1067105"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Case Study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91870"/>
            <a:ext cx="142646" cy="133502"/>
          </a:xfrm>
          <a:prstGeom prst="rect">
            <a:avLst/>
          </a:prstGeom>
        </p:spPr>
      </p:pic>
      <p:sp>
        <p:nvSpPr>
          <p:cNvPr id="6" name="Text 3"/>
          <p:cNvSpPr txBox="1"/>
          <p:nvPr/>
        </p:nvSpPr>
        <p:spPr>
          <a:xfrm>
            <a:off x="694944" y="758038"/>
            <a:ext cx="123444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02</a:t>
            </a:r>
            <a:endParaRPr lang="en-US" sz="1000" dirty="0"/>
          </a:p>
        </p:txBody>
      </p:sp>
      <p:sp>
        <p:nvSpPr>
          <p:cNvPr id="7" name="Text 4"/>
          <p:cNvSpPr txBox="1"/>
          <p:nvPr/>
        </p:nvSpPr>
        <p:spPr>
          <a:xfrm>
            <a:off x="476402" y="1034186"/>
            <a:ext cx="38103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SNS 마케팅</a:t>
            </a:r>
            <a:endParaRPr lang="en-US" sz="3100" dirty="0"/>
          </a:p>
        </p:txBody>
      </p:sp>
      <p:sp>
        <p:nvSpPr>
          <p:cNvPr id="8" name="Text 5"/>
          <p:cNvSpPr txBox="1"/>
          <p:nvPr/>
        </p:nvSpPr>
        <p:spPr>
          <a:xfrm>
            <a:off x="476402" y="1522476"/>
            <a:ext cx="2607869"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Cafe Brand Instagram Strategy</a:t>
            </a:r>
            <a:endParaRPr lang="en-US" sz="1200" dirty="0"/>
          </a:p>
        </p:txBody>
      </p:sp>
      <p:sp>
        <p:nvSpPr>
          <p:cNvPr id="9" name="Text 6"/>
          <p:cNvSpPr txBox="1"/>
          <p:nvPr/>
        </p:nvSpPr>
        <p:spPr>
          <a:xfrm>
            <a:off x="476402" y="1932127"/>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감성적인 카페 인테리어와 메뉴를 중심으로 한 인스타그램 마케팅 사례입니다. 따뜻한 조명과 파스텔 톤 소품을 활용하여 아늑하고 트렌디한 브랜드 이미지를 구축했습니다.</a:t>
            </a:r>
            <a:endParaRPr lang="en-US" sz="1100" dirty="0"/>
          </a:p>
        </p:txBody>
      </p:sp>
      <p:sp>
        <p:nvSpPr>
          <p:cNvPr id="10" name="Shape 7"/>
          <p:cNvSpPr/>
          <p:nvPr/>
        </p:nvSpPr>
        <p:spPr>
          <a:xfrm>
            <a:off x="476402" y="2803550"/>
            <a:ext cx="3619195" cy="2286000"/>
          </a:xfrm>
          <a:prstGeom prst="roundRect">
            <a:avLst>
              <a:gd name="adj" fmla="val 200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03550"/>
            <a:ext cx="38405" cy="2286000"/>
          </a:xfrm>
          <a:prstGeom prst="roundRect">
            <a:avLst>
              <a:gd name="adj" fmla="val 119047"/>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03804"/>
            <a:ext cx="1692554"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APPLIED PROMPT STRATEGY</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03804"/>
            <a:ext cx="114300" cy="171907"/>
          </a:xfrm>
          <a:prstGeom prst="rect">
            <a:avLst/>
          </a:prstGeom>
        </p:spPr>
      </p:pic>
      <p:sp>
        <p:nvSpPr>
          <p:cNvPr id="14" name="Text 10"/>
          <p:cNvSpPr txBox="1"/>
          <p:nvPr/>
        </p:nvSpPr>
        <p:spPr>
          <a:xfrm>
            <a:off x="705002" y="329824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7300" y="3279953"/>
            <a:ext cx="24286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테이블 위 라떼 아트, 카페 인테리어</a:t>
            </a:r>
            <a:endParaRPr lang="en-US" sz="1000" dirty="0"/>
          </a:p>
        </p:txBody>
      </p:sp>
      <p:sp>
        <p:nvSpPr>
          <p:cNvPr id="16" name="Text 12"/>
          <p:cNvSpPr txBox="1"/>
          <p:nvPr/>
        </p:nvSpPr>
        <p:spPr>
          <a:xfrm>
            <a:off x="705002" y="3580790"/>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7" name="Text 13"/>
          <p:cNvSpPr txBox="1"/>
          <p:nvPr/>
        </p:nvSpPr>
        <p:spPr>
          <a:xfrm>
            <a:off x="1257300" y="3561588"/>
            <a:ext cx="220827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인스타그램 감성, 트렌디, 아늑함</a:t>
            </a:r>
            <a:endParaRPr lang="en-US" sz="1000" dirty="0"/>
          </a:p>
        </p:txBody>
      </p:sp>
      <p:sp>
        <p:nvSpPr>
          <p:cNvPr id="18" name="Text 14"/>
          <p:cNvSpPr txBox="1"/>
          <p:nvPr/>
        </p:nvSpPr>
        <p:spPr>
          <a:xfrm>
            <a:off x="705002" y="38624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9" name="Text 15"/>
          <p:cNvSpPr txBox="1"/>
          <p:nvPr/>
        </p:nvSpPr>
        <p:spPr>
          <a:xfrm>
            <a:off x="1257300" y="3843223"/>
            <a:ext cx="177302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미디엄 샷 (Medium Shot)</a:t>
            </a:r>
            <a:endParaRPr lang="en-US" sz="1000" dirty="0"/>
          </a:p>
        </p:txBody>
      </p:sp>
      <p:sp>
        <p:nvSpPr>
          <p:cNvPr id="20" name="Text 16"/>
          <p:cNvSpPr txBox="1"/>
          <p:nvPr/>
        </p:nvSpPr>
        <p:spPr>
          <a:xfrm>
            <a:off x="705002" y="4144061"/>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21" name="Text 17"/>
          <p:cNvSpPr txBox="1"/>
          <p:nvPr/>
        </p:nvSpPr>
        <p:spPr>
          <a:xfrm>
            <a:off x="1257300" y="4124858"/>
            <a:ext cx="14904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따뜻한 조명, 골든아워</a:t>
            </a:r>
            <a:endParaRPr lang="en-US" sz="1000" dirty="0"/>
          </a:p>
        </p:txBody>
      </p:sp>
      <p:sp>
        <p:nvSpPr>
          <p:cNvPr id="22" name="Text 18"/>
          <p:cNvSpPr txBox="1"/>
          <p:nvPr/>
        </p:nvSpPr>
        <p:spPr>
          <a:xfrm>
            <a:off x="705002" y="442569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[색감]</a:t>
            </a:r>
            <a:endParaRPr lang="en-US" sz="900" dirty="0"/>
          </a:p>
        </p:txBody>
      </p:sp>
      <p:sp>
        <p:nvSpPr>
          <p:cNvPr id="23" name="Text 19"/>
          <p:cNvSpPr txBox="1"/>
          <p:nvPr/>
        </p:nvSpPr>
        <p:spPr>
          <a:xfrm>
            <a:off x="1257300" y="4407408"/>
            <a:ext cx="107716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파스텔 톤, 웜톤</a:t>
            </a:r>
            <a:endParaRPr lang="en-US" sz="1000" dirty="0"/>
          </a:p>
        </p:txBody>
      </p:sp>
      <p:sp>
        <p:nvSpPr>
          <p:cNvPr id="24" name="Text 20"/>
          <p:cNvSpPr txBox="1"/>
          <p:nvPr/>
        </p:nvSpPr>
        <p:spPr>
          <a:xfrm>
            <a:off x="705002" y="470824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[소품]</a:t>
            </a:r>
            <a:endParaRPr lang="en-US" sz="900" dirty="0"/>
          </a:p>
        </p:txBody>
      </p:sp>
      <p:sp>
        <p:nvSpPr>
          <p:cNvPr id="25" name="Text 21"/>
          <p:cNvSpPr txBox="1"/>
          <p:nvPr/>
        </p:nvSpPr>
        <p:spPr>
          <a:xfrm>
            <a:off x="1257300" y="4689043"/>
            <a:ext cx="151881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잡지, 꽃, 파스텔 소품</a:t>
            </a:r>
            <a:endParaRPr lang="en-US" sz="1000" dirty="0"/>
          </a:p>
        </p:txBody>
      </p:sp>
      <p:sp>
        <p:nvSpPr>
          <p:cNvPr id="26" name="Shape 22"/>
          <p:cNvSpPr/>
          <p:nvPr/>
        </p:nvSpPr>
        <p:spPr>
          <a:xfrm>
            <a:off x="476402" y="5276087"/>
            <a:ext cx="3619195" cy="1082768"/>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7" name="Image 2" descr="preencoded.png"/>
          <p:cNvPicPr>
            <a:picLocks noChangeAspect="1"/>
          </p:cNvPicPr>
          <p:nvPr/>
        </p:nvPicPr>
        <p:blipFill>
          <a:blip r:embed="rId5"/>
          <a:srcRect l="-2512" r="-2512"/>
          <a:stretch/>
        </p:blipFill>
        <p:spPr>
          <a:xfrm>
            <a:off x="609905" y="5463540"/>
            <a:ext cx="105156" cy="133502"/>
          </a:xfrm>
          <a:prstGeom prst="rect">
            <a:avLst/>
          </a:prstGeom>
        </p:spPr>
      </p:pic>
      <p:sp>
        <p:nvSpPr>
          <p:cNvPr id="28" name="Text 23"/>
          <p:cNvSpPr txBox="1"/>
          <p:nvPr/>
        </p:nvSpPr>
        <p:spPr>
          <a:xfrm>
            <a:off x="809244" y="5408676"/>
            <a:ext cx="82021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성과 포인트:</a:t>
            </a:r>
            <a:endParaRPr lang="en-US" sz="900" dirty="0"/>
          </a:p>
        </p:txBody>
      </p:sp>
      <p:sp>
        <p:nvSpPr>
          <p:cNvPr id="29" name="Text 24"/>
          <p:cNvSpPr txBox="1"/>
          <p:nvPr/>
        </p:nvSpPr>
        <p:spPr>
          <a:xfrm>
            <a:off x="809244" y="5683910"/>
            <a:ext cx="3210458"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AI 이미지로 매일 새로운 감성 샷을 업로드하여 촬영 비용을 절감하고, 일관된 피드 톤앤매너로 팔로워 참여율을 높였습니다.</a:t>
            </a:r>
            <a:endParaRPr lang="en-US" sz="1100" dirty="0"/>
          </a:p>
        </p:txBody>
      </p:sp>
      <p:pic>
        <p:nvPicPr>
          <p:cNvPr id="30"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31"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2"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3" name="Text 25"/>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4" name="Text 26"/>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카페</a:t>
            </a:r>
            <a:r>
              <a:rPr lang="en-US" sz="1200" dirty="0">
                <a:solidFill>
                  <a:srgbClr val="333333"/>
                </a:solidFill>
                <a:latin typeface="Noto Sans KR" pitchFamily="34" charset="0"/>
                <a:ea typeface="Noto Sans KR" pitchFamily="34" charset="-122"/>
                <a:cs typeface="Noto Sans KR" pitchFamily="34" charset="-120"/>
              </a:rPr>
              <a:t> 브랜드 인스타그램 마케팅 케이스 스터디. 감성적인 카페 인테리어, 따뜻한 조명, 테이블 위의 라떼 아트, 파스텔 톤 소품, 미디엄 샷, 골든아워 조명, 인스타그램 감성, 아늑하고 트렌디한 분위기. 이미지 내 모든 텍스트는 한국어로 표시되어야 합니다.</a:t>
            </a:r>
            <a:endParaRPr lang="en-US" sz="1200" dirty="0"/>
          </a:p>
        </p:txBody>
      </p:sp>
      <p:sp>
        <p:nvSpPr>
          <p:cNvPr id="35" name="Shape 27"/>
          <p:cNvSpPr/>
          <p:nvPr/>
        </p:nvSpPr>
        <p:spPr>
          <a:xfrm>
            <a:off x="9750247" y="647395"/>
            <a:ext cx="1781251"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6" name="Image 6" descr="preencoded.png"/>
          <p:cNvPicPr>
            <a:picLocks noChangeAspect="1"/>
          </p:cNvPicPr>
          <p:nvPr/>
        </p:nvPicPr>
        <p:blipFill>
          <a:blip r:embed="rId9"/>
          <a:srcRect/>
          <a:stretch/>
        </p:blipFill>
        <p:spPr>
          <a:xfrm>
            <a:off x="9883750" y="733349"/>
            <a:ext cx="114300" cy="114300"/>
          </a:xfrm>
          <a:prstGeom prst="rect">
            <a:avLst/>
          </a:prstGeom>
        </p:spPr>
      </p:pic>
      <p:sp>
        <p:nvSpPr>
          <p:cNvPr id="37" name="Text 28"/>
          <p:cNvSpPr txBox="1"/>
          <p:nvPr/>
        </p:nvSpPr>
        <p:spPr>
          <a:xfrm>
            <a:off x="10055657" y="647395"/>
            <a:ext cx="1400861"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Marketing Success Case</a:t>
            </a:r>
            <a:endParaRPr lang="en-US" sz="900" dirty="0"/>
          </a:p>
        </p:txBody>
      </p:sp>
      <p:sp>
        <p:nvSpPr>
          <p:cNvPr id="38"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718718"/>
            <a:ext cx="142646" cy="133502"/>
          </a:xfrm>
          <a:prstGeom prst="rect">
            <a:avLst/>
          </a:prstGeom>
        </p:spPr>
      </p:pic>
      <p:sp>
        <p:nvSpPr>
          <p:cNvPr id="6" name="Text 3"/>
          <p:cNvSpPr txBox="1"/>
          <p:nvPr/>
        </p:nvSpPr>
        <p:spPr>
          <a:xfrm>
            <a:off x="694944" y="684886"/>
            <a:ext cx="123444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03</a:t>
            </a:r>
            <a:endParaRPr lang="en-US" sz="1000" dirty="0"/>
          </a:p>
        </p:txBody>
      </p:sp>
      <p:sp>
        <p:nvSpPr>
          <p:cNvPr id="7" name="Text 4"/>
          <p:cNvSpPr txBox="1"/>
          <p:nvPr/>
        </p:nvSpPr>
        <p:spPr>
          <a:xfrm>
            <a:off x="476402" y="961034"/>
            <a:ext cx="3755441" cy="876910"/>
          </a:xfrm>
          <a:prstGeom prst="rect">
            <a:avLst/>
          </a:prstGeom>
          <a:noFill/>
          <a:ln/>
        </p:spPr>
        <p:txBody>
          <a:bodyPr wrap="square" lIns="0" tIns="0" rIns="0" bIns="0" rtlCol="0" anchor="t"/>
          <a:lstStyle/>
          <a:p>
            <a:pPr marL="0" indent="0" algn="l">
              <a:buNone/>
            </a:pPr>
            <a:r>
              <a:rPr lang="en-US" sz="2800" b="1" kern="0" spc="-75" dirty="0">
                <a:solidFill>
                  <a:srgbClr val="111111"/>
                </a:solidFill>
                <a:latin typeface="Noto Sans KR" pitchFamily="34" charset="0"/>
                <a:ea typeface="Noto Sans KR" pitchFamily="34" charset="-122"/>
                <a:cs typeface="Noto Sans KR" pitchFamily="34" charset="-120"/>
              </a:rPr>
              <a:t>스마트워치</a:t>
            </a:r>
            <a:endParaRPr lang="en-US" sz="2800" dirty="0"/>
          </a:p>
          <a:p>
            <a:pPr marL="0" indent="0" algn="l">
              <a:buNone/>
            </a:pPr>
            <a:r>
              <a:rPr lang="en-US" sz="2800" b="1" kern="0" spc="-75" dirty="0">
                <a:solidFill>
                  <a:srgbClr val="111111"/>
                </a:solidFill>
                <a:latin typeface="Noto Sans KR" pitchFamily="34" charset="0"/>
                <a:ea typeface="Noto Sans KR" pitchFamily="34" charset="-122"/>
                <a:cs typeface="Noto Sans KR" pitchFamily="34" charset="-120"/>
              </a:rPr>
              <a:t>제품 광고</a:t>
            </a:r>
            <a:endParaRPr lang="en-US" sz="2800" dirty="0"/>
          </a:p>
        </p:txBody>
      </p:sp>
      <p:sp>
        <p:nvSpPr>
          <p:cNvPr id="8" name="Text 5"/>
          <p:cNvSpPr txBox="1"/>
          <p:nvPr/>
        </p:nvSpPr>
        <p:spPr>
          <a:xfrm>
            <a:off x="476402" y="1877263"/>
            <a:ext cx="198882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Smartwatch Product Ad</a:t>
            </a:r>
            <a:endParaRPr lang="en-US" sz="1200" dirty="0"/>
          </a:p>
        </p:txBody>
      </p:sp>
      <p:sp>
        <p:nvSpPr>
          <p:cNvPr id="9" name="Text 6"/>
          <p:cNvSpPr txBox="1"/>
          <p:nvPr/>
        </p:nvSpPr>
        <p:spPr>
          <a:xfrm>
            <a:off x="476402" y="2286914"/>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프리미엄 테크 제품의 세련된 이미지를 강조하기 위해 어두운 배경과 드라마틱한 조명을 활용했습니다. 제품의 디테일과 기능성을 동시에 부각시키는 전략입니다.</a:t>
            </a:r>
            <a:endParaRPr lang="en-US" sz="1100" dirty="0"/>
          </a:p>
        </p:txBody>
      </p:sp>
      <p:sp>
        <p:nvSpPr>
          <p:cNvPr id="10" name="Shape 7"/>
          <p:cNvSpPr/>
          <p:nvPr/>
        </p:nvSpPr>
        <p:spPr>
          <a:xfrm>
            <a:off x="476402" y="315833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15833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358591"/>
            <a:ext cx="1038758"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APPLIED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358591"/>
            <a:ext cx="114300" cy="171907"/>
          </a:xfrm>
          <a:prstGeom prst="rect">
            <a:avLst/>
          </a:prstGeom>
        </p:spPr>
      </p:pic>
      <p:sp>
        <p:nvSpPr>
          <p:cNvPr id="14" name="Text 10"/>
          <p:cNvSpPr txBox="1"/>
          <p:nvPr/>
        </p:nvSpPr>
        <p:spPr>
          <a:xfrm>
            <a:off x="705002" y="365394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5" name="Text 11"/>
          <p:cNvSpPr txBox="1"/>
          <p:nvPr/>
        </p:nvSpPr>
        <p:spPr>
          <a:xfrm>
            <a:off x="1257300" y="3634740"/>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프리미엄 스마트워치 제품 샷</a:t>
            </a:r>
            <a:endParaRPr lang="en-US" sz="1000" dirty="0"/>
          </a:p>
        </p:txBody>
      </p:sp>
      <p:sp>
        <p:nvSpPr>
          <p:cNvPr id="16" name="Text 12"/>
          <p:cNvSpPr txBox="1"/>
          <p:nvPr/>
        </p:nvSpPr>
        <p:spPr>
          <a:xfrm>
            <a:off x="705002" y="393557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17" name="Text 13"/>
          <p:cNvSpPr txBox="1"/>
          <p:nvPr/>
        </p:nvSpPr>
        <p:spPr>
          <a:xfrm>
            <a:off x="1257300" y="3916375"/>
            <a:ext cx="179405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검은 배경, 미러 반사 바닥</a:t>
            </a:r>
            <a:endParaRPr lang="en-US" sz="1000" dirty="0"/>
          </a:p>
        </p:txBody>
      </p:sp>
      <p:sp>
        <p:nvSpPr>
          <p:cNvPr id="18" name="Text 14"/>
          <p:cNvSpPr txBox="1"/>
          <p:nvPr/>
        </p:nvSpPr>
        <p:spPr>
          <a:xfrm>
            <a:off x="705002" y="421721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[조명]</a:t>
            </a:r>
            <a:endParaRPr lang="en-US" sz="900" dirty="0"/>
          </a:p>
        </p:txBody>
      </p:sp>
      <p:sp>
        <p:nvSpPr>
          <p:cNvPr id="19" name="Text 15"/>
          <p:cNvSpPr txBox="1"/>
          <p:nvPr/>
        </p:nvSpPr>
        <p:spPr>
          <a:xfrm>
            <a:off x="1257300" y="4198925"/>
            <a:ext cx="168249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드라마틱한 사이드 라이팅</a:t>
            </a:r>
            <a:endParaRPr lang="en-US" sz="1000" dirty="0"/>
          </a:p>
        </p:txBody>
      </p:sp>
      <p:sp>
        <p:nvSpPr>
          <p:cNvPr id="20" name="Text 16"/>
          <p:cNvSpPr txBox="1"/>
          <p:nvPr/>
        </p:nvSpPr>
        <p:spPr>
          <a:xfrm>
            <a:off x="705002" y="4499762"/>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21" name="Text 17"/>
          <p:cNvSpPr txBox="1"/>
          <p:nvPr/>
        </p:nvSpPr>
        <p:spPr>
          <a:xfrm>
            <a:off x="1257300" y="4480560"/>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테크 감성, 현대적 제품 사진</a:t>
            </a:r>
            <a:endParaRPr lang="en-US" sz="1000" dirty="0"/>
          </a:p>
        </p:txBody>
      </p:sp>
      <p:sp>
        <p:nvSpPr>
          <p:cNvPr id="22" name="Text 18"/>
          <p:cNvSpPr txBox="1"/>
          <p:nvPr/>
        </p:nvSpPr>
        <p:spPr>
          <a:xfrm>
            <a:off x="705002" y="478139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[디테일]</a:t>
            </a:r>
            <a:endParaRPr lang="en-US" sz="900" dirty="0"/>
          </a:p>
        </p:txBody>
      </p:sp>
      <p:sp>
        <p:nvSpPr>
          <p:cNvPr id="23" name="Text 19"/>
          <p:cNvSpPr txBox="1"/>
          <p:nvPr/>
        </p:nvSpPr>
        <p:spPr>
          <a:xfrm>
            <a:off x="1257300" y="4762195"/>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화면 데이터 표시, 금속 질감</a:t>
            </a:r>
            <a:endParaRPr lang="en-US" sz="1000" dirty="0"/>
          </a:p>
        </p:txBody>
      </p:sp>
      <p:sp>
        <p:nvSpPr>
          <p:cNvPr id="24" name="Shape 20"/>
          <p:cNvSpPr/>
          <p:nvPr/>
        </p:nvSpPr>
        <p:spPr>
          <a:xfrm>
            <a:off x="476402" y="5349240"/>
            <a:ext cx="3619195" cy="1051560"/>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537606"/>
            <a:ext cx="133502" cy="133502"/>
          </a:xfrm>
          <a:prstGeom prst="rect">
            <a:avLst/>
          </a:prstGeom>
        </p:spPr>
      </p:pic>
      <p:sp>
        <p:nvSpPr>
          <p:cNvPr id="26" name="Text 21"/>
          <p:cNvSpPr txBox="1"/>
          <p:nvPr/>
        </p:nvSpPr>
        <p:spPr>
          <a:xfrm>
            <a:off x="838505" y="5482742"/>
            <a:ext cx="687629"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성과 분석:</a:t>
            </a:r>
            <a:endParaRPr lang="en-US" sz="900" dirty="0"/>
          </a:p>
        </p:txBody>
      </p:sp>
      <p:sp>
        <p:nvSpPr>
          <p:cNvPr id="27" name="Text 22"/>
          <p:cNvSpPr txBox="1"/>
          <p:nvPr/>
        </p:nvSpPr>
        <p:spPr>
          <a:xfrm>
            <a:off x="758493" y="5789304"/>
            <a:ext cx="3247249"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촬영 없이 다양한 화면 UI를 합성하기 쉽습니다. 반사광과 금속 질감의 리얼리티가 핵심입니다.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스마트워치</a:t>
            </a:r>
            <a:r>
              <a:rPr lang="en-US" sz="1200" dirty="0">
                <a:solidFill>
                  <a:srgbClr val="333333"/>
                </a:solidFill>
                <a:latin typeface="Noto Sans KR" pitchFamily="34" charset="0"/>
                <a:ea typeface="Noto Sans KR" pitchFamily="34" charset="-122"/>
                <a:cs typeface="Noto Sans KR" pitchFamily="34" charset="-120"/>
              </a:rPr>
              <a:t> 제품 광고 케이스 스터디. 프리미엄 스마트워치 제품 샷, 검은 배경, 드라마틱한 조명, 화면에 시간과 데이터 표시, 미러 반사, 테크 감성, 고급스럽고 현대적인 제품 사진 스타일. 이미지 내 모든 텍스트는 한국어로 표시되어야 합니다.</a:t>
            </a:r>
            <a:endParaRPr lang="en-US" sz="1200" dirty="0"/>
          </a:p>
        </p:txBody>
      </p:sp>
      <p:sp>
        <p:nvSpPr>
          <p:cNvPr id="33" name="Shape 25"/>
          <p:cNvSpPr/>
          <p:nvPr/>
        </p:nvSpPr>
        <p:spPr>
          <a:xfrm>
            <a:off x="10213848" y="647395"/>
            <a:ext cx="1314907"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346436" y="733349"/>
            <a:ext cx="114300" cy="114300"/>
          </a:xfrm>
          <a:prstGeom prst="rect">
            <a:avLst/>
          </a:prstGeom>
        </p:spPr>
      </p:pic>
      <p:sp>
        <p:nvSpPr>
          <p:cNvPr id="35" name="Text 26"/>
          <p:cNvSpPr txBox="1"/>
          <p:nvPr/>
        </p:nvSpPr>
        <p:spPr>
          <a:xfrm>
            <a:off x="10518343" y="647395"/>
            <a:ext cx="933602"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Ad</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839419"/>
            <a:ext cx="142646" cy="133502"/>
          </a:xfrm>
          <a:prstGeom prst="rect">
            <a:avLst/>
          </a:prstGeom>
        </p:spPr>
      </p:pic>
      <p:sp>
        <p:nvSpPr>
          <p:cNvPr id="6" name="Text 3"/>
          <p:cNvSpPr txBox="1"/>
          <p:nvPr/>
        </p:nvSpPr>
        <p:spPr>
          <a:xfrm>
            <a:off x="694944" y="806501"/>
            <a:ext cx="123444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03</a:t>
            </a:r>
            <a:endParaRPr lang="en-US" sz="1000" dirty="0"/>
          </a:p>
        </p:txBody>
      </p:sp>
      <p:sp>
        <p:nvSpPr>
          <p:cNvPr id="7" name="Text 4"/>
          <p:cNvSpPr txBox="1"/>
          <p:nvPr/>
        </p:nvSpPr>
        <p:spPr>
          <a:xfrm>
            <a:off x="476402" y="1082650"/>
            <a:ext cx="4486046"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뷰티 브랜드 캠페인</a:t>
            </a:r>
            <a:endParaRPr lang="en-US" sz="3100" dirty="0"/>
          </a:p>
        </p:txBody>
      </p:sp>
      <p:sp>
        <p:nvSpPr>
          <p:cNvPr id="8" name="Text 5"/>
          <p:cNvSpPr txBox="1"/>
          <p:nvPr/>
        </p:nvSpPr>
        <p:spPr>
          <a:xfrm>
            <a:off x="476402" y="1570025"/>
            <a:ext cx="198882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Beauty Brand Campaign</a:t>
            </a:r>
            <a:endParaRPr lang="en-US" sz="1200" dirty="0"/>
          </a:p>
        </p:txBody>
      </p:sp>
      <p:sp>
        <p:nvSpPr>
          <p:cNvPr id="9" name="Text 6"/>
          <p:cNvSpPr txBox="1"/>
          <p:nvPr/>
        </p:nvSpPr>
        <p:spPr>
          <a:xfrm>
            <a:off x="476402" y="1979676"/>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모델의 피부 표현과 조명에 집중한 뷰티 광고 사례입니다. 미니멀한 메이크업과 완벽한 스튜디오 조명으로 프리미엄 브랜드 이미지를 구축합니다.</a:t>
            </a:r>
            <a:endParaRPr lang="en-US" sz="1100" dirty="0"/>
          </a:p>
        </p:txBody>
      </p:sp>
      <p:sp>
        <p:nvSpPr>
          <p:cNvPr id="10" name="Shape 7"/>
          <p:cNvSpPr/>
          <p:nvPr/>
        </p:nvSpPr>
        <p:spPr>
          <a:xfrm>
            <a:off x="476402" y="2851099"/>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851099"/>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051353"/>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051353"/>
            <a:ext cx="114300" cy="171907"/>
          </a:xfrm>
          <a:prstGeom prst="rect">
            <a:avLst/>
          </a:prstGeom>
        </p:spPr>
      </p:pic>
      <p:sp>
        <p:nvSpPr>
          <p:cNvPr id="14" name="Text 10"/>
          <p:cNvSpPr txBox="1"/>
          <p:nvPr/>
        </p:nvSpPr>
        <p:spPr>
          <a:xfrm>
            <a:off x="705002" y="3346704"/>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327502"/>
            <a:ext cx="193212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뷰티 광고, 프리미엄, 럭셔리</a:t>
            </a:r>
            <a:endParaRPr lang="en-US" sz="1000" dirty="0"/>
          </a:p>
        </p:txBody>
      </p:sp>
      <p:sp>
        <p:nvSpPr>
          <p:cNvPr id="16" name="Text 12"/>
          <p:cNvSpPr txBox="1"/>
          <p:nvPr/>
        </p:nvSpPr>
        <p:spPr>
          <a:xfrm>
            <a:off x="705002" y="362833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609137"/>
            <a:ext cx="181417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클로즈업 (Close-up Shot)</a:t>
            </a:r>
            <a:endParaRPr lang="en-US" sz="1000" dirty="0"/>
          </a:p>
        </p:txBody>
      </p:sp>
      <p:sp>
        <p:nvSpPr>
          <p:cNvPr id="18" name="Text 14"/>
          <p:cNvSpPr txBox="1"/>
          <p:nvPr/>
        </p:nvSpPr>
        <p:spPr>
          <a:xfrm>
            <a:off x="705002" y="391088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19" name="Text 15"/>
          <p:cNvSpPr txBox="1"/>
          <p:nvPr/>
        </p:nvSpPr>
        <p:spPr>
          <a:xfrm>
            <a:off x="1257300" y="3891686"/>
            <a:ext cx="242864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모델, 완벽한 피부, 미니멀 메이크업</a:t>
            </a:r>
            <a:endParaRPr lang="en-US" sz="1000" dirty="0"/>
          </a:p>
        </p:txBody>
      </p:sp>
      <p:sp>
        <p:nvSpPr>
          <p:cNvPr id="20" name="Text 16"/>
          <p:cNvSpPr txBox="1"/>
          <p:nvPr/>
        </p:nvSpPr>
        <p:spPr>
          <a:xfrm>
            <a:off x="705002" y="419252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1" name="Text 17"/>
          <p:cNvSpPr txBox="1"/>
          <p:nvPr/>
        </p:nvSpPr>
        <p:spPr>
          <a:xfrm>
            <a:off x="1257300" y="4173322"/>
            <a:ext cx="270479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스튜디오 조명, 소프트박스, 깨끗한 배경</a:t>
            </a:r>
            <a:endParaRPr lang="en-US" sz="1000" dirty="0"/>
          </a:p>
        </p:txBody>
      </p:sp>
      <p:sp>
        <p:nvSpPr>
          <p:cNvPr id="22" name="Text 18"/>
          <p:cNvSpPr txBox="1"/>
          <p:nvPr/>
        </p:nvSpPr>
        <p:spPr>
          <a:xfrm>
            <a:off x="705002" y="4474159"/>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[카메라]</a:t>
            </a:r>
            <a:endParaRPr lang="en-US" sz="900" dirty="0"/>
          </a:p>
        </p:txBody>
      </p:sp>
      <p:sp>
        <p:nvSpPr>
          <p:cNvPr id="23" name="Text 19"/>
          <p:cNvSpPr txBox="1"/>
          <p:nvPr/>
        </p:nvSpPr>
        <p:spPr>
          <a:xfrm>
            <a:off x="1257300" y="4454957"/>
            <a:ext cx="222747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85mm/100mm 매크로, 선명한 초점</a:t>
            </a:r>
            <a:endParaRPr lang="en-US" sz="1000" dirty="0"/>
          </a:p>
        </p:txBody>
      </p:sp>
      <p:sp>
        <p:nvSpPr>
          <p:cNvPr id="24" name="Shape 20"/>
          <p:cNvSpPr/>
          <p:nvPr/>
        </p:nvSpPr>
        <p:spPr>
          <a:xfrm>
            <a:off x="476402" y="5042001"/>
            <a:ext cx="3619195" cy="1249741"/>
          </a:xfrm>
          <a:prstGeom prst="roundRect">
            <a:avLst>
              <a:gd name="adj" fmla="val 683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230368"/>
            <a:ext cx="105156" cy="133502"/>
          </a:xfrm>
          <a:prstGeom prst="rect">
            <a:avLst/>
          </a:prstGeom>
        </p:spPr>
      </p:pic>
      <p:sp>
        <p:nvSpPr>
          <p:cNvPr id="26" name="Text 21"/>
          <p:cNvSpPr txBox="1"/>
          <p:nvPr/>
        </p:nvSpPr>
        <p:spPr>
          <a:xfrm>
            <a:off x="809244" y="5175504"/>
            <a:ext cx="55595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프로 팁:</a:t>
            </a:r>
            <a:endParaRPr lang="en-US" sz="900" dirty="0"/>
          </a:p>
        </p:txBody>
      </p:sp>
      <p:sp>
        <p:nvSpPr>
          <p:cNvPr id="27" name="Text 22"/>
          <p:cNvSpPr txBox="1"/>
          <p:nvPr/>
        </p:nvSpPr>
        <p:spPr>
          <a:xfrm>
            <a:off x="818388" y="5452072"/>
            <a:ext cx="3143707" cy="743407"/>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피부 텍스처를 살리기 위해 'High resolution', 'Skin texture' 키워드를 강조하고, 과도한 보정 느낌을 피하기 위해 'Natural skin'을 추가하면 더욱 사실적인 결과를 얻을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뷰티 브랜드 캠페인 케이스 스터디. 모델의 클로즈업 뷰티 샷, 완벽한 피부 표현, 부드러운 스튜디오 조명, 미니멀한 메이크업, 깨끗한 배경, 고급스럽고 세련된 뷰티 광고 스타일, 프리미엄 브랜드 감성.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12571"/>
            <a:ext cx="142646" cy="133502"/>
          </a:xfrm>
          <a:prstGeom prst="rect">
            <a:avLst/>
          </a:prstGeom>
        </p:spPr>
      </p:pic>
      <p:sp>
        <p:nvSpPr>
          <p:cNvPr id="6" name="Text 3"/>
          <p:cNvSpPr txBox="1"/>
          <p:nvPr/>
        </p:nvSpPr>
        <p:spPr>
          <a:xfrm>
            <a:off x="694944" y="879653"/>
            <a:ext cx="180868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ANALYSIS</a:t>
            </a:r>
            <a:endParaRPr lang="en-US" sz="1000" dirty="0"/>
          </a:p>
        </p:txBody>
      </p:sp>
      <p:sp>
        <p:nvSpPr>
          <p:cNvPr id="7" name="Text 4"/>
          <p:cNvSpPr txBox="1"/>
          <p:nvPr/>
        </p:nvSpPr>
        <p:spPr>
          <a:xfrm>
            <a:off x="476402" y="1155802"/>
            <a:ext cx="3764585" cy="886054"/>
          </a:xfrm>
          <a:prstGeom prst="rect">
            <a:avLst/>
          </a:prstGeom>
          <a:noFill/>
          <a:ln/>
        </p:spPr>
        <p:txBody>
          <a:bodyPr wrap="square" lIns="0" tIns="0" rIns="0" bIns="0" rtlCol="0" anchor="t"/>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AI 도입 </a:t>
            </a:r>
            <a:r>
              <a:rPr lang="en-US" sz="3100" b="1" kern="0" spc="-75" dirty="0" err="1">
                <a:solidFill>
                  <a:srgbClr val="111111"/>
                </a:solidFill>
                <a:latin typeface="Noto Sans KR" pitchFamily="34" charset="0"/>
                <a:ea typeface="Noto Sans KR" pitchFamily="34" charset="-122"/>
                <a:cs typeface="Noto Sans KR" pitchFamily="34" charset="-120"/>
              </a:rPr>
              <a:t>성과</a:t>
            </a:r>
            <a:r>
              <a:rPr lang="en-US" sz="3100" b="1" kern="0" spc="-75" dirty="0">
                <a:solidFill>
                  <a:srgbClr val="111111"/>
                </a:solidFill>
                <a:latin typeface="Noto Sans KR" pitchFamily="34" charset="0"/>
                <a:ea typeface="Noto Sans KR" pitchFamily="34" charset="-122"/>
                <a:cs typeface="Noto Sans KR" pitchFamily="34" charset="-120"/>
              </a:rPr>
              <a:t> </a:t>
            </a:r>
          </a:p>
          <a:p>
            <a:pPr marL="0" indent="0" algn="l">
              <a:buNone/>
            </a:pPr>
            <a:r>
              <a:rPr lang="en-US" sz="3100" b="1" kern="0" spc="-75" dirty="0" err="1">
                <a:solidFill>
                  <a:srgbClr val="111111"/>
                </a:solidFill>
                <a:latin typeface="Noto Sans KR" pitchFamily="34" charset="0"/>
                <a:ea typeface="Noto Sans KR" pitchFamily="34" charset="-122"/>
                <a:cs typeface="Noto Sans KR" pitchFamily="34" charset="-120"/>
              </a:rPr>
              <a:t>분석</a:t>
            </a:r>
            <a:r>
              <a:rPr lang="en-US" sz="3100" b="1" kern="0" spc="-75" dirty="0">
                <a:solidFill>
                  <a:srgbClr val="111111"/>
                </a:solidFill>
                <a:latin typeface="Noto Sans KR" pitchFamily="34" charset="0"/>
                <a:ea typeface="Noto Sans KR" pitchFamily="34" charset="-122"/>
                <a:cs typeface="Noto Sans KR" pitchFamily="34" charset="-120"/>
              </a:rPr>
              <a:t> 리포트</a:t>
            </a:r>
            <a:endParaRPr lang="en-US" sz="3100" dirty="0"/>
          </a:p>
        </p:txBody>
      </p:sp>
      <p:sp>
        <p:nvSpPr>
          <p:cNvPr id="8" name="Text 5"/>
          <p:cNvSpPr txBox="1"/>
          <p:nvPr/>
        </p:nvSpPr>
        <p:spPr>
          <a:xfrm>
            <a:off x="476402" y="2083003"/>
            <a:ext cx="294711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Performance Analysis &amp; ROI Report</a:t>
            </a:r>
            <a:endParaRPr lang="en-US" sz="1200" dirty="0"/>
          </a:p>
        </p:txBody>
      </p:sp>
      <p:sp>
        <p:nvSpPr>
          <p:cNvPr id="9" name="Text 6"/>
          <p:cNvSpPr txBox="1"/>
          <p:nvPr/>
        </p:nvSpPr>
        <p:spPr>
          <a:xfrm>
            <a:off x="476402" y="2492654"/>
            <a:ext cx="3696005" cy="428854"/>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AI 도입 전후의 성과를 시각적으로 비교하고, 비용 절감 및 효율성 증대 효과를 분석한 비즈니스 리포트 예시입니다.</a:t>
            </a:r>
            <a:endParaRPr lang="en-US" sz="1100" dirty="0"/>
          </a:p>
        </p:txBody>
      </p:sp>
      <p:sp>
        <p:nvSpPr>
          <p:cNvPr id="10" name="Shape 7"/>
          <p:cNvSpPr/>
          <p:nvPr/>
        </p:nvSpPr>
        <p:spPr>
          <a:xfrm>
            <a:off x="476402" y="315010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15010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350362"/>
            <a:ext cx="154716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REPRESENTATIVE PROMPT</a:t>
            </a:r>
            <a:endParaRPr lang="en-US" sz="900" dirty="0"/>
          </a:p>
        </p:txBody>
      </p:sp>
      <p:pic>
        <p:nvPicPr>
          <p:cNvPr id="13" name="Image 1" descr="preencoded.png"/>
          <p:cNvPicPr>
            <a:picLocks noChangeAspect="1"/>
          </p:cNvPicPr>
          <p:nvPr/>
        </p:nvPicPr>
        <p:blipFill>
          <a:blip r:embed="rId4">
            <a:alphaModFix amt="50000"/>
          </a:blip>
          <a:srcRect t="-15800" b="-15800"/>
          <a:stretch/>
        </p:blipFill>
        <p:spPr>
          <a:xfrm>
            <a:off x="3781044" y="3350362"/>
            <a:ext cx="114300" cy="171907"/>
          </a:xfrm>
          <a:prstGeom prst="rect">
            <a:avLst/>
          </a:prstGeom>
        </p:spPr>
      </p:pic>
      <p:sp>
        <p:nvSpPr>
          <p:cNvPr id="14" name="Text 10"/>
          <p:cNvSpPr txBox="1"/>
          <p:nvPr/>
        </p:nvSpPr>
        <p:spPr>
          <a:xfrm>
            <a:off x="705002" y="364571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5" name="Text 11"/>
          <p:cNvSpPr txBox="1"/>
          <p:nvPr/>
        </p:nvSpPr>
        <p:spPr>
          <a:xfrm>
            <a:off x="1257300" y="3626510"/>
            <a:ext cx="21250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비즈니스 리포트, 데이터 시각화</a:t>
            </a:r>
            <a:endParaRPr lang="en-US" sz="1000" dirty="0"/>
          </a:p>
        </p:txBody>
      </p:sp>
      <p:sp>
        <p:nvSpPr>
          <p:cNvPr id="16" name="Text 12"/>
          <p:cNvSpPr txBox="1"/>
          <p:nvPr/>
        </p:nvSpPr>
        <p:spPr>
          <a:xfrm>
            <a:off x="705002" y="392734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[구도]</a:t>
            </a:r>
            <a:endParaRPr lang="en-US" sz="900" dirty="0"/>
          </a:p>
        </p:txBody>
      </p:sp>
      <p:sp>
        <p:nvSpPr>
          <p:cNvPr id="17" name="Text 13"/>
          <p:cNvSpPr txBox="1"/>
          <p:nvPr/>
        </p:nvSpPr>
        <p:spPr>
          <a:xfrm>
            <a:off x="1257300" y="3908146"/>
            <a:ext cx="200710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비교 레이아웃 (Before/After)</a:t>
            </a:r>
            <a:endParaRPr lang="en-US" sz="1000" dirty="0"/>
          </a:p>
        </p:txBody>
      </p:sp>
      <p:sp>
        <p:nvSpPr>
          <p:cNvPr id="18" name="Text 14"/>
          <p:cNvSpPr txBox="1"/>
          <p:nvPr/>
        </p:nvSpPr>
        <p:spPr>
          <a:xfrm>
            <a:off x="705002" y="420898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[매체]</a:t>
            </a:r>
            <a:endParaRPr lang="en-US" sz="900" dirty="0"/>
          </a:p>
        </p:txBody>
      </p:sp>
      <p:sp>
        <p:nvSpPr>
          <p:cNvPr id="19" name="Text 15"/>
          <p:cNvSpPr txBox="1"/>
          <p:nvPr/>
        </p:nvSpPr>
        <p:spPr>
          <a:xfrm>
            <a:off x="1257300" y="4189781"/>
            <a:ext cx="2105863"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3D 차트, 분석 대시보드 그래픽</a:t>
            </a:r>
            <a:endParaRPr lang="en-US" sz="1000" dirty="0"/>
          </a:p>
        </p:txBody>
      </p:sp>
      <p:sp>
        <p:nvSpPr>
          <p:cNvPr id="20" name="Text 16"/>
          <p:cNvSpPr txBox="1"/>
          <p:nvPr/>
        </p:nvSpPr>
        <p:spPr>
          <a:xfrm>
            <a:off x="705002" y="449061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[주제]</a:t>
            </a:r>
            <a:endParaRPr lang="en-US" sz="900" dirty="0"/>
          </a:p>
        </p:txBody>
      </p:sp>
      <p:sp>
        <p:nvSpPr>
          <p:cNvPr id="21" name="Text 17"/>
          <p:cNvSpPr txBox="1"/>
          <p:nvPr/>
        </p:nvSpPr>
        <p:spPr>
          <a:xfrm>
            <a:off x="1257300" y="4472330"/>
            <a:ext cx="191475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비용 절감 지표, ROI 성장률</a:t>
            </a:r>
            <a:endParaRPr lang="en-US" sz="1000" dirty="0"/>
          </a:p>
        </p:txBody>
      </p:sp>
      <p:sp>
        <p:nvSpPr>
          <p:cNvPr id="22" name="Text 18"/>
          <p:cNvSpPr txBox="1"/>
          <p:nvPr/>
        </p:nvSpPr>
        <p:spPr>
          <a:xfrm>
            <a:off x="705002" y="477316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[환경]</a:t>
            </a:r>
            <a:endParaRPr lang="en-US" sz="900" dirty="0"/>
          </a:p>
        </p:txBody>
      </p:sp>
      <p:sp>
        <p:nvSpPr>
          <p:cNvPr id="23" name="Text 19"/>
          <p:cNvSpPr txBox="1"/>
          <p:nvPr/>
        </p:nvSpPr>
        <p:spPr>
          <a:xfrm>
            <a:off x="1257300" y="4753966"/>
            <a:ext cx="184983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신뢰감 있는 블루/그레이 톤</a:t>
            </a:r>
            <a:endParaRPr lang="en-US" sz="1000" dirty="0"/>
          </a:p>
        </p:txBody>
      </p:sp>
      <p:sp>
        <p:nvSpPr>
          <p:cNvPr id="24" name="Shape 20"/>
          <p:cNvSpPr/>
          <p:nvPr/>
        </p:nvSpPr>
        <p:spPr>
          <a:xfrm>
            <a:off x="476402" y="5340096"/>
            <a:ext cx="3619195" cy="1022954"/>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528462"/>
            <a:ext cx="105156" cy="133502"/>
          </a:xfrm>
          <a:prstGeom prst="rect">
            <a:avLst/>
          </a:prstGeom>
        </p:spPr>
      </p:pic>
      <p:sp>
        <p:nvSpPr>
          <p:cNvPr id="26" name="Text 21"/>
          <p:cNvSpPr txBox="1"/>
          <p:nvPr/>
        </p:nvSpPr>
        <p:spPr>
          <a:xfrm>
            <a:off x="809244" y="5473598"/>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7" name="Text 22"/>
          <p:cNvSpPr txBox="1"/>
          <p:nvPr/>
        </p:nvSpPr>
        <p:spPr>
          <a:xfrm>
            <a:off x="810615" y="5739688"/>
            <a:ext cx="3096158"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구체적인 수치(%)와 그래프를 활용하여 신뢰도를 높이고, 블루 계열의 컬러를 사용하여 전문성을 강조하세요.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AI 도입 성과 분석 리포트. 비포/애프터 비교 이미지, 막대 그래프와 통계 데이터, 비용 절감 지표, ROI 분석 차트, 프로페셔널한 비즈니스 리포트 레이아웃, 블루/그레이 톤, 신뢰감 있는 디자인.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7078" r="-7078"/>
          <a:stretch/>
        </p:blipFill>
        <p:spPr>
          <a:xfrm>
            <a:off x="476402" y="1235354"/>
            <a:ext cx="114300" cy="133502"/>
          </a:xfrm>
          <a:prstGeom prst="rect">
            <a:avLst/>
          </a:prstGeom>
        </p:spPr>
      </p:pic>
      <p:sp>
        <p:nvSpPr>
          <p:cNvPr id="6" name="Text 3"/>
          <p:cNvSpPr txBox="1"/>
          <p:nvPr/>
        </p:nvSpPr>
        <p:spPr>
          <a:xfrm>
            <a:off x="666598" y="1202436"/>
            <a:ext cx="1808683"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CASE STUDY INSIGHTS</a:t>
            </a:r>
            <a:endParaRPr lang="en-US" sz="1000" dirty="0"/>
          </a:p>
        </p:txBody>
      </p:sp>
      <p:sp>
        <p:nvSpPr>
          <p:cNvPr id="7" name="Text 4"/>
          <p:cNvSpPr txBox="1"/>
          <p:nvPr/>
        </p:nvSpPr>
        <p:spPr>
          <a:xfrm>
            <a:off x="476402" y="1478585"/>
            <a:ext cx="4486046"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핵심 인사이트 정리</a:t>
            </a:r>
            <a:endParaRPr lang="en-US" sz="3100" dirty="0"/>
          </a:p>
        </p:txBody>
      </p:sp>
      <p:sp>
        <p:nvSpPr>
          <p:cNvPr id="8" name="Text 5"/>
          <p:cNvSpPr txBox="1"/>
          <p:nvPr/>
        </p:nvSpPr>
        <p:spPr>
          <a:xfrm>
            <a:off x="476402" y="1965960"/>
            <a:ext cx="1677924"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Key Learning Points</a:t>
            </a:r>
            <a:endParaRPr lang="en-US" sz="1200" dirty="0"/>
          </a:p>
        </p:txBody>
      </p:sp>
      <p:sp>
        <p:nvSpPr>
          <p:cNvPr id="9" name="Text 6"/>
          <p:cNvSpPr txBox="1"/>
          <p:nvPr/>
        </p:nvSpPr>
        <p:spPr>
          <a:xfrm>
            <a:off x="476402" y="2375611"/>
            <a:ext cx="3696005" cy="428854"/>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앞의 가상 시나리오에서 정리한 4가지 핵심 전략과 배울 점입니다.</a:t>
            </a:r>
            <a:endParaRPr lang="en-US" sz="1100" dirty="0"/>
          </a:p>
        </p:txBody>
      </p:sp>
      <p:sp>
        <p:nvSpPr>
          <p:cNvPr id="10" name="Shape 7"/>
          <p:cNvSpPr/>
          <p:nvPr/>
        </p:nvSpPr>
        <p:spPr>
          <a:xfrm>
            <a:off x="476402" y="3033065"/>
            <a:ext cx="3619195" cy="1800454"/>
          </a:xfrm>
          <a:prstGeom prst="roundRect">
            <a:avLst>
              <a:gd name="adj" fmla="val 3225"/>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33065"/>
            <a:ext cx="38405" cy="1800454"/>
          </a:xfrm>
          <a:prstGeom prst="roundRect">
            <a:avLst>
              <a:gd name="adj" fmla="val 151171"/>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32404"/>
            <a:ext cx="110459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CORE STRATEGIES</a:t>
            </a:r>
            <a:endParaRPr lang="en-US" sz="900" dirty="0"/>
          </a:p>
        </p:txBody>
      </p:sp>
      <p:pic>
        <p:nvPicPr>
          <p:cNvPr id="13" name="Image 1" descr="preencoded.png"/>
          <p:cNvPicPr>
            <a:picLocks noChangeAspect="1"/>
          </p:cNvPicPr>
          <p:nvPr/>
        </p:nvPicPr>
        <p:blipFill>
          <a:blip r:embed="rId4">
            <a:alphaModFix amt="50000"/>
          </a:blip>
          <a:srcRect t="-22432" b="-22432"/>
          <a:stretch/>
        </p:blipFill>
        <p:spPr>
          <a:xfrm>
            <a:off x="3762756" y="3232404"/>
            <a:ext cx="133502" cy="171907"/>
          </a:xfrm>
          <a:prstGeom prst="rect">
            <a:avLst/>
          </a:prstGeom>
        </p:spPr>
      </p:pic>
      <p:sp>
        <p:nvSpPr>
          <p:cNvPr id="14" name="Text 10"/>
          <p:cNvSpPr txBox="1"/>
          <p:nvPr/>
        </p:nvSpPr>
        <p:spPr>
          <a:xfrm>
            <a:off x="705002" y="353781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15" name="Text 11"/>
          <p:cNvSpPr txBox="1"/>
          <p:nvPr/>
        </p:nvSpPr>
        <p:spPr>
          <a:xfrm>
            <a:off x="1447495" y="3527755"/>
            <a:ext cx="226222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명확한 목표 설정과 레퍼런스 확보</a:t>
            </a:r>
            <a:endParaRPr lang="en-US" sz="1000" dirty="0"/>
          </a:p>
        </p:txBody>
      </p:sp>
      <p:sp>
        <p:nvSpPr>
          <p:cNvPr id="16" name="Text 12"/>
          <p:cNvSpPr txBox="1"/>
          <p:nvPr/>
        </p:nvSpPr>
        <p:spPr>
          <a:xfrm>
            <a:off x="705002" y="3838651"/>
            <a:ext cx="694030"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[톤앤매너]</a:t>
            </a:r>
            <a:endParaRPr lang="en-US" sz="900" dirty="0"/>
          </a:p>
        </p:txBody>
      </p:sp>
      <p:sp>
        <p:nvSpPr>
          <p:cNvPr id="17" name="Text 13"/>
          <p:cNvSpPr txBox="1"/>
          <p:nvPr/>
        </p:nvSpPr>
        <p:spPr>
          <a:xfrm>
            <a:off x="1447495" y="3829507"/>
            <a:ext cx="190378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일관된 브랜드 톤앤매너 유지</a:t>
            </a:r>
            <a:endParaRPr lang="en-US" sz="1000" dirty="0"/>
          </a:p>
        </p:txBody>
      </p:sp>
      <p:sp>
        <p:nvSpPr>
          <p:cNvPr id="18" name="Text 14"/>
          <p:cNvSpPr txBox="1"/>
          <p:nvPr/>
        </p:nvSpPr>
        <p:spPr>
          <a:xfrm>
            <a:off x="705002" y="4139489"/>
            <a:ext cx="694030"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[프로세스]</a:t>
            </a:r>
            <a:endParaRPr lang="en-US" sz="900" dirty="0"/>
          </a:p>
        </p:txBody>
      </p:sp>
      <p:sp>
        <p:nvSpPr>
          <p:cNvPr id="19" name="Text 15"/>
          <p:cNvSpPr txBox="1"/>
          <p:nvPr/>
        </p:nvSpPr>
        <p:spPr>
          <a:xfrm>
            <a:off x="1447495" y="4130345"/>
            <a:ext cx="252831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반복적 테스트와 미세 조정 (Iterative)</a:t>
            </a:r>
            <a:endParaRPr lang="en-US" sz="1000" dirty="0"/>
          </a:p>
        </p:txBody>
      </p:sp>
      <p:sp>
        <p:nvSpPr>
          <p:cNvPr id="20" name="Text 16"/>
          <p:cNvSpPr txBox="1"/>
          <p:nvPr/>
        </p:nvSpPr>
        <p:spPr>
          <a:xfrm>
            <a:off x="705002" y="4440326"/>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[완성]</a:t>
            </a:r>
            <a:endParaRPr lang="en-US" sz="900" dirty="0"/>
          </a:p>
        </p:txBody>
      </p:sp>
      <p:sp>
        <p:nvSpPr>
          <p:cNvPr id="21" name="Text 17"/>
          <p:cNvSpPr txBox="1"/>
          <p:nvPr/>
        </p:nvSpPr>
        <p:spPr>
          <a:xfrm>
            <a:off x="1447495" y="4431182"/>
            <a:ext cx="251551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AI 생성과 휴먼 터치의 조화로운 결합</a:t>
            </a:r>
            <a:endParaRPr lang="en-US" sz="1000" dirty="0"/>
          </a:p>
        </p:txBody>
      </p:sp>
      <p:sp>
        <p:nvSpPr>
          <p:cNvPr id="22" name="Shape 18"/>
          <p:cNvSpPr/>
          <p:nvPr/>
        </p:nvSpPr>
        <p:spPr>
          <a:xfrm>
            <a:off x="476402" y="5017313"/>
            <a:ext cx="3619195" cy="913486"/>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3" name="Image 2" descr="preencoded.png"/>
          <p:cNvPicPr>
            <a:picLocks noChangeAspect="1"/>
          </p:cNvPicPr>
          <p:nvPr/>
        </p:nvPicPr>
        <p:blipFill>
          <a:blip r:embed="rId5"/>
          <a:srcRect/>
          <a:stretch/>
        </p:blipFill>
        <p:spPr>
          <a:xfrm>
            <a:off x="609905" y="5205679"/>
            <a:ext cx="133502" cy="133502"/>
          </a:xfrm>
          <a:prstGeom prst="rect">
            <a:avLst/>
          </a:prstGeom>
        </p:spPr>
      </p:pic>
      <p:sp>
        <p:nvSpPr>
          <p:cNvPr id="24" name="Text 19"/>
          <p:cNvSpPr txBox="1"/>
          <p:nvPr/>
        </p:nvSpPr>
        <p:spPr>
          <a:xfrm>
            <a:off x="838505" y="5150815"/>
            <a:ext cx="467258"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Apply:</a:t>
            </a:r>
            <a:endParaRPr lang="en-US" sz="900" dirty="0"/>
          </a:p>
        </p:txBody>
      </p:sp>
      <p:sp>
        <p:nvSpPr>
          <p:cNvPr id="25" name="Text 20"/>
          <p:cNvSpPr txBox="1"/>
          <p:nvPr/>
        </p:nvSpPr>
        <p:spPr>
          <a:xfrm>
            <a:off x="838505" y="5402732"/>
            <a:ext cx="3182112"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이러한 인사이트를 프로젝트 초기 단계부터 체크리스트로 활용하면 시행착오를 크게 줄일 수 있습니다.</a:t>
            </a:r>
            <a:endParaRPr lang="en-US" sz="1100" dirty="0"/>
          </a:p>
        </p:txBody>
      </p:sp>
      <p:pic>
        <p:nvPicPr>
          <p:cNvPr id="26"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7"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28"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29" name="Text 21"/>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0" name="Text 22"/>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케이스</a:t>
            </a:r>
            <a:r>
              <a:rPr lang="en-US" sz="1200" dirty="0">
                <a:solidFill>
                  <a:srgbClr val="333333"/>
                </a:solidFill>
                <a:latin typeface="Noto Sans KR" pitchFamily="34" charset="0"/>
                <a:ea typeface="Noto Sans KR" pitchFamily="34" charset="-122"/>
                <a:cs typeface="Noto Sans KR" pitchFamily="34" charset="-120"/>
              </a:rPr>
              <a:t> 스터디 핵심 인사이트 정리. 4개의 핵심 학습 포인트를 담은 인포그래픽, 아이콘과 짧은 텍스트, 깔끔한 레이아웃, 2x2 그리드 구성, 블루/화이트 톤, 프로페셔널한 비즈니스 디자인. 이미지 내 모든 텍스트는 한국어로 표시되어야 합니다.</a:t>
            </a:r>
            <a:endParaRPr lang="en-US" sz="1200" dirty="0"/>
          </a:p>
        </p:txBody>
      </p:sp>
      <p:sp>
        <p:nvSpPr>
          <p:cNvPr id="31" name="Shape 23"/>
          <p:cNvSpPr/>
          <p:nvPr/>
        </p:nvSpPr>
        <p:spPr>
          <a:xfrm>
            <a:off x="10202875" y="647395"/>
            <a:ext cx="1324051"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2" name="Image 6" descr="preencoded.png"/>
          <p:cNvPicPr>
            <a:picLocks noChangeAspect="1"/>
          </p:cNvPicPr>
          <p:nvPr/>
        </p:nvPicPr>
        <p:blipFill>
          <a:blip r:embed="rId9"/>
          <a:srcRect l="-1911" r="-1911"/>
          <a:stretch/>
        </p:blipFill>
        <p:spPr>
          <a:xfrm>
            <a:off x="10335463" y="733349"/>
            <a:ext cx="133502" cy="114300"/>
          </a:xfrm>
          <a:prstGeom prst="rect">
            <a:avLst/>
          </a:prstGeom>
        </p:spPr>
      </p:pic>
      <p:sp>
        <p:nvSpPr>
          <p:cNvPr id="33" name="Text 24"/>
          <p:cNvSpPr txBox="1"/>
          <p:nvPr/>
        </p:nvSpPr>
        <p:spPr>
          <a:xfrm>
            <a:off x="10526573" y="647395"/>
            <a:ext cx="924458"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Visual Summary</a:t>
            </a:r>
            <a:endParaRPr lang="en-US" sz="900" dirty="0"/>
          </a:p>
        </p:txBody>
      </p:sp>
      <p:sp>
        <p:nvSpPr>
          <p:cNvPr id="34"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950062"/>
            <a:ext cx="161849" cy="133502"/>
          </a:xfrm>
          <a:prstGeom prst="rect">
            <a:avLst/>
          </a:prstGeom>
        </p:spPr>
      </p:pic>
      <p:sp>
        <p:nvSpPr>
          <p:cNvPr id="6" name="Text 3"/>
          <p:cNvSpPr txBox="1"/>
          <p:nvPr/>
        </p:nvSpPr>
        <p:spPr>
          <a:xfrm>
            <a:off x="714146" y="917143"/>
            <a:ext cx="1343254"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PART 7 SUMMARY</a:t>
            </a:r>
            <a:endParaRPr lang="en-US" sz="1000" dirty="0"/>
          </a:p>
        </p:txBody>
      </p:sp>
      <p:sp>
        <p:nvSpPr>
          <p:cNvPr id="7" name="Text 4"/>
          <p:cNvSpPr txBox="1"/>
          <p:nvPr/>
        </p:nvSpPr>
        <p:spPr>
          <a:xfrm>
            <a:off x="476402" y="1193292"/>
            <a:ext cx="3748126" cy="829361"/>
          </a:xfrm>
          <a:prstGeom prst="rect">
            <a:avLst/>
          </a:prstGeom>
          <a:noFill/>
          <a:ln/>
        </p:spPr>
        <p:txBody>
          <a:bodyPr wrap="square" lIns="0" tIns="0" rIns="0" bIns="0" rtlCol="0" anchor="t"/>
          <a:lstStyle/>
          <a:p>
            <a:pPr marL="0" indent="0" algn="l">
              <a:buNone/>
            </a:pPr>
            <a:r>
              <a:rPr lang="en-US" sz="2700" b="1" kern="0" spc="-75" dirty="0">
                <a:solidFill>
                  <a:srgbClr val="111111"/>
                </a:solidFill>
                <a:latin typeface="Noto Sans KR" pitchFamily="34" charset="0"/>
                <a:ea typeface="Noto Sans KR" pitchFamily="34" charset="-122"/>
                <a:cs typeface="Noto Sans KR" pitchFamily="34" charset="-120"/>
              </a:rPr>
              <a:t>케이스 스터디:</a:t>
            </a:r>
            <a:endParaRPr lang="en-US" sz="2700" dirty="0"/>
          </a:p>
          <a:p>
            <a:pPr marL="0" indent="0" algn="l">
              <a:buNone/>
            </a:pPr>
            <a:r>
              <a:rPr lang="en-US" sz="2700" b="1" kern="0" spc="-75" dirty="0">
                <a:solidFill>
                  <a:srgbClr val="111111"/>
                </a:solidFill>
                <a:latin typeface="Noto Sans KR" pitchFamily="34" charset="0"/>
                <a:ea typeface="Noto Sans KR" pitchFamily="34" charset="-122"/>
                <a:cs typeface="Noto Sans KR" pitchFamily="34" charset="-120"/>
              </a:rPr>
              <a:t>핵심 인사이트</a:t>
            </a:r>
            <a:endParaRPr lang="en-US" sz="2700" dirty="0"/>
          </a:p>
        </p:txBody>
      </p:sp>
      <p:sp>
        <p:nvSpPr>
          <p:cNvPr id="8" name="Text 5"/>
          <p:cNvSpPr txBox="1"/>
          <p:nvPr/>
        </p:nvSpPr>
        <p:spPr>
          <a:xfrm>
            <a:off x="476402" y="2054657"/>
            <a:ext cx="2686507" cy="200254"/>
          </a:xfrm>
          <a:prstGeom prst="rect">
            <a:avLst/>
          </a:prstGeom>
          <a:noFill/>
          <a:ln/>
        </p:spPr>
        <p:txBody>
          <a:bodyPr wrap="square" lIns="0" tIns="0" rIns="0" bIns="0" rtlCol="0" anchor="ctr"/>
          <a:lstStyle/>
          <a:p>
            <a:pPr marL="0" indent="0" algn="l">
              <a:buNone/>
            </a:pPr>
            <a:r>
              <a:rPr lang="en-US" sz="1100" dirty="0">
                <a:solidFill>
                  <a:srgbClr val="666666"/>
                </a:solidFill>
                <a:latin typeface="Manrope" pitchFamily="34" charset="0"/>
                <a:ea typeface="Manrope" pitchFamily="34" charset="-122"/>
                <a:cs typeface="Manrope" pitchFamily="34" charset="-120"/>
              </a:rPr>
              <a:t>Key Takeaways from Case Studies</a:t>
            </a:r>
            <a:endParaRPr lang="en-US" sz="1100" dirty="0"/>
          </a:p>
        </p:txBody>
      </p:sp>
      <p:sp>
        <p:nvSpPr>
          <p:cNvPr id="9" name="Text 6"/>
          <p:cNvSpPr txBox="1"/>
          <p:nvPr/>
        </p:nvSpPr>
        <p:spPr>
          <a:xfrm>
            <a:off x="476402" y="2458822"/>
            <a:ext cx="3696005" cy="648310"/>
          </a:xfrm>
          <a:prstGeom prst="rect">
            <a:avLst/>
          </a:prstGeom>
          <a:noFill/>
          <a:ln/>
        </p:spPr>
        <p:txBody>
          <a:bodyPr wrap="square" lIns="0" tIns="0" rIns="0" bIns="0" rtlCol="0" anchor="t"/>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성공적인 AI 이미지 생성은 단순한 프롬프트 입력을 넘어섭니다. </a:t>
            </a:r>
          </a:p>
          <a:p>
            <a:pPr marL="0" indent="0" algn="l">
              <a:buNone/>
            </a:pPr>
            <a:r>
              <a:rPr lang="en-US" sz="1000" dirty="0" err="1">
                <a:solidFill>
                  <a:srgbClr val="4B5563"/>
                </a:solidFill>
                <a:latin typeface="Noto Sans KR" pitchFamily="34" charset="0"/>
                <a:ea typeface="Noto Sans KR" pitchFamily="34" charset="-122"/>
                <a:cs typeface="Noto Sans KR" pitchFamily="34" charset="-120"/>
              </a:rPr>
              <a:t>명확한</a:t>
            </a:r>
            <a:r>
              <a:rPr lang="en-US" sz="1000" dirty="0">
                <a:solidFill>
                  <a:srgbClr val="4B5563"/>
                </a:solidFill>
                <a:latin typeface="Noto Sans KR" pitchFamily="34" charset="0"/>
                <a:ea typeface="Noto Sans KR" pitchFamily="34" charset="-122"/>
                <a:cs typeface="Noto Sans KR" pitchFamily="34" charset="-120"/>
              </a:rPr>
              <a:t> 기획, 스타일 분석, 그리고 전략적인 리터칭이 결합될 때 비로소 상업적 가치를 지닌 결과물이 탄생합니다.</a:t>
            </a:r>
            <a:endParaRPr lang="en-US" sz="1000" dirty="0"/>
          </a:p>
        </p:txBody>
      </p:sp>
      <p:sp>
        <p:nvSpPr>
          <p:cNvPr id="10" name="Shape 7"/>
          <p:cNvSpPr/>
          <p:nvPr/>
        </p:nvSpPr>
        <p:spPr>
          <a:xfrm>
            <a:off x="476402" y="3328416"/>
            <a:ext cx="3619195" cy="1628546"/>
          </a:xfrm>
          <a:prstGeom prst="roundRect">
            <a:avLst>
              <a:gd name="adj" fmla="val 394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328416"/>
            <a:ext cx="38405" cy="1628546"/>
          </a:xfrm>
          <a:prstGeom prst="roundRect">
            <a:avLst>
              <a:gd name="adj" fmla="val 16708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685800" y="3509467"/>
            <a:ext cx="1191463"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SUCCESS FORMULA</a:t>
            </a:r>
            <a:endParaRPr lang="en-US" sz="900" dirty="0"/>
          </a:p>
        </p:txBody>
      </p:sp>
      <p:pic>
        <p:nvPicPr>
          <p:cNvPr id="13" name="Image 1" descr="preencoded.png"/>
          <p:cNvPicPr>
            <a:picLocks noChangeAspect="1"/>
          </p:cNvPicPr>
          <p:nvPr/>
        </p:nvPicPr>
        <p:blipFill>
          <a:blip r:embed="rId4">
            <a:alphaModFix amt="80000"/>
          </a:blip>
          <a:srcRect t="-25200" b="-25200"/>
          <a:stretch/>
        </p:blipFill>
        <p:spPr>
          <a:xfrm>
            <a:off x="3800246" y="3509467"/>
            <a:ext cx="114300" cy="171907"/>
          </a:xfrm>
          <a:prstGeom prst="rect">
            <a:avLst/>
          </a:prstGeom>
        </p:spPr>
      </p:pic>
      <p:sp>
        <p:nvSpPr>
          <p:cNvPr id="14" name="Text 10"/>
          <p:cNvSpPr txBox="1"/>
          <p:nvPr/>
        </p:nvSpPr>
        <p:spPr>
          <a:xfrm>
            <a:off x="685800" y="3785616"/>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[기획]</a:t>
            </a:r>
            <a:endParaRPr lang="en-US" sz="900" dirty="0"/>
          </a:p>
        </p:txBody>
      </p:sp>
      <p:sp>
        <p:nvSpPr>
          <p:cNvPr id="15" name="Text 11"/>
          <p:cNvSpPr txBox="1"/>
          <p:nvPr/>
        </p:nvSpPr>
        <p:spPr>
          <a:xfrm>
            <a:off x="1190549" y="3785616"/>
            <a:ext cx="1870862"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목표, 타겟, 매체 특성 명확화</a:t>
            </a:r>
            <a:endParaRPr lang="en-US" sz="900" dirty="0"/>
          </a:p>
        </p:txBody>
      </p:sp>
      <p:sp>
        <p:nvSpPr>
          <p:cNvPr id="16" name="Text 12"/>
          <p:cNvSpPr txBox="1"/>
          <p:nvPr/>
        </p:nvSpPr>
        <p:spPr>
          <a:xfrm>
            <a:off x="685800" y="4053535"/>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[분석]</a:t>
            </a:r>
            <a:endParaRPr lang="en-US" sz="900" dirty="0"/>
          </a:p>
        </p:txBody>
      </p:sp>
      <p:sp>
        <p:nvSpPr>
          <p:cNvPr id="17" name="Text 13"/>
          <p:cNvSpPr txBox="1"/>
          <p:nvPr/>
        </p:nvSpPr>
        <p:spPr>
          <a:xfrm>
            <a:off x="1190549" y="4053535"/>
            <a:ext cx="2126894"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레퍼런스 스타일, 조명, 구도 분해</a:t>
            </a:r>
            <a:endParaRPr lang="en-US" sz="900" dirty="0"/>
          </a:p>
        </p:txBody>
      </p:sp>
      <p:sp>
        <p:nvSpPr>
          <p:cNvPr id="18" name="Text 14"/>
          <p:cNvSpPr txBox="1"/>
          <p:nvPr/>
        </p:nvSpPr>
        <p:spPr>
          <a:xfrm>
            <a:off x="685800" y="4322369"/>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[생성]</a:t>
            </a:r>
            <a:endParaRPr lang="en-US" sz="900" dirty="0"/>
          </a:p>
        </p:txBody>
      </p:sp>
      <p:sp>
        <p:nvSpPr>
          <p:cNvPr id="19" name="Text 15"/>
          <p:cNvSpPr txBox="1"/>
          <p:nvPr/>
        </p:nvSpPr>
        <p:spPr>
          <a:xfrm>
            <a:off x="1190549" y="4322369"/>
            <a:ext cx="1895551"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구조화된 프롬프트로 결과 도출</a:t>
            </a:r>
            <a:endParaRPr lang="en-US" sz="900" dirty="0"/>
          </a:p>
        </p:txBody>
      </p:sp>
      <p:sp>
        <p:nvSpPr>
          <p:cNvPr id="20" name="Text 16"/>
          <p:cNvSpPr txBox="1"/>
          <p:nvPr/>
        </p:nvSpPr>
        <p:spPr>
          <a:xfrm>
            <a:off x="685800" y="4591202"/>
            <a:ext cx="400507"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[보정]</a:t>
            </a:r>
            <a:endParaRPr lang="en-US" sz="900" dirty="0"/>
          </a:p>
        </p:txBody>
      </p:sp>
      <p:sp>
        <p:nvSpPr>
          <p:cNvPr id="21" name="Text 17"/>
          <p:cNvSpPr txBox="1"/>
          <p:nvPr/>
        </p:nvSpPr>
        <p:spPr>
          <a:xfrm>
            <a:off x="1190549" y="4591202"/>
            <a:ext cx="2023567"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리터칭과 후가공으로 완성도 확보</a:t>
            </a:r>
            <a:endParaRPr lang="en-US" sz="900" dirty="0"/>
          </a:p>
        </p:txBody>
      </p:sp>
      <p:sp>
        <p:nvSpPr>
          <p:cNvPr id="22" name="Shape 18"/>
          <p:cNvSpPr/>
          <p:nvPr/>
        </p:nvSpPr>
        <p:spPr>
          <a:xfrm>
            <a:off x="476402" y="5097780"/>
            <a:ext cx="3619195" cy="847649"/>
          </a:xfrm>
          <a:prstGeom prst="roundRect">
            <a:avLst>
              <a:gd name="adj" fmla="val 9697"/>
            </a:avLst>
          </a:prstGeom>
          <a:solidFill>
            <a:srgbClr val="FFF7ED"/>
          </a:solidFill>
          <a:ln w="12700">
            <a:solidFill>
              <a:srgbClr val="FFFFFF">
                <a:alpha val="0"/>
              </a:srgbClr>
            </a:solidFill>
            <a:prstDash val="solid"/>
          </a:ln>
        </p:spPr>
        <p:txBody>
          <a:bodyPr/>
          <a:lstStyle/>
          <a:p>
            <a:endParaRPr lang="ko-KR" altLang="en-US"/>
          </a:p>
        </p:txBody>
      </p:sp>
      <p:pic>
        <p:nvPicPr>
          <p:cNvPr id="23" name="Image 2" descr="preencoded.png"/>
          <p:cNvPicPr>
            <a:picLocks noChangeAspect="1"/>
          </p:cNvPicPr>
          <p:nvPr/>
        </p:nvPicPr>
        <p:blipFill>
          <a:blip r:embed="rId5"/>
          <a:srcRect t="-1100" b="-1100"/>
          <a:stretch/>
        </p:blipFill>
        <p:spPr>
          <a:xfrm>
            <a:off x="609905" y="5286146"/>
            <a:ext cx="114300" cy="133502"/>
          </a:xfrm>
          <a:prstGeom prst="rect">
            <a:avLst/>
          </a:prstGeom>
        </p:spPr>
      </p:pic>
      <p:sp>
        <p:nvSpPr>
          <p:cNvPr id="24" name="Text 19"/>
          <p:cNvSpPr txBox="1"/>
          <p:nvPr/>
        </p:nvSpPr>
        <p:spPr>
          <a:xfrm>
            <a:off x="819302" y="5240426"/>
            <a:ext cx="124724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Next Level: Part 8</a:t>
            </a:r>
            <a:endParaRPr lang="en-US" sz="900" dirty="0"/>
          </a:p>
        </p:txBody>
      </p:sp>
      <p:sp>
        <p:nvSpPr>
          <p:cNvPr id="25" name="Text 20"/>
          <p:cNvSpPr txBox="1"/>
          <p:nvPr/>
        </p:nvSpPr>
        <p:spPr>
          <a:xfrm>
            <a:off x="819302" y="5426964"/>
            <a:ext cx="3086100"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이제 기본기를 넘어, 이미지 합성, 인페인팅, 스타일 믹싱 등 전문가를 위한</a:t>
            </a:r>
            <a:endParaRPr lang="en-US" sz="1100" dirty="0"/>
          </a:p>
        </p:txBody>
      </p:sp>
      <p:sp>
        <p:nvSpPr>
          <p:cNvPr id="26" name="Text 21"/>
          <p:cNvSpPr txBox="1"/>
          <p:nvPr/>
        </p:nvSpPr>
        <p:spPr>
          <a:xfrm>
            <a:off x="1956314" y="5593132"/>
            <a:ext cx="610819" cy="171907"/>
          </a:xfrm>
          <a:prstGeom prst="rect">
            <a:avLst/>
          </a:prstGeom>
          <a:noFill/>
          <a:ln/>
        </p:spPr>
        <p:txBody>
          <a:bodyPr wrap="square" lIns="0" tIns="0" rIns="0" bIns="0" rtlCol="0" anchor="ctr"/>
          <a:lstStyle/>
          <a:p>
            <a:pPr marL="0" indent="0" algn="l">
              <a:buNone/>
            </a:pPr>
            <a:r>
              <a:rPr lang="en-US" sz="1100" b="1" dirty="0">
                <a:solidFill>
                  <a:srgbClr val="FF6908"/>
                </a:solidFill>
                <a:latin typeface="Manrope" pitchFamily="34" charset="0"/>
                <a:ea typeface="Manrope" pitchFamily="34" charset="-122"/>
                <a:cs typeface="Manrope" pitchFamily="34" charset="-120"/>
              </a:rPr>
              <a:t>고급 기법</a:t>
            </a:r>
            <a:endParaRPr lang="en-US" sz="1100" dirty="0"/>
          </a:p>
        </p:txBody>
      </p:sp>
      <p:sp>
        <p:nvSpPr>
          <p:cNvPr id="27" name="Text 22"/>
          <p:cNvSpPr txBox="1"/>
          <p:nvPr/>
        </p:nvSpPr>
        <p:spPr>
          <a:xfrm>
            <a:off x="2567133" y="5596789"/>
            <a:ext cx="1050646" cy="181051"/>
          </a:xfrm>
          <a:prstGeom prst="rect">
            <a:avLst/>
          </a:prstGeom>
          <a:noFill/>
          <a:ln/>
        </p:spPr>
        <p:txBody>
          <a:bodyPr wrap="square" lIns="0" tIns="0" rIns="0" bIns="0" rtlCol="0" anchor="ctr"/>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으로 넘어갑니다.</a:t>
            </a:r>
            <a:endParaRPr lang="en-US" sz="1100" dirty="0"/>
          </a:p>
        </p:txBody>
      </p:sp>
      <p:pic>
        <p:nvPicPr>
          <p:cNvPr id="28" name="Image 3" descr="preencoded.png"/>
          <p:cNvPicPr>
            <a:picLocks noChangeAspect="1"/>
          </p:cNvPicPr>
          <p:nvPr/>
        </p:nvPicPr>
        <p:blipFill>
          <a:blip r:embed="rId6"/>
          <a:srcRect l="-6" r="-6"/>
          <a:stretch/>
        </p:blipFill>
        <p:spPr>
          <a:xfrm>
            <a:off x="4476902" y="457200"/>
            <a:ext cx="7239305" cy="4785055"/>
          </a:xfrm>
          <a:prstGeom prst="rect">
            <a:avLst/>
          </a:prstGeom>
        </p:spPr>
      </p:pic>
      <p:pic>
        <p:nvPicPr>
          <p:cNvPr id="29" name="Image 4" descr="preencoded.png"/>
          <p:cNvPicPr>
            <a:picLocks noChangeAspect="1"/>
          </p:cNvPicPr>
          <p:nvPr/>
        </p:nvPicPr>
        <p:blipFill>
          <a:blip r:embed="rId7"/>
          <a:srcRect l="7836" r="7836"/>
          <a:stretch/>
        </p:blipFill>
        <p:spPr>
          <a:xfrm>
            <a:off x="4476902" y="457200"/>
            <a:ext cx="7239305" cy="4791456"/>
          </a:xfrm>
          <a:prstGeom prst="rect">
            <a:avLst/>
          </a:prstGeom>
        </p:spPr>
      </p:pic>
      <p:pic>
        <p:nvPicPr>
          <p:cNvPr id="30" name="Image 5" descr="preencoded.png"/>
          <p:cNvPicPr>
            <a:picLocks noChangeAspect="1"/>
          </p:cNvPicPr>
          <p:nvPr/>
        </p:nvPicPr>
        <p:blipFill>
          <a:blip r:embed="rId8"/>
          <a:srcRect l="-15" r="-15"/>
          <a:stretch/>
        </p:blipFill>
        <p:spPr>
          <a:xfrm>
            <a:off x="4476902" y="5433365"/>
            <a:ext cx="7239305" cy="967435"/>
          </a:xfrm>
          <a:prstGeom prst="rect">
            <a:avLst/>
          </a:prstGeom>
        </p:spPr>
      </p:pic>
      <p:sp>
        <p:nvSpPr>
          <p:cNvPr id="31" name="Text 23"/>
          <p:cNvSpPr txBox="1"/>
          <p:nvPr/>
        </p:nvSpPr>
        <p:spPr>
          <a:xfrm>
            <a:off x="4743907" y="5604358"/>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832958"/>
            <a:ext cx="6820510" cy="400507"/>
          </a:xfrm>
          <a:prstGeom prst="rect">
            <a:avLst/>
          </a:prstGeom>
          <a:noFill/>
          <a:ln/>
        </p:spPr>
        <p:txBody>
          <a:bodyPr wrap="square" lIns="0" tIns="0" rIns="0" bIns="0" rtlCol="0" anchor="t"/>
          <a:lstStyle/>
          <a:p>
            <a:pPr marL="0" indent="0" algn="l">
              <a:buNone/>
            </a:pPr>
            <a:r>
              <a:rPr lang="en-US" sz="1100" dirty="0" err="1">
                <a:solidFill>
                  <a:srgbClr val="333333"/>
                </a:solidFill>
                <a:latin typeface="Noto Sans KR" pitchFamily="34" charset="0"/>
                <a:ea typeface="Noto Sans KR" pitchFamily="34" charset="-122"/>
                <a:cs typeface="Noto Sans KR" pitchFamily="34" charset="-120"/>
              </a:rPr>
              <a:t>케이스</a:t>
            </a:r>
            <a:r>
              <a:rPr lang="en-US" sz="1100" dirty="0">
                <a:solidFill>
                  <a:srgbClr val="333333"/>
                </a:solidFill>
                <a:latin typeface="Noto Sans KR" pitchFamily="34" charset="0"/>
                <a:ea typeface="Noto Sans KR" pitchFamily="34" charset="-122"/>
                <a:cs typeface="Noto Sans KR" pitchFamily="34" charset="-120"/>
              </a:rPr>
              <a:t> 스터디 핵심 인사이트 정리. 4개의 핵심 학습 포인트를 담은 인포그래픽, 아이콘과 짧은 텍스트, 깔끔한 레이아웃, 2x2 그리드 구성, 블루/화이트 톤, 프로페셔널한 비즈니스 디자인. 이미지 내 모든 텍스트는 한국어로 표시되어야 합니다.</a:t>
            </a:r>
            <a:endParaRPr lang="en-US" sz="1100" dirty="0"/>
          </a:p>
        </p:txBody>
      </p:sp>
      <p:sp>
        <p:nvSpPr>
          <p:cNvPr id="33" name="Shape 25"/>
          <p:cNvSpPr/>
          <p:nvPr/>
        </p:nvSpPr>
        <p:spPr>
          <a:xfrm>
            <a:off x="10454335" y="647395"/>
            <a:ext cx="1076249"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l="-133" r="-133"/>
          <a:stretch/>
        </p:blipFill>
        <p:spPr>
          <a:xfrm>
            <a:off x="10587838" y="733349"/>
            <a:ext cx="85954" cy="114300"/>
          </a:xfrm>
          <a:prstGeom prst="rect">
            <a:avLst/>
          </a:prstGeom>
        </p:spPr>
      </p:pic>
      <p:sp>
        <p:nvSpPr>
          <p:cNvPr id="35" name="Text 26"/>
          <p:cNvSpPr txBox="1"/>
          <p:nvPr/>
        </p:nvSpPr>
        <p:spPr>
          <a:xfrm>
            <a:off x="10730484" y="647395"/>
            <a:ext cx="724205"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Key Insights</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932688"/>
            <a:ext cx="161849" cy="133502"/>
          </a:xfrm>
          <a:prstGeom prst="rect">
            <a:avLst/>
          </a:prstGeom>
        </p:spPr>
      </p:pic>
      <p:sp>
        <p:nvSpPr>
          <p:cNvPr id="6" name="Text 3"/>
          <p:cNvSpPr txBox="1"/>
          <p:nvPr/>
        </p:nvSpPr>
        <p:spPr>
          <a:xfrm>
            <a:off x="714146" y="898855"/>
            <a:ext cx="161483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PART 8 : ADVANCED</a:t>
            </a:r>
            <a:endParaRPr lang="en-US" sz="1000" dirty="0"/>
          </a:p>
        </p:txBody>
      </p:sp>
      <p:sp>
        <p:nvSpPr>
          <p:cNvPr id="7" name="Text 4"/>
          <p:cNvSpPr txBox="1"/>
          <p:nvPr/>
        </p:nvSpPr>
        <p:spPr>
          <a:xfrm>
            <a:off x="476402" y="1175004"/>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고급 기법</a:t>
            </a:r>
            <a:endParaRPr lang="en-US" sz="3100" dirty="0"/>
          </a:p>
        </p:txBody>
      </p:sp>
      <p:sp>
        <p:nvSpPr>
          <p:cNvPr id="8" name="Text 5"/>
          <p:cNvSpPr txBox="1"/>
          <p:nvPr/>
        </p:nvSpPr>
        <p:spPr>
          <a:xfrm>
            <a:off x="476402" y="1663294"/>
            <a:ext cx="2367382"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Advanced Techniques Cover</a:t>
            </a:r>
            <a:endParaRPr lang="en-US" sz="1200" dirty="0"/>
          </a:p>
        </p:txBody>
      </p:sp>
      <p:sp>
        <p:nvSpPr>
          <p:cNvPr id="9" name="Text 6"/>
          <p:cNvSpPr txBox="1"/>
          <p:nvPr/>
        </p:nvSpPr>
        <p:spPr>
          <a:xfrm>
            <a:off x="476402" y="20729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단순 생성을 넘어 전문가 수준의 디테일을 </a:t>
            </a:r>
            <a:r>
              <a:rPr lang="en-US" sz="1100" dirty="0" err="1">
                <a:solidFill>
                  <a:srgbClr val="4B5563"/>
                </a:solidFill>
                <a:latin typeface="Noto Sans KR" pitchFamily="34" charset="0"/>
                <a:ea typeface="Noto Sans KR" pitchFamily="34" charset="-122"/>
                <a:cs typeface="Noto Sans KR" pitchFamily="34" charset="-120"/>
              </a:rPr>
              <a:t>완성하는</a:t>
            </a:r>
            <a:r>
              <a:rPr lang="en-US" sz="1100" dirty="0">
                <a:solidFill>
                  <a:srgbClr val="4B5563"/>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심화</a:t>
            </a:r>
            <a:r>
              <a:rPr lang="en-US" sz="1100" dirty="0">
                <a:solidFill>
                  <a:srgbClr val="4B5563"/>
                </a:solidFill>
                <a:latin typeface="Noto Sans KR" pitchFamily="34" charset="0"/>
                <a:ea typeface="Noto Sans KR" pitchFamily="34" charset="-122"/>
                <a:cs typeface="Noto Sans KR" pitchFamily="34" charset="-120"/>
              </a:rPr>
              <a:t> 과정입니다. </a:t>
            </a:r>
          </a:p>
          <a:p>
            <a:pPr marL="0" indent="0" algn="l">
              <a:buNone/>
            </a:pP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합성</a:t>
            </a:r>
            <a:r>
              <a:rPr lang="en-US" sz="1100" dirty="0">
                <a:solidFill>
                  <a:srgbClr val="4B5563"/>
                </a:solidFill>
                <a:latin typeface="Noto Sans KR" pitchFamily="34" charset="0"/>
                <a:ea typeface="Noto Sans KR" pitchFamily="34" charset="-122"/>
                <a:cs typeface="Noto Sans KR" pitchFamily="34" charset="-120"/>
              </a:rPr>
              <a:t>, 인페인팅, 스타일 믹싱 등 정교한 제어 기술을 마스터합니다.</a:t>
            </a:r>
            <a:endParaRPr lang="en-US" sz="1100" dirty="0"/>
          </a:p>
        </p:txBody>
      </p:sp>
      <p:sp>
        <p:nvSpPr>
          <p:cNvPr id="10" name="Shape 7"/>
          <p:cNvSpPr/>
          <p:nvPr/>
        </p:nvSpPr>
        <p:spPr>
          <a:xfrm>
            <a:off x="476402" y="29443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443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44622"/>
            <a:ext cx="1692554"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KEY TECHNIQUES OVERVIEW</a:t>
            </a:r>
            <a:endParaRPr lang="en-US" sz="900" dirty="0"/>
          </a:p>
        </p:txBody>
      </p:sp>
      <p:pic>
        <p:nvPicPr>
          <p:cNvPr id="13" name="Image 1" descr="preencoded.png"/>
          <p:cNvPicPr>
            <a:picLocks noChangeAspect="1"/>
          </p:cNvPicPr>
          <p:nvPr/>
        </p:nvPicPr>
        <p:blipFill>
          <a:blip r:embed="rId4">
            <a:alphaModFix amt="50000"/>
          </a:blip>
          <a:srcRect t="-25200" b="-25200"/>
          <a:stretch/>
        </p:blipFill>
        <p:spPr>
          <a:xfrm>
            <a:off x="3781044" y="3144622"/>
            <a:ext cx="114300" cy="171907"/>
          </a:xfrm>
          <a:prstGeom prst="rect">
            <a:avLst/>
          </a:prstGeom>
        </p:spPr>
      </p:pic>
      <p:sp>
        <p:nvSpPr>
          <p:cNvPr id="14" name="Text 10"/>
          <p:cNvSpPr txBox="1"/>
          <p:nvPr/>
        </p:nvSpPr>
        <p:spPr>
          <a:xfrm>
            <a:off x="705002" y="34399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[합성]</a:t>
            </a:r>
            <a:endParaRPr lang="en-US" sz="900" dirty="0"/>
          </a:p>
        </p:txBody>
      </p:sp>
      <p:sp>
        <p:nvSpPr>
          <p:cNvPr id="15" name="Text 11"/>
          <p:cNvSpPr txBox="1"/>
          <p:nvPr/>
        </p:nvSpPr>
        <p:spPr>
          <a:xfrm>
            <a:off x="1257300" y="3420770"/>
            <a:ext cx="2320747"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Image Compositing &amp; Blending</a:t>
            </a:r>
            <a:endParaRPr lang="en-US" sz="1000" dirty="0"/>
          </a:p>
        </p:txBody>
      </p:sp>
      <p:sp>
        <p:nvSpPr>
          <p:cNvPr id="16" name="Text 12"/>
          <p:cNvSpPr txBox="1"/>
          <p:nvPr/>
        </p:nvSpPr>
        <p:spPr>
          <a:xfrm>
            <a:off x="705002" y="37216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[수정]</a:t>
            </a:r>
            <a:endParaRPr lang="en-US" sz="900" dirty="0"/>
          </a:p>
        </p:txBody>
      </p:sp>
      <p:sp>
        <p:nvSpPr>
          <p:cNvPr id="17" name="Text 13"/>
          <p:cNvSpPr txBox="1"/>
          <p:nvPr/>
        </p:nvSpPr>
        <p:spPr>
          <a:xfrm>
            <a:off x="1257300" y="3702406"/>
            <a:ext cx="190469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Inpainting &amp; Outpainting</a:t>
            </a:r>
            <a:endParaRPr lang="en-US" sz="1000" dirty="0"/>
          </a:p>
        </p:txBody>
      </p:sp>
      <p:sp>
        <p:nvSpPr>
          <p:cNvPr id="18" name="Text 14"/>
          <p:cNvSpPr txBox="1"/>
          <p:nvPr/>
        </p:nvSpPr>
        <p:spPr>
          <a:xfrm>
            <a:off x="705002" y="4003243"/>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[스타일]</a:t>
            </a:r>
            <a:endParaRPr lang="en-US" sz="900" dirty="0"/>
          </a:p>
        </p:txBody>
      </p:sp>
      <p:sp>
        <p:nvSpPr>
          <p:cNvPr id="19" name="Text 15"/>
          <p:cNvSpPr txBox="1"/>
          <p:nvPr/>
        </p:nvSpPr>
        <p:spPr>
          <a:xfrm>
            <a:off x="1257300" y="3984041"/>
            <a:ext cx="18251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Style Mixing &amp; Weighing</a:t>
            </a:r>
            <a:endParaRPr lang="en-US" sz="1000" dirty="0"/>
          </a:p>
        </p:txBody>
      </p:sp>
      <p:sp>
        <p:nvSpPr>
          <p:cNvPr id="20" name="Text 16"/>
          <p:cNvSpPr txBox="1"/>
          <p:nvPr/>
        </p:nvSpPr>
        <p:spPr>
          <a:xfrm>
            <a:off x="705002" y="428487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[일관성]</a:t>
            </a:r>
            <a:endParaRPr lang="en-US" sz="900" dirty="0"/>
          </a:p>
        </p:txBody>
      </p:sp>
      <p:sp>
        <p:nvSpPr>
          <p:cNvPr id="21" name="Text 17"/>
          <p:cNvSpPr txBox="1"/>
          <p:nvPr/>
        </p:nvSpPr>
        <p:spPr>
          <a:xfrm>
            <a:off x="1257300" y="4266590"/>
            <a:ext cx="261884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Fixed Seed, Character Consistency</a:t>
            </a:r>
            <a:endParaRPr lang="en-US" sz="1000" dirty="0"/>
          </a:p>
        </p:txBody>
      </p:sp>
      <p:sp>
        <p:nvSpPr>
          <p:cNvPr id="22" name="Text 18"/>
          <p:cNvSpPr txBox="1"/>
          <p:nvPr/>
        </p:nvSpPr>
        <p:spPr>
          <a:xfrm>
            <a:off x="705002" y="456742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[품질]</a:t>
            </a:r>
            <a:endParaRPr lang="en-US" sz="900" dirty="0"/>
          </a:p>
        </p:txBody>
      </p:sp>
      <p:sp>
        <p:nvSpPr>
          <p:cNvPr id="23" name="Text 19"/>
          <p:cNvSpPr txBox="1"/>
          <p:nvPr/>
        </p:nvSpPr>
        <p:spPr>
          <a:xfrm>
            <a:off x="1257300" y="4548226"/>
            <a:ext cx="215432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Upscaling &amp; Post-processing</a:t>
            </a:r>
            <a:endParaRPr lang="en-US" sz="1000" dirty="0"/>
          </a:p>
        </p:txBody>
      </p:sp>
      <p:sp>
        <p:nvSpPr>
          <p:cNvPr id="24" name="Shape 20"/>
          <p:cNvSpPr/>
          <p:nvPr/>
        </p:nvSpPr>
        <p:spPr>
          <a:xfrm>
            <a:off x="476402" y="5134355"/>
            <a:ext cx="3619195" cy="110276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322722"/>
            <a:ext cx="133502" cy="133502"/>
          </a:xfrm>
          <a:prstGeom prst="rect">
            <a:avLst/>
          </a:prstGeom>
        </p:spPr>
      </p:pic>
      <p:sp>
        <p:nvSpPr>
          <p:cNvPr id="26" name="Text 21"/>
          <p:cNvSpPr txBox="1"/>
          <p:nvPr/>
        </p:nvSpPr>
        <p:spPr>
          <a:xfrm>
            <a:off x="838505" y="5267858"/>
            <a:ext cx="805586"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Next Level:</a:t>
            </a:r>
            <a:endParaRPr lang="en-US" sz="900" dirty="0"/>
          </a:p>
        </p:txBody>
      </p:sp>
      <p:sp>
        <p:nvSpPr>
          <p:cNvPr id="27" name="Text 22"/>
          <p:cNvSpPr txBox="1"/>
          <p:nvPr/>
        </p:nvSpPr>
        <p:spPr>
          <a:xfrm>
            <a:off x="843076" y="5497372"/>
            <a:ext cx="3191256"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이 파트를 통해 AI 생성 결과물을 상업적으로 즉시 사용할 수 있는 100점짜리 결과물로 다듬는 노하우를 익힐 수 있습니다.</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Part 8 고급 기법 커버 디자인. Part 8: 고급 기법이라는 제목, 복잡한 프롬프트와 AI 이미지 생성 과정을 시각화한 컨셉, 추상적인 기술 그래픽, 다크 블루/퍼플 톤, 프로페셔널하고 기술적인 디자인. 이미지 내 모든 텍스트는 한국어로 표시되어야 합니다.</a:t>
            </a:r>
            <a:endParaRPr lang="en-US" sz="1200" dirty="0"/>
          </a:p>
        </p:txBody>
      </p:sp>
      <p:sp>
        <p:nvSpPr>
          <p:cNvPr id="33" name="Shape 25"/>
          <p:cNvSpPr/>
          <p:nvPr/>
        </p:nvSpPr>
        <p:spPr>
          <a:xfrm>
            <a:off x="9911182" y="647395"/>
            <a:ext cx="1619402"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043770" y="733349"/>
            <a:ext cx="114300" cy="114300"/>
          </a:xfrm>
          <a:prstGeom prst="rect">
            <a:avLst/>
          </a:prstGeom>
        </p:spPr>
      </p:pic>
      <p:sp>
        <p:nvSpPr>
          <p:cNvPr id="35" name="Text 26"/>
          <p:cNvSpPr txBox="1"/>
          <p:nvPr/>
        </p:nvSpPr>
        <p:spPr>
          <a:xfrm>
            <a:off x="10215677" y="647395"/>
            <a:ext cx="1239012"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Advanced AI Graphics</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1283818"/>
            <a:ext cx="161849" cy="133502"/>
          </a:xfrm>
          <a:prstGeom prst="rect">
            <a:avLst/>
          </a:prstGeom>
        </p:spPr>
      </p:pic>
      <p:sp>
        <p:nvSpPr>
          <p:cNvPr id="6" name="Text 3"/>
          <p:cNvSpPr txBox="1"/>
          <p:nvPr/>
        </p:nvSpPr>
        <p:spPr>
          <a:xfrm>
            <a:off x="714146" y="1250899"/>
            <a:ext cx="200253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ADVANCED TECHNIQUE 02</a:t>
            </a:r>
            <a:endParaRPr lang="en-US" sz="1000" dirty="0"/>
          </a:p>
        </p:txBody>
      </p:sp>
      <p:sp>
        <p:nvSpPr>
          <p:cNvPr id="7" name="Text 4"/>
          <p:cNvSpPr txBox="1"/>
          <p:nvPr/>
        </p:nvSpPr>
        <p:spPr>
          <a:xfrm>
            <a:off x="476402" y="1527048"/>
            <a:ext cx="3924605" cy="419710"/>
          </a:xfrm>
          <a:prstGeom prst="rect">
            <a:avLst/>
          </a:prstGeom>
          <a:noFill/>
          <a:ln/>
        </p:spPr>
        <p:txBody>
          <a:bodyPr wrap="square" lIns="0" tIns="0" rIns="0" bIns="0" rtlCol="0" anchor="ctr"/>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업스케일링 기법</a:t>
            </a:r>
            <a:endParaRPr lang="en-US" sz="3000" dirty="0"/>
          </a:p>
        </p:txBody>
      </p:sp>
      <p:sp>
        <p:nvSpPr>
          <p:cNvPr id="8" name="Text 5"/>
          <p:cNvSpPr txBox="1"/>
          <p:nvPr/>
        </p:nvSpPr>
        <p:spPr>
          <a:xfrm>
            <a:off x="476402" y="1993392"/>
            <a:ext cx="2755087"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Upscaling &amp; Detail Enhancement</a:t>
            </a:r>
            <a:endParaRPr lang="en-US" sz="1200" dirty="0"/>
          </a:p>
        </p:txBody>
      </p:sp>
      <p:sp>
        <p:nvSpPr>
          <p:cNvPr id="9" name="Text 6"/>
          <p:cNvSpPr txBox="1"/>
          <p:nvPr/>
        </p:nvSpPr>
        <p:spPr>
          <a:xfrm>
            <a:off x="476402" y="2403043"/>
            <a:ext cx="3696005" cy="428854"/>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AI로 생성된 저해상도 </a:t>
            </a:r>
            <a:r>
              <a:rPr lang="en-US" sz="1100" dirty="0" err="1">
                <a:solidFill>
                  <a:srgbClr val="4B5563"/>
                </a:solidFill>
                <a:latin typeface="Noto Sans KR" pitchFamily="34" charset="0"/>
                <a:ea typeface="Noto Sans KR" pitchFamily="34" charset="-122"/>
                <a:cs typeface="Noto Sans KR" pitchFamily="34" charset="-120"/>
              </a:rPr>
              <a:t>이미지를</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상업용</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인쇄나</a:t>
            </a: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고화질</a:t>
            </a:r>
            <a:r>
              <a:rPr lang="en-US" sz="1100" dirty="0">
                <a:solidFill>
                  <a:srgbClr val="4B5563"/>
                </a:solidFill>
                <a:latin typeface="Noto Sans KR" pitchFamily="34" charset="0"/>
                <a:ea typeface="Noto Sans KR" pitchFamily="34" charset="-122"/>
                <a:cs typeface="Noto Sans KR" pitchFamily="34" charset="-120"/>
              </a:rPr>
              <a:t> 디스플레이에 적합하게 변환하는 필수 워크플로우입니다.</a:t>
            </a:r>
            <a:endParaRPr lang="en-US" sz="1100" dirty="0"/>
          </a:p>
        </p:txBody>
      </p:sp>
      <p:sp>
        <p:nvSpPr>
          <p:cNvPr id="10" name="Shape 7"/>
          <p:cNvSpPr/>
          <p:nvPr/>
        </p:nvSpPr>
        <p:spPr>
          <a:xfrm>
            <a:off x="476402" y="3060497"/>
            <a:ext cx="3619195" cy="1723644"/>
          </a:xfrm>
          <a:prstGeom prst="roundRect">
            <a:avLst>
              <a:gd name="adj" fmla="val 3517"/>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60497"/>
            <a:ext cx="38405" cy="1723644"/>
          </a:xfrm>
          <a:prstGeom prst="roundRect">
            <a:avLst>
              <a:gd name="adj" fmla="val 157852"/>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60750"/>
            <a:ext cx="1410005"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UPSCALING WORKFLOW</a:t>
            </a:r>
            <a:endParaRPr lang="en-US" sz="900" dirty="0"/>
          </a:p>
        </p:txBody>
      </p:sp>
      <p:pic>
        <p:nvPicPr>
          <p:cNvPr id="13" name="Image 1" descr="preencoded.png"/>
          <p:cNvPicPr>
            <a:picLocks noChangeAspect="1"/>
          </p:cNvPicPr>
          <p:nvPr/>
        </p:nvPicPr>
        <p:blipFill>
          <a:blip r:embed="rId4">
            <a:alphaModFix amt="50000"/>
          </a:blip>
          <a:srcRect t="-22432" b="-22432"/>
          <a:stretch/>
        </p:blipFill>
        <p:spPr>
          <a:xfrm>
            <a:off x="3762756" y="3260750"/>
            <a:ext cx="133502" cy="171907"/>
          </a:xfrm>
          <a:prstGeom prst="rect">
            <a:avLst/>
          </a:prstGeom>
        </p:spPr>
      </p:pic>
      <p:sp>
        <p:nvSpPr>
          <p:cNvPr id="14" name="Text 10"/>
          <p:cNvSpPr txBox="1"/>
          <p:nvPr/>
        </p:nvSpPr>
        <p:spPr>
          <a:xfrm>
            <a:off x="705002" y="3556102"/>
            <a:ext cx="555955"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[Step 1]</a:t>
            </a:r>
            <a:endParaRPr lang="en-US" sz="900" dirty="0"/>
          </a:p>
        </p:txBody>
      </p:sp>
      <p:sp>
        <p:nvSpPr>
          <p:cNvPr id="15" name="Text 11"/>
          <p:cNvSpPr txBox="1"/>
          <p:nvPr/>
        </p:nvSpPr>
        <p:spPr>
          <a:xfrm>
            <a:off x="1304849" y="3536899"/>
            <a:ext cx="188000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기본 생성 (구도/느낌 확정)</a:t>
            </a:r>
            <a:endParaRPr lang="en-US" sz="1000" dirty="0"/>
          </a:p>
        </p:txBody>
      </p:sp>
      <p:sp>
        <p:nvSpPr>
          <p:cNvPr id="16" name="Text 12"/>
          <p:cNvSpPr txBox="1"/>
          <p:nvPr/>
        </p:nvSpPr>
        <p:spPr>
          <a:xfrm>
            <a:off x="705002" y="3837737"/>
            <a:ext cx="578815"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[Step 2]</a:t>
            </a:r>
            <a:endParaRPr lang="en-US" sz="900" dirty="0"/>
          </a:p>
        </p:txBody>
      </p:sp>
      <p:sp>
        <p:nvSpPr>
          <p:cNvPr id="17" name="Text 13"/>
          <p:cNvSpPr txBox="1"/>
          <p:nvPr/>
        </p:nvSpPr>
        <p:spPr>
          <a:xfrm>
            <a:off x="1304849" y="3818534"/>
            <a:ext cx="166695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업스케일링 (2x~4x 확대)</a:t>
            </a:r>
            <a:endParaRPr lang="en-US" sz="1000" dirty="0"/>
          </a:p>
        </p:txBody>
      </p:sp>
      <p:sp>
        <p:nvSpPr>
          <p:cNvPr id="18" name="Text 14"/>
          <p:cNvSpPr txBox="1"/>
          <p:nvPr/>
        </p:nvSpPr>
        <p:spPr>
          <a:xfrm>
            <a:off x="705002" y="4119372"/>
            <a:ext cx="578815"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[Step 3]</a:t>
            </a:r>
            <a:endParaRPr lang="en-US" sz="900" dirty="0"/>
          </a:p>
        </p:txBody>
      </p:sp>
      <p:sp>
        <p:nvSpPr>
          <p:cNvPr id="19" name="Text 15"/>
          <p:cNvSpPr txBox="1"/>
          <p:nvPr/>
        </p:nvSpPr>
        <p:spPr>
          <a:xfrm>
            <a:off x="1304849" y="4100170"/>
            <a:ext cx="201716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디테일 복원 (얼굴/질감 수정)</a:t>
            </a:r>
            <a:endParaRPr lang="en-US" sz="1000" dirty="0"/>
          </a:p>
        </p:txBody>
      </p:sp>
      <p:sp>
        <p:nvSpPr>
          <p:cNvPr id="20" name="Text 16"/>
          <p:cNvSpPr txBox="1"/>
          <p:nvPr/>
        </p:nvSpPr>
        <p:spPr>
          <a:xfrm>
            <a:off x="705002" y="4401007"/>
            <a:ext cx="578815"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[Step 4]</a:t>
            </a:r>
            <a:endParaRPr lang="en-US" sz="900" dirty="0"/>
          </a:p>
        </p:txBody>
      </p:sp>
      <p:sp>
        <p:nvSpPr>
          <p:cNvPr id="21" name="Text 17"/>
          <p:cNvSpPr txBox="1"/>
          <p:nvPr/>
        </p:nvSpPr>
        <p:spPr>
          <a:xfrm>
            <a:off x="1304849" y="4382719"/>
            <a:ext cx="209946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후보정 (그레인 추가, 톤 정리)</a:t>
            </a:r>
            <a:endParaRPr lang="en-US" sz="1000" dirty="0"/>
          </a:p>
        </p:txBody>
      </p:sp>
      <p:sp>
        <p:nvSpPr>
          <p:cNvPr id="22" name="Shape 18"/>
          <p:cNvSpPr/>
          <p:nvPr/>
        </p:nvSpPr>
        <p:spPr>
          <a:xfrm>
            <a:off x="476402" y="4968850"/>
            <a:ext cx="3619195" cy="1062834"/>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dirty="0"/>
          </a:p>
        </p:txBody>
      </p:sp>
      <p:pic>
        <p:nvPicPr>
          <p:cNvPr id="23" name="Image 2" descr="preencoded.png"/>
          <p:cNvPicPr>
            <a:picLocks noChangeAspect="1"/>
          </p:cNvPicPr>
          <p:nvPr/>
        </p:nvPicPr>
        <p:blipFill>
          <a:blip r:embed="rId5"/>
          <a:srcRect l="-2512" r="-2512"/>
          <a:stretch/>
        </p:blipFill>
        <p:spPr>
          <a:xfrm>
            <a:off x="609905" y="5157216"/>
            <a:ext cx="105156" cy="133502"/>
          </a:xfrm>
          <a:prstGeom prst="rect">
            <a:avLst/>
          </a:prstGeom>
        </p:spPr>
      </p:pic>
      <p:sp>
        <p:nvSpPr>
          <p:cNvPr id="24" name="Text 19"/>
          <p:cNvSpPr txBox="1"/>
          <p:nvPr/>
        </p:nvSpPr>
        <p:spPr>
          <a:xfrm>
            <a:off x="809244" y="5102352"/>
            <a:ext cx="31455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Tip:</a:t>
            </a:r>
            <a:endParaRPr lang="en-US" sz="900" dirty="0"/>
          </a:p>
        </p:txBody>
      </p:sp>
      <p:sp>
        <p:nvSpPr>
          <p:cNvPr id="25" name="Text 20"/>
          <p:cNvSpPr txBox="1"/>
          <p:nvPr/>
        </p:nvSpPr>
        <p:spPr>
          <a:xfrm>
            <a:off x="809244" y="5344232"/>
            <a:ext cx="3162910" cy="372161"/>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업스케일링 시 'Creativity(변형도)' 수치를 너무 높이면 원본이 왜곡될 수 있습니다. 30% 이하 유지를 권장합니다.</a:t>
            </a:r>
            <a:endParaRPr lang="en-US" sz="1100" dirty="0"/>
          </a:p>
        </p:txBody>
      </p:sp>
      <p:pic>
        <p:nvPicPr>
          <p:cNvPr id="26"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7"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28"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29" name="Text 21"/>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0" name="Text 22"/>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업스케일링 기법 다이어그램. 저해상도 이미지에서 고해상도로 변환되는 과정, 비포/애프터 비교, 화살표로 연결된 단계별 프로세스, 기술 설명 텍스트, 깔끔한 인포그래픽 스타일, 블루/그레이 톤. 이미지 내 모든 텍스트는 한국어로 표시되어야 합니다.</a:t>
            </a:r>
            <a:endParaRPr lang="en-US" sz="1200" dirty="0"/>
          </a:p>
        </p:txBody>
      </p:sp>
      <p:sp>
        <p:nvSpPr>
          <p:cNvPr id="31" name="Shape 23"/>
          <p:cNvSpPr/>
          <p:nvPr/>
        </p:nvSpPr>
        <p:spPr>
          <a:xfrm>
            <a:off x="10173614" y="647395"/>
            <a:ext cx="1352398"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2" name="Image 6" descr="preencoded.png"/>
          <p:cNvPicPr>
            <a:picLocks noChangeAspect="1"/>
          </p:cNvPicPr>
          <p:nvPr/>
        </p:nvPicPr>
        <p:blipFill>
          <a:blip r:embed="rId9"/>
          <a:srcRect/>
          <a:stretch/>
        </p:blipFill>
        <p:spPr>
          <a:xfrm>
            <a:off x="10307117" y="733349"/>
            <a:ext cx="114300" cy="114300"/>
          </a:xfrm>
          <a:prstGeom prst="rect">
            <a:avLst/>
          </a:prstGeom>
        </p:spPr>
      </p:pic>
      <p:sp>
        <p:nvSpPr>
          <p:cNvPr id="33" name="Text 24"/>
          <p:cNvSpPr txBox="1"/>
          <p:nvPr/>
        </p:nvSpPr>
        <p:spPr>
          <a:xfrm>
            <a:off x="10478110" y="647395"/>
            <a:ext cx="972007"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Process Diagram</a:t>
            </a:r>
            <a:endParaRPr lang="en-US" sz="900" dirty="0"/>
          </a:p>
        </p:txBody>
      </p:sp>
      <p:sp>
        <p:nvSpPr>
          <p:cNvPr id="34" name="S3 도구별 메모"/>
          <p:cNvSpPr txBox="1"/>
          <p:nvPr/>
        </p:nvSpPr>
        <p:spPr>
          <a:xfrm>
            <a:off x="476402" y="180000"/>
            <a:ext cx="3900000" cy="260000"/>
          </a:xfrm>
          <a:prstGeom prst="rect">
            <a:avLst/>
          </a:prstGeom>
          <a:noFill/>
        </p:spPr>
        <p:txBody>
          <a:bodyPr wrap="square" lIns="0" tIns="0" rIns="0" bIns="0" anchor="t">
            <a:spAutoFit/>
          </a:bodyPr>
          <a:lstStyle/>
          <a:p>
            <a:r>
              <a:rPr lang="ko-KR" sz="900" b="1" dirty="0">
                <a:solidFill>
                  <a:srgbClr val="FF6908"/>
                </a:solidFill>
                <a:latin typeface="Noto Sans KR"/>
                <a:ea typeface="Noto Sans KR"/>
                <a:cs typeface="Noto Sans KR"/>
              </a:rPr>
              <a:t>도구별 메모 — Stable Diffusion 계열 도구 기준</a:t>
            </a:r>
          </a:p>
        </p:txBody>
      </p:sp>
      <p:sp>
        <p:nvSpPr>
          <p:cNvPr id="35"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628193"/>
            <a:ext cx="161849" cy="133502"/>
          </a:xfrm>
          <a:prstGeom prst="rect">
            <a:avLst/>
          </a:prstGeom>
        </p:spPr>
      </p:pic>
      <p:sp>
        <p:nvSpPr>
          <p:cNvPr id="6" name="Text 3"/>
          <p:cNvSpPr txBox="1"/>
          <p:nvPr/>
        </p:nvSpPr>
        <p:spPr>
          <a:xfrm>
            <a:off x="714146" y="594360"/>
            <a:ext cx="2002536"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ADVANCED TECHNIQUE 03</a:t>
            </a:r>
            <a:endParaRPr lang="en-US" sz="1000" dirty="0"/>
          </a:p>
        </p:txBody>
      </p:sp>
      <p:sp>
        <p:nvSpPr>
          <p:cNvPr id="7" name="Text 4"/>
          <p:cNvSpPr txBox="1"/>
          <p:nvPr/>
        </p:nvSpPr>
        <p:spPr>
          <a:xfrm>
            <a:off x="476402" y="870509"/>
            <a:ext cx="3764585" cy="886054"/>
          </a:xfrm>
          <a:prstGeom prst="rect">
            <a:avLst/>
          </a:prstGeom>
          <a:noFill/>
          <a:ln/>
        </p:spPr>
        <p:txBody>
          <a:bodyPr wrap="square" lIns="0" tIns="0" rIns="0" bIns="0" rtlCol="0" anchor="t"/>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이미지 투 이미지</a:t>
            </a:r>
            <a:endParaRPr lang="en-US" sz="3100" dirty="0"/>
          </a:p>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변환 기법</a:t>
            </a:r>
            <a:endParaRPr lang="en-US" sz="3100" dirty="0"/>
          </a:p>
        </p:txBody>
      </p:sp>
      <p:sp>
        <p:nvSpPr>
          <p:cNvPr id="8" name="Text 5"/>
          <p:cNvSpPr txBox="1"/>
          <p:nvPr/>
        </p:nvSpPr>
        <p:spPr>
          <a:xfrm>
            <a:off x="476402" y="1798625"/>
            <a:ext cx="272034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Image-to-Image Transformation</a:t>
            </a:r>
            <a:endParaRPr lang="en-US" sz="1200" dirty="0"/>
          </a:p>
        </p:txBody>
      </p:sp>
      <p:sp>
        <p:nvSpPr>
          <p:cNvPr id="9" name="Text 6"/>
          <p:cNvSpPr txBox="1"/>
          <p:nvPr/>
        </p:nvSpPr>
        <p:spPr>
          <a:xfrm>
            <a:off x="476402" y="2208276"/>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간단한 러프 스케치나 구도 레퍼런스를 바탕으로 완성도 높은 이미지를 생성하는 기술입니다. 구도와 형태를 유지하면서 스타일과 디테일만 변경할 때 유용합니다.</a:t>
            </a:r>
            <a:endParaRPr lang="en-US" sz="1100" dirty="0"/>
          </a:p>
        </p:txBody>
      </p:sp>
      <p:sp>
        <p:nvSpPr>
          <p:cNvPr id="10" name="Shape 7"/>
          <p:cNvSpPr/>
          <p:nvPr/>
        </p:nvSpPr>
        <p:spPr>
          <a:xfrm>
            <a:off x="476402" y="3079699"/>
            <a:ext cx="3619195" cy="2171700"/>
          </a:xfrm>
          <a:prstGeom prst="roundRect">
            <a:avLst>
              <a:gd name="adj" fmla="val 2216"/>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79699"/>
            <a:ext cx="38405" cy="2171700"/>
          </a:xfrm>
          <a:prstGeom prst="roundRect">
            <a:avLst>
              <a:gd name="adj" fmla="val 125313"/>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279953"/>
            <a:ext cx="1800454"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TRANSFORMATION WORKFLOW</a:t>
            </a:r>
            <a:endParaRPr lang="en-US" sz="900" dirty="0"/>
          </a:p>
        </p:txBody>
      </p:sp>
      <p:pic>
        <p:nvPicPr>
          <p:cNvPr id="13" name="Image 1" descr="preencoded.png"/>
          <p:cNvPicPr>
            <a:picLocks noChangeAspect="1"/>
          </p:cNvPicPr>
          <p:nvPr/>
        </p:nvPicPr>
        <p:blipFill>
          <a:blip r:embed="rId4">
            <a:alphaModFix amt="50000"/>
          </a:blip>
          <a:srcRect t="-25321" b="-25321"/>
          <a:stretch/>
        </p:blipFill>
        <p:spPr>
          <a:xfrm>
            <a:off x="3752698" y="3279953"/>
            <a:ext cx="142646" cy="171907"/>
          </a:xfrm>
          <a:prstGeom prst="rect">
            <a:avLst/>
          </a:prstGeom>
        </p:spPr>
      </p:pic>
      <p:sp>
        <p:nvSpPr>
          <p:cNvPr id="14" name="Text 10"/>
          <p:cNvSpPr txBox="1"/>
          <p:nvPr/>
        </p:nvSpPr>
        <p:spPr>
          <a:xfrm>
            <a:off x="705002" y="3575304"/>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[입력]</a:t>
            </a:r>
            <a:endParaRPr lang="en-US" sz="900" dirty="0"/>
          </a:p>
        </p:txBody>
      </p:sp>
      <p:sp>
        <p:nvSpPr>
          <p:cNvPr id="15" name="Text 11"/>
          <p:cNvSpPr txBox="1"/>
          <p:nvPr/>
        </p:nvSpPr>
        <p:spPr>
          <a:xfrm>
            <a:off x="1352398" y="3556102"/>
            <a:ext cx="188457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러프 스케치 또는 3D 모델링</a:t>
            </a:r>
            <a:endParaRPr lang="en-US" sz="1000" dirty="0"/>
          </a:p>
        </p:txBody>
      </p:sp>
      <p:sp>
        <p:nvSpPr>
          <p:cNvPr id="16" name="Text 12"/>
          <p:cNvSpPr txBox="1"/>
          <p:nvPr/>
        </p:nvSpPr>
        <p:spPr>
          <a:xfrm>
            <a:off x="705002" y="385693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[설정]</a:t>
            </a:r>
            <a:endParaRPr lang="en-US" sz="900" dirty="0"/>
          </a:p>
        </p:txBody>
      </p:sp>
      <p:sp>
        <p:nvSpPr>
          <p:cNvPr id="17" name="Text 13"/>
          <p:cNvSpPr txBox="1"/>
          <p:nvPr/>
        </p:nvSpPr>
        <p:spPr>
          <a:xfrm>
            <a:off x="1352398" y="3837737"/>
            <a:ext cx="1576426"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Denoising: 0.6 ~ 0.75</a:t>
            </a:r>
            <a:endParaRPr lang="en-US" sz="1000" dirty="0"/>
          </a:p>
        </p:txBody>
      </p:sp>
      <p:sp>
        <p:nvSpPr>
          <p:cNvPr id="18" name="Text 14"/>
          <p:cNvSpPr txBox="1"/>
          <p:nvPr/>
        </p:nvSpPr>
        <p:spPr>
          <a:xfrm>
            <a:off x="705002" y="4138574"/>
            <a:ext cx="486461" cy="352958"/>
          </a:xfrm>
          <a:prstGeom prst="rect">
            <a:avLst/>
          </a:prstGeom>
          <a:noFill/>
          <a:ln/>
        </p:spPr>
        <p:txBody>
          <a:bodyPr wrap="square" lIns="0" tIns="0" rIns="0" bIns="0" rtlCol="0" anchor="t"/>
          <a:lstStyle/>
          <a:p>
            <a:pPr marL="0" indent="0" algn="l">
              <a:buNone/>
            </a:pPr>
            <a:r>
              <a:rPr lang="en-US" sz="900" b="1" dirty="0">
                <a:solidFill>
                  <a:srgbClr val="FF6908"/>
                </a:solidFill>
                <a:latin typeface="Manrope" pitchFamily="34" charset="0"/>
                <a:ea typeface="Manrope" pitchFamily="34" charset="-122"/>
                <a:cs typeface="Manrope" pitchFamily="34" charset="-120"/>
              </a:rPr>
              <a:t>[프롬프트]</a:t>
            </a:r>
            <a:endParaRPr lang="en-US" sz="900" dirty="0"/>
          </a:p>
        </p:txBody>
      </p:sp>
      <p:sp>
        <p:nvSpPr>
          <p:cNvPr id="19" name="Text 15"/>
          <p:cNvSpPr txBox="1"/>
          <p:nvPr/>
        </p:nvSpPr>
        <p:spPr>
          <a:xfrm>
            <a:off x="1352398" y="4119372"/>
            <a:ext cx="302666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masterpiece, best quality, futuristic city</a:t>
            </a:r>
            <a:endParaRPr lang="en-US" sz="1000" dirty="0"/>
          </a:p>
        </p:txBody>
      </p:sp>
      <p:sp>
        <p:nvSpPr>
          <p:cNvPr id="20" name="Text 16"/>
          <p:cNvSpPr txBox="1"/>
          <p:nvPr/>
        </p:nvSpPr>
        <p:spPr>
          <a:xfrm>
            <a:off x="705002" y="459028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[제어]</a:t>
            </a:r>
            <a:endParaRPr lang="en-US" sz="900" dirty="0"/>
          </a:p>
        </p:txBody>
      </p:sp>
      <p:sp>
        <p:nvSpPr>
          <p:cNvPr id="21" name="Text 17"/>
          <p:cNvSpPr txBox="1"/>
          <p:nvPr/>
        </p:nvSpPr>
        <p:spPr>
          <a:xfrm>
            <a:off x="1352398" y="4571086"/>
            <a:ext cx="1961388"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ControlNet (Canny) 활성화</a:t>
            </a:r>
            <a:endParaRPr lang="en-US" sz="1000" dirty="0"/>
          </a:p>
        </p:txBody>
      </p:sp>
      <p:sp>
        <p:nvSpPr>
          <p:cNvPr id="22" name="Text 18"/>
          <p:cNvSpPr txBox="1"/>
          <p:nvPr/>
        </p:nvSpPr>
        <p:spPr>
          <a:xfrm>
            <a:off x="705002" y="487192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[목표]</a:t>
            </a:r>
            <a:endParaRPr lang="en-US" sz="900" dirty="0"/>
          </a:p>
        </p:txBody>
      </p:sp>
      <p:sp>
        <p:nvSpPr>
          <p:cNvPr id="23" name="Text 19"/>
          <p:cNvSpPr txBox="1"/>
          <p:nvPr/>
        </p:nvSpPr>
        <p:spPr>
          <a:xfrm>
            <a:off x="1352398" y="4852721"/>
            <a:ext cx="2675534"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스케치를 고품질 사이버펑크 도시로 변환</a:t>
            </a:r>
            <a:endParaRPr lang="en-US" sz="1000" dirty="0"/>
          </a:p>
        </p:txBody>
      </p:sp>
      <p:sp>
        <p:nvSpPr>
          <p:cNvPr id="24" name="Shape 20"/>
          <p:cNvSpPr/>
          <p:nvPr/>
        </p:nvSpPr>
        <p:spPr>
          <a:xfrm>
            <a:off x="476402" y="5439765"/>
            <a:ext cx="3619195" cy="1002979"/>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l="-2512" r="-2512"/>
          <a:stretch/>
        </p:blipFill>
        <p:spPr>
          <a:xfrm>
            <a:off x="609905" y="5628132"/>
            <a:ext cx="105156" cy="133502"/>
          </a:xfrm>
          <a:prstGeom prst="rect">
            <a:avLst/>
          </a:prstGeom>
        </p:spPr>
      </p:pic>
      <p:sp>
        <p:nvSpPr>
          <p:cNvPr id="26" name="Text 21"/>
          <p:cNvSpPr txBox="1"/>
          <p:nvPr/>
        </p:nvSpPr>
        <p:spPr>
          <a:xfrm>
            <a:off x="809244" y="5573268"/>
            <a:ext cx="57881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Pro Tip:</a:t>
            </a:r>
            <a:endParaRPr lang="en-US" sz="900" dirty="0"/>
          </a:p>
        </p:txBody>
      </p:sp>
      <p:sp>
        <p:nvSpPr>
          <p:cNvPr id="27" name="Text 22"/>
          <p:cNvSpPr txBox="1"/>
          <p:nvPr/>
        </p:nvSpPr>
        <p:spPr>
          <a:xfrm>
            <a:off x="809244" y="5780929"/>
            <a:ext cx="3152851"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Denoising Strength 값이 너무 낮으면(0.3 이하) 변화가 거의 없고, 너무 높으면(0.8 이상) 원본 구도가 무너질 수 있습니다. 0.6부터 조절하세요.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이미지 투 이미지 변환 기법. 원본 스케치에서 완성된 이미지로 변환되는 과정, 좌우 분할 화면, 스케치(왼쪽)와 렌더링(오른쪽), 화살표와 기술 설명, 프로세스 다이어그램 스타일, 퍼플/블루 톤. 이미지 내 모든 텍스트는 한국어로 표시되어야 합니다.</a:t>
            </a:r>
            <a:endParaRPr lang="en-US" sz="1200" dirty="0"/>
          </a:p>
        </p:txBody>
      </p:sp>
      <p:sp>
        <p:nvSpPr>
          <p:cNvPr id="33" name="Shape 25"/>
          <p:cNvSpPr/>
          <p:nvPr/>
        </p:nvSpPr>
        <p:spPr>
          <a:xfrm>
            <a:off x="9927641" y="647395"/>
            <a:ext cx="1600200"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061143" y="733349"/>
            <a:ext cx="114300" cy="114300"/>
          </a:xfrm>
          <a:prstGeom prst="rect">
            <a:avLst/>
          </a:prstGeom>
        </p:spPr>
      </p:pic>
      <p:sp>
        <p:nvSpPr>
          <p:cNvPr id="35" name="Text 26"/>
          <p:cNvSpPr txBox="1"/>
          <p:nvPr/>
        </p:nvSpPr>
        <p:spPr>
          <a:xfrm>
            <a:off x="10233050" y="647395"/>
            <a:ext cx="121981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Process Visualization</a:t>
            </a:r>
            <a:endParaRPr lang="en-US" sz="900" dirty="0"/>
          </a:p>
        </p:txBody>
      </p:sp>
      <p:sp>
        <p:nvSpPr>
          <p:cNvPr id="36" name="S3 도구별 메모"/>
          <p:cNvSpPr txBox="1"/>
          <p:nvPr/>
        </p:nvSpPr>
        <p:spPr>
          <a:xfrm>
            <a:off x="476402" y="180000"/>
            <a:ext cx="3900000" cy="260000"/>
          </a:xfrm>
          <a:prstGeom prst="rect">
            <a:avLst/>
          </a:prstGeom>
          <a:noFill/>
        </p:spPr>
        <p:txBody>
          <a:bodyPr wrap="square" lIns="0" tIns="0" rIns="0" bIns="0" anchor="t">
            <a:spAutoFit/>
          </a:bodyPr>
          <a:lstStyle/>
          <a:p>
            <a:r>
              <a:rPr lang="ko-KR" sz="900" b="1" dirty="0">
                <a:solidFill>
                  <a:srgbClr val="FF6908"/>
                </a:solidFill>
                <a:latin typeface="Noto Sans KR"/>
                <a:ea typeface="Noto Sans KR"/>
                <a:cs typeface="Noto Sans KR"/>
              </a:rPr>
              <a:t>도구별 메모 — Stable Diffusion 계열 도구 기준</a:t>
            </a:r>
          </a:p>
        </p:txBody>
      </p:sp>
      <p:sp>
        <p:nvSpPr>
          <p:cNvPr id="37"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425" r="-3425"/>
          <a:stretch/>
        </p:blipFill>
        <p:spPr>
          <a:xfrm>
            <a:off x="476402" y="980237"/>
            <a:ext cx="142646" cy="133502"/>
          </a:xfrm>
          <a:prstGeom prst="rect">
            <a:avLst/>
          </a:prstGeom>
        </p:spPr>
      </p:pic>
      <p:sp>
        <p:nvSpPr>
          <p:cNvPr id="6" name="Text 3"/>
          <p:cNvSpPr txBox="1"/>
          <p:nvPr/>
        </p:nvSpPr>
        <p:spPr>
          <a:xfrm>
            <a:off x="694944" y="946404"/>
            <a:ext cx="1523390"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ADVANCED TECH 04</a:t>
            </a:r>
            <a:endParaRPr lang="en-US" sz="1000" dirty="0"/>
          </a:p>
        </p:txBody>
      </p:sp>
      <p:sp>
        <p:nvSpPr>
          <p:cNvPr id="7" name="Text 4"/>
          <p:cNvSpPr txBox="1"/>
          <p:nvPr/>
        </p:nvSpPr>
        <p:spPr>
          <a:xfrm>
            <a:off x="476402" y="1223467"/>
            <a:ext cx="4486046"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캐릭터 일관성 유지</a:t>
            </a:r>
            <a:endParaRPr lang="en-US" sz="3100" dirty="0"/>
          </a:p>
        </p:txBody>
      </p:sp>
      <p:sp>
        <p:nvSpPr>
          <p:cNvPr id="8" name="Text 5"/>
          <p:cNvSpPr txBox="1"/>
          <p:nvPr/>
        </p:nvSpPr>
        <p:spPr>
          <a:xfrm>
            <a:off x="476402" y="1710842"/>
            <a:ext cx="2833726"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Consistent Character Generation</a:t>
            </a:r>
            <a:endParaRPr lang="en-US" sz="1200" dirty="0"/>
          </a:p>
        </p:txBody>
      </p:sp>
      <p:sp>
        <p:nvSpPr>
          <p:cNvPr id="9" name="Text 6"/>
          <p:cNvSpPr txBox="1"/>
          <p:nvPr/>
        </p:nvSpPr>
        <p:spPr>
          <a:xfrm>
            <a:off x="476402" y="2120494"/>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동일한 캐릭터가 다양한 상황과 </a:t>
            </a:r>
            <a:r>
              <a:rPr lang="en-US" sz="1100" dirty="0" err="1">
                <a:solidFill>
                  <a:srgbClr val="4B5563"/>
                </a:solidFill>
                <a:latin typeface="Noto Sans KR" pitchFamily="34" charset="0"/>
                <a:ea typeface="Noto Sans KR" pitchFamily="34" charset="-122"/>
                <a:cs typeface="Noto Sans KR" pitchFamily="34" charset="-120"/>
              </a:rPr>
              <a:t>포즈에서도</a:t>
            </a:r>
            <a:r>
              <a:rPr lang="en-US" sz="1100" dirty="0">
                <a:solidFill>
                  <a:srgbClr val="4B5563"/>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같은</a:t>
            </a:r>
            <a:r>
              <a:rPr lang="en-US" sz="1100" dirty="0">
                <a:solidFill>
                  <a:srgbClr val="4B5563"/>
                </a:solidFill>
                <a:latin typeface="Noto Sans KR" pitchFamily="34" charset="0"/>
                <a:ea typeface="Noto Sans KR" pitchFamily="34" charset="-122"/>
                <a:cs typeface="Noto Sans KR" pitchFamily="34" charset="-120"/>
              </a:rPr>
              <a:t> 인물로 인식되도록 하는 기법입니다. </a:t>
            </a:r>
          </a:p>
          <a:p>
            <a:pPr marL="0" indent="0" algn="l">
              <a:buNone/>
            </a:pP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시드</a:t>
            </a:r>
            <a:r>
              <a:rPr lang="en-US" sz="1100" dirty="0">
                <a:solidFill>
                  <a:srgbClr val="4B5563"/>
                </a:solidFill>
                <a:latin typeface="Noto Sans KR" pitchFamily="34" charset="0"/>
                <a:ea typeface="Noto Sans KR" pitchFamily="34" charset="-122"/>
                <a:cs typeface="Noto Sans KR" pitchFamily="34" charset="-120"/>
              </a:rPr>
              <a:t> 고정과 상세 묘사 잠금이 핵심입니다.</a:t>
            </a:r>
            <a:endParaRPr lang="en-US" sz="1100" dirty="0"/>
          </a:p>
        </p:txBody>
      </p:sp>
      <p:sp>
        <p:nvSpPr>
          <p:cNvPr id="10" name="Shape 7"/>
          <p:cNvSpPr/>
          <p:nvPr/>
        </p:nvSpPr>
        <p:spPr>
          <a:xfrm>
            <a:off x="476402" y="2991917"/>
            <a:ext cx="3619195" cy="1904695"/>
          </a:xfrm>
          <a:prstGeom prst="roundRect">
            <a:avLst>
              <a:gd name="adj" fmla="val 2880"/>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2991917"/>
            <a:ext cx="38405" cy="1904695"/>
          </a:xfrm>
          <a:prstGeom prst="roundRect">
            <a:avLst>
              <a:gd name="adj" fmla="val 142856"/>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05002" y="3192170"/>
            <a:ext cx="1476756"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TECHNIQUE BREAKDOWN</a:t>
            </a:r>
            <a:endParaRPr lang="en-US" sz="900" dirty="0"/>
          </a:p>
        </p:txBody>
      </p:sp>
      <p:pic>
        <p:nvPicPr>
          <p:cNvPr id="13" name="Image 1" descr="preencoded.png"/>
          <p:cNvPicPr>
            <a:picLocks noChangeAspect="1"/>
          </p:cNvPicPr>
          <p:nvPr/>
        </p:nvPicPr>
        <p:blipFill>
          <a:blip r:embed="rId4">
            <a:alphaModFix amt="50000"/>
          </a:blip>
          <a:srcRect t="-25200" b="-25200"/>
          <a:stretch/>
        </p:blipFill>
        <p:spPr>
          <a:xfrm>
            <a:off x="3781044" y="3192170"/>
            <a:ext cx="114300" cy="171907"/>
          </a:xfrm>
          <a:prstGeom prst="rect">
            <a:avLst/>
          </a:prstGeom>
        </p:spPr>
      </p:pic>
      <p:sp>
        <p:nvSpPr>
          <p:cNvPr id="14" name="Text 10"/>
          <p:cNvSpPr txBox="1"/>
          <p:nvPr/>
        </p:nvSpPr>
        <p:spPr>
          <a:xfrm>
            <a:off x="705002" y="3487522"/>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[기법]</a:t>
            </a:r>
            <a:endParaRPr lang="en-US" sz="900" dirty="0"/>
          </a:p>
        </p:txBody>
      </p:sp>
      <p:sp>
        <p:nvSpPr>
          <p:cNvPr id="15" name="Text 11"/>
          <p:cNvSpPr txBox="1"/>
          <p:nvPr/>
        </p:nvSpPr>
        <p:spPr>
          <a:xfrm>
            <a:off x="1257300" y="3468319"/>
            <a:ext cx="232440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시드(Seed) 고정, 캐릭터 시트 활용</a:t>
            </a:r>
            <a:endParaRPr lang="en-US" sz="1000" dirty="0"/>
          </a:p>
        </p:txBody>
      </p:sp>
      <p:sp>
        <p:nvSpPr>
          <p:cNvPr id="16" name="Text 12"/>
          <p:cNvSpPr txBox="1"/>
          <p:nvPr/>
        </p:nvSpPr>
        <p:spPr>
          <a:xfrm>
            <a:off x="705002" y="3769157"/>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[구조]</a:t>
            </a:r>
            <a:endParaRPr lang="en-US" sz="900" dirty="0"/>
          </a:p>
        </p:txBody>
      </p:sp>
      <p:sp>
        <p:nvSpPr>
          <p:cNvPr id="17" name="Text 13"/>
          <p:cNvSpPr txBox="1"/>
          <p:nvPr/>
        </p:nvSpPr>
        <p:spPr>
          <a:xfrm>
            <a:off x="1257300" y="3749954"/>
            <a:ext cx="2477110" cy="381305"/>
          </a:xfrm>
          <a:prstGeom prst="rect">
            <a:avLst/>
          </a:prstGeom>
          <a:noFill/>
          <a:ln/>
        </p:spPr>
        <p:txBody>
          <a:bodyPr wrap="square" lIns="0" tIns="0" rIns="0" bIns="0" rtlCol="0" anchor="t"/>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(Name) features: [Hair, Eyes, Outfit] + (Action)</a:t>
            </a:r>
            <a:endParaRPr lang="en-US" sz="1000" dirty="0"/>
          </a:p>
        </p:txBody>
      </p:sp>
      <p:sp>
        <p:nvSpPr>
          <p:cNvPr id="18" name="Text 14"/>
          <p:cNvSpPr txBox="1"/>
          <p:nvPr/>
        </p:nvSpPr>
        <p:spPr>
          <a:xfrm>
            <a:off x="705002" y="4237330"/>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[태그]</a:t>
            </a:r>
            <a:endParaRPr lang="en-US" sz="900" dirty="0"/>
          </a:p>
        </p:txBody>
      </p:sp>
      <p:sp>
        <p:nvSpPr>
          <p:cNvPr id="19" name="Text 15"/>
          <p:cNvSpPr txBox="1"/>
          <p:nvPr/>
        </p:nvSpPr>
        <p:spPr>
          <a:xfrm>
            <a:off x="1257300" y="4218127"/>
            <a:ext cx="264170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Identical character, multiple views</a:t>
            </a:r>
            <a:endParaRPr lang="en-US" sz="1000" dirty="0"/>
          </a:p>
        </p:txBody>
      </p:sp>
      <p:sp>
        <p:nvSpPr>
          <p:cNvPr id="20" name="Text 16"/>
          <p:cNvSpPr txBox="1"/>
          <p:nvPr/>
        </p:nvSpPr>
        <p:spPr>
          <a:xfrm>
            <a:off x="705002" y="4519879"/>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[설정]</a:t>
            </a:r>
            <a:endParaRPr lang="en-US" sz="900" dirty="0"/>
          </a:p>
        </p:txBody>
      </p:sp>
      <p:sp>
        <p:nvSpPr>
          <p:cNvPr id="21" name="Text 17"/>
          <p:cNvSpPr txBox="1"/>
          <p:nvPr/>
        </p:nvSpPr>
        <p:spPr>
          <a:xfrm>
            <a:off x="1257300" y="4500677"/>
            <a:ext cx="1950415"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Seed: 12345678, CFG: 7~9</a:t>
            </a:r>
            <a:endParaRPr lang="en-US" sz="1000" dirty="0"/>
          </a:p>
        </p:txBody>
      </p:sp>
      <p:sp>
        <p:nvSpPr>
          <p:cNvPr id="22" name="Shape 18"/>
          <p:cNvSpPr/>
          <p:nvPr/>
        </p:nvSpPr>
        <p:spPr>
          <a:xfrm>
            <a:off x="476402" y="5058804"/>
            <a:ext cx="3619195" cy="1064017"/>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3" name="Image 2" descr="preencoded.png"/>
          <p:cNvPicPr>
            <a:picLocks noChangeAspect="1"/>
          </p:cNvPicPr>
          <p:nvPr/>
        </p:nvPicPr>
        <p:blipFill>
          <a:blip r:embed="rId5"/>
          <a:srcRect l="-2512" r="-2512"/>
          <a:stretch/>
        </p:blipFill>
        <p:spPr>
          <a:xfrm>
            <a:off x="609905" y="5275174"/>
            <a:ext cx="105156" cy="133502"/>
          </a:xfrm>
          <a:prstGeom prst="rect">
            <a:avLst/>
          </a:prstGeom>
        </p:spPr>
      </p:pic>
      <p:sp>
        <p:nvSpPr>
          <p:cNvPr id="24" name="Text 19"/>
          <p:cNvSpPr txBox="1"/>
          <p:nvPr/>
        </p:nvSpPr>
        <p:spPr>
          <a:xfrm>
            <a:off x="809244" y="5220310"/>
            <a:ext cx="57881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Pro Tip:</a:t>
            </a:r>
            <a:endParaRPr lang="en-US" sz="900" dirty="0"/>
          </a:p>
        </p:txBody>
      </p:sp>
      <p:sp>
        <p:nvSpPr>
          <p:cNvPr id="25" name="Text 20"/>
          <p:cNvSpPr txBox="1"/>
          <p:nvPr/>
        </p:nvSpPr>
        <p:spPr>
          <a:xfrm>
            <a:off x="790497" y="5441594"/>
            <a:ext cx="3164911"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캐릭터의 고유 특징(예: '빨간 목도리', '왼쪽 뺨의 흉터')을 모든 프롬프트에 반복해서 기재하세요.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ControlNet을</a:t>
            </a:r>
            <a:r>
              <a:rPr lang="en-US" sz="1100" dirty="0">
                <a:solidFill>
                  <a:srgbClr val="444444"/>
                </a:solidFill>
                <a:latin typeface="Noto Sans KR" pitchFamily="34" charset="0"/>
                <a:ea typeface="Noto Sans KR" pitchFamily="34" charset="-122"/>
                <a:cs typeface="Noto Sans KR" pitchFamily="34" charset="-120"/>
              </a:rPr>
              <a:t> 병행하면 일관성이 극대화됩니다.</a:t>
            </a:r>
            <a:endParaRPr lang="en-US" sz="1100" dirty="0"/>
          </a:p>
        </p:txBody>
      </p:sp>
      <p:pic>
        <p:nvPicPr>
          <p:cNvPr id="26"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7"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28"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29" name="Text 21"/>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0" name="Text 22"/>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일관성</a:t>
            </a:r>
            <a:r>
              <a:rPr lang="en-US" sz="1200" dirty="0">
                <a:solidFill>
                  <a:srgbClr val="333333"/>
                </a:solidFill>
                <a:latin typeface="Noto Sans KR" pitchFamily="34" charset="0"/>
                <a:ea typeface="Noto Sans KR" pitchFamily="34" charset="-122"/>
                <a:cs typeface="Noto Sans KR" pitchFamily="34" charset="-120"/>
              </a:rPr>
              <a:t> 유지 기법 다이어그램. 동일한 캐릭터가 서로 다른 포즈와 각도로 표현된 3개 이미지, 수평 배열, 화살표로 연결된 프로세스, 캐릭터 일관성 유지 방법 설명, 프로페셔널한 가이드 스타일, 민트/블루 톤. 이미지 내 모든 텍스트는 한국어로 표시되어야 합니다.</a:t>
            </a:r>
            <a:endParaRPr lang="en-US" sz="1200" dirty="0"/>
          </a:p>
        </p:txBody>
      </p:sp>
      <p:sp>
        <p:nvSpPr>
          <p:cNvPr id="31" name="Shape 23"/>
          <p:cNvSpPr/>
          <p:nvPr/>
        </p:nvSpPr>
        <p:spPr>
          <a:xfrm>
            <a:off x="9937699" y="647395"/>
            <a:ext cx="1591056"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2" name="Image 6" descr="preencoded.png"/>
          <p:cNvPicPr>
            <a:picLocks noChangeAspect="1"/>
          </p:cNvPicPr>
          <p:nvPr/>
        </p:nvPicPr>
        <p:blipFill>
          <a:blip r:embed="rId9"/>
          <a:srcRect/>
          <a:stretch/>
        </p:blipFill>
        <p:spPr>
          <a:xfrm>
            <a:off x="10071202" y="733349"/>
            <a:ext cx="114300" cy="114300"/>
          </a:xfrm>
          <a:prstGeom prst="rect">
            <a:avLst/>
          </a:prstGeom>
        </p:spPr>
      </p:pic>
      <p:sp>
        <p:nvSpPr>
          <p:cNvPr id="33" name="Text 24"/>
          <p:cNvSpPr txBox="1"/>
          <p:nvPr/>
        </p:nvSpPr>
        <p:spPr>
          <a:xfrm>
            <a:off x="10242194" y="647395"/>
            <a:ext cx="1209751"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Consistency Demo</a:t>
            </a:r>
            <a:endParaRPr lang="en-US" sz="900" dirty="0"/>
          </a:p>
        </p:txBody>
      </p:sp>
      <p:sp>
        <p:nvSpPr>
          <p:cNvPr id="34" name="S3 도구별 메모"/>
          <p:cNvSpPr txBox="1"/>
          <p:nvPr/>
        </p:nvSpPr>
        <p:spPr>
          <a:xfrm>
            <a:off x="476402" y="180000"/>
            <a:ext cx="3900000" cy="260000"/>
          </a:xfrm>
          <a:prstGeom prst="rect">
            <a:avLst/>
          </a:prstGeom>
          <a:noFill/>
        </p:spPr>
        <p:txBody>
          <a:bodyPr wrap="square" lIns="0" tIns="0" rIns="0" bIns="0" anchor="t">
            <a:spAutoFit/>
          </a:bodyPr>
          <a:lstStyle/>
          <a:p>
            <a:r>
              <a:rPr lang="ko-KR" sz="900" b="1" dirty="0">
                <a:solidFill>
                  <a:srgbClr val="FF6908"/>
                </a:solidFill>
                <a:latin typeface="Noto Sans KR"/>
                <a:ea typeface="Noto Sans KR"/>
                <a:cs typeface="Noto Sans KR"/>
              </a:rPr>
              <a:t>도구별 메모 — Stable Diffusion 계열 도구 기준</a:t>
            </a:r>
          </a:p>
        </p:txBody>
      </p:sp>
      <p:sp>
        <p:nvSpPr>
          <p:cNvPr id="35"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3882" r="-3882"/>
          <a:stretch/>
        </p:blipFill>
        <p:spPr>
          <a:xfrm>
            <a:off x="476402" y="1061618"/>
            <a:ext cx="161849" cy="133502"/>
          </a:xfrm>
          <a:prstGeom prst="rect">
            <a:avLst/>
          </a:prstGeom>
        </p:spPr>
      </p:pic>
      <p:sp>
        <p:nvSpPr>
          <p:cNvPr id="6" name="Text 3"/>
          <p:cNvSpPr txBox="1"/>
          <p:nvPr/>
        </p:nvSpPr>
        <p:spPr>
          <a:xfrm>
            <a:off x="714146" y="1028700"/>
            <a:ext cx="2098548"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ADVANCED TECHNIQUES 05</a:t>
            </a:r>
            <a:endParaRPr lang="en-US" sz="1000" dirty="0"/>
          </a:p>
        </p:txBody>
      </p:sp>
      <p:sp>
        <p:nvSpPr>
          <p:cNvPr id="7" name="Text 4"/>
          <p:cNvSpPr txBox="1"/>
          <p:nvPr/>
        </p:nvSpPr>
        <p:spPr>
          <a:xfrm>
            <a:off x="476402" y="1304849"/>
            <a:ext cx="3924605" cy="457200"/>
          </a:xfrm>
          <a:prstGeom prst="rect">
            <a:avLst/>
          </a:prstGeom>
          <a:noFill/>
          <a:ln/>
        </p:spPr>
        <p:txBody>
          <a:bodyPr wrap="square" lIns="0" tIns="0" rIns="0" bIns="0" rtlCol="0" anchor="ctr"/>
          <a:lstStyle/>
          <a:p>
            <a:pPr marL="0" indent="0" algn="l">
              <a:buNone/>
            </a:pPr>
            <a:r>
              <a:rPr lang="en-US" sz="3000" b="1" kern="0" spc="-75" dirty="0">
                <a:solidFill>
                  <a:srgbClr val="111111"/>
                </a:solidFill>
                <a:latin typeface="Noto Sans KR" pitchFamily="34" charset="0"/>
                <a:ea typeface="Noto Sans KR" pitchFamily="34" charset="-122"/>
                <a:cs typeface="Noto Sans KR" pitchFamily="34" charset="-120"/>
              </a:rPr>
              <a:t>배치 생성 최적화</a:t>
            </a:r>
            <a:endParaRPr lang="en-US" sz="3000" dirty="0"/>
          </a:p>
        </p:txBody>
      </p:sp>
      <p:sp>
        <p:nvSpPr>
          <p:cNvPr id="8" name="Text 5"/>
          <p:cNvSpPr txBox="1"/>
          <p:nvPr/>
        </p:nvSpPr>
        <p:spPr>
          <a:xfrm>
            <a:off x="476402" y="1809598"/>
            <a:ext cx="3015691"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Batch Generation Optimization Tips</a:t>
            </a:r>
            <a:endParaRPr lang="en-US" sz="1200" dirty="0"/>
          </a:p>
        </p:txBody>
      </p:sp>
      <p:sp>
        <p:nvSpPr>
          <p:cNvPr id="9" name="Text 6"/>
          <p:cNvSpPr txBox="1"/>
          <p:nvPr/>
        </p:nvSpPr>
        <p:spPr>
          <a:xfrm>
            <a:off x="476402" y="2219249"/>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대량의 이미지를 효율적으로 생성하고 관리하는 </a:t>
            </a:r>
            <a:r>
              <a:rPr lang="en-US" sz="1100" dirty="0" err="1">
                <a:solidFill>
                  <a:srgbClr val="4B5563"/>
                </a:solidFill>
                <a:latin typeface="Noto Sans KR" pitchFamily="34" charset="0"/>
                <a:ea typeface="Noto Sans KR" pitchFamily="34" charset="-122"/>
                <a:cs typeface="Noto Sans KR" pitchFamily="34" charset="-120"/>
              </a:rPr>
              <a:t>전략입니다</a:t>
            </a:r>
            <a:r>
              <a:rPr lang="en-US" sz="1100" dirty="0">
                <a:solidFill>
                  <a:srgbClr val="4B5563"/>
                </a:solidFill>
                <a:latin typeface="Noto Sans KR" pitchFamily="34" charset="0"/>
                <a:ea typeface="Noto Sans KR" pitchFamily="34" charset="-122"/>
                <a:cs typeface="Noto Sans KR" pitchFamily="34" charset="-120"/>
              </a:rPr>
              <a:t>.</a:t>
            </a:r>
          </a:p>
          <a:p>
            <a:pPr marL="0" indent="0" algn="l">
              <a:buNone/>
            </a:pPr>
            <a:r>
              <a:rPr lang="en-US" sz="1100" dirty="0">
                <a:solidFill>
                  <a:srgbClr val="4B5563"/>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시드</a:t>
            </a:r>
            <a:r>
              <a:rPr lang="en-US" sz="1100" dirty="0">
                <a:solidFill>
                  <a:srgbClr val="4B5563"/>
                </a:solidFill>
                <a:latin typeface="Noto Sans KR" pitchFamily="34" charset="0"/>
                <a:ea typeface="Noto Sans KR" pitchFamily="34" charset="-122"/>
                <a:cs typeface="Noto Sans KR" pitchFamily="34" charset="-120"/>
              </a:rPr>
              <a:t>(Seed) 값 고정과 변수 제어를 통해 </a:t>
            </a:r>
            <a:r>
              <a:rPr lang="en-US" sz="1100" dirty="0" err="1">
                <a:solidFill>
                  <a:srgbClr val="4B5563"/>
                </a:solidFill>
                <a:latin typeface="Noto Sans KR" pitchFamily="34" charset="0"/>
                <a:ea typeface="Noto Sans KR" pitchFamily="34" charset="-122"/>
                <a:cs typeface="Noto Sans KR" pitchFamily="34" charset="-120"/>
              </a:rPr>
              <a:t>일관성을</a:t>
            </a:r>
            <a:r>
              <a:rPr lang="en-US" sz="1100" dirty="0">
                <a:solidFill>
                  <a:srgbClr val="4B5563"/>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B5563"/>
                </a:solidFill>
                <a:latin typeface="Noto Sans KR" pitchFamily="34" charset="0"/>
                <a:ea typeface="Noto Sans KR" pitchFamily="34" charset="-122"/>
                <a:cs typeface="Noto Sans KR" pitchFamily="34" charset="-120"/>
              </a:rPr>
              <a:t>유지하며</a:t>
            </a:r>
            <a:r>
              <a:rPr lang="en-US" sz="1100" dirty="0">
                <a:solidFill>
                  <a:srgbClr val="4B5563"/>
                </a:solidFill>
                <a:latin typeface="Noto Sans KR" pitchFamily="34" charset="0"/>
                <a:ea typeface="Noto Sans KR" pitchFamily="34" charset="-122"/>
                <a:cs typeface="Noto Sans KR" pitchFamily="34" charset="-120"/>
              </a:rPr>
              <a:t> 최상의 결과물을 선별합니다.</a:t>
            </a:r>
            <a:endParaRPr lang="en-US" sz="1100" dirty="0"/>
          </a:p>
        </p:txBody>
      </p:sp>
      <p:sp>
        <p:nvSpPr>
          <p:cNvPr id="10" name="Shape 7"/>
          <p:cNvSpPr/>
          <p:nvPr/>
        </p:nvSpPr>
        <p:spPr>
          <a:xfrm>
            <a:off x="476402" y="3090672"/>
            <a:ext cx="3619195" cy="1828800"/>
          </a:xfrm>
          <a:prstGeom prst="roundRect">
            <a:avLst>
              <a:gd name="adj" fmla="val 3125"/>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476402" y="3090672"/>
            <a:ext cx="38405" cy="1828800"/>
          </a:xfrm>
          <a:prstGeom prst="roundRect">
            <a:avLst>
              <a:gd name="adj" fmla="val 148809"/>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685800" y="3271723"/>
            <a:ext cx="1544422"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OPTIMIZATION STRATEGY</a:t>
            </a:r>
            <a:endParaRPr lang="en-US" sz="900" dirty="0"/>
          </a:p>
        </p:txBody>
      </p:sp>
      <p:pic>
        <p:nvPicPr>
          <p:cNvPr id="13" name="Image 1" descr="preencoded.png"/>
          <p:cNvPicPr>
            <a:picLocks noChangeAspect="1"/>
          </p:cNvPicPr>
          <p:nvPr/>
        </p:nvPicPr>
        <p:blipFill>
          <a:blip r:embed="rId4">
            <a:alphaModFix amt="50000"/>
          </a:blip>
          <a:srcRect t="-25200" b="-25200"/>
          <a:stretch/>
        </p:blipFill>
        <p:spPr>
          <a:xfrm>
            <a:off x="3800246" y="3271723"/>
            <a:ext cx="114300" cy="171907"/>
          </a:xfrm>
          <a:prstGeom prst="rect">
            <a:avLst/>
          </a:prstGeom>
        </p:spPr>
      </p:pic>
      <p:sp>
        <p:nvSpPr>
          <p:cNvPr id="14" name="Text 10"/>
          <p:cNvSpPr txBox="1"/>
          <p:nvPr/>
        </p:nvSpPr>
        <p:spPr>
          <a:xfrm>
            <a:off x="685800" y="3557016"/>
            <a:ext cx="772668"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[시드 고정]</a:t>
            </a:r>
            <a:endParaRPr lang="en-US" sz="900" dirty="0"/>
          </a:p>
        </p:txBody>
      </p:sp>
      <p:sp>
        <p:nvSpPr>
          <p:cNvPr id="15" name="Text 11"/>
          <p:cNvSpPr txBox="1"/>
          <p:nvPr/>
        </p:nvSpPr>
        <p:spPr>
          <a:xfrm>
            <a:off x="1429207" y="3547872"/>
            <a:ext cx="1794967"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구도 유지, 디테일만 변경 시</a:t>
            </a:r>
            <a:endParaRPr lang="en-US" sz="900" dirty="0"/>
          </a:p>
        </p:txBody>
      </p:sp>
      <p:sp>
        <p:nvSpPr>
          <p:cNvPr id="16" name="Text 12"/>
          <p:cNvSpPr txBox="1"/>
          <p:nvPr/>
        </p:nvSpPr>
        <p:spPr>
          <a:xfrm>
            <a:off x="685800" y="3806647"/>
            <a:ext cx="772668"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[변수 통제]</a:t>
            </a:r>
            <a:endParaRPr lang="en-US" sz="900" dirty="0"/>
          </a:p>
        </p:txBody>
      </p:sp>
      <p:sp>
        <p:nvSpPr>
          <p:cNvPr id="17" name="Text 13"/>
          <p:cNvSpPr txBox="1"/>
          <p:nvPr/>
        </p:nvSpPr>
        <p:spPr>
          <a:xfrm>
            <a:off x="1429207" y="3797503"/>
            <a:ext cx="1717243"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한 번에 하나의 요소만 수정</a:t>
            </a:r>
            <a:endParaRPr lang="en-US" sz="900" dirty="0"/>
          </a:p>
        </p:txBody>
      </p:sp>
      <p:sp>
        <p:nvSpPr>
          <p:cNvPr id="18" name="Text 14"/>
          <p:cNvSpPr txBox="1"/>
          <p:nvPr/>
        </p:nvSpPr>
        <p:spPr>
          <a:xfrm>
            <a:off x="685800" y="4056278"/>
            <a:ext cx="600761"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[배치 수]</a:t>
            </a:r>
            <a:endParaRPr lang="en-US" sz="900" dirty="0"/>
          </a:p>
        </p:txBody>
      </p:sp>
      <p:sp>
        <p:nvSpPr>
          <p:cNvPr id="19" name="Text 15"/>
          <p:cNvSpPr txBox="1"/>
          <p:nvPr/>
        </p:nvSpPr>
        <p:spPr>
          <a:xfrm>
            <a:off x="1429207" y="4047134"/>
            <a:ext cx="1555394"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테스트 4장 → 확정 16장+</a:t>
            </a:r>
            <a:endParaRPr lang="en-US" sz="900" dirty="0"/>
          </a:p>
        </p:txBody>
      </p:sp>
      <p:sp>
        <p:nvSpPr>
          <p:cNvPr id="20" name="Text 16"/>
          <p:cNvSpPr txBox="1"/>
          <p:nvPr/>
        </p:nvSpPr>
        <p:spPr>
          <a:xfrm>
            <a:off x="685800" y="4305910"/>
            <a:ext cx="694030"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[업스케일]</a:t>
            </a:r>
            <a:endParaRPr lang="en-US" sz="900" dirty="0"/>
          </a:p>
        </p:txBody>
      </p:sp>
      <p:sp>
        <p:nvSpPr>
          <p:cNvPr id="21" name="Text 17"/>
          <p:cNvSpPr txBox="1"/>
          <p:nvPr/>
        </p:nvSpPr>
        <p:spPr>
          <a:xfrm>
            <a:off x="1429207" y="4296766"/>
            <a:ext cx="1623060"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최종 선별된 1~2장만 변환</a:t>
            </a:r>
            <a:endParaRPr lang="en-US" sz="900" dirty="0"/>
          </a:p>
        </p:txBody>
      </p:sp>
      <p:sp>
        <p:nvSpPr>
          <p:cNvPr id="22" name="Text 18"/>
          <p:cNvSpPr txBox="1"/>
          <p:nvPr/>
        </p:nvSpPr>
        <p:spPr>
          <a:xfrm>
            <a:off x="685800" y="4555541"/>
            <a:ext cx="694030"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[프로세스]</a:t>
            </a:r>
            <a:endParaRPr lang="en-US" sz="900" dirty="0"/>
          </a:p>
        </p:txBody>
      </p:sp>
      <p:sp>
        <p:nvSpPr>
          <p:cNvPr id="23" name="Text 19"/>
          <p:cNvSpPr txBox="1"/>
          <p:nvPr/>
        </p:nvSpPr>
        <p:spPr>
          <a:xfrm>
            <a:off x="1429207" y="4546397"/>
            <a:ext cx="1757477" cy="181051"/>
          </a:xfrm>
          <a:prstGeom prst="rect">
            <a:avLst/>
          </a:prstGeom>
          <a:noFill/>
          <a:ln/>
        </p:spPr>
        <p:txBody>
          <a:bodyPr wrap="square" lIns="0" tIns="0" rIns="0" bIns="0" rtlCol="0" anchor="ctr"/>
          <a:lstStyle/>
          <a:p>
            <a:pPr marL="0" indent="0" algn="l">
              <a:buNone/>
            </a:pPr>
            <a:r>
              <a:rPr lang="en-US" sz="900" dirty="0">
                <a:solidFill>
                  <a:srgbClr val="333333"/>
                </a:solidFill>
                <a:latin typeface="Noto Sans KR" pitchFamily="34" charset="0"/>
                <a:ea typeface="Noto Sans KR" pitchFamily="34" charset="-122"/>
                <a:cs typeface="Noto Sans KR" pitchFamily="34" charset="-120"/>
              </a:rPr>
              <a:t>초안 → 큐레이션 → 파인튜닝</a:t>
            </a:r>
            <a:endParaRPr lang="en-US" sz="900" dirty="0"/>
          </a:p>
        </p:txBody>
      </p:sp>
      <p:sp>
        <p:nvSpPr>
          <p:cNvPr id="24" name="Shape 20"/>
          <p:cNvSpPr/>
          <p:nvPr/>
        </p:nvSpPr>
        <p:spPr>
          <a:xfrm>
            <a:off x="476402" y="5005426"/>
            <a:ext cx="3619195" cy="1143704"/>
          </a:xfrm>
          <a:prstGeom prst="roundRect">
            <a:avLst>
              <a:gd name="adj" fmla="val 10149"/>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09905" y="5193792"/>
            <a:ext cx="133502" cy="133502"/>
          </a:xfrm>
          <a:prstGeom prst="rect">
            <a:avLst/>
          </a:prstGeom>
        </p:spPr>
      </p:pic>
      <p:sp>
        <p:nvSpPr>
          <p:cNvPr id="26" name="Text 21"/>
          <p:cNvSpPr txBox="1"/>
          <p:nvPr/>
        </p:nvSpPr>
        <p:spPr>
          <a:xfrm>
            <a:off x="838505" y="5138928"/>
            <a:ext cx="929945"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Check Point:</a:t>
            </a:r>
            <a:endParaRPr lang="en-US" sz="900" dirty="0"/>
          </a:p>
        </p:txBody>
      </p:sp>
      <p:sp>
        <p:nvSpPr>
          <p:cNvPr id="27" name="Text 22"/>
          <p:cNvSpPr txBox="1"/>
          <p:nvPr/>
        </p:nvSpPr>
        <p:spPr>
          <a:xfrm>
            <a:off x="847648" y="5419649"/>
            <a:ext cx="3182112" cy="553212"/>
          </a:xfrm>
          <a:prstGeom prst="rect">
            <a:avLst/>
          </a:prstGeom>
          <a:noFill/>
          <a:ln/>
        </p:spPr>
        <p:txBody>
          <a:bodyPr wrap="square" lIns="0" tIns="0" rIns="0" bIns="0" rtlCol="0" anchor="t"/>
          <a:lstStyle/>
          <a:p>
            <a:pPr marL="0" indent="0" algn="l">
              <a:buNone/>
            </a:pPr>
            <a:r>
              <a:rPr lang="en-US" sz="1100" dirty="0">
                <a:solidFill>
                  <a:srgbClr val="444444"/>
                </a:solidFill>
                <a:latin typeface="Noto Sans KR" pitchFamily="34" charset="0"/>
                <a:ea typeface="Noto Sans KR" pitchFamily="34" charset="-122"/>
                <a:cs typeface="Noto Sans KR" pitchFamily="34" charset="-120"/>
              </a:rPr>
              <a:t>무작위 생성보다 '의도된 변형'이 </a:t>
            </a:r>
            <a:r>
              <a:rPr lang="en-US" sz="1100" dirty="0" err="1">
                <a:solidFill>
                  <a:srgbClr val="444444"/>
                </a:solidFill>
                <a:latin typeface="Noto Sans KR" pitchFamily="34" charset="0"/>
                <a:ea typeface="Noto Sans KR" pitchFamily="34" charset="-122"/>
                <a:cs typeface="Noto Sans KR" pitchFamily="34" charset="-120"/>
              </a:rPr>
              <a:t>중요합니다</a:t>
            </a:r>
            <a:r>
              <a:rPr lang="en-US" sz="1100" dirty="0">
                <a:solidFill>
                  <a:srgbClr val="444444"/>
                </a:solidFill>
                <a:latin typeface="Noto Sans KR" pitchFamily="34" charset="0"/>
                <a:ea typeface="Noto Sans KR" pitchFamily="34" charset="-122"/>
                <a:cs typeface="Noto Sans KR" pitchFamily="34" charset="-120"/>
              </a:rPr>
              <a:t>.</a:t>
            </a:r>
          </a:p>
          <a:p>
            <a:pPr marL="0" indent="0" algn="l">
              <a:buNone/>
            </a:pPr>
            <a:r>
              <a:rPr lang="en-US" sz="1100" dirty="0">
                <a:solidFill>
                  <a:srgbClr val="444444"/>
                </a:solidFill>
                <a:latin typeface="Noto Sans KR" pitchFamily="34" charset="0"/>
                <a:ea typeface="Noto Sans KR" pitchFamily="34" charset="-122"/>
                <a:cs typeface="Noto Sans KR" pitchFamily="34" charset="-120"/>
              </a:rPr>
              <a:t> 마음에 드는 결과가 나오면 반드시 Seed </a:t>
            </a:r>
            <a:r>
              <a:rPr lang="en-US" sz="1100" dirty="0" err="1">
                <a:solidFill>
                  <a:srgbClr val="444444"/>
                </a:solidFill>
                <a:latin typeface="Noto Sans KR" pitchFamily="34" charset="0"/>
                <a:ea typeface="Noto Sans KR" pitchFamily="34" charset="-122"/>
                <a:cs typeface="Noto Sans KR" pitchFamily="34" charset="-120"/>
              </a:rPr>
              <a:t>값을</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기록하여</a:t>
            </a:r>
            <a:r>
              <a:rPr lang="en-US" sz="1100" dirty="0">
                <a:solidFill>
                  <a:srgbClr val="444444"/>
                </a:solidFill>
                <a:latin typeface="Noto Sans KR" pitchFamily="34" charset="0"/>
                <a:ea typeface="Noto Sans KR" pitchFamily="34" charset="-122"/>
                <a:cs typeface="Noto Sans KR" pitchFamily="34" charset="-120"/>
              </a:rPr>
              <a:t> 재현성을 확보하세요.</a:t>
            </a:r>
            <a:endParaRPr lang="en-US" sz="1100" dirty="0"/>
          </a:p>
        </p:txBody>
      </p:sp>
      <p:pic>
        <p:nvPicPr>
          <p:cNvPr id="28" name="Image 3" descr="preencoded.png"/>
          <p:cNvPicPr>
            <a:picLocks noChangeAspect="1"/>
          </p:cNvPicPr>
          <p:nvPr/>
        </p:nvPicPr>
        <p:blipFill>
          <a:blip r:embed="rId6"/>
          <a:srcRect l="-7" r="-7"/>
          <a:stretch/>
        </p:blipFill>
        <p:spPr>
          <a:xfrm>
            <a:off x="4476902" y="457200"/>
            <a:ext cx="7239305" cy="4540910"/>
          </a:xfrm>
          <a:prstGeom prst="rect">
            <a:avLst/>
          </a:prstGeom>
        </p:spPr>
      </p:pic>
      <p:pic>
        <p:nvPicPr>
          <p:cNvPr id="29" name="Image 4" descr="preencoded.png"/>
          <p:cNvPicPr>
            <a:picLocks noChangeAspect="1"/>
          </p:cNvPicPr>
          <p:nvPr/>
        </p:nvPicPr>
        <p:blipFill>
          <a:blip r:embed="rId7"/>
          <a:srcRect l="5536" r="5536"/>
          <a:stretch/>
        </p:blipFill>
        <p:spPr>
          <a:xfrm>
            <a:off x="4476902" y="457200"/>
            <a:ext cx="7239305" cy="4543654"/>
          </a:xfrm>
          <a:prstGeom prst="rect">
            <a:avLst/>
          </a:prstGeom>
        </p:spPr>
      </p:pic>
      <p:pic>
        <p:nvPicPr>
          <p:cNvPr id="30" name="Image 5" descr="preencoded.png"/>
          <p:cNvPicPr>
            <a:picLocks noChangeAspect="1"/>
          </p:cNvPicPr>
          <p:nvPr/>
        </p:nvPicPr>
        <p:blipFill>
          <a:blip r:embed="rId8"/>
          <a:srcRect l="-9" r="-9"/>
          <a:stretch/>
        </p:blipFill>
        <p:spPr>
          <a:xfrm>
            <a:off x="4476902" y="5189220"/>
            <a:ext cx="7239305" cy="1211580"/>
          </a:xfrm>
          <a:prstGeom prst="rect">
            <a:avLst/>
          </a:prstGeom>
        </p:spPr>
      </p:pic>
      <p:sp>
        <p:nvSpPr>
          <p:cNvPr id="31" name="Text 23"/>
          <p:cNvSpPr txBox="1"/>
          <p:nvPr/>
        </p:nvSpPr>
        <p:spPr>
          <a:xfrm>
            <a:off x="4743907" y="5360213"/>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743907" y="5588813"/>
            <a:ext cx="6820510" cy="648310"/>
          </a:xfrm>
          <a:prstGeom prst="rect">
            <a:avLst/>
          </a:prstGeom>
          <a:noFill/>
          <a:ln/>
        </p:spPr>
        <p:txBody>
          <a:bodyPr wrap="square" lIns="0" tIns="0" rIns="0" bIns="0" rtlCol="0" anchor="t"/>
          <a:lstStyle/>
          <a:p>
            <a:pPr marL="0" indent="0" algn="l">
              <a:buNone/>
            </a:pPr>
            <a:r>
              <a:rPr lang="en-US" sz="1200" dirty="0">
                <a:solidFill>
                  <a:srgbClr val="333333"/>
                </a:solidFill>
                <a:latin typeface="Noto Sans KR" pitchFamily="34" charset="0"/>
                <a:ea typeface="Noto Sans KR" pitchFamily="34" charset="-122"/>
                <a:cs typeface="Noto Sans KR" pitchFamily="34" charset="-120"/>
              </a:rPr>
              <a:t>배치 생성 최적화 팁. 4개의 핵심 최적화 전략을 담은 인포그래픽, 숫자 아이콘과 간결한 설명, 2x2 그리드 레이아웃, 체크리스트 스타일, 오렌지/블루 액센트, 프로페셔널한 가이드 디자인. 이미지 내 모든 텍스트는 한국어로 표시되어야 합니다.</a:t>
            </a:r>
            <a:endParaRPr lang="en-US" sz="1200" dirty="0"/>
          </a:p>
        </p:txBody>
      </p:sp>
      <p:sp>
        <p:nvSpPr>
          <p:cNvPr id="33" name="Shape 25"/>
          <p:cNvSpPr/>
          <p:nvPr/>
        </p:nvSpPr>
        <p:spPr>
          <a:xfrm>
            <a:off x="10019995" y="647395"/>
            <a:ext cx="1514246"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l="-1911" r="-1911"/>
          <a:stretch/>
        </p:blipFill>
        <p:spPr>
          <a:xfrm>
            <a:off x="10152583" y="733349"/>
            <a:ext cx="133502" cy="114300"/>
          </a:xfrm>
          <a:prstGeom prst="rect">
            <a:avLst/>
          </a:prstGeom>
        </p:spPr>
      </p:pic>
      <p:sp>
        <p:nvSpPr>
          <p:cNvPr id="35" name="Text 26"/>
          <p:cNvSpPr txBox="1"/>
          <p:nvPr/>
        </p:nvSpPr>
        <p:spPr>
          <a:xfrm>
            <a:off x="10343693" y="647395"/>
            <a:ext cx="1114654"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Optimization Guide</a:t>
            </a:r>
            <a:endParaRPr lang="en-US" sz="900" dirty="0"/>
          </a:p>
        </p:txBody>
      </p:sp>
      <p:sp>
        <p:nvSpPr>
          <p:cNvPr id="36" name="S3 도구별 메모"/>
          <p:cNvSpPr txBox="1"/>
          <p:nvPr/>
        </p:nvSpPr>
        <p:spPr>
          <a:xfrm>
            <a:off x="476402" y="180000"/>
            <a:ext cx="3900000" cy="260000"/>
          </a:xfrm>
          <a:prstGeom prst="rect">
            <a:avLst/>
          </a:prstGeom>
          <a:noFill/>
        </p:spPr>
        <p:txBody>
          <a:bodyPr wrap="square" lIns="0" tIns="0" rIns="0" bIns="0" anchor="t">
            <a:spAutoFit/>
          </a:bodyPr>
          <a:lstStyle/>
          <a:p>
            <a:r>
              <a:rPr lang="ko-KR" sz="900" b="1" dirty="0">
                <a:solidFill>
                  <a:srgbClr val="FF6908"/>
                </a:solidFill>
                <a:latin typeface="Noto Sans KR"/>
                <a:ea typeface="Noto Sans KR"/>
                <a:cs typeface="Noto Sans KR"/>
              </a:rPr>
              <a:t>도구별 메모 — Stable Diffusion 계열 도구 기준</a:t>
            </a:r>
          </a:p>
        </p:txBody>
      </p:sp>
      <p:sp>
        <p:nvSpPr>
          <p:cNvPr id="37"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srcRect l="-2838" r="-2838"/>
          <a:stretch/>
        </p:blipFill>
        <p:spPr>
          <a:xfrm>
            <a:off x="514807" y="547388"/>
            <a:ext cx="123444" cy="133502"/>
          </a:xfrm>
          <a:prstGeom prst="rect">
            <a:avLst/>
          </a:prstGeom>
        </p:spPr>
      </p:pic>
      <p:sp>
        <p:nvSpPr>
          <p:cNvPr id="6" name="Text 3"/>
          <p:cNvSpPr txBox="1"/>
          <p:nvPr/>
        </p:nvSpPr>
        <p:spPr>
          <a:xfrm>
            <a:off x="715061" y="514470"/>
            <a:ext cx="1696212" cy="200254"/>
          </a:xfrm>
          <a:prstGeom prst="rect">
            <a:avLst/>
          </a:prstGeom>
          <a:noFill/>
          <a:ln/>
        </p:spPr>
        <p:txBody>
          <a:bodyPr wrap="square" lIns="0" tIns="0" rIns="0" bIns="0" rtlCol="0" anchor="ctr"/>
          <a:lstStyle/>
          <a:p>
            <a:pPr marL="0" indent="0" algn="l">
              <a:buNone/>
            </a:pPr>
            <a:r>
              <a:rPr lang="en-US" sz="1000" b="1" kern="0" spc="75" dirty="0">
                <a:solidFill>
                  <a:srgbClr val="FF6908"/>
                </a:solidFill>
                <a:latin typeface="Manrope" pitchFamily="34" charset="0"/>
                <a:ea typeface="Manrope" pitchFamily="34" charset="-122"/>
                <a:cs typeface="Manrope" pitchFamily="34" charset="-120"/>
              </a:rPr>
              <a:t>COURSE CONCLUSION</a:t>
            </a:r>
            <a:endParaRPr lang="en-US" sz="1000" dirty="0"/>
          </a:p>
        </p:txBody>
      </p:sp>
      <p:sp>
        <p:nvSpPr>
          <p:cNvPr id="7" name="Text 4"/>
          <p:cNvSpPr txBox="1"/>
          <p:nvPr/>
        </p:nvSpPr>
        <p:spPr>
          <a:xfrm>
            <a:off x="514807" y="790619"/>
            <a:ext cx="3924605" cy="448056"/>
          </a:xfrm>
          <a:prstGeom prst="rect">
            <a:avLst/>
          </a:prstGeom>
          <a:noFill/>
          <a:ln/>
        </p:spPr>
        <p:txBody>
          <a:bodyPr wrap="square" lIns="0" tIns="0" rIns="0" bIns="0" rtlCol="0" anchor="ctr"/>
          <a:lstStyle/>
          <a:p>
            <a:pPr marL="0" indent="0" algn="l">
              <a:buNone/>
            </a:pPr>
            <a:r>
              <a:rPr lang="en-US" sz="3100" b="1" kern="0" spc="-75" dirty="0">
                <a:solidFill>
                  <a:srgbClr val="111111"/>
                </a:solidFill>
                <a:latin typeface="Noto Sans KR" pitchFamily="34" charset="0"/>
                <a:ea typeface="Noto Sans KR" pitchFamily="34" charset="-122"/>
                <a:cs typeface="Noto Sans KR" pitchFamily="34" charset="-120"/>
              </a:rPr>
              <a:t>강의 마무리</a:t>
            </a:r>
            <a:endParaRPr lang="en-US" sz="3100" dirty="0"/>
          </a:p>
        </p:txBody>
      </p:sp>
      <p:sp>
        <p:nvSpPr>
          <p:cNvPr id="8" name="Text 5"/>
          <p:cNvSpPr txBox="1"/>
          <p:nvPr/>
        </p:nvSpPr>
        <p:spPr>
          <a:xfrm>
            <a:off x="514807" y="1277994"/>
            <a:ext cx="2743200" cy="210312"/>
          </a:xfrm>
          <a:prstGeom prst="rect">
            <a:avLst/>
          </a:prstGeom>
          <a:noFill/>
          <a:ln/>
        </p:spPr>
        <p:txBody>
          <a:bodyPr wrap="square" lIns="0" tIns="0" rIns="0" bIns="0" rtlCol="0" anchor="ctr"/>
          <a:lstStyle/>
          <a:p>
            <a:pPr marL="0" indent="0" algn="l">
              <a:buNone/>
            </a:pPr>
            <a:r>
              <a:rPr lang="en-US" sz="1200" dirty="0">
                <a:solidFill>
                  <a:srgbClr val="666666"/>
                </a:solidFill>
                <a:latin typeface="Manrope" pitchFamily="34" charset="0"/>
                <a:ea typeface="Manrope" pitchFamily="34" charset="-122"/>
                <a:cs typeface="Manrope" pitchFamily="34" charset="-120"/>
              </a:rPr>
              <a:t>Start Your Creative Journey Now</a:t>
            </a:r>
            <a:endParaRPr lang="en-US" sz="1200" dirty="0"/>
          </a:p>
        </p:txBody>
      </p:sp>
      <p:sp>
        <p:nvSpPr>
          <p:cNvPr id="9" name="Text 6"/>
          <p:cNvSpPr txBox="1"/>
          <p:nvPr/>
        </p:nvSpPr>
        <p:spPr>
          <a:xfrm>
            <a:off x="514807" y="1687645"/>
            <a:ext cx="3696005" cy="648310"/>
          </a:xfrm>
          <a:prstGeom prst="rect">
            <a:avLst/>
          </a:prstGeom>
          <a:noFill/>
          <a:ln/>
        </p:spPr>
        <p:txBody>
          <a:bodyPr wrap="square" lIns="0" tIns="0" rIns="0" bIns="0" rtlCol="0" anchor="t"/>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이제 모든 준비는 끝났습니다. </a:t>
            </a:r>
          </a:p>
          <a:p>
            <a:pPr marL="0" indent="0" algn="l">
              <a:buNone/>
            </a:pPr>
            <a:r>
              <a:rPr lang="en-US" sz="1100" dirty="0">
                <a:solidFill>
                  <a:srgbClr val="4B5563"/>
                </a:solidFill>
                <a:latin typeface="Noto Sans KR" pitchFamily="34" charset="0"/>
                <a:ea typeface="Noto Sans KR" pitchFamily="34" charset="-122"/>
                <a:cs typeface="Noto Sans KR" pitchFamily="34" charset="-120"/>
              </a:rPr>
              <a:t>5요소 공식부터 고급 기법까지, 학습한 </a:t>
            </a:r>
            <a:r>
              <a:rPr lang="en-US" sz="1100" dirty="0" err="1">
                <a:solidFill>
                  <a:srgbClr val="4B5563"/>
                </a:solidFill>
                <a:latin typeface="Noto Sans KR" pitchFamily="34" charset="0"/>
                <a:ea typeface="Noto Sans KR" pitchFamily="34" charset="-122"/>
                <a:cs typeface="Noto Sans KR" pitchFamily="34" charset="-120"/>
              </a:rPr>
              <a:t>내용을</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바탕으로</a:t>
            </a: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dirty="0">
                <a:solidFill>
                  <a:srgbClr val="4B5563"/>
                </a:solidFill>
                <a:latin typeface="Noto Sans KR" pitchFamily="34" charset="0"/>
                <a:ea typeface="Noto Sans KR" pitchFamily="34" charset="-122"/>
                <a:cs typeface="Noto Sans KR" pitchFamily="34" charset="-120"/>
              </a:rPr>
              <a:t> 여러분만의 크리에이티브를 세상에 보여줄 차례입니다.</a:t>
            </a:r>
            <a:endParaRPr lang="en-US" sz="1100" dirty="0"/>
          </a:p>
        </p:txBody>
      </p:sp>
      <p:sp>
        <p:nvSpPr>
          <p:cNvPr id="10" name="Shape 7"/>
          <p:cNvSpPr/>
          <p:nvPr/>
        </p:nvSpPr>
        <p:spPr>
          <a:xfrm>
            <a:off x="514807" y="2559068"/>
            <a:ext cx="3619195" cy="2000707"/>
          </a:xfrm>
          <a:prstGeom prst="roundRect">
            <a:avLst>
              <a:gd name="adj" fmla="val 2612"/>
            </a:avLst>
          </a:prstGeom>
          <a:solidFill>
            <a:srgbClr val="FAFAFA"/>
          </a:solidFill>
          <a:ln w="12700">
            <a:solidFill>
              <a:srgbClr val="EEEEEE"/>
            </a:solidFill>
            <a:prstDash val="solid"/>
          </a:ln>
          <a:effectLst>
            <a:outerShdw blurRad="114300" dist="38100" dir="16200000" algn="bl" rotWithShape="0">
              <a:srgbClr val="000000">
                <a:alpha val="3000"/>
              </a:srgbClr>
            </a:outerShdw>
          </a:effectLst>
        </p:spPr>
        <p:txBody>
          <a:bodyPr/>
          <a:lstStyle/>
          <a:p>
            <a:endParaRPr lang="ko-KR" altLang="en-US"/>
          </a:p>
        </p:txBody>
      </p:sp>
      <p:sp>
        <p:nvSpPr>
          <p:cNvPr id="11" name="Shape 8"/>
          <p:cNvSpPr/>
          <p:nvPr/>
        </p:nvSpPr>
        <p:spPr>
          <a:xfrm>
            <a:off x="514807" y="2559068"/>
            <a:ext cx="38405" cy="2000707"/>
          </a:xfrm>
          <a:prstGeom prst="roundRect">
            <a:avLst>
              <a:gd name="adj" fmla="val 136054"/>
            </a:avLst>
          </a:prstGeom>
          <a:solidFill>
            <a:srgbClr val="FF6908"/>
          </a:solidFill>
          <a:ln w="12700">
            <a:solidFill>
              <a:srgbClr val="FF6908">
                <a:alpha val="0"/>
              </a:srgbClr>
            </a:solidFill>
            <a:prstDash val="solid"/>
          </a:ln>
        </p:spPr>
        <p:txBody>
          <a:bodyPr/>
          <a:lstStyle/>
          <a:p>
            <a:endParaRPr lang="ko-KR" altLang="en-US"/>
          </a:p>
        </p:txBody>
      </p:sp>
      <p:sp>
        <p:nvSpPr>
          <p:cNvPr id="12" name="Text 9"/>
          <p:cNvSpPr txBox="1"/>
          <p:nvPr/>
        </p:nvSpPr>
        <p:spPr>
          <a:xfrm>
            <a:off x="743407" y="2759322"/>
            <a:ext cx="1686154" cy="162763"/>
          </a:xfrm>
          <a:prstGeom prst="rect">
            <a:avLst/>
          </a:prstGeom>
          <a:noFill/>
          <a:ln/>
        </p:spPr>
        <p:txBody>
          <a:bodyPr wrap="square" lIns="0" tIns="0" rIns="0" bIns="0" rtlCol="0" anchor="ctr"/>
          <a:lstStyle/>
          <a:p>
            <a:pPr marL="0" indent="0" algn="l">
              <a:buNone/>
            </a:pPr>
            <a:r>
              <a:rPr lang="en-US" sz="900" b="1" dirty="0">
                <a:solidFill>
                  <a:srgbClr val="999999"/>
                </a:solidFill>
                <a:latin typeface="Manrope" pitchFamily="34" charset="0"/>
                <a:ea typeface="Manrope" pitchFamily="34" charset="-122"/>
                <a:cs typeface="Manrope" pitchFamily="34" charset="-120"/>
              </a:rPr>
              <a:t>COURSE JOURNEY SUMMARY</a:t>
            </a:r>
            <a:endParaRPr lang="en-US" sz="900" dirty="0"/>
          </a:p>
        </p:txBody>
      </p:sp>
      <p:pic>
        <p:nvPicPr>
          <p:cNvPr id="13" name="Image 1" descr="preencoded.png"/>
          <p:cNvPicPr>
            <a:picLocks noChangeAspect="1"/>
          </p:cNvPicPr>
          <p:nvPr/>
        </p:nvPicPr>
        <p:blipFill>
          <a:blip r:embed="rId4">
            <a:alphaModFix amt="80000"/>
          </a:blip>
          <a:srcRect t="-25200" b="-25200"/>
          <a:stretch/>
        </p:blipFill>
        <p:spPr>
          <a:xfrm>
            <a:off x="3779737" y="2559068"/>
            <a:ext cx="331797" cy="499022"/>
          </a:xfrm>
          <a:prstGeom prst="rect">
            <a:avLst/>
          </a:prstGeom>
        </p:spPr>
      </p:pic>
      <p:sp>
        <p:nvSpPr>
          <p:cNvPr id="14" name="Text 10"/>
          <p:cNvSpPr txBox="1"/>
          <p:nvPr/>
        </p:nvSpPr>
        <p:spPr>
          <a:xfrm>
            <a:off x="743407" y="305467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[기초]</a:t>
            </a:r>
            <a:endParaRPr lang="en-US" sz="900" dirty="0"/>
          </a:p>
        </p:txBody>
      </p:sp>
      <p:sp>
        <p:nvSpPr>
          <p:cNvPr id="15" name="Text 11"/>
          <p:cNvSpPr txBox="1"/>
          <p:nvPr/>
        </p:nvSpPr>
        <p:spPr>
          <a:xfrm>
            <a:off x="1295705" y="3035471"/>
            <a:ext cx="25191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5요소 공식 &amp; 구조화 프롬프트 마스터</a:t>
            </a:r>
            <a:endParaRPr lang="en-US" sz="1000" dirty="0"/>
          </a:p>
        </p:txBody>
      </p:sp>
      <p:sp>
        <p:nvSpPr>
          <p:cNvPr id="16" name="Text 12"/>
          <p:cNvSpPr txBox="1"/>
          <p:nvPr/>
        </p:nvSpPr>
        <p:spPr>
          <a:xfrm>
            <a:off x="743407" y="333630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[표현]</a:t>
            </a:r>
            <a:endParaRPr lang="en-US" sz="900" dirty="0"/>
          </a:p>
        </p:txBody>
      </p:sp>
      <p:sp>
        <p:nvSpPr>
          <p:cNvPr id="17" name="Text 13"/>
          <p:cNvSpPr txBox="1"/>
          <p:nvPr/>
        </p:nvSpPr>
        <p:spPr>
          <a:xfrm>
            <a:off x="1295705" y="3318020"/>
            <a:ext cx="249631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13가지 구도, 8가지 매체, 조명/색감</a:t>
            </a:r>
            <a:endParaRPr lang="en-US" sz="1000" dirty="0"/>
          </a:p>
        </p:txBody>
      </p:sp>
      <p:sp>
        <p:nvSpPr>
          <p:cNvPr id="18" name="Text 14"/>
          <p:cNvSpPr txBox="1"/>
          <p:nvPr/>
        </p:nvSpPr>
        <p:spPr>
          <a:xfrm>
            <a:off x="743407" y="3618858"/>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[실전]</a:t>
            </a:r>
            <a:endParaRPr lang="en-US" sz="900" dirty="0"/>
          </a:p>
        </p:txBody>
      </p:sp>
      <p:sp>
        <p:nvSpPr>
          <p:cNvPr id="19" name="Text 15"/>
          <p:cNvSpPr txBox="1"/>
          <p:nvPr/>
        </p:nvSpPr>
        <p:spPr>
          <a:xfrm>
            <a:off x="1295705" y="3599656"/>
            <a:ext cx="2597810"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패션, 제품, 캐릭터 등 5가지 프로젝트</a:t>
            </a:r>
            <a:endParaRPr lang="en-US" sz="1000" dirty="0"/>
          </a:p>
        </p:txBody>
      </p:sp>
      <p:sp>
        <p:nvSpPr>
          <p:cNvPr id="20" name="Text 16"/>
          <p:cNvSpPr txBox="1"/>
          <p:nvPr/>
        </p:nvSpPr>
        <p:spPr>
          <a:xfrm>
            <a:off x="743407" y="3900493"/>
            <a:ext cx="438912"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[심화]</a:t>
            </a:r>
            <a:endParaRPr lang="en-US" sz="900" dirty="0"/>
          </a:p>
        </p:txBody>
      </p:sp>
      <p:sp>
        <p:nvSpPr>
          <p:cNvPr id="21" name="Text 17"/>
          <p:cNvSpPr txBox="1"/>
          <p:nvPr/>
        </p:nvSpPr>
        <p:spPr>
          <a:xfrm>
            <a:off x="1295705" y="3881291"/>
            <a:ext cx="2649931"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일관성 유지, 브랜드 가이드, 고급 편집</a:t>
            </a:r>
            <a:endParaRPr lang="en-US" sz="1000" dirty="0"/>
          </a:p>
        </p:txBody>
      </p:sp>
      <p:sp>
        <p:nvSpPr>
          <p:cNvPr id="22" name="Text 18"/>
          <p:cNvSpPr txBox="1"/>
          <p:nvPr/>
        </p:nvSpPr>
        <p:spPr>
          <a:xfrm>
            <a:off x="743407" y="4182128"/>
            <a:ext cx="562356" cy="171907"/>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[수익화]</a:t>
            </a:r>
            <a:endParaRPr lang="en-US" sz="900" dirty="0"/>
          </a:p>
        </p:txBody>
      </p:sp>
      <p:sp>
        <p:nvSpPr>
          <p:cNvPr id="23" name="Text 19"/>
          <p:cNvSpPr txBox="1"/>
          <p:nvPr/>
        </p:nvSpPr>
        <p:spPr>
          <a:xfrm>
            <a:off x="1295705" y="4162926"/>
            <a:ext cx="2519172" cy="191110"/>
          </a:xfrm>
          <a:prstGeom prst="rect">
            <a:avLst/>
          </a:prstGeom>
          <a:noFill/>
          <a:ln/>
        </p:spPr>
        <p:txBody>
          <a:bodyPr wrap="square" lIns="0" tIns="0" rIns="0" bIns="0" rtlCol="0" anchor="ctr"/>
          <a:lstStyle/>
          <a:p>
            <a:pPr marL="0" indent="0" algn="l">
              <a:buNone/>
            </a:pPr>
            <a:r>
              <a:rPr lang="en-US" sz="1000" dirty="0">
                <a:solidFill>
                  <a:srgbClr val="333333"/>
                </a:solidFill>
                <a:latin typeface="Noto Sans KR" pitchFamily="34" charset="0"/>
                <a:ea typeface="Noto Sans KR" pitchFamily="34" charset="-122"/>
                <a:cs typeface="Noto Sans KR" pitchFamily="34" charset="-120"/>
              </a:rPr>
              <a:t>AI+디자인을 결합한 상업적 가치 창출</a:t>
            </a:r>
            <a:endParaRPr lang="en-US" sz="1000" dirty="0"/>
          </a:p>
        </p:txBody>
      </p:sp>
      <p:sp>
        <p:nvSpPr>
          <p:cNvPr id="24" name="Shape 20"/>
          <p:cNvSpPr/>
          <p:nvPr/>
        </p:nvSpPr>
        <p:spPr>
          <a:xfrm>
            <a:off x="514807" y="4749971"/>
            <a:ext cx="3619195" cy="850392"/>
          </a:xfrm>
          <a:prstGeom prst="roundRect">
            <a:avLst>
              <a:gd name="adj" fmla="val 17106"/>
            </a:avLst>
          </a:prstGeom>
          <a:solidFill>
            <a:srgbClr val="FFF7ED"/>
          </a:solidFill>
          <a:ln w="12700">
            <a:solidFill>
              <a:srgbClr val="FFFFFF">
                <a:alpha val="0"/>
              </a:srgbClr>
            </a:solidFill>
            <a:prstDash val="solid"/>
          </a:ln>
        </p:spPr>
        <p:txBody>
          <a:bodyPr/>
          <a:lstStyle/>
          <a:p>
            <a:endParaRPr lang="ko-KR" altLang="en-US"/>
          </a:p>
        </p:txBody>
      </p:sp>
      <p:pic>
        <p:nvPicPr>
          <p:cNvPr id="25" name="Image 2" descr="preencoded.png"/>
          <p:cNvPicPr>
            <a:picLocks noChangeAspect="1"/>
          </p:cNvPicPr>
          <p:nvPr/>
        </p:nvPicPr>
        <p:blipFill>
          <a:blip r:embed="rId5"/>
          <a:srcRect/>
          <a:stretch/>
        </p:blipFill>
        <p:spPr>
          <a:xfrm>
            <a:off x="648310" y="4938337"/>
            <a:ext cx="133502" cy="133502"/>
          </a:xfrm>
          <a:prstGeom prst="rect">
            <a:avLst/>
          </a:prstGeom>
        </p:spPr>
      </p:pic>
      <p:sp>
        <p:nvSpPr>
          <p:cNvPr id="26" name="Text 21"/>
          <p:cNvSpPr txBox="1"/>
          <p:nvPr/>
        </p:nvSpPr>
        <p:spPr>
          <a:xfrm>
            <a:off x="876910" y="4883473"/>
            <a:ext cx="748894" cy="181051"/>
          </a:xfrm>
          <a:prstGeom prst="rect">
            <a:avLst/>
          </a:prstGeom>
          <a:noFill/>
          <a:ln/>
        </p:spPr>
        <p:txBody>
          <a:bodyPr wrap="square" lIns="0" tIns="0" rIns="0" bIns="0" rtlCol="0" anchor="ctr"/>
          <a:lstStyle/>
          <a:p>
            <a:pPr marL="0" indent="0" algn="l">
              <a:buNone/>
            </a:pPr>
            <a:r>
              <a:rPr lang="en-US" sz="900" b="1" dirty="0">
                <a:solidFill>
                  <a:srgbClr val="FF6908"/>
                </a:solidFill>
                <a:latin typeface="Noto Sans KR" pitchFamily="34" charset="0"/>
                <a:ea typeface="Noto Sans KR" pitchFamily="34" charset="-122"/>
                <a:cs typeface="Noto Sans KR" pitchFamily="34" charset="-120"/>
              </a:rPr>
              <a:t>Next Step:</a:t>
            </a:r>
            <a:endParaRPr lang="en-US" sz="900" dirty="0"/>
          </a:p>
        </p:txBody>
      </p:sp>
      <p:sp>
        <p:nvSpPr>
          <p:cNvPr id="27" name="Text 22"/>
          <p:cNvSpPr txBox="1"/>
          <p:nvPr/>
        </p:nvSpPr>
        <p:spPr>
          <a:xfrm>
            <a:off x="853135" y="5123501"/>
            <a:ext cx="3152851" cy="372161"/>
          </a:xfrm>
          <a:prstGeom prst="rect">
            <a:avLst/>
          </a:prstGeom>
          <a:noFill/>
          <a:ln/>
        </p:spPr>
        <p:txBody>
          <a:bodyPr wrap="square" lIns="0" tIns="0" rIns="0" bIns="0" rtlCol="0" anchor="t"/>
          <a:lstStyle/>
          <a:p>
            <a:pPr marL="0" indent="0" algn="l">
              <a:buNone/>
            </a:pPr>
            <a:r>
              <a:rPr lang="ko-KR" altLang="en-US" sz="1100" dirty="0">
                <a:solidFill>
                  <a:srgbClr val="444444"/>
                </a:solidFill>
                <a:latin typeface="Noto Sans KR" pitchFamily="34" charset="0"/>
                <a:ea typeface="Noto Sans KR" pitchFamily="34" charset="-122"/>
                <a:cs typeface="Noto Sans KR" pitchFamily="34" charset="-120"/>
              </a:rPr>
              <a:t>이번에 </a:t>
            </a:r>
            <a:r>
              <a:rPr lang="en-US" sz="1100" dirty="0" err="1">
                <a:solidFill>
                  <a:srgbClr val="444444"/>
                </a:solidFill>
                <a:latin typeface="Noto Sans KR" pitchFamily="34" charset="0"/>
                <a:ea typeface="Noto Sans KR" pitchFamily="34" charset="-122"/>
                <a:cs typeface="Noto Sans KR" pitchFamily="34" charset="-120"/>
              </a:rPr>
              <a:t>학습한</a:t>
            </a:r>
            <a:r>
              <a:rPr lang="en-US" sz="1100" dirty="0">
                <a:solidFill>
                  <a:srgbClr val="444444"/>
                </a:solidFill>
                <a:latin typeface="Noto Sans KR" pitchFamily="34" charset="0"/>
                <a:ea typeface="Noto Sans KR" pitchFamily="34" charset="-122"/>
                <a:cs typeface="Noto Sans KR" pitchFamily="34" charset="-120"/>
              </a:rPr>
              <a:t> '모듈형 프롬프트'를 </a:t>
            </a:r>
            <a:r>
              <a:rPr lang="en-US" sz="1100" dirty="0" err="1">
                <a:solidFill>
                  <a:srgbClr val="444444"/>
                </a:solidFill>
                <a:latin typeface="Noto Sans KR" pitchFamily="34" charset="0"/>
                <a:ea typeface="Noto Sans KR" pitchFamily="34" charset="-122"/>
                <a:cs typeface="Noto Sans KR" pitchFamily="34" charset="-120"/>
              </a:rPr>
              <a:t>활용하여</a:t>
            </a:r>
            <a:r>
              <a:rPr lang="en-US" sz="1100" dirty="0">
                <a:solidFill>
                  <a:srgbClr val="444444"/>
                </a:solidFill>
                <a:latin typeface="Noto Sans KR" pitchFamily="34" charset="0"/>
                <a:ea typeface="Noto Sans KR" pitchFamily="34" charset="-122"/>
                <a:cs typeface="Noto Sans KR" pitchFamily="34" charset="-120"/>
              </a:rPr>
              <a:t> </a:t>
            </a:r>
          </a:p>
          <a:p>
            <a:pPr marL="0" indent="0" algn="l">
              <a:buNone/>
            </a:pPr>
            <a:r>
              <a:rPr lang="en-US" sz="1100" dirty="0" err="1">
                <a:solidFill>
                  <a:srgbClr val="444444"/>
                </a:solidFill>
                <a:latin typeface="Noto Sans KR" pitchFamily="34" charset="0"/>
                <a:ea typeface="Noto Sans KR" pitchFamily="34" charset="-122"/>
                <a:cs typeface="Noto Sans KR" pitchFamily="34" charset="-120"/>
              </a:rPr>
              <a:t>나만의</a:t>
            </a:r>
            <a:r>
              <a:rPr lang="en-US" sz="1100" dirty="0">
                <a:solidFill>
                  <a:srgbClr val="444444"/>
                </a:solidFill>
                <a:latin typeface="Noto Sans KR" pitchFamily="34" charset="0"/>
                <a:ea typeface="Noto Sans KR" pitchFamily="34" charset="-122"/>
                <a:cs typeface="Noto Sans KR" pitchFamily="34" charset="-120"/>
              </a:rPr>
              <a:t> 포트폴리오 6컷을 제작해보세요.</a:t>
            </a:r>
            <a:endParaRPr lang="en-US" sz="1100" dirty="0"/>
          </a:p>
        </p:txBody>
      </p:sp>
      <p:pic>
        <p:nvPicPr>
          <p:cNvPr id="28" name="Image 3" descr="preencoded.png"/>
          <p:cNvPicPr>
            <a:picLocks noChangeAspect="1"/>
          </p:cNvPicPr>
          <p:nvPr/>
        </p:nvPicPr>
        <p:blipFill>
          <a:blip r:embed="rId6"/>
          <a:srcRect l="-1" r="-1"/>
          <a:stretch/>
        </p:blipFill>
        <p:spPr>
          <a:xfrm>
            <a:off x="4476902" y="457200"/>
            <a:ext cx="7239305" cy="4754880"/>
          </a:xfrm>
          <a:prstGeom prst="rect">
            <a:avLst/>
          </a:prstGeom>
        </p:spPr>
      </p:pic>
      <p:pic>
        <p:nvPicPr>
          <p:cNvPr id="29" name="Image 4" descr="preencoded.png"/>
          <p:cNvPicPr>
            <a:picLocks noChangeAspect="1"/>
          </p:cNvPicPr>
          <p:nvPr/>
        </p:nvPicPr>
        <p:blipFill>
          <a:blip r:embed="rId7"/>
          <a:srcRect l="7577" r="7577"/>
          <a:stretch/>
        </p:blipFill>
        <p:spPr>
          <a:xfrm>
            <a:off x="4476902" y="457200"/>
            <a:ext cx="7239305" cy="4762195"/>
          </a:xfrm>
          <a:prstGeom prst="rect">
            <a:avLst/>
          </a:prstGeom>
        </p:spPr>
      </p:pic>
      <p:pic>
        <p:nvPicPr>
          <p:cNvPr id="30" name="Image 5" descr="preencoded.png"/>
          <p:cNvPicPr>
            <a:picLocks noChangeAspect="1"/>
          </p:cNvPicPr>
          <p:nvPr/>
        </p:nvPicPr>
        <p:blipFill>
          <a:blip r:embed="rId8"/>
          <a:srcRect t="-7" b="-7"/>
          <a:stretch/>
        </p:blipFill>
        <p:spPr>
          <a:xfrm>
            <a:off x="4476902" y="5402275"/>
            <a:ext cx="7239305" cy="998525"/>
          </a:xfrm>
          <a:prstGeom prst="rect">
            <a:avLst/>
          </a:prstGeom>
        </p:spPr>
      </p:pic>
      <p:sp>
        <p:nvSpPr>
          <p:cNvPr id="31" name="Text 23"/>
          <p:cNvSpPr txBox="1"/>
          <p:nvPr/>
        </p:nvSpPr>
        <p:spPr>
          <a:xfrm>
            <a:off x="4743907" y="5574182"/>
            <a:ext cx="1471270" cy="162763"/>
          </a:xfrm>
          <a:prstGeom prst="rect">
            <a:avLst/>
          </a:prstGeom>
          <a:noFill/>
          <a:ln/>
        </p:spPr>
        <p:txBody>
          <a:bodyPr wrap="square" lIns="0" tIns="0" rIns="0" bIns="0" rtlCol="0" anchor="ctr"/>
          <a:lstStyle/>
          <a:p>
            <a:pPr marL="0" indent="0" algn="l">
              <a:buNone/>
            </a:pPr>
            <a:r>
              <a:rPr lang="en-US" sz="900" b="1" dirty="0">
                <a:solidFill>
                  <a:srgbClr val="FF6908"/>
                </a:solidFill>
                <a:latin typeface="Manrope" pitchFamily="34" charset="0"/>
                <a:ea typeface="Manrope" pitchFamily="34" charset="-122"/>
                <a:cs typeface="Manrope" pitchFamily="34" charset="-120"/>
              </a:rPr>
              <a:t>FULL PROMPT (KOREAN)</a:t>
            </a:r>
            <a:endParaRPr lang="en-US" sz="900" dirty="0"/>
          </a:p>
        </p:txBody>
      </p:sp>
      <p:sp>
        <p:nvSpPr>
          <p:cNvPr id="32" name="Text 24"/>
          <p:cNvSpPr txBox="1"/>
          <p:nvPr/>
        </p:nvSpPr>
        <p:spPr>
          <a:xfrm>
            <a:off x="4636061" y="5863590"/>
            <a:ext cx="6995275" cy="428854"/>
          </a:xfrm>
          <a:prstGeom prst="rect">
            <a:avLst/>
          </a:prstGeom>
          <a:noFill/>
          <a:ln/>
        </p:spPr>
        <p:txBody>
          <a:bodyPr wrap="square" lIns="0" tIns="0" rIns="0" bIns="0" rtlCol="0" anchor="t"/>
          <a:lstStyle/>
          <a:p>
            <a:pPr marL="0" indent="0" algn="l">
              <a:buNone/>
            </a:pPr>
            <a:r>
              <a:rPr lang="en-US" sz="1200" dirty="0" err="1">
                <a:solidFill>
                  <a:srgbClr val="333333"/>
                </a:solidFill>
                <a:latin typeface="Noto Sans KR" pitchFamily="34" charset="0"/>
                <a:ea typeface="Noto Sans KR" pitchFamily="34" charset="-122"/>
                <a:cs typeface="Noto Sans KR" pitchFamily="34" charset="-120"/>
              </a:rPr>
              <a:t>강의</a:t>
            </a:r>
            <a:r>
              <a:rPr lang="en-US" sz="1200" dirty="0">
                <a:solidFill>
                  <a:srgbClr val="333333"/>
                </a:solidFill>
                <a:latin typeface="Noto Sans KR" pitchFamily="34" charset="0"/>
                <a:ea typeface="Noto Sans KR" pitchFamily="34" charset="-122"/>
                <a:cs typeface="Noto Sans KR" pitchFamily="34" charset="-120"/>
              </a:rPr>
              <a:t> 마무리 슬라이드. '지금 바로 시작하세요' 메시지, 노트북과 창의적인 작업 공간, 밝고 영감을 주는 분위기, </a:t>
            </a:r>
          </a:p>
          <a:p>
            <a:pPr marL="0" indent="0" algn="l">
              <a:buNone/>
            </a:pPr>
            <a:r>
              <a:rPr lang="en-US" sz="1200" dirty="0" err="1">
                <a:solidFill>
                  <a:srgbClr val="333333"/>
                </a:solidFill>
                <a:latin typeface="Noto Sans KR" pitchFamily="34" charset="0"/>
                <a:ea typeface="Noto Sans KR" pitchFamily="34" charset="-122"/>
                <a:cs typeface="Noto Sans KR" pitchFamily="34" charset="-120"/>
              </a:rPr>
              <a:t>따뜻한</a:t>
            </a:r>
            <a:r>
              <a:rPr lang="en-US" sz="1200" dirty="0">
                <a:solidFill>
                  <a:srgbClr val="333333"/>
                </a:solidFill>
                <a:latin typeface="Noto Sans KR" pitchFamily="34" charset="0"/>
                <a:ea typeface="Noto Sans KR" pitchFamily="34" charset="-122"/>
                <a:cs typeface="Noto Sans KR" pitchFamily="34" charset="-120"/>
              </a:rPr>
              <a:t> 조명, 미니멀한 구성, 동기부여하는 느낌, 파스텔 톤. 이미지 내 모든 텍스트는 한국어로 표시되어야 합니다.</a:t>
            </a:r>
            <a:endParaRPr lang="en-US" sz="1200" dirty="0"/>
          </a:p>
        </p:txBody>
      </p:sp>
      <p:sp>
        <p:nvSpPr>
          <p:cNvPr id="33" name="Shape 25"/>
          <p:cNvSpPr/>
          <p:nvPr/>
        </p:nvSpPr>
        <p:spPr>
          <a:xfrm>
            <a:off x="10005365" y="647395"/>
            <a:ext cx="1524305" cy="286207"/>
          </a:xfrm>
          <a:prstGeom prst="roundRect">
            <a:avLst>
              <a:gd name="adj" fmla="val 212993"/>
            </a:avLst>
          </a:prstGeom>
          <a:solidFill>
            <a:srgbClr val="000000">
              <a:alpha val="60000"/>
            </a:srgbClr>
          </a:solidFill>
          <a:ln w="12700">
            <a:solidFill>
              <a:srgbClr val="FFFFFF">
                <a:alpha val="0"/>
              </a:srgbClr>
            </a:solidFill>
            <a:prstDash val="solid"/>
          </a:ln>
        </p:spPr>
        <p:txBody>
          <a:bodyPr/>
          <a:lstStyle/>
          <a:p>
            <a:endParaRPr lang="ko-KR" altLang="en-US"/>
          </a:p>
        </p:txBody>
      </p:sp>
      <p:pic>
        <p:nvPicPr>
          <p:cNvPr id="34" name="Image 6" descr="preencoded.png"/>
          <p:cNvPicPr>
            <a:picLocks noChangeAspect="1"/>
          </p:cNvPicPr>
          <p:nvPr/>
        </p:nvPicPr>
        <p:blipFill>
          <a:blip r:embed="rId9"/>
          <a:srcRect/>
          <a:stretch/>
        </p:blipFill>
        <p:spPr>
          <a:xfrm>
            <a:off x="10138867" y="733349"/>
            <a:ext cx="114300" cy="114300"/>
          </a:xfrm>
          <a:prstGeom prst="rect">
            <a:avLst/>
          </a:prstGeom>
        </p:spPr>
      </p:pic>
      <p:sp>
        <p:nvSpPr>
          <p:cNvPr id="35" name="Text 26"/>
          <p:cNvSpPr txBox="1"/>
          <p:nvPr/>
        </p:nvSpPr>
        <p:spPr>
          <a:xfrm>
            <a:off x="10310774" y="647395"/>
            <a:ext cx="1143000" cy="286207"/>
          </a:xfrm>
          <a:prstGeom prst="rect">
            <a:avLst/>
          </a:prstGeom>
          <a:noFill/>
          <a:ln/>
        </p:spPr>
        <p:txBody>
          <a:bodyPr wrap="squar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AI Generated Result</a:t>
            </a:r>
            <a:endParaRPr lang="en-US" sz="900" dirty="0"/>
          </a:p>
        </p:txBody>
      </p:sp>
      <p:sp>
        <p:nvSpPr>
          <p:cNvPr id="36" name="deckgen:wrap:footer"/>
          <p:cNvSpPr txBox="1"/>
          <p:nvPr/>
        </p:nvSpPr>
        <p:spPr>
          <a:xfrm>
            <a:off x="365760" y="6549390"/>
            <a:ext cx="11460480" cy="240030"/>
          </a:xfrm>
          <a:prstGeom prst="rect">
            <a:avLst/>
          </a:prstGeom>
          <a:noFill/>
        </p:spPr>
        <p:txBody>
          <a:bodyPr wrap="square" anchor="b" lIns="0" rIns="0" tIns="0" bIns="0">
            <a:spAutoFit/>
          </a:bodyPr>
          <a:lstStyle/>
          <a:p>
            <a:pPr algn="r">
              <a:lnSpc>
                <a:spcPct val="125000"/>
              </a:lnSpc>
            </a:pPr>
            <a:r>
              <a:rPr sz="900" b="0">
                <a:solidFill>
                  <a:srgbClr val="8A8F99"/>
                </a:solidFill>
                <a:latin typeface="Pretendard"/>
              </a:rPr>
              <a:t>© 2026 이애본 · 홍문원(洪文院) 발행 · CC BY-NC-ND 4.0 · useful-ai.dreamitbiz.com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wrap:bg"/>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kgen:wrap:side"/>
          <p:cNvSpPr/>
          <p:nvPr/>
        </p:nvSpPr>
        <p:spPr>
          <a:xfrm>
            <a:off x="0" y="0"/>
            <a:ext cx="146304"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kgen:wrap:rule"/>
          <p:cNvSpPr/>
          <p:nvPr/>
        </p:nvSpPr>
        <p:spPr>
          <a:xfrm>
            <a:off x="853440" y="2057400"/>
            <a:ext cx="975360" cy="381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kgen:wrap:eyebrow"/>
          <p:cNvSpPr txBox="1"/>
          <p:nvPr/>
        </p:nvSpPr>
        <p:spPr>
          <a:xfrm>
            <a:off x="853440" y="1165860"/>
            <a:ext cx="10485120" cy="342900"/>
          </a:xfrm>
          <a:prstGeom prst="rect">
            <a:avLst/>
          </a:prstGeom>
          <a:noFill/>
        </p:spPr>
        <p:txBody>
          <a:bodyPr wrap="square" anchor="t" lIns="0" rIns="0" tIns="0" bIns="0">
            <a:spAutoFit/>
          </a:bodyPr>
          <a:lstStyle/>
          <a:p>
            <a:pPr algn="l">
              <a:lnSpc>
                <a:spcPct val="125000"/>
              </a:lnSpc>
            </a:pPr>
            <a:r>
              <a:rPr sz="1200" b="1">
                <a:solidFill>
                  <a:srgbClr val="0072CE"/>
                </a:solidFill>
                <a:latin typeface="Pretendard"/>
              </a:rPr>
              <a:t>HOW TO USE</a:t>
            </a:r>
          </a:p>
        </p:txBody>
      </p:sp>
      <p:sp>
        <p:nvSpPr>
          <p:cNvPr id="6" name="deckgen:wrap:title"/>
          <p:cNvSpPr txBox="1"/>
          <p:nvPr/>
        </p:nvSpPr>
        <p:spPr>
          <a:xfrm>
            <a:off x="853440" y="1440180"/>
            <a:ext cx="10485120" cy="617220"/>
          </a:xfrm>
          <a:prstGeom prst="rect">
            <a:avLst/>
          </a:prstGeom>
          <a:noFill/>
        </p:spPr>
        <p:txBody>
          <a:bodyPr wrap="square" anchor="t" lIns="0" rIns="0" tIns="0" bIns="0">
            <a:spAutoFit/>
          </a:bodyPr>
          <a:lstStyle/>
          <a:p>
            <a:pPr algn="l">
              <a:lnSpc>
                <a:spcPct val="125000"/>
              </a:lnSpc>
            </a:pPr>
            <a:r>
              <a:rPr sz="3000" b="1">
                <a:solidFill>
                  <a:srgbClr val="1A2A5E"/>
                </a:solidFill>
                <a:latin typeface="Pretendard"/>
              </a:rPr>
              <a:t>이 자료 사용 방법</a:t>
            </a:r>
          </a:p>
        </p:txBody>
      </p:sp>
      <p:sp>
        <p:nvSpPr>
          <p:cNvPr id="7" name="deckgen:wrap:body"/>
          <p:cNvSpPr txBox="1"/>
          <p:nvPr/>
        </p:nvSpPr>
        <p:spPr>
          <a:xfrm>
            <a:off x="853440" y="2400300"/>
            <a:ext cx="10485120" cy="3566160"/>
          </a:xfrm>
          <a:prstGeom prst="rect">
            <a:avLst/>
          </a:prstGeom>
          <a:noFill/>
        </p:spPr>
        <p:txBody>
          <a:bodyPr wrap="square" anchor="t" lIns="0" rIns="0" tIns="0" bIns="0">
            <a:spAutoFit/>
          </a:bodyPr>
          <a:lstStyle/>
          <a:p>
            <a:pPr algn="l">
              <a:lnSpc>
                <a:spcPct val="130000"/>
              </a:lnSpc>
            </a:pPr>
            <a:r>
              <a:rPr sz="1500" b="0">
                <a:solidFill>
                  <a:srgbClr val="333333"/>
                </a:solidFill>
                <a:latin typeface="Pretendard"/>
              </a:rPr>
              <a:t>1.  수업·강의·자습에 그대로 쓰셔도 됩니다. 출처만 남겨 주세요.</a:t>
            </a:r>
          </a:p>
          <a:p>
            <a:pPr algn="l">
              <a:lnSpc>
                <a:spcPct val="130000"/>
              </a:lnSpc>
              <a:spcBef>
                <a:spcPts val="900"/>
              </a:spcBef>
            </a:pPr>
            <a:r>
              <a:rPr sz="1500" b="0">
                <a:solidFill>
                  <a:srgbClr val="333333"/>
                </a:solidFill>
                <a:latin typeface="Pretendard"/>
              </a:rPr>
              <a:t>2.  PDF 는 화면으로 읽는 용도, PPTX 는 발표용입니다. PPTX 는 Pretendard 글꼴이 설치된 컴퓨터에서 가장 똑같이 보입니다.</a:t>
            </a:r>
          </a:p>
          <a:p>
            <a:pPr algn="l">
              <a:lnSpc>
                <a:spcPct val="130000"/>
              </a:lnSpc>
              <a:spcBef>
                <a:spcPts val="900"/>
              </a:spcBef>
            </a:pPr>
            <a:r>
              <a:rPr sz="1500" b="0">
                <a:solidFill>
                  <a:srgbClr val="333333"/>
                </a:solidFill>
                <a:latin typeface="Pretendard"/>
              </a:rPr>
              <a:t>3.  출처 표기 예: 이애본(드림아이티비즈), 「자료 제목」, 홍문원, useful-ai.dreamitbiz.com, CC BY-NC-ND 4.0</a:t>
            </a:r>
          </a:p>
          <a:p>
            <a:pPr algn="l">
              <a:lnSpc>
                <a:spcPct val="130000"/>
              </a:lnSpc>
              <a:spcBef>
                <a:spcPts val="900"/>
              </a:spcBef>
            </a:pPr>
            <a:r>
              <a:rPr sz="1500" b="0">
                <a:solidFill>
                  <a:srgbClr val="333333"/>
                </a:solidFill>
                <a:latin typeface="Pretendard"/>
              </a:rPr>
              <a:t>4.  자료 안의 프롬프트는 복사해 바로 쓸 수 있습니다. [대괄호]만 내 상황으로 바꾸세요.</a:t>
            </a:r>
          </a:p>
          <a:p>
            <a:pPr algn="l">
              <a:lnSpc>
                <a:spcPct val="130000"/>
              </a:lnSpc>
              <a:spcBef>
                <a:spcPts val="900"/>
              </a:spcBef>
            </a:pPr>
            <a:r>
              <a:rPr sz="1500" b="0">
                <a:solidFill>
                  <a:srgbClr val="333333"/>
                </a:solidFill>
                <a:latin typeface="Pretendard"/>
              </a:rPr>
              <a:t>5.  모든 자료와 영상 강의는 useful-ai.dreamitbiz.com 에서 다시 받을 수 있습니다.</a:t>
            </a:r>
          </a:p>
        </p:txBody>
      </p:sp>
      <p:sp>
        <p:nvSpPr>
          <p:cNvPr id="8" name="deckgen:wrap:footer"/>
          <p:cNvSpPr txBox="1"/>
          <p:nvPr/>
        </p:nvSpPr>
        <p:spPr>
          <a:xfrm>
            <a:off x="853440" y="6240780"/>
            <a:ext cx="10485120" cy="342900"/>
          </a:xfrm>
          <a:prstGeom prst="rect">
            <a:avLst/>
          </a:prstGeom>
          <a:noFill/>
        </p:spPr>
        <p:txBody>
          <a:bodyPr wrap="square" anchor="t" lIns="0" rIns="0" tIns="0" bIns="0">
            <a:spAutoFit/>
          </a:bodyPr>
          <a:lstStyle/>
          <a:p>
            <a:pPr algn="r">
              <a:lnSpc>
                <a:spcPct val="125000"/>
              </a:lnSpc>
            </a:pPr>
            <a:r>
              <a:rPr sz="900" b="0">
                <a:solidFill>
                  <a:srgbClr val="888888"/>
                </a:solidFill>
                <a:latin typeface="Pretendard"/>
              </a:rPr>
              <a:t>© 2026 이애본 · 홍문원(洪文院) 발행 · CC BY-NC-ND 4.0 · useful-ai.dreamitbiz.com</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wrap:bg"/>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kgen:wrap:side"/>
          <p:cNvSpPr/>
          <p:nvPr/>
        </p:nvSpPr>
        <p:spPr>
          <a:xfrm>
            <a:off x="0" y="0"/>
            <a:ext cx="146304"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kgen:wrap:rule"/>
          <p:cNvSpPr/>
          <p:nvPr/>
        </p:nvSpPr>
        <p:spPr>
          <a:xfrm>
            <a:off x="853440" y="2057400"/>
            <a:ext cx="975360" cy="381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kgen:wrap:eyebrow"/>
          <p:cNvSpPr txBox="1"/>
          <p:nvPr/>
        </p:nvSpPr>
        <p:spPr>
          <a:xfrm>
            <a:off x="853440" y="1165860"/>
            <a:ext cx="10485120" cy="342900"/>
          </a:xfrm>
          <a:prstGeom prst="rect">
            <a:avLst/>
          </a:prstGeom>
          <a:noFill/>
        </p:spPr>
        <p:txBody>
          <a:bodyPr wrap="square" anchor="t" lIns="0" rIns="0" tIns="0" bIns="0">
            <a:spAutoFit/>
          </a:bodyPr>
          <a:lstStyle/>
          <a:p>
            <a:pPr algn="l">
              <a:lnSpc>
                <a:spcPct val="125000"/>
              </a:lnSpc>
            </a:pPr>
            <a:r>
              <a:rPr sz="1200" b="1">
                <a:solidFill>
                  <a:srgbClr val="0072CE"/>
                </a:solidFill>
                <a:latin typeface="Pretendard"/>
              </a:rPr>
              <a:t>COPYRIGHT · LICENSE</a:t>
            </a:r>
          </a:p>
        </p:txBody>
      </p:sp>
      <p:sp>
        <p:nvSpPr>
          <p:cNvPr id="6" name="deckgen:wrap:title"/>
          <p:cNvSpPr txBox="1"/>
          <p:nvPr/>
        </p:nvSpPr>
        <p:spPr>
          <a:xfrm>
            <a:off x="853440" y="1440180"/>
            <a:ext cx="10485120" cy="617220"/>
          </a:xfrm>
          <a:prstGeom prst="rect">
            <a:avLst/>
          </a:prstGeom>
          <a:noFill/>
        </p:spPr>
        <p:txBody>
          <a:bodyPr wrap="square" anchor="t" lIns="0" rIns="0" tIns="0" bIns="0">
            <a:spAutoFit/>
          </a:bodyPr>
          <a:lstStyle/>
          <a:p>
            <a:pPr algn="l">
              <a:lnSpc>
                <a:spcPct val="125000"/>
              </a:lnSpc>
            </a:pPr>
            <a:r>
              <a:rPr sz="3000" b="1">
                <a:solidFill>
                  <a:srgbClr val="1A2A5E"/>
                </a:solidFill>
                <a:latin typeface="Pretendard"/>
              </a:rPr>
              <a:t>저작권 · 이용 조건 (CC BY-NC-ND 4.0)</a:t>
            </a:r>
          </a:p>
        </p:txBody>
      </p:sp>
      <p:sp>
        <p:nvSpPr>
          <p:cNvPr id="7" name="deckgen:wrap:body"/>
          <p:cNvSpPr txBox="1"/>
          <p:nvPr/>
        </p:nvSpPr>
        <p:spPr>
          <a:xfrm>
            <a:off x="853440" y="2400300"/>
            <a:ext cx="10485120" cy="3566160"/>
          </a:xfrm>
          <a:prstGeom prst="rect">
            <a:avLst/>
          </a:prstGeom>
          <a:noFill/>
        </p:spPr>
        <p:txBody>
          <a:bodyPr wrap="square" anchor="t" lIns="0" rIns="0" tIns="0" bIns="0">
            <a:spAutoFit/>
          </a:bodyPr>
          <a:lstStyle/>
          <a:p>
            <a:pPr algn="l">
              <a:lnSpc>
                <a:spcPct val="130000"/>
              </a:lnSpc>
            </a:pPr>
            <a:r>
              <a:rPr sz="1500" b="0">
                <a:solidFill>
                  <a:srgbClr val="333333"/>
                </a:solidFill>
                <a:latin typeface="Pretendard"/>
              </a:rPr>
              <a:t>1.  저작권 © 2026 이애본(드림아이티비즈 DreamIT Biz). 발행 홍문원(洪文院, 출판사 신고번호 제2026-000026호). 이애본이 2026년 대학·기관 강의 현장에서 쓴 강의안을 전자출판용으로 다시 묶은 것입니다. ISBN: 등록 후 기재.</a:t>
            </a:r>
          </a:p>
          <a:p>
            <a:pPr algn="l">
              <a:lnSpc>
                <a:spcPct val="130000"/>
              </a:lnSpc>
              <a:spcBef>
                <a:spcPts val="900"/>
              </a:spcBef>
            </a:pPr>
            <a:r>
              <a:rPr sz="1500" b="0">
                <a:solidFill>
                  <a:srgbClr val="333333"/>
                </a:solidFill>
                <a:latin typeface="Pretendard"/>
              </a:rPr>
              <a:t>2.  이 자료는 크리에이티브 커먼즈 저작자표시-비영리-변경금지 4.0 국제(CC BY-NC-ND 4.0) 라이선스를 따릅니다. creativecommons.org/licenses/by-nc-nd/4.0/deed.ko</a:t>
            </a:r>
          </a:p>
          <a:p>
            <a:pPr algn="l">
              <a:lnSpc>
                <a:spcPct val="130000"/>
              </a:lnSpc>
              <a:spcBef>
                <a:spcPts val="900"/>
              </a:spcBef>
            </a:pPr>
            <a:r>
              <a:rPr sz="1500" b="0">
                <a:solidFill>
                  <a:srgbClr val="333333"/>
                </a:solidFill>
                <a:latin typeface="Pretendard"/>
              </a:rPr>
              <a:t>3.  저작자 표시(BY): 출처를 밝히면 그대로 복사해 수업·강의·자습에 쓸 수 있습니다. 비영리(NC): 유료 강의·판매·광고 수익 목적에는 쓸 수 없습니다. 변경금지(ND): 내용을 고치거나 잘라 재조합해 배포할 수 없습니다.</a:t>
            </a:r>
          </a:p>
          <a:p>
            <a:pPr algn="l">
              <a:lnSpc>
                <a:spcPct val="130000"/>
              </a:lnSpc>
              <a:spcBef>
                <a:spcPts val="900"/>
              </a:spcBef>
            </a:pPr>
            <a:r>
              <a:rPr sz="1500" b="0">
                <a:solidFill>
                  <a:srgbClr val="333333"/>
                </a:solidFill>
                <a:latin typeface="Pretendard"/>
              </a:rPr>
              <a:t>4.  자료 안의 외부 서비스 화면 캡처와 상표는 교육 목적 인용이며 각 서비스의 소유입니다. AI 생성 이미지는 생성 도구의 이용 약관을 따릅니다.</a:t>
            </a:r>
          </a:p>
          <a:p>
            <a:pPr algn="l">
              <a:lnSpc>
                <a:spcPct val="130000"/>
              </a:lnSpc>
              <a:spcBef>
                <a:spcPts val="900"/>
              </a:spcBef>
            </a:pPr>
            <a:r>
              <a:rPr sz="1500" b="0">
                <a:solidFill>
                  <a:srgbClr val="333333"/>
                </a:solidFill>
                <a:latin typeface="Pretendard"/>
              </a:rPr>
              <a:t>5.  라이선스 범위 밖의 이용(영리·변형·2차 저작)은 먼저 문의해 주세요. aebon@dreamitbiz.com · 카카오톡 ID aebon</a:t>
            </a:r>
          </a:p>
        </p:txBody>
      </p:sp>
      <p:sp>
        <p:nvSpPr>
          <p:cNvPr id="8" name="deckgen:wrap:footer"/>
          <p:cNvSpPr txBox="1"/>
          <p:nvPr/>
        </p:nvSpPr>
        <p:spPr>
          <a:xfrm>
            <a:off x="853440" y="6240780"/>
            <a:ext cx="10485120" cy="342900"/>
          </a:xfrm>
          <a:prstGeom prst="rect">
            <a:avLst/>
          </a:prstGeom>
          <a:noFill/>
        </p:spPr>
        <p:txBody>
          <a:bodyPr wrap="square" anchor="t" lIns="0" rIns="0" tIns="0" bIns="0">
            <a:spAutoFit/>
          </a:bodyPr>
          <a:lstStyle/>
          <a:p>
            <a:pPr algn="r">
              <a:lnSpc>
                <a:spcPct val="125000"/>
              </a:lnSpc>
            </a:pPr>
            <a:r>
              <a:rPr sz="900" b="0">
                <a:solidFill>
                  <a:srgbClr val="888888"/>
                </a:solidFill>
                <a:latin typeface="Pretendard"/>
              </a:rPr>
              <a:t>© 2026 이애본 · 홍문원(洪文院) 발행 · CC BY-NC-ND 4.0 · useful-ai.dreamitbiz.com</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wrap:bg"/>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kgen:wrap:side"/>
          <p:cNvSpPr/>
          <p:nvPr/>
        </p:nvSpPr>
        <p:spPr>
          <a:xfrm>
            <a:off x="0" y="0"/>
            <a:ext cx="146304" cy="68580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kgen:wrap:rule"/>
          <p:cNvSpPr/>
          <p:nvPr/>
        </p:nvSpPr>
        <p:spPr>
          <a:xfrm>
            <a:off x="853440" y="2057400"/>
            <a:ext cx="975360" cy="3810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kgen:wrap:eyebrow"/>
          <p:cNvSpPr txBox="1"/>
          <p:nvPr/>
        </p:nvSpPr>
        <p:spPr>
          <a:xfrm>
            <a:off x="853440" y="1165860"/>
            <a:ext cx="10485120" cy="342900"/>
          </a:xfrm>
          <a:prstGeom prst="rect">
            <a:avLst/>
          </a:prstGeom>
          <a:noFill/>
        </p:spPr>
        <p:txBody>
          <a:bodyPr wrap="square" anchor="t" lIns="0" rIns="0" tIns="0" bIns="0">
            <a:spAutoFit/>
          </a:bodyPr>
          <a:lstStyle/>
          <a:p>
            <a:pPr algn="l">
              <a:lnSpc>
                <a:spcPct val="125000"/>
              </a:lnSpc>
            </a:pPr>
            <a:r>
              <a:rPr sz="1200" b="1">
                <a:solidFill>
                  <a:srgbClr val="0072CE"/>
                </a:solidFill>
                <a:latin typeface="Pretendard"/>
              </a:rPr>
              <a:t>CREDITS · CONTACT</a:t>
            </a:r>
          </a:p>
        </p:txBody>
      </p:sp>
      <p:sp>
        <p:nvSpPr>
          <p:cNvPr id="6" name="deckgen:wrap:title"/>
          <p:cNvSpPr txBox="1"/>
          <p:nvPr/>
        </p:nvSpPr>
        <p:spPr>
          <a:xfrm>
            <a:off x="853440" y="1440180"/>
            <a:ext cx="10485120" cy="617220"/>
          </a:xfrm>
          <a:prstGeom prst="rect">
            <a:avLst/>
          </a:prstGeom>
          <a:noFill/>
        </p:spPr>
        <p:txBody>
          <a:bodyPr wrap="square" anchor="t" lIns="0" rIns="0" tIns="0" bIns="0">
            <a:spAutoFit/>
          </a:bodyPr>
          <a:lstStyle/>
          <a:p>
            <a:pPr algn="l">
              <a:lnSpc>
                <a:spcPct val="125000"/>
              </a:lnSpc>
            </a:pPr>
            <a:r>
              <a:rPr sz="3000" b="1">
                <a:solidFill>
                  <a:srgbClr val="1A2A5E"/>
                </a:solidFill>
                <a:latin typeface="Pretendard"/>
              </a:rPr>
              <a:t>출처 · 문의</a:t>
            </a:r>
          </a:p>
        </p:txBody>
      </p:sp>
      <p:sp>
        <p:nvSpPr>
          <p:cNvPr id="7" name="deckgen:wrap:body"/>
          <p:cNvSpPr txBox="1"/>
          <p:nvPr/>
        </p:nvSpPr>
        <p:spPr>
          <a:xfrm>
            <a:off x="853440" y="2400300"/>
            <a:ext cx="10485120" cy="3566160"/>
          </a:xfrm>
          <a:prstGeom prst="rect">
            <a:avLst/>
          </a:prstGeom>
          <a:noFill/>
        </p:spPr>
        <p:txBody>
          <a:bodyPr wrap="square" anchor="t" lIns="0" rIns="0" tIns="0" bIns="0">
            <a:spAutoFit/>
          </a:bodyPr>
          <a:lstStyle/>
          <a:p>
            <a:pPr algn="l">
              <a:lnSpc>
                <a:spcPct val="130000"/>
              </a:lnSpc>
            </a:pPr>
            <a:r>
              <a:rPr sz="1500" b="0">
                <a:solidFill>
                  <a:srgbClr val="333333"/>
                </a:solidFill>
                <a:latin typeface="Pretendard"/>
              </a:rPr>
              <a:t>이애본 (Aebon Lee, Ph.D) — 드림아이티비즈 대표 · 한신대학교 AI·SW대학 겸임교수</a:t>
            </a:r>
          </a:p>
          <a:p>
            <a:pPr algn="l">
              <a:lnSpc>
                <a:spcPct val="130000"/>
              </a:lnSpc>
              <a:spcBef>
                <a:spcPts val="900"/>
              </a:spcBef>
            </a:pPr>
            <a:r>
              <a:rPr sz="1500" b="0">
                <a:solidFill>
                  <a:srgbClr val="333333"/>
                </a:solidFill>
                <a:latin typeface="Pretendard"/>
              </a:rPr>
              <a:t>useful-ai.dreamitbiz.com — 강의안·영상 강의 라이브러리</a:t>
            </a:r>
          </a:p>
          <a:p>
            <a:pPr algn="l">
              <a:lnSpc>
                <a:spcPct val="130000"/>
              </a:lnSpc>
              <a:spcBef>
                <a:spcPts val="900"/>
              </a:spcBef>
            </a:pPr>
            <a:r>
              <a:rPr sz="1500" b="0">
                <a:solidFill>
                  <a:srgbClr val="333333"/>
                </a:solidFill>
                <a:latin typeface="Pretendard"/>
              </a:rPr>
              <a:t>aebon@dreamitbiz.com · 카카오톡 ID aebon</a:t>
            </a:r>
          </a:p>
          <a:p>
            <a:pPr algn="l">
              <a:lnSpc>
                <a:spcPct val="130000"/>
              </a:lnSpc>
              <a:spcBef>
                <a:spcPts val="900"/>
              </a:spcBef>
            </a:pPr>
            <a:r>
              <a:rPr sz="1500" b="0">
                <a:solidFill>
                  <a:srgbClr val="333333"/>
                </a:solidFill>
                <a:latin typeface="Pretendard"/>
              </a:rPr>
              <a:t>© 2026 이애본 · 발행 홍문원(洪文院) · CC BY-NC-ND 4.0</a:t>
            </a:r>
          </a:p>
        </p:txBody>
      </p:sp>
      <p:sp>
        <p:nvSpPr>
          <p:cNvPr id="8" name="deckgen:wrap:footer"/>
          <p:cNvSpPr txBox="1"/>
          <p:nvPr/>
        </p:nvSpPr>
        <p:spPr>
          <a:xfrm>
            <a:off x="853440" y="6240780"/>
            <a:ext cx="10485120" cy="342900"/>
          </a:xfrm>
          <a:prstGeom prst="rect">
            <a:avLst/>
          </a:prstGeom>
          <a:noFill/>
        </p:spPr>
        <p:txBody>
          <a:bodyPr wrap="square" anchor="t" lIns="0" rIns="0" tIns="0" bIns="0">
            <a:spAutoFit/>
          </a:bodyPr>
          <a:lstStyle/>
          <a:p>
            <a:pPr algn="r">
              <a:lnSpc>
                <a:spcPct val="125000"/>
              </a:lnSpc>
            </a:pPr>
            <a:r>
              <a:rPr sz="900" b="0">
                <a:solidFill>
                  <a:srgbClr val="888888"/>
                </a:solidFill>
                <a:latin typeface="Pretendard"/>
              </a:rPr>
              <a:t>© 2026 이애본 · 홍문원(洪文院) 발행 · CC BY-NC-ND 4.0 · useful-ai.dreamitbiz.com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13562</Words>
  <Application>Microsoft Office PowerPoint</Application>
  <PresentationFormat>와이드스크린</PresentationFormat>
  <Paragraphs>2025</Paragraphs>
  <Slides>89</Slides>
  <Notes>89</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89</vt:i4>
      </vt:variant>
    </vt:vector>
  </HeadingPairs>
  <TitlesOfParts>
    <vt:vector size="96" baseType="lpstr">
      <vt:lpstr>Manrope</vt:lpstr>
      <vt:lpstr>Noto Sans KR</vt:lpstr>
      <vt:lpstr>Pretendard</vt:lpstr>
      <vt:lpstr>ADLaM Display</vt:lpstr>
      <vt:lpstr>Arial</vt:lpstr>
      <vt:lpstr>Wingdings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이애본</cp:lastModifiedBy>
  <cp:revision>16</cp:revision>
  <dcterms:created xsi:type="dcterms:W3CDTF">2026-01-28T15:39:53Z</dcterms:created>
  <dcterms:modified xsi:type="dcterms:W3CDTF">2026-01-29T21:12:11Z</dcterms:modified>
</cp:coreProperties>
</file>