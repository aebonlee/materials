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4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6F6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8E9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DED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2E9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8E9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1부 · 2교시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27416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채용공고,</a:t>
            </a:r>
          </a:p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AI로 읽어 내기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85647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2026. 11. 6.(금) 14:25~15:20 · 강사 이애본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경산시취업지원센터 · 경산고용복지+센터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2026년 제1차 취업특강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공고 한 장을 내 편으로 만듭니다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고용24에서 지원해 볼 공고 하나를 고릅니다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공고 속 숨은 요구를 읽어 내는 눈을 기릅니다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AI로 공고 해독표와 핵심 키워드 10개를 만듭니다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내 경험과 공고를 맞대어 충족 · 부분 · 보완을 가립니다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AF0FF"/>
          </a:solidFill>
          <a:ln w="9525">
            <a:solidFill>
              <a:srgbClr val="C9D7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남는 것: 공고 분석표 · 나와 공고 매칭표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2교시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지금 어디쯤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1교시 재료를 들고 공고 앞에 섭니다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971800"/>
            <a:ext cx="16002000" cy="38100"/>
          </a:xfrm>
          <a:prstGeom prst="rect">
            <a:avLst/>
          </a:prstGeom>
          <a:solidFill>
            <a:srgbClr val="C9D7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1교시</a:t>
            </a:r>
          </a:p>
        </p:txBody>
      </p:sp>
      <p:sp>
        <p:nvSpPr>
          <p:cNvPr id="10" name="Oval 9"/>
          <p:cNvSpPr/>
          <p:nvPr/>
        </p:nvSpPr>
        <p:spPr>
          <a:xfrm>
            <a:off x="2947988" y="2895600"/>
            <a:ext cx="190500" cy="190500"/>
          </a:xfrm>
          <a:prstGeom prst="ellipse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71850"/>
            <a:ext cx="3800475" cy="4057650"/>
          </a:xfrm>
          <a:prstGeom prst="roundRect">
            <a:avLst>
              <a:gd name="adj" fmla="val 1503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600450"/>
            <a:ext cx="3343275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AI 첫걸음 · 다섯 칸 · 강점 찾기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6210300"/>
            <a:ext cx="3343275" cy="19050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634365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66750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강점 키워드 3개 · 목표 한 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0175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2교시</a:t>
            </a:r>
          </a:p>
        </p:txBody>
      </p:sp>
      <p:sp>
        <p:nvSpPr>
          <p:cNvPr id="17" name="Oval 16"/>
          <p:cNvSpPr/>
          <p:nvPr/>
        </p:nvSpPr>
        <p:spPr>
          <a:xfrm>
            <a:off x="6986588" y="2867025"/>
            <a:ext cx="247650" cy="247650"/>
          </a:xfrm>
          <a:prstGeom prst="ellipse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10175" y="3371850"/>
            <a:ext cx="3800475" cy="4057650"/>
          </a:xfrm>
          <a:prstGeom prst="roundRect">
            <a:avLst>
              <a:gd name="adj" fmla="val 1503"/>
            </a:avLst>
          </a:prstGeom>
          <a:solidFill>
            <a:srgbClr val="EAF0FF"/>
          </a:solidFill>
          <a:ln w="19050">
            <a:solidFill>
              <a:srgbClr val="1E2A6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38775" y="3600450"/>
            <a:ext cx="3343275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채용공고 해독 · 나와 공고 맞춰 보기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38775" y="6210300"/>
            <a:ext cx="3343275" cy="19050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38775" y="634365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38775" y="666750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공고 분석표 · 매칭표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7350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3교시</a:t>
            </a:r>
          </a:p>
        </p:txBody>
      </p:sp>
      <p:sp>
        <p:nvSpPr>
          <p:cNvPr id="24" name="Oval 23"/>
          <p:cNvSpPr/>
          <p:nvPr/>
        </p:nvSpPr>
        <p:spPr>
          <a:xfrm>
            <a:off x="11082338" y="2895600"/>
            <a:ext cx="190500" cy="190500"/>
          </a:xfrm>
          <a:prstGeom prst="ellipse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77350" y="3371850"/>
            <a:ext cx="3800475" cy="4057650"/>
          </a:xfrm>
          <a:prstGeom prst="roundRect">
            <a:avLst>
              <a:gd name="adj" fmla="val 1503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5950" y="3600450"/>
            <a:ext cx="3343275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경험 캐내기 · 이력서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5950" y="6210300"/>
            <a:ext cx="3343275" cy="19050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5950" y="634365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5950" y="666750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이력서 초안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344525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4교시</a:t>
            </a:r>
          </a:p>
        </p:txBody>
      </p:sp>
      <p:sp>
        <p:nvSpPr>
          <p:cNvPr id="31" name="Oval 30"/>
          <p:cNvSpPr/>
          <p:nvPr/>
        </p:nvSpPr>
        <p:spPr>
          <a:xfrm>
            <a:off x="15149512" y="2895600"/>
            <a:ext cx="190500" cy="190500"/>
          </a:xfrm>
          <a:prstGeom prst="ellipse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3344525" y="3371850"/>
            <a:ext cx="3800475" cy="4057650"/>
          </a:xfrm>
          <a:prstGeom prst="roundRect">
            <a:avLst>
              <a:gd name="adj" fmla="val 1503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573125" y="3600450"/>
            <a:ext cx="3343275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자기소개서 · 맞춤형 수정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573125" y="6210300"/>
            <a:ext cx="3343275" cy="19050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573125" y="634365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573125" y="666750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자기소개서 한 문항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C9D7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프롬프트 전문은 gyeongsan.jobability.co.kr 「실습 프롬프트」에서 복사합니다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2교시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4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6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2교시 ① · 공고 고르기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고용24에서 공고 하나를 고릅니다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완벽하게 맞는 공고보다 「한 가지라도 겹치는 공고」가 오늘 연습에 좋습니다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2교시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공고 찾기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다섯 단계로 공고 전문을 손에 쥡니다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메뉴 이름과 화면은 시기마다 바뀔 수 있습니다 — 「채용정보」 「검색」 낱말을 찾습니다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고용24 접속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검색창에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「고용24」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채용정보 검색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지역 · 직종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조건 넣기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경산 · 관심 직종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1교시 목표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한 줄을 보며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공고 하나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지금 지원할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수 있는 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전문 복사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업무 · 요건 ·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우대 · 조건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2교시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공고 고르는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이 세 가지가 맞으면 충분합니다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619500"/>
            <a:ext cx="5080000" cy="47625"/>
          </a:xfrm>
          <a:prstGeom prst="rect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지금 지원할 수 있다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마감이 지나지 않았고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필수 요건이 크게 어긋나지 않는다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619500"/>
            <a:ext cx="5080000" cy="47625"/>
          </a:xfrm>
          <a:prstGeom prst="rect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한 가지라도 겹친다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업무 · 우대 사항 가운데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 경험과 닮은 줄이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619500"/>
            <a:ext cx="5080000" cy="47625"/>
          </a:xfrm>
          <a:prstGeom prst="rect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글자로 다 보인다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그림으로 된 공고는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글자를 직접 옮겨 적는다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2교시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못 골랐으면 이것으로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연습용 가상 공고 — (가상) 한빛오토텍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781300"/>
            <a:ext cx="13121640" cy="590550"/>
          </a:xfrm>
          <a:prstGeom prst="rect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781300"/>
            <a:ext cx="13121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공고 원문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EAF0FF"/>
          </a:solidFill>
          <a:ln w="9525">
            <a:solidFill>
              <a:srgbClr val="C9D7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직무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3448050"/>
            <a:ext cx="13121640" cy="619125"/>
          </a:xfrm>
          <a:prstGeom prst="roundRect">
            <a:avLst>
              <a:gd name="adj" fmla="val 6153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8610" y="3448050"/>
            <a:ext cx="129311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자동차부품 품질관리 사원 채용(신입 · 경력) · 경산시 관내 일반산업단지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43375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EAF0FF"/>
          </a:solidFill>
          <a:ln w="9525">
            <a:solidFill>
              <a:srgbClr val="C9D7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43375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주요 업무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4143375"/>
            <a:ext cx="13121640" cy="619125"/>
          </a:xfrm>
          <a:prstGeom prst="roundRect">
            <a:avLst>
              <a:gd name="adj" fmla="val 6153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8610" y="4143375"/>
            <a:ext cx="129311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수입 · 공정 · 출하 검사(측정기) · 불량 원인 확인 · 보고서 · 검사 데이터 엑셀 정리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38700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EAF0FF"/>
          </a:solidFill>
          <a:ln w="9525">
            <a:solidFill>
              <a:srgbClr val="C9D7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38700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4838700"/>
            <a:ext cx="13121640" cy="619125"/>
          </a:xfrm>
          <a:prstGeom prst="roundRect">
            <a:avLst>
              <a:gd name="adj" fmla="val 6153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8610" y="4838700"/>
            <a:ext cx="129311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주간 품질 현황 보고 · 협력사 품질 문제 소통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534025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EAF0FF"/>
          </a:solidFill>
          <a:ln w="9525">
            <a:solidFill>
              <a:srgbClr val="C9D7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534025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자격 요건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23360" y="5534025"/>
            <a:ext cx="13121640" cy="619125"/>
          </a:xfrm>
          <a:prstGeom prst="roundRect">
            <a:avLst>
              <a:gd name="adj" fmla="val 6153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8610" y="5534025"/>
            <a:ext cx="129311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고등학교 졸업 이상 · 엑셀 기본 사용 가능 · 주간 근무 가능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229350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EAF0FF"/>
          </a:solidFill>
          <a:ln w="9525">
            <a:solidFill>
              <a:srgbClr val="C9D7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229350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우대 사항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23360" y="6229350"/>
            <a:ext cx="13121640" cy="619125"/>
          </a:xfrm>
          <a:prstGeom prst="roundRect">
            <a:avLst>
              <a:gd name="adj" fmla="val 6153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8610" y="6229350"/>
            <a:ext cx="129311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자동차부품 · 제조 현장 경험 · 품질 관련 자격 보유자 · 인근 거주자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24675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EAF0FF"/>
          </a:solidFill>
          <a:ln w="9525">
            <a:solidFill>
              <a:srgbClr val="C9D7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924675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근무 조건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360" y="6924675"/>
            <a:ext cx="13121640" cy="619125"/>
          </a:xfrm>
          <a:prstGeom prst="roundRect">
            <a:avLst>
              <a:gd name="adj" fmla="val 6153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8610" y="6924675"/>
            <a:ext cx="129311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정규직(수습 3개월) · 주 5일 08:30~17:30 · 급여 회사 내규에 따름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연습용 가상 공고입니다 — 실존 회사가 아닙니다 · 물류관리 공고 (가상) 대경로지스도 학습사이트에 있습니다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2교시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4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6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2교시 ② · 해독 게임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「공고 속 숨은 뜻」 해독 게임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공고의 한 줄 한 줄에는 회사가 그 줄을 쓴 이유가 있습니다 — 채용 담당자의 눈으로 읽어 봅니다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2교시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이 줄을 쓴 회사는 어떤 사람을 바랄까요?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10000"/>
            <a:ext cx="3714750" cy="47625"/>
          </a:xfrm>
          <a:prstGeom prst="rect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엑셀 데이터 정리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「검사 데이터 엑셀 정리 ·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주간 품질 현황 보고」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810000"/>
            <a:ext cx="3714750" cy="47625"/>
          </a:xfrm>
          <a:prstGeom prst="rect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불량 원인 보고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「불량 발생 시 원인 확인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및 보고서 작성」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810000"/>
            <a:ext cx="3714750" cy="47625"/>
          </a:xfrm>
          <a:prstGeom prst="rect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협력사 소통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「협력사 품질 문제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소통」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810000"/>
            <a:ext cx="3714750" cy="47625"/>
          </a:xfrm>
          <a:prstGeom prst="rect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인근 거주자 우대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「우대 사항: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인근 거주자」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2교시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해독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숨은 뜻과, 내가 보여 줄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공고 원문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6042660" cy="590550"/>
          </a:xfrm>
          <a:prstGeom prst="rect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숨은 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박하늘이 보여 줄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AF0FF"/>
          </a:solidFill>
          <a:ln w="9525">
            <a:solidFill>
              <a:srgbClr val="C9D7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검사 데이터 엑셀 정리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34480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8770" y="34480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숫자를 꼼꼼히, 매주 빠짐없이 정리할 사람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84280" y="34480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9530" y="34480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엑셀로 근무표를 만들어 본 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AF0FF"/>
          </a:solidFill>
          <a:ln w="9525">
            <a:solidFill>
              <a:srgbClr val="C9D7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불량 원인 확인 · 보고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1719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1719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문제를 보면 숨기지 않고 알리는 사람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84280" y="41719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9530" y="41719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라인에서 불량을 먼저 찾아 보고한 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AF0FF"/>
          </a:solidFill>
          <a:ln w="9525">
            <a:solidFill>
              <a:srgbClr val="C9D7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협력사 품질 문제 소통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48958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8770" y="48958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다른 사람에게 차분히 설명할 수 있는 사람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48958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9530" y="48958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신입 아르바이트생을 가르친 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AF0FF"/>
          </a:solidFill>
          <a:ln w="9525">
            <a:solidFill>
              <a:srgbClr val="C9D7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인근 거주자 우대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0" y="56197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8770" y="56197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제시간에, 오래 다닐 수 있는 사람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384280" y="56197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79530" y="56197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경산에 살고 있다는 사실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숨은 뜻은 추론입니다 — 공고의 어느 줄에서 나왔는지 근거와 함께 봅니다 · 예시는 연습용 가상 인물 박하늘(가명)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2교시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744450" y="1181100"/>
            <a:ext cx="4400550" cy="590550"/>
          </a:xfrm>
          <a:prstGeom prst="roundRect">
            <a:avLst>
              <a:gd name="adj" fmla="val 50000"/>
            </a:avLst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0683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0" y="1295400"/>
            <a:ext cx="3657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전문은 학습사이트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12204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실습 프롬프트 2-1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12204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공고 해독표 — 필수 · 우대 · 숨은 요구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핵심 — 채용 담당자의 눈으로 읽고, 근거 문장을 붙인다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[역할] 10년 차 채용 담당자 [자료] 공고 전문을 --- 줄 사이에 붙여 넣기 [과업] ① 주요 업무를 하루 일과처럼 ② 필수와 우대 나눠 정리 ③ 숨은 요구 3가지 ④ 핵심 키워드 10개 [형식] ②③은 표(항목 / 공고 원문 / 쉬운 말 풀이) [조건] 숨은 요구는 근거 문장과 함께, 공고에 없는 급여는 「공고에 없음」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키워드 10개가 공고에 실제로 나오는 낱말인지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2교시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핵심 키워드 10개의 쓰임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오늘 남은 시간 내내 다시 씁니다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1E2A6E"/>
          </a:solidFill>
          <a:ln w="9525">
            <a:solidFill>
              <a:srgbClr val="1E2A6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619500"/>
            <a:ext cx="5080000" cy="47625"/>
          </a:xfrm>
          <a:prstGeom prst="rect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3교시 이력서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경력 항목과 보유 역량에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공고의 낱말 그대로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619500"/>
            <a:ext cx="5080000" cy="47625"/>
          </a:xfrm>
          <a:prstGeom prst="rect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4교시 자기소개서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키워드 3개 이상을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자연스럽게 넣어 초안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619500"/>
            <a:ext cx="5080000" cy="47625"/>
          </a:xfrm>
          <a:prstGeom prst="rect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면접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공고 낱말로 묻고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 경험으로 답합니다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2교시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4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6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2교시 ③ · 나와 공고 맞춰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될까, 안 될까 대신 충족 · 부분 · 보완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판정을 세 칸으로 정해 두면 막연한 걱정 대신 할 일이 보입니다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2교시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세 칸 판정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칸마다 할 일이 다릅니다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619500"/>
            <a:ext cx="5080000" cy="47625"/>
          </a:xfrm>
          <a:prstGeom prst="rect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충족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이미 갖춘 것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이력서 앞쪽에 둡니다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1E2A6E"/>
          </a:solidFill>
          <a:ln w="9525">
            <a:solidFill>
              <a:srgbClr val="1E2A6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619500"/>
            <a:ext cx="5080000" cy="47625"/>
          </a:xfrm>
          <a:prstGeom prst="rect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부분 충족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비슷한 경험이 있는 것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공고 낱말로 다시 표현합니다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619500"/>
            <a:ext cx="5080000" cy="47625"/>
          </a:xfrm>
          <a:prstGeom prst="rect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보완 필요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아직 없는 것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지원 전까지 할 수 있는 크기로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2교시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매칭표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박하늘(가명) × (가상) 한빛오토텍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공고 요건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4762500" cy="590550"/>
          </a:xfrm>
          <a:prstGeom prst="rect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 경험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4080" y="2781300"/>
            <a:ext cx="2202180" cy="590550"/>
          </a:xfrm>
          <a:prstGeom prst="rect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판정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표현 · 보완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AF0FF"/>
          </a:solidFill>
          <a:ln w="9525">
            <a:solidFill>
              <a:srgbClr val="C9D7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고등학교 졸업 이상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8348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873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전문대학 기계과 졸업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34480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9330" y="34480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충족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024360" y="34480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119610" y="34480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학력 칸에 그대로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AF0FF"/>
          </a:solidFill>
          <a:ln w="9525">
            <a:solidFill>
              <a:srgbClr val="C9D7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엑셀 기본 사용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8348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873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아르바이트 근무표를 엑셀로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41719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9330" y="41719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부분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24360" y="41719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19610" y="41719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만든 표를 구체적으로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AF0FF"/>
          </a:solidFill>
          <a:ln w="9525">
            <a:solidFill>
              <a:srgbClr val="C9D7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제조 현장 경험(우대)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8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873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자동차부품 생산직 1년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84080" y="48958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9330" y="48958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충족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024360" y="48958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119610" y="48958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조립 라인 · 불량 보고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AF0FF"/>
          </a:solidFill>
          <a:ln w="9525">
            <a:solidFill>
              <a:srgbClr val="C9D7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품질 관련 자격(우대)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8348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7873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없음 · 컴활 2급 공부 중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84080" y="56197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9330" y="56197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보완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024360" y="56197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119610" y="56197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공부 중인 것은 「취득 예정」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63436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AF0FF"/>
          </a:solidFill>
          <a:ln w="9525">
            <a:solidFill>
              <a:srgbClr val="C9D7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63436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인근 거주자(우대)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98348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7873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경산 거주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784080" y="63436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79330" y="63436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충족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024360" y="63436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119610" y="63436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주소는 AI 밖에서 기입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연습용 가상 인물 · 가상 공고 예시입니다 — 실제 판정은 AI 결과를 보고 내가 정합니다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2교시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744450" y="1181100"/>
            <a:ext cx="4400550" cy="590550"/>
          </a:xfrm>
          <a:prstGeom prst="roundRect">
            <a:avLst>
              <a:gd name="adj" fmla="val 50000"/>
            </a:avLst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0683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0" y="1295400"/>
            <a:ext cx="3657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전문은 학습사이트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12204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실습 프롬프트 2-2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12204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나와 공고 매칭표 — 충족 · 부분 · 보완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핵심 — 같은 대화창에서 해독표에 내 경험을 맞댄다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[역할] 취업 컨설팅 담당자 [자료] 방금 정리한 공고 해독표 + 내 경험 3가지 + 강점 키워드 3개 [과업] ① 요건별 판정 ② 「부분 충족」을 이력서에서 표현하는 법 ③ 「보완 필요」를 지원 전까지 채우는 법 [형식] 표(공고 요건 / 내 경험 / 판정 / 표현 · 보완) + 지원 추천도 [조건] 부풀려 「충족」으로 판정하지 않기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표의 행 수가 공고의 필수 · 우대 항목 수와 같은지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2교시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막히면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2교시에서 자주 막히는 곳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495550"/>
            <a:ext cx="133350" cy="13335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0650" y="2381250"/>
            <a:ext cx="75438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B4372F"/>
                </a:solidFill>
                <a:latin typeface="Pretendard"/>
                <a:ea typeface="Pretendard"/>
                <a:cs typeface="Pretendard"/>
              </a:rPr>
              <a:t>이럴 때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53550" y="2495550"/>
            <a:ext cx="133350" cy="13335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0" y="2381250"/>
            <a:ext cx="75438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1E7B4F"/>
                </a:solidFill>
                <a:latin typeface="Pretendard"/>
                <a:ea typeface="Pretendard"/>
                <a:cs typeface="Pretendard"/>
              </a:rPr>
              <a:t>이렇게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895600"/>
            <a:ext cx="7791450" cy="1143000"/>
          </a:xfrm>
          <a:prstGeom prst="roundRect">
            <a:avLst>
              <a:gd name="adj" fmla="val 5000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895600"/>
            <a:ext cx="57150" cy="11430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71600" y="327660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2766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4050" y="2895600"/>
            <a:ext cx="67818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공고가 그림이라 복사가 안 된다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29700" y="3371850"/>
            <a:ext cx="228600" cy="190500"/>
          </a:xfrm>
          <a:prstGeom prst="rightArrow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53550" y="2895600"/>
            <a:ext cx="7791450" cy="1143000"/>
          </a:xfrm>
          <a:prstGeom prst="roundRect">
            <a:avLst>
              <a:gd name="adj" fmla="val 5000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53550" y="2895600"/>
            <a:ext cx="57150" cy="11430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582150" y="327660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82150" y="32766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34600" y="2895600"/>
            <a:ext cx="67818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글자를 직접 옮겨 적거나, 연습용 가상 공고로 합니다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4171950"/>
            <a:ext cx="7791450" cy="1143000"/>
          </a:xfrm>
          <a:prstGeom prst="roundRect">
            <a:avLst>
              <a:gd name="adj" fmla="val 5000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4171950"/>
            <a:ext cx="57150" cy="11430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71600" y="455295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45529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4050" y="4171950"/>
            <a:ext cx="67818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급여 · 복지에 공고에 없는 숫자가 있다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029700" y="4648200"/>
            <a:ext cx="228600" cy="190500"/>
          </a:xfrm>
          <a:prstGeom prst="rightArrow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53550" y="4171950"/>
            <a:ext cx="7791450" cy="1143000"/>
          </a:xfrm>
          <a:prstGeom prst="roundRect">
            <a:avLst>
              <a:gd name="adj" fmla="val 5000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53550" y="4171950"/>
            <a:ext cx="57150" cy="11430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582150" y="455295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82150" y="45529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34600" y="4171950"/>
            <a:ext cx="67818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「공고에 없음」으로 고쳐 달라고 한 줄 덧붙입니다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43000" y="5448300"/>
            <a:ext cx="7791450" cy="1143000"/>
          </a:xfrm>
          <a:prstGeom prst="roundRect">
            <a:avLst>
              <a:gd name="adj" fmla="val 5000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43000" y="5448300"/>
            <a:ext cx="57150" cy="11430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371600" y="582930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8293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4050" y="5448300"/>
            <a:ext cx="67818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판정이 전부 「충족」으로 후하다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9029700" y="5924550"/>
            <a:ext cx="228600" cy="190500"/>
          </a:xfrm>
          <a:prstGeom prst="rightArrow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353550" y="5448300"/>
            <a:ext cx="7791450" cy="1143000"/>
          </a:xfrm>
          <a:prstGeom prst="roundRect">
            <a:avLst>
              <a:gd name="adj" fmla="val 5000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353550" y="5448300"/>
            <a:ext cx="57150" cy="11430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582150" y="582930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82150" y="58293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34600" y="5448300"/>
            <a:ext cx="67818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「부풀리지 말고 애매하면 부분 충족」을 다시 적습니다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43000" y="6724650"/>
            <a:ext cx="7791450" cy="1143000"/>
          </a:xfrm>
          <a:prstGeom prst="roundRect">
            <a:avLst>
              <a:gd name="adj" fmla="val 5000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43000" y="6724650"/>
            <a:ext cx="57150" cy="11430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371600" y="710565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71600" y="71056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24050" y="6724650"/>
            <a:ext cx="67818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AI가 1교시 결과를 잊었다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9029700" y="7200900"/>
            <a:ext cx="228600" cy="190500"/>
          </a:xfrm>
          <a:prstGeom prst="rightArrow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353550" y="6724650"/>
            <a:ext cx="7791450" cy="1143000"/>
          </a:xfrm>
          <a:prstGeom prst="roundRect">
            <a:avLst>
              <a:gd name="adj" fmla="val 5000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53550" y="6724650"/>
            <a:ext cx="57150" cy="11430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582150" y="710565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82150" y="71056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34600" y="6724650"/>
            <a:ext cx="67818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강점 키워드 3개를 [자료]에 다시 붙여 넣습니다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2교시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744450" y="1181100"/>
            <a:ext cx="4400550" cy="590550"/>
          </a:xfrm>
          <a:prstGeom prst="roundRect">
            <a:avLst>
              <a:gd name="adj" fmla="val 50000"/>
            </a:avLst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0683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0" y="1295400"/>
            <a:ext cx="3657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전문은 학습사이트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12204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실습 프롬프트 2-3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12204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(더 해 보기) 공고 두 개 비교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핵심 — 어디에나 쓸 공통 키워드와 공고마다 바꿀 곳을 가린다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[역할] 채용 담당자 [자료] --- 공고 A --- 와 --- 공고 B --- 로 나눠 붙여 넣기 [과업] ① 공통 키워드 ② A에만 있는 요구 ③ B에만 있는 요구 ④ 한 이력서로 두 곳에 낼 때 바꿀 부분 [형식] 표(구분 / 키워드 / 근거 문장), ④는 3줄 이내 [조건] 공고에 없는 내용은 지어내지 않기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쓰임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공통 키워드는 이력서 기본판에, 다른 요구는 4교시 맞춤형 수정에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2교시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결과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공고 분석표 · 매칭표 점검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67100"/>
            <a:ext cx="7810500" cy="1066800"/>
          </a:xfrm>
          <a:prstGeom prst="roundRect">
            <a:avLst>
              <a:gd name="adj" fmla="val 5357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66850" y="380047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2A6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3600" y="3562350"/>
            <a:ext cx="65341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주요 업무가 하루 일과처럼 쉬운 말로 풀려 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686300"/>
            <a:ext cx="7810500" cy="1066800"/>
          </a:xfrm>
          <a:prstGeom prst="roundRect">
            <a:avLst>
              <a:gd name="adj" fmla="val 5357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66850" y="501967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2A6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3600" y="4781550"/>
            <a:ext cx="65341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숨은 요구 3가지마다 공고의 근거 문장이 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5905500"/>
            <a:ext cx="7810500" cy="1066800"/>
          </a:xfrm>
          <a:prstGeom prst="roundRect">
            <a:avLst>
              <a:gd name="adj" fmla="val 5357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66850" y="623887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2A6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33600" y="6000750"/>
            <a:ext cx="65341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키워드 10개가 공고에 실제로 나오는 낱말이다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467100"/>
            <a:ext cx="7810500" cy="1066800"/>
          </a:xfrm>
          <a:prstGeom prst="roundRect">
            <a:avLst>
              <a:gd name="adj" fmla="val 5357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58350" y="380047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2A6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25100" y="3562350"/>
            <a:ext cx="65341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급여 · 복지 칸에 공고에 없는 숫자가 없다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34500" y="4686300"/>
            <a:ext cx="7810500" cy="1066800"/>
          </a:xfrm>
          <a:prstGeom prst="roundRect">
            <a:avLst>
              <a:gd name="adj" fmla="val 5357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58350" y="501967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2A6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25100" y="4781550"/>
            <a:ext cx="65341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매칭표의 행 수가 필수 · 우대 항목 수와 같다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34500" y="5905500"/>
            <a:ext cx="7810500" cy="1066800"/>
          </a:xfrm>
          <a:prstGeom prst="roundRect">
            <a:avLst>
              <a:gd name="adj" fmla="val 5357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58350" y="623887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2A6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25100" y="6000750"/>
            <a:ext cx="65341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보완 방법이 지원 전까지 할 수 있는 크기다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2교시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산출물 저장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휴식 전에 두 표를 저장합니다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공고 해독표와 키워드 10개를 문서에 붙여 넣습니다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매칭표와 지원 추천도를 같은 문서 아래에 붙입니다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파일 이름 예: 공고분석_매칭표_20261106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고른 공고의 원문도 함께 저장합니다 — 4교시에 다시 씁니다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AF0FF"/>
          </a:solidFill>
          <a:ln w="9525">
            <a:solidFill>
              <a:srgbClr val="C9D7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대화창은 그대로 둡니다 — 휴식 뒤 3교시에 이어 씁니다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EE3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2교시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4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6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2A6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2교시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1부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공고는 회사가 보낸 질문지입니다 — 숨은 뜻을 읽으면 무엇을 보여 줄지가 보입니다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공고 한 줄마다 그 줄을 쓴 이유가 있습니다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숨은 요구는 근거 문장과 함께 확인합니다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충족 · 부분 · 보완 — 판정이 곧 할 일 목록입니다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6F8FD"/>
          </a:solidFill>
          <a:ln w="9525">
            <a:solidFill>
              <a:srgbClr val="DEE3F0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키워드 10개는 이력서 · 자기소개서 · 면접에 다시 씁니다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2457D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2457D6"/>
                </a:solidFill>
                <a:latin typeface="Pretendard"/>
                <a:ea typeface="Pretendard"/>
                <a:cs typeface="Pretendard"/>
              </a:rPr>
              <a:t>다음 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2A6E"/>
                </a:solidFill>
                <a:latin typeface="Pretendard"/>
                <a:ea typeface="Pretendard"/>
                <a:cs typeface="Pretendard"/>
              </a:rPr>
              <a:t>휴식(다과) 뒤 2부 · 3교시 이력서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