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91" r:id="rId42"/>
    <p:sldId id="292" r:id="rId43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3" r:id="rId4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4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C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시리즈 B ·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4124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창의력·복합문제</a:t>
            </a:r>
          </a:p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해결에서의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527292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역량과 능력의 구분부터 AI 와 함께 푸는 문제 해결까지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이애본 지음 · 홍문원(洪文院) 발행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CC BY-NC-ND 4.0 · useful-ai.dreamitbiz.com</a:t>
            </a:r>
          </a:p>
        </p:txBody>
      </p:sp>
      <p:sp>
        <p:nvSpPr>
          <p:cNvPr id="16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강의를 마치면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95600"/>
            <a:ext cx="1428750" cy="8191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956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956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956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역량(Competency)·능력(Competence)·스킬(Skill)을 구분해 설명할 수 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886200"/>
            <a:ext cx="1428750" cy="8191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8862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8862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8862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국가직무능력표준(NCS)의 구조를 읽고 내 진로와 연결할 수 있다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876800"/>
            <a:ext cx="1428750" cy="8191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8768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8768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8768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발산·수렴·재구성 단계에서 AI 에게 알맞은 일을 맡길 수 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67400"/>
            <a:ext cx="1428750" cy="8191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8674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8674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8674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사람이 최종 판단하는 방식(HITL)으로 실습 과제를 완성할 수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순서 — 왜 지금인가 · 역량이란 · 복합문제와 창의적 해결 · AI 를 어떻게 쓰나 · 과제 적용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29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도입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왜 지금, 창의력과 복합문제 해결인가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문제가 복잡해졌다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분야 지식과 데이터가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얽혀 한 가지 생각으론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풀리지 않는다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가 속도를 높였다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찾고 만들고 확인하는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속도가 빨라져 사람은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판단에 집중해야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사람의 강점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윤리적 판단·맥락 이해·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공감은 여전히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사람의 몫이다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오늘의 목표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를 도구가 아니라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협업 상대로 쓰는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순서를 익힌다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오케스트라 지휘자처럼 — 악기(AI)를 직접 다 연주하지 않아도, 어떤 소리를 낼지 정하는 사람이 필요하다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9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오늘 다룰 세 낱말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창의력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새롭고 쓸모 있는 것을 만드는 힘 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넓게 펼치는 발산과 골라 다듬는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수렴을 되풀이한다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복합문제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정답이 하나로 정해지지 않은 문제 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변수가 많고 정보가 모자라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분야가 함께 풀어야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생성형 AI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글·코드·이미지를 새로 만들어 내는 AI 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아이디어를 넓히고 초안을 빨리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만들어 주는 상대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왜 지금인가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세계경제포럼이 꼽은 2020년의 핵심 역량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781300"/>
            <a:ext cx="63627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역량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15621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역량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84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복합문제 해결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34480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480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감성 지능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384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비판적 사고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1719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41719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판단과 의사결정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384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창의성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48958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48958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 지향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432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384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 관리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44000" y="56197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9250" y="56197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협상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4320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3845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타인과의 협업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44000" y="63436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39250" y="63436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744200" y="63436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39450" y="63436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인지적 유연성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1~3위가 오늘의 주제 — 복합문제 해결 · 비판적 사고 · 창의성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출처: WEF(2016) The Future of Jobs p.21 Fig.9 · 순위: A. Gray, “The 10 skills you need to thrive…”, WEF Agenda(2016-01-19)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6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왜 지금인가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세계경제포럼이 꼽은 2025년의 핵심 스킬 — 2030 전망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0820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0820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63140" y="2781300"/>
            <a:ext cx="524256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6314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스킬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0" y="2781300"/>
            <a:ext cx="15621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2781300"/>
            <a:ext cx="108204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2781300"/>
            <a:ext cx="10820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64140" y="2781300"/>
            <a:ext cx="524256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6414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스킬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544800" y="2781300"/>
            <a:ext cx="16002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0" y="2781300"/>
            <a:ext cx="1600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4480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4480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63140" y="34480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58390" y="34480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분석적 사고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Analytical thinking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34480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39050" y="34480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69%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34480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34480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64140" y="34480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59390" y="34480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기술 리터러시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Technological literacy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544800" y="3448050"/>
            <a:ext cx="1600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640050" y="3448050"/>
            <a:ext cx="1409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51%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1719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1719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63140" y="41719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58390" y="41719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회복탄력성·유연성·민첩성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Resilience, flexibility and agility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543800" y="41719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39050" y="41719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67%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44000" y="41719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39250" y="41719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64140" y="41719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59390" y="41719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공감과 적극적 경청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Empathy and active listening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5544800" y="4171950"/>
            <a:ext cx="1600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640050" y="4171950"/>
            <a:ext cx="1409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50%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48958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48958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63140" y="48958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58390" y="48958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리더십과 사회적 영향력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Leadership and social influence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8958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39050" y="48958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61%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44000" y="48958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39250" y="48958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264140" y="48958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359390" y="48958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호기심과 평생학습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Curiosity and lifelong learning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5544800" y="4895850"/>
            <a:ext cx="1600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5640050" y="4895850"/>
            <a:ext cx="1409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50%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56197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56197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263140" y="56197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358390" y="56197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창의적 사고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Creative thinking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543800" y="56197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639050" y="56197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57%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144000" y="56197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239250" y="56197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264140" y="56197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359390" y="56197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인재 관리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Talent management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5544800" y="5619750"/>
            <a:ext cx="1600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5640050" y="5619750"/>
            <a:ext cx="1409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47%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43000" y="63436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38250" y="63436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263140" y="63436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358390" y="63436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동기부여와 자기 인식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Motivation and self-awareness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543800" y="63436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639050" y="63436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52%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144000" y="63436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239250" y="63436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264140" y="63436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359390" y="63436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 지향·고객 서비스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Service orientation and customer service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5544800" y="6343650"/>
            <a:ext cx="1600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5640050" y="6343650"/>
            <a:ext cx="1409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47%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2016 목록과 나란히 보면 — 복합문제 해결·비판적 사고 → 분석적 사고·회복탄력성·창의적 사고로 이어진다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출처: WEF, The Future of Jobs Report 2025, Figure 3.3 Core skills in 2025(p.35) · 수치는 핵심 스킬로 꼽은 고용주 비율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8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역량이란 무엇인가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비슷해 보이는 세 낱말을 먼저 정리하고, 국가직무능력표준(NCS)으로 내 진로와 연결합니다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용어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Competence · Competency · Skill — 이 강의의 약속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04266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31623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눈에 보이는가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Competence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능력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직무에서 요구 수준의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성과를 낼 수 있는 상태(결과 중심)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2416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941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성과로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확인할 수 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624560" y="34480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9810" y="34480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프로젝트 관리,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 작성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Competency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역량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뛰어난 성과를 만드는 사람의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속 특성과 그것이 드러난 행동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42416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941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속은 잘 안 보이고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행동으로 짐작한다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624560" y="41719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9810" y="41719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끈기, 호기심,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Skill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스킬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배우고 연습해서 익힌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구체적인 기술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시험·실기로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바로 잴 수 있다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624560" y="48958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9810" y="48958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분석,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코딩, 외국어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스킬은 능력을 이루는 부품, 역량은 그 밑바탕 — 셋이 모여 성과가 난다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 강의는 이 표의 뜻으로 통일합니다 — Competence 는 「능력」, Competency 는 「역량」으로 옮깁니다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4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빙산 모델 (Spencer &amp; Spencer, 1993)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빙산 모델 — 물 위의 능력, 물 밑의 역량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물 위 — 잘 보이는 부분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지식과 기술. 교육·훈련으로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비교적 빨리 늘릴 수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지식(Knowledge) — 알고 있는 정보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기술(Skill) — 손에 익은 솜씨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시험·성과로 측정이 쉽다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물 밑 — 잘 안 보이는 부분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행동을 일으키는 속 특성.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바뀌는 데 오래 걸린다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동기(Motive) — 무엇을 원하는가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특질(Trait) — 타고난 성향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자아개념(Self-concept) — 태도·가치관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  <p:sp>
        <p:nvSpPr>
          <p:cNvPr id="3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빙산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물 위와 물 밑은 무엇이 다른가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물 위 — 지식·기술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물 밑 — 동기·특질·자아개념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측정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시험·성과로 분명히 잴 수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관찰하거나 수치로 나타내기 어렵다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바뀌는 속도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교육·훈련으로 비교적 빠르다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오랜 시간이 걸린다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대학생 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엑셀 함수, 파이썬 문법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끝까지 해내려는 마음, 호기심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의 역할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1:1 튜터로 익히는 시간을 줄인다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대화로 되돌아보며 발견을 돕는다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구성 요소 구분은 Spencer &amp; Spencer(1993)의 역량 모델을 따른다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4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빙산과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로 키우는 법은 물 위와 물 밑이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능력 키우기 — AI 를 튜터로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모르는 개념을 묻고, 예제를 풀고,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퀴즈로 확인한다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90650" y="4838700"/>
            <a:ext cx="1047065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047065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데이터 분석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32965" y="4838700"/>
            <a:ext cx="1055933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32965" y="4838700"/>
            <a:ext cx="1055933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코딩·디버깅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4148" y="4838700"/>
            <a:ext cx="71121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4148" y="4838700"/>
            <a:ext cx="71121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외국어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0609" y="4838700"/>
            <a:ext cx="898895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0609" y="4838700"/>
            <a:ext cx="898895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문서 작성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역량 발견 — AI 와 되돌아보기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내가 쓴 일지·기록을 보여 주고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습관과 동기를 함께 찾아본다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20300" y="4838700"/>
            <a:ext cx="1234750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20300" y="4838700"/>
            <a:ext cx="1234750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성찰 일지 분석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50300" y="4838700"/>
            <a:ext cx="898895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50300" y="4838700"/>
            <a:ext cx="898895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강점 찾기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344445" y="4838700"/>
            <a:ext cx="898895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44445" y="4838700"/>
            <a:ext cx="898895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동기 탐색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338590" y="4838700"/>
            <a:ext cx="898895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338590" y="4838700"/>
            <a:ext cx="898895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행동 패턴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3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역량 지도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대학생 역량을 네 칸으로 나눠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7810500" cy="2381250"/>
          </a:xfrm>
          <a:prstGeom prst="roundRect">
            <a:avLst>
              <a:gd name="adj" fmla="val 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857500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067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181350"/>
            <a:ext cx="7162800" cy="1733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기초 직무 능력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전공 지식 · 비즈니스 소통 · 직업윤리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— 전공 용어 학습, 문서 초안 점검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2857500"/>
            <a:ext cx="7810500" cy="2381250"/>
          </a:xfrm>
          <a:prstGeom prst="roundRect">
            <a:avLst>
              <a:gd name="adj" fmla="val 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2857500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067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181350"/>
            <a:ext cx="7162800" cy="1733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문제 해결·인지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분석적 사고 · 창의적 문제 해결 · 유연성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— 아이디어 발산, 시나리오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619750"/>
            <a:ext cx="7810500" cy="2381250"/>
          </a:xfrm>
          <a:prstGeom prst="roundRect">
            <a:avLst>
              <a:gd name="adj" fmla="val 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619750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8096250" y="582930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6850" y="5943600"/>
            <a:ext cx="7162800" cy="1733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사회적 기술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협업 · 공감 · 갈등 조정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— 역할극으로 대화 연습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34500" y="5619750"/>
            <a:ext cx="7810500" cy="2381250"/>
          </a:xfrm>
          <a:prstGeom prst="roundRect">
            <a:avLst>
              <a:gd name="adj" fmla="val 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34500" y="5619750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582930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8350" y="5943600"/>
            <a:ext cx="7162800" cy="1733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미래 기술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AI·데이터 리터러시 · 디지털 도구 활용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— 직접 써 보며 한계 익히기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2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국가가 정리한 역량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교육과정 핵심역량(2015 개정)과 NCS 직업기초능력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2015 개정 교육과정 핵심역량 (6)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교육부가 초·중·고 교육과정에서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기르려는 역량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90650" y="4838700"/>
            <a:ext cx="85938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85938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자기관리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45281" y="4838700"/>
            <a:ext cx="1155722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45281" y="4838700"/>
            <a:ext cx="1155722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지식정보처리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96253" y="4838700"/>
            <a:ext cx="1047065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6253" y="4838700"/>
            <a:ext cx="1047065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창의적 사고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38568" y="4838700"/>
            <a:ext cx="1047065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8568" y="4838700"/>
            <a:ext cx="1047065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심미적 감성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80884" y="4838700"/>
            <a:ext cx="85938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80884" y="4838700"/>
            <a:ext cx="85938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의사소통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35515" y="4838700"/>
            <a:ext cx="71121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5515" y="4838700"/>
            <a:ext cx="71121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공동체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NCS 직업기초능력 (10)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직무와 상관없이 일하는 사람에게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공통으로 필요한 능력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20300" y="4838700"/>
            <a:ext cx="85938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85938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의사소통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974931" y="4838700"/>
            <a:ext cx="56304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4931" y="4838700"/>
            <a:ext cx="56304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수리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633222" y="4838700"/>
            <a:ext cx="85938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3222" y="4838700"/>
            <a:ext cx="85938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문제해결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2587853" y="4838700"/>
            <a:ext cx="85938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587853" y="4838700"/>
            <a:ext cx="85938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자기개발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3542484" y="4838700"/>
            <a:ext cx="85938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42484" y="4838700"/>
            <a:ext cx="85938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자원관리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497115" y="4838700"/>
            <a:ext cx="85938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497115" y="4838700"/>
            <a:ext cx="85938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대인관계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5451747" y="4838700"/>
            <a:ext cx="56304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451747" y="4838700"/>
            <a:ext cx="56304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정보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6110037" y="4838700"/>
            <a:ext cx="56304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10037" y="4838700"/>
            <a:ext cx="56304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기술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20300" y="5273992"/>
            <a:ext cx="85938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20300" y="5273992"/>
            <a:ext cx="85938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조직이해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974931" y="5273992"/>
            <a:ext cx="85938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4931" y="5273992"/>
            <a:ext cx="85938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직업윤리</a:t>
            </a:r>
          </a:p>
        </p:txBody>
      </p:sp>
      <p:sp>
        <p:nvSpPr>
          <p:cNvPr id="46" name="Oval 4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5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국가가 정리한 역량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2022 개정 교육과정 핵심역량 — 무엇이 바뀌었나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2022 개정 교육과정 핵심역량 (6)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교육부 고시 제2022-33호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「초·중등학교 교육과정 총론」(2022-12-22)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90650" y="4838700"/>
            <a:ext cx="1195236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195236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자기관리 역량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81136" y="4838700"/>
            <a:ext cx="1491576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81136" y="4838700"/>
            <a:ext cx="1491576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지식정보처리 역량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7962" y="4838700"/>
            <a:ext cx="1382920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67962" y="4838700"/>
            <a:ext cx="1382920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창의적 사고 역량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46132" y="4838700"/>
            <a:ext cx="1382920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46132" y="4838700"/>
            <a:ext cx="1382920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심미적 감성 역량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90650" y="5273992"/>
            <a:ext cx="1382920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5273992"/>
            <a:ext cx="1382920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협력적 소통 역량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68820" y="5273992"/>
            <a:ext cx="1047065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68820" y="5273992"/>
            <a:ext cx="1047065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공동체 역량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2015 개정과 달라진 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역량 여섯 개의 틀은 유지하고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가지가 달라졌다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의사소통 역량 → 협력적 소통 역량</a:t>
            </a:r>
          </a:p>
        </p:txBody>
      </p:sp>
      <p:sp>
        <p:nvSpPr>
          <p:cNvPr id="28" name="Oval 27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기초소양 도입 — 언어 · 수리 · 디지털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3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NCS 국가직무능력표준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NCS 는 직무를 몇 단계로 나눠 놓은 지도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4125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대분류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산업 전체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예: 정보통신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686175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38575" y="2781300"/>
            <a:ext cx="2524125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3857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중분류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3857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7192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산업 안의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큰 묶음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381750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34150" y="2781300"/>
            <a:ext cx="2524125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415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소분류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415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직무 분야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077325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29725" y="2781300"/>
            <a:ext cx="2524125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972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세분류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2972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6307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하나의 직무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(NCS 의 기본 단위)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1772900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925300" y="2781300"/>
            <a:ext cx="2524125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92530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능력단위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92530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05865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직무를 이루는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일의 덩어리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4468475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620875" y="2781300"/>
            <a:ext cx="2524125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62087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수행준거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62087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75422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잘했는지 보는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 · 지식·기술·태도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도서관 분류처럼 — 큰 칸에서 작은 칸으로 내려가면 「이 일을 잘하려면 무엇을 할 줄 알아야 하나」가 나온다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분류별 개수는 국가직무능력표준 사이트(ncs.go.kr) 기준이며 해마다 바뀐다 — 대분류는 24개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4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NCS 국가직무능력표준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NCS 는 몇 개나 있나 — 숫자는 해마다 바뀐다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 시점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781300"/>
            <a:ext cx="732282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781300"/>
            <a:ext cx="7322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규모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출처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2016년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03320" y="34480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8570" y="34480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24개 분야 · NCS 847개(고시 당시)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고용노동부 보도(2016-07-20)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2021년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03320" y="41719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8570" y="41719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대분류 24 · 중분류 79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소분류 253 · 세분류 1,039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김 외, 한국산학기술학회논문지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24(3), 2023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지금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8958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98570" y="48958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ncs.go.kr 「NCS 분류체계」 또는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공공데이터포털(data.go.kr) NCS 분류 파일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한국산업인력공단 제공 자료에서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직접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NCS 는 매년 추가 개발되고 최대 5년 주기로 재검토된다 — 출판 시점의 수치를 반드시 다시 확인한다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36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NCS 활용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대학생은 NCS 를 이렇게 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수강 계획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희망 직무의 능력단위와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전공 교과목을 짝지어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빈 곳을 찾는다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채용 준비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공공기관은 NCS 기반 채용을 한다 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직무기술서의 수행준거를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자기소개서 키워드로 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프로젝트 점검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막연한 목표 대신 수행준거를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체크리스트로 삼아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완성도를 점검한다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NCS ×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전공·진로에 NCS 와 AI 를 함께 연결하기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380238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찾아볼 NCS 분야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781300"/>
            <a:ext cx="540258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에게 맡길 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최종 산출물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 분석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(이공·상경)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861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빅데이터 분석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909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파이썬 코드 초안·디버깅,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시각화 방식 제안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304520" y="34480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399770" y="34480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 대시보드,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인사이트 보고서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서비스 기획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(인문·디자인)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2336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861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UI/UX 기획·설계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909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사용자 설정,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인터뷰 연습 상대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304520" y="41719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399770" y="41719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 기획서,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화면 초안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팀 프로젝트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(전공 공통)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프로젝트 관리·의사소통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6384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909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회의록 요약, 할 일 추출,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일정안 비교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304520" y="48958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399770" y="48958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협업 문서,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일정표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관련 능력단위의 정확한 이름은 ncs.go.kr 에서 직무명으로 검색해 확인한다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  <p:sp>
        <p:nvSpPr>
          <p:cNvPr id="44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복합문제와 창의적 해결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넓게 펼치고, 골라내고, 쪼개고 다시 묶는 과정에서 AI 가 어디에 들어오는지 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AI 가 돕는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발산 · 수렴 · 분해와 통합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4749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spc="31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STEP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38500"/>
            <a:ext cx="47498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 발산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848100"/>
            <a:ext cx="47498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아이디어를 넓게 펼친다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역할 — 아이디어 짝꿍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5029200"/>
            <a:ext cx="4749800" cy="2552700"/>
          </a:xfrm>
          <a:prstGeom prst="roundRect">
            <a:avLst>
              <a:gd name="adj" fmla="val 186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545496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33538" y="527685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분야 사례 찾기</a:t>
            </a:r>
          </a:p>
        </p:txBody>
      </p:sp>
      <p:sp>
        <p:nvSpPr>
          <p:cNvPr id="14" name="Oval 13"/>
          <p:cNvSpPr/>
          <p:nvPr/>
        </p:nvSpPr>
        <p:spPr>
          <a:xfrm>
            <a:off x="1447800" y="596550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33538" y="578739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낯선 개념끼리 조합</a:t>
            </a:r>
          </a:p>
        </p:txBody>
      </p:sp>
      <p:sp>
        <p:nvSpPr>
          <p:cNvPr id="16" name="Oval 15"/>
          <p:cNvSpPr/>
          <p:nvPr/>
        </p:nvSpPr>
        <p:spPr>
          <a:xfrm>
            <a:off x="1447800" y="647604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33538" y="629793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비유(메타포) 만들기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064250" y="6324600"/>
            <a:ext cx="533400" cy="2476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9100" y="2857500"/>
            <a:ext cx="4749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spc="31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STEP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9100" y="3238500"/>
            <a:ext cx="47498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 수렴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9100" y="3848100"/>
            <a:ext cx="47498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기준으로 골라 다듬는다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역할 — 깐깐한 비평가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9100" y="5029200"/>
            <a:ext cx="4749800" cy="2552700"/>
          </a:xfrm>
          <a:prstGeom prst="roundRect">
            <a:avLst>
              <a:gd name="adj" fmla="val 186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073900" y="545496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59638" y="527685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예산·시간 조건으로 거르기</a:t>
            </a:r>
          </a:p>
        </p:txBody>
      </p:sp>
      <p:sp>
        <p:nvSpPr>
          <p:cNvPr id="25" name="Oval 24"/>
          <p:cNvSpPr/>
          <p:nvPr/>
        </p:nvSpPr>
        <p:spPr>
          <a:xfrm>
            <a:off x="7073900" y="596550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59638" y="578739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반례·약점 찾기</a:t>
            </a:r>
          </a:p>
        </p:txBody>
      </p:sp>
      <p:sp>
        <p:nvSpPr>
          <p:cNvPr id="27" name="Oval 26"/>
          <p:cNvSpPr/>
          <p:nvPr/>
        </p:nvSpPr>
        <p:spPr>
          <a:xfrm>
            <a:off x="7073900" y="647604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59638" y="629793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위험 점검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1690350" y="6324600"/>
            <a:ext cx="533400" cy="2476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395200" y="2857500"/>
            <a:ext cx="4749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spc="31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STEP 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95200" y="3238500"/>
            <a:ext cx="47498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 분해·통합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95200" y="3848100"/>
            <a:ext cx="47498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쪼개서 풀고 다시 묶는다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역할 — 설계 도우미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395200" y="5029200"/>
            <a:ext cx="4749800" cy="2552700"/>
          </a:xfrm>
          <a:prstGeom prst="roundRect">
            <a:avLst>
              <a:gd name="adj" fmla="val 186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2700000" y="545496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885738" y="527685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큰 문제를 작은 문제로</a:t>
            </a:r>
          </a:p>
        </p:txBody>
      </p:sp>
      <p:sp>
        <p:nvSpPr>
          <p:cNvPr id="36" name="Oval 35"/>
          <p:cNvSpPr/>
          <p:nvPr/>
        </p:nvSpPr>
        <p:spPr>
          <a:xfrm>
            <a:off x="12700000" y="596550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85738" y="578739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부분 해답 모으기</a:t>
            </a:r>
          </a:p>
        </p:txBody>
      </p:sp>
      <p:sp>
        <p:nvSpPr>
          <p:cNvPr id="38" name="Oval 37"/>
          <p:cNvSpPr/>
          <p:nvPr/>
        </p:nvSpPr>
        <p:spPr>
          <a:xfrm>
            <a:off x="12700000" y="647604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885738" y="629793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전체에서 다시 평가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  <p:sp>
        <p:nvSpPr>
          <p:cNvPr id="4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복합문제 해결 프레임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사람과 AI 가 나눠 맡는 6단계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652272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6522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사람이 하는 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84180" y="2781300"/>
            <a:ext cx="656082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84180" y="2781300"/>
            <a:ext cx="6560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가 돕는 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 문제 정의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6522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6332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풀 문제의 본질과 범위를 정한다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84180" y="3448050"/>
            <a:ext cx="65608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79430" y="3448050"/>
            <a:ext cx="6370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관련 키워드와 비슷한 사례를 펼친다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 가설 세우기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43375"/>
            <a:ext cx="6522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43375"/>
            <a:ext cx="6332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경험과 직관으로 잠정 답을 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84180" y="4143375"/>
            <a:ext cx="65608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79430" y="4143375"/>
            <a:ext cx="6370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논리의 빈틈을 짚고 다른 가설을 낸다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 정보 탐색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38700"/>
            <a:ext cx="6522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38700"/>
            <a:ext cx="6332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탐색 방향을 정하고 믿을 만한지 거른다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84180" y="4838700"/>
            <a:ext cx="65608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79430" y="4838700"/>
            <a:ext cx="6370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많은 자료를 요약하고 패턴을 찾는다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 실험·검증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534025"/>
            <a:ext cx="6522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534025"/>
            <a:ext cx="6332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실험을 설계하고 윤리·현실 조건을 본다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584180" y="5534025"/>
            <a:ext cx="65608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679430" y="5534025"/>
            <a:ext cx="6370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예상 결과를 시뮬레이션한다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5 의사결정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229350"/>
            <a:ext cx="6522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229350"/>
            <a:ext cx="6332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최종 선택을 하고 책임진다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584180" y="6229350"/>
            <a:ext cx="65608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79430" y="6229350"/>
            <a:ext cx="6370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선택지별 장단점 표를 만든다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6 되돌아보기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023360" y="6924675"/>
            <a:ext cx="6522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8610" y="6924675"/>
            <a:ext cx="6332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잘된 점·아쉬운 점을 정리한다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584180" y="6924675"/>
            <a:ext cx="65608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679430" y="6924675"/>
            <a:ext cx="6370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과정 기록을 정리하고 개선점을 낸다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어느 단계든 마지막 판단은 사람이 한다 — AI 는 넓히고, 정리하고, 반박해 주는 역할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  <p:sp>
        <p:nvSpPr>
          <p:cNvPr id="54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를 어떻게 쓰나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제안하고 사람이 판단하는 순환 — HITL(Human-in-the-Loop)을 중심으로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HITL 순환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계획부터 결정까지 — 사람이 고리 안에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4125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</a:t>
            </a:r>
          </a:p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문제·조건 정하기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686175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38575" y="2781300"/>
            <a:ext cx="2524125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3857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3857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7192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</a:t>
            </a:r>
          </a:p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역할·제약을 담은 프롬프트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381750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34150" y="2781300"/>
            <a:ext cx="2524125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415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415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</a:t>
            </a:r>
          </a:p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초안·대안 만들기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077325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29725" y="2781300"/>
            <a:ext cx="2524125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972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2972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6307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</a:t>
            </a:r>
          </a:p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오류·편향·환각 점검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1772900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925300" y="2781300"/>
            <a:ext cx="2524125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92530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92530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05865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</a:t>
            </a:r>
          </a:p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피드백 반영해 다시 쓰기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4468475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620875" y="2781300"/>
            <a:ext cx="2524125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62087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62087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75422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</a:t>
            </a:r>
          </a:p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채택하고 책임지기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05062" y="5086350"/>
            <a:ext cx="38100" cy="2095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5844838" y="5086350"/>
            <a:ext cx="38100" cy="2095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05062" y="5295900"/>
            <a:ext cx="13515975" cy="3810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ight Arrow 39"/>
          <p:cNvSpPr/>
          <p:nvPr/>
        </p:nvSpPr>
        <p:spPr>
          <a:xfrm>
            <a:off x="2214562" y="5162550"/>
            <a:ext cx="381000" cy="26670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269910" y="5791200"/>
            <a:ext cx="11748180" cy="742950"/>
          </a:xfrm>
          <a:prstGeom prst="roundRect">
            <a:avLst>
              <a:gd name="adj" fmla="val 641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69910" y="5791200"/>
            <a:ext cx="1174818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점검 네 가지 — 출처 표시 · 편향 검토 · 저작권 확인 · 개인정보 보호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HITL(Human-in-the-Loop) — AI 가 일하는 고리 안에 사람이 들어가 점검하고 결정한다는 뜻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  <p:sp>
        <p:nvSpPr>
          <p:cNvPr id="4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AI 활용 수준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를 얼마나 맡기나 — 네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04216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042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23260" y="2781300"/>
            <a:ext cx="348234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2326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의 모습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43700" y="2781300"/>
            <a:ext cx="604266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437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사람의 역할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2326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1851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4370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895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시킨 일 하나만 한다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(번역, 맞춤법 검사)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824460" y="34480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919710" y="34480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결과를 그대로 확인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2326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1851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보조(코파일럿)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4370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3895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 중에 옆에서 제안한다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(문장·코드 이어 쓰기)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824460" y="41719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919710" y="41719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제안을 고르고 고친다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2326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1851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에이전트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74370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3895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목표를 받으면 계획을 세워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단계를 스스로 진행한다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824460" y="48958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919710" y="48958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목표·한계를 정하고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중간에 점검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2326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1851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에이전트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4370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3895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역할이 다른 AI 여럿이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나눠 일하고 합친다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824460" y="56197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919710" y="56197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전체를 지휘하고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최종 책임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 강의에서 설명을 위해 나눈 단계다 — 업계 공통 표준은 아니며, 단계가 올라갈수록 사람의 점검이 더 중요해진다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  <p:sp>
        <p:nvSpPr>
          <p:cNvPr id="5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가드레일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를 쓸 때 꼭 지킬 세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사람이 검증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는 그럴듯하게 틀릴 수 있다(환각) 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최종 결과는 반드시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사람이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출처와 저작권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어디서 온 정보인지 확인하고,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표절·저작권 침해가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없는지 살핀다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개인정보 보호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이름·연락처·회사 기밀은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프롬프트에 넣지 않고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가려서 쓴다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개인 역량 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와 함께 하는 5단계 성장 루틴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781300"/>
            <a:ext cx="572262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781300"/>
            <a:ext cx="412242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산출물 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도구 범주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 목표 설정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0332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9857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익힐 역량의 범위·수준을 정하고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주차별 계획을 세운다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5929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주차별 학습 계획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624560" y="34480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9810" y="34480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대화형 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 자료 수집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0332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9857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개념·논문·사례를 모아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요약하고 정리한다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6404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5929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핵심 자료 요약표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624560" y="41719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9810" y="41719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검색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 연습·실습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0332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857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를 튜터 삼아 문제를 풀고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작은 프로젝트를 한다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929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코드 초안, 작품 초안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624560" y="48958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9810" y="48958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코딩·창작 AI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 피드백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70332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9857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결과물을 평가받고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약점을 보완한다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64040" y="56197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59290" y="56197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검토 의견과 개선안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624560" y="56197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19810" y="56197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대화형 AI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5 포트폴리오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703320" y="63436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798570" y="63436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과정과 결과를 정리해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보여 줄 수 있게 만든다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464040" y="63436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59290" y="63436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프로젝트 페이지, 글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624560" y="63436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719810" y="63436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문서·웹 도구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 바퀴로 끝내지 말고 되풀이하며 나만의 AI 협업 습관을 만든다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도구는 이름보다 범주로 고른다 — 같은 범주 안에서 자기에게 맞는 서비스를 쓰면 된다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  <p:sp>
        <p:nvSpPr>
          <p:cNvPr id="6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프롬프트 패턴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자주 쓰는 세 가지 요청 방식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역할 지정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「너는 10년 차 데이터 분석가야.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입문자에게 핵심만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설명해줘.」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단계별 근거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「결과만 주지 말고,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단계별 근거를 함께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설명해줘.」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반례 요청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「내 주장에 대한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비판적 반박을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3가지 들어줘.」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과제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가지 실습으로 발산·수렴·결정을 직접 해 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1 · 창의력 부스터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발산 — 아이디어 20개 펼치기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대상 + 문제 + 조건 + 개수 + 관점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[대학생]이 겪는 [시간 관리] 문제를 해결할 수 있는 아이디어를 20개 제안해줘. 조건은 [예산 0원, 모바일 앱, 1주일 안에 만들 수 있는 것]이야. [게임화]와 [친구와 함께하기] 관점을 섞어서, 각 아이디어를 한 줄로 정리해줘.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산출물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아이디어 20개 목록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29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1 · 창의력 부스터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수렴과 재구성 — 골라서 구체화하기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기준 + 선정 개수 + 표 형식 → 사용자 + 시나리오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위 20개 중에서 [실현 가능성, 독창성]이 가장 높은 3가지를 고르고, 각각의 장단점을 표로 정리해줘. 그다음 1위 아이디어를 쓰는 [대학생 민수]의 하루를 시나리오로 써줘. 사실이 아닌 내용은 넣지 말고, 확인이 필요한 부분은 표시해줘.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산출물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상위 3개 비교표와 사용자 시나리오 1편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30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2 · AHP 미니 의사결정 (Saaty, 1980)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AHP — 기준에 무게를 달아 고르기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933700"/>
            <a:ext cx="11430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3138488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7800" y="329088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24100" y="3024188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구조 세우기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4100" y="3481388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목표 → 평가 기준(효과·비용·시간·위험) → 대안 2~3개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05275"/>
            <a:ext cx="11430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47800" y="4310062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7800" y="446246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100" y="4195762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쌍대 비교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4100" y="4652962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「효과가 비용보다 얼마나 중요한가?」처럼 두 개씩 1~9점으로 비교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276850"/>
            <a:ext cx="11430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47800" y="5481638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7800" y="563403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4100" y="5367338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가중치 × 점수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4100" y="5824538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기준별 가중치와 대안별 점수를 곱해 종합 점수를 낸다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6448425"/>
            <a:ext cx="11430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447800" y="6653212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47800" y="680561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24100" y="6538912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일관성 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24100" y="6996112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일관성 비율(CR)이 0.1 미만이면 판단에 모순이 적다고 본다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144500" y="2933700"/>
            <a:ext cx="4000500" cy="4514850"/>
          </a:xfrm>
          <a:prstGeom prst="roundRect">
            <a:avLst>
              <a:gd name="adj" fmla="val 119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487400" y="43719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역할 나누기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7400" y="47720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계산은 AI 에게,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기준과 무게는 사람이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AHP(계층분석법)는 Thomas L. Saaty 가 제안한 다기준 의사결정 방법이다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31</a:t>
            </a:r>
          </a:p>
        </p:txBody>
      </p:sp>
      <p:sp>
        <p:nvSpPr>
          <p:cNvPr id="39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2 · AHP 미니 의사결정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에게 AHP 계산 맡기기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목표 + 기준 + 대안 + 내 판단 값 + 출력 형식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[이번 주말 할 일 정하기]를 AHP로 계산해줘. 기준은 [효과, 비용, 시간], 대안은 [과제 마무리, 동아리 준비, 아르바이트]야. 내 쌍대 비교 값은 [효과:비용=3, 효과:시간=5, 비용:시간=2]야. 기준 가중치, 대안별 종합 점수, 일관성 비율(CR)을 표로 보여 주고 계산 과정도 적어줘.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CR 0.1 미만인지, 1·2순위 점수 차이가 얼마인지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32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3 · 워크플로우 미니랩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우리 동네 문제를 AI 와 함께 풀어 보기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문제 정의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핵심 문제와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범위 정하기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정보 수집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관련된 사람과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 찾기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아이디어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해결 대안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3가지 만들기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NCS 점검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수행준거로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적절한지 보기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개선안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피드백 반영해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최종안 쓰기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결과 점검 — 사실(통계·법규 일치) · 출처(믿을 만한가) · 편향(누군가에게 불리한가) · 실행 가능성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주제 예 — 학교 앞 횡단보도 안전, 동네 상점 홍보, 캠퍼스 쓰레기 줄이기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33</a:t>
            </a:r>
          </a:p>
        </p:txBody>
      </p:sp>
      <p:sp>
        <p:nvSpPr>
          <p:cNvPr id="4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액션플랜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7일 동안 하루 10분 루틴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781300"/>
            <a:ext cx="63627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할 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15621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할 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84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관심 직무의 NCS 능력단위 3개 찾기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34480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480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AHP 로 주말 할 일 우선순위 정하기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384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나의 「빙산 아래」 동기·태도 적어 보기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1719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41719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강점과 AI 의 강점을 합친 시나리오 쓰기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384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로 아이디어 발산 프롬프트 해 보기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48958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48958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일주일 기록을 포트폴리오로 정리하기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432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384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결과물을 비판적으로 검증하기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44000" y="56197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9250" y="56197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작게, 매일 — 기록(대화 내역·수정 과정)을 남겨 두면 그대로 포트폴리오가 된다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34</a:t>
            </a:r>
          </a:p>
        </p:txBody>
      </p:sp>
      <p:sp>
        <p:nvSpPr>
          <p:cNvPr id="5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B01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창의력·복합문제 해결에서의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는 생각을 넓히고 빠르게 해 주는 증폭기 — 고리 안에서 판단하는 사람은 나다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스킬은 도구, 역량은 밑바탕 — 구분해서 계획한다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NCS 능력단위로 진로가 요구하는 능력을 확인한다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발산·수렴·분해에서 AI 에게 맞는 일을 맡긴다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최종 검증과 책임은 사람이 진다(HITL)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오늘의 산출물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아이디어 20개 · 상위 3개 비교표 · AHP 결과표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219456" cy="10287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1280160" y="3086100"/>
            <a:ext cx="146304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1280160" y="174879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1280160" y="2160270"/>
            <a:ext cx="1572768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1280160" y="3600450"/>
            <a:ext cx="15727680" cy="5349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1280160" y="936117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219456" cy="10287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1280160" y="3086100"/>
            <a:ext cx="146304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1280160" y="174879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1280160" y="2160270"/>
            <a:ext cx="1572768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1280160" y="3600450"/>
            <a:ext cx="15727680" cy="5349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이애본이 2026년 대학·기관 강의 현장에서 쓴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1280160" y="936117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219456" cy="10287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1280160" y="3086100"/>
            <a:ext cx="146304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1280160" y="174879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1280160" y="2160270"/>
            <a:ext cx="1572768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1280160" y="3600450"/>
            <a:ext cx="15727680" cy="5349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1280160" y="936117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