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EFF3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BF1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CED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DE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kore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2500"/>
            <a:ext cx="3409950" cy="4191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SELECT 기본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조회의 구조, WHERE 조건 검색, 정렬과 내장 함수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한국기술교육대학교 경영학부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(CCT770) · 2026학년도 2학기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학습목표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이번 주를 마치면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17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17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17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17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문의 기본 구조와 실행 순서를 설명한다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66236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66236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66236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66236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별칭(AS)과 DISTINCT로 조회 결과를 가공한다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45293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45293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45293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45293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비교·논리 연산자, BETWEEN·IN·LIKE·IS NULL을 골라 쓴다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24351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24351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24351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24351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NULL의 3값 논리(TRUE/FALSE/UNKNOWN)로 올바르게 비교한다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0340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60340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60340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60340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 BY·LIMIT과 내장 함수로 결과를 정렬·가공한다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지난주 적재한 다온유통 시드 데이터로 조회를 시작합니다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5주차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오늘 다루는 일곱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9814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9814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71600" y="41052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41814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9300" y="415290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SELECT 문의 기본 구조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7053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7053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71600" y="48291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49053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9300" y="487680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컬럼 선택과 별칭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292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29250"/>
            <a:ext cx="57150" cy="6286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0" y="55530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56292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9300" y="560070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WHERE 절 — 조건 검색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1531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153150"/>
            <a:ext cx="57150" cy="6286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371600" y="62769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0" y="63531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9300" y="632460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NULL의 처리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34500" y="39814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334500" y="39814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3100" y="41052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63100" y="41814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10800" y="415290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ORDER BY — 정렬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334500" y="47053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34500" y="47053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63100" y="48291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63100" y="49053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10800" y="487680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LIMIT — 결과 제한과 페이징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334500" y="54292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34500" y="54292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563100" y="55530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563100" y="56292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10800" y="560070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자주 쓰는 내장 함수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5주차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SELECT 문의 기본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SELECT 문 전체 구문 — 쓰는 순서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  [DISTINCT] 컬럼목록      -- ⑤ 표시할 열 선택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  테이블명                 -- ① 대상 테이블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WHERE    조건                     -- ② 행 필터링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GROUP BY 컬럼                     -- ③ 그룹화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HAVING   그룹조건                 -- ④ 그룹 필터링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ORDER BY 컬럼 [ASC|DESC]          -- ⑥ 정렬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LIMIT    개수 [OFFSET 시작];      -- ⑦ 결과 제한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동그라미 숫자 = 실제 실행 순서 · 대괄호는 생략 가능 · GROUP BY·HAVING은 6주차에 다룬다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5주차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SELECT 문의 기본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작성 순서와 실행 순서는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실행 순서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2781300"/>
            <a:ext cx="44424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80" y="2781300"/>
            <a:ext cx="896112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2781300"/>
            <a:ext cx="89611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역할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5222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3317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03320" y="3448050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98570" y="3448050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FROM / JOIN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80" y="3448050"/>
            <a:ext cx="89611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9130" y="3448050"/>
            <a:ext cx="87706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데이터를 가져올 테이블 결정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25222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23317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03320" y="4044043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98570" y="4044043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83880" y="4044043"/>
            <a:ext cx="89611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9130" y="4044043"/>
            <a:ext cx="87706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단위 필터링 (별칭 사용 불가)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25222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23317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03320" y="4640036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98570" y="4640036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83880" y="4640036"/>
            <a:ext cx="89611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79130" y="4640036"/>
            <a:ext cx="87706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지정한 컬럼으로 그룹화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25222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23317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703320" y="5236029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98570" y="5236029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HAVING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83880" y="5236029"/>
            <a:ext cx="89611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9130" y="5236029"/>
            <a:ext cx="87706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그룹 단위 필터링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25222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23317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703320" y="5832021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98570" y="5832021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83880" y="5832021"/>
            <a:ext cx="89611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79130" y="5832021"/>
            <a:ext cx="87706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표시할 컬럼 선택, 별칭 부여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25222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23317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703320" y="6428014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798570" y="6428014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 BY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183880" y="6428014"/>
            <a:ext cx="89611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79130" y="6428014"/>
            <a:ext cx="87706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정렬 (별칭 사용 가능)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25222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23317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703320" y="7024007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798570" y="7024007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LIMIT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183880" y="7024007"/>
            <a:ext cx="89611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79130" y="7024007"/>
            <a:ext cx="87706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 행 수 제한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FROM이 가장 먼저, SELECT는 거의 마지막 — 그래서 SELECT의 별칭은 WHERE에서는 못 쓰고 ORDER BY에서는 쓴다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5주차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컬럼 선택과 별칭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어느 테이블에서 어떤 열을 보여줄까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882646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882646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3986784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3986784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5090922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5090922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5458968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5458968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14500" y="5827014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14500" y="5827014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14500" y="6195060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14500" y="6195060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code-lineno"/>
          <p:cNvSpPr txBox="1"/>
          <p:nvPr/>
        </p:nvSpPr>
        <p:spPr>
          <a:xfrm>
            <a:off x="1143000" y="2514600"/>
            <a:ext cx="457200" cy="5181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</p:txBody>
      </p:sp>
      <p:sp>
        <p:nvSpPr>
          <p:cNvPr id="23" name="deckgen:code"/>
          <p:cNvSpPr txBox="1"/>
          <p:nvPr/>
        </p:nvSpPr>
        <p:spPr>
          <a:xfrm>
            <a:off x="1885950" y="2514600"/>
            <a:ext cx="8610600" cy="5181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전체 컬럼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* FROM customers;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특정 컬럼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cust_id, name, points FROM customers;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별칭(AS) — AS는 생략 가능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cust_id AS 고객번호,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name    AS 이름,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points  AS 포인트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customers;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68000" y="3047619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915650" y="2876169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15650" y="287616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0" y="2343150"/>
            <a:ext cx="5715000" cy="1752600"/>
          </a:xfrm>
          <a:prstGeom prst="roundRect">
            <a:avLst>
              <a:gd name="adj" fmla="val 32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430000" y="2343150"/>
            <a:ext cx="57150" cy="17526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658600" y="3028950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658600" y="30289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230100" y="2457450"/>
            <a:ext cx="4705350" cy="15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* = 모든 컬럼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구조를 훑어볼 때만 — 보고서에는 필요한 열만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668000" y="4151757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915650" y="3980307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15650" y="3980307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0" y="4229100"/>
            <a:ext cx="5715000" cy="1752600"/>
          </a:xfrm>
          <a:prstGeom prst="roundRect">
            <a:avLst>
              <a:gd name="adj" fmla="val 32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30000" y="4229100"/>
            <a:ext cx="57150" cy="17526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658600" y="4914900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658600" y="49149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230100" y="4343400"/>
            <a:ext cx="4705350" cy="15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세 열만 고르기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 순서는 적은 순서대로 나온다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668000" y="5807964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915650" y="5636514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915650" y="5636514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430000" y="6115050"/>
            <a:ext cx="5715000" cy="1752600"/>
          </a:xfrm>
          <a:prstGeom prst="roundRect">
            <a:avLst>
              <a:gd name="adj" fmla="val 32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1430000" y="6115050"/>
            <a:ext cx="57150" cy="17526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658600" y="6800850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658600" y="68008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230100" y="6229350"/>
            <a:ext cx="4705350" cy="15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8–11행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열 제목을 한글로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 화면만 바뀌고 원본 컬럼명은 그대로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5주차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컬럼 선택과 별칭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계산식도 열이 된다 — 산술과 문자열 연결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882646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882646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4722876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4722876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5090922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5090922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</p:txBody>
      </p:sp>
      <p:sp>
        <p:nvSpPr>
          <p:cNvPr id="17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공백이 포함된 별칭은 따옴표로 감싼다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name AS '고객 이름', price * 0.9 AS '10% 할인가'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products;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산술 연산과 문자열 연결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name,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price * stock                    AS 재고자산액,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CONCAT(name, '(', prod_id, ')')  AS 표기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products;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668000" y="3047619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915650" y="2876169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15650" y="287616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0" y="23431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30000" y="23431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658600" y="29559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658600" y="29559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30100" y="24574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10% 할인가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price * 0.9를 계산해 보고서 열로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68000" y="4887849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915650" y="4716399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15650" y="471639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430000" y="40830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430000" y="40830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658600" y="46958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658600" y="46958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30100" y="41973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단가 × 재고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창고에 묶인 금액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668000" y="5255895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915650" y="5084445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15650" y="508444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30000" y="58229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430000" y="58229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658600" y="64357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658600" y="64357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30100" y="59372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8행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CONCAT()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무선 전기포트(P001)처럼 이어 붙인다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MySQL 문자열 연결은 || 가 아니라 CONCAT() — Oracle·PostgreSQL은 || 를 쓴다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5주차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2.1 DISTINCT — 중복 제거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같은 값이 반복될 때 종류만 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3986784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3986784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5090922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5090922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6195060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6195060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6563106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6563106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code-lineno"/>
          <p:cNvSpPr txBox="1"/>
          <p:nvPr/>
        </p:nvSpPr>
        <p:spPr>
          <a:xfrm>
            <a:off x="1143000" y="2514600"/>
            <a:ext cx="457200" cy="5181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</p:txBody>
      </p:sp>
      <p:sp>
        <p:nvSpPr>
          <p:cNvPr id="19" name="deckgen:code"/>
          <p:cNvSpPr txBox="1"/>
          <p:nvPr/>
        </p:nvSpPr>
        <p:spPr>
          <a:xfrm>
            <a:off x="1885950" y="2514600"/>
            <a:ext cx="8610600" cy="5181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고객 등급 목록 (중복 포함, 10행)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grade FROM customers;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중복 제거 → VIP, GOLD, SILVER (3행)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DISTINCT grade FROM customers;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여러 컬럼의 조합에 대해 중복 제거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DISTINCT grade, city FROM customers;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중복 제거 후 개수 세기 (NULL은 제외됨)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COUNT(DISTINCT city) AS 도시수 FROM customers;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서울·부산·대전·광주·인천 → 5 (C007의 city NULL은 제외)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68000" y="4151757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915650" y="3980307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15650" y="3980307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0" y="2343150"/>
            <a:ext cx="5715000" cy="1752600"/>
          </a:xfrm>
          <a:prstGeom prst="roundRect">
            <a:avLst>
              <a:gd name="adj" fmla="val 32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0" y="2343150"/>
            <a:ext cx="57150" cy="17526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658600" y="3028950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658600" y="30289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30100" y="2457450"/>
            <a:ext cx="4705350" cy="15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등급 체계 확인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어떤 등급이 있나에 답할 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68000" y="5255895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915650" y="5084445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15650" y="508444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0" y="4229100"/>
            <a:ext cx="5715000" cy="1752600"/>
          </a:xfrm>
          <a:prstGeom prst="roundRect">
            <a:avLst>
              <a:gd name="adj" fmla="val 32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0" y="4229100"/>
            <a:ext cx="57150" cy="17526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58600" y="4914900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58600" y="49149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30100" y="4343400"/>
            <a:ext cx="4705350" cy="15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8행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(등급, 도시) 짝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둘 다 같아야 한 행으로 합쳐진다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68000" y="6544056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915650" y="6372606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15650" y="6372606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430000" y="6115050"/>
            <a:ext cx="5715000" cy="1752600"/>
          </a:xfrm>
          <a:prstGeom prst="roundRect">
            <a:avLst>
              <a:gd name="adj" fmla="val 32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430000" y="6115050"/>
            <a:ext cx="57150" cy="17526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658600" y="6800850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658600" y="68008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230100" y="6229350"/>
            <a:ext cx="4705350" cy="15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11–12행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COUNT(DISTINCT)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서로 다른 값의 개수 — 고객이 분포한 도시 수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5주차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WHERE 절 — 조건 검색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비교 연산자 — 경영 질문을 조건 하나로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연산자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572262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의미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=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57226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55321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grade = 'VIP'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&lt;&gt;, !=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044043"/>
            <a:ext cx="57226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044043"/>
            <a:ext cx="55321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같지 않다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044043"/>
            <a:ext cx="64008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044043"/>
            <a:ext cx="6210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status &lt;&gt; '취소'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&gt;, &gt;=, &lt;, &lt;=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640036"/>
            <a:ext cx="57226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640036"/>
            <a:ext cx="55321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크다 / 크거나 같다 / 작다 / 작거나 같다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640036"/>
            <a:ext cx="64008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640036"/>
            <a:ext cx="6210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price &gt;= 20000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BETWEEN a AND b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5236029"/>
            <a:ext cx="57226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8730" y="5236029"/>
            <a:ext cx="55321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 이상 b 이하 (경계 포함)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236029"/>
            <a:ext cx="64008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236029"/>
            <a:ext cx="6210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points BETWEEN 1000 AND 3000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IN (값목록)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83480" y="5832021"/>
            <a:ext cx="57226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8730" y="5832021"/>
            <a:ext cx="55321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목록 중 하나와 일치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44200" y="5832021"/>
            <a:ext cx="64008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39450" y="5832021"/>
            <a:ext cx="6210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category IN ('가전','식품')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LIKE 패턴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83480" y="6428014"/>
            <a:ext cx="57226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78730" y="6428014"/>
            <a:ext cx="55321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패턴 일치 (문자열)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744200" y="6428014"/>
            <a:ext cx="64008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839450" y="6428014"/>
            <a:ext cx="6210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name LIKE '김%'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IS NULL / IS NOT NULL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83480" y="7024007"/>
            <a:ext cx="57226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78730" y="7024007"/>
            <a:ext cx="55321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NULL 여부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744200" y="7024007"/>
            <a:ext cx="64008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839450" y="7024007"/>
            <a:ext cx="6210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emp_id IS NULL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「서울의 VIP에게 쿠폰을」 「품절 상품을 발주하자」 — 타겟 마케팅과 재고 관리의 출발점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5주차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3.2 논리 연산자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AND · OR · NOT — 조건 이어 붙이기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3579304"/>
            <a:ext cx="8953500" cy="35490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3579304"/>
            <a:ext cx="47625" cy="35490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5353812"/>
            <a:ext cx="8953500" cy="35490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5353812"/>
            <a:ext cx="47625" cy="35490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6418516"/>
            <a:ext cx="8953500" cy="35490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6418516"/>
            <a:ext cx="47625" cy="35490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6773418"/>
            <a:ext cx="8953500" cy="35490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6773418"/>
            <a:ext cx="47625" cy="35490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code-lineno"/>
          <p:cNvSpPr txBox="1"/>
          <p:nvPr/>
        </p:nvSpPr>
        <p:spPr>
          <a:xfrm>
            <a:off x="1143000" y="2514600"/>
            <a:ext cx="457200" cy="5181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</p:txBody>
      </p:sp>
      <p:sp>
        <p:nvSpPr>
          <p:cNvPr id="19" name="deckgen:code"/>
          <p:cNvSpPr txBox="1"/>
          <p:nvPr/>
        </p:nvSpPr>
        <p:spPr>
          <a:xfrm>
            <a:off x="1885950" y="2514600"/>
            <a:ext cx="8610600" cy="5181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AND: 두 조건 모두 만족 — 서울에 사는 VIP 고객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name, city, points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customers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WHERE  grade = 'VIP' AND city = '서울';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결과: 한가람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OR: 둘 중 하나 만족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name FROM customers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WHERE  grade = 'VIP' OR grade = 'GOLD';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NOT: 조건 부정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name FROM customers WHERE NOT grade = 'SILVER';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name FROM products  WHERE category NOT IN ('가전','식품');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68000" y="3737705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915650" y="3566255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15650" y="356625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0" y="2343150"/>
            <a:ext cx="5715000" cy="1752600"/>
          </a:xfrm>
          <a:prstGeom prst="roundRect">
            <a:avLst>
              <a:gd name="adj" fmla="val 32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0" y="2343150"/>
            <a:ext cx="57150" cy="17526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658600" y="3028950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658600" y="30289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30100" y="2457450"/>
            <a:ext cx="4705350" cy="15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AND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조건을 다 만족하는 행만 — 타겟 마케팅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68000" y="5512213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915650" y="5340763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15650" y="5340763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0" y="4229100"/>
            <a:ext cx="5715000" cy="1752600"/>
          </a:xfrm>
          <a:prstGeom prst="roundRect">
            <a:avLst>
              <a:gd name="adj" fmla="val 32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0" y="4229100"/>
            <a:ext cx="57150" cy="17526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58600" y="4914900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58600" y="49149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30100" y="4343400"/>
            <a:ext cx="4705350" cy="15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9행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OR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VIP이거나 GOLD — 우수 고객군 전체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68000" y="6754368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915650" y="6582918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15650" y="658291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430000" y="6115050"/>
            <a:ext cx="5715000" cy="1752600"/>
          </a:xfrm>
          <a:prstGeom prst="roundRect">
            <a:avLst>
              <a:gd name="adj" fmla="val 32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430000" y="6115050"/>
            <a:ext cx="57150" cy="17526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658600" y="6800850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658600" y="68008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230100" y="6229350"/>
            <a:ext cx="4705350" cy="15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12–13행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NOT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SILVER가 아닌 고객 · 가전·식품을 뺀 상품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5주차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3.2 논리 연산자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우선순위 NOT &gt; AND &gt; OR — OR는 괄호로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816924"/>
            <a:ext cx="8953500" cy="302324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816924"/>
            <a:ext cx="47625" cy="302324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3119247"/>
            <a:ext cx="8953500" cy="302324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3119247"/>
            <a:ext cx="47625" cy="302324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3723894"/>
            <a:ext cx="8953500" cy="302324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3723894"/>
            <a:ext cx="47625" cy="302324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4026218"/>
            <a:ext cx="8953500" cy="302324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4026218"/>
            <a:ext cx="47625" cy="302324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38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38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38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38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38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ts val="238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</p:txBody>
      </p:sp>
      <p:sp>
        <p:nvSpPr>
          <p:cNvPr id="19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8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우선순위 주의: 아래 두 결과는 다르다</a:t>
            </a:r>
          </a:p>
          <a:p>
            <a:pPr algn="l">
              <a:lnSpc>
                <a:spcPts val="238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* FROM customers WHERE grade='VIP' OR grade='GOLD' AND city='서울';</a:t>
            </a:r>
          </a:p>
          <a:p>
            <a:pPr algn="l">
              <a:lnSpc>
                <a:spcPts val="238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  → grade='VIP' OR (grade='GOLD' AND city='서울')</a:t>
            </a:r>
          </a:p>
          <a:p>
            <a:pPr algn="l">
              <a:lnSpc>
                <a:spcPts val="238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38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* FROM customers WHERE (grade='VIP' OR grade='GOLD') AND city='서울';</a:t>
            </a:r>
          </a:p>
          <a:p>
            <a:pPr algn="l">
              <a:lnSpc>
                <a:spcPts val="238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  → 서울에 사는 VIP·GOLD 고객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68000" y="3100197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915650" y="2928747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15650" y="2928747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0" y="2343150"/>
            <a:ext cx="5715000" cy="2476500"/>
          </a:xfrm>
          <a:prstGeom prst="roundRect">
            <a:avLst>
              <a:gd name="adj" fmla="val 230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0" y="2343150"/>
            <a:ext cx="57150" cy="24765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658600" y="3390900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658600" y="33909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30100" y="2457450"/>
            <a:ext cx="4705350" cy="2247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2–3행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괄호 없음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AND가 먼저 묶여 서울이 아닌 VIP(임수빈·대전)도 들어온다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68000" y="4007168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915650" y="3835718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15650" y="383571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0" y="4953000"/>
            <a:ext cx="5715000" cy="2476500"/>
          </a:xfrm>
          <a:prstGeom prst="roundRect">
            <a:avLst>
              <a:gd name="adj" fmla="val 230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0" y="4953000"/>
            <a:ext cx="57150" cy="24765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58600" y="6000750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58600" y="60007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30100" y="5067300"/>
            <a:ext cx="4705350" cy="2247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5–6행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OR를 괄호로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의도가 「서울에 사는 우수 고객」이면 이쪽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연산자 우선순위는 NOT &gt; AND &gt; OR — OR 조건은 괄호로 묶어 의도를 분명히 한다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5주차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3.3 BETWEEN과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범위는 BETWEEN, 목록은 IN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843212"/>
            <a:ext cx="8953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843212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4486275"/>
            <a:ext cx="8953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4486275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5800725"/>
            <a:ext cx="8953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5800725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6786562"/>
            <a:ext cx="8953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6786562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code-lineno"/>
          <p:cNvSpPr txBox="1"/>
          <p:nvPr/>
        </p:nvSpPr>
        <p:spPr>
          <a:xfrm>
            <a:off x="1143000" y="2514600"/>
            <a:ext cx="457200" cy="5181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</p:txBody>
      </p:sp>
      <p:sp>
        <p:nvSpPr>
          <p:cNvPr id="19" name="deckgen:code"/>
          <p:cNvSpPr txBox="1"/>
          <p:nvPr/>
        </p:nvSpPr>
        <p:spPr>
          <a:xfrm>
            <a:off x="1885950" y="2514600"/>
            <a:ext cx="8610600" cy="5181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BETWEEN은 양쪽 경계를 포함한다 (&gt;= AND &lt;=)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name, price FROM products WHERE price BETWEEN 10000 AND 20000;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 결과: 유기농 원두 500g, 곡물 시리얼 세트, 천연 세탁세제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날짜에도 사용 가능 — 2024년에 가입한 고객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name, joined_date FROM customers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WHERE  joined_date BETWEEN '2024-01-01' AND '2024-12-31';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결과: 한가람, 오세영, 장민혁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NOT BETWEEN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name FROM products WHERE price NOT BETWEEN 5000 AND 50000;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IN: 여러 값 중 하나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name, category FROM products WHERE category IN ('가전','문구');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68000" y="2988469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915650" y="2817019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15650" y="281701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0" y="2343150"/>
            <a:ext cx="5715000" cy="1281112"/>
          </a:xfrm>
          <a:prstGeom prst="roundRect">
            <a:avLst>
              <a:gd name="adj" fmla="val 44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0" y="2343150"/>
            <a:ext cx="57150" cy="1281112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658600" y="2793206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658600" y="2793206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30100" y="2457450"/>
            <a:ext cx="4705350" cy="1052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1만~2만 원대</a:t>
            </a:r>
          </a:p>
          <a:p>
            <a:pPr>
              <a:lnSpc>
                <a:spcPct val="130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10000원·20000원짜리도 포함된다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68000" y="4631531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915650" y="4460081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15650" y="4460081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0" y="3757612"/>
            <a:ext cx="5715000" cy="1281112"/>
          </a:xfrm>
          <a:prstGeom prst="roundRect">
            <a:avLst>
              <a:gd name="adj" fmla="val 44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0" y="3757612"/>
            <a:ext cx="57150" cy="1281112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58600" y="4207669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58600" y="420766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30100" y="3871912"/>
            <a:ext cx="4705350" cy="1052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날짜 범위</a:t>
            </a:r>
          </a:p>
          <a:p>
            <a:pPr>
              <a:lnSpc>
                <a:spcPct val="130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'YYYY-MM-DD' 문자열 — 12-31까지 한 해 전체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68000" y="5945981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915650" y="5774531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15650" y="5774531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430000" y="5172075"/>
            <a:ext cx="5715000" cy="1281112"/>
          </a:xfrm>
          <a:prstGeom prst="roundRect">
            <a:avLst>
              <a:gd name="adj" fmla="val 44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430000" y="5172075"/>
            <a:ext cx="57150" cy="1281112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658600" y="5622131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658600" y="5622131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230100" y="5286375"/>
            <a:ext cx="4705350" cy="1052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11행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범위 바깥</a:t>
            </a:r>
          </a:p>
          <a:p>
            <a:pPr>
              <a:lnSpc>
                <a:spcPct val="130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5000·50000 자체는 범위 안이라 제외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668000" y="6931819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915650" y="6760369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15650" y="676036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430000" y="6586538"/>
            <a:ext cx="5715000" cy="1281112"/>
          </a:xfrm>
          <a:prstGeom prst="roundRect">
            <a:avLst>
              <a:gd name="adj" fmla="val 44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430000" y="6586538"/>
            <a:ext cx="57150" cy="1281112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658600" y="7036594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658600" y="7036594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230100" y="6700838"/>
            <a:ext cx="4705350" cy="1052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14행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IN</a:t>
            </a:r>
          </a:p>
          <a:p>
            <a:pPr>
              <a:lnSpc>
                <a:spcPct val="130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 category='가전' OR category='문구'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5주차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3.4 LIKE — 패턴 검색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와일드카드 % 와 _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와일드카드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44424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의미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2781300"/>
            <a:ext cx="380238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매칭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23360" y="34480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8610" y="34480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0개 이상의 임의 문자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0392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917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'김%'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김도현, 김, 김성호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_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023360" y="41719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8610" y="41719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정확히 1개의 임의 문자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0392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917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'김_'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김철 (2글자만)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%문자%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0" y="48958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8610" y="48958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포함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0392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917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'%세트%'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곡물 시리얼 세트, 3색 볼펜 세트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ESCAPE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023360" y="56197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8610" y="56197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와일드카드 자체 검색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50392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9917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'100\%' ESCAPE '\\'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= 는 완전히 같은 문자열만 찾는다 — 김씨 고객, 세트 상품처럼 부분 일치가 필요하면 LIKE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5주차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3.4 LIKE — 패턴 검색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문자열 일부로 찾기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514600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514600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2856357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2856357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3198114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3198114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3539871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3539871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14500" y="3881628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14500" y="3881628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14500" y="4565142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14500" y="4565142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714500" y="5248656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714500" y="5248656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714500" y="5932170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714500" y="5932170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</p:txBody>
      </p:sp>
      <p:sp>
        <p:nvSpPr>
          <p:cNvPr id="27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name FROM customers WHERE name LIKE '김%';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결과: 김도현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name FROM customers WHERE name LIKE '%연';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결과: 박서연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name, email FROM customers WHERE email LIKE '%@example.com';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name FROM employees WHERE name LIKE '___';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name FROM products WHERE name LIKE '%세트%';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결과: 곡물 시리얼 세트, 3색 볼펜 세트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68000" y="3349942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915650" y="3178492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15650" y="317849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0" y="234315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0" y="234315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58600" y="273843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58600" y="273843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30100" y="245745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1–5행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시작 '김%' · 끝 '%연'</a:t>
            </a:r>
          </a:p>
          <a:p>
            <a:pPr>
              <a:lnSpc>
                <a:spcPct val="130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%는 글자 수 상관없이(0개 포함)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68000" y="4716970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915650" y="4545520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15650" y="454552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430000" y="364807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430000" y="364807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658600" y="404336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658600" y="404336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230100" y="376237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이메일 도메인</a:t>
            </a:r>
          </a:p>
          <a:p>
            <a:pPr>
              <a:lnSpc>
                <a:spcPct val="130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email NULL인 C005는 UNKNOWN이라 빠진다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668000" y="5400484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915650" y="5229034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15650" y="5229034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430000" y="495300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430000" y="495300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658600" y="534828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658600" y="534828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230100" y="506730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9행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밑줄 세 개</a:t>
            </a:r>
          </a:p>
          <a:p>
            <a:pPr>
              <a:lnSpc>
                <a:spcPct val="130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정확히 3글자 이름인 직원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668000" y="6083998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915650" y="5912548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915650" y="591254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430000" y="625792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1430000" y="625792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658600" y="665321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658600" y="665321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230100" y="637222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11행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양쪽 %</a:t>
            </a:r>
          </a:p>
          <a:p>
            <a:pPr>
              <a:lnSpc>
                <a:spcPct val="130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위치와 상관없이 포함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패턴이 % 로 시작하면 인덱스를 쓸 수 없어 전체 테이블을 검색한다 (10주차 인덱스)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5주차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NULL의 처리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NULL은 0도 빈 문자열도 아니다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값 없음·알 수 없음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 0이나 빈 문자열과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전혀 다른 특수한 표시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다온유통의 NULL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온라인 주문 emp_id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협상 중 salary · 미입력 city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비교 결과는 UNKNOWN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NULL과의 모든 비교는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참도 거짓도 아니다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WHERE는 참인 행만 남긴다 — UNKNOWN인 행은 조용히 빠진다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5주차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NULL의 처리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= NULL 이 아니라 IS NULL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830068"/>
            <a:ext cx="8953500" cy="315468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830068"/>
            <a:ext cx="47625" cy="315468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3776472"/>
            <a:ext cx="8953500" cy="315468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3776472"/>
            <a:ext cx="47625" cy="315468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4091940"/>
            <a:ext cx="8953500" cy="315468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4091940"/>
            <a:ext cx="47625" cy="315468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</p:txBody>
      </p:sp>
      <p:sp>
        <p:nvSpPr>
          <p:cNvPr id="17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잘못된 방법 — 결과가 항상 비어 있다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order_id FROM orders WHERE emp_id = NULL;    -- (X)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올바른 방법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order_id FROM orders WHERE emp_id IS NULL;      -- 온라인 주문 (7건)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order_id FROM orders WHERE emp_id IS NOT NULL;  -- 오프라인 주문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668000" y="2968752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915650" y="2797302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15650" y="279730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0" y="23431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30000" y="23431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658600" y="29559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658600" y="29559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30100" y="24574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= NULL은 0행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NULL = NULL 조차 UNKNOWN — 오류도 나지 않는다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68000" y="3915156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915650" y="3743706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15650" y="3743706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430000" y="40830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430000" y="40830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658600" y="46958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658600" y="46958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30100" y="41973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IS NULL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담당 직원 없는 온라인 주문 1002·1004·…·1014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668000" y="4230624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915650" y="4059174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15650" y="4059174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30000" y="58229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430000" y="58229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658600" y="64357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658600" y="64357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30100" y="59372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IS NOT NULL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영업 담당 주문 — 직원별 실적 집계의 대상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0행이 나오고 오류도 나지 않는다 — 가장 위험한 실수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5주차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NULL의 처리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NULL 찾기와 NULL 대체하기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856357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856357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4223385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4223385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5248656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5248656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5590413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5590413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code-lineno"/>
          <p:cNvSpPr txBox="1"/>
          <p:nvPr/>
        </p:nvSpPr>
        <p:spPr>
          <a:xfrm>
            <a:off x="1143000" y="2514600"/>
            <a:ext cx="457200" cy="5181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</p:txBody>
      </p:sp>
      <p:sp>
        <p:nvSpPr>
          <p:cNvPr id="19" name="deckgen:code"/>
          <p:cNvSpPr txBox="1"/>
          <p:nvPr/>
        </p:nvSpPr>
        <p:spPr>
          <a:xfrm>
            <a:off x="1885950" y="2514600"/>
            <a:ext cx="8610600" cy="5181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연봉이 아직 정해지지 않은 직원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name, dept FROM employees WHERE salary IS NULL;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결과: 조하늘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NULL과의 산술 연산 결과는 NULL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name, salary, salary + 50 AS 인상후 FROM employees;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NULL을 대체하여 조회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name, IFNULL(salary, 0)   AS 연봉 FROM employees;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name, COALESCE(salary, 0) AS 연봉 FROM employees;  -- 표준 SQL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68000" y="3008186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915650" y="2836736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15650" y="2836736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0" y="2343150"/>
            <a:ext cx="5715000" cy="1281112"/>
          </a:xfrm>
          <a:prstGeom prst="roundRect">
            <a:avLst>
              <a:gd name="adj" fmla="val 44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0" y="2343150"/>
            <a:ext cx="57150" cy="1281112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658600" y="2793206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658600" y="2793206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30100" y="2457450"/>
            <a:ext cx="4705350" cy="1052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시드의 E008</a:t>
            </a:r>
          </a:p>
          <a:p>
            <a:pPr>
              <a:lnSpc>
                <a:spcPct val="130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salary NULL은 조하늘만 해당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68000" y="4375214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915650" y="4203764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15650" y="4203764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0" y="3757612"/>
            <a:ext cx="5715000" cy="1281112"/>
          </a:xfrm>
          <a:prstGeom prst="roundRect">
            <a:avLst>
              <a:gd name="adj" fmla="val 44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0" y="3757612"/>
            <a:ext cx="57150" cy="1281112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58600" y="4207669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58600" y="420766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30100" y="3871912"/>
            <a:ext cx="4705350" cy="1052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알 수 없는 값 + 50</a:t>
            </a:r>
          </a:p>
          <a:p>
            <a:pPr>
              <a:lnSpc>
                <a:spcPct val="130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여전히 NULL — 계산에 섞이면 결과가 사라진다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68000" y="5400484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915650" y="5229034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15650" y="5229034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430000" y="5172075"/>
            <a:ext cx="5715000" cy="1281112"/>
          </a:xfrm>
          <a:prstGeom prst="roundRect">
            <a:avLst>
              <a:gd name="adj" fmla="val 44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430000" y="5172075"/>
            <a:ext cx="57150" cy="1281112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658600" y="5622131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658600" y="5622131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230100" y="5286375"/>
            <a:ext cx="4705350" cy="1052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9행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IFNULL(값, 대체값)</a:t>
            </a:r>
          </a:p>
          <a:p>
            <a:pPr>
              <a:lnSpc>
                <a:spcPct val="130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보고서에 빈칸 대신 0을 찍을 때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668000" y="5742241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915650" y="5570791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15650" y="5570791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430000" y="6586538"/>
            <a:ext cx="5715000" cy="1281112"/>
          </a:xfrm>
          <a:prstGeom prst="roundRect">
            <a:avLst>
              <a:gd name="adj" fmla="val 44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430000" y="6586538"/>
            <a:ext cx="57150" cy="1281112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658600" y="7036594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658600" y="7036594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230100" y="6700838"/>
            <a:ext cx="4705350" cy="1052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10행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COALESCE</a:t>
            </a:r>
          </a:p>
          <a:p>
            <a:pPr>
              <a:lnSpc>
                <a:spcPct val="130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NULL이 아닌 첫 값 — 다른 DBMS에서도 통한다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5주차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NULL의 처리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3값 논리 — TRUE · FALSE · UNKNOWN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조건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55626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5562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salary = 380 (이지은)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salary = NULL (조하늘)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salary &gt; 350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5562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5372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TRUE → 조회됨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544300" y="34480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639550" y="34480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UNKNOWN → 조회 안 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salary &lt;= 350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5562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5372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FALSE → 조회 안 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544300" y="41719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639550" y="41719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UNKNOWN → 조회 안 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salary IS NULL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5562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5372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FALSE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544300" y="48958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39550" y="48958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TRUE → 조회됨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NOT (salary &gt; 350)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5562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5372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FALSE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544300" y="56197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639550" y="56197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UNKNOWN → 조회 안 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salary &gt; 350 과 salary &lt;= 350 어디에도 NULL 행은 없다 — 빠짐없이 다루려면 OR salary IS NULL 을 명시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5주차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ORDER BY — 정렬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정렬 기본 — 오름·내림·다중 정렬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882646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882646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3986784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3986784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5827014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5827014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</p:txBody>
      </p:sp>
      <p:sp>
        <p:nvSpPr>
          <p:cNvPr id="17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오름차순 (ASC는 기본값이므로 생략 가능)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name, price FROM products ORDER BY price ASC;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내림차순 — 포인트가 많은 고객부터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name, points FROM customers ORDER BY points DESC;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다중 정렬: 등급 오름차순 → 같은 등급 안에서 포인트 내림차순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name, grade, points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customers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ORDER BY grade ASC, points DESC;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668000" y="3047619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915650" y="2876169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15650" y="287616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0" y="23431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30000" y="23431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658600" y="29559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658600" y="29559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30100" y="24574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싼 상품부터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가격표 순서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68000" y="4151757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915650" y="3980307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15650" y="3980307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430000" y="40830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430000" y="40830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658600" y="46958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658600" y="46958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30100" y="41973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DESC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큰 값이 먼저 — 우수 고객 순위표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668000" y="5991987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915650" y="5820537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15650" y="5820537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30000" y="58229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430000" y="58229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658600" y="64357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658600" y="64357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30100" y="59372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10행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두 번째 기준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첫 기준이 같은 행끼리만 다시 정렬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ORDER BY가 없으면 행 순서는 보장되지 않는다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5주차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ORDER BY — 정렬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별칭으로 정렬, 순번으로 정렬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3500438"/>
            <a:ext cx="8953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3500438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4486275"/>
            <a:ext cx="8953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4486275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code-lineno"/>
          <p:cNvSpPr txBox="1"/>
          <p:nvPr/>
        </p:nvSpPr>
        <p:spPr>
          <a:xfrm>
            <a:off x="1143000" y="2514600"/>
            <a:ext cx="457200" cy="5181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</p:txBody>
      </p:sp>
      <p:sp>
        <p:nvSpPr>
          <p:cNvPr id="15" name="deckgen:code"/>
          <p:cNvSpPr txBox="1"/>
          <p:nvPr/>
        </p:nvSpPr>
        <p:spPr>
          <a:xfrm>
            <a:off x="1885950" y="2514600"/>
            <a:ext cx="8610600" cy="5181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별칭으로 정렬 (ORDER BY는 SELECT 이후 실행되므로 가능)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name, price * 0.9 AS 할인가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products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ORDER BY 할인가 DESC;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컬럼 순번으로 정렬 (2번째 컬럼 기준) — 가독성이 떨어져 권장하지 않음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name, price FROM products ORDER BY 2 DESC;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668000" y="3645694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915650" y="3474244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15650" y="3474244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0" y="2343150"/>
            <a:ext cx="5715000" cy="2695575"/>
          </a:xfrm>
          <a:prstGeom prst="roundRect">
            <a:avLst>
              <a:gd name="adj" fmla="val 212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0" y="2343150"/>
            <a:ext cx="57150" cy="2695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658600" y="350043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658600" y="350043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30100" y="2457450"/>
            <a:ext cx="4705350" cy="2466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별칭 사용 가능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WHERE에서는 아직 만들어지기 전이라 불가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68000" y="4631531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915650" y="4460081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15650" y="4460081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0" y="5172075"/>
            <a:ext cx="5715000" cy="2695575"/>
          </a:xfrm>
          <a:prstGeom prst="roundRect">
            <a:avLst>
              <a:gd name="adj" fmla="val 212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430000" y="5172075"/>
            <a:ext cx="57150" cy="2695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658600" y="632936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658600" y="632936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230100" y="5286375"/>
            <a:ext cx="4705350" cy="2466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 = 두 번째 열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목록을 고치면 정렬 기준이 조용히 바뀐다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5주차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5.1 NULL의 정렬 위치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연봉 미정을 맨 뒤로 보내는 요령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843212"/>
            <a:ext cx="8953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843212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4814887"/>
            <a:ext cx="8953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4814887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5800725"/>
            <a:ext cx="8953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5800725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deckgen:code-lineno"/>
          <p:cNvSpPr txBox="1"/>
          <p:nvPr/>
        </p:nvSpPr>
        <p:spPr>
          <a:xfrm>
            <a:off x="1143000" y="2514600"/>
            <a:ext cx="457200" cy="5181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</p:txBody>
      </p:sp>
      <p:sp>
        <p:nvSpPr>
          <p:cNvPr id="17" name="deckgen:code"/>
          <p:cNvSpPr txBox="1"/>
          <p:nvPr/>
        </p:nvSpPr>
        <p:spPr>
          <a:xfrm>
            <a:off x="1885950" y="2514600"/>
            <a:ext cx="8610600" cy="5181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MySQL은 ASC에서 NULL이 가장 앞, DESC에서 가장 뒤에 온다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name, salary FROM employees ORDER BY salary;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조하늘(NULL)이 첫 행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IS NULL 결과(0/1)로 먼저 정렬하여 NULL을 뒤로 보낸다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name, salary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employees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ORDER BY salary IS NULL, salary DESC;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표준 SQL (Oracle, PostgreSQL)은 NULLS LAST를 지원한다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SELECT name, salary FROM employees ORDER BY salary DESC NULLS LAST;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668000" y="2988469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915650" y="2817019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15650" y="281701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0" y="2343150"/>
            <a:ext cx="5715000" cy="1752600"/>
          </a:xfrm>
          <a:prstGeom prst="roundRect">
            <a:avLst>
              <a:gd name="adj" fmla="val 32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30000" y="2343150"/>
            <a:ext cx="57150" cy="17526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658600" y="3028950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658600" y="30289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30100" y="2457450"/>
            <a:ext cx="4705350" cy="15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NULL = 가장 작은 값처럼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오름차순이면 첫 줄에 나온다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68000" y="4960144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915650" y="4788694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15650" y="4788694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430000" y="4229100"/>
            <a:ext cx="5715000" cy="1752600"/>
          </a:xfrm>
          <a:prstGeom prst="roundRect">
            <a:avLst>
              <a:gd name="adj" fmla="val 32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430000" y="4229100"/>
            <a:ext cx="57150" cy="17526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658600" y="4914900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658600" y="49149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30100" y="4343400"/>
            <a:ext cx="4705350" cy="15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8행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1차 NULL 여부, 2차 연봉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값 있음(0)이 먼저, NULL(1)이 뒤로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668000" y="5945981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915650" y="5774531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15650" y="5774531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30000" y="6115050"/>
            <a:ext cx="5715000" cy="1752600"/>
          </a:xfrm>
          <a:prstGeom prst="roundRect">
            <a:avLst>
              <a:gd name="adj" fmla="val 32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430000" y="6115050"/>
            <a:ext cx="57150" cy="17526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658600" y="6800850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658600" y="68008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30100" y="6229350"/>
            <a:ext cx="4705350" cy="15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11행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MySQL에는 없다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그래서 IS NULL을 정렬 기준으로 대신 쓴다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5주차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6. LIMIT — 결과 제한과 페이징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상위 N명과 페이지 나누기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830068"/>
            <a:ext cx="8953500" cy="315468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830068"/>
            <a:ext cx="47625" cy="315468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4091940"/>
            <a:ext cx="8953500" cy="315468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4091940"/>
            <a:ext cx="47625" cy="315468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5038344"/>
            <a:ext cx="8953500" cy="315468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5038344"/>
            <a:ext cx="47625" cy="315468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deckgen:code-lineno"/>
          <p:cNvSpPr txBox="1"/>
          <p:nvPr/>
        </p:nvSpPr>
        <p:spPr>
          <a:xfrm>
            <a:off x="1143000" y="2514600"/>
            <a:ext cx="457200" cy="5181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</p:txBody>
      </p:sp>
      <p:sp>
        <p:nvSpPr>
          <p:cNvPr id="17" name="deckgen:code"/>
          <p:cNvSpPr txBox="1"/>
          <p:nvPr/>
        </p:nvSpPr>
        <p:spPr>
          <a:xfrm>
            <a:off x="1885950" y="2514600"/>
            <a:ext cx="8610600" cy="5181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포인트 상위 3명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name, points FROM customers ORDER BY points DESC LIMIT 3;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결과: 임수빈(5200), 한가람(4500), 오세영(2300)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-- 4~6등 (앞의 3건을 건너뛰고 3건)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name, points FROM customers ORDER BY points DESC LIMIT 3 OFFSET 3;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MySQL 축약형: LIMIT 시작위치, 개수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name, points FROM customers ORDER BY points DESC LIMIT 3, 3;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668000" y="2968752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915650" y="2797302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15650" y="279730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0" y="2343150"/>
            <a:ext cx="5715000" cy="1752600"/>
          </a:xfrm>
          <a:prstGeom prst="roundRect">
            <a:avLst>
              <a:gd name="adj" fmla="val 32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30000" y="2343150"/>
            <a:ext cx="57150" cy="17526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658600" y="3028950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658600" y="30289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30100" y="2457450"/>
            <a:ext cx="4705350" cy="15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정렬한 뒤 자르기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줄 세운 뒤 위에서 3행만 남긴다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68000" y="4230624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915650" y="4059174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15650" y="4059174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430000" y="4229100"/>
            <a:ext cx="5715000" cy="1752600"/>
          </a:xfrm>
          <a:prstGeom prst="roundRect">
            <a:avLst>
              <a:gd name="adj" fmla="val 32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430000" y="4229100"/>
            <a:ext cx="57150" cy="17526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658600" y="4914900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658600" y="49149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30100" y="4343400"/>
            <a:ext cx="4705350" cy="15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OFFSET 3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앞 3행을 건너뛰고 4등부터 3행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668000" y="5177028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915650" y="5005578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15650" y="500557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30000" y="6115050"/>
            <a:ext cx="5715000" cy="1752600"/>
          </a:xfrm>
          <a:prstGeom prst="roundRect">
            <a:avLst>
              <a:gd name="adj" fmla="val 32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430000" y="6115050"/>
            <a:ext cx="57150" cy="17526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658600" y="6800850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658600" y="68008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30100" y="6229350"/>
            <a:ext cx="4705350" cy="15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9행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건너뛸 수, 가져올 수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OFFSET 형과 반대로 읽힌다 — 헷갈리면 OFFSET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5주차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6. LIMIT — 결과 제한과 페이징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LIMIT을 쓸 때 기억할 세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ORDER BY와 함께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정렬 없이 LIMIT만 쓰면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반환되는 행이 매번 달라질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페이징 공식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LIMIT size OFFSET (N-1) * size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2페이지·5건 → LIMIT 5 OFFSET 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MySQL 밖에서는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LIMIT 대신 Oracle FETCH FIRST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SQL Server TOP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1페이지는 OFFSET 0, 3페이지는 OFFSET 10 — 시작 위치가 0부터 세어진다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5주차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7.1 문자열 함수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붙이고, 자르고, 찾고, 바꾸기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함수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380238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104120" y="2781300"/>
            <a:ext cx="508254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224760" y="2781300"/>
            <a:ext cx="192024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224760" y="2781300"/>
            <a:ext cx="1920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5082540" cy="381000"/>
          </a:xfrm>
          <a:prstGeom prst="roundRect">
            <a:avLst>
              <a:gd name="adj" fmla="val 1000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489204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CONCAT(s1,s2,…)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448050"/>
            <a:ext cx="3802380" cy="381000"/>
          </a:xfrm>
          <a:prstGeom prst="roundRect">
            <a:avLst>
              <a:gd name="adj" fmla="val 10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8890" y="3448050"/>
            <a:ext cx="361188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문자열 연결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04120" y="3448050"/>
            <a:ext cx="5082540" cy="381000"/>
          </a:xfrm>
          <a:prstGeom prst="roundRect">
            <a:avLst>
              <a:gd name="adj" fmla="val 10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99370" y="3448050"/>
            <a:ext cx="489204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CONCAT('다온','유통')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5224760" y="3448050"/>
            <a:ext cx="1920240" cy="381000"/>
          </a:xfrm>
          <a:prstGeom prst="roundRect">
            <a:avLst>
              <a:gd name="adj" fmla="val 10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5320010" y="3448050"/>
            <a:ext cx="172974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다온유통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3905250"/>
            <a:ext cx="5082540" cy="381000"/>
          </a:xfrm>
          <a:prstGeom prst="roundRect">
            <a:avLst>
              <a:gd name="adj" fmla="val 1000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3905250"/>
            <a:ext cx="489204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CONCAT_WS(구분자,…)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3905250"/>
            <a:ext cx="3802380" cy="381000"/>
          </a:xfrm>
          <a:prstGeom prst="roundRect">
            <a:avLst>
              <a:gd name="adj" fmla="val 10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8890" y="3905250"/>
            <a:ext cx="361188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구분자로 연결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04120" y="3905250"/>
            <a:ext cx="5082540" cy="381000"/>
          </a:xfrm>
          <a:prstGeom prst="roundRect">
            <a:avLst>
              <a:gd name="adj" fmla="val 10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99370" y="3905250"/>
            <a:ext cx="489204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CONCAT_WS('-','010','1234')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5224760" y="3905250"/>
            <a:ext cx="1920240" cy="381000"/>
          </a:xfrm>
          <a:prstGeom prst="roundRect">
            <a:avLst>
              <a:gd name="adj" fmla="val 10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5320010" y="3905250"/>
            <a:ext cx="172974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010-1234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362450"/>
            <a:ext cx="5082540" cy="381000"/>
          </a:xfrm>
          <a:prstGeom prst="roundRect">
            <a:avLst>
              <a:gd name="adj" fmla="val 1000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362450"/>
            <a:ext cx="489204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LENGTH(s) / CHAR_LENGTH(s)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4362450"/>
            <a:ext cx="3802380" cy="381000"/>
          </a:xfrm>
          <a:prstGeom prst="roundRect">
            <a:avLst>
              <a:gd name="adj" fmla="val 10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4362450"/>
            <a:ext cx="361188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바이트 수 / 글자 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04120" y="4362450"/>
            <a:ext cx="5082540" cy="381000"/>
          </a:xfrm>
          <a:prstGeom prst="roundRect">
            <a:avLst>
              <a:gd name="adj" fmla="val 10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99370" y="4362450"/>
            <a:ext cx="489204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CHAR_LENGTH('다온유통')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5224760" y="4362450"/>
            <a:ext cx="1920240" cy="381000"/>
          </a:xfrm>
          <a:prstGeom prst="roundRect">
            <a:avLst>
              <a:gd name="adj" fmla="val 10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5320010" y="4362450"/>
            <a:ext cx="172974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4819650"/>
            <a:ext cx="5082540" cy="381000"/>
          </a:xfrm>
          <a:prstGeom prst="roundRect">
            <a:avLst>
              <a:gd name="adj" fmla="val 1000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4819650"/>
            <a:ext cx="489204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UPPER(s) / LOWER(s)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63640" y="4819650"/>
            <a:ext cx="3802380" cy="381000"/>
          </a:xfrm>
          <a:prstGeom prst="roundRect">
            <a:avLst>
              <a:gd name="adj" fmla="val 10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58890" y="4819650"/>
            <a:ext cx="361188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대·소문자 변환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104120" y="4819650"/>
            <a:ext cx="5082540" cy="381000"/>
          </a:xfrm>
          <a:prstGeom prst="roundRect">
            <a:avLst>
              <a:gd name="adj" fmla="val 10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99370" y="4819650"/>
            <a:ext cx="489204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UPPER('sql')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5224760" y="4819650"/>
            <a:ext cx="1920240" cy="381000"/>
          </a:xfrm>
          <a:prstGeom prst="roundRect">
            <a:avLst>
              <a:gd name="adj" fmla="val 10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5320010" y="4819650"/>
            <a:ext cx="172974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SQL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276850"/>
            <a:ext cx="5082540" cy="381000"/>
          </a:xfrm>
          <a:prstGeom prst="roundRect">
            <a:avLst>
              <a:gd name="adj" fmla="val 1000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276850"/>
            <a:ext cx="489204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SUBSTRING(s,시작,길이)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63640" y="5276850"/>
            <a:ext cx="3802380" cy="381000"/>
          </a:xfrm>
          <a:prstGeom prst="roundRect">
            <a:avLst>
              <a:gd name="adj" fmla="val 10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58890" y="5276850"/>
            <a:ext cx="361188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부분 문자열 (1부터 시작)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104120" y="5276850"/>
            <a:ext cx="5082540" cy="381000"/>
          </a:xfrm>
          <a:prstGeom prst="roundRect">
            <a:avLst>
              <a:gd name="adj" fmla="val 10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199370" y="5276850"/>
            <a:ext cx="489204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SUBSTRING('DATABASE',1,4)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5224760" y="5276850"/>
            <a:ext cx="1920240" cy="381000"/>
          </a:xfrm>
          <a:prstGeom prst="roundRect">
            <a:avLst>
              <a:gd name="adj" fmla="val 10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5320010" y="5276850"/>
            <a:ext cx="172974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DATA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5734050"/>
            <a:ext cx="5082540" cy="381000"/>
          </a:xfrm>
          <a:prstGeom prst="roundRect">
            <a:avLst>
              <a:gd name="adj" fmla="val 1000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5734050"/>
            <a:ext cx="489204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LEFT(s,n) / RIGHT(s,n)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63640" y="5734050"/>
            <a:ext cx="3802380" cy="381000"/>
          </a:xfrm>
          <a:prstGeom prst="roundRect">
            <a:avLst>
              <a:gd name="adj" fmla="val 10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58890" y="5734050"/>
            <a:ext cx="361188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왼쪽·오른쪽 n글자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0104120" y="5734050"/>
            <a:ext cx="5082540" cy="381000"/>
          </a:xfrm>
          <a:prstGeom prst="roundRect">
            <a:avLst>
              <a:gd name="adj" fmla="val 10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199370" y="5734050"/>
            <a:ext cx="489204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LEFT('C001',1)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5224760" y="5734050"/>
            <a:ext cx="1920240" cy="381000"/>
          </a:xfrm>
          <a:prstGeom prst="roundRect">
            <a:avLst>
              <a:gd name="adj" fmla="val 10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5320010" y="5734050"/>
            <a:ext cx="172974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3000" y="6191250"/>
            <a:ext cx="5082540" cy="381000"/>
          </a:xfrm>
          <a:prstGeom prst="roundRect">
            <a:avLst>
              <a:gd name="adj" fmla="val 1000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38250" y="6191250"/>
            <a:ext cx="489204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TRIM(s) / LTRIM / RTRIM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263640" y="6191250"/>
            <a:ext cx="3802380" cy="381000"/>
          </a:xfrm>
          <a:prstGeom prst="roundRect">
            <a:avLst>
              <a:gd name="adj" fmla="val 10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58890" y="6191250"/>
            <a:ext cx="361188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공백 제거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104120" y="6191250"/>
            <a:ext cx="5082540" cy="381000"/>
          </a:xfrm>
          <a:prstGeom prst="roundRect">
            <a:avLst>
              <a:gd name="adj" fmla="val 10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199370" y="6191250"/>
            <a:ext cx="489204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TRIM('  db  ')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5224760" y="6191250"/>
            <a:ext cx="1920240" cy="381000"/>
          </a:xfrm>
          <a:prstGeom prst="roundRect">
            <a:avLst>
              <a:gd name="adj" fmla="val 10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5320010" y="6191250"/>
            <a:ext cx="172974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143000" y="6648450"/>
            <a:ext cx="5082540" cy="381000"/>
          </a:xfrm>
          <a:prstGeom prst="roundRect">
            <a:avLst>
              <a:gd name="adj" fmla="val 1000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238250" y="6648450"/>
            <a:ext cx="489204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REPLACE(s,old,new)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263640" y="6648450"/>
            <a:ext cx="3802380" cy="381000"/>
          </a:xfrm>
          <a:prstGeom prst="roundRect">
            <a:avLst>
              <a:gd name="adj" fmla="val 10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358890" y="6648450"/>
            <a:ext cx="361188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문자열 치환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104120" y="6648450"/>
            <a:ext cx="5082540" cy="381000"/>
          </a:xfrm>
          <a:prstGeom prst="roundRect">
            <a:avLst>
              <a:gd name="adj" fmla="val 10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199370" y="6648450"/>
            <a:ext cx="489204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REPLACE('A-B','-','/')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5224760" y="6648450"/>
            <a:ext cx="1920240" cy="381000"/>
          </a:xfrm>
          <a:prstGeom prst="roundRect">
            <a:avLst>
              <a:gd name="adj" fmla="val 10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5320010" y="6648450"/>
            <a:ext cx="172974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A/B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143000" y="7105650"/>
            <a:ext cx="5082540" cy="381000"/>
          </a:xfrm>
          <a:prstGeom prst="roundRect">
            <a:avLst>
              <a:gd name="adj" fmla="val 1000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238250" y="7105650"/>
            <a:ext cx="489204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LPAD(s,n,p) / RPAD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263640" y="7105650"/>
            <a:ext cx="3802380" cy="381000"/>
          </a:xfrm>
          <a:prstGeom prst="roundRect">
            <a:avLst>
              <a:gd name="adj" fmla="val 10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358890" y="7105650"/>
            <a:ext cx="361188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지정 길이로 채우기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104120" y="7105650"/>
            <a:ext cx="5082540" cy="381000"/>
          </a:xfrm>
          <a:prstGeom prst="roundRect">
            <a:avLst>
              <a:gd name="adj" fmla="val 10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99370" y="7105650"/>
            <a:ext cx="489204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LPAD('7',3,'0')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5224760" y="7105650"/>
            <a:ext cx="1920240" cy="381000"/>
          </a:xfrm>
          <a:prstGeom prst="roundRect">
            <a:avLst>
              <a:gd name="adj" fmla="val 10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5320010" y="7105650"/>
            <a:ext cx="172974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007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143000" y="7562850"/>
            <a:ext cx="5082540" cy="381000"/>
          </a:xfrm>
          <a:prstGeom prst="roundRect">
            <a:avLst>
              <a:gd name="adj" fmla="val 1000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238250" y="7562850"/>
            <a:ext cx="489204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INSTR(s,부분)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263640" y="7562850"/>
            <a:ext cx="3802380" cy="381000"/>
          </a:xfrm>
          <a:prstGeom prst="roundRect">
            <a:avLst>
              <a:gd name="adj" fmla="val 10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58890" y="7562850"/>
            <a:ext cx="361188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위치 반환 (없으면 0)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0104120" y="7562850"/>
            <a:ext cx="5082540" cy="381000"/>
          </a:xfrm>
          <a:prstGeom prst="roundRect">
            <a:avLst>
              <a:gd name="adj" fmla="val 10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199370" y="7562850"/>
            <a:ext cx="489204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INSTR('database','base')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5224760" y="7562850"/>
            <a:ext cx="1920240" cy="381000"/>
          </a:xfrm>
          <a:prstGeom prst="roundRect">
            <a:avLst>
              <a:gd name="adj" fmla="val 10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5320010" y="7562850"/>
            <a:ext cx="172974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5주차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7.1 문자열 함수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저장된 문자열을 보고서 형태로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869502"/>
            <a:ext cx="8953500" cy="35490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869502"/>
            <a:ext cx="47625" cy="35490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4289108"/>
            <a:ext cx="8953500" cy="35490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4289108"/>
            <a:ext cx="47625" cy="35490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4998910"/>
            <a:ext cx="8953500" cy="35490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4998910"/>
            <a:ext cx="47625" cy="35490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6063615"/>
            <a:ext cx="8953500" cy="35490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6063615"/>
            <a:ext cx="47625" cy="35490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code-lineno"/>
          <p:cNvSpPr txBox="1"/>
          <p:nvPr/>
        </p:nvSpPr>
        <p:spPr>
          <a:xfrm>
            <a:off x="1143000" y="2514600"/>
            <a:ext cx="457200" cy="5181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</p:txBody>
      </p:sp>
      <p:sp>
        <p:nvSpPr>
          <p:cNvPr id="19" name="deckgen:code"/>
          <p:cNvSpPr txBox="1"/>
          <p:nvPr/>
        </p:nvSpPr>
        <p:spPr>
          <a:xfrm>
            <a:off x="1885950" y="2514600"/>
            <a:ext cx="8610600" cy="5181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고객 이름과 등급을 결합하여 표시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CONCAT(name, ' (', grade, ')') AS 고객표기 FROM customers;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이메일에서 아이디 부분만 추출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email,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SUBSTRING(email, 1, INSTR(email,'@') - 1) AS 아이디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customers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WHERE  email IS NOT NULL;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성(첫 글자)만 추출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LEFT(name, 1) AS 성, name FROM customers;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68000" y="3027902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915650" y="2856452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15650" y="285645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0" y="2343150"/>
            <a:ext cx="5715000" cy="1281112"/>
          </a:xfrm>
          <a:prstGeom prst="roundRect">
            <a:avLst>
              <a:gd name="adj" fmla="val 44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0" y="2343150"/>
            <a:ext cx="57150" cy="1281112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658600" y="2793206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658600" y="2793206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30100" y="2457450"/>
            <a:ext cx="4705350" cy="1052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네 조각 잇기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예: 한가람 (VIP)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68000" y="4447508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915650" y="4276058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15650" y="427605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0" y="3757612"/>
            <a:ext cx="5715000" cy="1281112"/>
          </a:xfrm>
          <a:prstGeom prst="roundRect">
            <a:avLst>
              <a:gd name="adj" fmla="val 44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0" y="3757612"/>
            <a:ext cx="57150" cy="1281112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58600" y="4207669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58600" y="420766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30100" y="3871912"/>
            <a:ext cx="4705350" cy="1052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@ 앞까지 자르기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INSTR로 @ 위치를 찾고 그 앞 글자까지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68000" y="5157311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915650" y="4985861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15650" y="4985861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430000" y="5172075"/>
            <a:ext cx="5715000" cy="1281112"/>
          </a:xfrm>
          <a:prstGeom prst="roundRect">
            <a:avLst>
              <a:gd name="adj" fmla="val 44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430000" y="5172075"/>
            <a:ext cx="57150" cy="1281112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658600" y="5622131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658600" y="5622131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230100" y="5286375"/>
            <a:ext cx="4705350" cy="1052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8행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NULL 미리 빼기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C005는 email NULL이라 INSTR도 NULL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668000" y="6222016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915650" y="6050566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15650" y="6050566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430000" y="6586538"/>
            <a:ext cx="5715000" cy="1281112"/>
          </a:xfrm>
          <a:prstGeom prst="roundRect">
            <a:avLst>
              <a:gd name="adj" fmla="val 44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430000" y="6586538"/>
            <a:ext cx="57150" cy="1281112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658600" y="7036594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658600" y="7036594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230100" y="6700838"/>
            <a:ext cx="4705350" cy="1052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11행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LEFT(name, 1)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왼쪽 한 글자 — 한국 이름의 성씨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5주차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7.2 숫자 함수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반올림·버림·올림·나머지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함수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348234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64040" y="2781300"/>
            <a:ext cx="508254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6404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584680" y="2781300"/>
            <a:ext cx="256032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584680" y="2781300"/>
            <a:ext cx="25603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ROUND(n,자릿수)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344805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8850" y="344805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반올림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64040" y="34480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59290" y="34480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ROUND(3.856, 1)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584680" y="3448050"/>
            <a:ext cx="25603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679930" y="3448050"/>
            <a:ext cx="23698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4337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4337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TRUNCATE(n,자릿수)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414337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8850" y="414337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버림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64040" y="41433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59290" y="41433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TRUNCATE(3.856, 1)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584680" y="4143375"/>
            <a:ext cx="25603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679930" y="4143375"/>
            <a:ext cx="23698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3870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3870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CEIL(n) / FLOOR(n)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483870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483870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올림 / 내림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64040" y="483870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59290" y="483870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CEIL(3.1), FLOOR(3.9)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584680" y="4838700"/>
            <a:ext cx="25603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679930" y="4838700"/>
            <a:ext cx="23698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4, 3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53402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53402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ABS(n)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0" y="553402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38850" y="553402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절댓값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464040" y="553402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59290" y="553402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ABS(-7)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584680" y="5534025"/>
            <a:ext cx="25603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679930" y="5534025"/>
            <a:ext cx="23698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22935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22935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MOD(a,b) 또는 a % b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0" y="622935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38850" y="622935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나머지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464040" y="62293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59290" y="62293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MOD(10,3)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4584680" y="6229350"/>
            <a:ext cx="25603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4679930" y="6229350"/>
            <a:ext cx="23698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692467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692467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POW(a,b) / SQRT(n)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0" y="692467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038850" y="692467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거듭제곱 / 제곱근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464040" y="69246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559290" y="69246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POW(2,10), SQRT(16)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4584680" y="6924675"/>
            <a:ext cx="25603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4679930" y="6924675"/>
            <a:ext cx="23698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1024, 4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5주차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7.3 날짜 함수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날짜 추출·변환·계산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함수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348234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4080" y="2781300"/>
            <a:ext cx="736092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0" y="2781300"/>
            <a:ext cx="73609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NOW() / SYSDATE()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현재 날짜와 시각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84080" y="3448050"/>
            <a:ext cx="73609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9330" y="3448050"/>
            <a:ext cx="71704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2026-08-30 14:30:00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50825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48920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CURDATE() / CURTIME()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044043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044043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현재 날짜 / 시각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84080" y="4044043"/>
            <a:ext cx="73609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9330" y="4044043"/>
            <a:ext cx="71704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2026-08-30 / 14:30:00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50825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48920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YEAR(d), MONTH(d), DAY(d)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640036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640036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연·월·일 추출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784080" y="4640036"/>
            <a:ext cx="73609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79330" y="4640036"/>
            <a:ext cx="71704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YEAR('2026-03-02') → 2026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50825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48920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DATE_FORMAT(d, 포맷)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236029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236029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날짜 형식 변환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84080" y="5236029"/>
            <a:ext cx="73609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9330" y="5236029"/>
            <a:ext cx="71704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DATE_FORMAT(NOW(),'%Y년 %m월 %d일')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50825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48920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DATEDIFF(d1,d2)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63640" y="5832021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8890" y="5832021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날짜의 일수 차이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784080" y="5832021"/>
            <a:ext cx="73609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79330" y="5832021"/>
            <a:ext cx="71704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DATEDIFF('2026-03-02','2026-03-01') → 1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50825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48920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DATE_ADD(d, INTERVAL n 단위)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63640" y="6428014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58890" y="6428014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날짜 더하기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784080" y="6428014"/>
            <a:ext cx="73609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879330" y="6428014"/>
            <a:ext cx="71704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DATE_ADD(CURDATE(), INTERVAL 7 DAY)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50825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48920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TIMESTAMPDIFF(단위,d1,d2)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63640" y="7024007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58890" y="7024007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단위별 차이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784080" y="7024007"/>
            <a:ext cx="73609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879330" y="7024007"/>
            <a:ext cx="71704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TIMESTAMPDIFF(YEAR, joined_date, NOW())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5주차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7.3 날짜 함수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가입일 다듬기와 기간 계산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843212"/>
            <a:ext cx="8953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843212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3171825"/>
            <a:ext cx="8953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3171825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4814887"/>
            <a:ext cx="8953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4814887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6129338"/>
            <a:ext cx="8953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6129338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</p:txBody>
      </p:sp>
      <p:sp>
        <p:nvSpPr>
          <p:cNvPr id="19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name,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DATE_FORMAT(joined_date, '%Y년 %m월 %d일')       AS 가입일,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TIMESTAMPDIFF(YEAR, joined_date, CURDATE())      AS 가입연차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customers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ORDER BY joined_date;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-- 2024년에 가입한 고객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name FROM customers WHERE YEAR(joined_date) = 2024;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결과: 한가람, 오세영, 장민혁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주문일을 월 단위로 표기 (6주차 월별 집계의 재료)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order_id, DATE_FORMAT(order_date, '%Y-%m') AS 주문월 FROM orders;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68000" y="3152775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915650" y="2981325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15650" y="29813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0" y="23431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0" y="23431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658600" y="29559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658600" y="29559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30100" y="24574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2–3행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형식 변환과 가입 연차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2024년 03월 12일 형태 · 오늘까지 만 몇 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68000" y="4960144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915650" y="4788694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15650" y="4788694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0" y="40830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0" y="40830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58600" y="46958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58600" y="46958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30100" y="41973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8행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YEAR()로 연도만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BETWEEN '2024-01-01' AND '2024-12-31'과 같은 결과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68000" y="6274594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915650" y="6103144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15650" y="6103144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430000" y="58229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430000" y="58229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658600" y="64357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658600" y="64357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230100" y="59372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12행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'%Y-%m'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달 주문이 같은 값 — GROUP BY의 기준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컬럼에 함수를 씌우면 인덱스를 못 쓴다 — 성능이 중요하면 joined_date &gt;= '2024-01-01' AND joined_date &lt; '2025-01-01'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5주차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57500"/>
            <a:ext cx="16002000" cy="1416368"/>
          </a:xfrm>
          <a:prstGeom prst="roundRect">
            <a:avLst>
              <a:gd name="adj" fmla="val 4034"/>
            </a:avLst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8300" y="3295650"/>
            <a:ext cx="15011400" cy="8448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SQL 문의 실행 순서로 옳은 것은?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712018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8750" y="5054918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750" y="5169218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14550" y="4712018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SELECT → FROM → WHERE → ORDER BY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34500" y="4712018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20250" y="5054918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20250" y="5169218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06050" y="4712018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FROM → WHERE → SELECT → ORDER BY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6140768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28750" y="6483668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28750" y="6597968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14550" y="6140768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WHERE → FROM → SELECT → ORDER BY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34500" y="6140768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20250" y="6483668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20250" y="6597968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06050" y="6140768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FROM → SELECT → WHERE → ORDER BY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5주차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정답 및 해설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048000"/>
            <a:ext cx="16002000" cy="1428750"/>
          </a:xfrm>
          <a:prstGeom prst="roundRect">
            <a:avLst>
              <a:gd name="adj" fmla="val 4000"/>
            </a:avLst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8300" y="3333750"/>
            <a:ext cx="2095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80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정답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38300" y="3676650"/>
            <a:ext cx="150114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 FROM → WHERE → SELECT → ORDER BY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4953000"/>
            <a:ext cx="1600200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4953000"/>
            <a:ext cx="57150" cy="28575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81150" y="5314950"/>
            <a:ext cx="28575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해설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150" y="5772150"/>
            <a:ext cx="151257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실행 순서는 FROM → WHERE → GROUP BY → HAVING → SELECT → ORDER BY → LIMIT 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5주차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핵심 요약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17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17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17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17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 순서 FROM → WHERE → GROUP BY → HAVING → SELECT → ORDER BY → LIMIT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66236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66236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66236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66236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SELECT의 별칭은 WHERE에서 불가, ORDER BY에서 가능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45293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45293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45293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45293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BETWEEN은 양쪽 경계 포함, LIKE의 %는 0개 이상·_는 정확히 1개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24351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24351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24351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24351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NULL 비교는 IS NULL / IS NOT NULL — = NULL은 0행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0340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60340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60340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60340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LIMIT은 항상 ORDER BY와 함께, 문자열 연결은 CONCAT()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NULL과의 비교는 UNKNOWN — 오류 없이 행이 빠진다는 점을 기억해 두세요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5주차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다음 주차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6주차 · 집계와 그룹화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집계 함수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COUNT·SUM·AVG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NULL을 세는 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GROUP BY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등급별·월별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그룹으로 묶기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HAVING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그룹에 거는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소계와 총계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WITH ROLLUP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취소 주문 제외 매출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5주차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kore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2500"/>
            <a:ext cx="3409950" cy="4191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5주차 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학습 마무리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조회의 기본기를 다음 주 집계·그룹화로 이어 갑니다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작성 순서와 실행 순서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WHERE 조건과 LIKE 패턴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IS NULL과 3값 논리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ORDER BY·LIMIT·내장 함수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이어지는 활동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5주차 실습 10문항 · 퀴즈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