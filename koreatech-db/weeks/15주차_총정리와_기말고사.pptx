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15주차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총정리와 기말고사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치트시트 · 함정 TOP 10 · 기말 안내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학기 내용을 주차별 흐름으로 구조화해 설명한다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05212"/>
            <a:ext cx="142875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05212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05212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05212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핵심 문법을 요약하고 자주 틀리는 SQL 함정 10가지를 바로잡는다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338638"/>
            <a:ext cx="142875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338638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338638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338638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서브쿼리와 집합 연산으로 복합 질의를 작성한다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072062"/>
            <a:ext cx="142875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072062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072062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072062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뷰·인덱스·권한(DCL)의 용도를 구분해 적용한다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805488"/>
            <a:ext cx="142875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805488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805488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805488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ERD와 정규화(1NF~3NF)로 올바른 테이블을 설계한다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538912"/>
            <a:ext cx="142875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538912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538912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538912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웹페이지와 DB를 연동해 CRUD를 구현한다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272338"/>
            <a:ext cx="142875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9700" y="7272338"/>
            <a:ext cx="8953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71750" y="7272338"/>
            <a:ext cx="1457325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7500" y="7272338"/>
            <a:ext cx="1400175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시나리오를 SQL 스크립트로 작성하고 해석한다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주에 다루는 여섯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15주 여정 한눈에 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문법 치트시트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자주 틀리는 포인트 TOP 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시험 방식 — 100점 통과제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주차별 출제 비중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응시와 제출 방법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15주 여정 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1~8주차 — 데이터베이스에서 조인까지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4020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3180" y="2781300"/>
            <a:ext cx="49225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3180" y="2781300"/>
            <a:ext cx="4922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한 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4020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211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3180" y="3448050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8430" y="3448050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강의 소개와 데이터베이스 개요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96012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94107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관리의 한계를 넘어 DBMS가 데이터를 통합 관리한다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14020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1211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83180" y="3969544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8430" y="3969544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관계형 데이터베이스 기초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3969544"/>
            <a:ext cx="96012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9050" y="3969544"/>
            <a:ext cx="94107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테이블·기본키·외래키로 데이터를 연결하고 무결성을 지킨다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14020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1211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83180" y="4491038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8430" y="4491038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개요와 DDL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491038"/>
            <a:ext cx="96012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4491038"/>
            <a:ext cx="94107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CREATE/ALTER/DROP으로 구조를 정의하고 제약조건으로 규칙을 박는다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14020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1211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83180" y="5012531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78430" y="5012531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DML 기초와 트랜잭션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5012531"/>
            <a:ext cx="96012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5012531"/>
            <a:ext cx="94107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INSERT/UPDATE/DELETE, 그리고 COMMIT/ROLLBACK으로 묶어 처리한다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14020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1211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83180" y="5534025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8430" y="5534025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기본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5534025"/>
            <a:ext cx="96012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5534025"/>
            <a:ext cx="94107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WHERE로 거르고 ORDER BY로 정렬한다 — NULL은 IS NULL로만 판정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14020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1211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83180" y="6055519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78430" y="6055519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집계와 그룹화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43800" y="6055519"/>
            <a:ext cx="96012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9050" y="6055519"/>
            <a:ext cx="94107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BY로 묶고, 행은 WHERE·그룹은 HAVING으로 거른다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14020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1211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83180" y="6577012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78430" y="6577012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조인(JOIN)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43800" y="6577012"/>
            <a:ext cx="96012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39050" y="6577012"/>
            <a:ext cx="94107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INNER는 매칭만, LEFT는 왼쪽 전체 — 조건 누락은 카티전 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140208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121158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83180" y="7098506"/>
            <a:ext cx="492252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78430" y="7098506"/>
            <a:ext cx="473202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중간고사 (10/26)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543800" y="7098506"/>
            <a:ext cx="96012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39050" y="7098506"/>
            <a:ext cx="94107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1~7주차 범위 평가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「핵심 한 줄」이 바로 떠오르지 않는 주차가 이번 주 복습 대상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15주 여정 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9~15주차 — 서브쿼리에서 경영 리포트까지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4020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4020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83180" y="2781300"/>
            <a:ext cx="49225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83180" y="2781300"/>
            <a:ext cx="49225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한 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83180" y="3448050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78430" y="3448050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서브쿼리와 집합 연산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쿼리 속의 쿼리 — 스칼라·IN·EXISTS, UNION으로 결과를 합친다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83180" y="4044043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8430" y="4044043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뷰·인덱스·권한(DCL)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044043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9050" y="4044043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뷰로 감싸고 인덱스로 빠르게, GRANT/REVOKE로 권한을 관리한다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83180" y="4640036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78430" y="4640036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설계와 정규화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640036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4640036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ERD로 그리고 이상 현상을 정규화(1NF~3NF)로 제거한다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83180" y="5236029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78430" y="5236029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웹과 DB 연동 1 (조회)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43800" y="5236029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39050" y="5236029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화면에서 SELECT 결과를 받아 보여준다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83180" y="5832021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78430" y="5832021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웹과 DB 연동 2 (CRUD)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43800" y="5832021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9050" y="5832021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폼의 입력·수정·삭제를 DB에 안전하게 반영한다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583180" y="6428014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78430" y="6428014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데이터 SQL 종합 실습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43800" y="6428014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9050" y="6428014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질문 → SQL → 해석 한 줄, 리포트의 3단 구성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14020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12115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583180" y="7024007"/>
            <a:ext cx="49225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78430" y="7024007"/>
            <a:ext cx="47320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총정리 + 기말고사 (12/14)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43800" y="7024007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39050" y="7024007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치트시트와 함정 복습으로 마무리하고 기말평가를 응시한다 (이번 주)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「핵심 한 줄」이 바로 떠오르지 않는 주차가 이번 주 복습 대상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15주 여정 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복습 요령과 일정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스스로 말해 보기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표를 가리고 주차 제목만 보며 핵심 한 줄을 말해 본다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막히는 주차만 해당 주차 페이지로 돌아간다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3429000"/>
            <a:ext cx="78105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3429000"/>
            <a:ext cx="78105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752850"/>
            <a:ext cx="71628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주씩 밀린 일정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10/5(월) 대체휴일 휴강으로 6주차부터 한 주씩 밀렸다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12/7(월) 보강일 = 14주차 · 12/14 = 15주차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눈으로 다시 읽는 것보다 스스로 말해 보는 것이 훨씬 효과적이다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핵심 문법 치트시트 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DDL — 표의 틀을 만들고 고치고 지운다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TABLE managers (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mgr_id  CHAR(4)     PRIMARY KEY,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name    VARCHAR(20) NOT NULL,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region  VARCHAR(20) NOT NULL DEFAULT '수도권'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managers ADD COLUMN phone VARCHAR(20);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managers MODIFY COLUMN name VARCHAR(40) NOT NULL;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ALTER TABLE managers DROP COLUMN phone;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DROP TABLE managers;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3주차 · 데이터는 유지한 채 열을 더하거나 규격을 바꿀 때는 ALTER, DROP TABLE은 안의 데이터까지 전부 사라진다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핵심 문법 치트시트 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DML과 트랜잭션 — 넣고 고치고 지우고 묶는다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INSERT INTO customers (cust_id, name, joined_date)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VALUES ('C011', '이도윤', '2026-08-01');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UPDATE customers SET points = points + 500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cust_id = 'C011';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DELETE FROM customers WHERE cust_id = 'C011';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START TRANSACTION;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UPDATE products SET stock = stock - 1 WHERE prod_id = 'P001';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COMMIT;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4주차 · UPDATE·DELETE에 WHERE가 없으면 전 행이 바뀐다 · 잘못했으면 COMMIT 대신 ROLLBACK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핵심 문법 치트시트 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 기본 — 거르고 정렬하기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61873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582701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25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name, price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products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category = '가전' AND price &gt;= 40000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  BY price DESC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LIMIT  5;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name LIKE '%세트%'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price BETWEEN 10000 AND 50000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grade IN ('VIP', 'GOLD')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email IS NULL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 조건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조건을 AND로 동시에 만족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정렬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 = 큰 값 먼저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LIMIT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위에서 5행만 — 정렬 뒤에 적용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68000" y="543991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15650" y="526846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15650" y="526846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7–10행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조건식 모음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패턴 · 범위(양 끝 포함) · 목록 · NULL 판정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5주차 · = NULL 은 항상 실패한다 — NULL 판정은 IS NULL로만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핵심 문법 치트시트 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집계와 그룹화 — 실행 순서대로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category,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COUNT(*)          AS 상품수,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ROUND(AVG(price)) AS 평균가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products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stock &gt; 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category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HAVING COUNT(*) &gt;= 2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  BY 평균가 DESC;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WHERE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행을 먼저 거른다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GROUP BY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카테고리로 묶는다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88784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71639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71639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HAVING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그룹을 거른다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④ ORDER BY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마지막에 정렬 — SELECT 별칭을 쓸 수 있다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6주차 · COUNT(*)는 NULL 포함 행 수, COUNT(컬럼)은 NULL 제외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핵심 문법 치트시트 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 — 흩어진 표를 공통 열로 잇는다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656310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656310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25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o.order_id, c.name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orders o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customers c ON o.cust_id = c.cust_id;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c.name, o.order_id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 c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LEFT   JOIN orders o ON c.cust_id = o.cust_id;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c.name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 c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LEFT   JOIN orders o ON c.cust_id = o.cust_id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o.order_id IS NULL;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1–3행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INNER JOIN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모두 매칭되는 행만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5–7행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LEFT JOIN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 전체 + 매칭 없으면 NULL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68000" y="672807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15650" y="655662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15650" y="655662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안티 조인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번도 안 산 고객 — NULL이 된 행만 남긴다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7주차 · ON 은 두 표를 잇는 조건 — o. · c. 는 어느 표의 열인지 알려 주는 별칭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핵심 문법 치트시트 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서브쿼리와 집합 연산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56357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56357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881628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881628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906899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906899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590413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590413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932170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932170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6273927"/>
            <a:ext cx="89535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6273927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25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name, price FROM products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price &gt; (SELECT AVG(price) FROM products);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 FROM customers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cust_id IN (SELECT cust_id FROM orders);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 FROM customers c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EXISTS (SELECT 1 FROM orders o WHERE o.cust_id = c.cust_id);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 FROM customers WHERE grade = 'VIP'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UNION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 FROM customers WHERE city = '서울';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283730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266585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266585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1–2행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스칼라 서브쿼리</a:t>
            </a:r>
          </a:p>
          <a:p>
            <a:pPr>
              <a:lnSpc>
                <a:spcPct val="13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 기준(평균가)이 데이터에서 나온다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40334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38620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38620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</a:t>
            </a:r>
          </a:p>
          <a:p>
            <a:pPr>
              <a:lnSpc>
                <a:spcPct val="13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주문표의 고객번호 목록에 포함되면 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668000" y="505872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915650" y="488727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915650" y="488727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EXISTS</a:t>
            </a:r>
          </a:p>
          <a:p>
            <a:pPr>
              <a:lnSpc>
                <a:spcPct val="13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그런 행이 하나라도 있는가 — NULL이 섞여도 안전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68000" y="608399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15650" y="591254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915650" y="591254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10–12행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UNION</a:t>
            </a:r>
          </a:p>
          <a:p>
            <a:pPr>
              <a:lnSpc>
                <a:spcPct val="13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명단을 이어 붙인다 — 중복 제거, ALL이면 전부 유지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9주차 · 괄호 안의 쿼리가 먼저 실행되어 그 결과를 바깥 쿼리가 쓴다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핵심 문법 치트시트 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뷰·인덱스·DCL — 편하게 · 빠르게 · 안전하게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43212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4321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17182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17182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500438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500438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3829050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3829050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448627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448627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5143500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5143500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14500" y="5472112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14500" y="547211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2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VIEW v_sales AS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o.order_id, o.order_date, i.prod_id, i.qty * i.unit_price AS 금액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orders o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order_items i ON o.order_id = i.order_id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o.status &lt;&gt; '취소';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INDEX idx_orders_date ON orders (order_date);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 SELECT ON daon.* TO 'intern'@'localhost';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REVOKE SELECT ON daon.* FROM 'intern'@'localhost';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31708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14563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1456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1–5행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제외를 뷰 안에 넣어 두면 쓰는 사람이 잊어도 빠진다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63153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46008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46008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날짜로 거르는 조회가 잦고 표가 클 때 — 책의 색인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52887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51173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51173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GRANT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인턴에게 조회(SELECT)만 허용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68000" y="561736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0915650" y="544591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15650" y="544591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REVOKE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준 권한을 다시 거둔다 — 퇴사·역할 변경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10주차 · daon.* 는 daon DB의 모든 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핵심 문법 치트시트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MySQL에만 있는 표기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다른 DBMS · 표준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문자열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9146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30984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CONCAT()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다른 DBMS는 ||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8671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8671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8671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 대체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9433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41271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IFNULL()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8671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표준은 COALESCE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8958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8958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8958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자동 번호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9720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51558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AUTO_INCREMENT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9245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59245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09700" y="59245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상위 N개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72100" y="60007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deckgen:code"/>
          <p:cNvSpPr txBox="1"/>
          <p:nvPr/>
        </p:nvSpPr>
        <p:spPr>
          <a:xfrm>
            <a:off x="5524500" y="61845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LIMIT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기말은 MySQL 8.0 기준으로 출제된다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자주 틀리는 포인트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1~5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함정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왜 틀리는가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바로잡기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1051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051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1. WHERE salary = NULL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2004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비교는 결과가 항상 「알 수 없음」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2004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1051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1051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IS NULL / IS NOT NULL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38290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82905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0386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038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38290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2. WHERE 없는 UPDATE/DELETE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133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382905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382905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 행이 한꺼번에 바뀐다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133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38290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382905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0386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038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38290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조건의 SELECT로 대상을 먼저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7625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476250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49720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4972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47625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 HAVING과 WHERE 혼동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067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476250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476250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COUNT(*) &gt; 2 는 오류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067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47625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476250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49720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4972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47625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 조건은 WHERE, 집계 결과 조건만 HAVING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56959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569595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59055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59055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56959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4. 조인 조건 누락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60007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569595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569595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M×N행의 카티전 곱 발생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60007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56959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569595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59055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59055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56959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 행 수가 비정상적으로 크면 먼저 의심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3000" y="66294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" y="662940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71600" y="68389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683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4050" y="66294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5. ONLY_FULL_GROUP_BY 오류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6572250" y="6934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96100" y="662940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62800" y="662940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BY에 없는 비집계 컬럼을 SELECT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1487150" y="6934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811000" y="66294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811000" y="662940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039600" y="68389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39600" y="683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592050" y="66294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묶은 컬럼과 집계 함수만 SELECT에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틀리는 자리는 늘 같은 자리 — 10개만 확실히 잡아도 시험과 실무 사고의 대부분을 예방한다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자주 틀리는 포인트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6~10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함정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왜 틀리는가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바로잡기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1051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051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6. OUTER JOIN 조건 위치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2004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표 조건을 WHERE에 두면 INNER처럼 동작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2004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1051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1051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ON 절에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38290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82905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0386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038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38290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7. 취소 주문 미제외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133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382905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382905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매출·실적이 부풀려진다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133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38290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382905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0386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038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38290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집계마다 status &lt;&gt; '취소' 를 습관처럼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7625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476250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49720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4972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47625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8. NOT IN + NULL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067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476250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476250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 결과에 NULL이 섞이면 전체가 빈 결과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0673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47625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476250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49720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49720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47625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NOT EXISTS 사용 권장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56959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569595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59055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59055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56959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9. COUNT(*) vs COUNT(컬럼)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60007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569595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569595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COUNT(컬럼)은 NULL을 세지 않는다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60007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569595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569595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59055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59055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569595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무엇을 세는지 정하고 고른다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3000" y="66294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" y="6629400"/>
            <a:ext cx="57150" cy="8001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71600" y="68389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683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4050" y="66294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10. WHERE에서 SELECT 별칭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6572250" y="6934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96100" y="6629400"/>
            <a:ext cx="4495800" cy="800100"/>
          </a:xfrm>
          <a:prstGeom prst="roundRect">
            <a:avLst>
              <a:gd name="adj" fmla="val 714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62800" y="6629400"/>
            <a:ext cx="396240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WHERE는 별칭보다 먼저 평가된다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1487150" y="6934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811000" y="6629400"/>
            <a:ext cx="5334000" cy="800100"/>
          </a:xfrm>
          <a:prstGeom prst="roundRect">
            <a:avLst>
              <a:gd name="adj" fmla="val 7142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811000" y="6629400"/>
            <a:ext cx="57150" cy="8001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039600" y="68389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39600" y="6838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592050" y="6629400"/>
            <a:ext cx="4324350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원래 식을 다시 쓰거나 HAVING·ORDER BY에서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함정 7은 실행은 멀쩡히 되고 숫자만 틀린다 — 「쿼리가 돌아갔다」와 「숫자가 맞다」는 별개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자주 틀리는 포인트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1·5 직접 확인 실험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 FROM employees WHERE salary &gt;= 300;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 FROM employees WHERE salary &lt;  300;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name FROM employees WHERE salary IS NULL;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dept, name, COUNT(*) FROM employees GROUP BY dept;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dept, COUNT(*) AS 인원 FROM employees GROUP BY dept;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8000" y="286359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5650" y="269214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15650" y="269214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1–2행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1 (X) 어느 쪽에도 없다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E008 조하늘(salary NULL)이 빠진다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80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56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56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(O) NULL 판정 전용 문법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조하늘은 여기에 나온다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5 (X) name이 애매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8.0 기본 설정에서 오류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(O) 묶은 열 + 집계 함수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부서별 인원에 딱 맞는 두 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「300 이상」과 「300 미만」을 합쳐도 전 직원이 아니다 — 인원 통계가 1명 빈다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자주 틀리는 포인트 TOP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4·6 직접 확인 실험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30068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30068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145536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145536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407408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407408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4722876"/>
            <a:ext cx="89535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4722876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COUNT(*) FROM orders o, customers c;                     -- (X) 150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COUNT(*) FROM orders o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customers c ON o.cust_id = c.cust_id;                    -- (O) 15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e.name, COUNT(o.order_id) AS 건수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employees e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LEFT   JOIN orders o ON e.emp_id = o.emp_id AND o.status &lt;&gt; '취소'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e.emp_id, e.name;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8000" y="265328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5650" y="248183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15650" y="248183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4 — 카티전 곱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쉼표로 나열만 하면 15 × 10 = 150행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8000" y="312648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5650" y="295503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5650" y="295503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2–3행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ON으로 짝짓기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고객번호끼리 — 주문 1건 = 결과 1행, 15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454609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437464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437464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6 — 취소 제외는 ON에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ON은 「어떤 주문을 붙일까」, WHERE는 「어떤 행을 남길까」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68000" y="486156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15650" y="469011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15650" y="469011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8명 전원 표시</a:t>
            </a:r>
          </a:p>
          <a:p>
            <a:pPr>
              <a:lnSpc>
                <a:spcPct val="130000"/>
              </a:lnSpc>
            </a:pPr>
            <a:r>
              <a:rPr sz="15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주문이 없는 직원도 0건으로 남는다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WHERE o.status &lt;&gt; '취소' 로 옮기면 주문 있는 직원만 남는다 — 실적 0인 직원도 보고서에 남아야 한다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시험 방식 — 100점 통과제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기말고사는 이번 주(12/14) 응시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출제 범위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448050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8690" y="3448050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9주차 ~ 15주차 전 범위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044043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4044043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50문항 (객관식 4지선다 + 단답형) · 문항당 2점 · 100점 만점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통과 기준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640036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640036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— 재응시 횟수 제한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성적 반영 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5236029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5236029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평가 100점 통과(캡처 제출) → 15점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성적 반영 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5832021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8690" y="5832021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향상 결과·학습 내용을 정량·정성으로 정리해 제출 → 5점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제한 시간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6428014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6428014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1회 응시당 60분 (시간 초과 시 자동 제출)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채점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7024007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8690" y="7024007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 즉시 자동 채점 · 문항별 해설 제공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총정리를 마친 뒤 이 주차 페이지 아래 [시험 시작하기]로 들어간다 — 중간고사와 같은 100점 통과제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주차별 출제 비중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50문항은 이렇게 나뉜다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문항 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9주차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111633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10972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서브쿼리와 집합 연산 — IN/EXISTS, UNION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84680" y="3448050"/>
            <a:ext cx="25603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79930" y="3448050"/>
            <a:ext cx="23698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9문항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22021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20116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044043"/>
            <a:ext cx="111633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044043"/>
            <a:ext cx="10972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뷰·인덱스·권한(DCL) — CREATE VIEW, INDEX, GRANT/REVOKE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4044043"/>
            <a:ext cx="25603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79930" y="4044043"/>
            <a:ext cx="23698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22021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20116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11주차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640036"/>
            <a:ext cx="111633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640036"/>
            <a:ext cx="10972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설계와 정규화 — ERD, 이상현상, 1NF~3NF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640036"/>
            <a:ext cx="25603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640036"/>
            <a:ext cx="23698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8문항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22021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20116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12주차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236029"/>
            <a:ext cx="111633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236029"/>
            <a:ext cx="10972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웹과 DB 연동 1 — 3계층 구조, 조회, 파라미터 바인딩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5236029"/>
            <a:ext cx="25603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5236029"/>
            <a:ext cx="23698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7문항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22021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20116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13주차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5832021"/>
            <a:ext cx="111633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5832021"/>
            <a:ext cx="10972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웹과 DB 연동 2 — CRUD, 트랜잭션 묶음, SQL 인젝션 방지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584680" y="5832021"/>
            <a:ext cx="25603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79930" y="5832021"/>
            <a:ext cx="23698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7문항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22021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20116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14주차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428014"/>
            <a:ext cx="111633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428014"/>
            <a:ext cx="10972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데이터 SQL 종합 — 복합 질의 작성·해석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584680" y="6428014"/>
            <a:ext cx="25603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79930" y="6428014"/>
            <a:ext cx="23698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6문항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220218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20116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15주차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7024007"/>
            <a:ext cx="111633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78530" y="7024007"/>
            <a:ext cx="109728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총정리 — 전 범위 핵심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4584680" y="7024007"/>
            <a:ext cx="25603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679930" y="7024007"/>
            <a:ext cx="23698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5문항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9주차 9문항이 가장 많고, 10·11주차가 8문항씩이다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응시와 제출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응시에서 제출까지 다섯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71800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71800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028950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50" y="3276600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시험 시작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981450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[시험 시작]을 누르면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60분 타이머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08241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2971800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971800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3028950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190" y="3276600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제출 · 채점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240" y="3981450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[제출]하면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채점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37425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26680" y="2971800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80" y="2971800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80" y="3028950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0030" y="3276600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응시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9080" y="3981450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100점이 아니면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해설 확인 후 재응시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66609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018520" y="2971800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018520" y="2971800"/>
            <a:ext cx="2834640" cy="8763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18520" y="3028950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1870" y="3276600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캡처 제출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0920" y="3981450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결과 화면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(15점)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3957935" y="3305175"/>
            <a:ext cx="247650" cy="20955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310360" y="2971800"/>
            <a:ext cx="2834640" cy="3429000"/>
          </a:xfrm>
          <a:prstGeom prst="roundRect">
            <a:avLst>
              <a:gd name="adj" fmla="val 201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310360" y="2971800"/>
            <a:ext cx="2834640" cy="8763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310360" y="3028950"/>
            <a:ext cx="283464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5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443710" y="3276600"/>
            <a:ext cx="2567940" cy="552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 제출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62760" y="3981450"/>
            <a:ext cx="252984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향상 결과·학습 내용</a:t>
            </a:r>
          </a:p>
          <a:p>
            <a:pPr algn="ctr">
              <a:lnSpc>
                <a:spcPct val="13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정량·정성 (5점)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" y="7143750"/>
            <a:ext cx="16002000" cy="685800"/>
          </a:xfrm>
          <a:prstGeom prst="roundRect">
            <a:avLst>
              <a:gd name="adj" fmla="val 833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28750" y="7143750"/>
            <a:ext cx="154305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총괄보고서(20점)는 이번 주(15주차)까지 제출 완료했는지 다시 확인해 주세요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응시와 제출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시험 대비 체크리스트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6384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9718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7336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 vs EXISTS, UNION vs UNION ALL 의 차이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8576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41910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9528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뷰가 경영 리포트·보안에 쓰이는 이유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0768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4102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51720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LIKE 앞 % 가 인덱스를 못 타는 이유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62960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6294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63912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이상현상 3종과 정규화 각 단계가 제거하는 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26384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8350" y="29718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25100" y="27336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 3계층 구조에서 SQL이 실행되는 위치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38576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58350" y="41910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25100" y="39528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? 파라미터 바인딩이 막는 공격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34500" y="50768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58350" y="54102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25100" y="51720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등록이 트랜잭션 한 묶음이어야 하는 이유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34500" y="6296025"/>
            <a:ext cx="78105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58350" y="66294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25100" y="6391275"/>
            <a:ext cx="65341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주문을 빼고 매출을 집계해야 하는 이유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시험 결과와 학습 진도는 내 학습 현황 페이지에서 확인할 수 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6702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6702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6702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6702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주차 제목만 보고 핵심 한 줄을 스스로 말해 본다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72427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72427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72427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72427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치트시트 예문은 눈이 아니라 손으로 — 직접 타이핑한다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58152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58152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58152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58152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NULL은 IS NULL, 집계 조건은 HAVING, 조인은 ON 조건부터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43877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43877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43877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43877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 주문 미제외는 실행은 되고 숫자만 틀린다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29602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29602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29602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29602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기말: 9~15주차 50문항, 100점이 될 때까지 반복 응시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153275"/>
            <a:ext cx="1428750" cy="7429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7153275"/>
            <a:ext cx="8953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7153275"/>
            <a:ext cx="14573250" cy="7429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7153275"/>
            <a:ext cx="140017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캡처 15점 + 향상·학습 정리 5점 + 총괄보고서 20점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15주 돌아보기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15주 돌아보기 ① — 1~5주차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1주차</a:t>
            </a:r>
          </a:p>
        </p:txBody>
      </p:sp>
      <p:sp>
        <p:nvSpPr>
          <p:cNvPr id="10" name="Oval 9"/>
          <p:cNvSpPr/>
          <p:nvPr/>
        </p:nvSpPr>
        <p:spPr>
          <a:xfrm>
            <a:off x="254127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강의 소개와 데이터베이스 개요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DBMS · 통합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674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2주차</a:t>
            </a:r>
          </a:p>
        </p:txBody>
      </p:sp>
      <p:sp>
        <p:nvSpPr>
          <p:cNvPr id="17" name="Oval 16"/>
          <p:cNvSpPr/>
          <p:nvPr/>
        </p:nvSpPr>
        <p:spPr>
          <a:xfrm>
            <a:off x="579501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9674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534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관계형 데이터베이스 기초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534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534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534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 · 외래키 · 무결성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48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3주차</a:t>
            </a:r>
          </a:p>
        </p:txBody>
      </p:sp>
      <p:sp>
        <p:nvSpPr>
          <p:cNvPr id="24" name="Oval 23"/>
          <p:cNvSpPr/>
          <p:nvPr/>
        </p:nvSpPr>
        <p:spPr>
          <a:xfrm>
            <a:off x="904875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048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908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개요와 DDL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7908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7908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908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CREATE·ALTER·DROP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422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4주차</a:t>
            </a:r>
          </a:p>
        </p:txBody>
      </p:sp>
      <p:sp>
        <p:nvSpPr>
          <p:cNvPr id="31" name="Oval 30"/>
          <p:cNvSpPr/>
          <p:nvPr/>
        </p:nvSpPr>
        <p:spPr>
          <a:xfrm>
            <a:off x="1230249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90422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2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DML 기초와 트랜잭션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3282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3282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2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DML · 트랜잭션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5796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5주차</a:t>
            </a:r>
          </a:p>
        </p:txBody>
      </p:sp>
      <p:sp>
        <p:nvSpPr>
          <p:cNvPr id="38" name="Oval 37"/>
          <p:cNvSpPr/>
          <p:nvPr/>
        </p:nvSpPr>
        <p:spPr>
          <a:xfrm>
            <a:off x="1555623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415796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38656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SELECT 기본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38656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8656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38656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WHERE · IS NULL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데이터가 왜 필요한가에서 출발해 테이블을 만들고, 넣고, 꺼냈다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15주 돌아보기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15주 돌아보기 ② — 6~10주차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6주차</a:t>
            </a:r>
          </a:p>
        </p:txBody>
      </p:sp>
      <p:sp>
        <p:nvSpPr>
          <p:cNvPr id="10" name="Oval 9"/>
          <p:cNvSpPr/>
          <p:nvPr/>
        </p:nvSpPr>
        <p:spPr>
          <a:xfrm>
            <a:off x="254127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집계와 그룹화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 · HAVING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674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7주차</a:t>
            </a:r>
          </a:p>
        </p:txBody>
      </p:sp>
      <p:sp>
        <p:nvSpPr>
          <p:cNvPr id="17" name="Oval 16"/>
          <p:cNvSpPr/>
          <p:nvPr/>
        </p:nvSpPr>
        <p:spPr>
          <a:xfrm>
            <a:off x="579501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9674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534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 (JOIN)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534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534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534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INNER · LEFT · 카티전 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48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8주차</a:t>
            </a:r>
          </a:p>
        </p:txBody>
      </p:sp>
      <p:sp>
        <p:nvSpPr>
          <p:cNvPr id="24" name="Oval 23"/>
          <p:cNvSpPr/>
          <p:nvPr/>
        </p:nvSpPr>
        <p:spPr>
          <a:xfrm>
            <a:off x="904875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048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908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중간고사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7908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7908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908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1~7주차 범위 평가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422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9주차</a:t>
            </a:r>
          </a:p>
        </p:txBody>
      </p:sp>
      <p:sp>
        <p:nvSpPr>
          <p:cNvPr id="31" name="Oval 30"/>
          <p:cNvSpPr/>
          <p:nvPr/>
        </p:nvSpPr>
        <p:spPr>
          <a:xfrm>
            <a:off x="1230249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90422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2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서브쿼리와 집합 연산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3282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3282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2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 · EXISTS · UNION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5796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10주차</a:t>
            </a:r>
          </a:p>
        </p:txBody>
      </p:sp>
      <p:sp>
        <p:nvSpPr>
          <p:cNvPr id="38" name="Oval 37"/>
          <p:cNvSpPr/>
          <p:nvPr/>
        </p:nvSpPr>
        <p:spPr>
          <a:xfrm>
            <a:off x="1555623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415796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38656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뷰·인덱스·권한(DCL)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38656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8656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38656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VIEW · INDEX · DCL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묶고, 잇고, 겹쳐 묻고, 지켰다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15주 돌아보기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15주 돌아보기 ③ — 11~15주차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11주차</a:t>
            </a:r>
          </a:p>
        </p:txBody>
      </p:sp>
      <p:sp>
        <p:nvSpPr>
          <p:cNvPr id="10" name="Oval 9"/>
          <p:cNvSpPr/>
          <p:nvPr/>
        </p:nvSpPr>
        <p:spPr>
          <a:xfrm>
            <a:off x="254127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설계와 정규화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 · 1NF~3NF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674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12주차</a:t>
            </a:r>
          </a:p>
        </p:txBody>
      </p:sp>
      <p:sp>
        <p:nvSpPr>
          <p:cNvPr id="17" name="Oval 16"/>
          <p:cNvSpPr/>
          <p:nvPr/>
        </p:nvSpPr>
        <p:spPr>
          <a:xfrm>
            <a:off x="579501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9674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534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웹과 DB 연동 1 (조회)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534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534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534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화면에 SELECT 결과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048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13주차</a:t>
            </a:r>
          </a:p>
        </p:txBody>
      </p:sp>
      <p:sp>
        <p:nvSpPr>
          <p:cNvPr id="24" name="Oval 23"/>
          <p:cNvSpPr/>
          <p:nvPr/>
        </p:nvSpPr>
        <p:spPr>
          <a:xfrm>
            <a:off x="904875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048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7908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웹과 DB 연동 2 (CRUD)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7908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7908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7908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폼의 입력·수정·삭제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0422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14주차</a:t>
            </a:r>
          </a:p>
        </p:txBody>
      </p:sp>
      <p:sp>
        <p:nvSpPr>
          <p:cNvPr id="31" name="Oval 30"/>
          <p:cNvSpPr/>
          <p:nvPr/>
        </p:nvSpPr>
        <p:spPr>
          <a:xfrm>
            <a:off x="12302490" y="2895600"/>
            <a:ext cx="190500" cy="1905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90422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3282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데이터 SQL 종합 실습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13282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3282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3282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질문 → SQL → 해석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57960" y="2381250"/>
            <a:ext cx="298704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15주차</a:t>
            </a:r>
          </a:p>
        </p:txBody>
      </p:sp>
      <p:sp>
        <p:nvSpPr>
          <p:cNvPr id="38" name="Oval 37"/>
          <p:cNvSpPr/>
          <p:nvPr/>
        </p:nvSpPr>
        <p:spPr>
          <a:xfrm>
            <a:off x="15527655" y="2867025"/>
            <a:ext cx="247650" cy="2476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4157960" y="3371850"/>
            <a:ext cx="2987040" cy="4057650"/>
          </a:xfrm>
          <a:prstGeom prst="roundRect">
            <a:avLst>
              <a:gd name="adj" fmla="val 1913"/>
            </a:avLst>
          </a:prstGeom>
          <a:solidFill>
            <a:srgbClr val="EDF3FD"/>
          </a:solidFill>
          <a:ln w="19050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386560" y="3600450"/>
            <a:ext cx="2529840" cy="2381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총정리와 기말고사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386560" y="6210300"/>
            <a:ext cx="2529840" cy="19050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386560" y="6343650"/>
            <a:ext cx="252984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핵심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386560" y="6667500"/>
            <a:ext cx="25298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치트시트 · 함정 TOP 10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설계하고, 웹에 연결하고, 경영 질문에 SQL로 답했다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15주차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15주차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학기 동안 수고 많으셨습니다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치트시트 일곱 블록을 직접 타이핑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함정 TOP 10을 실험으로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기말평가 100점까지 반복 응시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캡처 · 학습 정리 · 총괄보고서 제출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이번 주 결과물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기말 100점 캡처와 학습 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