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2일차 4교시 · KPI 분석 기초와 공정별 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Cpk 산출과 시각화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히스토그램 · 막대 · 추세 차트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설비별 평균 · 표준편차 · Cpk 를 수식으로 구한다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히스토그램에 규격선을, OEE 를 막대 · 꺾은선으로 그린다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의 차트 해석 문장에서 사실과 추측을 가린다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숫자는 Excel 로, 문장 초안은 AI 로, 확인은 사람이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4교시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1. 지표마다 어울리는 차트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무엇을 보고 싶은가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보고 싶은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781300"/>
            <a:ext cx="412242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차트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 시간의 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측정값의 퍼짐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893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히스토그램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소결밀도 + LSL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항목끼리 크기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893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막대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1719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1719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공정별 OEE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시간에 따른 변화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893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꺾은선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8958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8958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소결로 일자별 OEE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히스토그램은 Excel 2016 부터 — 이전 버전은 COUNTIFS 구간표 + 세로 막대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4교시 · 실습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2. 수식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설비별 평균 · 표준편차 · Cpk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124815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12481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개수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3448050"/>
            <a:ext cx="12481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8690" y="3448050"/>
            <a:ext cx="12291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COUNTIFS(설비, A3, 값, "&lt;&gt;")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평균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4171950"/>
            <a:ext cx="12481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8690" y="4171950"/>
            <a:ext cx="12291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AVERAGEIFS(값, 설비, A3)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표준편차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895850"/>
            <a:ext cx="12481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4895850"/>
            <a:ext cx="12291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STDEV.S(IF(설비=A3, 값))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Cp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5619750"/>
            <a:ext cx="12481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8690" y="5619750"/>
            <a:ext cx="12291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(USL−LSL)/(6*σ) · 한쪽이면 빈칸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Cpk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3440" y="6343650"/>
            <a:ext cx="12481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8690" y="6343650"/>
            <a:ext cx="12291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MIN(위 여유, 아래 여유)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Excel 2016·2019 의 STDEV.S(IF(…)) 는 Ctrl + Shift + Enter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4교시 · 실습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3. 결과 대조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CPK_ANSWER 「전체」와 맞춰 보기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설비 · 특성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26822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26822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63940" y="2781300"/>
            <a:ext cx="20421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63940" y="2781300"/>
            <a:ext cx="20421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44200" y="2781300"/>
            <a:ext cx="20421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44200" y="2781300"/>
            <a:ext cx="20421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Cpk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24460" y="2781300"/>
            <a:ext cx="43205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24460" y="2781300"/>
            <a:ext cx="4320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판정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344805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8250" y="344805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SF-01 소결밀도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3448050"/>
            <a:ext cx="26822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8850" y="3448050"/>
            <a:ext cx="24917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0.3262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63940" y="3448050"/>
            <a:ext cx="20421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59190" y="3448050"/>
            <a:ext cx="18516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3448050"/>
            <a:ext cx="20421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3448050"/>
            <a:ext cx="18516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1.28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824460" y="3448050"/>
            <a:ext cx="4320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919710" y="3448050"/>
            <a:ext cx="4130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관리 필요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414337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414337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소결밀도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4143375"/>
            <a:ext cx="26822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8850" y="4143375"/>
            <a:ext cx="24917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0.5373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63940" y="4143375"/>
            <a:ext cx="20421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59190" y="4143375"/>
            <a:ext cx="18516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744200" y="4143375"/>
            <a:ext cx="20421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839450" y="4143375"/>
            <a:ext cx="18516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0.65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824460" y="4143375"/>
            <a:ext cx="4320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919710" y="4143375"/>
            <a:ext cx="4130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부적합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483870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483870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SF-01 소결외경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0" y="4838700"/>
            <a:ext cx="26822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8850" y="4838700"/>
            <a:ext cx="24917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0.0203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63940" y="4838700"/>
            <a:ext cx="20421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59190" y="4838700"/>
            <a:ext cx="18516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1.31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744200" y="4838700"/>
            <a:ext cx="20421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839450" y="4838700"/>
            <a:ext cx="18516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1.31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824460" y="4838700"/>
            <a:ext cx="4320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919710" y="4838700"/>
            <a:ext cx="4130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관리 필요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553402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553402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소결외경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0" y="5534025"/>
            <a:ext cx="26822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38850" y="5534025"/>
            <a:ext cx="24917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0.0261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663940" y="5534025"/>
            <a:ext cx="20421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59190" y="5534025"/>
            <a:ext cx="18516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1.02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744200" y="5534025"/>
            <a:ext cx="20421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839450" y="5534025"/>
            <a:ext cx="18516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1.02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2824460" y="5534025"/>
            <a:ext cx="4320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919710" y="5534025"/>
            <a:ext cx="4130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관리 필요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143000" y="622935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238250" y="622935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GR-01 연삭외경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943600" y="6229350"/>
            <a:ext cx="26822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38850" y="6229350"/>
            <a:ext cx="24917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0.0119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663940" y="6229350"/>
            <a:ext cx="20421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759190" y="6229350"/>
            <a:ext cx="18516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1.69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744200" y="6229350"/>
            <a:ext cx="20421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839450" y="6229350"/>
            <a:ext cx="18516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1.66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2824460" y="6229350"/>
            <a:ext cx="4320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2919710" y="6229350"/>
            <a:ext cx="4130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양호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143000" y="692467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238250" y="692467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GR-02 연삭외경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943600" y="6924675"/>
            <a:ext cx="26822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038850" y="6924675"/>
            <a:ext cx="24917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0.0113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663940" y="6924675"/>
            <a:ext cx="20421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759190" y="6924675"/>
            <a:ext cx="18516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1.78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744200" y="6924675"/>
            <a:ext cx="20421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839450" y="6924675"/>
            <a:ext cx="18516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1.75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2824460" y="6924675"/>
            <a:ext cx="4320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2919710" y="6924675"/>
            <a:ext cx="4130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양호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모두 n = 620 · 소결밀도는 한쪽 규격이라 Cp 없음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4교시 · 실습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4. 히스토그램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SF-01 · SF-02 소결밀도 분포 비교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값 떼어 내기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필터로 설비를 거르고 소결밀도 열만 새 시트에 붙인다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히스토그램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삽입 → 통계 차트 삽입 → 히스토그램 · 구간 너비 0.2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규격선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도형 선으로 95.0 에 빨간 세로선 + 「LSL 95.0」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숫자로 확인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COUNTIF(A:A,"&lt;95") — SF-02 26개 · SF-01 0개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4교시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5. 막대와 꺾은선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공정별 OEE 막대 · 소결로 일자별 추세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막대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공정별 OEE 표 → 묶은 가로 막대형, OEE 낮은 순 정렬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추세 피벗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필터 공정=소결 · 행 일자 · 열 설비 · 값 계산 필드 OEE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꺾은선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피벗 테이블 분석 → 피벗 차트 → 꺾은선형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계산 필드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이론시간/계획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*양품/생산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4교시 · 실습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차트와 수식에서 막히는 곳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2781300"/>
            <a:ext cx="50825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표준편차가 이상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897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배열 입력 안 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24360" y="34480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19610" y="34480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Ctrl+Shift+Enter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개수가 620 아님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897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범위·설비명 오류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024360" y="41719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19610" y="41719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범위 2~2481행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분포 모양 비교 불가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897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구간 너비 다름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024360" y="48958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19610" y="48958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둘 다 0.2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피벗 표준편차 다름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0372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897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전체(p) 선택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024360" y="56197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119610" y="56197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「표준 편차」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두 소결로의 선이 어디서 벌어지는지는 메모만 — 시점 확인은 오후에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4교시 · 실습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6. AI 해석 문장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사실과 해석을 나눠 표시시킨다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남기는 문장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표의 숫자를 그대로 근거로 든 문장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SF-02 소결밀도 Cpk 0.65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σ 0.5373 &gt; SF-01 0.3262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연삭기 Cpk 1.66 · 1.75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고치는 문장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표에 없는 원인 · 시점을 단정한 문장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작업자 숙련도 부족 탓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장마철 습도 탓이다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→ 「확인 필요」 질문으로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4교시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끝내기 전에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설비별 n 620 · 평균 · σ 가 정답과 맞다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한쪽 규격은 Cp 를 비우고 Cpk 만 구했다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두 히스토그램을 같은 구간 너비로 그리고 LSL 을 표시했다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막대 · 꺾은선 차트를 만들었다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해석 문장의 숫자를 표와 한 줄씩 대조했다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2일차 4교시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2일차 4교시 · 실습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통합 KPI 분석과 문제 공정 선정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다음 5교시에는 생산·품질 지표가 서로 어떻게 함께 움직이는지 산점도와 상관계수로 읽습니다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지표 간 상관관계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상관 해석의 함정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추세 · 파레토 분석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중점관리공정 선정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OEE 표 · Cpk 표 · 차트 · 해석 문장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