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83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700" b="1" spc="-324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 표준·접근성·크로스 브라우징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985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표준을 지키는가, 모두를 위한 웹이란, 어디까지 맞춰야 하는가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 표준을 지키는 것이 실제로 무엇을 얻게 해 주는지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접근성 4원칙(POUR)을 알고 사례를 들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보조기술 사용자가 웹을 어떻게 쓰는지 설명할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접근성이 장애인만을 위한 것이 아님을 사례로 설명할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크로스 브라우징의 현실적인 기준을 정할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85828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5828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표준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96536" y="2781300"/>
            <a:ext cx="76153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96536" y="2781300"/>
            <a:ext cx="76153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W3C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319" y="2781300"/>
            <a:ext cx="91371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319" y="2781300"/>
            <a:ext cx="91371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WCAG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62287" y="2781300"/>
            <a:ext cx="83500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2287" y="2781300"/>
            <a:ext cx="83500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POUR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543" y="2781300"/>
            <a:ext cx="117218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543" y="2781300"/>
            <a:ext cx="117218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화면낭독기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9978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9978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키보드 접근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5708" y="2781300"/>
            <a:ext cx="85828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5708" y="2781300"/>
            <a:ext cx="85828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색 대비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29244" y="2781300"/>
            <a:ext cx="158267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9244" y="2781300"/>
            <a:ext cx="158267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크로스 브라우징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7168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7168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점진적 향상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 표준이란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표준은 "이렇게 만들면 어느 브라우저에서든 이렇게 동작한다"는 약속입니다.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 표준이란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W3C·WHATWG 같은 단체가 정하고 브라우저 회사들이 구현합니다.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표준을 지키면 얻는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067426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067426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얻는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8526" y="2781300"/>
            <a:ext cx="13896474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8526" y="2781300"/>
            <a:ext cx="1389647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구체적으로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2067426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187692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호환성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8526" y="3448050"/>
            <a:ext cx="138964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3776" y="3448050"/>
            <a:ext cx="137059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시험해 보지 않은 브라우저·기기에서도 대체로 동작합니다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2067426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187692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접근성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8526" y="4171950"/>
            <a:ext cx="138964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3776" y="4171950"/>
            <a:ext cx="137059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화면낭독기·키보드·점자 단말이 문서를 이해합니다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2067426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187692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검색 노출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8526" y="4895850"/>
            <a:ext cx="138964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3776" y="4895850"/>
            <a:ext cx="137059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검색엔진이 구조를 이해해 적절히 색인합니다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2067426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187692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유지보수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8526" y="5619750"/>
            <a:ext cx="138964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43776" y="5619750"/>
            <a:ext cx="137059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사람이(6개월 뒤의 나 포함) 코드를 읽을 수 있습니다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2067426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187692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미래 대응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8526" y="6343650"/>
            <a:ext cx="1389647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3776" y="6343650"/>
            <a:ext cx="1370597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나오지 않은 기기에서도 동작할 확률이 높습니다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표준을 지키면 얻는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표준을 안 지켜도 당장은 화면이 나옵니다.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브라우저가 관대하기 때문입니다.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문제는 나중에 나타납니다 — 다른 브라우저에서 깨지거나, 검색에 안 잡히거나, 접근성 감사에서 지적받거나, 고치려는데 어디를 고쳐야 할지 알 수 없거나.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접근성 — 모두가 쓸 수 있는 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접근성(Web Accessibility, a11y) 은 장애가 있어도 웹을 쓸 수 있게 만드는 것입니다.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접근성 — 모두가 쓸 수 있는 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하지만 실제로는 훨씬 넓습니다.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4원칙 (POUR)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885592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88559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66692" y="2781300"/>
            <a:ext cx="488559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6692" y="2781300"/>
            <a:ext cx="488559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90385" y="2781300"/>
            <a:ext cx="615461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90385" y="2781300"/>
            <a:ext cx="615461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실제로 하는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88559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69509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Perceivable 인식 가능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66692" y="3448050"/>
            <a:ext cx="488559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1942" y="3448050"/>
            <a:ext cx="469509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정보를 인식할 수 있어야 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90385" y="3448050"/>
            <a:ext cx="61546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85635" y="3448050"/>
            <a:ext cx="59641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alt 텍스트, 자막, 충분한 색 대비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88559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69509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Operable 운용 가능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66692" y="4171950"/>
            <a:ext cx="488559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1942" y="4171950"/>
            <a:ext cx="469509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조작할 수 있어야 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90385" y="4171950"/>
            <a:ext cx="61546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85635" y="4171950"/>
            <a:ext cx="59641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키보드만으로 조작, 충분한 시간, 깜빡임 제한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88559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69509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Understandable 이해 가능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66692" y="4895850"/>
            <a:ext cx="488559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1942" y="4895850"/>
            <a:ext cx="469509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내용과 동작을 이해할 수 있어야 한다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90385" y="4895850"/>
            <a:ext cx="61546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85635" y="4895850"/>
            <a:ext cx="59641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쉬운 말, 예측 가능한 동작, 오류 안내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88559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69509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Robust 견고성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66692" y="5619750"/>
            <a:ext cx="488559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61942" y="5619750"/>
            <a:ext cx="469509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다양한 기술로 해석 가능해야 한다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90385" y="5619750"/>
            <a:ext cx="61546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85635" y="5619750"/>
            <a:ext cx="59641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표준 문법, 보조기술 호환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화면낭독기(스크린 리더) 사용자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제목만 훑어 이동합니다.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그래서 h1→h2→h3 계층이 목차 역할을 합니다. 건너뛰면 구멍이 생깁니다.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링크만 뽑아 듣기도 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"여기를 클릭"만 스무 개 들리면 아무 정보가 없습니다.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이미지는 alt로만 인식합니다.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alt가 없으면 IMG_2024.jpg 를 읽습니다.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폼은 label로 인식합니다.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연결이 없으면 그냥 "편집창"입니다.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키보드만 쓰는 사용자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Tab으로 이동, Enter/Space로 실행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합니다. 마우스가 없거나, 손 떨림이 있거나, 마우스가 고장 난 사람.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&lt;div onclick&gt; 은 Tab으로 잡히지 않습니다. &lt;button&gt; 을 쓰면 이 모든 것이 공짜로 해결됩니다.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outline: none 만 쓰고 대체 스타일을 안 주면 지금 어디에 있는지 전혀 알 수 없습니다.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2.3 접근성은 장애인만을 위한 것이 아닙니다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727076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727076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접근성 조치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8176" y="2781300"/>
            <a:ext cx="12236824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8176" y="2781300"/>
            <a:ext cx="1223682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누구에게도 도움이 되는가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727076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53657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08176" y="3448050"/>
            <a:ext cx="12236824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3426" y="3448050"/>
            <a:ext cx="1204632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지하철에서 소리 없이 보는 사람, 시끄러운 카페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3727076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353657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충분한 색 대비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08176" y="4143375"/>
            <a:ext cx="12236824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3426" y="4143375"/>
            <a:ext cx="1204632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밝은 야외에서 화면 보는 사람, 오래된 모니터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3727076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353657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키보드 조작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08176" y="4838700"/>
            <a:ext cx="12236824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3426" y="4838700"/>
            <a:ext cx="1204632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파워 유저, 마우스가 고장 난 사람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3727076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353657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쉬운 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08176" y="5534025"/>
            <a:ext cx="12236824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03426" y="5534025"/>
            <a:ext cx="1204632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전문 용어를 모르는 사람, 외국인, 피곤한 사람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3727076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353657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큰 클릭 영역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08176" y="6229350"/>
            <a:ext cx="12236824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3426" y="6229350"/>
            <a:ext cx="1204632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흔들리는 버스에서 조작하는 사람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3727076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3536576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alt 텍스트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08176" y="6924675"/>
            <a:ext cx="12236824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03426" y="6924675"/>
            <a:ext cx="1204632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인터넷이 느려 이미지가 안 뜬 사람, 검색엔진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2.3 접근성은 장애인만을 위한 것이 아닙니다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이것을 "커브컷 효과(curb-cut effect)" 라고 부릅니다.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휠체어를 위해 만든 인도 턱 경사로가 유모차·캐리어·자전거에도 도움이 되듯, 접근성 조치는 결국 모두에게 더 나은 결과를 만듭니다.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2.4 법적 의무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한국은 「장애인차별금지 및 권리구제 등에 관한 법률」에 따라 공공기관과 일정 규모 이상 민간 웹사이트에 접근성 준수 의무가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한국형 지침인 KWCAG(국제 표준 WCAG 기반)가 기준입니다.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실무에서 접근성을 모르면 다 만든 사이트를 통째로 고쳐야 하는 일이 생깁니다.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처음부터 지키면 거의 추가 비용이 들지 않지만, 나중에 고치면 구조부터 다시 짜야 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처음부터 지키는 것이 가장 싸다는 것이 실무의 결론입니다.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HTML만 제대로 써도 대부분 지켜집니다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다섯 가지가 전체의 대부분입니다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&lt;img&gt; 에 의미 있는 alt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장식이면 alt="".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제목 계층을 건너뛰지 않기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h1 다음은 h2.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&lt;label&gt; 과 &lt;input&gt; 연결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for와 id를 같게.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의미에 맞는 태그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누르는 것은 &lt;button&gt;, 이동은 &lt;a&gt;.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&lt;html lang="ko"&gt;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읽을 언어를 정해 줍니다.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같은 화면, 다른 접근성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❌ 화면에는 똑같이 보이지만 --&gt;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&lt;div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"btn"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onclick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"submit()"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보내기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&lt;/div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&lt;div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"title"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문의하기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&lt;/div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&lt;img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"banner.png"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&lt;span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이메일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&lt;/span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"text"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✅ 이렇게 쓰면 --&gt;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"button"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onclick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"submit()"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보내기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문의하기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&lt;img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"banner.png"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"여름 이벤트 안내 배너"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"email"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이메일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"email"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"email"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차이: Tab으로 잡히고, 제목으로 이동할 수 있고,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그림 내용이 전달되고, 입력칸의 이름을 알 수 있게 됩니다. --&gt;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크로스 브라우징 — 어디까지 맞출 것인가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브라우저의 모든 버전에서 똑같이 보이게 만드는 것은 불가능하고, 시도해서도 안 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크로스 브라우징 — 어디까지 맞출 것인가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현실적인 기준을 정하는 것이 실무입니다.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4.1 기준 정하기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693949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69394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75049" y="2781300"/>
            <a:ext cx="1326995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75049" y="2781300"/>
            <a:ext cx="1326995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269394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250344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대상 브라우저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5049" y="3448050"/>
            <a:ext cx="1326995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0299" y="3448050"/>
            <a:ext cx="1307945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최신 크롬·사파리·파이어폭스·엣지 (모두 자동 업데이트)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269394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250344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반드시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75049" y="4171950"/>
            <a:ext cx="1326995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0299" y="4171950"/>
            <a:ext cx="1307945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Safari — 신기능 지원이 가장 늦고 iOS 사용자가 많음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269394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250344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고려하지 않음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75049" y="4895850"/>
            <a:ext cx="1326995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0299" y="4895850"/>
            <a:ext cx="1307945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인터넷 익스플로러 (2022년 지원 종료)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269394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250344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확인 방법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75049" y="5619750"/>
            <a:ext cx="1326995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0299" y="5619750"/>
            <a:ext cx="1307945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caniuse.com에서 기능별 지원 여부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4.2 점진적 향상 vs 우아한 저하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12783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1278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2493883" y="2781300"/>
            <a:ext cx="765994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3883" y="2781300"/>
            <a:ext cx="765994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점진적 향상(Progressive Enhancement)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91927" y="2781300"/>
            <a:ext cx="695307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1927" y="2781300"/>
            <a:ext cx="695307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우아한 저하(Graceful Degradation)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31278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12228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출발점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93883" y="3448050"/>
            <a:ext cx="765994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89133" y="3448050"/>
            <a:ext cx="74694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기능부터 만들고 위에 얹는다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91927" y="3448050"/>
            <a:ext cx="695307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177" y="3448050"/>
            <a:ext cx="67625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완전한 기능부터 만들고 없는 환경을 대비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31278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12228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사고 방식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93883" y="4171950"/>
            <a:ext cx="765994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89133" y="4171950"/>
            <a:ext cx="74694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"HTML만으로도 쓸 수 있게"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91927" y="4171950"/>
            <a:ext cx="695307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177" y="4171950"/>
            <a:ext cx="67625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"안 되는 환경에서도 최소한은"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31278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12228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권장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93883" y="4895850"/>
            <a:ext cx="765994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89133" y="4895850"/>
            <a:ext cx="74694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이쪽이 안전합니다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91927" y="4895850"/>
            <a:ext cx="695307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177" y="4895850"/>
            <a:ext cx="67625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보완적으로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점진적 향상의 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① HTML만으로도 동작한다 — JS가 없어도 폼은 제출된다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&lt;form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"/search"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method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"get"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"search"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"q"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required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검색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&lt;/form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② JS가 있으면 더 좋아진다 — 실시간 자동완성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// 자동완성 기능을 얹는다. 없어도 기본 검색은 된다.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&lt;/script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기능 지원을 확인하고 갈라지기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CSS — 지원하는 브라우저만 이 블록을 읽습니다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.layout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flex; }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기본 — 어디서나 동작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@supports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grid)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 .layout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grid; }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지원하면 더 나은 방식으로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실무의 현실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픽셀 단위로 똑같을 필요는 없습니다.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폰트 렌더링, 기본 위젯 모양은 OS마다 다릅니다.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내용을 읽을 수 있고 기능이 동작하면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됩니다. 그림자 각도가 1px 다른 것은 문제가 아닙니다.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깨지는 것과 다른 것을 구분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하세요. 시간은 깨지는 것에 씁니다.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점검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점검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267161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26716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8261" y="2781300"/>
            <a:ext cx="8696739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8261" y="2781300"/>
            <a:ext cx="869673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봐 주는가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26716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707666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Lighthouse (크롬 개발자도구)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48261" y="3448050"/>
            <a:ext cx="869673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3511" y="3448050"/>
            <a:ext cx="850623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성능·접근성·SEO·모범사례 점수와 개선 제안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726716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707666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axe DevTools (확장)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48261" y="4171950"/>
            <a:ext cx="869673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3511" y="4171950"/>
            <a:ext cx="850623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접근성 문제를 요소 단위로 지적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726716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707666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WAVE (확장)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48261" y="4895850"/>
            <a:ext cx="869673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3511" y="4895850"/>
            <a:ext cx="850623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접근성 문제를 화면 위에 표시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726716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707666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caniuse.com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48261" y="5619750"/>
            <a:ext cx="869673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3511" y="5619750"/>
            <a:ext cx="850623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기능별 브라우저 지원 현황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726716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707666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W3C Validator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48261" y="6343650"/>
            <a:ext cx="869673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3511" y="6343650"/>
            <a:ext cx="850623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 문법 검증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도구보다 확실한 세 가지 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마우스를 치우고 Tab만으로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페이지를 끝까지 써 보세요. 막히는 곳이 곧 문제입니다.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브라우저를 200%로 확대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해 보세요. 잘리거나 겹치는 곳이 있나요?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 Rendering 탭의 색각 이상 시뮬레이션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을 켜 보세요. 색으로만 구분한 곳이 드러납니다.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점검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자동 도구는 문제의 30~40%만 잡습니다.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"alt가 있다"는 잡지만 "alt가 의미 있는가"는 못 잡습니다.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점수 100점이 접근성 완벽을 뜻하지 않습니다 — 직접 써 보는 것을 대신할 도구는 없습니다.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4장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4장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표준·접근성·크로스 브라우징 — 본문과 도해는 학습사이트에서 다시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장 페이지 끝의 「이해했어요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장 끝의 확인 퀴즈로 스스로 점검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함께 볼 주차: 3주차 · 15주차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질문은 반 전체가 같은 자리에서 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