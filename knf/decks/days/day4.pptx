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· 2026. 10. 15. (목) · 09:00~18:00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120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600" b="1" spc="-302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4일차 교시별 강의 슬라이드</a:t>
            </a:r>
          </a:p>
          <a:p>
            <a:pPr algn="l">
              <a:lnSpc>
                <a:spcPct val="110000"/>
              </a:lnSpc>
            </a:pPr>
            <a:r>
              <a:rPr sz="6600" b="1" spc="-302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개선안 · 실행계획 · 보고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20589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과목 개요 · 1~8교시 차시 슬라이드 · 50분 수업 + 10분 휴식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과정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교육 목적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2780000"/>
            <a:ext cx="16002000" cy="1000000"/>
          </a:xfrm>
          <a:prstGeom prst="roundRect">
            <a:avLst>
              <a:gd name="adj" fmla="val 6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43000" y="3010000"/>
            <a:ext cx="540000" cy="5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3000" y="3010000"/>
            <a:ext cx="540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93000" y="2780000"/>
            <a:ext cx="14602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생성형 AI 를 활용한 데이터 분석 및 문제 해결 방법론을 이해합니다.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3960000"/>
            <a:ext cx="16002000" cy="1000000"/>
          </a:xfrm>
          <a:prstGeom prst="roundRect">
            <a:avLst>
              <a:gd name="adj" fmla="val 6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43000" y="4190000"/>
            <a:ext cx="540000" cy="5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43000" y="4190000"/>
            <a:ext cx="540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93000" y="3960000"/>
            <a:ext cx="14602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데이터·AI 기반 분석 실무를 이해하고 현업 적용 역량을 강화합니다.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5140000"/>
            <a:ext cx="16002000" cy="1000000"/>
          </a:xfrm>
          <a:prstGeom prst="roundRect">
            <a:avLst>
              <a:gd name="adj" fmla="val 6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43000" y="5370000"/>
            <a:ext cx="540000" cy="5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3000" y="5370000"/>
            <a:ext cx="540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93000" y="5140000"/>
            <a:ext cx="14602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제조 업무 전반에서 데이터 기반 의사결정 및 문제 해결 능력을 확보합니다.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500000"/>
            <a:ext cx="16002000" cy="900000"/>
          </a:xfrm>
          <a:prstGeom prst="roundRect">
            <a:avLst>
              <a:gd name="adj" fmla="val 666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43000" y="650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대상 · 생산·품질 기술직 재직자 9명 · 2026. 10. 12.(월)~15.(목) · 4일 32시간 · 하루 8교시(50분 수업 + 10분 휴식)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과정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과정의 특장점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242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42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3000" y="242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01  하나의 문제를 4일 동안 끝까지 (PBL)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3000" y="242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가상 기업 「새벽정밀」의 문제 하나를 문제 정의부터 보고까지 4일 동안 이어서 풉니다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3155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43000" y="3155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43000" y="3155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02  제조 현장 지표 중심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3000" y="3155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6공정 12설비 62일 데이터로 OEE · Cpk · 불량률 · 상관 · 파레토를 다룹니다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389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" y="389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3000" y="389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03  실습 중심 32시간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3000" y="389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32차시 가운데 24차시가 실습 — 차시마다 단계별 실습과 결과물이 있습니다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4625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4625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3000" y="4625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04  AI 는 초안, 검증은 사람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3000" y="4625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낸 숫자는 Excel 로 다시 계산하고, 결론은 사실과 추정으로 나눕니다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36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43000" y="536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43000" y="536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05  무료 계정·보안 전제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3000" y="536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유료 계정 없이도 진행 · 실습은 가상 데이터 · 회사 실제 데이터는 올리지 않습니다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43000" y="6095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" y="6095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43000" y="6095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06  성과를 숫자로 확인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3000" y="6095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문항의 사전 · 사후 평가와 팀 개선 보고서 · 발표로 성과를 확인합니다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43000" y="683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3000" y="683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43000" y="683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07  교육 뒤에도 쓰는 자료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43000" y="683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학습 사이트 · 슬라이드 · 실습 파일 8종을 교육 뒤에도 복습에 씁니다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과정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1일차 ~ 4일차 과목 구성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3000" y="2550000"/>
            <a:ext cx="2650000" cy="5900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2550000"/>
            <a:ext cx="2650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일차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3000" y="2550000"/>
            <a:ext cx="4300000" cy="59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3000" y="2550000"/>
            <a:ext cx="4300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00" y="2550000"/>
            <a:ext cx="4450000" cy="59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93000" y="2550000"/>
            <a:ext cx="4450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오전 과목 (1~4교시)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693000" y="2550000"/>
            <a:ext cx="4452000" cy="59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693000" y="2550000"/>
            <a:ext cx="4452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오후 과목 (5~8교시)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323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3000" y="323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1일차  10. 12. (월)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43000" y="323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83000" y="323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 이해 · AI 와 데이터 준비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93000" y="323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3000" y="323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학습개요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2693000" y="323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833000" y="323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프롬프트 엔지니어링 및 제조 데이터 이해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426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83000" y="426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2일차  10. 13. (화)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43000" y="426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83000" y="426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KPI 로 문제 공정 찾기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93000" y="426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33000" y="426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KPI 분석 기초와 공정별 분석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2693000" y="426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833000" y="426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통합 KPI 분석과 문제 공정 선정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43000" y="529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83000" y="529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3일차  10. 14. (수)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43000" y="529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83000" y="529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분석과 가설 검증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93000" y="529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33000" y="529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기반 원인분석 프레임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2693000" y="529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833000" y="529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분류와 검증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143000" y="632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283000" y="632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4일차  10. 15. (목)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843000" y="632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83000" y="632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개선안 · 실행계획 · 보고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193000" y="632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33000" y="632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개선안 도출과 우선순위 평가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2693000" y="632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2833000" y="632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실행계획과 최종 보고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3000" y="748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▶ 이 묶음 = 4일차 · 과목명과 세부내용은 위탁기관 커리큘럼 그대로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개요 · 2026. 10. 15. (목)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개선안 · 실행계획 · 보고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250000"/>
            <a:ext cx="16002000" cy="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원인에서 행동으로 갑니다. 오전에는 우수 사례를 참고해 개선 대안을 만들고 평가 기준으로 우선순위를 정하며, 오후에는 실행계획과 관리자 보고서를 쓰고 팀별 발표·피드백과 사후평가로 4일을 마무리합니다.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100000"/>
            <a:ext cx="1500000" cy="4550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100000"/>
            <a:ext cx="15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교시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3000" y="3100000"/>
            <a:ext cx="2000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3000" y="3100000"/>
            <a:ext cx="20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43000" y="3100000"/>
            <a:ext cx="4200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43000" y="3100000"/>
            <a:ext cx="42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과목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93000" y="3100000"/>
            <a:ext cx="6600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93000" y="3100000"/>
            <a:ext cx="66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643000" y="3100000"/>
            <a:ext cx="1502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643000" y="3100000"/>
            <a:ext cx="1502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3600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3000" y="3600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1교시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93000" y="3600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83000" y="3600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09:00~09:50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43000" y="3600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33000" y="3600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개선안 도출과 우선순위 평가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93000" y="3600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83000" y="3600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 최적화 우수 사례 벤치마킹 — SPC·예지보전·표준화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5643000" y="3600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5733000" y="3600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070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3000" y="4070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2교시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3000" y="4070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83000" y="4070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10:00~10:50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43000" y="4070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33000" y="4070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개선안 도출과 우선순위 평가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93000" y="4070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83000" y="4070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기반 개선 대안 생성 — 원인별 대안 펼치기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5643000" y="4070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5733000" y="4070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3000" y="4540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33000" y="4540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3교시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93000" y="4540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83000" y="4540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11:00~11:50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743000" y="4540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33000" y="4540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개선안 도출과 우선순위 평가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993000" y="4540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083000" y="4540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평가 기준 수립 — 효과·비용·기간·위험·수용성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5643000" y="4540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5733000" y="4540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43000" y="5010000"/>
            <a:ext cx="16002000" cy="300000"/>
          </a:xfrm>
          <a:prstGeom prst="roundRect">
            <a:avLst>
              <a:gd name="adj" fmla="val 12000"/>
            </a:avLst>
          </a:prstGeom>
          <a:solidFill>
            <a:srgbClr val="FFF6EC"/>
          </a:solidFill>
          <a:ln w="9525">
            <a:solidFill>
              <a:srgbClr val="F2D3A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43000" y="5010000"/>
            <a:ext cx="16002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>
                <a:solidFill>
                  <a:srgbClr val="D9822B"/>
                </a:solidFill>
                <a:latin typeface="Pretendard"/>
                <a:ea typeface="Pretendard"/>
                <a:cs typeface="Pretendard"/>
              </a:rPr>
              <a:t>12:00~13:00  점심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43000" y="532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33000" y="532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4교시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693000" y="532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83000" y="532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13:00~13:50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743000" y="532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833000" y="532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개선안 도출과 우선순위 평가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993000" y="532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083000" y="532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대안별 우선순위화 — 가중 평가 매트릭스와 효과 추정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5643000" y="532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5733000" y="532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3000" y="579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233000" y="579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5교시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693000" y="579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83000" y="579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14:00~14:50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743000" y="579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833000" y="579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실행계획과 최종 보고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993000" y="579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083000" y="579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개선안 실행계획 수립 — 과제·일정·담당·KPI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5643000" y="579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5733000" y="579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143000" y="626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233000" y="626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6교시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693000" y="626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783000" y="626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15:00~15:50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743000" y="626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833000" y="626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실행계획과 최종 보고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993000" y="626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083000" y="626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관리자 보고자료 초안 작성 — 한 장 보고서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5643000" y="626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5733000" y="626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143000" y="673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233000" y="673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7교시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2693000" y="673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783000" y="673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16:00~16:50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4743000" y="673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833000" y="673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실행계획과 최종 보고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8993000" y="673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083000" y="673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팀별 발표와 피드백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5643000" y="673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5733000" y="673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발표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143000" y="720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233000" y="720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8교시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693000" y="720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783000" y="720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17:00~17:50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743000" y="720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833000" y="720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실행계획과 최종 보고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8993000" y="720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083000" y="720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현업 적용계획 공유 · 사후평가 · 마무리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15643000" y="720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5733000" y="720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평가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개요 · 2026. 10. 15. (목)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4일차 학습목표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450000"/>
            <a:ext cx="160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오전 · 1~4교시  </a:t>
            </a:r>
            <a:r>
              <a:rPr sz="2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개선안 도출과 우선순위 평가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97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63000" y="308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63000" y="308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3000" y="297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SPC·예지보전·교정 관리·표준작업 등 우수 사례에서 원리를 뽑아 벤치마킹 카드를 만든다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58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63000" y="369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63000" y="369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3000" y="358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원인마다 즉시 조치·재발 방지·시스템화 세 층의 개선 대안을 AI 와 펼치고 5~7개로 추린다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9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63000" y="430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63000" y="430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03000" y="419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평가 기준·가중치·채점 기준표로 대안의 우선순위를 내고 효과 추정·민감도로 검증한다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4950000"/>
            <a:ext cx="160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오후 · 5~8교시  </a:t>
            </a:r>
            <a:r>
              <a:rPr sz="2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실행계획과 최종 보고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43000" y="547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363000" y="558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63000" y="558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03000" y="547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1위 대안을 과제·일정·담당·성과지표(기준선·목표·점검 주기)를 갖춘 실행계획으로 만든다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43000" y="608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363000" y="619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63000" y="619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03000" y="608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결론·요청이 맨 앞에 오는 한 장 관리자 보고서를 쓰고 숫자 출처와 사실·추정을 표시한다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43000" y="669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363000" y="680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63000" y="680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03000" y="669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팀별 발표·동료 피드백과 현업 적용계획을 공유하고 사후평가로 변화를 확인한다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오전 과목 · 1~4교시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개선안 도출과 우선순위 평가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300000"/>
            <a:ext cx="16002000" cy="10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SPC·예지보전·표준화 등 공정 최적화 우수 사례를 벤치마킹하고, 생성형 AI 로 원인별 개선 대안을 폭넓게 만든 뒤 평가 기준과 가중치로 우선순위를 정합니다.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0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50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3000" y="368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1  ·  우수 사례 벤치마킹을 통한 AI 기반 공정 최적화 대안 생성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3000" y="422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 최적화 우수 사례에서 우리 문제에 옮길 수 있는 원리를 뽑고, AI 와 함께 원인별 대안(즉시 조치·재발 방지·관리 체계)을 펼칩니다.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5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535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3000" y="553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2  ·  평가 기준 수립 및 대안별 우선순위화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3000" y="607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효과·비용·기간·위험·수용성 평가 기준과 가중치를 정하고 가중 평가 매트릭스로 대안별 점수와 기대효과를 추정해 우선순위를 결정합니다. 가중치를 바꿔도 순위가 유지되는지 확인합니다.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7330000"/>
            <a:ext cx="1600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차시  </a:t>
            </a:r>
            <a:r>
              <a:rPr sz="135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1교시 공정 최적화 우수 사례 벤치마킹  ·  2교시 AI 기반 개선 대안 생성  ·  3교시 평가 기준 수립  ·  4교시 대안별 우선순위화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오후 과목 · 5~8교시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실행계획과 최종 보고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300000"/>
            <a:ext cx="16002000" cy="10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선택한 개선안을 과제·일정·담당·KPI 로 구체화하고, 관리자가 한 장으로 판단할 수 있는 보고서 초안을 AI 와 함께 씁니다. 팀별 발표·피드백과 현업 적용계획 공유, 사후평가로 과정을 마칩니다.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0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50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3000" y="368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1  ·  개선안 실행계획 수립, 관리자 보고자료 초안 작성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3000" y="422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 과제를 일정·담당·필요 자원·성과 지표로 나눈 실행계획을 세우고, 결론 → 근거 → 요청 순서의 한 장 보고서 초안을 작성합니다. AI 가 쓴 문장의 숫자는 다시 확인합니다.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5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535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3000" y="553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2  ·  팀별 발표·피드백 및 현업 적용계획 공유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3000" y="607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팀당 8분 발표와 동료 피드백으로 서로 갈린 판단을 비교하고, 각자 현업에 적용할 계획을 공유한 뒤 사후평가로 사전평가 대비 변화를 확인합니다.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7330000"/>
            <a:ext cx="1600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차시  </a:t>
            </a:r>
            <a:r>
              <a:rPr sz="135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5교시 개선안 실행계획 수립  ·  6교시 관리자 보고자료 초안 작성  ·  7교시 팀별 발표와 피드백  ·  8교시 현업 적용계획 공유 · 사후평가 · 마무리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1교시 · 개선안 도출과 우선순위 평가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4124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00" b="1" spc="-302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최적화</a:t>
            </a:r>
          </a:p>
          <a:p>
            <a:pPr algn="l">
              <a:lnSpc>
                <a:spcPct val="105000"/>
              </a:lnSpc>
            </a:pPr>
            <a:r>
              <a:rPr sz="8100" b="1" spc="-302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우수 사례 벤치마킹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527292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사례의 수치가 아니라 원리를 가져온다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SPC·예지보전·교정 관리·표준작업의 원리를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구조 찾기 → 원리 추출 → 현장에 맞게 바꾸기로 카드를 만든다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답에서 확인 안 된 기업명·수치를 걸러 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결과물: 벤치마킹 카드 3장 — 2교시 대안 생성의 씨앗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1교시 · 이론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출발점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어제까지 정리한 원인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95600"/>
            <a:ext cx="1428750" cy="8191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956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주원인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956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956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PM 뒤 TC-3 교정 누락 — 온도편차 6.0 → 16.6°C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886200"/>
            <a:ext cx="1428750" cy="8191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8862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부원인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8862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8862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원료 로트 L-0809 — 불량률 소폭 상승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876800"/>
            <a:ext cx="1428750" cy="8191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8768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8768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8768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야간 숙련도 — 데이터로 확인되지 않은 추정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867400"/>
            <a:ext cx="1428750" cy="8191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8674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별개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58674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58674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성형실 습도 — 밀도불균일과 상관 0.80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과목의 질문: 무엇을, 어떤 순서로 고칠 것인가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1교시 · 이론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개선 유형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최적화의 대표 유형 일곱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58826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5882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 줄 원리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224260" y="2781300"/>
            <a:ext cx="59207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224260" y="2781300"/>
            <a:ext cx="5920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우리 문제와의 연결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SPC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3448050"/>
            <a:ext cx="58826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8770" y="3448050"/>
            <a:ext cx="56921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관리도로 이상을 빨리 감지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224260" y="3448050"/>
            <a:ext cx="5920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19510" y="3448050"/>
            <a:ext cx="5730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온도편차 이상을 8/10 직후 포착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예지·상태기반보전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4044043"/>
            <a:ext cx="58826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4044043"/>
            <a:ext cx="56921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센서 징후로 정비 시점 판단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224260" y="4044043"/>
            <a:ext cx="5920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319510" y="4044043"/>
            <a:ext cx="5730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재가열 알람 증가가 신호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계측기 교정 관리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0" y="4640036"/>
            <a:ext cx="58826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8770" y="4640036"/>
            <a:ext cx="56921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측정 장비를 기준과 주기 비교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224260" y="4640036"/>
            <a:ext cx="5920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319510" y="4640036"/>
            <a:ext cx="5730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교정 누락이 이 구멍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표준작업·체크리스트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03520" y="5236029"/>
            <a:ext cx="58826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8770" y="5236029"/>
            <a:ext cx="56921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빠뜨리기 쉬운 단계를 목록화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224260" y="5236029"/>
            <a:ext cx="5920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319510" y="5236029"/>
            <a:ext cx="5730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재가동 체크리스트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수입검사·로트 추적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303520" y="5832021"/>
            <a:ext cx="58826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98770" y="5832021"/>
            <a:ext cx="56921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원료를 로트별 검사·추적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224260" y="5832021"/>
            <a:ext cx="5920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319510" y="5832021"/>
            <a:ext cx="5730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로트 L-0809 대응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디지털 대시보드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03520" y="6428014"/>
            <a:ext cx="58826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98770" y="6428014"/>
            <a:ext cx="56921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지표를 한 화면에 모은다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224260" y="6428014"/>
            <a:ext cx="5920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319510" y="6428014"/>
            <a:ext cx="5730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설비별 OEE·온도편차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환경 관리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303520" y="7024007"/>
            <a:ext cx="58826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398770" y="7024007"/>
            <a:ext cx="56921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온습도를 관리 범위 안에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224260" y="7024007"/>
            <a:ext cx="5920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319510" y="7024007"/>
            <a:ext cx="5730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성형실 습도(별개 과제)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특정 기업의 성과가 아니라 업계에서 일반적으로 쓰는 방식의 정리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1교시 · 이론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SPC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X̄-R 관리도 — 언제부터 달라졌는가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관리한계 = 평소 흔들림의 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평균에서 표준편차 약 3배 — 규격(합격 범위)과는 다르다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X̄ 는 중심, R 은 흔들림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묶음 평균은 위 그래프, 묶음 범위(최대−최소)는 아래 그래프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이상 신호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한계 밖 한 점 · 한쪽으로 연속 · 한 방향으로 계속 오름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우리 사례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산포 증가는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R 이 먼저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1교시 · 이론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보전과 교정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정비를 한 것이 아니라 정비 뒤가 문제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예방보전(시간기반)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정해진 주기로 정비 — 8/10 정기 PM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계획이 쉽다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멀쩡해도 뜯는다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뜯은 뒤 실수가 생길 수 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상태기반·예지보전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센서 이상 징후로 정비 시점을 정한다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필요할 때만 정비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센서·기준값 관리가 전제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축적이 필요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1교시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보전과 교정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계측기 교정 관리의 세 가지 장치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교정 주기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장비별 비교 주기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정비로 뜯었으면 즉시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교정 기록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언제·누가·기준기·오차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「기록 미입력」이 구멍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이중 측정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기준 열전대를 함께 꽂아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두 값이 벌어지면 의심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MSA — 측정값 흔들림 가운데 측정 장비·측정자 몫을 따지는 분석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1교시 · 이론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벤치마킹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벤치마킹 3단계 — 겉모습이 아니라 원리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168900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 구조 찾기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업종보다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 구조가 닮은 사례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330950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59550" y="2781300"/>
            <a:ext cx="5168900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955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 원리 추출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5955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290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왜 효과가 있었나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문장으로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11747500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976100" y="2781300"/>
            <a:ext cx="5168900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7610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 현장에 맞게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97610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10945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우리 설비·인력·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양식으로 다시 쓰기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예: 「정비 뒤에는 측정 장비부터 기준과 맞춘다」 → PM 체크리스트에 교정값 입력 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맛집 메뉴판을 베끼지 말고, 육수를 오래 끓이는 원리를 우리 냄비로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1교시 · 이론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AI 조사 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답에서 남길 것과 지울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남긴다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일반화된 원리 · 우리 데이터로 검증 가능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관리도로 산포를 감시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정비 뒤 교정 확인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로트별 수입검사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지운다 · 보류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1차 출처로 확인할 수 없는 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「OO사 불량 35% 감소」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 안 된 표준 번호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우리 설비로 불분명한 기능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1교시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직접 해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벤치마킹 카드 — 원리 · 우리 현장 · 필요한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카드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우리 현장에서는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교정 관리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정비 뒤 측정 장비부터 맞춘다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직후 TC 전 채널 비교 측정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SPC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평소 흔들림을 넘으면 알린다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온도편차 관리도·한계 초과 알람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체크리스트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빠뜨리기 쉬운 단계를 확인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재가동표에 교정값·서명 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AI 에는 설비명·공정 조건 대신 구조 문장만 보낸다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1교시 · 이론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50분에서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사례에서 가져올 것은 수치가 아니라 원리다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관리도는 「언제부터 달라졌는가」를 알려 준다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문제는 정비가 아니라 정비 뒤 교정 단계의 누락이다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출처를 달 수 없는 기업명·수치는 보고서에 옮기지 않는다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1교시 · 이론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1교시 · 이론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AI 기반 개선 대안 생성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원인마다 즉시 조치·재발 방지·시스템화 세 층으로 대안을 펼치고 5~7개로 줄입니다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요약을 AI 에 넘길 형태로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 대안 15개 받기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× 층 격자로 빈칸 찾기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중복을 묶어 5~7개로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구조 문장 3줄과 벤치마킹 카드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2교시 · 개선안 도출과 우선순위 평가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기반 개선 대안 생성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원인별 대안 펼치기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넓히는 일은 AI, 좁히는 일은 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하나에 즉시 조치·재발 방지·시스템화 세 층을 펼친다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프롬프트로 근거가 붙은 대안 15개를 받는다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중복을 묶고 걸러 평가할 대안 5~7개로 줄인다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결과물: 3_대안평가매트릭스 A열의 대안 목록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2교시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대안의 세 층 — 시간 축으로 나눈다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층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23622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23622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비유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즉시 조치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86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지금 나는 피해를 멈춘다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744200" y="3448050"/>
            <a:ext cx="2362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39450" y="3448050"/>
            <a:ext cx="2171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며칠 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144500" y="34480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239750" y="34480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소화기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재발 방지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86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방법·양식을 바꾼다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744200" y="4171950"/>
            <a:ext cx="2362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39450" y="4171950"/>
            <a:ext cx="2171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몇 주 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144500" y="41719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239750" y="41719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콘센트 교체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시스템화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잊어도 자동으로 잡힌다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4895850"/>
            <a:ext cx="2362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4895850"/>
            <a:ext cx="2171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몇 달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144500" y="48958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239750" y="48958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감지기·스프링클러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대안마다 「어느 원인을 겨냥하는가」 꼬리표를 붙인다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2교시 · 실습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우리 원인에 세 층을 대 보면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41224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즉시 조치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23960" y="2781300"/>
            <a:ext cx="41224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396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재발 방지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시스템화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주원인 교정 누락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34480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8690" y="34480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재교정·이중 비교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23960" y="34480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9210" y="34480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체크리스트 교정 항목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984480" y="34480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079730" y="34480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온도편차 SPC 알람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부원인 로트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63440" y="41719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8690" y="41719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L-0809 재고 확인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23960" y="41719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19210" y="41719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수입검사·시험 소결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984480" y="41719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079730" y="41719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로트-제품 추적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별개 과제 습도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48958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48958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습도 점검 늘리기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823960" y="48958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19210" y="48958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습도 관리 기준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984480" y="48958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079730" y="48958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성형실 제습 설비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보류(야간 숙련도)는 대안 대신 데이터 수집 과제로 오후에 넘긴다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2교시 · 실습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펼치고, 채우고, 줄인다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07_improvement_workbook.xlsx 의 3일차 원인 정리에서 출발합니다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원인 요약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확정 원인 +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근거 숫자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대안 15개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층을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모두 채우게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격자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× 층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빈칸 보충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줄이기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묶기·지우기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·쪼개기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카드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A열에 입력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점수는 비움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2교시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 프롬프트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대안 15개 프롬프트의 핵심 장치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역할과 원인 요약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 부품 공장의 공정개선 엔지니어 + 확정 원인과 근거 숫자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배분과 층 요구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주원인 8개 이상 · 원인마다 즉시/재발방지/시스템화 모두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보류 원인은 대안 금지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확인에 필요한 데이터만 한 줄로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검증 조건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일반론 금지 · 효과 수치는 준 숫자로만, 계산식 함께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2교시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팀이 좁히는 세 가지 손질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묶는다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원인·같은 층·같은 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가장 구체적인 이름으로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지운다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일반론 · 효과 확인 불가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· 보류 원인 겨냥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쪼갠다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덩어리가 큰 대안은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즉시 조치와 시스템화로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예: 「TC-3 재교정」과 「열전대 전 채널 점검」은 한 묶음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2교시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결과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평가할 대안 여섯 개 — 3·4교시에도 이 번호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5621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562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번호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2781300"/>
            <a:ext cx="79629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28422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1562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1371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3448050"/>
            <a:ext cx="79629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38450" y="3448050"/>
            <a:ext cx="7772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재교정·이중 비교 측정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744200" y="3448050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39450" y="3448050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주원인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624560" y="3448050"/>
            <a:ext cx="3520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9810" y="3448050"/>
            <a:ext cx="3329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즉시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43375"/>
            <a:ext cx="1562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43375"/>
            <a:ext cx="1371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0" y="4143375"/>
            <a:ext cx="79629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38450" y="4143375"/>
            <a:ext cx="7772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체크리스트 교정 확인 항목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744200" y="4143375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39450" y="4143375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주원인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624560" y="4143375"/>
            <a:ext cx="3520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9810" y="4143375"/>
            <a:ext cx="3329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재발 방지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38700"/>
            <a:ext cx="1562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38700"/>
            <a:ext cx="1371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A3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0" y="4838700"/>
            <a:ext cx="79629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38450" y="4838700"/>
            <a:ext cx="7772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온도편차 SPC 관리도·알람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4838700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4838700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주원인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624560" y="4838700"/>
            <a:ext cx="3520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9810" y="4838700"/>
            <a:ext cx="3329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시스템화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534025"/>
            <a:ext cx="1562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534025"/>
            <a:ext cx="1371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A4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43200" y="5534025"/>
            <a:ext cx="79629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38450" y="5534025"/>
            <a:ext cx="7772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계측기 교정 이력 관리 시스템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744200" y="5534025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839450" y="5534025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주원인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624560" y="5534025"/>
            <a:ext cx="3520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719810" y="5534025"/>
            <a:ext cx="3329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시스템화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229350"/>
            <a:ext cx="1562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229350"/>
            <a:ext cx="1371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A5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743200" y="6229350"/>
            <a:ext cx="79629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38450" y="6229350"/>
            <a:ext cx="7772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수입검사 밀도·로트별 시험 소결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744200" y="6229350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839450" y="6229350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부원인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3624560" y="6229350"/>
            <a:ext cx="3520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719810" y="6229350"/>
            <a:ext cx="3329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재발 방지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6924675"/>
            <a:ext cx="1562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6924675"/>
            <a:ext cx="1371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A6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743200" y="6924675"/>
            <a:ext cx="79629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838450" y="6924675"/>
            <a:ext cx="7772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성형실 제습 설비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0744200" y="6924675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839450" y="6924675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별개 과제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3624560" y="6924675"/>
            <a:ext cx="3520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3719810" y="6924675"/>
            <a:ext cx="3329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시스템화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팀마다 표현과 개수(5~7개)는 달라도 된다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2교시 · 실습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목록을 저장하기 전에 세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861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7338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8004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5814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보류 원인에 대안이 남아 있다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「야간 재교육」 — 효과를 잴 수 없는 일이 위로 올라간다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5339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5339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7815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8482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6291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주원인에 즉시 조치만 있다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재교정만 하면 다음 정비 때 같은 일이 되풀이된다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5816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5816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8293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8959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6769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원인보다 큰 대안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「설비 전면 교체」 — 원인과 크기가 맞는지 본다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6DDD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실제 회사 문제로 할 때는 설비명·공정 조건을 비식별화해서 AI 에 넘긴다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2교시 · 실습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50분이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모든 대안에 겨냥 원인과 층 꼬리표가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주원인에 즉시·재발 방지·시스템화 세 층이 모두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보류 원인을 겨냥한 대안이 없다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최종 대안 5~7개, 같은 일을 두 번 적지 않았다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2교시 · 실습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2교시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평가 기준 수립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효과·비용·기간·위험·수용성 다섯 기준의 1~5점 채점 기준표와 가중치를 정합니다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기준의 뜻을 우리 사례로 좁히기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로 채점 기준표 초안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낮을수록 좋은 기준은 방향 뒤집기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가중치와 근거 한 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A열에 적은 대안 5~7개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3교시 · 개선안 도출과 우선순위 평가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평가 기준 수립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효과·비용·기간·위험·수용성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기준을 먼저 합의하고 점수는 나중에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기준이 이번 사례에서 무엇을 재는지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기준마다 1~5점 앵커 문장을 갖춘 채점 기준표를 만든다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낮을수록 좋은 기준을 뒤집고 근거 있게 가중치를 정한다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결과물: 채점 기준표 + 가중치 — 4교시 가중 평가의 잣대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3교시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기준과 기본 가중치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22021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가중치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781300"/>
            <a:ext cx="70027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781300"/>
            <a:ext cx="70027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묻는 질문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좋은 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4480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8650" y="34480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0" y="34480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8930" y="34480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원인을 얼마나 직접 없애나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624560" y="34480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9810" y="34480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높을수록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비용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41719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8650" y="41719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41719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8930" y="41719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돈·인력이 얼마나 드나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624560" y="41719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9810" y="41719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낮을수록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실행기간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48958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48958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0" y="48958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8930" y="48958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효과까지 얼마나 걸리나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624560" y="48958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9810" y="48958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짧을수록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위험도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43400" y="56197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38650" y="56197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0" y="56197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78930" y="56197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실패·부작용 가능성과 피해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624560" y="56197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719810" y="56197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낮을수록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3436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3436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현장수용성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43400" y="63436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38650" y="63436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15%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583680" y="63436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8930" y="63436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현장이 받아들이고 지키나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3624560" y="63436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719810" y="63436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높을수록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07_improvement_workbook.xlsx · 3_대안평가매트릭스 머리글 그대로 — 합 100%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3교시 · 실습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점수는 언제나 「높을수록 좋다」로 통일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방향을 섞으면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비싼 대안에 비용 5점 → 가중합계에서 위로 올라간다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비용 큼 = 5점 (틀림)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위험 큼 = 5점 (틀림)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결론이 거꾸로 나온다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방향을 뒤집으면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모든 기준에서 5점 = 바람직한 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비용: 5 = 저비용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실행기간: 5 = 짧음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위험도: 5 = 안전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3교시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기준의 뜻을 우리 사례로 좁히기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를 PM 전 수준(불량률 2.11%, OEE 82.8%)으로 되돌리는 기여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비용 · 실행기간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추가 구매·용역·인력 / 착수부터 효과 확인까지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위험도 · 현장수용성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시행 중 생산 차질·사고 가능성 / 작업 부담과 관행 충돌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효과의 근거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온도편차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6.0 → 16.6°C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3교시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2·3단계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앵커 문장 — 「이런 경우가 몇 점」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0022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0022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83380" y="2781300"/>
            <a:ext cx="42824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3380" y="2781300"/>
            <a:ext cx="4282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0" y="2781300"/>
            <a:ext cx="42824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2781300"/>
            <a:ext cx="4282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83380" y="34480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78630" y="34480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주원인 직접 제거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03920" y="34480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9170" y="34480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부원인·재발 피해 감소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824460" y="34480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919710" y="34480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데이터로 확인 불가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비용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83380" y="41719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78630" y="41719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기존 인력·양식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03920" y="41719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9170" y="41719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부서 예산 안 구매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824460" y="41719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919710" y="41719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별도 투자 승인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실행기간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83380" y="48958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78630" y="48958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1주 안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03920" y="48958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9170" y="48958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3개월 안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824460" y="48958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919710" y="48958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6개월 이상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위험도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183380" y="56197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78630" y="56197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되돌리기 쉬움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503920" y="56197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99170" y="56197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일시 생산 차질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824460" y="56197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919710" y="56197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품질·안전 사고 가능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3436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3436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현장수용성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183380" y="63436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78630" y="63436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현장이 원하던 일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503920" y="63436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599170" y="63436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교육·습관 변화 필요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2824460" y="63436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919710" y="63436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업무 크게 늘어 반발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2점·4점은 사이 값 · 실행기간은 2점 = 6개월 안, 4점 = 1개월 안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3교시 · 실습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 프롬프트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채점 기준표 초안 프롬프트의 핵심 장치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역할과 상황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대안 평가를 운영해 본 품질경영 전문가 · 교정 누락 문제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방향 고정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모든 기준에서 5점 = 바람직 — 이 문장을 빼면 AI 도 섞는다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관찰 가능한 표현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명이 같은 점수를 줄 만큼 구체적으로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금액 대신 결재 수준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기존 인력으로 가능 · 부서 예산 안 · 별도 승인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3교시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가중치를 정할 때의 세 원칙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861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7338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8004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5814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대안을 보기 전에 정한다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보고 나서 정하면 마음에 드는 대안에 맞추게 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5339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5339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7815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8482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6291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 기준 50% 이상은 피한다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기준 하나로 정하는 셈 — 차라리 먼저 거른다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5816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5816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8293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8959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6769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같은 것을 두 번 재지 않는다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비용과 투입 인력을 따로 두면 이중 계산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6DDD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기본값 30/20/20/15/15 에서 바꿨다면 이유 한 줄 — 그대로 보고서 문장이 된다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3교시 · 실습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비용 칸에 「비쌀수록 5점」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머리글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「비용(20%)」뿐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76812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착각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5412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8762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비용 큼 =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점수 큼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39225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7825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1175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비싼 대안이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위로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3101638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330238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463588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머리글에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5=저비용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머리글을 「비용(20%, 5=저비용)」으로 바꿔 두면 회의 때마다 생기는 혼선이 사라진다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3교시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50분이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기준 모두 1·3·5점 앵커 문장이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비용·실행기간·위험도는 5점 = 저비용·짧음·안전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가중치 합 100%, 바꿨다면 이유 한 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가중치를 점수 매기기 전에 확정했다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3교시 · 실습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3교시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대안별 우선순위화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기준표대로 점수를 매기고 가중합·RANK 로 순위를 낸 뒤, 효과 추정과 민감도로 검증합니다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각자 채점하고 합의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가중합계·RANK 로 순위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회복 효과를 Excel 로 계산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가중치를 흔들어 1위 확인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채점 기준표와 확정한 가중치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4교시 · 개선안 도출과 우선순위 평가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대안별 우선순위화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 평가와 효과 추정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무엇을 먼저, 하면 얼마나 좋아지는가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가중합계·RANK 수식으로 대안의 순위를 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회복 시 늘어나는 양품을 Excel 로 계산한다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2×2 매트릭스와 민감도로 순위를 검증한다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결과물: 우선순위가 매겨진 대안 목록 — 오후 실행계획의 입력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4교시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3_대안평가매트릭스 시트의 수식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580948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5809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가중합계 G2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23948" y="2781300"/>
            <a:ext cx="14421052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6348" y="2781300"/>
            <a:ext cx="141162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=B2*0.3+C2*0.2+D2*0.2+E2*0.15+F2*0.15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580948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5809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순위 H2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23948" y="3429000"/>
            <a:ext cx="14421052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76348" y="3429000"/>
            <a:ext cx="141162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=RANK(G2,$G$2:$G$6)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580948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5809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대안 6개면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23948" y="4076700"/>
            <a:ext cx="14421052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76348" y="4076700"/>
            <a:ext cx="141162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=RANK(G2,$G$2:$G$7) 로 범위 끝을 늘린다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580948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5809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가중치를 셀로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23948" y="4724400"/>
            <a:ext cx="14421052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76348" y="4724400"/>
            <a:ext cx="141162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=SUMPRODUCT(B2:F2,$J$2:$N$2)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B 효과 · C 비용 · D 실행기간 · E 위험도 · F 현장수용성 — 가중합계는 1~5 사이 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4교시 · 실습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1·2단계 · 예시 채점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예시 점수로 낸 가중합계와 순위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대안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60426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효과·비용·기간·위험·수용성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23622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23622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가중합계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744700" y="2781300"/>
            <a:ext cx="2400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744700" y="2781300"/>
            <a:ext cx="2400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A1 TC-3 재교정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44805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8890" y="344805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 · 5 · 5 · 4 · 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2344400" y="3448050"/>
            <a:ext cx="23622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439650" y="3448050"/>
            <a:ext cx="21717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4.85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4744700" y="3448050"/>
            <a:ext cx="2400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839950" y="3448050"/>
            <a:ext cx="2209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4337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4337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A2 PM 체크리스트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14337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8890" y="414337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 · 5 · 5 · 5 · 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344400" y="4143375"/>
            <a:ext cx="23622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439650" y="4143375"/>
            <a:ext cx="21717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4.55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744700" y="4143375"/>
            <a:ext cx="2400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839950" y="4143375"/>
            <a:ext cx="2209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3870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3870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A3 SPC 알람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483870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483870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 · 3 · 3 · 4 · 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4838700"/>
            <a:ext cx="23622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4838700"/>
            <a:ext cx="21717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3.45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744700" y="4838700"/>
            <a:ext cx="2400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839950" y="4838700"/>
            <a:ext cx="2209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53402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53402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A5 수입검사·시험 소결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63640" y="553402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58890" y="553402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 · 4 · 4 · 4 · 4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2344400" y="5534025"/>
            <a:ext cx="23622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439650" y="5534025"/>
            <a:ext cx="21717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3.40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744700" y="5534025"/>
            <a:ext cx="2400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839950" y="5534025"/>
            <a:ext cx="2209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22935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22935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A6 성형실 제습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63640" y="622935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58890" y="622935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 · 2 · 3 · 4 · 4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2344400" y="6229350"/>
            <a:ext cx="23622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2439650" y="6229350"/>
            <a:ext cx="21717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3.10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4744700" y="6229350"/>
            <a:ext cx="2400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4839950" y="6229350"/>
            <a:ext cx="2209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692467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692467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A4 교정 이력 시스템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63640" y="692467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58890" y="692467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 · 3 · 2 · 4 · 3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2344400" y="6924675"/>
            <a:ext cx="23622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2439650" y="6924675"/>
            <a:ext cx="21717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2.95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4744700" y="6924675"/>
            <a:ext cx="2400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4839950" y="6924675"/>
            <a:ext cx="2209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데이터가 정한 정답이 아니라 판단의 한 예 — 수식 대조용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4교시 · 실습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 추정 — CLEAN 시트에서 직접 계산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구간 열 M 만들기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=IF(A2&gt;="2026-08-10","PM후","PM전") — 일자가 글자로 저장돼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후 일평균 양품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SUMIFS(양품, 설비 SF-02, 구간 PM후) ÷ 22일 → 약 5,749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전 일평균 양품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SUMIFS(양품, 설비 SF-02, 구간 PM전) ÷ 40일 → 약 7,334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회복 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하루 약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+1,585개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4교시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가 PM 전 수준으로 돌아가면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항목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38023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계산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전 일평균 양품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44805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8930" y="344805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 7,334개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24160" y="3448050"/>
            <a:ext cx="67208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9410" y="3448050"/>
            <a:ext cx="65303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293,357 ÷ 40일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후 일평균 양품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414337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8930" y="414337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 5,749개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24160" y="4143375"/>
            <a:ext cx="67208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9410" y="4143375"/>
            <a:ext cx="65303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126,477 ÷ 22일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하루 늘어나는 양품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483870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8930" y="483870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 1,585개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424160" y="4838700"/>
            <a:ext cx="67208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9410" y="4838700"/>
            <a:ext cx="65303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7,334 − 5,749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22일 동안 놓친 양품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0" y="553402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8930" y="553402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 34,870개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424160" y="5534025"/>
            <a:ext cx="67208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9410" y="5534025"/>
            <a:ext cx="65303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1,585 × 22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후 22일 불량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0" y="622935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8930" y="622935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8,791개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424160" y="6229350"/>
            <a:ext cx="67208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9410" y="6229350"/>
            <a:ext cx="65303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135,268 − 126,477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줄일 수 있었던 불량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83680" y="692467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78930" y="692467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 5,900개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424160" y="6924675"/>
            <a:ext cx="67208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19410" y="6924675"/>
            <a:ext cx="65303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8,791 − 135,268×2.11%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가정: SF-02 완전 회복 · A1·A2·A3 효과를 서로 더하지 않는다(묶음 전체의 상한)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4교시 · 실습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효과-노력 2×2 — 실행 방식을 정한다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노력 적음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노력 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 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Quick Win · A1, A2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중점 과제 · A3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 작음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틈새 과제 · A5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재검토 · A4, A6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노력 적음 = 비용·실행기간 점수 평균 4 이상 · 효과 큼 = 효과 4점 이상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4교시 · 실습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6단계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가중치를 흔들어도 1위가 그대로인가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가중치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26822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83980" y="2781300"/>
            <a:ext cx="26822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8398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704320" y="2781300"/>
            <a:ext cx="26822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424660" y="2781300"/>
            <a:ext cx="27203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424660" y="2781300"/>
            <a:ext cx="2720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기본 30·20·20·15·15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4480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8890" y="34480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A1 4.85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83980" y="34480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9230" y="34480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A2 4.55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704320" y="34480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99570" y="34480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A3 3.45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4424660" y="3448050"/>
            <a:ext cx="2720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519910" y="3448050"/>
            <a:ext cx="2529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A5 3.40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 중시 40·15·15·15·15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41719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8890" y="41719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A1 4.85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83980" y="41719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79230" y="41719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A2 4.45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704320" y="41719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799570" y="41719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A3 3.55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424660" y="4171950"/>
            <a:ext cx="2720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519910" y="4171950"/>
            <a:ext cx="2529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A5 3.20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균등 20씩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63640" y="48958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8890" y="48958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A1 4.80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83980" y="48958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9230" y="48958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A2 4.60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704320" y="48958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799570" y="48958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A5 3.60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424660" y="4895850"/>
            <a:ext cx="2720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519910" y="4895850"/>
            <a:ext cx="2529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A3 3.40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1·2위는 유지 · 3·4위는 근소 — 점수 대신 「어느 원인을 겨냥하나」로 정한다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4교시 · 실습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시트를 저장하기 전에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RANK 범위를 안 늘렸다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대안을 추가했는데 $G$6 그대로 — 새 대안이 비교에서 빠진다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비용을 비쌀수록 5점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비싼 대안이 위로 올라간다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효과를 서로 더했다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A1·A2·A3 는 같은 원인 — 1,585개의 세 배가 아니다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가중치 합이 1 이 아니다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O2 =SUM(J2:N2) 로 확인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4교시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50분이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모든 대안이 RANK 범위 안에 있고 순위에 빈 번호가 없다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가중치 합이 1, 바꿔도 1위가 유지되는지 확인했다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하루 약 1,585개 증가를 SUMIFS 로 직접 맞췄다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근소한 순위 차이는 판단 근거를 한 줄로 적었다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4교시 · 실습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4교시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5교시 · 개선안 실행계획 수립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우선순위 위쪽 대안부터 과제·일정·담당·KPI 를 갖춘 실행계획으로 옮깁니다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Quick Win 은 이번 주 착수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중점 과제는 일정·담당·예산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보류 원인은 데이터 수집 과제로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 KPI 와 목표값 정하기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우선순위가 매겨진 대안 목록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5교시 · 실행계획과 최종 보고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개선안 실행계획 수립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과제 · 일정 · 담당 · KPI 를 한 표로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1위 대안을 과제와 세부 활동(WBS)으로 쪼개고 담당 · 일정을 붙인다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성과지표마다 기준선 · 목표값 · 점검 주기를 정한다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초안을 자원 · 승인 · 안전으로 점검해 간트 표로 완성한다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결과물은 07_improvement_workbook 의 4_실행계획 시트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5교시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실행계획의 일곱 요소 — 좋은 예와 나쁜 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요소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66827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좋은 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나쁜 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448050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730" y="3448050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T1 SF-02 열전대 재교정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704320" y="3448050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99570" y="3448050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품질 개선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 활동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044043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044043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교정 후 기록 입력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704320" y="4044043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99570" y="4044043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점검 강화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담당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640036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8730" y="4640036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설비보전 · 품질 · 생산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704320" y="4640036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99570" y="4640036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 같이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일정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83480" y="5236029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8730" y="5236029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즉시 · 1개월 · 3개월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704320" y="5236029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799570" y="5236029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빠른 시일 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KPI · 목표값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83480" y="5832021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8730" y="5832021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온도편차 6°C 안팎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704320" y="5832021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9570" y="5832021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 안정화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점검 주기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983480" y="6428014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78730" y="6428014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2주간 매일 → 주 1회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704320" y="6428014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799570" y="6428014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수시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위험과 대응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983480" y="7024007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78730" y="7024007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정지 시 생산 계획 조정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704320" y="7024007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799570" y="7024007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없음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5교시 · 실습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선행지표와 후행지표를 섞어 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선행지표 — 원인 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매일 바로 움직임이 보인다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온도편차 평균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체크리스트 이행률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교육 이수율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후행지표 — 결과 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몇 주가 쌓여야 판단할 수 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불량률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소결밀도 Cpk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OEE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5교시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돌아갈 기준선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목표값은 데이터 안에 이미 있다 — SF-02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23560" y="2781300"/>
            <a:ext cx="38023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PM 후 현재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64040" y="2781300"/>
            <a:ext cx="38023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6404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PM 전 기준선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304520" y="2781300"/>
            <a:ext cx="38404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304520" y="2781300"/>
            <a:ext cx="38404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온도편차 평균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2356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1881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16.6°C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6404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5929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6.0°C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304520" y="34480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399770" y="34480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6°C 안팎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소결밀도 Cpk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2356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1881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0.40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46404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5929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1.54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304520" y="41719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399770" y="41719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1.33 이상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2356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1881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6.50%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6404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5929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2.11%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304520" y="48958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399770" y="48958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2.1% 수준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23560" y="56197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718810" y="56197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64.9%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464040" y="56197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59290" y="56197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82.8%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304520" y="56197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399770" y="56197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83% 수준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3436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3436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일평균 양품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623560" y="63436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18810" y="63436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5,749개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464040" y="63436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559290" y="63436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7,334개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3304520" y="63436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399770" y="63436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 1,585개 회복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Cpk 1.33 은 현장에서 널리 쓰는 「공정능력 충분」 기준 · PM 전 실적 1.54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5교시 · 실습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4_실행계획 시트 하나로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오전 3_대안평가매트릭스 의 1위 대안에서 시작합니다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과제 3개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멈추기 · 재발 막기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· 일찍 알기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AI 초안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WBS · 담당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· 일정 · KPI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기준선 확인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피벗으로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2.11% 재계산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간트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조건부 서식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막대 일정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현실성 점검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자원 · 승인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· 안전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5교시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1위 대안을 세 갈래 과제로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6195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T1 열전대 재교정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손실을 멈추는 응급조치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즉시 · 설비보전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6195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T2 재가동 체크리스트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누락을 막는 재발 방지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1개월 · 설비보전 · 생산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6195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T3 SPC 알람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다음 이상을 일찍 알기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3개월 · 품질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5교시 · 실습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간트 형태 — 같은 주에 같은 담당이 몰리는지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활동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30022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30022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담당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43900" y="2781300"/>
            <a:ext cx="14020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3900" y="2781300"/>
            <a:ext cx="14020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84080" y="2781300"/>
            <a:ext cx="14020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781300"/>
            <a:ext cx="14020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224260" y="2781300"/>
            <a:ext cx="18821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224260" y="2781300"/>
            <a:ext cx="18821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3~4주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144500" y="2781300"/>
            <a:ext cx="18821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144500" y="2781300"/>
            <a:ext cx="18821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2개월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064740" y="2781300"/>
            <a:ext cx="20802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064740" y="2781300"/>
            <a:ext cx="2080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3개월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3448050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8250" y="3448050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T1 열전대 교정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03520" y="3448050"/>
            <a:ext cx="30022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98770" y="3448050"/>
            <a:ext cx="28117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설비보전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43900" y="3448050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39150" y="3448050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784080" y="3448050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79330" y="3448050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224260" y="3448050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319510" y="3448050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3144500" y="3448050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239750" y="3448050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5064740" y="3448050"/>
            <a:ext cx="20802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5159990" y="3448050"/>
            <a:ext cx="18897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4044043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38250" y="4044043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T1 시험 소결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303520" y="4044043"/>
            <a:ext cx="30022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98770" y="4044043"/>
            <a:ext cx="28117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품질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343900" y="4044043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39150" y="4044043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784080" y="4044043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79330" y="4044043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■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224260" y="4044043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319510" y="4044043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144500" y="4044043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239750" y="4044043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5064740" y="4044043"/>
            <a:ext cx="20802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5159990" y="4044043"/>
            <a:ext cx="18897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4640036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4640036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T2 체크리스트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303520" y="4640036"/>
            <a:ext cx="30022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398770" y="4640036"/>
            <a:ext cx="28117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설비보전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343900" y="4640036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39150" y="4640036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784080" y="4640036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79330" y="4640036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■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224260" y="4640036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319510" y="4640036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■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3144500" y="4640036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3239750" y="4640036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5064740" y="4640036"/>
            <a:ext cx="20802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5159990" y="4640036"/>
            <a:ext cx="18897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3000" y="5236029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238250" y="5236029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T2 작업자 교육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303520" y="5236029"/>
            <a:ext cx="30022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398770" y="5236029"/>
            <a:ext cx="28117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343900" y="5236029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439150" y="5236029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784080" y="5236029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879330" y="5236029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■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1224260" y="5236029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1319510" y="5236029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■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3144500" y="5236029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3239750" y="5236029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5064740" y="5236029"/>
            <a:ext cx="20802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5159990" y="5236029"/>
            <a:ext cx="18897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143000" y="5832021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238250" y="5832021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T3 관리한계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303520" y="5832021"/>
            <a:ext cx="30022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398770" y="5832021"/>
            <a:ext cx="28117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품질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343900" y="5832021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439150" y="5832021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784080" y="5832021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879330" y="5832021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1224260" y="5832021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1319510" y="5832021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3144500" y="5832021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3239750" y="5832021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■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15064740" y="5832021"/>
            <a:ext cx="20802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5159990" y="5832021"/>
            <a:ext cx="18897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143000" y="6428014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238250" y="6428014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T3 알람 시험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5303520" y="6428014"/>
            <a:ext cx="30022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398770" y="6428014"/>
            <a:ext cx="28117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보전 · 품질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8343900" y="6428014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39150" y="6428014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784080" y="6428014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879330" y="6428014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1224260" y="6428014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319510" y="6428014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13144500" y="6428014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3239750" y="6428014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■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15064740" y="6428014"/>
            <a:ext cx="20802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5159990" y="6428014"/>
            <a:ext cx="18897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■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1143000" y="7024007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238250" y="7024007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 확인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5303520" y="7024007"/>
            <a:ext cx="30022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398770" y="7024007"/>
            <a:ext cx="28117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8343900" y="7024007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439150" y="7024007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9784080" y="7024007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879330" y="7024007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11224260" y="7024007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1319510" y="7024007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13144500" y="7024007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3239750" y="7024007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5064740" y="7024007"/>
            <a:ext cx="20802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5159990" y="7024007"/>
            <a:ext cx="18897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■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5교시 · 실습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 — 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초안은 우리 공장의 사정을 모른다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6827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위험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2781300"/>
            <a:ext cx="92811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2781300"/>
            <a:ext cx="92811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교정 중 SF-02 정지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3448050"/>
            <a:ext cx="9281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9090" y="3448050"/>
            <a:ext cx="9090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부하 조정 · 주말 교대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교정 표준기 의뢰 지연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0" y="4171950"/>
            <a:ext cx="9281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9090" y="4171950"/>
            <a:ext cx="9090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1주 차 첫 활동으로 의뢰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고온 설비 작업 안전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4895850"/>
            <a:ext cx="9281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9090" y="4895850"/>
            <a:ext cx="9090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냉각 확인 · 잠금(LOTO) 명시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SPC 오경보로 무시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63840" y="5619750"/>
            <a:ext cx="9281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9090" y="5619750"/>
            <a:ext cx="9090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2주 시험 운영 뒤 임계값 조정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체크리스트 형식화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63840" y="6343650"/>
            <a:ext cx="9281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9090" y="6343650"/>
            <a:ext cx="9090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기록 없으면 재가동 승인 안 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담당 칸에 「전원」 · 일정 칸에 「수시」가 있으면 다시 씁니다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5교시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 활동마다 담당 역할 하나가 붙어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선행지표와 후행지표가 함께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목표값마다 근거를 말할 수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전 불량률 2.11% 를 피벗으로 다시 계산했다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위험과 대응 표에 안전(냉각 · 잠금)이 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5교시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5교시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관리자 보고자료 초안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4일의 산출물을 결론이 먼저 오는 한 장 보고서로 묶습니다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피라미드 원칙 — 결론 · 요청 먼저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숫자마다 출처, 문장마다 사실 · 추정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그림 2개 — 추세와 파레토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검증 체크리스트와 5장 개요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4_실행계획 시트와 위험 · 대응 표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6교시 · 실행계획과 최종 보고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관리자 보고자료 초안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결론 먼저, 숫자는 출처와 함께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결론 · 요청사항이 맨 앞에 오는 한 장 보고서 구조를 짠다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 산출물로 AI 초안을 만들고 출처 · 사실/추정을 단다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 · 과장 · 보안을 검증하고 발표 5장 개요를 만든다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초안은 AI, 검증은 사람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6교시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피라미드 원칙 — 한 장 보고서의 여섯 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8821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8821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순서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63240" y="2781300"/>
            <a:ext cx="52425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3240" y="2781300"/>
            <a:ext cx="5242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43900" y="2781300"/>
            <a:ext cx="88011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3900" y="2781300"/>
            <a:ext cx="8801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쓰는 내용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63240" y="3448050"/>
            <a:ext cx="52425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58490" y="3448050"/>
            <a:ext cx="50520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제목(결론형)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43900" y="3448050"/>
            <a:ext cx="88011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9150" y="3448050"/>
            <a:ext cx="8610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무엇을 해서 어떻게 되돌리겠다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63240" y="4143375"/>
            <a:ext cx="52425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58490" y="4143375"/>
            <a:ext cx="50520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요청사항 · 결론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43900" y="4143375"/>
            <a:ext cx="88011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150" y="4143375"/>
            <a:ext cx="8610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결정 · 지원할 것 + 한 줄 결론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63240" y="4838700"/>
            <a:ext cx="52425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58490" y="4838700"/>
            <a:ext cx="50520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근거 3개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43900" y="4838700"/>
            <a:ext cx="88011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39150" y="4838700"/>
            <a:ext cx="8610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 크기 · 원인 · 기대 효과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063240" y="5534025"/>
            <a:ext cx="52425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58490" y="5534025"/>
            <a:ext cx="50520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실행계획 · 필요 지원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343900" y="5534025"/>
            <a:ext cx="88011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39150" y="5534025"/>
            <a:ext cx="8610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과제 3개 일정 · 담당 · KPI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063240" y="6229350"/>
            <a:ext cx="52425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158490" y="6229350"/>
            <a:ext cx="50520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 안 된 것 · 위험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343900" y="6229350"/>
            <a:ext cx="88011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39150" y="6229350"/>
            <a:ext cx="8610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추정 사항 · 추가 확인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063240" y="6924675"/>
            <a:ext cx="52425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158490" y="6924675"/>
            <a:ext cx="50520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그림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343900" y="6924675"/>
            <a:ext cx="88011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39150" y="6924675"/>
            <a:ext cx="8610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추세 1개 + 파레토 1개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6교시 · 실습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제목부터 결론으로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주제형 제목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무엇을 결정할지 본문을 읽어야 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8월 품질 분석 결과 보고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 공정 불량 현황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 방안 검토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결론형 제목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제목만 읽고도 결정할 것이 보인다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열전대 재교정으로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 불량률을 PM 전 수준으로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되돌리겠습니다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6교시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문장마다 사실 · 추정을 구분한다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1163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1163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문장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11163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10972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8월 소결 불량률 3.69%(7월 2.17%)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344400" y="3448050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439650" y="3448050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43375"/>
            <a:ext cx="11163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43375"/>
            <a:ext cx="10972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온도편차 6.0 → 16.6°C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4143375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4143375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38700"/>
            <a:ext cx="11163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38700"/>
            <a:ext cx="10972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온도편차 ↔ 소결 불량률 r=0.95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0" y="4838700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439650" y="4838700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534025"/>
            <a:ext cx="11163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534025"/>
            <a:ext cx="10972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뒤 교정 기록 미입력 재가동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344400" y="5534025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439650" y="5534025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229350"/>
            <a:ext cx="11163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229350"/>
            <a:ext cx="10972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재교정 시 일평균 양품 +1,585개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6229350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6229350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24675"/>
            <a:ext cx="11163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924675"/>
            <a:ext cx="10972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 작업자 숙련도 부족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2344400" y="6924675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439650" y="6924675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 안 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6교시 · 실습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모으고, 쓰고, 검증한다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보고서는 새로 쓰는 문서가 아니라 산출물을 다시 배열하는 문서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산출물 모으기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문제정의서부터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실행계획까지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AI 초안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구조 · 출처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· 사실/추정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그림 2개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추세 꺾은선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· 파레토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사람 검증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숫자 · 과장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· 보안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5장 개요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8분 발표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장별 시간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6교시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 장 보고서 초안 프롬프트의 뼈대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역할 · 산출물 5종 · 형식 · 규칙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품질 기획 담당자로서 아래 산출물로 생산본부장에게 올릴 한 장 보고서를 써 주세요.</a:t>
            </a:r>
          </a:p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결론형 제목 · 요청사항 먼저 · 근거 3개 · 실행계획 표 · 확인 안 된 것.</a:t>
            </a:r>
          </a:p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숫자마다 출처, 문장마다 [사실]/[추정], 과장 표현 금지, A4 한 장.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형식과 규칙을 미리 정해 두면 고칠 일이 줄어든다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6교시 · 실습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그림은 메시지 하나에 하나씩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33750"/>
            <a:ext cx="7810500" cy="4095750"/>
          </a:xfrm>
          <a:prstGeom prst="roundRect">
            <a:avLst>
              <a:gd name="adj" fmla="val 116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33750"/>
            <a:ext cx="78105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96250" y="354330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657600"/>
            <a:ext cx="7162800" cy="3448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일별 불량률 추세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꺾은선형 · 8/10 에 「PM」 표시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8/10 을 경계로 뛰어오름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3333750"/>
            <a:ext cx="7810500" cy="4095750"/>
          </a:xfrm>
          <a:prstGeom prst="roundRect">
            <a:avLst>
              <a:gd name="adj" fmla="val 116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3333750"/>
            <a:ext cx="78105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87750" y="354330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657600"/>
            <a:ext cx="7162800" cy="3448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 유형 파레토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통계 차트 → 파레토(2016 이상)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밀도미달 · 균열 = 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6교시 · 실습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— 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초안을 그대로 올리면 생기는 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점검 항목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흔히 나오는 문제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 대조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34480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8850" y="34480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2.11% 가 2% 로 바뀜 · 출처 누락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사실 · 추정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41719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8850" y="41719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야간 숙련도가 [사실]로 표시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과장 표현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8958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8958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불량을 완전히 없앨 수 있습니다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보안 표현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56197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8850" y="56197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회사명 · 설비 번호가 섞임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요청사항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0" y="63436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850" y="63436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적극 검토 바랍니다(흐릿함)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검토자 프롬프트는 새 대화 창에서 · 숫자 대조는 사람이 원본 Excel 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6교시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발표 5장 개요 — 8분 배분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5621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562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장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2781300"/>
            <a:ext cx="114833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2781300"/>
            <a:ext cx="11483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제목 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264640" y="2781300"/>
            <a:ext cx="28803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264640" y="2781300"/>
            <a:ext cx="28803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0" y="3448050"/>
            <a:ext cx="11483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38450" y="3448050"/>
            <a:ext cx="11292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열전대 재교정을 요청드립니다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264640" y="3448050"/>
            <a:ext cx="2880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59890" y="3448050"/>
            <a:ext cx="2689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0" y="4171950"/>
            <a:ext cx="11483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38450" y="4171950"/>
            <a:ext cx="11292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8월 소결 불량률 2.17% → 3.69%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4264640" y="4171950"/>
            <a:ext cx="2880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359890" y="4171950"/>
            <a:ext cx="2689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1.5분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0" y="4895850"/>
            <a:ext cx="11483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38450" y="4895850"/>
            <a:ext cx="11292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뒤 교정 누락으로 온도편차 확대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264640" y="4895850"/>
            <a:ext cx="2880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359890" y="4895850"/>
            <a:ext cx="2689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0" y="5619750"/>
            <a:ext cx="11483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38450" y="5619750"/>
            <a:ext cx="11292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재교정 + 체크리스트 + SPC 알람이 1위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264640" y="5619750"/>
            <a:ext cx="2880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359890" y="5619750"/>
            <a:ext cx="2689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1.5분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43200" y="6343650"/>
            <a:ext cx="11483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838450" y="6343650"/>
            <a:ext cx="11292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3개월 안에 PM 전 수준으로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4264640" y="6343650"/>
            <a:ext cx="2880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4359890" y="6343650"/>
            <a:ext cx="2689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6교시 · 실습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첫 3줄 안에 요청사항과 결론이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근거가 정확히 3개, 숫자마다 출처가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+1,585개는 [추정], 야간 숙련도는 「확인 안 됨」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숫자를 원본 Excel 과 대조했고 과장 표현이 없다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5장 개요와 장별 시간(합계 8분)이 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6교시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6교시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팀별 발표와 피드백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팀이 8분 발표 + 5분 질의 · 피드백을 차례로 진행합니다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발표 준비 점검 — 예상 질문 3개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평가 관점 다섯 가지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동료 피드백 양식 작성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피드백을 보완 메모로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검증한 한 장 보고서와 5장 개요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7교시 · 실행계획과 최종 보고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팀별 발표와 피드백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데이터, 세 팀의 결론 — 어디서 갈렸나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발표 구성 체크리스트로 점검하고 8분 안에 마친다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평가 관점 다섯 가지로 동료 피드백 양식을 채운다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받은 질문과 피드백을 보완 메모로 바꾼다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다른 팀과 갈린 지점이 내 분석의 약한 고리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7교시 · 발표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운영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운영표 — 팀당 14분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25222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25222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781300"/>
            <a:ext cx="105613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781300"/>
            <a:ext cx="105613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내용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도입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23360" y="34480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8610" y="34480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3448050"/>
            <a:ext cx="105613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8930" y="3448050"/>
            <a:ext cx="103708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순서 · 양식 안내 · 마지막 점검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23360" y="41719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8610" y="41719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14분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0" y="4171950"/>
            <a:ext cx="105613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8930" y="4171950"/>
            <a:ext cx="103708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발표 8분 + 질의 · 피드백 6분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23360" y="48958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8610" y="48958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14분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0" y="4895850"/>
            <a:ext cx="105613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8930" y="4895850"/>
            <a:ext cx="103708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발표 8분 + 질의 · 피드백 6분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0" y="56197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8610" y="56197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14분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0" y="5619750"/>
            <a:ext cx="105613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8930" y="5619750"/>
            <a:ext cx="103708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발표 8분 + 질의 · 피드백 6분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마무리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0" y="63436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8610" y="63436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0" y="6343650"/>
            <a:ext cx="105613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8930" y="6343650"/>
            <a:ext cx="103708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갈린 지점 정리 · 보완 메모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7교시 · 발표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네 단계 — 점검, 발표, 기록, 보완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듣는 팀도 할 일이 있습니다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준비 점검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체크리스트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예상 질문 3개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발표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8분 · 결론 먼저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5장 개요대로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피드백 기록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사람 한 장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질문 하나씩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보완 메모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결론을 흔드는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것부터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7교시 · 발표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발표 직전 3분 — 준비 점검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1장 첫 문장이 결론과 요청사항인가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숫자를 말할 때 출처를 함께 말하는가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[추정] · 「확인 안 됨」을 발표에서도 그렇게 말하는가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발표자 · 화면 · 시간 담당을 나눴는가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예상 질문 3개와 답을 준비했는가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7교시 · 발표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8분 구성 — 원인이 길어져 실행계획을 놓치지 않게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22021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83880" y="2781300"/>
            <a:ext cx="89611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2781300"/>
            <a:ext cx="89611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말할 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결론 · 요청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80" y="3448050"/>
            <a:ext cx="89611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9130" y="3448050"/>
            <a:ext cx="87706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재교정 요청 + 한 줄 이유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1.5분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83880" y="4171950"/>
            <a:ext cx="89611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79130" y="4171950"/>
            <a:ext cx="87706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추세 그림 · 파레토 그림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83880" y="4895850"/>
            <a:ext cx="89611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79130" y="4895850"/>
            <a:ext cx="87706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온도편차 · 상관 · 알람 · 로트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대안 · 우선순위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1.5분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83880" y="5619750"/>
            <a:ext cx="89611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9130" y="5619750"/>
            <a:ext cx="87706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가중 평가 1위와 이유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실행계획 · 지원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0" y="63436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38850" y="63436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183880" y="6343650"/>
            <a:ext cx="89611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79130" y="6343650"/>
            <a:ext cx="87706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일정 · 담당 · KPI · 승인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시간 신호 — 6분에 한 번, 7분 30초에 두 번 → 결론 문장으로 돌아가 마친다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7교시 · 발표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평가 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관점으로 듣는다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관점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20" y="2781300"/>
            <a:ext cx="102412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2781300"/>
            <a:ext cx="102412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보는 질문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문제 정의의 명확성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03720" y="3448050"/>
            <a:ext cx="10241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98970" y="3448050"/>
            <a:ext cx="10050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무엇이 얼마나 나빠졌나 — 숫자로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근거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03720" y="4171950"/>
            <a:ext cx="10241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98970" y="4171950"/>
            <a:ext cx="10050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출처가 있고 Excel 로 검증했나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논리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4895850"/>
            <a:ext cx="10241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8970" y="4895850"/>
            <a:ext cx="10050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 · 추정 구분, 교란 요인 검토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대안의 실행 가능성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03720" y="5619750"/>
            <a:ext cx="10241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98970" y="5619750"/>
            <a:ext cx="10050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담당 · 일정 · KPI · 위험 대응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전달력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03720" y="6343650"/>
            <a:ext cx="10241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98970" y="6343650"/>
            <a:ext cx="10050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결론이 먼저, 시간 안에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7교시 · 발표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동료 피드백 양식 — 세 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6195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잘한 점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관점 하나 골라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구체적인 장면으로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6195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질문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발표에서 답이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안 나온 것 하나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6195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현업 적용 아이디어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 현장에 가져갈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방법 하나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7교시 · 발표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모르는 질문에 답하는 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피할 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추정을 사실처럼 — 앞의 숫자까지 의심받는다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야간 작업자가 미숙해서입니다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로트 영향은 없습니다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확실히 해결됩니다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좋은 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있는 사실 + 확인 안 된 것 + 필요한 데이터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야간 1.03% · 주간 0.91% 는 사실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숙련도는 작업자 데이터가 없어 미확인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확인해서 답드리겠습니다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7교시 · 발표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우리 팀 발표가 8분 안에, 첫 1분에 요청사항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다른 두 팀 발표마다 피드백 양식을 한 장씩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질의 시간에 질문을 하나 이상 던졌다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받은 피드백을 우선순위가 붙은 보완 메모로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7교시 · 발표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7교시 · 발표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현업 적용계획 · 사후평가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4일의 흐름을 내 업무로 옮기고, 사전평가와 비교하며 과정을 마칩니다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현업 적용계획 1장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안에서 2분씩 공유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사후평가 — 사전 · 사후 비교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계속 학습할 메뉴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보완 메모와 동료 피드백 양식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8교시 · 실행계획과 최종 보고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현업 적용계획 · 사후평가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 업무로 옮기고, 4일의 변화를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현업 적용계획 1장 — 데이터 · AI 몫 · 사람 몫 · 보안 · 30일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사후평가를 보고 사전평가와 비교한다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DATA → KPI → 원인 → 개선 → 보고 흐름을 한 표로 정리한다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 주 월요일에 할 일 한 줄이 이 시간의 결과물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8교시 · 평가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 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DATA → KPI → 원인 → 개선 → 보고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0332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질문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104120" y="2781300"/>
            <a:ext cx="70408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781300"/>
            <a:ext cx="70408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산출물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DATA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0332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9857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데이터는 믿을 만한가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04120" y="34480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99370" y="34480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문제정의서 · 정제 생산일지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KPI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0332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9857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어느 공정이 가장 나쁜가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04120" y="41719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99370" y="41719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KPI 표 · 중점공정 선정서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0332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9857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왜 · 사실인가 추정인가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04120" y="48958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99370" y="48958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MECE 표 · 가설 검증 계획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70332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9857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무엇부터 고칠 것인가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04120" y="56197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99370" y="56197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대안 평가표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보고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703320" y="63436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98570" y="63436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누가 언제 무엇으로 확인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104120" y="63436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99370" y="63436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실행계획 · 한 장 보고서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8교시 · 평가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 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의 몫과 사람의 몫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의 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빠르게 넓게 — 초안과 후보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정제 규칙 · 계산식 제안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펼치기 · 로그 요약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보고서 초안 · 예상 질문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사람의 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정확하게 좁게 — 검증과 판단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Excel 로 다시 계산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교란 걸러 내기 · 사실/추정 판정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숫자 · 과장 · 보안 검증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8교시 · 평가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현업 적용계획 1장 — 여섯 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칸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108813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108813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예(가상)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 업무 문제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448050"/>
            <a:ext cx="108813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8890" y="3448050"/>
            <a:ext cx="106908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정비 뒤 재가동 초기 불량이 몰림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4337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4337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 업무 데이터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4143375"/>
            <a:ext cx="108813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8890" y="4143375"/>
            <a:ext cx="106908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정비 이력 · 일별 불량 집계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3870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3870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로 할 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838700"/>
            <a:ext cx="108813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838700"/>
            <a:ext cx="106908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정비일 전후 비교 피벗 설계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53402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53402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사람이 할 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5534025"/>
            <a:ext cx="108813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8890" y="5534025"/>
            <a:ext cx="106908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원본으로 재계산 · 현장 확인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22935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22935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보안 확인 사항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6229350"/>
            <a:ext cx="108813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8890" y="6229350"/>
            <a:ext cx="106908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번호 가상화 · 보안정책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2467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92467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첫 30일 계획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6924675"/>
            <a:ext cx="108813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6924675"/>
            <a:ext cx="106908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1주 위치 → 2주 비교 → 4주 공유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8교시 · 평가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쓰고, 나누고, 확인하고, 챙긴다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데이터는 이 시간에 AI 에 올리지 않습니다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데이터 찾기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이미 쌓인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기록 세 가지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AI 와 계획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일반화한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설명만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팀 공유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2분씩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질문 하나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사후평가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사전과 같은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문항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계속 학습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사이트 메뉴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30일 복습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8교시 · 평가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 · 2단계 — 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 업무 데이터는 회사 자산이다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보안정책 먼저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외부 생성형 AI 사용이 허용되는지 회사 보안정책을 확인한다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형태만 설명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값 대신 열 구성과 형태만 적어 분석 방법을 묻는다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가상화한 표본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회사명 · 설비 번호 · 공정 조건은 가상 값으로 바꾼다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계산은 사내에서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계산은 사내 Excel 에서 하고 결과를 검증한다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올리지 않는 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도면 · 공정 조건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개인정보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8교시 · 평가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사후평가 — 사이트 /assessment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사전평가 때와 같은 PC·같은 브라우저에서 응시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정답을 찾아보지 말고 지금 아는 만큼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 화면에서 사전 · 사후 점수와 영역별 변화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가장 오른 영역 · 아직 약한 영역을 하나씩 메모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같은 문항이라 점수 차이가 곧 4일의 변화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8교시 · 평가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과정이 끝나도 다시 찾아올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10000"/>
            <a:ext cx="371475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05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프롬프트 예시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/prompts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고쳐 쓰기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810000"/>
            <a:ext cx="371475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프롬프트 평가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/prompt-eval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빠진 요소 점검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810000"/>
            <a:ext cx="371475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920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학습 노트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/learning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32차시 다시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810000"/>
            <a:ext cx="371475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실습 자료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/materials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7종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8교시 · 평가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과정을 마치기 전에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적용계획 여섯 칸 · 1주 차 할 일이 바로 할 크기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적용계획에 보안 확인 사항이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사후평가 제출 · 사전 · 사후 비교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 흐름을 내 말로 설명할 수 있다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8교시 · 평가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과정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 과정을 마칩니다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낸 숫자는 Excel 로 한 번 더 — 이 습관을 현업에서도 이어 가세요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실제 데이터 전에 보안정책부터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사실과 추정을 나눠 보고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첫 30일은 작게 시작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막히면 사이트 메뉴로 다시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현업 적용계획 1장과 사후평가 비교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