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DML 기초와 트랜잭션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INSERT·UPDATE·DELETE, 시드 적재, COMMIT과 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INSERT로 단건·다건·조회 결과 삽입을 수행한다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UPDATE·DELETE에서 WHERE의 역할을 알고 안전하게 수정·삭제한다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DELETE·TRUNCATE·DROP의 차이를 설명한다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ACID 특성을 이해하고 COMMIT·ROLLBACK으로 제어한다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취소·재고 복구 같은 업무를 하나의 트랜잭션으로 묶는다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지난주 DDL로 만든 빈 그릇에 다온유통 데이터를 채웁니다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 — 데이터 삽입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시드 데이터 적재 (핵심 실습)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UPDATE — 데이터 수정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DELETE / TRUNCATE / DROP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 — 전부 성공 아니면 전부 취소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INSERT — 데이터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 쓰는 법 ①~③ — 컬럼 목록이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790634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790634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066669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066669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894772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894772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170807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170807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998910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998910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274945"/>
            <a:ext cx="8953500" cy="276034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274945"/>
            <a:ext cx="47625" cy="276034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173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① 컬럼 지정 (권장): 테이블 구조가 바뀌어도 안전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customers (cust_id, name, grade, city, email, joined_date, points)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VALUES ('C011', '강현우', 'SILVER', '서울', 'hyunwoo@example.com', '2026-07-01', 0);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② 컬럼 생략: 반드시 테이블 정의 순서대로 모든 값을 나열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customers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VALUES ('C012', '노은채', 'SILVER', '대구', 'eunchae@example.com', '2026-07-03', 0);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③ 일부 컬럼만 지정: 나머지는 DEFAULT 값 또는 NULL이 들어간다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customers (cust_id, name, joined_date)</a:t>
            </a:r>
          </a:p>
          <a:p>
            <a:pPr algn="l">
              <a:lnSpc>
                <a:spcPts val="2173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VALUES ('C013', '유지호', '2026-07-05');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2–3행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7개 ↔ 값 7개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순서대로 1:1 대응, 문자열·날짜는 작은따옴표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6–7행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목록 생략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 순서 그대로 7개 — 하나라도 빠지면 오류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10–11행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 컬럼만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grade·points는 DEFAULT, city·email은 NULL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 골격: INSERT INTO 테이블 (컬럼목록) VALUES (값목록);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INSERT — 데이터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 쓰는 법 ④·⑤ — 여러 행, 조회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198114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19811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539871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539871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565142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565142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906899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906899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248656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248656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④ 여러 행 한 번에 (성능상 유리)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products (prod_id, name, category, price, stock) VALUES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('P011', '스테인리스 텀블러', '생활용품', 15000, 40),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('P012', '형광펜 5색 세트', '문구', 5500, 150);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⑤ 다른 테이블의 조회 결과를 삽입 (INSERT ... SELECT)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CREATE TABLE vip_customers LIKE customers;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vip_customers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* FROM customers WHERE grade = 'VIP';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352082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334937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334937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3–4행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(행), (행)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쉼표로 이어 붙이고 마지막 행은 세미콜론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471697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454552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454552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구조만 복사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LIKE — 데이터는 아직 0행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522960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505815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505815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8–9행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VALUES 자리에 SELECT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 고객 전체 컬럼 — 컬럼 수·순서가 같아야 한다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vip_customers는 분석용 사본 — 4절의 삭제 명령 실습에 다시 쓴다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INSERT — 데이터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제약조건은 INSERT 시점에 작동한다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3337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1062 (Duplicate entry)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4290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등록된 이메일로 다시 넣었다 — UNIQUE가 막는다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4290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3337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중복을 무시하려면 INSERT IGNORE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28625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428625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7244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428625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1452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8196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428625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428625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존재하지 않는 고객번호로 주문을 넣었다 — 외래키가 막는다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8196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428625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428625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7244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428625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부모 행(고객)을 먼저 넣는다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56769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56769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61150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56769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키가 있으면 갱신하고 싶다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6210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567690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567690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INSERT는 새 행만 넣는다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6210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56769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56769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61150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56769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 ... ON DUPLICATE KEY UPDATE (MySQL 전용)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오류 번호를 읽으면 어느 제약이 막았는지 바로 알 수 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20850" y="1181100"/>
            <a:ext cx="2724150" cy="590550"/>
          </a:xfrm>
          <a:prstGeom prst="roundRect">
            <a:avLst>
              <a:gd name="adj" fmla="val 50000"/>
            </a:avLst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7447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0" y="12954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89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896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적재 순서 = 외래키 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직원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employees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8명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고객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10명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상품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주문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15건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 주문 상세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부모(직원·고객·상품)를 먼저, 자식(주문 → 주문 상세)을 나중에 — 순서를 바꾸면 ERROR 1452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앞으로 모든 주차의 예제·퀴즈·시험은 이 데이터로 답이 계산된다 — 반드시 그대로 실행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20850" y="1181100"/>
            <a:ext cx="2724150" cy="590550"/>
          </a:xfrm>
          <a:prstGeom prst="roundRect">
            <a:avLst>
              <a:gd name="adj" fmla="val 50000"/>
            </a:avLst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7447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0" y="12954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89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896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직원 8명 — 팀장 3명, E008은 연봉 NULL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값 순서: emp_id, name, dept, position, hire_date, salary(만원), manager_id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employees VALUES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('E001','김성호','영업팀','팀장','2018-03-05',520,NULL),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('E002','이지은','영업팀','대리','2021-07-01',380,'E001'),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('E003','박준영','영업팀','사원','2024-01-15',310,'E001'),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('E004','최민서','마케팅팀','팀장','2019-09-02',500,NULL),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('E005','정다은','마케팅팀','사원','2023-05-10',320,'E004'),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('E006','강태윤','물류팀','팀장','2020-02-17',480,NULL),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('E007','윤서준','물류팀','사원','2025-03-03',300,'E006'),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('E008','조하늘','경영지원팀','사원','2026-01-05',NULL,NULL);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manager_id는 자기참조 FK — 상사(E001·E004·E006)를 먼저 넣어야 부하 행이 들어간다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20850" y="1181100"/>
            <a:ext cx="2724150" cy="590550"/>
          </a:xfrm>
          <a:prstGeom prst="roundRect">
            <a:avLst>
              <a:gd name="adj" fmla="val 50000"/>
            </a:avLst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7447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0" y="12954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89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896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고객 10명 — 미입력 칸이 있는 고객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값 순서: cust_id, name, grade, city, email, joined_date, points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customers VALUES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('C001','한가람','VIP','서울','garam@example.com','2024-03-12',4500),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('C002','오세영','GOLD','부산','seyoung@example.com','2024-06-20',2300),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('C003','김도현','SILVER','서울','dohyun@example.com','2025-01-08',800),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('C004','임수빈','VIP','대전','subin@example.com','2023-11-02',5200),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('C005','박서연','SILVER','광주',NULL,'2025-04-17',300),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('C006','장민혁','GOLD','서울','minhyuk@example.com','2024-09-30',1900),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('C007','문예린','SILVER',NULL,'yerin@example.com','2025-08-25',450),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('C008','신우진','SILVER','부산','woojin@example.com','2026-02-14',150),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('C009','배소율','GOLD','인천','soyul@example.com','2025-06-11',2100),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('C010','서지안','SILVER','대전','jian@example.com','2026-03-01',0);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UNIQUE 컬럼이라도 NULL은 여러 행 허용 · C010은 주문이 한 건도 없는 고객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20850" y="1181100"/>
            <a:ext cx="2724150" cy="590550"/>
          </a:xfrm>
          <a:prstGeom prst="roundRect">
            <a:avLst>
              <a:gd name="adj" fmla="val 50000"/>
            </a:avLst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7447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0" y="12954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89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896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상품 10종 — P004 품절, P010 주문 0건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값 순서: prod_id, name, category, price(원), stock(재고 수량)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products VALUES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('P001','무선 전기포트','가전',42000,25),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('P002','공기청정기','가전',189000,8),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('P003','유기농 원두 500g','식품',18500,60),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('P004','제주 감귤 3kg','식품',24000,0),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('P005','곡물 시리얼 세트','식품',15800,42),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('P006','대나무 칫솔 4입','생활용품',6900,120),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('P007','천연 세탁세제','생활용품',12500,75),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('P008','접이식 장바구니','생활용품',9800,50),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('P009','3색 볼펜 세트','문구',4500,200),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('P010','A5 스프링 노트','문구',3200,180);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P004 → 발주 대상 조회 실습 · P010 → 비인기 상품 찾기 실습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20850" y="1181100"/>
            <a:ext cx="2724150" cy="590550"/>
          </a:xfrm>
          <a:prstGeom prst="roundRect">
            <a:avLst>
              <a:gd name="adj" fmla="val 50000"/>
            </a:avLst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7447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0" y="12954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89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896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주문 15건 — 여기만 컬럼을 명시한다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16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orders (order_id, cust_id, emp_id, order_date, status) VALUES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(1001,'C001','E002','2026-01-10','배송완료'),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(1002,'C002',NULL,  '2026-01-22','배송완료'),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(1003,'C004','E002','2026-02-03','배송완료'),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(1004,'C001',NULL,  '2026-02-14','배송완료'),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(1005,'C006','E003','2026-02-27','취소'),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(1006,'C003',NULL,  '2026-03-05','배송완료'),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(1007,'C009','E002','2026-03-18','배송완료'),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(1008,'C004',NULL,  '2026-03-29','배송완료'),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(1009,'C008','E003','2026-04-08','배송완료'),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(1010,'C001',NULL,  '2026-04-21','배송완료'),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(1011,'C006','E002','2026-05-02','배송중'),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(1012,'C002',NULL,  '2026-05-16','배송중'),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(1013,'C007','E003','2026-05-27','취소'),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(1014,'C004',NULL,  '2026-06-04','배송중'),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(1015,'C005','E002','2026-06-10','주문접수');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order_id는 AUTO_INCREMENT지만 정답 계산이 흔들리지 않게 번호를 직접 지정 · emp_id NULL 7건 = 온라인 주문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20850" y="1181100"/>
            <a:ext cx="2724150" cy="590550"/>
          </a:xfrm>
          <a:prstGeom prst="roundRect">
            <a:avLst>
              <a:gd name="adj" fmla="val 50000"/>
            </a:avLst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7447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0" y="12954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89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896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⑤ 주문 상세 25건 — 복합키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17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값 순서: order_id, prod_id, qty(수량), unit_price(주문 당시 단가)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order_items VALUES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(1001,'P001',1,42000),(1001,'P003',2,18500),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(1002,'P006',3,6900),(1002,'P007',1,12500),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(1003,'P002',1,189000),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(1004,'P005',2,15800),(1004,'P009',5,4500),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(1005,'P004',2,24000),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(1006,'P003',1,18500),(1006,'P006',2,6900),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(1007,'P007',2,12500),(1007,'P008',1,9800),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(1008,'P001',1,42000),(1008,'P004',3,24000),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(1009,'P009',10,4500),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(1010,'P002',1,189000),(1010,'P003',2,18500),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(1011,'P005',3,15800),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(1012,'P008',2,9800),(1012,'P006',1,6900),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(1013,'P003',1,18500),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(1014,'P007',1,12500),(1014,'P009',3,4500),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(1015,'P001',1,42000),(1015,'P005',1,15800);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unit_price를 따로 두는 이유 — products.price가 바뀌어도 주문 당시 금액은 그대로 남아야 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적재 결과 확인 — 행 수를 대조한다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기대값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826770"/>
          </a:xfrm>
          <a:prstGeom prst="roundRect">
            <a:avLst>
              <a:gd name="adj" fmla="val 691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82677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직원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674370"/>
          </a:xfrm>
          <a:prstGeom prst="roundRect">
            <a:avLst>
              <a:gd name="adj" fmla="val 11299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3054668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FROM employees;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779520"/>
            <a:ext cx="4000500" cy="826770"/>
          </a:xfrm>
          <a:prstGeom prst="roundRect">
            <a:avLst>
              <a:gd name="adj" fmla="val 691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779520"/>
            <a:ext cx="57150" cy="82677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779520"/>
            <a:ext cx="34671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855720"/>
            <a:ext cx="7543800" cy="674370"/>
          </a:xfrm>
          <a:prstGeom prst="roundRect">
            <a:avLst>
              <a:gd name="adj" fmla="val 11299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3995738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FROM customers;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779520"/>
            <a:ext cx="38100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720590"/>
            <a:ext cx="4000500" cy="826770"/>
          </a:xfrm>
          <a:prstGeom prst="roundRect">
            <a:avLst>
              <a:gd name="adj" fmla="val 691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720590"/>
            <a:ext cx="57150" cy="82677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720590"/>
            <a:ext cx="34671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796790"/>
            <a:ext cx="7543800" cy="674370"/>
          </a:xfrm>
          <a:prstGeom prst="roundRect">
            <a:avLst>
              <a:gd name="adj" fmla="val 11299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4936808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FROM products;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720590"/>
            <a:ext cx="38100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661660"/>
            <a:ext cx="4000500" cy="826770"/>
          </a:xfrm>
          <a:prstGeom prst="roundRect">
            <a:avLst>
              <a:gd name="adj" fmla="val 691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5661660"/>
            <a:ext cx="57150" cy="82677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9700" y="5661660"/>
            <a:ext cx="34671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2100" y="5737860"/>
            <a:ext cx="7543800" cy="674370"/>
          </a:xfrm>
          <a:prstGeom prst="roundRect">
            <a:avLst>
              <a:gd name="adj" fmla="val 11299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deckgen:code"/>
          <p:cNvSpPr txBox="1"/>
          <p:nvPr/>
        </p:nvSpPr>
        <p:spPr>
          <a:xfrm>
            <a:off x="5524500" y="5877878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FROM orders;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39750" y="5661660"/>
            <a:ext cx="38100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602730"/>
            <a:ext cx="4000500" cy="826770"/>
          </a:xfrm>
          <a:prstGeom prst="roundRect">
            <a:avLst>
              <a:gd name="adj" fmla="val 691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6602730"/>
            <a:ext cx="57150" cy="82677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9700" y="6602730"/>
            <a:ext cx="34671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상세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72100" y="6678930"/>
            <a:ext cx="7543800" cy="674370"/>
          </a:xfrm>
          <a:prstGeom prst="roundRect">
            <a:avLst>
              <a:gd name="adj" fmla="val 11299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deckgen:code"/>
          <p:cNvSpPr txBox="1"/>
          <p:nvPr/>
        </p:nvSpPr>
        <p:spPr>
          <a:xfrm>
            <a:off x="5524500" y="6818948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COUNT(*) FROM order_items;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39750" y="6602730"/>
            <a:ext cx="3810000" cy="826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COUNT(*)는 NULL이 있는 행도 센다 — 숫자가 다르면 어느 INSERT가 오류로 멈췄는지 결과 창 메시지를 다시 본다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시드 데이터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시드에 일부러 심어 둔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402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쓰이는 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E008 조하늘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salary NULL + manager_id NULL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 IS NULL 실습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C005 박서연 · C007 문예린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email NULL · city NULL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C007은 도시별 집계에서 빠진다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C010 서지안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0건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7주차 LEFT JOIN · 미주문 고객 찾기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P004 · P010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0(품절) · 주문 0건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발주 대상 조회 · 비인기 상품 찾기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1005 · 1013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 '취소'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집계 때 WHERE로 반드시 제외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emp_id NULL 7건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직원 없는 온라인 주문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NULL이 아니라 IS NULL로 찾는다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NULL·취소·미주문 데이터는 앞으로 NULL 처리와 조인 실습에서 계속 등장한다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UPDATE — 데이터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SET은 무엇을 어떻게, WHERE는 어느 행을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619506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619506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단일 컬럼 수정: 상품 가격 조정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products SET price = 45000 WHERE prod_id = 'P001';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여러 컬럼 동시 수정: 등급 승격 + 축하 포인트 지급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SET    grade  = 'GOLD',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points = points + 1000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cust_id = 'C003';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계산식 수정: 주문이 확정되면 재고를 차감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products SET stock = stock - 1 WHERE prod_id = 'P001';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기본키로 1행만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prod_id = 'P001'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70382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53237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53237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6–7행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쉼표로 나열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points는 바꾸기 전 값 — 현재에 1000을 더한다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636003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618858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618858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 대신 식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재고가 몇 개든 안전하게 1 줄어든다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 골격: UPDATE 테이블 SET 컬럼 = 값 WHERE 조건; — WHERE가 없으면 전체 행이 바뀐다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UPDATE — 데이터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CASE와 결합 — 전 고객 등급 일괄 재산정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SET    grade = CASE WHEN points &gt;= 4000 THEN 'VIP'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             WHEN points &gt;= 1500 THEN 'GOLD'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             ELSE 'SILVER' END;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의도된 일괄 수정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이런 경우가 아니면 WHERE는 필수다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2–4행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위에서부터 검사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4000 이상 VIP → 1500 이상 GOLD → 나머지 SILVER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실행 전에 SELECT name, points, CASE ... END FROM customers; 로 바뀔 등급을 먼저 눈으로 확인한다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UPDATE — 데이터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WHERE를 빠뜨리면 전 고객이 바뀐다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3337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UPDATE customers SET grade = 'VIP';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4290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WHERE가 없어 고객 10명 전원이 대상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4290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3337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333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할인·적립 정책이 통째로 무너진다 — 반드시 조건을 붙인다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28625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428625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7244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428625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어느 행이 바뀔지 모른다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8196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428625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428625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조건을 머릿속으로만 확인했다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8196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428625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428625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7244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7244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428625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WHERE 조건으로 SELECT를 먼저 실행한다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56769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5676900"/>
            <a:ext cx="57150" cy="12573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61150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56769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1175 (Safe Updates 모드)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6210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5676900"/>
            <a:ext cx="4495800" cy="1257300"/>
          </a:xfrm>
          <a:prstGeom prst="roundRect">
            <a:avLst>
              <a:gd name="adj" fmla="val 454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5676900"/>
            <a:ext cx="396240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 조건이 없는 UPDATE·DELETE를 Workbench가 막는다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6210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5676900"/>
            <a:ext cx="5334000" cy="125730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5676900"/>
            <a:ext cx="57150" cy="12573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61150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6115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5676900"/>
            <a:ext cx="4324350" cy="1257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자료실 2.4대로 끄거나 SET SQL_SAFE_UPDATES = 0;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Safe Updates는 안전장치이지만 WHERE name = '...' 같은 정상 문장도 막는다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DELETE / TRUNCATE /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지운다는 명령 셋 — 행, 전부,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4321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432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829050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82905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814887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814887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DELETE: 조건에 맞는 행만 삭제 (DML, 롤백 가능)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DELETE FROM vip_customers WHERE points &lt; 5000;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TRUNCATE: 전체 행을 즉시 제거 (DDL, 롤백 불가, AUTO_INCREMENT 초기화)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TRUNCATE TABLE vip_customers;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DROP: 테이블 구조 자체를 삭제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DROP TABLE vip_customers;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298846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81701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81701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조건 삭제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WHERE를 빼면 전체 행 — UPDATE와 같은 주의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97430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80285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80285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빈 그릇으로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불가, 구조(컬럼·제약)는 남는다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496014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478869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47886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통째로 제거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 정의·제약조건까지 사라진다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문장 모두 분석용 사본 vip_customers 대상 — 원본 customers는 그대로다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DELETE / TRUNCATE /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 명령 한눈에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TRUNCATE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DROP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921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조건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921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 (전체 삭제)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433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433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해당 없음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롤백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 (자동 커밋)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3870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3870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느림 (행 단위 로그)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921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53402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53402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AUTO_INCREMENT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869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2396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921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초기화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984480" y="62293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79730" y="62293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테이블과 함께 제거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 구조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66344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869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2396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1921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984480" y="69246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079730" y="69246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삭제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DELETE / TRUNCATE /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취소는 DELETE가 아니라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시드의 1005·1013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지워지지 않고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status '취소'로 남아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지우면 사라지는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취소율 분석도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문의 대응 근거도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기록성 데이터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지우지 않고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상태만 바꾼다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취소 기록이 곧 분석·CS 근거다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트랜잭션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취소 = 두 문장이 한 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장부 — 상태 변경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상태를 '취소'로 바꾼다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(기록은 지우지 않는다)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창고 — 재고 복구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때 차감했던 재고를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되돌린다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트랜잭션 = 하나의 논리적 작업 단위 — 모두 성공하거나 모두 실패, 한쪽만 반영되면 장부와 창고가 어긋난다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5.1 ACID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트랜잭션이 지키는 네 가지 성질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421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260" y="2781300"/>
            <a:ext cx="26822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326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781300"/>
            <a:ext cx="70027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보장 기법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원자성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326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51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Atomicity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885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수행되거나 전혀 수행되지 않음 (All or Nothing)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UNDO 로그, ROLLBACK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일관성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326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851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Consistency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전후로 무결성 제약이 유지됨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무결성 제약조건 검사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고립성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2326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851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Isolation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885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동시에 실행되는 트랜잭션끼리 간섭하지 않음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락(Lock), MVCC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지속성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23260" y="56197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8510" y="56197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Durability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885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커밋된 결과는 장애가 나도 영구히 보존됨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REDO 로그, 체크포인트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5.2 COMMIT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취소 처리를 한 단위로 묶기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56357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56357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539871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539871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881628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223385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223385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906899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906899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248656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248656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@@autocommit;      -- MySQL 기본값 1 (문장마다 자동 확정)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SET autocommit = 0;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START TRANSACTION;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orders   SET status = '취소'    WHERE order_id = 1005;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products SET stock  = stock + 2 WHERE prod_id  = 'P004';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COMMIT;                   -- 확정 (되돌릴 수 없음)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ROLLBACK;              -- 취소 (START TRANSACTION 시점으로 복원)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300818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283673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283673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2343150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2343150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2793206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27932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2457450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자동 커밋 끄기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COMMIT을 직접 할 때까지 확정되지 않는다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8000" y="369170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15650" y="352025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5650" y="35202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0" y="3757612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0" y="3757612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58600" y="4207669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58600" y="42076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3871912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 경계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BEGIN — COMMIT/ROLLBACK까지가 한 단위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68000" y="420433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5650" y="403288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5650" y="40328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0" y="5172075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0" y="5172075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58600" y="5622131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58600" y="56221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30100" y="5286375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5–6행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장부 + 창고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1005에는 P004 제주 감귤이 2개 담겨 있었다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68000" y="522960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15650" y="505815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15650" y="505815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30000" y="6586538"/>
            <a:ext cx="5715000" cy="1281112"/>
          </a:xfrm>
          <a:prstGeom prst="roundRect">
            <a:avLst>
              <a:gd name="adj" fmla="val 44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30000" y="6586538"/>
            <a:ext cx="57150" cy="1281112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58600" y="7036594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58600" y="70365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30100" y="6700838"/>
            <a:ext cx="4705350" cy="1052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8–9행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둘 중 하나로 끝낸다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의도와 맞으면 COMMIT, 이상하면 ROLLBACK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5.2 COMMIT /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SAVEPOINT — 부분 취소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56357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56357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198114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19811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539871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539871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881628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223385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223385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START TRANSACTION;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UPDATE customers SET points = points + 500 WHERE cust_id = 'C001';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SAVEPOINT sp1;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UPDATE customers SET points = points + 500 WHERE cust_id = 'C002';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ROLLBACK TO SAVEPOINT sp1;   -- C002 적립만 취소, C001 적립은 유지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COMMIT;                        -- C001 적립만 최종 반영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300818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283673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283673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30289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302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C001 한가람 500점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시작 뒤 첫 적립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334994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317849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317849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422910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422910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434340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되돌림 기준점 sp1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여기까지는 지키고 싶다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40334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38620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38620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6115050"/>
            <a:ext cx="5715000" cy="1752600"/>
          </a:xfrm>
          <a:prstGeom prst="roundRect">
            <a:avLst>
              <a:gd name="adj" fmla="val 32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6115050"/>
            <a:ext cx="57150" cy="17526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68008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68008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6229350"/>
            <a:ext cx="4705350" cy="15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4–6행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C002만 취소 후 확정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sp1 이후만 되돌리고, COMMIT이 따로 필요하다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5.3 경영 업무와 트랜잭션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트랜잭션으로 묶어야 하는 업무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접수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orders·order_items 삽입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재고 차감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취소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상태 변경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재고 복구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포인트 결제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포인트 차감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주문 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 이동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출고 창고 차감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입고 창고 가산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주의 — DDL(CREATE·ALTER·DROP·TRUNCATE)은 암시적 커밋을 일으켜 진행 중인 트랜잭션을 확정해 버린다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DELETE와 TRUNCATE의 차이로 옳지 않은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DELETE는 WHERE 조건을 사용할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TRUNCATE는 롤백할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TRUNCATE는 AUTO_INCREMENT를 초기화한다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DELETE는 테이블 구조까지 삭제한다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DELETE는 테이블 구조까지 삭제한다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DELETE는 행만 삭제하고 테이블 구조는 유지합니다. 구조까지 삭제하는 것은 DROP입니다.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INSERT는 컬럼을 명시하는 방식이 안전하다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UPDATE·DELETE는 WHERE를 반드시 확인 — 없으면 전체 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DELETE(DML·롤백 가능) / TRUNCATE(DDL·초기화) / DROP(구조 삭제)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같은 기록성 데이터는 지우지 않고 상태를 바꾼다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ACID = 원자성·일관성·고립성·지속성, 한 몸인 업무는 묶는다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DDL은 암시적 커밋 — 트랜잭션 안에서 쓰지 않는다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시드 데이터 적재 결과(8·10·10·15·25)를 꼭 확인해 두세요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5주차 · SELECT 기본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구조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작성 순서와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순서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조건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BETWEEN·IN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LIKE 패턴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 처리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 NULL과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3값 논리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정렬과 함수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BY·LIMIT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내장 함수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4주차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 적재한 다온유통 데이터로 다음 주부터 조회를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INSERT 다섯 가지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시드 데이터 적재와 행 수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WHERE를 확인하는 UPDATE·DELETE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COMMIT·ROLLBACK·SAVEPOINT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4주차 실습 10문항 · 퀴즈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