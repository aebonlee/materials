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4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C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1462653" cy="571500"/>
          </a:xfrm>
          <a:prstGeom prst="rect">
            <a:avLst/>
          </a:prstGeom>
        </p:spPr>
      </p:pic>
      <p:pic>
        <p:nvPicPr>
          <p:cNvPr id="12" name="Picture 11" descr="re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40" y="1028700"/>
            <a:ext cx="3941460" cy="4191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영업·마케팅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05250"/>
            <a:ext cx="16002000" cy="2247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활용</a:t>
            </a:r>
          </a:p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B2B 영업·고객관리 자동화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63627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3일 22시간 · 영업소·특수영업·해외영업 담당자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동양에이케이코리아 × 한국표준협회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2026 산업·일자리 전환 교육 · ReBuild 아카데미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프로세스마다 AI 가 맡을 자리를 찾고 영업 프롬프트를 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매출·고객 데이터로 고객 패턴과 이탈 위험을 읽고 실적 보고를 자동화한다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유형별 이메일·제안 메시지·클레임 응대와 견적·제안서를 AI 로 만든다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KPI 대시보드와 견적→수주→사후관리 자동화 흐름을 설계한다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발굴 → 상담 → 견적 → 제안 → 수주 → 사후관리, B2B 영업 흐름 전체에 AI 를 붙입니다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 · 22시간 · 6개 모듈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1116330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11163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584680" y="2781300"/>
            <a:ext cx="256032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584680" y="2781300"/>
            <a:ext cx="25603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1일차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44805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8530" y="344805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영업환경 변화 및 생성형 AI 기초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584680" y="3448050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79930" y="3448050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1일차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14337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8530" y="414337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영업 데이터 분석 및 CRM 활용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584680" y="4143375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79930" y="4143375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2일차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83870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8530" y="483870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커뮤니케이션 자동화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584680" y="4838700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79930" y="4838700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2일차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553402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8530" y="553402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견적·제안서 자동화 및 영업 고도화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584680" y="5534025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679930" y="5534025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622935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8530" y="622935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영업 자동화 및 데이터 대시보드 구축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584680" y="6229350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679930" y="6229350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83280" y="692467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8530" y="692467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영업 AI 자동화 실행체계 구축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584680" y="6924675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679930" y="6924675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11/6(금) ~ 11/8(일) · 집합 · 강의 + 실습 — 모든 프롬프트는 학습사이트에서 복사할 수 있습니다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대상 · 방법 · 준비물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대상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영업소·특수영업·해외영업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영업관리·마케팅 담당자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방법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짧은 개념 설명 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바로 따라 하는 실습 중심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준비물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ChatGPT 팀 플랜 계정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엑셀 · 학습사이트 접속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실습 데이터의 고객사·단가·수량은 전부 가상의 값입니다 — 회사 실제 거래 정보는 가져오지 않습니다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시작하기 전에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에 입력하지 않는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줄로 기억하기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기술·공정 비밀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4480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8770" y="34480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도면·배합비·공정 조건·설비 파라미터·원가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고객·거래 정보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1719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8770" y="41719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고객사 이름·단가·계약 조건·클레임 원문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개인·인사 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8958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8958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이름·연락처·사번·평가·급여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공시·재무 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6197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8770" y="56197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공시 전 실적·미확정 재무 수치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IT 보안 정보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63436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8770" y="63436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비밀번호·서버 주소·계정·내부 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오늘 화면의 제품명·수치·이름은 전부 가상의 값이거나 [빈칸]입니다 — 회사가 허용한 AI 서비스만 씁니다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진행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모든 실습은 다섯 단계로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화면을 보며 따라 하고, 잘된 프롬프트는 빈칸째 저장합니다 — 첫 답은 초안, 두 번째 요청에서 쓸 만해집니다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학습사이트의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 복사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채우기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[빈칸]에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가상의 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표로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점검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고치기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이어서 던질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빈칸째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폴더에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· 모듈 1 · 3시간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영업환경 변화 및 생성형 AI 기초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알루미늄 시장과 고객이 어떻게 바뀌고 있는지 짚고, 영업 프로세스마다 AI 가 맡을 자리를 찾아 첫 영업 프롬프트를 씁니다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알루미늄 시장 변화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고객이 묻는 것이 달라지고 있습니다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경량화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자동차·전기차·전자 부품의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무게 줄이기 요구가 커진다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가격 변동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LME 알루미늄 시세와 환율이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견적 단가를 수시로 흔든다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탄소·ESG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탄소 배출량·재활용 비율 자료를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요구하는 고객이 늘어난다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영업 담당자가 답해야 할 질문이 「얼마에?」에서 「얼마에 · 언제까지 · 어떤 근거로?」로 넓어졌습니다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영업 프로세스와 AI 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발굴 → 상담 → 견적 → 제안 → 수주 → 사후관리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발굴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조사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접근 메시지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86175" y="3028950"/>
            <a:ext cx="1333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385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19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미팅 준비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상담 기록 정리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81750" y="3028950"/>
            <a:ext cx="1333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견적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415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50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원가 구조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견적서 초안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077325" y="3028950"/>
            <a:ext cx="1333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972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307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제안서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비교표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1772900" y="3028950"/>
            <a:ext cx="1333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9253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586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계약 조건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목록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4468475" y="3028950"/>
            <a:ext cx="1333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사후관리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6208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7542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클레임 응대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재구매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문서·정리·초안이 많은 단계일수록 AI 효과가 큽니다 — 가격 결정과 약속은 사람이 합니다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고객사 조사와 첫 미팅 준비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확인된 사실과 추정을 나누기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알루미늄 부품을 납품하는 B2B 영업 담당자로서, 아래 [고객사 공개 정보] 를 바탕으로 첫 미팅 준비 자료를 만들어줘. 고객사 개요, 우리 제품과 맞닿을 만한 지점 세 가지, 미팅에서 물어볼 질문 다섯 개를 표로 주고, 공개 정보에 없는 내용은 '추정'이라고 표시해줘.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'추정' 표시가 붙은 내용을 미팅 전에 확인했는지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고객사 조사와 첫 미팅 준비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공개 정보만 넣기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홈페이지·기사·공시 같은 공개 자료만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질문을 받아 가기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답보다 좋은 질문이 첫 미팅을 살린다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사실과 추정을 나누기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추정을 사실처럼 말하면 신뢰를 잃는다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미팅 준비는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질문 다섯 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먼저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상황별 프롬프트 다섯 요소로 쓰기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역할·맥락·과업·형식·조건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영업 상황 [기존 고객에게 단가 인상 안내] 에 쓸 프롬프트를 다섯 요소(역할·맥락·과업·형식·조건)로 나눠 써줘. 요소마다 한 줄씩 표로 주고, 그 다섯 줄을 이어 붙인 완성 프롬프트도 함께 보여줘. 빠진 정보는 [빈칸] 으로 남겨줘.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틀로 '신규 고객 첫 연락' 상황도 만들어 비교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상황별 프롬프트 다섯 요소로 쓰기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다섯 요소를 표로 먼저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요소가 약한지 한눈에 보인다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빈칸을 일부러 남기기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다음 상황에도 그대로 다시 쓴다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상황 이름을 붙여 저장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「단가 인상 안내 v1」처럼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좋은 프롬프트는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다섯 요소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+ [빈칸]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업무 목록에서 자동화 영역 찾기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시간과 반복도로 점수 매기기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내 한 주 영업 업무 목록 [붙여 넣기] 을 보고, 업무마다 걸리는 시간·반복도·AI 적용 가능성(상·중·하)을 표로 매겨줘. AI 를 먼저 붙일 업무 세 개를 고르고 이유를 한 줄씩 적어줘. 사람이 꼭 해야 하는 업무는 따로 표시해줘.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고른 세 업무가 실제로 매주 반복되는 일인지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3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업무 목록에서 자동화 영역 찾기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 주 업무를 그대로 적기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기억이 아니라 달력·메일함을 보고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반복도가 핵심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번 30분보다 매주 열 번 5분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사람의 일을 지키기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가격 결정·약속·관계는 사람이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자동화 후보는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반복 많고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문서 많은 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1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시장 변화 세 가지를 우리 고객 질문으로 바꾼 메모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고객사 조사·첫 미팅 질문 다섯 개 준비 자료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다섯 요소로 나눈 영업 상황별 프롬프트 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를 먼저 붙일 내 영업 업무 세 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흐름 위에 AI 자리를 표시한 지도가 생겼습니다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· 모듈 2 · 3시간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데이터 분석 및 CRM 활용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매출·고객·제품 데이터를 정리해 고객 패턴과 이탈 위험을 읽고, 실적 보고를 숫자로 자동화합니다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영업 데이터 세 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매출 · 고객 · 제품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781300"/>
            <a:ext cx="70027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주요 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여기서 보는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매출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4480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8570" y="34480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월·고객 코드·품번·수량·금액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추이·계절성·고객별 비중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41719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8570" y="41719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코드·업종·지역·담당자·첫 거래일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고객군 나누기·담당 배분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제품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48958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8570" y="48958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품번·합금·형상·표준 단가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제품군별 마진·주력 품목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상담 기록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6197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8570" y="56197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날짜·고객·내용·다음 할 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기회 단계·후속 조치 누락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세 데이터를 고객 코드와 품번으로 이어야 분석이 됩니다 — ERP 에서 내려받은 표 그대로 시작합니다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고객을 읽는 세 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RFM · 증감률 · 이탈 신호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RFM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최근 주문 · 주문 빈도 · 주문 금액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점수로 고객을 나눈다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증감률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전년 같은 기간 대비 · 3개월 이동평균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달 숫자로 판단하지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이탈 신호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간격이 길어짐 · 품목 수 감소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문의 감소 · 견적만 받고 미발주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AI 에는 계산 기준을 문장으로 정해 주고, 숫자는 엑셀 수식으로 다시 확인합니다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매출 데이터 정리와 고객·제품별 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계산 기준을 먼저 밝히기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월별 매출 표 [붙여 넣기] 를 고객별·제품군별로 요약해줘. 고객별 연간 합계와 비중, 제품군별 합계, 전년 대비 증감률을 표로 주고, 계산에 쓴 기준(기간·합계 방식)을 먼저 밝혀줘. 비어 있는 칸은 0 으로 채우지 말고 표시만 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요약표 합계가 원본 합계와 같은지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4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매출 데이터 정리와 고객·제품별 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기간을 먼저 고정하기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「1~9월 누계, 전년 같은 기간 대비」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빈칸은 0 이 아니다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누락인지 무거래인지 사람이 판단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합계 대조는 필수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엑셀 SUM 으로 한 번 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요약은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기준 먼저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합계 대조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RFM 으로 고객 나누기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점수 구간을 정해 주기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고객별 최근 주문일·주문 횟수·주문 금액 표로 RFM 분석을 해줘. 세 항목을 각각 1~3점으로 나누는 구간을 먼저 제안하고, 고객마다 점수와 고객군(핵심·성장·관리·휴면)을 표로 줘. 고객군마다 영업 담당자가 할 일을 한 줄씩 적어줘.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'휴면' 고객만 모아 재접촉 메시지 초안으로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5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RFM 으로 고객 나누기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구간을 먼저 합의하기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구간이 바뀌면 고객군이 바뀐다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고객군 이름은 우리 말로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핵심·성장·관리·휴면처럼 팀이 쓰는 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할 일까지 받기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분류만 하면 보고서로 끝난다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RFM 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구간 합의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+ 할 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이탈 위험 고객 찾기와 실적 보고 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신호 기준을 숫자로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고객별 월 주문 표로 이탈 위험 고객을 찾아줘. 기준은 [최근 3개월 주문이 직전 3개월보다 30% 이상 줄었거나, 평소 주문 간격의 두 배가 지난 고객] 이야. 위험 고객을 근거 숫자와 함께 표로 주고, 이번 달 영업 실적 보고용 요약을 다섯 줄로 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위험 고객의 근거 숫자가 원본과 맞는지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6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이탈 위험 고객 찾기와 실적 보고 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신호를 숫자로 정하기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'줄어든 고객'이 아니라 「30% 이상」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근거 열을 요구하기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직전·최근 수치를 나란히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보고는 다섯 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실적·증감·위험 고객·원인 후보·다음 조치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이탈 신호는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기준을 숫자로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근거를 나란히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2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계산 기준이 밝혀진 고객별·제품군별 매출 요약표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RFM 점수와 고객군, 고객군별 할 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근거 숫자가 붙은 이탈 위험 고객 목록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실적 보고 다섯 줄 요약 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감이 아니라 숫자로 고객을 말할 수 있게 됐습니다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배운 것 한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가 이탈 위험 고객 목록을 만들어 주었습니다. 보고 전에 가장 먼저 할 일은?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① 목록을 그대로 팀장에게 보고한다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② 근거 숫자를 원본 표와 대조한다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③ 위험 고객에게 바로 할인을 제안한다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④ AI 에 원인을 단정해 달라고 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정답과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가 계산한 숫자는 원본과 대조해야 사실이 됩니다. 원인은 데이터만으로 단정할 수 없으니 '원인 후보'로 두고 고객과 통화해 확인합니다.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· 모듈 3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커뮤니케이션 자동화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유형에 맞춘 이메일·제안 메시지와 해외 고객 영문 메일, FAQ·클레임 응대 흐름을 AI 로 만듭니다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고객 응대 자동화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받기 → 분류 → 초안 → 확인 → 발송·기록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는 분류와 초안까지 — 발송 버튼과 약속은 언제나 담당자가 누릅니다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받기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메일·전화·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메신저 문의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견적·납기·품질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·클레임·기타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초안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유형별 틀로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답장 초안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숫자·약속·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어조 점검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발송·기록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보내고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상담 기록에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고객 유형별 어조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내용, 다른 말투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고객 유형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중요하게 보는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메시지에 넣을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구매팀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단가·납기·조건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숫자·기한·근거 자료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개발·기술팀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사양·공차·소재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합금·형상·시험 결과 [빈칸]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안정 공급·리스크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요약 세 줄·다음 단계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해외 고객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명확한 조건·일정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짧은 문장·Incoterms·단위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프롬프트에 고객 유형과 관계를 한 줄 적으면 어조가 맞춰집니다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유형별 이메일 세 판 만들기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같은 사실, 다른 독자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상황 [다음 달 납기가 1주 늦어짐] 을 고객사 구매팀·개발팀·경영진에게 보낼 이메일 세 판으로 써줘. 판마다 제목, 본문 다섯 문장 이내, 고객이 해 줄 일을 넣고, 상황에 없는 원인·보상은 지어내지 말고 [빈칸] 으로 남겨줘.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세 판의 날짜·수량이 서로 같은지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7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유형별 이메일 세 판 만들기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사실은 한 번만 적기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판이 같은 사실에서 나와야 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독자를 적어 주기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「구매팀 과장, 거래 5년」처럼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약속은 빈칸으로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보상·일정 약속은 사람이 정한다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이메일은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독자별로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세 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해외 고객 영문 메일과 한국어 대조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영문 옆에 한국어 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해외 고객에게 보낼 영문 메일을 써줘. 내용은 [견적 회신 · 단가 USD/kg · 최소 주문량 · 리드타임 · Incoterms FOB]. 짧은 문장으로 쓰고, 문단마다 한국어 뜻을 바로 아래에 붙여줘. 숫자·단위는 원문 그대로 두고, 정해지지 않은 조건은 [TBD] 로 남겨줘.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회신을 붙여 넣고 요점·질문·답할 것 정리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8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해외 고객 영문 메일과 한국어 대조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한국어 뜻을 붙이기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보내기 전에 내가 무엇을 약속하는지 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단위와 조건을 고정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USD/kg · FOB · 리드타임 [주]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짧은 문장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상대도 번역기를 쓴다고 생각하기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영문 메일은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짧게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한국어 대조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자주 묻는 질문(FAQ) 답변 모음 만들기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근거 자료에 있는 것만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고객 문의 기록 [붙여 넣기] 에서 자주 나오는 질문을 묶어 FAQ 열 개를 만들어줘. 질문·답변·근거 자료·담당 부서 네 열 표로 주고, 답이 근거 자료에 없으면 '담당 부서 확인'으로 남겨줘.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답변의 수치·규격이 근거 자료와 맞는지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9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자주 묻는 질문(FAQ) 답변 모음 만들기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문의 기록에서 시작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고객이 실제로 묻는 말로 질문을 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담당 부서 열 두기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영업이 답할 것과 넘길 것이 나뉜다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분기마다 다시 묶기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질문이 쌓이면 FAQ 를 고친다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FAQ 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실제 질문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+ 근거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클레임 접수 응대와 처리 흐름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사실 확인 전에는 인정하지 않기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고객사 품질 클레임 [붙여 넣기] 에 보낼 1차 회신을 써줘. 접수 확인, 확인할 사실, 회신 일정만 담고, 원인 인정이나 보상 약속은 넣지 마. 이어서 접수 → 사실 확인 → 원인 분석 → 대책 회신 → 종결 다섯 단계 처리 흐름을 단계별 담당·기한 표로 만들어줘.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1차 회신에 원인 인정·보상 문구가 없는지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10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클레임 접수 응대와 처리 흐름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1차 회신은 빠르게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내용보다 '받았다'가 먼저다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인정은 사실 확인 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품질팀 확인 전에 원인을 말하지 않는다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흐름을 표로 공유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품질팀·생산팀과 같은 표를 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클레임은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빠른 접수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신중한 인정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3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구매팀·개발팀·경영진용 이메일 세 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한국어 뜻이 붙은 해외 고객 영문 메일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근거·담당 부서가 붙은 FAQ 열 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클레임 1차 회신과 다섯 단계 처리 흐름표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고객에게 나가는 글 네 종류가 빈칸째 저장된 프롬프트로 남습니다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· 모듈 4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견적·제안서 자동화 및 영업 고도화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알루미늄 제품 견적의 구조를 나눠 보고, 견적서·제안서를 AI 로 만들며 수주율을 높이는 점검 체계를 세웁니다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알루미늄 제품 견적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소재 + 가공 + 표면처리 + 물류 + 이윤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668274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무엇으로 정해지나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자동화 포인트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소재비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861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중량 × (LME 시세 + 프리미엄) · 환율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시세 연동 수식·적용 기준일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가공비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압출·절단·가공 공정과 시간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공정별 표준 단가표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표면처리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861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아노다이징·도장 등 처리 면적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처리 종류별 단가 조회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포장·물류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포장 사양·운송 거리·조건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조건별 기본값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이윤·조건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0" y="63436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8610" y="63436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목표 마진·결제 조건·유효 기간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63436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9450" y="63436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승인 기준·유효 기간 자동 표기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숫자는 엑셀 수식이 계산하고, AI 는 구조 설명과 문서 초안을 맡습니다 — 단가는 언제나 [빈칸]에서 시작합니다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견적 → 제안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요청 정리 → 계산 → 견적서 → 제안서 → 점검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요청을 표로 정리하는 첫 단계가 가장 많이 틀립니다 — 빠진 사양부터 묻게 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요청 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사양·수량·납기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빠진 것 질문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엑셀 견적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계산표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견적서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조건·유효 기간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 초안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제안서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과제와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우리 해법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점검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숫자·조건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체크리스트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견적 요청을 사양 표로 정리하고 빠진 것 묻기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모르는 사양은 질문으로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고객 견적 요청 메일 [붙여 넣기] 을 사양 표(품명·합금·형상·치수·수량·표면처리·납기·납품 장소)로 정리해줘. 메일에 없는 항목은 비워 두고, 그 항목을 고객에게 물어볼 질문 메일 초안을 함께 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표의 값이 전부 메일 원문에 있는지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11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견적 요청을 사양 표로 정리하고 빠진 것 묻기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 칸을 미리 정하기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칸이 정해져야 빠진 것이 보인다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비운 칸은 질문으로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추측한 사양으로 견적하지 않는다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원문 인용으로 대조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 옆에 메일 구절을 붙여 보기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견적 요청은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표로 정리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빈칸은 질문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엑셀 견적 계산표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단가는 빈칸, 수식은 보이게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알루미늄 압출 부품 견적 계산표를 엑셀로 만들 수 있게 설계해줘. 열은 [중량·소재 단가·가공비·표면처리비·포장물류비·이윤율·견적 단가] 로 하고, 칸마다 들어갈 엑셀 수식과 입력 칸·계산 칸 구분을 표로 줘. 단가 값은 지어내지 말고 [빈칸] 으로 둬.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시세가 5% 오를 때 견적 단가 변화 칸 추가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12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엑셀 견적 계산표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입력과 계산을 나누기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입력 칸만 색을 칠한다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시세 기준일 칸 두기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언제 시세로 계산했는지 남긴다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수식은 엑셀이 계산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낸 숫자를 그대로 쓰지 않는다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견적표는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입력 칸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+ 보이는 수식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과제 중심 제안서 초안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고객의 과제에서 시작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고객 정보 [고객 과제·현재 문제·요구 일정] 로 제안서 초안 목차와 본문을 써줘. 목차는 고객 과제 → 우리 해법 → 품질·공급 근거 → 일정 → 견적 요약 → 다음 단계 순서로 하고, 근거 자료가 없는 주장에는 [근거 자료] 빈칸을 붙여줘.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근거 빈칸이 남은 주장을 그대로 내보내지 않았는지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13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과제 중심 제안서 초안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우리 자랑으로 시작하지 않기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장은 고객의 과제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주장마다 근거 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시험 성적·납품 실적은 사람이 채운다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견적은 요약만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상세 단가는 견적서로 따로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제안서는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과제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→ 우리 해법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견적·제안서 점검표와 수주·실주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실주 이유를 데이터로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견적서·제안서를 보내기 전 점검표를 열 개 항목으로 만들어줘(숫자·단위·유효 기간·조건·오탈자 등). 이어서 아래 지난 견적 결과 표 [수주·실주·이유] 로 실주 이유를 묶어 건수 표를 만들고, 수주율을 높일 방법 세 가지를 데이터 근거와 함께 제안해줘.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제안한 방법이 실제 실주 이유와 이어지는지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14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견적·제안서 점검표와 수주·실주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보내기 전 점검표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숫자·단위·유효 기간이 가장 많이 틀린다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실주 이유를 기록하기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기록이 없으면 분석도 없다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방법은 이유와 짝으로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가격 때문이면 가격 근거 자료를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수주율은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점검표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+ 실주 기록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4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빠진 사양을 묻는 견적 요청 정리표와 질문 메일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입력·계산 칸이 나뉜 엑셀 견적 계산표 설계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과제에서 시작하는 제안서 초안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보내기 전 점검표와 실주 이유 분석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견적과 제안이 사람마다 다르던 일이 같은 틀로 모였습니다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배운 것 한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로 견적서 초안을 만들 때 가장 알맞은 방법은?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① AI 가 제시한 단가를 그대로 쓴다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② 단가는 [빈칸]으로 두고 엑셀 수식으로 계산한다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③ 비슷한 고객의 단가를 AI 에 추정하게 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④ 유효 기간은 생략한다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정답과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단가는 시세·환율·공정에 따라 달라지고 회사의 결정입니다. AI 는 구조와 문서 초안을 맡고, 숫자는 엑셀 수식이 계산하며 사람이 승인합니다.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· 모듈 5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자동화 및 데이터 대시보드 구축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영업 파이프라인을 단계로 관리하고, SNS·디지털 마케팅 콘텐츠를 만들며, 영업 KPI 대시보드와 주간 보고를 자동화합니다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영업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기회 → 상담 → 견적 → 협상 → 수주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문의·소개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발굴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요구 파악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미팅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견적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견적서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발송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협상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조율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발주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단계마다 「다음 할 일과 날짜」가 비어 있는 건이 가장 먼저 놓치는 건입니다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영업 KPI 고르기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결과 지표 · 과정 지표 · 고객 지표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결과 지표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매출 · 목표 달성률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수주율 · 평균 수주 금액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과정 지표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신규 기회 수 · 견적 발송 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견적 회신까지 걸린 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지표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재구매율 · 이탈 위험 고객 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클레임 건수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대시보드에는 다섯 개 안팎만 — 지표가 많으면 아무도 보지 않습니다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파이프라인 표와 후속 조치 누락 찾기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다음 할 일 없는 건 찾기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영업 기회 목록 [붙여 넣기] 을 파이프라인 표(고객·단계·예상 금액·확률·다음 할 일·날짜)로 정리해줘. 다음 할 일이나 날짜가 비어 있는 건, 같은 단계에 30일 넘게 머문 건을 따로 표시하고, 이번 주에 먼저 연락할 다섯 건을 골라줘.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고른 다섯 건이 표의 날짜 기준과 맞는지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15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파이프라인 표와 후속 조치 누락 찾기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단계 이름을 고정하기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기회·상담·견적·협상·수주 다섯 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다음 할 일이 핵심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비어 있으면 그 건은 멈춘 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머문 날을 세기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30일 넘으면 다시 연락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파이프라인은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다음 할 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+ 날짜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SNS·디지털 마케팅 콘텐츠 만들기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공개해도 되는 정보만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우리 회사 알루미늄 부품의 [강점 한 가지 · 적용 분야] 를 소개하는 B2B 링크드인 게시글 한 편과 카드뉴스 다섯 장 문구를 써줘. 고객사 이름·단가·미공개 실적은 넣지 말고, 수치가 필요한 곳은 [공개 자료 확인] 빈칸으로 남겨줘.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게시 전 홍보 담당 확인을 거쳤는지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16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SNS·디지털 마케팅 콘텐츠 만들기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공개 정보만 쓰기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고객사명·단가는 게시물에 절대 넣지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 편에 한 메시지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강점 하나 · 적용 분야 하나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게시 전 확인 절차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홍보·법무 확인 뒤 게시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마케팅 글은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공개 정보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 메시지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KPI 대시보드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지표마다 공식과 출처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영업팀 월간 대시보드를 엑셀로 만들 수 있게 설계해줘. KPI 다섯 개를 골라 지표·공식·데이터 출처·갱신 주기·목표 칸을 표로 주고, 한 화면 배치(위 숫자 카드 · 가운데 추이 차트 · 아래 고객 표)를 그림 설명으로 줘. 목표 값은 [빈칸] 으로 둬.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피벗 테이블·차트 만드는 순서를 단계별로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17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KPI 대시보드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다섯 개만 고르기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결과·과정·고객 지표를 섞는다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공식을 글로 남기기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수주율 = 수주 건 ÷ 견적 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출처와 주기를 적기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누가 언제 채우는지가 대시보드의 수명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대시보드는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지표 다섯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공식·출처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주간 영업 보고 자동 작성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숫자는 표에서만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이번 주 영업 데이터 [실적 표 · 상담 기록 메모] 로 주간 영업 보고를 써줘. 실적 요약 세 줄, 주요 고객 동향, 이슈와 요청 사항, 다음 주 계획 순서로 쓰고, 숫자는 표에 있는 값만 쓰고 메모에 없는 고객 반응은 지어내지 마.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보고서의 숫자가 실적 표와 같은지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18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주간 영업 보고 자동 작성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양식을 먼저 고정하기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매주 같은 순서라야 비교된다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숫자 출처를 하나로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실적 표에 있는 값만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요청 사항을 분리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팀장이 결정할 것이 한눈에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주간 보고는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양식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표의 숫자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5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다음 할 일·날짜가 붙은 영업 파이프라인 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공개 정보만 쓴 링크드인 글과 카드뉴스 문구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공식·출처가 정해진 영업 KPI 대시보드 설계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양식의 주간 영업 보고 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현황이 한 장의 화면과 한 장의 보고서로 모입니다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· 모듈 6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AI 자동화 실행체계 구축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견적부터 사후관리까지 자동화 흐름을 그리고, 팀별 과제를 구현해 발표한 뒤 영업 DX 로드맵을 세웁니다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견적 → 수주 → 사후관리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끊기는 곳에 자동화를 붙입니다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견적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요청 정리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계산표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제안서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점검표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 확인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 전달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납품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납기 안내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변경 통보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사후관리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만족도·클레임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재구매 제안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44140" y="5086350"/>
            <a:ext cx="38100" cy="209550"/>
          </a:xfrm>
          <a:prstGeom prst="rect">
            <a:avLst/>
          </a:prstGeom>
          <a:solidFill>
            <a:srgbClr val="BBD5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605760" y="5086350"/>
            <a:ext cx="38100" cy="209550"/>
          </a:xfrm>
          <a:prstGeom prst="rect">
            <a:avLst/>
          </a:prstGeom>
          <a:solidFill>
            <a:srgbClr val="BBD5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44140" y="5295900"/>
            <a:ext cx="13037820" cy="38100"/>
          </a:xfrm>
          <a:prstGeom prst="rect">
            <a:avLst/>
          </a:prstGeom>
          <a:solidFill>
            <a:srgbClr val="BBD5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2453640" y="5162550"/>
            <a:ext cx="381000" cy="26670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단계와 단계 사이에서 정보가 다시 입력되는 곳이 자동화 1순위입니다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팀별 과제 진행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고르기 → 만들기 → 발표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고르기 (40분)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업무 가운데 하나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지금 시간 · 바뀐 뒤 시간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만들기 (100분)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 묶음 + 양식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 데이터로 시연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발표 (5분씩)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 · 후 · 남은 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팀 질문 하나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과제 예: 견적 요청 자동 정리 · 주간 보고 자동 작성 · 해외 메일 회신 세트 · 이탈 고객 재접촉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견적→수주→사후관리 자동화 흐름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사람이 승인하는 지점 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우리 팀의 견적부터 사후관리까지 업무 흐름 [단계별 지금 하는 일] 을 보고, 단계마다 자동화할 일·쓸 도구(엑셀·ChatGPT·메일 템플릿)·사람이 승인하는 지점을 표로 설계해줘. 다시 입력하는 정보가 있는 곳을 따로 표시해줘.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승인 지점이 가격·약속·발송 단계에 빠짐없이 있는지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19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견적→수주→사후관리 자동화 흐름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지금 하는 일부터 적기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이상적인 흐름이 아니라 실제 흐름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다시 입력하는 곳 찾기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정보를 두 번 치는 곳이 1순위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승인 지점을 박아 두기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가격·약속·발송은 사람이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자동화 흐름은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다시 입력 줄이기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+ 승인 지점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팀별 자동화 과제 정의서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전·후 시간을 숫자로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우리 팀이 고른 자동화 과제 [과제 이름] 의 정의서를 써줘. 문제, 지금 방식과 걸리는 시간, 바뀐 방식, 쓰는 프롬프트 목록, 기대 효과(시간·실수 감소), 남은 위험과 대응을 표로 정리하고, 측정하지 않은 숫자는 [측정 필요] 로 남겨줘.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기대 효과의 숫자가 실제로 잰 값인지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20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팀별 자동화 과제 정의서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전·후를 숫자로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「30분 → 10분」처럼 재서 적는다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프롬프트를 목록으로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과제가 끝나도 팀에 남는다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위험도 같이 적기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보안·오류·승인 누락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과제 정의서는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전·후 숫자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+ 남은 위험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과제 결과 발표 자료 다섯 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전·후 비교 한 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우리 팀 자동화 과제 정의서 [붙여 넣기] 로 5분 발표 자료 다섯 장을 구성해줘. 장마다 제목 한 줄과 핵심 세 줄, 넣을 그림·표를 적고, 셋째 장은 지금 방식과 바뀐 방식을 나란히 비교하는 표로 해줘. 정의서에 없는 성과는 쓰지 마.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다른 팀이 물을 만한 질문 세 개와 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21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과제 결과 발표 자료 다섯 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다섯 장이면 충분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문제·방법·전후 비교·시연·남은 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비교 표가 핵심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청중은 전·후 차이만 기억한다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시연은 가상 데이터로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 실제 자료는 화면에 띄우지 않는다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발표는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다섯 장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전·후 비교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DX 실행계획과 로드맵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누가·언제·무엇을 재는지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발표한 팀별 과제 [목록] 을 바탕으로 우리 영업 조직의 영업 DX 실행계획을 이번 주·이번 달·이번 분기로 나눠 표로 써줘. 칸은 할 일·담당 역할·완료 기준·잴 지표로 하고, 필요한 회사 지원(계정·교육·데이터)은 따로 정리해줘. 담당자 이름 대신 역할로 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할 일마다 완료 기준과 지표가 있는지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22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DX 실행계획과 로드맵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세 칸으로 나누기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주에 할 일이 있어야 시작된다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완료 기준을 적기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「했다」가 아니라 「무엇이 남는다」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회사 지원을 따로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계정·데이터 권한은 요청해야 생긴다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로드맵은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이번 주부터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잴 지표와 함께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6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승인 지점이 표시된 견적→사후관리 자동화 흐름표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전·후 시간을 잰 팀별 자동화 과제 정의서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전·후 비교 표가 들어간 발표 자료 다섯 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이번 주·달·분기 영업 DX 실행계획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교육장에서 만든 것이 돌아가서 이어질 계획으로 남습니다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배운 것 한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영업 자동화 흐름을 설계할 때 반드시 사람이 맡아야 하는 지점은?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① 견적 요청 메일을 표로 정리하기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② 주간 보고 초안 쓰기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③ 단가 확정과 고객에게 약속하는 메일 발송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④ FAQ 답변 묶기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정답과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정리·초안·분류는 AI 가 빠르게 해 줍니다. 그러나 단가를 정하고 고객에게 약속하는 순간은 회사의 결정이므로, 흐름 안에 사람의 승인 지점을 반드시 둡니다.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현업 적용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돌아가서 무엇부터 할 것인가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이번 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고객 매출 표를 요약표로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이탈 위험 고객 다섯 곳 연락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이번 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견적 계산표·점검표를 팀 공용으로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주간 보고를 같은 양식으로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이번 분기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과제 하나를 끝까지 운영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프롬프트를 팀 폴더에 빈칸째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고객사 이름·단가·계약 조건은 비식별 처리한 뒤에만 AI 에 넣습니다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1462653" cy="571500"/>
          </a:xfrm>
          <a:prstGeom prst="rect">
            <a:avLst/>
          </a:prstGeom>
        </p:spPr>
      </p:pic>
      <p:pic>
        <p:nvPicPr>
          <p:cNvPr id="5" name="Picture 4" descr="re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40" y="1028700"/>
            <a:ext cx="3941460" cy="419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영업·마케팅 과정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과정 마무리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실습한 프롬프트 22개는 학습사이트에서 언제든 다시 복사할 수 있습니다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조사·RFM·이탈 위험 분석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유형별 이메일·영문 메일·클레임 응대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견적 계산표·제안서·점검표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대시보드·주간 보고·DX 실행계획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산출물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프롬프트 22개 · 견적·제안 틀 · 팀 과제 정의서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