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4일차 5교시 · 실행계획과 최종 보고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개선안 실행계획 수립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과제 · 일정 · 담당 · KPI 를 한 표로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45분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1위 대안을 과제와 세부 활동(WBS)으로 쪼개고 담당 · 일정을 붙인다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성과지표마다 기준선 · 목표값 · 점검 주기를 정한다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초안을 자원 · 승인 · 안전으로 점검해 간트 표로 완성한다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결과물은 07_improvement_workbook 의 4_실행계획 시트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5교시 · 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실행계획의 일곱 요소 — 좋은 예와 나쁜 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요소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2781300"/>
            <a:ext cx="66827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2781300"/>
            <a:ext cx="6682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좋은 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나쁜 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80238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6118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과제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3448050"/>
            <a:ext cx="66827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8730" y="3448050"/>
            <a:ext cx="64922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T1 SF-02 열전대 재교정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04320" y="3448050"/>
            <a:ext cx="54406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99570" y="3448050"/>
            <a:ext cx="52501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품질 개선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044043"/>
            <a:ext cx="380238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044043"/>
            <a:ext cx="36118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세부 활동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3480" y="4044043"/>
            <a:ext cx="66827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8730" y="4044043"/>
            <a:ext cx="64922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TC-3 교정 후 기록 입력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0" y="4044043"/>
            <a:ext cx="54406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99570" y="4044043"/>
            <a:ext cx="52501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설비 점검 강화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640036"/>
            <a:ext cx="380238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640036"/>
            <a:ext cx="36118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담당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4640036"/>
            <a:ext cx="66827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8730" y="4640036"/>
            <a:ext cx="64922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설비보전 · 품질 · 생산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704320" y="4640036"/>
            <a:ext cx="54406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799570" y="4640036"/>
            <a:ext cx="52501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 같이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236029"/>
            <a:ext cx="380238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236029"/>
            <a:ext cx="36118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일정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83480" y="5236029"/>
            <a:ext cx="66827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8730" y="5236029"/>
            <a:ext cx="64922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즉시 · 1개월 · 3개월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704320" y="5236029"/>
            <a:ext cx="54406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799570" y="5236029"/>
            <a:ext cx="52501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빠른 시일 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832021"/>
            <a:ext cx="380238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832021"/>
            <a:ext cx="36118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KPI · 목표값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83480" y="5832021"/>
            <a:ext cx="66827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8730" y="5832021"/>
            <a:ext cx="64922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온도편차 6°C 안팎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704320" y="5832021"/>
            <a:ext cx="54406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799570" y="5832021"/>
            <a:ext cx="52501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온도 안정화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428014"/>
            <a:ext cx="380238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428014"/>
            <a:ext cx="36118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점검 주기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983480" y="6428014"/>
            <a:ext cx="66827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78730" y="6428014"/>
            <a:ext cx="64922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2주간 매일 → 주 1회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704320" y="6428014"/>
            <a:ext cx="54406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799570" y="6428014"/>
            <a:ext cx="52501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수시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7024007"/>
            <a:ext cx="380238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7024007"/>
            <a:ext cx="36118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위험과 대응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983480" y="7024007"/>
            <a:ext cx="66827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78730" y="7024007"/>
            <a:ext cx="64922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정지 시 생산 계획 조정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704320" y="7024007"/>
            <a:ext cx="54406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799570" y="7024007"/>
            <a:ext cx="52501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없음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5교시 · 실습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선행지표와 후행지표를 섞어 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선행지표 — 원인 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매일 바로 움직임이 보인다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SF-02 온도편차 평균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체크리스트 이행률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교육 이수율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후행지표 — 결과 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몇 주가 쌓여야 판단할 수 있다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SF-02 불량률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소결밀도 Cpk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SF-02 OEE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5교시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돌아갈 기준선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목표값은 데이터 안에 이미 있다 — SF-02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44246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4424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3560" y="2781300"/>
            <a:ext cx="380238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6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PM 후 현재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64040" y="2781300"/>
            <a:ext cx="380238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6404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PM 전 기준선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304520" y="2781300"/>
            <a:ext cx="384048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304520" y="2781300"/>
            <a:ext cx="38404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온도편차 평균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23560" y="34480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8810" y="34480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16.6°C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64040" y="34480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59290" y="34480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6.0°C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304520" y="3448050"/>
            <a:ext cx="3840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399770" y="3448050"/>
            <a:ext cx="3649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6°C 안팎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소결밀도 Cpk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23560" y="41719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8810" y="41719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0.40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64040" y="41719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59290" y="41719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1.54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304520" y="4171950"/>
            <a:ext cx="3840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399770" y="4171950"/>
            <a:ext cx="3649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1.33 이상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불량률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23560" y="48958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18810" y="48958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6.50%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64040" y="48958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59290" y="48958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2.11%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304520" y="4895850"/>
            <a:ext cx="3840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399770" y="4895850"/>
            <a:ext cx="3649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2.1% 수준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6197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6197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OEE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23560" y="56197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18810" y="56197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64.9%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464040" y="56197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59290" y="56197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82.8%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3304520" y="5619750"/>
            <a:ext cx="3840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399770" y="5619750"/>
            <a:ext cx="3649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83% 수준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63436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63436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일평균 양품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623560" y="63436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18810" y="63436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5,749개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464040" y="63436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59290" y="63436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7,334개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3304520" y="6343650"/>
            <a:ext cx="3840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399770" y="6343650"/>
            <a:ext cx="3649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약 1,585개 회복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Cpk 1.33 은 현장에서 널리 쓰는 「공정능력 충분」 기준 · PM 전 실적 1.54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5교시 · 실습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다섯 단계 — 4_실행계획 시트 하나로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오전 3_대안평가매트릭스 의 1위 대안에서 시작합니다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과제 3개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멈추기 · 재발 막기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· 일찍 알기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AI 초안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WBS · 담당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· 일정 · KPI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기준선 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피벗으로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2.11% 재계산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간트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조건부 서식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막대 일정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현실성 점검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자원 · 승인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· 안전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5교시 · 실습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1위 대안을 세 갈래 과제로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0E2F4F"/>
          </a:solidFill>
          <a:ln w="9525">
            <a:solidFill>
              <a:srgbClr val="0E2F4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6195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65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T1 열전대 재교정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손실을 멈추는 응급조치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즉시 · 설비보전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6195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6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T2 재가동 체크리스트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누락을 막는 재발 방지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1개월 · 설비보전 · 생산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6195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87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T3 SPC 알람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다음 이상을 일찍 알기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3개월 · 품질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5교시 · 실습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간트 형태 — 같은 주에 같은 담당이 몰리는지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활동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781300"/>
            <a:ext cx="300228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781300"/>
            <a:ext cx="30022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담당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43900" y="2781300"/>
            <a:ext cx="140208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3900" y="2781300"/>
            <a:ext cx="14020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84080" y="2781300"/>
            <a:ext cx="140208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781300"/>
            <a:ext cx="14020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224260" y="2781300"/>
            <a:ext cx="18821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224260" y="2781300"/>
            <a:ext cx="18821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3~4주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144500" y="2781300"/>
            <a:ext cx="18821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144500" y="2781300"/>
            <a:ext cx="18821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2개월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064740" y="2781300"/>
            <a:ext cx="20802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064740" y="2781300"/>
            <a:ext cx="20802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3개월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3000" y="3448050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8250" y="3448050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T1 열전대 교정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0" y="3448050"/>
            <a:ext cx="30022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8770" y="3448050"/>
            <a:ext cx="28117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설비보전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43900" y="3448050"/>
            <a:ext cx="14020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9150" y="3448050"/>
            <a:ext cx="12115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84080" y="3448050"/>
            <a:ext cx="14020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9330" y="3448050"/>
            <a:ext cx="12115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224260" y="3448050"/>
            <a:ext cx="18821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319510" y="3448050"/>
            <a:ext cx="16916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144500" y="3448050"/>
            <a:ext cx="18821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239750" y="3448050"/>
            <a:ext cx="16916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5064740" y="3448050"/>
            <a:ext cx="20802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159990" y="3448050"/>
            <a:ext cx="18897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4044043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8250" y="4044043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T1 시험 소결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03520" y="4044043"/>
            <a:ext cx="30022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98770" y="4044043"/>
            <a:ext cx="28117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품질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43900" y="4044043"/>
            <a:ext cx="14020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39150" y="4044043"/>
            <a:ext cx="12115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84080" y="4044043"/>
            <a:ext cx="14020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79330" y="4044043"/>
            <a:ext cx="12115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■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224260" y="4044043"/>
            <a:ext cx="18821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319510" y="4044043"/>
            <a:ext cx="16916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3144500" y="4044043"/>
            <a:ext cx="18821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239750" y="4044043"/>
            <a:ext cx="16916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5064740" y="4044043"/>
            <a:ext cx="20802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5159990" y="4044043"/>
            <a:ext cx="18897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4640036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4640036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T2 체크리스트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303520" y="4640036"/>
            <a:ext cx="30022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98770" y="4640036"/>
            <a:ext cx="28117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설비보전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343900" y="4640036"/>
            <a:ext cx="14020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39150" y="4640036"/>
            <a:ext cx="12115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784080" y="4640036"/>
            <a:ext cx="14020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79330" y="4640036"/>
            <a:ext cx="12115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■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1224260" y="4640036"/>
            <a:ext cx="18821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319510" y="4640036"/>
            <a:ext cx="16916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■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3144500" y="4640036"/>
            <a:ext cx="18821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3239750" y="4640036"/>
            <a:ext cx="16916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5064740" y="4640036"/>
            <a:ext cx="20802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5159990" y="4640036"/>
            <a:ext cx="18897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143000" y="5236029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238250" y="5236029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T2 작업자 교육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303520" y="5236029"/>
            <a:ext cx="30022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398770" y="5236029"/>
            <a:ext cx="28117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생산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343900" y="5236029"/>
            <a:ext cx="14020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39150" y="5236029"/>
            <a:ext cx="12115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784080" y="5236029"/>
            <a:ext cx="14020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879330" y="5236029"/>
            <a:ext cx="12115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■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1224260" y="5236029"/>
            <a:ext cx="18821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1319510" y="5236029"/>
            <a:ext cx="16916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■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3144500" y="5236029"/>
            <a:ext cx="18821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3239750" y="5236029"/>
            <a:ext cx="16916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5064740" y="5236029"/>
            <a:ext cx="20802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5159990" y="5236029"/>
            <a:ext cx="18897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143000" y="5832021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238250" y="5832021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T3 관리한계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303520" y="5832021"/>
            <a:ext cx="30022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398770" y="5832021"/>
            <a:ext cx="28117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품질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343900" y="5832021"/>
            <a:ext cx="14020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439150" y="5832021"/>
            <a:ext cx="12115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784080" y="5832021"/>
            <a:ext cx="14020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879330" y="5832021"/>
            <a:ext cx="12115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1224260" y="5832021"/>
            <a:ext cx="18821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1319510" y="5832021"/>
            <a:ext cx="16916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3144500" y="5832021"/>
            <a:ext cx="18821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3239750" y="5832021"/>
            <a:ext cx="16916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■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5064740" y="5832021"/>
            <a:ext cx="20802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5159990" y="5832021"/>
            <a:ext cx="18897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143000" y="6428014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238250" y="6428014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T3 알람 시험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5303520" y="6428014"/>
            <a:ext cx="30022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398770" y="6428014"/>
            <a:ext cx="28117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보전 · 품질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8343900" y="6428014"/>
            <a:ext cx="14020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439150" y="6428014"/>
            <a:ext cx="12115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9784080" y="6428014"/>
            <a:ext cx="14020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879330" y="6428014"/>
            <a:ext cx="12115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11224260" y="6428014"/>
            <a:ext cx="18821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1319510" y="6428014"/>
            <a:ext cx="16916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13144500" y="6428014"/>
            <a:ext cx="18821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3239750" y="6428014"/>
            <a:ext cx="16916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■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5064740" y="6428014"/>
            <a:ext cx="20802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5159990" y="6428014"/>
            <a:ext cx="18897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■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143000" y="7024007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238250" y="7024007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효과 확인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5303520" y="7024007"/>
            <a:ext cx="30022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398770" y="7024007"/>
            <a:ext cx="28117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생산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8343900" y="7024007"/>
            <a:ext cx="14020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439150" y="7024007"/>
            <a:ext cx="12115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9784080" y="7024007"/>
            <a:ext cx="14020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879330" y="7024007"/>
            <a:ext cx="12115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11224260" y="7024007"/>
            <a:ext cx="18821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1319510" y="7024007"/>
            <a:ext cx="16916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13144500" y="7024007"/>
            <a:ext cx="18821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3239750" y="7024007"/>
            <a:ext cx="16916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15064740" y="7024007"/>
            <a:ext cx="20802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5159990" y="7024007"/>
            <a:ext cx="18897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■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5교시 · 실습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5단계 — 자주 틀리는 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초안은 우리 공장의 사정을 모른다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68274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682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위험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2781300"/>
            <a:ext cx="92811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781300"/>
            <a:ext cx="92811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대응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교정 중 SF-02 정지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448050"/>
            <a:ext cx="92811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9090" y="3448050"/>
            <a:ext cx="90906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SF-01 부하 조정 · 주말 교대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교정 표준기 의뢰 지연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4171950"/>
            <a:ext cx="92811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9090" y="4171950"/>
            <a:ext cx="90906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1주 차 첫 활동으로 의뢰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고온 설비 작업 안전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4895850"/>
            <a:ext cx="92811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9090" y="4895850"/>
            <a:ext cx="90906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냉각 확인 · 잠금(LOTO) 명시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SPC 오경보로 무시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0" y="5619750"/>
            <a:ext cx="92811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9090" y="5619750"/>
            <a:ext cx="90906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2주 시험 운영 뒤 임계값 조정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체크리스트 형식화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0" y="6343650"/>
            <a:ext cx="92811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9090" y="6343650"/>
            <a:ext cx="90906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기록 없으면 재가동 승인 안 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0866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담당 칸에 「전원」 · 일정 칸에 「수시」가 있으면 다시 씁니다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5교시 · 실습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 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세부 활동마다 담당 역할 하나가 붙어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선행지표와 후행지표가 함께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목표값마다 근거를 말할 수 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PM 전 불량률 2.11% 를 피벗으로 다시 계산했다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위험과 대응 표에 안전(냉각 · 잠금)이 있다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5교시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4일차 5교시 · 실습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다음은 관리자 보고자료 초안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4일의 산출물을 결론이 먼저 오는 한 장 보고서로 묶습니다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피라미드 원칙 — 결론 · 요청 먼저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숫자마다 출처, 문장마다 사실 · 추정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그림 2개 — 추세와 파레토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검증 체크리스트와 5장 개요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4_실행계획 시트와 위험 · 대응 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