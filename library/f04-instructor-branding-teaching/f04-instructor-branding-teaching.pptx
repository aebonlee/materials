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461" r:id="rId57"/>
    <p:sldId id="462" r:id="rId58"/>
    <p:sldId id="411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42" r:id="rId33"/>
    <p:sldId id="443" r:id="rId34"/>
    <p:sldId id="444" r:id="rId35"/>
    <p:sldId id="445" r:id="rId36"/>
    <p:sldId id="446" r:id="rId37"/>
    <p:sldId id="447" r:id="rId38"/>
    <p:sldId id="448" r:id="rId39"/>
    <p:sldId id="449" r:id="rId40"/>
    <p:sldId id="450" r:id="rId41"/>
    <p:sldId id="451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59" r:id="rId50"/>
    <p:sldId id="460" r:id="rId51"/>
    <p:sldId id="463" r:id="rId5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9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256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420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6B631F9-D6BD-F4D2-5CE7-7AE44E28C88C}"/>
              </a:ext>
            </a:extLst>
          </p:cNvPr>
          <p:cNvSpPr/>
          <p:nvPr/>
        </p:nvSpPr>
        <p:spPr>
          <a:xfrm>
            <a:off x="11498151" y="5128869"/>
            <a:ext cx="5501995" cy="3458262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 b="1"/>
          </a:p>
        </p:txBody>
      </p:sp>
      <p:pic>
        <p:nvPicPr>
          <p:cNvPr id="4" name="Image 0" descr="gen-dedup-7490c800398b65183e54e96c81b0a353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42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INSTRUCTOR · 4HR WORKSHOP</a:t>
            </a:r>
            <a:endParaRPr lang="en-US" sz="175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286000"/>
            <a:ext cx="16383305" cy="3458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00" b="1" kern="0" spc="-247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브랜딩과 교수법 </a:t>
            </a:r>
            <a:endParaRPr lang="en-US" sz="82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200" b="1" kern="0" spc="-247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학습자가 변화하도록</a:t>
            </a:r>
            <a:endParaRPr lang="en-US" sz="82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200" b="1" kern="0" spc="-247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강의를 설계한다</a:t>
            </a:r>
            <a:endParaRPr lang="en-US" sz="8200" b="1" dirty="0"/>
          </a:p>
        </p:txBody>
      </p:sp>
      <p:sp>
        <p:nvSpPr>
          <p:cNvPr id="7" name="Shape 4"/>
          <p:cNvSpPr/>
          <p:nvPr/>
        </p:nvSpPr>
        <p:spPr>
          <a:xfrm>
            <a:off x="1333195" y="6858000"/>
            <a:ext cx="28346" cy="886054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628546" y="6858000"/>
            <a:ext cx="8612305" cy="8860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"좋은 강사는 많이 아는 사람이 아니라,</a:t>
            </a:r>
            <a:endParaRPr lang="en-US" sz="2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학습자가 변화하도록 강의를 설계하고 전달하는 사람입니다."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126199" y="5416960"/>
            <a:ext cx="528351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 ·</a:t>
            </a:r>
            <a:r>
              <a:rPr lang="en-US" sz="2000" b="1" kern="0" spc="351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강사 브랜딩과 기획 역량</a:t>
            </a:r>
            <a:endParaRPr lang="en-US" sz="2000" b="1" dirty="0"/>
          </a:p>
        </p:txBody>
      </p:sp>
      <p:sp>
        <p:nvSpPr>
          <p:cNvPr id="10" name="Text 7"/>
          <p:cNvSpPr txBox="1"/>
          <p:nvPr/>
        </p:nvSpPr>
        <p:spPr>
          <a:xfrm>
            <a:off x="12126199" y="6165208"/>
            <a:ext cx="4970464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 ·</a:t>
            </a:r>
            <a:r>
              <a:rPr lang="en-US" sz="2000" b="1" kern="0" spc="351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강의 설계와 교안 작성</a:t>
            </a:r>
            <a:endParaRPr lang="en-US" sz="2000" b="1" dirty="0"/>
          </a:p>
        </p:txBody>
      </p:sp>
      <p:sp>
        <p:nvSpPr>
          <p:cNvPr id="11" name="Text 8"/>
          <p:cNvSpPr txBox="1"/>
          <p:nvPr/>
        </p:nvSpPr>
        <p:spPr>
          <a:xfrm>
            <a:off x="12126199" y="6913456"/>
            <a:ext cx="528351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3교시 ·</a:t>
            </a:r>
            <a:r>
              <a:rPr lang="en-US" sz="2000" b="1" kern="0" spc="351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교수법과 학습 몰입 설계</a:t>
            </a:r>
            <a:endParaRPr lang="en-US" sz="2000" b="1" dirty="0"/>
          </a:p>
        </p:txBody>
      </p:sp>
      <p:sp>
        <p:nvSpPr>
          <p:cNvPr id="12" name="Text 9"/>
          <p:cNvSpPr txBox="1"/>
          <p:nvPr/>
        </p:nvSpPr>
        <p:spPr>
          <a:xfrm>
            <a:off x="12126199" y="7661703"/>
            <a:ext cx="528351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4교시 ·</a:t>
            </a:r>
            <a:r>
              <a:rPr lang="en-US" sz="2000" b="1" kern="0" spc="351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스피치 전략과 강의 실습</a:t>
            </a:r>
            <a:endParaRPr lang="en-US" sz="2000" b="1" dirty="0"/>
          </a:p>
        </p:txBody>
      </p:sp>
      <p:sp>
        <p:nvSpPr>
          <p:cNvPr id="13" name="Text 10"/>
          <p:cNvSpPr txBox="1"/>
          <p:nvPr/>
        </p:nvSpPr>
        <p:spPr>
          <a:xfrm>
            <a:off x="16954805" y="1333195"/>
            <a:ext cx="952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D03F182-43BB-212C-5F40-CAEA28A6C0D5}"/>
              </a:ext>
            </a:extLst>
          </p:cNvPr>
          <p:cNvSpPr txBox="1"/>
          <p:nvPr/>
        </p:nvSpPr>
        <p:spPr>
          <a:xfrm>
            <a:off x="1333195" y="8953805"/>
            <a:ext cx="8578821" cy="68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Ph.D. 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이애본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(드림아이티비즈(DreamIT Biz)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ko-KR" altLang="en-US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altLang="ko-KR" sz="2400" b="1" kern="0" spc="144" dirty="0" err="1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aebon@dreamitbiz.com</a:t>
            </a:r>
            <a:r>
              <a:rPr lang="en-US" altLang="ko-KR" sz="2400" b="1" kern="0" spc="144" dirty="0"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400" b="1" dirty="0"/>
          </a:p>
        </p:txBody>
      </p:sp>
      <p:sp>
        <p:nvSpPr>
          <p:cNvPr id="1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20820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0108895" y="2104949"/>
            <a:ext cx="7429500" cy="7239305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11916461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결론 먼저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이 4시간이 끝나면 강사인 당신은 무엇을 갖게 됩니까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095805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 · 상 황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752344"/>
            <a:ext cx="8572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대부분의 강사는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"많이 아는 사람"</a:t>
            </a: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되기 위해 노력합니다.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자료를</a:t>
            </a: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모으고, 슬라이드를 쌓고, 사례를 늘립니다.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4095598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· 복잡 요인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753051"/>
            <a:ext cx="8572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그런데 같은 주제라도 어떤 강사는 다시 불립니다.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차이는</a:t>
            </a: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지식의 양이 </a:t>
            </a:r>
            <a:r>
              <a:rPr lang="en-US" sz="24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아니라</a:t>
            </a: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학습자의</a:t>
            </a:r>
            <a:r>
              <a:rPr lang="en-US" sz="2400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변화를 설계하는 역량입니다.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6286500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· 핵 심 질 문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6943039"/>
            <a:ext cx="8572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하면 강사는 </a:t>
            </a:r>
            <a:r>
              <a:rPr lang="en-US" sz="2400" b="1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자신의 전문성을 브랜드화하고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학습자가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진짜로 달라지는 강의를 설계하고 전달할 수 있는가?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489285" y="2390242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· 답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489285" y="2924251"/>
            <a:ext cx="6667805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브랜드 문장 → 강의 기획서 → 교안 → </a:t>
            </a:r>
            <a:r>
              <a:rPr lang="en-US" sz="2400" dirty="0" err="1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교수법</a:t>
            </a: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 3분 미니 </a:t>
            </a:r>
            <a:r>
              <a:rPr lang="en-US" sz="2400" dirty="0" err="1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</a:t>
            </a: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순서로</a:t>
            </a:r>
            <a:r>
              <a:rPr lang="ko-KR" altLang="en-US" sz="2400" dirty="0"/>
              <a:t> </a:t>
            </a:r>
            <a:r>
              <a:rPr lang="en-US" sz="2400" dirty="0">
                <a:solidFill>
                  <a:srgbClr val="FFB87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안에</a:t>
            </a: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강사로서의 전체 운영 체계를 직접 만듭니다.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489285" y="4835144"/>
            <a:ext cx="2194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832185" y="4835144"/>
            <a:ext cx="386242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 출 물 1 :</a:t>
            </a:r>
            <a:r>
              <a:rPr lang="en-US" sz="2400" dirty="0">
                <a:solidFill>
                  <a:srgbClr val="CDD8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나의 강사 브랜드 문장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489285" y="5495544"/>
            <a:ext cx="2194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0832185" y="5495544"/>
            <a:ext cx="291327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 출 물 2 :</a:t>
            </a:r>
            <a:r>
              <a:rPr lang="en-US" sz="2400" dirty="0">
                <a:solidFill>
                  <a:srgbClr val="CDD8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1장 강의 기획서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489285" y="6155944"/>
            <a:ext cx="2194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0832185" y="6155944"/>
            <a:ext cx="238109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 출 물 3 :</a:t>
            </a:r>
            <a:r>
              <a:rPr lang="en-US" sz="2400" dirty="0">
                <a:solidFill>
                  <a:srgbClr val="CDD8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1차시 교안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0489285" y="6816344"/>
            <a:ext cx="2194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0832185" y="6816344"/>
            <a:ext cx="353507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 출 물 4 :</a:t>
            </a:r>
            <a:r>
              <a:rPr lang="en-US" sz="2400" dirty="0">
                <a:solidFill>
                  <a:srgbClr val="CDD8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오프닝 스피치 원고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0489285" y="7476744"/>
            <a:ext cx="2194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832185" y="7476744"/>
            <a:ext cx="451622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 출 물 5 :</a:t>
            </a:r>
            <a:r>
              <a:rPr lang="en-US" sz="2400" dirty="0">
                <a:solidFill>
                  <a:srgbClr val="CDD8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3분 미니 강의 실습 피드백표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489285" y="8391449"/>
            <a:ext cx="66678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27" name="Text 25"/>
          <p:cNvSpPr txBox="1"/>
          <p:nvPr/>
        </p:nvSpPr>
        <p:spPr>
          <a:xfrm>
            <a:off x="10489285" y="8572500"/>
            <a:ext cx="66678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9DB4D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4시간 후 의뢰가 오면 브랜드 문장으로 답하고,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9DB4D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1장의 기획서로 시작합니다.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33195" y="8762695"/>
            <a:ext cx="781080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952195" y="9184742"/>
            <a:ext cx="9919005" cy="8394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15900" tIns="0" rIns="215900" bIns="2159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방법론 · 피라미드 원칙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결론 먼저, 근거는 그 아래 — Barbara Minto</a:t>
            </a:r>
            <a:endParaRPr lang="en-US" sz="24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9088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bf7bf5c8b85196e25683c72a2a1ceeb5.png"/>
          <p:cNvPicPr>
            <a:picLocks noChangeAspect="1"/>
          </p:cNvPicPr>
          <p:nvPr/>
        </p:nvPicPr>
        <p:blipFill>
          <a:blip r:embed="rId3"/>
          <a:srcRect l="-2061" r="-2061"/>
          <a:stretch/>
        </p:blipFill>
        <p:spPr>
          <a:xfrm>
            <a:off x="3556000" y="4900269"/>
            <a:ext cx="761695" cy="9144"/>
          </a:xfrm>
          <a:prstGeom prst="rect">
            <a:avLst/>
          </a:prstGeom>
        </p:spPr>
      </p:pic>
      <p:pic>
        <p:nvPicPr>
          <p:cNvPr id="5" name="Image 1" descr="gen-dedup-139f1523c62c16284b47ff2b5acb151a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4317695" y="2232964"/>
            <a:ext cx="9144" cy="5333695"/>
          </a:xfrm>
          <a:prstGeom prst="rect">
            <a:avLst/>
          </a:prstGeom>
        </p:spPr>
      </p:pic>
      <p:pic>
        <p:nvPicPr>
          <p:cNvPr id="6" name="Image 2" descr="gen-dedup-ccf177189feaeab08ab2cfcade83b19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4317695" y="2232964"/>
            <a:ext cx="571500" cy="9144"/>
          </a:xfrm>
          <a:prstGeom prst="rect">
            <a:avLst/>
          </a:prstGeom>
        </p:spPr>
      </p:pic>
      <p:pic>
        <p:nvPicPr>
          <p:cNvPr id="7" name="Image 3" descr="gen-dedup-ccf177189feaeab08ab2cfcade83b19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4317695" y="3947464"/>
            <a:ext cx="571500" cy="9144"/>
          </a:xfrm>
          <a:prstGeom prst="rect">
            <a:avLst/>
          </a:prstGeom>
        </p:spPr>
      </p:pic>
      <p:pic>
        <p:nvPicPr>
          <p:cNvPr id="8" name="Image 4" descr="gen-dedup-ccf177189feaeab08ab2cfcade83b19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4317695" y="5853074"/>
            <a:ext cx="571500" cy="9144"/>
          </a:xfrm>
          <a:prstGeom prst="rect">
            <a:avLst/>
          </a:prstGeom>
        </p:spPr>
      </p:pic>
      <p:pic>
        <p:nvPicPr>
          <p:cNvPr id="9" name="Image 5" descr="gen-dedup-ccf177189feaeab08ab2cfcade83b19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4317695" y="7567574"/>
            <a:ext cx="571500" cy="9144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3"/>
          <p:cNvSpPr txBox="1"/>
          <p:nvPr/>
        </p:nvSpPr>
        <p:spPr>
          <a:xfrm>
            <a:off x="1333195" y="761695"/>
            <a:ext cx="83823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구조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강사의 전문성 네 갈래로만 자릅니다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13" name="Text 5"/>
          <p:cNvSpPr txBox="1"/>
          <p:nvPr/>
        </p:nvSpPr>
        <p:spPr>
          <a:xfrm>
            <a:off x="1333195" y="4190695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468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핵 심 질 문</a:t>
            </a:r>
            <a:endParaRPr lang="en-US" sz="2000" dirty="0"/>
          </a:p>
        </p:txBody>
      </p:sp>
      <p:sp>
        <p:nvSpPr>
          <p:cNvPr id="14" name="Text 6"/>
          <p:cNvSpPr txBox="1"/>
          <p:nvPr/>
        </p:nvSpPr>
        <p:spPr>
          <a:xfrm>
            <a:off x="1333195" y="4686300"/>
            <a:ext cx="3238805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전문성은 어떻게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완성되는가?</a:t>
            </a:r>
            <a:endParaRPr lang="en-US" sz="2400" dirty="0"/>
          </a:p>
        </p:txBody>
      </p:sp>
      <p:sp>
        <p:nvSpPr>
          <p:cNvPr id="15" name="Text 7"/>
          <p:cNvSpPr txBox="1"/>
          <p:nvPr/>
        </p:nvSpPr>
        <p:spPr>
          <a:xfrm>
            <a:off x="1333195" y="6286500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195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네 갈래</a:t>
            </a:r>
            <a:endParaRPr lang="en-US" sz="2000" dirty="0"/>
          </a:p>
        </p:txBody>
      </p:sp>
      <p:sp>
        <p:nvSpPr>
          <p:cNvPr id="16" name="Shape 8"/>
          <p:cNvSpPr/>
          <p:nvPr/>
        </p:nvSpPr>
        <p:spPr>
          <a:xfrm>
            <a:off x="5080305" y="2386583"/>
            <a:ext cx="49533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Text 9"/>
          <p:cNvSpPr txBox="1"/>
          <p:nvPr/>
        </p:nvSpPr>
        <p:spPr>
          <a:xfrm>
            <a:off x="5080305" y="1852574"/>
            <a:ext cx="2103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0"/>
          <p:cNvSpPr txBox="1"/>
          <p:nvPr/>
        </p:nvSpPr>
        <p:spPr>
          <a:xfrm>
            <a:off x="5457038" y="1937613"/>
            <a:ext cx="19815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누구인가 (BRAND)</a:t>
            </a:r>
            <a:endParaRPr lang="en-US" sz="2000" dirty="0"/>
          </a:p>
        </p:txBody>
      </p:sp>
      <p:sp>
        <p:nvSpPr>
          <p:cNvPr id="19" name="Text 11"/>
          <p:cNvSpPr txBox="1"/>
          <p:nvPr/>
        </p:nvSpPr>
        <p:spPr>
          <a:xfrm>
            <a:off x="5080305" y="2610154"/>
            <a:ext cx="5890462" cy="600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누구에게 / 어떤 문제를 / 어떻게 해결하는 강사인가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1교시 (슬라이드 06~13) · 브랜드 문장</a:t>
            </a:r>
            <a:endParaRPr lang="en-US" dirty="0"/>
          </a:p>
        </p:txBody>
      </p:sp>
      <p:sp>
        <p:nvSpPr>
          <p:cNvPr id="20" name="Shape 12"/>
          <p:cNvSpPr/>
          <p:nvPr/>
        </p:nvSpPr>
        <p:spPr>
          <a:xfrm>
            <a:off x="5080305" y="4101083"/>
            <a:ext cx="49533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1" name="Text 13"/>
          <p:cNvSpPr txBox="1"/>
          <p:nvPr/>
        </p:nvSpPr>
        <p:spPr>
          <a:xfrm>
            <a:off x="5080305" y="3567074"/>
            <a:ext cx="2103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800" dirty="0"/>
          </a:p>
        </p:txBody>
      </p:sp>
      <p:sp>
        <p:nvSpPr>
          <p:cNvPr id="22" name="Text 14"/>
          <p:cNvSpPr txBox="1"/>
          <p:nvPr/>
        </p:nvSpPr>
        <p:spPr>
          <a:xfrm>
            <a:off x="5457038" y="3652113"/>
            <a:ext cx="32415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무엇을 설계하는가 (DESIGN)</a:t>
            </a:r>
            <a:endParaRPr lang="en-US" sz="2000" dirty="0"/>
          </a:p>
        </p:txBody>
      </p:sp>
      <p:sp>
        <p:nvSpPr>
          <p:cNvPr id="23" name="Text 15"/>
          <p:cNvSpPr txBox="1"/>
          <p:nvPr/>
        </p:nvSpPr>
        <p:spPr>
          <a:xfrm>
            <a:off x="5080305" y="4205325"/>
            <a:ext cx="5240373" cy="68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· 학습목표 · 산출물 · 시간표 · 교안의 4단 구조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2교시 (슬라이드 14~24) · 기획서 + 교안</a:t>
            </a:r>
            <a:endParaRPr lang="en-US" dirty="0"/>
          </a:p>
        </p:txBody>
      </p:sp>
      <p:sp>
        <p:nvSpPr>
          <p:cNvPr id="24" name="Shape 16"/>
          <p:cNvSpPr/>
          <p:nvPr/>
        </p:nvSpPr>
        <p:spPr>
          <a:xfrm>
            <a:off x="5080305" y="6005779"/>
            <a:ext cx="49533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Text 17"/>
          <p:cNvSpPr txBox="1"/>
          <p:nvPr/>
        </p:nvSpPr>
        <p:spPr>
          <a:xfrm>
            <a:off x="5080305" y="5471769"/>
            <a:ext cx="2103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18"/>
          <p:cNvSpPr txBox="1"/>
          <p:nvPr/>
        </p:nvSpPr>
        <p:spPr>
          <a:xfrm>
            <a:off x="5457038" y="5557723"/>
            <a:ext cx="310438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가르치는가 (TEACH)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5080305" y="6110020"/>
            <a:ext cx="5240373" cy="68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성인학습 · 참여형 수업 · 질문법 · 피드백 · 몰입 설계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3교시 (슬라이드 25~33) · 교수법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5080305" y="7720279"/>
            <a:ext cx="495330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9" name="Text 21"/>
          <p:cNvSpPr txBox="1"/>
          <p:nvPr/>
        </p:nvSpPr>
        <p:spPr>
          <a:xfrm>
            <a:off x="5080305" y="7186269"/>
            <a:ext cx="2103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2"/>
          <p:cNvSpPr txBox="1"/>
          <p:nvPr/>
        </p:nvSpPr>
        <p:spPr>
          <a:xfrm>
            <a:off x="5457038" y="7272223"/>
            <a:ext cx="310438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어떻게 전달하는가 (SPEAK)</a:t>
            </a:r>
            <a:endParaRPr lang="en-US" sz="2000" dirty="0"/>
          </a:p>
        </p:txBody>
      </p:sp>
      <p:sp>
        <p:nvSpPr>
          <p:cNvPr id="31" name="Text 23"/>
          <p:cNvSpPr txBox="1"/>
          <p:nvPr/>
        </p:nvSpPr>
        <p:spPr>
          <a:xfrm>
            <a:off x="5080305" y="7877556"/>
            <a:ext cx="5715000" cy="518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· 설명 · 질문 대응 · 마무리 · 3분 미니 강의 실습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4교시 (슬라이드 34~42) · 최종 실습</a:t>
            </a:r>
            <a:endParaRPr lang="en-US" dirty="0"/>
          </a:p>
        </p:txBody>
      </p:sp>
      <p:sp>
        <p:nvSpPr>
          <p:cNvPr id="32" name="Text 24"/>
          <p:cNvSpPr txBox="1"/>
          <p:nvPr/>
        </p:nvSpPr>
        <p:spPr>
          <a:xfrm>
            <a:off x="11811305" y="2095805"/>
            <a:ext cx="5143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429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MECE 자기 검증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11811305" y="2590495"/>
            <a:ext cx="5143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이 네 갈래만 다루는가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11811305" y="3255670"/>
            <a:ext cx="2002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12158777" y="3303218"/>
            <a:ext cx="48006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서로 겹치지 않는다</a:t>
            </a:r>
            <a:endParaRPr lang="en-US" dirty="0"/>
          </a:p>
        </p:txBody>
      </p:sp>
      <p:sp>
        <p:nvSpPr>
          <p:cNvPr id="36" name="Text 28"/>
          <p:cNvSpPr txBox="1"/>
          <p:nvPr/>
        </p:nvSpPr>
        <p:spPr>
          <a:xfrm>
            <a:off x="12158777" y="3614114"/>
            <a:ext cx="48006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1은 </a:t>
            </a:r>
            <a:r>
              <a:rPr lang="en-US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2는 </a:t>
            </a:r>
            <a:r>
              <a:rPr lang="en-US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설계물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3은 </a:t>
            </a:r>
            <a:r>
              <a:rPr lang="en-US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경험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4는 </a:t>
            </a:r>
            <a:r>
              <a:rPr lang="en-US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 행위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입력과 산출이 분리됩니다.</a:t>
            </a:r>
            <a:endParaRPr lang="en-US" dirty="0"/>
          </a:p>
        </p:txBody>
      </p:sp>
      <p:sp>
        <p:nvSpPr>
          <p:cNvPr id="37" name="Text 29"/>
          <p:cNvSpPr txBox="1"/>
          <p:nvPr/>
        </p:nvSpPr>
        <p:spPr>
          <a:xfrm>
            <a:off x="11811305" y="4451705"/>
            <a:ext cx="2002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12158777" y="4500168"/>
            <a:ext cx="48006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전체를 망라한다</a:t>
            </a:r>
            <a:endParaRPr lang="en-US" dirty="0"/>
          </a:p>
        </p:txBody>
      </p:sp>
      <p:sp>
        <p:nvSpPr>
          <p:cNvPr id="39" name="Text 31"/>
          <p:cNvSpPr txBox="1"/>
          <p:nvPr/>
        </p:nvSpPr>
        <p:spPr>
          <a:xfrm>
            <a:off x="12158777" y="4810150"/>
            <a:ext cx="48006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누구인가 → 무엇을 설계하는가 → 어떻게 가르치는가 → 어떻게 전달하는가. 강사 활동 전체.</a:t>
            </a:r>
            <a:endParaRPr lang="en-US" dirty="0"/>
          </a:p>
        </p:txBody>
      </p:sp>
      <p:sp>
        <p:nvSpPr>
          <p:cNvPr id="40" name="Text 32"/>
          <p:cNvSpPr txBox="1"/>
          <p:nvPr/>
        </p:nvSpPr>
        <p:spPr>
          <a:xfrm>
            <a:off x="11811305" y="5648654"/>
            <a:ext cx="2002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400" dirty="0"/>
          </a:p>
        </p:txBody>
      </p:sp>
      <p:sp>
        <p:nvSpPr>
          <p:cNvPr id="41" name="Text 33"/>
          <p:cNvSpPr txBox="1"/>
          <p:nvPr/>
        </p:nvSpPr>
        <p:spPr>
          <a:xfrm>
            <a:off x="12158777" y="5696203"/>
            <a:ext cx="4391863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네 갈래로만 자른다</a:t>
            </a:r>
            <a:endParaRPr lang="en-US" dirty="0"/>
          </a:p>
        </p:txBody>
      </p:sp>
      <p:sp>
        <p:nvSpPr>
          <p:cNvPr id="42" name="Text 34"/>
          <p:cNvSpPr txBox="1"/>
          <p:nvPr/>
        </p:nvSpPr>
        <p:spPr>
          <a:xfrm>
            <a:off x="12158777" y="6006185"/>
            <a:ext cx="517459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가지를 넘기면 4시간 안에 마무리되지 않습니다.</a:t>
            </a:r>
            <a:endParaRPr lang="en-US" dirty="0"/>
          </a:p>
        </p:txBody>
      </p:sp>
      <p:sp>
        <p:nvSpPr>
          <p:cNvPr id="43" name="Shape 35"/>
          <p:cNvSpPr/>
          <p:nvPr/>
        </p:nvSpPr>
        <p:spPr>
          <a:xfrm>
            <a:off x="1333195" y="876269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44" name="Text 36"/>
          <p:cNvSpPr txBox="1"/>
          <p:nvPr/>
        </p:nvSpPr>
        <p:spPr>
          <a:xfrm>
            <a:off x="1333195" y="8943746"/>
            <a:ext cx="15621610" cy="8193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MECE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Mutually Exclusive, Collectively Exhaustive 강의 목차가 곧 강사의 분해 </a:t>
            </a:r>
            <a:r>
              <a:rPr lang="en-US" sz="2000" dirty="0" err="1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구조입니다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가지가 겹치면 학습자는 같은 내용을 두 번 듣고, 빠지면 결과물이 나오지 않습니다.</a:t>
            </a:r>
            <a:endParaRPr lang="en-US" sz="20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8298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7524598"/>
            <a:ext cx="15620695" cy="1619402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7810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재정의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좋은 강사 무엇으로 결정되는가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04695"/>
            <a:ext cx="15621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시장에서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"지식의 양"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은 변별력이 빠르게 사라지고 있습니다.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AI가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그 자리를 대신합니다. 남는 변별력은 </a:t>
            </a:r>
            <a:r>
              <a:rPr lang="en-US" sz="20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"학습자의 변화를 설계하는 역량"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강의의 4시간은 그 역량의 5가지 축을 짓는 시간입니다.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33195" y="38354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4448556" y="3854602"/>
            <a:ext cx="9144" cy="24862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1333195" y="4159098"/>
            <a:ext cx="28867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626356"/>
            <a:ext cx="28867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정체성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088128"/>
            <a:ext cx="2886761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나는 어떤 강사인가 한 문장으로 말할 수 있는가.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1교시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573061" y="3854602"/>
            <a:ext cx="9144" cy="24862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4686300" y="4159098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86300" y="4626356"/>
            <a:ext cx="26581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설계력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86301" y="5088128"/>
            <a:ext cx="264810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강의 후 무엇을 직접 할 수 있는가를 정한다.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2교시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697566" y="3854602"/>
            <a:ext cx="9144" cy="24862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7810805" y="4159098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810805" y="4626356"/>
            <a:ext cx="26581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교수법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810805" y="5088128"/>
            <a:ext cx="2658161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듣는 강의가 아니라 참여하는 강의로 몰입을 만든다.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3교시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3821156" y="3854602"/>
            <a:ext cx="9144" cy="248625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3" name="Text 21"/>
          <p:cNvSpPr txBox="1"/>
          <p:nvPr/>
        </p:nvSpPr>
        <p:spPr>
          <a:xfrm>
            <a:off x="10934395" y="4159098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934395" y="4626356"/>
            <a:ext cx="26581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전달력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934395" y="5088128"/>
            <a:ext cx="2658161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30초에 학습자의 주의를 잡는다.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4교시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3830300" y="3854602"/>
            <a:ext cx="3124505" cy="2486254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7" name="Text 25"/>
          <p:cNvSpPr txBox="1"/>
          <p:nvPr/>
        </p:nvSpPr>
        <p:spPr>
          <a:xfrm>
            <a:off x="14058900" y="4159098"/>
            <a:ext cx="28959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4058900" y="4626356"/>
            <a:ext cx="2895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성찰력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4058900" y="5088128"/>
            <a:ext cx="2895905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강의를 </a:t>
            </a:r>
            <a:r>
              <a:rPr lang="en-US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자신이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점검하고</a:t>
            </a:r>
            <a:r>
              <a:rPr lang="en-US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개선한다.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4교시 실습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1714500" y="7763256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8257946"/>
            <a:ext cx="14859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지식은 AI가 채웁니다. 5가지 축은 AI가 채울 수 없는 영역입니다. 이게 강사의 미래 경쟁력입니다.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3" name="Text 31"/>
          <p:cNvSpPr txBox="1"/>
          <p:nvPr/>
        </p:nvSpPr>
        <p:spPr>
          <a:xfrm>
            <a:off x="1333195" y="9611258"/>
            <a:ext cx="15621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 고</a:t>
            </a:r>
            <a:r>
              <a:rPr lang="en-US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Malcolm Knowles의 </a:t>
            </a:r>
            <a:r>
              <a:rPr lang="en-US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The Modern Practice of Adult Education</a:t>
            </a:r>
            <a:r>
              <a:rPr lang="en-US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(1970) · 성인학습이론(Andragogy)을 강사 역량 5축으로 재구성.</a:t>
            </a:r>
            <a:endParaRPr lang="en-US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1692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91348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시간표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4시간 각 교시 = 35분 강의 + 15분 실습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23898"/>
            <a:ext cx="1143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476195" y="1923898"/>
            <a:ext cx="358964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740401" y="1923898"/>
            <a:ext cx="7785404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내용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623800" y="1923898"/>
            <a:ext cx="4331005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산출물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333195" y="418155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33195" y="2628900"/>
            <a:ext cx="1143000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628900" y="2857500"/>
            <a:ext cx="3111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브랜딩과 기획 역량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628900" y="3619195"/>
            <a:ext cx="3111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50분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740401" y="2628900"/>
            <a:ext cx="7785404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강사 정체성 · 전문 분야 · 차별화 · 강의 상품화 · 브랜드 문장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2623800" y="2628900"/>
            <a:ext cx="4331005" cy="1552651"/>
          </a:xfrm>
          <a:prstGeom prst="rect">
            <a:avLst/>
          </a:prstGeom>
          <a:solidFill>
            <a:srgbClr val="F4F7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2286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r>
              <a:rPr lang="en-US" sz="17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나의 강사 브랜드 문장 1개</a:t>
            </a:r>
            <a:endParaRPr lang="en-US" sz="17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대상 · 문제 · 변화 · 전문 분야 포함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1333195" y="574334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333195" y="4190695"/>
            <a:ext cx="1143000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2628900" y="4419295"/>
            <a:ext cx="3111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설계와 교안 작성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2628900" y="5181905"/>
            <a:ext cx="3111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50분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740401" y="4190695"/>
            <a:ext cx="7785404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의뢰 분석 · 대상자 분석 · 학습목표 · 시간표 · 교안 4단 구조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2623800" y="4190695"/>
            <a:ext cx="4331005" cy="1552651"/>
          </a:xfrm>
          <a:prstGeom prst="rect">
            <a:avLst/>
          </a:prstGeom>
          <a:solidFill>
            <a:srgbClr val="F4F7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2286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r>
              <a:rPr lang="en-US" sz="17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1장 강의 기획서 + 1차시 교안</a:t>
            </a:r>
            <a:endParaRPr lang="en-US" sz="17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도입 · 전개 · 실습 · 정리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333195" y="730605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5753405"/>
            <a:ext cx="1143000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3교시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2628900" y="5982005"/>
            <a:ext cx="3111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교수법과 학습 몰입 설계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2628900" y="6743700"/>
            <a:ext cx="3111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50분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5740401" y="5753405"/>
            <a:ext cx="7785404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성인학습 · 참여형 수업 · 실습 설계 · 질문법 · 피드백 · 몰입 장치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2623800" y="5753405"/>
            <a:ext cx="4331005" cy="1552651"/>
          </a:xfrm>
          <a:prstGeom prst="rect">
            <a:avLst/>
          </a:prstGeom>
          <a:solidFill>
            <a:srgbClr val="F4F7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2286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r>
              <a:rPr lang="en-US" sz="17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내 강의용 교수법 매칭표</a:t>
            </a:r>
            <a:endParaRPr lang="en-US" sz="17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주제 × 수강생 × 교수법 × 적용 방식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1333195" y="8867851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333195" y="7315200"/>
            <a:ext cx="1143000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4교시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2628900" y="7543800"/>
            <a:ext cx="3111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스피치 전략과 강의 실습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2628900" y="8305495"/>
            <a:ext cx="31115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50분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5740401" y="7315200"/>
            <a:ext cx="7785404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5요소 · 오프닝 · 설명 · 질문 대응 · 마무리 · 3분 미니 강의 실습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12623800" y="7315200"/>
            <a:ext cx="4331005" cy="1552651"/>
          </a:xfrm>
          <a:prstGeom prst="rect">
            <a:avLst/>
          </a:prstGeom>
          <a:solidFill>
            <a:srgbClr val="FFF7E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228600" rIns="152400" bIns="2286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r>
              <a:rPr lang="en-US" sz="1750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오프닝 원고 + 3분 미니 강의 피드백표</a:t>
            </a:r>
            <a:endParaRPr lang="en-US" sz="17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실시간 시연 + 동료 피드백</a:t>
            </a:r>
            <a:endParaRPr lang="en-US" sz="175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33726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490c800398b65183e54e96c81b0a353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546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01 / 04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286000"/>
            <a:ext cx="1562161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0" dirty="0">
                <a:solidFill>
                  <a:srgbClr val="F4F7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4762195"/>
            <a:ext cx="15621610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브랜딩과</a:t>
            </a:r>
            <a:endParaRPr lang="en-US" sz="7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기획 역량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1333195" y="7810805"/>
            <a:ext cx="28346" cy="8284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590142" y="7810805"/>
            <a:ext cx="15364663" cy="829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"강사 브랜딩은 '나를 알리는 일'이 아니라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'학습자에게 어떤 변화를 주는가'를 한 문장으로 못 박는 일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문장이 안 나오면 그 다음 어떤 콘텐츠도 흐려집니다."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525305"/>
            <a:ext cx="110304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07 → 13 · 8매 · 1교시 · 실습 = 나의 강사 브랜드 문장 작성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938906" y="9553651"/>
            <a:ext cx="117500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r>
              <a:rPr lang="en-US" sz="1900" kern="0" spc="429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0717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102495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출발점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강사 브랜딩은 다섯 가지 질문에서 시작합니다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다섯 질문에 각각 </a:t>
            </a: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문장으로</a:t>
            </a:r>
            <a:r>
              <a:rPr lang="en-US" sz="1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답할 수 있어야 13쪽 실습에서 브랜드 문장이 나옵니다. 답이 모호하면 브랜드 문장도 모호해집니다.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876703"/>
            <a:ext cx="762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400300" y="2914194"/>
            <a:ext cx="67254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나는 어떤 문제를 해결하는 강사인가?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400300" y="3314701"/>
            <a:ext cx="803209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"AI를 알려준다"가 아니라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"보고서 작성에 시간을 빼앗기는 실무자의 문제"</a:t>
            </a: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푼다.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33195" y="566745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33195" y="4085540"/>
            <a:ext cx="762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400300" y="4123945"/>
            <a:ext cx="608716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누구에게 필요한 강사인가?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400300" y="4524452"/>
            <a:ext cx="748345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"누구나"는 답이 아닙니다.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직급 · 부서 · 업종</a:t>
            </a: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셋 중 둘 이상이 적혀야 합니다.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33195" y="687720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3195" y="5295291"/>
            <a:ext cx="762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2400300" y="5333696"/>
            <a:ext cx="46863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나만의 경험과 강점은 무엇인가?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400300" y="5734203"/>
            <a:ext cx="563179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자격증보다 현장에서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"내가 직접 풀어본 문제"</a:t>
            </a: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개수.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33195" y="8086954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333195" y="6505042"/>
            <a:ext cx="762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2400300" y="6543447"/>
            <a:ext cx="612465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 학습자는 어떤 변화를 얻는가?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400300" y="6943040"/>
            <a:ext cx="734629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"이해한다"가 아니라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"강의 다음 날 다른 행동을 한다"</a:t>
            </a: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행동 변화로.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33195" y="929579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7714794"/>
            <a:ext cx="762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2400300" y="7753198"/>
            <a:ext cx="49917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담당자는 왜 나를 선택해야 하는가?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2400300" y="8152791"/>
            <a:ext cx="44961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 관점에서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 불가능한 한 줄</a:t>
            </a:r>
            <a:r>
              <a:rPr lang="en-US" sz="20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333195" y="9334195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 음 단 계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이 다섯 답을 한 문장으로 합치는 공식이 10쪽에 있습니다.</a:t>
            </a:r>
            <a:endParaRPr lang="en-US" sz="19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26118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68397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해부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강사 브랜드의 8가지 구성요소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61589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강사의 브랜드는 8가지 자료로 구성됩니다.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하나라도 비어 있으면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교육 담당자가 본인의 결재 라인에 보낼 수 없습니다.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195" y="3854907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9" name="Shape 7"/>
          <p:cNvSpPr/>
          <p:nvPr/>
        </p:nvSpPr>
        <p:spPr>
          <a:xfrm>
            <a:off x="1333195" y="5845556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5229454" y="3873194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1333195" y="4140200"/>
            <a:ext cx="36676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569054"/>
            <a:ext cx="3667658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전문 분야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948530"/>
            <a:ext cx="36676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줄로 "내 영역은 여기까지". 영역이 너무 넓으면 신뢰가 떨어집니다.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38598" y="5845556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5" name="Shape 13"/>
          <p:cNvSpPr/>
          <p:nvPr/>
        </p:nvSpPr>
        <p:spPr>
          <a:xfrm>
            <a:off x="9134856" y="3873194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5467198" y="4140200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67198" y="4569054"/>
            <a:ext cx="3439058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대표 강의 주제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67198" y="4948530"/>
            <a:ext cx="390906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3~5개. 그 이상이면 대표가 없는 셈.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144000" y="5845556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0" name="Shape 18"/>
          <p:cNvSpPr/>
          <p:nvPr/>
        </p:nvSpPr>
        <p:spPr>
          <a:xfrm>
            <a:off x="13040258" y="3873194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1" name="Text 19"/>
          <p:cNvSpPr txBox="1"/>
          <p:nvPr/>
        </p:nvSpPr>
        <p:spPr>
          <a:xfrm>
            <a:off x="9372600" y="4140200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4569054"/>
            <a:ext cx="3439058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주요 대상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4948530"/>
            <a:ext cx="394015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/ 공공 / 개인 어느 시장의 누구.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3049402" y="5845556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5" name="Text 23"/>
          <p:cNvSpPr txBox="1"/>
          <p:nvPr/>
        </p:nvSpPr>
        <p:spPr>
          <a:xfrm>
            <a:off x="13278002" y="4140200"/>
            <a:ext cx="36768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3278002" y="4569054"/>
            <a:ext cx="3676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경력 · 자격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3278002" y="4948530"/>
            <a:ext cx="36768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학위·자격증보다 </a:t>
            </a: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출강 이력 12곳 /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</a:t>
            </a: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600명</a:t>
            </a: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구체적인 숫자.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33195" y="7826145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9" name="Shape 27"/>
          <p:cNvSpPr/>
          <p:nvPr/>
        </p:nvSpPr>
        <p:spPr>
          <a:xfrm>
            <a:off x="5229454" y="5853786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0" name="Text 28"/>
          <p:cNvSpPr txBox="1"/>
          <p:nvPr/>
        </p:nvSpPr>
        <p:spPr>
          <a:xfrm>
            <a:off x="1333195" y="6120790"/>
            <a:ext cx="36676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333195" y="6548730"/>
            <a:ext cx="3667658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철학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333195" y="6929120"/>
            <a:ext cx="366765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문장으로 "나는 이렇게 가르친다".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38598" y="7826145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4" name="Shape 32"/>
          <p:cNvSpPr/>
          <p:nvPr/>
        </p:nvSpPr>
        <p:spPr>
          <a:xfrm>
            <a:off x="9134856" y="5853786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5" name="Text 33"/>
          <p:cNvSpPr txBox="1"/>
          <p:nvPr/>
        </p:nvSpPr>
        <p:spPr>
          <a:xfrm>
            <a:off x="5467198" y="6120790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5467198" y="6548730"/>
            <a:ext cx="3439058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수강생 변화 사례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5467198" y="6929120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전 → 후. 3건 이상.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도구를 사내에 도입했다"</a:t>
            </a: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144000" y="7826145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9" name="Shape 37"/>
          <p:cNvSpPr/>
          <p:nvPr/>
        </p:nvSpPr>
        <p:spPr>
          <a:xfrm>
            <a:off x="13040258" y="5853786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0" name="Text 38"/>
          <p:cNvSpPr txBox="1"/>
          <p:nvPr/>
        </p:nvSpPr>
        <p:spPr>
          <a:xfrm>
            <a:off x="9372600" y="6120790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9372600" y="6548730"/>
            <a:ext cx="3439058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포트폴리오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6929120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사진 · 자료 · 산출물. 노션 / PDF 한 파일.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3049402" y="5853786"/>
            <a:ext cx="3905402" cy="1981505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4" name="Shape 42"/>
          <p:cNvSpPr/>
          <p:nvPr/>
        </p:nvSpPr>
        <p:spPr>
          <a:xfrm>
            <a:off x="13049402" y="7826145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5" name="Text 43"/>
          <p:cNvSpPr txBox="1"/>
          <p:nvPr/>
        </p:nvSpPr>
        <p:spPr>
          <a:xfrm>
            <a:off x="13278002" y="6120790"/>
            <a:ext cx="36768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13278002" y="6548730"/>
            <a:ext cx="36768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온라인 노출 채널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13278002" y="6929120"/>
            <a:ext cx="36768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</a:t>
            </a:r>
            <a:r>
              <a:rPr lang="en-US" dirty="0" err="1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검색하면</a:t>
            </a:r>
            <a:r>
              <a:rPr lang="en-US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 err="1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</a:t>
            </a:r>
            <a:r>
              <a:rPr lang="en-US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페이지에 나오는가</a:t>
            </a: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9" name="Text 47"/>
          <p:cNvSpPr txBox="1"/>
          <p:nvPr/>
        </p:nvSpPr>
        <p:spPr>
          <a:xfrm>
            <a:off x="1333195" y="9134856"/>
            <a:ext cx="15621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이 8칸을 노션 한 페이지에 모아둡니다. 강의 의뢰가 오면 </a:t>
            </a:r>
            <a:r>
              <a:rPr lang="en-US" sz="20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그 페이지 링크 하나를 가장 먼저 보냅니다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20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83103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147202"/>
            <a:ext cx="15620695" cy="1333195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1006845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가설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"넓은 강사"는 사실 아무도 부르지 않습니다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09580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 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590495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포지셔닝은 "누구에게 / 무엇을 / 어떻게 다르게"가 한 줄 안에 모두 들어 있습니다.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348010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 증 같은 강사의 두 가지 포지셔닝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753551" y="4013200"/>
            <a:ext cx="9144" cy="402884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1333195" y="4317695"/>
            <a:ext cx="711586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39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흔한 포지셔닝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33195" y="4813300"/>
            <a:ext cx="7114946" cy="847649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14" name="Shape 12"/>
          <p:cNvSpPr/>
          <p:nvPr/>
        </p:nvSpPr>
        <p:spPr>
          <a:xfrm>
            <a:off x="1333195" y="4813300"/>
            <a:ext cx="28346" cy="84764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1590142" y="4813300"/>
            <a:ext cx="6858914" cy="8485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228600" rIns="228600" bIns="2286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"AI를 쉽게 가르치는 강사"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5825541"/>
            <a:ext cx="7115861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누구에게? 모름.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어떤 문제? 모름.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다른 사람과 어떻게 다른가? 모름.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361541" y="7505293"/>
            <a:ext cx="810067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한 줄로는 담당자가 의사결정을 못 합니다.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결국</a:t>
            </a: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/ 일정으로만 비교됩니다.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762695" y="4013200"/>
            <a:ext cx="762610" cy="402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829800" y="4317695"/>
            <a:ext cx="71250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39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좁은 포지셔닝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829800" y="4813300"/>
            <a:ext cx="7125005" cy="104790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21" name="Shape 19"/>
          <p:cNvSpPr/>
          <p:nvPr/>
        </p:nvSpPr>
        <p:spPr>
          <a:xfrm>
            <a:off x="9829800" y="4813300"/>
            <a:ext cx="28346" cy="104790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10086746" y="4813300"/>
            <a:ext cx="6868058" cy="10479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228600" rIns="228600" bIns="2286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"공공기관과 기업 실무자가 보고서·PPT·홍보 업무를 AI로 효율화하도록 돕는 실무형 AI 강사"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6032195"/>
            <a:ext cx="7125005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누구에게?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 + 기업 실무자</a:t>
            </a: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어떤 문제?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보고서·PPT·홍보 업무</a:t>
            </a: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어떻게 다른가? </a:t>
            </a:r>
            <a:r>
              <a:rPr lang="en-US" sz="24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"실무형"</a:t>
            </a:r>
            <a:r>
              <a:rPr lang="en-US" sz="24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이라는 한 단어.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7429398"/>
            <a:ext cx="71250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결재 라인에 그대로 올릴 수 있습니다.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714500" y="8375802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714500" y="8833002"/>
            <a:ext cx="1485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포지셔닝의 핵심은 "덜 데려가는 일"입니다. 누구를 제외할지 정하는 일이 누구를 환영할지 정하는 일보다 어렵습니다.</a:t>
            </a:r>
            <a:endParaRPr lang="en-US" sz="24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1481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2280" y="2527300"/>
            <a:ext cx="15620695" cy="3047695"/>
          </a:xfrm>
          <a:prstGeom prst="rect">
            <a:avLst/>
          </a:prstGeom>
          <a:solidFill>
            <a:srgbClr val="F4F7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91440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공식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브랜드 문장 네 칸으로 한 줄을 짓는다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0469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7쪽의 다섯 답을 한 문장으로 합치는 공식입니다.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칸이라도 비어 있으면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그 문장은 다른 강사도 그대로 쓸 수 있는 문장입니다.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03780" y="2907690"/>
            <a:ext cx="14478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00" kern="0" spc="468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· 브랜드 문장 공식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840585" y="2991000"/>
            <a:ext cx="150622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나는 </a:t>
            </a:r>
            <a:r>
              <a:rPr lang="en-US" sz="28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 대 상 ]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이/</a:t>
            </a:r>
            <a:r>
              <a:rPr lang="en-US" sz="32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</a:t>
            </a:r>
            <a:r>
              <a:rPr lang="ko-KR" alt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3200" dirty="0"/>
              <a:t> </a:t>
            </a:r>
            <a:r>
              <a:rPr lang="en-US" sz="28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 현재 겪는 문제 ]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</a:t>
            </a:r>
            <a:r>
              <a:rPr lang="en-US" sz="32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해결하고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8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 강의 후 변화 ]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만들 수 </a:t>
            </a:r>
            <a:r>
              <a:rPr lang="en-US" sz="32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있도록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32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돕는</a:t>
            </a:r>
            <a:r>
              <a:rPr lang="ko-KR" altLang="en-US" sz="3200" dirty="0"/>
              <a:t> </a:t>
            </a:r>
            <a:r>
              <a:rPr lang="en-US" sz="28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 전문 분야 ]</a:t>
            </a:r>
            <a:r>
              <a:rPr lang="en-US" sz="3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강사다.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332280" y="6051397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0" spc="468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네 칸 작성 가이드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32280" y="6603695"/>
            <a:ext cx="15620695" cy="2542946"/>
          </a:xfrm>
          <a:prstGeom prst="rect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 sz="2400"/>
          </a:p>
        </p:txBody>
      </p:sp>
      <p:sp>
        <p:nvSpPr>
          <p:cNvPr id="13" name="Shape 11"/>
          <p:cNvSpPr/>
          <p:nvPr/>
        </p:nvSpPr>
        <p:spPr>
          <a:xfrm>
            <a:off x="5228539" y="6612839"/>
            <a:ext cx="9144" cy="25237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1332280" y="6823151"/>
            <a:ext cx="36676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대상 ]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32280" y="7261149"/>
            <a:ext cx="36676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직급 + 부서 + </a:t>
            </a:r>
            <a:r>
              <a:rPr lang="en-US" sz="20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업종</a:t>
            </a: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셋</a:t>
            </a: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 둘 이상 포함.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32280" y="8129829"/>
            <a:ext cx="403707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"기업 실무자 / HRD 담당자"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33941" y="6612839"/>
            <a:ext cx="9144" cy="25237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5466283" y="6823151"/>
            <a:ext cx="34390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현재 문제 ]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66283" y="7261149"/>
            <a:ext cx="34390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상대의 </a:t>
            </a:r>
            <a:r>
              <a:rPr lang="en-US" sz="20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입에서</a:t>
            </a: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나올</a:t>
            </a: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만한 표현으로.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66283" y="8129829"/>
            <a:ext cx="34390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"보고서 </a:t>
            </a:r>
            <a:r>
              <a:rPr lang="en-US" sz="2000" dirty="0" err="1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작성에</a:t>
            </a: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시간을</a:t>
            </a: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빼앗긴다"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3039343" y="6612839"/>
            <a:ext cx="9144" cy="25237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9371685" y="6823151"/>
            <a:ext cx="343905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강의 후 변화 ]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371685" y="7261149"/>
            <a:ext cx="40837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행동의 변화로. 검증 가능하게.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371685" y="7732979"/>
            <a:ext cx="34390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 보고서를 AI로 1시간에"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3048487" y="6612839"/>
            <a:ext cx="3905402" cy="2523744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13277087" y="6823151"/>
            <a:ext cx="36768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전문 분야 ]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277087" y="7261149"/>
            <a:ext cx="36768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단어 / 한 어구.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"실무형" 같은 차별화 형용사.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3277087" y="8129829"/>
            <a:ext cx="36768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"실무형 AI 활용 교육"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323136" y="9254539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 음 단 계</a:t>
            </a:r>
            <a:r>
              <a:rPr lang="en-US" sz="24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11쪽에서 완성된 예시 3개를 봅니다. 그 다음 13쪽에서 본인 문장을 직접 작성합니다.</a:t>
            </a:r>
            <a:endParaRPr lang="en-US" sz="24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5415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6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43955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예시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완성된 브랜드 문장 세 가지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가지 서로 다른 전문 분야의 강사 브랜드 문장입니다. 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색이 칠해진 부분 네 칸이 모두 채워져 있음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확인하세요.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800502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01 AI 활용 교육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3296107"/>
            <a:ext cx="1562161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나는 실무자와 강사가 AI 도구를 단순히 배우는 데 그치지 않고,</a:t>
            </a:r>
            <a:endParaRPr lang="en-US" sz="2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자신의 업무와 강의 콘텐츠를 실제 산출물로 연결할 수 있도록 돕는,</a:t>
            </a:r>
            <a:endParaRPr lang="en-US" sz="2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활용 교육 전문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강사다.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33195" y="690433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6000"/>
              </a:lnSpc>
            </a:pPr>
            <a:endParaRPr lang="ko-KR" alt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1333195" y="5007864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02 공공기관 보고서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503468"/>
            <a:ext cx="1562161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나는 공공기관 5~7년차 실무자가 매년 같은 보고서를 매번 새로 만드는 비효율을 해결하고,</a:t>
            </a:r>
            <a:endParaRPr lang="en-US" sz="2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보고서 1편을 60분에서 15분 안에 마무리할 수 있도록 돕는,</a:t>
            </a:r>
            <a:endParaRPr lang="en-US" sz="2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공공 보고서 자동화 전문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강사다.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33195" y="7216140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03 예비 강사 브랜딩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7710830"/>
            <a:ext cx="1562161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나는 강사 활동을 막 시작한 예비 강사가 "무엇을 가르치는 사람인지" 한 문장으로 정리하지 못하는 상태를 해결하고,</a:t>
            </a:r>
            <a:endParaRPr lang="en-US" sz="2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담당자에게 30초 안에 자기 강의를 설명할 수 있도록 </a:t>
            </a:r>
            <a:r>
              <a:rPr lang="en-US" sz="20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돕는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</a:t>
            </a:r>
            <a:r>
              <a:rPr lang="ko-KR" altLang="en-US" sz="2000" dirty="0"/>
              <a:t> </a:t>
            </a:r>
            <a:r>
              <a:rPr lang="en-US" sz="2000" dirty="0" err="1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</a:t>
            </a:r>
            <a:r>
              <a:rPr lang="en-US" sz="20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브랜딩 전문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강사다.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6000"/>
              </a:lnSpc>
            </a:pPr>
            <a:endParaRPr lang="ko-KR" altLang="en-US" sz="2000"/>
          </a:p>
        </p:txBody>
      </p:sp>
      <p:sp>
        <p:nvSpPr>
          <p:cNvPr id="18" name="Text 16"/>
          <p:cNvSpPr txBox="1"/>
          <p:nvPr/>
        </p:nvSpPr>
        <p:spPr>
          <a:xfrm>
            <a:off x="1333195" y="9134856"/>
            <a:ext cx="15621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읽 는 법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세 문장의 공통점 = </a:t>
            </a:r>
            <a:r>
              <a:rPr lang="en-US" sz="20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"누구의 / 어떤 / 어떻게 / 무엇이 전문"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 4칸이 모두 한 줄 안에 적혀 있다.</a:t>
            </a:r>
            <a:endParaRPr lang="en-US" sz="20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6647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9538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검수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완성된 문장 8가지 기준으로 점검합니다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자기 문장을 본인이 점검합니다. 8칸 중 7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칸 이상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통과해야 브랜드 문장으로 정착됩니다. 6칸 이하면 다시 10쪽 공식으로.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3238805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468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과 기 준 · 4가지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33195" y="3771900"/>
            <a:ext cx="7810805" cy="1920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1333195" y="4868266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1333195" y="3943807"/>
            <a:ext cx="286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90395" y="4019702"/>
            <a:ext cx="47439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대상이 구체적인가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790395" y="4315054"/>
            <a:ext cx="54297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직급 + 부서 또는 직급 + 업종 둘 이상.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33195" y="5950001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1333195" y="5025542"/>
            <a:ext cx="286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790395" y="5101438"/>
            <a:ext cx="5572354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문제가 상대의 말로 적혔는가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790395" y="5396789"/>
            <a:ext cx="646115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"비효율"이 아니라 "보고서가 매번 처음부터".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33195" y="7031736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1333195" y="6107278"/>
            <a:ext cx="286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790395" y="6183173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변화가 행동의 변화로 적혔는가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1790395" y="6478524"/>
            <a:ext cx="64008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"이해한다" X → "다음 보고서를 1시간에 마무리".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33195" y="8113471"/>
            <a:ext cx="7810805" cy="1920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3" name="Text 21"/>
          <p:cNvSpPr txBox="1"/>
          <p:nvPr/>
        </p:nvSpPr>
        <p:spPr>
          <a:xfrm>
            <a:off x="1333195" y="7189013"/>
            <a:ext cx="286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790395" y="7265822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전문 분야가 한 단어로 적혔는가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1790395" y="7561174"/>
            <a:ext cx="592622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분야 이상 묶지 않기. 한 분야로 좁히기.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525305" y="3238805"/>
            <a:ext cx="74295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468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탈 락 신 호 · 이 중 하나라도 있으면 재작성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525305" y="4134002"/>
            <a:ext cx="7429500" cy="1920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8" name="Shape 26"/>
          <p:cNvSpPr/>
          <p:nvPr/>
        </p:nvSpPr>
        <p:spPr>
          <a:xfrm>
            <a:off x="9525305" y="5201107"/>
            <a:ext cx="74295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9" name="Text 27"/>
          <p:cNvSpPr txBox="1"/>
          <p:nvPr/>
        </p:nvSpPr>
        <p:spPr>
          <a:xfrm>
            <a:off x="9525305" y="4304995"/>
            <a:ext cx="2862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982505" y="4352544"/>
            <a:ext cx="3734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"누구나" / "모든" 같은 광범위 단어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9982505" y="4647895"/>
            <a:ext cx="452993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칸이 사실상 비어 있는 것.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525305" y="6254496"/>
            <a:ext cx="74295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3" name="Text 31"/>
          <p:cNvSpPr txBox="1"/>
          <p:nvPr/>
        </p:nvSpPr>
        <p:spPr>
          <a:xfrm>
            <a:off x="9525305" y="5358384"/>
            <a:ext cx="2862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982505" y="5405933"/>
            <a:ext cx="455645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"쉽게" / "재미있게" 같은 검증 불가능한 형용사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9982505" y="5701284"/>
            <a:ext cx="4915814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강사도 모두 쓸 수 있는 단어.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525305" y="7307885"/>
            <a:ext cx="742950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7" name="Text 35"/>
          <p:cNvSpPr txBox="1"/>
          <p:nvPr/>
        </p:nvSpPr>
        <p:spPr>
          <a:xfrm>
            <a:off x="9525305" y="6411773"/>
            <a:ext cx="2862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982505" y="6459322"/>
            <a:ext cx="561990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"국내 최고" / "최초" 같은 과장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9982505" y="6754673"/>
            <a:ext cx="649132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확인이 어렵고 신뢰가 오히려 떨어집니다.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525305" y="8361274"/>
            <a:ext cx="7429500" cy="1920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1" name="Text 39"/>
          <p:cNvSpPr txBox="1"/>
          <p:nvPr/>
        </p:nvSpPr>
        <p:spPr>
          <a:xfrm>
            <a:off x="9525305" y="7465162"/>
            <a:ext cx="2862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982505" y="7512710"/>
            <a:ext cx="4410151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문장이 세 줄을 넘는 경우</a:t>
            </a:r>
            <a:endParaRPr lang="en-US" dirty="0"/>
          </a:p>
        </p:txBody>
      </p:sp>
      <p:sp>
        <p:nvSpPr>
          <p:cNvPr id="43" name="Text 41"/>
          <p:cNvSpPr txBox="1"/>
          <p:nvPr/>
        </p:nvSpPr>
        <p:spPr>
          <a:xfrm>
            <a:off x="9982505" y="7808062"/>
            <a:ext cx="515355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길어지면 결국 외워지지 않는 문장.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333195" y="9144000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5" name="Text 43"/>
          <p:cNvSpPr txBox="1"/>
          <p:nvPr/>
        </p:nvSpPr>
        <p:spPr>
          <a:xfrm>
            <a:off x="1333195" y="9325051"/>
            <a:ext cx="15621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통과 기준 4가지 = "있어야 할 것". 탈락 신호 4가지 = "없어야 할 것". 둘 다 같이 봅니다.</a:t>
            </a:r>
            <a:endParaRPr lang="en-US" sz="20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8630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110112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1 / 2 실습 절차 · 15분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강사 브랜드 문장 한 줄로 짓기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3079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4단계 15분. 종료 후에는 옆 사람에게 소리내어 한 번 읽어줍니다.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195" y="4508194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1333195" y="4803546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5분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5232400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7쪽 5질문에 한 문장씩 답하기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5751779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/ 메모장 어디든. 답이 안 나오면 Q4 / Q5에 시간을 더.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430207" y="4508194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9430207" y="4803546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5분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9430207" y="5232400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10쪽 공식에 4칸 채우기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430207" y="5751779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/ 문제 / 변화 / 전문 분야 네 칸 한 번에 적어 넣기.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33195" y="6440322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1333195" y="6735673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3분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1333195" y="7163613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12쪽 8기준으로 자기 검수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333195" y="7682992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4 + 탈락 4 = 8기준. 6개 이하면 STEP 02로 돌아가기.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30207" y="6440322"/>
            <a:ext cx="7524598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1" name="Text 19"/>
          <p:cNvSpPr txBox="1"/>
          <p:nvPr/>
        </p:nvSpPr>
        <p:spPr>
          <a:xfrm>
            <a:off x="9430207" y="6735673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kern="0" spc="33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2분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9430207" y="7163613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옆 사람에게 소리내어 읽기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430207" y="7682992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상대가 "어떤 강사인지 이해됐다"고 말하면 완성.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33195" y="9391802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5" name="Text 23"/>
          <p:cNvSpPr txBox="1"/>
          <p:nvPr/>
        </p:nvSpPr>
        <p:spPr>
          <a:xfrm>
            <a:off x="1333195" y="9534449"/>
            <a:ext cx="6706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0" spc="297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</a:t>
            </a:r>
            <a:r>
              <a:rPr lang="en-US" sz="160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5 + 5 + 3 + 2 = 15분 · 다음 장에 자기 점검 7가지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479878" y="9534449"/>
            <a:ext cx="1476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 13B</a:t>
            </a:r>
            <a:endParaRPr lang="en-US" sz="160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267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10182758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2 / 2 자기 점검 7가지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실습 종료 전 7가지 점검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199510" y="1076249"/>
            <a:ext cx="8814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13B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체크박스 6개 이상 차면 2교시 강의 설계가 자연스럽게 시작됩니다.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브랜드 문장 = 2교시의 첫 입력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904695" y="3905402"/>
            <a:ext cx="14478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6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자기 점검 통과 6 / 7 이상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6022441" y="3311041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632346" y="3377793"/>
            <a:ext cx="363474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문장이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줄을 넘지 않는가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022441" y="4115713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632346" y="4182465"/>
            <a:ext cx="3976726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대상이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직군 / 부서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022441" y="4921300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632346" y="4988051"/>
            <a:ext cx="3713378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문제가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상대의 말투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적혔는가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022441" y="5725972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632346" y="5792723"/>
            <a:ext cx="5632704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변화가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다음 날 다르게 행동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적혔는가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022441" y="6530644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632346" y="6597395"/>
            <a:ext cx="363474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분야가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어구 이내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022441" y="7335316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632346" y="7402067"/>
            <a:ext cx="540136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"누구나" / "쉽게" / "최고" 같은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금지어가 없는가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022441" y="8140902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632346" y="8206739"/>
            <a:ext cx="5290718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 사람이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강사인지 이해됐다"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 했는가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333195" y="9610344"/>
            <a:ext cx="50959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1교시 끝 · 다음 2교시는 </a:t>
            </a: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1장 강의 기획서 작성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16110814" y="9639605"/>
            <a:ext cx="9564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13B</a:t>
            </a:r>
            <a:r>
              <a:rPr lang="en-US" sz="1550" kern="0" spc="297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55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6663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490c800398b65183e54e96c81b0a353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546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02 / 04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286000"/>
            <a:ext cx="1562161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0" dirty="0">
                <a:solidFill>
                  <a:srgbClr val="F4F7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4762195"/>
            <a:ext cx="15621610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설계와</a:t>
            </a:r>
            <a:endParaRPr lang="en-US" sz="7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교안 작성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1333195" y="7810805"/>
            <a:ext cx="28346" cy="8284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590142" y="7810805"/>
            <a:ext cx="15364663" cy="829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"강의 설계는 '무엇을 가르칠까'가 아니라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'학습자가 강의 후 무엇을 직접 할 수 있는가'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먼저 정하는 일입니다.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목표가 행동으로 적히지 않으면 교안은 결국 자료의 더미입니다."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525305"/>
            <a:ext cx="117637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15 → 24 · 12매 · 2교시 · 실습 = 1장 강의 기획서 + 1차시 교안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938906" y="9553651"/>
            <a:ext cx="117500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r>
              <a:rPr lang="en-US" sz="1900" kern="0" spc="429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4874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28685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절차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강의 설계 8단계의 한 흐름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958794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8단계는 순서가 중요합니다.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앞 단계가 비어 있는데 뒤 단계로 가면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결국 교안이 자료 묶음으로 끝납니다. 매번 위에서부터 순서대로.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42929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33195" y="588396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229454" y="4312107"/>
            <a:ext cx="9144" cy="158099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333195" y="4616602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41018" y="4558994"/>
            <a:ext cx="11832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의뢰 배경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007051"/>
            <a:ext cx="36676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이 주제를 의뢰하는가.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진짜 동기.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238598" y="588396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34856" y="4312107"/>
            <a:ext cx="9144" cy="158099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67198" y="4616602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875020" y="4558994"/>
            <a:ext cx="144018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대상자 수준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67198" y="5007051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/ 중급 / 고급 어디인가.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강의명이라도 수준이 다르면 다른 강의.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144000" y="588396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3040258" y="4312107"/>
            <a:ext cx="9144" cy="158099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372600" y="4616602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780422" y="4558994"/>
            <a:ext cx="11832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목표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5007051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할 수 있게 되는가".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동사로.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3049402" y="588396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278002" y="4616602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3685825" y="4558994"/>
            <a:ext cx="185166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 산출물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3278002" y="5007051"/>
            <a:ext cx="36768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손에 잡히는 결과물 1개. "이해" X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"1장 기획서" O.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1333195" y="7464958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229454" y="5893105"/>
            <a:ext cx="9144" cy="158099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333195" y="619760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741018" y="6140907"/>
            <a:ext cx="144018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시간표 구성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333195" y="6588048"/>
            <a:ext cx="36676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교시별 강의 + 실습 분 단위.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비중이 30% 미만이면 다시.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5238598" y="7464958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134856" y="5893105"/>
            <a:ext cx="9144" cy="158099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5467198" y="619760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5875020" y="6140907"/>
            <a:ext cx="118323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 설계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5467198" y="6588048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= 학습자가 직접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산출물을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시간.</a:t>
            </a:r>
            <a:endParaRPr lang="en-US" sz="1750" dirty="0"/>
          </a:p>
        </p:txBody>
      </p:sp>
      <p:sp>
        <p:nvSpPr>
          <p:cNvPr id="38" name="Shape 36"/>
          <p:cNvSpPr/>
          <p:nvPr/>
        </p:nvSpPr>
        <p:spPr>
          <a:xfrm>
            <a:off x="9144000" y="7464958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3040258" y="5893105"/>
            <a:ext cx="9144" cy="158099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372600" y="619760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780422" y="6140907"/>
            <a:ext cx="1441094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평가·피드백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6588048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산출물을 어떻게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점검하고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보완하는가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13049402" y="5893105"/>
            <a:ext cx="3905402" cy="1580998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3049402" y="7464958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3278002" y="6197600"/>
            <a:ext cx="277063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13685825" y="6140907"/>
            <a:ext cx="149413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교안 / 자료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13278002" y="6588048"/>
            <a:ext cx="36768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/ 워크북 / 핸드아웃.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마지막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만든다.</a:t>
            </a:r>
            <a:endParaRPr lang="en-US" sz="1750" dirty="0"/>
          </a:p>
        </p:txBody>
      </p:sp>
      <p:sp>
        <p:nvSpPr>
          <p:cNvPr id="48" name="Shape 46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1333195" y="9134856"/>
            <a:ext cx="156216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많은 강사가 08번부터 시작합니다. PPT부터 만들고 그 다음에 목표를 끼워 맞춥니다. </a:t>
            </a:r>
            <a:r>
              <a:rPr lang="en-US" sz="19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반대로 01부터.</a:t>
            </a:r>
            <a:endParaRPr lang="en-US" sz="19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46123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117354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가설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담당자가 말하지 않은 것이 진짜 의뢰입니다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09580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kern="0" spc="468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가 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590495"/>
            <a:ext cx="15621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담당자의 표면 의뢰(주제·시간·인원) 뒤에는 항상 근본 의뢰(임원 보고 / 인사고과 / 부서 이슈)가 있습니다.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둘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다를 읽어야 강의가 다시 불립니다.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3612998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kern="0" spc="468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 증 두 가지 의뢰의 동시 분석표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3987800"/>
            <a:ext cx="28575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190695" y="3987800"/>
            <a:ext cx="6382512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kern="0" spc="312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의뢰 (담당자가 말한 것)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573207" y="3987800"/>
            <a:ext cx="6382512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kern="0" spc="312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의뢰 (담당자가 말 못 한 것)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333195" y="52578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333195" y="4495800"/>
            <a:ext cx="2857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주제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190695" y="4495800"/>
            <a:ext cx="6382512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활용 강의 부탁드립니다"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0573207" y="4495800"/>
            <a:ext cx="63825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사내에 AI 정책이 곧 나옴. 임원이 직원 교육을 지시.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333195" y="61214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333195" y="5359400"/>
            <a:ext cx="2857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대상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190695" y="5359400"/>
            <a:ext cx="6382512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"직원 30명"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0573207" y="5359400"/>
            <a:ext cx="63825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팀장급 5명 + 실무자 25명. 톤·예시는 팀장 기준.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333195" y="69850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333195" y="6223000"/>
            <a:ext cx="2857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시간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4190695" y="6223000"/>
            <a:ext cx="6382512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"4시간 부탁드립니다"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0573207" y="6223000"/>
            <a:ext cx="63825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반나절 자리 비움이 정치적 한계. 4시간은 절대값.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333195" y="78486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1333195" y="7086600"/>
            <a:ext cx="2857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예산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190695" y="7086600"/>
            <a:ext cx="6382512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"내부 기준에 맞춰" / "협의"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0573207" y="7086600"/>
            <a:ext cx="638251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동일 강의 기준 + α. 절대 줄이지 못함.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333195" y="8585200"/>
            <a:ext cx="15620695" cy="990600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33195" y="96012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333195" y="8661400"/>
            <a:ext cx="2857500" cy="638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담당자의 평가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4190695" y="8661400"/>
            <a:ext cx="6382512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"강의 만족도 4.5 / 5"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0573207" y="8661400"/>
            <a:ext cx="638251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"임원이 한 줄 평가를 했는가"</a:t>
            </a: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그게 진짜 평가.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1333195" y="8559800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00000"/>
              </a:lnSpc>
            </a:pPr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333195" y="7950200"/>
            <a:ext cx="1562161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의뢰 메일을 받았을 때 첫 통화는 "왜 지금 부르시는가요?"로 시작합니다. 표면 의뢰만 받으면 강의는 한 번 끝납니다.</a:t>
            </a:r>
            <a:endParaRPr lang="en-US" sz="1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005F04-384D-F65B-5399-4769BA25015A}"/>
              </a:ext>
            </a:extLst>
          </p:cNvPr>
          <p:cNvSpPr txBox="1"/>
          <p:nvPr/>
        </p:nvSpPr>
        <p:spPr>
          <a:xfrm>
            <a:off x="-2470826" y="-18677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endParaRPr kumimoji="1" lang="ko-KR" altLang="en-US"/>
          </a:p>
        </p:txBody>
      </p:sp>
      <p:sp>
        <p:nvSpPr>
          <p:cNvPr id="3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487645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2680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분석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대상자 수준 3축으로 진단합니다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"직급"만으로는 부족합니다.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3축의 조합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강의의 톤 / 예시 / 실습 난이도를 결정합니다.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시작 1주 전 사전 설문 5문항으로 확인합니다.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32388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34302" y="3258007"/>
            <a:ext cx="9144" cy="53812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333195" y="3562502"/>
            <a:ext cx="48966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028846"/>
            <a:ext cx="48966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사전 지식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533595"/>
            <a:ext cx="48966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 KNOWLEDGE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057546"/>
            <a:ext cx="4896612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주제에 얼마나 익숙한가.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들어본 적 있음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1~2회 써본 적 있음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6개월 이상 활용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333195" y="7352690"/>
            <a:ext cx="4895698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333195" y="7514539"/>
            <a:ext cx="4896612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0" rIns="152400" bIns="1524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강의의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깊이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결정.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1741810" y="3258007"/>
            <a:ext cx="9144" cy="53812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45198" y="3562502"/>
            <a:ext cx="45912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02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845198" y="4028846"/>
            <a:ext cx="45912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업무 맥락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845198" y="4533595"/>
            <a:ext cx="45912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 CONTEXT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845198" y="5057546"/>
            <a:ext cx="4591202" cy="253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업무에 적용할 예정인가.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발표 / 강연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회의 / 협업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 / 고객 응대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45198" y="7773314"/>
            <a:ext cx="4591202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45198" y="7935163"/>
            <a:ext cx="4591202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0" rIns="152400" bIns="1524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강의의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선택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결정.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1747297" y="3258007"/>
            <a:ext cx="5210251" cy="5381244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2052706" y="3562502"/>
            <a:ext cx="49057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03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2052706" y="4028846"/>
            <a:ext cx="49057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 동기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12052706" y="4533595"/>
            <a:ext cx="49057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MOTIVATION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2052706" y="5057546"/>
            <a:ext cx="4905756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시간에 앉아 있는가.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자발 본인이 신청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반자발 팀장이 권유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 회사가 지정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12052706" y="7352690"/>
            <a:ext cx="490575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2052706" y="7514539"/>
            <a:ext cx="49057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0" rIns="152400" bIns="1524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강의의 </a:t>
            </a: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전략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결정.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333195" y="9134856"/>
            <a:ext cx="15621610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"강제 참석"의 학습자는 </a:t>
            </a:r>
            <a:r>
              <a:rPr lang="en-US" sz="19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오프닝 첫 30초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 강의의 운명이 결정됩니다. 4교시 36쪽 오프닝 전략에서 다시.</a:t>
            </a:r>
            <a:endParaRPr lang="en-US" sz="19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08111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877556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1 / 2 원칙</a:t>
            </a: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좋은 학습목표 4원칙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325698" y="1123798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"이해한다"는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학습목표가 아닙니다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검증할 수 없기 때문입니다.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332280" y="3140964"/>
            <a:ext cx="9528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[01]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627985" y="3197657"/>
            <a:ext cx="143259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"이해한다"에서 멈추지 않는다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627985" y="3712464"/>
            <a:ext cx="143259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 / 알다 / 인식하다 모두 학습자의 머릿속을 확인할 방법이 없습니다.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333195" y="652607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32280" y="4628693"/>
            <a:ext cx="9528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[02]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627985" y="4685386"/>
            <a:ext cx="143259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동사로 적는다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627985" y="5200193"/>
            <a:ext cx="143259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작성한다 / 설계한다 / 시연한다 / 분석한다 / 분류한다 / 비교한다 검증 가능한 동사.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333195" y="801380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2280" y="6116422"/>
            <a:ext cx="9528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[03]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627985" y="6173115"/>
            <a:ext cx="143259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산출물과 연결한다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627985" y="6687922"/>
            <a:ext cx="143259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"홍보 콘텐츠 3종을 </a:t>
            </a:r>
            <a:r>
              <a:rPr lang="en-US" sz="1900" i="1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생성한다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처럼 산출물이 목표 안에 들어 있습니다.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333195" y="9501530"/>
            <a:ext cx="15620695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332280" y="7604151"/>
            <a:ext cx="9528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[04]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2627985" y="7660843"/>
            <a:ext cx="143259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후 변화가 보이게 적는다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2627985" y="8175651"/>
            <a:ext cx="143259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"강의 다음 날 자기 업무에 어떻게 적용하는가"가 한 줄 안에 보입니다.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33195" y="9620402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9763049"/>
            <a:ext cx="37060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장 한 줄 공식 + 예시 3가지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5479878" y="9763049"/>
            <a:ext cx="1476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 18B</a:t>
            </a:r>
            <a:endParaRPr lang="en-US" sz="155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63837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2190902"/>
            <a:ext cx="15620695" cy="26673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5" name="Shape 3"/>
          <p:cNvSpPr/>
          <p:nvPr/>
        </p:nvSpPr>
        <p:spPr>
          <a:xfrm>
            <a:off x="1333195" y="1685239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928756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2 / 2 공식 + 예시</a:t>
            </a:r>
            <a:r>
              <a:rPr lang="en-US" sz="3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한 줄 공식 그대로 적용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199510" y="1123798"/>
            <a:ext cx="8814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18B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714500" y="2476195"/>
            <a:ext cx="14859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kern="0" spc="360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공식 학습목표 한 줄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1714500" y="3038551"/>
            <a:ext cx="1485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28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[대상]</a:t>
            </a:r>
            <a:r>
              <a:rPr lang="en-US" sz="2800" dirty="0"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강의 후 [</a:t>
            </a:r>
            <a:r>
              <a:rPr lang="en-US" sz="28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동사]</a:t>
            </a:r>
            <a:r>
              <a:rPr lang="en-US" sz="2800" dirty="0"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</a:t>
            </a:r>
            <a:r>
              <a:rPr lang="en-US" sz="2800" dirty="0" err="1"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통해</a:t>
            </a:r>
            <a:r>
              <a:rPr lang="en-US" sz="2800" dirty="0"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800" dirty="0"/>
              <a:t> </a:t>
            </a:r>
            <a:r>
              <a:rPr lang="en-US" sz="28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[산출물]</a:t>
            </a:r>
            <a:r>
              <a:rPr lang="en-US" sz="2800" dirty="0"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만들 수 있다."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5333695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kern="0" spc="33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예시 같은 강의를 3가지 수준으로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333195" y="582015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1333195" y="6172200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264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361895" y="6067044"/>
            <a:ext cx="145929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999999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"AI를 이해한다"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33195" y="669615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1333195" y="7039051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264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361895" y="6933895"/>
            <a:ext cx="145929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24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</a:t>
            </a:r>
            <a:r>
              <a:rPr lang="en-US" sz="2400" dirty="0">
                <a:solidFill>
                  <a:srgbClr val="2222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강의 후 </a:t>
            </a:r>
            <a:r>
              <a:rPr lang="en-US" sz="24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설계한다</a:t>
            </a:r>
            <a:r>
              <a:rPr lang="en-US" sz="2400" dirty="0">
                <a:solidFill>
                  <a:srgbClr val="2222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통해 </a:t>
            </a:r>
            <a:r>
              <a:rPr lang="en-US" sz="24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마케팅 전략표 1장</a:t>
            </a:r>
            <a:r>
              <a:rPr lang="en-US" sz="2400" dirty="0">
                <a:solidFill>
                  <a:srgbClr val="2222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만들 수 있다."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33195" y="7563002"/>
            <a:ext cx="15620695" cy="895198"/>
          </a:xfrm>
          <a:prstGeom prst="rect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8" name="Text 16"/>
          <p:cNvSpPr txBox="1"/>
          <p:nvPr/>
        </p:nvSpPr>
        <p:spPr>
          <a:xfrm>
            <a:off x="1333195" y="7905902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264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BEST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361895" y="7800746"/>
            <a:ext cx="1571305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24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기업 교육 담당자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강의 후 </a:t>
            </a:r>
            <a:r>
              <a:rPr lang="en-US" sz="24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프롬프트를 작성한다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통해 </a:t>
            </a:r>
            <a:r>
              <a:rPr lang="en-US" sz="24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자신의 강사 비서 1대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만들 수 있다."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33195" y="9715500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1" name="Text 19"/>
          <p:cNvSpPr txBox="1"/>
          <p:nvPr/>
        </p:nvSpPr>
        <p:spPr>
          <a:xfrm>
            <a:off x="1333195" y="9858146"/>
            <a:ext cx="156216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대상이 구체적인 직군일수록 강의는 팔립니다.</a:t>
            </a:r>
            <a:endParaRPr lang="en-US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65554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0586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· 변환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부적절한 목표 어떻게 바꾸는가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74697"/>
            <a:ext cx="15621610" cy="1022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네 가지 사례입니다. 좌측 부적절한 목표를 보면서 본인 강의의 목표를 </a:t>
            </a:r>
            <a:r>
              <a:rPr lang="en-US" sz="24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점검합니다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"이해한다 / 알 수 있다 / 인지한다"가 있다면 우측처럼 바꿉니다.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3195" y="36452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9" name="Shape 7"/>
          <p:cNvSpPr/>
          <p:nvPr/>
        </p:nvSpPr>
        <p:spPr>
          <a:xfrm>
            <a:off x="1333195" y="3664407"/>
            <a:ext cx="7810805" cy="70500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0" name="Shape 8"/>
          <p:cNvSpPr/>
          <p:nvPr/>
        </p:nvSpPr>
        <p:spPr>
          <a:xfrm>
            <a:off x="9134856" y="3664407"/>
            <a:ext cx="9144" cy="7050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1561795" y="3835400"/>
            <a:ext cx="734446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12" dirty="0">
                <a:solidFill>
                  <a:srgbClr val="DC26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BEFORE 부적절한 목표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0" y="3664407"/>
            <a:ext cx="7810805" cy="705002"/>
          </a:xfrm>
          <a:prstGeom prst="rect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9372600" y="3835400"/>
            <a:ext cx="73536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12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AFTER 행동 동사 + 산출물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33195" y="5416398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5" name="Shape 13"/>
          <p:cNvSpPr/>
          <p:nvPr/>
        </p:nvSpPr>
        <p:spPr>
          <a:xfrm>
            <a:off x="9134856" y="4368494"/>
            <a:ext cx="9144" cy="75255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1561795" y="4597094"/>
            <a:ext cx="73444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"AI 마케팅을 이해한다."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4597094"/>
            <a:ext cx="73536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"AI를 활용해 자신의 강의 홍보 콘텐츠 </a:t>
            </a:r>
            <a:r>
              <a:rPr lang="en-US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3종을 생성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하고,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채널별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활용 전략을 </a:t>
            </a:r>
            <a:r>
              <a:rPr lang="en-US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설명할 수 있다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."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33195" y="6474358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9" name="Shape 17"/>
          <p:cNvSpPr/>
          <p:nvPr/>
        </p:nvSpPr>
        <p:spPr>
          <a:xfrm>
            <a:off x="9134856" y="5426456"/>
            <a:ext cx="9144" cy="75255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1561795" y="5655056"/>
            <a:ext cx="73444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"강사 브랜딩의 중요성을 알 수 있다."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5381244"/>
            <a:ext cx="7731252" cy="864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"자신의 강사 브랜드 한 문장을 </a:t>
            </a:r>
            <a:r>
              <a:rPr lang="en-US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작성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하고,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8가지 기준으로 </a:t>
            </a:r>
            <a:r>
              <a:rPr lang="en-US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자기 검수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할 수 있다."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333195" y="753140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3" name="Shape 21"/>
          <p:cNvSpPr/>
          <p:nvPr/>
        </p:nvSpPr>
        <p:spPr>
          <a:xfrm>
            <a:off x="9134856" y="6483502"/>
            <a:ext cx="9144" cy="75255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4" name="Text 22"/>
          <p:cNvSpPr txBox="1"/>
          <p:nvPr/>
        </p:nvSpPr>
        <p:spPr>
          <a:xfrm>
            <a:off x="1561795" y="6712101"/>
            <a:ext cx="73444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"성인학습자의 특징을 인지한다."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6712101"/>
            <a:ext cx="73536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"자기 강의의 대상자에 맞는 교수법을 </a:t>
            </a:r>
            <a:r>
              <a:rPr lang="en-US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선택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하고,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적용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방식을 </a:t>
            </a:r>
            <a:r>
              <a:rPr lang="en-US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매칭표 1장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으로 정리할 수 있다."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333195" y="7540549"/>
            <a:ext cx="15620695" cy="771754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7" name="Shape 25"/>
          <p:cNvSpPr/>
          <p:nvPr/>
        </p:nvSpPr>
        <p:spPr>
          <a:xfrm>
            <a:off x="1333195" y="82931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8" name="Shape 26"/>
          <p:cNvSpPr/>
          <p:nvPr/>
        </p:nvSpPr>
        <p:spPr>
          <a:xfrm>
            <a:off x="9134856" y="7540549"/>
            <a:ext cx="9144" cy="752551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9" name="Text 27"/>
          <p:cNvSpPr txBox="1"/>
          <p:nvPr/>
        </p:nvSpPr>
        <p:spPr>
          <a:xfrm>
            <a:off x="1561795" y="7769149"/>
            <a:ext cx="73444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"스피치 잘하는 방법을 학습한다."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7769149"/>
            <a:ext cx="76581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"3분 미니 강의를 </a:t>
            </a:r>
            <a:r>
              <a:rPr lang="en-US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시연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하고, 5가지 기준으로 동료 피드백을 </a:t>
            </a:r>
            <a:r>
              <a:rPr lang="en-US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받는다</a:t>
            </a:r>
            <a:r>
              <a:rPr lang="en-US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."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333195" y="9144000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2" name="Text 30"/>
          <p:cNvSpPr txBox="1"/>
          <p:nvPr/>
        </p:nvSpPr>
        <p:spPr>
          <a:xfrm>
            <a:off x="1333195" y="9325051"/>
            <a:ext cx="156216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 고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Robert Mager의 </a:t>
            </a:r>
            <a:r>
              <a:rPr lang="en-US" sz="20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Preparing Instructional Objectives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(1962).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/ 조건 / 기준</a:t>
            </a:r>
            <a:r>
              <a:rPr lang="en-US" sz="20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세 요소를 모두 적는다.</a:t>
            </a:r>
            <a:endParaRPr lang="en-US" sz="20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486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9443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· 시간표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한 교시 50분의 표준 구조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4"/>
            <a:ext cx="15991027" cy="4919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가지 방식으로 오래 들으면 성인도 집중이 떨어집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/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50분 안에 강의 / 실습 / 발표 / 정리가 한 번씩은 등장해야 끝까지 학습자가 따라옵니다.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666390"/>
            <a:ext cx="1143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 단위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476195" y="2666390"/>
            <a:ext cx="190561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381805" y="2666390"/>
            <a:ext cx="10287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68805" y="2666390"/>
            <a:ext cx="22860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kern="0" spc="312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 모드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33195" y="4542739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4" name="Text 12"/>
          <p:cNvSpPr txBox="1"/>
          <p:nvPr/>
        </p:nvSpPr>
        <p:spPr>
          <a:xfrm>
            <a:off x="1333195" y="3797503"/>
            <a:ext cx="1143000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0' 5'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2476195" y="3745382"/>
            <a:ext cx="19056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오프닝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381805" y="3723437"/>
            <a:ext cx="10287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제기 / 질문 / 사례 학습자의 주의를 잡기.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68805" y="3782873"/>
            <a:ext cx="2286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듣기 · 반응하기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33195" y="546262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9" name="Text 17"/>
          <p:cNvSpPr txBox="1"/>
          <p:nvPr/>
        </p:nvSpPr>
        <p:spPr>
          <a:xfrm>
            <a:off x="1333195" y="4548225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5' 20'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2476195" y="4619549"/>
            <a:ext cx="19056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전개 강의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381805" y="4597603"/>
            <a:ext cx="10287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1~2개. 한 개념에 1개의 사례를 붙임.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68805" y="4657953"/>
            <a:ext cx="2286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이해하기 · 메모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333195" y="6386169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4" name="Text 22"/>
          <p:cNvSpPr txBox="1"/>
          <p:nvPr/>
        </p:nvSpPr>
        <p:spPr>
          <a:xfrm>
            <a:off x="1333195" y="5471769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20' 25'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2476195" y="5543093"/>
            <a:ext cx="19056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중간 환기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381805" y="5521147"/>
            <a:ext cx="10287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질문 / 옆 사람과 1분 토론 / 미니 퀴즈.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4668805" y="5581497"/>
            <a:ext cx="2286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말하기 · 토론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333195" y="6396228"/>
            <a:ext cx="15620695" cy="923544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9" name="Shape 27"/>
          <p:cNvSpPr/>
          <p:nvPr/>
        </p:nvSpPr>
        <p:spPr>
          <a:xfrm>
            <a:off x="1333195" y="7310628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0" name="Text 28"/>
          <p:cNvSpPr txBox="1"/>
          <p:nvPr/>
        </p:nvSpPr>
        <p:spPr>
          <a:xfrm>
            <a:off x="1333195" y="6396228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25' 40'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2476195" y="6467551"/>
            <a:ext cx="19056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381805" y="6445605"/>
            <a:ext cx="10287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직접 산출물 1건을 만든다. </a:t>
            </a:r>
            <a:r>
              <a:rPr lang="en-US" sz="20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강사는 순회 코칭.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4668805" y="6505041"/>
            <a:ext cx="2286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 · 머리 · 입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333195" y="823417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35" name="Text 33"/>
          <p:cNvSpPr txBox="1"/>
          <p:nvPr/>
        </p:nvSpPr>
        <p:spPr>
          <a:xfrm>
            <a:off x="1333195" y="731977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40' 47'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2476195" y="7391095"/>
            <a:ext cx="19056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공유 / 발표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4381805" y="7369149"/>
            <a:ext cx="10287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2~3명 발표. 강사 즉시 피드백.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4668805" y="7429500"/>
            <a:ext cx="2286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· 듣기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1333195" y="915771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40" name="Text 38"/>
          <p:cNvSpPr txBox="1"/>
          <p:nvPr/>
        </p:nvSpPr>
        <p:spPr>
          <a:xfrm>
            <a:off x="1333195" y="8243316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47' 50'</a:t>
            </a:r>
            <a:endParaRPr lang="en-US" dirty="0"/>
          </a:p>
        </p:txBody>
      </p:sp>
      <p:sp>
        <p:nvSpPr>
          <p:cNvPr id="41" name="Text 39"/>
          <p:cNvSpPr txBox="1"/>
          <p:nvPr/>
        </p:nvSpPr>
        <p:spPr>
          <a:xfrm>
            <a:off x="2476195" y="8315553"/>
            <a:ext cx="190561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정리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4381805" y="8293608"/>
            <a:ext cx="1028700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요약 + 다음 교시 예고. 산출물 저장 안내.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4668805" y="8353044"/>
            <a:ext cx="22860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기록하기</a:t>
            </a:r>
            <a:endParaRPr lang="en-US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80378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287207"/>
            <a:ext cx="15620695" cy="1333195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9268358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· 구조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교안 도입 → 전개 → 실습 → 정리 4단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4단은 Gagné의 9단계 수업 사건을 강사 친화적으로 단순화한 구조입니다.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4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</a:t>
            </a: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교시 안에 4단이 모두 들어가야</a:t>
            </a:r>
            <a:r>
              <a:rPr lang="en-US" sz="24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학습이 일어납니다.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33195" y="3238805"/>
            <a:ext cx="3476549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1524305" y="3571646"/>
            <a:ext cx="309615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24305" y="4086454"/>
            <a:ext cx="30961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도입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24305" y="4489704"/>
            <a:ext cx="30961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· 5'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24305" y="5013655"/>
            <a:ext cx="3096158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강의가 필요한가.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문제 제기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학습자 경험 질문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오늘의 목표 한 줄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3238805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381244" y="3238805"/>
            <a:ext cx="3476549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5572354" y="3571646"/>
            <a:ext cx="309615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572354" y="4086454"/>
            <a:ext cx="30961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전개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572354" y="4489704"/>
            <a:ext cx="30961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 · 15'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572354" y="5013655"/>
            <a:ext cx="3096158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알아야 할 지식.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핵심 개념 1~2개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개념별 사례 1개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중간 환기 1회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8858707" y="3238805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430207" y="3238805"/>
            <a:ext cx="3476549" cy="3705149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2" name="Shape 20"/>
          <p:cNvSpPr/>
          <p:nvPr/>
        </p:nvSpPr>
        <p:spPr>
          <a:xfrm>
            <a:off x="9430207" y="3238805"/>
            <a:ext cx="3476549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3" name="Text 21"/>
          <p:cNvSpPr txBox="1"/>
          <p:nvPr/>
        </p:nvSpPr>
        <p:spPr>
          <a:xfrm>
            <a:off x="9620402" y="3571646"/>
            <a:ext cx="309615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620402" y="4086454"/>
            <a:ext cx="30961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620402" y="4489704"/>
            <a:ext cx="30961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 · 20'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20402" y="5013655"/>
            <a:ext cx="3096158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 직접 적용.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산출물 1건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동료 피드백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강사 순회 코칭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12906756" y="3238805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478256" y="3238805"/>
            <a:ext cx="3476549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 sz="2000"/>
          </a:p>
        </p:txBody>
      </p:sp>
      <p:sp>
        <p:nvSpPr>
          <p:cNvPr id="29" name="Text 27"/>
          <p:cNvSpPr txBox="1"/>
          <p:nvPr/>
        </p:nvSpPr>
        <p:spPr>
          <a:xfrm>
            <a:off x="13668451" y="3571646"/>
            <a:ext cx="309615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3668451" y="4086454"/>
            <a:ext cx="3096158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정리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13668451" y="4489704"/>
            <a:ext cx="30961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 · 10'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3668451" y="5013655"/>
            <a:ext cx="3096158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행동 제시.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 줄 요약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다음 교시 예고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"1주 안에 무엇을"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1714500" y="8515807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714500" y="8973007"/>
            <a:ext cx="151470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많은 강사가 03 실습을 빠뜨립니다. 실습이 없으면 학습자는 같은 강의를 두 번 듣고 같은 자리에 머뭅니다.</a:t>
            </a:r>
            <a:endParaRPr lang="en-US" sz="20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483434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620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· 양식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1차시 교안 채워 넣는 템플릿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889658"/>
            <a:ext cx="16251631" cy="1155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양식은 강의 의뢰 시 담당자에게 함께 보내는 1장 교안입니다. 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9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9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칸씩 채워지면 곧 강의가 완성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됩니다.</a:t>
            </a:r>
            <a:endParaRPr lang="en-US" sz="19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C718B01-B3E2-5111-86ED-0C7204A182DD}"/>
              </a:ext>
            </a:extLst>
          </p:cNvPr>
          <p:cNvGrpSpPr/>
          <p:nvPr/>
        </p:nvGrpSpPr>
        <p:grpSpPr>
          <a:xfrm>
            <a:off x="1332280" y="3448811"/>
            <a:ext cx="15621610" cy="5625490"/>
            <a:chOff x="1333195" y="4007307"/>
            <a:chExt cx="15621610" cy="4437583"/>
          </a:xfrm>
        </p:grpSpPr>
        <p:sp>
          <p:nvSpPr>
            <p:cNvPr id="9" name="Text 7"/>
            <p:cNvSpPr txBox="1"/>
            <p:nvPr/>
          </p:nvSpPr>
          <p:spPr>
            <a:xfrm>
              <a:off x="1333195" y="4007307"/>
              <a:ext cx="1334110" cy="5148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89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단계</a:t>
              </a:r>
              <a:endParaRPr lang="en-US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2667305" y="4007307"/>
              <a:ext cx="1905610" cy="5148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kern="0" spc="189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소요</a:t>
              </a:r>
              <a:endParaRPr lang="en-US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4572000" y="4007307"/>
              <a:ext cx="9715500" cy="5148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89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 활동 / 멘트</a:t>
              </a:r>
              <a:endParaRPr lang="en-US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14287500" y="4007307"/>
              <a:ext cx="2667305" cy="5148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89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학습자 산출물</a:t>
              </a:r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333195" y="5426456"/>
              <a:ext cx="15620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2000"/>
                </a:lnSpc>
              </a:pPr>
              <a:endParaRPr lang="ko-KR" altLang="en-US" sz="240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1485900" y="4683048"/>
              <a:ext cx="1028700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68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DO · OPEN</a:t>
              </a:r>
              <a:endParaRPr lang="en-US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1485900" y="4921707"/>
              <a:ext cx="1028700" cy="2953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도입</a:t>
              </a:r>
              <a:endParaRPr lang="en-US" sz="24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2667305" y="4530344"/>
              <a:ext cx="1905610" cy="5815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5'</a:t>
              </a:r>
              <a:endParaRPr lang="en-US" sz="24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4572000" y="4530344"/>
              <a:ext cx="971550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"여러분 이 강의를 신청한 이유를 한 줄로 </a:t>
              </a:r>
              <a:r>
                <a:rPr lang="en-US" sz="20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적어보겠습니다</a:t>
              </a: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 → 30초 작성 → 1~2명 발표 → 강사 "오늘 그 답을 함께 만들겠습니다."</a:t>
              </a:r>
              <a:endParaRPr lang="en-US" sz="20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14287500" y="4530344"/>
              <a:ext cx="2667305" cy="1036930"/>
            </a:xfrm>
            <a:prstGeom prst="rect">
              <a:avLst/>
            </a:prstGeom>
            <a:solidFill>
              <a:srgbClr val="F4F7FC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152400" tIns="152400" rIns="152400" bIns="15240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dirty="0">
                  <a:solidFill>
                    <a:srgbClr val="0F2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학습자 동기 한 줄.</a:t>
              </a:r>
              <a:endParaRPr lang="en-US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333195" y="6474358"/>
              <a:ext cx="15620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2000"/>
                </a:lnSpc>
              </a:pPr>
              <a:endParaRPr lang="ko-KR" altLang="en-US" sz="240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485899" y="5595518"/>
              <a:ext cx="1181405" cy="393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68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DO · EXPLAIN</a:t>
              </a:r>
              <a:endParaRPr lang="en-US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1485900" y="6026302"/>
              <a:ext cx="1028700" cy="2953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전개</a:t>
              </a:r>
              <a:endParaRPr lang="en-US" sz="24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2667305" y="5435600"/>
              <a:ext cx="1905610" cy="5815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15'</a:t>
              </a:r>
              <a:endParaRPr lang="en-US" sz="24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4572000" y="5435600"/>
              <a:ext cx="971550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 개념 1 = "강사 브랜드 = 누구에게 / 무엇을 / 어떻게". </a:t>
              </a:r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사례</a:t>
              </a: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1 = AI 강사 / 보고서 강사 차이. 중간 환기 = 옆 사람과 1분.</a:t>
              </a:r>
              <a:endParaRPr lang="en-US" sz="20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14287500" y="5435600"/>
              <a:ext cx="2667305" cy="1036930"/>
            </a:xfrm>
            <a:prstGeom prst="rect">
              <a:avLst/>
            </a:prstGeom>
            <a:solidFill>
              <a:srgbClr val="F4F7FC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152400" tIns="152400" rIns="152400" bIns="15240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dirty="0">
                  <a:solidFill>
                    <a:srgbClr val="0F2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개념 메모 + 사례 1줄.</a:t>
              </a:r>
              <a:endParaRPr lang="en-US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333195" y="6483502"/>
              <a:ext cx="15620695" cy="905256"/>
            </a:xfrm>
            <a:prstGeom prst="rect">
              <a:avLst/>
            </a:prstGeom>
            <a:solidFill>
              <a:srgbClr val="FFF7EC"/>
            </a:solidFill>
            <a:ln/>
          </p:spPr>
          <p:txBody>
            <a:bodyPr/>
            <a:lstStyle/>
            <a:p>
              <a:pPr>
                <a:lnSpc>
                  <a:spcPct val="112000"/>
                </a:lnSpc>
              </a:pPr>
              <a:endParaRPr lang="ko-KR" altLang="en-US" sz="2400"/>
            </a:p>
          </p:txBody>
        </p:sp>
        <p:sp>
          <p:nvSpPr>
            <p:cNvPr id="26" name="Shape 24"/>
            <p:cNvSpPr/>
            <p:nvPr/>
          </p:nvSpPr>
          <p:spPr>
            <a:xfrm>
              <a:off x="1333195" y="7379614"/>
              <a:ext cx="15620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2000"/>
                </a:lnSpc>
              </a:pPr>
              <a:endParaRPr lang="ko-KR" altLang="en-US" sz="240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1485900" y="6636207"/>
              <a:ext cx="1028700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68" dirty="0">
                  <a:solidFill>
                    <a:srgbClr val="E07A1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DO · DO</a:t>
              </a:r>
              <a:endParaRPr lang="en-US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1485900" y="6873951"/>
              <a:ext cx="1028700" cy="2953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E07A1F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실습</a:t>
              </a:r>
              <a:endParaRPr lang="en-US" sz="240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2667305" y="6483502"/>
              <a:ext cx="1905610" cy="5815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E07A1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20'</a:t>
              </a:r>
              <a:endParaRPr lang="en-US" sz="240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4572000" y="6483502"/>
              <a:ext cx="971550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"10쪽 공식 4칸을 채워봅니다. 5분 시간을 드립니다." → 작성 → </a:t>
              </a:r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옆</a:t>
              </a: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20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사람과</a:t>
              </a: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5분 교환 피드백 → 강사 순회 코칭.</a:t>
              </a:r>
              <a:endParaRPr lang="en-US" sz="2000" dirty="0"/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14287500" y="6483502"/>
              <a:ext cx="2667305" cy="846735"/>
            </a:xfrm>
            <a:prstGeom prst="rect">
              <a:avLst/>
            </a:prstGeom>
            <a:solidFill>
              <a:srgbClr val="FFE8D1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152400" tIns="152400" rIns="152400" bIns="15240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dirty="0">
                  <a:solidFill>
                    <a:srgbClr val="E07A1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 브랜드 문장 1개.</a:t>
              </a:r>
              <a:endParaRPr lang="en-US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333195" y="8425688"/>
              <a:ext cx="15620695" cy="19202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2000"/>
                </a:lnSpc>
              </a:pPr>
              <a:endParaRPr lang="ko-KR" altLang="en-US" sz="240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1485900" y="7540549"/>
              <a:ext cx="1028700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kern="0" spc="168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DO · CLOSE</a:t>
              </a:r>
              <a:endParaRPr lang="en-US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1485900" y="7978545"/>
              <a:ext cx="1028700" cy="2953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정리</a:t>
              </a:r>
              <a:endParaRPr lang="en-US" sz="24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2667305" y="7387844"/>
              <a:ext cx="1905610" cy="5815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sz="2400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10'</a:t>
              </a:r>
              <a:endParaRPr lang="en-US" sz="2400" dirty="0"/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4572000" y="7387844"/>
              <a:ext cx="971550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2~3명 발표 → 동료 박수. 한 줄 요약 = "강사 브랜드 = 좁힐수록 </a:t>
              </a:r>
              <a:r>
                <a:rPr lang="en-US" sz="20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강해진다</a:t>
              </a: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.</a:t>
              </a:r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20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" 1주 과제 = SNS 프로필에 그 한 줄 추가.</a:t>
              </a:r>
              <a:endParaRPr lang="en-US" sz="2000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14287500" y="7387844"/>
              <a:ext cx="2667305" cy="838505"/>
            </a:xfrm>
            <a:prstGeom prst="rect">
              <a:avLst/>
            </a:prstGeom>
            <a:solidFill>
              <a:srgbClr val="F4F7FC"/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52400" tIns="152400" rIns="152400" bIns="152400" rtlCol="0" anchor="ctr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dirty="0">
                  <a:solidFill>
                    <a:srgbClr val="0F2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SNS 프로필 1주 변경 약속.</a:t>
              </a:r>
              <a:endParaRPr lang="en-US" dirty="0"/>
            </a:p>
          </p:txBody>
        </p:sp>
      </p:grpSp>
      <p:sp>
        <p:nvSpPr>
          <p:cNvPr id="38" name="Shape 36"/>
          <p:cNvSpPr/>
          <p:nvPr/>
        </p:nvSpPr>
        <p:spPr>
          <a:xfrm>
            <a:off x="1333195" y="9620402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333195" y="9763049"/>
            <a:ext cx="1562161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통찰</a:t>
            </a:r>
            <a:r>
              <a:rPr lang="en-US" sz="15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"강사 활동 / 멘트" 칸이 비어 있으면 그건 교안이 아니라 목차입니다. </a:t>
            </a:r>
            <a:r>
              <a:rPr lang="en-US" sz="155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실제 말하는 문장</a:t>
            </a:r>
            <a:r>
              <a:rPr lang="en-US" sz="15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적혀 있어야 합니다.</a:t>
            </a:r>
            <a:endParaRPr lang="en-US" sz="155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98210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8300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· 산출물 양식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1장 강의 기획서 8칸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담당자가 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결재 라인에 그대로 올릴 수 있는 1장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 8칸이 한 페이지에 정리되어야 합니다. 1장을 넘기면 결재가 늦어집니다.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32280" y="291373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32280" y="367634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332280" y="3009138"/>
            <a:ext cx="2286000" cy="599846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09136" y="3009138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332280" y="3009138"/>
            <a:ext cx="20482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 · 강의명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856024" y="2932938"/>
            <a:ext cx="1309786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명칭 + 한 줄 부제. 예: "강사 브랜딩과 교수법 학습자가 변화하도록 강의를 설계한다"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332280" y="442432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32280" y="3680917"/>
            <a:ext cx="2286000" cy="599846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09136" y="3680917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2280" y="3680917"/>
            <a:ext cx="20482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 · 대상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3856024" y="3680917"/>
            <a:ext cx="1309786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직급 + 부서 + 인원 + 사전 수준. 예: "강사 / 예비 강사 25명 AI 활용 중급"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332280" y="557281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332280" y="4429811"/>
            <a:ext cx="2286000" cy="99943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09136" y="4429811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332280" y="4429811"/>
            <a:ext cx="2048256" cy="1000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 · 교육 문제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3856024" y="4429811"/>
            <a:ext cx="1309786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상대의 말투로. 예: "강사 본인을 한 문장으로 설명하지 못함 / 강의 의뢰 시 동일한 자료를 매번 처음부터"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32280" y="631804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32280" y="5574640"/>
            <a:ext cx="2286000" cy="599846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09136" y="5574640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1332280" y="5574640"/>
            <a:ext cx="20482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 · 강의 목표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3856024" y="5574640"/>
            <a:ext cx="1309786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18쪽 4원칙에 따라 행동 동사로. 예: "강사 브랜드 문장 1개를 작성하고 / 1장 기획서를 완성한다"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332280" y="706694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332280" y="6323533"/>
            <a:ext cx="2286000" cy="599846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09136" y="6323533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332280" y="6323533"/>
            <a:ext cx="20482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 · 핵심 내용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3856024" y="6323533"/>
            <a:ext cx="1309786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교시별 1줄. "1교시 브랜딩 / 2교시 설계 / 3교시 교수법 / 4교시 스피치 + 실습"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332280" y="781492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332280" y="7071513"/>
            <a:ext cx="2286000" cy="599846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609136" y="7071513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332280" y="7071513"/>
            <a:ext cx="20482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 · 실습 활동</a:t>
            </a:r>
            <a:endParaRPr lang="en-US" sz="1650" dirty="0"/>
          </a:p>
        </p:txBody>
      </p:sp>
      <p:sp>
        <p:nvSpPr>
          <p:cNvPr id="38" name="Text 36"/>
          <p:cNvSpPr txBox="1"/>
          <p:nvPr/>
        </p:nvSpPr>
        <p:spPr>
          <a:xfrm>
            <a:off x="3856024" y="7071513"/>
            <a:ext cx="1309786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교시별 실습 1개. 시간 명시. "1교시 15분 / 2교시 20분 / 3교시 10분 / 4교시 30분"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1332280" y="856381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332280" y="7820406"/>
            <a:ext cx="2286000" cy="599846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609136" y="7820406"/>
            <a:ext cx="9144" cy="5998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332280" y="7820406"/>
            <a:ext cx="2048256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 · 산출물</a:t>
            </a:r>
            <a:endParaRPr lang="en-US" sz="1650" dirty="0"/>
          </a:p>
        </p:txBody>
      </p:sp>
      <p:sp>
        <p:nvSpPr>
          <p:cNvPr id="43" name="Text 41"/>
          <p:cNvSpPr txBox="1"/>
          <p:nvPr/>
        </p:nvSpPr>
        <p:spPr>
          <a:xfrm>
            <a:off x="3856024" y="7820406"/>
            <a:ext cx="13097866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손에 잡히는 5건. "브랜드 문장 / 기획서 / 교안 / 오프닝 원고 / 피드백표"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332280" y="8569300"/>
            <a:ext cx="15620695" cy="1162202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332280" y="971230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332280" y="8569300"/>
            <a:ext cx="2286000" cy="1085394"/>
          </a:xfrm>
          <a:prstGeom prst="rect">
            <a:avLst/>
          </a:prstGeom>
          <a:solidFill>
            <a:srgbClr val="FFE8D1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609136" y="8569300"/>
            <a:ext cx="9144" cy="599846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332280" y="8569300"/>
            <a:ext cx="2048256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77800" rIns="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 · 기대효과</a:t>
            </a:r>
            <a:endParaRPr lang="en-US" sz="1650" dirty="0"/>
          </a:p>
        </p:txBody>
      </p:sp>
      <p:sp>
        <p:nvSpPr>
          <p:cNvPr id="49" name="Text 47"/>
          <p:cNvSpPr txBox="1"/>
          <p:nvPr/>
        </p:nvSpPr>
        <p:spPr>
          <a:xfrm>
            <a:off x="3856024" y="8569300"/>
            <a:ext cx="1309786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다음 1주 안에 학습자가 달라지는 행동. "SNS 프로필 변경 / 신규 의뢰 시 1장 기획서 첨부 발송 / 교안 4단 구조 적용"</a:t>
            </a:r>
            <a:endParaRPr lang="en-US" sz="19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46924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9811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· 1 / 2 실습 절차 · 20분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기획서 + 교안 동시 작성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212105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1교시 브랜드 문장과 연결되는 강의 1개를 골라 4단계로 완성합니다.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195" y="2801417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333195" y="3096769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5분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3525623"/>
            <a:ext cx="75255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한 개 선택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070605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앞으로 1년 안에 진행할 강의. 1교시 브랜드 문장과 연결되는 주제로.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430207" y="2801417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430207" y="3096769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8분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430207" y="3525623"/>
            <a:ext cx="75255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23쪽 기획서 8칸 채우기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430207" y="4070605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칸당 1분. 04·목표 칸은 18쪽 4원칙으로 점검.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333195" y="4759149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3195" y="5054500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5분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333195" y="5482438"/>
            <a:ext cx="75255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22쪽 교안 4단 작성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333195" y="6027420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1차시 분량만. "강사 활동 / 멘트" 칸을 빠뜨리지 않기.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430207" y="4759149"/>
            <a:ext cx="7524598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430207" y="5054500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2분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9430207" y="5482438"/>
            <a:ext cx="75255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옆 사람과 교안 교환 점검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430207" y="6027420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"실습 칸이 들어 있는가" 한 가지만 본다.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33195" y="9620402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9763049"/>
            <a:ext cx="79159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 소요</a:t>
            </a: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5 + 8 + 5 + 2 = 20분 · 다음 장에 체크리스트 + 1주 과제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5479878" y="9763049"/>
            <a:ext cx="1476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 24B</a:t>
            </a:r>
            <a:endParaRPr lang="en-US" sz="155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17114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3048610"/>
            <a:ext cx="7810805" cy="5333695"/>
          </a:xfrm>
          <a:prstGeom prst="rect">
            <a:avLst/>
          </a:prstGeom>
          <a:solidFill>
            <a:srgbClr val="F4F7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305" y="3048610"/>
            <a:ext cx="7429500" cy="5333695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333195" y="761695"/>
            <a:ext cx="93543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· 2 / 2 점검 + 1주 과제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실습 종료 전 + 종료 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199510" y="1076249"/>
            <a:ext cx="8814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24B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종료 전 4가지 점검, 종료 후 1주 안에 4가지 행동. 둘 다 본인 노트북에 파일로 남깁니다.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714500" y="3334817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6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종료 전 자기 점검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714500" y="4792371"/>
            <a:ext cx="70481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714500" y="4048964"/>
            <a:ext cx="342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266798" y="4134917"/>
            <a:ext cx="386242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04·목표 칸에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"이해한다"가 없는가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714500" y="5715915"/>
            <a:ext cx="70481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714500" y="4973422"/>
            <a:ext cx="342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266798" y="5058461"/>
            <a:ext cx="406359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07·산출물 칸이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손에 잡히는 것</a:t>
            </a: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714500" y="6639459"/>
            <a:ext cx="70481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714500" y="5896966"/>
            <a:ext cx="342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266798" y="5982920"/>
            <a:ext cx="393740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교안 4단 중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칸이 들어 있는가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6820510"/>
            <a:ext cx="342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266798" y="6906464"/>
            <a:ext cx="386242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시간이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전체의 30% 이상</a:t>
            </a: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905695" y="3334817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6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종료 후 1주 과제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9905695" y="4678071"/>
            <a:ext cx="6667805" cy="9144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905695" y="4048964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458907" y="4048964"/>
            <a:ext cx="421447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작성한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1장 기획서를 노션에 보관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905695" y="5487315"/>
            <a:ext cx="6667805" cy="9144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905695" y="4859122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58907" y="4859122"/>
            <a:ext cx="381213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의뢰 도착 시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양식을 첨부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9905695" y="6296559"/>
            <a:ext cx="6667805" cy="9144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9905695" y="5668366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58907" y="5668366"/>
            <a:ext cx="393740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1차시 교안을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 강사 1명과 공유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905695" y="6477610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458907" y="6477610"/>
            <a:ext cx="44156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 교시 교안도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4단으로 채우기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333195" y="9610344"/>
            <a:ext cx="48198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2교시 끝 · 다음 3교시는 </a:t>
            </a: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교수법과 학습 몰입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16110814" y="9639605"/>
            <a:ext cx="9564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24B</a:t>
            </a:r>
            <a:r>
              <a:rPr lang="en-US" sz="1550" kern="0" spc="297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55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83938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490c800398b65183e54e96c81b0a353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546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03 / 04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286000"/>
            <a:ext cx="1562161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0" dirty="0">
                <a:solidFill>
                  <a:srgbClr val="F4F7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4762195"/>
            <a:ext cx="15621610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교수법과</a:t>
            </a:r>
            <a:endParaRPr lang="en-US" sz="7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 몰입 설계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1333195" y="7810805"/>
            <a:ext cx="28346" cy="8284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590142" y="7810805"/>
            <a:ext cx="15364663" cy="829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"성인학습자는 일방적 설명이 아니라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'자기 업무와 연결되는 참여형 활동'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에서 학습합니다.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교수법은 강사의 화법이 아니라 학습자의 행동 설계입니다."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525305"/>
            <a:ext cx="109545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26 → 33 · 9매 · 3교시 · 실습 = 내 강의용 교수법 매칭표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938906" y="9553651"/>
            <a:ext cx="117500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r>
              <a:rPr lang="en-US" sz="1900" kern="0" spc="429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114292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7919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· 전제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성인학습자는 어린 학생과 다릅니다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Malcolm Knowles의 성인학습이론(Andragogy)에서 출발합니다.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학생은 "배우기 위해" 옵니다. 성인은 "쓰기 위해" 옵니다.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이 차이가 모든 교수법 선택의 기준입니다.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3676802"/>
            <a:ext cx="76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[01]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400300" y="3696005"/>
            <a:ext cx="145545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목적이 분명할수록 몰입한다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400300" y="4095598"/>
            <a:ext cx="14554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이 시간을 쓰는가"에 답이 없으면 휴대폰을 봅니다. 오프닝 30초의 핵심.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333195" y="6028639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33195" y="4970678"/>
            <a:ext cx="76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[02]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400300" y="4989881"/>
            <a:ext cx="145545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자기 업무와 연결될 때 집중한다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400300" y="5390388"/>
            <a:ext cx="14554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"이걸 어디에 쓰는가"가 강의 도중 한 번 이상 나와야 합니다. 사례 = 자기 사례.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333195" y="732343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3195" y="6265469"/>
            <a:ext cx="76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[03]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400300" y="6284671"/>
            <a:ext cx="145545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이론보다 사례 / 실습을 선호한다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400300" y="6684264"/>
            <a:ext cx="14554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그런가"는 짧게. "어떻게 하는가"는 길게. 비율 = 이론 30% / 사례 + 실습 70%.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333195" y="8617306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333195" y="7559345"/>
            <a:ext cx="76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[04]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400300" y="7578547"/>
            <a:ext cx="145545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참여형 활동에서 학습 효과가 높다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400300" y="7979054"/>
            <a:ext cx="14554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듣고 보기만 할 때보다 토론·실습·가르치기처럼 직접 할 때 더 오래 남는다.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33195" y="10214991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8854135"/>
            <a:ext cx="762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[05]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2400300" y="8873338"/>
            <a:ext cx="145545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자기 경험을 인정받을 때 마음을 연다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2400300" y="9272930"/>
            <a:ext cx="145545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"여러분은 이미 알고 계실 텐데" 한 마디가 강의의 톤을 결정합니다.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1333195" y="933419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2000"/>
              </a:lnSpc>
            </a:pPr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333195" y="9824085"/>
            <a:ext cx="15621610" cy="308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 고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Knowles, Holton &amp; Swanson, The Adult Learner —</a:t>
            </a:r>
            <a:r>
              <a:rPr lang="en-US" sz="19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/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성인학습의 6가지 가정.</a:t>
            </a:r>
            <a:endParaRPr lang="en-US" sz="19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126199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97731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 · 카탈로그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강사가 쓸 수 있는 교수법 8가지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565094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강의에 8가지 모두를 쓰지는 않습니다.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주제 × 수강생 수준 × 시간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 맞춰 2~3가지를 선택합니다. 31쪽의 매칭표가 그 도구입니다.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38992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33195" y="5889854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229454" y="3918407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333195" y="4165294"/>
            <a:ext cx="36676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594148"/>
            <a:ext cx="36676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사례 기반 학습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5011115"/>
            <a:ext cx="36676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사례 → 분석 → 일반화.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실무자에게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효과적.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238598" y="5889854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34856" y="3918407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67198" y="4165294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67198" y="4594148"/>
            <a:ext cx="34390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해결형 학습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67198" y="5011115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제시 → 학습자가 풀기 →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정리.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144000" y="5889854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3040258" y="3918407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372600" y="4165294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4594148"/>
            <a:ext cx="34390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기반 학습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5011115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작은 산출물을 강의 끝에 완성.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3049402" y="5890768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278002" y="4165294"/>
            <a:ext cx="36768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3278002" y="4594148"/>
            <a:ext cx="36768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 중심 학습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3278002" y="5011115"/>
            <a:ext cx="36768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개념 → 즉시 손으로 따라하기.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학습에 효과적.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1333195" y="786953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229454" y="5897168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333195" y="6144970"/>
            <a:ext cx="36676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1333195" y="6573824"/>
            <a:ext cx="36676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동료 피드백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333195" y="6990791"/>
            <a:ext cx="36676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1조 교환 점검. 강사 1명 → 학습자 25명을 동시에 코칭하는 효과.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5238598" y="786953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134856" y="5897168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5467198" y="6144970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5467198" y="6573824"/>
            <a:ext cx="34390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질문 기반 수업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5467198" y="6990791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답하지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않고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학습자에게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질문으로 끌어낸다.</a:t>
            </a:r>
            <a:endParaRPr lang="en-US" sz="1750" dirty="0"/>
          </a:p>
        </p:txBody>
      </p:sp>
      <p:sp>
        <p:nvSpPr>
          <p:cNvPr id="38" name="Shape 36"/>
          <p:cNvSpPr/>
          <p:nvPr/>
        </p:nvSpPr>
        <p:spPr>
          <a:xfrm>
            <a:off x="9144000" y="786953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3040258" y="5897168"/>
            <a:ext cx="9144" cy="198150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372600" y="6144970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9372600" y="6573824"/>
            <a:ext cx="34390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시연 후 따라하기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6990791"/>
            <a:ext cx="343905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30초 시연 →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2분 따라하기.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13049402" y="5897168"/>
            <a:ext cx="3905402" cy="1981505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3049402" y="7869530"/>
            <a:ext cx="3905402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3278002" y="6144970"/>
            <a:ext cx="36768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13278002" y="6573824"/>
            <a:ext cx="36768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미니 발표 + 공유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13278002" y="6990791"/>
            <a:ext cx="36768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"가르치기"는 배운 것을 스스로 정리하게 한다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짧게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발표 시키기.</a:t>
            </a:r>
            <a:endParaRPr lang="en-US" sz="1750" dirty="0"/>
          </a:p>
        </p:txBody>
      </p:sp>
      <p:sp>
        <p:nvSpPr>
          <p:cNvPr id="48" name="Shape 46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1333195" y="9134856"/>
            <a:ext cx="156216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조 합 법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한 교시 = "설명 → </a:t>
            </a:r>
            <a:r>
              <a:rPr lang="en-US" sz="19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 실습 + 05 동료 피드백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→ 08 미니 발표" 가 가장 안정적인 조합입니다.</a:t>
            </a:r>
            <a:endParaRPr lang="en-US" sz="19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75885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90873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· 장치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강의 몰입을 높이는 6가지 장치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476194"/>
            <a:ext cx="163074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몰입은 우연이 아니라 설계입니다.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교시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한 번에 최소 3가지의 장치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박혀 있어야 합니다. 한 장치는 보통 3~5분 단위.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38103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33195" y="5896051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534302" y="3829507"/>
            <a:ext cx="9144" cy="20766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333195" y="4095598"/>
            <a:ext cx="49341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· 01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562856"/>
            <a:ext cx="4934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 5분 안에 문제 제기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992624"/>
            <a:ext cx="49341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"강의 정의"부터 시작하지 말기.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겪는 실제 문제로 시작.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540703" y="5896051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741810" y="3829507"/>
            <a:ext cx="9144" cy="20766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806794" y="4095598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· 02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06794" y="4562856"/>
            <a:ext cx="4668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수강생 경험 질문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06794" y="4992624"/>
            <a:ext cx="4668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"여러분 중에 이 일 해보신 분?"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들기 / 자기 경험 한 줄 메모.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747297" y="5896966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014302" y="4095598"/>
            <a:ext cx="4944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· 03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2014302" y="4562856"/>
            <a:ext cx="49441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 결과물을 남기기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014302" y="4992624"/>
            <a:ext cx="494416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끝나고 손에 남는 것이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있어야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만족도가 올라갑니다.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333195" y="7965338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534302" y="5897880"/>
            <a:ext cx="9144" cy="20766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6164884"/>
            <a:ext cx="49341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· 04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333195" y="6631229"/>
            <a:ext cx="4934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중간중간 작은 성공 경험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33195" y="7061910"/>
            <a:ext cx="49341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"방금 만든 한 줄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이게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전엔 막막했던 그 한 줄입니다."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6540703" y="7965338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1741810" y="5897880"/>
            <a:ext cx="9144" cy="207660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806794" y="6164884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· 05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806794" y="6631229"/>
            <a:ext cx="4668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어려운 개념은 비유로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806794" y="7061910"/>
            <a:ext cx="4668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"AI 에이전트는 챗봇이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아니라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'비서'다." 비유 1개가 100개의 설명을 대신.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11747297" y="5897880"/>
            <a:ext cx="5210251" cy="2076602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1747297" y="7965338"/>
            <a:ext cx="5210251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2014302" y="6164884"/>
            <a:ext cx="4944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DEVICE · 06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12014302" y="6631229"/>
            <a:ext cx="49441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바로 써먹을 템플릿 제공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2014302" y="7061910"/>
            <a:ext cx="494416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다음 날 책상에서 펴는 1장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있어야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살아 남습니다.</a:t>
            </a:r>
            <a:endParaRPr lang="en-US" sz="1750" dirty="0"/>
          </a:p>
        </p:txBody>
      </p:sp>
      <p:sp>
        <p:nvSpPr>
          <p:cNvPr id="38" name="Shape 36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333195" y="9134856"/>
            <a:ext cx="15621610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6가지 모두 박지 않아도 됩니다. 한 교시에 </a:t>
            </a:r>
            <a:r>
              <a:rPr lang="en-US" sz="19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3가지 이상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이면 충분합니다. 어떤 3가지를 고르느냐가 강사의 색깔.</a:t>
            </a:r>
            <a:endParaRPr lang="en-US" sz="19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89996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382305"/>
            <a:ext cx="15620695" cy="1333195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90781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· 질문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강사의 질문은 두 종류가 다릅니다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많은 강사가 "질문 있으세요?" 한 가지 질문만 합니다.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아무도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손을 들지 않습니다.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질문은 닫힌 질문과 열린 질문을 의도적으로 섞어야 합니다.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753551" y="3429000"/>
            <a:ext cx="9144" cy="44577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333195" y="3733495"/>
            <a:ext cx="711586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CLOSED · 닫힌 질문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229100"/>
            <a:ext cx="71158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단어로 답할 수 있는 질문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33195" y="5351983"/>
            <a:ext cx="711494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33195" y="4732020"/>
            <a:ext cx="7115861" cy="5248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"AI를 매일 쓰시는 분 손?"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333195" y="5972861"/>
            <a:ext cx="711494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333195" y="5352898"/>
            <a:ext cx="7115861" cy="5248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도구 써본 분 있나요?"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333195" y="5973775"/>
            <a:ext cx="7115861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"방금 설명 이해됐죠?"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333195" y="6757416"/>
            <a:ext cx="71158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빠르게 분위기 점검. 손드는 비율로 강의 난이도 즉시 조정.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762695" y="3429000"/>
            <a:ext cx="762610" cy="445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829800" y="3733495"/>
            <a:ext cx="71250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· 열린 질문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829800" y="4229100"/>
            <a:ext cx="71250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학습자의 사례를 끌어내는 질문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29800" y="5351983"/>
            <a:ext cx="7125005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829800" y="4732020"/>
            <a:ext cx="7125005" cy="5248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"AI를 쓰면서 가장 막혔던 순간 한 가지?"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829800" y="5972861"/>
            <a:ext cx="7125005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829800" y="5352898"/>
            <a:ext cx="7125005" cy="5248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01600" rIns="10160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"이걸 본인 업무에 적용한다면 어떻게?"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5973775"/>
            <a:ext cx="7125005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안 풀렸다고 생각하세요?"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6757416"/>
            <a:ext cx="71250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깊이 들어가기. 한 명에게 묻고 다른 학습자가 듣게 하기.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8610905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 용 법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9068105"/>
            <a:ext cx="14859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교시 시작 = 닫힌 질문 1개로 손 들기. 교시 중간 = 열린 질문 1개로 깊이. 교시 끝 = 닫힌 질문 1개로 점검.</a:t>
            </a:r>
            <a:endParaRPr lang="en-US" sz="20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58682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5158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· 피드백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실습 피드백 SBI 3단 공식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"잘하셨어요" / "괜찮네요"는 피드백이 아닙니다.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학습자가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"무엇을 다음에 다르게 할지"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알게 만드는 한 줄이 피드백입니다.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CCL(Center for Creative Leadership)의 SBI 모델을 강사용으로.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3429000"/>
            <a:ext cx="4828946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524305" y="3762756"/>
            <a:ext cx="44485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24305" y="4276649"/>
            <a:ext cx="444855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상황 Situation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524305" y="4813402"/>
            <a:ext cx="4448556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 / 어디서 일어난 일인가.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524305" y="5405933"/>
            <a:ext cx="444855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524305" y="5586984"/>
            <a:ext cx="4448556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"방금 3분 미니 강의의 오프닝 30초에"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6159398" y="3429000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30898" y="3429000"/>
            <a:ext cx="4828946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921094" y="3762756"/>
            <a:ext cx="44485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21094" y="4276649"/>
            <a:ext cx="444855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행동 Behavior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921094" y="4813402"/>
            <a:ext cx="4750308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 가능한 사실만. 평가 없음.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921094" y="5405933"/>
            <a:ext cx="4448556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921094" y="5586984"/>
            <a:ext cx="4448556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 한 줄을 던지고 답을 </a:t>
            </a: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기다리지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않고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곧바로 본론으로 들어가셨어요."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11557102" y="3429000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128602" y="3429000"/>
            <a:ext cx="4828946" cy="3514954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2128602" y="3429000"/>
            <a:ext cx="4828946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2318797" y="3762756"/>
            <a:ext cx="44485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2318797" y="4276649"/>
            <a:ext cx="444855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영향 Impact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12318796" y="4813402"/>
            <a:ext cx="4635093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행동이 학습자에게 어떤 영향을 줬는가.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2318797" y="5827471"/>
            <a:ext cx="4448556" cy="9144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2318797" y="6008522"/>
            <a:ext cx="4448556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"질문이 효과가 약해졌어요.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다음엔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3초 기다려보세요."</a:t>
            </a:r>
            <a:endParaRPr lang="en-US" sz="1750" dirty="0"/>
          </a:p>
        </p:txBody>
      </p:sp>
      <p:sp>
        <p:nvSpPr>
          <p:cNvPr id="29" name="Text 27"/>
          <p:cNvSpPr txBox="1"/>
          <p:nvPr/>
        </p:nvSpPr>
        <p:spPr>
          <a:xfrm>
            <a:off x="1391260" y="7613295"/>
            <a:ext cx="1562161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줄 예시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"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오프닝 30초에 (S) 질문 한 줄을 </a:t>
            </a:r>
            <a:r>
              <a:rPr lang="en-US" sz="19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던지고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답을</a:t>
            </a: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안 기다리고 곧바로 본론으로 가셨어요 (B). 그래서 질문 효과가 약해졌어요 (I). 다음엔 3초 기다려보세요.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391260" y="8756295"/>
            <a:ext cx="15621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 고</a:t>
            </a:r>
            <a:r>
              <a:rPr lang="en-US" sz="17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Center for Creative Leadership, </a:t>
            </a:r>
            <a:r>
              <a:rPr lang="en-US" sz="175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Feedback That Works</a:t>
            </a:r>
            <a:r>
              <a:rPr lang="en-US" sz="17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평가가 아니라 관찰 + 영향 으로.</a:t>
            </a:r>
            <a:endParaRPr lang="en-US" sz="175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36012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7060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 · 매칭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내 강의에 어떤 교수법을 고를까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두 축으로 자르면 교수법이 자동으로 정해집니다.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 수준 × 강의 목적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각 4분면에 어울리는 교수법이 있습니다.</a:t>
            </a:r>
            <a:endParaRPr lang="en-US" sz="20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BBE857-CF62-909A-7F24-6FDA262B55B0}"/>
              </a:ext>
            </a:extLst>
          </p:cNvPr>
          <p:cNvGrpSpPr/>
          <p:nvPr/>
        </p:nvGrpSpPr>
        <p:grpSpPr>
          <a:xfrm>
            <a:off x="1333195" y="3277347"/>
            <a:ext cx="8062721" cy="5841034"/>
            <a:chOff x="1489101" y="3238805"/>
            <a:chExt cx="8062721" cy="5372099"/>
          </a:xfrm>
        </p:grpSpPr>
        <p:sp>
          <p:nvSpPr>
            <p:cNvPr id="8" name="Text 6"/>
            <p:cNvSpPr txBox="1"/>
            <p:nvPr/>
          </p:nvSpPr>
          <p:spPr>
            <a:xfrm rot="16200000">
              <a:off x="-301752" y="5533949"/>
              <a:ext cx="3943807" cy="3621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51" dirty="0">
                  <a:solidFill>
                    <a:srgbClr val="5F6B8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목 적 · 산 출 물 중 심 →</a:t>
              </a:r>
              <a:endParaRPr lang="en-US" sz="1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000707" y="3238805"/>
              <a:ext cx="7467905" cy="4990795"/>
            </a:xfrm>
            <a:prstGeom prst="rect">
              <a:avLst/>
            </a:prstGeom>
            <a:noFill/>
            <a:ln w="254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 flipV="1">
              <a:off x="2022196" y="5669955"/>
              <a:ext cx="7426300" cy="42049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115507" y="3258007"/>
              <a:ext cx="9144" cy="2866644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210105" y="3448202"/>
              <a:ext cx="3715207" cy="333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90" dirty="0">
                  <a:solidFill>
                    <a:srgbClr val="5F6B8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Q2</a:t>
              </a:r>
              <a:endParaRPr lang="en-US" sz="19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2210105" y="3838651"/>
              <a:ext cx="3715207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고급 + 산출물 중심</a:t>
              </a:r>
              <a:endParaRPr lang="en-US" sz="19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189989" y="4029304"/>
              <a:ext cx="3715207" cy="1591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03 프로젝트 학습</a:t>
              </a:r>
              <a:endParaRPr lang="en-US" sz="19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05 동료 피드백</a:t>
              </a:r>
              <a:endParaRPr lang="en-US" sz="19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08 미니 발표</a:t>
              </a:r>
              <a:endParaRPr lang="en-US" sz="19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9AA5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 워크숍 / 코칭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352898" y="3258007"/>
              <a:ext cx="4095598" cy="2866644"/>
            </a:xfrm>
            <a:prstGeom prst="rect">
              <a:avLst/>
            </a:prstGeom>
            <a:solidFill>
              <a:srgbClr val="FFF7EC"/>
            </a:solidFill>
            <a:ln/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5352898" y="6115507"/>
              <a:ext cx="4095598" cy="9144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5544007" y="3448202"/>
              <a:ext cx="3715207" cy="3621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90" dirty="0">
                  <a:solidFill>
                    <a:srgbClr val="E07A1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Q1 · 1순위</a:t>
              </a:r>
              <a:endParaRPr lang="en-US" sz="19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5544007" y="3866998"/>
              <a:ext cx="3715207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중급 + 산출물 중심</a:t>
              </a:r>
              <a:endParaRPr lang="en-US" sz="19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5544007" y="4334256"/>
              <a:ext cx="3893515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E07A1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01 사례 + 04 실습 + 05 피드백.</a:t>
              </a:r>
              <a:endParaRPr lang="en-US" sz="19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5544007" y="4730191"/>
              <a:ext cx="3502152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 본 강의의 기본 조합.</a:t>
              </a:r>
              <a:endParaRPr lang="en-US" sz="1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115507" y="5352898"/>
              <a:ext cx="9144" cy="2857500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2284399" y="5896508"/>
              <a:ext cx="2412875" cy="333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90" dirty="0">
                  <a:solidFill>
                    <a:srgbClr val="5F6B8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Q4</a:t>
              </a:r>
              <a:endParaRPr lang="en-US" sz="1900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2284399" y="6286957"/>
              <a:ext cx="2412875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고급 + 이해 중심</a:t>
              </a:r>
              <a:endParaRPr lang="en-US" sz="19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2284399" y="6734099"/>
              <a:ext cx="2412875" cy="1191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06 질문 기반</a:t>
              </a:r>
              <a:endParaRPr lang="en-US" sz="19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5F6B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02 문제 해결형</a:t>
              </a:r>
              <a:endParaRPr lang="en-US" sz="19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9AA5B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→ 세미나 / 토론</a:t>
              </a:r>
              <a:endParaRPr lang="en-US" sz="19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352898" y="5663336"/>
              <a:ext cx="4095598" cy="2547062"/>
            </a:xfrm>
            <a:prstGeom prst="rect">
              <a:avLst/>
            </a:prstGeom>
            <a:solidFill>
              <a:srgbClr val="F4F7F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15000"/>
                </a:lnSpc>
              </a:pPr>
              <a:endParaRPr lang="ko-KR" altLang="en-US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584699" y="5930113"/>
              <a:ext cx="3715207" cy="333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90" dirty="0">
                  <a:solidFill>
                    <a:srgbClr val="0F2A5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Q3</a:t>
              </a:r>
              <a:endParaRPr lang="en-US" sz="19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5584699" y="6320562"/>
              <a:ext cx="3715207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111111"/>
                  </a:solidFill>
                  <a:latin typeface="Noto Serif KR" pitchFamily="34" charset="0"/>
                  <a:ea typeface="Noto Serif KR" pitchFamily="34" charset="-122"/>
                  <a:cs typeface="Noto Serif KR" pitchFamily="34" charset="-120"/>
                </a:rPr>
                <a:t>기초 + 이해 중심</a:t>
              </a:r>
              <a:endParaRPr lang="en-US" sz="190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5584699" y="6767704"/>
              <a:ext cx="3715207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0F2A5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07 시연 + 04 실습.</a:t>
              </a:r>
              <a:endParaRPr lang="en-US" sz="19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도구 학습 / 입문 강의.</a:t>
              </a:r>
              <a:endParaRPr lang="en-US" sz="190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2115007" y="8248802"/>
              <a:ext cx="2162556" cy="3621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51" dirty="0">
                  <a:solidFill>
                    <a:srgbClr val="5F6B8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← 수준 · 기초</a:t>
              </a:r>
              <a:endParaRPr lang="en-US" sz="190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7389266" y="8248802"/>
              <a:ext cx="2162556" cy="3621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15000"/>
                </a:lnSpc>
                <a:buNone/>
              </a:pPr>
              <a:r>
                <a:rPr lang="en-US" sz="1900" kern="0" spc="351" dirty="0">
                  <a:solidFill>
                    <a:srgbClr val="5F6B8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수준 · 고급 →</a:t>
              </a:r>
              <a:endParaRPr lang="en-US" sz="1900" dirty="0"/>
            </a:p>
          </p:txBody>
        </p:sp>
      </p:grpSp>
      <p:sp>
        <p:nvSpPr>
          <p:cNvPr id="31" name="Text 29"/>
          <p:cNvSpPr txBox="1"/>
          <p:nvPr/>
        </p:nvSpPr>
        <p:spPr>
          <a:xfrm>
            <a:off x="10200131" y="3179087"/>
            <a:ext cx="6667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68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매트릭스 사용법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0200131" y="4297741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200131" y="3524760"/>
            <a:ext cx="47640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0847526" y="3524760"/>
            <a:ext cx="602041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17쪽 대상자 수준 진단표로 4분면 위치 점찍기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10200131" y="5477317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0200131" y="4419356"/>
            <a:ext cx="47640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10847526" y="4419356"/>
            <a:ext cx="602041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23쪽 강의 기획서의 04·목표 칸으로 "산출물 / 이해" 결정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0200131" y="6188720"/>
            <a:ext cx="6667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0200131" y="5598018"/>
            <a:ext cx="476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10847526" y="5598018"/>
            <a:ext cx="65535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분면의 교수법 2~3가지를 강의에 배치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10200131" y="6306678"/>
            <a:ext cx="47640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④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10847526" y="6306678"/>
            <a:ext cx="602041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+ 산출물 중심(Q1)</a:t>
            </a: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가장 안정적.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</a:t>
            </a: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강의도 여기에 위치.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10200131" y="7591410"/>
            <a:ext cx="666780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10200131" y="7772461"/>
            <a:ext cx="6667805" cy="12481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강의에 Q1의 3가지 교수법 정도면 </a:t>
            </a:r>
            <a:r>
              <a:rPr lang="en-US" sz="19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충분합니다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</a:t>
            </a:r>
            <a:r>
              <a:rPr lang="ko-KR" alt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</a:t>
            </a:r>
            <a:r>
              <a:rPr lang="en-US" sz="19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다 쓰면 강의가 산만해집니다.</a:t>
            </a:r>
            <a:endParaRPr lang="en-US" sz="19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51262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6965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 · 예시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교수법 매칭표 3가지 사례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서로 다른 3가지 강의 예시입니다.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같은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주제라도 수강생이 다르면 교수법이 달라집니다.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ko-KR" alt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본인의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강의 한 개를 골라 33쪽에서 직접 작성합니다.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2280" y="2723998"/>
            <a:ext cx="15620695" cy="1076249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332280" y="2743200"/>
            <a:ext cx="2667305" cy="10479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주제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999585" y="2743200"/>
            <a:ext cx="2095805" cy="10479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수강생 특성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781190" y="2743200"/>
            <a:ext cx="2095805" cy="10479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적합한 교수법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381210" y="2825649"/>
            <a:ext cx="6381750" cy="10479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방식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32280" y="548640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484985" y="4028847"/>
            <a:ext cx="23628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홍보 콘텐츠 제작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84985" y="4771339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4시간 · 25명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290" y="4028847"/>
            <a:ext cx="17913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152290" y="4419295"/>
            <a:ext cx="17913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산출물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781190" y="3800247"/>
            <a:ext cx="2095805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중심 학습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동료 피드백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381210" y="3882696"/>
            <a:ext cx="638175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상품으로 홍보 콘텐츠 5종을 생성한다. 옆 사람과 1:1 교환 점검.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332280" y="717804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484985" y="5720487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브랜딩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484985" y="6111850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4시간 · 25명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152290" y="5720487"/>
            <a:ext cx="17913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강사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152290" y="6111850"/>
            <a:ext cx="201625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초중급 · 산출물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781190" y="5491887"/>
            <a:ext cx="2095805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기반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동료 피드백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미니 발표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381210" y="5574336"/>
            <a:ext cx="6381750" cy="77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브랜드 문장 3개 분석 → 자기 문장 작성 → 동료 피드백 → 2~3명 30초 발표.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1332280" y="8870595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484985" y="7413041"/>
            <a:ext cx="23628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공공 보고서 작성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484985" y="8156448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4시간 · 30명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4152290" y="7413041"/>
            <a:ext cx="17913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 실무자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4152290" y="8156448"/>
            <a:ext cx="17913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산출물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781190" y="7184441"/>
            <a:ext cx="2095805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기반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시연 후 따라하기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381210" y="7266890"/>
            <a:ext cx="825909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보고서 문장을 가져와 AI로 개선 시연 30초 → 학습자가 자기 문장으로 따라하기.</a:t>
            </a:r>
            <a:endParaRPr lang="en-US" sz="1750" dirty="0"/>
          </a:p>
        </p:txBody>
      </p:sp>
      <p:sp>
        <p:nvSpPr>
          <p:cNvPr id="34" name="Text 32"/>
          <p:cNvSpPr txBox="1"/>
          <p:nvPr/>
        </p:nvSpPr>
        <p:spPr>
          <a:xfrm>
            <a:off x="1332280" y="8876995"/>
            <a:ext cx="15621610" cy="648310"/>
          </a:xfrm>
          <a:prstGeom prst="rect">
            <a:avLst/>
          </a:prstGeom>
          <a:solidFill>
            <a:srgbClr val="FFF7EC"/>
          </a:solidFill>
          <a:ln w="12700">
            <a:solidFill>
              <a:srgbClr val="EEEEEE"/>
            </a:solidFill>
          </a:ln>
        </p:spPr>
        <p:txBody>
          <a:bodyPr wrap="none" lIns="152400" tIns="177800" rIns="1524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[ 본인 강의 빈 칸 ] · 33쪽 실습에서 직접 채웁니다.</a:t>
            </a:r>
            <a:endParaRPr lang="en-US" sz="175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41301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100584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· 1 / 2 매칭표 작성 · 10분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내 강의용 교수법 매칭표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2737" y="2557579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2교시 1장 기획서를 펴고, 4단계로 교수법 매칭표를 만듭니다.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1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3가지 이내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1366" y="3913175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331366" y="4208527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1분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1331366" y="4637381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1장 기획서 펴기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31366" y="5156760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칸과 04·목표 칸을 다시 본다.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428378" y="3913175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428378" y="4208527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2분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428378" y="4637381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31쪽 4분면 위치 점찍기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428378" y="5156760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 Q1 (중급+산출물). 아니면 왜 다른지 한 이유 적기.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331366" y="5845303"/>
            <a:ext cx="7524598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1366" y="6140654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4분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331366" y="6568594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교수법 3가지 선택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31366" y="7087973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이상은 산만. 등장 순서도 함께 적기.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428378" y="5845303"/>
            <a:ext cx="7524598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9428378" y="6140654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3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3분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9428378" y="6568594"/>
            <a:ext cx="75255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각 교수법의 적용 한 줄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428378" y="7087973"/>
            <a:ext cx="75255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32쪽 예시 우측 칸과 같은 길이 한 줄.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33195" y="9620402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333195" y="9763049"/>
            <a:ext cx="6706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</a:t>
            </a: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1 + 2 + 4 + 3 = 10분 · 다음 장에 자기 점검 6가지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5479878" y="9763049"/>
            <a:ext cx="1476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 33B</a:t>
            </a:r>
            <a:endParaRPr lang="en-US" sz="1550" dirty="0"/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04376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2961741"/>
            <a:ext cx="15620695" cy="6267298"/>
          </a:xfrm>
          <a:prstGeom prst="rect">
            <a:avLst/>
          </a:prstGeom>
          <a:solidFill>
            <a:srgbClr val="F4F7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112782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 · 2 / 2 자기 점검 6가지</a:t>
            </a:r>
            <a:br>
              <a:rPr lang="en-US" sz="1750" dirty="0"/>
            </a:b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매칭표 = 4교시 미니 강의 설계도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199510" y="1076249"/>
            <a:ext cx="8814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33B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체크 5개 이상이면 통과.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매칭표가 4교시의 입력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904695" y="3247948"/>
            <a:ext cx="14478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6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자기 점검 통과 5 / 6 이상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904695" y="4647895"/>
            <a:ext cx="144776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904695" y="3962095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4028846"/>
            <a:ext cx="308244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교수법이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이내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904695" y="5490972"/>
            <a:ext cx="144776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904695" y="4805172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4871923"/>
            <a:ext cx="757854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중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'실습 / 동료 피드백 / 미니 발표' 중 최소 1개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904695" y="6334048"/>
            <a:ext cx="144776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904695" y="5648248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5715000"/>
            <a:ext cx="4817974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교수법의 적용 방식이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줄로 적혔는가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904695" y="7177125"/>
            <a:ext cx="144776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904695" y="6491325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6558076"/>
            <a:ext cx="6053328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방식에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"학습자가 손을 움직이는 동사"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있는가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904695" y="8020202"/>
            <a:ext cx="144776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904695" y="7334402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7401153"/>
            <a:ext cx="4791456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28쪽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몰입 장치 3가지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함께 골라뒀는가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904695" y="8176564"/>
            <a:ext cx="381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□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8243316"/>
            <a:ext cx="655259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30쪽 </a:t>
            </a:r>
            <a:r>
              <a:rPr lang="en-US" sz="20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SBI 피드백을 실습 종료 직후</a:t>
            </a:r>
            <a:r>
              <a:rPr lang="en-US" sz="20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줄 준비가 됐는가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256842" y="9229039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333195" y="9610344"/>
            <a:ext cx="5915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3교시 끝 · 다음 4교시는 </a:t>
            </a: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스피치 + 3분 미니 강의 실습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16110814" y="9639605"/>
            <a:ext cx="9564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33B</a:t>
            </a:r>
            <a:r>
              <a:rPr lang="en-US" sz="1550" kern="0" spc="297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55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14696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efeb33656574015cafd716034aff8ca6.png"/>
          <p:cNvPicPr>
            <a:picLocks noChangeAspect="1"/>
          </p:cNvPicPr>
          <p:nvPr/>
        </p:nvPicPr>
        <p:blipFill>
          <a:blip r:embed="rId2"/>
          <a:srcRect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546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· 04 / 04 · FINAL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286000"/>
            <a:ext cx="1562161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0" dirty="0">
                <a:solidFill>
                  <a:srgbClr val="FFF7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0" dirty="0"/>
          </a:p>
        </p:txBody>
      </p:sp>
      <p:sp>
        <p:nvSpPr>
          <p:cNvPr id="7" name="Text 4"/>
          <p:cNvSpPr txBox="1"/>
          <p:nvPr/>
        </p:nvSpPr>
        <p:spPr>
          <a:xfrm>
            <a:off x="1333195" y="4762195"/>
            <a:ext cx="15621610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스피치 전략과</a:t>
            </a:r>
            <a:endParaRPr lang="en-US" sz="7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200" kern="0" spc="-144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 실습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1333195" y="7810805"/>
            <a:ext cx="28346" cy="8284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590142" y="7810805"/>
            <a:ext cx="15364663" cy="829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"1~3교시는 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였습니다.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50분에 그 설계를 </a:t>
            </a:r>
            <a:r>
              <a:rPr lang="en-US" sz="21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3분 미니 강의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로 시연하고 동료 피드백을 받습니다."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333195" y="9525305"/>
            <a:ext cx="141448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슬라이드 35 → 42 · 9매 · 4교시 · 최종 산출물 = 오프닝 원고 + 3분 미니 강의 + 피드백표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938906" y="9553651"/>
            <a:ext cx="117500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r>
              <a:rPr lang="en-US" sz="1900" kern="0" spc="429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8030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7524598"/>
            <a:ext cx="15620695" cy="1619402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76965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· 해부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강의 스피치의 5가지 요소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"말 잘하는 강사"는 사실 5가지의 합산입니다. 한 가지만 약해도 전체가 흔들립니다.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5요소 각각 점검 항목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있어야 자기 약점을 알 수 있습니다.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33195" y="32388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48556" y="3258007"/>
            <a:ext cx="9144" cy="2895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333195" y="3562502"/>
            <a:ext cx="28867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ELEMENT · 01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028846"/>
            <a:ext cx="28867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메시지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414723"/>
            <a:ext cx="28867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333195" y="4900270"/>
            <a:ext cx="2886761" cy="161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강의 = 한 메시지.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개를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넘으면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학습자는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개도 기억 못 함.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573061" y="3258007"/>
            <a:ext cx="9144" cy="2895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686300" y="3562502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ELEMENT · 02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86300" y="4028846"/>
            <a:ext cx="26581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86300" y="4414723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86300" y="4900270"/>
            <a:ext cx="2658161" cy="177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→ 전개 → 정리.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21쪽 4단 구조.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청자가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"지금 어디"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알게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한다.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697566" y="3258007"/>
            <a:ext cx="9144" cy="2895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810805" y="3562502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ELEMENT · 03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810805" y="4028846"/>
            <a:ext cx="26581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목소리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810805" y="4414723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VOICE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810805" y="4900270"/>
            <a:ext cx="2658161" cy="177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· 크기 · 강약 · 쉼.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'쉼' 3초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큰 무기.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13821156" y="3258007"/>
            <a:ext cx="9144" cy="2895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0934395" y="3562502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ELEMENT · 04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0934395" y="4028846"/>
            <a:ext cx="26581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시선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0934395" y="4414723"/>
            <a:ext cx="2658161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EYE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0934395" y="4900270"/>
            <a:ext cx="2658161" cy="1528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사람 3초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응시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다음 사람.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슬라이드만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보면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식는다.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13830300" y="3258007"/>
            <a:ext cx="3124505" cy="2895905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4058900" y="3562502"/>
            <a:ext cx="28959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ELEMENT · 05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4058900" y="4028846"/>
            <a:ext cx="2895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상호작용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4058900" y="4414723"/>
            <a:ext cx="28959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195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4058900" y="4900270"/>
            <a:ext cx="2895905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/ 손 들기 /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사람과 1분.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750" dirty="0">
              <a:solidFill>
                <a:srgbClr val="5F6B8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5분에 1번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작은 상호작용.</a:t>
            </a:r>
            <a:endParaRPr lang="en-US" sz="1750" dirty="0"/>
          </a:p>
        </p:txBody>
      </p:sp>
      <p:sp>
        <p:nvSpPr>
          <p:cNvPr id="35" name="Text 33"/>
          <p:cNvSpPr txBox="1"/>
          <p:nvPr/>
        </p:nvSpPr>
        <p:spPr>
          <a:xfrm>
            <a:off x="1714500" y="7763256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자 기 점 검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1714500" y="8257946"/>
            <a:ext cx="14859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자기 강의를 5분 녹화하고 5요소를 1~5점으로 점수 매겨봅니다. 가장 낮은 요소가 우선 보완.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333195" y="9611258"/>
            <a:ext cx="15621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참 고</a:t>
            </a:r>
            <a:r>
              <a:rPr lang="en-US" sz="17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Nancy Duarte, </a:t>
            </a:r>
            <a:r>
              <a:rPr lang="en-US" sz="175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Resonate (2010) — 청중 중심 발표 설계. 5요소 구분은 이 강의안의</a:t>
            </a:r>
            <a:r>
              <a:rPr lang="en-US" sz="17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정리.</a:t>
            </a:r>
            <a:endParaRPr lang="en-US" sz="175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02601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31555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 · 오프닝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오프닝 30초 다섯 가지 전략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1332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"안녕하세요 / 오늘은 / 자기소개부터"는 가장 약한 오프닝입니다.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첫 30초는 학습자의 휴대폰을 멀어지게 만드는 시간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 다섯 가지 중 강의 주제에 맞는 한 가지를 고릅니다.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3685946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[01]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400300" y="3715207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제기형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00300" y="4067251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657600"/>
            <a:ext cx="121542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"여러분 강의 의뢰가 오면 답장 한 통에 90분이 걸리시죠?"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</a:t>
            </a: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시간이 12분이 되는 방법을 4시간 안에 가져갑니다.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33195" y="593262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333195" y="4932274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[02]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400300" y="4960620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질문형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400300" y="5312664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903013"/>
            <a:ext cx="121542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"여러분이 마지막으로 '이 강의 다시 듣고 싶다'고 생각한 게 언제였나요?" 3초 기다림.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</a:t>
            </a: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드는 사람 1~2명에게 짧게 묻기.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333195" y="717804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333195" y="6177686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[03]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2400300" y="6206033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사례형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400300" y="6558991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6149340"/>
            <a:ext cx="121542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강사가 의뢰 메일 한 통 받고 90분 답장을 썼습니다.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</a:t>
            </a: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강사가 한 달 후에 같은 메일에 12분 답장을 쓰는 강사가 됐습니다."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333195" y="8424367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333195" y="7423099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[04]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2400300" y="7451446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숫자 / 변화형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400300" y="7804404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7394753"/>
            <a:ext cx="121542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"매주 홍보 / 제안 / 응대에 12시간을 쓴다면,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1년이면 624시간입니다. 한 달치 강의 시간보다 깁니다."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1333195" y="966886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333195" y="8668512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[05]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2400300" y="8697773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공감형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400300" y="9049817"/>
            <a:ext cx="2095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EMPATHY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8640166"/>
            <a:ext cx="121542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"강사가 지치는 이유는 강의 자체가 아니라 강의 사이의 모든 잡일이라는 걸 저도 알고 있습니다.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 자리에서 출발합니다."</a:t>
            </a:r>
            <a:endParaRPr lang="en-US" sz="19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26434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087412"/>
            <a:ext cx="15620695" cy="1638603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884956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· 설명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"이해가 안 되네요"를 막는 5원칙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676095"/>
            <a:ext cx="1562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설명의 실패는 보통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강사가 "이미 안다"는 입장에서 시작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해서입니다.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학습자는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0에서 출발합니다. 5원칙이 그 거리를 좁힙니다.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192" y="2830069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[01]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2530297" y="2858415"/>
            <a:ext cx="145545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먼저 큰 그림 한 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30297" y="3211374"/>
            <a:ext cx="145545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우리는 A에서 B로 갑니다." 한 줄을 먼저 깔고 디테일로.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463192" y="472562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463192" y="3867913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[02]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530297" y="3897174"/>
            <a:ext cx="145545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어려운 용어는 쉬운 말로 바꾼다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530297" y="4249218"/>
            <a:ext cx="145545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에이전트"는 "AI 비서"로 / "포지셔닝"은 "내 자리"로. 한 강의 1~2개 전문 용어가 적당.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463192" y="5763464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463192" y="4906671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[03]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2530297" y="4935018"/>
            <a:ext cx="145545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번에 하나의 메시지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530297" y="5287976"/>
            <a:ext cx="145545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슬라이드 = 한 메시지. 두 메시지가 있으면 학습자는 한 개도 기억 못 함.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1463192" y="680222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463192" y="5944515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[04]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2530297" y="5973776"/>
            <a:ext cx="145545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설명 직후에 바로 예시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530297" y="6325820"/>
            <a:ext cx="145545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1줄 → 예시 1줄. 두 번째 개념으로 가기 전에 예시.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1463192" y="7840067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463192" y="6983274"/>
            <a:ext cx="762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[05]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2530297" y="7011620"/>
            <a:ext cx="145545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예시 직후에 바로 실습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530297" y="7363664"/>
            <a:ext cx="145545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→ 예시 → 실습. 3단이 한 흐름 안에. 강의가 흐르지 끊기지 않습니다.</a:t>
            </a:r>
            <a:endParaRPr lang="en-US" sz="1750" dirty="0"/>
          </a:p>
        </p:txBody>
      </p:sp>
      <p:sp>
        <p:nvSpPr>
          <p:cNvPr id="29" name="Text 27"/>
          <p:cNvSpPr txBox="1"/>
          <p:nvPr/>
        </p:nvSpPr>
        <p:spPr>
          <a:xfrm>
            <a:off x="1714500" y="8286750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한 흐름 공식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714500" y="8782355"/>
            <a:ext cx="1485900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1900" dirty="0">
                <a:solidFill>
                  <a:schemeClr val="bg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개념</a:t>
            </a:r>
            <a:r>
              <a:rPr lang="en-US" sz="1800" dirty="0">
                <a:solidFill>
                  <a:schemeClr val="bg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1줄 → </a:t>
            </a:r>
            <a:r>
              <a:rPr lang="en-US" sz="1900" dirty="0">
                <a:solidFill>
                  <a:schemeClr val="bg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예시</a:t>
            </a:r>
            <a:r>
              <a:rPr lang="en-US" sz="1800" dirty="0">
                <a:solidFill>
                  <a:schemeClr val="bg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1줄 → </a:t>
            </a:r>
            <a:r>
              <a:rPr lang="en-US" sz="19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</a:t>
            </a:r>
            <a:r>
              <a:rPr lang="en-US" sz="18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2분"</a:t>
            </a:r>
            <a:endParaRPr lang="en-US" sz="1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DB4D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3단을 한 묶음으로 반복하는 강의가 가장 빨리 학습됩니다.</a:t>
            </a:r>
            <a:endParaRPr lang="en-US" sz="18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389840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9859061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· 질문 대응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예상치 못한 질문 4가지 대응법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강사의 신뢰는 잘 준비된 강의가 아니라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"예상 못 한 질문에 어떻게 답하느냐"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로 결정됩니다.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4가지 패턴을 미리 외워두면 당황하지 않습니다.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32388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33195" y="5934456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34856" y="3258007"/>
            <a:ext cx="9144" cy="2686507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333195" y="3562502"/>
            <a:ext cx="749625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01 추상적 질문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058107"/>
            <a:ext cx="74962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질문을 반복해 확인한다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4512564"/>
            <a:ext cx="749625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어떻게 잘 쓰나요?"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333195" y="4997196"/>
            <a:ext cx="74962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정리하면 '도구 선택' vs '프롬프트 작성' vs '</a:t>
            </a: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쪽에 가까울까요?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범위를 좁히기.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144000" y="5935370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448495" y="3562502"/>
            <a:ext cx="75063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02 즉답 어려운 질문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448495" y="4058107"/>
            <a:ext cx="75063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범위를 좁혀 답한다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448495" y="4512564"/>
            <a:ext cx="7506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도입의 모든 위험은?"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448495" y="4997196"/>
            <a:ext cx="75063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전체는 길어서 가장 자주 묻는 3가지만 먼저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다음에 필요하면 메일로 보강해드릴게요."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333195" y="8627364"/>
            <a:ext cx="781080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34856" y="5940857"/>
            <a:ext cx="9144" cy="269565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333195" y="6245352"/>
            <a:ext cx="7496251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03 의견 묻는 질문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333195" y="6740957"/>
            <a:ext cx="74962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개인 경험과 원칙을 구분한다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333195" y="7196328"/>
            <a:ext cx="749625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"강사님은 어느 AI를 쓰세요?"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333195" y="7680960"/>
            <a:ext cx="74962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 개인 경험으로는 A를 쓰지만,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원칙은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'본인이 쓸 업무 흐름에 맞는 것'이 정답입니다.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9144000" y="5940857"/>
            <a:ext cx="7810805" cy="2695651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144000" y="8617306"/>
            <a:ext cx="781080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448495" y="6245352"/>
            <a:ext cx="75063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CASE · 04 모르는 질문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9448495" y="6740957"/>
            <a:ext cx="75063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모르는 건 인정 + 확인 기준 제시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448495" y="7196328"/>
            <a:ext cx="7506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최신 모델의 정확한 성능은?"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448495" y="7680960"/>
            <a:ext cx="75063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"</a:t>
            </a:r>
            <a:r>
              <a:rPr lang="en-US" sz="175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숫자는 지금 모릅니다. 강의 후 공식 발표 자료를 확인하고 메일로 보내드릴게요.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</a:t>
            </a:r>
            <a:r>
              <a:rPr lang="en-US" sz="175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짐작으로 답하지 않기.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1333195" y="876269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333195" y="8943746"/>
            <a:ext cx="15621610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"</a:t>
            </a:r>
            <a:r>
              <a:rPr lang="en-US" sz="1900" i="1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모릅니다. 확인 후 메일로</a:t>
            </a:r>
            <a:r>
              <a:rPr lang="en-US" sz="19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"는 신뢰를 떨어뜨리는 답이 아니라 오히려 신뢰를 만드는 답입니다. 짐작 답이 가장 위험합니다.</a:t>
            </a:r>
            <a:endParaRPr lang="en-US" sz="19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483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8001000"/>
            <a:ext cx="15620695" cy="1333195"/>
          </a:xfrm>
          <a:prstGeom prst="rect">
            <a:avLst/>
          </a:prstGeom>
          <a:solidFill>
            <a:srgbClr val="0F2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761695"/>
            <a:ext cx="84774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 · 마무리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강의 마지막 3분 3단 구조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1904695"/>
            <a:ext cx="15621610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대부분의 강사가 "오늘 강의 여기까지 입니다. 감사합니다"로 끝냅니다.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학습자가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강의실을 나가는 순간의 기분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후기와 재의뢰를 결정합니다.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33195" y="3429000"/>
            <a:ext cx="4828946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524305" y="3762756"/>
            <a:ext cx="44485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24305" y="4276649"/>
            <a:ext cx="444855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요약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524305" y="4680814"/>
            <a:ext cx="44485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RECAP · 60''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524305" y="5204765"/>
            <a:ext cx="4448556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한 줄의 메시지를 다시.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"좋은 강사는 많이 아는 사람이 </a:t>
            </a:r>
            <a:r>
              <a:rPr lang="en-US" sz="190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아니라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학습자가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변화하도록 설계하는 사람."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159398" y="3429000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30898" y="3429000"/>
            <a:ext cx="4828946" cy="28346"/>
          </a:xfrm>
          <a:prstGeom prst="rect">
            <a:avLst/>
          </a:prstGeom>
          <a:solidFill>
            <a:srgbClr val="0F2A5F"/>
          </a:solidFill>
          <a:ln w="12700">
            <a:solidFill>
              <a:srgbClr val="0F2A5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921094" y="3762756"/>
            <a:ext cx="44485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21094" y="4276649"/>
            <a:ext cx="444855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다음 행동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921094" y="4680814"/>
            <a:ext cx="44485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 · 90''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921094" y="5204765"/>
            <a:ext cx="4448556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 안에 할 일 1가지.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만든 브랜드 문장을 SNS </a:t>
            </a:r>
            <a:r>
              <a:rPr lang="en-US" sz="190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프로필에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 안에 한 줄 추가하세요."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1557102" y="3429000"/>
            <a:ext cx="5715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128602" y="3429000"/>
            <a:ext cx="4828946" cy="4190695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2128602" y="3429000"/>
            <a:ext cx="4828946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2318797" y="3762756"/>
            <a:ext cx="44485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2318797" y="4276649"/>
            <a:ext cx="4448556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감정 마무리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12318797" y="4680814"/>
            <a:ext cx="444855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EMOTION · 30''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2318797" y="5204765"/>
            <a:ext cx="4448556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/ 격려 / 응원 한 문장.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"4시간 함께 해주셔서 감사했습니다.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1900" dirty="0">
              <a:solidFill>
                <a:srgbClr val="E07A1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1년 뒤 여러분의 브랜드 문장을 보게 되길 기대합니다."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8229600"/>
            <a:ext cx="14859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68" dirty="0">
                <a:solidFill>
                  <a:srgbClr val="FFB8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통 찰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8686800"/>
            <a:ext cx="14859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마무리의 핵심은 "감정으로 끝나고 행동이 남게 하기". 정보로 끝나면 학습자는 정보를 잊습니다.</a:t>
            </a:r>
            <a:endParaRPr lang="en-US" sz="20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7619841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830007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· 구조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3분 미니 강의 4단 구성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562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4교시의 핵심 실습입니다. </a:t>
            </a: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본인의 강의 한 주제를 3분에 압축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 시연합니다.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0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30초 / 60초 / 60초 / 30초 시간 안에 35~39쪽의 모든 원칙이 들어갑니다.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3238805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229454" y="3258007"/>
            <a:ext cx="9144" cy="5105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333195" y="3562502"/>
            <a:ext cx="36676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01 · 0' 30''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4362602"/>
            <a:ext cx="366765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오프닝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4862779"/>
            <a:ext cx="3667658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36쪽 5전략 중 1개로.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학습자의 휴대폰을 멀어지게.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33195" y="6296558"/>
            <a:ext cx="3666744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333195" y="6439205"/>
            <a:ext cx="3667658" cy="8010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"여러분 강의 의뢰 </a:t>
            </a:r>
            <a:r>
              <a:rPr lang="en-US" sz="190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답장에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</a:t>
            </a: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 쓰세요?"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34856" y="3258007"/>
            <a:ext cx="9144" cy="5105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67198" y="3562502"/>
            <a:ext cx="3439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02 · 30'' 1'30''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67198" y="4362602"/>
            <a:ext cx="343905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개념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67198" y="4862779"/>
            <a:ext cx="3439058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메시지 1줄 + 1~2 보조 설명.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37쪽 5원칙으로 점검.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67198" y="6717182"/>
            <a:ext cx="3438144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467198" y="6859829"/>
            <a:ext cx="3439058" cy="11914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"AI 비서 = 챗봇이 아니라 비서. 목표를 이해하고 스스로 일합니다."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3040258" y="3258007"/>
            <a:ext cx="9144" cy="510509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372600" y="3562502"/>
            <a:ext cx="34390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03 · 1'30'' 2'30''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4362602"/>
            <a:ext cx="343905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사례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4862779"/>
            <a:ext cx="3439058" cy="1686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경험 / 수강생 사례 1개.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"지난주 김 강사는…"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372600" y="6717182"/>
            <a:ext cx="3438144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9372600" y="6859829"/>
            <a:ext cx="3439058" cy="11914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"한 강사는 90분 작업을 비서를 만든 후 12분에 끝냈습니다."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3049402" y="3258007"/>
            <a:ext cx="3905402" cy="5105095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13278002" y="3562502"/>
            <a:ext cx="36768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51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04 · 2'30'' 3'00''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3278002" y="4362602"/>
            <a:ext cx="3676802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정리 + 질문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3278002" y="4862779"/>
            <a:ext cx="3676802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39쪽 3단 압축.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→ 다음 행동 → 감정.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13278002" y="5875934"/>
            <a:ext cx="3676802" cy="9144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3278002" y="6018581"/>
            <a:ext cx="3676802" cy="11914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1397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"오늘 끝나면 본인의 </a:t>
            </a:r>
            <a:r>
              <a:rPr lang="en-US" sz="1900" dirty="0" err="1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</a:t>
            </a: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</a:t>
            </a: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3가지를 적어보세요."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1333195" y="895380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1333195" y="9134856"/>
            <a:ext cx="156216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시 간 표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30 + 60 + 60 + 30 = 180초. </a:t>
            </a:r>
            <a:r>
              <a:rPr lang="en-US" sz="190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부분이 길어지면</a:t>
            </a:r>
            <a:r>
              <a:rPr lang="en-US" sz="190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곧 3분을 넘깁니다. 미리 휴대폰 타이머로 연습.</a:t>
            </a:r>
            <a:endParaRPr lang="en-US" sz="19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484402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8639251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 · 피드백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미니 강의 5가지 점검 기준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1904695"/>
            <a:ext cx="163074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옆 사람 시연을 보면서 동시에 점검합니다.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5칸을 1~5점 표시</a:t>
            </a:r>
            <a:r>
              <a:rPr lang="en-US" sz="20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+ 한 줄 SBI 피드백. 30쪽의 피드백 공식이 여기에 적용됩니다.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33195" y="2856586"/>
            <a:ext cx="15620695" cy="724205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333195" y="2875788"/>
            <a:ext cx="1524305" cy="6958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857500" y="2875788"/>
            <a:ext cx="2667305" cy="6958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524805" y="2875788"/>
            <a:ext cx="9525305" cy="6958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질문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5049195" y="2875788"/>
            <a:ext cx="1905610" cy="6958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273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33195" y="478048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333195" y="3784702"/>
            <a:ext cx="1524305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010205" y="3808476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010205" y="4198925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전개 정리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524805" y="3747211"/>
            <a:ext cx="9525305" cy="8668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→ 전개 → 정리가 명확한가. 청자가 "지금 어디"를 아는가.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049195" y="3618281"/>
            <a:ext cx="1905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2 · 3 · 4 · 5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333195" y="606613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333195" y="5031943"/>
            <a:ext cx="1524305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3010205" y="5055718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메시지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010205" y="5446167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메시지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524805" y="4789627"/>
            <a:ext cx="9525305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메시지가 한 줄로 정리되는가. 듣고 옆 사람에게 1줄로 다시 말할 수 있는가.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5049195" y="4864608"/>
            <a:ext cx="1905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2 · 3 · 4 · 5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33195" y="727405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333195" y="6278271"/>
            <a:ext cx="1524305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3010205" y="6302045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전달력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3010205" y="6692494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발음 쉼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524805" y="6240780"/>
            <a:ext cx="9525305" cy="8668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/ 발음이 적절한가. 의도적인 쉼 3초가 한 번이라도 있는가.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15049195" y="6111850"/>
            <a:ext cx="1905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2 · 3 · 4 · 5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1333195" y="8483803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333195" y="7488022"/>
            <a:ext cx="1524305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3010205" y="7511796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상호작용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3010205" y="7902245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질문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5524805" y="7450531"/>
            <a:ext cx="9525305" cy="8668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학습자를 바라보고 질문하는가. 슬라이드만 보고 끝내지 않는가.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15049195" y="7321601"/>
            <a:ext cx="1905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2 · 3 · 4 · 5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33195" y="8492947"/>
            <a:ext cx="15620695" cy="1218895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333195" y="9692640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333195" y="8697773"/>
            <a:ext cx="1524305" cy="7909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010205" y="8721547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실용성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3010205" y="9111996"/>
            <a:ext cx="23628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 적용 가능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5524805" y="8660283"/>
            <a:ext cx="9525305" cy="8668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듣는 사람이 강의 끝나면 바로 적용할 한 가지가 있는가.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15049195" y="8531352"/>
            <a:ext cx="19056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2 · 3 · 4 · 5</a:t>
            </a:r>
            <a:endParaRPr lang="en-US" sz="19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86252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106491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· 1 / 2 시연 절차 · 30분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3분 미니 강의 시연 + 피드백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325698" y="1076249"/>
            <a:ext cx="75529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2952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2인 1조 교대 시연.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1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후 가장 약한 1칸을 알고 강의실을 나갑니다.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195" y="4381194"/>
            <a:ext cx="2915107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333195" y="4639056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 · 5분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333195" y="5019446"/>
            <a:ext cx="2915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오프닝 원고 작성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33195" y="5487619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36쪽 5전략 중 1개로.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 분량 한 줄.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510735" y="4381194"/>
            <a:ext cx="2915107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10735" y="4639056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 · 5분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10735" y="5019446"/>
            <a:ext cx="2915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40쪽 4단 구성 메모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10735" y="5487619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1줄 / 사례 1줄 /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1줄 미리 적기.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688275" y="4381194"/>
            <a:ext cx="2915107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688275" y="4639056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 · 12분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688275" y="5019446"/>
            <a:ext cx="29151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2인 1조 교대 시연 (3분 × 4)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688275" y="5821374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강의 → B 피드백 →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강의 → A 피드백.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865815" y="4381194"/>
            <a:ext cx="2915107" cy="2834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0865815" y="4639056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 · 5분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0865815" y="5019446"/>
            <a:ext cx="2915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41쪽 5기준 점수 + SBI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0865815" y="5487619"/>
            <a:ext cx="291510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피드백표 교환 →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50" dirty="0" err="1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낮은 1칸 보완.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4043355" y="4381194"/>
            <a:ext cx="2915107" cy="283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4043355" y="4639056"/>
            <a:ext cx="29151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05 · 3분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4043355" y="5019446"/>
            <a:ext cx="2915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자원자 1~2명 전체 시연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4043355" y="5487619"/>
            <a:ext cx="323149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통합 피드백 5기준 1줄씩.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1333195" y="8769502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330451" y="9066225"/>
            <a:ext cx="85633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총 소요</a:t>
            </a: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5 + 5 + 12 + 5 + 3 = 30분 · 다음 장에 완성 기준 + 1주 행동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15477134" y="9066225"/>
            <a:ext cx="1476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→ 42B</a:t>
            </a:r>
            <a:endParaRPr lang="en-US" sz="155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087519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3619195"/>
            <a:ext cx="7810805" cy="5333695"/>
          </a:xfrm>
          <a:prstGeom prst="rect">
            <a:avLst/>
          </a:prstGeom>
          <a:solidFill>
            <a:srgbClr val="F4F7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5305" y="3619195"/>
            <a:ext cx="7429500" cy="5333695"/>
          </a:xfrm>
          <a:prstGeom prst="rect">
            <a:avLst/>
          </a:prstGeom>
          <a:solidFill>
            <a:srgbClr val="FFF7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33195" y="162854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333195" y="761695"/>
            <a:ext cx="100401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· 2 / 2 완성 + 1주 행동</a:t>
            </a:r>
            <a:r>
              <a:rPr lang="en-US" sz="36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강의실을 나가기 전 + 나간 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199510" y="1076249"/>
            <a:ext cx="88148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42B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190902"/>
            <a:ext cx="1562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</a:t>
            </a: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완성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"의 정의를 4가지로 정합니다. </a:t>
            </a:r>
          </a:p>
          <a:p>
            <a:pPr marL="0" indent="0" algn="l">
              <a:lnSpc>
                <a:spcPct val="115000"/>
              </a:lnSpc>
              <a:buNone/>
            </a:pPr>
            <a:endParaRPr lang="en-US" sz="2100" dirty="0">
              <a:solidFill>
                <a:srgbClr val="444444"/>
              </a:solidFill>
              <a:latin typeface="Noto Serif KR" pitchFamily="34" charset="0"/>
              <a:ea typeface="Noto Serif KR" pitchFamily="34" charset="-122"/>
              <a:cs typeface="Noto Serif KR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 err="1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그리고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강의 후 1주 안에 4가지를 실행합니다.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714500" y="3905402"/>
            <a:ext cx="7049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6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완성의 정의 강의실 안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714500" y="5325466"/>
            <a:ext cx="70481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714500" y="4619549"/>
            <a:ext cx="3429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2266798" y="4677156"/>
            <a:ext cx="348477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 시연을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안에 마쳤는가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714500" y="6210605"/>
            <a:ext cx="70481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714500" y="5505602"/>
            <a:ext cx="3429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2266798" y="5562295"/>
            <a:ext cx="307238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5기준 평균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3.5점 이상</a:t>
            </a: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714500" y="7096658"/>
            <a:ext cx="7048195" cy="914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714500" y="6391656"/>
            <a:ext cx="3429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2266798" y="6448349"/>
            <a:ext cx="58485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 사람이 들은 메시지를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1줄로 다시 말할 수 있는가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7276795"/>
            <a:ext cx="3429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2266798" y="7334402"/>
            <a:ext cx="44156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약한 1칸을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 강의실을 나가는가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905695" y="3905402"/>
            <a:ext cx="6667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36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1주 안에 강의실 밖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9905695" y="5248656"/>
            <a:ext cx="6667805" cy="9144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905695" y="4619549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458907" y="4619549"/>
            <a:ext cx="406359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강의 1회 녹화 +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5기준 자기 점수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905695" y="6057900"/>
            <a:ext cx="6667805" cy="9144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905695" y="5429707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58907" y="5429707"/>
            <a:ext cx="49935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 5전략 중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1개를 다음 강의에 적용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9905695" y="6867144"/>
            <a:ext cx="6667805" cy="9144"/>
          </a:xfrm>
          <a:prstGeom prst="rect">
            <a:avLst/>
          </a:prstGeom>
          <a:solidFill>
            <a:srgbClr val="FDE8C4"/>
          </a:solidFill>
          <a:ln w="12700">
            <a:solidFill>
              <a:srgbClr val="FDE8C4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9905695" y="6238951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58907" y="6238951"/>
            <a:ext cx="37362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약한 1칸을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달 집중 연습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905695" y="7048195"/>
            <a:ext cx="342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0458907" y="7048195"/>
            <a:ext cx="529529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후 같은 5기준으로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 점수 → 변화 확인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1333195" y="9430207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333195" y="9610344"/>
            <a:ext cx="65818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4교시 끝 · 다음은 </a:t>
            </a:r>
            <a:r>
              <a:rPr lang="en-US" sz="1550" kern="0" spc="297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5종 산출물 회고 → 핵심 메시지 → 마무리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16110814" y="9639605"/>
            <a:ext cx="9564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kern="0" spc="297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42B</a:t>
            </a:r>
            <a:r>
              <a:rPr lang="en-US" sz="1550" kern="0" spc="297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55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976704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33195" y="1476756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333195" y="761695"/>
            <a:ext cx="7172554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 · 회고</a:t>
            </a:r>
            <a:r>
              <a:rPr lang="en-US" sz="30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4시간 손에 남는 5가지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211398" y="942746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32280" y="1751228"/>
            <a:ext cx="156216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강의의 </a:t>
            </a: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실체</a:t>
            </a:r>
            <a:r>
              <a:rPr lang="en-US" sz="1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 강의 노트 한 권이 아니라 </a:t>
            </a:r>
            <a:r>
              <a:rPr lang="en-US" sz="18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파일 5개</a:t>
            </a:r>
            <a:r>
              <a:rPr lang="en-US" sz="1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손에 남습니다.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5개 파일은 노션 한 페이지에 모아 두세요.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33195" y="2684221"/>
            <a:ext cx="952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590495" y="2684221"/>
            <a:ext cx="143643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 브랜드 문장 1개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2590495" y="3123133"/>
            <a:ext cx="14364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/ 문제 / 변화 / 전문 분야 4칸을 한 문장으로. </a:t>
            </a: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13쪽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333195" y="5781751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33195" y="3998214"/>
            <a:ext cx="952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590495" y="3998214"/>
            <a:ext cx="143643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1장 강의 기획서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590495" y="4436212"/>
            <a:ext cx="14364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결재 라인에 그대로 올릴 수 있는 8칸. </a:t>
            </a: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23쪽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333195" y="7094830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333195" y="5311292"/>
            <a:ext cx="952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2590495" y="5311292"/>
            <a:ext cx="143643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1차시 교안 4단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2590495" y="5750204"/>
            <a:ext cx="14364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→ 전개 → 실습 → 정리. 강사 활동 + 학습자 산출물 칸 채움. </a:t>
            </a: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22쪽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333195" y="8674912"/>
            <a:ext cx="15620695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333195" y="6625285"/>
            <a:ext cx="952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dirty="0">
                <a:solidFill>
                  <a:srgbClr val="0F2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2590495" y="6625285"/>
            <a:ext cx="143643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오프닝 30초 원고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2590495" y="7063283"/>
            <a:ext cx="14364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5F6B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36쪽 5전략 중 본인 강의에 맞는 1개. </a:t>
            </a:r>
            <a:r>
              <a:rPr lang="en-US" sz="1900" dirty="0">
                <a:solidFill>
                  <a:srgbClr val="0F2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42쪽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33195" y="8682228"/>
            <a:ext cx="15620695" cy="1324051"/>
          </a:xfrm>
          <a:prstGeom prst="rect">
            <a:avLst/>
          </a:prstGeom>
          <a:solidFill>
            <a:srgbClr val="FFF7EC"/>
          </a:solidFill>
          <a:ln/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33195" y="9987076"/>
            <a:ext cx="15620695" cy="1920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332280" y="7786572"/>
            <a:ext cx="952805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2590495" y="7938364"/>
            <a:ext cx="143643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3분 미니 강의 피드백표 (자기 + 동료)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2590495" y="9349740"/>
            <a:ext cx="143643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5기준 점수 + SBI 한 줄. </a:t>
            </a:r>
            <a:r>
              <a:rPr lang="en-US" sz="1900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약한 칸이 본인의 1주 과제. → 41쪽 · 강의의 최종 산출물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333195" y="9028785"/>
            <a:ext cx="15620695" cy="9144"/>
          </a:xfrm>
          <a:prstGeom prst="rect">
            <a:avLst/>
          </a:prstGeom>
          <a:solidFill>
            <a:srgbClr val="CCD3DD"/>
          </a:solidFill>
          <a:ln w="12700">
            <a:solidFill>
              <a:srgbClr val="CCD3DD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333195" y="9056067"/>
            <a:ext cx="15621610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0" rIns="177800" bIns="1778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 록</a:t>
            </a:r>
            <a:r>
              <a:rPr lang="en-US" sz="17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   이 5장을 </a:t>
            </a:r>
            <a:r>
              <a:rPr lang="en-US" sz="1750" i="1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노션의 한 페이지에 모아 두세요</a:t>
            </a:r>
            <a:r>
              <a:rPr lang="en-US" sz="1750" dirty="0">
                <a:solidFill>
                  <a:srgbClr val="5F6B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다음 강의 의뢰가 오면 1번 + 2번이 첫 응답이 됩니다.</a:t>
            </a:r>
            <a:endParaRPr lang="en-US" sz="175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759473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a40ff341e69221897d8d18d27418fecf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333195" y="7524598"/>
            <a:ext cx="15620695" cy="9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546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MESSAGE · 강의 전체를 한 줄로 남기면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333195" y="2857500"/>
            <a:ext cx="1562161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0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좋은 강사는</a:t>
            </a:r>
            <a:endParaRPr lang="en-US" sz="54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08" dirty="0">
                <a:solidFill>
                  <a:srgbClr val="9AA5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많이 아는 사람</a:t>
            </a:r>
            <a:r>
              <a:rPr lang="en-US" sz="5400" b="1" kern="0" spc="-10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아니라 </a:t>
            </a:r>
            <a:endParaRPr lang="en-US" sz="54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0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학습자가 변화하도록</a:t>
            </a:r>
            <a:endParaRPr lang="en-US" sz="54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5400" b="1" kern="0" spc="-108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강의를 설계하고 전달하는 사람</a:t>
            </a:r>
            <a:r>
              <a:rPr lang="en-US" sz="5400" b="1" kern="0" spc="-108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이다.</a:t>
            </a:r>
            <a:endParaRPr lang="en-US" sz="5400" b="1" dirty="0"/>
          </a:p>
        </p:txBody>
      </p:sp>
      <p:sp>
        <p:nvSpPr>
          <p:cNvPr id="7" name="Shape 4"/>
          <p:cNvSpPr/>
          <p:nvPr/>
        </p:nvSpPr>
        <p:spPr>
          <a:xfrm>
            <a:off x="5229454" y="7810805"/>
            <a:ext cx="9144" cy="1152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333195" y="7810805"/>
            <a:ext cx="36676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01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333195" y="8238744"/>
            <a:ext cx="36676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문장으로 누구인지 말한다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34856" y="7810805"/>
            <a:ext cx="9144" cy="1152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467198" y="7810805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02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467198" y="8238744"/>
            <a:ext cx="34390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학습자의 변화로 목표를 정한다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3040258" y="7810805"/>
            <a:ext cx="9144" cy="1152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9372600" y="7810805"/>
            <a:ext cx="343905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03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9372600" y="8238744"/>
            <a:ext cx="3439058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손을 움직이게 교수법을 짠다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3278002" y="7810805"/>
            <a:ext cx="36768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AXIS · 04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278002" y="8238744"/>
            <a:ext cx="367680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감정으로 끝나고 행동을 남긴다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9473642"/>
            <a:ext cx="118588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E07A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강의가 끝나고도 1주 안에 이 한 문장이 일상의 기준이 되도록.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5938906" y="9501988"/>
            <a:ext cx="117500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429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r>
              <a:rPr lang="en-US" sz="1900" kern="0" spc="429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085785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ac4284f9b7e397b8f02d857c4d15419a.png"/>
          <p:cNvPicPr>
            <a:picLocks noChangeAspect="1"/>
          </p:cNvPicPr>
          <p:nvPr/>
        </p:nvPicPr>
        <p:blipFill>
          <a:blip r:embed="rId2"/>
          <a:srcRect t="-201" b="-201"/>
          <a:stretch/>
        </p:blipFill>
        <p:spPr>
          <a:xfrm>
            <a:off x="0" y="0"/>
            <a:ext cx="75895" cy="10287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33195" y="1333195"/>
            <a:ext cx="15621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50" kern="0" spc="42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 · 4HR</a:t>
            </a:r>
            <a:endParaRPr lang="en-US" sz="1750" dirty="0"/>
          </a:p>
        </p:txBody>
      </p:sp>
      <p:sp>
        <p:nvSpPr>
          <p:cNvPr id="6" name="Text 3"/>
          <p:cNvSpPr txBox="1"/>
          <p:nvPr/>
        </p:nvSpPr>
        <p:spPr>
          <a:xfrm>
            <a:off x="1332280" y="2733141"/>
            <a:ext cx="15621610" cy="354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800" b="1" kern="0" spc="-265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당신은 이제</a:t>
            </a:r>
            <a:endParaRPr lang="en-US" sz="88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800" b="1" kern="0" spc="-265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학습자를 변화시키는</a:t>
            </a:r>
            <a:endParaRPr lang="en-US" sz="8800" b="1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800" b="1" kern="0" spc="-265" dirty="0">
                <a:solidFill>
                  <a:srgbClr val="11111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강사가 되었습니다.</a:t>
            </a:r>
            <a:endParaRPr lang="en-US" sz="8800" b="1" dirty="0"/>
          </a:p>
        </p:txBody>
      </p:sp>
      <p:sp>
        <p:nvSpPr>
          <p:cNvPr id="7" name="Shape 4"/>
          <p:cNvSpPr/>
          <p:nvPr/>
        </p:nvSpPr>
        <p:spPr>
          <a:xfrm>
            <a:off x="1333195" y="7429500"/>
            <a:ext cx="28346" cy="828446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628546" y="7429500"/>
            <a:ext cx="15326258" cy="829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"1회차에서 우리는 </a:t>
            </a:r>
            <a:r>
              <a:rPr lang="en-US" sz="2100" dirty="0">
                <a:solidFill>
                  <a:srgbClr val="0F2A5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AI를 잘 쓰는 강사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되었습니다.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2회차에서 우리는 </a:t>
            </a:r>
            <a:r>
              <a:rPr lang="en-US" sz="2100" dirty="0">
                <a:solidFill>
                  <a:srgbClr val="E07A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학습자를 변화시키는 강사</a:t>
            </a:r>
            <a:r>
              <a:rPr lang="en-US" sz="2100" dirty="0">
                <a:solidFill>
                  <a:srgbClr val="44444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되었습니다. 이 둘이 미래형 강사의 두 날개입니다."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361541" y="8724900"/>
            <a:ext cx="15620695" cy="91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361541" y="8962644"/>
            <a:ext cx="137160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5F6B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kern="0" spc="39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단계 · 1년 후 본인의 강사 브랜드 문장이 어떻게 진화했는지 재 점검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6239744" y="8962644"/>
            <a:ext cx="8924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r>
              <a:rPr lang="en-US" sz="1900" dirty="0">
                <a:solidFill>
                  <a:srgbClr val="CCD3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/45</a:t>
            </a:r>
            <a:endParaRPr lang="en-US" sz="1900" dirty="0"/>
          </a:p>
        </p:txBody>
      </p:sp>
      <p:sp>
        <p:nvSpPr>
          <p:cNvPr id="1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70633367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BD2066-BA18-1C44-AC9D-86DA5132BAF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7b64e1c-2549-4723-a3c2-a51cc439e4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7790</Words>
  <Application>Microsoft Macintosh PowerPoint</Application>
  <PresentationFormat>사용자 지정</PresentationFormat>
  <Paragraphs>1233</Paragraphs>
  <Slides>50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5" baseType="lpstr">
      <vt:lpstr>JetBrains Mono</vt:lpstr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7</cp:revision>
  <dcterms:created xsi:type="dcterms:W3CDTF">2026-06-30T11:59:03Z</dcterms:created>
  <dcterms:modified xsi:type="dcterms:W3CDTF">2026-07-01T09:41:49Z</dcterms:modified>
</cp:coreProperties>
</file>