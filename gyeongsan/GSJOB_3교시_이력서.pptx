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7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5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DEF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EE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2부 · 3교시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평범한 경험을 무기로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AI와 이력서 쓰기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2026. 11. 6.(금) 15:30~16:25 · 강사 이애본 · 정동엽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경산시취업지원센터 · 경산고용복지+센터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2026년 제1차 취업특강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 초안 한 장을 손에 쥡니다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 인터뷰로 경험 하나를 상황 · 행동 · 결과로 캐냅니다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캐낸 경험을 「무엇을 해서 → 어떤 결과」 문장으로 바꿉니다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공백기 · 경력 전환을 사과 없이 설명하는 문장을 씁니다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 키워드를 넣은 이력서 초안을 표로 받습니다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남는 것: 이력서 초안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지금 어디쯤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1부의 재료로 이력서를 짓습니다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10" name="Oval 9"/>
          <p:cNvSpPr/>
          <p:nvPr/>
        </p:nvSpPr>
        <p:spPr>
          <a:xfrm>
            <a:off x="294798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3800475" cy="405765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3343275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 첫걸음 · 강점 찾기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21030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34365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666750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강점 키워드 3개 · 목표 한 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17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17" name="Oval 16"/>
          <p:cNvSpPr/>
          <p:nvPr/>
        </p:nvSpPr>
        <p:spPr>
          <a:xfrm>
            <a:off x="7015162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0175" y="3371850"/>
            <a:ext cx="3800475" cy="405765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8775" y="3600450"/>
            <a:ext cx="3343275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채용공고 해독 · 매칭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8775" y="621030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8775" y="634365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8775" y="666750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 분석표 · 매칭표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735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24" name="Oval 23"/>
          <p:cNvSpPr/>
          <p:nvPr/>
        </p:nvSpPr>
        <p:spPr>
          <a:xfrm>
            <a:off x="11053762" y="2867025"/>
            <a:ext cx="247650" cy="24765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77350" y="3371850"/>
            <a:ext cx="3800475" cy="4057650"/>
          </a:xfrm>
          <a:prstGeom prst="roundRect">
            <a:avLst>
              <a:gd name="adj" fmla="val 1503"/>
            </a:avLst>
          </a:prstGeom>
          <a:solidFill>
            <a:srgbClr val="E6F4EE"/>
          </a:solidFill>
          <a:ln w="19050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5950" y="3600450"/>
            <a:ext cx="3343275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경험 캐내기 · 이력서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5950" y="621030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5950" y="634365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5950" y="666750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이력서 초안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4452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31" name="Oval 30"/>
          <p:cNvSpPr/>
          <p:nvPr/>
        </p:nvSpPr>
        <p:spPr>
          <a:xfrm>
            <a:off x="15149512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3344525" y="3371850"/>
            <a:ext cx="3800475" cy="405765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73125" y="3600450"/>
            <a:ext cx="3343275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 · 맞춤형 수정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73125" y="621030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3125" y="634365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73125" y="666750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자기소개서 한 문항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프롬프트 전문은 gyeongsan.jobability.co.kr 「실습 프롬프트」에서 복사합니다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① · 경험 캐내기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평범한 경험은 없습니다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「별것 아닌 일」이라고 넘긴 경험 안에 공고가 찾는 낱말이 숨어 있습니다 — 캐내는 질문만 있으면 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비포 · 애프터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편의점 야간 아르바이트 2년을 다시 읽으면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비포 — 한 줄로 넘긴 경험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연습용 가상 인물 박하늘(가명)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편의점 아르바이트 2년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그냥 야간 알바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내세울 게 없다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애프터 — 직무 낱말로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경험은 그대로, 읽는 눈만 바꿨습니다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야간 재고 정리 · 발주를 맡음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신입 아르바이트생에게 일을 가르침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엑셀로 근무표를 만듦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비포 · 애프터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섬유회사 영업관리 22년을 다시 읽으면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비포 — 업종만 보면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연습용 가상 인물 최정우(가명)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섬유회사 영업 22년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물류는 처음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나이가 많다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애프터 — 하던 일을 보면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물류관리 업무와 겹칩니다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거래처 40여 곳 납기 일정 조율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주문 · 출고 · 재고를 매주 정리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클레임 원인 확인 · 재발 방지안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인터뷰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상황 → 행동 → 결과 → 배운 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면접에서 널리 쓰는 경험 질문 방식(흔히 STAR)과 같은 순서 — 이력서와 면접 답이 함께 준비됩니다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문제가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있었나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행동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무엇을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했나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무엇이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달라졌나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배운 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그래서 이 일에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무엇을 가져가나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3-1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경험 캐내기 인터뷰 — 상황 · 행동 · 결과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경험 하나를 네 질문으로 깊이 판다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이력서 코칭 담당자 [자료] 해 본 일 한 가지 + 지원하려는 직무 [과업] ① 질문은 한 번에 하나씩, 모두 4개 ② 상황 → 행동 → 결과 → 배운 점 순서 ③ 끝나면 이력서 문장 2개 [형식] 「무엇을 해서 → 어떤 결과」, 한 문장 50자 이내 [조건] 숫자를 모르면 지어내지 말고 「약 ○○(확인 필요)」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문장 2개가 모두 내가 실제로 말한 행동에서 나왔는지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성과 문장 공식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무엇을 해서 → 어떤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573399"/>
            <a:ext cx="5080000" cy="3616452"/>
          </a:xfrm>
          <a:prstGeom prst="roundRect">
            <a:avLst>
              <a:gd name="adj" fmla="val 131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573399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782949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897249"/>
            <a:ext cx="4432300" cy="18328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무엇을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직접 한 행동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「~을 맡아」 「~을 찾아」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66850" y="5920549"/>
            <a:ext cx="4432300" cy="945452"/>
          </a:xfrm>
          <a:prstGeom prst="roundRect">
            <a:avLst>
              <a:gd name="adj" fmla="val 5037"/>
            </a:avLst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38300" y="6072949"/>
            <a:ext cx="4089400" cy="697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42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박하늘(가명)</a:t>
            </a:r>
          </a:p>
          <a:p>
            <a:pPr>
              <a:lnSpc>
                <a:spcPct val="135000"/>
              </a:lnSpc>
              <a:spcBef>
                <a:spcPts val="300"/>
              </a:spcBef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조립 라인에서 불량품을 먼저 발견해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4000" y="3573399"/>
            <a:ext cx="5080000" cy="3616452"/>
          </a:xfrm>
          <a:prstGeom prst="roundRect">
            <a:avLst>
              <a:gd name="adj" fmla="val 131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04000" y="3573399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deckgen:ornament"/>
          <p:cNvSpPr txBox="1"/>
          <p:nvPr/>
        </p:nvSpPr>
        <p:spPr>
          <a:xfrm>
            <a:off x="10826750" y="3782949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27850" y="3897249"/>
            <a:ext cx="4432300" cy="18328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어떤 결과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그래서 달라진 것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숫자를 모르면 「확인 필요」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27850" y="5920549"/>
            <a:ext cx="4432300" cy="945452"/>
          </a:xfrm>
          <a:prstGeom prst="roundRect">
            <a:avLst>
              <a:gd name="adj" fmla="val 5037"/>
            </a:avLst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99300" y="6072949"/>
            <a:ext cx="4089400" cy="697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42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박하늘(가명)</a:t>
            </a:r>
          </a:p>
          <a:p>
            <a:pPr>
              <a:lnSpc>
                <a:spcPct val="135000"/>
              </a:lnSpc>
              <a:spcBef>
                <a:spcPts val="300"/>
              </a:spcBef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반장에게 바로 보고했습니다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065000" y="3573399"/>
            <a:ext cx="5080000" cy="3616452"/>
          </a:xfrm>
          <a:prstGeom prst="roundRect">
            <a:avLst>
              <a:gd name="adj" fmla="val 131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065000" y="3573399"/>
            <a:ext cx="508000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782949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8850" y="3897249"/>
            <a:ext cx="4432300" cy="18328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 낱말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2교시 키워드 10개 가운데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 문장과 닿는 낱말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88850" y="5920549"/>
            <a:ext cx="4432300" cy="945452"/>
          </a:xfrm>
          <a:prstGeom prst="roundRect">
            <a:avLst>
              <a:gd name="adj" fmla="val 5037"/>
            </a:avLst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560300" y="6072949"/>
            <a:ext cx="4089400" cy="697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42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박하늘(가명)</a:t>
            </a:r>
          </a:p>
          <a:p>
            <a:pPr>
              <a:lnSpc>
                <a:spcPct val="135000"/>
              </a:lnSpc>
              <a:spcBef>
                <a:spcPts val="300"/>
              </a:spcBef>
            </a:pPr>
            <a:r>
              <a:rPr sz="18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불량 원인 확인 · 보고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② · 공백기 · 경력 전환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사과하지 않고 설명합니다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공백과 전환은 숨길 일이 아니라 설명할 일입니다 — 그 기간에 한 일과, 그래서 잘할 수 있는 이유로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말투 바꾸기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사과하는 문장과 설명하는 문장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사과하는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읽는 사람도 걱정하게 됩니다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부족하지만 열심히 하겠습니다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늦은 나이지만 도전합니다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그동안 그냥 쉬었습니다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설명하는 문장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읽는 사람이 이유를 봅니다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그 기간에 한 일(공부 · 훈련 · 돌봄)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이전 일에서 옮겨 쓸 수 있는 능력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그래서 이 일을 잘할 수 있다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옮겨 쓰는 능력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영업관리 22년이 물류관리에서 하는 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 온 일(영업관리)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공고의 업무(물류관리)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거래처 40여 곳 납기 일정 조율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입고 · 출고 일정 관리 · 배차 조율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주문 · 출고 · 재고 현황을 매주 정리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재고 현황 점검 및 월간 보고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거래처 클레임 원인 확인 · 재발 방지안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거래처 주문 확인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후배 직원 5명 업무 지도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현장 작업자와 일정 소통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1종 보통 운전면허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63436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63436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우대: 운전면허 소지자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직업학에서는 다른 직무로 옮겨 쓸 수 있는 능력을 「전이 가능한 역량」이라 부릅니다 · 최정우(가명) × (가상) 대경로지스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3-3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공백기 · 경력 전환을 당당하게 설명하기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이력서 한 문장 · 면접 세 문장 · 옮겨 쓸 능력 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20년 차 직업 상담 담당자 [자료] 공백 또는 전환 내용 · 그 기간에 한 일 · 지원 직무 [과업] ① 이력서 설명 1문장 ② 「그동안 무엇을 했나요?」 면접 답 3문장 ③ 옮겨 쓸 능력 3가지 [형식] 「그래서 이 일을 잘할 수 있다」로 끝나는 말투 [조건] 사실을 꾸미지 않기, 나이 · 공백을 사과하지 않기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옮겨 쓸 능력 3가지가 지원 공고의 업무와 실제로 겹치는지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③ · 이력서 초안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모은 재료를 한 장으로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강점 키워드 · 공고 키워드 · 경험 문장을 [자료]에 한 번 더 모아 적습니다 — AI가 앞부분을 놓치지 않게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3-2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 초안 — 공고 키워드를 넣어서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1~3교시 결과를 모아 지원 공고에 맞춘 표로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이력서 코칭 담당자 [자료] 지원 공고 · 공고 키워드 10개 · 강점 키워드 3개 · 경험 문장 · 학력 · 자격 [과업] ① 한 줄 소개 ② 경력 · 경험(기간 / 하는 일 / 성과 문장 2개씩) ③ 보유 역량 5가지 ④ 자격 · 교육 [형식] 표, 공고 키워드는 굵게 [조건] 적은 사실만, 기간 · 숫자 · 자격은 바꾸지 않기, 끝에 「사실 확인이 필요한 곳」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공부 중인 자격이 「취득」으로 바뀌지 않았는지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초안의 네 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 초안은 이렇게 생겼습니다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들어가는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① 한 줄 소개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지원 직무 + 나의 강점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1교시 목표 한 줄과 이어지는가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② 경력 · 경험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기간 / 하는 일 / 성과 문장 2개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기간이 내가 적은 그대로인가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③ 보유 역량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5가지 — 공고 키워드와 겹치는 것 먼저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굵은 키워드가 고르게 들어갔는가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④ 자격 · 교육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공부 중인 것은 「취득 예정」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없는 자격이 생기지 않았는가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이름 · 연락처 · 주소 · 사진 칸은 AI 밖에서, 내 손으로 채웁니다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막히면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3교시에서 자주 막히는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495550"/>
            <a:ext cx="133350" cy="13335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90650" y="2381250"/>
            <a:ext cx="75438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B4372F"/>
                </a:solidFill>
                <a:latin typeface="Pretendard"/>
                <a:ea typeface="Pretendard"/>
                <a:cs typeface="Pretendard"/>
              </a:rPr>
              <a:t>이럴 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53550" y="2495550"/>
            <a:ext cx="133350" cy="13335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0" y="2381250"/>
            <a:ext cx="75438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1E7B4F"/>
                </a:solidFill>
                <a:latin typeface="Pretendard"/>
                <a:ea typeface="Pretendard"/>
                <a:cs typeface="Pretendard"/>
              </a:rPr>
              <a:t>이렇게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895600"/>
            <a:ext cx="7791450" cy="1143000"/>
          </a:xfrm>
          <a:prstGeom prst="roundRect">
            <a:avLst>
              <a:gd name="adj" fmla="val 5000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895600"/>
            <a:ext cx="57150" cy="11430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371600" y="327660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32766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4050" y="2895600"/>
            <a:ext cx="67818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AI가 「매출 30% 상승」 같은 숫자를 넣었다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29700" y="3371850"/>
            <a:ext cx="228600" cy="190500"/>
          </a:xfrm>
          <a:prstGeom prst="rightArrow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353550" y="2895600"/>
            <a:ext cx="7791450" cy="1143000"/>
          </a:xfrm>
          <a:prstGeom prst="roundRect">
            <a:avLst>
              <a:gd name="adj" fmla="val 5000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353550" y="2895600"/>
            <a:ext cx="57150" cy="11430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82150" y="327660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82150" y="32766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34600" y="2895600"/>
            <a:ext cx="67818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「숫자를 지어내지 말고 확인 필요로」를 다시 적습니다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171950"/>
            <a:ext cx="7791450" cy="1143000"/>
          </a:xfrm>
          <a:prstGeom prst="roundRect">
            <a:avLst>
              <a:gd name="adj" fmla="val 5000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171950"/>
            <a:ext cx="57150" cy="11430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71600" y="455295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0" y="45529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4050" y="4171950"/>
            <a:ext cx="67818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공부 중인 자격이 「취득」으로 바뀌었다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029700" y="4648200"/>
            <a:ext cx="228600" cy="190500"/>
          </a:xfrm>
          <a:prstGeom prst="rightArrow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353550" y="4171950"/>
            <a:ext cx="7791450" cy="1143000"/>
          </a:xfrm>
          <a:prstGeom prst="roundRect">
            <a:avLst>
              <a:gd name="adj" fmla="val 5000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353550" y="4171950"/>
            <a:ext cx="57150" cy="11430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582150" y="455295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82150" y="45529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34600" y="4171950"/>
            <a:ext cx="67818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「취득 예정으로 고쳐 주세요」 한 줄을 덧붙입니다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43000" y="5448300"/>
            <a:ext cx="7791450" cy="1143000"/>
          </a:xfrm>
          <a:prstGeom prst="roundRect">
            <a:avLst>
              <a:gd name="adj" fmla="val 5000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43000" y="5448300"/>
            <a:ext cx="57150" cy="11430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371600" y="582930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71600" y="58293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4050" y="5448300"/>
            <a:ext cx="67818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AI가 앞 교시 결과를 잊었다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9029700" y="5924550"/>
            <a:ext cx="228600" cy="190500"/>
          </a:xfrm>
          <a:prstGeom prst="rightArrow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353550" y="5448300"/>
            <a:ext cx="7791450" cy="1143000"/>
          </a:xfrm>
          <a:prstGeom prst="roundRect">
            <a:avLst>
              <a:gd name="adj" fmla="val 5000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53550" y="5448300"/>
            <a:ext cx="57150" cy="11430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582150" y="582930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82150" y="58293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34600" y="5448300"/>
            <a:ext cx="67818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키워드 · 경험 문장을 [자료]에 다시 모아 붙입니다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43000" y="6724650"/>
            <a:ext cx="7791450" cy="1143000"/>
          </a:xfrm>
          <a:prstGeom prst="roundRect">
            <a:avLst>
              <a:gd name="adj" fmla="val 5000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43000" y="6724650"/>
            <a:ext cx="57150" cy="11430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371600" y="710565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71600" y="71056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24050" y="6724650"/>
            <a:ext cx="67818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경험이 아르바이트뿐이라 망설여진다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9029700" y="7200900"/>
            <a:ext cx="228600" cy="190500"/>
          </a:xfrm>
          <a:prstGeom prst="rightArrow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353550" y="6724650"/>
            <a:ext cx="7791450" cy="1143000"/>
          </a:xfrm>
          <a:prstGeom prst="roundRect">
            <a:avLst>
              <a:gd name="adj" fmla="val 5000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53550" y="6724650"/>
            <a:ext cx="57150" cy="11430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582150" y="710565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82150" y="71056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34600" y="6724650"/>
            <a:ext cx="67818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지원 직무와 닿는 일이면 경력 · 경험 칸에 씁니다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자주 묻는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이력서를 쓰며 많이 묻는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476500"/>
            <a:ext cx="6286500" cy="12192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2476500"/>
            <a:ext cx="5334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3E6D8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3600" y="2476500"/>
            <a:ext cx="50292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AI가 다듬은 문장을 그대로 내도 되나요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29500" y="2476500"/>
            <a:ext cx="9715500" cy="1219200"/>
          </a:xfrm>
          <a:prstGeom prst="rect">
            <a:avLst/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15250" y="2476500"/>
            <a:ext cx="5334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0100" y="2476500"/>
            <a:ext cx="84582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면접에서 내가 설명할 수 있는 문장만 남깁니다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3867150"/>
            <a:ext cx="6286500" cy="12192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3867150"/>
            <a:ext cx="5334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3E6D8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33600" y="3867150"/>
            <a:ext cx="50292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공백 기간을 빼고 써도 되나요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29500" y="3867150"/>
            <a:ext cx="9715500" cy="1219200"/>
          </a:xfrm>
          <a:prstGeom prst="rect">
            <a:avLst/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15250" y="3867150"/>
            <a:ext cx="5334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0100" y="3867150"/>
            <a:ext cx="84582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숨기지 않고 그 기간에 한 일과 함께 설명합니다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57800"/>
            <a:ext cx="6286500" cy="12192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257800"/>
            <a:ext cx="5334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3E6D8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3600" y="5257800"/>
            <a:ext cx="50292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사진 · 연락처는 어디서 넣나요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29500" y="5257800"/>
            <a:ext cx="9715500" cy="1219200"/>
          </a:xfrm>
          <a:prstGeom prst="rect">
            <a:avLst/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15250" y="5257800"/>
            <a:ext cx="5334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0100" y="5257800"/>
            <a:ext cx="84582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AI 밖에서, 회사가 정한 양식에 직접 넣습니다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6648450"/>
            <a:ext cx="6286500" cy="12192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8750" y="6648450"/>
            <a:ext cx="5334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3E6D8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3600" y="6648450"/>
            <a:ext cx="50292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숫자로 말할 성과가 없어요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29500" y="6648450"/>
            <a:ext cx="9715500" cy="1219200"/>
          </a:xfrm>
          <a:prstGeom prst="rect">
            <a:avLst/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15250" y="6648450"/>
            <a:ext cx="5334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20100" y="6648450"/>
            <a:ext cx="84582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숫자 대신 「무엇을 해서 → 무엇이 달라졌나」로 씁니다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 초안 점검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67100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38004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3562350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경험 문장이 모두 내가 실제로 말한 행동에서 나왔다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686300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4781550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「확인 필요」 숫자는 기억이나 기록으로 채웠다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5905500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62388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6000750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기간 · 자격이 내가 적은 그대로다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467100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58350" y="38004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25100" y="3562350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굵은 공고 키워드가 경력 항목에 고르게 들어갔다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34500" y="4686300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583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25100" y="4781550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설명 문장이 「그래서 이 일을 잘할 수 있다」로 끝난다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34500" y="5905500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58350" y="62388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25100" y="6000750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 정보 칸은 비어 있다 — AI 밖에서 채운다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산출물 저장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4교시로 가져갈 것을 챙깁니다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 초안 표와 「사실 확인이 필요한 곳」 목록을 문서에 붙입니다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공백기 · 전환 설명 문장과 면접 답 3문장도 같은 문서에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파일 이름 예: 이력서초안_20261106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대화창은 그대로 둡니다 — 4교시 자기소개서의 재료입니다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제출 전에는 이름 · 연락처 · 사진을 AI 밖에서 직접 채웁니다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경험이 이력서 한 줄이 되기까지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평범한 경험도 캐내는 질문을 만나면 이력서 한 줄이 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상황 → 행동 → 결과 → 배운 점 순서로 캐냅니다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「무엇을 해서 → 어떤 결과」 문장으로 씁니다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공백과 전환은 사과 없이, 잘할 이유로 설명합니다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숫자 · 기간 · 자격은 내가 적은 그대로 둡니다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다음 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4교시 · 자기소개서와 맞춤형 수정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