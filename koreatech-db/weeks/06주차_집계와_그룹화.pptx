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집계와 그룹화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COUNT·SUM·AVG, GROUP BY, HAVING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함수의 종류와 NULL 처리 방식을 정확히 이해한다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BY로 데이터를 묶어 경영 통계를 산출한다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WHERE와 HAVING의 차이를 설명하고 구분해 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ONLY_FULL_GROUP_BY 오류의 원인을 진단한다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주문을 뺀 매출 집계처럼 조건과 집계를 결합한다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5개 테이블로 경영 질문에 숫자로 답합니다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함수 (Aggregate Function)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GROUP BY — 그룹화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HAVING — 그룹 조건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순서 다시 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주문과 매출 집계 — 경영 관점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소계와 총계 — WITH ROLLUP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집계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행의 값을 하나로 요약하는 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NULL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행의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포함하여 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COUNT(컬럼)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44043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044043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해당 컬럼이 NULL이 아닌 행의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044043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044043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 컬럼)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40036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640036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제거한 값의 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640036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640036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SUM(컬럼)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236029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236029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236029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236029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AVG(컬럼)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832021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832021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5832021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5832021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 (분모에서도 빠짐)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MIN(컬럼) / MAX(컬럼)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428014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428014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최솟값 / 최댓값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144500" y="6428014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39750" y="6428014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GROUP_CONCAT(컬럼)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7024007"/>
            <a:ext cx="68427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7024007"/>
            <a:ext cx="66522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하나의 문자열로 연결 (MySQL)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44500" y="7024007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239750" y="7024007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그룹이 지정되지 않으면 테이블 전체를 하나의 그룹으로 본다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집계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COUNT(*)와 COUNT(컬럼)의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            AS 전체직원수,  -- 8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COUNT(salary)        AS 연봉입력수,  -- 7  (NULL 제외)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COUNT(DISTINCT dept) AS 부서수      -- 4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AVG(salary)                 AS 평균1,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SUM(salary) / COUNT(*)      AS 평균2,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AVG(IFNULL(salary, 0))      AS 평균3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 = 8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자체를 세므로 NULL도 포함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COUNT(salary) = 7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E008 조하늘의 NULL 제외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COUNT(DISTINCT) = 4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부서명은 한 번만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「평균」, 세 값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7명·8명 분모, NULL을 0으로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AVG는 NULL을 분자와 분모 모두에서 뺀다 — 0으로 볼지는 경영적 판단, 시험 단골 함정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집계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온라인 주문 세기와 상품 현황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주문 15건 중 emp_id가 NULL인 온라인 주문이 7건이므로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     AS 전체주문,   -- 15 : 온라인·오프라인 모두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COUNT(emp_id) AS 오프라인주문 -- 8  (온라인 주문 제외)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상품 표 전체를 한 줄로 요약 — 그룹이 없으니 결과는 1행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         AS 상품수,   -- 10 : 등록된 상품 수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ROUND(AVG(price)) AS 평균가,   -- 32620 : 평균 판매가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MAX(price)        AS 최고가,   -- 189000 (공기청정기)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MIN(price)        AS 최저가,   -- 3200 (A5 스프링 노트)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SUM(stock)        AS 총재고    -- 모든 상품의 재고 수량 합계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온라인 주문은 담당 직원이 없어 emp_id가 비어 있다 — COUNT(emp_id)는 오프라인 주문만 센다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값끼리 묶어 묶음마다 집계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2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category,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COUNT(*)          AS 상품수,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ROUND(AVG(price)) AS 평균가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category;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 결과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가전      2  115500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식품      3   19433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생활용품  3    9733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문구      2    3850  */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그룹 기준 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SELECT에 그대로 쓸 수 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32316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30601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30601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그룹마다 한 번씩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안의 행 수·평균가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category가 같은 행끼리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수만큼 행이 나온다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68000" y="54399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15650" y="52684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15650" y="52684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7–10행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4행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가전·식품·생활용품·문구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 BY: 같은 값을 가진 행끼리 묶어, 묶음(그룹)마다 집계 함수를 한 번씩 계산한다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열로 묶기, 두 열의 조합으로 묶기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8105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등급별 고객 수 (VIP 2, GOLD 3, SILVER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3817620"/>
            <a:ext cx="7277100" cy="39433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3817620"/>
            <a:ext cx="47625" cy="39433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grade, COUNT(*) AS 고객수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343150"/>
            <a:ext cx="78105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40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다중 컬럼 그룹화: 등급 + 도시별 고객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45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67900" y="3817620"/>
            <a:ext cx="7277100" cy="39433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67900" y="3817620"/>
            <a:ext cx="47625" cy="39433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67900" y="4211955"/>
            <a:ext cx="7277100" cy="39433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67900" y="4211955"/>
            <a:ext cx="47625" cy="39433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93345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00203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grade, city, COUNT(*) AS 고객수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grade, city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grade, city;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열의 「조합」이 같은 행끼리 한 그룹(예: GOLD·서울) · 집계 결과는 순서가 보장되지 않으므로 ORDER BY로 정렬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부서별 평균 연봉 — NULL이 집계에 미치는 영향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619506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619506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dept,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COUNT(*)             AS 직원수,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COUNT(salary)        AS 연봉입력수,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ROUND(AVG(salary),1) AS 평균연봉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dept;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 결과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영업팀      3  3  403.3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마케팅팀    2  2  410.0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물류팀      2  2  390.0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경영지원팀  1  0  NULL   */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부서 인원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NULL과 상관없이 행 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연봉 입력 인원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salary가 있는 직원만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636003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618858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618858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경영지원팀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salary가 전부 NULL → AVG는 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「직원 수」와 「연봉 데이터가 있는 직원 수」는 다른 질문 — 집계 함수가 그대로 보여 준다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2.1 ONLY_FULL_GROUP_BY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SELECT에는 그룹 기준 열과 집계 함수만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1430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10858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5090922"/>
            <a:ext cx="10858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6195060"/>
            <a:ext cx="10858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619506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563106"/>
            <a:ext cx="10858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56310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10515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grade, name, COUNT(*)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ERROR 1055 (42000): Expression #2 of SELECT list is not in GROUP BY clause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 ... only_full_group_by 모드에서 발생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해결 ① 그룹 기준에 추가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grade, city, COUNT(*) FROM customers GROUP BY grade, city;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해결 ② 집계 함수로 감싸기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grade, GROUP_CONCAT(name) AS 고객목록, COUNT(*) AS 고객수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GROUP BY grade;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73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20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20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35000" y="2343150"/>
            <a:ext cx="3810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335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63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63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35100" y="2457450"/>
            <a:ext cx="2800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name은 등급마다 여러 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573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20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20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335000" y="4083050"/>
            <a:ext cx="3810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335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563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63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35100" y="4197350"/>
            <a:ext cx="2800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해결 ①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그룹이 더 잘게 나뉜다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573000" y="65440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20650" y="63726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20650" y="63726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35000" y="5822950"/>
            <a:ext cx="3810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335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563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563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35100" y="5937250"/>
            <a:ext cx="2800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11–12행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해결 ②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GROUP_CONCAT도 집계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8.0은 ONLY_FULL_GROUP_BY 모드가 기본으로 켜져 있어 규칙을 어기면 오류가 난다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WHERE는 행, HAVING은 그룹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적용 대상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행(row)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그룹(group)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시점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이전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이후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함수 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용도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대상 행을 선별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결과를 선별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WHERE는 집계할 행을 고르고, HAVING은 집계가 끝난 결과를 고른다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결제 금액 10만 원 이상인 주문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SUM(qty * unit_price) AS 결제금액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order_items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HAVING SUM(qty * unit_price) &gt;= 100000;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1003(189000), 1008(114000), 1010(226000)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COUNT(*) AS 상품종수 FROM order_items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order_id HAVING COUNT(*) &gt;= 2;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수량 × 단가를 합산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상세 한 줄의 금액을 주문별로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묶은 뒤 거른다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10만 원 이상인 그룹만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4399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52684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52684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8–9행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종류 이상 담은 주문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묶음·교차 판매 분석에 활용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HAVING에 별칭은 MySQL에서는 되지만 다른 DBMS는 아닐 수 있다 — 집계 함수를 그대로 쓰는 것이 안전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WHERE에는 집계 함수를 쓸 수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658100" cy="5334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✗  오류 — WHERE 단계에는 아직 SUM이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3357562"/>
            <a:ext cx="71247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335756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SUM(qty * unit_price) FROM order_items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SUM(qty * unit_price) &gt;= 100000 GROUP BY order_id;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(X) ERROR 1111: Invalid use of group 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86900" y="2343150"/>
            <a:ext cx="76581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64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바른 예 — 집계 결과의 조건은 HAVING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869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69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4014788"/>
            <a:ext cx="71247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20300" y="401478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94869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01727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SUM(qty * unit_price) AS 결제금액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order_items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order_id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HAVING SUM(qty * unit_price) &gt;= 100000;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53500" y="4714875"/>
            <a:ext cx="381000" cy="34290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WHERE는 행을 하나씩 보는 단계라 아직 SUM이 계산되지 않았다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실행 순서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쓰는 순서와 실행 순서는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절을 쓰는 순서와 실제 실행 순서는 다르다 — 번호(①~⑦)가 실행 순서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  grade, COUNT(*) AS cnt          -- ⑤ 결과 컬럼 생성, 별칭 부여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  customers                       -- ① 테이블에서 행을 읽음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  city IS NOT NULL                -- ② 조건에 맞는 행만 남김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                           -- ③ grade 값이 같은 행끼리 묶음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HAVING   COUNT(*) &gt;= 2                   -- ④ 2명 이상인 그룹만 남김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cnt DESC                        -- ⑥ 정렬 (별칭 사용 가능)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LIMIT    3;                              -- ⑦ 상위 3건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WHERE는 집계 전이라 집계 함수·별칭을 쓸 수 없고, HAVING은 집계 후라 집계 함수를 쓸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실행 순서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질의의 처리 흐름 ① → 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8125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81250"/>
            <a:ext cx="3657600" cy="762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3840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268605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27660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테이블에서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읽음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05375" y="26574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238125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2381250"/>
            <a:ext cx="3657600" cy="7620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43840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1150" y="268605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0200" y="327660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행만 남김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20175" y="26574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238125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2381250"/>
            <a:ext cx="3657600" cy="762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43840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5950" y="268605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327660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값끼리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3134975" y="26574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487400" y="238125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487400" y="2381250"/>
            <a:ext cx="3657600" cy="7620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87400" y="243840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0750" y="268605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39800" y="327660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그룹만 남김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97150" y="4381500"/>
            <a:ext cx="38100" cy="3048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52750" y="4667250"/>
            <a:ext cx="12382500" cy="381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52750" y="4686300"/>
            <a:ext cx="38100" cy="1333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2867025" y="4781550"/>
            <a:ext cx="209550" cy="209550"/>
          </a:xfrm>
          <a:prstGeom prst="down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3000" y="499110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4991100"/>
            <a:ext cx="3657600" cy="762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0482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6350" y="529590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5400" y="588645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컬럼 생성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별칭 부여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905375" y="526732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57800" y="499110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4991100"/>
            <a:ext cx="3657600" cy="7620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800" y="50482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1150" y="529590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 BY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0200" y="588645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별칭 사용 가능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020175" y="526732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72600" y="4991100"/>
            <a:ext cx="3657600" cy="2000250"/>
          </a:xfrm>
          <a:prstGeom prst="roundRect">
            <a:avLst>
              <a:gd name="adj" fmla="val 28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72600" y="4991100"/>
            <a:ext cx="3657600" cy="762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5048250"/>
            <a:ext cx="3657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5950" y="5295900"/>
            <a:ext cx="3390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LIMIT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5886450"/>
            <a:ext cx="3352800" cy="971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상위 N건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별칭은 ⑤ SELECT에서 생긴다 — 그보다 먼저 실행되는 WHERE에서는 쓸 수 없다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실행 순서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순서로 답하는 네 가지 질문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WHERE에 별칭을 쓸 수 있는가?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아니오. WHERE(②)가 SELECT(⑤)보다 먼저 실행되기 때문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BY에 별칭을 쓸 수 있는가?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예. ORDER BY(⑥)가 SELECT(⑤) 이후이기 때문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WHERE에 집계 함수를 쓸 수 있는가?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아니오. 집계는 GROUP BY(③) 시점에 계산됨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HAVING만 쓰고 GROUP BY를 생략할 수 있는가?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예. 테이블 전체가 하나의 그룹이 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취소 주문과 매출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주문을 빼지 않으면 매출이 부풀려진다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주문 2건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다온유통의 주문 1005·1013은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「취소」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들어오지 않은 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포함해 집계하면 실제 돈이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들어오지 않은 거래까지 실적에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전에 선별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status &lt;&gt; '취소'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조건을 먼저 확인하는 습관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취소 제외는 그룹 조건이 아니라 행 조건 — HAVING이 아니라 WHERE에 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취소 주문과 매출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월별 주문 건수 (취소 제외)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8678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91821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DATE_FORMAT(order_date, '%Y-%m') AS 주문월,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COUNT(*)                         AS 주문건수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status &lt;&gt; '취소'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DATE_FORMAT(order_date, '%Y-%m')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BY 주문월;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 결과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2026-01  2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2026-02  2   ← 취소된 1005가 빠져 3건이 아니라 2건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2026-03  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2026-04  2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2026-05  2   ← 취소된 1013 제외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2026-06  2  */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395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871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871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01500" y="2343150"/>
            <a:ext cx="51435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2343150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230100" y="2793206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30100" y="27932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0" y="2457450"/>
            <a:ext cx="41338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연-월 문자열로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'2026-01' 형태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95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871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871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01500" y="3757612"/>
            <a:ext cx="51435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001500" y="3757612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230100" y="4207669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230100" y="42076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0" y="3871912"/>
            <a:ext cx="41338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전에 행 선별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&lt;&gt; 는 「같지 않다」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95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871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871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01500" y="5172075"/>
            <a:ext cx="51435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5172075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30100" y="5622131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30100" y="56221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0" y="5286375"/>
            <a:ext cx="41338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SELECT와 같은 식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식으로 묶어야 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395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871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871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001500" y="6586538"/>
            <a:ext cx="51435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01500" y="6586538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230100" y="7036594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230100" y="70365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0" y="6700838"/>
            <a:ext cx="41338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별칭으로 정렬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BY는 SELECT 다음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취소 주문과 매출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상태별 주문 분포 — 취소가 몇 건인지 먼저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상태(status)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건수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 status &lt;&gt; '취소' 적용 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배송완료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배송중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빠진다 (1005·1013)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금액 기준 매출액은 orders와 order_items를 조인해야 구한다(7주차) — 이번 주는 「취소를 먼저 거르고 집계」만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SELECT status, COUNT(*) AS 건수 FROM orders GROUP BY status;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WITH ROLLUP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소계·총계 행을 자동으로 덧붙인다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IFNULL(grade, '전체합계') AS 등급,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COUNT(*)                 AS 고객수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 WITH ROLLUP;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결과: VIP 2 · GOLD 3 · SILVER 5 + 마지막에 전체합계 10 행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category, name, SUM(stock) AS 재고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category, name WITH ROLLUP;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총계 행에 이름 붙이기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총계 행의 grade는 NULL로 나온다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등급별 3행 + 총계 1행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다중 그룹의 소계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소계(name NULL) + 총계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 집계 문법 모음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기억할 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 행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884884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2943939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COUNT(*)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NULL도 센다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26619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426619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426619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값이 있는 행 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473053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3532108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COUNT(salary)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426619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014788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014788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014788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중복 없는 값의 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061222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4120277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COUNT(DISTINCT dept)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014788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NULL 제외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602956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4602956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4602956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NULL을 0으로 보고 평균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4649391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4708446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AVG(IFNULL(salary, 0))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4602956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경영적 판단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191125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5191125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9700" y="5191125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그룹에 조건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2100" y="5237559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deckgen:code"/>
          <p:cNvSpPr txBox="1"/>
          <p:nvPr/>
        </p:nvSpPr>
        <p:spPr>
          <a:xfrm>
            <a:off x="5524500" y="5296614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HAVING COUNT(*) &gt;=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9750" y="5191125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집계 후 필터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5779294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" y="5779294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9700" y="5779294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소계·총계 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2100" y="5825728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deckgen:code"/>
          <p:cNvSpPr txBox="1"/>
          <p:nvPr/>
        </p:nvSpPr>
        <p:spPr>
          <a:xfrm>
            <a:off x="5524500" y="5884783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BY grade WITH ROLLUP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39750" y="5779294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총계 행은 NULL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6367462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" y="6367462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9700" y="6367462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조건부 개수 세기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2100" y="6413897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deckgen:code"/>
          <p:cNvSpPr txBox="1"/>
          <p:nvPr/>
        </p:nvSpPr>
        <p:spPr>
          <a:xfrm>
            <a:off x="5524500" y="6472952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SUM(CASE WHEN status = '취소' THEN 1 ELSE 0 END)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6955631"/>
            <a:ext cx="4000500" cy="473869"/>
          </a:xfrm>
          <a:prstGeom prst="roundRect">
            <a:avLst>
              <a:gd name="adj" fmla="val 12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6955631"/>
            <a:ext cx="57150" cy="473869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09700" y="6955631"/>
            <a:ext cx="34671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결과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72100" y="7002066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deckgen:code"/>
          <p:cNvSpPr txBox="1"/>
          <p:nvPr/>
        </p:nvSpPr>
        <p:spPr>
          <a:xfrm>
            <a:off x="5524500" y="7061121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COUNT(CASE WHEN 조건 THEN 1 END)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39750" y="6955631"/>
            <a:ext cx="3810000" cy="473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ELSE 없으면 NULL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SUM(CASE …)은 전체 주문 중 취소 건수를 한 질의 안에서 함께 세는 표준 패턴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질의에서 자주 만나는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4896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1111: Invalid use of group function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WHERE에 SUM 같은 집계 함수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4896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결과 조건은 HAVING으로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91668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7004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1055 … not in GROUP BY clause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91668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91668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 기준도 집계도 아닌 열을 SELECT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91668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17004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GROUP BY에 추가하거나 집계 함수로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93776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19112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평균이 생각과 다르다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93776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93776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AVG는 NULL을 분모에서도 뺀다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93776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19112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0으로 볼 거면 AVG(IFNULL(컬럼,0))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95884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621220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 실적이 부풀려졌다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95884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95884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주문까지 집계에 포함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95884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621220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status &lt;&gt; '취소'를 먼저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97992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723328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WHERE에서 별칭을 못 찾는다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97992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97992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WHERE(②)가 SELECT(⑤)보다 먼저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97992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723328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식을 그대로 쓰거나 ORDER BY에서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 함수와 NULL 처리에 대한 설명으로 옳은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COUNT(*)는 NULL을 제외하고 센다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COUNT(컬럼)은 NULL을 포함하여 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AVG(컬럼)은 NULL을 제외하고 평균을 계산한다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SUM(컬럼)은 NULL을 0으로 간주한다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AVG(컬럼)은 NULL을 제외하고 평균을 계산한다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COUNT(*)만 NULL을 포함하며, COUNT(컬럼)·SUM·AVG 등 나머지 집계 함수는 NULL을 제외합니다. AVG(salary)는 연봉 협상 중인 E008을 빼고 평균을 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COUNT(*)는 NULL 포함, COUNT(컬럼)·다른 집계는 NULL 제외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시 SELECT에는 그룹 기준 열과 집계 함수만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WHERE는 집계 전 행 필터, HAVING은 집계 후 그룹 필터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매출·실적 집계는 취소 주문을 WHERE로 먼저 제외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ROLLUP은 소계·총계 행을 자동으로 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E008의 salary NULL이 AVG에서 빠진다 — 시험 단골 함정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7주차 · 조인 (JOIN)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조인의 개념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나뉜 테이블을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공통 컬럼으로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 맞는 행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 이상 테이블 조인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OUTER JOIN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없는 고객까지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ON과 WHERE의 차이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SELF·CROSS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직원–상급자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카티전 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6주차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실습 문제를 다온유통 데이터로 직접 풀어 보세요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함수와 NULL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GROUP BY와 ONLY_FULL_GROUP_BY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vs HAVING과 실행 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제외 집계와 WITH ROLLUP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6주차 실습 10문제 · 퀴즈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