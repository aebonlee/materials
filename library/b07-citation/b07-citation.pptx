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2.svg" ContentType="image/svg+xml"/>
  <Override PartName="/ppt/media/image3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300" r:id="rId30"/>
    <p:sldId id="301" r:id="rId49"/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2" r:id="rId5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2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42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888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5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41.sv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2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2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2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96.png"/><Relationship Id="rId6" Type="http://schemas.openxmlformats.org/officeDocument/2006/relationships/image" Target="../media/image1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2.png"/><Relationship Id="rId4" Type="http://schemas.openxmlformats.org/officeDocument/2006/relationships/image" Target="../media/image1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3.png"/><Relationship Id="rId4" Type="http://schemas.openxmlformats.org/officeDocument/2006/relationships/image" Target="../media/image1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57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1.jpg"/><Relationship Id="rId4" Type="http://schemas.openxmlformats.org/officeDocument/2006/relationships/image" Target="../media/image132.sv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35.png"/><Relationship Id="rId8" Type="http://schemas.openxmlformats.org/officeDocument/2006/relationships/image" Target="../media/image136.png"/><Relationship Id="rId9" Type="http://schemas.openxmlformats.org/officeDocument/2006/relationships/image" Target="../media/image1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image" Target="../media/image140.png"/><Relationship Id="rId7" Type="http://schemas.openxmlformats.org/officeDocument/2006/relationships/image" Target="../media/image141.png"/><Relationship Id="rId8" Type="http://schemas.openxmlformats.org/officeDocument/2006/relationships/image" Target="../media/image142.png"/><Relationship Id="rId9" Type="http://schemas.openxmlformats.org/officeDocument/2006/relationships/image" Target="../media/image6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Relationship Id="rId8" Type="http://schemas.openxmlformats.org/officeDocument/2006/relationships/image" Target="../media/image6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72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43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png"/><Relationship Id="rId7" Type="http://schemas.openxmlformats.org/officeDocument/2006/relationships/image" Target="../media/image158.png"/><Relationship Id="rId8" Type="http://schemas.openxmlformats.org/officeDocument/2006/relationships/image" Target="../media/image159.png"/><Relationship Id="rId9" Type="http://schemas.openxmlformats.org/officeDocument/2006/relationships/image" Target="../media/image16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1098194"/>
            <a:ext cx="761695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/>
          <p:cNvSpPr txBox="1"/>
          <p:nvPr/>
        </p:nvSpPr>
        <p:spPr>
          <a:xfrm>
            <a:off x="761695" y="1459382"/>
            <a:ext cx="84582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인용·출처관리</a:t>
            </a:r>
            <a:endParaRPr lang="en-US" sz="54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2602382"/>
            <a:ext cx="8071912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예방과 설득력 있는 리포트를 위한 실전 가이드 및 도구 활용법</a:t>
            </a:r>
            <a:endParaRPr lang="en-US" sz="2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95F8B5-2BC1-95F9-DB45-D94ACE79D2BA}"/>
              </a:ext>
            </a:extLst>
          </p:cNvPr>
          <p:cNvGrpSpPr/>
          <p:nvPr/>
        </p:nvGrpSpPr>
        <p:grpSpPr>
          <a:xfrm>
            <a:off x="6763359" y="4601302"/>
            <a:ext cx="4762195" cy="1666951"/>
            <a:chOff x="761695" y="4093769"/>
            <a:chExt cx="4762195" cy="1666951"/>
          </a:xfrm>
        </p:grpSpPr>
        <p:sp>
          <p:nvSpPr>
            <p:cNvPr id="6" name="Shape 3"/>
            <p:cNvSpPr/>
            <p:nvPr/>
          </p:nvSpPr>
          <p:spPr>
            <a:xfrm>
              <a:off x="761695" y="4093769"/>
              <a:ext cx="4762195" cy="1666951"/>
            </a:xfrm>
            <a:prstGeom prst="roundRect">
              <a:avLst>
                <a:gd name="adj" fmla="val 3761"/>
              </a:avLst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5"/>
            <p:cNvSpPr/>
            <p:nvPr/>
          </p:nvSpPr>
          <p:spPr>
            <a:xfrm>
              <a:off x="1076249" y="4331513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2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1156717" y="4436669"/>
              <a:ext cx="219456" cy="171907"/>
            </a:xfrm>
            <a:prstGeom prst="rect">
              <a:avLst/>
            </a:prstGeom>
          </p:spPr>
        </p:pic>
        <p:sp>
          <p:nvSpPr>
            <p:cNvPr id="11" name="Shape 6"/>
            <p:cNvSpPr/>
            <p:nvPr/>
          </p:nvSpPr>
          <p:spPr>
            <a:xfrm>
              <a:off x="1076249" y="4978908"/>
              <a:ext cx="4134002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7"/>
            <p:cNvSpPr/>
            <p:nvPr/>
          </p:nvSpPr>
          <p:spPr>
            <a:xfrm>
              <a:off x="1076249" y="5140757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181405" y="5245913"/>
              <a:ext cx="171907" cy="171907"/>
            </a:xfrm>
            <a:prstGeom prst="rect">
              <a:avLst/>
            </a:prstGeom>
          </p:spPr>
        </p:pic>
        <p:sp>
          <p:nvSpPr>
            <p:cNvPr id="17" name="Text 11"/>
            <p:cNvSpPr txBox="1"/>
            <p:nvPr/>
          </p:nvSpPr>
          <p:spPr>
            <a:xfrm>
              <a:off x="1609802" y="434065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이애본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드림아이티비즈(DreamIT Biz)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/>
              </a:r>
              <a:b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6"/>
                </a:rPr>
                <a:t>aebon@dreamitbiz.com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1571854" y="5188306"/>
              <a:ext cx="1781251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주제: 인용·출처관리</a:t>
              </a:r>
              <a:endParaRPr lang="en-US" sz="1500" dirty="0"/>
            </a:p>
          </p:txBody>
        </p:sp>
      </p:grp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31434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4352544"/>
            <a:ext cx="19202" cy="19019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71500" y="2542946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개요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695401" y="4173524"/>
            <a:ext cx="349575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예방을 위한 인용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AI·서지 도구 실습 가이드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27010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270102"/>
            <a:ext cx="38405" cy="5148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190469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190469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253928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253928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17388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173882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3808476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3808476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299862" y="444215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299862" y="444215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299862" y="507674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299862" y="507674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13451" y="137160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1394460"/>
            <a:ext cx="21991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인용·출처 표기가 중요한가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13451" y="2005279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2028139"/>
            <a:ext cx="2713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및 부정행위의 유형과 주요 사례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13451" y="2639873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2662733"/>
            <a:ext cx="20939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방식: 간접·직접·재인용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13451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099962" y="3297326"/>
            <a:ext cx="33320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시스템: 내주/번호주/각주/참고문헌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13451" y="390906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099962" y="3931920"/>
            <a:ext cx="27898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서지관리도구(Zotero) 실습 포함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13451" y="4543654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099962" y="4566514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활용과 검증 실습 포함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413451" y="5178247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099962" y="5201107"/>
            <a:ext cx="23134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 및 최종 점검 (체크리스트)</a:t>
            </a:r>
            <a:endParaRPr lang="en-US" sz="13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59435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624889" y="-1871269"/>
            <a:ext cx="7619695" cy="76196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8591" y="104302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810" y="1189126"/>
            <a:ext cx="19485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GOALS &amp; OUTCOMES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18591" y="1982215"/>
            <a:ext cx="2705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027456" y="2762656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 성과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70507" y="3949538"/>
            <a:ext cx="2923338" cy="114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강의를 통해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여러분은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글쓰기의 기초를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다지고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4가지 핵심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역량을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확실하게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습득하게 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47565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178954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061204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3909" y="1277417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061204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역량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061204" y="2404364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표절의 기준을 명확히 이해하고, 자신을 보호하는 안전한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글쓰기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습관을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기르게 되며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연구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윤리를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준수하여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부정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행위를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사전에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방지합니다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03082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635386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Shape 16"/>
          <p:cNvSpPr/>
          <p:nvPr/>
        </p:nvSpPr>
        <p:spPr>
          <a:xfrm>
            <a:off x="8516722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69426" y="1277417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6722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체화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470366" y="2103578"/>
            <a:ext cx="269417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직접·간접 인용의 차이를 구분하고 상황에 맞는 자연스러운 인용문을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작성합니다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23" name="Shape 19"/>
          <p:cNvSpPr/>
          <p:nvPr/>
        </p:nvSpPr>
        <p:spPr>
          <a:xfrm>
            <a:off x="4747565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7178954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3600" dirty="0"/>
          </a:p>
        </p:txBody>
      </p:sp>
      <p:sp>
        <p:nvSpPr>
          <p:cNvPr id="25" name="Shape 21"/>
          <p:cNvSpPr/>
          <p:nvPr/>
        </p:nvSpPr>
        <p:spPr>
          <a:xfrm>
            <a:off x="5061204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5228539" y="3867912"/>
            <a:ext cx="200254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061204" y="4316882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활용 능력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056632" y="493826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표기법을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숙지하여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올바르게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적용합니다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</a:p>
          <a:p>
            <a:endParaRPr lang="en-US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Zotero 등 서지 관리 도구로 참고문헌 작성을 자동화하여 연구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효율을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극대화합니다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endParaRPr lang="en-US" altLang="ko-KR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03082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635386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3600" dirty="0"/>
          </a:p>
        </p:txBody>
      </p:sp>
      <p:sp>
        <p:nvSpPr>
          <p:cNvPr id="31" name="Shape 26"/>
          <p:cNvSpPr/>
          <p:nvPr/>
        </p:nvSpPr>
        <p:spPr>
          <a:xfrm>
            <a:off x="8516722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8641080" y="3867912"/>
            <a:ext cx="286207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516722" y="4316882"/>
            <a:ext cx="13716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검증 윤리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8516722" y="476493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비판적으로 검증하고 윤리적으로 활용하는 안목을 기릅니다.</a:t>
            </a:r>
            <a:endParaRPr lang="en-US" sz="13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2857500"/>
            <a:ext cx="8572500" cy="85725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56996" y="1050645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56996" y="1288389"/>
            <a:ext cx="28291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중요한가?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6938" y="2483967"/>
            <a:ext cx="32196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표기는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지키고 설득하는 힘입니다.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4102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295346" r="-295346"/>
          <a:stretch/>
        </p:blipFill>
        <p:spPr>
          <a:xfrm>
            <a:off x="5210251" y="1651406"/>
            <a:ext cx="2628900" cy="30449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343900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381682" r="-381682"/>
          <a:stretch/>
        </p:blipFill>
        <p:spPr>
          <a:xfrm>
            <a:off x="8620049" y="1651406"/>
            <a:ext cx="2628900" cy="30449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934102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81682" r="-381682"/>
          <a:stretch/>
        </p:blipFill>
        <p:spPr>
          <a:xfrm>
            <a:off x="5210251" y="3819449"/>
            <a:ext cx="2628900" cy="30449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343900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81682" r="-381682"/>
          <a:stretch/>
        </p:blipFill>
        <p:spPr>
          <a:xfrm>
            <a:off x="8620049" y="3819449"/>
            <a:ext cx="2628900" cy="3044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10251" y="2147011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학업·연구 윤리 준수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210251" y="2581351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방지와 학문적 정직성을 확보하는 기본 조건입니다.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620049" y="2147011"/>
            <a:ext cx="212232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성적·평판 리스크 관리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620049" y="2581351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취소 및 사회적 평판 하락을 미연에 방지합니다.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210251" y="4315054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법·제도적 제재 방지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210251" y="4749394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위반 등 복잡한 법적 분쟁을 차단합니다.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620049" y="4315054"/>
            <a:ext cx="185623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설득력 강화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620049" y="4749394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근거 제시로 글의 신뢰성을 높입니다.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640934"/>
            <a:ext cx="10668305" cy="87599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640934"/>
            <a:ext cx="38405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307" y="5936285"/>
            <a:ext cx="286207" cy="2862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819302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사례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037844"/>
            <a:ext cx="106683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미디어 헤드라인으로 보는 표절의 대가 (가상의 예시)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800454"/>
            <a:ext cx="7020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표기 미비는 단순한 실수가 아닌, 치명적인 경력 단절로 이어질 수 있습니다.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61795" y="5831129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영향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561795" y="6069787"/>
            <a:ext cx="52916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신뢰 붕괴는 물론, 쌓아온 사회적 경력 전체가 흔들릴 수 있습니다.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16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0762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257300" y="2924251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3403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01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76249" y="3514954"/>
            <a:ext cx="28959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방송인 A씨,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의혹으로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프로그램 하차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0762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4775911"/>
            <a:ext cx="133502" cy="1335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85646" y="4739335"/>
            <a:ext cx="1237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OO일보 20xx.xx.xx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4192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7338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4858207" y="2924251"/>
            <a:ext cx="286207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79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4733849" y="3514954"/>
            <a:ext cx="2809951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'스타 강사' B씨,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학위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취소 및 해고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7338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3849" y="4775911"/>
            <a:ext cx="133502" cy="1335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432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△△신문 20xx.xx.xx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68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83914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44154" y="2924251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6555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03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391449" y="3514954"/>
            <a:ext cx="2762402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장관 후보자 C씨,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과거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자기표절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논란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지명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철회 검토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3914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91449" y="4775911"/>
            <a:ext cx="133502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6008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□□뉴스 20xx.xx.xx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정의·유형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4743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 부정행위 유형 한눈에 보기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9682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윤리를 위반하는 대표적인 행위들을 핵심 정의와 구체적 사례로 구분했습니다.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1304849" y="2397033"/>
            <a:ext cx="161849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43507" y="2360457"/>
            <a:ext cx="1151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유형 &amp; 정의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52728" y="2971276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2870692"/>
            <a:ext cx="16898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위조 (Fabrication)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723644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존재하지 않는 데이터나 결과를 허위로 만들어 기록·보고하는 행위입니다.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152144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152144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1238098" y="4202973"/>
            <a:ext cx="209398" cy="181051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723644" y="4103303"/>
            <a:ext cx="17666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변조 (Falsification)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723644" y="4435231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재료·장비·과정을 인위적으로 조작하거나 데이터를 임의 변형·삭제해 왜곡합니다.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152144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252728" y="5435584"/>
            <a:ext cx="181051" cy="1810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723644" y="5335915"/>
            <a:ext cx="1633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(Plagiarism)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723644" y="5666927"/>
            <a:ext cx="38432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아이디어, 연구 내용 등을 정당한 승인이나 인용 없이 도용하는 것입니다.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286500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6676949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6829654" y="2397033"/>
            <a:ext cx="142646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048195" y="2360457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위반 사례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676949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676949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2971276"/>
            <a:ext cx="181051" cy="181051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48449" y="2870692"/>
            <a:ext cx="12042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부당 중복게재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48449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연구결과와 유사한 저작물을 출처 없이 게재해 부당한 이익을 취하는 경우입니다.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676949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676949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 l="-1403" r="-1403"/>
          <a:stretch/>
        </p:blipFill>
        <p:spPr>
          <a:xfrm>
            <a:off x="6762902" y="4202973"/>
            <a:ext cx="209398" cy="18105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248449" y="4103303"/>
            <a:ext cx="14429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과제물 구매/대리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248449" y="4435231"/>
            <a:ext cx="386151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과제물을 구매·양도받거나 대필하여 자신의 과제물로 제출하는 행위입니다.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676949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rcRect l="-505" r="-505"/>
          <a:stretch/>
        </p:blipFill>
        <p:spPr>
          <a:xfrm>
            <a:off x="6752844" y="5435584"/>
            <a:ext cx="228600" cy="18105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248449" y="5335915"/>
            <a:ext cx="12618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부적절 활용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7248449" y="5666927"/>
            <a:ext cx="38048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검증이나 출처 표기, 재구성 없이 그대로 복사해 제출합니다.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5810098" y="3039856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/>
          <p:cNvSpPr txBox="1"/>
          <p:nvPr/>
        </p:nvSpPr>
        <p:spPr>
          <a:xfrm>
            <a:off x="5980176" y="3188903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55A7608-70B4-5D08-BB9A-D63E60A526C0}"/>
              </a:ext>
            </a:extLst>
          </p:cNvPr>
          <p:cNvGrpSpPr/>
          <p:nvPr/>
        </p:nvGrpSpPr>
        <p:grpSpPr>
          <a:xfrm>
            <a:off x="781354" y="242773"/>
            <a:ext cx="10668305" cy="6335878"/>
            <a:chOff x="761695" y="571500"/>
            <a:chExt cx="10668305" cy="6335878"/>
          </a:xfrm>
        </p:grpSpPr>
        <p:sp>
          <p:nvSpPr>
            <p:cNvPr id="5" name="Shape 3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61695" y="6221578"/>
              <a:ext cx="10668305" cy="685800"/>
            </a:xfrm>
            <a:prstGeom prst="roundRect">
              <a:avLst>
                <a:gd name="adj" fmla="val 2222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285086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2396642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337353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44982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530438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864199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761695" y="819302"/>
              <a:ext cx="4910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1</a:t>
              </a:r>
              <a:endParaRPr lang="en-US" sz="10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761695" y="1047902"/>
              <a:ext cx="5382158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7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타인의 문장을 그대로 가져오는 행위</a:t>
              </a:r>
              <a:endParaRPr lang="en-US" sz="27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761695" y="1619402"/>
              <a:ext cx="53538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표기하더라도, 인용 부호 없이 원문을 복사하면 표절입니다.</a:t>
              </a:r>
              <a:endParaRPr lang="en-US" sz="15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1047902" y="6450178"/>
              <a:ext cx="5815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예방 팁</a:t>
              </a:r>
              <a:endParaRPr lang="en-US" sz="12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703881" y="6450178"/>
              <a:ext cx="1505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안 보고 요약하기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757062" y="6450178"/>
              <a:ext cx="1648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나만의 문장 구조로 변경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8949233" y="6450178"/>
              <a:ext cx="16962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필수 단어 외 유의어 교체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61695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1104595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1218895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잘못된 예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13435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0" descr="preencoded.png"/>
            <p:cNvPicPr>
              <a:picLocks noChangeAspect="1"/>
            </p:cNvPicPr>
            <p:nvPr/>
          </p:nvPicPr>
          <p:blipFill>
            <a:blip r:embed="rId3"/>
            <a:srcRect l="-133" r="-133"/>
            <a:stretch/>
          </p:blipFill>
          <p:spPr>
            <a:xfrm>
              <a:off x="5277002" y="2609698"/>
              <a:ext cx="171907" cy="228600"/>
            </a:xfrm>
            <a:prstGeom prst="rect">
              <a:avLst/>
            </a:prstGeom>
          </p:spPr>
        </p:pic>
        <p:sp>
          <p:nvSpPr>
            <p:cNvPr id="25" name="Text 22"/>
            <p:cNvSpPr txBox="1"/>
            <p:nvPr/>
          </p:nvSpPr>
          <p:spPr>
            <a:xfrm>
              <a:off x="1104595" y="3133649"/>
              <a:ext cx="14767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그대로 복사</a:t>
              </a:r>
              <a:endParaRPr lang="en-US" sz="1500" dirty="0"/>
            </a:p>
          </p:txBody>
        </p:sp>
        <p:sp>
          <p:nvSpPr>
            <p:cNvPr id="26" name="Shape 23"/>
            <p:cNvSpPr/>
            <p:nvPr/>
          </p:nvSpPr>
          <p:spPr>
            <a:xfrm>
              <a:off x="1104595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1295705" y="3752698"/>
              <a:ext cx="2852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원문: "MZ세대는 가성비보다 가심비를 중시한다."</a:t>
              </a:r>
              <a:endParaRPr lang="en-US" sz="1000" dirty="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1295705" y="4019702"/>
              <a:ext cx="41340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MZ세대는 가성비보다 가심비를 중시한다. 따라서 기업은 브랜드 가치를 높여야 한다 (김철수, 2023).</a:t>
              </a:r>
              <a:endParaRPr lang="en-US" sz="1200" dirty="0"/>
            </a:p>
          </p:txBody>
        </p:sp>
        <p:sp>
          <p:nvSpPr>
            <p:cNvPr id="29" name="Shape 26"/>
            <p:cNvSpPr/>
            <p:nvPr/>
          </p:nvSpPr>
          <p:spPr>
            <a:xfrm>
              <a:off x="1104595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1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087722"/>
              <a:ext cx="114300" cy="171907"/>
            </a:xfrm>
            <a:prstGeom prst="rect">
              <a:avLst/>
            </a:prstGeom>
          </p:spPr>
        </p:pic>
        <p:sp>
          <p:nvSpPr>
            <p:cNvPr id="31" name="Text 27"/>
            <p:cNvSpPr txBox="1"/>
            <p:nvPr/>
          </p:nvSpPr>
          <p:spPr>
            <a:xfrm>
              <a:off x="1314907" y="5050231"/>
              <a:ext cx="132222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원문과 똑같이 작성함</a:t>
              </a:r>
              <a:endParaRPr lang="en-US" sz="1000" dirty="0"/>
            </a:p>
          </p:txBody>
        </p:sp>
        <p:pic>
          <p:nvPicPr>
            <p:cNvPr id="32" name="Image 2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373929"/>
              <a:ext cx="114300" cy="171907"/>
            </a:xfrm>
            <a:prstGeom prst="rect">
              <a:avLst/>
            </a:prstGeom>
          </p:spPr>
        </p:pic>
        <p:sp>
          <p:nvSpPr>
            <p:cNvPr id="33" name="Text 28"/>
            <p:cNvSpPr txBox="1"/>
            <p:nvPr/>
          </p:nvSpPr>
          <p:spPr>
            <a:xfrm>
              <a:off x="1314907" y="5335524"/>
              <a:ext cx="20656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따옴표가 없어 자신의 문장인 척 함</a:t>
              </a:r>
              <a:endParaRPr lang="en-US" sz="1000" dirty="0"/>
            </a:p>
          </p:txBody>
        </p:sp>
        <p:sp>
          <p:nvSpPr>
            <p:cNvPr id="34" name="Shape 29"/>
            <p:cNvSpPr/>
            <p:nvPr/>
          </p:nvSpPr>
          <p:spPr>
            <a:xfrm>
              <a:off x="6286500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6629400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6743700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올바른 예</a:t>
              </a:r>
              <a:endParaRPr lang="en-US" sz="900" dirty="0"/>
            </a:p>
          </p:txBody>
        </p:sp>
        <p:sp>
          <p:nvSpPr>
            <p:cNvPr id="37" name="Shape 32"/>
            <p:cNvSpPr/>
            <p:nvPr/>
          </p:nvSpPr>
          <p:spPr>
            <a:xfrm>
              <a:off x="1065824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10B981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8" name="Image 3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10787177" y="2609698"/>
              <a:ext cx="200254" cy="228600"/>
            </a:xfrm>
            <a:prstGeom prst="rect">
              <a:avLst/>
            </a:prstGeom>
          </p:spPr>
        </p:pic>
        <p:sp>
          <p:nvSpPr>
            <p:cNvPr id="39" name="Text 33"/>
            <p:cNvSpPr txBox="1"/>
            <p:nvPr/>
          </p:nvSpPr>
          <p:spPr>
            <a:xfrm>
              <a:off x="6629400" y="3133649"/>
              <a:ext cx="165780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인용으로 수정</a:t>
              </a:r>
              <a:endParaRPr lang="en-US" sz="1500" dirty="0"/>
            </a:p>
          </p:txBody>
        </p:sp>
        <p:sp>
          <p:nvSpPr>
            <p:cNvPr id="40" name="Shape 34"/>
            <p:cNvSpPr/>
            <p:nvPr/>
          </p:nvSpPr>
          <p:spPr>
            <a:xfrm>
              <a:off x="6629400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6819595" y="3752698"/>
              <a:ext cx="11576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자신의 말로 재구성</a:t>
              </a:r>
              <a:endParaRPr lang="en-US" sz="10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6819595" y="4019702"/>
              <a:ext cx="42007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김철수(2023)에 따르면, MZ세대는 가격 대비 심리적 만족감을 더 중요한 소비 기준으로 삼는다. 이에 따라 기업은...</a:t>
              </a:r>
              <a:endParaRPr lang="en-US" sz="12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29400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4" name="Image 4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087722"/>
              <a:ext cx="114300" cy="171907"/>
            </a:xfrm>
            <a:prstGeom prst="rect">
              <a:avLst/>
            </a:prstGeom>
          </p:spPr>
        </p:pic>
        <p:sp>
          <p:nvSpPr>
            <p:cNvPr id="45" name="Text 38"/>
            <p:cNvSpPr txBox="1"/>
            <p:nvPr/>
          </p:nvSpPr>
          <p:spPr>
            <a:xfrm>
              <a:off x="6838798" y="5050231"/>
              <a:ext cx="231343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의미 유지하되 나만의 언어로 기술</a:t>
              </a:r>
              <a:endParaRPr lang="en-US" sz="1000" dirty="0"/>
            </a:p>
          </p:txBody>
        </p:sp>
        <p:pic>
          <p:nvPicPr>
            <p:cNvPr id="46" name="Image 5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373929"/>
              <a:ext cx="114300" cy="171907"/>
            </a:xfrm>
            <a:prstGeom prst="rect">
              <a:avLst/>
            </a:prstGeom>
          </p:spPr>
        </p:pic>
        <p:sp>
          <p:nvSpPr>
            <p:cNvPr id="47" name="Text 39"/>
            <p:cNvSpPr txBox="1"/>
            <p:nvPr/>
          </p:nvSpPr>
          <p:spPr>
            <a:xfrm>
              <a:off x="6838798" y="5335524"/>
              <a:ext cx="21131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저자명을 언급하여 자연스럽게 연결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3893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315631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761695" y="5683155"/>
            <a:ext cx="10668305" cy="981151"/>
          </a:xfrm>
          <a:prstGeom prst="roundRect">
            <a:avLst>
              <a:gd name="adj" fmla="val 1085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505810" y="5944674"/>
            <a:ext cx="9144" cy="457200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90549" y="6058974"/>
            <a:ext cx="228600" cy="22860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813962" y="6087320"/>
            <a:ext cx="171907" cy="171907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2" y="6087320"/>
            <a:ext cx="171907" cy="17190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61695" y="563433"/>
            <a:ext cx="576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781975"/>
            <a:ext cx="80778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재기술(바꿔쓰기) 했지만 출처가 없다면?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1418755"/>
            <a:ext cx="7791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바꾸고 문장 구조를 재구성했더라도, 아이디어의 출처를 밝히지 않으면 표절입니다.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686154" y="5934615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686154" y="612572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 핵심 원칙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099255" y="6047087"/>
            <a:ext cx="33457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단어 교체가 아닌 나만의 문장으로 재구성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7903159" y="5921814"/>
            <a:ext cx="31647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빌려왔다면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출처(내주/각주) 표기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761695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76249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218895" y="2370284"/>
            <a:ext cx="171907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013655" y="2255984"/>
            <a:ext cx="6839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1076249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304849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"혼자 사는 대학생이 늘면서 끼니를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배달 음식으로 해결하는 일이 잦아졌고,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그만큼 식비 부담도 커지고 있다."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1076249" y="4541984"/>
            <a:ext cx="790956" cy="371246"/>
          </a:xfrm>
          <a:prstGeom prst="roundRect">
            <a:avLst>
              <a:gd name="adj" fmla="val 246306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28954" y="4655370"/>
            <a:ext cx="14264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447495" y="4618794"/>
            <a:ext cx="375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4654" y="4988211"/>
            <a:ext cx="2843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아이디어를 자신의 생각인 것처럼 기술함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286500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6601054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6729070" y="2370284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71786" y="2255984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해결: 내주 추가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601054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6829654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"혼자 사는 대학생이 늘면서 끼니를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배달 음식으로 해결하는 일이 잦아졌고,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식비 부담도 커지고 있다 (이나래, 2024)."</a:t>
            </a:r>
            <a:endParaRPr lang="en-US" sz="1500" dirty="0"/>
          </a:p>
        </p:txBody>
      </p:sp>
      <p:sp>
        <p:nvSpPr>
          <p:cNvPr id="34" name="Shape 25"/>
          <p:cNvSpPr/>
          <p:nvPr/>
        </p:nvSpPr>
        <p:spPr>
          <a:xfrm>
            <a:off x="6601054" y="4541984"/>
            <a:ext cx="1095451" cy="371246"/>
          </a:xfrm>
          <a:prstGeom prst="roundRect">
            <a:avLst>
              <a:gd name="adj" fmla="val 246306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829654" y="461879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적절한 인용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638544" y="4988211"/>
            <a:ext cx="3538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문장 끝에 (저자, 연도)를 붙여 인용임을 밝힘 (가상의 예시)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인용의 함정: 따옴표만 붙이면 끝?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24305"/>
            <a:ext cx="7286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형식적 인용 표시는 했지만, 맥락과 해석이 누락되면 '짜깁기 표절' 오해를 받을 수 있습니다.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1346" y="2495398"/>
            <a:ext cx="190195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38605" y="2447849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37844" y="3010205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"출처 달았는데 왜 표절인가요?"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" y="3406140"/>
            <a:ext cx="2943454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문헌의 문장을 그대로 가져와 따옴표(" ") 처리를 하고 출처도 명기했습니다. 하지만 리포트 전체가 남의 문장들의 나열로만 채워져 있고, 본인의 생각은 보이지 않는 경우입니다.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37844" y="4767682"/>
            <a:ext cx="2829154" cy="733349"/>
          </a:xfrm>
          <a:prstGeom prst="roundRect">
            <a:avLst>
              <a:gd name="adj" fmla="val 12955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1037844" y="4767682"/>
            <a:ext cx="28346" cy="733349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209751" y="4966106"/>
            <a:ext cx="105156" cy="1335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90802" y="492038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논지 전개 없이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209751" y="5139842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문장에만 의존하는 글쓰기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406494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682642" y="2361895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16145" y="2495398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83403" y="2447849"/>
            <a:ext cx="11722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위험한가?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682642" y="3010205"/>
            <a:ext cx="2572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게으름으로 간주될 수 있습니다.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873752" y="3406140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직접 인용은 저자의 이해도를 의심하게 만듭니다.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73752" y="3969410"/>
            <a:ext cx="27432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 흐름(Flow)이 끊기고, 가독성이 떨어집니다.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873752" y="4533595"/>
            <a:ext cx="27340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'짜깁기(Patchwriting)' 수준의 낮은 평가를 받게 됩니다.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052206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4718" y="2495398"/>
            <a:ext cx="142646" cy="19019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28202" y="2447849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레시피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8355" y="3010205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'샌드위치' 기법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328355" y="3406140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471002" y="350306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547811" y="3519526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813902" y="3511296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(맥락 설명)</a:t>
            </a:r>
            <a:endParaRPr lang="en-US" sz="11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3900830"/>
            <a:ext cx="123444" cy="12344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8328355" y="4099255"/>
            <a:ext cx="2829154" cy="448056"/>
          </a:xfrm>
          <a:prstGeom prst="roundRect">
            <a:avLst>
              <a:gd name="adj" fmla="val 3473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8480146" y="420532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8557870" y="4222699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8823046" y="4213555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(원문 제시)</a:t>
            </a:r>
            <a:endParaRPr lang="en-US" sz="11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4613148"/>
            <a:ext cx="123444" cy="123444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8328355" y="4811573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4"/>
          <p:cNvSpPr/>
          <p:nvPr/>
        </p:nvSpPr>
        <p:spPr>
          <a:xfrm>
            <a:off x="8471002" y="4908499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5"/>
          <p:cNvSpPr txBox="1"/>
          <p:nvPr/>
        </p:nvSpPr>
        <p:spPr>
          <a:xfrm>
            <a:off x="8547811" y="4924958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813902" y="4916729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논평 (나의 해석)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8328355" y="5385816"/>
            <a:ext cx="29004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 전후에 반드시 나의 언어로 설명을 덧붙이세요.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A19CA985-1689-9542-4CAA-EF82CD92B921}"/>
              </a:ext>
            </a:extLst>
          </p:cNvPr>
          <p:cNvGrpSpPr/>
          <p:nvPr/>
        </p:nvGrpSpPr>
        <p:grpSpPr>
          <a:xfrm>
            <a:off x="800099" y="371246"/>
            <a:ext cx="10668305" cy="6050200"/>
            <a:chOff x="761694" y="571500"/>
            <a:chExt cx="10668305" cy="6050200"/>
          </a:xfrm>
        </p:grpSpPr>
        <p:sp>
          <p:nvSpPr>
            <p:cNvPr id="5" name="Shape 2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3"/>
            <p:cNvSpPr/>
            <p:nvPr/>
          </p:nvSpPr>
          <p:spPr>
            <a:xfrm>
              <a:off x="761694" y="5745705"/>
              <a:ext cx="10668305" cy="875995"/>
            </a:xfrm>
            <a:prstGeom prst="rect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4"/>
            <p:cNvSpPr/>
            <p:nvPr/>
          </p:nvSpPr>
          <p:spPr>
            <a:xfrm>
              <a:off x="761694" y="5745705"/>
              <a:ext cx="38405" cy="875995"/>
            </a:xfrm>
            <a:prstGeom prst="rect">
              <a:avLst/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86306" y="6040142"/>
              <a:ext cx="286207" cy="286207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761695" y="819302"/>
              <a:ext cx="11009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4: 자기표절</a:t>
              </a:r>
              <a:endParaRPr lang="en-US" sz="1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761695" y="1037844"/>
              <a:ext cx="6153912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내가 쓴 글도 출처가 필요할까?</a:t>
              </a:r>
              <a:endParaRPr lang="en-US" sz="3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761695" y="1800454"/>
              <a:ext cx="6286500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과거에 작성한 자신의 과제나 논문을 재사용할 때도 엄격한 규칙이 적용됩니다.</a:t>
              </a:r>
              <a:endParaRPr lang="en-US" sz="15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561794" y="5935900"/>
              <a:ext cx="101498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CHECK POINT</a:t>
              </a:r>
              <a:endParaRPr lang="en-US" sz="10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561794" y="6173644"/>
              <a:ext cx="72347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같은 과제물을 다른 수업에 제출하는 것은 원칙적으로 금지됩니다. 반드시 과목별 규정을 확인하세요.</a:t>
              </a:r>
              <a:endParaRPr lang="en-US" sz="1300" dirty="0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DEB81544-4A3C-EE6E-76E7-60CE846BA40B}"/>
                </a:ext>
              </a:extLst>
            </p:cNvPr>
            <p:cNvGrpSpPr/>
            <p:nvPr/>
          </p:nvGrpSpPr>
          <p:grpSpPr>
            <a:xfrm>
              <a:off x="761694" y="2172615"/>
              <a:ext cx="10668305" cy="3429721"/>
              <a:chOff x="761695" y="2608975"/>
              <a:chExt cx="10668305" cy="3429721"/>
            </a:xfrm>
          </p:grpSpPr>
          <p:sp>
            <p:nvSpPr>
              <p:cNvPr id="14" name="Shape 10"/>
              <p:cNvSpPr/>
              <p:nvPr/>
            </p:nvSpPr>
            <p:spPr>
              <a:xfrm>
                <a:off x="761695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Shape 11"/>
              <p:cNvSpPr/>
              <p:nvPr/>
            </p:nvSpPr>
            <p:spPr>
              <a:xfrm>
                <a:off x="1200607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F43F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16" name="Image 2" descr="preencoded.png"/>
              <p:cNvPicPr>
                <a:picLocks noChangeAspect="1"/>
              </p:cNvPicPr>
              <p:nvPr/>
            </p:nvPicPr>
            <p:blipFill>
              <a:blip r:embed="rId6"/>
              <a:srcRect/>
              <a:stretch/>
            </p:blipFill>
            <p:spPr>
              <a:xfrm>
                <a:off x="1371600" y="2924251"/>
                <a:ext cx="267005" cy="267005"/>
              </a:xfrm>
              <a:prstGeom prst="rect">
                <a:avLst/>
              </a:prstGeom>
            </p:spPr>
          </p:pic>
          <p:sp>
            <p:nvSpPr>
              <p:cNvPr id="17" name="Text 12"/>
              <p:cNvSpPr txBox="1"/>
              <p:nvPr/>
            </p:nvSpPr>
            <p:spPr>
              <a:xfrm>
                <a:off x="5248656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F43F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금지</a:t>
                </a:r>
                <a:endParaRPr lang="en-US" sz="1000" dirty="0"/>
              </a:p>
            </p:txBody>
          </p:sp>
          <p:sp>
            <p:nvSpPr>
              <p:cNvPr id="18" name="Text 13"/>
              <p:cNvSpPr txBox="1"/>
              <p:nvPr/>
            </p:nvSpPr>
            <p:spPr>
              <a:xfrm>
                <a:off x="1200607" y="3571646"/>
                <a:ext cx="1548994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</a:t>
                </a:r>
                <a:endParaRPr lang="en-US" sz="2100" dirty="0"/>
              </a:p>
            </p:txBody>
          </p:sp>
          <p:sp>
            <p:nvSpPr>
              <p:cNvPr id="19" name="Text 14"/>
              <p:cNvSpPr txBox="1"/>
              <p:nvPr/>
            </p:nvSpPr>
            <p:spPr>
              <a:xfrm>
                <a:off x="1200607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그대로 재제출</a:t>
                </a:r>
                <a:endParaRPr lang="en-US" sz="2100" dirty="0"/>
              </a:p>
            </p:txBody>
          </p:sp>
          <p:sp>
            <p:nvSpPr>
              <p:cNvPr id="20" name="Text 15"/>
              <p:cNvSpPr txBox="1"/>
              <p:nvPr/>
            </p:nvSpPr>
            <p:spPr>
              <a:xfrm>
                <a:off x="1200607" y="4504334"/>
                <a:ext cx="3136392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"비슷한 주제니 지난 학기 과제를 그대로..."</a:t>
                </a:r>
                <a:endParaRPr lang="en-US" sz="1300" dirty="0"/>
              </a:p>
            </p:txBody>
          </p:sp>
          <p:pic>
            <p:nvPicPr>
              <p:cNvPr id="21" name="Image 3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4953305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2" name="Text 16"/>
              <p:cNvSpPr txBox="1"/>
              <p:nvPr/>
            </p:nvSpPr>
            <p:spPr>
              <a:xfrm>
                <a:off x="1380744" y="4914900"/>
                <a:ext cx="19385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 중복 제출(이중 제출)</a:t>
                </a:r>
                <a:endParaRPr lang="en-US" sz="1000" dirty="0"/>
              </a:p>
            </p:txBody>
          </p:sp>
          <p:pic>
            <p:nvPicPr>
              <p:cNvPr id="23" name="Image 4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22031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4" name="Text 17"/>
              <p:cNvSpPr txBox="1"/>
              <p:nvPr/>
            </p:nvSpPr>
            <p:spPr>
              <a:xfrm>
                <a:off x="1380744" y="5181905"/>
                <a:ext cx="14813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없이 자기 문장 복사</a:t>
                </a:r>
                <a:endParaRPr lang="en-US" sz="1000" dirty="0"/>
              </a:p>
            </p:txBody>
          </p:sp>
          <p:pic>
            <p:nvPicPr>
              <p:cNvPr id="25" name="Image 5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48640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6" name="Text 18"/>
              <p:cNvSpPr txBox="1"/>
              <p:nvPr/>
            </p:nvSpPr>
            <p:spPr>
              <a:xfrm>
                <a:off x="1380744" y="5448910"/>
                <a:ext cx="1643177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성적 취소 및 학칙 위반 징계</a:t>
                </a:r>
                <a:endParaRPr lang="en-US" sz="1000" dirty="0"/>
              </a:p>
            </p:txBody>
          </p:sp>
          <p:sp>
            <p:nvSpPr>
              <p:cNvPr id="27" name="Shape 19"/>
              <p:cNvSpPr/>
              <p:nvPr/>
            </p:nvSpPr>
            <p:spPr>
              <a:xfrm>
                <a:off x="6286500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8" name="Shape 20"/>
              <p:cNvSpPr/>
              <p:nvPr/>
            </p:nvSpPr>
            <p:spPr>
              <a:xfrm>
                <a:off x="6724498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22C5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29" name="Image 6" descr="preencoded.png"/>
              <p:cNvPicPr>
                <a:picLocks noChangeAspect="1"/>
              </p:cNvPicPr>
              <p:nvPr/>
            </p:nvPicPr>
            <p:blipFill>
              <a:blip r:embed="rId8"/>
              <a:srcRect l="-881" r="-881"/>
              <a:stretch/>
            </p:blipFill>
            <p:spPr>
              <a:xfrm>
                <a:off x="6910121" y="2924251"/>
                <a:ext cx="237744" cy="267005"/>
              </a:xfrm>
              <a:prstGeom prst="rect">
                <a:avLst/>
              </a:prstGeom>
            </p:spPr>
          </p:pic>
          <p:sp>
            <p:nvSpPr>
              <p:cNvPr id="30" name="Text 21"/>
              <p:cNvSpPr txBox="1"/>
              <p:nvPr/>
            </p:nvSpPr>
            <p:spPr>
              <a:xfrm>
                <a:off x="10773461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22C5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허용</a:t>
                </a:r>
                <a:endParaRPr lang="en-US" sz="1000" dirty="0"/>
              </a:p>
            </p:txBody>
          </p:sp>
          <p:sp>
            <p:nvSpPr>
              <p:cNvPr id="31" name="Text 22"/>
              <p:cNvSpPr txBox="1"/>
              <p:nvPr/>
            </p:nvSpPr>
            <p:spPr>
              <a:xfrm>
                <a:off x="6724498" y="3571646"/>
                <a:ext cx="1625803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명시 후</a:t>
                </a:r>
                <a:endParaRPr lang="en-US" sz="2100" dirty="0"/>
              </a:p>
            </p:txBody>
          </p:sp>
          <p:sp>
            <p:nvSpPr>
              <p:cNvPr id="32" name="Text 23"/>
              <p:cNvSpPr txBox="1"/>
              <p:nvPr/>
            </p:nvSpPr>
            <p:spPr>
              <a:xfrm>
                <a:off x="6724498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발전적 재사용</a:t>
                </a:r>
                <a:endParaRPr lang="en-US" sz="2100" dirty="0"/>
              </a:p>
            </p:txBody>
          </p:sp>
          <p:sp>
            <p:nvSpPr>
              <p:cNvPr id="33" name="Text 24"/>
              <p:cNvSpPr txBox="1"/>
              <p:nvPr/>
            </p:nvSpPr>
            <p:spPr>
              <a:xfrm>
                <a:off x="6724498" y="4504334"/>
                <a:ext cx="2974543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"지난 연구를 바탕으로 새 관점을 추가..."</a:t>
                </a:r>
                <a:endParaRPr lang="en-US" sz="1300" dirty="0"/>
              </a:p>
            </p:txBody>
          </p:sp>
          <p:pic>
            <p:nvPicPr>
              <p:cNvPr id="34" name="Image 7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4953305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5" name="Text 25"/>
              <p:cNvSpPr txBox="1"/>
              <p:nvPr/>
            </p:nvSpPr>
            <p:spPr>
              <a:xfrm>
                <a:off x="6915607" y="4914900"/>
                <a:ext cx="20153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"20xx년 과제를 수정·보완함" 명시</a:t>
                </a:r>
                <a:endParaRPr lang="en-US" sz="1000" dirty="0"/>
              </a:p>
            </p:txBody>
          </p:sp>
          <p:pic>
            <p:nvPicPr>
              <p:cNvPr id="36" name="Image 8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22031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7" name="Text 26"/>
              <p:cNvSpPr txBox="1"/>
              <p:nvPr/>
            </p:nvSpPr>
            <p:spPr>
              <a:xfrm>
                <a:off x="6915607" y="5181905"/>
                <a:ext cx="1690726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저작물도 참고문헌 포함</a:t>
                </a:r>
                <a:endParaRPr lang="en-US" sz="1000" dirty="0"/>
              </a:p>
            </p:txBody>
          </p:sp>
          <p:pic>
            <p:nvPicPr>
              <p:cNvPr id="38" name="Image 9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48640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9" name="Text 27"/>
              <p:cNvSpPr txBox="1"/>
              <p:nvPr/>
            </p:nvSpPr>
            <p:spPr>
              <a:xfrm>
                <a:off x="6915607" y="5448910"/>
                <a:ext cx="14438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교수님께 사전 허락 필수</a:t>
                </a:r>
                <a:endParaRPr lang="en-US" sz="1000" dirty="0"/>
              </a:p>
            </p:txBody>
          </p:sp>
        </p:grpSp>
      </p:grp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53498" y="2952598"/>
            <a:ext cx="5372100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0882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063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이해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74112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· 직접 인용 · 재인용의 개념과 올바른 선택 기준을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9521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38121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3053182"/>
            <a:ext cx="37243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(요약·재기술)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4138574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재해석하여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논문의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주도하는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권장되는 인용 방식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4765" y="88422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04765" y="884225"/>
            <a:ext cx="38405" cy="1162202"/>
          </a:xfrm>
          <a:prstGeom prst="rect">
            <a:avLst/>
          </a:prstGeom>
          <a:solidFill>
            <a:srgbClr val="7DD3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70855" y="107442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5528462" y="1141171"/>
            <a:ext cx="152705" cy="13350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04765" y="2194560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04765" y="2194560"/>
            <a:ext cx="38405" cy="116220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470855" y="238475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7606" y="2451506"/>
            <a:ext cx="133502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204765" y="350489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204765" y="3504895"/>
            <a:ext cx="38405" cy="116220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470855" y="369600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537606" y="3762756"/>
            <a:ext cx="133502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204765" y="481614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4765" y="4816145"/>
            <a:ext cx="38405" cy="1162202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470855" y="500634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7606" y="5073091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871362" y="1076249"/>
            <a:ext cx="15800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개념: 재구성과 서술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871362" y="1417320"/>
            <a:ext cx="55193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아이디어를 훼손하지 않으면서,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어휘와 문장 구조를 사용하여 새롭게 서술하는 방식입니다.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871362" y="2386584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목적: 논거의 통합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871362" y="272765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 타인의 글을 가져오는 것이 아니라,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리포트의 논리적 흐름에 맞춰 자연스러운 근거로 활용합니다.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5871362" y="3697834"/>
            <a:ext cx="16276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방법: 보지 않고 쓰기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871362" y="403890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충분히 읽고 이해한 뒤,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덮고 기억을 되살려 나만의 표현으로 핵심을 요약합니다.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871362" y="5008169"/>
            <a:ext cx="1255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이점: 표절 예방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871362" y="5349240"/>
            <a:ext cx="56052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부호의 남발을 막아 글의 가독성을 높이고,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검사에서 발생할 수 있는 표절 시비를 줄입니다.</a:t>
            </a:r>
            <a:endParaRPr lang="en-US" sz="12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209580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795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8295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인용: 요약과 재기술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138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훼손하지 않으면서 자신의 언어로 표현하는 두 가지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57046" y="2409444"/>
            <a:ext cx="752551" cy="323698"/>
          </a:xfrm>
          <a:prstGeom prst="roundRect">
            <a:avLst>
              <a:gd name="adj" fmla="val 28248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190549" y="2502713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10005" y="2467051"/>
            <a:ext cx="3703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057046" y="2959913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7300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57046" y="328635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내용보다는 전체적인 요지가 중요할 때, 핵심 아이디어만 간결하게 압축하여 기술하는 방식입니다.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7046" y="4012387"/>
            <a:ext cx="171907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04849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57046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295705" y="4575658"/>
            <a:ext cx="415320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송해덕(2016)은 팀 학습에서 생기는 태만은 사후 평가가 아니라 교수자의 사전 대응으로 다뤄야 한다고 보았다."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169310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86500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581851" y="2409444"/>
            <a:ext cx="886054" cy="323698"/>
          </a:xfrm>
          <a:prstGeom prst="roundRect">
            <a:avLst>
              <a:gd name="adj" fmla="val 28248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715354" y="2502713"/>
            <a:ext cx="142646" cy="1335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33895" y="2467051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6581851" y="2959913"/>
            <a:ext cx="190195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48856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581851" y="3286354"/>
            <a:ext cx="46104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의미는 그대로 유지하되, 문장 구조와 단어를 나의 언어로 완전히 바꾸어 서술하는 방식입니다.</a:t>
            </a:r>
            <a:endParaRPr lang="en-US" sz="12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1851" y="4012387"/>
            <a:ext cx="171907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29654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581851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819595" y="4575658"/>
            <a:ext cx="41148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송해덕(2016)에 따르면, 태만을 점수로 벌하기보다 교수자가 일찍 개입해 태만이 생길 틈을 줄일 때 팀 학습이 살아난다."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694115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35" name="Stage3 Note"/>
          <p:cNvSpPr txBox="1"/>
          <p:nvPr/>
        </p:nvSpPr>
        <p:spPr>
          <a:xfrm>
            <a:off x="571500" y="6560000"/>
            <a:ext cx="11049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61842" y="6219749"/>
            <a:ext cx="133502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24205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연습 방법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942746"/>
            <a:ext cx="47914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4단계 연습법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66951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확실하게 피하는 가장 효과적인 글쓰기 훈련 프로세스입니다.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71239" y="6191402"/>
            <a:ext cx="45674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방법은 대학 글쓰기 센터가 안내하는 바꿔쓰기 절차(Purdue OWL, n.d.)를 네 단계로 정리한 것입니다.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238098" y="4134002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238098" y="4134002"/>
            <a:ext cx="80010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616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6002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50" r="-50"/>
          <a:stretch/>
        </p:blipFill>
        <p:spPr>
          <a:xfrm>
            <a:off x="1809598" y="3476549"/>
            <a:ext cx="342900" cy="304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757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07592" y="4695444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꼼꼼히 읽으며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457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메시지를 파악합니다.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5048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3434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4533595" y="3476549"/>
            <a:ext cx="381305" cy="3044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189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덮기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190695" y="469544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보지 않고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749040" y="49240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 머릿속으로 떠올립니다.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2480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70866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315200" y="3476549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621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723583" y="4695444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기억한 내용을 바탕으로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6321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재작성합니다.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9912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98298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58400" y="3476549"/>
            <a:ext cx="304495" cy="3044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0053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대조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9235440" y="46954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원문과 비교하여 의미 왜곡이나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3753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유사성을 점검합니다.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3305556" y="4062679"/>
            <a:ext cx="114300" cy="181051"/>
          </a:xfrm>
          <a:prstGeom prst="rect">
            <a:avLst/>
          </a:prstGeom>
        </p:spPr>
      </p:pic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6048756" y="4062679"/>
            <a:ext cx="114300" cy="181051"/>
          </a:xfrm>
          <a:prstGeom prst="rect">
            <a:avLst/>
          </a:prstGeom>
        </p:spPr>
      </p:pic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8791956" y="4062679"/>
            <a:ext cx="114300" cy="181051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17903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19257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32"/>
          <p:cNvSpPr/>
          <p:nvPr/>
        </p:nvSpPr>
        <p:spPr>
          <a:xfrm>
            <a:off x="45335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6689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400" dirty="0"/>
          </a:p>
        </p:txBody>
      </p:sp>
      <p:sp>
        <p:nvSpPr>
          <p:cNvPr id="44" name="Shape 34"/>
          <p:cNvSpPr/>
          <p:nvPr/>
        </p:nvSpPr>
        <p:spPr>
          <a:xfrm>
            <a:off x="72767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5"/>
          <p:cNvSpPr txBox="1"/>
          <p:nvPr/>
        </p:nvSpPr>
        <p:spPr>
          <a:xfrm>
            <a:off x="74121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0199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101553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Stage3 Note"/>
          <p:cNvSpPr txBox="1"/>
          <p:nvPr/>
        </p:nvSpPr>
        <p:spPr>
          <a:xfrm>
            <a:off x="571500" y="65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Online Writing Lab. (n.d.). Paraphrase: Write it in your own words. https://owl.purdue.edu/owl/research_and_citation/using_research/quoting_paraphrasing_and_summarizing/paraphrasing.html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8033004" y="1276502"/>
            <a:ext cx="3590849" cy="5296205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270748" y="2169871"/>
            <a:ext cx="3114446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70748" y="3199486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70748" y="2398471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70748" y="421904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70748" y="3418942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70748" y="523951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70748" y="443849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70748" y="545896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71500" y="552298"/>
            <a:ext cx="187177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요약과 재기술</a:t>
            </a:r>
            <a:endParaRPr lang="en-US" sz="22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0748" y="1848002"/>
            <a:ext cx="171907" cy="17190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8550" y="1798625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체크리스트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594446" y="2370125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 없음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594446" y="2627071"/>
            <a:ext cx="27358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주장하는 '적극적 태도의 필요성'이 그대로 유지되었나요?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594446" y="3389681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차별화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94446" y="3647542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단어(소극적 처방 등)를 그대로 쓰지 않고 다른 말로 바꿨나요?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594446" y="4410151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594446" y="4667098"/>
            <a:ext cx="25072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(저자, 연도) 형식으로 내주(In-text citation)를 달았나요?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594446" y="5429707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관점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8594446" y="5687568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나열이 아니라 리포트 문맥에 맞게 자연스럽게 연결되나요?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71500" y="1462126"/>
            <a:ext cx="7181698" cy="1933956"/>
          </a:xfrm>
          <a:prstGeom prst="roundRect">
            <a:avLst>
              <a:gd name="adj" fmla="val 279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771754" y="1377086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 txBox="1"/>
          <p:nvPr/>
        </p:nvSpPr>
        <p:spPr>
          <a:xfrm>
            <a:off x="866851" y="1395374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원문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1754" y="1738274"/>
            <a:ext cx="6782105" cy="1457554"/>
          </a:xfrm>
          <a:prstGeom prst="roundRect">
            <a:avLst>
              <a:gd name="adj" fmla="val 3280"/>
            </a:avLst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771754" y="1738274"/>
            <a:ext cx="38405" cy="145755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961949" y="1881835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[원문 예시]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1949" y="2128723"/>
            <a:ext cx="64721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"팀 기반 학습에서 지각된 태만이 야기하는 부정적인 현상들을 방지하기 위하여 단순히 학습자의 태만에 상응하는 평가를 내리는 소극적 처방이 아니라 (중략) 태만의 발생을 조기에 차단하는 적극적 태도로 교수에 임할 때 더욱 영향력 있는 팀 학습을 진행할 수 있을 것이다."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5444030" y="2881274"/>
            <a:ext cx="20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이동훈, 송해덕 (2016, p. 94)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71500" y="3652114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5"/>
          <p:cNvSpPr/>
          <p:nvPr/>
        </p:nvSpPr>
        <p:spPr>
          <a:xfrm>
            <a:off x="771754" y="3567074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866851" y="358627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요약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71754" y="3929177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2746" y="4135831"/>
            <a:ext cx="133502" cy="133502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152144" y="4100170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942746" y="4328770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키워드(태만 방지, 적극적 태도)만 남기고 한 문장으로 줄여보세요.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571500" y="5148072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1"/>
          <p:cNvSpPr/>
          <p:nvPr/>
        </p:nvSpPr>
        <p:spPr>
          <a:xfrm>
            <a:off x="771754" y="5062118"/>
            <a:ext cx="1037844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66851" y="5081321"/>
            <a:ext cx="933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재기술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71754" y="5424221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631790"/>
            <a:ext cx="133502" cy="133502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1152144" y="5595214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942746" y="5823814"/>
            <a:ext cx="3844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어휘로 바꿔 서술하고, 문장 끝에 (이동훈, 송해덕, 2016)을 붙이세요.</a:t>
            </a:r>
            <a:endParaRPr lang="en-US" sz="1000" dirty="0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3433572"/>
            <a:ext cx="133502" cy="181051"/>
          </a:xfrm>
          <a:prstGeom prst="rect">
            <a:avLst/>
          </a:prstGeom>
        </p:spPr>
      </p:pic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4928616"/>
            <a:ext cx="133502" cy="181051"/>
          </a:xfrm>
          <a:prstGeom prst="rect">
            <a:avLst/>
          </a:prstGeom>
        </p:spPr>
      </p:pic>
      <p:sp>
        <p:nvSpPr>
          <p:cNvPr id="54" name="Stage3 Note"/>
          <p:cNvSpPr txBox="1"/>
          <p:nvPr/>
        </p:nvSpPr>
        <p:spPr>
          <a:xfrm>
            <a:off x="571500" y="6620000"/>
            <a:ext cx="11049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1945843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231136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4880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0595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8357" y="4272991"/>
            <a:ext cx="36201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엄격한 기준이 필요합니다.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자체가 증거가 될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때만</a:t>
            </a: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제한적으로 사용하세요.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8951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8951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565953" y="10863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80253" y="1200607"/>
            <a:ext cx="228600" cy="2286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299862" y="22101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299862" y="22101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565953" y="24003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694883" y="2514600"/>
            <a:ext cx="200254" cy="2286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99862" y="35240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299862" y="35240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565953" y="37152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80253" y="3829507"/>
            <a:ext cx="228600" cy="2286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299862" y="48390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299862" y="48390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565953" y="50292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651906" y="5143500"/>
            <a:ext cx="286207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4262" y="1057046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제한적 사용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214262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자체가 핵심 증거이거나 대체 불가능한 경우에만 사용합니다. 편의를 위한 단순 복사는 지양하세요.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6214262" y="2371954"/>
            <a:ext cx="2057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따옴표와 블록 인용 구분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6214262" y="2686507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문장은 큰따옴표("")로, 3줄 이상의 긴 문장은 별도의 단락으로 들여쓰기하여 명확히 구분합니다.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214262" y="3685946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설명과 논평 병행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14262" y="4000500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전에는 도입 맥락을 설명하고, 인용 후에는 해당 내용에 대한 자신의 해석이나 논평을 반드시 덧붙입니다.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214262" y="5000854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혼용 금지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14262" y="5315407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문장인 것처럼 맥락 없이 원문을 이어 붙이면 안 됩니다. 인용임을 시각적으로 명확히 표시하세요.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700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3001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허용되는 경우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그대로를 가져오는 것이 학술적으로 유의미할 때에만 제한적으로 활용합니다.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83794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837944"/>
            <a:ext cx="38405" cy="5330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250088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250088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316382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316382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82676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82676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448970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448970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649163" y="194858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9962" y="1971446"/>
            <a:ext cx="32753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정의: 학술 용어나 현상을 정확하게 규정할 때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49163" y="261152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99962" y="2634386"/>
            <a:ext cx="3427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권위: 저명한 학자의 진술로 주장을 뒷받침할 때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649163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3297326"/>
            <a:ext cx="39419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상이한 견해: 원문의 표현을 공정하게 대조하고 싶을 때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49163" y="393740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3960266"/>
            <a:ext cx="37417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독창성: 표현 자체가 독창적이거나 대체 불가능할 때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49163" y="460034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4623206"/>
            <a:ext cx="34756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개념적 틀: 논의의 핵심 프레임이 되는 문장일 때</a:t>
            </a:r>
            <a:endParaRPr lang="en-US" sz="13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905902" y="2572207"/>
            <a:ext cx="4762195" cy="47621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38251"/>
            <a:ext cx="30769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형식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190549"/>
            <a:ext cx="4977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인용문의 길이에 따라 짧은 인용과 블록 인용으로 형식이 달라집니다.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190549" y="2145182"/>
            <a:ext cx="123444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0802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 (40단어 미만)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592324"/>
            <a:ext cx="190195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48156" y="2556662"/>
            <a:ext cx="16175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내 큰따옴표(“ ”) 사용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894076"/>
            <a:ext cx="190195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8156" y="2857500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안에 저자, 연도, 쪽수(p.) 표기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1057046" y="3158338"/>
            <a:ext cx="4552798" cy="1695298"/>
          </a:xfrm>
          <a:prstGeom prst="roundRect">
            <a:avLst>
              <a:gd name="adj" fmla="val 242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1057046" y="3158338"/>
            <a:ext cx="28346" cy="169529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1276502" y="3358591"/>
            <a:ext cx="387157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김철수는 "연구 윤리는 학문의 기본이다"라고 강조했다(김철수, 2026, p. 15).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276502" y="3898087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또는,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276502" y="4206240"/>
            <a:ext cx="397581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"연구 윤리는 학문의 기본이다"라고 주장했다(p. 15).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1057046" y="5106924"/>
            <a:ext cx="1810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마침표는 인용 괄호 뒤에 찍습니다.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286500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581851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6715354" y="2145182"/>
            <a:ext cx="123444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15607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인용 (40단어 이상)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592324"/>
            <a:ext cx="190195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772046" y="2556662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 없이 새로운 줄에서 시작</a:t>
            </a:r>
            <a:endParaRPr lang="en-US" sz="10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894076"/>
            <a:ext cx="190195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772046" y="2857500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문단을 들여쓰기(Indentation)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581851" y="3158338"/>
            <a:ext cx="4552798" cy="1390802"/>
          </a:xfrm>
          <a:prstGeom prst="roundRect">
            <a:avLst>
              <a:gd name="adj" fmla="val 360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6581851" y="3158338"/>
            <a:ext cx="28346" cy="139080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6801307" y="3358591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다음과 같이 설명했다: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801307" y="3656686"/>
            <a:ext cx="19202" cy="6949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6972300" y="3666744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윤리는 단순히 규정을 지키는 것을 넘어, 학문 공동체 내의 신뢰를 형성하는 핵심 기제이다. 따라서 모든 연구자는 인용과 출처 표기를 철저히 해야 한다 (pp. 15-16).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610197" y="4812371"/>
            <a:ext cx="4552798" cy="905256"/>
          </a:xfrm>
          <a:prstGeom prst="roundRect">
            <a:avLst>
              <a:gd name="adj" fmla="val 1275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752844" y="5090349"/>
            <a:ext cx="342900" cy="3429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 t="-856" b="-856"/>
          <a:stretch/>
        </p:blipFill>
        <p:spPr>
          <a:xfrm>
            <a:off x="6858000" y="5170816"/>
            <a:ext cx="133502" cy="1810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238390" y="4955018"/>
            <a:ext cx="14081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맥락과 논평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7238390" y="5179960"/>
            <a:ext cx="380299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전후에 '누가/어떤 맥락에서' 말했는지 밝히고, 인용 후에는 내 주장을 덧붙이세요.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5857646" y="3354934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5999378" y="3478378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원칙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17721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재인용: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개념과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625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A가 인용한 B를 다시 인용할 때 원문 확인이 원칙이며, 불가피한 경우에만 허용됩니다.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44566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445666"/>
            <a:ext cx="38405" cy="82844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71109" y="1771193"/>
            <a:ext cx="171907" cy="171907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99862" y="2421331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99862" y="2421331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2746858"/>
            <a:ext cx="142646" cy="17190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299862" y="339699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299862" y="3396996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3722522"/>
            <a:ext cx="142646" cy="171907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99862" y="4371746"/>
            <a:ext cx="6229807" cy="1047902"/>
          </a:xfrm>
          <a:prstGeom prst="roundRect">
            <a:avLst>
              <a:gd name="adj" fmla="val 634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99862" y="4371746"/>
            <a:ext cx="38405" cy="104790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71109" y="4806086"/>
            <a:ext cx="171907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37453" y="1598371"/>
            <a:ext cx="1837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제1원칙: 원문 직접 확인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137453" y="1899209"/>
            <a:ext cx="5033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오류나 왜곡 방지를 위해 1차 자료(원문)를 직접 찾아 읽는 것이 가장 바람직합니다.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37453" y="2573122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1: 원문 확보 불가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137453" y="2874874"/>
            <a:ext cx="5042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절판되었거나 비공개 자료여서 물리적으로 접근할 수 없는 경우에 한합니다.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137453" y="3548786"/>
            <a:ext cx="1722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2: 언어 장벽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6137453" y="3849624"/>
            <a:ext cx="51288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해석 불가능한 언어로 되어 있고 신뢰할 만한 번역본도 없는 경우 허용됩니다.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137453" y="4524451"/>
            <a:ext cx="17318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 규칙: 재인용 명시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6137453" y="4825289"/>
            <a:ext cx="52148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본문에는 원저자와 재인용 출처를 모두 밝히되(예: as cited in), 참고문헌엔 내가 읽은 자료만 적습니다.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예시/주의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9246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표기법과 주의사항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844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직접 확인할 수 없을 때 사용하는 재인용 방식과 이로 인한 위험성 및 대안을 확인합니다.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713025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76449"/>
            <a:ext cx="113202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표기 예시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796942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082" r="-1082"/>
          <a:stretch/>
        </p:blipFill>
        <p:spPr>
          <a:xfrm>
            <a:off x="1261872" y="3287268"/>
            <a:ext cx="161849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3186684"/>
            <a:ext cx="1981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(영어 논문)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723644" y="3548786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723644" y="3548786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904695" y="3682289"/>
            <a:ext cx="324246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(Rivera, 1982, as cited in Moore, 2010)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723644" y="4070909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원저자(Rivera)와 재인용자(Moore)를 모두 밝히고, 참고문헌에는 실제로 읽은 Moore의 문헌만 적습니다.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52144" y="507126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1261872" y="5170932"/>
            <a:ext cx="161849" cy="181051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723644" y="5071262"/>
            <a:ext cx="18004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학술지 (한국어)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723644" y="5433365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1723644" y="5433365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1904695" y="5565953"/>
            <a:ext cx="297637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(박지호, 1993, 재인용: 이나래, 2021)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723644" y="5954573"/>
            <a:ext cx="3762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'재인용'임을 분명히 밝히고, 내가 직접 읽은 2차 자료(이나래)의 출처 정보를 정확히 제공해야 합니다.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86500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6676949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829654" y="2713025"/>
            <a:ext cx="142646" cy="13350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48195" y="2676449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위험성 및 대안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676949" y="4272991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6676949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505" r="-505"/>
          <a:stretch/>
        </p:blipFill>
        <p:spPr>
          <a:xfrm>
            <a:off x="6752844" y="3287268"/>
            <a:ext cx="228600" cy="181051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248449" y="3186684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왜곡의 위험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248449" y="3548786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전달자(재인용자)가 원문을 오역하거나 맥락을 잘못 해석했을 경우, 그 오류를 그대로 답습하게 됩니다.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6676949" y="563544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6676949" y="454914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4648810"/>
            <a:ext cx="181051" cy="181051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248449" y="4549140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불가능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7248449" y="4911242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원저자의 실제 의도나 데이터의 정확성을 직접 확인할 수 없어 학술적 신뢰도가 하락할 수 있습니다.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6676949" y="5911596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082" r="-1082"/>
          <a:stretch/>
        </p:blipFill>
        <p:spPr>
          <a:xfrm>
            <a:off x="6786677" y="6011266"/>
            <a:ext cx="161849" cy="181051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248449" y="5911596"/>
            <a:ext cx="22860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최선의 대안: 1차 자료 확보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7248449" y="6272784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가능하다면 도서관 상호대차 등으로 1차 문헌을 직접 확인하세요.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5810098" y="3513125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5980176" y="3661258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19995" y="2952598"/>
            <a:ext cx="5505602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7283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B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92475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49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 · 번호주 · 각주/미주 · 참고문헌의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구조와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가이드를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4426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201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953512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887114"/>
            <a:ext cx="319582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전공과 학술 분야에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선호하는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방식이 다릅니다.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3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핵심 요소로 정리했습니다.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4102" y="84399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934102" y="843991"/>
            <a:ext cx="38405" cy="12188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693054" y="1058875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1495044"/>
            <a:ext cx="152705" cy="133502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14950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4102" y="228417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4934102" y="228417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5882335" y="249905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2935224"/>
            <a:ext cx="152705" cy="133502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2935224"/>
            <a:ext cx="152705" cy="13350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934102" y="372435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934102" y="372435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152083" y="393923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4375404"/>
            <a:ext cx="152705" cy="133502"/>
          </a:xfrm>
          <a:prstGeom prst="rect">
            <a:avLst/>
          </a:prstGeom>
        </p:spPr>
      </p:pic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4375404"/>
            <a:ext cx="152705" cy="1335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01107" y="1034186"/>
            <a:ext cx="5358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5789066" y="1097280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대중적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447995" y="145755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47995" y="1647749"/>
            <a:ext cx="2051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괄호 안에 (저자, 연도) 표기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572500" y="145755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572500" y="1647749"/>
            <a:ext cx="20619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(사회과학, 인문 일부)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201107" y="2474366"/>
            <a:ext cx="72603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5978347" y="253746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간결함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447995" y="28977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447995" y="3087929"/>
            <a:ext cx="19092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[1], [2] 등 숫자로 표기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8572500" y="289773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572500" y="3087929"/>
            <a:ext cx="20802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IEEE, Vancouver (이공계, 의학)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5201107" y="3914546"/>
            <a:ext cx="9930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6247181" y="397764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상세함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47995" y="433791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5447995" y="4528109"/>
            <a:ext cx="2243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어깨번호¹ 후 하단에 상세 정보 기재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572500" y="433791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572500" y="4528109"/>
            <a:ext cx="20144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(역사, 신학 등 인문학)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934102" y="5164531"/>
            <a:ext cx="6590995" cy="857707"/>
          </a:xfrm>
          <a:prstGeom prst="roundRect">
            <a:avLst>
              <a:gd name="adj" fmla="val 14215"/>
            </a:avLst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4934102" y="5164531"/>
            <a:ext cx="38405" cy="8577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5">
            <a:alphaModFix amt="90000"/>
          </a:blip>
          <a:srcRect l="-7192" r="-7192"/>
          <a:stretch/>
        </p:blipFill>
        <p:spPr>
          <a:xfrm>
            <a:off x="5201107" y="5682996"/>
            <a:ext cx="152705" cy="133502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5201107" y="5317236"/>
            <a:ext cx="745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447995" y="5644591"/>
            <a:ext cx="3899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자료를 문서 끝에 정리한 최종 목록 (필수)</a:t>
            </a:r>
            <a:endParaRPr lang="en-US" sz="11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1449324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76402" y="4475988"/>
            <a:ext cx="3305556" cy="933602"/>
          </a:xfrm>
          <a:prstGeom prst="roundRect">
            <a:avLst>
              <a:gd name="adj" fmla="val 799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76402" y="1734617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B. 출처 표기 시스템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1991563"/>
            <a:ext cx="31053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내주(In-text)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76402" y="2563063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원칙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" y="3420770"/>
            <a:ext cx="3435102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안에서 출처를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밝히는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기초적인 규칙입니다.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서술형의 차이를 명확히 이해해야 합니다.</a:t>
            </a:r>
            <a:endParaRPr lang="en-US" sz="13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638251" y="4673498"/>
            <a:ext cx="105156" cy="13350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19302" y="4637837"/>
            <a:ext cx="5961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Tip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" y="4866437"/>
            <a:ext cx="30623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스타일에 따라 저자, 연도, 페이지의 표기 순서가 다르므로 반드시 해당 가이드를 확인하세요.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839005" y="105156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39005" y="1051560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105095" y="1223467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5238598" y="1337767"/>
            <a:ext cx="114300" cy="15270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39005" y="227868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4839005" y="227868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105095" y="2449678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5201107" y="2563978"/>
            <a:ext cx="190195" cy="15270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39005" y="350489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839005" y="350489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105095" y="367680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5238598" y="3791102"/>
            <a:ext cx="114300" cy="15270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839005" y="473202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839005" y="4732020"/>
            <a:ext cx="38405" cy="10762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105095" y="490301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BBF2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19395" y="5017313"/>
            <a:ext cx="152705" cy="15270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676595" y="1204265"/>
            <a:ext cx="24332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 인용 (Parenthetical)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5676595" y="1516075"/>
            <a:ext cx="5763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끝이나 중간에 괄호를 사용하여 출처 정보를 표기합니다. 연구 결과는 ...하다 (Kim, 2026). ...라는 견해다 (Smith 15).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676595" y="2430475"/>
            <a:ext cx="20711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서술형 인용 (Narrative)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5676595" y="2743200"/>
            <a:ext cx="5829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저자의 이름을 문장의 주어 등 문장 성분으로 자연스럽게 포함합니다. Kim (2026)은 ...라고 주장했다.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676595" y="3657600"/>
            <a:ext cx="14237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 표기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676595" y="3970325"/>
            <a:ext cx="5734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시에는 페이지 번호를 반드시 표기해야 합니다. * 간접 인용의 경우 APA는 선택, MLA는 필수인 경우가 많음 (Hong, 2026, p. 25)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5676595" y="4884725"/>
            <a:ext cx="22329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문장부호(마침표) 위치 주의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5676595" y="5196535"/>
            <a:ext cx="5811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마침표는 괄호 뒤에 찍습니다. (단, 긴 블록 인용은 예외) ...이다. (Kim, 2023) ...이다 (Kim, 2023).</a:t>
            </a:r>
            <a:endParaRPr lang="en-US" sz="12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34290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스타일 인용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276502"/>
            <a:ext cx="60533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APA(7판) 방식의 본문 내주와 참고문헌 표기법 비교</a:t>
            </a:r>
            <a:endParaRPr lang="en-US" sz="13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4AAED2D-A5B8-50B4-291F-78BA4CDFD6BF}"/>
              </a:ext>
            </a:extLst>
          </p:cNvPr>
          <p:cNvGrpSpPr/>
          <p:nvPr/>
        </p:nvGrpSpPr>
        <p:grpSpPr>
          <a:xfrm>
            <a:off x="767660" y="1681212"/>
            <a:ext cx="10668305" cy="4625774"/>
            <a:chOff x="761695" y="2009163"/>
            <a:chExt cx="10668305" cy="4625774"/>
          </a:xfrm>
        </p:grpSpPr>
        <p:sp>
          <p:nvSpPr>
            <p:cNvPr id="8" name="Shape 6"/>
            <p:cNvSpPr/>
            <p:nvPr/>
          </p:nvSpPr>
          <p:spPr>
            <a:xfrm>
              <a:off x="761695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50000"/>
              </a:srgbClr>
            </a:solidFill>
            <a:ln w="508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1152144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38BDF8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2838" r="-2838"/>
            <a:stretch/>
          </p:blipFill>
          <p:spPr>
            <a:xfrm>
              <a:off x="1304849" y="2350922"/>
              <a:ext cx="123444" cy="133502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1505102" y="2314346"/>
              <a:ext cx="143652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8BDF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내주 (IN-TEXT)</a:t>
              </a:r>
              <a:endParaRPr lang="en-US" sz="10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1152144" y="4187952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0"/>
            <p:cNvSpPr/>
            <p:nvPr/>
          </p:nvSpPr>
          <p:spPr>
            <a:xfrm>
              <a:off x="1152144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52728" y="2925166"/>
              <a:ext cx="181051" cy="181051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723644" y="2825496"/>
              <a:ext cx="2048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 (요약/재기술)</a:t>
              </a:r>
              <a:endParaRPr lang="en-US" sz="15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723644" y="3186684"/>
              <a:ext cx="32196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아이디어만 가져올 때, 저자와 연도만 표기합니다.</a:t>
              </a:r>
              <a:endParaRPr lang="en-US" sz="1200" dirty="0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723644" y="3430829"/>
              <a:ext cx="36768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...연구 결과에 따르면 팀 기반 학습은 긍정적 효과가 있다 (Hong &amp; Kim, 2026).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1152144" y="4461358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5"/>
            <a:srcRect l="-1082" r="-1082"/>
            <a:stretch/>
          </p:blipFill>
          <p:spPr>
            <a:xfrm>
              <a:off x="1261872" y="4561027"/>
              <a:ext cx="161849" cy="181051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723644" y="4461358"/>
              <a:ext cx="905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직접 인용</a:t>
              </a:r>
              <a:endParaRPr lang="en-US" sz="1500" dirty="0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723644" y="4823460"/>
              <a:ext cx="3324758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원문을 그대로 가져올 때, 반드시 페이지 번호(p.)를 포함합니다.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723644" y="5310835"/>
              <a:ext cx="3829507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...라고 주장하며 "적극적 개입이 필수적이다"라고 강조했다 (Hong &amp; Kim, 2026, p. 15).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6286500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30000"/>
              </a:srgbClr>
            </a:solidFill>
            <a:ln w="50800">
              <a:solidFill>
                <a:srgbClr val="F43F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6676949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F43F5E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5" name="Image 3" descr="preencoded.png"/>
            <p:cNvPicPr>
              <a:picLocks noChangeAspect="1"/>
            </p:cNvPicPr>
            <p:nvPr/>
          </p:nvPicPr>
          <p:blipFill>
            <a:blip r:embed="rId6"/>
            <a:srcRect l="-3425" r="-3425"/>
            <a:stretch/>
          </p:blipFill>
          <p:spPr>
            <a:xfrm>
              <a:off x="6829654" y="2350922"/>
              <a:ext cx="142646" cy="133502"/>
            </a:xfrm>
            <a:prstGeom prst="rect">
              <a:avLst/>
            </a:prstGeom>
          </p:spPr>
        </p:pic>
        <p:sp>
          <p:nvSpPr>
            <p:cNvPr id="26" name="Text 20"/>
            <p:cNvSpPr txBox="1"/>
            <p:nvPr/>
          </p:nvSpPr>
          <p:spPr>
            <a:xfrm>
              <a:off x="7048195" y="2314346"/>
              <a:ext cx="175107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43F5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(REFERENCES)</a:t>
              </a:r>
              <a:endParaRPr lang="en-US" sz="10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6676949" y="5083150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2"/>
            <p:cNvSpPr/>
            <p:nvPr/>
          </p:nvSpPr>
          <p:spPr>
            <a:xfrm>
              <a:off x="6676949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4" descr="preencoded.png"/>
            <p:cNvPicPr>
              <a:picLocks noChangeAspect="1"/>
            </p:cNvPicPr>
            <p:nvPr/>
          </p:nvPicPr>
          <p:blipFill>
            <a:blip r:embed="rId7"/>
            <a:srcRect l="-1082" r="-1082"/>
            <a:stretch/>
          </p:blipFill>
          <p:spPr>
            <a:xfrm>
              <a:off x="6786677" y="2925166"/>
              <a:ext cx="161849" cy="181051"/>
            </a:xfrm>
            <a:prstGeom prst="rect">
              <a:avLst/>
            </a:prstGeom>
          </p:spPr>
        </p:pic>
        <p:sp>
          <p:nvSpPr>
            <p:cNvPr id="30" name="Text 23"/>
            <p:cNvSpPr txBox="1"/>
            <p:nvPr/>
          </p:nvSpPr>
          <p:spPr>
            <a:xfrm>
              <a:off x="7248449" y="2825496"/>
              <a:ext cx="2667305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학술지 논문 (Journal Article)</a:t>
              </a:r>
              <a:endParaRPr lang="en-US" sz="1500" dirty="0"/>
            </a:p>
          </p:txBody>
        </p:sp>
        <p:sp>
          <p:nvSpPr>
            <p:cNvPr id="31" name="Text 24"/>
            <p:cNvSpPr txBox="1"/>
            <p:nvPr/>
          </p:nvSpPr>
          <p:spPr>
            <a:xfrm>
              <a:off x="7248449" y="3186684"/>
              <a:ext cx="3810305" cy="7242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본문의 (Hong &amp; Kim, 2026)과 정확히 매칭되어야 합니다. 저자명, 연도, 제목, 학술지명(이탤릭), 권(호), 페이지, DOI 순으로 기재합니다.</a:t>
              </a:r>
              <a:endParaRPr lang="en-US" sz="1200" dirty="0"/>
            </a:p>
          </p:txBody>
        </p:sp>
        <p:sp>
          <p:nvSpPr>
            <p:cNvPr id="32" name="Shape 25"/>
            <p:cNvSpPr/>
            <p:nvPr/>
          </p:nvSpPr>
          <p:spPr>
            <a:xfrm>
              <a:off x="7248449" y="3994099"/>
              <a:ext cx="3791102" cy="819302"/>
            </a:xfrm>
            <a:prstGeom prst="roundRect">
              <a:avLst>
                <a:gd name="adj" fmla="val 5191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6"/>
            <p:cNvSpPr txBox="1"/>
            <p:nvPr/>
          </p:nvSpPr>
          <p:spPr>
            <a:xfrm>
              <a:off x="7324344" y="4051706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Hong, J., &amp; Kim, S. (2026). The impact of team-based learning on student engagement.</a:t>
              </a:r>
              <a:endParaRPr lang="en-US" sz="900" dirty="0"/>
            </a:p>
          </p:txBody>
        </p:sp>
        <p:sp>
          <p:nvSpPr>
            <p:cNvPr id="34" name="Text 27"/>
            <p:cNvSpPr txBox="1"/>
            <p:nvPr/>
          </p:nvSpPr>
          <p:spPr>
            <a:xfrm>
              <a:off x="7324344" y="4237330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Journal of Educational Research</a:t>
              </a:r>
              <a:endParaRPr lang="en-US" sz="9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324344" y="4422953"/>
              <a:ext cx="2636215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, 12(3), 1–20. https://doi.org/10.xxxx/xxxxx</a:t>
              </a:r>
              <a:endParaRPr lang="en-US" sz="900" dirty="0"/>
            </a:p>
          </p:txBody>
        </p:sp>
        <p:sp>
          <p:nvSpPr>
            <p:cNvPr id="36" name="Shape 29"/>
            <p:cNvSpPr/>
            <p:nvPr/>
          </p:nvSpPr>
          <p:spPr>
            <a:xfrm>
              <a:off x="6676949" y="5356555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082" r="-1082"/>
            <a:stretch/>
          </p:blipFill>
          <p:spPr>
            <a:xfrm>
              <a:off x="6786677" y="5456225"/>
              <a:ext cx="161849" cy="181051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7248449" y="5356555"/>
              <a:ext cx="13533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단행본 (Book)</a:t>
              </a:r>
              <a:endParaRPr lang="en-US" sz="15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248449" y="5718658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저자. (연도).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8040319" y="5718658"/>
              <a:ext cx="9244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서명(이탤릭)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844077" y="5718658"/>
              <a:ext cx="6675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 출판사.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248449" y="6038698"/>
              <a:ext cx="3791102" cy="448056"/>
            </a:xfrm>
            <a:prstGeom prst="roundRect">
              <a:avLst>
                <a:gd name="adj" fmla="val 17369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324344" y="6095390"/>
              <a:ext cx="121706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Lee, M. (2026).</a:t>
              </a:r>
              <a:endParaRPr lang="en-US" sz="9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8442655" y="6095390"/>
              <a:ext cx="174101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Academic Writing Guide</a:t>
              </a:r>
              <a:endParaRPr lang="en-US" sz="9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24344" y="6095390"/>
              <a:ext cx="3379622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. Seoul Press.</a:t>
              </a:r>
              <a:endParaRPr lang="en-US" sz="900" dirty="0"/>
            </a:p>
          </p:txBody>
        </p:sp>
        <p:sp>
          <p:nvSpPr>
            <p:cNvPr id="46" name="Shape 38"/>
            <p:cNvSpPr/>
            <p:nvPr/>
          </p:nvSpPr>
          <p:spPr>
            <a:xfrm>
              <a:off x="5810098" y="3390595"/>
              <a:ext cx="571500" cy="571500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980176" y="3539642"/>
              <a:ext cx="375818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4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스타일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1435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예시 (본문 / Works Cited)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41010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분야의 표준인 MLA 스타일의 핵심 표기법입니다.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285646" y="2497226"/>
            <a:ext cx="123444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5900" y="2467051"/>
            <a:ext cx="6501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내주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137660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38098" y="2994660"/>
            <a:ext cx="171907" cy="17190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647749" y="2908706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 포함 문장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647749" y="3219602"/>
            <a:ext cx="31473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문장에 저자가 언급되면 괄호에 페이지만 적습니다.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647749" y="3507638"/>
            <a:ext cx="3038551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647749" y="3507638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1790395" y="3612794"/>
            <a:ext cx="1965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 and Kim argue... (15).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152144" y="432968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647749" y="4329684"/>
            <a:ext cx="10369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 표기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647749" y="4640580"/>
            <a:ext cx="3233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미언급 시 (성 페이지)로 표기합니다. 쉼표 없음.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647749" y="4928616"/>
            <a:ext cx="3124505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1647749" y="4928616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1790395" y="5033772"/>
            <a:ext cx="2937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Citations are crucial... (Hong and Kim 15).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86500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676949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0451" y="2497226"/>
            <a:ext cx="133502" cy="1335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019849" y="2467051"/>
            <a:ext cx="602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676949" y="362376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6676949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6776618" y="2994660"/>
            <a:ext cx="142646" cy="171907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172554" y="2908706"/>
            <a:ext cx="8275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구조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172554" y="3219602"/>
            <a:ext cx="3595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저자. 제목. 컨테이너, 출판사, 연도, 위치(p/pp/DOI) 순서.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676949" y="3822192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6786677" y="3908146"/>
            <a:ext cx="123444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72554" y="3822192"/>
            <a:ext cx="19604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7172554" y="4133088"/>
            <a:ext cx="1738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저널 논문 표기 예시입니다.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172554" y="4421124"/>
            <a:ext cx="3866998" cy="638251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7172554" y="4421124"/>
            <a:ext cx="28346" cy="638251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315200" y="4526280"/>
            <a:ext cx="35954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Hong, Jin, and Soo Kim. "Title." Journal Name, vol. 12, no. 3, 2026, pp. 1–20. doi...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7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662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이공계열 분야의 표기 방식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번호주(IEEE) 기본/예시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120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본문에서는 대괄호 숫자로 간결하게 표시하고, 참고문헌에서 상세 정보를 제공합니다.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665476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28900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규칙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762049" y="3139135"/>
            <a:ext cx="1629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[번호] 사용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62049" y="3501238"/>
            <a:ext cx="3829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저자명이나 인용된 문장 끝에 대괄호로 번호를 매깁니다. 번호는 본문에 등장하는 순서대로 부여합니다.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52144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1276502" y="4389120"/>
            <a:ext cx="171907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762049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762049" y="4636922"/>
            <a:ext cx="38011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알고리즘은 기존 방식보다 처리 속도를 2배 향상시켰다 [1]."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4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676949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829654" y="2665476"/>
            <a:ext cx="142646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48195" y="2628900"/>
            <a:ext cx="17510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(REFERENCES)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676949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6776618" y="3253435"/>
            <a:ext cx="219456" cy="19019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86854" y="313913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순서대로 정렬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286854" y="3501238"/>
            <a:ext cx="36868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저자명의 알파벳 순서가 아닌, 본문에서 인용된 번호 순서([1], [2]...)대로 목록을 작성합니다.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676949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801307" y="4389120"/>
            <a:ext cx="171907" cy="19019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86854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286854" y="4665269"/>
            <a:ext cx="25914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[1] J. K. Author, "Title of paper,"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926934" y="4908499"/>
            <a:ext cx="23152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Abbrev. Title of Journal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286854" y="4908499"/>
            <a:ext cx="37819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, vol. x, no. x, pp. xxx-xxx, year.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>
                <a:alpha val="3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82" r="-1082"/>
          <a:stretch/>
        </p:blipFill>
        <p:spPr>
          <a:xfrm>
            <a:off x="6014923" y="3338474"/>
            <a:ext cx="161849" cy="181051"/>
          </a:xfrm>
          <a:prstGeom prst="rect">
            <a:avLst/>
          </a:prstGeom>
        </p:spPr>
      </p:pic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5" y="-38318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4343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각주/미주(Chicago) 표기법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47065" y="1175242"/>
            <a:ext cx="65873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분야에서 주로 사용하며, 본문 흐름을 방해하지 않기 위해 윗첨자 번호를 사용합니다.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04595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257300" y="1976333"/>
            <a:ext cx="142646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76756" y="1939757"/>
            <a:ext cx="182697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및 각주 (FOOTNOTE)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449992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9751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문장 끝에 윗첨자 번호 표기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781919"/>
            <a:ext cx="105156" cy="1234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9751" y="2781919"/>
            <a:ext cx="30806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하단(각주) 또는 챕터 뒤(미주)에 상세 정보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112932"/>
            <a:ext cx="105156" cy="1234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9751" y="3112932"/>
            <a:ext cx="2985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이름(First Name) 성(Last Name) 순서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444859"/>
            <a:ext cx="105156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09751" y="3444859"/>
            <a:ext cx="2709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안에 (출판지: 출판사, 연도)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86500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6629400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782105" y="1976333"/>
            <a:ext cx="142646" cy="1335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00646" y="1939757"/>
            <a:ext cx="19037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(BIBLIOGRAPHY)</a:t>
            </a:r>
            <a:endParaRPr lang="en-US" sz="10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449992"/>
            <a:ext cx="133502" cy="12344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762902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맨 뒤에 별도 페이지로 작성</a:t>
            </a:r>
            <a:endParaRPr lang="en-US" sz="11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781919"/>
            <a:ext cx="133502" cy="12344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762902" y="2781919"/>
            <a:ext cx="3033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성(Last Name), 이름(First Name) 순서</a:t>
            </a:r>
            <a:endParaRPr lang="en-US" sz="11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112932"/>
            <a:ext cx="133502" cy="1234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762902" y="3112932"/>
            <a:ext cx="23573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없이 마침표(.)로 구분</a:t>
            </a:r>
            <a:endParaRPr lang="en-US" sz="11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444859"/>
            <a:ext cx="133502" cy="123444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762902" y="3444859"/>
            <a:ext cx="27569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 줄부터 들여쓰기 (Hanging Indent)</a:t>
            </a:r>
            <a:endParaRPr lang="en-US" sz="11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E56468F6-AB38-CF05-34D0-8CB68F4D4360}"/>
              </a:ext>
            </a:extLst>
          </p:cNvPr>
          <p:cNvGrpSpPr/>
          <p:nvPr/>
        </p:nvGrpSpPr>
        <p:grpSpPr>
          <a:xfrm>
            <a:off x="1104594" y="3679860"/>
            <a:ext cx="9982505" cy="2668220"/>
            <a:chOff x="1104595" y="4026417"/>
            <a:chExt cx="9982505" cy="2668220"/>
          </a:xfrm>
        </p:grpSpPr>
        <p:sp>
          <p:nvSpPr>
            <p:cNvPr id="20" name="Shape 13"/>
            <p:cNvSpPr/>
            <p:nvPr/>
          </p:nvSpPr>
          <p:spPr>
            <a:xfrm>
              <a:off x="1104595" y="4109628"/>
              <a:ext cx="4457700" cy="1248156"/>
            </a:xfrm>
            <a:prstGeom prst="roundRect">
              <a:avLst>
                <a:gd name="adj" fmla="val 4474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4"/>
            <p:cNvSpPr/>
            <p:nvPr/>
          </p:nvSpPr>
          <p:spPr>
            <a:xfrm>
              <a:off x="1304849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5"/>
            <p:cNvSpPr txBox="1"/>
            <p:nvPr/>
          </p:nvSpPr>
          <p:spPr>
            <a:xfrm>
              <a:off x="1304849" y="4309881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예시</a:t>
              </a:r>
              <a:endParaRPr lang="en-US" sz="1000" dirty="0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1304849" y="4661925"/>
              <a:ext cx="4048963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역사는 과거와 현재의 끊임없는 대화이다1. 이러한 관점은 현대 역사학의 기초가 되었다.</a:t>
              </a:r>
              <a:endParaRPr lang="en-US" sz="1200" dirty="0"/>
            </a:p>
          </p:txBody>
        </p:sp>
        <p:sp>
          <p:nvSpPr>
            <p:cNvPr id="24" name="Shape 17"/>
            <p:cNvSpPr/>
            <p:nvPr/>
          </p:nvSpPr>
          <p:spPr>
            <a:xfrm>
              <a:off x="1104595" y="5492201"/>
              <a:ext cx="4457700" cy="1133856"/>
            </a:xfrm>
            <a:prstGeom prst="roundRect">
              <a:avLst>
                <a:gd name="adj" fmla="val 5422"/>
              </a:avLst>
            </a:prstGeom>
            <a:solidFill>
              <a:srgbClr val="38BDF8">
                <a:alpha val="5000"/>
              </a:srgbClr>
            </a:solidFill>
            <a:ln w="12700">
              <a:solidFill>
                <a:srgbClr val="38BDF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18"/>
            <p:cNvSpPr/>
            <p:nvPr/>
          </p:nvSpPr>
          <p:spPr>
            <a:xfrm>
              <a:off x="1304849" y="5959459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1304849" y="5692454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 각주 예시</a:t>
              </a:r>
              <a:endParaRPr lang="en-US" sz="1000" dirty="0"/>
            </a:p>
          </p:txBody>
        </p:sp>
        <p:sp>
          <p:nvSpPr>
            <p:cNvPr id="27" name="Text 20"/>
            <p:cNvSpPr txBox="1"/>
            <p:nvPr/>
          </p:nvSpPr>
          <p:spPr>
            <a:xfrm>
              <a:off x="1304849" y="6044498"/>
              <a:ext cx="391088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Jin Hong and Soo Kim, Title of the Book (Seoul: Publisher, 2026), 15.</a:t>
              </a:r>
              <a:endParaRPr lang="en-US" sz="1000" dirty="0"/>
            </a:p>
          </p:txBody>
        </p:sp>
        <p:sp>
          <p:nvSpPr>
            <p:cNvPr id="40" name="Shape 28"/>
            <p:cNvSpPr/>
            <p:nvPr/>
          </p:nvSpPr>
          <p:spPr>
            <a:xfrm>
              <a:off x="6629400" y="4109628"/>
              <a:ext cx="4457700" cy="1886407"/>
            </a:xfrm>
            <a:prstGeom prst="roundRect">
              <a:avLst>
                <a:gd name="adj" fmla="val 1959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29"/>
            <p:cNvSpPr/>
            <p:nvPr/>
          </p:nvSpPr>
          <p:spPr>
            <a:xfrm>
              <a:off x="6829654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6829654" y="4309881"/>
              <a:ext cx="1709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리스트 예시 (2026)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7134149" y="4661925"/>
              <a:ext cx="3610051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Hong, Jin, and Soo Kim. Title of the Book. Seoul: Publisher, 2026.</a:t>
              </a:r>
              <a:endParaRPr lang="en-US" sz="12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7134149" y="5302005"/>
              <a:ext cx="37435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Lee, Min-Su. "Article Title." Journal Name 15, no. 2 (2026): 45–67.</a:t>
              </a:r>
              <a:endParaRPr lang="en-US" sz="1200" dirty="0"/>
            </a:p>
          </p:txBody>
        </p:sp>
        <p:sp>
          <p:nvSpPr>
            <p:cNvPr id="45" name="Shape 33"/>
            <p:cNvSpPr/>
            <p:nvPr/>
          </p:nvSpPr>
          <p:spPr>
            <a:xfrm>
              <a:off x="6629400" y="6142339"/>
              <a:ext cx="4457700" cy="552298"/>
            </a:xfrm>
            <a:prstGeom prst="roundRect">
              <a:avLst>
                <a:gd name="adj" fmla="val 11418"/>
              </a:avLst>
            </a:prstGeom>
            <a:solidFill>
              <a:srgbClr val="7F1D1D">
                <a:alpha val="20000"/>
              </a:srgbClr>
            </a:solidFill>
            <a:ln w="12700">
              <a:solidFill>
                <a:srgbClr val="EF4444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6752844" y="6256639"/>
              <a:ext cx="42108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주의: 각주와 참고문헌은 저자명 순서와 구두점(콤마 vs 마침표) 형식이 다르므로 혼동하지 않도록 주의하세요.</a:t>
              </a:r>
              <a:endParaRPr lang="en-US" sz="900" dirty="0"/>
            </a:p>
          </p:txBody>
        </p:sp>
        <p:sp>
          <p:nvSpPr>
            <p:cNvPr id="47" name="Shape 35"/>
            <p:cNvSpPr/>
            <p:nvPr/>
          </p:nvSpPr>
          <p:spPr>
            <a:xfrm>
              <a:off x="5857646" y="4026417"/>
              <a:ext cx="476402" cy="476402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6011266" y="4150776"/>
              <a:ext cx="2862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200" dirty="0"/>
            </a:p>
          </p:txBody>
        </p:sp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5518" y="0"/>
            <a:ext cx="12435088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123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09258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36123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09258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05346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36123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05346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590114"/>
            <a:ext cx="10798022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780309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8428" y="5870834"/>
            <a:ext cx="276149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1589" y="5829686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62014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공통 규칙 체크리스트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6134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전, 아래 6가지 필수 항목을 확인하여 표절 리스크를 사전에 차단하세요.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1223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일치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인용된 자료와 참고문헌 목록이 1:1로 정확히 매칭되는지 확인했나요?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서지 정보 포함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출판사 등 학과 지정 스타일의 필수 정보가 모두 기재되었나요?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33363"/>
            <a:ext cx="15032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 유효성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25057"/>
            <a:ext cx="43571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자료의 DOI 또는 URL이 정확하며 유효한 링크인지 점검했나요?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33363"/>
            <a:ext cx="15224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스타일 일관성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25057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구두점, 이탤릭체, 괄호 등 지정 양식의 규칙이 문서 전체에 일관적으로 적용되었나요?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29451"/>
            <a:ext cx="11987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표기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3" y="4821145"/>
            <a:ext cx="445840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인용은 따옴표("")로, 긴 인용은 블록(들여쓰기)으로 명확히 구분했나요?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294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 준수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21145"/>
            <a:ext cx="445852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불가피한 재인용 시, 원전과 재인용 출처를 양식 규칙에 맞게 모두 표기했나요?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57449"/>
            <a:ext cx="2895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예방의 핵심은 '성실함'입니다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4294" y="5905582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COMPLETE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14395"/>
            <a:ext cx="5480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사소한 실수라도 반복되면 표절로 오해받을 수 있습니다. 마지막까지 꼼꼼하게 점검하세요.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81151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0879" y="2086768"/>
            <a:ext cx="66751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00546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20002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519672" y="2086768"/>
            <a:ext cx="85954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81151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080821" y="3408076"/>
            <a:ext cx="85954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00546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20002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510528" y="3408076"/>
            <a:ext cx="105156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81151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1080821" y="4729384"/>
            <a:ext cx="85954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00546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20002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519672" y="4729384"/>
            <a:ext cx="85954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783687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00354" y="5954680"/>
            <a:ext cx="418795" cy="418795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6040633"/>
            <a:ext cx="247802" cy="247802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372954" y="5991256"/>
            <a:ext cx="819302" cy="352044"/>
          </a:xfrm>
          <a:prstGeom prst="roundRect">
            <a:avLst>
              <a:gd name="adj" fmla="val 259740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12가지 원칙 (1/2)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50484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품격을 높이는 6가지 기본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19149" y="2009958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인용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19149" y="2290679"/>
            <a:ext cx="43991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썼는지, 어디에 실렸는지 확인되는 자료를 고릅니다. 작성자나 근거를 알 수 없는 글은 근거로 쓰지 않습니다.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858000" y="2009958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인용 출처 명시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858000" y="2290679"/>
            <a:ext cx="43132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아는 사실이 아니라면, 남에게서 얻은 생각·문장·사실 정보에는 빠짐없이 출처를 붙입니다.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1419149" y="3331266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자료 형태 표기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19149" y="3611987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문장만이 아닙니다. 남이 만든 표·그래프·사진·수치를 가져왔을 때도 그 아래에 출처를 적습니다.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6858000" y="3331266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최소화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858000" y="3611987"/>
            <a:ext cx="443758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 옮기는 것은 그 표현이 꼭 필요할 때만 합니다. 요약하기 번거로워서 통째로 옮기는 것은 피합니다.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1419149" y="4652574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인용에 대한 해설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19149" y="4933295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몇 줄이 넘는 인용문을 넣었다면, 앞에서는 왜 이 글을 가져왔는지 밝히고 뒤에서는 내가 어떻게 읽었는지 덧붙입니다.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858000" y="4652574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 이해 후 재기술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858000" y="4933295"/>
            <a:ext cx="440832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 쓰기 전에 원문을 남에게 설명할 수 있을 만큼 이해합니다. 그다음 원문을 덮고 내 문장으로 다시 씁니다.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1571854" y="5937306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기본이 가장 중요합니다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10525658" y="6067151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 1-6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571854" y="6166821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표기는 단순한 규칙 준수를 넘어, 학문적 정직성을 증명하는 첫걸음입니다.</a:t>
            </a:r>
            <a:endParaRPr lang="en-US" sz="1000" dirty="0"/>
          </a:p>
        </p:txBody>
      </p:sp>
      <p:sp>
        <p:nvSpPr>
          <p:cNvPr id="45" name="Stage5 Source Note"/>
          <p:cNvSpPr txBox="1"/>
          <p:nvPr/>
        </p:nvSpPr>
        <p:spPr>
          <a:xfrm>
            <a:off x="761695" y="6580000"/>
            <a:ext cx="10668305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9AA3B2"/>
                </a:solidFill>
                <a:latin typeface="Noto Sans KR"/>
                <a:ea typeface="Noto Sans KR"/>
                <a:cs typeface="Noto Sans KR"/>
              </a:rPr>
              <a:t>인용 원칙의 틀은 DBpia 「대학생을 위한 인용 관리 방법」(2025)을 참고해 재구성</a:t>
            </a:r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539667" y="-1601571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060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30523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1060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30523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39370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1060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39370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615632"/>
            <a:ext cx="10668305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805827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 t="-333" b="-333"/>
          <a:stretch/>
        </p:blipFill>
        <p:spPr>
          <a:xfrm>
            <a:off x="1104595" y="5896352"/>
            <a:ext cx="342900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3418" y="5855204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12가지 원칙 (2/2)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40404"/>
            <a:ext cx="74203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방지부터 재인용 최소화까지, 인용의 품격을 높이는 6가지 핵심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금지 (견강부회 주의)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4281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주장에 유리한 부분만 잘라 원저자의 뜻과 다르게 쓰지 않습니다. 그 문장이 원문에서 하던 역할을 확인하세요.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3130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재인용의 최소화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글에 소개된 내용은 원문을 찾아 직접 읽고 씁니다. 원문을 끝내 구할 수 없을 때만 재인용으로 표기합니다.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54628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인용문 해설 첨부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46322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인용문만 길게 두면 독자는 왜 읽는지 모릅니다. 그 글이 내 주장의 어디를 받치는지 이어서 적으세요.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54628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표기의 일관성 유지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46322"/>
            <a:ext cx="43955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전체에 걸쳐 동일한 인용 스타일(APA, MLA 등)과 표기 방식을 처음부터 끝까지 일관되게 적용하세요.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63475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무분별한 직접 인용 지양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4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따옴표로 옮긴 문장이 내 문장보다 많아지면 짜깁기가 됩니다. 옮길 가치가 있는 표현인지 먼저 따져 보세요.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63475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참고문헌의 정확성 확보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자료는 참고문헌에 빠짐없이, 정확한 서지 정보와 함께 기재되어야 합니다.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82967"/>
            <a:ext cx="26289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'소통'이자 '존중'입니다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5208" y="5931100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PRINCIPLE CHECK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39913"/>
            <a:ext cx="5700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인용은 선행 연구자에 대한 존중이자, 독자와의 신뢰를 쌓는 학술적 소통의 시작입니다.</a:t>
            </a:r>
            <a:endParaRPr lang="en-US" sz="1100" dirty="0"/>
          </a:p>
        </p:txBody>
      </p:sp>
      <p:sp>
        <p:nvSpPr>
          <p:cNvPr id="45" name="Stage5 Source Note"/>
          <p:cNvSpPr txBox="1"/>
          <p:nvPr/>
        </p:nvSpPr>
        <p:spPr>
          <a:xfrm>
            <a:off x="761695" y="6500000"/>
            <a:ext cx="10668305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9AA3B2"/>
                </a:solidFill>
                <a:latin typeface="Noto Sans KR"/>
                <a:ea typeface="Noto Sans KR"/>
                <a:cs typeface="Noto Sans KR"/>
              </a:rPr>
              <a:t>인용 원칙의 틀은 DBpia 「대학생을 위한 인용 관리 방법」(2025)을 참고해 재구성</a:t>
            </a:r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429500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4000500"/>
            <a:ext cx="3810305" cy="3810305"/>
          </a:xfrm>
          <a:prstGeom prst="ellipse">
            <a:avLst/>
          </a:prstGeom>
          <a:solidFill>
            <a:srgbClr val="6366F1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0195" y="400507"/>
            <a:ext cx="943661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819302"/>
            <a:ext cx="367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86307"/>
            <a:ext cx="6667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다음 중 올바른 인용 방식은 무엇일까요?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61695" y="1619402"/>
            <a:ext cx="5306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학문적 정직성을 지키는 최선의 방법을 골라보세요.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16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863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240841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6307" y="3372307"/>
            <a:ext cx="283098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2~3개만 바꾸고,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86306" y="3659429"/>
            <a:ext cx="278819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없이 그대로 사용한다.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192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7439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4893869" y="275234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743907" y="3372307"/>
            <a:ext cx="241218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문단을 직접 인용하면서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43907" y="3659429"/>
            <a:ext cx="28434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 없이 따옴표만 붙인다.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68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4015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554212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01507" y="3372307"/>
            <a:ext cx="28501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완전히 이해한 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1507" y="3693453"/>
            <a:ext cx="285018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요약하고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출처를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밝힌다.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411358" y="571500"/>
            <a:ext cx="1019556" cy="466344"/>
          </a:xfrm>
          <a:prstGeom prst="roundRect">
            <a:avLst>
              <a:gd name="adj" fmla="val 19607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/>
            </a:solidFill>
            <a:prstDash val="solid"/>
          </a:ln>
          <a:effectLst>
            <a:outerShdw blurRad="63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11612" y="715975"/>
            <a:ext cx="171907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877702" y="676656"/>
            <a:ext cx="4782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214409" y="1181405"/>
            <a:ext cx="2219249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  <a:effectLst>
            <a:outerShdw blurRad="139700" dist="101600" dir="5400000" algn="bl" rotWithShape="0">
              <a:srgbClr val="F43F5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9443009" y="1334110"/>
            <a:ext cx="133502" cy="15270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9671609" y="12957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? …………… C</a:t>
            </a:r>
            <a:endParaRPr lang="en-US" sz="1200" dirty="0"/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26980" y="2952598"/>
            <a:ext cx="5401361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1797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C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7515454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 실습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774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Zotero로 수집 · 정리 · 인용 · 서지 작성까지 완벽한 참고문헌 관리 프로세스를 실습합니다.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992417" y="1299362"/>
            <a:ext cx="11814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7154266" y="1420978"/>
            <a:ext cx="171907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02068" y="138531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PC/노트북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88122" y="1299362"/>
            <a:ext cx="16386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49970" y="1420978"/>
            <a:ext cx="133502" cy="1335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59368" y="1385316"/>
            <a:ext cx="12079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크롬/엣지 브라우저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0036454" y="1299362"/>
            <a:ext cx="1399946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10198303" y="1420978"/>
            <a:ext cx="105156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79354" y="1385316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 Word 등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27171" y="621974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695" y="676656"/>
            <a:ext cx="5306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설치 및 기본 세팅</a:t>
            </a:r>
            <a:endParaRPr lang="en-US" sz="3600" dirty="0"/>
          </a:p>
        </p:txBody>
      </p:sp>
      <p:sp>
        <p:nvSpPr>
          <p:cNvPr id="16" name="Text 10"/>
          <p:cNvSpPr txBox="1"/>
          <p:nvPr/>
        </p:nvSpPr>
        <p:spPr>
          <a:xfrm>
            <a:off x="761695" y="1399946"/>
            <a:ext cx="43726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자료를 체계적으로 관리하기 위한 첫 걸음입니다.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061497" y="994867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363748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계정이 아닌 개인 계정으로 가입해도 무료 용량(300MB) 내에서 충분히 실습 가능합니다.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1524305" y="4048049"/>
            <a:ext cx="91440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761695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1958645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197303" y="3081528"/>
            <a:ext cx="381305" cy="38130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97126" y="3877970"/>
            <a:ext cx="156453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설치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1521562" y="440557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홈페이지 접속 후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1439266" y="4673498"/>
            <a:ext cx="2030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데스크탑 앱(Zotero 10)을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546250" y="4942332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및 설치합니다.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470502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5667451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05195" y="3081528"/>
            <a:ext cx="381305" cy="38130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515661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커넥터 추가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77333" y="4405579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브라우저 확장 프로그램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020056" y="4673498"/>
            <a:ext cx="22786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(Zotero Connector)를 설치해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076749" y="4942332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원클릭 수집 환경을 만듭니다.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178394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9375343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14002" y="3081528"/>
            <a:ext cx="381305" cy="38130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224467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설정</a:t>
            </a:r>
            <a:endParaRPr lang="en-US" sz="1900" dirty="0"/>
          </a:p>
        </p:txBody>
      </p:sp>
      <p:sp>
        <p:nvSpPr>
          <p:cNvPr id="38" name="Text 29"/>
          <p:cNvSpPr txBox="1"/>
          <p:nvPr/>
        </p:nvSpPr>
        <p:spPr>
          <a:xfrm>
            <a:off x="8916314" y="4405579"/>
            <a:ext cx="19074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환경설정 &gt; 인용 메뉴에서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8699602" y="4673498"/>
            <a:ext cx="2345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인용 양식(APA, MLA 등)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9039758" y="4942332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추가해둡니다.</a:t>
            </a:r>
            <a:endParaRPr lang="en-US" sz="1300" dirty="0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4166006" y="3952951"/>
            <a:ext cx="142646" cy="228600"/>
          </a:xfrm>
          <a:prstGeom prst="rect">
            <a:avLst/>
          </a:prstGeom>
        </p:spPr>
      </p:pic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7873898" y="3952951"/>
            <a:ext cx="142646" cy="228600"/>
          </a:xfrm>
          <a:prstGeom prst="rect">
            <a:avLst/>
          </a:prstGeom>
        </p:spPr>
      </p:pic>
      <p:sp>
        <p:nvSpPr>
          <p:cNvPr id="43" name="Shape 32"/>
          <p:cNvSpPr/>
          <p:nvPr/>
        </p:nvSpPr>
        <p:spPr>
          <a:xfrm>
            <a:off x="2158898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3"/>
          <p:cNvSpPr txBox="1"/>
          <p:nvPr/>
        </p:nvSpPr>
        <p:spPr>
          <a:xfrm>
            <a:off x="2322576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45" name="Shape 34"/>
          <p:cNvSpPr/>
          <p:nvPr/>
        </p:nvSpPr>
        <p:spPr>
          <a:xfrm>
            <a:off x="5867705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5"/>
          <p:cNvSpPr txBox="1"/>
          <p:nvPr/>
        </p:nvSpPr>
        <p:spPr>
          <a:xfrm>
            <a:off x="6030468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Shape 36"/>
          <p:cNvSpPr/>
          <p:nvPr/>
        </p:nvSpPr>
        <p:spPr>
          <a:xfrm>
            <a:off x="9575597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9739274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Stage3 Note"/>
          <p:cNvSpPr txBox="1"/>
          <p:nvPr/>
        </p:nvSpPr>
        <p:spPr>
          <a:xfrm>
            <a:off x="571500" y="648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무료 저장 공간 300MB: https://www.zotero.org/support/individual_storage · Zotero 10.0 출시 2026-08-17: https://www.zotero.org/support/changelog (2026-10 기준)</a:t>
            </a:r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3441802" y="6219749"/>
            <a:ext cx="105156" cy="1335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695" y="676656"/>
            <a:ext cx="61539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수집 및 정리 프로세스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61695" y="1399946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 한 번의 클릭으로 자료를 저장하고, 태그로 스마트하게 관리하세요.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2285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학술논문(DOI 포함)과 뉴스 기사 1건씩 수집해보세요. 아이콘 모양이 다르게 표시됩니다.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1238098" y="4000500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1238098" y="4000500"/>
            <a:ext cx="10668305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761695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958645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21078" y="3228746"/>
            <a:ext cx="333756" cy="3337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04365" y="4090111"/>
            <a:ext cx="96652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캡처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391717" y="4640580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커넥터 아이콘 클릭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65530" y="4909414"/>
            <a:ext cx="23737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(논문, 기사, 웹페이지 자동 인식)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470502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667451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28970" y="3228746"/>
            <a:ext cx="333756" cy="3337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46827" y="4090111"/>
            <a:ext cx="19001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 정리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174590" y="4640580"/>
            <a:ext cx="19741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PDF를 드래그 앤 드롭하면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4909414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정보가 자동으로 추출됨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178394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9375343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37776" y="3228746"/>
            <a:ext cx="333756" cy="3337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98534" y="4090111"/>
            <a:ext cx="12143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태그·노트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8691372" y="4640580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주제별 태그(#AI, #윤리) 추가 및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785555" y="4909414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 내용 메모로 체계적 관리</a:t>
            </a:r>
            <a:endParaRPr lang="en-US" sz="13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4166006" y="3905402"/>
            <a:ext cx="142646" cy="228600"/>
          </a:xfrm>
          <a:prstGeom prst="rect">
            <a:avLst/>
          </a:prstGeom>
        </p:spPr>
      </p:pic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7873898" y="3905402"/>
            <a:ext cx="142646" cy="2286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158898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2322576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Shape 25"/>
          <p:cNvSpPr/>
          <p:nvPr/>
        </p:nvSpPr>
        <p:spPr>
          <a:xfrm>
            <a:off x="5867705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030468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Shape 27"/>
          <p:cNvSpPr/>
          <p:nvPr/>
        </p:nvSpPr>
        <p:spPr>
          <a:xfrm>
            <a:off x="9575597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9274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429207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2222" b="-2222"/>
          <a:stretch/>
        </p:blipFill>
        <p:spPr>
          <a:xfrm>
            <a:off x="1666951" y="5955487"/>
            <a:ext cx="123444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1402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9146" y="5955487"/>
            <a:ext cx="171907" cy="1719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695" y="724205"/>
            <a:ext cx="9866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연동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61695" y="942746"/>
            <a:ext cx="71158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인용 및 워드 연동 프로세스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761695" y="1666951"/>
            <a:ext cx="61822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프로세서와 연동하여 자동으로 인용을 삽입하고 참고문헌을 생성합니다.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904695" y="5823814"/>
            <a:ext cx="3871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1 : Zotero 프로그램이 실행 중이어야 워드 연동 기능이 정상 작동합니다.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715354" y="5823814"/>
            <a:ext cx="3919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2 : 인용 수정 시 워드에서 직접 지우지 말고 Zotero 툴바를 이용하세요.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238098" y="3802075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1238098" y="3802075"/>
            <a:ext cx="96012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761695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662379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552" r="-552"/>
          <a:stretch/>
        </p:blipFill>
        <p:spPr>
          <a:xfrm>
            <a:off x="1890979" y="2995574"/>
            <a:ext cx="209398" cy="2761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38605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플러그인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13002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확인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460297" y="4227271"/>
            <a:ext cx="1185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실행 시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94537" y="4444898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탭 생성을 확인합니다.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353312" y="4661611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(설치 시 자동 추가됨)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495751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395521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817" b="-817"/>
          <a:stretch/>
        </p:blipFill>
        <p:spPr>
          <a:xfrm>
            <a:off x="4610405" y="2995574"/>
            <a:ext cx="237744" cy="27614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347058" y="3598164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550969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삽입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817620" y="4227271"/>
            <a:ext cx="19376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'인용 추가(Add/Edit)' 클릭 후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4015130" y="4444898"/>
            <a:ext cx="15380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저자명/제목을 검색하여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4155948" y="4661611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인용을 삽입합니다.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229807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7129577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t="-1013" b="-1013"/>
          <a:stretch/>
        </p:blipFill>
        <p:spPr>
          <a:xfrm>
            <a:off x="7310628" y="2995574"/>
            <a:ext cx="304495" cy="276149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195414" y="3598164"/>
            <a:ext cx="6922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284110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6558991" y="4227271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'문서 설정(Preferences)'에서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6508699" y="4444898"/>
            <a:ext cx="20235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인용 양식(APA, MLA 등)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803136" y="4661611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일괄 변경합니다.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8962949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9862718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58400" y="2995574"/>
            <a:ext cx="276149" cy="276149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839858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45" name="Text 37"/>
          <p:cNvSpPr txBox="1"/>
          <p:nvPr/>
        </p:nvSpPr>
        <p:spPr>
          <a:xfrm>
            <a:off x="9814255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9710014" y="4227271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마지막에서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9508846" y="444489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'참고문헌 추가/편집'을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9470441" y="4661611"/>
            <a:ext cx="1566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눌러 목록을 생성합니다.</a:t>
            </a:r>
            <a:endParaRPr lang="en-US" sz="11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3295498" y="3730752"/>
            <a:ext cx="114300" cy="181051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6029554" y="3730752"/>
            <a:ext cx="114300" cy="181051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8762695" y="3730752"/>
            <a:ext cx="114300" cy="181051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1824228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1944014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Shape 43"/>
          <p:cNvSpPr/>
          <p:nvPr/>
        </p:nvSpPr>
        <p:spPr>
          <a:xfrm>
            <a:off x="4557370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4678070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Shape 45"/>
          <p:cNvSpPr/>
          <p:nvPr/>
        </p:nvSpPr>
        <p:spPr>
          <a:xfrm>
            <a:off x="7291426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6"/>
          <p:cNvSpPr txBox="1"/>
          <p:nvPr/>
        </p:nvSpPr>
        <p:spPr>
          <a:xfrm>
            <a:off x="7412126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58" name="Shape 47"/>
          <p:cNvSpPr/>
          <p:nvPr/>
        </p:nvSpPr>
        <p:spPr>
          <a:xfrm>
            <a:off x="10025482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10145268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공식 플러그인은 Word·LibreOffice·Google Docs 용이며 한글(HWP)은 지원 목록에 없다(2026-10 기준). https://www.zotero.org/support/word_processor_integration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210666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033004" y="1457554"/>
            <a:ext cx="3590849" cy="5020056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80806" y="2872130"/>
            <a:ext cx="30952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80806" y="3548786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80806" y="3134563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80806" y="417880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80806" y="3765499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80806" y="504748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80806" y="4515307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280806" y="5266030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647395" y="409651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48486" y="400507"/>
            <a:ext cx="1624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실습 워크시트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" y="629107"/>
            <a:ext cx="3600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DOI 및 웹 캡처</a:t>
            </a:r>
            <a:endParaRPr lang="en-US" sz="27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80806" y="2495398"/>
            <a:ext cx="190195" cy="1901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546897" y="2443277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확인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85302" y="3109874"/>
            <a:ext cx="2644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메타데이터(저자/연도) 자동 입력 확인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585302" y="3739896"/>
            <a:ext cx="2263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기사 본문 스냅샷 저장 여부 확인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85302" y="4370832"/>
            <a:ext cx="288310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내 인용 스타일(APA/Chicago) 변경 확인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585302" y="5241341"/>
            <a:ext cx="28922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목록 자동 생성 및 업데이트 확인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71500" y="1457554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771754" y="1371600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866851" y="1390802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A</a:t>
            </a:r>
            <a:endParaRPr lang="en-US" sz="90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66851" y="1723644"/>
            <a:ext cx="190195" cy="171907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09751" y="1682496"/>
            <a:ext cx="47173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마술봉 아이콘 클릭 후 DOI 입력: 10.1038/nature12345 (가상의 예시)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71500" y="2476195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771754" y="2391156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866851" y="2409444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B</a:t>
            </a:r>
            <a:endParaRPr lang="en-US" sz="9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5995" y="2743200"/>
            <a:ext cx="171907" cy="17190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209751" y="2702052"/>
            <a:ext cx="4460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 페이지에서 브라우저 커넥터 클릭 후 #표절예방 태그 추가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571500" y="3495751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771754" y="3409798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866851" y="3429000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C</a:t>
            </a:r>
            <a:endParaRPr lang="en-US" sz="90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899770" y="3762756"/>
            <a:ext cx="123444" cy="171907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209751" y="372069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워드에서 수집한 자료 2건을 인용하고 참고문헌 목록 생성하기</a:t>
            </a:r>
            <a:endParaRPr lang="en-US" sz="13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2229307"/>
            <a:ext cx="133502" cy="181051"/>
          </a:xfrm>
          <a:prstGeom prst="rect">
            <a:avLst/>
          </a:prstGeom>
        </p:spPr>
      </p:pic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3247949"/>
            <a:ext cx="133502" cy="181051"/>
          </a:xfrm>
          <a:prstGeom prst="rect">
            <a:avLst/>
          </a:prstGeom>
        </p:spPr>
      </p:pic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91065" y="2952598"/>
            <a:ext cx="5639105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42746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43684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95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7220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6825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보조도구: 초안 · 검증 · 재작성 · 인용의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안전하고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 프로세스를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09498" y="1684326"/>
            <a:ext cx="171907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91402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391656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439205" y="1684326"/>
            <a:ext cx="171907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8700" y="2846784"/>
            <a:ext cx="133502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91402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391656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838" r="-2838"/>
          <a:stretch/>
        </p:blipFill>
        <p:spPr>
          <a:xfrm>
            <a:off x="6462979" y="2846784"/>
            <a:ext cx="123444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61949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28700" y="4013495"/>
            <a:ext cx="133502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91402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391656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6448349" y="4013495"/>
            <a:ext cx="152705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4892702"/>
            <a:ext cx="10668305" cy="1561795"/>
          </a:xfrm>
          <a:prstGeom prst="roundRect">
            <a:avLst>
              <a:gd name="adj" fmla="val 428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1000354" y="5092955"/>
            <a:ext cx="171907" cy="152705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000354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1000354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6172200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6172200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761695" y="552298"/>
            <a:ext cx="37627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인용·검증 체크리스트</a:t>
            </a:r>
            <a:endParaRPr lang="en-US" sz="2700" dirty="0"/>
          </a:p>
        </p:txBody>
      </p:sp>
      <p:sp>
        <p:nvSpPr>
          <p:cNvPr id="31" name="Text 22"/>
          <p:cNvSpPr txBox="1"/>
          <p:nvPr/>
        </p:nvSpPr>
        <p:spPr>
          <a:xfrm>
            <a:off x="761695" y="1104595"/>
            <a:ext cx="7025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AI는 훌륭한 도구지만 출처가 아닙니다. 안전한 활용을 위한 6가지 핵심 수칙을 확인하세요.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1362456" y="1617575"/>
            <a:ext cx="125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출처가 아님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1362456" y="1886408"/>
            <a:ext cx="43132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답변을 참고문헌으로 쓰지 마세요. 원문 출처를 직접 찾아 읽고 인용해야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6791249" y="1617575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링크/DOI 확인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791249" y="1886408"/>
            <a:ext cx="435163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제공된 URL이나 DOI가 실존하는지, 해당 자료로 연결되는지 반드시 클릭해 확인하세요.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362456" y="2780033"/>
            <a:ext cx="17775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 (Fact Check)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62456" y="3048866"/>
            <a:ext cx="39703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통계나 사실은 '환각' 가능성이 있으므로, 신뢰할 수 있는 소스로 교차 검증하세요.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6791249" y="2780033"/>
            <a:ext cx="1434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금지 권장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6791249" y="3048866"/>
            <a:ext cx="3931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텍스트 저작권은 불명확합니다. 내용을 이해한 후 내 언어로 요약·재구성하세요.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1362456" y="3946744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 '출처 제한'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362456" y="4214663"/>
            <a:ext cx="4503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시 "학술 DB 내에서만 답변해줘"와 같이 출처 범위를 한정해 요청하세요.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791249" y="3946744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 필수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6791249" y="4214663"/>
            <a:ext cx="418978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데이터가 그대로 출력될 위험이 있습니다. 제출 전 표절 검사 도구를 활용하세요.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266444" y="5054551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검증을 돕는 추천 프롬프트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1181405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한정 요약</a:t>
            </a:r>
            <a:endParaRPr lang="en-US" sz="900" dirty="0"/>
          </a:p>
        </p:txBody>
      </p:sp>
      <p:sp>
        <p:nvSpPr>
          <p:cNvPr id="46" name="Text 37"/>
          <p:cNvSpPr txBox="1"/>
          <p:nvPr/>
        </p:nvSpPr>
        <p:spPr>
          <a:xfrm>
            <a:off x="1181405" y="5778755"/>
            <a:ext cx="468447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제공된 링크(URL)의 내용만을 근거로 요약하고,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양식으로 인용 출처를 함께 표기해줘."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6353251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요청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6353251" y="5778755"/>
            <a:ext cx="4703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텍스트의 사실 여부를 검증하고 싶은데,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확인할 수 있는 신뢰할 만한 웹 출처(뉴스, 논문)를 알려줘."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286207"/>
            <a:ext cx="466344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16545" y="1276502"/>
            <a:ext cx="3610051" cy="5296205"/>
          </a:xfrm>
          <a:prstGeom prst="roundRect">
            <a:avLst>
              <a:gd name="adj" fmla="val 802"/>
            </a:avLst>
          </a:prstGeom>
          <a:solidFill>
            <a:srgbClr val="818CF8">
              <a:alpha val="5000"/>
            </a:srgbClr>
          </a:solidFill>
          <a:ln w="12700">
            <a:solidFill>
              <a:srgbClr val="818C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16798" y="1858061"/>
            <a:ext cx="32095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8216798" y="1524305"/>
            <a:ext cx="133502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26196" y="1476756"/>
            <a:ext cx="9674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포인트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16798" y="2610612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216798" y="208574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216798" y="3306470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16798" y="2781605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216798" y="4002329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216798" y="3478378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216798" y="417423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71500" y="552298"/>
            <a:ext cx="33009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초안 → 내 글로 재작성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8503006" y="2057400"/>
            <a:ext cx="908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할루시네이션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8503006" y="2284171"/>
            <a:ext cx="23399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원문에 없는 내용을 AI가 생성하지 않았는가?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8503006" y="2753258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 변경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503006" y="2980030"/>
            <a:ext cx="27971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번역투 문장을 자연스러운 학술적 문체로 수정했는가?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8503006" y="3449117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정확성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006" y="3675888"/>
            <a:ext cx="26828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제시된 출처의 링크/DOI가 실재하는지 확인했는가?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8503006" y="4145890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책임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503006" y="4372661"/>
            <a:ext cx="288310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결과물의 책임이 작성자 본인에게 있음을 인지했는가?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71500" y="1276502"/>
            <a:ext cx="7210044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71754" y="1539850"/>
            <a:ext cx="152705" cy="13350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000354" y="1505102"/>
            <a:ext cx="10213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2줄 템플릿 입력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71754" y="1752905"/>
            <a:ext cx="6810451" cy="523951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771754" y="1752905"/>
            <a:ext cx="28346" cy="523951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914400" y="1848002"/>
            <a:ext cx="31016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[자료]의 내용만 사용하여 요약해줘 (출처 제한)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914400" y="2030882"/>
            <a:ext cx="32159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- 3문장 내외의 학술적 문체로 작성해줘 (형식 지정)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571500" y="266181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771754" y="286207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4400" y="3081528"/>
            <a:ext cx="114300" cy="1143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04595" y="304861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914400" y="3248863"/>
            <a:ext cx="4304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요약문과 원문을 대조하여 환각(Hallucination) 및 수치 왜곡 여부 확인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71500" y="404164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71754" y="424190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461358"/>
            <a:ext cx="114300" cy="11430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104595" y="4428439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재작성 및 출처</a:t>
            </a:r>
            <a:endParaRPr 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914400" y="4628693"/>
            <a:ext cx="3646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내용을 내 문장으로 다듬고, 문장 끝에 (저자, 연도) 표기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571500" y="542147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71754" y="5620817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14400" y="5841187"/>
            <a:ext cx="114300" cy="11430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104595" y="5808269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914400" y="6007608"/>
            <a:ext cx="34655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플랫폼이 아닌, 실제 참고한 '원문 자료'의 서지 정보 작성</a:t>
            </a:r>
            <a:endParaRPr lang="en-US" sz="10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2471623"/>
            <a:ext cx="114300" cy="152705"/>
          </a:xfrm>
          <a:prstGeom prst="rect">
            <a:avLst/>
          </a:prstGeom>
        </p:spPr>
      </p:pic>
      <p:pic>
        <p:nvPicPr>
          <p:cNvPr id="55" name="Image 7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3850538"/>
            <a:ext cx="114300" cy="152705"/>
          </a:xfrm>
          <a:prstGeom prst="rect">
            <a:avLst/>
          </a:prstGeom>
        </p:spPr>
      </p:pic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5230368"/>
            <a:ext cx="114300" cy="152705"/>
          </a:xfrm>
          <a:prstGeom prst="rect">
            <a:avLst/>
          </a:prstGeom>
        </p:spPr>
      </p:pic>
      <p:sp>
        <p:nvSpPr>
          <p:cNvPr id="57" name="Shape 46"/>
          <p:cNvSpPr/>
          <p:nvPr/>
        </p:nvSpPr>
        <p:spPr>
          <a:xfrm>
            <a:off x="771754" y="1190549"/>
            <a:ext cx="1276502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866851" y="1218895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1단계. 프롬프트 작성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71754" y="2575865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866851" y="260421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2단계. 결과 검증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771754" y="395569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F43F5E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66851" y="398404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3단계. 인용 삽입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771754" y="5335524"/>
            <a:ext cx="1019556" cy="2286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866851" y="5363870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4단계. 참고문헌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18642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1933956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단계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1402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391656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448349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91249" y="1933956"/>
            <a:ext cx="13167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노트 &amp; 정리 단계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1695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61949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018642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단계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1402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391656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448349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791249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삽입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1695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1949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018642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62456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생성 단계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1402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391656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448349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791249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검수 단계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1695" y="5757062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983834"/>
            <a:ext cx="171907" cy="17190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38098" y="5943600"/>
            <a:ext cx="12975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3분 점검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730398" y="5908853"/>
            <a:ext cx="2115007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2844698" y="6007608"/>
            <a:ext cx="105156" cy="123444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072177" y="5908853"/>
            <a:ext cx="1591056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186477" y="6007608"/>
            <a:ext cx="105156" cy="123444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6884518" y="5908853"/>
            <a:ext cx="1609344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998818" y="6007608"/>
            <a:ext cx="105156" cy="1234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61695" y="685800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워크플로우</a:t>
            </a:r>
            <a:endParaRPr lang="en-US" sz="2700" dirty="0"/>
          </a:p>
        </p:txBody>
      </p:sp>
      <p:sp>
        <p:nvSpPr>
          <p:cNvPr id="40" name="Text 34"/>
          <p:cNvSpPr txBox="1"/>
          <p:nvPr/>
        </p:nvSpPr>
        <p:spPr>
          <a:xfrm>
            <a:off x="761695" y="1238098"/>
            <a:ext cx="51197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작성의 시작부터 끝까지, 단계별로 확인해야 할 필수 항목 6가지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1362456" y="2213762"/>
            <a:ext cx="43004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DB 원문 확보 시, 서지 정보(저자, 연도, 출처)를 파일과 함께 즉시 저장했나요?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791249" y="2213762"/>
            <a:ext cx="443301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주제별로 분류하고, 핵심 내용을 나만의 언어로 요약(메모)해 두었나요?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362456" y="3538728"/>
            <a:ext cx="394746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차용할 때, 문장 끝에 즉시 출처(저자, 연도)를 표기했나요?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6791249" y="3538728"/>
            <a:ext cx="36905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따옴표("")로, 간접 인용은 자연스러운 문장으로 재구성했나요?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362456" y="4863694"/>
            <a:ext cx="43287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문헌이 참고문헌 리스트에 빠짐없이 포함되었나요?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6791249" y="4863694"/>
            <a:ext cx="39950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검사(카피킬러 등)를 수행하고, 인용이 누락된 부분이 없는지 점검했나요?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2948940" y="5966460"/>
            <a:ext cx="1884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1:1 매칭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5291633" y="596646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따옴표 확인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103974" y="5966460"/>
            <a:ext cx="13798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표절률 기준 확인</a:t>
            </a:r>
            <a:endParaRPr lang="en-US" sz="1000" dirty="0"/>
          </a:p>
        </p:txBody>
      </p:sp>
      <p:sp>
        <p:nvSpPr>
          <p:cNvPr id="50" name="Stage3 Note"/>
          <p:cNvSpPr txBox="1"/>
          <p:nvPr/>
        </p:nvSpPr>
        <p:spPr>
          <a:xfrm>
            <a:off x="571500" y="66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246430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476402" y="2712110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마무리/요약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76402" y="3140964"/>
            <a:ext cx="19815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추가 자료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3845966"/>
            <a:ext cx="340522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내용 3가지를 다시 한번 확인하고, 실전 과제로 내 것으로 만드세요.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9005" y="1533449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39005" y="1533449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1693469"/>
            <a:ext cx="171907" cy="171907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839005" y="2177186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39005" y="2177186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336292"/>
            <a:ext cx="171907" cy="17190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39005" y="2820010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839005" y="2820010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979115"/>
            <a:ext cx="171907" cy="171907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839005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30038" y="4016959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137806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7613294" y="4016959"/>
            <a:ext cx="123444" cy="13350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9435694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9991649" y="4016959"/>
            <a:ext cx="152705" cy="13350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839005" y="4772254"/>
            <a:ext cx="6782105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20056" y="4927702"/>
            <a:ext cx="381305" cy="247802"/>
          </a:xfrm>
          <a:prstGeom prst="roundRect">
            <a:avLst>
              <a:gd name="adj" fmla="val 56770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5372100" y="1657807"/>
            <a:ext cx="4682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내 주장의 신뢰성을 높이고 연구 윤리를 지키는 필수 과정입니다.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5372100" y="2300630"/>
            <a:ext cx="4768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인용, 직접 인용, 재인용의 차이를 이해하고 상황에 맞게 적용하세요.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5372100" y="2943454"/>
            <a:ext cx="4968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등 서지관리도구와 AI 검증 프로세스를 활용하여 표절을 차단하세요.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839005" y="3587191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참고 자료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539435" y="398129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Purdue OWL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7813548" y="3981298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가이드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0220249" y="3981298"/>
            <a:ext cx="9509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매뉴얼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839005" y="4482389"/>
            <a:ext cx="650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과제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095951" y="4956962"/>
            <a:ext cx="3209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529377" y="4924044"/>
            <a:ext cx="39483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 1페이지 작성 후 인용/서지 리스트 첨부하기</a:t>
            </a:r>
            <a:endParaRPr lang="en-US" sz="1300" dirty="0"/>
          </a:p>
        </p:txBody>
      </p:sp>
      <p:sp>
        <p:nvSpPr>
          <p:cNvPr id="39" name="Stage3 Note"/>
          <p:cNvSpPr txBox="1"/>
          <p:nvPr/>
        </p:nvSpPr>
        <p:spPr>
          <a:xfrm>
            <a:off x="4839005" y="4300000"/>
            <a:ext cx="70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OWL: https://owl.purdue.edu  ·  APA Style: https://apastyle.apa.org  ·  Zotero: https://www.zotero.org/support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4679</Words>
  <Application>Microsoft Office PowerPoint</Application>
  <PresentationFormat>와이드스크린</PresentationFormat>
  <Paragraphs>744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7" baseType="lpstr">
      <vt:lpstr>Noto Sans KR</vt:lpstr>
      <vt:lpstr>ui-monospace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2026-01-19T07:31:57Z</dcterms:created>
  <dcterms:modified xsi:type="dcterms:W3CDTF">2026-01-25T13:15:22Z</dcterms:modified>
</cp:coreProperties>
</file>