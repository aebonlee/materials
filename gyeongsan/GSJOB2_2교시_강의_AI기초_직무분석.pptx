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2F5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deckgen:decor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deckgen:decor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FF3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deckgen:decor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deckgen:decor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DEF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deckgen:decor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3EAF3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decor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8EBF0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1부 · 2교시 · 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27416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생성형 AI 기초와</a:t>
            </a:r>
          </a:p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직무분석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85647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2026. 11. 6.(금) 14:25~15:20 · 강사 성예종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경산시취업지원센터 · 경산고용복지+센터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2026년 제1차 취업특강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지금 어디쯤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네 교시, 한 결과가 다음 교시의 재료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971800"/>
            <a:ext cx="16002000" cy="38100"/>
          </a:xfrm>
          <a:prstGeom prst="rect">
            <a:avLst/>
          </a:prstGeom>
          <a:solidFill>
            <a:srgbClr val="C9DA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1교시</a:t>
            </a:r>
          </a:p>
        </p:txBody>
      </p:sp>
      <p:sp>
        <p:nvSpPr>
          <p:cNvPr id="10" name="Oval 9"/>
          <p:cNvSpPr/>
          <p:nvPr/>
        </p:nvSpPr>
        <p:spPr>
          <a:xfrm>
            <a:off x="2947988" y="2895600"/>
            <a:ext cx="190500" cy="190500"/>
          </a:xfrm>
          <a:prstGeom prst="ellipse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내 소개 · 흥미검사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 소개 카드 · 흥미검사 결과지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017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2교시</a:t>
            </a:r>
          </a:p>
        </p:txBody>
      </p:sp>
      <p:sp>
        <p:nvSpPr>
          <p:cNvPr id="17" name="Oval 16"/>
          <p:cNvSpPr/>
          <p:nvPr/>
        </p:nvSpPr>
        <p:spPr>
          <a:xfrm>
            <a:off x="6986588" y="2867025"/>
            <a:ext cx="247650" cy="24765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21017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EAF0F8"/>
          </a:solidFill>
          <a:ln w="19050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3877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생성형 AI 기초 · 직무분석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3877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3877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3877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77350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3교시</a:t>
            </a:r>
          </a:p>
        </p:txBody>
      </p:sp>
      <p:sp>
        <p:nvSpPr>
          <p:cNvPr id="24" name="Oval 23"/>
          <p:cNvSpPr/>
          <p:nvPr/>
        </p:nvSpPr>
        <p:spPr>
          <a:xfrm>
            <a:off x="11082338" y="2895600"/>
            <a:ext cx="190500" cy="190500"/>
          </a:xfrm>
          <a:prstGeom prst="ellipse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277350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5950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강의 · 이력서 · 자기소개서 · 면접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5950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505950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5950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서류 초안 · 예상 면접 질문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344525" y="2381250"/>
            <a:ext cx="3800475" cy="381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95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4교시</a:t>
            </a:r>
          </a:p>
        </p:txBody>
      </p:sp>
      <p:sp>
        <p:nvSpPr>
          <p:cNvPr id="31" name="Oval 30"/>
          <p:cNvSpPr/>
          <p:nvPr/>
        </p:nvSpPr>
        <p:spPr>
          <a:xfrm>
            <a:off x="15149512" y="2895600"/>
            <a:ext cx="190500" cy="190500"/>
          </a:xfrm>
          <a:prstGeom prst="ellipse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3344525" y="3371850"/>
            <a:ext cx="3800475" cy="4495800"/>
          </a:xfrm>
          <a:prstGeom prst="roundRect">
            <a:avLst>
              <a:gd name="adj" fmla="val 150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573125" y="3600450"/>
            <a:ext cx="3343275" cy="2819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워크숍 · 총정리 · 맞춤 수정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3573125" y="6648450"/>
            <a:ext cx="3343275" cy="19050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573125" y="6781800"/>
            <a:ext cx="3343275" cy="266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spc="12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결과물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573125" y="7105650"/>
            <a:ext cx="3343275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75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맞춤 수정본 · 다음 걸음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 뒤에는 이렇게 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생성형 AI가 잘하는 것과 조심할 것을 압니다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대화창을 열고 안전수칙을 지키며 씁니다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다섯 칸([역할]~[조건])으로 부탁합니다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채용공고 · 직무기술서에서 핵심 직무역량을 찾습니다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남는 것: 직무분석 메모(필요 역량 · 핵심 키워드)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2교시 ① · 생성형 AI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AI는 말 잘하는 신입 인턴입니다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아는 것은 많지만 내 사정은 모릅니다 — 알려 준 만큼 일하고, 모르면 그럴듯하게 지어냅니다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AI의 세 가지 성격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잘하는 것과 조심할 것을 함께 압니다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619500"/>
            <a:ext cx="508000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5365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글 정리는 빠릅니다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긴 공고를 쉬운 말로 풀고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표로 정리하는 데 강합니다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04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604000" y="3619500"/>
            <a:ext cx="508000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0826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7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묻는 대로 답합니다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부탁이 막연하면 답도 막연하고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구체적이면 답도 구체적입니다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2065000" y="3619500"/>
            <a:ext cx="5080000" cy="3524250"/>
          </a:xfrm>
          <a:prstGeom prst="roundRect">
            <a:avLst>
              <a:gd name="adj" fmla="val 135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2065000" y="3619500"/>
            <a:ext cx="508000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6287750" y="38290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88850" y="3943350"/>
            <a:ext cx="4432300" cy="2876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지어낼 때가 있습니다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모르는 경력 · 숫자 · 정보를</a:t>
            </a:r>
          </a:p>
          <a:p>
            <a:pPr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사실처럼 써 넣기도 합니다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첫걸음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대화창을 여는 네 단계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화면 모양과 메뉴 이름은 서비스마다, 시기마다 바뀔 수 있습니다 — 무료 개인 계정이면 충분합니다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하나 고르기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ChatGPT · Claude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· Gemini 중 하나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387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238750" y="3924300"/>
            <a:ext cx="3714750" cy="91440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87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로그인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83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평소 쓰는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개인 계정으로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3450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334500" y="3924300"/>
            <a:ext cx="3714750" cy="9144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3450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새 대화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4405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2 · 3교시는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한 대화창에서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3430250" y="39243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430250" y="3924300"/>
            <a:ext cx="3714750" cy="91440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430250" y="4171950"/>
            <a:ext cx="371475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붙여 넣기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639800" y="5143500"/>
            <a:ext cx="329565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강의 화면에서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복사한 프롬프트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안전수칙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 대화창에 넣지 않는 다섯 가지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79654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이름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「저는 ○○입니다」 대신 나이대만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57378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79857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66903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주민등록번호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어떤 경우에도 넣지 않습니다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57581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480060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67106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전화번호 · 이메일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연락처 칸은 비워 둡니다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57784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580263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67309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주소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「경산시」 정도면 충분합니다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579870"/>
            <a:ext cx="16002000" cy="849630"/>
          </a:xfrm>
          <a:prstGeom prst="roundRect">
            <a:avLst>
              <a:gd name="adj" fmla="val 672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6804660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6675120"/>
            <a:ext cx="14725650" cy="65913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사진 · 증명서 이미지</a:t>
            </a:r>
          </a:p>
          <a:p>
            <a:pPr>
              <a:lnSpc>
                <a:spcPct val="125000"/>
              </a:lnSpc>
              <a:spcBef>
                <a:spcPts val="300"/>
              </a:spcBef>
            </a:pPr>
            <a:r>
              <a:rPr sz="16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올리지 않습니다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9DA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이력서의 개인 정보 칸은 AI 밖에서, 내 손으로 채웁니다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프롬프트 기본 원칙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[자료] [과업] [형식] [조건]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[역할]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누구로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일할지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[자료]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무엇을 보고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일할지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[과업]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번호 붙여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무엇을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[형식]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결과가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어떤 모양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[조건]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지킬 것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하지 말 것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비어 있는 칸은 AI가 알아서 채웁니다 — 알아서 채운 자리가 엉뚱한 답이 나오는 자리입니다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같은 부탁, 다른 결과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「공고 분석해줘」 한 줄과 다섯 칸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한 줄 부탁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누구에게나 하는 일반론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이 공고 분석해줘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공고를 그대로 요약한 답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내가 무엇을 준비할지는 없음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다섯 칸 부탁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내가 할 일이 보이는 답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[역할] 직무분석 전문가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[과업] 역량 3 · 키워드 5 · 흥미 유형 연결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[조건] 공고에 없으면 「공고에 없음」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2교시 ② · 직무분석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6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공고는 회사가 보낸 질문지입니다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5143500"/>
            <a:ext cx="1600200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55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회사가 찾는 사람이 공고에 적혀 있습니다 — 그 낱말로 내 경험을 쓰면 읽는 사람이 바로 알아봅니다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공고를 읽는 네 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 네 칸부터 찾아 표시합니다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3810000"/>
            <a:ext cx="371475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deckgen:ornament"/>
          <p:cNvSpPr txBox="1"/>
          <p:nvPr/>
        </p:nvSpPr>
        <p:spPr>
          <a:xfrm>
            <a:off x="40005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68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주요 업무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입사하면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매일 할 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2387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38750" y="3810000"/>
            <a:ext cx="371475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80962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5626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자격 요건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없으면 어려운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필수 조건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3450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334500" y="3810000"/>
            <a:ext cx="371475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deckgen:ornament"/>
          <p:cNvSpPr txBox="1"/>
          <p:nvPr/>
        </p:nvSpPr>
        <p:spPr>
          <a:xfrm>
            <a:off x="1219200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5835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우대 사항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있으면 앞서는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더하기 조건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3430250" y="3810000"/>
            <a:ext cx="3714750" cy="3143250"/>
          </a:xfrm>
          <a:prstGeom prst="roundRect">
            <a:avLst>
              <a:gd name="adj" fmla="val 1515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3430250" y="3810000"/>
            <a:ext cx="3714750" cy="47625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deckgen:ornament"/>
          <p:cNvSpPr txBox="1"/>
          <p:nvPr/>
        </p:nvSpPr>
        <p:spPr>
          <a:xfrm>
            <a:off x="16287750" y="4019550"/>
            <a:ext cx="59055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2550" b="1">
                <a:solidFill>
                  <a:srgbClr val="E4EBF4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54100" y="4133850"/>
            <a:ext cx="3067050" cy="2495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15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근무 조건</a:t>
            </a:r>
          </a:p>
          <a:p>
            <a:pPr>
              <a:lnSpc>
                <a:spcPct val="146000"/>
              </a:lnSpc>
              <a:spcBef>
                <a:spcPts val="1050"/>
              </a:spcBef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지역 · 시간 ·</a:t>
            </a:r>
          </a:p>
          <a:p>
            <a:pPr>
              <a:lnSpc>
                <a:spcPct val="146000"/>
              </a:lnSpc>
            </a:pPr>
            <a:r>
              <a:rPr sz="202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고용 형태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시연 · 연습용 가상 공고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(가상) 대경로지스 — 물류관리 사무원(신입 · 경력)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28422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칸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0" y="2781300"/>
            <a:ext cx="13121640" cy="59055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0" y="2781300"/>
            <a:ext cx="131216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공고 문장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주요 업무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23360" y="3448050"/>
            <a:ext cx="1312164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18610" y="3448050"/>
            <a:ext cx="12931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입고 · 출고 일정 관리 및 전산 입력 / 거래처 주문 확인 · 배차 조율 / 재고 현황 점검 및 월간 보고 / 현장 작업자와 일정 소통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1719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1719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자격 요건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23360" y="4171950"/>
            <a:ext cx="1312164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8610" y="4171950"/>
            <a:ext cx="12931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대학 졸업 또는 졸업예정자 / 컴퓨터 활용 가능(엑셀) / 원활한 의사소통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8958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8958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우대 사항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23360" y="4895850"/>
            <a:ext cx="1312164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8610" y="4895850"/>
            <a:ext cx="12931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물류 · 유통 · 경영 관련 전공 / 물류 현장 아르바이트 · 실습 경험 / 엑셀 활용 우수자 / 운전면허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619750"/>
            <a:ext cx="2842260" cy="647700"/>
          </a:xfrm>
          <a:prstGeom prst="roundRect">
            <a:avLst>
              <a:gd name="adj" fmla="val 5882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619750"/>
            <a:ext cx="26517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근무 조건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23360" y="5619750"/>
            <a:ext cx="1312164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8610" y="5619750"/>
            <a:ext cx="129311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정규직 · 주 5일 · 09:00~18:00 · 급여 회사 내규에 따름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학습사이트 「연습 재료」에서 복사합니다 — 실제 공고가 없는 분은 이 공고로 따라 합니다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직무기술서와 NCS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공고가 짧을 때 더 볼 곳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공고에 붙은 직무기술서가 있으면 「필요 지식 · 기술 · 태도」를 봅니다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NCS(국가직무능력표준) 사이트 ncs.go.kr 에서 직무별 능력단위를 찾아봅니다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같은 직종 공고 두세 개를 나란히 보면 공통 역량이 드러납니다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1교시 흥미 유형의 강점 낱말과 겹치는 역량에 표시합니다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찾은 역량이 3교시 이력서 · 자기소개서의 뼈대가 됩니다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2744450" y="1181100"/>
            <a:ext cx="4400550" cy="590550"/>
          </a:xfrm>
          <a:prstGeom prst="roundRect">
            <a:avLst>
              <a:gd name="adj" fmla="val 50000"/>
            </a:avLst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0683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258800" y="1295400"/>
            <a:ext cx="36576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전문은 학습사이트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12204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실습 프롬프트 L2-1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12204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직무분석 — 핵심 역량 · 키워드 찾기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3143250"/>
            <a:ext cx="16002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5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핵심 — 공고를 붙이고, 역량 · 키워드 · 흥미 유형 연결을 받는다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714750"/>
            <a:ext cx="16002000" cy="2495550"/>
          </a:xfrm>
          <a:prstGeom prst="roundRect">
            <a:avLst>
              <a:gd name="adj" fmla="val 1908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143000" y="3714750"/>
            <a:ext cx="57150" cy="2495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deckgen:ornament"/>
          <p:cNvSpPr txBox="1"/>
          <p:nvPr/>
        </p:nvSpPr>
        <p:spPr>
          <a:xfrm>
            <a:off x="1466850" y="3848100"/>
            <a:ext cx="8572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250" b="1">
                <a:solidFill>
                  <a:srgbClr val="DDE4EF"/>
                </a:solidFill>
                <a:latin typeface="Pretendard"/>
                <a:ea typeface="Pretendard"/>
                <a:cs typeface="Pretendard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76400" y="4038600"/>
            <a:ext cx="14954250" cy="2000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7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[역할] 채용 경력 많은 직무분석 전문가 [자료] 공고의 주요 업무 · 자격 요건 · 우대 사항 · 내 흥미 유형 [과업] ① 핵심 역량 3가지 ② 서류에 살릴 키워드 5개 ③ 흥미 유형과의 연결 두 줄 [형식] 표 — 역량 · 공고 근거 문장 · 내가 준비할 것 [조건] 공고에 없으면 「공고에 없음」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6667500"/>
            <a:ext cx="47625" cy="91440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6686550"/>
            <a:ext cx="157353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 spc="15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확인할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9700" y="7067550"/>
            <a:ext cx="157353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근거 문장이 실제 공고에 있는지 대조합니다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시연 결과 예시 · 김서연(가명, 24)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경영학과 졸업예정 → 물류관리 사무원(신입)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핵심 역량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6042660" cy="59055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604266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공고 근거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744200" y="2781300"/>
            <a:ext cx="64008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일정 · 수량 관리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입고 · 출고 일정 관리 / 재고 현황 점검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744200" y="34480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839450" y="34480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물류센터 입고 검수 경험을 사례 하나로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719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719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엑셀 · 전산 활용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719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719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전산 입력 · 월간 보고 / 우대: 엑셀 활용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744200" y="41719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839450" y="41719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학생회 예산 엑셀 정리 — 수준은 확인 필요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95850"/>
            <a:ext cx="3482340" cy="647700"/>
          </a:xfrm>
          <a:prstGeom prst="roundRect">
            <a:avLst>
              <a:gd name="adj" fmla="val 5882"/>
            </a:avLst>
          </a:prstGeom>
          <a:solidFill>
            <a:srgbClr val="EAF0F8"/>
          </a:solidFill>
          <a:ln w="9525">
            <a:solidFill>
              <a:srgbClr val="C9DAF2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95850"/>
            <a:ext cx="329184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전공 연결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95850"/>
            <a:ext cx="604266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95850"/>
            <a:ext cx="585216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우대: 물류 · 유통 · 경영 전공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744200" y="4895850"/>
            <a:ext cx="6400800" cy="647700"/>
          </a:xfrm>
          <a:prstGeom prst="roundRect">
            <a:avLst>
              <a:gd name="adj" fmla="val 5882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839450" y="4895850"/>
            <a:ext cx="6210300" cy="6477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유통관리 · 생산운영관리 수강, 재고 회전 과제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예시입니다 — 실제 AI 답은 조금씩 다르게 나옵니다. 근거 문장이 공고에 있는지 꼭 대조합니다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582650" y="1181100"/>
            <a:ext cx="3562350" cy="590550"/>
          </a:xfrm>
          <a:prstGeom prst="roundRect">
            <a:avLst>
              <a:gd name="adj" fmla="val 50000"/>
            </a:avLst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906500" y="1400175"/>
            <a:ext cx="152400" cy="1524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097000" y="1295400"/>
            <a:ext cx="2819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838200"/>
            <a:ext cx="120586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2교시 산출물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162050"/>
            <a:ext cx="1205865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직무분석 메모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43000" y="2476500"/>
            <a:ext cx="4000500" cy="793750"/>
          </a:xfrm>
          <a:prstGeom prst="roundRect">
            <a:avLst>
              <a:gd name="adj" fmla="val 72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43000" y="2476500"/>
            <a:ext cx="57150" cy="7937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409700" y="2590800"/>
            <a:ext cx="3467100" cy="56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7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지원 직종 · 공고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회사 이름은 빼도 됩니다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43500" y="2476500"/>
            <a:ext cx="12001500" cy="79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143000" y="3403600"/>
            <a:ext cx="4000500" cy="1244600"/>
          </a:xfrm>
          <a:prstGeom prst="roundRect">
            <a:avLst>
              <a:gd name="adj" fmla="val 4591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43000" y="3403600"/>
            <a:ext cx="57150" cy="124460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09700" y="3517900"/>
            <a:ext cx="3467100" cy="10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7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핵심 역량 3가지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공고 근거 문장과 함께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43500" y="3403600"/>
            <a:ext cx="12001500" cy="124460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95900" y="4025900"/>
            <a:ext cx="116967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143000" y="4781550"/>
            <a:ext cx="4000500" cy="793750"/>
          </a:xfrm>
          <a:prstGeom prst="roundRect">
            <a:avLst>
              <a:gd name="adj" fmla="val 72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143000" y="4781550"/>
            <a:ext cx="57150" cy="7937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09700" y="4895850"/>
            <a:ext cx="3467100" cy="56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7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핵심 키워드 5개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서류에 그대로 살릴 낱말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143500" y="4781550"/>
            <a:ext cx="12001500" cy="79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143000" y="5708650"/>
            <a:ext cx="4000500" cy="793750"/>
          </a:xfrm>
          <a:prstGeom prst="roundRect">
            <a:avLst>
              <a:gd name="adj" fmla="val 72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43000" y="5708650"/>
            <a:ext cx="57150" cy="7937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09700" y="5822950"/>
            <a:ext cx="3467100" cy="56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7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내 흥미 유형과의 연결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두 줄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143500" y="5708650"/>
            <a:ext cx="12001500" cy="79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143000" y="6635750"/>
            <a:ext cx="4000500" cy="793750"/>
          </a:xfrm>
          <a:prstGeom prst="roundRect">
            <a:avLst>
              <a:gd name="adj" fmla="val 7200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143000" y="6635750"/>
            <a:ext cx="57150" cy="793750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409700" y="6750050"/>
            <a:ext cx="3467100" cy="565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lnSpc>
                <a:spcPct val="115000"/>
              </a:lnSpc>
            </a:pPr>
            <a:r>
              <a:rPr sz="172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보완할 것 한 가지</a:t>
            </a:r>
          </a:p>
          <a:p>
            <a:pPr>
              <a:lnSpc>
                <a:spcPct val="120000"/>
              </a:lnSpc>
              <a:spcBef>
                <a:spcPts val="300"/>
              </a:spcBef>
            </a:pPr>
            <a:r>
              <a:rPr sz="1650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자격 · 경험 · 공부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43500" y="6635750"/>
            <a:ext cx="12001500" cy="793750"/>
          </a:xfrm>
          <a:prstGeom prst="rect">
            <a:avLst/>
          </a:prstGeom>
          <a:solidFill>
            <a:srgbClr val="FFFFFF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143000" y="7600950"/>
            <a:ext cx="38100" cy="323850"/>
          </a:xfrm>
          <a:prstGeom prst="rect">
            <a:avLst/>
          </a:prstGeom>
          <a:solidFill>
            <a:srgbClr val="C9DA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314450" y="760095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메모장 · 한글 · 워드 파일에 붙여 두고, 한 줄은 패들릿 「2교시 강의 · 나누기」에 올립니다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deckgen:decor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8F9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결과 확인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이렇게 나왔으면 잘된 것입니다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57175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1466850" y="284035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33600" y="266700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역량마다 실제 공고의 근거 문장이 붙어 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143000" y="366141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1466850" y="393001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33600" y="375666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공고에 없는 급여 · 복지 숫자가 끼어 있지 않다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475107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466850" y="501967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133600" y="484632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키워드 5개가 공고에 실제로 나오는 낱말이다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43000" y="584073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466850" y="610933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133600" y="593598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흥미 유형과의 연결이 내 결과지와 맞는다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6930390"/>
            <a:ext cx="16002000" cy="937260"/>
          </a:xfrm>
          <a:prstGeom prst="roundRect">
            <a:avLst>
              <a:gd name="adj" fmla="val 6097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466850" y="7198995"/>
            <a:ext cx="400050" cy="40005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28575">
            <a:solidFill>
              <a:srgbClr val="1E3E69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33600" y="7025640"/>
            <a:ext cx="14725650" cy="746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lnSpc>
                <a:spcPct val="12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개인정보를 넣지 않았다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8E1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경산 취업특강 · AI와 함께하는 취업준비 · 2교시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5E6370"/>
                </a:solidFill>
                <a:latin typeface="Pretendard"/>
                <a:ea typeface="Pretendard"/>
                <a:cs typeface="Pretendar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deckgen:decor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4F7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deckgen:decor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6F7F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1E3E69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2교시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55분, AI와 직무 읽기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22252B"/>
                </a:solidFill>
                <a:latin typeface="Pretendard"/>
                <a:ea typeface="Pretendard"/>
                <a:cs typeface="Pretendard"/>
              </a:rPr>
              <a:t>AI는 정리를 돕고, 판단과 사실 확인은 내가 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AI는 말 잘하는 인턴 — 다섯 칸으로 부탁합니다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768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768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공고는 질문지 — 주요 업무 · 자격 · 우대 · 조건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직무기술서 · NCS로 필요한 역량을 더 찾습니다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4F7FA"/>
          </a:solidFill>
          <a:ln w="9525">
            <a:solidFill>
              <a:srgbClr val="D8E1EE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05575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05575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직무분석 메모를 챙겼습니다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2B5FA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2B5FA8"/>
                </a:solidFill>
                <a:latin typeface="Pretendard"/>
                <a:ea typeface="Pretendard"/>
                <a:cs typeface="Pretendard"/>
              </a:rPr>
              <a:t>휴식 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3E69"/>
                </a:solidFill>
                <a:latin typeface="Pretendard"/>
                <a:ea typeface="Pretendard"/>
                <a:cs typeface="Pretendard"/>
              </a:rPr>
              <a:t>3교시 · AI와 함께 이력서 · 자기소개서 · 면접 준비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