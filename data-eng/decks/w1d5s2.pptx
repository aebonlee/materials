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  <p:sldId id="266" r:id="rId17"/>
  </p:sldIdLst>
  <p:sldSz cx="18288000" cy="10287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Relationship Id="rId17" Type="http://schemas.openxmlformats.org/officeDocument/2006/relationships/slide" Target="slides/slide11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Oval 1"/>
          <p:cNvSpPr/>
          <p:nvPr/>
        </p:nvSpPr>
        <p:spPr>
          <a:xfrm>
            <a:off x="14192250" y="-2381250"/>
            <a:ext cx="7429500" cy="7429500"/>
          </a:xfrm>
          <a:prstGeom prst="ellipse">
            <a:avLst/>
          </a:prstGeom>
          <a:solidFill>
            <a:srgbClr val="F1F5FB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3" name="Oval 2"/>
          <p:cNvSpPr/>
          <p:nvPr/>
        </p:nvSpPr>
        <p:spPr>
          <a:xfrm>
            <a:off x="15430500" y="-1143000"/>
            <a:ext cx="4953000" cy="4953000"/>
          </a:xfrm>
          <a:prstGeom prst="ellipse">
            <a:avLst/>
          </a:prstGeom>
          <a:solidFill>
            <a:srgbClr val="FFFFFF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4" name="Oval 3"/>
          <p:cNvSpPr/>
          <p:nvPr/>
        </p:nvSpPr>
        <p:spPr>
          <a:xfrm>
            <a:off x="15906750" y="5905500"/>
            <a:ext cx="4953000" cy="4953000"/>
          </a:xfrm>
          <a:prstGeom prst="ellipse">
            <a:avLst/>
          </a:prstGeom>
          <a:solidFill>
            <a:srgbClr val="F5F6F8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-1714500" y="2857500"/>
            <a:ext cx="2857500" cy="28575"/>
          </a:xfrm>
          <a:prstGeom prst="rect">
            <a:avLst/>
          </a:prstGeom>
          <a:solidFill>
            <a:srgbClr val="E6E9EE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6" name="Oval 5"/>
          <p:cNvSpPr/>
          <p:nvPr/>
        </p:nvSpPr>
        <p:spPr>
          <a:xfrm>
            <a:off x="-2857500" y="6953250"/>
            <a:ext cx="6953250" cy="6953250"/>
          </a:xfrm>
          <a:prstGeom prst="ellipse">
            <a:avLst/>
          </a:prstGeom>
          <a:solidFill>
            <a:srgbClr val="EEF2FA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7" name="Oval 6"/>
          <p:cNvSpPr/>
          <p:nvPr/>
        </p:nvSpPr>
        <p:spPr>
          <a:xfrm>
            <a:off x="-1581150" y="8229600"/>
            <a:ext cx="4400550" cy="4400550"/>
          </a:xfrm>
          <a:prstGeom prst="ellipse">
            <a:avLst/>
          </a:prstGeom>
          <a:solidFill>
            <a:srgbClr val="FFFFFF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8" name="Oval 7"/>
          <p:cNvSpPr/>
          <p:nvPr/>
        </p:nvSpPr>
        <p:spPr>
          <a:xfrm>
            <a:off x="3390900" y="8953500"/>
            <a:ext cx="742950" cy="742950"/>
          </a:xfrm>
          <a:prstGeom prst="ellipse">
            <a:avLst/>
          </a:prstGeom>
          <a:solidFill>
            <a:srgbClr val="EBEEF2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9" name="Oval 8"/>
          <p:cNvSpPr/>
          <p:nvPr/>
        </p:nvSpPr>
        <p:spPr>
          <a:xfrm>
            <a:off x="4457700" y="9563100"/>
            <a:ext cx="342900" cy="342900"/>
          </a:xfrm>
          <a:prstGeom prst="ellipse">
            <a:avLst/>
          </a:prstGeom>
          <a:solidFill>
            <a:srgbClr val="E1E9F7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0" name="Rectangle 9"/>
          <p:cNvSpPr/>
          <p:nvPr/>
        </p:nvSpPr>
        <p:spPr>
          <a:xfrm>
            <a:off x="1143000" y="9639300"/>
            <a:ext cx="1619250" cy="28575"/>
          </a:xfrm>
          <a:prstGeom prst="rect">
            <a:avLst/>
          </a:prstGeom>
          <a:solidFill>
            <a:srgbClr val="E6E9EE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>
            <a:off x="1143000" y="2857500"/>
            <a:ext cx="16002000" cy="28575"/>
          </a:xfrm>
          <a:prstGeom prst="rect">
            <a:avLst/>
          </a:prstGeom>
          <a:solidFill>
            <a:srgbClr val="0D2B5E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1143000" y="3486150"/>
            <a:ext cx="8572500" cy="4191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2400" b="1" spc="120">
                <a:solidFill>
                  <a:srgbClr val="1E5BC6"/>
                </a:solidFill>
                <a:latin typeface="Pretendard"/>
                <a:ea typeface="Pretendard"/>
                <a:cs typeface="Pretendard"/>
              </a:rPr>
              <a:t>1-5 · Docker Compose 이해하고 사용하기 · 실습 1.5H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143000" y="3905250"/>
            <a:ext cx="16002000" cy="146608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5000"/>
              </a:lnSpc>
            </a:pPr>
            <a:r>
              <a:rPr sz="9300" b="1" spc="-347">
                <a:solidFill>
                  <a:srgbClr val="0D2B5E"/>
                </a:solidFill>
                <a:latin typeface="Pretendard"/>
                <a:ea typeface="Pretendard"/>
                <a:cs typeface="Pretendard"/>
              </a:rPr>
              <a:t>다중 컨테이너 구성 실습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143000" y="5580888"/>
            <a:ext cx="16002000" cy="5715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3300" b="1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하나 → 둘 → 셋, 통합 환경을 한 번에 기동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8572500" y="7677150"/>
            <a:ext cx="8572500" cy="8572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50000"/>
              </a:lnSpc>
            </a:pPr>
            <a:r>
              <a:rPr sz="1950" b="1">
                <a:solidFill>
                  <a:srgbClr val="7D7D7D"/>
                </a:solidFill>
                <a:latin typeface="Pretendard"/>
                <a:ea typeface="Pretendard"/>
                <a:cs typeface="Pretendard"/>
              </a:rPr>
              <a:t>수도권ICT 이노베이션스퀘어</a:t>
            </a:r>
          </a:p>
          <a:p>
            <a:pPr algn="r">
              <a:lnSpc>
                <a:spcPct val="150000"/>
              </a:lnSpc>
            </a:pPr>
            <a:r>
              <a:rPr sz="1950" b="1">
                <a:solidFill>
                  <a:srgbClr val="7D7D7D"/>
                </a:solidFill>
                <a:latin typeface="Pretendard"/>
                <a:ea typeface="Pretendard"/>
                <a:cs typeface="Pretendard"/>
              </a:rPr>
              <a:t>데이터 엔지니어링 &amp; RAG 파이프라인 160H · 3기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Oval 1"/>
          <p:cNvSpPr/>
          <p:nvPr/>
        </p:nvSpPr>
        <p:spPr>
          <a:xfrm>
            <a:off x="15811500" y="8382000"/>
            <a:ext cx="4953000" cy="4953000"/>
          </a:xfrm>
          <a:prstGeom prst="ellipse">
            <a:avLst/>
          </a:prstGeom>
          <a:solidFill>
            <a:srgbClr val="F3F6FC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3" name="Oval 2"/>
          <p:cNvSpPr/>
          <p:nvPr/>
        </p:nvSpPr>
        <p:spPr>
          <a:xfrm>
            <a:off x="16859250" y="9429750"/>
            <a:ext cx="2857500" cy="2857500"/>
          </a:xfrm>
          <a:prstGeom prst="ellipse">
            <a:avLst/>
          </a:prstGeom>
          <a:solidFill>
            <a:srgbClr val="FFFFFF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4" name="Oval 3"/>
          <p:cNvSpPr/>
          <p:nvPr/>
        </p:nvSpPr>
        <p:spPr>
          <a:xfrm>
            <a:off x="-1428750" y="1428750"/>
            <a:ext cx="2857500" cy="2857500"/>
          </a:xfrm>
          <a:prstGeom prst="ellipse">
            <a:avLst/>
          </a:prstGeom>
          <a:solidFill>
            <a:srgbClr val="F7F8FA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1143000" y="838200"/>
            <a:ext cx="16002000" cy="3429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950" b="1" spc="160">
                <a:solidFill>
                  <a:srgbClr val="1E5BC6"/>
                </a:solidFill>
                <a:latin typeface="Pretendard"/>
                <a:ea typeface="Pretendard"/>
                <a:cs typeface="Pretendard"/>
              </a:rPr>
              <a:t>이 시간의 목표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43000" y="1162050"/>
            <a:ext cx="16002000" cy="762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5100" b="1">
                <a:solidFill>
                  <a:srgbClr val="0D2B5E"/>
                </a:solidFill>
                <a:latin typeface="Pretendard"/>
                <a:ea typeface="Pretendard"/>
                <a:cs typeface="Pretendard"/>
              </a:rPr>
              <a:t>1.5시간 뒤에는</a:t>
            </a:r>
          </a:p>
        </p:txBody>
      </p:sp>
      <p:sp>
        <p:nvSpPr>
          <p:cNvPr id="7" name="Rectangle 6"/>
          <p:cNvSpPr/>
          <p:nvPr/>
        </p:nvSpPr>
        <p:spPr>
          <a:xfrm>
            <a:off x="1143000" y="2038350"/>
            <a:ext cx="16002000" cy="28575"/>
          </a:xfrm>
          <a:prstGeom prst="rect">
            <a:avLst/>
          </a:prstGeom>
          <a:solidFill>
            <a:srgbClr val="0D2B5E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8" name="Rounded Rectangle 7"/>
          <p:cNvSpPr/>
          <p:nvPr/>
        </p:nvSpPr>
        <p:spPr>
          <a:xfrm>
            <a:off x="1143000" y="2895600"/>
            <a:ext cx="16002000" cy="819150"/>
          </a:xfrm>
          <a:prstGeom prst="roundRect">
            <a:avLst>
              <a:gd name="adj" fmla="val 5813"/>
            </a:avLst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9" name="Oval 8"/>
          <p:cNvSpPr/>
          <p:nvPr/>
        </p:nvSpPr>
        <p:spPr>
          <a:xfrm>
            <a:off x="1390650" y="3038475"/>
            <a:ext cx="533400" cy="533400"/>
          </a:xfrm>
          <a:prstGeom prst="ellipse">
            <a:avLst/>
          </a:prstGeom>
          <a:solidFill>
            <a:srgbClr val="0D2B5E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1390650" y="3162300"/>
            <a:ext cx="533400" cy="3238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00000"/>
              </a:lnSpc>
            </a:pPr>
            <a:r>
              <a:rPr sz="2100" b="1">
                <a:solidFill>
                  <a:srgbClr val="FFFFFF"/>
                </a:solidFill>
                <a:latin typeface="Pretendard"/>
                <a:ea typeface="Pretendard"/>
                <a:cs typeface="Pretendard"/>
              </a:rPr>
              <a:t>①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2190750" y="2895600"/>
            <a:ext cx="14573250" cy="81915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2325" b="1">
                <a:solidFill>
                  <a:srgbClr val="0D2B5E"/>
                </a:solidFill>
                <a:latin typeface="Pretendard"/>
                <a:ea typeface="Pretendard"/>
                <a:cs typeface="Pretendard"/>
              </a:rPr>
              <a:t>서비스 하나짜리 Compose 로 up·ps·logs·down 한 바퀴를 돈다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1143000" y="3886200"/>
            <a:ext cx="16002000" cy="819150"/>
          </a:xfrm>
          <a:prstGeom prst="roundRect">
            <a:avLst>
              <a:gd name="adj" fmla="val 5813"/>
            </a:avLst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3" name="Oval 12"/>
          <p:cNvSpPr/>
          <p:nvPr/>
        </p:nvSpPr>
        <p:spPr>
          <a:xfrm>
            <a:off x="1390650" y="4029075"/>
            <a:ext cx="533400" cy="533400"/>
          </a:xfrm>
          <a:prstGeom prst="ellipse">
            <a:avLst/>
          </a:prstGeom>
          <a:solidFill>
            <a:srgbClr val="0D2B5E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1390650" y="4152900"/>
            <a:ext cx="533400" cy="3238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00000"/>
              </a:lnSpc>
            </a:pPr>
            <a:r>
              <a:rPr sz="2100" b="1">
                <a:solidFill>
                  <a:srgbClr val="FFFFFF"/>
                </a:solidFill>
                <a:latin typeface="Pretendard"/>
                <a:ea typeface="Pretendard"/>
                <a:cs typeface="Pretendard"/>
              </a:rPr>
              <a:t>②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2190750" y="3886200"/>
            <a:ext cx="14573250" cy="81915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2325" b="1">
                <a:solidFill>
                  <a:srgbClr val="0D2B5E"/>
                </a:solidFill>
                <a:latin typeface="Pretendard"/>
                <a:ea typeface="Pretendard"/>
                <a:cs typeface="Pretendard"/>
              </a:rPr>
              <a:t>컨테이너 안에서 서비스 이름은 되고 localhost 는 실패함을 본다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1143000" y="4876800"/>
            <a:ext cx="16002000" cy="819150"/>
          </a:xfrm>
          <a:prstGeom prst="roundRect">
            <a:avLst>
              <a:gd name="adj" fmla="val 5813"/>
            </a:avLst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7" name="Oval 16"/>
          <p:cNvSpPr/>
          <p:nvPr/>
        </p:nvSpPr>
        <p:spPr>
          <a:xfrm>
            <a:off x="1390650" y="5019675"/>
            <a:ext cx="533400" cy="533400"/>
          </a:xfrm>
          <a:prstGeom prst="ellipse">
            <a:avLst/>
          </a:prstGeom>
          <a:solidFill>
            <a:srgbClr val="0D2B5E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1390650" y="5143500"/>
            <a:ext cx="533400" cy="3238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00000"/>
              </a:lnSpc>
            </a:pPr>
            <a:r>
              <a:rPr sz="2100" b="1">
                <a:solidFill>
                  <a:srgbClr val="FFFFFF"/>
                </a:solidFill>
                <a:latin typeface="Pretendard"/>
                <a:ea typeface="Pretendard"/>
                <a:cs typeface="Pretendard"/>
              </a:rPr>
              <a:t>③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2190750" y="4876800"/>
            <a:ext cx="14573250" cy="81915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2325" b="1">
                <a:solidFill>
                  <a:srgbClr val="0D2B5E"/>
                </a:solidFill>
                <a:latin typeface="Pretendard"/>
                <a:ea typeface="Pretendard"/>
                <a:cs typeface="Pretendard"/>
              </a:rPr>
              <a:t>db·admin·app 3개 서비스의 yml 을 쓰고 config 로 검사한다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1143000" y="5867400"/>
            <a:ext cx="16002000" cy="819150"/>
          </a:xfrm>
          <a:prstGeom prst="roundRect">
            <a:avLst>
              <a:gd name="adj" fmla="val 5813"/>
            </a:avLst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21" name="Oval 20"/>
          <p:cNvSpPr/>
          <p:nvPr/>
        </p:nvSpPr>
        <p:spPr>
          <a:xfrm>
            <a:off x="1390650" y="6010275"/>
            <a:ext cx="533400" cy="533400"/>
          </a:xfrm>
          <a:prstGeom prst="ellipse">
            <a:avLst/>
          </a:prstGeom>
          <a:solidFill>
            <a:srgbClr val="0D2B5E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1390650" y="6134100"/>
            <a:ext cx="533400" cy="3238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00000"/>
              </a:lnSpc>
            </a:pPr>
            <a:r>
              <a:rPr sz="2100" b="1">
                <a:solidFill>
                  <a:srgbClr val="FFFFFF"/>
                </a:solidFill>
                <a:latin typeface="Pretendard"/>
                <a:ea typeface="Pretendard"/>
                <a:cs typeface="Pretendard"/>
              </a:rPr>
              <a:t>④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2190750" y="5867400"/>
            <a:ext cx="14573250" cy="81915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2325" b="1">
                <a:solidFill>
                  <a:srgbClr val="0D2B5E"/>
                </a:solidFill>
                <a:latin typeface="Pretendard"/>
                <a:ea typeface="Pretendard"/>
                <a:cs typeface="Pretendard"/>
              </a:rPr>
              <a:t>up -d --build 로 한 번에 기동하고 psql·pgAdmin 으로 연결을 확인한다</a:t>
            </a:r>
          </a:p>
        </p:txBody>
      </p:sp>
      <p:sp>
        <p:nvSpPr>
          <p:cNvPr id="24" name="Rounded Rectangle 23"/>
          <p:cNvSpPr/>
          <p:nvPr/>
        </p:nvSpPr>
        <p:spPr>
          <a:xfrm>
            <a:off x="1143000" y="6953250"/>
            <a:ext cx="16002000" cy="876300"/>
          </a:xfrm>
          <a:prstGeom prst="roundRect">
            <a:avLst>
              <a:gd name="adj" fmla="val 5434"/>
            </a:avLst>
          </a:prstGeom>
          <a:solidFill>
            <a:srgbClr val="EDF3FD"/>
          </a:solidFill>
          <a:ln w="9525">
            <a:solidFill>
              <a:srgbClr val="BFD3F5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1143000" y="7200900"/>
            <a:ext cx="16002000" cy="4381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00000"/>
              </a:lnSpc>
            </a:pPr>
            <a:r>
              <a:rPr sz="2475" b="1">
                <a:solidFill>
                  <a:srgbClr val="0D2B5E"/>
                </a:solidFill>
                <a:latin typeface="Pretendard"/>
                <a:ea typeface="Pretendard"/>
                <a:cs typeface="Pretendard"/>
              </a:rPr>
              <a:t>일부러 실패시키는 단계가 하나 있습니다 — localhost 가 왜 안 되는지 이유가 남습니다</a:t>
            </a:r>
          </a:p>
        </p:txBody>
      </p:sp>
      <p:sp>
        <p:nvSpPr>
          <p:cNvPr id="26" name="Rectangle 25"/>
          <p:cNvSpPr/>
          <p:nvPr/>
        </p:nvSpPr>
        <p:spPr>
          <a:xfrm>
            <a:off x="1143000" y="8058150"/>
            <a:ext cx="16002000" cy="9525"/>
          </a:xfrm>
          <a:prstGeom prst="rect">
            <a:avLst/>
          </a:prstGeom>
          <a:solidFill>
            <a:srgbClr val="DCE1E8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1143000" y="8248650"/>
            <a:ext cx="13335000" cy="3238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725" b="0">
                <a:solidFill>
                  <a:srgbClr val="7D7D7D"/>
                </a:solidFill>
                <a:latin typeface="Pretendard"/>
                <a:ea typeface="Pretendard"/>
                <a:cs typeface="Pretendard"/>
              </a:rPr>
              <a:t>데이터 엔지니어링 &amp; RAG 파이프라인 160H · 1-5 · 실습 1.5H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15240000" y="8248650"/>
            <a:ext cx="1905000" cy="3238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00000"/>
              </a:lnSpc>
            </a:pPr>
            <a:r>
              <a:rPr sz="1725" b="0">
                <a:solidFill>
                  <a:srgbClr val="7D7D7D"/>
                </a:solidFill>
                <a:latin typeface="Pretendard"/>
                <a:ea typeface="Pretendard"/>
                <a:cs typeface="Pretendard"/>
              </a:rPr>
              <a:t>02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Oval 1"/>
          <p:cNvSpPr/>
          <p:nvPr/>
        </p:nvSpPr>
        <p:spPr>
          <a:xfrm>
            <a:off x="15811500" y="8382000"/>
            <a:ext cx="4953000" cy="4953000"/>
          </a:xfrm>
          <a:prstGeom prst="ellipse">
            <a:avLst/>
          </a:prstGeom>
          <a:solidFill>
            <a:srgbClr val="F3F6FC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3" name="Oval 2"/>
          <p:cNvSpPr/>
          <p:nvPr/>
        </p:nvSpPr>
        <p:spPr>
          <a:xfrm>
            <a:off x="16859250" y="9429750"/>
            <a:ext cx="2857500" cy="2857500"/>
          </a:xfrm>
          <a:prstGeom prst="ellipse">
            <a:avLst/>
          </a:prstGeom>
          <a:solidFill>
            <a:srgbClr val="FFFFFF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4" name="Oval 3"/>
          <p:cNvSpPr/>
          <p:nvPr/>
        </p:nvSpPr>
        <p:spPr>
          <a:xfrm>
            <a:off x="-1428750" y="1428750"/>
            <a:ext cx="2857500" cy="2857500"/>
          </a:xfrm>
          <a:prstGeom prst="ellipse">
            <a:avLst/>
          </a:prstGeom>
          <a:solidFill>
            <a:srgbClr val="F7F8FA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1143000" y="838200"/>
            <a:ext cx="16002000" cy="3429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950" b="1" spc="160">
                <a:solidFill>
                  <a:srgbClr val="1E5BC6"/>
                </a:solidFill>
                <a:latin typeface="Pretendard"/>
                <a:ea typeface="Pretendard"/>
                <a:cs typeface="Pretendard"/>
              </a:rPr>
              <a:t>실습 흐름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43000" y="1162050"/>
            <a:ext cx="16002000" cy="762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5100" b="1">
                <a:solidFill>
                  <a:srgbClr val="0D2B5E"/>
                </a:solidFill>
                <a:latin typeface="Pretendard"/>
                <a:ea typeface="Pretendard"/>
                <a:cs typeface="Pretendard"/>
              </a:rPr>
              <a:t>다섯 단계 — 작게 시작해 통합 환경까지</a:t>
            </a:r>
          </a:p>
        </p:txBody>
      </p:sp>
      <p:sp>
        <p:nvSpPr>
          <p:cNvPr id="7" name="Rectangle 6"/>
          <p:cNvSpPr/>
          <p:nvPr/>
        </p:nvSpPr>
        <p:spPr>
          <a:xfrm>
            <a:off x="1143000" y="2038350"/>
            <a:ext cx="16002000" cy="28575"/>
          </a:xfrm>
          <a:prstGeom prst="rect">
            <a:avLst/>
          </a:prstGeom>
          <a:solidFill>
            <a:srgbClr val="0D2B5E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1143000" y="3067050"/>
            <a:ext cx="16002000" cy="4381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2550" b="1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각 단계 끝에 확인 포인트가 있습니다. 통과한 뒤에 다음으로 넘어가세요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1143000" y="3924300"/>
            <a:ext cx="2895600" cy="3143250"/>
          </a:xfrm>
          <a:prstGeom prst="roundRect">
            <a:avLst>
              <a:gd name="adj" fmla="val 1644"/>
            </a:avLst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0" name="Rectangle 9"/>
          <p:cNvSpPr/>
          <p:nvPr/>
        </p:nvSpPr>
        <p:spPr>
          <a:xfrm>
            <a:off x="1143000" y="3924300"/>
            <a:ext cx="2895600" cy="914400"/>
          </a:xfrm>
          <a:prstGeom prst="rect">
            <a:avLst/>
          </a:prstGeom>
          <a:solidFill>
            <a:srgbClr val="0D2B5E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1143000" y="4171950"/>
            <a:ext cx="2895600" cy="4191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00000"/>
              </a:lnSpc>
            </a:pPr>
            <a:r>
              <a:rPr sz="2475" b="1">
                <a:solidFill>
                  <a:srgbClr val="FFFFFF"/>
                </a:solidFill>
                <a:latin typeface="Pretendard"/>
                <a:ea typeface="Pretendard"/>
                <a:cs typeface="Pretendard"/>
              </a:rPr>
              <a:t>1 최소 Compose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352550" y="5143500"/>
            <a:ext cx="2476500" cy="1524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46000"/>
              </a:lnSpc>
            </a:pPr>
            <a:r>
              <a:rPr sz="2100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nginx 하나 · up → ps → curl → logs → down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4419600" y="3924300"/>
            <a:ext cx="2895600" cy="3143250"/>
          </a:xfrm>
          <a:prstGeom prst="roundRect">
            <a:avLst>
              <a:gd name="adj" fmla="val 1644"/>
            </a:avLst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4" name="Rectangle 13"/>
          <p:cNvSpPr/>
          <p:nvPr/>
        </p:nvSpPr>
        <p:spPr>
          <a:xfrm>
            <a:off x="4419600" y="3924300"/>
            <a:ext cx="2895600" cy="914400"/>
          </a:xfrm>
          <a:prstGeom prst="rect">
            <a:avLst/>
          </a:prstGeom>
          <a:solidFill>
            <a:srgbClr val="1E5BC6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4419600" y="4171950"/>
            <a:ext cx="2895600" cy="4191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00000"/>
              </a:lnSpc>
            </a:pPr>
            <a:r>
              <a:rPr sz="2475" b="1">
                <a:solidFill>
                  <a:srgbClr val="FFFFFF"/>
                </a:solidFill>
                <a:latin typeface="Pretendard"/>
                <a:ea typeface="Pretendard"/>
                <a:cs typeface="Pretendard"/>
              </a:rPr>
              <a:t>2 둘로 늘리기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4629150" y="5143500"/>
            <a:ext cx="2476500" cy="1524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46000"/>
              </a:lnSpc>
            </a:pPr>
            <a:r>
              <a:rPr sz="2100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client 에서 web 을 이름으로 호출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7696200" y="3924300"/>
            <a:ext cx="2895600" cy="3143250"/>
          </a:xfrm>
          <a:prstGeom prst="roundRect">
            <a:avLst>
              <a:gd name="adj" fmla="val 1644"/>
            </a:avLst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8" name="Rectangle 17"/>
          <p:cNvSpPr/>
          <p:nvPr/>
        </p:nvSpPr>
        <p:spPr>
          <a:xfrm>
            <a:off x="7696200" y="3924300"/>
            <a:ext cx="2895600" cy="914400"/>
          </a:xfrm>
          <a:prstGeom prst="rect">
            <a:avLst/>
          </a:prstGeom>
          <a:solidFill>
            <a:srgbClr val="0D2B5E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7696200" y="4171950"/>
            <a:ext cx="2895600" cy="4191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00000"/>
              </a:lnSpc>
            </a:pPr>
            <a:r>
              <a:rPr sz="2475" b="1">
                <a:solidFill>
                  <a:srgbClr val="FFFFFF"/>
                </a:solidFill>
                <a:latin typeface="Pretendard"/>
                <a:ea typeface="Pretendard"/>
                <a:cs typeface="Pretendard"/>
              </a:rPr>
              <a:t>3 통합 yml 작성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7905750" y="5143500"/>
            <a:ext cx="2476500" cy="1524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46000"/>
              </a:lnSpc>
            </a:pPr>
            <a:r>
              <a:rPr sz="2100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db · admin · app · docker compose config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10972800" y="3924300"/>
            <a:ext cx="2895600" cy="3143250"/>
          </a:xfrm>
          <a:prstGeom prst="roundRect">
            <a:avLst>
              <a:gd name="adj" fmla="val 1644"/>
            </a:avLst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22" name="Rectangle 21"/>
          <p:cNvSpPr/>
          <p:nvPr/>
        </p:nvSpPr>
        <p:spPr>
          <a:xfrm>
            <a:off x="10972800" y="3924300"/>
            <a:ext cx="2895600" cy="914400"/>
          </a:xfrm>
          <a:prstGeom prst="rect">
            <a:avLst/>
          </a:prstGeom>
          <a:solidFill>
            <a:srgbClr val="1E5BC6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10972800" y="4171950"/>
            <a:ext cx="2895600" cy="4191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00000"/>
              </a:lnSpc>
            </a:pPr>
            <a:r>
              <a:rPr sz="2475" b="1">
                <a:solidFill>
                  <a:srgbClr val="FFFFFF"/>
                </a:solidFill>
                <a:latin typeface="Pretendard"/>
                <a:ea typeface="Pretendard"/>
                <a:cs typeface="Pretendard"/>
              </a:rPr>
              <a:t>4 한 번에 기동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11182350" y="5143500"/>
            <a:ext cx="2476500" cy="1524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46000"/>
              </a:lnSpc>
            </a:pPr>
            <a:r>
              <a:rPr sz="2100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up -d --build · ps -a · logs app</a:t>
            </a:r>
          </a:p>
        </p:txBody>
      </p:sp>
      <p:sp>
        <p:nvSpPr>
          <p:cNvPr id="25" name="Rounded Rectangle 24"/>
          <p:cNvSpPr/>
          <p:nvPr/>
        </p:nvSpPr>
        <p:spPr>
          <a:xfrm>
            <a:off x="14249400" y="3924300"/>
            <a:ext cx="2895600" cy="3143250"/>
          </a:xfrm>
          <a:prstGeom prst="roundRect">
            <a:avLst>
              <a:gd name="adj" fmla="val 1644"/>
            </a:avLst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26" name="Rectangle 25"/>
          <p:cNvSpPr/>
          <p:nvPr/>
        </p:nvSpPr>
        <p:spPr>
          <a:xfrm>
            <a:off x="14249400" y="3924300"/>
            <a:ext cx="2895600" cy="914400"/>
          </a:xfrm>
          <a:prstGeom prst="rect">
            <a:avLst/>
          </a:prstGeom>
          <a:solidFill>
            <a:srgbClr val="0D2B5E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14249400" y="4171950"/>
            <a:ext cx="2895600" cy="4191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00000"/>
              </a:lnSpc>
            </a:pPr>
            <a:r>
              <a:rPr sz="2475" b="1">
                <a:solidFill>
                  <a:srgbClr val="FFFFFF"/>
                </a:solidFill>
                <a:latin typeface="Pretendard"/>
                <a:ea typeface="Pretendard"/>
                <a:cs typeface="Pretendard"/>
              </a:rPr>
              <a:t>5 연결 확인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14458950" y="5143500"/>
            <a:ext cx="2476500" cy="1524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46000"/>
              </a:lnSpc>
            </a:pPr>
            <a:r>
              <a:rPr sz="2100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psql · getent hosts db · pgAdmin</a:t>
            </a:r>
          </a:p>
        </p:txBody>
      </p:sp>
      <p:sp>
        <p:nvSpPr>
          <p:cNvPr id="29" name="Rectangle 28"/>
          <p:cNvSpPr/>
          <p:nvPr/>
        </p:nvSpPr>
        <p:spPr>
          <a:xfrm>
            <a:off x="1143000" y="8058150"/>
            <a:ext cx="16002000" cy="9525"/>
          </a:xfrm>
          <a:prstGeom prst="rect">
            <a:avLst/>
          </a:prstGeom>
          <a:solidFill>
            <a:srgbClr val="DCE1E8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30" name="TextBox 29"/>
          <p:cNvSpPr txBox="1"/>
          <p:nvPr/>
        </p:nvSpPr>
        <p:spPr>
          <a:xfrm>
            <a:off x="1143000" y="8248650"/>
            <a:ext cx="13335000" cy="3238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725" b="0">
                <a:solidFill>
                  <a:srgbClr val="7D7D7D"/>
                </a:solidFill>
                <a:latin typeface="Pretendard"/>
                <a:ea typeface="Pretendard"/>
                <a:cs typeface="Pretendard"/>
              </a:rPr>
              <a:t>데이터 엔지니어링 &amp; RAG 파이프라인 160H · 1-5 · 실습 1.5H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15240000" y="8248650"/>
            <a:ext cx="1905000" cy="3238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00000"/>
              </a:lnSpc>
            </a:pPr>
            <a:r>
              <a:rPr sz="1725" b="0">
                <a:solidFill>
                  <a:srgbClr val="7D7D7D"/>
                </a:solidFill>
                <a:latin typeface="Pretendard"/>
                <a:ea typeface="Pretendard"/>
                <a:cs typeface="Pretendard"/>
              </a:rPr>
              <a:t>03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Oval 1"/>
          <p:cNvSpPr/>
          <p:nvPr/>
        </p:nvSpPr>
        <p:spPr>
          <a:xfrm>
            <a:off x="15811500" y="8382000"/>
            <a:ext cx="4953000" cy="4953000"/>
          </a:xfrm>
          <a:prstGeom prst="ellipse">
            <a:avLst/>
          </a:prstGeom>
          <a:solidFill>
            <a:srgbClr val="F3F6FC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3" name="Oval 2"/>
          <p:cNvSpPr/>
          <p:nvPr/>
        </p:nvSpPr>
        <p:spPr>
          <a:xfrm>
            <a:off x="16859250" y="9429750"/>
            <a:ext cx="2857500" cy="2857500"/>
          </a:xfrm>
          <a:prstGeom prst="ellipse">
            <a:avLst/>
          </a:prstGeom>
          <a:solidFill>
            <a:srgbClr val="FFFFFF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4" name="Oval 3"/>
          <p:cNvSpPr/>
          <p:nvPr/>
        </p:nvSpPr>
        <p:spPr>
          <a:xfrm>
            <a:off x="-1428750" y="1428750"/>
            <a:ext cx="2857500" cy="2857500"/>
          </a:xfrm>
          <a:prstGeom prst="ellipse">
            <a:avLst/>
          </a:prstGeom>
          <a:solidFill>
            <a:srgbClr val="F7F8FA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1143000" y="838200"/>
            <a:ext cx="16002000" cy="3429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950" b="1" spc="160">
                <a:solidFill>
                  <a:srgbClr val="1E5BC6"/>
                </a:solidFill>
                <a:latin typeface="Pretendard"/>
                <a:ea typeface="Pretendard"/>
                <a:cs typeface="Pretendard"/>
              </a:rPr>
              <a:t>핵심 명령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43000" y="1162050"/>
            <a:ext cx="16002000" cy="762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5100" b="1">
                <a:solidFill>
                  <a:srgbClr val="0D2B5E"/>
                </a:solidFill>
                <a:latin typeface="Pretendard"/>
                <a:ea typeface="Pretendard"/>
                <a:cs typeface="Pretendard"/>
              </a:rPr>
              <a:t>오늘 쓰는 docker compose 명령 일곱 개</a:t>
            </a:r>
          </a:p>
        </p:txBody>
      </p:sp>
      <p:sp>
        <p:nvSpPr>
          <p:cNvPr id="7" name="Rectangle 6"/>
          <p:cNvSpPr/>
          <p:nvPr/>
        </p:nvSpPr>
        <p:spPr>
          <a:xfrm>
            <a:off x="1143000" y="2038350"/>
            <a:ext cx="16002000" cy="28575"/>
          </a:xfrm>
          <a:prstGeom prst="rect">
            <a:avLst/>
          </a:prstGeom>
          <a:solidFill>
            <a:srgbClr val="0D2B5E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1143000" y="2781300"/>
            <a:ext cx="1387852" cy="571500"/>
          </a:xfrm>
          <a:prstGeom prst="rect">
            <a:avLst/>
          </a:prstGeom>
          <a:solidFill>
            <a:srgbClr val="0D2B5E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1143000" y="2781300"/>
            <a:ext cx="1387852" cy="5715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1800" b="1">
                <a:solidFill>
                  <a:srgbClr val="FFFFFF"/>
                </a:solidFill>
                <a:latin typeface="Pretendard"/>
                <a:ea typeface="Pretendard"/>
                <a:cs typeface="Pretendard"/>
              </a:rPr>
              <a:t>기동</a:t>
            </a:r>
          </a:p>
        </p:txBody>
      </p:sp>
      <p:sp>
        <p:nvSpPr>
          <p:cNvPr id="10" name="Rectangle 9"/>
          <p:cNvSpPr/>
          <p:nvPr/>
        </p:nvSpPr>
        <p:spPr>
          <a:xfrm>
            <a:off x="2530852" y="2781300"/>
            <a:ext cx="14614148" cy="571500"/>
          </a:xfrm>
          <a:prstGeom prst="rect">
            <a:avLst/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2683252" y="2781300"/>
            <a:ext cx="14309348" cy="5715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</a:pPr>
            <a:r>
              <a:rPr sz="1800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docker compose up -d</a:t>
            </a:r>
          </a:p>
        </p:txBody>
      </p:sp>
      <p:sp>
        <p:nvSpPr>
          <p:cNvPr id="12" name="Rectangle 11"/>
          <p:cNvSpPr/>
          <p:nvPr/>
        </p:nvSpPr>
        <p:spPr>
          <a:xfrm>
            <a:off x="1143000" y="3429000"/>
            <a:ext cx="1387852" cy="571500"/>
          </a:xfrm>
          <a:prstGeom prst="rect">
            <a:avLst/>
          </a:prstGeom>
          <a:solidFill>
            <a:srgbClr val="0D2B5E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1143000" y="3429000"/>
            <a:ext cx="1387852" cy="5715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1800" b="1">
                <a:solidFill>
                  <a:srgbClr val="FFFFFF"/>
                </a:solidFill>
                <a:latin typeface="Pretendard"/>
                <a:ea typeface="Pretendard"/>
                <a:cs typeface="Pretendard"/>
              </a:rPr>
              <a:t>상태</a:t>
            </a:r>
          </a:p>
        </p:txBody>
      </p:sp>
      <p:sp>
        <p:nvSpPr>
          <p:cNvPr id="14" name="Rectangle 13"/>
          <p:cNvSpPr/>
          <p:nvPr/>
        </p:nvSpPr>
        <p:spPr>
          <a:xfrm>
            <a:off x="2530852" y="3429000"/>
            <a:ext cx="14614148" cy="571500"/>
          </a:xfrm>
          <a:prstGeom prst="rect">
            <a:avLst/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2683252" y="3429000"/>
            <a:ext cx="14309348" cy="5715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</a:pPr>
            <a:r>
              <a:rPr sz="1800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docker compose ps  (-a 는 종료된 것까지)</a:t>
            </a:r>
          </a:p>
        </p:txBody>
      </p:sp>
      <p:sp>
        <p:nvSpPr>
          <p:cNvPr id="16" name="Rectangle 15"/>
          <p:cNvSpPr/>
          <p:nvPr/>
        </p:nvSpPr>
        <p:spPr>
          <a:xfrm>
            <a:off x="1143000" y="4076700"/>
            <a:ext cx="1387852" cy="571500"/>
          </a:xfrm>
          <a:prstGeom prst="rect">
            <a:avLst/>
          </a:prstGeom>
          <a:solidFill>
            <a:srgbClr val="0D2B5E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1143000" y="4076700"/>
            <a:ext cx="1387852" cy="5715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1800" b="1">
                <a:solidFill>
                  <a:srgbClr val="FFFFFF"/>
                </a:solidFill>
                <a:latin typeface="Pretendard"/>
                <a:ea typeface="Pretendard"/>
                <a:cs typeface="Pretendard"/>
              </a:rPr>
              <a:t>로그</a:t>
            </a:r>
          </a:p>
        </p:txBody>
      </p:sp>
      <p:sp>
        <p:nvSpPr>
          <p:cNvPr id="18" name="Rectangle 17"/>
          <p:cNvSpPr/>
          <p:nvPr/>
        </p:nvSpPr>
        <p:spPr>
          <a:xfrm>
            <a:off x="2530852" y="4076700"/>
            <a:ext cx="14614148" cy="571500"/>
          </a:xfrm>
          <a:prstGeom prst="rect">
            <a:avLst/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2683252" y="4076700"/>
            <a:ext cx="14309348" cy="5715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</a:pPr>
            <a:r>
              <a:rPr sz="1800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docker compose logs 서비스명</a:t>
            </a:r>
          </a:p>
        </p:txBody>
      </p:sp>
      <p:sp>
        <p:nvSpPr>
          <p:cNvPr id="20" name="Rectangle 19"/>
          <p:cNvSpPr/>
          <p:nvPr/>
        </p:nvSpPr>
        <p:spPr>
          <a:xfrm>
            <a:off x="1143000" y="4724400"/>
            <a:ext cx="1387852" cy="571500"/>
          </a:xfrm>
          <a:prstGeom prst="rect">
            <a:avLst/>
          </a:prstGeom>
          <a:solidFill>
            <a:srgbClr val="0D2B5E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1143000" y="4724400"/>
            <a:ext cx="1387852" cy="5715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1800" b="1">
                <a:solidFill>
                  <a:srgbClr val="FFFFFF"/>
                </a:solidFill>
                <a:latin typeface="Pretendard"/>
                <a:ea typeface="Pretendard"/>
                <a:cs typeface="Pretendard"/>
              </a:rPr>
              <a:t>안에서 실행</a:t>
            </a:r>
          </a:p>
        </p:txBody>
      </p:sp>
      <p:sp>
        <p:nvSpPr>
          <p:cNvPr id="22" name="Rectangle 21"/>
          <p:cNvSpPr/>
          <p:nvPr/>
        </p:nvSpPr>
        <p:spPr>
          <a:xfrm>
            <a:off x="2530852" y="4724400"/>
            <a:ext cx="14614148" cy="571500"/>
          </a:xfrm>
          <a:prstGeom prst="rect">
            <a:avLst/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2683252" y="4724400"/>
            <a:ext cx="14309348" cy="5715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</a:pPr>
            <a:r>
              <a:rPr sz="1800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docker compose exec 서비스명 명령</a:t>
            </a:r>
          </a:p>
        </p:txBody>
      </p:sp>
      <p:sp>
        <p:nvSpPr>
          <p:cNvPr id="24" name="Rectangle 23"/>
          <p:cNvSpPr/>
          <p:nvPr/>
        </p:nvSpPr>
        <p:spPr>
          <a:xfrm>
            <a:off x="1143000" y="5372100"/>
            <a:ext cx="1387852" cy="571500"/>
          </a:xfrm>
          <a:prstGeom prst="rect">
            <a:avLst/>
          </a:prstGeom>
          <a:solidFill>
            <a:srgbClr val="0D2B5E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1143000" y="5372100"/>
            <a:ext cx="1387852" cy="5715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1800" b="1">
                <a:solidFill>
                  <a:srgbClr val="FFFFFF"/>
                </a:solidFill>
                <a:latin typeface="Pretendard"/>
                <a:ea typeface="Pretendard"/>
                <a:cs typeface="Pretendard"/>
              </a:rPr>
              <a:t>문법 검사</a:t>
            </a:r>
          </a:p>
        </p:txBody>
      </p:sp>
      <p:sp>
        <p:nvSpPr>
          <p:cNvPr id="26" name="Rectangle 25"/>
          <p:cNvSpPr/>
          <p:nvPr/>
        </p:nvSpPr>
        <p:spPr>
          <a:xfrm>
            <a:off x="2530852" y="5372100"/>
            <a:ext cx="14614148" cy="571500"/>
          </a:xfrm>
          <a:prstGeom prst="rect">
            <a:avLst/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2683252" y="5372100"/>
            <a:ext cx="14309348" cy="5715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</a:pPr>
            <a:r>
              <a:rPr sz="1800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docker compose config</a:t>
            </a:r>
          </a:p>
        </p:txBody>
      </p:sp>
      <p:sp>
        <p:nvSpPr>
          <p:cNvPr id="28" name="Rectangle 27"/>
          <p:cNvSpPr/>
          <p:nvPr/>
        </p:nvSpPr>
        <p:spPr>
          <a:xfrm>
            <a:off x="1143000" y="6019800"/>
            <a:ext cx="1387852" cy="571500"/>
          </a:xfrm>
          <a:prstGeom prst="rect">
            <a:avLst/>
          </a:prstGeom>
          <a:solidFill>
            <a:srgbClr val="0D2B5E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29" name="TextBox 28"/>
          <p:cNvSpPr txBox="1"/>
          <p:nvPr/>
        </p:nvSpPr>
        <p:spPr>
          <a:xfrm>
            <a:off x="1143000" y="6019800"/>
            <a:ext cx="1387852" cy="5715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1800" b="1">
                <a:solidFill>
                  <a:srgbClr val="FFFFFF"/>
                </a:solidFill>
                <a:latin typeface="Pretendard"/>
                <a:ea typeface="Pretendard"/>
                <a:cs typeface="Pretendard"/>
              </a:rPr>
              <a:t>빌드 + 기동</a:t>
            </a:r>
          </a:p>
        </p:txBody>
      </p:sp>
      <p:sp>
        <p:nvSpPr>
          <p:cNvPr id="30" name="Rectangle 29"/>
          <p:cNvSpPr/>
          <p:nvPr/>
        </p:nvSpPr>
        <p:spPr>
          <a:xfrm>
            <a:off x="2530852" y="6019800"/>
            <a:ext cx="14614148" cy="571500"/>
          </a:xfrm>
          <a:prstGeom prst="rect">
            <a:avLst/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31" name="TextBox 30"/>
          <p:cNvSpPr txBox="1"/>
          <p:nvPr/>
        </p:nvSpPr>
        <p:spPr>
          <a:xfrm>
            <a:off x="2683252" y="6019800"/>
            <a:ext cx="14309348" cy="5715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</a:pPr>
            <a:r>
              <a:rPr sz="1800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docker compose up -d --build</a:t>
            </a:r>
          </a:p>
        </p:txBody>
      </p:sp>
      <p:sp>
        <p:nvSpPr>
          <p:cNvPr id="32" name="Rectangle 31"/>
          <p:cNvSpPr/>
          <p:nvPr/>
        </p:nvSpPr>
        <p:spPr>
          <a:xfrm>
            <a:off x="1143000" y="6667500"/>
            <a:ext cx="1387852" cy="571500"/>
          </a:xfrm>
          <a:prstGeom prst="rect">
            <a:avLst/>
          </a:prstGeom>
          <a:solidFill>
            <a:srgbClr val="0D2B5E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33" name="TextBox 32"/>
          <p:cNvSpPr txBox="1"/>
          <p:nvPr/>
        </p:nvSpPr>
        <p:spPr>
          <a:xfrm>
            <a:off x="1143000" y="6667500"/>
            <a:ext cx="1387852" cy="5715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1800" b="1">
                <a:solidFill>
                  <a:srgbClr val="FFFFFF"/>
                </a:solidFill>
                <a:latin typeface="Pretendard"/>
                <a:ea typeface="Pretendard"/>
                <a:cs typeface="Pretendard"/>
              </a:rPr>
              <a:t>정리</a:t>
            </a:r>
          </a:p>
        </p:txBody>
      </p:sp>
      <p:sp>
        <p:nvSpPr>
          <p:cNvPr id="34" name="Rectangle 33"/>
          <p:cNvSpPr/>
          <p:nvPr/>
        </p:nvSpPr>
        <p:spPr>
          <a:xfrm>
            <a:off x="2530852" y="6667500"/>
            <a:ext cx="14614148" cy="571500"/>
          </a:xfrm>
          <a:prstGeom prst="rect">
            <a:avLst/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35" name="TextBox 34"/>
          <p:cNvSpPr txBox="1"/>
          <p:nvPr/>
        </p:nvSpPr>
        <p:spPr>
          <a:xfrm>
            <a:off x="2683252" y="6667500"/>
            <a:ext cx="14309348" cy="5715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</a:pPr>
            <a:r>
              <a:rPr sz="1800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docker compose down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1143000" y="7620000"/>
            <a:ext cx="16002000" cy="3429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875" b="1">
                <a:solidFill>
                  <a:srgbClr val="7D7D7D"/>
                </a:solidFill>
                <a:latin typeface="Pretendard"/>
                <a:ea typeface="Pretendard"/>
                <a:cs typeface="Pretendard"/>
              </a:rPr>
              <a:t>docker-compose.yml 이 있는 폴더에서 친다 — 다른 곳이면 「no configuration file provided」</a:t>
            </a:r>
          </a:p>
        </p:txBody>
      </p:sp>
      <p:sp>
        <p:nvSpPr>
          <p:cNvPr id="37" name="Rectangle 36"/>
          <p:cNvSpPr/>
          <p:nvPr/>
        </p:nvSpPr>
        <p:spPr>
          <a:xfrm>
            <a:off x="1143000" y="8058150"/>
            <a:ext cx="16002000" cy="9525"/>
          </a:xfrm>
          <a:prstGeom prst="rect">
            <a:avLst/>
          </a:prstGeom>
          <a:solidFill>
            <a:srgbClr val="DCE1E8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38" name="TextBox 37"/>
          <p:cNvSpPr txBox="1"/>
          <p:nvPr/>
        </p:nvSpPr>
        <p:spPr>
          <a:xfrm>
            <a:off x="1143000" y="8248650"/>
            <a:ext cx="13335000" cy="3238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725" b="0">
                <a:solidFill>
                  <a:srgbClr val="7D7D7D"/>
                </a:solidFill>
                <a:latin typeface="Pretendard"/>
                <a:ea typeface="Pretendard"/>
                <a:cs typeface="Pretendard"/>
              </a:rPr>
              <a:t>데이터 엔지니어링 &amp; RAG 파이프라인 160H · 1-5 · 실습 1.5H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15240000" y="8248650"/>
            <a:ext cx="1905000" cy="3238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00000"/>
              </a:lnSpc>
            </a:pPr>
            <a:r>
              <a:rPr sz="1725" b="0">
                <a:solidFill>
                  <a:srgbClr val="7D7D7D"/>
                </a:solidFill>
                <a:latin typeface="Pretendard"/>
                <a:ea typeface="Pretendard"/>
                <a:cs typeface="Pretendard"/>
              </a:rPr>
              <a:t>04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Oval 1"/>
          <p:cNvSpPr/>
          <p:nvPr/>
        </p:nvSpPr>
        <p:spPr>
          <a:xfrm>
            <a:off x="15811500" y="8382000"/>
            <a:ext cx="4953000" cy="4953000"/>
          </a:xfrm>
          <a:prstGeom prst="ellipse">
            <a:avLst/>
          </a:prstGeom>
          <a:solidFill>
            <a:srgbClr val="F3F6FC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3" name="Oval 2"/>
          <p:cNvSpPr/>
          <p:nvPr/>
        </p:nvSpPr>
        <p:spPr>
          <a:xfrm>
            <a:off x="16859250" y="9429750"/>
            <a:ext cx="2857500" cy="2857500"/>
          </a:xfrm>
          <a:prstGeom prst="ellipse">
            <a:avLst/>
          </a:prstGeom>
          <a:solidFill>
            <a:srgbClr val="FFFFFF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4" name="Oval 3"/>
          <p:cNvSpPr/>
          <p:nvPr/>
        </p:nvSpPr>
        <p:spPr>
          <a:xfrm>
            <a:off x="-1428750" y="1428750"/>
            <a:ext cx="2857500" cy="2857500"/>
          </a:xfrm>
          <a:prstGeom prst="ellipse">
            <a:avLst/>
          </a:prstGeom>
          <a:solidFill>
            <a:srgbClr val="F7F8FA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1143000" y="838200"/>
            <a:ext cx="16002000" cy="3429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950" b="1" spc="160">
                <a:solidFill>
                  <a:srgbClr val="1E5BC6"/>
                </a:solidFill>
                <a:latin typeface="Pretendard"/>
                <a:ea typeface="Pretendard"/>
                <a:cs typeface="Pretendard"/>
              </a:rPr>
              <a:t>1단계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43000" y="1162050"/>
            <a:ext cx="16002000" cy="762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5100" b="1">
                <a:solidFill>
                  <a:srgbClr val="0D2B5E"/>
                </a:solidFill>
                <a:latin typeface="Pretendard"/>
                <a:ea typeface="Pretendard"/>
                <a:cs typeface="Pretendard"/>
              </a:rPr>
              <a:t>가장 작은 Compose 파일부터 — 한 바퀴 돌아 보기</a:t>
            </a:r>
          </a:p>
        </p:txBody>
      </p:sp>
      <p:sp>
        <p:nvSpPr>
          <p:cNvPr id="7" name="Rectangle 6"/>
          <p:cNvSpPr/>
          <p:nvPr/>
        </p:nvSpPr>
        <p:spPr>
          <a:xfrm>
            <a:off x="1143000" y="2038350"/>
            <a:ext cx="16002000" cy="28575"/>
          </a:xfrm>
          <a:prstGeom prst="rect">
            <a:avLst/>
          </a:prstGeom>
          <a:solidFill>
            <a:srgbClr val="0D2B5E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8" name="Rounded Rectangle 7"/>
          <p:cNvSpPr/>
          <p:nvPr/>
        </p:nvSpPr>
        <p:spPr>
          <a:xfrm>
            <a:off x="1143000" y="2933700"/>
            <a:ext cx="11430000" cy="1095375"/>
          </a:xfrm>
          <a:prstGeom prst="roundRect">
            <a:avLst>
              <a:gd name="adj" fmla="val 4347"/>
            </a:avLst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9" name="Oval 8"/>
          <p:cNvSpPr/>
          <p:nvPr/>
        </p:nvSpPr>
        <p:spPr>
          <a:xfrm>
            <a:off x="1447800" y="3181350"/>
            <a:ext cx="590550" cy="590550"/>
          </a:xfrm>
          <a:prstGeom prst="ellipse">
            <a:avLst/>
          </a:prstGeom>
          <a:solidFill>
            <a:srgbClr val="0D2B5E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1447800" y="3333750"/>
            <a:ext cx="590550" cy="3238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00000"/>
              </a:lnSpc>
            </a:pPr>
            <a:r>
              <a:rPr sz="2250" b="1">
                <a:solidFill>
                  <a:srgbClr val="FFFFFF"/>
                </a:solidFill>
                <a:latin typeface="Pretendard"/>
                <a:ea typeface="Pretendard"/>
                <a:cs typeface="Pretendard"/>
              </a:rPr>
              <a:t>1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2324100" y="3143250"/>
            <a:ext cx="9906000" cy="4000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2475" b="1">
                <a:solidFill>
                  <a:srgbClr val="0D2B5E"/>
                </a:solidFill>
                <a:latin typeface="Pretendard"/>
                <a:ea typeface="Pretendard"/>
                <a:cs typeface="Pretendard"/>
              </a:rPr>
              <a:t>compose-test 폴더에 yml 하나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2324100" y="3543300"/>
            <a:ext cx="9906000" cy="3619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2025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services 아래 web: image nginx:1.27 · ports "8080:80"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1143000" y="4200525"/>
            <a:ext cx="11430000" cy="1095375"/>
          </a:xfrm>
          <a:prstGeom prst="roundRect">
            <a:avLst>
              <a:gd name="adj" fmla="val 4347"/>
            </a:avLst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4" name="Oval 13"/>
          <p:cNvSpPr/>
          <p:nvPr/>
        </p:nvSpPr>
        <p:spPr>
          <a:xfrm>
            <a:off x="1447800" y="4448175"/>
            <a:ext cx="590550" cy="590550"/>
          </a:xfrm>
          <a:prstGeom prst="ellipse">
            <a:avLst/>
          </a:prstGeom>
          <a:solidFill>
            <a:srgbClr val="0D2B5E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1447800" y="4600575"/>
            <a:ext cx="590550" cy="3238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00000"/>
              </a:lnSpc>
            </a:pPr>
            <a:r>
              <a:rPr sz="2250" b="1">
                <a:solidFill>
                  <a:srgbClr val="FFFFFF"/>
                </a:solidFill>
                <a:latin typeface="Pretendard"/>
                <a:ea typeface="Pretendard"/>
                <a:cs typeface="Pretendard"/>
              </a:rPr>
              <a:t>2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2324100" y="4410075"/>
            <a:ext cx="9906000" cy="4000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2475" b="1">
                <a:solidFill>
                  <a:srgbClr val="0D2B5E"/>
                </a:solidFill>
                <a:latin typeface="Pretendard"/>
                <a:ea typeface="Pretendard"/>
                <a:cs typeface="Pretendard"/>
              </a:rPr>
              <a:t>up -d → ps → curl → logs web → down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2324100" y="4810125"/>
            <a:ext cx="9906000" cy="3619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2025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명령 다섯 개의 손맛을 익힌다 — curl http://localhost:8080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1143000" y="5467350"/>
            <a:ext cx="11430000" cy="1095375"/>
          </a:xfrm>
          <a:prstGeom prst="roundRect">
            <a:avLst>
              <a:gd name="adj" fmla="val 4347"/>
            </a:avLst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9" name="Oval 18"/>
          <p:cNvSpPr/>
          <p:nvPr/>
        </p:nvSpPr>
        <p:spPr>
          <a:xfrm>
            <a:off x="1447800" y="5715000"/>
            <a:ext cx="590550" cy="590550"/>
          </a:xfrm>
          <a:prstGeom prst="ellipse">
            <a:avLst/>
          </a:prstGeom>
          <a:solidFill>
            <a:srgbClr val="0D2B5E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1447800" y="5867400"/>
            <a:ext cx="590550" cy="3238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00000"/>
              </a:lnSpc>
            </a:pPr>
            <a:r>
              <a:rPr sz="2250" b="1">
                <a:solidFill>
                  <a:srgbClr val="FFFFFF"/>
                </a:solidFill>
                <a:latin typeface="Pretendard"/>
                <a:ea typeface="Pretendard"/>
                <a:cs typeface="Pretendard"/>
              </a:rPr>
              <a:t>3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2324100" y="5676900"/>
            <a:ext cx="9906000" cy="4000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2475" b="1">
                <a:solidFill>
                  <a:srgbClr val="0D2B5E"/>
                </a:solidFill>
                <a:latin typeface="Pretendard"/>
                <a:ea typeface="Pretendard"/>
                <a:cs typeface="Pretendard"/>
              </a:rPr>
              <a:t>확인 포인트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2324100" y="6076950"/>
            <a:ext cx="9906000" cy="3619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2025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ps 에 web 이 running · curl 에 Welcome to nginx! · down 뒤 docker ps -a 에 아무것도 없음</a:t>
            </a:r>
          </a:p>
        </p:txBody>
      </p:sp>
      <p:sp>
        <p:nvSpPr>
          <p:cNvPr id="23" name="Rounded Rectangle 22"/>
          <p:cNvSpPr/>
          <p:nvPr/>
        </p:nvSpPr>
        <p:spPr>
          <a:xfrm>
            <a:off x="13144500" y="2933700"/>
            <a:ext cx="4000500" cy="3629025"/>
          </a:xfrm>
          <a:prstGeom prst="roundRect">
            <a:avLst>
              <a:gd name="adj" fmla="val 1312"/>
            </a:avLst>
          </a:prstGeom>
          <a:solidFill>
            <a:srgbClr val="EDF3FD"/>
          </a:solidFill>
          <a:ln w="9525">
            <a:solidFill>
              <a:srgbClr val="BFD3F5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13487400" y="3929062"/>
            <a:ext cx="3314700" cy="3048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800" b="1" spc="190">
                <a:solidFill>
                  <a:srgbClr val="1E5BC6"/>
                </a:solidFill>
                <a:latin typeface="Pretendard"/>
                <a:ea typeface="Pretendard"/>
                <a:cs typeface="Pretendard"/>
              </a:rPr>
              <a:t>어디서 치나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13487400" y="4329112"/>
            <a:ext cx="3314700" cy="12382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8000"/>
              </a:lnSpc>
            </a:pPr>
            <a:r>
              <a:rPr sz="2700" b="1">
                <a:solidFill>
                  <a:srgbClr val="0D2B5E"/>
                </a:solidFill>
                <a:latin typeface="Pretendard"/>
                <a:ea typeface="Pretendard"/>
                <a:cs typeface="Pretendard"/>
              </a:rPr>
              <a:t>yml 있는</a:t>
            </a:r>
          </a:p>
          <a:p>
            <a:pPr algn="l">
              <a:lnSpc>
                <a:spcPct val="138000"/>
              </a:lnSpc>
            </a:pPr>
            <a:r>
              <a:rPr sz="2700" b="1">
                <a:solidFill>
                  <a:srgbClr val="0D2B5E"/>
                </a:solidFill>
                <a:latin typeface="Pretendard"/>
                <a:ea typeface="Pretendard"/>
                <a:cs typeface="Pretendard"/>
              </a:rPr>
              <a:t>폴더에서만</a:t>
            </a:r>
          </a:p>
        </p:txBody>
      </p:sp>
      <p:sp>
        <p:nvSpPr>
          <p:cNvPr id="26" name="Rectangle 25"/>
          <p:cNvSpPr/>
          <p:nvPr/>
        </p:nvSpPr>
        <p:spPr>
          <a:xfrm>
            <a:off x="1143000" y="7581900"/>
            <a:ext cx="38100" cy="323850"/>
          </a:xfrm>
          <a:prstGeom prst="rect">
            <a:avLst/>
          </a:prstGeom>
          <a:solidFill>
            <a:srgbClr val="BFD3F5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1314450" y="7581900"/>
            <a:ext cx="15830550" cy="3429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725" b="1">
                <a:solidFill>
                  <a:srgbClr val="7D7D7D"/>
                </a:solidFill>
                <a:latin typeface="Pretendard"/>
                <a:ea typeface="Pretendard"/>
                <a:cs typeface="Pretendard"/>
              </a:rPr>
              <a:t>mkdir -p ~/data-eng/week1/compose-test 에서 시작합니다</a:t>
            </a:r>
          </a:p>
        </p:txBody>
      </p:sp>
      <p:sp>
        <p:nvSpPr>
          <p:cNvPr id="28" name="Rectangle 27"/>
          <p:cNvSpPr/>
          <p:nvPr/>
        </p:nvSpPr>
        <p:spPr>
          <a:xfrm>
            <a:off x="1143000" y="8058150"/>
            <a:ext cx="16002000" cy="9525"/>
          </a:xfrm>
          <a:prstGeom prst="rect">
            <a:avLst/>
          </a:prstGeom>
          <a:solidFill>
            <a:srgbClr val="DCE1E8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29" name="TextBox 28"/>
          <p:cNvSpPr txBox="1"/>
          <p:nvPr/>
        </p:nvSpPr>
        <p:spPr>
          <a:xfrm>
            <a:off x="1143000" y="8248650"/>
            <a:ext cx="13335000" cy="3238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725" b="0">
                <a:solidFill>
                  <a:srgbClr val="7D7D7D"/>
                </a:solidFill>
                <a:latin typeface="Pretendard"/>
                <a:ea typeface="Pretendard"/>
                <a:cs typeface="Pretendard"/>
              </a:rPr>
              <a:t>데이터 엔지니어링 &amp; RAG 파이프라인 160H · 1-5 · 실습 1.5H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15240000" y="8248650"/>
            <a:ext cx="1905000" cy="3238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00000"/>
              </a:lnSpc>
            </a:pPr>
            <a:r>
              <a:rPr sz="1725" b="0">
                <a:solidFill>
                  <a:srgbClr val="7D7D7D"/>
                </a:solidFill>
                <a:latin typeface="Pretendard"/>
                <a:ea typeface="Pretendard"/>
                <a:cs typeface="Pretendard"/>
              </a:rPr>
              <a:t>05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Oval 1"/>
          <p:cNvSpPr/>
          <p:nvPr/>
        </p:nvSpPr>
        <p:spPr>
          <a:xfrm>
            <a:off x="15811500" y="8382000"/>
            <a:ext cx="4953000" cy="4953000"/>
          </a:xfrm>
          <a:prstGeom prst="ellipse">
            <a:avLst/>
          </a:prstGeom>
          <a:solidFill>
            <a:srgbClr val="F3F6FC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3" name="Oval 2"/>
          <p:cNvSpPr/>
          <p:nvPr/>
        </p:nvSpPr>
        <p:spPr>
          <a:xfrm>
            <a:off x="16859250" y="9429750"/>
            <a:ext cx="2857500" cy="2857500"/>
          </a:xfrm>
          <a:prstGeom prst="ellipse">
            <a:avLst/>
          </a:prstGeom>
          <a:solidFill>
            <a:srgbClr val="FFFFFF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4" name="Oval 3"/>
          <p:cNvSpPr/>
          <p:nvPr/>
        </p:nvSpPr>
        <p:spPr>
          <a:xfrm>
            <a:off x="-1428750" y="1428750"/>
            <a:ext cx="2857500" cy="2857500"/>
          </a:xfrm>
          <a:prstGeom prst="ellipse">
            <a:avLst/>
          </a:prstGeom>
          <a:solidFill>
            <a:srgbClr val="F7F8FA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1143000" y="838200"/>
            <a:ext cx="16002000" cy="3429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950" b="1" spc="160">
                <a:solidFill>
                  <a:srgbClr val="1E5BC6"/>
                </a:solidFill>
                <a:latin typeface="Pretendard"/>
                <a:ea typeface="Pretendard"/>
                <a:cs typeface="Pretendard"/>
              </a:rPr>
              <a:t>2단계 · 일부러 실패시키기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43000" y="1162050"/>
            <a:ext cx="16002000" cy="762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5100" b="1">
                <a:solidFill>
                  <a:srgbClr val="0D2B5E"/>
                </a:solidFill>
                <a:latin typeface="Pretendard"/>
                <a:ea typeface="Pretendard"/>
                <a:cs typeface="Pretendard"/>
              </a:rPr>
              <a:t>client 컨테이너에서 web 을 두 가지 주소로 불러 본다</a:t>
            </a:r>
          </a:p>
        </p:txBody>
      </p:sp>
      <p:sp>
        <p:nvSpPr>
          <p:cNvPr id="7" name="Rectangle 6"/>
          <p:cNvSpPr/>
          <p:nvPr/>
        </p:nvSpPr>
        <p:spPr>
          <a:xfrm>
            <a:off x="1143000" y="2038350"/>
            <a:ext cx="16002000" cy="28575"/>
          </a:xfrm>
          <a:prstGeom prst="rect">
            <a:avLst/>
          </a:prstGeom>
          <a:solidFill>
            <a:srgbClr val="0D2B5E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1143000" y="2857500"/>
            <a:ext cx="7372350" cy="5334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3150" b="1">
                <a:solidFill>
                  <a:srgbClr val="0D2B5E"/>
                </a:solidFill>
                <a:latin typeface="Pretendard"/>
                <a:ea typeface="Pretendard"/>
                <a:cs typeface="Pretendard"/>
              </a:rPr>
              <a:t>http://web:80 — 성공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143000" y="3467100"/>
            <a:ext cx="7372350" cy="8763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6000"/>
              </a:lnSpc>
            </a:pPr>
            <a:r>
              <a:rPr sz="2250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서비스 이름으로 부른다 — 같은 네트워크, 이름이 곧 주소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1143000" y="4610100"/>
            <a:ext cx="7372350" cy="2857500"/>
          </a:xfrm>
          <a:prstGeom prst="roundRect">
            <a:avLst>
              <a:gd name="adj" fmla="val 1666"/>
            </a:avLst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1" name="Oval 10"/>
          <p:cNvSpPr/>
          <p:nvPr/>
        </p:nvSpPr>
        <p:spPr>
          <a:xfrm>
            <a:off x="1447800" y="5016817"/>
            <a:ext cx="97155" cy="97155"/>
          </a:xfrm>
          <a:prstGeom prst="ellipse">
            <a:avLst/>
          </a:prstGeom>
          <a:solidFill>
            <a:srgbClr val="1E5BC6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1633538" y="4838700"/>
            <a:ext cx="6634162" cy="45339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20000"/>
              </a:lnSpc>
            </a:pPr>
            <a:r>
              <a:rPr sz="1575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exec client curl -s http://web:80</a:t>
            </a:r>
          </a:p>
        </p:txBody>
      </p:sp>
      <p:sp>
        <p:nvSpPr>
          <p:cNvPr id="13" name="Oval 12"/>
          <p:cNvSpPr/>
          <p:nvPr/>
        </p:nvSpPr>
        <p:spPr>
          <a:xfrm>
            <a:off x="1447800" y="5527358"/>
            <a:ext cx="97155" cy="97155"/>
          </a:xfrm>
          <a:prstGeom prst="ellipse">
            <a:avLst/>
          </a:prstGeom>
          <a:solidFill>
            <a:srgbClr val="1E5BC6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1633538" y="5349240"/>
            <a:ext cx="6634162" cy="45339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20000"/>
              </a:lnSpc>
            </a:pPr>
            <a:r>
              <a:rPr sz="1575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nginx HTML 이 돌아온다</a:t>
            </a:r>
          </a:p>
        </p:txBody>
      </p:sp>
      <p:sp>
        <p:nvSpPr>
          <p:cNvPr id="15" name="Oval 14"/>
          <p:cNvSpPr/>
          <p:nvPr/>
        </p:nvSpPr>
        <p:spPr>
          <a:xfrm>
            <a:off x="1447800" y="6037898"/>
            <a:ext cx="97155" cy="97155"/>
          </a:xfrm>
          <a:prstGeom prst="ellipse">
            <a:avLst/>
          </a:prstGeom>
          <a:solidFill>
            <a:srgbClr val="1E5BC6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1633538" y="5859780"/>
            <a:ext cx="6634162" cy="45339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20000"/>
              </a:lnSpc>
            </a:pPr>
            <a:r>
              <a:rPr sz="1575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client 는 sleep infinity 로 띄워 둔다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9772650" y="2857500"/>
            <a:ext cx="7372350" cy="5334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3150" b="1">
                <a:solidFill>
                  <a:srgbClr val="0D2B5E"/>
                </a:solidFill>
                <a:latin typeface="Pretendard"/>
                <a:ea typeface="Pretendard"/>
                <a:cs typeface="Pretendard"/>
              </a:rPr>
              <a:t>http://localhost:80 — 실패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9772650" y="3467100"/>
            <a:ext cx="7372350" cy="8763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6000"/>
              </a:lnSpc>
            </a:pPr>
            <a:r>
              <a:rPr sz="2250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같은 자리에서 localhost 로 부르면 자기 자신을 가리킨다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9772650" y="4610100"/>
            <a:ext cx="7372350" cy="2857500"/>
          </a:xfrm>
          <a:prstGeom prst="roundRect">
            <a:avLst>
              <a:gd name="adj" fmla="val 1666"/>
            </a:avLst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20" name="Oval 19"/>
          <p:cNvSpPr/>
          <p:nvPr/>
        </p:nvSpPr>
        <p:spPr>
          <a:xfrm>
            <a:off x="10077450" y="5016817"/>
            <a:ext cx="97155" cy="97155"/>
          </a:xfrm>
          <a:prstGeom prst="ellipse">
            <a:avLst/>
          </a:prstGeom>
          <a:solidFill>
            <a:srgbClr val="1E5BC6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10263188" y="4838700"/>
            <a:ext cx="6634162" cy="45339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20000"/>
              </a:lnSpc>
            </a:pPr>
            <a:r>
              <a:rPr sz="1575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curl --max-time 3 http://localhost:80</a:t>
            </a:r>
          </a:p>
        </p:txBody>
      </p:sp>
      <p:sp>
        <p:nvSpPr>
          <p:cNvPr id="22" name="Oval 21"/>
          <p:cNvSpPr/>
          <p:nvPr/>
        </p:nvSpPr>
        <p:spPr>
          <a:xfrm>
            <a:off x="10077450" y="5527358"/>
            <a:ext cx="97155" cy="97155"/>
          </a:xfrm>
          <a:prstGeom prst="ellipse">
            <a:avLst/>
          </a:prstGeom>
          <a:solidFill>
            <a:srgbClr val="1E5BC6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10263188" y="5349240"/>
            <a:ext cx="6634162" cy="45339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20000"/>
              </a:lnSpc>
            </a:pPr>
            <a:r>
              <a:rPr sz="1575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실패해야 성공 — 정상입니다</a:t>
            </a:r>
          </a:p>
        </p:txBody>
      </p:sp>
      <p:sp>
        <p:nvSpPr>
          <p:cNvPr id="24" name="Oval 23"/>
          <p:cNvSpPr/>
          <p:nvPr/>
        </p:nvSpPr>
        <p:spPr>
          <a:xfrm>
            <a:off x="10077450" y="6037898"/>
            <a:ext cx="97155" cy="97155"/>
          </a:xfrm>
          <a:prstGeom prst="ellipse">
            <a:avLst/>
          </a:prstGeom>
          <a:solidFill>
            <a:srgbClr val="1E5BC6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10263188" y="5859780"/>
            <a:ext cx="6634162" cy="45339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20000"/>
              </a:lnSpc>
            </a:pPr>
            <a:r>
              <a:rPr sz="1575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이론의 규칙을 직접 확인한 것</a:t>
            </a:r>
          </a:p>
        </p:txBody>
      </p:sp>
      <p:sp>
        <p:nvSpPr>
          <p:cNvPr id="26" name="Oval 25"/>
          <p:cNvSpPr/>
          <p:nvPr/>
        </p:nvSpPr>
        <p:spPr>
          <a:xfrm>
            <a:off x="8686800" y="3771900"/>
            <a:ext cx="914400" cy="914400"/>
          </a:xfrm>
          <a:prstGeom prst="ellipse">
            <a:avLst/>
          </a:prstGeom>
          <a:solidFill>
            <a:srgbClr val="0D2B5E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8686800" y="4057650"/>
            <a:ext cx="914400" cy="381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00000"/>
              </a:lnSpc>
            </a:pPr>
            <a:r>
              <a:rPr sz="2250" b="1">
                <a:solidFill>
                  <a:srgbClr val="FFFFFF"/>
                </a:solidFill>
                <a:latin typeface="Pretendard"/>
                <a:ea typeface="Pretendard"/>
                <a:cs typeface="Pretendard"/>
              </a:rPr>
              <a:t>VS</a:t>
            </a:r>
          </a:p>
        </p:txBody>
      </p:sp>
      <p:sp>
        <p:nvSpPr>
          <p:cNvPr id="28" name="Rectangle 27"/>
          <p:cNvSpPr/>
          <p:nvPr/>
        </p:nvSpPr>
        <p:spPr>
          <a:xfrm>
            <a:off x="1143000" y="8058150"/>
            <a:ext cx="16002000" cy="9525"/>
          </a:xfrm>
          <a:prstGeom prst="rect">
            <a:avLst/>
          </a:prstGeom>
          <a:solidFill>
            <a:srgbClr val="DCE1E8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29" name="TextBox 28"/>
          <p:cNvSpPr txBox="1"/>
          <p:nvPr/>
        </p:nvSpPr>
        <p:spPr>
          <a:xfrm>
            <a:off x="1143000" y="8248650"/>
            <a:ext cx="13335000" cy="3238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725" b="0">
                <a:solidFill>
                  <a:srgbClr val="7D7D7D"/>
                </a:solidFill>
                <a:latin typeface="Pretendard"/>
                <a:ea typeface="Pretendard"/>
                <a:cs typeface="Pretendard"/>
              </a:rPr>
              <a:t>데이터 엔지니어링 &amp; RAG 파이프라인 160H · 1-5 · 실습 1.5H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15240000" y="8248650"/>
            <a:ext cx="1905000" cy="3238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00000"/>
              </a:lnSpc>
            </a:pPr>
            <a:r>
              <a:rPr sz="1725" b="0">
                <a:solidFill>
                  <a:srgbClr val="7D7D7D"/>
                </a:solidFill>
                <a:latin typeface="Pretendard"/>
                <a:ea typeface="Pretendard"/>
                <a:cs typeface="Pretendard"/>
              </a:rPr>
              <a:t>06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Oval 1"/>
          <p:cNvSpPr/>
          <p:nvPr/>
        </p:nvSpPr>
        <p:spPr>
          <a:xfrm>
            <a:off x="15811500" y="8382000"/>
            <a:ext cx="4953000" cy="4953000"/>
          </a:xfrm>
          <a:prstGeom prst="ellipse">
            <a:avLst/>
          </a:prstGeom>
          <a:solidFill>
            <a:srgbClr val="F3F6FC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3" name="Oval 2"/>
          <p:cNvSpPr/>
          <p:nvPr/>
        </p:nvSpPr>
        <p:spPr>
          <a:xfrm>
            <a:off x="16859250" y="9429750"/>
            <a:ext cx="2857500" cy="2857500"/>
          </a:xfrm>
          <a:prstGeom prst="ellipse">
            <a:avLst/>
          </a:prstGeom>
          <a:solidFill>
            <a:srgbClr val="FFFFFF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4" name="Oval 3"/>
          <p:cNvSpPr/>
          <p:nvPr/>
        </p:nvSpPr>
        <p:spPr>
          <a:xfrm>
            <a:off x="-1428750" y="1428750"/>
            <a:ext cx="2857500" cy="2857500"/>
          </a:xfrm>
          <a:prstGeom prst="ellipse">
            <a:avLst/>
          </a:prstGeom>
          <a:solidFill>
            <a:srgbClr val="F7F8FA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1143000" y="838200"/>
            <a:ext cx="16002000" cy="3429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950" b="1" spc="160">
                <a:solidFill>
                  <a:srgbClr val="1E5BC6"/>
                </a:solidFill>
                <a:latin typeface="Pretendard"/>
                <a:ea typeface="Pretendard"/>
                <a:cs typeface="Pretendard"/>
              </a:rPr>
              <a:t>3단계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43000" y="1162050"/>
            <a:ext cx="16002000" cy="762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5100" b="1">
                <a:solidFill>
                  <a:srgbClr val="0D2B5E"/>
                </a:solidFill>
                <a:latin typeface="Pretendard"/>
                <a:ea typeface="Pretendard"/>
                <a:cs typeface="Pretendard"/>
              </a:rPr>
              <a:t>통합 환경 docker-compose.yml — 서비스 셋과 볼륨 하나</a:t>
            </a:r>
          </a:p>
        </p:txBody>
      </p:sp>
      <p:sp>
        <p:nvSpPr>
          <p:cNvPr id="7" name="Rectangle 6"/>
          <p:cNvSpPr/>
          <p:nvPr/>
        </p:nvSpPr>
        <p:spPr>
          <a:xfrm>
            <a:off x="1143000" y="2038350"/>
            <a:ext cx="16002000" cy="28575"/>
          </a:xfrm>
          <a:prstGeom prst="rect">
            <a:avLst/>
          </a:prstGeom>
          <a:solidFill>
            <a:srgbClr val="0D2B5E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1143000" y="2781300"/>
            <a:ext cx="3482340" cy="590550"/>
          </a:xfrm>
          <a:prstGeom prst="rect">
            <a:avLst/>
          </a:prstGeom>
          <a:solidFill>
            <a:srgbClr val="0D2B5E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1143000" y="2781300"/>
            <a:ext cx="3482340" cy="59055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2025" b="1">
                <a:solidFill>
                  <a:srgbClr val="FFFFFF"/>
                </a:solidFill>
                <a:latin typeface="Pretendard"/>
                <a:ea typeface="Pretendard"/>
                <a:cs typeface="Pretendard"/>
              </a:rPr>
              <a:t>서비스</a:t>
            </a:r>
          </a:p>
        </p:txBody>
      </p:sp>
      <p:sp>
        <p:nvSpPr>
          <p:cNvPr id="10" name="Rectangle 9"/>
          <p:cNvSpPr/>
          <p:nvPr/>
        </p:nvSpPr>
        <p:spPr>
          <a:xfrm>
            <a:off x="4663440" y="2781300"/>
            <a:ext cx="5402580" cy="590550"/>
          </a:xfrm>
          <a:prstGeom prst="rect">
            <a:avLst/>
          </a:prstGeom>
          <a:solidFill>
            <a:srgbClr val="1E5BC6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4663440" y="2781300"/>
            <a:ext cx="5402580" cy="59055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2025" b="1">
                <a:solidFill>
                  <a:srgbClr val="FFFFFF"/>
                </a:solidFill>
                <a:latin typeface="Pretendard"/>
                <a:ea typeface="Pretendard"/>
                <a:cs typeface="Pretendard"/>
              </a:rPr>
              <a:t>무엇으로</a:t>
            </a:r>
          </a:p>
        </p:txBody>
      </p:sp>
      <p:sp>
        <p:nvSpPr>
          <p:cNvPr id="12" name="Rectangle 11"/>
          <p:cNvSpPr/>
          <p:nvPr/>
        </p:nvSpPr>
        <p:spPr>
          <a:xfrm>
            <a:off x="10104120" y="2781300"/>
            <a:ext cx="7040880" cy="590550"/>
          </a:xfrm>
          <a:prstGeom prst="rect">
            <a:avLst/>
          </a:prstGeom>
          <a:solidFill>
            <a:srgbClr val="1E5BC6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10104120" y="2781300"/>
            <a:ext cx="7040880" cy="59055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2025" b="1">
                <a:solidFill>
                  <a:srgbClr val="FFFFFF"/>
                </a:solidFill>
                <a:latin typeface="Pretendard"/>
                <a:ea typeface="Pretendard"/>
                <a:cs typeface="Pretendard"/>
              </a:rPr>
              <a:t>핵심 설정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1143000" y="3448050"/>
            <a:ext cx="3482340" cy="647700"/>
          </a:xfrm>
          <a:prstGeom prst="roundRect">
            <a:avLst>
              <a:gd name="adj" fmla="val 5882"/>
            </a:avLst>
          </a:prstGeom>
          <a:solidFill>
            <a:srgbClr val="EDF3FD"/>
          </a:solidFill>
          <a:ln w="9525">
            <a:solidFill>
              <a:srgbClr val="BFD3F5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1238250" y="3448050"/>
            <a:ext cx="3291840" cy="6477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</a:pPr>
            <a:r>
              <a:rPr sz="1875" b="1">
                <a:solidFill>
                  <a:srgbClr val="0D2B5E"/>
                </a:solidFill>
                <a:latin typeface="Pretendard"/>
                <a:ea typeface="Pretendard"/>
                <a:cs typeface="Pretendard"/>
              </a:rPr>
              <a:t>db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4663440" y="3448050"/>
            <a:ext cx="5402580" cy="647700"/>
          </a:xfrm>
          <a:prstGeom prst="roundRect">
            <a:avLst>
              <a:gd name="adj" fmla="val 5882"/>
            </a:avLst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4758690" y="3448050"/>
            <a:ext cx="5212080" cy="6477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5000"/>
              </a:lnSpc>
            </a:pPr>
            <a:r>
              <a:rPr sz="1875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postgres:16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10104120" y="3448050"/>
            <a:ext cx="7040880" cy="647700"/>
          </a:xfrm>
          <a:prstGeom prst="roundRect">
            <a:avLst>
              <a:gd name="adj" fmla="val 5882"/>
            </a:avLst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10199370" y="3448050"/>
            <a:ext cx="6850380" cy="6477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5000"/>
              </a:lnSpc>
            </a:pPr>
            <a:r>
              <a:rPr sz="1875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5432:5432 · pgdata 볼륨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1143000" y="4171950"/>
            <a:ext cx="3482340" cy="647700"/>
          </a:xfrm>
          <a:prstGeom prst="roundRect">
            <a:avLst>
              <a:gd name="adj" fmla="val 5882"/>
            </a:avLst>
          </a:prstGeom>
          <a:solidFill>
            <a:srgbClr val="EDF3FD"/>
          </a:solidFill>
          <a:ln w="9525">
            <a:solidFill>
              <a:srgbClr val="BFD3F5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1238250" y="4171950"/>
            <a:ext cx="3291840" cy="6477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</a:pPr>
            <a:r>
              <a:rPr sz="1875" b="1">
                <a:solidFill>
                  <a:srgbClr val="0D2B5E"/>
                </a:solidFill>
                <a:latin typeface="Pretendard"/>
                <a:ea typeface="Pretendard"/>
                <a:cs typeface="Pretendard"/>
              </a:rPr>
              <a:t>admin</a:t>
            </a:r>
          </a:p>
        </p:txBody>
      </p:sp>
      <p:sp>
        <p:nvSpPr>
          <p:cNvPr id="22" name="Rounded Rectangle 21"/>
          <p:cNvSpPr/>
          <p:nvPr/>
        </p:nvSpPr>
        <p:spPr>
          <a:xfrm>
            <a:off x="4663440" y="4171950"/>
            <a:ext cx="5402580" cy="647700"/>
          </a:xfrm>
          <a:prstGeom prst="roundRect">
            <a:avLst>
              <a:gd name="adj" fmla="val 5882"/>
            </a:avLst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4758690" y="4171950"/>
            <a:ext cx="5212080" cy="6477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5000"/>
              </a:lnSpc>
            </a:pPr>
            <a:r>
              <a:rPr sz="1875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dpage/pgadmin4</a:t>
            </a:r>
          </a:p>
        </p:txBody>
      </p:sp>
      <p:sp>
        <p:nvSpPr>
          <p:cNvPr id="24" name="Rounded Rectangle 23"/>
          <p:cNvSpPr/>
          <p:nvPr/>
        </p:nvSpPr>
        <p:spPr>
          <a:xfrm>
            <a:off x="10104120" y="4171950"/>
            <a:ext cx="7040880" cy="647700"/>
          </a:xfrm>
          <a:prstGeom prst="roundRect">
            <a:avLst>
              <a:gd name="adj" fmla="val 5882"/>
            </a:avLst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10199370" y="4171950"/>
            <a:ext cx="6850380" cy="6477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5000"/>
              </a:lnSpc>
            </a:pPr>
            <a:r>
              <a:rPr sz="1875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8081:80 · depends_on db</a:t>
            </a:r>
          </a:p>
        </p:txBody>
      </p:sp>
      <p:sp>
        <p:nvSpPr>
          <p:cNvPr id="26" name="Rounded Rectangle 25"/>
          <p:cNvSpPr/>
          <p:nvPr/>
        </p:nvSpPr>
        <p:spPr>
          <a:xfrm>
            <a:off x="1143000" y="4895850"/>
            <a:ext cx="3482340" cy="647700"/>
          </a:xfrm>
          <a:prstGeom prst="roundRect">
            <a:avLst>
              <a:gd name="adj" fmla="val 5882"/>
            </a:avLst>
          </a:prstGeom>
          <a:solidFill>
            <a:srgbClr val="EDF3FD"/>
          </a:solidFill>
          <a:ln w="9525">
            <a:solidFill>
              <a:srgbClr val="BFD3F5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1238250" y="4895850"/>
            <a:ext cx="3291840" cy="6477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</a:pPr>
            <a:r>
              <a:rPr sz="1875" b="1">
                <a:solidFill>
                  <a:srgbClr val="0D2B5E"/>
                </a:solidFill>
                <a:latin typeface="Pretendard"/>
                <a:ea typeface="Pretendard"/>
                <a:cs typeface="Pretendard"/>
              </a:rPr>
              <a:t>app</a:t>
            </a:r>
          </a:p>
        </p:txBody>
      </p:sp>
      <p:sp>
        <p:nvSpPr>
          <p:cNvPr id="28" name="Rounded Rectangle 27"/>
          <p:cNvSpPr/>
          <p:nvPr/>
        </p:nvSpPr>
        <p:spPr>
          <a:xfrm>
            <a:off x="4663440" y="4895850"/>
            <a:ext cx="5402580" cy="647700"/>
          </a:xfrm>
          <a:prstGeom prst="roundRect">
            <a:avLst>
              <a:gd name="adj" fmla="val 5882"/>
            </a:avLst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29" name="TextBox 28"/>
          <p:cNvSpPr txBox="1"/>
          <p:nvPr/>
        </p:nvSpPr>
        <p:spPr>
          <a:xfrm>
            <a:off x="4758690" y="4895850"/>
            <a:ext cx="5212080" cy="6477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5000"/>
              </a:lnSpc>
            </a:pPr>
            <a:r>
              <a:rPr sz="1875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build: ./app</a:t>
            </a:r>
          </a:p>
        </p:txBody>
      </p:sp>
      <p:sp>
        <p:nvSpPr>
          <p:cNvPr id="30" name="Rounded Rectangle 29"/>
          <p:cNvSpPr/>
          <p:nvPr/>
        </p:nvSpPr>
        <p:spPr>
          <a:xfrm>
            <a:off x="10104120" y="4895850"/>
            <a:ext cx="7040880" cy="647700"/>
          </a:xfrm>
          <a:prstGeom prst="roundRect">
            <a:avLst>
              <a:gd name="adj" fmla="val 5882"/>
            </a:avLst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31" name="TextBox 30"/>
          <p:cNvSpPr txBox="1"/>
          <p:nvPr/>
        </p:nvSpPr>
        <p:spPr>
          <a:xfrm>
            <a:off x="10199370" y="4895850"/>
            <a:ext cx="6850380" cy="6477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5000"/>
              </a:lnSpc>
            </a:pPr>
            <a:r>
              <a:rPr sz="1875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depends_on db · 1-4 앱</a:t>
            </a:r>
          </a:p>
        </p:txBody>
      </p:sp>
      <p:sp>
        <p:nvSpPr>
          <p:cNvPr id="32" name="Rounded Rectangle 31"/>
          <p:cNvSpPr/>
          <p:nvPr/>
        </p:nvSpPr>
        <p:spPr>
          <a:xfrm>
            <a:off x="1143000" y="5619750"/>
            <a:ext cx="3482340" cy="647700"/>
          </a:xfrm>
          <a:prstGeom prst="roundRect">
            <a:avLst>
              <a:gd name="adj" fmla="val 5882"/>
            </a:avLst>
          </a:prstGeom>
          <a:solidFill>
            <a:srgbClr val="EDF3FD"/>
          </a:solidFill>
          <a:ln w="9525">
            <a:solidFill>
              <a:srgbClr val="BFD3F5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33" name="TextBox 32"/>
          <p:cNvSpPr txBox="1"/>
          <p:nvPr/>
        </p:nvSpPr>
        <p:spPr>
          <a:xfrm>
            <a:off x="1238250" y="5619750"/>
            <a:ext cx="3291840" cy="6477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</a:pPr>
            <a:r>
              <a:rPr sz="1875" b="1">
                <a:solidFill>
                  <a:srgbClr val="0D2B5E"/>
                </a:solidFill>
                <a:latin typeface="Pretendard"/>
                <a:ea typeface="Pretendard"/>
                <a:cs typeface="Pretendard"/>
              </a:rPr>
              <a:t>volumes</a:t>
            </a:r>
          </a:p>
        </p:txBody>
      </p:sp>
      <p:sp>
        <p:nvSpPr>
          <p:cNvPr id="34" name="Rounded Rectangle 33"/>
          <p:cNvSpPr/>
          <p:nvPr/>
        </p:nvSpPr>
        <p:spPr>
          <a:xfrm>
            <a:off x="4663440" y="5619750"/>
            <a:ext cx="5402580" cy="647700"/>
          </a:xfrm>
          <a:prstGeom prst="roundRect">
            <a:avLst>
              <a:gd name="adj" fmla="val 5882"/>
            </a:avLst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35" name="TextBox 34"/>
          <p:cNvSpPr txBox="1"/>
          <p:nvPr/>
        </p:nvSpPr>
        <p:spPr>
          <a:xfrm>
            <a:off x="4758690" y="5619750"/>
            <a:ext cx="5212080" cy="6477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5000"/>
              </a:lnSpc>
            </a:pPr>
            <a:r>
              <a:rPr sz="1875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pgdata:</a:t>
            </a:r>
          </a:p>
        </p:txBody>
      </p:sp>
      <p:sp>
        <p:nvSpPr>
          <p:cNvPr id="36" name="Rounded Rectangle 35"/>
          <p:cNvSpPr/>
          <p:nvPr/>
        </p:nvSpPr>
        <p:spPr>
          <a:xfrm>
            <a:off x="10104120" y="5619750"/>
            <a:ext cx="7040880" cy="647700"/>
          </a:xfrm>
          <a:prstGeom prst="roundRect">
            <a:avLst>
              <a:gd name="adj" fmla="val 5882"/>
            </a:avLst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37" name="TextBox 36"/>
          <p:cNvSpPr txBox="1"/>
          <p:nvPr/>
        </p:nvSpPr>
        <p:spPr>
          <a:xfrm>
            <a:off x="10199370" y="5619750"/>
            <a:ext cx="6850380" cy="6477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5000"/>
              </a:lnSpc>
            </a:pPr>
            <a:r>
              <a:rPr sz="1875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이름 볼륨 선언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1143000" y="6362700"/>
            <a:ext cx="16002000" cy="4381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00000"/>
              </a:lnSpc>
            </a:pPr>
            <a:r>
              <a:rPr sz="1875" b="1">
                <a:solidFill>
                  <a:srgbClr val="7D7D7D"/>
                </a:solidFill>
                <a:latin typeface="Pretendard"/>
                <a:ea typeface="Pretendard"/>
                <a:cs typeface="Pretendard"/>
              </a:rPr>
              <a:t>db 환경변수 engineer · engineer123 · pipeline / admin 로그인 admin@example.com · admin123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1143000" y="7620000"/>
            <a:ext cx="16002000" cy="3429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875" b="1">
                <a:solidFill>
                  <a:srgbClr val="7D7D7D"/>
                </a:solidFill>
                <a:latin typeface="Pretendard"/>
                <a:ea typeface="Pretendard"/>
                <a:cs typeface="Pretendard"/>
              </a:rPr>
              <a:t>쓰고 나서 docker compose config — 실행하지 않고 해석만 한다. ls app 에 Dockerfile 이 보여야 build 가 된다</a:t>
            </a:r>
          </a:p>
        </p:txBody>
      </p:sp>
      <p:sp>
        <p:nvSpPr>
          <p:cNvPr id="40" name="Rectangle 39"/>
          <p:cNvSpPr/>
          <p:nvPr/>
        </p:nvSpPr>
        <p:spPr>
          <a:xfrm>
            <a:off x="1143000" y="8058150"/>
            <a:ext cx="16002000" cy="9525"/>
          </a:xfrm>
          <a:prstGeom prst="rect">
            <a:avLst/>
          </a:prstGeom>
          <a:solidFill>
            <a:srgbClr val="DCE1E8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41" name="TextBox 40"/>
          <p:cNvSpPr txBox="1"/>
          <p:nvPr/>
        </p:nvSpPr>
        <p:spPr>
          <a:xfrm>
            <a:off x="1143000" y="8248650"/>
            <a:ext cx="13335000" cy="3238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725" b="0">
                <a:solidFill>
                  <a:srgbClr val="7D7D7D"/>
                </a:solidFill>
                <a:latin typeface="Pretendard"/>
                <a:ea typeface="Pretendard"/>
                <a:cs typeface="Pretendard"/>
              </a:rPr>
              <a:t>데이터 엔지니어링 &amp; RAG 파이프라인 160H · 1-5 · 실습 1.5H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15240000" y="8248650"/>
            <a:ext cx="1905000" cy="3238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00000"/>
              </a:lnSpc>
            </a:pPr>
            <a:r>
              <a:rPr sz="1725" b="0">
                <a:solidFill>
                  <a:srgbClr val="7D7D7D"/>
                </a:solidFill>
                <a:latin typeface="Pretendard"/>
                <a:ea typeface="Pretendard"/>
                <a:cs typeface="Pretendard"/>
              </a:rPr>
              <a:t>07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Oval 1"/>
          <p:cNvSpPr/>
          <p:nvPr/>
        </p:nvSpPr>
        <p:spPr>
          <a:xfrm>
            <a:off x="15811500" y="8382000"/>
            <a:ext cx="4953000" cy="4953000"/>
          </a:xfrm>
          <a:prstGeom prst="ellipse">
            <a:avLst/>
          </a:prstGeom>
          <a:solidFill>
            <a:srgbClr val="F3F6FC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3" name="Oval 2"/>
          <p:cNvSpPr/>
          <p:nvPr/>
        </p:nvSpPr>
        <p:spPr>
          <a:xfrm>
            <a:off x="16859250" y="9429750"/>
            <a:ext cx="2857500" cy="2857500"/>
          </a:xfrm>
          <a:prstGeom prst="ellipse">
            <a:avLst/>
          </a:prstGeom>
          <a:solidFill>
            <a:srgbClr val="FFFFFF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4" name="Oval 3"/>
          <p:cNvSpPr/>
          <p:nvPr/>
        </p:nvSpPr>
        <p:spPr>
          <a:xfrm>
            <a:off x="-1428750" y="1428750"/>
            <a:ext cx="2857500" cy="2857500"/>
          </a:xfrm>
          <a:prstGeom prst="ellipse">
            <a:avLst/>
          </a:prstGeom>
          <a:solidFill>
            <a:srgbClr val="F7F8FA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1143000" y="838200"/>
            <a:ext cx="16002000" cy="3429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950" b="1" spc="160">
                <a:solidFill>
                  <a:srgbClr val="1E5BC6"/>
                </a:solidFill>
                <a:latin typeface="Pretendard"/>
                <a:ea typeface="Pretendard"/>
                <a:cs typeface="Pretendard"/>
              </a:rPr>
              <a:t>4 · 5단계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43000" y="1162050"/>
            <a:ext cx="16002000" cy="762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5100" b="1">
                <a:solidFill>
                  <a:srgbClr val="0D2B5E"/>
                </a:solidFill>
                <a:latin typeface="Pretendard"/>
                <a:ea typeface="Pretendard"/>
                <a:cs typeface="Pretendard"/>
              </a:rPr>
              <a:t>한 번에 기동하고 서비스 간 연결을 확인한다</a:t>
            </a:r>
          </a:p>
        </p:txBody>
      </p:sp>
      <p:sp>
        <p:nvSpPr>
          <p:cNvPr id="7" name="Rectangle 6"/>
          <p:cNvSpPr/>
          <p:nvPr/>
        </p:nvSpPr>
        <p:spPr>
          <a:xfrm>
            <a:off x="1143000" y="2038350"/>
            <a:ext cx="16002000" cy="28575"/>
          </a:xfrm>
          <a:prstGeom prst="rect">
            <a:avLst/>
          </a:prstGeom>
          <a:solidFill>
            <a:srgbClr val="0D2B5E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8" name="Rounded Rectangle 7"/>
          <p:cNvSpPr/>
          <p:nvPr/>
        </p:nvSpPr>
        <p:spPr>
          <a:xfrm>
            <a:off x="1143000" y="2933700"/>
            <a:ext cx="11430000" cy="1095375"/>
          </a:xfrm>
          <a:prstGeom prst="roundRect">
            <a:avLst>
              <a:gd name="adj" fmla="val 4347"/>
            </a:avLst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9" name="Oval 8"/>
          <p:cNvSpPr/>
          <p:nvPr/>
        </p:nvSpPr>
        <p:spPr>
          <a:xfrm>
            <a:off x="1447800" y="3181350"/>
            <a:ext cx="590550" cy="590550"/>
          </a:xfrm>
          <a:prstGeom prst="ellipse">
            <a:avLst/>
          </a:prstGeom>
          <a:solidFill>
            <a:srgbClr val="0D2B5E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1447800" y="3333750"/>
            <a:ext cx="590550" cy="3238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00000"/>
              </a:lnSpc>
            </a:pPr>
            <a:r>
              <a:rPr sz="2250" b="1">
                <a:solidFill>
                  <a:srgbClr val="FFFFFF"/>
                </a:solidFill>
                <a:latin typeface="Pretendard"/>
                <a:ea typeface="Pretendard"/>
                <a:cs typeface="Pretendard"/>
              </a:rPr>
              <a:t>1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2324100" y="3143250"/>
            <a:ext cx="9906000" cy="4000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2475" b="1">
                <a:solidFill>
                  <a:srgbClr val="0D2B5E"/>
                </a:solidFill>
                <a:latin typeface="Pretendard"/>
                <a:ea typeface="Pretendard"/>
                <a:cs typeface="Pretendard"/>
              </a:rPr>
              <a:t>docker stop pg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2324100" y="3543300"/>
            <a:ext cx="9906000" cy="3619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2025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3차시 pg 컨테이너가 5432 를 쓰고 있으면 먼저 정지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1143000" y="4200525"/>
            <a:ext cx="11430000" cy="1095375"/>
          </a:xfrm>
          <a:prstGeom prst="roundRect">
            <a:avLst>
              <a:gd name="adj" fmla="val 4347"/>
            </a:avLst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4" name="Oval 13"/>
          <p:cNvSpPr/>
          <p:nvPr/>
        </p:nvSpPr>
        <p:spPr>
          <a:xfrm>
            <a:off x="1447800" y="4448175"/>
            <a:ext cx="590550" cy="590550"/>
          </a:xfrm>
          <a:prstGeom prst="ellipse">
            <a:avLst/>
          </a:prstGeom>
          <a:solidFill>
            <a:srgbClr val="0D2B5E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1447800" y="4600575"/>
            <a:ext cx="590550" cy="3238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00000"/>
              </a:lnSpc>
            </a:pPr>
            <a:r>
              <a:rPr sz="2250" b="1">
                <a:solidFill>
                  <a:srgbClr val="FFFFFF"/>
                </a:solidFill>
                <a:latin typeface="Pretendard"/>
                <a:ea typeface="Pretendard"/>
                <a:cs typeface="Pretendard"/>
              </a:rPr>
              <a:t>2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2324100" y="4410075"/>
            <a:ext cx="9906000" cy="4000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2475" b="1">
                <a:solidFill>
                  <a:srgbClr val="0D2B5E"/>
                </a:solidFill>
                <a:latin typeface="Pretendard"/>
                <a:ea typeface="Pretendard"/>
                <a:cs typeface="Pretendard"/>
              </a:rPr>
              <a:t>docker compose up -d --build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2324100" y="4810125"/>
            <a:ext cx="9906000" cy="3619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2025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빌드와 기동을 한 번에 — ps -a 에 db·admin 은 running, app 은 exited (0) 이 정상(일회성 앱)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1143000" y="5467350"/>
            <a:ext cx="11430000" cy="1095375"/>
          </a:xfrm>
          <a:prstGeom prst="roundRect">
            <a:avLst>
              <a:gd name="adj" fmla="val 4347"/>
            </a:avLst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9" name="Oval 18"/>
          <p:cNvSpPr/>
          <p:nvPr/>
        </p:nvSpPr>
        <p:spPr>
          <a:xfrm>
            <a:off x="1447800" y="5715000"/>
            <a:ext cx="590550" cy="590550"/>
          </a:xfrm>
          <a:prstGeom prst="ellipse">
            <a:avLst/>
          </a:prstGeom>
          <a:solidFill>
            <a:srgbClr val="0D2B5E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1447800" y="5867400"/>
            <a:ext cx="590550" cy="3238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00000"/>
              </a:lnSpc>
            </a:pPr>
            <a:r>
              <a:rPr sz="2250" b="1">
                <a:solidFill>
                  <a:srgbClr val="FFFFFF"/>
                </a:solidFill>
                <a:latin typeface="Pretendard"/>
                <a:ea typeface="Pretendard"/>
                <a:cs typeface="Pretendard"/>
              </a:rPr>
              <a:t>3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2324100" y="5676900"/>
            <a:ext cx="9906000" cy="4000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2475" b="1">
                <a:solidFill>
                  <a:srgbClr val="0D2B5E"/>
                </a:solidFill>
                <a:latin typeface="Pretendard"/>
                <a:ea typeface="Pretendard"/>
                <a:cs typeface="Pretendard"/>
              </a:rPr>
              <a:t>exec db psql … SELECT current_database();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2324100" y="6076950"/>
            <a:ext cx="9906000" cy="3619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2025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pipeline 이 나오면 DB 정상</a:t>
            </a:r>
          </a:p>
        </p:txBody>
      </p:sp>
      <p:sp>
        <p:nvSpPr>
          <p:cNvPr id="23" name="Rounded Rectangle 22"/>
          <p:cNvSpPr/>
          <p:nvPr/>
        </p:nvSpPr>
        <p:spPr>
          <a:xfrm>
            <a:off x="1143000" y="6734175"/>
            <a:ext cx="11430000" cy="1095375"/>
          </a:xfrm>
          <a:prstGeom prst="roundRect">
            <a:avLst>
              <a:gd name="adj" fmla="val 4347"/>
            </a:avLst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24" name="Oval 23"/>
          <p:cNvSpPr/>
          <p:nvPr/>
        </p:nvSpPr>
        <p:spPr>
          <a:xfrm>
            <a:off x="1447800" y="6981825"/>
            <a:ext cx="590550" cy="590550"/>
          </a:xfrm>
          <a:prstGeom prst="ellipse">
            <a:avLst/>
          </a:prstGeom>
          <a:solidFill>
            <a:srgbClr val="0D2B5E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1447800" y="7134225"/>
            <a:ext cx="590550" cy="3238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00000"/>
              </a:lnSpc>
            </a:pPr>
            <a:r>
              <a:rPr sz="2250" b="1">
                <a:solidFill>
                  <a:srgbClr val="FFFFFF"/>
                </a:solidFill>
                <a:latin typeface="Pretendard"/>
                <a:ea typeface="Pretendard"/>
                <a:cs typeface="Pretendard"/>
              </a:rPr>
              <a:t>4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2324100" y="6943725"/>
            <a:ext cx="9906000" cy="4000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2475" b="1">
                <a:solidFill>
                  <a:srgbClr val="0D2B5E"/>
                </a:solidFill>
                <a:latin typeface="Pretendard"/>
                <a:ea typeface="Pretendard"/>
                <a:cs typeface="Pretendard"/>
              </a:rPr>
              <a:t>exec admin sh -c "getent hosts db"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2324100" y="7343775"/>
            <a:ext cx="9906000" cy="3619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2025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IP 주소와 db 가 함께 보이면 이름 해석 성공</a:t>
            </a:r>
          </a:p>
        </p:txBody>
      </p:sp>
      <p:sp>
        <p:nvSpPr>
          <p:cNvPr id="28" name="Rounded Rectangle 27"/>
          <p:cNvSpPr/>
          <p:nvPr/>
        </p:nvSpPr>
        <p:spPr>
          <a:xfrm>
            <a:off x="13144500" y="2933700"/>
            <a:ext cx="4000500" cy="4895850"/>
          </a:xfrm>
          <a:prstGeom prst="roundRect">
            <a:avLst>
              <a:gd name="adj" fmla="val 1190"/>
            </a:avLst>
          </a:prstGeom>
          <a:solidFill>
            <a:srgbClr val="EDF3FD"/>
          </a:solidFill>
          <a:ln w="9525">
            <a:solidFill>
              <a:srgbClr val="BFD3F5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29" name="TextBox 28"/>
          <p:cNvSpPr txBox="1"/>
          <p:nvPr/>
        </p:nvSpPr>
        <p:spPr>
          <a:xfrm>
            <a:off x="13487400" y="4562475"/>
            <a:ext cx="3314700" cy="3048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800" b="1" spc="190">
                <a:solidFill>
                  <a:srgbClr val="1E5BC6"/>
                </a:solidFill>
                <a:latin typeface="Pretendard"/>
                <a:ea typeface="Pretendard"/>
                <a:cs typeface="Pretendard"/>
              </a:rPr>
              <a:t>logs app 에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13487400" y="4962525"/>
            <a:ext cx="3314700" cy="12382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8000"/>
              </a:lnSpc>
            </a:pPr>
            <a:r>
              <a:rPr sz="2700" b="1">
                <a:solidFill>
                  <a:srgbClr val="0D2B5E"/>
                </a:solidFill>
                <a:latin typeface="Pretendard"/>
                <a:ea typeface="Pretendard"/>
                <a:cs typeface="Pretendard"/>
              </a:rPr>
              <a:t>1-4 앱의</a:t>
            </a:r>
          </a:p>
          <a:p>
            <a:pPr algn="l">
              <a:lnSpc>
                <a:spcPct val="138000"/>
              </a:lnSpc>
            </a:pPr>
            <a:r>
              <a:rPr sz="2700" b="1">
                <a:solidFill>
                  <a:srgbClr val="0D2B5E"/>
                </a:solidFill>
                <a:latin typeface="Pretendard"/>
                <a:ea typeface="Pretendard"/>
                <a:cs typeface="Pretendard"/>
              </a:rPr>
              <a:t>출력 문구</a:t>
            </a:r>
          </a:p>
        </p:txBody>
      </p:sp>
      <p:sp>
        <p:nvSpPr>
          <p:cNvPr id="31" name="Rectangle 30"/>
          <p:cNvSpPr/>
          <p:nvPr/>
        </p:nvSpPr>
        <p:spPr>
          <a:xfrm>
            <a:off x="1143000" y="8058150"/>
            <a:ext cx="16002000" cy="9525"/>
          </a:xfrm>
          <a:prstGeom prst="rect">
            <a:avLst/>
          </a:prstGeom>
          <a:solidFill>
            <a:srgbClr val="DCE1E8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32" name="TextBox 31"/>
          <p:cNvSpPr txBox="1"/>
          <p:nvPr/>
        </p:nvSpPr>
        <p:spPr>
          <a:xfrm>
            <a:off x="1143000" y="8248650"/>
            <a:ext cx="13335000" cy="3238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725" b="0">
                <a:solidFill>
                  <a:srgbClr val="7D7D7D"/>
                </a:solidFill>
                <a:latin typeface="Pretendard"/>
                <a:ea typeface="Pretendard"/>
                <a:cs typeface="Pretendard"/>
              </a:rPr>
              <a:t>데이터 엔지니어링 &amp; RAG 파이프라인 160H · 1-5 · 실습 1.5H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15240000" y="8248650"/>
            <a:ext cx="1905000" cy="3238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00000"/>
              </a:lnSpc>
            </a:pPr>
            <a:r>
              <a:rPr sz="1725" b="0">
                <a:solidFill>
                  <a:srgbClr val="7D7D7D"/>
                </a:solidFill>
                <a:latin typeface="Pretendard"/>
                <a:ea typeface="Pretendard"/>
                <a:cs typeface="Pretendard"/>
              </a:rPr>
              <a:t>08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Oval 1"/>
          <p:cNvSpPr/>
          <p:nvPr/>
        </p:nvSpPr>
        <p:spPr>
          <a:xfrm>
            <a:off x="15811500" y="8382000"/>
            <a:ext cx="4953000" cy="4953000"/>
          </a:xfrm>
          <a:prstGeom prst="ellipse">
            <a:avLst/>
          </a:prstGeom>
          <a:solidFill>
            <a:srgbClr val="F3F6FC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3" name="Oval 2"/>
          <p:cNvSpPr/>
          <p:nvPr/>
        </p:nvSpPr>
        <p:spPr>
          <a:xfrm>
            <a:off x="16859250" y="9429750"/>
            <a:ext cx="2857500" cy="2857500"/>
          </a:xfrm>
          <a:prstGeom prst="ellipse">
            <a:avLst/>
          </a:prstGeom>
          <a:solidFill>
            <a:srgbClr val="FFFFFF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4" name="Oval 3"/>
          <p:cNvSpPr/>
          <p:nvPr/>
        </p:nvSpPr>
        <p:spPr>
          <a:xfrm>
            <a:off x="-1428750" y="1428750"/>
            <a:ext cx="2857500" cy="2857500"/>
          </a:xfrm>
          <a:prstGeom prst="ellipse">
            <a:avLst/>
          </a:prstGeom>
          <a:solidFill>
            <a:srgbClr val="F7F8FA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1143000" y="838200"/>
            <a:ext cx="16002000" cy="3429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950" b="1" spc="160">
                <a:solidFill>
                  <a:srgbClr val="1E5BC6"/>
                </a:solidFill>
                <a:latin typeface="Pretendard"/>
                <a:ea typeface="Pretendard"/>
                <a:cs typeface="Pretendard"/>
              </a:rPr>
              <a:t>5단계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43000" y="1162050"/>
            <a:ext cx="16002000" cy="762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5100" b="1">
                <a:solidFill>
                  <a:srgbClr val="0D2B5E"/>
                </a:solidFill>
                <a:latin typeface="Pretendard"/>
                <a:ea typeface="Pretendard"/>
                <a:cs typeface="Pretendard"/>
              </a:rPr>
              <a:t>pgAdmin 서버 등록 — 호스트는 반드시 db</a:t>
            </a:r>
          </a:p>
        </p:txBody>
      </p:sp>
      <p:sp>
        <p:nvSpPr>
          <p:cNvPr id="7" name="Rectangle 6"/>
          <p:cNvSpPr/>
          <p:nvPr/>
        </p:nvSpPr>
        <p:spPr>
          <a:xfrm>
            <a:off x="1143000" y="2038350"/>
            <a:ext cx="16002000" cy="28575"/>
          </a:xfrm>
          <a:prstGeom prst="rect">
            <a:avLst/>
          </a:prstGeom>
          <a:solidFill>
            <a:srgbClr val="0D2B5E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8" name="Rounded Rectangle 7"/>
          <p:cNvSpPr/>
          <p:nvPr/>
        </p:nvSpPr>
        <p:spPr>
          <a:xfrm>
            <a:off x="1143000" y="3876675"/>
            <a:ext cx="16002000" cy="914400"/>
          </a:xfrm>
          <a:prstGeom prst="roundRect">
            <a:avLst>
              <a:gd name="adj" fmla="val 5208"/>
            </a:avLst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9" name="Rectangle 8"/>
          <p:cNvSpPr/>
          <p:nvPr/>
        </p:nvSpPr>
        <p:spPr>
          <a:xfrm>
            <a:off x="1143000" y="3876675"/>
            <a:ext cx="47625" cy="914400"/>
          </a:xfrm>
          <a:prstGeom prst="rect">
            <a:avLst/>
          </a:prstGeom>
          <a:solidFill>
            <a:srgbClr val="1E5BC6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0" name="Oval 9"/>
          <p:cNvSpPr/>
          <p:nvPr/>
        </p:nvSpPr>
        <p:spPr>
          <a:xfrm>
            <a:off x="1428750" y="4124325"/>
            <a:ext cx="419100" cy="419100"/>
          </a:xfrm>
          <a:prstGeom prst="ellipse">
            <a:avLst/>
          </a:prstGeom>
          <a:solidFill>
            <a:srgbClr val="0D2B5E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1428750" y="4191000"/>
            <a:ext cx="419100" cy="3048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00000"/>
              </a:lnSpc>
            </a:pPr>
            <a:r>
              <a:rPr sz="1875" b="1">
                <a:solidFill>
                  <a:srgbClr val="FFFFFF"/>
                </a:solidFill>
                <a:latin typeface="Pretendard"/>
                <a:ea typeface="Pretendard"/>
                <a:cs typeface="Pretendard"/>
              </a:rPr>
              <a:t>1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2057400" y="3971925"/>
            <a:ext cx="14763750" cy="7239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>
              <a:lnSpc>
                <a:spcPct val="120000"/>
              </a:lnSpc>
            </a:pPr>
            <a:r>
              <a:rPr sz="2175" b="1">
                <a:solidFill>
                  <a:srgbClr val="0D2B5E"/>
                </a:solidFill>
                <a:latin typeface="Pretendard"/>
                <a:ea typeface="Pretendard"/>
                <a:cs typeface="Pretendard"/>
              </a:rPr>
              <a:t>http://localhost:8081</a:t>
            </a:r>
          </a:p>
          <a:p>
            <a:pPr>
              <a:lnSpc>
                <a:spcPct val="130000"/>
              </a:lnSpc>
              <a:spcBef>
                <a:spcPts val="300"/>
              </a:spcBef>
            </a:pPr>
            <a:r>
              <a:rPr sz="1875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admin@example.com / admin123 으로 로그인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1143000" y="4924425"/>
            <a:ext cx="16002000" cy="914400"/>
          </a:xfrm>
          <a:prstGeom prst="roundRect">
            <a:avLst>
              <a:gd name="adj" fmla="val 5208"/>
            </a:avLst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4" name="Rectangle 13"/>
          <p:cNvSpPr/>
          <p:nvPr/>
        </p:nvSpPr>
        <p:spPr>
          <a:xfrm>
            <a:off x="1143000" y="4924425"/>
            <a:ext cx="47625" cy="914400"/>
          </a:xfrm>
          <a:prstGeom prst="rect">
            <a:avLst/>
          </a:prstGeom>
          <a:solidFill>
            <a:srgbClr val="1E5BC6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5" name="Oval 14"/>
          <p:cNvSpPr/>
          <p:nvPr/>
        </p:nvSpPr>
        <p:spPr>
          <a:xfrm>
            <a:off x="1428750" y="5172075"/>
            <a:ext cx="419100" cy="419100"/>
          </a:xfrm>
          <a:prstGeom prst="ellipse">
            <a:avLst/>
          </a:prstGeom>
          <a:solidFill>
            <a:srgbClr val="0D2B5E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1428750" y="5238750"/>
            <a:ext cx="419100" cy="3048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00000"/>
              </a:lnSpc>
            </a:pPr>
            <a:r>
              <a:rPr sz="1875" b="1">
                <a:solidFill>
                  <a:srgbClr val="FFFFFF"/>
                </a:solidFill>
                <a:latin typeface="Pretendard"/>
                <a:ea typeface="Pretendard"/>
                <a:cs typeface="Pretendard"/>
              </a:rPr>
              <a:t>2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2057400" y="5019675"/>
            <a:ext cx="14763750" cy="7239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>
              <a:lnSpc>
                <a:spcPct val="120000"/>
              </a:lnSpc>
            </a:pPr>
            <a:r>
              <a:rPr sz="2175" b="1">
                <a:solidFill>
                  <a:srgbClr val="0D2B5E"/>
                </a:solidFill>
                <a:latin typeface="Pretendard"/>
                <a:ea typeface="Pretendard"/>
                <a:cs typeface="Pretendard"/>
              </a:rPr>
              <a:t>Connection 탭 Host name/address = db</a:t>
            </a:r>
          </a:p>
          <a:p>
            <a:pPr>
              <a:lnSpc>
                <a:spcPct val="130000"/>
              </a:lnSpc>
              <a:spcBef>
                <a:spcPts val="300"/>
              </a:spcBef>
            </a:pPr>
            <a:r>
              <a:rPr sz="1875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localhost 를 넣으면 연결되지 않는다 — 컨테이너 안의 localhost 는 pgAdmin 자신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1143000" y="5972175"/>
            <a:ext cx="16002000" cy="914400"/>
          </a:xfrm>
          <a:prstGeom prst="roundRect">
            <a:avLst>
              <a:gd name="adj" fmla="val 5208"/>
            </a:avLst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9" name="Rectangle 18"/>
          <p:cNvSpPr/>
          <p:nvPr/>
        </p:nvSpPr>
        <p:spPr>
          <a:xfrm>
            <a:off x="1143000" y="5972175"/>
            <a:ext cx="47625" cy="914400"/>
          </a:xfrm>
          <a:prstGeom prst="rect">
            <a:avLst/>
          </a:prstGeom>
          <a:solidFill>
            <a:srgbClr val="1E5BC6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20" name="Oval 19"/>
          <p:cNvSpPr/>
          <p:nvPr/>
        </p:nvSpPr>
        <p:spPr>
          <a:xfrm>
            <a:off x="1428750" y="6219825"/>
            <a:ext cx="419100" cy="419100"/>
          </a:xfrm>
          <a:prstGeom prst="ellipse">
            <a:avLst/>
          </a:prstGeom>
          <a:solidFill>
            <a:srgbClr val="0D2B5E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1428750" y="6286500"/>
            <a:ext cx="419100" cy="3048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00000"/>
              </a:lnSpc>
            </a:pPr>
            <a:r>
              <a:rPr sz="1875" b="1">
                <a:solidFill>
                  <a:srgbClr val="FFFFFF"/>
                </a:solidFill>
                <a:latin typeface="Pretendard"/>
                <a:ea typeface="Pretendard"/>
                <a:cs typeface="Pretendard"/>
              </a:rPr>
              <a:t>3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2057400" y="6067425"/>
            <a:ext cx="14763750" cy="7239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>
              <a:lnSpc>
                <a:spcPct val="120000"/>
              </a:lnSpc>
            </a:pPr>
            <a:r>
              <a:rPr sz="2175" b="1">
                <a:solidFill>
                  <a:srgbClr val="0D2B5E"/>
                </a:solidFill>
                <a:latin typeface="Pretendard"/>
                <a:ea typeface="Pretendard"/>
                <a:cs typeface="Pretendard"/>
              </a:rPr>
              <a:t>engineer / engineer123 / pipeline</a:t>
            </a:r>
          </a:p>
          <a:p>
            <a:pPr>
              <a:lnSpc>
                <a:spcPct val="130000"/>
              </a:lnSpc>
              <a:spcBef>
                <a:spcPts val="300"/>
              </a:spcBef>
            </a:pPr>
            <a:r>
              <a:rPr sz="1875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왼쪽 트리에 pipeline 데이터베이스가 보이면 성공</a:t>
            </a:r>
          </a:p>
        </p:txBody>
      </p:sp>
      <p:sp>
        <p:nvSpPr>
          <p:cNvPr id="23" name="Rectangle 22"/>
          <p:cNvSpPr/>
          <p:nvPr/>
        </p:nvSpPr>
        <p:spPr>
          <a:xfrm>
            <a:off x="1143000" y="8058150"/>
            <a:ext cx="16002000" cy="9525"/>
          </a:xfrm>
          <a:prstGeom prst="rect">
            <a:avLst/>
          </a:prstGeom>
          <a:solidFill>
            <a:srgbClr val="DCE1E8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1143000" y="8248650"/>
            <a:ext cx="13335000" cy="3238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725" b="0">
                <a:solidFill>
                  <a:srgbClr val="7D7D7D"/>
                </a:solidFill>
                <a:latin typeface="Pretendard"/>
                <a:ea typeface="Pretendard"/>
                <a:cs typeface="Pretendard"/>
              </a:rPr>
              <a:t>데이터 엔지니어링 &amp; RAG 파이프라인 160H · 1-5 · 실습 1.5H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15240000" y="8248650"/>
            <a:ext cx="1905000" cy="3238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00000"/>
              </a:lnSpc>
            </a:pPr>
            <a:r>
              <a:rPr sz="1725" b="0">
                <a:solidFill>
                  <a:srgbClr val="7D7D7D"/>
                </a:solidFill>
                <a:latin typeface="Pretendard"/>
                <a:ea typeface="Pretendard"/>
                <a:cs typeface="Pretendard"/>
              </a:rPr>
              <a:t>09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Oval 1"/>
          <p:cNvSpPr/>
          <p:nvPr/>
        </p:nvSpPr>
        <p:spPr>
          <a:xfrm>
            <a:off x="15811500" y="8382000"/>
            <a:ext cx="4953000" cy="4953000"/>
          </a:xfrm>
          <a:prstGeom prst="ellipse">
            <a:avLst/>
          </a:prstGeom>
          <a:solidFill>
            <a:srgbClr val="F3F6FC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3" name="Oval 2"/>
          <p:cNvSpPr/>
          <p:nvPr/>
        </p:nvSpPr>
        <p:spPr>
          <a:xfrm>
            <a:off x="16859250" y="9429750"/>
            <a:ext cx="2857500" cy="2857500"/>
          </a:xfrm>
          <a:prstGeom prst="ellipse">
            <a:avLst/>
          </a:prstGeom>
          <a:solidFill>
            <a:srgbClr val="FFFFFF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4" name="Oval 3"/>
          <p:cNvSpPr/>
          <p:nvPr/>
        </p:nvSpPr>
        <p:spPr>
          <a:xfrm>
            <a:off x="-1428750" y="1428750"/>
            <a:ext cx="2857500" cy="2857500"/>
          </a:xfrm>
          <a:prstGeom prst="ellipse">
            <a:avLst/>
          </a:prstGeom>
          <a:solidFill>
            <a:srgbClr val="F7F8FA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1143000" y="838200"/>
            <a:ext cx="16002000" cy="3429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950" b="1" spc="160">
                <a:solidFill>
                  <a:srgbClr val="1E5BC6"/>
                </a:solidFill>
                <a:latin typeface="Pretendard"/>
                <a:ea typeface="Pretendard"/>
                <a:cs typeface="Pretendard"/>
              </a:rPr>
              <a:t>확인 포인트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43000" y="1162050"/>
            <a:ext cx="16002000" cy="762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5100" b="1">
                <a:solidFill>
                  <a:srgbClr val="0D2B5E"/>
                </a:solidFill>
                <a:latin typeface="Pretendard"/>
                <a:ea typeface="Pretendard"/>
                <a:cs typeface="Pretendard"/>
              </a:rPr>
              <a:t>다섯 단계를 통과했는지</a:t>
            </a:r>
          </a:p>
        </p:txBody>
      </p:sp>
      <p:sp>
        <p:nvSpPr>
          <p:cNvPr id="7" name="Rectangle 6"/>
          <p:cNvSpPr/>
          <p:nvPr/>
        </p:nvSpPr>
        <p:spPr>
          <a:xfrm>
            <a:off x="1143000" y="2038350"/>
            <a:ext cx="16002000" cy="28575"/>
          </a:xfrm>
          <a:prstGeom prst="rect">
            <a:avLst/>
          </a:prstGeom>
          <a:solidFill>
            <a:srgbClr val="0D2B5E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8" name="Rounded Rectangle 7"/>
          <p:cNvSpPr/>
          <p:nvPr/>
        </p:nvSpPr>
        <p:spPr>
          <a:xfrm>
            <a:off x="1143000" y="2990850"/>
            <a:ext cx="16002000" cy="819150"/>
          </a:xfrm>
          <a:prstGeom prst="roundRect">
            <a:avLst>
              <a:gd name="adj" fmla="val 5813"/>
            </a:avLst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9" name="Oval 8"/>
          <p:cNvSpPr/>
          <p:nvPr/>
        </p:nvSpPr>
        <p:spPr>
          <a:xfrm>
            <a:off x="1390650" y="3133725"/>
            <a:ext cx="533400" cy="533400"/>
          </a:xfrm>
          <a:prstGeom prst="ellipse">
            <a:avLst/>
          </a:prstGeom>
          <a:solidFill>
            <a:srgbClr val="0D2B5E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1390650" y="3257550"/>
            <a:ext cx="533400" cy="3238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00000"/>
              </a:lnSpc>
            </a:pPr>
            <a:r>
              <a:rPr sz="2100" b="1">
                <a:solidFill>
                  <a:srgbClr val="FFFFFF"/>
                </a:solidFill>
                <a:latin typeface="Pretendard"/>
                <a:ea typeface="Pretendard"/>
                <a:cs typeface="Pretendard"/>
              </a:rPr>
              <a:t>1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2190750" y="2990850"/>
            <a:ext cx="14573250" cy="81915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2325" b="1">
                <a:solidFill>
                  <a:srgbClr val="0D2B5E"/>
                </a:solidFill>
                <a:latin typeface="Pretendard"/>
                <a:ea typeface="Pretendard"/>
                <a:cs typeface="Pretendard"/>
              </a:rPr>
              <a:t>ps 에 web running · curl 에 Welcome to nginx! · down 뒤 남는 것 없음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1143000" y="3981450"/>
            <a:ext cx="16002000" cy="819150"/>
          </a:xfrm>
          <a:prstGeom prst="roundRect">
            <a:avLst>
              <a:gd name="adj" fmla="val 5813"/>
            </a:avLst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3" name="Oval 12"/>
          <p:cNvSpPr/>
          <p:nvPr/>
        </p:nvSpPr>
        <p:spPr>
          <a:xfrm>
            <a:off x="1390650" y="4124325"/>
            <a:ext cx="533400" cy="533400"/>
          </a:xfrm>
          <a:prstGeom prst="ellipse">
            <a:avLst/>
          </a:prstGeom>
          <a:solidFill>
            <a:srgbClr val="0D2B5E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1390650" y="4248150"/>
            <a:ext cx="533400" cy="3238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00000"/>
              </a:lnSpc>
            </a:pPr>
            <a:r>
              <a:rPr sz="2100" b="1">
                <a:solidFill>
                  <a:srgbClr val="FFFFFF"/>
                </a:solidFill>
                <a:latin typeface="Pretendard"/>
                <a:ea typeface="Pretendard"/>
                <a:cs typeface="Pretendard"/>
              </a:rPr>
              <a:t>2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2190750" y="3981450"/>
            <a:ext cx="14573250" cy="81915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2325" b="1">
                <a:solidFill>
                  <a:srgbClr val="0D2B5E"/>
                </a:solidFill>
                <a:latin typeface="Pretendard"/>
                <a:ea typeface="Pretendard"/>
                <a:cs typeface="Pretendard"/>
              </a:rPr>
              <a:t>http://web:80 은 HTML, http://localhost:80 은 실패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1143000" y="4972050"/>
            <a:ext cx="16002000" cy="819150"/>
          </a:xfrm>
          <a:prstGeom prst="roundRect">
            <a:avLst>
              <a:gd name="adj" fmla="val 5813"/>
            </a:avLst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7" name="Oval 16"/>
          <p:cNvSpPr/>
          <p:nvPr/>
        </p:nvSpPr>
        <p:spPr>
          <a:xfrm>
            <a:off x="1390650" y="5114925"/>
            <a:ext cx="533400" cy="533400"/>
          </a:xfrm>
          <a:prstGeom prst="ellipse">
            <a:avLst/>
          </a:prstGeom>
          <a:solidFill>
            <a:srgbClr val="0D2B5E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1390650" y="5238750"/>
            <a:ext cx="533400" cy="3238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00000"/>
              </a:lnSpc>
            </a:pPr>
            <a:r>
              <a:rPr sz="2100" b="1">
                <a:solidFill>
                  <a:srgbClr val="FFFFFF"/>
                </a:solidFill>
                <a:latin typeface="Pretendard"/>
                <a:ea typeface="Pretendard"/>
                <a:cs typeface="Pretendard"/>
              </a:rPr>
              <a:t>3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2190750" y="4972050"/>
            <a:ext cx="14573250" cy="81915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2325" b="1">
                <a:solidFill>
                  <a:srgbClr val="0D2B5E"/>
                </a:solidFill>
                <a:latin typeface="Pretendard"/>
                <a:ea typeface="Pretendard"/>
                <a:cs typeface="Pretendard"/>
              </a:rPr>
              <a:t>docker compose config 가 오류 없이 해석 결과를 출력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1143000" y="5962650"/>
            <a:ext cx="16002000" cy="819150"/>
          </a:xfrm>
          <a:prstGeom prst="roundRect">
            <a:avLst>
              <a:gd name="adj" fmla="val 5813"/>
            </a:avLst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21" name="Oval 20"/>
          <p:cNvSpPr/>
          <p:nvPr/>
        </p:nvSpPr>
        <p:spPr>
          <a:xfrm>
            <a:off x="1390650" y="6105525"/>
            <a:ext cx="533400" cy="533400"/>
          </a:xfrm>
          <a:prstGeom prst="ellipse">
            <a:avLst/>
          </a:prstGeom>
          <a:solidFill>
            <a:srgbClr val="0D2B5E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1390650" y="6229350"/>
            <a:ext cx="533400" cy="3238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00000"/>
              </a:lnSpc>
            </a:pPr>
            <a:r>
              <a:rPr sz="2100" b="1">
                <a:solidFill>
                  <a:srgbClr val="FFFFFF"/>
                </a:solidFill>
                <a:latin typeface="Pretendard"/>
                <a:ea typeface="Pretendard"/>
                <a:cs typeface="Pretendard"/>
              </a:rPr>
              <a:t>4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2190750" y="5962650"/>
            <a:ext cx="14573250" cy="81915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2325" b="1">
                <a:solidFill>
                  <a:srgbClr val="0D2B5E"/>
                </a:solidFill>
                <a:latin typeface="Pretendard"/>
                <a:ea typeface="Pretendard"/>
                <a:cs typeface="Pretendard"/>
              </a:rPr>
              <a:t>db·admin running · app exited (0) · logs app 에 앱 출력</a:t>
            </a:r>
          </a:p>
        </p:txBody>
      </p:sp>
      <p:sp>
        <p:nvSpPr>
          <p:cNvPr id="24" name="Rounded Rectangle 23"/>
          <p:cNvSpPr/>
          <p:nvPr/>
        </p:nvSpPr>
        <p:spPr>
          <a:xfrm>
            <a:off x="1143000" y="6953250"/>
            <a:ext cx="16002000" cy="819150"/>
          </a:xfrm>
          <a:prstGeom prst="roundRect">
            <a:avLst>
              <a:gd name="adj" fmla="val 5813"/>
            </a:avLst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25" name="Oval 24"/>
          <p:cNvSpPr/>
          <p:nvPr/>
        </p:nvSpPr>
        <p:spPr>
          <a:xfrm>
            <a:off x="1390650" y="7096125"/>
            <a:ext cx="533400" cy="533400"/>
          </a:xfrm>
          <a:prstGeom prst="ellipse">
            <a:avLst/>
          </a:prstGeom>
          <a:solidFill>
            <a:srgbClr val="0D2B5E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1390650" y="7219950"/>
            <a:ext cx="533400" cy="3238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00000"/>
              </a:lnSpc>
            </a:pPr>
            <a:r>
              <a:rPr sz="2100" b="1">
                <a:solidFill>
                  <a:srgbClr val="FFFFFF"/>
                </a:solidFill>
                <a:latin typeface="Pretendard"/>
                <a:ea typeface="Pretendard"/>
                <a:cs typeface="Pretendard"/>
              </a:rPr>
              <a:t>5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2190750" y="6953250"/>
            <a:ext cx="14573250" cy="81915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2325" b="1">
                <a:solidFill>
                  <a:srgbClr val="0D2B5E"/>
                </a:solidFill>
                <a:latin typeface="Pretendard"/>
                <a:ea typeface="Pretendard"/>
                <a:cs typeface="Pretendard"/>
              </a:rPr>
              <a:t>psql 에 pipeline · getent 에 IP 와 db · pgAdmin 트리에 pipeline</a:t>
            </a:r>
          </a:p>
        </p:txBody>
      </p:sp>
      <p:sp>
        <p:nvSpPr>
          <p:cNvPr id="28" name="Rectangle 27"/>
          <p:cNvSpPr/>
          <p:nvPr/>
        </p:nvSpPr>
        <p:spPr>
          <a:xfrm>
            <a:off x="1143000" y="8058150"/>
            <a:ext cx="16002000" cy="9525"/>
          </a:xfrm>
          <a:prstGeom prst="rect">
            <a:avLst/>
          </a:prstGeom>
          <a:solidFill>
            <a:srgbClr val="DCE1E8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29" name="TextBox 28"/>
          <p:cNvSpPr txBox="1"/>
          <p:nvPr/>
        </p:nvSpPr>
        <p:spPr>
          <a:xfrm>
            <a:off x="1143000" y="8248650"/>
            <a:ext cx="13335000" cy="3238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725" b="0">
                <a:solidFill>
                  <a:srgbClr val="7D7D7D"/>
                </a:solidFill>
                <a:latin typeface="Pretendard"/>
                <a:ea typeface="Pretendard"/>
                <a:cs typeface="Pretendard"/>
              </a:rPr>
              <a:t>데이터 엔지니어링 &amp; RAG 파이프라인 160H · 1-5 · 실습 1.5H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15240000" y="8248650"/>
            <a:ext cx="1905000" cy="3238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00000"/>
              </a:lnSpc>
            </a:pPr>
            <a:r>
              <a:rPr sz="1725" b="0">
                <a:solidFill>
                  <a:srgbClr val="7D7D7D"/>
                </a:solidFill>
                <a:latin typeface="Pretendard"/>
                <a:ea typeface="Pretendard"/>
                <a:cs typeface="Pretendard"/>
              </a:rPr>
              <a:t>10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Oval 1"/>
          <p:cNvSpPr/>
          <p:nvPr/>
        </p:nvSpPr>
        <p:spPr>
          <a:xfrm>
            <a:off x="14859000" y="6667500"/>
            <a:ext cx="5905500" cy="5905500"/>
          </a:xfrm>
          <a:prstGeom prst="ellipse">
            <a:avLst/>
          </a:prstGeom>
          <a:solidFill>
            <a:srgbClr val="F3F6FC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3" name="Oval 2"/>
          <p:cNvSpPr/>
          <p:nvPr/>
        </p:nvSpPr>
        <p:spPr>
          <a:xfrm>
            <a:off x="-2095500" y="-2095500"/>
            <a:ext cx="4381500" cy="4381500"/>
          </a:xfrm>
          <a:prstGeom prst="ellipse">
            <a:avLst/>
          </a:prstGeom>
          <a:solidFill>
            <a:srgbClr val="F5F6F8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1143000" y="2857500"/>
            <a:ext cx="16002000" cy="28575"/>
          </a:xfrm>
          <a:prstGeom prst="rect">
            <a:avLst/>
          </a:prstGeom>
          <a:solidFill>
            <a:srgbClr val="0D2B5E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1143000" y="3352800"/>
            <a:ext cx="8572500" cy="4191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2400" b="1">
                <a:solidFill>
                  <a:srgbClr val="1E5BC6"/>
                </a:solidFill>
                <a:latin typeface="Pretendard"/>
                <a:ea typeface="Pretendard"/>
                <a:cs typeface="Pretendard"/>
              </a:rPr>
              <a:t>1-5 · 실습 1.5H 마무리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43000" y="3771900"/>
            <a:ext cx="16002000" cy="8001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5100" b="1">
                <a:solidFill>
                  <a:srgbClr val="0D2B5E"/>
                </a:solidFill>
                <a:latin typeface="Pretendard"/>
                <a:ea typeface="Pretendard"/>
                <a:cs typeface="Pretendard"/>
              </a:rPr>
              <a:t>다음은 주차 산출물 실습 (1H)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143000" y="4724400"/>
            <a:ext cx="16002000" cy="4381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2400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down 뒤 up 을 해도 데이터가 남는지 확인하고 README 를 붙여 1주차 산출물을 완성합니다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1143000" y="5257800"/>
            <a:ext cx="7772400" cy="819150"/>
          </a:xfrm>
          <a:prstGeom prst="roundRect">
            <a:avLst>
              <a:gd name="adj" fmla="val 6976"/>
            </a:avLst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1428750" y="5486400"/>
            <a:ext cx="419100" cy="381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2475" b="1">
                <a:solidFill>
                  <a:srgbClr val="1E5BC6"/>
                </a:solidFill>
                <a:latin typeface="Pretendard"/>
                <a:ea typeface="Pretendard"/>
                <a:cs typeface="Pretendard"/>
              </a:rPr>
              <a:t>✓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905000" y="5486400"/>
            <a:ext cx="6724650" cy="381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2475" b="1">
                <a:solidFill>
                  <a:srgbClr val="0D2B5E"/>
                </a:solidFill>
                <a:latin typeface="Pretendard"/>
                <a:ea typeface="Pretendard"/>
                <a:cs typeface="Pretendard"/>
              </a:rPr>
              <a:t>week1 표를 만들고 down → up 뒤 살아 있는지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9372600" y="5257800"/>
            <a:ext cx="7772400" cy="819150"/>
          </a:xfrm>
          <a:prstGeom prst="roundRect">
            <a:avLst>
              <a:gd name="adj" fmla="val 6976"/>
            </a:avLst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9658350" y="5486400"/>
            <a:ext cx="419100" cy="381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2475" b="1">
                <a:solidFill>
                  <a:srgbClr val="1E5BC6"/>
                </a:solidFill>
                <a:latin typeface="Pretendard"/>
                <a:ea typeface="Pretendard"/>
                <a:cs typeface="Pretendard"/>
              </a:rPr>
              <a:t>✓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0134600" y="5486400"/>
            <a:ext cx="6724650" cy="381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2475" b="1">
                <a:solidFill>
                  <a:srgbClr val="0D2B5E"/>
                </a:solidFill>
                <a:latin typeface="Pretendard"/>
                <a:ea typeface="Pretendard"/>
                <a:cs typeface="Pretendard"/>
              </a:rPr>
              <a:t>README.md — 남이 보고 재현할 수 있게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1143000" y="6286500"/>
            <a:ext cx="7772400" cy="819150"/>
          </a:xfrm>
          <a:prstGeom prst="roundRect">
            <a:avLst>
              <a:gd name="adj" fmla="val 6976"/>
            </a:avLst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1428750" y="6515100"/>
            <a:ext cx="419100" cy="381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2475" b="1">
                <a:solidFill>
                  <a:srgbClr val="1E5BC6"/>
                </a:solidFill>
                <a:latin typeface="Pretendard"/>
                <a:ea typeface="Pretendard"/>
                <a:cs typeface="Pretendard"/>
              </a:rPr>
              <a:t>✓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1905000" y="6515100"/>
            <a:ext cx="6724650" cy="381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2475" b="1">
                <a:solidFill>
                  <a:srgbClr val="0D2B5E"/>
                </a:solidFill>
                <a:latin typeface="Pretendard"/>
                <a:ea typeface="Pretendard"/>
                <a:cs typeface="Pretendard"/>
              </a:rPr>
              <a:t>down -v 로 완전히 내리고 처음부터 검증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9372600" y="6286500"/>
            <a:ext cx="7772400" cy="819150"/>
          </a:xfrm>
          <a:prstGeom prst="roundRect">
            <a:avLst>
              <a:gd name="adj" fmla="val 6976"/>
            </a:avLst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9658350" y="6515100"/>
            <a:ext cx="419100" cy="381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2475" b="1">
                <a:solidFill>
                  <a:srgbClr val="1E5BC6"/>
                </a:solidFill>
                <a:latin typeface="Pretendard"/>
                <a:ea typeface="Pretendard"/>
                <a:cs typeface="Pretendard"/>
              </a:rPr>
              <a:t>✓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0134600" y="6515100"/>
            <a:ext cx="6724650" cy="381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2475" b="1">
                <a:solidFill>
                  <a:srgbClr val="0D2B5E"/>
                </a:solidFill>
                <a:latin typeface="Pretendard"/>
                <a:ea typeface="Pretendard"/>
                <a:cs typeface="Pretendard"/>
              </a:rPr>
              <a:t>산출물 제출 페이지 + 갤러리 공유</a:t>
            </a:r>
          </a:p>
        </p:txBody>
      </p:sp>
      <p:sp>
        <p:nvSpPr>
          <p:cNvPr id="20" name="Rectangle 19"/>
          <p:cNvSpPr/>
          <p:nvPr/>
        </p:nvSpPr>
        <p:spPr>
          <a:xfrm>
            <a:off x="1143000" y="7715250"/>
            <a:ext cx="47625" cy="819150"/>
          </a:xfrm>
          <a:prstGeom prst="rect">
            <a:avLst/>
          </a:prstGeom>
          <a:solidFill>
            <a:srgbClr val="1E5BC6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1409700" y="7734300"/>
            <a:ext cx="8572500" cy="3048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800" b="1" spc="140">
                <a:solidFill>
                  <a:srgbClr val="1E5BC6"/>
                </a:solidFill>
                <a:latin typeface="Pretendard"/>
                <a:ea typeface="Pretendard"/>
                <a:cs typeface="Pretendard"/>
              </a:rPr>
              <a:t>지금 상태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1409700" y="8077200"/>
            <a:ext cx="8572500" cy="4000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2400" b="1">
                <a:solidFill>
                  <a:srgbClr val="0D2B5E"/>
                </a:solidFill>
                <a:latin typeface="Pretendard"/>
                <a:ea typeface="Pretendard"/>
                <a:cs typeface="Pretendard"/>
              </a:rPr>
              <a:t>db·admin·app 이 떠 있는 채로 이어갑니다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