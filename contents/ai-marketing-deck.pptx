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46"/>
  </p:notesMasterIdLst>
  <p:sldIdLst>
    <p:sldId id="583" r:id="rId2"/>
    <p:sldId id="584" r:id="rId3"/>
    <p:sldId id="585" r:id="rId4"/>
    <p:sldId id="658" r:id="rId5"/>
    <p:sldId id="586" r:id="rId6"/>
    <p:sldId id="587" r:id="rId7"/>
    <p:sldId id="588" r:id="rId8"/>
    <p:sldId id="589" r:id="rId9"/>
    <p:sldId id="590" r:id="rId10"/>
    <p:sldId id="591" r:id="rId11"/>
    <p:sldId id="592" r:id="rId12"/>
    <p:sldId id="593" r:id="rId13"/>
    <p:sldId id="594" r:id="rId14"/>
    <p:sldId id="595" r:id="rId15"/>
    <p:sldId id="596" r:id="rId16"/>
    <p:sldId id="597" r:id="rId17"/>
    <p:sldId id="598" r:id="rId18"/>
    <p:sldId id="599" r:id="rId19"/>
    <p:sldId id="600" r:id="rId20"/>
    <p:sldId id="601" r:id="rId21"/>
    <p:sldId id="602" r:id="rId22"/>
    <p:sldId id="603" r:id="rId23"/>
    <p:sldId id="604" r:id="rId24"/>
    <p:sldId id="659" r:id="rId25"/>
    <p:sldId id="660" r:id="rId26"/>
    <p:sldId id="605" r:id="rId27"/>
    <p:sldId id="606" r:id="rId28"/>
    <p:sldId id="511" r:id="rId29"/>
    <p:sldId id="512" r:id="rId30"/>
    <p:sldId id="513" r:id="rId31"/>
    <p:sldId id="514" r:id="rId32"/>
    <p:sldId id="607" r:id="rId33"/>
    <p:sldId id="515" r:id="rId34"/>
    <p:sldId id="608" r:id="rId35"/>
    <p:sldId id="609" r:id="rId36"/>
    <p:sldId id="669" r:id="rId37"/>
    <p:sldId id="516" r:id="rId38"/>
    <p:sldId id="517" r:id="rId39"/>
    <p:sldId id="518" r:id="rId40"/>
    <p:sldId id="519" r:id="rId41"/>
    <p:sldId id="611" r:id="rId42"/>
    <p:sldId id="612" r:id="rId43"/>
    <p:sldId id="613" r:id="rId44"/>
    <p:sldId id="614" r:id="rId45"/>
    <p:sldId id="520" r:id="rId46"/>
    <p:sldId id="521" r:id="rId47"/>
    <p:sldId id="522" r:id="rId48"/>
    <p:sldId id="615" r:id="rId49"/>
    <p:sldId id="523" r:id="rId50"/>
    <p:sldId id="524" r:id="rId51"/>
    <p:sldId id="667" r:id="rId52"/>
    <p:sldId id="526" r:id="rId53"/>
    <p:sldId id="527" r:id="rId54"/>
    <p:sldId id="616" r:id="rId55"/>
    <p:sldId id="617" r:id="rId56"/>
    <p:sldId id="618" r:id="rId57"/>
    <p:sldId id="528" r:id="rId58"/>
    <p:sldId id="668" r:id="rId59"/>
    <p:sldId id="530" r:id="rId60"/>
    <p:sldId id="531" r:id="rId61"/>
    <p:sldId id="619" r:id="rId62"/>
    <p:sldId id="620" r:id="rId63"/>
    <p:sldId id="621" r:id="rId64"/>
    <p:sldId id="532" r:id="rId65"/>
    <p:sldId id="533" r:id="rId66"/>
    <p:sldId id="534" r:id="rId67"/>
    <p:sldId id="622" r:id="rId68"/>
    <p:sldId id="535" r:id="rId69"/>
    <p:sldId id="536" r:id="rId70"/>
    <p:sldId id="670" r:id="rId71"/>
    <p:sldId id="538" r:id="rId72"/>
    <p:sldId id="539" r:id="rId73"/>
    <p:sldId id="678" r:id="rId74"/>
    <p:sldId id="624" r:id="rId75"/>
    <p:sldId id="625" r:id="rId76"/>
    <p:sldId id="680" r:id="rId77"/>
    <p:sldId id="540" r:id="rId78"/>
    <p:sldId id="671" r:id="rId79"/>
    <p:sldId id="694" r:id="rId80"/>
    <p:sldId id="543" r:id="rId81"/>
    <p:sldId id="679" r:id="rId82"/>
    <p:sldId id="628" r:id="rId83"/>
    <p:sldId id="692" r:id="rId84"/>
    <p:sldId id="630" r:id="rId85"/>
    <p:sldId id="544" r:id="rId86"/>
    <p:sldId id="545" r:id="rId87"/>
    <p:sldId id="631" r:id="rId88"/>
    <p:sldId id="546" r:id="rId89"/>
    <p:sldId id="547" r:id="rId90"/>
    <p:sldId id="672" r:id="rId91"/>
    <p:sldId id="549" r:id="rId92"/>
    <p:sldId id="550" r:id="rId93"/>
    <p:sldId id="551" r:id="rId94"/>
    <p:sldId id="632" r:id="rId95"/>
    <p:sldId id="633" r:id="rId96"/>
    <p:sldId id="552" r:id="rId97"/>
    <p:sldId id="673" r:id="rId98"/>
    <p:sldId id="554" r:id="rId99"/>
    <p:sldId id="555" r:id="rId100"/>
    <p:sldId id="682" r:id="rId101"/>
    <p:sldId id="635" r:id="rId102"/>
    <p:sldId id="687" r:id="rId103"/>
    <p:sldId id="556" r:id="rId104"/>
    <p:sldId id="557" r:id="rId105"/>
    <p:sldId id="558" r:id="rId106"/>
    <p:sldId id="637" r:id="rId107"/>
    <p:sldId id="559" r:id="rId108"/>
    <p:sldId id="560" r:id="rId109"/>
    <p:sldId id="674" r:id="rId110"/>
    <p:sldId id="562" r:id="rId111"/>
    <p:sldId id="563" r:id="rId112"/>
    <p:sldId id="683" r:id="rId113"/>
    <p:sldId id="639" r:id="rId114"/>
    <p:sldId id="688" r:id="rId115"/>
    <p:sldId id="564" r:id="rId116"/>
    <p:sldId id="675" r:id="rId117"/>
    <p:sldId id="566" r:id="rId118"/>
    <p:sldId id="567" r:id="rId119"/>
    <p:sldId id="684" r:id="rId120"/>
    <p:sldId id="642" r:id="rId121"/>
    <p:sldId id="689" r:id="rId122"/>
    <p:sldId id="568" r:id="rId123"/>
    <p:sldId id="569" r:id="rId124"/>
    <p:sldId id="570" r:id="rId125"/>
    <p:sldId id="644" r:id="rId126"/>
    <p:sldId id="571" r:id="rId127"/>
    <p:sldId id="572" r:id="rId128"/>
    <p:sldId id="676" r:id="rId129"/>
    <p:sldId id="574" r:id="rId130"/>
    <p:sldId id="575" r:id="rId131"/>
    <p:sldId id="685" r:id="rId132"/>
    <p:sldId id="646" r:id="rId133"/>
    <p:sldId id="690" r:id="rId134"/>
    <p:sldId id="576" r:id="rId135"/>
    <p:sldId id="677" r:id="rId136"/>
    <p:sldId id="578" r:id="rId137"/>
    <p:sldId id="579" r:id="rId138"/>
    <p:sldId id="686" r:id="rId139"/>
    <p:sldId id="649" r:id="rId140"/>
    <p:sldId id="691" r:id="rId141"/>
    <p:sldId id="580" r:id="rId142"/>
    <p:sldId id="581" r:id="rId143"/>
    <p:sldId id="582" r:id="rId144"/>
    <p:sldId id="651" r:id="rId14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806"/>
    <p:restoredTop sz="94688"/>
  </p:normalViewPr>
  <p:slideViewPr>
    <p:cSldViewPr snapToGrid="0" snapToObjects="1">
      <p:cViewPr>
        <p:scale>
          <a:sx n="100" d="100"/>
          <a:sy n="100" d="100"/>
        </p:scale>
        <p:origin x="896" y="1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theme" Target="theme/theme1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slide" Target="slides/slide13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50" Type="http://schemas.openxmlformats.org/officeDocument/2006/relationships/tableStyles" Target="tableStyles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45" Type="http://schemas.openxmlformats.org/officeDocument/2006/relationships/slide" Target="slides/slide14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BF2A66-F762-4D45-A4BE-565A9AE591E7}" type="datetimeFigureOut">
              <a:rPr kumimoji="1" lang="ko-KR" altLang="en-US" smtClean="0"/>
              <a:t>2026. 6. 14.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4A2B92-CE22-9947-8909-616593BF3D4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7126429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4A2B92-CE22-9947-8909-616593BF3D43}" type="slidenum">
              <a:rPr kumimoji="1" lang="ko-KR" altLang="en-US" smtClean="0"/>
              <a:t>89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303824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61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sv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sv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20.sv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sv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5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868680"/>
            <a:ext cx="12191695" cy="6350"/>
          </a:xfrm>
          <a:prstGeom prst="rect">
            <a:avLst/>
          </a:prstGeom>
          <a:solidFill>
            <a:srgbClr val="223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737360"/>
            <a:ext cx="12191695" cy="6350"/>
          </a:xfrm>
          <a:prstGeom prst="rect">
            <a:avLst/>
          </a:prstGeom>
          <a:solidFill>
            <a:srgbClr val="223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606039"/>
            <a:ext cx="12191695" cy="6350"/>
          </a:xfrm>
          <a:prstGeom prst="rect">
            <a:avLst/>
          </a:prstGeom>
          <a:solidFill>
            <a:srgbClr val="223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3474720"/>
            <a:ext cx="12191695" cy="6350"/>
          </a:xfrm>
          <a:prstGeom prst="rect">
            <a:avLst/>
          </a:prstGeom>
          <a:solidFill>
            <a:srgbClr val="223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4343400"/>
            <a:ext cx="12191695" cy="6350"/>
          </a:xfrm>
          <a:prstGeom prst="rect">
            <a:avLst/>
          </a:prstGeom>
          <a:solidFill>
            <a:srgbClr val="223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5212079"/>
            <a:ext cx="12191695" cy="6350"/>
          </a:xfrm>
          <a:prstGeom prst="rect">
            <a:avLst/>
          </a:prstGeom>
          <a:solidFill>
            <a:srgbClr val="223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080759"/>
            <a:ext cx="12191695" cy="6350"/>
          </a:xfrm>
          <a:prstGeom prst="rect">
            <a:avLst/>
          </a:prstGeom>
          <a:solidFill>
            <a:srgbClr val="223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554480"/>
            <a:ext cx="10515600" cy="3840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1400"/>
              </a:spcAft>
            </a:pPr>
            <a:r>
              <a:rPr sz="1400" b="0">
                <a:solidFill>
                  <a:srgbClr val="E8A33D"/>
                </a:solidFill>
                <a:latin typeface="JetBrains Mono"/>
                <a:ea typeface="JetBrains Mono"/>
                <a:cs typeface="JetBrains Mono"/>
              </a:rPr>
              <a:t>ONE-DAY WORKSHOP · AI MARKETING · 8 HOURS</a:t>
            </a:r>
          </a:p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</a:pPr>
            <a:r>
              <a:rPr sz="4600" b="1">
                <a:solidFill>
                  <a:srgbClr val="FFFFFF"/>
                </a:solidFill>
                <a:latin typeface="Noto Serif KR"/>
                <a:ea typeface="Noto Serif KR"/>
                <a:cs typeface="Noto Serif KR"/>
              </a:rPr>
              <a:t>AI로 만드는 홍보 실무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1800"/>
              </a:spcAft>
            </a:pPr>
            <a:r>
              <a:rPr sz="2200" b="0">
                <a:solidFill>
                  <a:srgbClr val="C7D2E6"/>
                </a:solidFill>
                <a:latin typeface="Noto Serif KR"/>
                <a:ea typeface="Noto Serif KR"/>
                <a:cs typeface="Noto Serif KR"/>
              </a:rPr>
              <a:t>콘텐츠 · 이미지 · 페이지까지 자동화 완성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400"/>
              </a:spcAft>
            </a:pPr>
            <a:r>
              <a:rPr sz="1500" b="0">
                <a:solidFill>
                  <a:srgbClr val="9FAEC8"/>
                </a:solidFill>
                <a:latin typeface="Pretendard"/>
                <a:ea typeface="Pretendard"/>
                <a:cs typeface="Pretendard"/>
              </a:rPr>
              <a:t>7개 모듈 · 14세션 · 하루 동안 하나의 캠페인을 처음부터 끝까지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5532120"/>
            <a:ext cx="10469880" cy="822960"/>
          </a:xfrm>
          <a:prstGeom prst="rect">
            <a:avLst/>
          </a:prstGeom>
          <a:solidFill>
            <a:srgbClr val="1B2A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tlCol="0" anchor="ctr"/>
          <a:lstStyle/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400"/>
              </a:spcAft>
            </a:pPr>
            <a:r>
              <a:rPr sz="1400" b="1">
                <a:solidFill>
                  <a:srgbClr val="E8A33D"/>
                </a:solidFill>
                <a:latin typeface="JetBrains Mono"/>
                <a:ea typeface="JetBrains Mono"/>
                <a:cs typeface="JetBrains Mono"/>
              </a:rPr>
              <a:t>오늘의 러닝 케이스   </a:t>
            </a:r>
            <a:r>
              <a:rPr sz="1400" b="0">
                <a:solidFill>
                  <a:srgbClr val="D7E0F0"/>
                </a:solidFill>
                <a:latin typeface="Pretendard"/>
                <a:ea typeface="Pretendard"/>
                <a:cs typeface="Pretendard"/>
              </a:rPr>
              <a:t>무알콜 수제 맥주 브랜드 ‘Night Off’ (타깃: 건강은 챙기되 분위기는 즐기고 싶은 30대 직장인)</a:t>
            </a:r>
          </a:p>
        </p:txBody>
      </p:sp>
      <p:pic>
        <p:nvPicPr>
          <p:cNvPr id="12" name="Picture 4">
            <a:extLst>
              <a:ext uri="{FF2B5EF4-FFF2-40B4-BE49-F238E27FC236}">
                <a16:creationId xmlns:a16="http://schemas.microsoft.com/office/drawing/2014/main" id="{AEEF7A57-4B0B-3312-B488-E8A0EC4CC03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0000"/>
          </a:blip>
          <a:stretch>
            <a:fillRect/>
          </a:stretch>
        </p:blipFill>
        <p:spPr>
          <a:xfrm>
            <a:off x="279400" y="3924300"/>
            <a:ext cx="374650" cy="374650"/>
          </a:xfrm>
          <a:prstGeom prst="rect">
            <a:avLst/>
          </a:prstGeom>
        </p:spPr>
      </p:pic>
      <p:pic>
        <p:nvPicPr>
          <p:cNvPr id="14" name="Picture 6">
            <a:extLst>
              <a:ext uri="{FF2B5EF4-FFF2-40B4-BE49-F238E27FC236}">
                <a16:creationId xmlns:a16="http://schemas.microsoft.com/office/drawing/2014/main" id="{A106CC63-E4E3-C747-0F75-3C512558D45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0" y="22159"/>
            <a:ext cx="2498377" cy="1066800"/>
          </a:xfrm>
          <a:prstGeom prst="rect">
            <a:avLst/>
          </a:prstGeom>
        </p:spPr>
      </p:pic>
      <p:grpSp>
        <p:nvGrpSpPr>
          <p:cNvPr id="15" name="그룹 14">
            <a:extLst>
              <a:ext uri="{FF2B5EF4-FFF2-40B4-BE49-F238E27FC236}">
                <a16:creationId xmlns:a16="http://schemas.microsoft.com/office/drawing/2014/main" id="{623961BB-B7BB-F16E-F0A5-6279DFD30A79}"/>
              </a:ext>
            </a:extLst>
          </p:cNvPr>
          <p:cNvGrpSpPr/>
          <p:nvPr/>
        </p:nvGrpSpPr>
        <p:grpSpPr>
          <a:xfrm>
            <a:off x="7877491" y="770891"/>
            <a:ext cx="4345215" cy="4040199"/>
            <a:chOff x="13449300" y="2921000"/>
            <a:chExt cx="11036300" cy="10261600"/>
          </a:xfrm>
        </p:grpSpPr>
        <p:pic>
          <p:nvPicPr>
            <p:cNvPr id="16" name="Picture 2">
              <a:extLst>
                <a:ext uri="{FF2B5EF4-FFF2-40B4-BE49-F238E27FC236}">
                  <a16:creationId xmlns:a16="http://schemas.microsoft.com/office/drawing/2014/main" id="{825556C6-A252-AB94-FC47-ADF42667704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50000"/>
            </a:blip>
            <a:stretch>
              <a:fillRect/>
            </a:stretch>
          </p:blipFill>
          <p:spPr>
            <a:xfrm>
              <a:off x="21920200" y="8051800"/>
              <a:ext cx="2565400" cy="5130800"/>
            </a:xfrm>
            <a:prstGeom prst="rect">
              <a:avLst/>
            </a:prstGeom>
          </p:spPr>
        </p:pic>
        <p:pic>
          <p:nvPicPr>
            <p:cNvPr id="17" name="Picture 3">
              <a:extLst>
                <a:ext uri="{FF2B5EF4-FFF2-40B4-BE49-F238E27FC236}">
                  <a16:creationId xmlns:a16="http://schemas.microsoft.com/office/drawing/2014/main" id="{1E863F22-776F-AC1B-1A9F-A9A7F2741F8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alphaModFix amt="70000"/>
            </a:blip>
            <a:stretch>
              <a:fillRect/>
            </a:stretch>
          </p:blipFill>
          <p:spPr>
            <a:xfrm>
              <a:off x="14185900" y="8686800"/>
              <a:ext cx="4495800" cy="4495800"/>
            </a:xfrm>
            <a:prstGeom prst="rect">
              <a:avLst/>
            </a:prstGeom>
          </p:spPr>
        </p:pic>
        <p:pic>
          <p:nvPicPr>
            <p:cNvPr id="18" name="Picture 4">
              <a:extLst>
                <a:ext uri="{FF2B5EF4-FFF2-40B4-BE49-F238E27FC236}">
                  <a16:creationId xmlns:a16="http://schemas.microsoft.com/office/drawing/2014/main" id="{74188FCB-A7E9-940F-D7F2-8EFD839FAC3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alphaModFix amt="70000"/>
            </a:blip>
            <a:stretch>
              <a:fillRect/>
            </a:stretch>
          </p:blipFill>
          <p:spPr>
            <a:xfrm>
              <a:off x="16433800" y="6007100"/>
              <a:ext cx="6172200" cy="6172200"/>
            </a:xfrm>
            <a:prstGeom prst="rect">
              <a:avLst/>
            </a:prstGeom>
          </p:spPr>
        </p:pic>
        <p:pic>
          <p:nvPicPr>
            <p:cNvPr id="19" name="Picture 5">
              <a:extLst>
                <a:ext uri="{FF2B5EF4-FFF2-40B4-BE49-F238E27FC236}">
                  <a16:creationId xmlns:a16="http://schemas.microsoft.com/office/drawing/2014/main" id="{15E2A362-3B3C-22FA-F411-E14EA8FB82A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alphaModFix amt="70000"/>
            </a:blip>
            <a:stretch>
              <a:fillRect/>
            </a:stretch>
          </p:blipFill>
          <p:spPr>
            <a:xfrm>
              <a:off x="20688300" y="2921000"/>
              <a:ext cx="1244600" cy="1244600"/>
            </a:xfrm>
            <a:prstGeom prst="rect">
              <a:avLst/>
            </a:prstGeom>
          </p:spPr>
        </p:pic>
        <p:pic>
          <p:nvPicPr>
            <p:cNvPr id="20" name="Picture 7">
              <a:extLst>
                <a:ext uri="{FF2B5EF4-FFF2-40B4-BE49-F238E27FC236}">
                  <a16:creationId xmlns:a16="http://schemas.microsoft.com/office/drawing/2014/main" id="{6DD01D20-356C-972D-07A2-E803E8C2FA3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alphaModFix amt="70000"/>
            </a:blip>
            <a:stretch>
              <a:fillRect/>
            </a:stretch>
          </p:blipFill>
          <p:spPr>
            <a:xfrm>
              <a:off x="13449300" y="11684000"/>
              <a:ext cx="1485900" cy="1485900"/>
            </a:xfrm>
            <a:prstGeom prst="rect">
              <a:avLst/>
            </a:prstGeom>
          </p:spPr>
        </p:pic>
        <p:pic>
          <p:nvPicPr>
            <p:cNvPr id="21" name="Picture 8">
              <a:extLst>
                <a:ext uri="{FF2B5EF4-FFF2-40B4-BE49-F238E27FC236}">
                  <a16:creationId xmlns:a16="http://schemas.microsoft.com/office/drawing/2014/main" id="{A32C8E04-D952-EA0F-EFD2-6A37D804BAE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alphaModFix amt="41000"/>
            </a:blip>
            <a:stretch>
              <a:fillRect/>
            </a:stretch>
          </p:blipFill>
          <p:spPr>
            <a:xfrm rot="5400000">
              <a:off x="21869400" y="6515100"/>
              <a:ext cx="3670300" cy="15621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655716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TODAY'S JOURNEY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오늘의 여정 — 7개 모듈, 하나의 흐름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83080"/>
            <a:ext cx="10332720" cy="457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700"/>
              </a:spcBef>
              <a:spcAft>
                <a:spcPts val="600"/>
              </a:spcAft>
            </a:pPr>
            <a:r>
              <a:rPr sz="1600" b="1">
                <a:solidFill>
                  <a:srgbClr val="E8A33D"/>
                </a:solidFill>
                <a:latin typeface="JetBrains Mono"/>
                <a:ea typeface="JetBrains Mono"/>
                <a:cs typeface="JetBrains Mono"/>
              </a:rPr>
              <a:t>M1  </a:t>
            </a:r>
            <a:r>
              <a:rPr sz="1600" b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어떤 업무를 AI로?  </a:t>
            </a:r>
            <a:r>
              <a:rPr sz="1400" b="0">
                <a:solidFill>
                  <a:srgbClr val="576176"/>
                </a:solidFill>
                <a:latin typeface="Pretendard"/>
                <a:ea typeface="Pretendard"/>
                <a:cs typeface="Pretendard"/>
              </a:rPr>
              <a:t>— 내 홍보 업무를 진단하고 자동화 1순위를 고른다</a:t>
            </a:r>
          </a:p>
          <a:p>
            <a:pPr algn="l">
              <a:lnSpc>
                <a:spcPct val="120000"/>
              </a:lnSpc>
              <a:spcBef>
                <a:spcPts val="700"/>
              </a:spcBef>
              <a:spcAft>
                <a:spcPts val="600"/>
              </a:spcAft>
            </a:pPr>
            <a:r>
              <a:rPr sz="1600" b="1">
                <a:solidFill>
                  <a:srgbClr val="E8A33D"/>
                </a:solidFill>
                <a:latin typeface="JetBrains Mono"/>
                <a:ea typeface="JetBrains Mono"/>
                <a:cs typeface="JetBrains Mono"/>
              </a:rPr>
              <a:t>M2  </a:t>
            </a:r>
            <a:r>
              <a:rPr sz="1600" b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무엇을 말할까?  </a:t>
            </a:r>
            <a:r>
              <a:rPr sz="1400" b="0">
                <a:solidFill>
                  <a:srgbClr val="576176"/>
                </a:solidFill>
                <a:latin typeface="Pretendard"/>
                <a:ea typeface="Pretendard"/>
                <a:cs typeface="Pretendard"/>
              </a:rPr>
              <a:t>— 목적·타깃·핵심 메시지(메시지 하우스) + 프롬프트 원리</a:t>
            </a:r>
          </a:p>
          <a:p>
            <a:pPr algn="l">
              <a:lnSpc>
                <a:spcPct val="120000"/>
              </a:lnSpc>
              <a:spcBef>
                <a:spcPts val="700"/>
              </a:spcBef>
              <a:spcAft>
                <a:spcPts val="600"/>
              </a:spcAft>
            </a:pPr>
            <a:r>
              <a:rPr sz="1600" b="1">
                <a:solidFill>
                  <a:srgbClr val="E8A33D"/>
                </a:solidFill>
                <a:latin typeface="JetBrains Mono"/>
                <a:ea typeface="JetBrains Mono"/>
                <a:cs typeface="JetBrains Mono"/>
              </a:rPr>
              <a:t>M3  </a:t>
            </a:r>
            <a:r>
              <a:rPr sz="1600" b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글로 풀어내기  </a:t>
            </a:r>
            <a:r>
              <a:rPr sz="1400" b="0">
                <a:solidFill>
                  <a:srgbClr val="576176"/>
                </a:solidFill>
                <a:latin typeface="Pretendard"/>
                <a:ea typeface="Pretendard"/>
                <a:cs typeface="Pretendard"/>
              </a:rPr>
              <a:t>— 소개문·SNS·블로그·카드뉴스 문안을 톤 유지하며 대량 생성</a:t>
            </a:r>
          </a:p>
          <a:p>
            <a:pPr algn="l">
              <a:lnSpc>
                <a:spcPct val="120000"/>
              </a:lnSpc>
              <a:spcBef>
                <a:spcPts val="700"/>
              </a:spcBef>
              <a:spcAft>
                <a:spcPts val="600"/>
              </a:spcAft>
            </a:pPr>
            <a:r>
              <a:rPr sz="1600" b="1">
                <a:solidFill>
                  <a:srgbClr val="E8A33D"/>
                </a:solidFill>
                <a:latin typeface="JetBrains Mono"/>
                <a:ea typeface="JetBrains Mono"/>
                <a:cs typeface="JetBrains Mono"/>
              </a:rPr>
              <a:t>M4  </a:t>
            </a:r>
            <a:r>
              <a:rPr sz="1600" b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보이게 만들기  </a:t>
            </a:r>
            <a:r>
              <a:rPr sz="1400" b="0">
                <a:solidFill>
                  <a:srgbClr val="576176"/>
                </a:solidFill>
                <a:latin typeface="Pretendard"/>
                <a:ea typeface="Pretendard"/>
                <a:cs typeface="Pretendard"/>
              </a:rPr>
              <a:t>— 문구와 톤이 맞는 배너·카드뉴스·썸네일</a:t>
            </a:r>
          </a:p>
          <a:p>
            <a:pPr algn="l">
              <a:lnSpc>
                <a:spcPct val="120000"/>
              </a:lnSpc>
              <a:spcBef>
                <a:spcPts val="700"/>
              </a:spcBef>
              <a:spcAft>
                <a:spcPts val="600"/>
              </a:spcAft>
            </a:pPr>
            <a:r>
              <a:rPr sz="1600" b="1">
                <a:solidFill>
                  <a:srgbClr val="E8A33D"/>
                </a:solidFill>
                <a:latin typeface="JetBrains Mono"/>
                <a:ea typeface="JetBrains Mono"/>
                <a:cs typeface="JetBrains Mono"/>
              </a:rPr>
              <a:t>M5  </a:t>
            </a:r>
            <a:r>
              <a:rPr sz="1600" b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화면 설계  </a:t>
            </a:r>
            <a:r>
              <a:rPr sz="1400" b="0">
                <a:solidFill>
                  <a:srgbClr val="576176"/>
                </a:solidFill>
                <a:latin typeface="Pretendard"/>
                <a:ea typeface="Pretendard"/>
                <a:cs typeface="Pretendard"/>
              </a:rPr>
              <a:t>— 자연어로 홍보 페이지 UI 시안(Google Stitch)</a:t>
            </a:r>
          </a:p>
          <a:p>
            <a:pPr algn="l">
              <a:lnSpc>
                <a:spcPct val="120000"/>
              </a:lnSpc>
              <a:spcBef>
                <a:spcPts val="700"/>
              </a:spcBef>
              <a:spcAft>
                <a:spcPts val="600"/>
              </a:spcAft>
            </a:pPr>
            <a:r>
              <a:rPr sz="1600" b="1">
                <a:solidFill>
                  <a:srgbClr val="E8A33D"/>
                </a:solidFill>
                <a:latin typeface="JetBrains Mono"/>
                <a:ea typeface="JetBrains Mono"/>
                <a:cs typeface="JetBrains Mono"/>
              </a:rPr>
              <a:t>M6  </a:t>
            </a:r>
            <a:r>
              <a:rPr sz="1600" b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페이지 완성  </a:t>
            </a:r>
            <a:r>
              <a:rPr sz="1400" b="0">
                <a:solidFill>
                  <a:srgbClr val="576176"/>
                </a:solidFill>
                <a:latin typeface="Pretendard"/>
                <a:ea typeface="Pretendard"/>
                <a:cs typeface="Pretendard"/>
              </a:rPr>
              <a:t>— 섹션 카피·CTA·사용자 흐름으로 전환되는 페이지</a:t>
            </a:r>
          </a:p>
          <a:p>
            <a:pPr algn="l">
              <a:lnSpc>
                <a:spcPct val="120000"/>
              </a:lnSpc>
              <a:spcBef>
                <a:spcPts val="700"/>
              </a:spcBef>
              <a:spcAft>
                <a:spcPts val="600"/>
              </a:spcAft>
            </a:pPr>
            <a:r>
              <a:rPr sz="1600" b="1">
                <a:solidFill>
                  <a:srgbClr val="E8A33D"/>
                </a:solidFill>
                <a:latin typeface="JetBrains Mono"/>
                <a:ea typeface="JetBrains Mono"/>
                <a:cs typeface="JetBrains Mono"/>
              </a:rPr>
              <a:t>M7  </a:t>
            </a:r>
            <a:r>
              <a:rPr sz="1600" b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자산으로 남기기  </a:t>
            </a:r>
            <a:r>
              <a:rPr sz="1400" b="0">
                <a:solidFill>
                  <a:srgbClr val="576176"/>
                </a:solidFill>
                <a:latin typeface="Pretendard"/>
                <a:ea typeface="Pretendard"/>
                <a:cs typeface="Pretendard"/>
              </a:rPr>
              <a:t>— 템플릿화·자동화 + 결과물 발표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5897880"/>
            <a:ext cx="10332720" cy="502920"/>
          </a:xfrm>
          <a:prstGeom prst="rect">
            <a:avLst/>
          </a:prstGeom>
          <a:solidFill>
            <a:srgbClr val="DCE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tlCol="0" anchor="ctr"/>
          <a:lstStyle/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400"/>
              </a:spcAft>
            </a:pPr>
            <a:r>
              <a:rPr sz="14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각 모듈은 앞 모듈의 결과물을 입력으로 받아 이어집니다 — 따로가 아니라 하나의 캠페인.</a:t>
            </a:r>
          </a:p>
        </p:txBody>
      </p:sp>
      <p:pic>
        <p:nvPicPr>
          <p:cNvPr id="6" name="Picture 17">
            <a:extLst>
              <a:ext uri="{FF2B5EF4-FFF2-40B4-BE49-F238E27FC236}">
                <a16:creationId xmlns:a16="http://schemas.microsoft.com/office/drawing/2014/main" id="{C15B3B72-2576-EE4C-0885-E81E96CEF9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8923" y="2369974"/>
            <a:ext cx="3829801" cy="3067387"/>
          </a:xfrm>
          <a:prstGeom prst="rect">
            <a:avLst/>
          </a:prstGeom>
        </p:spPr>
      </p:pic>
      <p:sp>
        <p:nvSpPr>
          <p:cNvPr id="8" name="PageNumber">
            <a:extLst>
              <a:ext uri="{FF2B5EF4-FFF2-40B4-BE49-F238E27FC236}">
                <a16:creationId xmlns:a16="http://schemas.microsoft.com/office/drawing/2014/main" id="{796AB2E9-FB9C-8044-9F95-35ED05DC9E12}"/>
              </a:ext>
            </a:extLst>
          </p:cNvPr>
          <p:cNvSpPr txBox="1"/>
          <p:nvPr/>
        </p:nvSpPr>
        <p:spPr>
          <a:xfrm>
            <a:off x="9499600" y="6489700"/>
            <a:ext cx="23368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r"/>
            <a:r>
              <a:rPr lang="en-US" altLang="ko-KR" sz="1200" dirty="0">
                <a:solidFill>
                  <a:srgbClr val="576176"/>
                </a:solidFill>
                <a:latin typeface="Pretendard"/>
              </a:rPr>
              <a:t>- 02/144 -</a:t>
            </a:r>
            <a:endParaRPr lang="ko-KR" altLang="en-US" sz="1200" dirty="0">
              <a:solidFill>
                <a:srgbClr val="576176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6894146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4E8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2960" y="868680"/>
            <a:ext cx="1005840" cy="128016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143000"/>
            <a:ext cx="10515600" cy="20762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1000"/>
              </a:spcAft>
            </a:pPr>
            <a:r>
              <a:rPr sz="1400" b="0" dirty="0">
                <a:solidFill>
                  <a:srgbClr val="BFD2EC"/>
                </a:solidFill>
                <a:latin typeface="JetBrains Mono"/>
                <a:ea typeface="JetBrains Mono"/>
                <a:cs typeface="JetBrains Mono"/>
              </a:rPr>
              <a:t>MODULE 1 · 1교시 · 09:00–09:50</a:t>
            </a:r>
          </a:p>
          <a:p>
            <a:pPr algn="l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</a:pPr>
            <a:r>
              <a:rPr sz="3800" b="1" dirty="0">
                <a:solidFill>
                  <a:srgbClr val="FFFFFF"/>
                </a:solidFill>
                <a:latin typeface="Noto Serif KR"/>
                <a:ea typeface="Noto Serif KR"/>
                <a:cs typeface="Noto Serif KR"/>
              </a:rPr>
              <a:t>M1. AI </a:t>
            </a:r>
            <a:r>
              <a:rPr sz="3800" b="1" dirty="0" err="1">
                <a:solidFill>
                  <a:srgbClr val="FFFFFF"/>
                </a:solidFill>
                <a:latin typeface="Noto Serif KR"/>
                <a:ea typeface="Noto Serif KR"/>
                <a:cs typeface="Noto Serif KR"/>
              </a:rPr>
              <a:t>기반</a:t>
            </a:r>
            <a:r>
              <a:rPr sz="3800" b="1" dirty="0">
                <a:solidFill>
                  <a:srgbClr val="FFFFFF"/>
                </a:solidFill>
                <a:latin typeface="Noto Serif KR"/>
                <a:ea typeface="Noto Serif KR"/>
                <a:cs typeface="Noto Serif KR"/>
              </a:rPr>
              <a:t> </a:t>
            </a:r>
            <a:r>
              <a:rPr sz="3800" b="1" dirty="0" err="1">
                <a:solidFill>
                  <a:srgbClr val="FFFFFF"/>
                </a:solidFill>
                <a:latin typeface="Noto Serif KR"/>
                <a:ea typeface="Noto Serif KR"/>
                <a:cs typeface="Noto Serif KR"/>
              </a:rPr>
              <a:t>업무효율화의</a:t>
            </a:r>
            <a:r>
              <a:rPr sz="3800" b="1" dirty="0">
                <a:solidFill>
                  <a:srgbClr val="FFFFFF"/>
                </a:solidFill>
                <a:latin typeface="Noto Serif KR"/>
                <a:ea typeface="Noto Serif KR"/>
                <a:cs typeface="Noto Serif KR"/>
              </a:rPr>
              <a:t> </a:t>
            </a:r>
            <a:r>
              <a:rPr sz="3800" b="1" dirty="0" err="1">
                <a:solidFill>
                  <a:srgbClr val="FFFFFF"/>
                </a:solidFill>
                <a:latin typeface="Noto Serif KR"/>
                <a:ea typeface="Noto Serif KR"/>
                <a:cs typeface="Noto Serif KR"/>
              </a:rPr>
              <a:t>이해</a:t>
            </a:r>
            <a:endParaRPr sz="3800" b="1" dirty="0">
              <a:solidFill>
                <a:srgbClr val="FFFFFF"/>
              </a:solidFill>
              <a:latin typeface="Noto Serif KR"/>
              <a:ea typeface="Noto Serif KR"/>
              <a:cs typeface="Noto Serif KR"/>
            </a:endParaRPr>
          </a:p>
          <a:p>
            <a:pPr algn="l">
              <a:lnSpc>
                <a:spcPct val="140000"/>
              </a:lnSpc>
              <a:spcBef>
                <a:spcPts val="600"/>
              </a:spcBef>
              <a:spcAft>
                <a:spcPts val="400"/>
              </a:spcAft>
            </a:pPr>
            <a:r>
              <a:rPr sz="1500" b="0" dirty="0" err="1">
                <a:solidFill>
                  <a:srgbClr val="DBE6F6"/>
                </a:solidFill>
                <a:latin typeface="Pretendard"/>
                <a:ea typeface="Pretendard"/>
                <a:cs typeface="Pretendard"/>
              </a:rPr>
              <a:t>생성형</a:t>
            </a:r>
            <a:r>
              <a:rPr sz="1500" b="0" dirty="0">
                <a:solidFill>
                  <a:srgbClr val="DBE6F6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500" b="0" dirty="0" err="1">
                <a:solidFill>
                  <a:srgbClr val="DBE6F6"/>
                </a:solidFill>
                <a:latin typeface="Pretendard"/>
                <a:ea typeface="Pretendard"/>
                <a:cs typeface="Pretendard"/>
              </a:rPr>
              <a:t>AI를</a:t>
            </a:r>
            <a:r>
              <a:rPr sz="1500" b="0" dirty="0">
                <a:solidFill>
                  <a:srgbClr val="DBE6F6"/>
                </a:solidFill>
                <a:latin typeface="Pretendard"/>
                <a:ea typeface="Pretendard"/>
                <a:cs typeface="Pretendard"/>
              </a:rPr>
              <a:t> "</a:t>
            </a:r>
            <a:r>
              <a:rPr sz="1500" b="0" dirty="0" err="1">
                <a:solidFill>
                  <a:srgbClr val="DBE6F6"/>
                </a:solidFill>
                <a:latin typeface="Pretendard"/>
                <a:ea typeface="Pretendard"/>
                <a:cs typeface="Pretendard"/>
              </a:rPr>
              <a:t>확률적</a:t>
            </a:r>
            <a:r>
              <a:rPr sz="1500" b="0" dirty="0">
                <a:solidFill>
                  <a:srgbClr val="DBE6F6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500" b="0" dirty="0" err="1">
                <a:solidFill>
                  <a:srgbClr val="DBE6F6"/>
                </a:solidFill>
                <a:latin typeface="Pretendard"/>
                <a:ea typeface="Pretendard"/>
                <a:cs typeface="Pretendard"/>
              </a:rPr>
              <a:t>언어</a:t>
            </a:r>
            <a:r>
              <a:rPr sz="1500" b="0" dirty="0">
                <a:solidFill>
                  <a:srgbClr val="DBE6F6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500" b="0" dirty="0" err="1">
                <a:solidFill>
                  <a:srgbClr val="DBE6F6"/>
                </a:solidFill>
                <a:latin typeface="Pretendard"/>
                <a:ea typeface="Pretendard"/>
                <a:cs typeface="Pretendard"/>
              </a:rPr>
              <a:t>생성기"로</a:t>
            </a:r>
            <a:r>
              <a:rPr sz="1500" b="0" dirty="0">
                <a:solidFill>
                  <a:srgbClr val="DBE6F6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500" b="0" dirty="0" err="1">
                <a:solidFill>
                  <a:srgbClr val="DBE6F6"/>
                </a:solidFill>
                <a:latin typeface="Pretendard"/>
                <a:ea typeface="Pretendard"/>
                <a:cs typeface="Pretendard"/>
              </a:rPr>
              <a:t>정확히</a:t>
            </a:r>
            <a:r>
              <a:rPr sz="1500" b="0" dirty="0">
                <a:solidFill>
                  <a:srgbClr val="DBE6F6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500" b="0" dirty="0" err="1">
                <a:solidFill>
                  <a:srgbClr val="DBE6F6"/>
                </a:solidFill>
                <a:latin typeface="Pretendard"/>
                <a:ea typeface="Pretendard"/>
                <a:cs typeface="Pretendard"/>
              </a:rPr>
              <a:t>이해하고</a:t>
            </a:r>
            <a:r>
              <a:rPr sz="1500" b="0" dirty="0">
                <a:solidFill>
                  <a:srgbClr val="DBE6F6"/>
                </a:solidFill>
                <a:latin typeface="Pretendard"/>
                <a:ea typeface="Pretendard"/>
                <a:cs typeface="Pretendard"/>
              </a:rPr>
              <a:t>, </a:t>
            </a:r>
            <a:endParaRPr lang="en-US" sz="1500" b="0" dirty="0">
              <a:solidFill>
                <a:srgbClr val="DBE6F6"/>
              </a:solidFill>
              <a:latin typeface="Pretendard"/>
              <a:ea typeface="Pretendard"/>
              <a:cs typeface="Pretendard"/>
            </a:endParaRPr>
          </a:p>
          <a:p>
            <a:pPr algn="l">
              <a:lnSpc>
                <a:spcPct val="140000"/>
              </a:lnSpc>
              <a:spcBef>
                <a:spcPts val="600"/>
              </a:spcBef>
              <a:spcAft>
                <a:spcPts val="400"/>
              </a:spcAft>
            </a:pPr>
            <a:r>
              <a:rPr sz="1500" b="0" dirty="0" err="1">
                <a:solidFill>
                  <a:srgbClr val="DBE6F6"/>
                </a:solidFill>
                <a:latin typeface="Pretendard"/>
                <a:ea typeface="Pretendard"/>
                <a:cs typeface="Pretendard"/>
              </a:rPr>
              <a:t>내</a:t>
            </a:r>
            <a:r>
              <a:rPr sz="1500" b="0" dirty="0">
                <a:solidFill>
                  <a:srgbClr val="DBE6F6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500" b="0" dirty="0" err="1">
                <a:solidFill>
                  <a:srgbClr val="DBE6F6"/>
                </a:solidFill>
                <a:latin typeface="Pretendard"/>
                <a:ea typeface="Pretendard"/>
                <a:cs typeface="Pretendard"/>
              </a:rPr>
              <a:t>홍보</a:t>
            </a:r>
            <a:r>
              <a:rPr sz="1500" b="0" dirty="0">
                <a:solidFill>
                  <a:srgbClr val="DBE6F6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500" b="0" dirty="0" err="1">
                <a:solidFill>
                  <a:srgbClr val="DBE6F6"/>
                </a:solidFill>
                <a:latin typeface="Pretendard"/>
                <a:ea typeface="Pretendard"/>
                <a:cs typeface="Pretendard"/>
              </a:rPr>
              <a:t>워크플로를</a:t>
            </a:r>
            <a:r>
              <a:rPr sz="1500" b="0" dirty="0">
                <a:solidFill>
                  <a:srgbClr val="DBE6F6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500" b="0" dirty="0" err="1">
                <a:solidFill>
                  <a:srgbClr val="DBE6F6"/>
                </a:solidFill>
                <a:latin typeface="Pretendard"/>
                <a:ea typeface="Pretendard"/>
                <a:cs typeface="Pretendard"/>
              </a:rPr>
              <a:t>입력→처리→출력</a:t>
            </a:r>
            <a:r>
              <a:rPr sz="1500" b="0" dirty="0">
                <a:solidFill>
                  <a:srgbClr val="DBE6F6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500" b="0" dirty="0" err="1">
                <a:solidFill>
                  <a:srgbClr val="DBE6F6"/>
                </a:solidFill>
                <a:latin typeface="Pretendard"/>
                <a:ea typeface="Pretendard"/>
                <a:cs typeface="Pretendard"/>
              </a:rPr>
              <a:t>단위로</a:t>
            </a:r>
            <a:r>
              <a:rPr sz="1500" b="0" dirty="0">
                <a:solidFill>
                  <a:srgbClr val="DBE6F6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500" b="0" dirty="0" err="1">
                <a:solidFill>
                  <a:srgbClr val="DBE6F6"/>
                </a:solidFill>
                <a:latin typeface="Pretendard"/>
                <a:ea typeface="Pretendard"/>
                <a:cs typeface="Pretendard"/>
              </a:rPr>
              <a:t>분해해</a:t>
            </a:r>
            <a:r>
              <a:rPr sz="1500" b="0" dirty="0">
                <a:solidFill>
                  <a:srgbClr val="DBE6F6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500" b="0" dirty="0" err="1">
                <a:solidFill>
                  <a:srgbClr val="DBE6F6"/>
                </a:solidFill>
                <a:latin typeface="Pretendard"/>
                <a:ea typeface="Pretendard"/>
                <a:cs typeface="Pretendard"/>
              </a:rPr>
              <a:t>어디를</a:t>
            </a:r>
            <a:r>
              <a:rPr sz="1500" b="0" dirty="0">
                <a:solidFill>
                  <a:srgbClr val="DBE6F6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500" b="0" dirty="0" err="1">
                <a:solidFill>
                  <a:srgbClr val="DBE6F6"/>
                </a:solidFill>
                <a:latin typeface="Pretendard"/>
                <a:ea typeface="Pretendard"/>
                <a:cs typeface="Pretendard"/>
              </a:rPr>
              <a:t>자동화할지</a:t>
            </a:r>
            <a:r>
              <a:rPr sz="1500" b="0" dirty="0">
                <a:solidFill>
                  <a:srgbClr val="DBE6F6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500" b="0" dirty="0" err="1">
                <a:solidFill>
                  <a:srgbClr val="DBE6F6"/>
                </a:solidFill>
                <a:latin typeface="Pretendard"/>
                <a:ea typeface="Pretendard"/>
                <a:cs typeface="Pretendard"/>
              </a:rPr>
              <a:t>판단한다</a:t>
            </a:r>
            <a:r>
              <a:rPr sz="1500" b="0" dirty="0">
                <a:solidFill>
                  <a:srgbClr val="DBE6F6"/>
                </a:solidFill>
                <a:latin typeface="Pretendard"/>
                <a:ea typeface="Pretendard"/>
                <a:cs typeface="Pretendard"/>
              </a:rPr>
              <a:t>.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4981512"/>
            <a:ext cx="10515600" cy="1330388"/>
          </a:xfrm>
          <a:prstGeom prst="rect">
            <a:avLst/>
          </a:prstGeom>
          <a:solidFill>
            <a:srgbClr val="184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164592" rtlCol="0" anchor="ctr"/>
          <a:lstStyle/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300"/>
              </a:spcAft>
            </a:pPr>
            <a:r>
              <a:rPr sz="1400" b="1">
                <a:solidFill>
                  <a:srgbClr val="9FC0E6"/>
                </a:solidFill>
                <a:latin typeface="JetBrains Mono"/>
                <a:ea typeface="JetBrains Mono"/>
                <a:cs typeface="JetBrains Mono"/>
              </a:rPr>
              <a:t>이전  </a:t>
            </a:r>
            <a:r>
              <a:rPr sz="14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워크숍 시작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300"/>
              </a:spcAft>
            </a:pPr>
            <a:r>
              <a:rPr sz="1400" b="1">
                <a:solidFill>
                  <a:srgbClr val="E8A33D"/>
                </a:solidFill>
                <a:latin typeface="JetBrains Mono"/>
                <a:ea typeface="JetBrains Mono"/>
                <a:cs typeface="JetBrains Mono"/>
              </a:rPr>
              <a:t>이번  </a:t>
            </a:r>
            <a:r>
              <a:rPr sz="1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내 업무를 진단해 'AI로 바꿀 한 곳'을 찾는다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400"/>
              </a:spcAft>
            </a:pPr>
            <a:r>
              <a:rPr sz="1400" b="1">
                <a:solidFill>
                  <a:srgbClr val="9FC0E6"/>
                </a:solidFill>
                <a:latin typeface="JetBrains Mono"/>
                <a:ea typeface="JetBrains Mono"/>
                <a:cs typeface="JetBrains Mono"/>
              </a:rPr>
              <a:t>다음  </a:t>
            </a:r>
            <a:r>
              <a:rPr sz="14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찾은 그 업무의 메시지부터 잡으러 → M2</a:t>
            </a:r>
          </a:p>
        </p:txBody>
      </p:sp>
      <p:sp>
        <p:nvSpPr>
          <p:cNvPr id="140" name="num"/>
          <p:cNvSpPr txBox="1"/>
          <p:nvPr/>
        </p:nvSpPr>
        <p:spPr>
          <a:xfrm>
            <a:off x="9083040" y="1143000"/>
            <a:ext cx="2286000" cy="1905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r>
              <a:rPr lang="en-US" sz="10000" b="1" dirty="0">
                <a:solidFill>
                  <a:srgbClr val="3D679A"/>
                </a:solidFill>
                <a:latin typeface="Noto Serif KR"/>
                <a:ea typeface="Noto Serif KR"/>
              </a:rPr>
              <a:t>01</a:t>
            </a:r>
          </a:p>
        </p:txBody>
      </p:sp>
      <p:sp>
        <p:nvSpPr>
          <p:cNvPr id="141" name="pcap"/>
          <p:cNvSpPr txBox="1"/>
          <p:nvPr/>
        </p:nvSpPr>
        <p:spPr>
          <a:xfrm>
            <a:off x="825500" y="3619500"/>
            <a:ext cx="5080000" cy="3048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r>
              <a:rPr lang="ko-KR" sz="1400" b="1" dirty="0">
                <a:solidFill>
                  <a:srgbClr val="E8A33D"/>
                </a:solidFill>
                <a:latin typeface="JetBrains Mono"/>
                <a:ea typeface="JetBrains Mono"/>
              </a:rPr>
              <a:t>이 모듈의 작업 단위</a:t>
            </a:r>
          </a:p>
        </p:txBody>
      </p:sp>
      <p:sp>
        <p:nvSpPr>
          <p:cNvPr id="142" name="chip0"/>
          <p:cNvSpPr/>
          <p:nvPr/>
        </p:nvSpPr>
        <p:spPr>
          <a:xfrm>
            <a:off x="825500" y="4025900"/>
            <a:ext cx="1498600" cy="584200"/>
          </a:xfrm>
          <a:prstGeom prst="roundRect">
            <a:avLst>
              <a:gd name="adj" fmla="val 18000"/>
            </a:avLst>
          </a:prstGeom>
          <a:solidFill>
            <a:srgbClr val="416A9C"/>
          </a:solidFill>
          <a:ln w="12700">
            <a:solidFill>
              <a:srgbClr val="E8A33D"/>
            </a:solidFill>
          </a:ln>
        </p:spPr>
        <p:txBody>
          <a:bodyPr lIns="0" tIns="0" rIns="0" bIns="0" anchor="ctr"/>
          <a:lstStyle/>
          <a:p>
            <a:pPr algn="ctr"/>
            <a:r>
              <a:rPr lang="ko-KR" sz="1600" b="1" dirty="0">
                <a:solidFill>
                  <a:srgbClr val="FFFFFF"/>
                </a:solidFill>
                <a:latin typeface="Pretendard"/>
                <a:ea typeface="Pretendard"/>
              </a:rPr>
              <a:t>입력</a:t>
            </a:r>
          </a:p>
        </p:txBody>
      </p:sp>
      <p:sp>
        <p:nvSpPr>
          <p:cNvPr id="143" name="arr0"/>
          <p:cNvSpPr/>
          <p:nvPr/>
        </p:nvSpPr>
        <p:spPr>
          <a:xfrm>
            <a:off x="2374900" y="4178300"/>
            <a:ext cx="304800" cy="279400"/>
          </a:xfrm>
          <a:prstGeom prst="rightArrow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44" name="chip1"/>
          <p:cNvSpPr/>
          <p:nvPr/>
        </p:nvSpPr>
        <p:spPr>
          <a:xfrm>
            <a:off x="2730500" y="4025900"/>
            <a:ext cx="1498600" cy="584200"/>
          </a:xfrm>
          <a:prstGeom prst="roundRect">
            <a:avLst>
              <a:gd name="adj" fmla="val 18000"/>
            </a:avLst>
          </a:prstGeom>
          <a:solidFill>
            <a:srgbClr val="416A9C"/>
          </a:solidFill>
          <a:ln w="12700">
            <a:solidFill>
              <a:srgbClr val="E8A33D"/>
            </a:solidFill>
          </a:ln>
        </p:spPr>
        <p:txBody>
          <a:bodyPr lIns="0" tIns="0" rIns="0" bIns="0" anchor="ctr"/>
          <a:lstStyle/>
          <a:p>
            <a:pPr algn="ctr"/>
            <a:r>
              <a:rPr lang="ko-KR" sz="1600" b="1" dirty="0">
                <a:solidFill>
                  <a:srgbClr val="FFFFFF"/>
                </a:solidFill>
                <a:latin typeface="Pretendard"/>
                <a:ea typeface="Pretendard"/>
              </a:rPr>
              <a:t>처리</a:t>
            </a:r>
          </a:p>
        </p:txBody>
      </p:sp>
      <p:sp>
        <p:nvSpPr>
          <p:cNvPr id="145" name="arr1"/>
          <p:cNvSpPr/>
          <p:nvPr/>
        </p:nvSpPr>
        <p:spPr>
          <a:xfrm>
            <a:off x="4279900" y="4178300"/>
            <a:ext cx="304800" cy="279400"/>
          </a:xfrm>
          <a:prstGeom prst="rightArrow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46" name="chip2"/>
          <p:cNvSpPr/>
          <p:nvPr/>
        </p:nvSpPr>
        <p:spPr>
          <a:xfrm>
            <a:off x="4635500" y="4025900"/>
            <a:ext cx="1498600" cy="584200"/>
          </a:xfrm>
          <a:prstGeom prst="roundRect">
            <a:avLst>
              <a:gd name="adj" fmla="val 18000"/>
            </a:avLst>
          </a:prstGeom>
          <a:solidFill>
            <a:srgbClr val="416A9C"/>
          </a:solidFill>
          <a:ln w="12700">
            <a:solidFill>
              <a:srgbClr val="E8A33D"/>
            </a:solidFill>
          </a:ln>
        </p:spPr>
        <p:txBody>
          <a:bodyPr lIns="0" tIns="0" rIns="0" bIns="0" anchor="ctr"/>
          <a:lstStyle/>
          <a:p>
            <a:pPr algn="ctr"/>
            <a:r>
              <a:rPr lang="ko-KR" sz="1600" b="1" dirty="0">
                <a:solidFill>
                  <a:srgbClr val="FFFFFF"/>
                </a:solidFill>
                <a:latin typeface="Pretendard"/>
                <a:ea typeface="Pretendard"/>
              </a:rPr>
              <a:t>출력</a:t>
            </a:r>
          </a:p>
        </p:txBody>
      </p:sp>
      <p:pic>
        <p:nvPicPr>
          <p:cNvPr id="5" name="Picture 6">
            <a:extLst>
              <a:ext uri="{FF2B5EF4-FFF2-40B4-BE49-F238E27FC236}">
                <a16:creationId xmlns:a16="http://schemas.microsoft.com/office/drawing/2014/main" id="{CF8CFF57-3581-52CC-FA30-0D94A291857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9693623" y="0"/>
            <a:ext cx="2498377" cy="1066800"/>
          </a:xfrm>
          <a:prstGeom prst="rect">
            <a:avLst/>
          </a:prstGeom>
        </p:spPr>
      </p:pic>
      <p:sp>
        <p:nvSpPr>
          <p:cNvPr id="6" name="PageNumber">
            <a:extLst>
              <a:ext uri="{FF2B5EF4-FFF2-40B4-BE49-F238E27FC236}">
                <a16:creationId xmlns:a16="http://schemas.microsoft.com/office/drawing/2014/main" id="{C1263B74-3D07-2447-927C-6A0D4453A4C2}"/>
              </a:ext>
            </a:extLst>
          </p:cNvPr>
          <p:cNvSpPr txBox="1"/>
          <p:nvPr/>
        </p:nvSpPr>
        <p:spPr>
          <a:xfrm>
            <a:off x="9499600" y="6489700"/>
            <a:ext cx="23368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r"/>
            <a:r>
              <a:rPr lang="en-US" altLang="ko-KR" sz="1200" dirty="0">
                <a:solidFill>
                  <a:schemeClr val="bg1"/>
                </a:solidFill>
                <a:latin typeface="Pretendard"/>
              </a:rPr>
              <a:t>- 03/144 -</a:t>
            </a:r>
            <a:endParaRPr lang="ko-KR" altLang="en-US" sz="1200" dirty="0">
              <a:solidFill>
                <a:schemeClr val="bg1"/>
              </a:solidFill>
              <a:latin typeface="Pretendard"/>
            </a:endParaRPr>
          </a:p>
        </p:txBody>
      </p:sp>
      <p:pic>
        <p:nvPicPr>
          <p:cNvPr id="7" name="Picture 16">
            <a:extLst>
              <a:ext uri="{FF2B5EF4-FFF2-40B4-BE49-F238E27FC236}">
                <a16:creationId xmlns:a16="http://schemas.microsoft.com/office/drawing/2014/main" id="{98DE41E0-A67B-A4D2-02BA-F27740639B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7152719">
            <a:off x="10106335" y="3014798"/>
            <a:ext cx="1672953" cy="3215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8639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7863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MODULE 1 · 구성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이 모듈의 흐름</a:t>
            </a:r>
          </a:p>
        </p:txBody>
      </p:sp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582EF965-B7D8-8A4F-9298-53A6135E6DFE}"/>
              </a:ext>
            </a:extLst>
          </p:cNvPr>
          <p:cNvSpPr/>
          <p:nvPr/>
        </p:nvSpPr>
        <p:spPr>
          <a:xfrm>
            <a:off x="825500" y="1905000"/>
            <a:ext cx="5080000" cy="4381500"/>
          </a:xfrm>
          <a:prstGeom prst="roundRect">
            <a:avLst>
              <a:gd name="adj" fmla="val 580"/>
            </a:avLst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2A51C84-2A92-BD43-A691-5EA1D4A6993A}"/>
              </a:ext>
            </a:extLst>
          </p:cNvPr>
          <p:cNvSpPr/>
          <p:nvPr/>
        </p:nvSpPr>
        <p:spPr>
          <a:xfrm>
            <a:off x="825500" y="1905000"/>
            <a:ext cx="5080000" cy="88900"/>
          </a:xfrm>
          <a:prstGeom prst="rect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BB96F4-B6F5-BF4D-8B3E-BC4991B82094}"/>
              </a:ext>
            </a:extLst>
          </p:cNvPr>
          <p:cNvSpPr txBox="1"/>
          <p:nvPr/>
        </p:nvSpPr>
        <p:spPr>
          <a:xfrm>
            <a:off x="1181100" y="2311400"/>
            <a:ext cx="43688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400" b="1">
                <a:solidFill>
                  <a:srgbClr val="E8A33D"/>
                </a:solidFill>
                <a:latin typeface="JetBrains Mono"/>
              </a:rPr>
              <a:t>SESSION 1</a:t>
            </a:r>
            <a:endParaRPr lang="ko-KR" altLang="en-US" sz="1400" b="1">
              <a:solidFill>
                <a:srgbClr val="E8A33D"/>
              </a:solidFill>
              <a:latin typeface="JetBrains Mono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653603-EB89-2C45-AED2-7A44997BDD4F}"/>
              </a:ext>
            </a:extLst>
          </p:cNvPr>
          <p:cNvSpPr txBox="1"/>
          <p:nvPr/>
        </p:nvSpPr>
        <p:spPr>
          <a:xfrm>
            <a:off x="1181100" y="2641600"/>
            <a:ext cx="4368800" cy="762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b="1">
                <a:solidFill>
                  <a:srgbClr val="14213D"/>
                </a:solidFill>
                <a:latin typeface="Pretendard"/>
              </a:rPr>
              <a:t>생성형 </a:t>
            </a:r>
            <a:r>
              <a:rPr lang="en-US" altLang="ko-KR" b="1">
                <a:solidFill>
                  <a:srgbClr val="14213D"/>
                </a:solidFill>
                <a:latin typeface="Pretendard"/>
              </a:rPr>
              <a:t>AI</a:t>
            </a:r>
            <a:r>
              <a:rPr lang="ko-KR" altLang="en-US" b="1">
                <a:solidFill>
                  <a:srgbClr val="14213D"/>
                </a:solidFill>
                <a:latin typeface="Pretendard"/>
              </a:rPr>
              <a:t>와 홍보 업무의 변화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39F65A3-13AE-6048-B00E-6B872BFA6E7A}"/>
              </a:ext>
            </a:extLst>
          </p:cNvPr>
          <p:cNvSpPr/>
          <p:nvPr/>
        </p:nvSpPr>
        <p:spPr>
          <a:xfrm>
            <a:off x="1181100" y="3530600"/>
            <a:ext cx="4368800" cy="12700"/>
          </a:xfrm>
          <a:prstGeom prst="rect">
            <a:avLst/>
          </a:prstGeom>
          <a:solidFill>
            <a:srgbClr val="D9E2E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47F2730C-F4DC-6943-AAC0-E1616C0E6DEB}"/>
              </a:ext>
            </a:extLst>
          </p:cNvPr>
          <p:cNvSpPr/>
          <p:nvPr/>
        </p:nvSpPr>
        <p:spPr>
          <a:xfrm>
            <a:off x="1206500" y="3873500"/>
            <a:ext cx="101600" cy="101600"/>
          </a:xfrm>
          <a:prstGeom prst="ellipse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A0F311C-210E-0447-B6F6-250FD1355399}"/>
              </a:ext>
            </a:extLst>
          </p:cNvPr>
          <p:cNvSpPr txBox="1"/>
          <p:nvPr/>
        </p:nvSpPr>
        <p:spPr>
          <a:xfrm>
            <a:off x="1460500" y="3759200"/>
            <a:ext cx="4089400" cy="508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500">
                <a:solidFill>
                  <a:srgbClr val="2A3B57"/>
                </a:solidFill>
                <a:latin typeface="Pretendard"/>
              </a:rPr>
              <a:t>생성형 </a:t>
            </a:r>
            <a:r>
              <a:rPr lang="en-US" altLang="ko-KR" sz="1500">
                <a:solidFill>
                  <a:srgbClr val="2A3B57"/>
                </a:solidFill>
                <a:latin typeface="Pretendard"/>
              </a:rPr>
              <a:t>AI · </a:t>
            </a:r>
            <a:r>
              <a:rPr lang="ko-KR" altLang="en-US" sz="1500">
                <a:solidFill>
                  <a:srgbClr val="2A3B57"/>
                </a:solidFill>
                <a:latin typeface="Pretendard"/>
              </a:rPr>
              <a:t>환각 </a:t>
            </a:r>
            <a:r>
              <a:rPr lang="en-US" altLang="ko-KR" sz="1500">
                <a:solidFill>
                  <a:srgbClr val="2A3B57"/>
                </a:solidFill>
                <a:latin typeface="Pretendard"/>
              </a:rPr>
              <a:t>· HITL </a:t>
            </a:r>
            <a:r>
              <a:rPr lang="ko-KR" altLang="en-US" sz="1500">
                <a:solidFill>
                  <a:srgbClr val="2A3B57"/>
                </a:solidFill>
                <a:latin typeface="Pretendard"/>
              </a:rPr>
              <a:t>핵심 개념</a:t>
            </a: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52115524-198D-1348-83CD-12B09C004DF0}"/>
              </a:ext>
            </a:extLst>
          </p:cNvPr>
          <p:cNvSpPr/>
          <p:nvPr/>
        </p:nvSpPr>
        <p:spPr>
          <a:xfrm>
            <a:off x="1206500" y="4533900"/>
            <a:ext cx="101600" cy="101600"/>
          </a:xfrm>
          <a:prstGeom prst="ellipse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AA84CB9-EE97-6940-AFB0-0489DB3D4CAE}"/>
              </a:ext>
            </a:extLst>
          </p:cNvPr>
          <p:cNvSpPr txBox="1"/>
          <p:nvPr/>
        </p:nvSpPr>
        <p:spPr>
          <a:xfrm>
            <a:off x="1460500" y="4419600"/>
            <a:ext cx="4089400" cy="508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500">
                <a:solidFill>
                  <a:srgbClr val="2A3B57"/>
                </a:solidFill>
                <a:latin typeface="Pretendard"/>
              </a:rPr>
              <a:t>검색기 </a:t>
            </a:r>
            <a:r>
              <a:rPr lang="en-US" altLang="ko-KR" sz="1500">
                <a:solidFill>
                  <a:srgbClr val="2A3B57"/>
                </a:solidFill>
                <a:latin typeface="Pretendard"/>
              </a:rPr>
              <a:t>vs </a:t>
            </a:r>
            <a:r>
              <a:rPr lang="ko-KR" altLang="en-US" sz="1500">
                <a:solidFill>
                  <a:srgbClr val="2A3B57"/>
                </a:solidFill>
                <a:latin typeface="Pretendard"/>
              </a:rPr>
              <a:t>생성기 </a:t>
            </a:r>
            <a:r>
              <a:rPr lang="en-US" altLang="ko-KR" sz="1500">
                <a:solidFill>
                  <a:srgbClr val="2A3B57"/>
                </a:solidFill>
                <a:latin typeface="Pretendard"/>
              </a:rPr>
              <a:t>· 2×2 </a:t>
            </a:r>
            <a:r>
              <a:rPr lang="ko-KR" altLang="en-US" sz="1500">
                <a:solidFill>
                  <a:srgbClr val="2A3B57"/>
                </a:solidFill>
                <a:latin typeface="Pretendard"/>
              </a:rPr>
              <a:t>업무 진단</a:t>
            </a: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0C0E63D3-6786-B248-A707-B8F2BA08B00D}"/>
              </a:ext>
            </a:extLst>
          </p:cNvPr>
          <p:cNvSpPr/>
          <p:nvPr/>
        </p:nvSpPr>
        <p:spPr>
          <a:xfrm>
            <a:off x="1206500" y="5194300"/>
            <a:ext cx="101600" cy="101600"/>
          </a:xfrm>
          <a:prstGeom prst="ellipse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8D23561-DC72-CF43-90E2-B1C08333EF81}"/>
              </a:ext>
            </a:extLst>
          </p:cNvPr>
          <p:cNvSpPr txBox="1"/>
          <p:nvPr/>
        </p:nvSpPr>
        <p:spPr>
          <a:xfrm>
            <a:off x="1460500" y="5080000"/>
            <a:ext cx="4089400" cy="508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500">
                <a:solidFill>
                  <a:srgbClr val="2A3B57"/>
                </a:solidFill>
                <a:latin typeface="Pretendard"/>
              </a:rPr>
              <a:t>내 업무 우선순위 정하기 </a:t>
            </a:r>
            <a:r>
              <a:rPr lang="en-US" altLang="ko-KR" sz="1500">
                <a:solidFill>
                  <a:srgbClr val="2A3B57"/>
                </a:solidFill>
                <a:latin typeface="Pretendard"/>
              </a:rPr>
              <a:t>(</a:t>
            </a:r>
            <a:r>
              <a:rPr lang="ko-KR" altLang="en-US" sz="1500">
                <a:solidFill>
                  <a:srgbClr val="2A3B57"/>
                </a:solidFill>
                <a:latin typeface="Pretendard"/>
              </a:rPr>
              <a:t>실습</a:t>
            </a:r>
            <a:r>
              <a:rPr lang="en-US" altLang="ko-KR" sz="1500">
                <a:solidFill>
                  <a:srgbClr val="2A3B57"/>
                </a:solidFill>
                <a:latin typeface="Pretendard"/>
              </a:rPr>
              <a:t>)</a:t>
            </a:r>
            <a:endParaRPr lang="ko-KR" altLang="en-US" sz="1500">
              <a:solidFill>
                <a:srgbClr val="2A3B57"/>
              </a:solidFill>
              <a:latin typeface="Pretendard"/>
            </a:endParaRPr>
          </a:p>
        </p:txBody>
      </p:sp>
      <p:sp>
        <p:nvSpPr>
          <p:cNvPr id="15" name="모서리가 둥근 직사각형 14">
            <a:extLst>
              <a:ext uri="{FF2B5EF4-FFF2-40B4-BE49-F238E27FC236}">
                <a16:creationId xmlns:a16="http://schemas.microsoft.com/office/drawing/2014/main" id="{DF922D55-E4FB-C14F-A941-0B22DFF25730}"/>
              </a:ext>
            </a:extLst>
          </p:cNvPr>
          <p:cNvSpPr/>
          <p:nvPr/>
        </p:nvSpPr>
        <p:spPr>
          <a:xfrm>
            <a:off x="6286500" y="1905000"/>
            <a:ext cx="5080000" cy="4381500"/>
          </a:xfrm>
          <a:prstGeom prst="roundRect">
            <a:avLst>
              <a:gd name="adj" fmla="val 580"/>
            </a:avLst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24B9BF7-2B10-8940-84C5-F90E8128EB3A}"/>
              </a:ext>
            </a:extLst>
          </p:cNvPr>
          <p:cNvSpPr/>
          <p:nvPr/>
        </p:nvSpPr>
        <p:spPr>
          <a:xfrm>
            <a:off x="6286500" y="1905000"/>
            <a:ext cx="5080000" cy="88900"/>
          </a:xfrm>
          <a:prstGeom prst="rect">
            <a:avLst/>
          </a:prstGeom>
          <a:solidFill>
            <a:srgbClr val="1D4E89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ACB63CE-DE28-1247-883D-0A9B32B7379A}"/>
              </a:ext>
            </a:extLst>
          </p:cNvPr>
          <p:cNvSpPr txBox="1"/>
          <p:nvPr/>
        </p:nvSpPr>
        <p:spPr>
          <a:xfrm>
            <a:off x="6642100" y="2311400"/>
            <a:ext cx="43688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400" b="1">
                <a:solidFill>
                  <a:srgbClr val="E8A33D"/>
                </a:solidFill>
                <a:latin typeface="JetBrains Mono"/>
              </a:rPr>
              <a:t>SESSION 2</a:t>
            </a:r>
            <a:endParaRPr lang="ko-KR" altLang="en-US" sz="1400" b="1">
              <a:solidFill>
                <a:srgbClr val="E8A33D"/>
              </a:solidFill>
              <a:latin typeface="JetBrains Mono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55BBEEC-F965-CD45-A431-8882BEABF42E}"/>
              </a:ext>
            </a:extLst>
          </p:cNvPr>
          <p:cNvSpPr txBox="1"/>
          <p:nvPr/>
        </p:nvSpPr>
        <p:spPr>
          <a:xfrm>
            <a:off x="6642100" y="2641600"/>
            <a:ext cx="4368800" cy="762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b="1">
                <a:solidFill>
                  <a:srgbClr val="14213D"/>
                </a:solidFill>
                <a:latin typeface="Pretendard"/>
              </a:rPr>
              <a:t>중소기업 실무 적용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770CED27-8FA0-8E4C-A0D1-5EF07F7E08C9}"/>
              </a:ext>
            </a:extLst>
          </p:cNvPr>
          <p:cNvSpPr/>
          <p:nvPr/>
        </p:nvSpPr>
        <p:spPr>
          <a:xfrm>
            <a:off x="6642100" y="3530600"/>
            <a:ext cx="4368800" cy="12700"/>
          </a:xfrm>
          <a:prstGeom prst="rect">
            <a:avLst/>
          </a:prstGeom>
          <a:solidFill>
            <a:srgbClr val="D9E2E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96606F43-D88C-1E47-9316-900773F77CF4}"/>
              </a:ext>
            </a:extLst>
          </p:cNvPr>
          <p:cNvSpPr/>
          <p:nvPr/>
        </p:nvSpPr>
        <p:spPr>
          <a:xfrm>
            <a:off x="6667500" y="3873500"/>
            <a:ext cx="101600" cy="101600"/>
          </a:xfrm>
          <a:prstGeom prst="ellipse">
            <a:avLst/>
          </a:prstGeom>
          <a:solidFill>
            <a:srgbClr val="1D4E89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0F37964-83F0-F64F-9627-996895CC4263}"/>
              </a:ext>
            </a:extLst>
          </p:cNvPr>
          <p:cNvSpPr txBox="1"/>
          <p:nvPr/>
        </p:nvSpPr>
        <p:spPr>
          <a:xfrm>
            <a:off x="6921500" y="3759200"/>
            <a:ext cx="4089400" cy="508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500">
                <a:solidFill>
                  <a:srgbClr val="2A3B57"/>
                </a:solidFill>
                <a:latin typeface="Pretendard"/>
              </a:rPr>
              <a:t>업무효율화 </a:t>
            </a:r>
            <a:r>
              <a:rPr lang="en-US" altLang="ko-KR" sz="1500">
                <a:solidFill>
                  <a:srgbClr val="2A3B57"/>
                </a:solidFill>
                <a:latin typeface="Pretendard"/>
              </a:rPr>
              <a:t>ROI · </a:t>
            </a:r>
            <a:r>
              <a:rPr lang="ko-KR" altLang="en-US" sz="1500">
                <a:solidFill>
                  <a:srgbClr val="2A3B57"/>
                </a:solidFill>
                <a:latin typeface="Pretendard"/>
              </a:rPr>
              <a:t>스몰 윈</a:t>
            </a: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79879B0A-6E27-9A4B-BB3F-5DA56677BE45}"/>
              </a:ext>
            </a:extLst>
          </p:cNvPr>
          <p:cNvSpPr/>
          <p:nvPr/>
        </p:nvSpPr>
        <p:spPr>
          <a:xfrm>
            <a:off x="6667500" y="4533900"/>
            <a:ext cx="101600" cy="101600"/>
          </a:xfrm>
          <a:prstGeom prst="ellipse">
            <a:avLst/>
          </a:prstGeom>
          <a:solidFill>
            <a:srgbClr val="1D4E89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3671536-C6AE-E643-B691-9842186F29FE}"/>
              </a:ext>
            </a:extLst>
          </p:cNvPr>
          <p:cNvSpPr txBox="1"/>
          <p:nvPr/>
        </p:nvSpPr>
        <p:spPr>
          <a:xfrm>
            <a:off x="6921500" y="4419600"/>
            <a:ext cx="4089400" cy="508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500">
                <a:solidFill>
                  <a:srgbClr val="2A3B57"/>
                </a:solidFill>
                <a:latin typeface="Pretendard"/>
              </a:rPr>
              <a:t>적용 시나리오와 검수 지점</a:t>
            </a: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EEAE6573-7794-2E42-A745-1F571F282B11}"/>
              </a:ext>
            </a:extLst>
          </p:cNvPr>
          <p:cNvSpPr/>
          <p:nvPr/>
        </p:nvSpPr>
        <p:spPr>
          <a:xfrm>
            <a:off x="6667500" y="5194300"/>
            <a:ext cx="101600" cy="101600"/>
          </a:xfrm>
          <a:prstGeom prst="ellipse">
            <a:avLst/>
          </a:prstGeom>
          <a:solidFill>
            <a:srgbClr val="1D4E89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476915B-085C-FE4F-BF1B-86D40EB9719B}"/>
              </a:ext>
            </a:extLst>
          </p:cNvPr>
          <p:cNvSpPr txBox="1"/>
          <p:nvPr/>
        </p:nvSpPr>
        <p:spPr>
          <a:xfrm>
            <a:off x="6921500" y="5080000"/>
            <a:ext cx="4089400" cy="508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altLang="ko-KR" sz="1500">
                <a:solidFill>
                  <a:srgbClr val="2A3B57"/>
                </a:solidFill>
                <a:latin typeface="Pretendard"/>
              </a:rPr>
              <a:t>ChatGPT · Claude </a:t>
            </a:r>
            <a:r>
              <a:rPr lang="ko-KR" altLang="en-US" sz="1500">
                <a:solidFill>
                  <a:srgbClr val="2A3B57"/>
                </a:solidFill>
                <a:latin typeface="Pretendard"/>
              </a:rPr>
              <a:t>도구 가이드</a:t>
            </a:r>
          </a:p>
        </p:txBody>
      </p:sp>
      <p:sp>
        <p:nvSpPr>
          <p:cNvPr id="26" name="PageNumber">
            <a:extLst>
              <a:ext uri="{FF2B5EF4-FFF2-40B4-BE49-F238E27FC236}">
                <a16:creationId xmlns:a16="http://schemas.microsoft.com/office/drawing/2014/main" id="{E6181541-6AEC-4F40-82F6-F1E3ED696B91}"/>
              </a:ext>
            </a:extLst>
          </p:cNvPr>
          <p:cNvSpPr txBox="1"/>
          <p:nvPr/>
        </p:nvSpPr>
        <p:spPr>
          <a:xfrm>
            <a:off x="9499600" y="6489700"/>
            <a:ext cx="23368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r"/>
            <a:r>
              <a:rPr lang="en-US" altLang="ko-KR" sz="1200">
                <a:solidFill>
                  <a:srgbClr val="576176"/>
                </a:solidFill>
                <a:latin typeface="Pretendard"/>
              </a:rPr>
              <a:t>- 04/144 -</a:t>
            </a:r>
            <a:endParaRPr lang="ko-KR" altLang="en-US" sz="1200">
              <a:solidFill>
                <a:srgbClr val="576176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25230125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학습 목표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이 모듈에서 할 수 있게 되는 것</a:t>
            </a:r>
          </a:p>
        </p:txBody>
      </p:sp>
      <p:sp>
        <p:nvSpPr>
          <p:cNvPr id="100" name="card0"/>
          <p:cNvSpPr/>
          <p:nvPr/>
        </p:nvSpPr>
        <p:spPr>
          <a:xfrm>
            <a:off x="825500" y="1905000"/>
            <a:ext cx="10541000" cy="1320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CE6F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1" name="badge0"/>
          <p:cNvSpPr/>
          <p:nvPr/>
        </p:nvSpPr>
        <p:spPr>
          <a:xfrm>
            <a:off x="1155700" y="2222500"/>
            <a:ext cx="685800" cy="685800"/>
          </a:xfrm>
          <a:prstGeom prst="ellipse">
            <a:avLst/>
          </a:prstGeom>
          <a:solidFill>
            <a:srgbClr val="1D4E89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1900" b="1" dirty="0">
                <a:solidFill>
                  <a:srgbClr val="FFFFFF"/>
                </a:solidFill>
                <a:latin typeface="Noto Serif KR"/>
                <a:ea typeface="Noto Serif KR"/>
              </a:rPr>
              <a:t>01</a:t>
            </a:r>
          </a:p>
        </p:txBody>
      </p:sp>
      <p:sp>
        <p:nvSpPr>
          <p:cNvPr id="102" name="txt0"/>
          <p:cNvSpPr txBox="1"/>
          <p:nvPr/>
        </p:nvSpPr>
        <p:spPr>
          <a:xfrm>
            <a:off x="2197100" y="2082800"/>
            <a:ext cx="8890000" cy="965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spcAft>
                <a:spcPts val="300"/>
              </a:spcAft>
            </a:pPr>
            <a:r>
              <a:rPr lang="ko-KR" sz="1650" b="1" dirty="0">
                <a:solidFill>
                  <a:srgbClr val="14213D"/>
                </a:solidFill>
                <a:latin typeface="Pretendard"/>
                <a:ea typeface="Pretendard"/>
              </a:rPr>
              <a:t>원리·한계 이해</a:t>
            </a:r>
          </a:p>
          <a:p>
            <a:pPr>
              <a:lnSpc>
                <a:spcPct val="116000"/>
              </a:lnSpc>
            </a:pPr>
            <a:r>
              <a:rPr lang="ko-KR" sz="1400" dirty="0">
                <a:solidFill>
                  <a:srgbClr val="576176"/>
                </a:solidFill>
                <a:latin typeface="Pretendard"/>
                <a:ea typeface="Pretendard"/>
              </a:rPr>
              <a:t>생성형 AI(LLM)의 동작 원리와 한계(환각)를 명확히 설명할 수 있다.</a:t>
            </a:r>
          </a:p>
        </p:txBody>
      </p:sp>
      <p:sp>
        <p:nvSpPr>
          <p:cNvPr id="103" name="card1"/>
          <p:cNvSpPr/>
          <p:nvPr/>
        </p:nvSpPr>
        <p:spPr>
          <a:xfrm>
            <a:off x="825500" y="3454400"/>
            <a:ext cx="10541000" cy="1320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CE6F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4" name="badge1"/>
          <p:cNvSpPr/>
          <p:nvPr/>
        </p:nvSpPr>
        <p:spPr>
          <a:xfrm>
            <a:off x="1155700" y="3771900"/>
            <a:ext cx="685800" cy="685800"/>
          </a:xfrm>
          <a:prstGeom prst="ellipse">
            <a:avLst/>
          </a:prstGeom>
          <a:solidFill>
            <a:srgbClr val="1D4E89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1900" b="1" dirty="0">
                <a:solidFill>
                  <a:srgbClr val="FFFFFF"/>
                </a:solidFill>
                <a:latin typeface="Noto Serif KR"/>
                <a:ea typeface="Noto Serif KR"/>
              </a:rPr>
              <a:t>02</a:t>
            </a:r>
          </a:p>
        </p:txBody>
      </p:sp>
      <p:sp>
        <p:nvSpPr>
          <p:cNvPr id="105" name="txt1"/>
          <p:cNvSpPr txBox="1"/>
          <p:nvPr/>
        </p:nvSpPr>
        <p:spPr>
          <a:xfrm>
            <a:off x="2197100" y="3632200"/>
            <a:ext cx="8890000" cy="965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spcAft>
                <a:spcPts val="300"/>
              </a:spcAft>
            </a:pPr>
            <a:r>
              <a:rPr lang="ko-KR" sz="1650" b="1" dirty="0">
                <a:solidFill>
                  <a:srgbClr val="14213D"/>
                </a:solidFill>
                <a:latin typeface="Pretendard"/>
                <a:ea typeface="Pretendard"/>
              </a:rPr>
              <a:t>프로세스 변화</a:t>
            </a:r>
          </a:p>
          <a:p>
            <a:pPr>
              <a:lnSpc>
                <a:spcPct val="116000"/>
              </a:lnSpc>
            </a:pPr>
            <a:r>
              <a:rPr lang="ko-KR" sz="1400" dirty="0">
                <a:solidFill>
                  <a:srgbClr val="576176"/>
                </a:solidFill>
                <a:latin typeface="Pretendard"/>
                <a:ea typeface="Pretendard"/>
              </a:rPr>
              <a:t>기존 홍보 프로세스가 AI 도입 후 어떻게 바뀌는지 짚어낼 수 있다.</a:t>
            </a:r>
          </a:p>
        </p:txBody>
      </p:sp>
      <p:sp>
        <p:nvSpPr>
          <p:cNvPr id="106" name="card2"/>
          <p:cNvSpPr/>
          <p:nvPr/>
        </p:nvSpPr>
        <p:spPr>
          <a:xfrm>
            <a:off x="825500" y="5003800"/>
            <a:ext cx="10541000" cy="1320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CE6F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7" name="badge2"/>
          <p:cNvSpPr/>
          <p:nvPr/>
        </p:nvSpPr>
        <p:spPr>
          <a:xfrm>
            <a:off x="1155700" y="5321300"/>
            <a:ext cx="685800" cy="685800"/>
          </a:xfrm>
          <a:prstGeom prst="ellipse">
            <a:avLst/>
          </a:prstGeom>
          <a:solidFill>
            <a:srgbClr val="1D4E89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en-US" sz="1900" b="1" dirty="0">
                <a:solidFill>
                  <a:srgbClr val="FFFFFF"/>
                </a:solidFill>
                <a:latin typeface="Noto Serif KR"/>
                <a:ea typeface="Noto Serif KR"/>
              </a:rPr>
              <a:t>03</a:t>
            </a:r>
          </a:p>
        </p:txBody>
      </p:sp>
      <p:sp>
        <p:nvSpPr>
          <p:cNvPr id="108" name="txt2"/>
          <p:cNvSpPr txBox="1"/>
          <p:nvPr/>
        </p:nvSpPr>
        <p:spPr>
          <a:xfrm>
            <a:off x="2197100" y="5181600"/>
            <a:ext cx="8890000" cy="965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spcAft>
                <a:spcPts val="300"/>
              </a:spcAft>
            </a:pPr>
            <a:r>
              <a:rPr lang="ko-KR" sz="1650" b="1" dirty="0">
                <a:solidFill>
                  <a:srgbClr val="14213D"/>
                </a:solidFill>
                <a:latin typeface="Pretendard"/>
                <a:ea typeface="Pretendard"/>
              </a:rPr>
              <a:t>자동화 지점 판단</a:t>
            </a:r>
          </a:p>
          <a:p>
            <a:pPr>
              <a:lnSpc>
                <a:spcPct val="116000"/>
              </a:lnSpc>
            </a:pPr>
            <a:r>
              <a:rPr lang="ko-KR" sz="1400" dirty="0">
                <a:solidFill>
                  <a:srgbClr val="576176"/>
                </a:solidFill>
                <a:latin typeface="Pretendard"/>
                <a:ea typeface="Pretendard"/>
              </a:rPr>
              <a:t>내 홍보 업무를 입력→처리→출력으로 분해해 자동화 지점을 판단한다.</a:t>
            </a:r>
          </a:p>
        </p:txBody>
      </p:sp>
      <p:sp>
        <p:nvSpPr>
          <p:cNvPr id="4" name="PageNumber">
            <a:extLst>
              <a:ext uri="{FF2B5EF4-FFF2-40B4-BE49-F238E27FC236}">
                <a16:creationId xmlns:a16="http://schemas.microsoft.com/office/drawing/2014/main" id="{7979838E-A90C-5744-BF3F-D501A93F6F86}"/>
              </a:ext>
            </a:extLst>
          </p:cNvPr>
          <p:cNvSpPr txBox="1"/>
          <p:nvPr/>
        </p:nvSpPr>
        <p:spPr>
          <a:xfrm>
            <a:off x="9499600" y="6489700"/>
            <a:ext cx="23368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r"/>
            <a:r>
              <a:rPr lang="en-US" altLang="ko-KR" sz="1200">
                <a:solidFill>
                  <a:srgbClr val="576176"/>
                </a:solidFill>
                <a:latin typeface="Pretendard"/>
              </a:rPr>
              <a:t>- 05/144 -</a:t>
            </a:r>
            <a:endParaRPr lang="ko-KR" altLang="en-US" sz="1200">
              <a:solidFill>
                <a:srgbClr val="576176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2148882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4E8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2960" y="2468880"/>
            <a:ext cx="822960" cy="10972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51560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800"/>
              </a:spcAft>
            </a:pPr>
            <a:r>
              <a:rPr sz="1400" b="0">
                <a:solidFill>
                  <a:srgbClr val="BFD2EC"/>
                </a:solidFill>
                <a:latin typeface="JetBrains Mono"/>
                <a:ea typeface="JetBrains Mono"/>
                <a:cs typeface="JetBrains Mono"/>
              </a:rPr>
              <a:t>세션 1</a:t>
            </a:r>
          </a:p>
          <a:p>
            <a:pPr algn="l">
              <a:lnSpc>
                <a:spcPct val="112000"/>
              </a:lnSpc>
              <a:spcBef>
                <a:spcPts val="600"/>
              </a:spcBef>
              <a:spcAft>
                <a:spcPts val="1200"/>
              </a:spcAft>
            </a:pPr>
            <a:r>
              <a:rPr sz="3200" b="1">
                <a:solidFill>
                  <a:srgbClr val="FFFFFF"/>
                </a:solidFill>
                <a:latin typeface="Noto Serif KR"/>
                <a:ea typeface="Noto Serif KR"/>
                <a:cs typeface="Noto Serif KR"/>
              </a:rPr>
              <a:t>생성형 AI의 개념과 홍보 업무의 변화</a:t>
            </a:r>
          </a:p>
          <a:p>
            <a:pPr algn="l">
              <a:lnSpc>
                <a:spcPct val="140000"/>
              </a:lnSpc>
              <a:spcBef>
                <a:spcPts val="600"/>
              </a:spcBef>
              <a:spcAft>
                <a:spcPts val="400"/>
              </a:spcAft>
            </a:pPr>
            <a:r>
              <a:rPr sz="1600" b="0">
                <a:solidFill>
                  <a:srgbClr val="DBE6F6"/>
                </a:solidFill>
                <a:latin typeface="Pretendard"/>
                <a:ea typeface="Pretendard"/>
                <a:cs typeface="Pretendard"/>
              </a:rPr>
              <a:t>LLM의 동작 원리(다음 토큰 예측)와 한계(환각)를 알고, "검색기"가 아니라 "생성기"로 다룬다.</a:t>
            </a:r>
          </a:p>
        </p:txBody>
      </p:sp>
      <p:sp>
        <p:nvSpPr>
          <p:cNvPr id="120" name="num"/>
          <p:cNvSpPr txBox="1"/>
          <p:nvPr/>
        </p:nvSpPr>
        <p:spPr>
          <a:xfrm>
            <a:off x="9008758" y="370838"/>
            <a:ext cx="2476500" cy="1905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r>
              <a:rPr lang="en-US" sz="11000" b="1" dirty="0">
                <a:solidFill>
                  <a:srgbClr val="386397"/>
                </a:solidFill>
                <a:latin typeface="Noto Serif KR"/>
                <a:ea typeface="Noto Serif KR"/>
              </a:rPr>
              <a:t>01</a:t>
            </a:r>
          </a:p>
        </p:txBody>
      </p:sp>
      <p:sp>
        <p:nvSpPr>
          <p:cNvPr id="121" name="cap"/>
          <p:cNvSpPr txBox="1"/>
          <p:nvPr/>
        </p:nvSpPr>
        <p:spPr>
          <a:xfrm>
            <a:off x="825500" y="5257800"/>
            <a:ext cx="5080000" cy="3048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r>
              <a:rPr lang="ko-KR" sz="1400" b="1" dirty="0">
                <a:solidFill>
                  <a:srgbClr val="E8A33D"/>
                </a:solidFill>
                <a:latin typeface="JetBrains Mono"/>
                <a:ea typeface="JetBrains Mono"/>
              </a:rPr>
              <a:t>이 세션의 흐름</a:t>
            </a:r>
          </a:p>
        </p:txBody>
      </p:sp>
      <p:sp>
        <p:nvSpPr>
          <p:cNvPr id="122" name="chip0"/>
          <p:cNvSpPr/>
          <p:nvPr/>
        </p:nvSpPr>
        <p:spPr>
          <a:xfrm>
            <a:off x="825500" y="5638800"/>
            <a:ext cx="2387600" cy="533400"/>
          </a:xfrm>
          <a:prstGeom prst="roundRect">
            <a:avLst>
              <a:gd name="adj" fmla="val 20000"/>
            </a:avLst>
          </a:prstGeom>
          <a:solidFill>
            <a:srgbClr val="466E9E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ko-KR" sz="1400" b="1" dirty="0">
                <a:solidFill>
                  <a:srgbClr val="FFFFFF"/>
                </a:solidFill>
                <a:latin typeface="Pretendard"/>
                <a:ea typeface="Pretendard"/>
              </a:rPr>
              <a:t>핵심 개념</a:t>
            </a:r>
          </a:p>
        </p:txBody>
      </p:sp>
      <p:sp>
        <p:nvSpPr>
          <p:cNvPr id="123" name="arr0"/>
          <p:cNvSpPr/>
          <p:nvPr/>
        </p:nvSpPr>
        <p:spPr>
          <a:xfrm>
            <a:off x="3263900" y="5791200"/>
            <a:ext cx="228600" cy="228600"/>
          </a:xfrm>
          <a:prstGeom prst="rightArrow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4" name="chip1"/>
          <p:cNvSpPr/>
          <p:nvPr/>
        </p:nvSpPr>
        <p:spPr>
          <a:xfrm>
            <a:off x="3543300" y="5638800"/>
            <a:ext cx="2387600" cy="533400"/>
          </a:xfrm>
          <a:prstGeom prst="roundRect">
            <a:avLst>
              <a:gd name="adj" fmla="val 20000"/>
            </a:avLst>
          </a:prstGeom>
          <a:solidFill>
            <a:srgbClr val="466E9E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ko-KR" sz="1400" b="1" dirty="0">
                <a:solidFill>
                  <a:srgbClr val="FFFFFF"/>
                </a:solidFill>
                <a:latin typeface="Pretendard"/>
                <a:ea typeface="Pretendard"/>
              </a:rPr>
              <a:t>개념 깊이보기</a:t>
            </a:r>
          </a:p>
        </p:txBody>
      </p:sp>
      <p:sp>
        <p:nvSpPr>
          <p:cNvPr id="125" name="arr1"/>
          <p:cNvSpPr/>
          <p:nvPr/>
        </p:nvSpPr>
        <p:spPr>
          <a:xfrm>
            <a:off x="5981700" y="5791200"/>
            <a:ext cx="228600" cy="228600"/>
          </a:xfrm>
          <a:prstGeom prst="rightArrow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6" name="chip2"/>
          <p:cNvSpPr/>
          <p:nvPr/>
        </p:nvSpPr>
        <p:spPr>
          <a:xfrm>
            <a:off x="6261100" y="5638800"/>
            <a:ext cx="2387600" cy="533400"/>
          </a:xfrm>
          <a:prstGeom prst="roundRect">
            <a:avLst>
              <a:gd name="adj" fmla="val 20000"/>
            </a:avLst>
          </a:prstGeom>
          <a:solidFill>
            <a:srgbClr val="466E9E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ko-KR" sz="1400" b="1" dirty="0">
                <a:solidFill>
                  <a:srgbClr val="FFFFFF"/>
                </a:solidFill>
                <a:latin typeface="Pretendard"/>
                <a:ea typeface="Pretendard"/>
              </a:rPr>
              <a:t>실습 · 프롬프트</a:t>
            </a:r>
          </a:p>
        </p:txBody>
      </p:sp>
      <p:sp>
        <p:nvSpPr>
          <p:cNvPr id="127" name="arr2"/>
          <p:cNvSpPr/>
          <p:nvPr/>
        </p:nvSpPr>
        <p:spPr>
          <a:xfrm>
            <a:off x="8699500" y="5791200"/>
            <a:ext cx="228600" cy="228600"/>
          </a:xfrm>
          <a:prstGeom prst="rightArrow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8" name="chip3"/>
          <p:cNvSpPr/>
          <p:nvPr/>
        </p:nvSpPr>
        <p:spPr>
          <a:xfrm>
            <a:off x="8978900" y="5638800"/>
            <a:ext cx="2387600" cy="533400"/>
          </a:xfrm>
          <a:prstGeom prst="roundRect">
            <a:avLst>
              <a:gd name="adj" fmla="val 20000"/>
            </a:avLst>
          </a:prstGeom>
          <a:solidFill>
            <a:srgbClr val="466E9E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ko-KR" sz="1400" b="1" dirty="0">
                <a:solidFill>
                  <a:srgbClr val="FFFFFF"/>
                </a:solidFill>
                <a:latin typeface="Pretendard"/>
                <a:ea typeface="Pretendard"/>
              </a:rPr>
              <a:t>흔한 실수 · 결과물</a:t>
            </a:r>
          </a:p>
        </p:txBody>
      </p:sp>
      <p:pic>
        <p:nvPicPr>
          <p:cNvPr id="9" name="Picture 16">
            <a:extLst>
              <a:ext uri="{FF2B5EF4-FFF2-40B4-BE49-F238E27FC236}">
                <a16:creationId xmlns:a16="http://schemas.microsoft.com/office/drawing/2014/main" id="{F02CECA6-C70C-E72D-B1CF-E28D92D0CA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7152719">
            <a:off x="10166211" y="2049585"/>
            <a:ext cx="1672953" cy="3215788"/>
          </a:xfrm>
          <a:prstGeom prst="rect">
            <a:avLst/>
          </a:prstGeom>
        </p:spPr>
      </p:pic>
      <p:sp>
        <p:nvSpPr>
          <p:cNvPr id="12" name="PageNumber">
            <a:extLst>
              <a:ext uri="{FF2B5EF4-FFF2-40B4-BE49-F238E27FC236}">
                <a16:creationId xmlns:a16="http://schemas.microsoft.com/office/drawing/2014/main" id="{64089D47-46CB-8E4B-8415-477098AEFCE8}"/>
              </a:ext>
            </a:extLst>
          </p:cNvPr>
          <p:cNvSpPr txBox="1"/>
          <p:nvPr/>
        </p:nvSpPr>
        <p:spPr>
          <a:xfrm>
            <a:off x="9499600" y="6489700"/>
            <a:ext cx="23368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r"/>
            <a:r>
              <a:rPr lang="en-US" altLang="ko-KR" sz="1200" dirty="0">
                <a:solidFill>
                  <a:srgbClr val="576176"/>
                </a:solidFill>
                <a:latin typeface="Pretendard"/>
              </a:rPr>
              <a:t>- </a:t>
            </a:r>
            <a:r>
              <a:rPr lang="en-US" altLang="ko-KR" sz="1200" dirty="0">
                <a:solidFill>
                  <a:schemeClr val="bg1"/>
                </a:solidFill>
                <a:latin typeface="Pretendard"/>
              </a:rPr>
              <a:t>06/144</a:t>
            </a:r>
            <a:r>
              <a:rPr lang="en-US" altLang="ko-KR" sz="1200" dirty="0">
                <a:solidFill>
                  <a:srgbClr val="576176"/>
                </a:solidFill>
                <a:latin typeface="Pretendard"/>
              </a:rPr>
              <a:t> -</a:t>
            </a:r>
            <a:endParaRPr lang="ko-KR" altLang="en-US" sz="1200" dirty="0">
              <a:solidFill>
                <a:srgbClr val="576176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20902394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핵심 개념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핵심 개념</a:t>
            </a:r>
          </a:p>
        </p:txBody>
      </p:sp>
      <p:sp>
        <p:nvSpPr>
          <p:cNvPr id="100" name="card0"/>
          <p:cNvSpPr/>
          <p:nvPr/>
        </p:nvSpPr>
        <p:spPr>
          <a:xfrm>
            <a:off x="825500" y="1905000"/>
            <a:ext cx="10541000" cy="1320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CE6F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1" name="circ0"/>
          <p:cNvSpPr/>
          <p:nvPr/>
        </p:nvSpPr>
        <p:spPr>
          <a:xfrm>
            <a:off x="1168400" y="2235200"/>
            <a:ext cx="660400" cy="660400"/>
          </a:xfrm>
          <a:prstGeom prst="ellipse">
            <a:avLst/>
          </a:prstGeom>
          <a:solidFill>
            <a:srgbClr val="E7EEF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2" name="txt0"/>
          <p:cNvSpPr txBox="1"/>
          <p:nvPr/>
        </p:nvSpPr>
        <p:spPr>
          <a:xfrm>
            <a:off x="2159000" y="2082800"/>
            <a:ext cx="8953500" cy="965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>
              <a:spcAft>
                <a:spcPts val="300"/>
              </a:spcAft>
            </a:pPr>
            <a:r>
              <a:rPr lang="ko-KR" sz="1650" b="1" dirty="0">
                <a:solidFill>
                  <a:srgbClr val="14213D"/>
                </a:solidFill>
                <a:latin typeface="Pretendard"/>
                <a:ea typeface="Pretendard"/>
              </a:rPr>
              <a:t>생성형 AI (LLM)</a:t>
            </a:r>
          </a:p>
          <a:p>
            <a:pPr>
              <a:lnSpc>
                <a:spcPct val="116000"/>
              </a:lnSpc>
            </a:pPr>
            <a:r>
              <a:rPr lang="ko-KR" sz="1400" dirty="0">
                <a:solidFill>
                  <a:srgbClr val="576176"/>
                </a:solidFill>
                <a:latin typeface="Pretendard"/>
                <a:ea typeface="Pretendard"/>
              </a:rPr>
              <a:t>문맥상 가장 그럴듯한 다음 토큰을 확률적으로 이어 붙인다. </a:t>
            </a:r>
            <a:endParaRPr lang="en-US" altLang="ko-KR" sz="1400" dirty="0">
              <a:solidFill>
                <a:srgbClr val="576176"/>
              </a:solidFill>
              <a:latin typeface="Pretendard"/>
              <a:ea typeface="Pretendard"/>
            </a:endParaRPr>
          </a:p>
          <a:p>
            <a:pPr>
              <a:lnSpc>
                <a:spcPct val="116000"/>
              </a:lnSpc>
            </a:pPr>
            <a:r>
              <a:rPr lang="ko-KR" sz="1400" dirty="0">
                <a:solidFill>
                  <a:srgbClr val="576176"/>
                </a:solidFill>
                <a:latin typeface="Pretendard"/>
                <a:ea typeface="Pretendard"/>
              </a:rPr>
              <a:t>사실 DB 조회가 아니라 패턴 생성 → 출력은 “정답”이 아니라 “가장 그럴듯한 초안”.</a:t>
            </a:r>
          </a:p>
        </p:txBody>
      </p:sp>
      <p:sp>
        <p:nvSpPr>
          <p:cNvPr id="103" name="card1"/>
          <p:cNvSpPr/>
          <p:nvPr/>
        </p:nvSpPr>
        <p:spPr>
          <a:xfrm>
            <a:off x="825500" y="3454400"/>
            <a:ext cx="10541000" cy="1320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CE6F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4" name="circ1"/>
          <p:cNvSpPr/>
          <p:nvPr/>
        </p:nvSpPr>
        <p:spPr>
          <a:xfrm>
            <a:off x="1168400" y="3784600"/>
            <a:ext cx="660400" cy="660400"/>
          </a:xfrm>
          <a:prstGeom prst="ellipse">
            <a:avLst/>
          </a:prstGeom>
          <a:solidFill>
            <a:srgbClr val="FBEFD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5" name="txt1"/>
          <p:cNvSpPr txBox="1"/>
          <p:nvPr/>
        </p:nvSpPr>
        <p:spPr>
          <a:xfrm>
            <a:off x="2159000" y="3632200"/>
            <a:ext cx="8953500" cy="965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>
              <a:spcAft>
                <a:spcPts val="300"/>
              </a:spcAft>
            </a:pPr>
            <a:r>
              <a:rPr lang="ko-KR" sz="1650" b="1" dirty="0">
                <a:solidFill>
                  <a:srgbClr val="14213D"/>
                </a:solidFill>
                <a:latin typeface="Pretendard"/>
                <a:ea typeface="Pretendard"/>
              </a:rPr>
              <a:t>환각 (Hallucination)</a:t>
            </a:r>
          </a:p>
          <a:p>
            <a:pPr>
              <a:lnSpc>
                <a:spcPct val="116000"/>
              </a:lnSpc>
            </a:pPr>
            <a:r>
              <a:rPr lang="ko-KR" sz="1400" dirty="0">
                <a:solidFill>
                  <a:srgbClr val="576176"/>
                </a:solidFill>
                <a:latin typeface="Pretendard"/>
                <a:ea typeface="Pretendard"/>
              </a:rPr>
              <a:t>근거 없이 그럴듯한 사실·수치·인용을 만들어내는 현상. </a:t>
            </a:r>
            <a:endParaRPr lang="en-US" altLang="ko-KR" sz="1400" dirty="0">
              <a:solidFill>
                <a:srgbClr val="576176"/>
              </a:solidFill>
              <a:latin typeface="Pretendard"/>
              <a:ea typeface="Pretendard"/>
            </a:endParaRPr>
          </a:p>
          <a:p>
            <a:pPr>
              <a:lnSpc>
                <a:spcPct val="116000"/>
              </a:lnSpc>
            </a:pPr>
            <a:r>
              <a:rPr lang="ko-KR" sz="1400" dirty="0" err="1">
                <a:solidFill>
                  <a:srgbClr val="576176"/>
                </a:solidFill>
                <a:latin typeface="Pretendard"/>
                <a:ea typeface="Pretendard"/>
              </a:rPr>
              <a:t>통계·날짜·고유명사·법령은</a:t>
            </a:r>
            <a:r>
              <a:rPr lang="ko-KR" sz="1400" dirty="0">
                <a:solidFill>
                  <a:srgbClr val="576176"/>
                </a:solidFill>
                <a:latin typeface="Pretendard"/>
                <a:ea typeface="Pretendard"/>
              </a:rPr>
              <a:t> 반드시 원본 교차검증.</a:t>
            </a:r>
          </a:p>
        </p:txBody>
      </p:sp>
      <p:sp>
        <p:nvSpPr>
          <p:cNvPr id="106" name="card2"/>
          <p:cNvSpPr/>
          <p:nvPr/>
        </p:nvSpPr>
        <p:spPr>
          <a:xfrm>
            <a:off x="825500" y="5003800"/>
            <a:ext cx="10541000" cy="1320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CE6F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7" name="circ2"/>
          <p:cNvSpPr/>
          <p:nvPr/>
        </p:nvSpPr>
        <p:spPr>
          <a:xfrm>
            <a:off x="1168400" y="5334000"/>
            <a:ext cx="660400" cy="660400"/>
          </a:xfrm>
          <a:prstGeom prst="ellipse">
            <a:avLst/>
          </a:prstGeom>
          <a:solidFill>
            <a:srgbClr val="E2EFE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8" name="txt2"/>
          <p:cNvSpPr txBox="1"/>
          <p:nvPr/>
        </p:nvSpPr>
        <p:spPr>
          <a:xfrm>
            <a:off x="2159000" y="5181600"/>
            <a:ext cx="8953500" cy="9652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>
              <a:spcAft>
                <a:spcPts val="300"/>
              </a:spcAft>
            </a:pPr>
            <a:r>
              <a:rPr lang="ko-KR" sz="1650" b="1" dirty="0">
                <a:solidFill>
                  <a:srgbClr val="14213D"/>
                </a:solidFill>
                <a:latin typeface="Pretendard"/>
                <a:ea typeface="Pretendard"/>
              </a:rPr>
              <a:t>Human-in-the-loop</a:t>
            </a:r>
          </a:p>
          <a:p>
            <a:pPr>
              <a:lnSpc>
                <a:spcPct val="116000"/>
              </a:lnSpc>
            </a:pPr>
            <a:r>
              <a:rPr lang="ko-KR" sz="1400" dirty="0">
                <a:solidFill>
                  <a:srgbClr val="576176"/>
                </a:solidFill>
                <a:latin typeface="Pretendard"/>
                <a:ea typeface="Pretendard"/>
              </a:rPr>
              <a:t>AI는 초안 생성, 사람은 사실검증·톤조정·최종승인. </a:t>
            </a:r>
            <a:endParaRPr lang="en-US" altLang="ko-KR" sz="1400" dirty="0">
              <a:solidFill>
                <a:srgbClr val="576176"/>
              </a:solidFill>
              <a:latin typeface="Pretendard"/>
              <a:ea typeface="Pretendard"/>
            </a:endParaRPr>
          </a:p>
          <a:p>
            <a:pPr>
              <a:lnSpc>
                <a:spcPct val="116000"/>
              </a:lnSpc>
            </a:pPr>
            <a:r>
              <a:rPr lang="ko-KR" sz="1400" dirty="0">
                <a:solidFill>
                  <a:srgbClr val="576176"/>
                </a:solidFill>
                <a:latin typeface="Pretendard"/>
                <a:ea typeface="Pretendard"/>
              </a:rPr>
              <a:t>발행 책임은 항상 사람에게.</a:t>
            </a:r>
          </a:p>
        </p:txBody>
      </p:sp>
      <p:pic>
        <p:nvPicPr>
          <p:cNvPr id="109" name="Graphic 109" descr="생성형 AI 아이콘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95400" y="2362200"/>
            <a:ext cx="406400" cy="406400"/>
          </a:xfrm>
          <a:prstGeom prst="rect">
            <a:avLst/>
          </a:prstGeom>
        </p:spPr>
      </p:pic>
      <p:pic>
        <p:nvPicPr>
          <p:cNvPr id="110" name="Graphic 110" descr="환각 경고 아이콘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95400" y="3911600"/>
            <a:ext cx="406400" cy="406400"/>
          </a:xfrm>
          <a:prstGeom prst="rect">
            <a:avLst/>
          </a:prstGeom>
        </p:spPr>
      </p:pic>
      <p:pic>
        <p:nvPicPr>
          <p:cNvPr id="111" name="Graphic 111" descr="사람 검수 방패 아이콘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95400" y="5461000"/>
            <a:ext cx="406400" cy="406400"/>
          </a:xfrm>
          <a:prstGeom prst="rect">
            <a:avLst/>
          </a:prstGeom>
        </p:spPr>
      </p:pic>
      <p:sp>
        <p:nvSpPr>
          <p:cNvPr id="4" name="PageNumber">
            <a:extLst>
              <a:ext uri="{FF2B5EF4-FFF2-40B4-BE49-F238E27FC236}">
                <a16:creationId xmlns:a16="http://schemas.microsoft.com/office/drawing/2014/main" id="{AA781A24-CCF4-EB47-8D91-863381412AB9}"/>
              </a:ext>
            </a:extLst>
          </p:cNvPr>
          <p:cNvSpPr txBox="1"/>
          <p:nvPr/>
        </p:nvSpPr>
        <p:spPr>
          <a:xfrm>
            <a:off x="9499600" y="6489700"/>
            <a:ext cx="23368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r"/>
            <a:r>
              <a:rPr lang="en-US" altLang="ko-KR" sz="1200">
                <a:solidFill>
                  <a:srgbClr val="576176"/>
                </a:solidFill>
                <a:latin typeface="Pretendard"/>
              </a:rPr>
              <a:t>- 07/144 -</a:t>
            </a:r>
            <a:endParaRPr lang="ko-KR" altLang="en-US" sz="1200">
              <a:solidFill>
                <a:srgbClr val="576176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14691930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개념 깊이 보기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개념을 예시로 — 우리 케이스에 적용하면</a:t>
            </a:r>
          </a:p>
        </p:txBody>
      </p:sp>
      <p:sp>
        <p:nvSpPr>
          <p:cNvPr id="100" name="card0"/>
          <p:cNvSpPr/>
          <p:nvPr/>
        </p:nvSpPr>
        <p:spPr>
          <a:xfrm>
            <a:off x="825500" y="1905000"/>
            <a:ext cx="10541000" cy="20955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CE6F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1" name="circ0"/>
          <p:cNvSpPr/>
          <p:nvPr/>
        </p:nvSpPr>
        <p:spPr>
          <a:xfrm>
            <a:off x="1181100" y="2584450"/>
            <a:ext cx="736600" cy="736600"/>
          </a:xfrm>
          <a:prstGeom prst="ellipse">
            <a:avLst/>
          </a:prstGeom>
          <a:solidFill>
            <a:srgbClr val="E7EEF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2" name="txt0"/>
          <p:cNvSpPr txBox="1"/>
          <p:nvPr/>
        </p:nvSpPr>
        <p:spPr>
          <a:xfrm>
            <a:off x="2349500" y="2133600"/>
            <a:ext cx="8712200" cy="16383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spcAft>
                <a:spcPts val="500"/>
              </a:spcAft>
            </a:pPr>
            <a:r>
              <a:rPr lang="ko-KR" sz="1700" b="1" dirty="0">
                <a:solidFill>
                  <a:srgbClr val="14213D"/>
                </a:solidFill>
                <a:latin typeface="Pretendard"/>
                <a:ea typeface="Pretendard"/>
              </a:rPr>
              <a:t>생성형 AI (LLM)</a:t>
            </a:r>
          </a:p>
          <a:p>
            <a:pPr>
              <a:lnSpc>
                <a:spcPct val="124000"/>
              </a:lnSpc>
            </a:pPr>
            <a:r>
              <a:rPr lang="ko-KR" sz="1400" b="1" dirty="0">
                <a:solidFill>
                  <a:srgbClr val="E8A33D"/>
                </a:solidFill>
                <a:latin typeface="JetBrains Mono"/>
                <a:ea typeface="JetBrains Mono"/>
              </a:rPr>
              <a:t>예) </a:t>
            </a:r>
            <a:r>
              <a:rPr lang="ko-KR" sz="1400" dirty="0">
                <a:solidFill>
                  <a:srgbClr val="576176"/>
                </a:solidFill>
                <a:latin typeface="Pretendard"/>
                <a:ea typeface="Pretendard"/>
              </a:rPr>
              <a:t>“무알콜 맥주 카피 써줘” → 학습한 수만 개 카피 패턴에서 가장 그럴듯한 문장을 “생성”한다. </a:t>
            </a:r>
            <a:endParaRPr lang="en-US" altLang="ko-KR" sz="1400" dirty="0">
              <a:solidFill>
                <a:srgbClr val="576176"/>
              </a:solidFill>
              <a:latin typeface="Pretendard"/>
              <a:ea typeface="Pretendard"/>
            </a:endParaRPr>
          </a:p>
          <a:p>
            <a:pPr>
              <a:lnSpc>
                <a:spcPct val="124000"/>
              </a:lnSpc>
            </a:pPr>
            <a:r>
              <a:rPr lang="ko-KR" sz="1400" dirty="0" err="1">
                <a:solidFill>
                  <a:srgbClr val="576176"/>
                </a:solidFill>
                <a:latin typeface="Pretendard"/>
                <a:ea typeface="Pretendard"/>
              </a:rPr>
              <a:t>어딘가에서</a:t>
            </a:r>
            <a:r>
              <a:rPr lang="ko-KR" sz="1400" dirty="0">
                <a:solidFill>
                  <a:srgbClr val="576176"/>
                </a:solidFill>
                <a:latin typeface="Pretendard"/>
                <a:ea typeface="Pretendard"/>
              </a:rPr>
              <a:t> 찾아오는 게 아니다.</a:t>
            </a:r>
          </a:p>
        </p:txBody>
      </p:sp>
      <p:sp>
        <p:nvSpPr>
          <p:cNvPr id="103" name="card1"/>
          <p:cNvSpPr/>
          <p:nvPr/>
        </p:nvSpPr>
        <p:spPr>
          <a:xfrm>
            <a:off x="825500" y="4305300"/>
            <a:ext cx="10541000" cy="20955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CE6F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4" name="circ1"/>
          <p:cNvSpPr/>
          <p:nvPr/>
        </p:nvSpPr>
        <p:spPr>
          <a:xfrm>
            <a:off x="1181100" y="4984750"/>
            <a:ext cx="736600" cy="736600"/>
          </a:xfrm>
          <a:prstGeom prst="ellipse">
            <a:avLst/>
          </a:prstGeom>
          <a:solidFill>
            <a:srgbClr val="FBEFD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5" name="txt1"/>
          <p:cNvSpPr txBox="1"/>
          <p:nvPr/>
        </p:nvSpPr>
        <p:spPr>
          <a:xfrm>
            <a:off x="2349500" y="4533900"/>
            <a:ext cx="8712200" cy="16383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spcAft>
                <a:spcPts val="500"/>
              </a:spcAft>
            </a:pPr>
            <a:r>
              <a:rPr lang="ko-KR" sz="1700" b="1" dirty="0">
                <a:solidFill>
                  <a:srgbClr val="14213D"/>
                </a:solidFill>
                <a:latin typeface="Pretendard"/>
                <a:ea typeface="Pretendard"/>
              </a:rPr>
              <a:t>환각 (Hallucination)</a:t>
            </a:r>
          </a:p>
          <a:p>
            <a:pPr>
              <a:lnSpc>
                <a:spcPct val="124000"/>
              </a:lnSpc>
            </a:pPr>
            <a:r>
              <a:rPr lang="ko-KR" sz="1400" b="1" dirty="0">
                <a:solidFill>
                  <a:srgbClr val="E8A33D"/>
                </a:solidFill>
                <a:latin typeface="JetBrains Mono"/>
                <a:ea typeface="JetBrains Mono"/>
              </a:rPr>
              <a:t>예) </a:t>
            </a:r>
            <a:r>
              <a:rPr lang="ko-KR" sz="1400" dirty="0">
                <a:solidFill>
                  <a:srgbClr val="576176"/>
                </a:solidFill>
                <a:latin typeface="Pretendard"/>
                <a:ea typeface="Pretendard"/>
              </a:rPr>
              <a:t>“무알콜 맥주 시장이 매년 40% 성장”이라고 자신있게 답해도 출처가 없을 수 있다. </a:t>
            </a:r>
            <a:endParaRPr lang="en-US" altLang="ko-KR" sz="1400" dirty="0">
              <a:solidFill>
                <a:srgbClr val="576176"/>
              </a:solidFill>
              <a:latin typeface="Pretendard"/>
              <a:ea typeface="Pretendard"/>
            </a:endParaRPr>
          </a:p>
          <a:p>
            <a:pPr>
              <a:lnSpc>
                <a:spcPct val="124000"/>
              </a:lnSpc>
            </a:pPr>
            <a:r>
              <a:rPr lang="ko-KR" sz="1400" dirty="0" err="1">
                <a:solidFill>
                  <a:srgbClr val="576176"/>
                </a:solidFill>
                <a:latin typeface="Pretendard"/>
                <a:ea typeface="Pretendard"/>
              </a:rPr>
              <a:t>통계·수치는</a:t>
            </a:r>
            <a:r>
              <a:rPr lang="ko-KR" sz="1400" dirty="0">
                <a:solidFill>
                  <a:srgbClr val="576176"/>
                </a:solidFill>
                <a:latin typeface="Pretendard"/>
                <a:ea typeface="Pretendard"/>
              </a:rPr>
              <a:t> 반드시 원본 확인.</a:t>
            </a:r>
          </a:p>
        </p:txBody>
      </p:sp>
      <p:pic>
        <p:nvPicPr>
          <p:cNvPr id="106" name="Graphic 106" descr="생성형 AI 아이콘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08100" y="2717800"/>
            <a:ext cx="457200" cy="457200"/>
          </a:xfrm>
          <a:prstGeom prst="rect">
            <a:avLst/>
          </a:prstGeom>
        </p:spPr>
      </p:pic>
      <p:pic>
        <p:nvPicPr>
          <p:cNvPr id="107" name="Graphic 107" descr="환각 경고 아이콘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08100" y="5118100"/>
            <a:ext cx="457200" cy="457200"/>
          </a:xfrm>
          <a:prstGeom prst="rect">
            <a:avLst/>
          </a:prstGeom>
        </p:spPr>
      </p:pic>
      <p:sp>
        <p:nvSpPr>
          <p:cNvPr id="4" name="PageNumber">
            <a:extLst>
              <a:ext uri="{FF2B5EF4-FFF2-40B4-BE49-F238E27FC236}">
                <a16:creationId xmlns:a16="http://schemas.microsoft.com/office/drawing/2014/main" id="{B03F955C-0933-0C4A-A109-E4D8EFB0DEB5}"/>
              </a:ext>
            </a:extLst>
          </p:cNvPr>
          <p:cNvSpPr txBox="1"/>
          <p:nvPr/>
        </p:nvSpPr>
        <p:spPr>
          <a:xfrm>
            <a:off x="9499600" y="6489700"/>
            <a:ext cx="23368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r"/>
            <a:r>
              <a:rPr lang="en-US" altLang="ko-KR" sz="1200">
                <a:solidFill>
                  <a:srgbClr val="576176"/>
                </a:solidFill>
                <a:latin typeface="Pretendard"/>
              </a:rPr>
              <a:t>- 08/144 -</a:t>
            </a:r>
            <a:endParaRPr lang="ko-KR" altLang="en-US" sz="1200">
              <a:solidFill>
                <a:srgbClr val="576176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13302892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개념 심화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왜 "검색기 아닌 생성기"가 중요한가</a:t>
            </a:r>
          </a:p>
        </p:txBody>
      </p:sp>
      <p:sp>
        <p:nvSpPr>
          <p:cNvPr id="100" name="c"/>
          <p:cNvSpPr/>
          <p:nvPr/>
        </p:nvSpPr>
        <p:spPr>
          <a:xfrm>
            <a:off x="914400" y="2159000"/>
            <a:ext cx="4876800" cy="3175000"/>
          </a:xfrm>
          <a:prstGeom prst="roundRect">
            <a:avLst>
              <a:gd name="adj" fmla="val 5000"/>
            </a:avLst>
          </a:prstGeom>
          <a:solidFill>
            <a:srgbClr val="F6F0F0"/>
          </a:solidFill>
          <a:ln w="12700">
            <a:solidFill>
              <a:srgbClr val="E3C5C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1" name="c"/>
          <p:cNvSpPr/>
          <p:nvPr/>
        </p:nvSpPr>
        <p:spPr>
          <a:xfrm>
            <a:off x="6400800" y="2159000"/>
            <a:ext cx="4876800" cy="3175000"/>
          </a:xfrm>
          <a:prstGeom prst="roundRect">
            <a:avLst>
              <a:gd name="adj" fmla="val 5000"/>
            </a:avLst>
          </a:prstGeom>
          <a:solidFill>
            <a:srgbClr val="EDF2F9"/>
          </a:solidFill>
          <a:ln w="12700">
            <a:solidFill>
              <a:srgbClr val="C4D6EB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2" name="t"/>
          <p:cNvSpPr txBox="1"/>
          <p:nvPr/>
        </p:nvSpPr>
        <p:spPr>
          <a:xfrm>
            <a:off x="1219200" y="2463800"/>
            <a:ext cx="4267200" cy="2667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spcAft>
                <a:spcPts val="900"/>
              </a:spcAft>
            </a:pPr>
            <a:r>
              <a:rPr lang="en-US" sz="1700" b="1" dirty="0">
                <a:solidFill>
                  <a:srgbClr val="A63333"/>
                </a:solidFill>
                <a:latin typeface="Pretendard"/>
                <a:ea typeface="Pretendard"/>
              </a:rPr>
              <a:t>✕  </a:t>
            </a:r>
            <a:r>
              <a:rPr lang="ko-KR" sz="1700" b="1" dirty="0">
                <a:solidFill>
                  <a:srgbClr val="14213D"/>
                </a:solidFill>
                <a:latin typeface="Pretendard"/>
                <a:ea typeface="Pretendard"/>
              </a:rPr>
              <a:t>검색기로 착각하면</a:t>
            </a:r>
          </a:p>
          <a:p>
            <a:pPr>
              <a:lnSpc>
                <a:spcPct val="126000"/>
              </a:lnSpc>
              <a:spcAft>
                <a:spcPts val="700"/>
              </a:spcAft>
            </a:pPr>
            <a:r>
              <a:rPr lang="ko-KR" sz="1550" dirty="0">
                <a:solidFill>
                  <a:srgbClr val="14213D"/>
                </a:solidFill>
                <a:latin typeface="Pretendard"/>
                <a:ea typeface="Pretendard"/>
              </a:rPr>
              <a:t>“정답”을 기대하고 AI 답을 그대로 발행한다.</a:t>
            </a:r>
          </a:p>
          <a:p>
            <a:pPr>
              <a:lnSpc>
                <a:spcPct val="124000"/>
              </a:lnSpc>
            </a:pPr>
            <a:r>
              <a:rPr lang="ko-KR" sz="1400" b="1" dirty="0">
                <a:solidFill>
                  <a:srgbClr val="A63333"/>
                </a:solidFill>
                <a:latin typeface="Pretendard"/>
                <a:ea typeface="Pretendard"/>
              </a:rPr>
              <a:t>→ 환각·과장·오류가 검수 없이 그대로 노출</a:t>
            </a:r>
          </a:p>
        </p:txBody>
      </p:sp>
      <p:sp>
        <p:nvSpPr>
          <p:cNvPr id="103" name="t"/>
          <p:cNvSpPr txBox="1"/>
          <p:nvPr/>
        </p:nvSpPr>
        <p:spPr>
          <a:xfrm>
            <a:off x="6705600" y="2463800"/>
            <a:ext cx="4267200" cy="2667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spcAft>
                <a:spcPts val="900"/>
              </a:spcAft>
            </a:pPr>
            <a:r>
              <a:rPr lang="en-US" sz="1700" b="1" dirty="0">
                <a:solidFill>
                  <a:srgbClr val="2C6B44"/>
                </a:solidFill>
                <a:latin typeface="Pretendard"/>
                <a:ea typeface="Pretendard"/>
              </a:rPr>
              <a:t>✓  </a:t>
            </a:r>
            <a:r>
              <a:rPr lang="ko-KR" sz="1700" b="1" dirty="0">
                <a:solidFill>
                  <a:srgbClr val="14213D"/>
                </a:solidFill>
                <a:latin typeface="Pretendard"/>
                <a:ea typeface="Pretendard"/>
              </a:rPr>
              <a:t>생성기로 이해하면</a:t>
            </a:r>
          </a:p>
          <a:p>
            <a:pPr>
              <a:lnSpc>
                <a:spcPct val="126000"/>
              </a:lnSpc>
              <a:spcAft>
                <a:spcPts val="700"/>
              </a:spcAft>
            </a:pPr>
            <a:r>
              <a:rPr lang="ko-KR" sz="1550" dirty="0">
                <a:solidFill>
                  <a:srgbClr val="14213D"/>
                </a:solidFill>
                <a:latin typeface="Pretendard"/>
                <a:ea typeface="Pretendard"/>
              </a:rPr>
              <a:t>“초안”을 받아 내가 사실검증·톤조정·완성한다.</a:t>
            </a:r>
          </a:p>
          <a:p>
            <a:pPr>
              <a:lnSpc>
                <a:spcPct val="124000"/>
              </a:lnSpc>
            </a:pPr>
            <a:r>
              <a:rPr lang="ko-KR" sz="1400" b="1" dirty="0">
                <a:solidFill>
                  <a:srgbClr val="1D4E89"/>
                </a:solidFill>
                <a:latin typeface="Pretendard"/>
                <a:ea typeface="Pretendard"/>
              </a:rPr>
              <a:t>→ 안전하고 빠른, 반복 가능한 워크플로</a:t>
            </a:r>
          </a:p>
        </p:txBody>
      </p:sp>
      <p:sp>
        <p:nvSpPr>
          <p:cNvPr id="104" name="arr"/>
          <p:cNvSpPr/>
          <p:nvPr/>
        </p:nvSpPr>
        <p:spPr>
          <a:xfrm>
            <a:off x="5842000" y="3581400"/>
            <a:ext cx="508000" cy="330200"/>
          </a:xfrm>
          <a:prstGeom prst="rightArrow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5" name="c"/>
          <p:cNvSpPr/>
          <p:nvPr/>
        </p:nvSpPr>
        <p:spPr>
          <a:xfrm>
            <a:off x="914400" y="5588000"/>
            <a:ext cx="10363200" cy="660400"/>
          </a:xfrm>
          <a:prstGeom prst="roundRect">
            <a:avLst>
              <a:gd name="adj" fmla="val 5000"/>
            </a:avLst>
          </a:prstGeom>
          <a:solidFill>
            <a:srgbClr val="14213D"/>
          </a:solidFill>
          <a:ln w="12700">
            <a:solidFill>
              <a:srgbClr val="14213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7" name="bt"/>
          <p:cNvSpPr txBox="1"/>
          <p:nvPr/>
        </p:nvSpPr>
        <p:spPr>
          <a:xfrm>
            <a:off x="1219200" y="5588000"/>
            <a:ext cx="9753600" cy="6604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r>
              <a:rPr lang="ko-KR" sz="1450" b="1" dirty="0">
                <a:solidFill>
                  <a:srgbClr val="E8A33D"/>
                </a:solidFill>
                <a:latin typeface="Pretendard"/>
                <a:ea typeface="Pretendard"/>
              </a:rPr>
              <a:t>한 줄 정리  </a:t>
            </a:r>
            <a:r>
              <a:rPr lang="ko-KR" sz="1450" dirty="0">
                <a:solidFill>
                  <a:srgbClr val="FFFFFF"/>
                </a:solidFill>
                <a:latin typeface="Pretendard"/>
                <a:ea typeface="Pretendard"/>
              </a:rPr>
              <a:t>AI는 정답 자판기가 아니라, 검수를 전제로 한 ‘초안 생성기’다.</a:t>
            </a:r>
          </a:p>
        </p:txBody>
      </p:sp>
      <p:sp>
        <p:nvSpPr>
          <p:cNvPr id="4" name="PageNumber">
            <a:extLst>
              <a:ext uri="{FF2B5EF4-FFF2-40B4-BE49-F238E27FC236}">
                <a16:creationId xmlns:a16="http://schemas.microsoft.com/office/drawing/2014/main" id="{284118FE-CE88-0740-B467-023A763CE2B8}"/>
              </a:ext>
            </a:extLst>
          </p:cNvPr>
          <p:cNvSpPr txBox="1"/>
          <p:nvPr/>
        </p:nvSpPr>
        <p:spPr>
          <a:xfrm>
            <a:off x="9499600" y="6489700"/>
            <a:ext cx="23368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r"/>
            <a:r>
              <a:rPr lang="en-US" altLang="ko-KR" sz="1200">
                <a:solidFill>
                  <a:srgbClr val="576176"/>
                </a:solidFill>
                <a:latin typeface="Pretendard"/>
              </a:rPr>
              <a:t>- 09/144 -</a:t>
            </a:r>
            <a:endParaRPr lang="ko-KR" altLang="en-US" sz="1200">
              <a:solidFill>
                <a:srgbClr val="576176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4144501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개념 심화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자동화 2×2 매트릭스</a:t>
            </a:r>
          </a:p>
        </p:txBody>
      </p:sp>
      <p:sp>
        <p:nvSpPr>
          <p:cNvPr id="100" name="cell"/>
          <p:cNvSpPr txBox="1"/>
          <p:nvPr/>
        </p:nvSpPr>
        <p:spPr>
          <a:xfrm>
            <a:off x="2159000" y="1930400"/>
            <a:ext cx="4470400" cy="1930400"/>
          </a:xfrm>
          <a:prstGeom prst="roundRect">
            <a:avLst>
              <a:gd name="adj" fmla="val 5000"/>
            </a:avLst>
          </a:prstGeom>
          <a:solidFill>
            <a:srgbClr val="EEF2F8"/>
          </a:solidFill>
          <a:ln w="12700">
            <a:solidFill>
              <a:srgbClr val="C9D6E8"/>
            </a:solidFill>
          </a:ln>
        </p:spPr>
        <p:txBody>
          <a:bodyPr wrap="square" lIns="152400" tIns="114300" rIns="152400" bIns="91440" anchor="ctr"/>
          <a:lstStyle/>
          <a:p>
            <a:pPr>
              <a:spcAft>
                <a:spcPts val="500"/>
              </a:spcAft>
            </a:pPr>
            <a:r>
              <a:rPr lang="ko-KR" sz="1650" b="1" dirty="0">
                <a:solidFill>
                  <a:srgbClr val="14213D"/>
                </a:solidFill>
                <a:latin typeface="Pretendard"/>
                <a:ea typeface="Pretendard"/>
              </a:rPr>
              <a:t>사람이 주도</a:t>
            </a:r>
          </a:p>
          <a:p>
            <a:pPr>
              <a:lnSpc>
                <a:spcPct val="120000"/>
              </a:lnSpc>
            </a:pPr>
            <a:r>
              <a:rPr lang="ko-KR" sz="1400" dirty="0">
                <a:solidFill>
                  <a:srgbClr val="576176"/>
                </a:solidFill>
                <a:latin typeface="Pretendard"/>
                <a:ea typeface="Pretendard"/>
              </a:rPr>
              <a:t>브랜드 컨셉·핵심 메시지 결정 (AI는 보조 아이디어만)</a:t>
            </a:r>
          </a:p>
        </p:txBody>
      </p:sp>
      <p:sp>
        <p:nvSpPr>
          <p:cNvPr id="101" name="cell"/>
          <p:cNvSpPr txBox="1"/>
          <p:nvPr/>
        </p:nvSpPr>
        <p:spPr>
          <a:xfrm>
            <a:off x="6781800" y="1930400"/>
            <a:ext cx="4470400" cy="1930400"/>
          </a:xfrm>
          <a:prstGeom prst="roundRect">
            <a:avLst>
              <a:gd name="adj" fmla="val 5000"/>
            </a:avLst>
          </a:prstGeom>
          <a:solidFill>
            <a:srgbClr val="EDF2F9"/>
          </a:solidFill>
          <a:ln w="12700">
            <a:solidFill>
              <a:srgbClr val="9DBCE0"/>
            </a:solidFill>
          </a:ln>
        </p:spPr>
        <p:txBody>
          <a:bodyPr wrap="square" lIns="152400" tIns="114300" rIns="152400" bIns="91440" anchor="ctr"/>
          <a:lstStyle/>
          <a:p>
            <a:pPr>
              <a:spcAft>
                <a:spcPts val="500"/>
              </a:spcAft>
            </a:pPr>
            <a:r>
              <a:rPr lang="ko-KR" sz="1650" b="1" dirty="0">
                <a:solidFill>
                  <a:srgbClr val="1D4E89"/>
                </a:solidFill>
                <a:latin typeface="Pretendard"/>
                <a:ea typeface="Pretendard"/>
              </a:rPr>
              <a:t>AI 초안 + 사람 마감</a:t>
            </a:r>
          </a:p>
          <a:p>
            <a:pPr>
              <a:lnSpc>
                <a:spcPct val="120000"/>
              </a:lnSpc>
            </a:pPr>
            <a:r>
              <a:rPr lang="ko-KR" sz="1400" dirty="0">
                <a:solidFill>
                  <a:srgbClr val="576176"/>
                </a:solidFill>
                <a:latin typeface="Pretendard"/>
                <a:ea typeface="Pretendard"/>
              </a:rPr>
              <a:t>캠페인 카피 변형안을 대량 생성→사람이 선별·완성</a:t>
            </a:r>
          </a:p>
        </p:txBody>
      </p:sp>
      <p:sp>
        <p:nvSpPr>
          <p:cNvPr id="102" name="cell"/>
          <p:cNvSpPr txBox="1"/>
          <p:nvPr/>
        </p:nvSpPr>
        <p:spPr>
          <a:xfrm>
            <a:off x="2159000" y="4013200"/>
            <a:ext cx="4470400" cy="1930400"/>
          </a:xfrm>
          <a:prstGeom prst="roundRect">
            <a:avLst>
              <a:gd name="adj" fmla="val 5000"/>
            </a:avLst>
          </a:prstGeom>
          <a:solidFill>
            <a:srgbClr val="F1F3F7"/>
          </a:solidFill>
          <a:ln w="12700">
            <a:solidFill>
              <a:srgbClr val="D7DEEA"/>
            </a:solidFill>
          </a:ln>
        </p:spPr>
        <p:txBody>
          <a:bodyPr wrap="square" lIns="152400" tIns="114300" rIns="152400" bIns="91440" anchor="ctr"/>
          <a:lstStyle/>
          <a:p>
            <a:pPr>
              <a:spcAft>
                <a:spcPts val="500"/>
              </a:spcAft>
            </a:pPr>
            <a:r>
              <a:rPr lang="ko-KR" sz="1650" b="1" dirty="0">
                <a:solidFill>
                  <a:srgbClr val="7A8294"/>
                </a:solidFill>
                <a:latin typeface="Pretendard"/>
                <a:ea typeface="Pretendard"/>
              </a:rPr>
              <a:t>후순위 · 수동</a:t>
            </a:r>
          </a:p>
          <a:p>
            <a:pPr>
              <a:lnSpc>
                <a:spcPct val="120000"/>
              </a:lnSpc>
            </a:pPr>
            <a:r>
              <a:rPr lang="ko-KR" sz="1400" dirty="0">
                <a:solidFill>
                  <a:srgbClr val="576176"/>
                </a:solidFill>
                <a:latin typeface="Pretendard"/>
                <a:ea typeface="Pretendard"/>
              </a:rPr>
              <a:t>1회성 단순 공지 — 굳이 자동화 안 해도 됨</a:t>
            </a:r>
          </a:p>
        </p:txBody>
      </p:sp>
      <p:sp>
        <p:nvSpPr>
          <p:cNvPr id="103" name="cell"/>
          <p:cNvSpPr txBox="1"/>
          <p:nvPr/>
        </p:nvSpPr>
        <p:spPr>
          <a:xfrm>
            <a:off x="6781800" y="4013200"/>
            <a:ext cx="4470400" cy="1930400"/>
          </a:xfrm>
          <a:prstGeom prst="roundRect">
            <a:avLst>
              <a:gd name="adj" fmla="val 5000"/>
            </a:avLst>
          </a:prstGeom>
          <a:solidFill>
            <a:srgbClr val="FBEFD8"/>
          </a:solidFill>
          <a:ln w="19050">
            <a:solidFill>
              <a:srgbClr val="E8A33D"/>
            </a:solidFill>
          </a:ln>
        </p:spPr>
        <p:txBody>
          <a:bodyPr wrap="square" lIns="152400" tIns="114300" rIns="152400" bIns="91440" anchor="ctr"/>
          <a:lstStyle/>
          <a:p>
            <a:pPr>
              <a:spcAft>
                <a:spcPts val="500"/>
              </a:spcAft>
            </a:pPr>
            <a:r>
              <a:rPr lang="ko-KR" sz="1650" b="1" dirty="0">
                <a:solidFill>
                  <a:srgbClr val="B5781B"/>
                </a:solidFill>
                <a:latin typeface="Pretendard"/>
                <a:ea typeface="Pretendard"/>
              </a:rPr>
              <a:t>★  1순위 자동화</a:t>
            </a:r>
          </a:p>
          <a:p>
            <a:pPr>
              <a:lnSpc>
                <a:spcPct val="120000"/>
              </a:lnSpc>
            </a:pPr>
            <a:r>
              <a:rPr lang="ko-KR" sz="1400" dirty="0">
                <a:solidFill>
                  <a:srgbClr val="576176"/>
                </a:solidFill>
                <a:latin typeface="Pretendard"/>
                <a:ea typeface="Pretendard"/>
              </a:rPr>
              <a:t>매주 정기 게시글·카드뉴스 규격화 — 여기부터!</a:t>
            </a:r>
          </a:p>
        </p:txBody>
      </p:sp>
      <p:sp>
        <p:nvSpPr>
          <p:cNvPr id="104" name="yax"/>
          <p:cNvSpPr txBox="1"/>
          <p:nvPr/>
        </p:nvSpPr>
        <p:spPr>
          <a:xfrm>
            <a:off x="1333500" y="1930400"/>
            <a:ext cx="381000" cy="4013200"/>
          </a:xfrm>
          <a:prstGeom prst="rect">
            <a:avLst/>
          </a:prstGeom>
          <a:noFill/>
        </p:spPr>
        <p:txBody>
          <a:bodyPr vert="vert270" wrap="none" lIns="0" tIns="0" rIns="0" bIns="0" anchor="ctr"/>
          <a:lstStyle/>
          <a:p>
            <a:pPr algn="ctr"/>
            <a:r>
              <a:rPr lang="ko-KR" sz="1400" b="1" dirty="0">
                <a:solidFill>
                  <a:srgbClr val="1D4E89"/>
                </a:solidFill>
                <a:latin typeface="Pretendard"/>
                <a:ea typeface="Pretendard"/>
              </a:rPr>
              <a:t>창의성  (낮음 → 높음)</a:t>
            </a:r>
          </a:p>
        </p:txBody>
      </p:sp>
      <p:sp>
        <p:nvSpPr>
          <p:cNvPr id="105" name="xax"/>
          <p:cNvSpPr txBox="1"/>
          <p:nvPr/>
        </p:nvSpPr>
        <p:spPr>
          <a:xfrm>
            <a:off x="2159000" y="6070600"/>
            <a:ext cx="9093200" cy="3556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algn="ctr"/>
            <a:r>
              <a:rPr lang="ko-KR" sz="1400" b="1" dirty="0">
                <a:solidFill>
                  <a:srgbClr val="1D4E89"/>
                </a:solidFill>
                <a:latin typeface="Pretendard"/>
                <a:ea typeface="Pretendard"/>
              </a:rPr>
              <a:t>반복성  (낮음 → 높음)</a:t>
            </a:r>
          </a:p>
        </p:txBody>
      </p:sp>
      <p:sp>
        <p:nvSpPr>
          <p:cNvPr id="4" name="PageNumber">
            <a:extLst>
              <a:ext uri="{FF2B5EF4-FFF2-40B4-BE49-F238E27FC236}">
                <a16:creationId xmlns:a16="http://schemas.microsoft.com/office/drawing/2014/main" id="{8B6B146B-34FA-F54C-847F-95D7335CEBB8}"/>
              </a:ext>
            </a:extLst>
          </p:cNvPr>
          <p:cNvSpPr txBox="1"/>
          <p:nvPr/>
        </p:nvSpPr>
        <p:spPr>
          <a:xfrm>
            <a:off x="9499600" y="6489700"/>
            <a:ext cx="23368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r"/>
            <a:r>
              <a:rPr lang="en-US" altLang="ko-KR" sz="1200">
                <a:solidFill>
                  <a:srgbClr val="576176"/>
                </a:solidFill>
                <a:latin typeface="Pretendard"/>
              </a:rPr>
              <a:t>- 10/144 -</a:t>
            </a:r>
            <a:endParaRPr lang="ko-KR" altLang="en-US" sz="1200">
              <a:solidFill>
                <a:srgbClr val="576176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18418581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실습 절차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실습 절차 — 직접 해봅니다</a:t>
            </a:r>
          </a:p>
        </p:txBody>
      </p:sp>
      <p:sp>
        <p:nvSpPr>
          <p:cNvPr id="100" name="rail"/>
          <p:cNvSpPr/>
          <p:nvPr/>
        </p:nvSpPr>
        <p:spPr>
          <a:xfrm>
            <a:off x="1270000" y="2260600"/>
            <a:ext cx="50800" cy="3276600"/>
          </a:xfrm>
          <a:prstGeom prst="rect">
            <a:avLst/>
          </a:prstGeom>
          <a:solidFill>
            <a:srgbClr val="C9D6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1" name="c0"/>
          <p:cNvSpPr txBox="1"/>
          <p:nvPr/>
        </p:nvSpPr>
        <p:spPr>
          <a:xfrm>
            <a:off x="990600" y="1955800"/>
            <a:ext cx="609600" cy="609600"/>
          </a:xfrm>
          <a:prstGeom prst="ellipse">
            <a:avLst/>
          </a:prstGeom>
          <a:solidFill>
            <a:srgbClr val="1D4E89"/>
          </a:solidFill>
          <a:ln w="38100">
            <a:solidFill>
              <a:srgbClr val="F4F6FB"/>
            </a:solidFill>
          </a:ln>
        </p:spPr>
        <p:txBody>
          <a:bodyPr wrap="none" lIns="0" tIns="0" rIns="0" bIns="0" anchor="ctr"/>
          <a:lstStyle/>
          <a:p>
            <a:pPr algn="ctr"/>
            <a:r>
              <a:rPr lang="en-US" sz="1900" b="1" dirty="0">
                <a:solidFill>
                  <a:srgbClr val="FFFFFF"/>
                </a:solidFill>
                <a:latin typeface="Noto Serif KR"/>
                <a:ea typeface="Noto Serif KR"/>
              </a:rPr>
              <a:t>1</a:t>
            </a:r>
          </a:p>
        </p:txBody>
      </p:sp>
      <p:sp>
        <p:nvSpPr>
          <p:cNvPr id="102" name="t0"/>
          <p:cNvSpPr txBox="1"/>
          <p:nvPr/>
        </p:nvSpPr>
        <p:spPr>
          <a:xfrm>
            <a:off x="1905000" y="1803400"/>
            <a:ext cx="9461500" cy="914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spcAft>
                <a:spcPts val="300"/>
              </a:spcAft>
            </a:pPr>
            <a:r>
              <a:rPr lang="ko-KR" sz="1700" b="1" dirty="0">
                <a:solidFill>
                  <a:srgbClr val="14213D"/>
                </a:solidFill>
                <a:latin typeface="Pretendard"/>
                <a:ea typeface="Pretendard"/>
              </a:rPr>
              <a:t>업무 쪼개기</a:t>
            </a:r>
          </a:p>
          <a:p>
            <a:r>
              <a:rPr lang="ko-KR" sz="1400" dirty="0">
                <a:solidFill>
                  <a:srgbClr val="576176"/>
                </a:solidFill>
                <a:latin typeface="Pretendard"/>
                <a:ea typeface="Pretendard"/>
              </a:rPr>
              <a:t>내 홍보 업무를 “입력 → 처리 → 출력” 단위로 나열한다.</a:t>
            </a:r>
          </a:p>
        </p:txBody>
      </p:sp>
      <p:sp>
        <p:nvSpPr>
          <p:cNvPr id="103" name="c1"/>
          <p:cNvSpPr txBox="1"/>
          <p:nvPr/>
        </p:nvSpPr>
        <p:spPr>
          <a:xfrm>
            <a:off x="990600" y="3048000"/>
            <a:ext cx="609600" cy="609600"/>
          </a:xfrm>
          <a:prstGeom prst="ellipse">
            <a:avLst/>
          </a:prstGeom>
          <a:solidFill>
            <a:srgbClr val="1D4E89"/>
          </a:solidFill>
          <a:ln w="38100">
            <a:solidFill>
              <a:srgbClr val="F4F6FB"/>
            </a:solidFill>
          </a:ln>
        </p:spPr>
        <p:txBody>
          <a:bodyPr wrap="none" lIns="0" tIns="0" rIns="0" bIns="0" anchor="ctr"/>
          <a:lstStyle/>
          <a:p>
            <a:pPr algn="ctr"/>
            <a:r>
              <a:rPr lang="en-US" sz="1900" b="1" dirty="0">
                <a:solidFill>
                  <a:srgbClr val="FFFFFF"/>
                </a:solidFill>
                <a:latin typeface="Noto Serif KR"/>
                <a:ea typeface="Noto Serif KR"/>
              </a:rPr>
              <a:t>2</a:t>
            </a:r>
          </a:p>
        </p:txBody>
      </p:sp>
      <p:sp>
        <p:nvSpPr>
          <p:cNvPr id="104" name="t1"/>
          <p:cNvSpPr txBox="1"/>
          <p:nvPr/>
        </p:nvSpPr>
        <p:spPr>
          <a:xfrm>
            <a:off x="1905000" y="2895600"/>
            <a:ext cx="9461500" cy="914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spcAft>
                <a:spcPts val="300"/>
              </a:spcAft>
            </a:pPr>
            <a:r>
              <a:rPr lang="ko-KR" sz="1700" b="1" dirty="0">
                <a:solidFill>
                  <a:srgbClr val="14213D"/>
                </a:solidFill>
                <a:latin typeface="Pretendard"/>
                <a:ea typeface="Pretendard"/>
              </a:rPr>
              <a:t>2×2 분류</a:t>
            </a:r>
          </a:p>
          <a:p>
            <a:r>
              <a:rPr lang="ko-KR" sz="1400" dirty="0">
                <a:solidFill>
                  <a:srgbClr val="576176"/>
                </a:solidFill>
                <a:latin typeface="Pretendard"/>
                <a:ea typeface="Pretendard"/>
              </a:rPr>
              <a:t>각 작업을 반복성(고/저) × 창의성(고/저)으로 배치한다.</a:t>
            </a:r>
          </a:p>
        </p:txBody>
      </p:sp>
      <p:sp>
        <p:nvSpPr>
          <p:cNvPr id="105" name="c2"/>
          <p:cNvSpPr txBox="1"/>
          <p:nvPr/>
        </p:nvSpPr>
        <p:spPr>
          <a:xfrm>
            <a:off x="990600" y="4140200"/>
            <a:ext cx="609600" cy="609600"/>
          </a:xfrm>
          <a:prstGeom prst="ellipse">
            <a:avLst/>
          </a:prstGeom>
          <a:solidFill>
            <a:srgbClr val="1D4E89"/>
          </a:solidFill>
          <a:ln w="38100">
            <a:solidFill>
              <a:srgbClr val="F4F6FB"/>
            </a:solidFill>
          </a:ln>
        </p:spPr>
        <p:txBody>
          <a:bodyPr wrap="none" lIns="0" tIns="0" rIns="0" bIns="0" anchor="ctr"/>
          <a:lstStyle/>
          <a:p>
            <a:pPr algn="ctr"/>
            <a:r>
              <a:rPr lang="en-US" sz="1900" b="1" dirty="0">
                <a:solidFill>
                  <a:srgbClr val="FFFFFF"/>
                </a:solidFill>
                <a:latin typeface="Noto Serif KR"/>
                <a:ea typeface="Noto Serif KR"/>
              </a:rPr>
              <a:t>3</a:t>
            </a:r>
          </a:p>
        </p:txBody>
      </p:sp>
      <p:sp>
        <p:nvSpPr>
          <p:cNvPr id="106" name="t2"/>
          <p:cNvSpPr txBox="1"/>
          <p:nvPr/>
        </p:nvSpPr>
        <p:spPr>
          <a:xfrm>
            <a:off x="1905000" y="3987800"/>
            <a:ext cx="9461500" cy="914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spcAft>
                <a:spcPts val="300"/>
              </a:spcAft>
            </a:pPr>
            <a:r>
              <a:rPr lang="ko-KR" sz="1700" b="1" dirty="0">
                <a:solidFill>
                  <a:srgbClr val="14213D"/>
                </a:solidFill>
                <a:latin typeface="Pretendard"/>
                <a:ea typeface="Pretendard"/>
              </a:rPr>
              <a:t>1순위 표시</a:t>
            </a:r>
          </a:p>
          <a:p>
            <a:r>
              <a:rPr lang="ko-KR" sz="1400" dirty="0">
                <a:solidFill>
                  <a:srgbClr val="576176"/>
                </a:solidFill>
                <a:latin typeface="Pretendard"/>
                <a:ea typeface="Pretendard"/>
              </a:rPr>
              <a:t>반복성 高 · 창의성 低 = 자동화 1순위로 표시한다.</a:t>
            </a:r>
          </a:p>
        </p:txBody>
      </p:sp>
      <p:sp>
        <p:nvSpPr>
          <p:cNvPr id="107" name="c3"/>
          <p:cNvSpPr txBox="1"/>
          <p:nvPr/>
        </p:nvSpPr>
        <p:spPr>
          <a:xfrm>
            <a:off x="990600" y="5232400"/>
            <a:ext cx="609600" cy="609600"/>
          </a:xfrm>
          <a:prstGeom prst="ellipse">
            <a:avLst/>
          </a:prstGeom>
          <a:solidFill>
            <a:srgbClr val="1D4E89"/>
          </a:solidFill>
          <a:ln w="38100">
            <a:solidFill>
              <a:srgbClr val="F4F6FB"/>
            </a:solidFill>
          </a:ln>
        </p:spPr>
        <p:txBody>
          <a:bodyPr wrap="none" lIns="0" tIns="0" rIns="0" bIns="0" anchor="ctr"/>
          <a:lstStyle/>
          <a:p>
            <a:pPr algn="ctr"/>
            <a:r>
              <a:rPr lang="en-US" sz="1900" b="1" dirty="0">
                <a:solidFill>
                  <a:srgbClr val="FFFFFF"/>
                </a:solidFill>
                <a:latin typeface="Noto Serif KR"/>
                <a:ea typeface="Noto Serif KR"/>
              </a:rPr>
              <a:t>4</a:t>
            </a:r>
          </a:p>
        </p:txBody>
      </p:sp>
      <p:sp>
        <p:nvSpPr>
          <p:cNvPr id="108" name="t3"/>
          <p:cNvSpPr txBox="1"/>
          <p:nvPr/>
        </p:nvSpPr>
        <p:spPr>
          <a:xfrm>
            <a:off x="1905000" y="5080000"/>
            <a:ext cx="9461500" cy="914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spcAft>
                <a:spcPts val="300"/>
              </a:spcAft>
            </a:pPr>
            <a:r>
              <a:rPr lang="ko-KR" sz="1700" b="1" dirty="0">
                <a:solidFill>
                  <a:srgbClr val="14213D"/>
                </a:solidFill>
                <a:latin typeface="Pretendard"/>
                <a:ea typeface="Pretendard"/>
              </a:rPr>
              <a:t>시간 수치화</a:t>
            </a:r>
          </a:p>
          <a:p>
            <a:r>
              <a:rPr lang="ko-KR" sz="1400" dirty="0">
                <a:solidFill>
                  <a:srgbClr val="576176"/>
                </a:solidFill>
                <a:latin typeface="Pretendard"/>
                <a:ea typeface="Pretendard"/>
              </a:rPr>
              <a:t>현재 소요시간 vs AI 도입 후 예상시간을 숫자로 적는다.</a:t>
            </a:r>
          </a:p>
        </p:txBody>
      </p:sp>
      <p:pic>
        <p:nvPicPr>
          <p:cNvPr id="4" name="Picture 16">
            <a:extLst>
              <a:ext uri="{FF2B5EF4-FFF2-40B4-BE49-F238E27FC236}">
                <a16:creationId xmlns:a16="http://schemas.microsoft.com/office/drawing/2014/main" id="{7AF59ECC-EEF1-8D23-1FD2-B572040BA7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0700000">
            <a:off x="9140951" y="2546841"/>
            <a:ext cx="2292096" cy="4405919"/>
          </a:xfrm>
          <a:prstGeom prst="rect">
            <a:avLst/>
          </a:prstGeom>
        </p:spPr>
      </p:pic>
      <p:sp>
        <p:nvSpPr>
          <p:cNvPr id="5" name="PageNumber">
            <a:extLst>
              <a:ext uri="{FF2B5EF4-FFF2-40B4-BE49-F238E27FC236}">
                <a16:creationId xmlns:a16="http://schemas.microsoft.com/office/drawing/2014/main" id="{3A9DD075-F134-AC4E-A141-BA9EFB974437}"/>
              </a:ext>
            </a:extLst>
          </p:cNvPr>
          <p:cNvSpPr txBox="1"/>
          <p:nvPr/>
        </p:nvSpPr>
        <p:spPr>
          <a:xfrm>
            <a:off x="9499600" y="6489700"/>
            <a:ext cx="23368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r"/>
            <a:r>
              <a:rPr lang="en-US" altLang="ko-KR" sz="1200">
                <a:solidFill>
                  <a:srgbClr val="576176"/>
                </a:solidFill>
                <a:latin typeface="Pretendard"/>
              </a:rPr>
              <a:t>- 11/144 -</a:t>
            </a:r>
            <a:endParaRPr lang="ko-KR" altLang="en-US" sz="1200">
              <a:solidFill>
                <a:srgbClr val="576176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24321270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실습 프롬프트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업무 진단 보조 프롬프트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438400"/>
            <a:ext cx="10332720" cy="3810000"/>
          </a:xfrm>
          <a:prstGeom prst="rect">
            <a:avLst/>
          </a:prstGeom>
          <a:solidFill>
            <a:srgbClr val="10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11480" tIns="502920" rIns="365760" bIns="320040" rtlCol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너는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중소기업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홍보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담당자의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업무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컨설턴트야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아래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업무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목록을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endParaRPr lang="en-US" sz="1600" dirty="0">
              <a:solidFill>
                <a:srgbClr val="E8EEFA"/>
              </a:solidFill>
              <a:latin typeface="JetBrains Mono"/>
              <a:ea typeface="JetBrains Mono"/>
              <a:cs typeface="JetBrains Mono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(1)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반복성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(2) AI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자동화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적합도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(3)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추천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도구로</a:t>
            </a:r>
            <a:endParaRPr sz="1600" dirty="0">
              <a:solidFill>
                <a:srgbClr val="E8EEFA"/>
              </a:solidFill>
              <a:latin typeface="JetBrains Mono"/>
              <a:ea typeface="JetBrains Mono"/>
              <a:cs typeface="JetBrains Mono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1~5점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표를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만들어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정리하고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자동화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우선순위를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제안해줘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[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업무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목록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]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-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매주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인스타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게시글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3건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작성</a:t>
            </a:r>
            <a:endParaRPr sz="1600" dirty="0">
              <a:solidFill>
                <a:srgbClr val="E8EEFA"/>
              </a:solidFill>
              <a:latin typeface="JetBrains Mono"/>
              <a:ea typeface="JetBrains Mono"/>
              <a:cs typeface="JetBrains Mono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-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월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1회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보도자료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작성</a:t>
            </a:r>
            <a:endParaRPr sz="1600" dirty="0">
              <a:solidFill>
                <a:srgbClr val="E8EEFA"/>
              </a:solidFill>
              <a:latin typeface="JetBrains Mono"/>
              <a:ea typeface="JetBrains Mono"/>
              <a:cs typeface="JetBrains Mono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-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행사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안내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카드뉴스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제작</a:t>
            </a:r>
            <a:endParaRPr sz="1600" dirty="0">
              <a:solidFill>
                <a:srgbClr val="E8EEFA"/>
              </a:solidFill>
              <a:latin typeface="JetBrains Mono"/>
              <a:ea typeface="JetBrains Mono"/>
              <a:cs typeface="JetBrains Mono"/>
            </a:endParaRPr>
          </a:p>
        </p:txBody>
      </p:sp>
      <p:sp>
        <p:nvSpPr>
          <p:cNvPr id="120" name="hbar"/>
          <p:cNvSpPr txBox="1"/>
          <p:nvPr/>
        </p:nvSpPr>
        <p:spPr>
          <a:xfrm>
            <a:off x="914400" y="2006600"/>
            <a:ext cx="10337800" cy="431800"/>
          </a:xfrm>
          <a:prstGeom prst="rect">
            <a:avLst/>
          </a:prstGeom>
          <a:solidFill>
            <a:srgbClr val="0C1323"/>
          </a:solidFill>
          <a:ln>
            <a:noFill/>
          </a:ln>
        </p:spPr>
        <p:txBody>
          <a:bodyPr lIns="990600" tIns="0" rIns="203200" bIns="0" anchor="ctr"/>
          <a:lstStyle/>
          <a:p>
            <a:pPr algn="r"/>
            <a:r>
              <a:rPr lang="ko-KR" sz="1400" dirty="0">
                <a:solidFill>
                  <a:srgbClr val="BFD2EC"/>
                </a:solidFill>
                <a:latin typeface="JetBrains Mono"/>
                <a:ea typeface="JetBrains Mono"/>
              </a:rPr>
              <a:t>prompt.txt · 복사해서 그대로 사용</a:t>
            </a:r>
          </a:p>
        </p:txBody>
      </p:sp>
      <p:sp>
        <p:nvSpPr>
          <p:cNvPr id="121" name="dot0"/>
          <p:cNvSpPr/>
          <p:nvPr/>
        </p:nvSpPr>
        <p:spPr>
          <a:xfrm>
            <a:off x="1117600" y="2159000"/>
            <a:ext cx="127000" cy="127000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2" name="dot1"/>
          <p:cNvSpPr/>
          <p:nvPr/>
        </p:nvSpPr>
        <p:spPr>
          <a:xfrm>
            <a:off x="1320800" y="2159000"/>
            <a:ext cx="127000" cy="127000"/>
          </a:xfrm>
          <a:prstGeom prst="ellipse">
            <a:avLst/>
          </a:prstGeom>
          <a:solidFill>
            <a:srgbClr val="6E8FB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3" name="dot2"/>
          <p:cNvSpPr/>
          <p:nvPr/>
        </p:nvSpPr>
        <p:spPr>
          <a:xfrm>
            <a:off x="1524000" y="2159000"/>
            <a:ext cx="127000" cy="127000"/>
          </a:xfrm>
          <a:prstGeom prst="ellipse">
            <a:avLst/>
          </a:prstGeom>
          <a:solidFill>
            <a:srgbClr val="415F8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4" name="cap"/>
          <p:cNvSpPr txBox="1"/>
          <p:nvPr/>
        </p:nvSpPr>
        <p:spPr>
          <a:xfrm>
            <a:off x="914400" y="1600200"/>
            <a:ext cx="10337800" cy="3302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r>
              <a:rPr lang="ko-KR" sz="1400" b="1" dirty="0">
                <a:solidFill>
                  <a:srgbClr val="C77F1A"/>
                </a:solidFill>
                <a:latin typeface="JetBrains Mono"/>
                <a:ea typeface="JetBrains Mono"/>
              </a:rPr>
              <a:t>TIP — </a:t>
            </a:r>
            <a:r>
              <a:rPr lang="ko-KR" sz="1400" dirty="0">
                <a:solidFill>
                  <a:srgbClr val="576176"/>
                </a:solidFill>
                <a:latin typeface="Pretendard"/>
                <a:ea typeface="Pretendard"/>
              </a:rPr>
              <a:t>[대괄호] 부분만 내 업무로 바꿔 그대로 붙여넣으세요.</a:t>
            </a:r>
          </a:p>
        </p:txBody>
      </p:sp>
      <p:pic>
        <p:nvPicPr>
          <p:cNvPr id="5" name="Picture 16">
            <a:extLst>
              <a:ext uri="{FF2B5EF4-FFF2-40B4-BE49-F238E27FC236}">
                <a16:creationId xmlns:a16="http://schemas.microsoft.com/office/drawing/2014/main" id="{5AD05FC3-691C-75E8-E1EE-813DAB73C2D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9199984" y="4736480"/>
            <a:ext cx="1809044" cy="1664320"/>
          </a:xfrm>
          <a:prstGeom prst="rect">
            <a:avLst/>
          </a:prstGeom>
        </p:spPr>
      </p:pic>
      <p:sp>
        <p:nvSpPr>
          <p:cNvPr id="6" name="PageNumber">
            <a:extLst>
              <a:ext uri="{FF2B5EF4-FFF2-40B4-BE49-F238E27FC236}">
                <a16:creationId xmlns:a16="http://schemas.microsoft.com/office/drawing/2014/main" id="{351388E1-43F0-C245-ADCA-822008CCDC59}"/>
              </a:ext>
            </a:extLst>
          </p:cNvPr>
          <p:cNvSpPr txBox="1"/>
          <p:nvPr/>
        </p:nvSpPr>
        <p:spPr>
          <a:xfrm>
            <a:off x="9499600" y="6489700"/>
            <a:ext cx="23368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r"/>
            <a:r>
              <a:rPr lang="en-US" altLang="ko-KR" sz="1200">
                <a:solidFill>
                  <a:srgbClr val="576176"/>
                </a:solidFill>
                <a:latin typeface="Pretendard"/>
              </a:rPr>
              <a:t>- 12/144 -</a:t>
            </a:r>
            <a:endParaRPr lang="ko-KR" altLang="en-US" sz="1200">
              <a:solidFill>
                <a:srgbClr val="576176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11159892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실제 입력 → 출력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실제 예시 — 업무 진단표가 이렇게 나온다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783080"/>
            <a:ext cx="10332720" cy="1874519"/>
          </a:xfrm>
          <a:prstGeom prst="rect">
            <a:avLst/>
          </a:prstGeom>
          <a:solidFill>
            <a:srgbClr val="10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502920" rIns="320040" rtlCol="0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4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아래</a:t>
            </a:r>
            <a:r>
              <a:rPr sz="14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4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업무를</a:t>
            </a:r>
            <a:r>
              <a:rPr sz="14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(1)</a:t>
            </a:r>
            <a:r>
              <a:rPr sz="14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반복성</a:t>
            </a:r>
            <a:r>
              <a:rPr sz="14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(2)AI </a:t>
            </a:r>
            <a:r>
              <a:rPr sz="14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적합도</a:t>
            </a:r>
            <a:r>
              <a:rPr sz="14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(3)</a:t>
            </a:r>
            <a:r>
              <a:rPr sz="14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추천도구로</a:t>
            </a:r>
            <a:r>
              <a:rPr sz="14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1~5점 </a:t>
            </a:r>
            <a:r>
              <a:rPr sz="14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표로</a:t>
            </a:r>
            <a:r>
              <a:rPr sz="14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4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만들고</a:t>
            </a:r>
            <a:r>
              <a:rPr sz="14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4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우선순위를</a:t>
            </a:r>
            <a:r>
              <a:rPr sz="14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4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제안해줘</a:t>
            </a:r>
            <a:r>
              <a:rPr sz="14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4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- </a:t>
            </a:r>
            <a:r>
              <a:rPr sz="14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매주</a:t>
            </a:r>
            <a:r>
              <a:rPr sz="14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4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인스타</a:t>
            </a:r>
            <a:r>
              <a:rPr sz="14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4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게시글</a:t>
            </a:r>
            <a:r>
              <a:rPr sz="14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3건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100"/>
              </a:spcAft>
            </a:pPr>
            <a:r>
              <a:rPr sz="14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- </a:t>
            </a:r>
            <a:r>
              <a:rPr sz="14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월</a:t>
            </a:r>
            <a:r>
              <a:rPr sz="14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1회 </a:t>
            </a:r>
            <a:r>
              <a:rPr sz="14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보도자료</a:t>
            </a:r>
            <a:endParaRPr sz="1400" dirty="0">
              <a:solidFill>
                <a:srgbClr val="E8EEFA"/>
              </a:solidFill>
              <a:latin typeface="JetBrains Mono"/>
              <a:ea typeface="JetBrains Mono"/>
              <a:cs typeface="JetBrains Mono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4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- </a:t>
            </a:r>
            <a:r>
              <a:rPr sz="14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행사</a:t>
            </a:r>
            <a:r>
              <a:rPr sz="14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4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카드뉴스</a:t>
            </a:r>
            <a:endParaRPr sz="1400" dirty="0">
              <a:solidFill>
                <a:srgbClr val="E8EEFA"/>
              </a:solidFill>
              <a:latin typeface="JetBrains Mono"/>
              <a:ea typeface="JetBrains Mono"/>
              <a:cs typeface="JetBrains Mono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14400" y="1783080"/>
            <a:ext cx="2011680" cy="329184"/>
          </a:xfrm>
          <a:prstGeom prst="rect">
            <a:avLst/>
          </a:prstGeom>
          <a:solidFill>
            <a:srgbClr val="243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400"/>
              </a:spcAft>
            </a:pPr>
            <a:r>
              <a:rPr sz="1400" b="0">
                <a:solidFill>
                  <a:srgbClr val="E8A33D"/>
                </a:solidFill>
                <a:latin typeface="JetBrains Mono"/>
                <a:ea typeface="JetBrains Mono"/>
                <a:cs typeface="JetBrains Mono"/>
              </a:rPr>
              <a:t>▸ 입력 프롬프트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794760"/>
            <a:ext cx="10332720" cy="2514600"/>
          </a:xfrm>
          <a:prstGeom prst="rect">
            <a:avLst/>
          </a:prstGeom>
          <a:solidFill>
            <a:srgbClr val="FBFCFE"/>
          </a:solidFill>
          <a:ln w="12700">
            <a:solidFill>
              <a:srgbClr val="E9EC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502920" rIns="320040" rtlCol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endParaRPr sz="1400">
              <a:solidFill>
                <a:srgbClr val="1D4E89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14400" y="3794760"/>
            <a:ext cx="1828800" cy="329184"/>
          </a:xfrm>
          <a:prstGeom prst="rect">
            <a:avLst/>
          </a:prstGeom>
          <a:solidFill>
            <a:srgbClr val="DCE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384048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400"/>
              </a:spcAft>
            </a:pPr>
            <a:r>
              <a:rPr sz="14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▸ 나온 결과(예)</a:t>
            </a:r>
          </a:p>
        </p:txBody>
      </p:sp>
      <p:sp>
        <p:nvSpPr>
          <p:cNvPr id="140" name="flowdot"/>
          <p:cNvSpPr txBox="1"/>
          <p:nvPr/>
        </p:nvSpPr>
        <p:spPr>
          <a:xfrm>
            <a:off x="5892800" y="3530600"/>
            <a:ext cx="381000" cy="381000"/>
          </a:xfrm>
          <a:prstGeom prst="ellipse">
            <a:avLst/>
          </a:prstGeom>
          <a:solidFill>
            <a:srgbClr val="E8A33D"/>
          </a:solidFill>
          <a:ln w="25400">
            <a:solidFill>
              <a:srgbClr val="F4F6FB"/>
            </a:solidFill>
          </a:ln>
        </p:spPr>
        <p:txBody>
          <a:bodyPr wrap="none" lIns="0" tIns="0" rIns="0" bIns="0" anchor="ctr"/>
          <a:lstStyle/>
          <a:p>
            <a:pPr algn="ctr"/>
            <a:r>
              <a:rPr lang="en-US" sz="1400" b="1" dirty="0">
                <a:solidFill>
                  <a:srgbClr val="14213D"/>
                </a:solidFill>
                <a:latin typeface="Pretendard"/>
                <a:ea typeface="Pretendard"/>
              </a:rPr>
              <a:t>↓</a:t>
            </a: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7B6DFE08-8B61-AD49-BB6C-12821FC2BE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9536496"/>
              </p:ext>
            </p:extLst>
          </p:nvPr>
        </p:nvGraphicFramePr>
        <p:xfrm>
          <a:off x="1117601" y="4267200"/>
          <a:ext cx="6934200" cy="132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0179">
                  <a:extLst>
                    <a:ext uri="{9D8B030D-6E8A-4147-A177-3AD203B41FA5}">
                      <a16:colId xmlns:a16="http://schemas.microsoft.com/office/drawing/2014/main" val="469249606"/>
                    </a:ext>
                  </a:extLst>
                </a:gridCol>
                <a:gridCol w="975399">
                  <a:extLst>
                    <a:ext uri="{9D8B030D-6E8A-4147-A177-3AD203B41FA5}">
                      <a16:colId xmlns:a16="http://schemas.microsoft.com/office/drawing/2014/main" val="303861467"/>
                    </a:ext>
                  </a:extLst>
                </a:gridCol>
                <a:gridCol w="1418762">
                  <a:extLst>
                    <a:ext uri="{9D8B030D-6E8A-4147-A177-3AD203B41FA5}">
                      <a16:colId xmlns:a16="http://schemas.microsoft.com/office/drawing/2014/main" val="3016539401"/>
                    </a:ext>
                  </a:extLst>
                </a:gridCol>
                <a:gridCol w="1879860">
                  <a:extLst>
                    <a:ext uri="{9D8B030D-6E8A-4147-A177-3AD203B41FA5}">
                      <a16:colId xmlns:a16="http://schemas.microsoft.com/office/drawing/2014/main" val="371071931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1">
                          <a:solidFill>
                            <a:srgbClr val="FFFFFF"/>
                          </a:solidFill>
                          <a:latin typeface="Pretendard"/>
                        </a:rPr>
                        <a:t>업무</a:t>
                      </a:r>
                    </a:p>
                  </a:txBody>
                  <a:tcPr anchor="ctr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1">
                          <a:solidFill>
                            <a:srgbClr val="FFFFFF"/>
                          </a:solidFill>
                          <a:latin typeface="Pretendard"/>
                        </a:rPr>
                        <a:t>반복성</a:t>
                      </a:r>
                    </a:p>
                  </a:txBody>
                  <a:tcPr anchor="ctr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1">
                          <a:solidFill>
                            <a:srgbClr val="FFFFFF"/>
                          </a:solidFill>
                          <a:latin typeface="Pretendard"/>
                        </a:rPr>
                        <a:t>AI 적합도</a:t>
                      </a:r>
                    </a:p>
                  </a:txBody>
                  <a:tcPr anchor="ctr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1">
                          <a:solidFill>
                            <a:srgbClr val="FFFFFF"/>
                          </a:solidFill>
                          <a:latin typeface="Pretendard"/>
                        </a:rPr>
                        <a:t>추천 도구</a:t>
                      </a:r>
                    </a:p>
                  </a:txBody>
                  <a:tcPr anchor="ctr">
                    <a:solidFill>
                      <a:srgbClr val="1421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3994859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1" dirty="0">
                          <a:solidFill>
                            <a:srgbClr val="14213D"/>
                          </a:solidFill>
                          <a:latin typeface="Pretendard"/>
                        </a:rPr>
                        <a:t>인스타 게시글</a:t>
                      </a:r>
                    </a:p>
                  </a:txBody>
                  <a:tcPr anchor="ctr">
                    <a:solidFill>
                      <a:srgbClr val="FBEF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0">
                          <a:solidFill>
                            <a:srgbClr val="14213D"/>
                          </a:solidFill>
                          <a:latin typeface="Pretendard"/>
                        </a:rPr>
                        <a:t>5</a:t>
                      </a:r>
                    </a:p>
                  </a:txBody>
                  <a:tcPr anchor="ctr">
                    <a:solidFill>
                      <a:srgbClr val="FBEF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0">
                          <a:solidFill>
                            <a:srgbClr val="14213D"/>
                          </a:solidFill>
                          <a:latin typeface="Pretendard"/>
                        </a:rPr>
                        <a:t>5</a:t>
                      </a:r>
                    </a:p>
                  </a:txBody>
                  <a:tcPr anchor="ctr">
                    <a:solidFill>
                      <a:srgbClr val="FBEF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0">
                          <a:solidFill>
                            <a:srgbClr val="14213D"/>
                          </a:solidFill>
                          <a:latin typeface="Pretendard"/>
                        </a:rPr>
                        <a:t>ChatGPT</a:t>
                      </a:r>
                    </a:p>
                  </a:txBody>
                  <a:tcPr anchor="ctr">
                    <a:solidFill>
                      <a:srgbClr val="FBEF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572132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1">
                          <a:solidFill>
                            <a:srgbClr val="14213D"/>
                          </a:solidFill>
                          <a:latin typeface="Pretendard"/>
                        </a:rPr>
                        <a:t>보도자료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0">
                          <a:solidFill>
                            <a:srgbClr val="14213D"/>
                          </a:solidFill>
                          <a:latin typeface="Pretendard"/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0">
                          <a:solidFill>
                            <a:srgbClr val="14213D"/>
                          </a:solidFill>
                          <a:latin typeface="Pretendard"/>
                        </a:rP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0">
                          <a:solidFill>
                            <a:srgbClr val="14213D"/>
                          </a:solidFill>
                          <a:latin typeface="Pretendard"/>
                        </a:rPr>
                        <a:t>Claude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7316567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1">
                          <a:solidFill>
                            <a:srgbClr val="14213D"/>
                          </a:solidFill>
                          <a:latin typeface="Pretendard"/>
                        </a:rPr>
                        <a:t>행사 카드뉴스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0">
                          <a:solidFill>
                            <a:srgbClr val="14213D"/>
                          </a:solidFill>
                          <a:latin typeface="Pretendard"/>
                        </a:rP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0">
                          <a:solidFill>
                            <a:srgbClr val="14213D"/>
                          </a:solidFill>
                          <a:latin typeface="Pretendard"/>
                        </a:rP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0" dirty="0" err="1">
                          <a:solidFill>
                            <a:srgbClr val="14213D"/>
                          </a:solidFill>
                          <a:latin typeface="Pretendard"/>
                        </a:rPr>
                        <a:t>ChatGPT</a:t>
                      </a:r>
                      <a:r>
                        <a:rPr lang="ko-KR" altLang="en-US" sz="1400" b="0" dirty="0">
                          <a:solidFill>
                            <a:srgbClr val="14213D"/>
                          </a:solidFill>
                          <a:latin typeface="Pretendard"/>
                        </a:rPr>
                        <a:t> + </a:t>
                      </a:r>
                      <a:r>
                        <a:rPr lang="ko-KR" altLang="en-US" sz="1400" b="0" dirty="0" err="1">
                          <a:solidFill>
                            <a:srgbClr val="14213D"/>
                          </a:solidFill>
                          <a:latin typeface="Pretendard"/>
                        </a:rPr>
                        <a:t>Canva</a:t>
                      </a:r>
                      <a:endParaRPr lang="ko-KR" altLang="en-US" sz="1400" b="0" dirty="0">
                        <a:solidFill>
                          <a:srgbClr val="14213D"/>
                        </a:solidFill>
                        <a:latin typeface="Pretendard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6757662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D25D1517-766A-6745-A67E-3655C9E954F7}"/>
              </a:ext>
            </a:extLst>
          </p:cNvPr>
          <p:cNvSpPr txBox="1"/>
          <p:nvPr/>
        </p:nvSpPr>
        <p:spPr>
          <a:xfrm>
            <a:off x="1117600" y="5740400"/>
            <a:ext cx="9931400" cy="406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ko-KR" altLang="en-US" sz="1400" b="1">
                <a:solidFill>
                  <a:srgbClr val="1D4E89"/>
                </a:solidFill>
                <a:latin typeface="Pretendard"/>
              </a:rPr>
              <a:t>→ </a:t>
            </a:r>
            <a:r>
              <a:rPr lang="en-US" altLang="ko-KR" sz="1400" b="1">
                <a:solidFill>
                  <a:srgbClr val="1D4E89"/>
                </a:solidFill>
                <a:latin typeface="Pretendard"/>
              </a:rPr>
              <a:t>1</a:t>
            </a:r>
            <a:r>
              <a:rPr lang="ko-KR" altLang="en-US" sz="1400" b="1">
                <a:solidFill>
                  <a:srgbClr val="1D4E89"/>
                </a:solidFill>
                <a:latin typeface="Pretendard"/>
              </a:rPr>
              <a:t>순위</a:t>
            </a:r>
            <a:r>
              <a:rPr lang="en-US" altLang="ko-KR" sz="1400" b="1">
                <a:solidFill>
                  <a:srgbClr val="1D4E89"/>
                </a:solidFill>
                <a:latin typeface="Pretendard"/>
              </a:rPr>
              <a:t>: </a:t>
            </a:r>
            <a:r>
              <a:rPr lang="ko-KR" altLang="en-US" sz="1400" b="1">
                <a:solidFill>
                  <a:srgbClr val="1D4E89"/>
                </a:solidFill>
                <a:latin typeface="Pretendard"/>
              </a:rPr>
              <a:t>매주 인스타 게시글 </a:t>
            </a:r>
            <a:r>
              <a:rPr lang="en-US" altLang="ko-KR" sz="1400" b="1">
                <a:solidFill>
                  <a:srgbClr val="1D4E89"/>
                </a:solidFill>
                <a:latin typeface="Pretendard"/>
              </a:rPr>
              <a:t>(</a:t>
            </a:r>
            <a:r>
              <a:rPr lang="ko-KR" altLang="en-US" sz="1400" b="1">
                <a:solidFill>
                  <a:srgbClr val="1D4E89"/>
                </a:solidFill>
                <a:latin typeface="Pretendard"/>
              </a:rPr>
              <a:t>반복 </a:t>
            </a:r>
            <a:r>
              <a:rPr lang="en-US" altLang="ko-KR" sz="1400" b="1">
                <a:solidFill>
                  <a:srgbClr val="1D4E89"/>
                </a:solidFill>
                <a:latin typeface="Pretendard"/>
              </a:rPr>
              <a:t>5 · </a:t>
            </a:r>
            <a:r>
              <a:rPr lang="ko-KR" altLang="en-US" sz="1400" b="1">
                <a:solidFill>
                  <a:srgbClr val="1D4E89"/>
                </a:solidFill>
                <a:latin typeface="Pretendard"/>
              </a:rPr>
              <a:t>적합 </a:t>
            </a:r>
            <a:r>
              <a:rPr lang="en-US" altLang="ko-KR" sz="1400" b="1">
                <a:solidFill>
                  <a:srgbClr val="1D4E89"/>
                </a:solidFill>
                <a:latin typeface="Pretendard"/>
              </a:rPr>
              <a:t>5). </a:t>
            </a:r>
            <a:r>
              <a:rPr lang="ko-KR" altLang="en-US" sz="1400" b="1">
                <a:solidFill>
                  <a:srgbClr val="1D4E89"/>
                </a:solidFill>
                <a:latin typeface="Pretendard"/>
              </a:rPr>
              <a:t>여기부터 자동화 권장</a:t>
            </a:r>
            <a:r>
              <a:rPr lang="en-US" altLang="ko-KR" sz="1400" b="1">
                <a:solidFill>
                  <a:srgbClr val="1D4E89"/>
                </a:solidFill>
                <a:latin typeface="Pretendard"/>
              </a:rPr>
              <a:t>.</a:t>
            </a:r>
            <a:endParaRPr lang="ko-KR" altLang="en-US" sz="1400" b="1">
              <a:solidFill>
                <a:srgbClr val="1D4E89"/>
              </a:solidFill>
              <a:latin typeface="Pretendard"/>
            </a:endParaRPr>
          </a:p>
        </p:txBody>
      </p:sp>
      <p:sp>
        <p:nvSpPr>
          <p:cNvPr id="10" name="PageNumber">
            <a:extLst>
              <a:ext uri="{FF2B5EF4-FFF2-40B4-BE49-F238E27FC236}">
                <a16:creationId xmlns:a16="http://schemas.microsoft.com/office/drawing/2014/main" id="{4A9027C2-D0A8-0143-BC18-F8560C58DFF6}"/>
              </a:ext>
            </a:extLst>
          </p:cNvPr>
          <p:cNvSpPr txBox="1"/>
          <p:nvPr/>
        </p:nvSpPr>
        <p:spPr>
          <a:xfrm>
            <a:off x="9499600" y="6489700"/>
            <a:ext cx="23368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r"/>
            <a:r>
              <a:rPr lang="en-US" altLang="ko-KR" sz="1200">
                <a:solidFill>
                  <a:srgbClr val="576176"/>
                </a:solidFill>
                <a:latin typeface="Pretendard"/>
              </a:rPr>
              <a:t>- 13/144 -</a:t>
            </a:r>
            <a:endParaRPr lang="ko-KR" altLang="en-US" sz="1200">
              <a:solidFill>
                <a:srgbClr val="576176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35912826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정리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생성형 AI의 개념과 홍보 업무의 변화</a:t>
            </a:r>
          </a:p>
        </p:txBody>
      </p:sp>
      <p:sp>
        <p:nvSpPr>
          <p:cNvPr id="100" name="cardA"/>
          <p:cNvSpPr/>
          <p:nvPr/>
        </p:nvSpPr>
        <p:spPr>
          <a:xfrm>
            <a:off x="825500" y="1930400"/>
            <a:ext cx="10541000" cy="2489200"/>
          </a:xfrm>
          <a:prstGeom prst="roundRect">
            <a:avLst>
              <a:gd name="adj" fmla="val 4000"/>
            </a:avLst>
          </a:prstGeom>
          <a:solidFill>
            <a:srgbClr val="FBF3E3"/>
          </a:solidFill>
          <a:ln w="12700">
            <a:solidFill>
              <a:srgbClr val="EAC48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1" name="hA"/>
          <p:cNvSpPr txBox="1"/>
          <p:nvPr/>
        </p:nvSpPr>
        <p:spPr>
          <a:xfrm>
            <a:off x="1676400" y="2184400"/>
            <a:ext cx="5080000" cy="4064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r>
              <a:rPr lang="ko-KR" sz="1700" b="1" dirty="0">
                <a:solidFill>
                  <a:srgbClr val="B5781B"/>
                </a:solidFill>
                <a:latin typeface="Pretendard"/>
                <a:ea typeface="Pretendard"/>
              </a:rPr>
              <a:t>흔한 실수</a:t>
            </a:r>
          </a:p>
        </p:txBody>
      </p:sp>
      <p:sp>
        <p:nvSpPr>
          <p:cNvPr id="102" name="iA"/>
          <p:cNvSpPr txBox="1"/>
          <p:nvPr/>
        </p:nvSpPr>
        <p:spPr>
          <a:xfrm>
            <a:off x="1168400" y="2743200"/>
            <a:ext cx="9855200" cy="1473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200025" indent="-200025">
              <a:lnSpc>
                <a:spcPct val="120000"/>
              </a:lnSpc>
              <a:spcAft>
                <a:spcPts val="700"/>
              </a:spcAft>
              <a:buFont typeface="Arial"/>
              <a:buChar char="•"/>
            </a:pPr>
            <a:r>
              <a:rPr lang="ko-KR" sz="1450" dirty="0">
                <a:solidFill>
                  <a:srgbClr val="14213D"/>
                </a:solidFill>
                <a:latin typeface="Pretendard"/>
                <a:ea typeface="Pretendard"/>
              </a:rPr>
              <a:t>AI 출력을 검수 없이 발행 → 환각·톤 불일치 사고. 발행 전 사람 검수는 비협상 원칙.</a:t>
            </a:r>
          </a:p>
          <a:p>
            <a:pPr marL="200025" indent="-200025">
              <a:lnSpc>
                <a:spcPct val="120000"/>
              </a:lnSpc>
              <a:spcAft>
                <a:spcPts val="700"/>
              </a:spcAft>
              <a:buFont typeface="Arial"/>
              <a:buChar char="•"/>
            </a:pPr>
            <a:r>
              <a:rPr lang="ko-KR" sz="1450" dirty="0">
                <a:solidFill>
                  <a:srgbClr val="14213D"/>
                </a:solidFill>
                <a:latin typeface="Pretendard"/>
                <a:ea typeface="Pretendard"/>
              </a:rPr>
              <a:t>“전부 자동화” 욕심 → 판단·창의 영역까지 맡기면 품질이 무너진다.</a:t>
            </a:r>
          </a:p>
        </p:txBody>
      </p:sp>
      <p:sp>
        <p:nvSpPr>
          <p:cNvPr id="103" name="cardB"/>
          <p:cNvSpPr/>
          <p:nvPr/>
        </p:nvSpPr>
        <p:spPr>
          <a:xfrm>
            <a:off x="825500" y="4724400"/>
            <a:ext cx="10541000" cy="1549400"/>
          </a:xfrm>
          <a:prstGeom prst="roundRect">
            <a:avLst>
              <a:gd name="adj" fmla="val 6000"/>
            </a:avLst>
          </a:prstGeom>
          <a:solidFill>
            <a:srgbClr val="14213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B"/>
          <p:cNvSpPr txBox="1"/>
          <p:nvPr/>
        </p:nvSpPr>
        <p:spPr>
          <a:xfrm>
            <a:off x="1778000" y="4927600"/>
            <a:ext cx="9144000" cy="1143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spcAft>
                <a:spcPts val="300"/>
              </a:spcAft>
            </a:pPr>
            <a:r>
              <a:rPr lang="ko-KR" sz="1400" b="1" dirty="0">
                <a:solidFill>
                  <a:srgbClr val="E8A33D"/>
                </a:solidFill>
                <a:latin typeface="JetBrains Mono"/>
                <a:ea typeface="JetBrains Mono"/>
              </a:rPr>
              <a:t>이 세션의 결과물</a:t>
            </a:r>
          </a:p>
          <a:p>
            <a:pPr>
              <a:lnSpc>
                <a:spcPct val="118000"/>
              </a:lnSpc>
            </a:pPr>
            <a:r>
              <a:rPr lang="ko-KR" sz="1600" b="1" dirty="0">
                <a:solidFill>
                  <a:srgbClr val="FFFFFF"/>
                </a:solidFill>
                <a:latin typeface="Pretendard"/>
                <a:ea typeface="Pretendard"/>
              </a:rPr>
              <a:t>반복업무 진단표 1장 — 업무·반복성·자동화 적합도·추천 도구·예상 절감시간.</a:t>
            </a:r>
          </a:p>
        </p:txBody>
      </p:sp>
      <p:pic>
        <p:nvPicPr>
          <p:cNvPr id="105" name="Graphic 105" descr="흔한 실수 경고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68400" y="2197100"/>
            <a:ext cx="381000" cy="381000"/>
          </a:xfrm>
          <a:prstGeom prst="rect">
            <a:avLst/>
          </a:prstGeom>
        </p:spPr>
      </p:pic>
      <p:pic>
        <p:nvPicPr>
          <p:cNvPr id="106" name="Graphic 106" descr="결과물 체크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8400" y="5308600"/>
            <a:ext cx="381000" cy="381000"/>
          </a:xfrm>
          <a:prstGeom prst="rect">
            <a:avLst/>
          </a:prstGeom>
        </p:spPr>
      </p:pic>
      <p:sp>
        <p:nvSpPr>
          <p:cNvPr id="4" name="PageNumber">
            <a:extLst>
              <a:ext uri="{FF2B5EF4-FFF2-40B4-BE49-F238E27FC236}">
                <a16:creationId xmlns:a16="http://schemas.microsoft.com/office/drawing/2014/main" id="{AFD16A0C-E7CF-6E4E-9E3B-AC98D3C281DC}"/>
              </a:ext>
            </a:extLst>
          </p:cNvPr>
          <p:cNvSpPr txBox="1"/>
          <p:nvPr/>
        </p:nvSpPr>
        <p:spPr>
          <a:xfrm>
            <a:off x="9499600" y="6489700"/>
            <a:ext cx="23368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r"/>
            <a:r>
              <a:rPr lang="en-US" altLang="ko-KR" sz="1200">
                <a:solidFill>
                  <a:srgbClr val="576176"/>
                </a:solidFill>
                <a:latin typeface="Pretendard"/>
              </a:rPr>
              <a:t>- 14/144 -</a:t>
            </a:r>
            <a:endParaRPr lang="ko-KR" altLang="en-US" sz="1200">
              <a:solidFill>
                <a:srgbClr val="576176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13714222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4E8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2960" y="2468880"/>
            <a:ext cx="822960" cy="10972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51560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800"/>
              </a:spcAft>
            </a:pPr>
            <a:r>
              <a:rPr sz="1400" b="0">
                <a:solidFill>
                  <a:srgbClr val="BFD2EC"/>
                </a:solidFill>
                <a:latin typeface="JetBrains Mono"/>
                <a:ea typeface="JetBrains Mono"/>
                <a:cs typeface="JetBrains Mono"/>
              </a:rPr>
              <a:t>세션 2</a:t>
            </a:r>
          </a:p>
          <a:p>
            <a:pPr algn="l">
              <a:lnSpc>
                <a:spcPct val="112000"/>
              </a:lnSpc>
              <a:spcBef>
                <a:spcPts val="600"/>
              </a:spcBef>
              <a:spcAft>
                <a:spcPts val="1200"/>
              </a:spcAft>
            </a:pPr>
            <a:r>
              <a:rPr sz="3200" b="1">
                <a:solidFill>
                  <a:srgbClr val="FFFFFF"/>
                </a:solidFill>
                <a:latin typeface="Noto Serif KR"/>
                <a:ea typeface="Noto Serif KR"/>
                <a:cs typeface="Noto Serif KR"/>
              </a:rPr>
              <a:t>중소기업 실무 적용 사례와 활용 포인트</a:t>
            </a:r>
          </a:p>
          <a:p>
            <a:pPr algn="l">
              <a:lnSpc>
                <a:spcPct val="140000"/>
              </a:lnSpc>
              <a:spcBef>
                <a:spcPts val="600"/>
              </a:spcBef>
              <a:spcAft>
                <a:spcPts val="400"/>
              </a:spcAft>
            </a:pPr>
            <a:r>
              <a:rPr sz="1600" b="0">
                <a:solidFill>
                  <a:srgbClr val="DBE6F6"/>
                </a:solidFill>
                <a:latin typeface="Pretendard"/>
                <a:ea typeface="Pretendard"/>
                <a:cs typeface="Pretendard"/>
              </a:rPr>
              <a:t>중소기업 현장의 적용 사례로 "효과 큰 한 곳"을 먼저 찾는다(스몰 윈 전략).</a:t>
            </a:r>
          </a:p>
        </p:txBody>
      </p:sp>
      <p:sp>
        <p:nvSpPr>
          <p:cNvPr id="120" name="num"/>
          <p:cNvSpPr txBox="1"/>
          <p:nvPr/>
        </p:nvSpPr>
        <p:spPr>
          <a:xfrm>
            <a:off x="8890000" y="508000"/>
            <a:ext cx="2476500" cy="1905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r>
              <a:rPr lang="en-US" sz="11000" b="1" dirty="0">
                <a:solidFill>
                  <a:srgbClr val="386397"/>
                </a:solidFill>
                <a:latin typeface="Noto Serif KR"/>
                <a:ea typeface="Noto Serif KR"/>
              </a:rPr>
              <a:t>02</a:t>
            </a:r>
          </a:p>
        </p:txBody>
      </p:sp>
      <p:sp>
        <p:nvSpPr>
          <p:cNvPr id="121" name="cap"/>
          <p:cNvSpPr txBox="1"/>
          <p:nvPr/>
        </p:nvSpPr>
        <p:spPr>
          <a:xfrm>
            <a:off x="825500" y="5257800"/>
            <a:ext cx="5080000" cy="3048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r>
              <a:rPr lang="ko-KR" sz="1400" b="1" dirty="0">
                <a:solidFill>
                  <a:srgbClr val="E8A33D"/>
                </a:solidFill>
                <a:latin typeface="JetBrains Mono"/>
                <a:ea typeface="JetBrains Mono"/>
              </a:rPr>
              <a:t>이 세션의 흐름</a:t>
            </a:r>
          </a:p>
        </p:txBody>
      </p:sp>
      <p:sp>
        <p:nvSpPr>
          <p:cNvPr id="122" name="chip0"/>
          <p:cNvSpPr/>
          <p:nvPr/>
        </p:nvSpPr>
        <p:spPr>
          <a:xfrm>
            <a:off x="825500" y="5638800"/>
            <a:ext cx="2387600" cy="533400"/>
          </a:xfrm>
          <a:prstGeom prst="roundRect">
            <a:avLst>
              <a:gd name="adj" fmla="val 20000"/>
            </a:avLst>
          </a:prstGeom>
          <a:solidFill>
            <a:srgbClr val="466E9E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ko-KR" sz="1400" b="1" dirty="0">
                <a:solidFill>
                  <a:srgbClr val="FFFFFF"/>
                </a:solidFill>
                <a:latin typeface="Pretendard"/>
                <a:ea typeface="Pretendard"/>
              </a:rPr>
              <a:t>적용 사례</a:t>
            </a:r>
          </a:p>
        </p:txBody>
      </p:sp>
      <p:sp>
        <p:nvSpPr>
          <p:cNvPr id="123" name="arr0"/>
          <p:cNvSpPr/>
          <p:nvPr/>
        </p:nvSpPr>
        <p:spPr>
          <a:xfrm>
            <a:off x="3263900" y="5791200"/>
            <a:ext cx="228600" cy="228600"/>
          </a:xfrm>
          <a:prstGeom prst="rightArrow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4" name="chip1"/>
          <p:cNvSpPr/>
          <p:nvPr/>
        </p:nvSpPr>
        <p:spPr>
          <a:xfrm>
            <a:off x="3543300" y="5638800"/>
            <a:ext cx="2387600" cy="533400"/>
          </a:xfrm>
          <a:prstGeom prst="roundRect">
            <a:avLst>
              <a:gd name="adj" fmla="val 20000"/>
            </a:avLst>
          </a:prstGeom>
          <a:solidFill>
            <a:srgbClr val="466E9E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ko-KR" sz="1400" b="1" dirty="0">
                <a:solidFill>
                  <a:srgbClr val="FFFFFF"/>
                </a:solidFill>
                <a:latin typeface="Pretendard"/>
                <a:ea typeface="Pretendard"/>
              </a:rPr>
              <a:t>활용 포인트</a:t>
            </a:r>
          </a:p>
        </p:txBody>
      </p:sp>
      <p:sp>
        <p:nvSpPr>
          <p:cNvPr id="125" name="arr1"/>
          <p:cNvSpPr/>
          <p:nvPr/>
        </p:nvSpPr>
        <p:spPr>
          <a:xfrm>
            <a:off x="5981700" y="5791200"/>
            <a:ext cx="228600" cy="228600"/>
          </a:xfrm>
          <a:prstGeom prst="rightArrow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6" name="chip2"/>
          <p:cNvSpPr/>
          <p:nvPr/>
        </p:nvSpPr>
        <p:spPr>
          <a:xfrm>
            <a:off x="6261100" y="5638800"/>
            <a:ext cx="2387600" cy="533400"/>
          </a:xfrm>
          <a:prstGeom prst="roundRect">
            <a:avLst>
              <a:gd name="adj" fmla="val 20000"/>
            </a:avLst>
          </a:prstGeom>
          <a:solidFill>
            <a:srgbClr val="466E9E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ko-KR" sz="1400" b="1" dirty="0">
                <a:solidFill>
                  <a:srgbClr val="FFFFFF"/>
                </a:solidFill>
                <a:latin typeface="Pretendard"/>
                <a:ea typeface="Pretendard"/>
              </a:rPr>
              <a:t>실습 · 프롬프트</a:t>
            </a:r>
          </a:p>
        </p:txBody>
      </p:sp>
      <p:sp>
        <p:nvSpPr>
          <p:cNvPr id="127" name="arr2"/>
          <p:cNvSpPr/>
          <p:nvPr/>
        </p:nvSpPr>
        <p:spPr>
          <a:xfrm>
            <a:off x="8699500" y="5791200"/>
            <a:ext cx="228600" cy="228600"/>
          </a:xfrm>
          <a:prstGeom prst="rightArrow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8" name="chip3"/>
          <p:cNvSpPr/>
          <p:nvPr/>
        </p:nvSpPr>
        <p:spPr>
          <a:xfrm>
            <a:off x="8978900" y="5638800"/>
            <a:ext cx="2387600" cy="533400"/>
          </a:xfrm>
          <a:prstGeom prst="roundRect">
            <a:avLst>
              <a:gd name="adj" fmla="val 20000"/>
            </a:avLst>
          </a:prstGeom>
          <a:solidFill>
            <a:srgbClr val="466E9E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ko-KR" sz="1400" b="1" dirty="0">
                <a:solidFill>
                  <a:srgbClr val="FFFFFF"/>
                </a:solidFill>
                <a:latin typeface="Pretendard"/>
                <a:ea typeface="Pretendard"/>
              </a:rPr>
              <a:t>좋은예 vs 나쁜예</a:t>
            </a:r>
          </a:p>
        </p:txBody>
      </p:sp>
      <p:pic>
        <p:nvPicPr>
          <p:cNvPr id="4" name="Picture 14">
            <a:extLst>
              <a:ext uri="{FF2B5EF4-FFF2-40B4-BE49-F238E27FC236}">
                <a16:creationId xmlns:a16="http://schemas.microsoft.com/office/drawing/2014/main" id="{C333A383-3D55-6117-C373-5D00C8DF7B0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8000"/>
          </a:blip>
          <a:stretch>
            <a:fillRect/>
          </a:stretch>
        </p:blipFill>
        <p:spPr>
          <a:xfrm>
            <a:off x="6626860" y="1785661"/>
            <a:ext cx="7002780" cy="4665110"/>
          </a:xfrm>
          <a:prstGeom prst="rect">
            <a:avLst/>
          </a:prstGeom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059BC104-C2A3-14EE-72A9-5D079C97653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-965200" y="-563880"/>
            <a:ext cx="5702300" cy="2362200"/>
          </a:xfrm>
          <a:prstGeom prst="rect">
            <a:avLst/>
          </a:prstGeom>
        </p:spPr>
      </p:pic>
      <p:sp>
        <p:nvSpPr>
          <p:cNvPr id="6" name="PageNumber">
            <a:extLst>
              <a:ext uri="{FF2B5EF4-FFF2-40B4-BE49-F238E27FC236}">
                <a16:creationId xmlns:a16="http://schemas.microsoft.com/office/drawing/2014/main" id="{236B488A-BA8A-5A43-8075-241A958D8DFE}"/>
              </a:ext>
            </a:extLst>
          </p:cNvPr>
          <p:cNvSpPr txBox="1"/>
          <p:nvPr/>
        </p:nvSpPr>
        <p:spPr>
          <a:xfrm>
            <a:off x="9499600" y="6489700"/>
            <a:ext cx="23368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r"/>
            <a:r>
              <a:rPr lang="en-US" altLang="ko-KR" sz="1200">
                <a:solidFill>
                  <a:schemeClr val="bg1"/>
                </a:solidFill>
                <a:latin typeface="Pretendard"/>
              </a:rPr>
              <a:t>- 15/144 -</a:t>
            </a:r>
            <a:endParaRPr lang="ko-KR" altLang="en-US" sz="1200">
              <a:solidFill>
                <a:schemeClr val="bg1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17952466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핵심 개념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핵심 개념</a:t>
            </a:r>
          </a:p>
        </p:txBody>
      </p:sp>
      <p:sp>
        <p:nvSpPr>
          <p:cNvPr id="100" name="card0"/>
          <p:cNvSpPr/>
          <p:nvPr/>
        </p:nvSpPr>
        <p:spPr>
          <a:xfrm>
            <a:off x="825500" y="1905000"/>
            <a:ext cx="10541000" cy="20955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CE6F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1" name="circ0"/>
          <p:cNvSpPr/>
          <p:nvPr/>
        </p:nvSpPr>
        <p:spPr>
          <a:xfrm>
            <a:off x="1181100" y="2584450"/>
            <a:ext cx="736600" cy="736600"/>
          </a:xfrm>
          <a:prstGeom prst="ellipse">
            <a:avLst/>
          </a:prstGeom>
          <a:solidFill>
            <a:srgbClr val="E7EEF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2" name="txt0"/>
          <p:cNvSpPr txBox="1"/>
          <p:nvPr/>
        </p:nvSpPr>
        <p:spPr>
          <a:xfrm>
            <a:off x="2349500" y="2133600"/>
            <a:ext cx="8712200" cy="16383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50000"/>
              </a:lnSpc>
              <a:spcAft>
                <a:spcPts val="500"/>
              </a:spcAft>
            </a:pPr>
            <a:r>
              <a:rPr lang="ko-KR" sz="1700" b="1" dirty="0">
                <a:solidFill>
                  <a:srgbClr val="14213D"/>
                </a:solidFill>
                <a:latin typeface="Pretendard"/>
                <a:ea typeface="Pretendard"/>
              </a:rPr>
              <a:t>업무효율화 ROI</a:t>
            </a:r>
          </a:p>
          <a:p>
            <a:pPr>
              <a:lnSpc>
                <a:spcPct val="150000"/>
              </a:lnSpc>
            </a:pPr>
            <a:r>
              <a:rPr lang="ko-KR" sz="1400" dirty="0">
                <a:solidFill>
                  <a:srgbClr val="576176"/>
                </a:solidFill>
                <a:latin typeface="Pretendard"/>
                <a:ea typeface="Pretendard"/>
              </a:rPr>
              <a:t>(절감 시간 × 빈도) − (도구 학습·검수 비용). </a:t>
            </a:r>
            <a:endParaRPr lang="en-US" altLang="ko-KR" sz="1400" dirty="0">
              <a:solidFill>
                <a:srgbClr val="576176"/>
              </a:solidFill>
              <a:latin typeface="Pretendard"/>
              <a:ea typeface="Pretendard"/>
            </a:endParaRPr>
          </a:p>
          <a:p>
            <a:pPr>
              <a:lnSpc>
                <a:spcPct val="150000"/>
              </a:lnSpc>
            </a:pPr>
            <a:r>
              <a:rPr lang="ko-KR" sz="1400" dirty="0">
                <a:solidFill>
                  <a:srgbClr val="576176"/>
                </a:solidFill>
                <a:latin typeface="Pretendard"/>
                <a:ea typeface="Pretendard"/>
              </a:rPr>
              <a:t>빈도가 높은 업무일수록 절감 효과가 복리처럼 누적된다.</a:t>
            </a:r>
          </a:p>
        </p:txBody>
      </p:sp>
      <p:sp>
        <p:nvSpPr>
          <p:cNvPr id="103" name="card1"/>
          <p:cNvSpPr/>
          <p:nvPr/>
        </p:nvSpPr>
        <p:spPr>
          <a:xfrm>
            <a:off x="825500" y="4305300"/>
            <a:ext cx="10541000" cy="20955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CE6F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4" name="circ1"/>
          <p:cNvSpPr/>
          <p:nvPr/>
        </p:nvSpPr>
        <p:spPr>
          <a:xfrm>
            <a:off x="1181100" y="4984750"/>
            <a:ext cx="736600" cy="736600"/>
          </a:xfrm>
          <a:prstGeom prst="ellipse">
            <a:avLst/>
          </a:prstGeom>
          <a:solidFill>
            <a:srgbClr val="FBEFD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5" name="txt1"/>
          <p:cNvSpPr txBox="1"/>
          <p:nvPr/>
        </p:nvSpPr>
        <p:spPr>
          <a:xfrm>
            <a:off x="2349500" y="4533900"/>
            <a:ext cx="8712200" cy="16383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50000"/>
              </a:lnSpc>
              <a:spcAft>
                <a:spcPts val="500"/>
              </a:spcAft>
            </a:pPr>
            <a:r>
              <a:rPr lang="ko-KR" sz="1700" b="1" dirty="0">
                <a:solidFill>
                  <a:srgbClr val="14213D"/>
                </a:solidFill>
                <a:latin typeface="Pretendard"/>
                <a:ea typeface="Pretendard"/>
              </a:rPr>
              <a:t>스몰 윈 (Small Win)</a:t>
            </a:r>
          </a:p>
          <a:p>
            <a:pPr>
              <a:lnSpc>
                <a:spcPct val="150000"/>
              </a:lnSpc>
            </a:pPr>
            <a:r>
              <a:rPr lang="ko-KR" sz="1400" dirty="0">
                <a:solidFill>
                  <a:srgbClr val="576176"/>
                </a:solidFill>
                <a:latin typeface="Pretendard"/>
                <a:ea typeface="Pretendard"/>
              </a:rPr>
              <a:t>전 과정을 한 번에 바꾸지 않고, 효과가 즉시 보이는 </a:t>
            </a:r>
            <a:endParaRPr lang="en-US" altLang="ko-KR" sz="1400" dirty="0">
              <a:solidFill>
                <a:srgbClr val="576176"/>
              </a:solidFill>
              <a:latin typeface="Pretendard"/>
              <a:ea typeface="Pretendard"/>
            </a:endParaRPr>
          </a:p>
          <a:p>
            <a:pPr>
              <a:lnSpc>
                <a:spcPct val="150000"/>
              </a:lnSpc>
            </a:pPr>
            <a:r>
              <a:rPr lang="ko-KR" sz="1400" dirty="0">
                <a:solidFill>
                  <a:srgbClr val="576176"/>
                </a:solidFill>
                <a:latin typeface="Pretendard"/>
                <a:ea typeface="Pretendard"/>
              </a:rPr>
              <a:t>단일 업무부터 자동화해 조직의 신뢰를 먼저 쌓는다.</a:t>
            </a:r>
          </a:p>
        </p:txBody>
      </p:sp>
      <p:pic>
        <p:nvPicPr>
          <p:cNvPr id="106" name="Graphic 106" descr="ROI 차트 아이콘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20800" y="2717800"/>
            <a:ext cx="457200" cy="457200"/>
          </a:xfrm>
          <a:prstGeom prst="rect">
            <a:avLst/>
          </a:prstGeom>
        </p:spPr>
      </p:pic>
      <p:pic>
        <p:nvPicPr>
          <p:cNvPr id="107" name="Graphic 107" descr="스몰윈 트로피 아이콘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20800" y="5118100"/>
            <a:ext cx="457200" cy="457200"/>
          </a:xfrm>
          <a:prstGeom prst="rect">
            <a:avLst/>
          </a:prstGeom>
        </p:spPr>
      </p:pic>
      <p:sp>
        <p:nvSpPr>
          <p:cNvPr id="4" name="PageNumber">
            <a:extLst>
              <a:ext uri="{FF2B5EF4-FFF2-40B4-BE49-F238E27FC236}">
                <a16:creationId xmlns:a16="http://schemas.microsoft.com/office/drawing/2014/main" id="{322C07CE-F491-4842-B64E-A7FE63D5A860}"/>
              </a:ext>
            </a:extLst>
          </p:cNvPr>
          <p:cNvSpPr txBox="1"/>
          <p:nvPr/>
        </p:nvSpPr>
        <p:spPr>
          <a:xfrm>
            <a:off x="9499600" y="6489700"/>
            <a:ext cx="23368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r"/>
            <a:r>
              <a:rPr lang="en-US" altLang="ko-KR" sz="1200">
                <a:solidFill>
                  <a:srgbClr val="576176"/>
                </a:solidFill>
                <a:latin typeface="Pretendard"/>
              </a:rPr>
              <a:t>- 16/144 -</a:t>
            </a:r>
            <a:endParaRPr lang="ko-KR" altLang="en-US" sz="1200">
              <a:solidFill>
                <a:srgbClr val="576176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38067013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개념 깊이 보기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개념을 예시로 — 우리 케이스에 적용하면</a:t>
            </a:r>
          </a:p>
        </p:txBody>
      </p:sp>
      <p:sp>
        <p:nvSpPr>
          <p:cNvPr id="100" name="card0"/>
          <p:cNvSpPr/>
          <p:nvPr/>
        </p:nvSpPr>
        <p:spPr>
          <a:xfrm>
            <a:off x="825500" y="1905000"/>
            <a:ext cx="10541000" cy="20955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CE6F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1" name="circ0"/>
          <p:cNvSpPr/>
          <p:nvPr/>
        </p:nvSpPr>
        <p:spPr>
          <a:xfrm>
            <a:off x="1181100" y="2584450"/>
            <a:ext cx="736600" cy="736600"/>
          </a:xfrm>
          <a:prstGeom prst="ellipse">
            <a:avLst/>
          </a:prstGeom>
          <a:solidFill>
            <a:srgbClr val="FBEFD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2" name="txt0"/>
          <p:cNvSpPr txBox="1"/>
          <p:nvPr/>
        </p:nvSpPr>
        <p:spPr>
          <a:xfrm>
            <a:off x="2349500" y="2133600"/>
            <a:ext cx="8712200" cy="16383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50000"/>
              </a:lnSpc>
              <a:spcAft>
                <a:spcPts val="500"/>
              </a:spcAft>
            </a:pPr>
            <a:r>
              <a:rPr lang="ko-KR" sz="1700" b="1" dirty="0">
                <a:solidFill>
                  <a:srgbClr val="14213D"/>
                </a:solidFill>
                <a:latin typeface="Pretendard"/>
                <a:ea typeface="Pretendard"/>
              </a:rPr>
              <a:t>스몰 윈 (Small Win)</a:t>
            </a:r>
          </a:p>
          <a:p>
            <a:pPr>
              <a:lnSpc>
                <a:spcPct val="150000"/>
              </a:lnSpc>
            </a:pPr>
            <a:r>
              <a:rPr lang="ko-KR" sz="1400" b="1" dirty="0">
                <a:solidFill>
                  <a:srgbClr val="E8A33D"/>
                </a:solidFill>
                <a:latin typeface="JetBrains Mono"/>
                <a:ea typeface="JetBrains Mono"/>
              </a:rPr>
              <a:t>예) </a:t>
            </a:r>
            <a:r>
              <a:rPr lang="ko-KR" sz="1400" dirty="0">
                <a:solidFill>
                  <a:srgbClr val="576176"/>
                </a:solidFill>
                <a:latin typeface="Pretendard"/>
                <a:ea typeface="Pretendard"/>
              </a:rPr>
              <a:t>“전 홍보를 AI로!”(X) → “매주 인스타 게시글만 먼저”(O). </a:t>
            </a:r>
            <a:endParaRPr lang="en-US" altLang="ko-KR" sz="1400" dirty="0">
              <a:solidFill>
                <a:srgbClr val="576176"/>
              </a:solidFill>
              <a:latin typeface="Pretendard"/>
              <a:ea typeface="Pretendard"/>
            </a:endParaRPr>
          </a:p>
          <a:p>
            <a:pPr>
              <a:lnSpc>
                <a:spcPct val="150000"/>
              </a:lnSpc>
            </a:pPr>
            <a:r>
              <a:rPr lang="ko-KR" sz="1400" dirty="0">
                <a:solidFill>
                  <a:srgbClr val="576176"/>
                </a:solidFill>
                <a:latin typeface="Pretendard"/>
                <a:ea typeface="Pretendard"/>
              </a:rPr>
              <a:t>한 곳에서 시간이 확 줄면 팀이 믿고 범위를 넓힌다.</a:t>
            </a:r>
          </a:p>
        </p:txBody>
      </p:sp>
      <p:sp>
        <p:nvSpPr>
          <p:cNvPr id="103" name="card1"/>
          <p:cNvSpPr/>
          <p:nvPr/>
        </p:nvSpPr>
        <p:spPr>
          <a:xfrm>
            <a:off x="825500" y="4305300"/>
            <a:ext cx="10541000" cy="20955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CE6F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4" name="circ1"/>
          <p:cNvSpPr/>
          <p:nvPr/>
        </p:nvSpPr>
        <p:spPr>
          <a:xfrm>
            <a:off x="1181100" y="4984750"/>
            <a:ext cx="736600" cy="736600"/>
          </a:xfrm>
          <a:prstGeom prst="ellipse">
            <a:avLst/>
          </a:prstGeom>
          <a:solidFill>
            <a:srgbClr val="E7EEF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5" name="txt1"/>
          <p:cNvSpPr txBox="1"/>
          <p:nvPr/>
        </p:nvSpPr>
        <p:spPr>
          <a:xfrm>
            <a:off x="2349500" y="4533900"/>
            <a:ext cx="8712200" cy="16383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50000"/>
              </a:lnSpc>
              <a:spcAft>
                <a:spcPts val="500"/>
              </a:spcAft>
            </a:pPr>
            <a:r>
              <a:rPr lang="ko-KR" sz="1700" b="1" dirty="0">
                <a:solidFill>
                  <a:srgbClr val="14213D"/>
                </a:solidFill>
                <a:latin typeface="Pretendard"/>
                <a:ea typeface="Pretendard"/>
              </a:rPr>
              <a:t>업무효율화 ROI</a:t>
            </a:r>
          </a:p>
          <a:p>
            <a:pPr>
              <a:lnSpc>
                <a:spcPct val="150000"/>
              </a:lnSpc>
            </a:pPr>
            <a:r>
              <a:rPr lang="ko-KR" sz="1400" b="1" dirty="0">
                <a:solidFill>
                  <a:srgbClr val="E8A33D"/>
                </a:solidFill>
                <a:latin typeface="JetBrains Mono"/>
                <a:ea typeface="JetBrains Mono"/>
              </a:rPr>
              <a:t>예) </a:t>
            </a:r>
            <a:r>
              <a:rPr lang="ko-KR" sz="1400" dirty="0">
                <a:solidFill>
                  <a:srgbClr val="576176"/>
                </a:solidFill>
                <a:latin typeface="Pretendard"/>
                <a:ea typeface="Pretendard"/>
              </a:rPr>
              <a:t>주간 카드뉴스 제작 2시간 → 40분. 주 1회 × 4주 = 월 약 5.3시간 절감. </a:t>
            </a:r>
            <a:endParaRPr lang="en-US" altLang="ko-KR" sz="1400" dirty="0">
              <a:solidFill>
                <a:srgbClr val="576176"/>
              </a:solidFill>
              <a:latin typeface="Pretendard"/>
              <a:ea typeface="Pretendard"/>
            </a:endParaRPr>
          </a:p>
          <a:p>
            <a:pPr>
              <a:lnSpc>
                <a:spcPct val="150000"/>
              </a:lnSpc>
            </a:pPr>
            <a:r>
              <a:rPr lang="ko-KR" sz="1400" dirty="0">
                <a:solidFill>
                  <a:srgbClr val="576176"/>
                </a:solidFill>
                <a:latin typeface="Pretendard"/>
                <a:ea typeface="Pretendard"/>
              </a:rPr>
              <a:t>빈도 높은 업무부터 골라야 효과가 쌓인다.</a:t>
            </a:r>
          </a:p>
        </p:txBody>
      </p:sp>
      <p:pic>
        <p:nvPicPr>
          <p:cNvPr id="106" name="Graphic 106" descr="스몰윈 트로피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20800" y="2717800"/>
            <a:ext cx="457200" cy="457200"/>
          </a:xfrm>
          <a:prstGeom prst="rect">
            <a:avLst/>
          </a:prstGeom>
        </p:spPr>
      </p:pic>
      <p:pic>
        <p:nvPicPr>
          <p:cNvPr id="107" name="Graphic 107" descr="ROI 차트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20800" y="5118100"/>
            <a:ext cx="457200" cy="457200"/>
          </a:xfrm>
          <a:prstGeom prst="rect">
            <a:avLst/>
          </a:prstGeom>
        </p:spPr>
      </p:pic>
      <p:sp>
        <p:nvSpPr>
          <p:cNvPr id="4" name="PageNumber">
            <a:extLst>
              <a:ext uri="{FF2B5EF4-FFF2-40B4-BE49-F238E27FC236}">
                <a16:creationId xmlns:a16="http://schemas.microsoft.com/office/drawing/2014/main" id="{478CAAF7-33D1-2440-86E5-5C29EC6D1D9F}"/>
              </a:ext>
            </a:extLst>
          </p:cNvPr>
          <p:cNvSpPr txBox="1"/>
          <p:nvPr/>
        </p:nvSpPr>
        <p:spPr>
          <a:xfrm>
            <a:off x="9499600" y="6489700"/>
            <a:ext cx="23368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r"/>
            <a:r>
              <a:rPr lang="en-US" altLang="ko-KR" sz="1200">
                <a:solidFill>
                  <a:srgbClr val="576176"/>
                </a:solidFill>
                <a:latin typeface="Pretendard"/>
              </a:rPr>
              <a:t>- 17/144 -</a:t>
            </a:r>
            <a:endParaRPr lang="ko-KR" altLang="en-US" sz="1200">
              <a:solidFill>
                <a:srgbClr val="576176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979415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실습 절차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실습 절차 — 직접 해봅니다</a:t>
            </a:r>
          </a:p>
        </p:txBody>
      </p:sp>
      <p:sp>
        <p:nvSpPr>
          <p:cNvPr id="100" name="rail"/>
          <p:cNvSpPr/>
          <p:nvPr/>
        </p:nvSpPr>
        <p:spPr>
          <a:xfrm>
            <a:off x="1270000" y="2692400"/>
            <a:ext cx="50800" cy="2997200"/>
          </a:xfrm>
          <a:prstGeom prst="rect">
            <a:avLst/>
          </a:prstGeom>
          <a:solidFill>
            <a:srgbClr val="C9D6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1" name="c0"/>
          <p:cNvSpPr txBox="1"/>
          <p:nvPr/>
        </p:nvSpPr>
        <p:spPr>
          <a:xfrm>
            <a:off x="990600" y="2387600"/>
            <a:ext cx="609600" cy="609600"/>
          </a:xfrm>
          <a:prstGeom prst="ellipse">
            <a:avLst/>
          </a:prstGeom>
          <a:solidFill>
            <a:srgbClr val="1D4E89"/>
          </a:solidFill>
          <a:ln w="38100">
            <a:solidFill>
              <a:srgbClr val="F4F6FB"/>
            </a:solidFill>
          </a:ln>
        </p:spPr>
        <p:txBody>
          <a:bodyPr wrap="none" lIns="0" tIns="0" rIns="0" bIns="0" anchor="ctr"/>
          <a:lstStyle/>
          <a:p>
            <a:pPr algn="ctr"/>
            <a:r>
              <a:rPr lang="en-US" sz="1900" b="1" dirty="0">
                <a:solidFill>
                  <a:srgbClr val="FFFFFF"/>
                </a:solidFill>
                <a:latin typeface="Noto Serif KR"/>
                <a:ea typeface="Noto Serif KR"/>
              </a:rPr>
              <a:t>1</a:t>
            </a:r>
          </a:p>
        </p:txBody>
      </p:sp>
      <p:sp>
        <p:nvSpPr>
          <p:cNvPr id="102" name="t0"/>
          <p:cNvSpPr txBox="1"/>
          <p:nvPr/>
        </p:nvSpPr>
        <p:spPr>
          <a:xfrm>
            <a:off x="1905000" y="2184400"/>
            <a:ext cx="9461500" cy="1016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spcAft>
                <a:spcPts val="300"/>
              </a:spcAft>
            </a:pPr>
            <a:r>
              <a:rPr lang="ko-KR" sz="1800" b="1" dirty="0">
                <a:solidFill>
                  <a:srgbClr val="14213D"/>
                </a:solidFill>
                <a:latin typeface="Pretendard"/>
                <a:ea typeface="Pretendard"/>
              </a:rPr>
              <a:t>업무 선정</a:t>
            </a:r>
          </a:p>
          <a:p>
            <a:pPr>
              <a:lnSpc>
                <a:spcPct val="118000"/>
              </a:lnSpc>
            </a:pPr>
            <a:r>
              <a:rPr lang="ko-KR" sz="1450" dirty="0">
                <a:solidFill>
                  <a:srgbClr val="576176"/>
                </a:solidFill>
                <a:latin typeface="Pretendard"/>
                <a:ea typeface="Pretendard"/>
              </a:rPr>
              <a:t>진단표에서 ROI가 가장 큰 업무 1개를 고른다 (스몰 윈).</a:t>
            </a:r>
          </a:p>
        </p:txBody>
      </p:sp>
      <p:sp>
        <p:nvSpPr>
          <p:cNvPr id="103" name="c1"/>
          <p:cNvSpPr txBox="1"/>
          <p:nvPr/>
        </p:nvSpPr>
        <p:spPr>
          <a:xfrm>
            <a:off x="990600" y="3886200"/>
            <a:ext cx="609600" cy="609600"/>
          </a:xfrm>
          <a:prstGeom prst="ellipse">
            <a:avLst/>
          </a:prstGeom>
          <a:solidFill>
            <a:srgbClr val="1D4E89"/>
          </a:solidFill>
          <a:ln w="38100">
            <a:solidFill>
              <a:srgbClr val="F4F6FB"/>
            </a:solidFill>
          </a:ln>
        </p:spPr>
        <p:txBody>
          <a:bodyPr wrap="none" lIns="0" tIns="0" rIns="0" bIns="0" anchor="ctr"/>
          <a:lstStyle/>
          <a:p>
            <a:pPr algn="ctr"/>
            <a:r>
              <a:rPr lang="en-US" sz="1900" b="1" dirty="0">
                <a:solidFill>
                  <a:srgbClr val="FFFFFF"/>
                </a:solidFill>
                <a:latin typeface="Noto Serif KR"/>
                <a:ea typeface="Noto Serif KR"/>
              </a:rPr>
              <a:t>2</a:t>
            </a:r>
          </a:p>
        </p:txBody>
      </p:sp>
      <p:sp>
        <p:nvSpPr>
          <p:cNvPr id="104" name="t1"/>
          <p:cNvSpPr txBox="1"/>
          <p:nvPr/>
        </p:nvSpPr>
        <p:spPr>
          <a:xfrm>
            <a:off x="1905000" y="3683000"/>
            <a:ext cx="9461500" cy="1016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spcAft>
                <a:spcPts val="300"/>
              </a:spcAft>
            </a:pPr>
            <a:r>
              <a:rPr lang="ko-KR" sz="1800" b="1" dirty="0">
                <a:solidFill>
                  <a:srgbClr val="14213D"/>
                </a:solidFill>
                <a:latin typeface="Pretendard"/>
                <a:ea typeface="Pretendard"/>
              </a:rPr>
              <a:t>절차 기록</a:t>
            </a:r>
          </a:p>
          <a:p>
            <a:pPr>
              <a:lnSpc>
                <a:spcPct val="118000"/>
              </a:lnSpc>
            </a:pPr>
            <a:r>
              <a:rPr lang="ko-KR" sz="1450" dirty="0">
                <a:solidFill>
                  <a:srgbClr val="576176"/>
                </a:solidFill>
                <a:latin typeface="Pretendard"/>
                <a:ea typeface="Pretendard"/>
              </a:rPr>
              <a:t>현재 작업 절차를 글로 적는다. 이 글이 곧 프롬프트의 재료가 된다.</a:t>
            </a:r>
          </a:p>
        </p:txBody>
      </p:sp>
      <p:sp>
        <p:nvSpPr>
          <p:cNvPr id="105" name="c2"/>
          <p:cNvSpPr txBox="1"/>
          <p:nvPr/>
        </p:nvSpPr>
        <p:spPr>
          <a:xfrm>
            <a:off x="990600" y="5384800"/>
            <a:ext cx="609600" cy="609600"/>
          </a:xfrm>
          <a:prstGeom prst="ellipse">
            <a:avLst/>
          </a:prstGeom>
          <a:solidFill>
            <a:srgbClr val="1D4E89"/>
          </a:solidFill>
          <a:ln w="38100">
            <a:solidFill>
              <a:srgbClr val="F4F6FB"/>
            </a:solidFill>
          </a:ln>
        </p:spPr>
        <p:txBody>
          <a:bodyPr wrap="none" lIns="0" tIns="0" rIns="0" bIns="0" anchor="ctr"/>
          <a:lstStyle/>
          <a:p>
            <a:pPr algn="ctr"/>
            <a:r>
              <a:rPr lang="en-US" sz="1900" b="1" dirty="0">
                <a:solidFill>
                  <a:srgbClr val="FFFFFF"/>
                </a:solidFill>
                <a:latin typeface="Noto Serif KR"/>
                <a:ea typeface="Noto Serif KR"/>
              </a:rPr>
              <a:t>3</a:t>
            </a:r>
          </a:p>
        </p:txBody>
      </p:sp>
      <p:sp>
        <p:nvSpPr>
          <p:cNvPr id="106" name="t2"/>
          <p:cNvSpPr txBox="1"/>
          <p:nvPr/>
        </p:nvSpPr>
        <p:spPr>
          <a:xfrm>
            <a:off x="1905000" y="5181600"/>
            <a:ext cx="9461500" cy="1016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spcAft>
                <a:spcPts val="300"/>
              </a:spcAft>
            </a:pPr>
            <a:r>
              <a:rPr lang="ko-KR" sz="1800" b="1" dirty="0">
                <a:solidFill>
                  <a:srgbClr val="14213D"/>
                </a:solidFill>
                <a:latin typeface="Pretendard"/>
                <a:ea typeface="Pretendard"/>
              </a:rPr>
              <a:t>검수 지점 설계</a:t>
            </a:r>
          </a:p>
          <a:p>
            <a:pPr>
              <a:lnSpc>
                <a:spcPct val="118000"/>
              </a:lnSpc>
            </a:pPr>
            <a:r>
              <a:rPr lang="ko-KR" sz="1450" dirty="0">
                <a:solidFill>
                  <a:srgbClr val="576176"/>
                </a:solidFill>
                <a:latin typeface="Pretendard"/>
                <a:ea typeface="Pretendard"/>
              </a:rPr>
              <a:t>AI 도입 후 새 절차를 그리고, 사람이 개입할 검수 지점을 표시한다.</a:t>
            </a:r>
          </a:p>
        </p:txBody>
      </p:sp>
      <p:sp>
        <p:nvSpPr>
          <p:cNvPr id="4" name="PageNumber">
            <a:extLst>
              <a:ext uri="{FF2B5EF4-FFF2-40B4-BE49-F238E27FC236}">
                <a16:creationId xmlns:a16="http://schemas.microsoft.com/office/drawing/2014/main" id="{B9BFEB7B-12BB-0146-B5D9-BAD6A7B7B009}"/>
              </a:ext>
            </a:extLst>
          </p:cNvPr>
          <p:cNvSpPr txBox="1"/>
          <p:nvPr/>
        </p:nvSpPr>
        <p:spPr>
          <a:xfrm>
            <a:off x="9499600" y="6489700"/>
            <a:ext cx="23368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r"/>
            <a:r>
              <a:rPr lang="en-US" altLang="ko-KR" sz="1200">
                <a:solidFill>
                  <a:srgbClr val="576176"/>
                </a:solidFill>
                <a:latin typeface="Pretendard"/>
              </a:rPr>
              <a:t>- 18/144 -</a:t>
            </a:r>
            <a:endParaRPr lang="ko-KR" altLang="en-US" sz="1200">
              <a:solidFill>
                <a:srgbClr val="576176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14367261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실습 프롬프트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적용 시나리오 설계 프롬프트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438400"/>
            <a:ext cx="10332720" cy="3810000"/>
          </a:xfrm>
          <a:prstGeom prst="rect">
            <a:avLst/>
          </a:prstGeom>
          <a:solidFill>
            <a:srgbClr val="10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11480" tIns="502920" rIns="365760" bIns="320040" rtlCol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60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다음 업무를 AI로 자동화하는 단계별 절차를 만들어줘.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60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각 단계에 "AI가 하는 일"과 "사람이 검수할 점"을 구분해서 표시해줘.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60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60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업무: 매주 신제품 인스타 게시글 작성</a:t>
            </a:r>
          </a:p>
        </p:txBody>
      </p:sp>
      <p:sp>
        <p:nvSpPr>
          <p:cNvPr id="120" name="hbar"/>
          <p:cNvSpPr txBox="1"/>
          <p:nvPr/>
        </p:nvSpPr>
        <p:spPr>
          <a:xfrm>
            <a:off x="914400" y="2006600"/>
            <a:ext cx="10337800" cy="431800"/>
          </a:xfrm>
          <a:prstGeom prst="rect">
            <a:avLst/>
          </a:prstGeom>
          <a:solidFill>
            <a:srgbClr val="0C1323"/>
          </a:solidFill>
          <a:ln>
            <a:noFill/>
          </a:ln>
        </p:spPr>
        <p:txBody>
          <a:bodyPr lIns="990600" tIns="0" rIns="203200" bIns="0" anchor="ctr"/>
          <a:lstStyle/>
          <a:p>
            <a:pPr algn="r"/>
            <a:r>
              <a:rPr lang="ko-KR" sz="1400" dirty="0">
                <a:solidFill>
                  <a:srgbClr val="BFD2EC"/>
                </a:solidFill>
                <a:latin typeface="JetBrains Mono"/>
                <a:ea typeface="JetBrains Mono"/>
              </a:rPr>
              <a:t>prompt.txt · 복사해서 그대로 사용</a:t>
            </a:r>
          </a:p>
        </p:txBody>
      </p:sp>
      <p:sp>
        <p:nvSpPr>
          <p:cNvPr id="121" name="dot0"/>
          <p:cNvSpPr/>
          <p:nvPr/>
        </p:nvSpPr>
        <p:spPr>
          <a:xfrm>
            <a:off x="1117600" y="2159000"/>
            <a:ext cx="127000" cy="127000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2" name="dot1"/>
          <p:cNvSpPr/>
          <p:nvPr/>
        </p:nvSpPr>
        <p:spPr>
          <a:xfrm>
            <a:off x="1320800" y="2159000"/>
            <a:ext cx="127000" cy="127000"/>
          </a:xfrm>
          <a:prstGeom prst="ellipse">
            <a:avLst/>
          </a:prstGeom>
          <a:solidFill>
            <a:srgbClr val="6E8FB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3" name="dot2"/>
          <p:cNvSpPr/>
          <p:nvPr/>
        </p:nvSpPr>
        <p:spPr>
          <a:xfrm>
            <a:off x="1524000" y="2159000"/>
            <a:ext cx="127000" cy="127000"/>
          </a:xfrm>
          <a:prstGeom prst="ellipse">
            <a:avLst/>
          </a:prstGeom>
          <a:solidFill>
            <a:srgbClr val="415F8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4" name="cap"/>
          <p:cNvSpPr txBox="1"/>
          <p:nvPr/>
        </p:nvSpPr>
        <p:spPr>
          <a:xfrm>
            <a:off x="914400" y="1600200"/>
            <a:ext cx="10337800" cy="3302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r>
              <a:rPr lang="ko-KR" sz="1400" b="1" dirty="0">
                <a:solidFill>
                  <a:srgbClr val="C77F1A"/>
                </a:solidFill>
                <a:latin typeface="JetBrains Mono"/>
                <a:ea typeface="JetBrains Mono"/>
              </a:rPr>
              <a:t>TIP — </a:t>
            </a:r>
            <a:r>
              <a:rPr lang="ko-KR" sz="1400" dirty="0">
                <a:solidFill>
                  <a:srgbClr val="576176"/>
                </a:solidFill>
                <a:latin typeface="Pretendard"/>
                <a:ea typeface="Pretendard"/>
              </a:rPr>
              <a:t>“업무:” 한 줄만 내 상황으로 바꾸면 단계별 절차 초안이 나옵니다.</a:t>
            </a:r>
          </a:p>
        </p:txBody>
      </p:sp>
      <p:pic>
        <p:nvPicPr>
          <p:cNvPr id="5" name="Picture 16">
            <a:extLst>
              <a:ext uri="{FF2B5EF4-FFF2-40B4-BE49-F238E27FC236}">
                <a16:creationId xmlns:a16="http://schemas.microsoft.com/office/drawing/2014/main" id="{B97C67E2-D12C-0932-EAA6-0654D23A1E2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8755765" y="3741009"/>
            <a:ext cx="2201546" cy="2182063"/>
          </a:xfrm>
          <a:prstGeom prst="rect">
            <a:avLst/>
          </a:prstGeom>
        </p:spPr>
      </p:pic>
      <p:sp>
        <p:nvSpPr>
          <p:cNvPr id="6" name="PageNumber">
            <a:extLst>
              <a:ext uri="{FF2B5EF4-FFF2-40B4-BE49-F238E27FC236}">
                <a16:creationId xmlns:a16="http://schemas.microsoft.com/office/drawing/2014/main" id="{95EDD763-BB5B-504E-BC54-6BF16DED95E2}"/>
              </a:ext>
            </a:extLst>
          </p:cNvPr>
          <p:cNvSpPr txBox="1"/>
          <p:nvPr/>
        </p:nvSpPr>
        <p:spPr>
          <a:xfrm>
            <a:off x="9499600" y="6489700"/>
            <a:ext cx="23368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r"/>
            <a:r>
              <a:rPr lang="en-US" altLang="ko-KR" sz="1200">
                <a:solidFill>
                  <a:srgbClr val="576176"/>
                </a:solidFill>
                <a:latin typeface="Pretendard"/>
              </a:rPr>
              <a:t>- 19/144 -</a:t>
            </a:r>
            <a:endParaRPr lang="ko-KR" altLang="en-US" sz="1200">
              <a:solidFill>
                <a:srgbClr val="576176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14609591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좋은예 VS 나쁜예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비교 — 자동화 도입, 어떻게 시작할까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778000"/>
            <a:ext cx="5029200" cy="3810000"/>
          </a:xfrm>
          <a:prstGeom prst="rect">
            <a:avLst/>
          </a:prstGeom>
          <a:solidFill>
            <a:srgbClr val="FB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20040" rIns="320040" rtlCol="0" anchor="t"/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248400" y="1778000"/>
            <a:ext cx="5029200" cy="3810000"/>
          </a:xfrm>
          <a:prstGeom prst="rect">
            <a:avLst/>
          </a:prstGeom>
          <a:solidFill>
            <a:srgbClr val="EA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20040" rIns="320040" rtlCol="0" anchor="t"/>
          <a:lstStyle/>
          <a:p>
            <a:endParaRPr/>
          </a:p>
        </p:txBody>
      </p:sp>
      <p:sp>
        <p:nvSpPr>
          <p:cNvPr id="120" name="t121"/>
          <p:cNvSpPr txBox="1"/>
          <p:nvPr/>
        </p:nvSpPr>
        <p:spPr>
          <a:xfrm>
            <a:off x="1676400" y="1981200"/>
            <a:ext cx="3810000" cy="457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r>
              <a:rPr lang="ko-KR" sz="1700" b="1" dirty="0">
                <a:solidFill>
                  <a:srgbClr val="A63333"/>
                </a:solidFill>
                <a:latin typeface="Noto Serif KR"/>
                <a:ea typeface="Noto Serif KR"/>
              </a:rPr>
              <a:t>이렇게 하면 실패</a:t>
            </a:r>
          </a:p>
        </p:txBody>
      </p:sp>
      <p:sp>
        <p:nvSpPr>
          <p:cNvPr id="121" name="t122"/>
          <p:cNvSpPr txBox="1"/>
          <p:nvPr/>
        </p:nvSpPr>
        <p:spPr>
          <a:xfrm>
            <a:off x="7010400" y="1981200"/>
            <a:ext cx="3810000" cy="457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r>
              <a:rPr lang="ko-KR" sz="1700" b="1" dirty="0">
                <a:solidFill>
                  <a:srgbClr val="2C6B44"/>
                </a:solidFill>
                <a:latin typeface="Noto Serif KR"/>
                <a:ea typeface="Noto Serif KR"/>
              </a:rPr>
              <a:t>이렇게 시작하자</a:t>
            </a:r>
          </a:p>
        </p:txBody>
      </p:sp>
      <p:sp>
        <p:nvSpPr>
          <p:cNvPr id="122" name="r123"/>
          <p:cNvSpPr/>
          <p:nvPr/>
        </p:nvSpPr>
        <p:spPr>
          <a:xfrm>
            <a:off x="1193800" y="2565400"/>
            <a:ext cx="4470400" cy="25400"/>
          </a:xfrm>
          <a:prstGeom prst="rect">
            <a:avLst/>
          </a:prstGeom>
          <a:solidFill>
            <a:srgbClr val="E3C5C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3" name="r124"/>
          <p:cNvSpPr/>
          <p:nvPr/>
        </p:nvSpPr>
        <p:spPr>
          <a:xfrm>
            <a:off x="6527800" y="2565400"/>
            <a:ext cx="4470400" cy="25400"/>
          </a:xfrm>
          <a:prstGeom prst="rect">
            <a:avLst/>
          </a:prstGeom>
          <a:solidFill>
            <a:srgbClr val="C4DEC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4" name="t125"/>
          <p:cNvSpPr txBox="1"/>
          <p:nvPr/>
        </p:nvSpPr>
        <p:spPr>
          <a:xfrm>
            <a:off x="1193800" y="2794000"/>
            <a:ext cx="4470400" cy="1905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285750" indent="-28575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A63333"/>
                </a:solidFill>
                <a:latin typeface="Pretendard"/>
                <a:ea typeface="Pretendard"/>
              </a:rPr>
              <a:t>✕  </a:t>
            </a:r>
            <a:r>
              <a:rPr lang="ko-KR" sz="1500" dirty="0">
                <a:solidFill>
                  <a:srgbClr val="14213D"/>
                </a:solidFill>
                <a:latin typeface="Pretendard"/>
                <a:ea typeface="Pretendard"/>
              </a:rPr>
              <a:t>“모든 홍보 업무를 한 번에 자동화”</a:t>
            </a:r>
          </a:p>
          <a:p>
            <a:pPr marL="285750" indent="-28575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A63333"/>
                </a:solidFill>
                <a:latin typeface="Pretendard"/>
                <a:ea typeface="Pretendard"/>
              </a:rPr>
              <a:t>✕  </a:t>
            </a:r>
            <a:r>
              <a:rPr lang="ko-KR" sz="1500" dirty="0">
                <a:solidFill>
                  <a:srgbClr val="14213D"/>
                </a:solidFill>
                <a:latin typeface="Pretendard"/>
                <a:ea typeface="Pretendard"/>
              </a:rPr>
              <a:t>검수 지점 없이 AI가 바로 발행</a:t>
            </a:r>
          </a:p>
          <a:p>
            <a:pPr marL="285750" indent="-28575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A63333"/>
                </a:solidFill>
                <a:latin typeface="Pretendard"/>
                <a:ea typeface="Pretendard"/>
              </a:rPr>
              <a:t>✕  </a:t>
            </a:r>
            <a:r>
              <a:rPr lang="ko-KR" sz="1500" dirty="0">
                <a:solidFill>
                  <a:srgbClr val="14213D"/>
                </a:solidFill>
                <a:latin typeface="Pretendard"/>
                <a:ea typeface="Pretendard"/>
              </a:rPr>
              <a:t>효과 측정 없이 막연히 “편해졌다”</a:t>
            </a:r>
          </a:p>
        </p:txBody>
      </p:sp>
      <p:sp>
        <p:nvSpPr>
          <p:cNvPr id="125" name="t126"/>
          <p:cNvSpPr txBox="1"/>
          <p:nvPr/>
        </p:nvSpPr>
        <p:spPr>
          <a:xfrm>
            <a:off x="6527800" y="2794000"/>
            <a:ext cx="4470400" cy="1905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285750" indent="-28575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2C6B44"/>
                </a:solidFill>
                <a:latin typeface="Pretendard"/>
                <a:ea typeface="Pretendard"/>
              </a:rPr>
              <a:t>✓  </a:t>
            </a:r>
            <a:r>
              <a:rPr lang="ko-KR" sz="1500" dirty="0">
                <a:solidFill>
                  <a:srgbClr val="14213D"/>
                </a:solidFill>
                <a:latin typeface="Pretendard"/>
                <a:ea typeface="Pretendard"/>
              </a:rPr>
              <a:t>반복 5점짜리 업무 1개부터 (스몰 윈)</a:t>
            </a:r>
          </a:p>
          <a:p>
            <a:pPr marL="285750" indent="-28575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2C6B44"/>
                </a:solidFill>
                <a:latin typeface="Pretendard"/>
                <a:ea typeface="Pretendard"/>
              </a:rPr>
              <a:t>✓  </a:t>
            </a:r>
            <a:r>
              <a:rPr lang="ko-KR" sz="1500" dirty="0">
                <a:solidFill>
                  <a:srgbClr val="14213D"/>
                </a:solidFill>
                <a:latin typeface="Pretendard"/>
                <a:ea typeface="Pretendard"/>
              </a:rPr>
              <a:t>단계마다 사람 검수 게이트 배치</a:t>
            </a:r>
          </a:p>
          <a:p>
            <a:pPr marL="285750" indent="-28575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2C6B44"/>
                </a:solidFill>
                <a:latin typeface="Pretendard"/>
                <a:ea typeface="Pretendard"/>
              </a:rPr>
              <a:t>✓  </a:t>
            </a:r>
            <a:r>
              <a:rPr lang="ko-KR" sz="1500" dirty="0">
                <a:solidFill>
                  <a:srgbClr val="14213D"/>
                </a:solidFill>
                <a:latin typeface="Pretendard"/>
                <a:ea typeface="Pretendard"/>
              </a:rPr>
              <a:t>절감시간을 숫자로 기록 (주 3h→1h)</a:t>
            </a:r>
          </a:p>
        </p:txBody>
      </p:sp>
      <p:sp>
        <p:nvSpPr>
          <p:cNvPr id="126" name="t127"/>
          <p:cNvSpPr txBox="1"/>
          <p:nvPr/>
        </p:nvSpPr>
        <p:spPr>
          <a:xfrm>
            <a:off x="1193800" y="4978400"/>
            <a:ext cx="4470400" cy="508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r>
              <a:rPr lang="ko-KR" sz="1400" b="1" i="1" dirty="0">
                <a:solidFill>
                  <a:srgbClr val="A63333"/>
                </a:solidFill>
                <a:latin typeface="Pretendard"/>
                <a:ea typeface="Pretendard"/>
              </a:rPr>
              <a:t>→ 통제 불가 · 환각 사고 · ROI 불명</a:t>
            </a:r>
          </a:p>
        </p:txBody>
      </p:sp>
      <p:sp>
        <p:nvSpPr>
          <p:cNvPr id="127" name="t128"/>
          <p:cNvSpPr txBox="1"/>
          <p:nvPr/>
        </p:nvSpPr>
        <p:spPr>
          <a:xfrm>
            <a:off x="6527800" y="4978400"/>
            <a:ext cx="4470400" cy="508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r>
              <a:rPr lang="ko-KR" sz="1400" b="1" i="1" dirty="0">
                <a:solidFill>
                  <a:srgbClr val="2C6B44"/>
                </a:solidFill>
                <a:latin typeface="Pretendard"/>
                <a:ea typeface="Pretendard"/>
              </a:rPr>
              <a:t>→ 측정 가능한 성과 + 신뢰 축적</a:t>
            </a:r>
          </a:p>
        </p:txBody>
      </p:sp>
      <p:sp>
        <p:nvSpPr>
          <p:cNvPr id="128" name="r129"/>
          <p:cNvSpPr/>
          <p:nvPr/>
        </p:nvSpPr>
        <p:spPr>
          <a:xfrm>
            <a:off x="914400" y="5765800"/>
            <a:ext cx="10363200" cy="609600"/>
          </a:xfrm>
          <a:prstGeom prst="roundRect">
            <a:avLst>
              <a:gd name="adj" fmla="val 16000"/>
            </a:avLst>
          </a:prstGeom>
          <a:solidFill>
            <a:srgbClr val="14213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9" name="t130"/>
          <p:cNvSpPr txBox="1"/>
          <p:nvPr/>
        </p:nvSpPr>
        <p:spPr>
          <a:xfrm>
            <a:off x="1219200" y="5765800"/>
            <a:ext cx="9753600" cy="6096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/>
            <a:r>
              <a:rPr lang="ko-KR" sz="1450" b="1" dirty="0">
                <a:solidFill>
                  <a:srgbClr val="E8A33D"/>
                </a:solidFill>
                <a:latin typeface="Pretendard"/>
                <a:ea typeface="Pretendard"/>
              </a:rPr>
              <a:t>핵심 원칙  </a:t>
            </a:r>
            <a:r>
              <a:rPr lang="ko-KR" sz="1450" dirty="0">
                <a:solidFill>
                  <a:srgbClr val="FFFFFF"/>
                </a:solidFill>
                <a:latin typeface="Pretendard"/>
                <a:ea typeface="Pretendard"/>
              </a:rPr>
              <a:t>스몰 윈 1개 × 단계별 사람 검수 게이트 × 절감시간 수치화</a:t>
            </a:r>
          </a:p>
        </p:txBody>
      </p:sp>
      <p:pic>
        <p:nvPicPr>
          <p:cNvPr id="130" name="Graphic 130" descr="실패 경고 아이콘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93800" y="1981200"/>
            <a:ext cx="381000" cy="381000"/>
          </a:xfrm>
          <a:prstGeom prst="rect">
            <a:avLst/>
          </a:prstGeom>
        </p:spPr>
      </p:pic>
      <p:pic>
        <p:nvPicPr>
          <p:cNvPr id="131" name="Graphic 131" descr="성공 체크 아이콘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27800" y="1981200"/>
            <a:ext cx="381000" cy="381000"/>
          </a:xfrm>
          <a:prstGeom prst="rect">
            <a:avLst/>
          </a:prstGeom>
        </p:spPr>
      </p:pic>
      <p:pic>
        <p:nvPicPr>
          <p:cNvPr id="6" name="Picture 16">
            <a:extLst>
              <a:ext uri="{FF2B5EF4-FFF2-40B4-BE49-F238E27FC236}">
                <a16:creationId xmlns:a16="http://schemas.microsoft.com/office/drawing/2014/main" id="{61B15B4C-EE2F-3EB4-8E42-C890F3333D4D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0000"/>
          </a:blip>
          <a:stretch>
            <a:fillRect/>
          </a:stretch>
        </p:blipFill>
        <p:spPr>
          <a:xfrm>
            <a:off x="9438639" y="3903777"/>
            <a:ext cx="1699261" cy="1684223"/>
          </a:xfrm>
          <a:prstGeom prst="rect">
            <a:avLst/>
          </a:prstGeom>
        </p:spPr>
      </p:pic>
      <p:sp>
        <p:nvSpPr>
          <p:cNvPr id="7" name="PageNumber">
            <a:extLst>
              <a:ext uri="{FF2B5EF4-FFF2-40B4-BE49-F238E27FC236}">
                <a16:creationId xmlns:a16="http://schemas.microsoft.com/office/drawing/2014/main" id="{4BA14941-9C53-E94E-B2FB-2E3B8A739A58}"/>
              </a:ext>
            </a:extLst>
          </p:cNvPr>
          <p:cNvSpPr txBox="1"/>
          <p:nvPr/>
        </p:nvSpPr>
        <p:spPr>
          <a:xfrm>
            <a:off x="9499600" y="6489700"/>
            <a:ext cx="23368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r"/>
            <a:r>
              <a:rPr lang="en-US" altLang="ko-KR" sz="1200">
                <a:solidFill>
                  <a:srgbClr val="576176"/>
                </a:solidFill>
                <a:latin typeface="Pretendard"/>
              </a:rPr>
              <a:t>- 20/144 -</a:t>
            </a:r>
            <a:endParaRPr lang="ko-KR" altLang="en-US" sz="1200">
              <a:solidFill>
                <a:srgbClr val="576176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26684528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정리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중소기업 실무 적용 사례와 활용 포인트</a:t>
            </a:r>
          </a:p>
        </p:txBody>
      </p:sp>
      <p:sp>
        <p:nvSpPr>
          <p:cNvPr id="100" name="cardA"/>
          <p:cNvSpPr/>
          <p:nvPr/>
        </p:nvSpPr>
        <p:spPr>
          <a:xfrm>
            <a:off x="825500" y="1930400"/>
            <a:ext cx="10541000" cy="2489200"/>
          </a:xfrm>
          <a:prstGeom prst="roundRect">
            <a:avLst>
              <a:gd name="adj" fmla="val 4000"/>
            </a:avLst>
          </a:prstGeom>
          <a:solidFill>
            <a:srgbClr val="FBF3E3"/>
          </a:solidFill>
          <a:ln w="12700">
            <a:solidFill>
              <a:srgbClr val="EAC48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1" name="hA"/>
          <p:cNvSpPr txBox="1"/>
          <p:nvPr/>
        </p:nvSpPr>
        <p:spPr>
          <a:xfrm>
            <a:off x="1676400" y="2184400"/>
            <a:ext cx="5080000" cy="4064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r>
              <a:rPr lang="ko-KR" sz="1700" b="1" dirty="0">
                <a:solidFill>
                  <a:srgbClr val="B5781B"/>
                </a:solidFill>
                <a:latin typeface="Pretendard"/>
                <a:ea typeface="Pretendard"/>
              </a:rPr>
              <a:t>흔한 실수</a:t>
            </a:r>
          </a:p>
        </p:txBody>
      </p:sp>
      <p:sp>
        <p:nvSpPr>
          <p:cNvPr id="102" name="iA"/>
          <p:cNvSpPr txBox="1"/>
          <p:nvPr/>
        </p:nvSpPr>
        <p:spPr>
          <a:xfrm>
            <a:off x="1168400" y="2743200"/>
            <a:ext cx="9855200" cy="1473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200025" indent="-200025">
              <a:lnSpc>
                <a:spcPct val="120000"/>
              </a:lnSpc>
              <a:spcAft>
                <a:spcPts val="700"/>
              </a:spcAft>
              <a:buFont typeface="Arial"/>
              <a:buChar char="•"/>
            </a:pPr>
            <a:r>
              <a:rPr lang="ko-KR" sz="1450" dirty="0">
                <a:solidFill>
                  <a:srgbClr val="14213D"/>
                </a:solidFill>
                <a:latin typeface="Pretendard"/>
                <a:ea typeface="Pretendard"/>
              </a:rPr>
              <a:t>검수 지점을 정하지 않으면 자동화가 “통제 불가”가 된다. 단계마다 사람 게이트를 둔다.</a:t>
            </a:r>
          </a:p>
          <a:p>
            <a:pPr marL="200025" indent="-200025">
              <a:lnSpc>
                <a:spcPct val="120000"/>
              </a:lnSpc>
              <a:spcAft>
                <a:spcPts val="700"/>
              </a:spcAft>
              <a:buFont typeface="Arial"/>
              <a:buChar char="•"/>
            </a:pPr>
            <a:r>
              <a:rPr lang="ko-KR" sz="1450" dirty="0">
                <a:solidFill>
                  <a:srgbClr val="14213D"/>
                </a:solidFill>
                <a:latin typeface="Pretendard"/>
                <a:ea typeface="Pretendard"/>
              </a:rPr>
              <a:t>절감 시간을 숫자로 남기지 않으면 도입 효과를 설득할 근거가 사라진다.</a:t>
            </a:r>
          </a:p>
        </p:txBody>
      </p:sp>
      <p:sp>
        <p:nvSpPr>
          <p:cNvPr id="103" name="cardB"/>
          <p:cNvSpPr/>
          <p:nvPr/>
        </p:nvSpPr>
        <p:spPr>
          <a:xfrm>
            <a:off x="825500" y="4724400"/>
            <a:ext cx="10541000" cy="1549400"/>
          </a:xfrm>
          <a:prstGeom prst="roundRect">
            <a:avLst>
              <a:gd name="adj" fmla="val 6000"/>
            </a:avLst>
          </a:prstGeom>
          <a:solidFill>
            <a:srgbClr val="14213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B"/>
          <p:cNvSpPr txBox="1"/>
          <p:nvPr/>
        </p:nvSpPr>
        <p:spPr>
          <a:xfrm>
            <a:off x="1778000" y="4927600"/>
            <a:ext cx="9144000" cy="1143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spcAft>
                <a:spcPts val="300"/>
              </a:spcAft>
            </a:pPr>
            <a:r>
              <a:rPr lang="ko-KR" sz="1400" b="1" dirty="0">
                <a:solidFill>
                  <a:srgbClr val="E8A33D"/>
                </a:solidFill>
                <a:latin typeface="JetBrains Mono"/>
                <a:ea typeface="JetBrains Mono"/>
              </a:rPr>
              <a:t>이 세션의 결과물</a:t>
            </a:r>
          </a:p>
          <a:p>
            <a:pPr>
              <a:lnSpc>
                <a:spcPct val="118000"/>
              </a:lnSpc>
            </a:pPr>
            <a:r>
              <a:rPr lang="ko-KR" sz="1600" b="1" dirty="0">
                <a:solidFill>
                  <a:srgbClr val="FFFFFF"/>
                </a:solidFill>
                <a:latin typeface="Pretendard"/>
                <a:ea typeface="Pretendard"/>
              </a:rPr>
              <a:t>1순위 자동화 시나리오 1건 — 현재 절차 → AI 절차 → 검수 지점.</a:t>
            </a:r>
          </a:p>
        </p:txBody>
      </p:sp>
      <p:pic>
        <p:nvPicPr>
          <p:cNvPr id="105" name="Graphic 105" descr="흔한 실수 경고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68400" y="2197100"/>
            <a:ext cx="381000" cy="381000"/>
          </a:xfrm>
          <a:prstGeom prst="rect">
            <a:avLst/>
          </a:prstGeom>
        </p:spPr>
      </p:pic>
      <p:pic>
        <p:nvPicPr>
          <p:cNvPr id="106" name="Graphic 106" descr="결과물 체크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8400" y="5308600"/>
            <a:ext cx="381000" cy="381000"/>
          </a:xfrm>
          <a:prstGeom prst="rect">
            <a:avLst/>
          </a:prstGeom>
        </p:spPr>
      </p:pic>
      <p:sp>
        <p:nvSpPr>
          <p:cNvPr id="4" name="PageNumber">
            <a:extLst>
              <a:ext uri="{FF2B5EF4-FFF2-40B4-BE49-F238E27FC236}">
                <a16:creationId xmlns:a16="http://schemas.microsoft.com/office/drawing/2014/main" id="{0F6F58FC-8797-484C-9641-F63B006E1E8D}"/>
              </a:ext>
            </a:extLst>
          </p:cNvPr>
          <p:cNvSpPr txBox="1"/>
          <p:nvPr/>
        </p:nvSpPr>
        <p:spPr>
          <a:xfrm>
            <a:off x="9499600" y="6489700"/>
            <a:ext cx="23368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r"/>
            <a:r>
              <a:rPr lang="en-US" altLang="ko-KR" sz="1200">
                <a:solidFill>
                  <a:srgbClr val="576176"/>
                </a:solidFill>
                <a:latin typeface="Pretendard"/>
              </a:rPr>
              <a:t>- 21/144 -</a:t>
            </a:r>
            <a:endParaRPr lang="ko-KR" altLang="en-US" sz="1200">
              <a:solidFill>
                <a:srgbClr val="576176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35479770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도구 가이드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이 모듈에서 쓰는 도구</a:t>
            </a:r>
          </a:p>
        </p:txBody>
      </p:sp>
      <p:sp>
        <p:nvSpPr>
          <p:cNvPr id="100" name="tc0"/>
          <p:cNvSpPr/>
          <p:nvPr/>
        </p:nvSpPr>
        <p:spPr>
          <a:xfrm>
            <a:off x="825500" y="1981200"/>
            <a:ext cx="5080000" cy="3149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CE6F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1" name="ci0"/>
          <p:cNvSpPr/>
          <p:nvPr/>
        </p:nvSpPr>
        <p:spPr>
          <a:xfrm>
            <a:off x="1181100" y="2311400"/>
            <a:ext cx="660400" cy="660400"/>
          </a:xfrm>
          <a:prstGeom prst="ellipse">
            <a:avLst/>
          </a:prstGeom>
          <a:solidFill>
            <a:srgbClr val="E7EEF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2" name="nm0"/>
          <p:cNvSpPr txBox="1"/>
          <p:nvPr/>
        </p:nvSpPr>
        <p:spPr>
          <a:xfrm>
            <a:off x="1993900" y="2311400"/>
            <a:ext cx="3683000" cy="6604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r>
              <a:rPr lang="en-US" sz="2000" b="1" dirty="0">
                <a:solidFill>
                  <a:srgbClr val="14213D"/>
                </a:solidFill>
                <a:latin typeface="Noto Serif KR"/>
                <a:ea typeface="Noto Serif KR"/>
              </a:rPr>
              <a:t>ChatGPT</a:t>
            </a:r>
          </a:p>
        </p:txBody>
      </p:sp>
      <p:sp>
        <p:nvSpPr>
          <p:cNvPr id="103" name="ds0"/>
          <p:cNvSpPr txBox="1"/>
          <p:nvPr/>
        </p:nvSpPr>
        <p:spPr>
          <a:xfrm>
            <a:off x="1181100" y="3200400"/>
            <a:ext cx="4368800" cy="1092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50000"/>
              </a:lnSpc>
            </a:pPr>
            <a:r>
              <a:rPr lang="ko-KR" sz="1450" dirty="0">
                <a:solidFill>
                  <a:srgbClr val="576176"/>
                </a:solidFill>
                <a:latin typeface="Pretendard"/>
                <a:ea typeface="Pretendard"/>
              </a:rPr>
              <a:t>범용 초안 생성·요약·분류. 무료(GPT-4o mini 등)로 시작할 수 있고 표·분류 작업에 강하다.</a:t>
            </a:r>
          </a:p>
        </p:txBody>
      </p:sp>
      <p:sp>
        <p:nvSpPr>
          <p:cNvPr id="104" name="us0"/>
          <p:cNvSpPr txBox="1"/>
          <p:nvPr/>
        </p:nvSpPr>
        <p:spPr>
          <a:xfrm>
            <a:off x="1181100" y="4495800"/>
            <a:ext cx="4368800" cy="482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lang="ko-KR" sz="1400" b="1" dirty="0">
                <a:solidFill>
                  <a:srgbClr val="B5781B"/>
                </a:solidFill>
                <a:latin typeface="Pretendard"/>
                <a:ea typeface="Pretendard"/>
              </a:rPr>
              <a:t>이럴 때 → 업무 진단표·카피 후보 대량 생성</a:t>
            </a:r>
          </a:p>
        </p:txBody>
      </p:sp>
      <p:sp>
        <p:nvSpPr>
          <p:cNvPr id="105" name="tc1"/>
          <p:cNvSpPr/>
          <p:nvPr/>
        </p:nvSpPr>
        <p:spPr>
          <a:xfrm>
            <a:off x="6286500" y="1981200"/>
            <a:ext cx="5080000" cy="3149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CE6F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6" name="ci1"/>
          <p:cNvSpPr/>
          <p:nvPr/>
        </p:nvSpPr>
        <p:spPr>
          <a:xfrm>
            <a:off x="6642100" y="2311400"/>
            <a:ext cx="660400" cy="660400"/>
          </a:xfrm>
          <a:prstGeom prst="ellipse">
            <a:avLst/>
          </a:prstGeom>
          <a:solidFill>
            <a:srgbClr val="FBEFD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7" name="nm1"/>
          <p:cNvSpPr txBox="1"/>
          <p:nvPr/>
        </p:nvSpPr>
        <p:spPr>
          <a:xfrm>
            <a:off x="7454900" y="2311400"/>
            <a:ext cx="3683000" cy="6604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r>
              <a:rPr lang="en-US" sz="2000" b="1" dirty="0">
                <a:solidFill>
                  <a:srgbClr val="14213D"/>
                </a:solidFill>
                <a:latin typeface="Noto Serif KR"/>
                <a:ea typeface="Noto Serif KR"/>
              </a:rPr>
              <a:t>Claude</a:t>
            </a:r>
          </a:p>
        </p:txBody>
      </p:sp>
      <p:sp>
        <p:nvSpPr>
          <p:cNvPr id="108" name="ds1"/>
          <p:cNvSpPr txBox="1"/>
          <p:nvPr/>
        </p:nvSpPr>
        <p:spPr>
          <a:xfrm>
            <a:off x="6642100" y="3200400"/>
            <a:ext cx="4368800" cy="1092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lnSpc>
                <a:spcPct val="150000"/>
              </a:lnSpc>
            </a:pPr>
            <a:r>
              <a:rPr lang="ko-KR" sz="1450" dirty="0">
                <a:solidFill>
                  <a:srgbClr val="576176"/>
                </a:solidFill>
                <a:latin typeface="Pretendard"/>
                <a:ea typeface="Pretendard"/>
              </a:rPr>
              <a:t>긴 문서 이해와 일관된 톤 유지에 강점. </a:t>
            </a:r>
            <a:endParaRPr lang="en-US" altLang="ko-KR" sz="1450" dirty="0">
              <a:solidFill>
                <a:srgbClr val="576176"/>
              </a:solidFill>
              <a:latin typeface="Pretendard"/>
              <a:ea typeface="Pretendard"/>
            </a:endParaRPr>
          </a:p>
          <a:p>
            <a:pPr>
              <a:lnSpc>
                <a:spcPct val="150000"/>
              </a:lnSpc>
            </a:pPr>
            <a:r>
              <a:rPr lang="ko-KR" sz="1450" dirty="0">
                <a:solidFill>
                  <a:srgbClr val="576176"/>
                </a:solidFill>
                <a:latin typeface="Pretendard"/>
                <a:ea typeface="Pretendard"/>
              </a:rPr>
              <a:t>구조가 중요한 글에 적합하다.</a:t>
            </a:r>
          </a:p>
        </p:txBody>
      </p:sp>
      <p:sp>
        <p:nvSpPr>
          <p:cNvPr id="109" name="us1"/>
          <p:cNvSpPr txBox="1"/>
          <p:nvPr/>
        </p:nvSpPr>
        <p:spPr>
          <a:xfrm>
            <a:off x="6642100" y="4495800"/>
            <a:ext cx="4368800" cy="482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lang="ko-KR" sz="1400" b="1" dirty="0">
                <a:solidFill>
                  <a:srgbClr val="B5781B"/>
                </a:solidFill>
                <a:latin typeface="Pretendard"/>
                <a:ea typeface="Pretendard"/>
              </a:rPr>
              <a:t>이럴 때 → 보도자료·장문 콘텐츠·톤 통일</a:t>
            </a:r>
          </a:p>
        </p:txBody>
      </p:sp>
      <p:sp>
        <p:nvSpPr>
          <p:cNvPr id="110" name="strip"/>
          <p:cNvSpPr/>
          <p:nvPr/>
        </p:nvSpPr>
        <p:spPr>
          <a:xfrm>
            <a:off x="825500" y="5384800"/>
            <a:ext cx="10541000" cy="914400"/>
          </a:xfrm>
          <a:prstGeom prst="roundRect">
            <a:avLst>
              <a:gd name="adj" fmla="val 10000"/>
            </a:avLst>
          </a:prstGeom>
          <a:solidFill>
            <a:srgbClr val="DCE6F2"/>
          </a:solidFill>
          <a:ln>
            <a:noFill/>
          </a:ln>
        </p:spPr>
        <p:txBody>
          <a:bodyPr wrap="square" lIns="304800" tIns="0" rIns="304800" bIns="0" anchor="ctr"/>
          <a:lstStyle/>
          <a:p>
            <a:pPr>
              <a:lnSpc>
                <a:spcPct val="118000"/>
              </a:lnSpc>
            </a:pPr>
            <a:r>
              <a:rPr lang="ko-KR" sz="1450" b="1" dirty="0">
                <a:solidFill>
                  <a:srgbClr val="1D4E89"/>
                </a:solidFill>
                <a:latin typeface="Pretendard"/>
                <a:ea typeface="Pretendard"/>
              </a:rPr>
              <a:t>선택 기준  </a:t>
            </a:r>
            <a:r>
              <a:rPr lang="ko-KR" sz="1450" dirty="0">
                <a:solidFill>
                  <a:srgbClr val="14213D"/>
                </a:solidFill>
                <a:latin typeface="Pretendard"/>
                <a:ea typeface="Pretendard"/>
              </a:rPr>
              <a:t>분류·표 작업은 ChatGPT, 긴 글·톤 일관성은 Claude. 둘 다 무료로 시작해 비교해 보세요.</a:t>
            </a:r>
          </a:p>
        </p:txBody>
      </p:sp>
      <p:pic>
        <p:nvPicPr>
          <p:cNvPr id="111" name="Graphic 111" descr="ChatGPT 아이콘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82700" y="2413000"/>
            <a:ext cx="457200" cy="457200"/>
          </a:xfrm>
          <a:prstGeom prst="rect">
            <a:avLst/>
          </a:prstGeom>
        </p:spPr>
      </p:pic>
      <p:pic>
        <p:nvPicPr>
          <p:cNvPr id="112" name="Graphic 112" descr="Claude 아이콘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43700" y="2413000"/>
            <a:ext cx="457200" cy="457200"/>
          </a:xfrm>
          <a:prstGeom prst="rect">
            <a:avLst/>
          </a:prstGeom>
        </p:spPr>
      </p:pic>
      <p:sp>
        <p:nvSpPr>
          <p:cNvPr id="4" name="PageNumber">
            <a:extLst>
              <a:ext uri="{FF2B5EF4-FFF2-40B4-BE49-F238E27FC236}">
                <a16:creationId xmlns:a16="http://schemas.microsoft.com/office/drawing/2014/main" id="{EC39E556-DFFE-1444-B155-20CA5CC601F0}"/>
              </a:ext>
            </a:extLst>
          </p:cNvPr>
          <p:cNvSpPr txBox="1"/>
          <p:nvPr/>
        </p:nvSpPr>
        <p:spPr>
          <a:xfrm>
            <a:off x="9499600" y="6489700"/>
            <a:ext cx="23368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r"/>
            <a:r>
              <a:rPr lang="en-US" altLang="ko-KR" sz="1200">
                <a:solidFill>
                  <a:srgbClr val="576176"/>
                </a:solidFill>
                <a:latin typeface="Pretendard"/>
              </a:rPr>
              <a:t>- 22/144 -</a:t>
            </a:r>
            <a:endParaRPr lang="ko-KR" altLang="en-US" sz="1200">
              <a:solidFill>
                <a:srgbClr val="576176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14123660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CHECKLIST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모듈 체크리스트</a:t>
            </a:r>
          </a:p>
        </p:txBody>
      </p:sp>
      <p:sp>
        <p:nvSpPr>
          <p:cNvPr id="100" name="row0"/>
          <p:cNvSpPr/>
          <p:nvPr/>
        </p:nvSpPr>
        <p:spPr>
          <a:xfrm>
            <a:off x="825500" y="1930400"/>
            <a:ext cx="10541000" cy="12192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CE6F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1" name="cb0"/>
          <p:cNvSpPr txBox="1"/>
          <p:nvPr/>
        </p:nvSpPr>
        <p:spPr>
          <a:xfrm>
            <a:off x="1155700" y="231140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FBEFD8"/>
          </a:solidFill>
          <a:ln w="19050">
            <a:solidFill>
              <a:srgbClr val="E8A33D"/>
            </a:solidFill>
          </a:ln>
        </p:spPr>
        <p:txBody>
          <a:bodyPr wrap="none" lIns="0" tIns="0" rIns="0" bIns="0" anchor="ctr"/>
          <a:lstStyle/>
          <a:p>
            <a:pPr algn="ctr"/>
            <a:r>
              <a:rPr lang="en-US" sz="1600" b="1" dirty="0">
                <a:solidFill>
                  <a:srgbClr val="B5781B"/>
                </a:solidFill>
                <a:latin typeface="Pretendard"/>
                <a:ea typeface="Pretendard"/>
              </a:rPr>
              <a:t>✓</a:t>
            </a:r>
          </a:p>
        </p:txBody>
      </p:sp>
      <p:sp>
        <p:nvSpPr>
          <p:cNvPr id="102" name="tx0"/>
          <p:cNvSpPr txBox="1"/>
          <p:nvPr/>
        </p:nvSpPr>
        <p:spPr>
          <a:xfrm>
            <a:off x="1943100" y="2133600"/>
            <a:ext cx="9144000" cy="812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spcAft>
                <a:spcPts val="300"/>
              </a:spcAft>
            </a:pPr>
            <a:r>
              <a:rPr lang="ko-KR" sz="1700" b="1" dirty="0">
                <a:solidFill>
                  <a:srgbClr val="14213D"/>
                </a:solidFill>
                <a:latin typeface="Pretendard"/>
                <a:ea typeface="Pretendard"/>
              </a:rPr>
              <a:t>내 홍보 업무를 입력 → 처리 → 출력으로 분해했다.</a:t>
            </a:r>
          </a:p>
          <a:p>
            <a:r>
              <a:rPr lang="ko-KR" sz="1400" dirty="0">
                <a:solidFill>
                  <a:srgbClr val="576176"/>
                </a:solidFill>
                <a:latin typeface="Pretendard"/>
                <a:ea typeface="Pretendard"/>
              </a:rPr>
              <a:t>각 단계를 표로 정리 — 어디가 반복인지 한눈에 보인다.</a:t>
            </a:r>
          </a:p>
        </p:txBody>
      </p:sp>
      <p:sp>
        <p:nvSpPr>
          <p:cNvPr id="103" name="row1"/>
          <p:cNvSpPr/>
          <p:nvPr/>
        </p:nvSpPr>
        <p:spPr>
          <a:xfrm>
            <a:off x="825500" y="3429000"/>
            <a:ext cx="10541000" cy="12192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CE6F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4" name="cb1"/>
          <p:cNvSpPr txBox="1"/>
          <p:nvPr/>
        </p:nvSpPr>
        <p:spPr>
          <a:xfrm>
            <a:off x="1155700" y="381000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FBEFD8"/>
          </a:solidFill>
          <a:ln w="19050">
            <a:solidFill>
              <a:srgbClr val="E8A33D"/>
            </a:solidFill>
          </a:ln>
        </p:spPr>
        <p:txBody>
          <a:bodyPr wrap="none" lIns="0" tIns="0" rIns="0" bIns="0" anchor="ctr"/>
          <a:lstStyle/>
          <a:p>
            <a:pPr algn="ctr"/>
            <a:r>
              <a:rPr lang="en-US" sz="1600" b="1" dirty="0">
                <a:solidFill>
                  <a:srgbClr val="B5781B"/>
                </a:solidFill>
                <a:latin typeface="Pretendard"/>
                <a:ea typeface="Pretendard"/>
              </a:rPr>
              <a:t>✓</a:t>
            </a:r>
          </a:p>
        </p:txBody>
      </p:sp>
      <p:sp>
        <p:nvSpPr>
          <p:cNvPr id="105" name="tx1"/>
          <p:cNvSpPr txBox="1"/>
          <p:nvPr/>
        </p:nvSpPr>
        <p:spPr>
          <a:xfrm>
            <a:off x="1943100" y="3632200"/>
            <a:ext cx="9144000" cy="812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spcAft>
                <a:spcPts val="300"/>
              </a:spcAft>
            </a:pPr>
            <a:r>
              <a:rPr lang="ko-KR" sz="1700" b="1" dirty="0">
                <a:solidFill>
                  <a:srgbClr val="14213D"/>
                </a:solidFill>
                <a:latin typeface="Pretendard"/>
                <a:ea typeface="Pretendard"/>
              </a:rPr>
              <a:t>반복업무 진단표를 만들었다.</a:t>
            </a:r>
          </a:p>
          <a:p>
            <a:r>
              <a:rPr lang="ko-KR" sz="1400" dirty="0">
                <a:solidFill>
                  <a:srgbClr val="576176"/>
                </a:solidFill>
                <a:latin typeface="Pretendard"/>
                <a:ea typeface="Pretendard"/>
              </a:rPr>
              <a:t>반복성 · 자동화 적합도 · 추천 도구 · 예상 절감시간 컬럼 포함.</a:t>
            </a:r>
          </a:p>
        </p:txBody>
      </p:sp>
      <p:sp>
        <p:nvSpPr>
          <p:cNvPr id="106" name="row2"/>
          <p:cNvSpPr/>
          <p:nvPr/>
        </p:nvSpPr>
        <p:spPr>
          <a:xfrm>
            <a:off x="825500" y="4927600"/>
            <a:ext cx="10541000" cy="12192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CE6F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7" name="cb2"/>
          <p:cNvSpPr txBox="1"/>
          <p:nvPr/>
        </p:nvSpPr>
        <p:spPr>
          <a:xfrm>
            <a:off x="1155700" y="530860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FBEFD8"/>
          </a:solidFill>
          <a:ln w="19050">
            <a:solidFill>
              <a:srgbClr val="E8A33D"/>
            </a:solidFill>
          </a:ln>
        </p:spPr>
        <p:txBody>
          <a:bodyPr wrap="none" lIns="0" tIns="0" rIns="0" bIns="0" anchor="ctr"/>
          <a:lstStyle/>
          <a:p>
            <a:pPr algn="ctr"/>
            <a:r>
              <a:rPr lang="en-US" sz="1600" b="1" dirty="0">
                <a:solidFill>
                  <a:srgbClr val="B5781B"/>
                </a:solidFill>
                <a:latin typeface="Pretendard"/>
                <a:ea typeface="Pretendard"/>
              </a:rPr>
              <a:t>✓</a:t>
            </a:r>
          </a:p>
        </p:txBody>
      </p:sp>
      <p:sp>
        <p:nvSpPr>
          <p:cNvPr id="108" name="tx2"/>
          <p:cNvSpPr txBox="1"/>
          <p:nvPr/>
        </p:nvSpPr>
        <p:spPr>
          <a:xfrm>
            <a:off x="1943100" y="5130800"/>
            <a:ext cx="9144000" cy="812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spcAft>
                <a:spcPts val="300"/>
              </a:spcAft>
            </a:pPr>
            <a:r>
              <a:rPr lang="ko-KR" sz="1700" b="1" dirty="0">
                <a:solidFill>
                  <a:srgbClr val="14213D"/>
                </a:solidFill>
                <a:latin typeface="Pretendard"/>
                <a:ea typeface="Pretendard"/>
              </a:rPr>
              <a:t>ROI 1순위 업무의 자동화 시나리오를 그렸다.</a:t>
            </a:r>
          </a:p>
          <a:p>
            <a:r>
              <a:rPr lang="ko-KR" sz="1400" dirty="0">
                <a:solidFill>
                  <a:srgbClr val="576176"/>
                </a:solidFill>
                <a:latin typeface="Pretendard"/>
                <a:ea typeface="Pretendard"/>
              </a:rPr>
              <a:t>현재 절차 → AI 절차 → 사람 검수 지점까지 표시.</a:t>
            </a:r>
          </a:p>
        </p:txBody>
      </p:sp>
      <p:sp>
        <p:nvSpPr>
          <p:cNvPr id="4" name="PageNumber">
            <a:extLst>
              <a:ext uri="{FF2B5EF4-FFF2-40B4-BE49-F238E27FC236}">
                <a16:creationId xmlns:a16="http://schemas.microsoft.com/office/drawing/2014/main" id="{7532C664-1121-FF45-AC8D-A03188B9AF36}"/>
              </a:ext>
            </a:extLst>
          </p:cNvPr>
          <p:cNvSpPr txBox="1"/>
          <p:nvPr/>
        </p:nvSpPr>
        <p:spPr>
          <a:xfrm>
            <a:off x="9499600" y="6489700"/>
            <a:ext cx="23368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r"/>
            <a:r>
              <a:rPr lang="en-US" altLang="ko-KR" sz="1200">
                <a:solidFill>
                  <a:srgbClr val="576176"/>
                </a:solidFill>
                <a:latin typeface="Pretendard"/>
              </a:rPr>
              <a:t>- 23/144 -</a:t>
            </a:r>
            <a:endParaRPr lang="ko-KR" altLang="en-US" sz="1200">
              <a:solidFill>
                <a:srgbClr val="576176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39068246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7863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SESSION 1 · 공유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실습 결과 공유하기</a:t>
            </a:r>
          </a:p>
        </p:txBody>
      </p:sp>
      <p:sp>
        <p:nvSpPr>
          <p:cNvPr id="26" name="모서리가 둥근 직사각형 25">
            <a:extLst>
              <a:ext uri="{FF2B5EF4-FFF2-40B4-BE49-F238E27FC236}">
                <a16:creationId xmlns:a16="http://schemas.microsoft.com/office/drawing/2014/main" id="{E35DD006-E647-BC44-8C82-1BD4A9832B76}"/>
              </a:ext>
            </a:extLst>
          </p:cNvPr>
          <p:cNvSpPr/>
          <p:nvPr/>
        </p:nvSpPr>
        <p:spPr>
          <a:xfrm>
            <a:off x="825500" y="2032000"/>
            <a:ext cx="10541000" cy="1117600"/>
          </a:xfrm>
          <a:prstGeom prst="roundRect">
            <a:avLst>
              <a:gd name="adj" fmla="val 2273"/>
            </a:avLst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6CA99013-B57A-5141-9CB8-5B55F5BC5FD2}"/>
              </a:ext>
            </a:extLst>
          </p:cNvPr>
          <p:cNvSpPr/>
          <p:nvPr/>
        </p:nvSpPr>
        <p:spPr>
          <a:xfrm>
            <a:off x="825500" y="2032000"/>
            <a:ext cx="76200" cy="1117600"/>
          </a:xfrm>
          <a:prstGeom prst="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D2267D77-4405-7641-B4C8-EC147E0B28B6}"/>
              </a:ext>
            </a:extLst>
          </p:cNvPr>
          <p:cNvSpPr/>
          <p:nvPr/>
        </p:nvSpPr>
        <p:spPr>
          <a:xfrm>
            <a:off x="1168400" y="2349500"/>
            <a:ext cx="482600" cy="482600"/>
          </a:xfrm>
          <a:prstGeom prst="ellipse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  <a:latin typeface="JetBrains Mono"/>
              </a:rPr>
              <a:t>1</a:t>
            </a:r>
            <a:endParaRPr lang="ko-KR" altLang="en-US" sz="16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C33B5BB-23E1-204E-A0A3-06C1199A78FD}"/>
              </a:ext>
            </a:extLst>
          </p:cNvPr>
          <p:cNvSpPr txBox="1"/>
          <p:nvPr/>
        </p:nvSpPr>
        <p:spPr>
          <a:xfrm>
            <a:off x="1930400" y="2235200"/>
            <a:ext cx="3175000" cy="355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700" b="1">
                <a:solidFill>
                  <a:srgbClr val="14213D"/>
                </a:solidFill>
                <a:latin typeface="Pretendard"/>
              </a:rPr>
              <a:t>무엇을 공유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0AD3D70-95EC-0D4F-9CDE-154A5E373588}"/>
              </a:ext>
            </a:extLst>
          </p:cNvPr>
          <p:cNvSpPr txBox="1"/>
          <p:nvPr/>
        </p:nvSpPr>
        <p:spPr>
          <a:xfrm>
            <a:off x="1930400" y="2616200"/>
            <a:ext cx="9144000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500">
                <a:solidFill>
                  <a:srgbClr val="576176"/>
                </a:solidFill>
                <a:latin typeface="Pretendard"/>
              </a:rPr>
              <a:t>반복업무 진단표 </a:t>
            </a:r>
            <a:r>
              <a:rPr lang="en-US" altLang="ko-KR" sz="1500">
                <a:solidFill>
                  <a:srgbClr val="576176"/>
                </a:solidFill>
                <a:latin typeface="Pretendard"/>
              </a:rPr>
              <a:t>1</a:t>
            </a:r>
            <a:r>
              <a:rPr lang="ko-KR" altLang="en-US" sz="1500">
                <a:solidFill>
                  <a:srgbClr val="576176"/>
                </a:solidFill>
                <a:latin typeface="Pretendard"/>
              </a:rPr>
              <a:t>장 </a:t>
            </a:r>
            <a:r>
              <a:rPr lang="en-US" altLang="ko-KR" sz="1500">
                <a:solidFill>
                  <a:srgbClr val="576176"/>
                </a:solidFill>
                <a:latin typeface="Pretendard"/>
              </a:rPr>
              <a:t>— </a:t>
            </a:r>
            <a:r>
              <a:rPr lang="ko-KR" altLang="en-US" sz="1500">
                <a:solidFill>
                  <a:srgbClr val="576176"/>
                </a:solidFill>
                <a:latin typeface="Pretendard"/>
              </a:rPr>
              <a:t>업무</a:t>
            </a:r>
            <a:r>
              <a:rPr lang="en-US" altLang="ko-KR" sz="1500">
                <a:solidFill>
                  <a:srgbClr val="576176"/>
                </a:solidFill>
                <a:latin typeface="Pretendard"/>
              </a:rPr>
              <a:t>·</a:t>
            </a:r>
            <a:r>
              <a:rPr lang="ko-KR" altLang="en-US" sz="1500">
                <a:solidFill>
                  <a:srgbClr val="576176"/>
                </a:solidFill>
                <a:latin typeface="Pretendard"/>
              </a:rPr>
              <a:t>반복성</a:t>
            </a:r>
            <a:r>
              <a:rPr lang="en-US" altLang="ko-KR" sz="1500">
                <a:solidFill>
                  <a:srgbClr val="576176"/>
                </a:solidFill>
                <a:latin typeface="Pretendard"/>
              </a:rPr>
              <a:t>·</a:t>
            </a:r>
            <a:r>
              <a:rPr lang="ko-KR" altLang="en-US" sz="1500">
                <a:solidFill>
                  <a:srgbClr val="576176"/>
                </a:solidFill>
                <a:latin typeface="Pretendard"/>
              </a:rPr>
              <a:t>적합도</a:t>
            </a:r>
            <a:r>
              <a:rPr lang="en-US" altLang="ko-KR" sz="1500">
                <a:solidFill>
                  <a:srgbClr val="576176"/>
                </a:solidFill>
                <a:latin typeface="Pretendard"/>
              </a:rPr>
              <a:t>·</a:t>
            </a:r>
            <a:r>
              <a:rPr lang="ko-KR" altLang="en-US" sz="1500">
                <a:solidFill>
                  <a:srgbClr val="576176"/>
                </a:solidFill>
                <a:latin typeface="Pretendard"/>
              </a:rPr>
              <a:t>추천 도구</a:t>
            </a:r>
            <a:r>
              <a:rPr lang="en-US" altLang="ko-KR" sz="1500">
                <a:solidFill>
                  <a:srgbClr val="576176"/>
                </a:solidFill>
                <a:latin typeface="Pretendard"/>
              </a:rPr>
              <a:t>·</a:t>
            </a:r>
            <a:r>
              <a:rPr lang="ko-KR" altLang="en-US" sz="1500">
                <a:solidFill>
                  <a:srgbClr val="576176"/>
                </a:solidFill>
                <a:latin typeface="Pretendard"/>
              </a:rPr>
              <a:t>절감 시간</a:t>
            </a:r>
            <a:r>
              <a:rPr lang="en-US" altLang="ko-KR" sz="1500">
                <a:solidFill>
                  <a:srgbClr val="576176"/>
                </a:solidFill>
                <a:latin typeface="Pretendard"/>
              </a:rPr>
              <a:t>.</a:t>
            </a:r>
            <a:endParaRPr lang="ko-KR" altLang="en-US" sz="1500">
              <a:solidFill>
                <a:srgbClr val="576176"/>
              </a:solidFill>
              <a:latin typeface="Pretendard"/>
            </a:endParaRPr>
          </a:p>
        </p:txBody>
      </p:sp>
      <p:sp>
        <p:nvSpPr>
          <p:cNvPr id="31" name="모서리가 둥근 직사각형 30">
            <a:extLst>
              <a:ext uri="{FF2B5EF4-FFF2-40B4-BE49-F238E27FC236}">
                <a16:creationId xmlns:a16="http://schemas.microsoft.com/office/drawing/2014/main" id="{F5184509-9249-E044-BB8E-0B2C11CC07F2}"/>
              </a:ext>
            </a:extLst>
          </p:cNvPr>
          <p:cNvSpPr/>
          <p:nvPr/>
        </p:nvSpPr>
        <p:spPr>
          <a:xfrm>
            <a:off x="825500" y="3276600"/>
            <a:ext cx="10541000" cy="1117600"/>
          </a:xfrm>
          <a:prstGeom prst="roundRect">
            <a:avLst>
              <a:gd name="adj" fmla="val 2273"/>
            </a:avLst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F5CC630D-76DB-F645-B49A-A554D73691CB}"/>
              </a:ext>
            </a:extLst>
          </p:cNvPr>
          <p:cNvSpPr/>
          <p:nvPr/>
        </p:nvSpPr>
        <p:spPr>
          <a:xfrm>
            <a:off x="825500" y="3276600"/>
            <a:ext cx="76200" cy="1117600"/>
          </a:xfrm>
          <a:prstGeom prst="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0B18DEE2-E1D3-3942-881D-7E7DA525E481}"/>
              </a:ext>
            </a:extLst>
          </p:cNvPr>
          <p:cNvSpPr/>
          <p:nvPr/>
        </p:nvSpPr>
        <p:spPr>
          <a:xfrm>
            <a:off x="1168400" y="3594100"/>
            <a:ext cx="482600" cy="482600"/>
          </a:xfrm>
          <a:prstGeom prst="ellipse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  <a:latin typeface="JetBrains Mono"/>
              </a:rPr>
              <a:t>2</a:t>
            </a:r>
            <a:endParaRPr lang="ko-KR" altLang="en-US" sz="16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4E9C4FE-C00D-A349-8035-67217BC4502A}"/>
              </a:ext>
            </a:extLst>
          </p:cNvPr>
          <p:cNvSpPr txBox="1"/>
          <p:nvPr/>
        </p:nvSpPr>
        <p:spPr>
          <a:xfrm>
            <a:off x="1930400" y="3479800"/>
            <a:ext cx="3175000" cy="355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700" b="1">
                <a:solidFill>
                  <a:srgbClr val="14213D"/>
                </a:solidFill>
                <a:latin typeface="Pretendard"/>
              </a:rPr>
              <a:t>어떻게 발표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2A1A43D-8861-E84D-A8E4-23B8DEC482DE}"/>
              </a:ext>
            </a:extLst>
          </p:cNvPr>
          <p:cNvSpPr txBox="1"/>
          <p:nvPr/>
        </p:nvSpPr>
        <p:spPr>
          <a:xfrm>
            <a:off x="1930400" y="3860800"/>
            <a:ext cx="9144000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500">
                <a:solidFill>
                  <a:srgbClr val="576176"/>
                </a:solidFill>
                <a:latin typeface="Pretendard"/>
              </a:rPr>
              <a:t>1</a:t>
            </a:r>
            <a:r>
              <a:rPr lang="ko-KR" altLang="en-US" sz="1500">
                <a:solidFill>
                  <a:srgbClr val="576176"/>
                </a:solidFill>
                <a:latin typeface="Pretendard"/>
              </a:rPr>
              <a:t>순위 자동화 업무와 선정 이유를 </a:t>
            </a:r>
            <a:r>
              <a:rPr lang="en-US" altLang="ko-KR" sz="1500">
                <a:solidFill>
                  <a:srgbClr val="576176"/>
                </a:solidFill>
                <a:latin typeface="Pretendard"/>
              </a:rPr>
              <a:t>30</a:t>
            </a:r>
            <a:r>
              <a:rPr lang="ko-KR" altLang="en-US" sz="1500">
                <a:solidFill>
                  <a:srgbClr val="576176"/>
                </a:solidFill>
                <a:latin typeface="Pretendard"/>
              </a:rPr>
              <a:t>초로 설명한다</a:t>
            </a:r>
            <a:r>
              <a:rPr lang="en-US" altLang="ko-KR" sz="1500">
                <a:solidFill>
                  <a:srgbClr val="576176"/>
                </a:solidFill>
                <a:latin typeface="Pretendard"/>
              </a:rPr>
              <a:t>.</a:t>
            </a:r>
            <a:endParaRPr lang="ko-KR" altLang="en-US" sz="1500">
              <a:solidFill>
                <a:srgbClr val="576176"/>
              </a:solidFill>
              <a:latin typeface="Pretendard"/>
            </a:endParaRPr>
          </a:p>
        </p:txBody>
      </p:sp>
      <p:sp>
        <p:nvSpPr>
          <p:cNvPr id="36" name="모서리가 둥근 직사각형 35">
            <a:extLst>
              <a:ext uri="{FF2B5EF4-FFF2-40B4-BE49-F238E27FC236}">
                <a16:creationId xmlns:a16="http://schemas.microsoft.com/office/drawing/2014/main" id="{DE6D577F-2AA7-A745-AFD6-FFF707EE0114}"/>
              </a:ext>
            </a:extLst>
          </p:cNvPr>
          <p:cNvSpPr/>
          <p:nvPr/>
        </p:nvSpPr>
        <p:spPr>
          <a:xfrm>
            <a:off x="825500" y="4521200"/>
            <a:ext cx="10541000" cy="1117600"/>
          </a:xfrm>
          <a:prstGeom prst="roundRect">
            <a:avLst>
              <a:gd name="adj" fmla="val 2273"/>
            </a:avLst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2A5BE65F-4F7F-C94B-8A29-001A8FC15AB5}"/>
              </a:ext>
            </a:extLst>
          </p:cNvPr>
          <p:cNvSpPr/>
          <p:nvPr/>
        </p:nvSpPr>
        <p:spPr>
          <a:xfrm>
            <a:off x="825500" y="4521200"/>
            <a:ext cx="76200" cy="1117600"/>
          </a:xfrm>
          <a:prstGeom prst="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A6F7D8D5-6D11-2449-A61C-B8CBDCF1E0F5}"/>
              </a:ext>
            </a:extLst>
          </p:cNvPr>
          <p:cNvSpPr/>
          <p:nvPr/>
        </p:nvSpPr>
        <p:spPr>
          <a:xfrm>
            <a:off x="1168400" y="4838700"/>
            <a:ext cx="482600" cy="482600"/>
          </a:xfrm>
          <a:prstGeom prst="ellipse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  <a:latin typeface="JetBrains Mono"/>
              </a:rPr>
              <a:t>3</a:t>
            </a:r>
            <a:endParaRPr lang="ko-KR" altLang="en-US" sz="16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B69DBA8-AD65-7144-B3CC-7E58EE4282BD}"/>
              </a:ext>
            </a:extLst>
          </p:cNvPr>
          <p:cNvSpPr txBox="1"/>
          <p:nvPr/>
        </p:nvSpPr>
        <p:spPr>
          <a:xfrm>
            <a:off x="1930400" y="4724400"/>
            <a:ext cx="3175000" cy="355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700" b="1">
                <a:solidFill>
                  <a:srgbClr val="14213D"/>
                </a:solidFill>
                <a:latin typeface="Pretendard"/>
              </a:rPr>
              <a:t>피드백 관점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E6BDC85-31BD-EE4E-A934-ABACF959B172}"/>
              </a:ext>
            </a:extLst>
          </p:cNvPr>
          <p:cNvSpPr txBox="1"/>
          <p:nvPr/>
        </p:nvSpPr>
        <p:spPr>
          <a:xfrm>
            <a:off x="1930400" y="5105400"/>
            <a:ext cx="9144000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500">
                <a:solidFill>
                  <a:srgbClr val="576176"/>
                </a:solidFill>
                <a:latin typeface="Pretendard"/>
              </a:rPr>
              <a:t>적합도 판단이 타당한가 </a:t>
            </a:r>
            <a:r>
              <a:rPr lang="en-US" altLang="ko-KR" sz="1500">
                <a:solidFill>
                  <a:srgbClr val="576176"/>
                </a:solidFill>
                <a:latin typeface="Pretendard"/>
              </a:rPr>
              <a:t>· </a:t>
            </a:r>
            <a:r>
              <a:rPr lang="ko-KR" altLang="en-US" sz="1500">
                <a:solidFill>
                  <a:srgbClr val="576176"/>
                </a:solidFill>
                <a:latin typeface="Pretendard"/>
              </a:rPr>
              <a:t>검수 지점을 빠뜨리지 않았나</a:t>
            </a:r>
            <a:r>
              <a:rPr lang="en-US" altLang="ko-KR" sz="1500">
                <a:solidFill>
                  <a:srgbClr val="576176"/>
                </a:solidFill>
                <a:latin typeface="Pretendard"/>
              </a:rPr>
              <a:t>.</a:t>
            </a:r>
            <a:endParaRPr lang="ko-KR" altLang="en-US" sz="1500">
              <a:solidFill>
                <a:srgbClr val="576176"/>
              </a:solidFill>
              <a:latin typeface="Pretendard"/>
            </a:endParaRPr>
          </a:p>
        </p:txBody>
      </p:sp>
      <p:sp>
        <p:nvSpPr>
          <p:cNvPr id="4" name="PageNumber">
            <a:extLst>
              <a:ext uri="{FF2B5EF4-FFF2-40B4-BE49-F238E27FC236}">
                <a16:creationId xmlns:a16="http://schemas.microsoft.com/office/drawing/2014/main" id="{6EE4BD68-87DC-2D4E-98A9-9BD642829983}"/>
              </a:ext>
            </a:extLst>
          </p:cNvPr>
          <p:cNvSpPr txBox="1"/>
          <p:nvPr/>
        </p:nvSpPr>
        <p:spPr>
          <a:xfrm>
            <a:off x="9499600" y="6489700"/>
            <a:ext cx="23368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r"/>
            <a:r>
              <a:rPr lang="en-US" altLang="ko-KR" sz="1200">
                <a:solidFill>
                  <a:srgbClr val="576176"/>
                </a:solidFill>
                <a:latin typeface="Pretendard"/>
              </a:rPr>
              <a:t>- 24/144 -</a:t>
            </a:r>
            <a:endParaRPr lang="ko-KR" altLang="en-US" sz="1200">
              <a:solidFill>
                <a:srgbClr val="576176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41120652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7863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MODULE 1 · 토론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함께 생각해 볼 질문</a:t>
            </a:r>
          </a:p>
        </p:txBody>
      </p:sp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38312B1B-7EE9-0B4C-8FF4-595865641FA0}"/>
              </a:ext>
            </a:extLst>
          </p:cNvPr>
          <p:cNvSpPr/>
          <p:nvPr/>
        </p:nvSpPr>
        <p:spPr>
          <a:xfrm>
            <a:off x="825500" y="1930400"/>
            <a:ext cx="10541000" cy="1016000"/>
          </a:xfrm>
          <a:prstGeom prst="roundRect">
            <a:avLst>
              <a:gd name="adj" fmla="val 2500"/>
            </a:avLst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E2774B0-FC51-5B4E-BB52-546535AC7CB6}"/>
              </a:ext>
            </a:extLst>
          </p:cNvPr>
          <p:cNvSpPr/>
          <p:nvPr/>
        </p:nvSpPr>
        <p:spPr>
          <a:xfrm>
            <a:off x="825500" y="1930400"/>
            <a:ext cx="76200" cy="1016000"/>
          </a:xfrm>
          <a:prstGeom prst="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4B8002D1-0ECB-2E48-B41A-F4B334039EC4}"/>
              </a:ext>
            </a:extLst>
          </p:cNvPr>
          <p:cNvSpPr/>
          <p:nvPr/>
        </p:nvSpPr>
        <p:spPr>
          <a:xfrm>
            <a:off x="1168400" y="2209800"/>
            <a:ext cx="685800" cy="457200"/>
          </a:xfrm>
          <a:prstGeom prst="roundRect">
            <a:avLst>
              <a:gd name="adj" fmla="val 5556"/>
            </a:avLst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500" b="1">
                <a:solidFill>
                  <a:srgbClr val="FFFFFF"/>
                </a:solidFill>
                <a:latin typeface="JetBrains Mono"/>
              </a:rPr>
              <a:t>Q1</a:t>
            </a:r>
            <a:endParaRPr lang="ko-KR" altLang="en-US" sz="15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DF70E4-C9F3-9349-BAB9-552CA787115A}"/>
              </a:ext>
            </a:extLst>
          </p:cNvPr>
          <p:cNvSpPr txBox="1"/>
          <p:nvPr/>
        </p:nvSpPr>
        <p:spPr>
          <a:xfrm>
            <a:off x="2108200" y="1930400"/>
            <a:ext cx="8890000" cy="1016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700" b="1">
                <a:solidFill>
                  <a:srgbClr val="14213D"/>
                </a:solidFill>
                <a:latin typeface="Pretendard"/>
              </a:rPr>
              <a:t>우리 팀에서 가장 먼저 자동화할 반복업무는 무엇인가</a:t>
            </a:r>
            <a:r>
              <a:rPr lang="en-US" altLang="ko-KR" sz="1700" b="1">
                <a:solidFill>
                  <a:srgbClr val="14213D"/>
                </a:solidFill>
                <a:latin typeface="Pretendard"/>
              </a:rPr>
              <a:t>?</a:t>
            </a:r>
            <a:endParaRPr lang="ko-KR" altLang="en-US" sz="1700" b="1">
              <a:solidFill>
                <a:srgbClr val="14213D"/>
              </a:solidFill>
              <a:latin typeface="Pretendard"/>
            </a:endParaRP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F9DF9C1B-7C4C-8C4F-9158-56E2D593FF75}"/>
              </a:ext>
            </a:extLst>
          </p:cNvPr>
          <p:cNvSpPr/>
          <p:nvPr/>
        </p:nvSpPr>
        <p:spPr>
          <a:xfrm>
            <a:off x="825500" y="3098800"/>
            <a:ext cx="10541000" cy="1016000"/>
          </a:xfrm>
          <a:prstGeom prst="roundRect">
            <a:avLst>
              <a:gd name="adj" fmla="val 2500"/>
            </a:avLst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C2B98D9-9022-3344-98AF-2A36EE0E3DAE}"/>
              </a:ext>
            </a:extLst>
          </p:cNvPr>
          <p:cNvSpPr/>
          <p:nvPr/>
        </p:nvSpPr>
        <p:spPr>
          <a:xfrm>
            <a:off x="825500" y="3098800"/>
            <a:ext cx="76200" cy="1016000"/>
          </a:xfrm>
          <a:prstGeom prst="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7274F47D-00D5-9D42-91B9-8CB41E91A824}"/>
              </a:ext>
            </a:extLst>
          </p:cNvPr>
          <p:cNvSpPr/>
          <p:nvPr/>
        </p:nvSpPr>
        <p:spPr>
          <a:xfrm>
            <a:off x="1168400" y="3378200"/>
            <a:ext cx="685800" cy="457200"/>
          </a:xfrm>
          <a:prstGeom prst="roundRect">
            <a:avLst>
              <a:gd name="adj" fmla="val 5556"/>
            </a:avLst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500" b="1">
                <a:solidFill>
                  <a:srgbClr val="FFFFFF"/>
                </a:solidFill>
                <a:latin typeface="JetBrains Mono"/>
              </a:rPr>
              <a:t>Q2</a:t>
            </a:r>
            <a:endParaRPr lang="ko-KR" altLang="en-US" sz="15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9D47EA-B5AB-EE40-AD59-F906235A941F}"/>
              </a:ext>
            </a:extLst>
          </p:cNvPr>
          <p:cNvSpPr txBox="1"/>
          <p:nvPr/>
        </p:nvSpPr>
        <p:spPr>
          <a:xfrm>
            <a:off x="2108200" y="3098800"/>
            <a:ext cx="8890000" cy="1016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700" b="1">
                <a:solidFill>
                  <a:srgbClr val="14213D"/>
                </a:solidFill>
                <a:latin typeface="Pretendard"/>
              </a:rPr>
              <a:t>절대 검수를 생략하면 안 되는 콘텐츠는 무엇인가</a:t>
            </a:r>
            <a:r>
              <a:rPr lang="en-US" altLang="ko-KR" sz="1700" b="1">
                <a:solidFill>
                  <a:srgbClr val="14213D"/>
                </a:solidFill>
                <a:latin typeface="Pretendard"/>
              </a:rPr>
              <a:t>?</a:t>
            </a:r>
            <a:endParaRPr lang="ko-KR" altLang="en-US" sz="1700" b="1">
              <a:solidFill>
                <a:srgbClr val="14213D"/>
              </a:solidFill>
              <a:latin typeface="Pretendard"/>
            </a:endParaRPr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7814E45D-27F0-7A43-8EF8-BB9EC8E00A1D}"/>
              </a:ext>
            </a:extLst>
          </p:cNvPr>
          <p:cNvSpPr/>
          <p:nvPr/>
        </p:nvSpPr>
        <p:spPr>
          <a:xfrm>
            <a:off x="825500" y="4267200"/>
            <a:ext cx="10541000" cy="1016000"/>
          </a:xfrm>
          <a:prstGeom prst="roundRect">
            <a:avLst>
              <a:gd name="adj" fmla="val 2500"/>
            </a:avLst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C3F9DB5-02BA-094A-AAD8-9CD766788589}"/>
              </a:ext>
            </a:extLst>
          </p:cNvPr>
          <p:cNvSpPr/>
          <p:nvPr/>
        </p:nvSpPr>
        <p:spPr>
          <a:xfrm>
            <a:off x="825500" y="4267200"/>
            <a:ext cx="76200" cy="1016000"/>
          </a:xfrm>
          <a:prstGeom prst="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4" name="모서리가 둥근 직사각형 13">
            <a:extLst>
              <a:ext uri="{FF2B5EF4-FFF2-40B4-BE49-F238E27FC236}">
                <a16:creationId xmlns:a16="http://schemas.microsoft.com/office/drawing/2014/main" id="{F15B9EFC-6027-9C4B-ACDE-A086D877D5FA}"/>
              </a:ext>
            </a:extLst>
          </p:cNvPr>
          <p:cNvSpPr/>
          <p:nvPr/>
        </p:nvSpPr>
        <p:spPr>
          <a:xfrm>
            <a:off x="1168400" y="4546600"/>
            <a:ext cx="685800" cy="457200"/>
          </a:xfrm>
          <a:prstGeom prst="roundRect">
            <a:avLst>
              <a:gd name="adj" fmla="val 5556"/>
            </a:avLst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500" b="1">
                <a:solidFill>
                  <a:srgbClr val="FFFFFF"/>
                </a:solidFill>
                <a:latin typeface="JetBrains Mono"/>
              </a:rPr>
              <a:t>Q3</a:t>
            </a:r>
            <a:endParaRPr lang="ko-KR" altLang="en-US" sz="15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89AA6A4-EB3E-2B40-918B-4BAC1D305074}"/>
              </a:ext>
            </a:extLst>
          </p:cNvPr>
          <p:cNvSpPr txBox="1"/>
          <p:nvPr/>
        </p:nvSpPr>
        <p:spPr>
          <a:xfrm>
            <a:off x="2108200" y="4267200"/>
            <a:ext cx="8890000" cy="1016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altLang="ko-KR" sz="1700" b="1">
                <a:solidFill>
                  <a:srgbClr val="14213D"/>
                </a:solidFill>
                <a:latin typeface="Pretendard"/>
              </a:rPr>
              <a:t>AI</a:t>
            </a:r>
            <a:r>
              <a:rPr lang="ko-KR" altLang="en-US" sz="1700" b="1">
                <a:solidFill>
                  <a:srgbClr val="14213D"/>
                </a:solidFill>
                <a:latin typeface="Pretendard"/>
              </a:rPr>
              <a:t>가 잘 못해서</a:t>
            </a:r>
            <a:r>
              <a:rPr lang="en-US" altLang="ko-KR" sz="1700" b="1">
                <a:solidFill>
                  <a:srgbClr val="14213D"/>
                </a:solidFill>
                <a:latin typeface="Pretendard"/>
              </a:rPr>
              <a:t>, </a:t>
            </a:r>
            <a:r>
              <a:rPr lang="ko-KR" altLang="en-US" sz="1700" b="1">
                <a:solidFill>
                  <a:srgbClr val="14213D"/>
                </a:solidFill>
                <a:latin typeface="Pretendard"/>
              </a:rPr>
              <a:t>사람이 꼭 해야 하는 일은 무엇인가</a:t>
            </a:r>
            <a:r>
              <a:rPr lang="en-US" altLang="ko-KR" sz="1700" b="1">
                <a:solidFill>
                  <a:srgbClr val="14213D"/>
                </a:solidFill>
                <a:latin typeface="Pretendard"/>
              </a:rPr>
              <a:t>?</a:t>
            </a:r>
            <a:endParaRPr lang="ko-KR" altLang="en-US" sz="1700" b="1">
              <a:solidFill>
                <a:srgbClr val="14213D"/>
              </a:solidFill>
              <a:latin typeface="Pretendard"/>
            </a:endParaRPr>
          </a:p>
        </p:txBody>
      </p:sp>
      <p:sp>
        <p:nvSpPr>
          <p:cNvPr id="16" name="모서리가 둥근 직사각형 15">
            <a:extLst>
              <a:ext uri="{FF2B5EF4-FFF2-40B4-BE49-F238E27FC236}">
                <a16:creationId xmlns:a16="http://schemas.microsoft.com/office/drawing/2014/main" id="{EE2CD15E-1FC6-D14E-BBF1-FCB9D1C5DC5B}"/>
              </a:ext>
            </a:extLst>
          </p:cNvPr>
          <p:cNvSpPr/>
          <p:nvPr/>
        </p:nvSpPr>
        <p:spPr>
          <a:xfrm>
            <a:off x="825500" y="5486400"/>
            <a:ext cx="10541000" cy="660400"/>
          </a:xfrm>
          <a:prstGeom prst="roundRect">
            <a:avLst>
              <a:gd name="adj" fmla="val 3846"/>
            </a:avLst>
          </a:prstGeom>
          <a:solidFill>
            <a:srgbClr val="FBEF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C2E5CFB-EF60-EE47-AC6B-D577B25DDD30}"/>
              </a:ext>
            </a:extLst>
          </p:cNvPr>
          <p:cNvSpPr txBox="1"/>
          <p:nvPr/>
        </p:nvSpPr>
        <p:spPr>
          <a:xfrm>
            <a:off x="1143000" y="5486400"/>
            <a:ext cx="9906000" cy="660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500" b="1">
                <a:solidFill>
                  <a:srgbClr val="9A6B12"/>
                </a:solidFill>
                <a:latin typeface="Pretendard"/>
              </a:rPr>
              <a:t>정답은 없습니다 </a:t>
            </a:r>
            <a:r>
              <a:rPr lang="en-US" altLang="ko-KR" sz="1500" b="1">
                <a:solidFill>
                  <a:srgbClr val="9A6B12"/>
                </a:solidFill>
                <a:latin typeface="Pretendard"/>
              </a:rPr>
              <a:t>— </a:t>
            </a:r>
            <a:r>
              <a:rPr lang="ko-KR" altLang="en-US" sz="1500" b="1">
                <a:solidFill>
                  <a:srgbClr val="9A6B12"/>
                </a:solidFill>
                <a:latin typeface="Pretendard"/>
              </a:rPr>
              <a:t>우리 회사 상황에 맞춰 자유롭게 이야기해 보세요</a:t>
            </a:r>
            <a:r>
              <a:rPr lang="en-US" altLang="ko-KR" sz="1500" b="1">
                <a:solidFill>
                  <a:srgbClr val="9A6B12"/>
                </a:solidFill>
                <a:latin typeface="Pretendard"/>
              </a:rPr>
              <a:t>.</a:t>
            </a:r>
            <a:endParaRPr lang="ko-KR" altLang="en-US" sz="1500" b="1">
              <a:solidFill>
                <a:srgbClr val="9A6B12"/>
              </a:solidFill>
              <a:latin typeface="Pretendard"/>
            </a:endParaRPr>
          </a:p>
        </p:txBody>
      </p:sp>
      <p:sp>
        <p:nvSpPr>
          <p:cNvPr id="18" name="PageNumber">
            <a:extLst>
              <a:ext uri="{FF2B5EF4-FFF2-40B4-BE49-F238E27FC236}">
                <a16:creationId xmlns:a16="http://schemas.microsoft.com/office/drawing/2014/main" id="{3BB07B6D-DFA7-B842-947B-AFD62C46D534}"/>
              </a:ext>
            </a:extLst>
          </p:cNvPr>
          <p:cNvSpPr txBox="1"/>
          <p:nvPr/>
        </p:nvSpPr>
        <p:spPr>
          <a:xfrm>
            <a:off x="9499600" y="6489700"/>
            <a:ext cx="23368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r"/>
            <a:r>
              <a:rPr lang="en-US" altLang="ko-KR" sz="1200">
                <a:solidFill>
                  <a:srgbClr val="576176"/>
                </a:solidFill>
                <a:latin typeface="Pretendard"/>
              </a:rPr>
              <a:t>- 25/144 -</a:t>
            </a:r>
            <a:endParaRPr lang="ko-KR" altLang="en-US" sz="1200">
              <a:solidFill>
                <a:srgbClr val="576176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3184358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2960" y="1371600"/>
            <a:ext cx="822960" cy="10972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600200"/>
            <a:ext cx="10515600" cy="15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lang="ko-KR" sz="1400" dirty="0">
                <a:solidFill>
                  <a:srgbClr val="E8A33D"/>
                </a:solidFill>
                <a:latin typeface="JetBrains Mono"/>
                <a:ea typeface="JetBrains Mono"/>
              </a:rPr>
              <a:t>MISSION · 도장깨기</a:t>
            </a:r>
          </a:p>
          <a:p>
            <a:r>
              <a:rPr lang="ko-KR" sz="3200" b="1" dirty="0">
                <a:solidFill>
                  <a:srgbClr val="FFFFFF"/>
                </a:solidFill>
                <a:latin typeface="Noto Serif KR"/>
                <a:ea typeface="Noto Serif KR"/>
              </a:rPr>
              <a:t>미션 01 — 반복 업무 찾기</a:t>
            </a:r>
          </a:p>
        </p:txBody>
      </p:sp>
      <p:sp>
        <p:nvSpPr>
          <p:cNvPr id="120" name="task"/>
          <p:cNvSpPr/>
          <p:nvPr/>
        </p:nvSpPr>
        <p:spPr>
          <a:xfrm>
            <a:off x="825500" y="3378200"/>
            <a:ext cx="10515600" cy="1371600"/>
          </a:xfrm>
          <a:prstGeom prst="roundRect">
            <a:avLst>
              <a:gd name="adj" fmla="val 7000"/>
            </a:avLst>
          </a:prstGeom>
          <a:solidFill>
            <a:srgbClr val="303C5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1" name="stripe"/>
          <p:cNvSpPr/>
          <p:nvPr/>
        </p:nvSpPr>
        <p:spPr>
          <a:xfrm>
            <a:off x="1003300" y="3606800"/>
            <a:ext cx="63500" cy="914400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2" name="ic"/>
          <p:cNvSpPr/>
          <p:nvPr/>
        </p:nvSpPr>
        <p:spPr>
          <a:xfrm>
            <a:off x="1320800" y="3683000"/>
            <a:ext cx="762000" cy="762000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3" name="tt"/>
          <p:cNvSpPr txBox="1"/>
          <p:nvPr/>
        </p:nvSpPr>
        <p:spPr>
          <a:xfrm>
            <a:off x="2489200" y="3581400"/>
            <a:ext cx="8509000" cy="965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spcAft>
                <a:spcPts val="300"/>
              </a:spcAft>
            </a:pPr>
            <a:r>
              <a:rPr lang="ko-KR" sz="1400" b="1" dirty="0">
                <a:solidFill>
                  <a:srgbClr val="E8A33D"/>
                </a:solidFill>
                <a:latin typeface="JetBrains Mono"/>
                <a:ea typeface="JetBrains Mono"/>
              </a:rPr>
              <a:t>이번 미션</a:t>
            </a:r>
          </a:p>
          <a:p>
            <a:pPr>
              <a:lnSpc>
                <a:spcPct val="116000"/>
              </a:lnSpc>
            </a:pPr>
            <a:r>
              <a:rPr lang="ko-KR" sz="1750" b="1" dirty="0">
                <a:solidFill>
                  <a:srgbClr val="FFFFFF"/>
                </a:solidFill>
                <a:latin typeface="Pretendard"/>
                <a:ea typeface="Pretendard"/>
              </a:rPr>
              <a:t>“매번 똑같이 하는 일”부터 — 자동화 1순위를 고른다.</a:t>
            </a:r>
          </a:p>
        </p:txBody>
      </p:sp>
      <p:sp>
        <p:nvSpPr>
          <p:cNvPr id="124" name="nextf"/>
          <p:cNvSpPr txBox="1"/>
          <p:nvPr/>
        </p:nvSpPr>
        <p:spPr>
          <a:xfrm>
            <a:off x="825500" y="5207000"/>
            <a:ext cx="10515600" cy="5080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r>
              <a:rPr lang="ko-KR" sz="1450" b="1" dirty="0">
                <a:solidFill>
                  <a:srgbClr val="E8A33D"/>
                </a:solidFill>
                <a:latin typeface="JetBrains Mono"/>
                <a:ea typeface="JetBrains Mono"/>
              </a:rPr>
              <a:t>▶  다음  </a:t>
            </a:r>
            <a:r>
              <a:rPr lang="ko-KR" sz="1700" b="1" dirty="0">
                <a:solidFill>
                  <a:srgbClr val="FFFFFF"/>
                </a:solidFill>
                <a:latin typeface="Pretendard"/>
                <a:ea typeface="Pretendard"/>
              </a:rPr>
              <a:t>M2. AI 기반 홍보 기획 실무</a:t>
            </a:r>
          </a:p>
        </p:txBody>
      </p:sp>
      <p:pic>
        <p:nvPicPr>
          <p:cNvPr id="125" name="Graphic 125" descr="미션 전구 아이콘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73200" y="3835400"/>
            <a:ext cx="457200" cy="457200"/>
          </a:xfrm>
          <a:prstGeom prst="rect">
            <a:avLst/>
          </a:prstGeom>
        </p:spPr>
      </p:pic>
      <p:grpSp>
        <p:nvGrpSpPr>
          <p:cNvPr id="4" name="그룹 3">
            <a:extLst>
              <a:ext uri="{FF2B5EF4-FFF2-40B4-BE49-F238E27FC236}">
                <a16:creationId xmlns:a16="http://schemas.microsoft.com/office/drawing/2014/main" id="{0E231CFA-7872-8654-FD9F-2ED8825576E5}"/>
              </a:ext>
            </a:extLst>
          </p:cNvPr>
          <p:cNvGrpSpPr/>
          <p:nvPr/>
        </p:nvGrpSpPr>
        <p:grpSpPr>
          <a:xfrm>
            <a:off x="8611677" y="506401"/>
            <a:ext cx="3580323" cy="3328999"/>
            <a:chOff x="13449300" y="2921000"/>
            <a:chExt cx="11036300" cy="10261600"/>
          </a:xfrm>
        </p:grpSpPr>
        <p:pic>
          <p:nvPicPr>
            <p:cNvPr id="5" name="Picture 2">
              <a:extLst>
                <a:ext uri="{FF2B5EF4-FFF2-40B4-BE49-F238E27FC236}">
                  <a16:creationId xmlns:a16="http://schemas.microsoft.com/office/drawing/2014/main" id="{26EBDDE6-D2D4-4D54-40FD-F579386F185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50000"/>
            </a:blip>
            <a:stretch>
              <a:fillRect/>
            </a:stretch>
          </p:blipFill>
          <p:spPr>
            <a:xfrm>
              <a:off x="21920200" y="8051800"/>
              <a:ext cx="2565400" cy="5130800"/>
            </a:xfrm>
            <a:prstGeom prst="rect">
              <a:avLst/>
            </a:prstGeom>
          </p:spPr>
        </p:pic>
        <p:pic>
          <p:nvPicPr>
            <p:cNvPr id="6" name="Picture 3">
              <a:extLst>
                <a:ext uri="{FF2B5EF4-FFF2-40B4-BE49-F238E27FC236}">
                  <a16:creationId xmlns:a16="http://schemas.microsoft.com/office/drawing/2014/main" id="{EE73BB28-F023-4CC0-F2ED-1CD16093438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70000"/>
            </a:blip>
            <a:stretch>
              <a:fillRect/>
            </a:stretch>
          </p:blipFill>
          <p:spPr>
            <a:xfrm>
              <a:off x="14185900" y="8686800"/>
              <a:ext cx="4495800" cy="4495800"/>
            </a:xfrm>
            <a:prstGeom prst="rect">
              <a:avLst/>
            </a:prstGeom>
          </p:spPr>
        </p:pic>
        <p:pic>
          <p:nvPicPr>
            <p:cNvPr id="7" name="Picture 4">
              <a:extLst>
                <a:ext uri="{FF2B5EF4-FFF2-40B4-BE49-F238E27FC236}">
                  <a16:creationId xmlns:a16="http://schemas.microsoft.com/office/drawing/2014/main" id="{1383E74A-C745-B59B-413C-2F0AD065CFB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alphaModFix amt="70000"/>
            </a:blip>
            <a:stretch>
              <a:fillRect/>
            </a:stretch>
          </p:blipFill>
          <p:spPr>
            <a:xfrm>
              <a:off x="16433800" y="6007100"/>
              <a:ext cx="6172200" cy="6172200"/>
            </a:xfrm>
            <a:prstGeom prst="rect">
              <a:avLst/>
            </a:prstGeom>
          </p:spPr>
        </p:pic>
        <p:pic>
          <p:nvPicPr>
            <p:cNvPr id="8" name="Picture 5">
              <a:extLst>
                <a:ext uri="{FF2B5EF4-FFF2-40B4-BE49-F238E27FC236}">
                  <a16:creationId xmlns:a16="http://schemas.microsoft.com/office/drawing/2014/main" id="{CAC46F4B-7752-4185-DC43-86C2566D088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alphaModFix amt="70000"/>
            </a:blip>
            <a:stretch>
              <a:fillRect/>
            </a:stretch>
          </p:blipFill>
          <p:spPr>
            <a:xfrm>
              <a:off x="20688300" y="2921000"/>
              <a:ext cx="1244600" cy="1244600"/>
            </a:xfrm>
            <a:prstGeom prst="rect">
              <a:avLst/>
            </a:prstGeom>
          </p:spPr>
        </p:pic>
        <p:pic>
          <p:nvPicPr>
            <p:cNvPr id="9" name="Picture 7">
              <a:extLst>
                <a:ext uri="{FF2B5EF4-FFF2-40B4-BE49-F238E27FC236}">
                  <a16:creationId xmlns:a16="http://schemas.microsoft.com/office/drawing/2014/main" id="{F717DAC7-82D9-A5D2-14C8-F5D864D2853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alphaModFix amt="70000"/>
            </a:blip>
            <a:stretch>
              <a:fillRect/>
            </a:stretch>
          </p:blipFill>
          <p:spPr>
            <a:xfrm>
              <a:off x="13449300" y="11684000"/>
              <a:ext cx="1485900" cy="1485900"/>
            </a:xfrm>
            <a:prstGeom prst="rect">
              <a:avLst/>
            </a:prstGeom>
          </p:spPr>
        </p:pic>
        <p:pic>
          <p:nvPicPr>
            <p:cNvPr id="10" name="Picture 8">
              <a:extLst>
                <a:ext uri="{FF2B5EF4-FFF2-40B4-BE49-F238E27FC236}">
                  <a16:creationId xmlns:a16="http://schemas.microsoft.com/office/drawing/2014/main" id="{4DF87232-8E1F-FE1C-C9C9-9FABBAFC5A5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alphaModFix amt="41000"/>
            </a:blip>
            <a:stretch>
              <a:fillRect/>
            </a:stretch>
          </p:blipFill>
          <p:spPr>
            <a:xfrm rot="5400000">
              <a:off x="21869400" y="6515100"/>
              <a:ext cx="3670300" cy="1562100"/>
            </a:xfrm>
            <a:prstGeom prst="rect">
              <a:avLst/>
            </a:prstGeom>
          </p:spPr>
        </p:pic>
      </p:grpSp>
      <p:sp>
        <p:nvSpPr>
          <p:cNvPr id="11" name="PageNumber">
            <a:extLst>
              <a:ext uri="{FF2B5EF4-FFF2-40B4-BE49-F238E27FC236}">
                <a16:creationId xmlns:a16="http://schemas.microsoft.com/office/drawing/2014/main" id="{A9DD0C35-676B-2645-9122-BA0EB02E6416}"/>
              </a:ext>
            </a:extLst>
          </p:cNvPr>
          <p:cNvSpPr txBox="1"/>
          <p:nvPr/>
        </p:nvSpPr>
        <p:spPr>
          <a:xfrm>
            <a:off x="9499600" y="6489700"/>
            <a:ext cx="23368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r"/>
            <a:r>
              <a:rPr lang="en-US" altLang="ko-KR" sz="1200" dirty="0">
                <a:solidFill>
                  <a:srgbClr val="576176"/>
                </a:solidFill>
                <a:latin typeface="Pretendard"/>
              </a:rPr>
              <a:t>- </a:t>
            </a:r>
            <a:r>
              <a:rPr lang="en-US" altLang="ko-KR" sz="1200" dirty="0">
                <a:solidFill>
                  <a:schemeClr val="bg1"/>
                </a:solidFill>
                <a:latin typeface="Pretendard"/>
              </a:rPr>
              <a:t>26/144</a:t>
            </a:r>
            <a:r>
              <a:rPr lang="en-US" altLang="ko-KR" sz="1200" dirty="0">
                <a:solidFill>
                  <a:srgbClr val="576176"/>
                </a:solidFill>
                <a:latin typeface="Pretendard"/>
              </a:rPr>
              <a:t> -</a:t>
            </a:r>
            <a:endParaRPr lang="ko-KR" altLang="en-US" sz="1200" dirty="0">
              <a:solidFill>
                <a:srgbClr val="576176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4105780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4E8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2960" y="1554480"/>
            <a:ext cx="1005840" cy="128016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20762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1000"/>
              </a:spcAft>
            </a:pPr>
            <a:r>
              <a:rPr sz="1400" b="0" dirty="0">
                <a:solidFill>
                  <a:srgbClr val="BFD2EC"/>
                </a:solidFill>
                <a:latin typeface="JetBrains Mono"/>
                <a:ea typeface="JetBrains Mono"/>
                <a:cs typeface="JetBrains Mono"/>
              </a:rPr>
              <a:t>MODULE 2 · 2교시 · 10:00–10:50</a:t>
            </a:r>
          </a:p>
          <a:p>
            <a:pPr algn="l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</a:pPr>
            <a:r>
              <a:rPr sz="3800" b="1" dirty="0">
                <a:solidFill>
                  <a:srgbClr val="FFFFFF"/>
                </a:solidFill>
                <a:latin typeface="Noto Serif KR"/>
                <a:ea typeface="Noto Serif KR"/>
                <a:cs typeface="Noto Serif KR"/>
              </a:rPr>
              <a:t>M2. AI </a:t>
            </a:r>
            <a:r>
              <a:rPr sz="3800" b="1" dirty="0" err="1">
                <a:solidFill>
                  <a:srgbClr val="FFFFFF"/>
                </a:solidFill>
                <a:latin typeface="Noto Serif KR"/>
                <a:ea typeface="Noto Serif KR"/>
                <a:cs typeface="Noto Serif KR"/>
              </a:rPr>
              <a:t>기반</a:t>
            </a:r>
            <a:r>
              <a:rPr sz="3800" b="1" dirty="0">
                <a:solidFill>
                  <a:srgbClr val="FFFFFF"/>
                </a:solidFill>
                <a:latin typeface="Noto Serif KR"/>
                <a:ea typeface="Noto Serif KR"/>
                <a:cs typeface="Noto Serif KR"/>
              </a:rPr>
              <a:t> </a:t>
            </a:r>
            <a:r>
              <a:rPr sz="3800" b="1" dirty="0" err="1">
                <a:solidFill>
                  <a:srgbClr val="FFFFFF"/>
                </a:solidFill>
                <a:latin typeface="Noto Serif KR"/>
                <a:ea typeface="Noto Serif KR"/>
                <a:cs typeface="Noto Serif KR"/>
              </a:rPr>
              <a:t>홍보</a:t>
            </a:r>
            <a:r>
              <a:rPr sz="3800" b="1" dirty="0">
                <a:solidFill>
                  <a:srgbClr val="FFFFFF"/>
                </a:solidFill>
                <a:latin typeface="Noto Serif KR"/>
                <a:ea typeface="Noto Serif KR"/>
                <a:cs typeface="Noto Serif KR"/>
              </a:rPr>
              <a:t> </a:t>
            </a:r>
            <a:r>
              <a:rPr sz="3800" b="1" dirty="0" err="1">
                <a:solidFill>
                  <a:srgbClr val="FFFFFF"/>
                </a:solidFill>
                <a:latin typeface="Noto Serif KR"/>
                <a:ea typeface="Noto Serif KR"/>
                <a:cs typeface="Noto Serif KR"/>
              </a:rPr>
              <a:t>기획</a:t>
            </a:r>
            <a:r>
              <a:rPr sz="3800" b="1" dirty="0">
                <a:solidFill>
                  <a:srgbClr val="FFFFFF"/>
                </a:solidFill>
                <a:latin typeface="Noto Serif KR"/>
                <a:ea typeface="Noto Serif KR"/>
                <a:cs typeface="Noto Serif KR"/>
              </a:rPr>
              <a:t> </a:t>
            </a:r>
            <a:r>
              <a:rPr sz="3800" b="1" dirty="0" err="1">
                <a:solidFill>
                  <a:srgbClr val="FFFFFF"/>
                </a:solidFill>
                <a:latin typeface="Noto Serif KR"/>
                <a:ea typeface="Noto Serif KR"/>
                <a:cs typeface="Noto Serif KR"/>
              </a:rPr>
              <a:t>실무</a:t>
            </a:r>
            <a:endParaRPr sz="3800" b="1" dirty="0">
              <a:solidFill>
                <a:srgbClr val="FFFFFF"/>
              </a:solidFill>
              <a:latin typeface="Noto Serif KR"/>
              <a:ea typeface="Noto Serif KR"/>
              <a:cs typeface="Noto Serif KR"/>
            </a:endParaRPr>
          </a:p>
          <a:p>
            <a:pPr algn="l">
              <a:lnSpc>
                <a:spcPct val="140000"/>
              </a:lnSpc>
              <a:spcBef>
                <a:spcPts val="600"/>
              </a:spcBef>
              <a:spcAft>
                <a:spcPts val="400"/>
              </a:spcAft>
            </a:pPr>
            <a:r>
              <a:rPr sz="1500" b="0" dirty="0" err="1">
                <a:solidFill>
                  <a:srgbClr val="DBE6F6"/>
                </a:solidFill>
                <a:latin typeface="Pretendard"/>
                <a:ea typeface="Pretendard"/>
                <a:cs typeface="Pretendard"/>
              </a:rPr>
              <a:t>홍보</a:t>
            </a:r>
            <a:r>
              <a:rPr sz="1500" b="0" dirty="0">
                <a:solidFill>
                  <a:srgbClr val="DBE6F6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500" b="0" dirty="0" err="1">
                <a:solidFill>
                  <a:srgbClr val="DBE6F6"/>
                </a:solidFill>
                <a:latin typeface="Pretendard"/>
                <a:ea typeface="Pretendard"/>
                <a:cs typeface="Pretendard"/>
              </a:rPr>
              <a:t>목적→타깃→핵심</a:t>
            </a:r>
            <a:r>
              <a:rPr sz="1500" b="0" dirty="0">
                <a:solidFill>
                  <a:srgbClr val="DBE6F6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500" b="0" dirty="0" err="1">
                <a:solidFill>
                  <a:srgbClr val="DBE6F6"/>
                </a:solidFill>
                <a:latin typeface="Pretendard"/>
                <a:ea typeface="Pretendard"/>
                <a:cs typeface="Pretendard"/>
              </a:rPr>
              <a:t>메시지를</a:t>
            </a:r>
            <a:r>
              <a:rPr sz="1500" b="0" dirty="0">
                <a:solidFill>
                  <a:srgbClr val="DBE6F6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500" b="0" dirty="0" err="1">
                <a:solidFill>
                  <a:srgbClr val="DBE6F6"/>
                </a:solidFill>
                <a:latin typeface="Pretendard"/>
                <a:ea typeface="Pretendard"/>
                <a:cs typeface="Pretendard"/>
              </a:rPr>
              <a:t>구조화하고</a:t>
            </a:r>
            <a:r>
              <a:rPr sz="1500" b="0" dirty="0">
                <a:solidFill>
                  <a:srgbClr val="DBE6F6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sz="1500" b="0" dirty="0" err="1">
                <a:solidFill>
                  <a:srgbClr val="DBE6F6"/>
                </a:solidFill>
                <a:latin typeface="Pretendard"/>
                <a:ea typeface="Pretendard"/>
                <a:cs typeface="Pretendard"/>
              </a:rPr>
              <a:t>결과</a:t>
            </a:r>
            <a:r>
              <a:rPr sz="1500" b="0" dirty="0">
                <a:solidFill>
                  <a:srgbClr val="DBE6F6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500" b="0" dirty="0" err="1">
                <a:solidFill>
                  <a:srgbClr val="DBE6F6"/>
                </a:solidFill>
                <a:latin typeface="Pretendard"/>
                <a:ea typeface="Pretendard"/>
                <a:cs typeface="Pretendard"/>
              </a:rPr>
              <a:t>품질을</a:t>
            </a:r>
            <a:r>
              <a:rPr sz="1500" b="0" dirty="0">
                <a:solidFill>
                  <a:srgbClr val="DBE6F6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500" b="0" dirty="0" err="1">
                <a:solidFill>
                  <a:srgbClr val="DBE6F6"/>
                </a:solidFill>
                <a:latin typeface="Pretendard"/>
                <a:ea typeface="Pretendard"/>
                <a:cs typeface="Pretendard"/>
              </a:rPr>
              <a:t>끌어올리는</a:t>
            </a:r>
            <a:r>
              <a:rPr sz="1500" b="0" dirty="0">
                <a:solidFill>
                  <a:srgbClr val="DBE6F6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500" b="0" dirty="0" err="1">
                <a:solidFill>
                  <a:srgbClr val="DBE6F6"/>
                </a:solidFill>
                <a:latin typeface="Pretendard"/>
                <a:ea typeface="Pretendard"/>
                <a:cs typeface="Pretendard"/>
              </a:rPr>
              <a:t>프롬프트</a:t>
            </a:r>
            <a:r>
              <a:rPr sz="1500" b="0" dirty="0">
                <a:solidFill>
                  <a:srgbClr val="DBE6F6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500" b="0" dirty="0" err="1">
                <a:solidFill>
                  <a:srgbClr val="DBE6F6"/>
                </a:solidFill>
                <a:latin typeface="Pretendard"/>
                <a:ea typeface="Pretendard"/>
                <a:cs typeface="Pretendard"/>
              </a:rPr>
              <a:t>작성</a:t>
            </a:r>
            <a:r>
              <a:rPr sz="1500" b="0" dirty="0">
                <a:solidFill>
                  <a:srgbClr val="DBE6F6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500" b="0" dirty="0" err="1">
                <a:solidFill>
                  <a:srgbClr val="DBE6F6"/>
                </a:solidFill>
                <a:latin typeface="Pretendard"/>
                <a:ea typeface="Pretendard"/>
                <a:cs typeface="Pretendard"/>
              </a:rPr>
              <a:t>원리</a:t>
            </a:r>
            <a:endParaRPr lang="en-US" sz="1500" b="0" dirty="0">
              <a:solidFill>
                <a:srgbClr val="DBE6F6"/>
              </a:solidFill>
              <a:latin typeface="Pretendard"/>
              <a:ea typeface="Pretendard"/>
              <a:cs typeface="Pretendard"/>
            </a:endParaRPr>
          </a:p>
          <a:p>
            <a:pPr algn="l">
              <a:lnSpc>
                <a:spcPct val="140000"/>
              </a:lnSpc>
              <a:spcBef>
                <a:spcPts val="600"/>
              </a:spcBef>
              <a:spcAft>
                <a:spcPts val="400"/>
              </a:spcAft>
            </a:pPr>
            <a:r>
              <a:rPr sz="1500" b="0" dirty="0">
                <a:solidFill>
                  <a:srgbClr val="DBE6F6"/>
                </a:solidFill>
                <a:latin typeface="Pretendard"/>
                <a:ea typeface="Pretendard"/>
                <a:cs typeface="Pretendard"/>
              </a:rPr>
              <a:t>(</a:t>
            </a:r>
            <a:r>
              <a:rPr sz="1500" b="0" dirty="0" err="1">
                <a:solidFill>
                  <a:srgbClr val="DBE6F6"/>
                </a:solidFill>
                <a:latin typeface="Pretendard"/>
                <a:ea typeface="Pretendard"/>
                <a:cs typeface="Pretendard"/>
              </a:rPr>
              <a:t>역할·맥락·작업·형식</a:t>
            </a:r>
            <a:r>
              <a:rPr sz="1500" b="0" dirty="0">
                <a:solidFill>
                  <a:srgbClr val="DBE6F6"/>
                </a:solidFill>
                <a:latin typeface="Pretendard"/>
                <a:ea typeface="Pretendard"/>
                <a:cs typeface="Pretendard"/>
              </a:rPr>
              <a:t> + few-shot)</a:t>
            </a:r>
            <a:r>
              <a:rPr sz="1500" b="0" dirty="0" err="1">
                <a:solidFill>
                  <a:srgbClr val="DBE6F6"/>
                </a:solidFill>
                <a:latin typeface="Pretendard"/>
                <a:ea typeface="Pretendard"/>
                <a:cs typeface="Pretendard"/>
              </a:rPr>
              <a:t>를</a:t>
            </a:r>
            <a:r>
              <a:rPr sz="1500" b="0" dirty="0">
                <a:solidFill>
                  <a:srgbClr val="DBE6F6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500" b="0" dirty="0" err="1">
                <a:solidFill>
                  <a:srgbClr val="DBE6F6"/>
                </a:solidFill>
                <a:latin typeface="Pretendard"/>
                <a:ea typeface="Pretendard"/>
                <a:cs typeface="Pretendard"/>
              </a:rPr>
              <a:t>체득한다</a:t>
            </a:r>
            <a:r>
              <a:rPr sz="1500" b="0" dirty="0">
                <a:solidFill>
                  <a:srgbClr val="DBE6F6"/>
                </a:solidFill>
                <a:latin typeface="Pretendard"/>
                <a:ea typeface="Pretendard"/>
                <a:cs typeface="Pretendard"/>
              </a:rPr>
              <a:t>.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4555958"/>
            <a:ext cx="10515600" cy="1707682"/>
          </a:xfrm>
          <a:prstGeom prst="rect">
            <a:avLst/>
          </a:prstGeom>
          <a:solidFill>
            <a:srgbClr val="184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164592" rtlCol="0" anchor="ctr"/>
          <a:lstStyle/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300"/>
              </a:spcAft>
            </a:pPr>
            <a:r>
              <a:rPr sz="1400" b="1">
                <a:solidFill>
                  <a:srgbClr val="9FC0E6"/>
                </a:solidFill>
                <a:latin typeface="JetBrains Mono"/>
                <a:ea typeface="JetBrains Mono"/>
                <a:cs typeface="JetBrains Mono"/>
              </a:rPr>
              <a:t>이전  </a:t>
            </a:r>
            <a:r>
              <a:rPr sz="14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M1에서 자동화할 업무를 골랐다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300"/>
              </a:spcAft>
            </a:pPr>
            <a:r>
              <a:rPr sz="1400" b="1">
                <a:solidFill>
                  <a:srgbClr val="E8A33D"/>
                </a:solidFill>
                <a:latin typeface="JetBrains Mono"/>
                <a:ea typeface="JetBrains Mono"/>
                <a:cs typeface="JetBrains Mono"/>
              </a:rPr>
              <a:t>이번  </a:t>
            </a:r>
            <a:r>
              <a:rPr sz="1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Night Off의 핵심 메시지와 좋은 프롬프트의 골격을 만든다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400"/>
              </a:spcAft>
            </a:pPr>
            <a:r>
              <a:rPr sz="1400" b="1">
                <a:solidFill>
                  <a:srgbClr val="9FC0E6"/>
                </a:solidFill>
                <a:latin typeface="JetBrains Mono"/>
                <a:ea typeface="JetBrains Mono"/>
                <a:cs typeface="JetBrains Mono"/>
              </a:rPr>
              <a:t>다음  </a:t>
            </a:r>
            <a:r>
              <a:rPr sz="14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이 메시지를 실제 글로 → M3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320A464-9189-4305-8FA8-D363324E0A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5674" y="4206240"/>
            <a:ext cx="1603922" cy="2095500"/>
          </a:xfrm>
          <a:prstGeom prst="rect">
            <a:avLst/>
          </a:prstGeom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31A6C12C-877E-74D7-D614-CA03E0D3928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7674946" y="289560"/>
            <a:ext cx="5702300" cy="2362200"/>
          </a:xfrm>
          <a:prstGeom prst="rect">
            <a:avLst/>
          </a:prstGeom>
        </p:spPr>
      </p:pic>
      <p:sp>
        <p:nvSpPr>
          <p:cNvPr id="7" name="PageNumber">
            <a:extLst>
              <a:ext uri="{FF2B5EF4-FFF2-40B4-BE49-F238E27FC236}">
                <a16:creationId xmlns:a16="http://schemas.microsoft.com/office/drawing/2014/main" id="{44AB1A0C-7F5B-D846-8863-620D1E25430F}"/>
              </a:ext>
            </a:extLst>
          </p:cNvPr>
          <p:cNvSpPr txBox="1"/>
          <p:nvPr/>
        </p:nvSpPr>
        <p:spPr>
          <a:xfrm>
            <a:off x="9499600" y="6489700"/>
            <a:ext cx="23368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r"/>
            <a:r>
              <a:rPr lang="en-US" altLang="ko-KR" sz="1200">
                <a:solidFill>
                  <a:schemeClr val="bg1"/>
                </a:solidFill>
                <a:latin typeface="Pretendard"/>
              </a:rPr>
              <a:t>- 27/144 -</a:t>
            </a:r>
            <a:endParaRPr lang="ko-KR" altLang="en-US" sz="1200">
              <a:solidFill>
                <a:schemeClr val="bg1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26591213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학습 목표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이 모듈에서 할 수 있게 되는 것</a:t>
            </a: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A208712D-11EF-014B-9C2B-558CE55A694F}"/>
              </a:ext>
            </a:extLst>
          </p:cNvPr>
          <p:cNvSpPr/>
          <p:nvPr/>
        </p:nvSpPr>
        <p:spPr>
          <a:xfrm>
            <a:off x="825500" y="1905000"/>
            <a:ext cx="5080000" cy="4381500"/>
          </a:xfrm>
          <a:prstGeom prst="roundRect">
            <a:avLst>
              <a:gd name="adj" fmla="val 580"/>
            </a:avLst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E3F6400-350F-9344-A864-A39F106F0F9B}"/>
              </a:ext>
            </a:extLst>
          </p:cNvPr>
          <p:cNvSpPr txBox="1"/>
          <p:nvPr/>
        </p:nvSpPr>
        <p:spPr>
          <a:xfrm>
            <a:off x="1257300" y="2235200"/>
            <a:ext cx="1524000" cy="711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4000" b="1">
                <a:solidFill>
                  <a:srgbClr val="E8A33D"/>
                </a:solidFill>
                <a:latin typeface="JetBrains Mono"/>
              </a:rPr>
              <a:t>01</a:t>
            </a:r>
            <a:endParaRPr lang="ko-KR" altLang="en-US" sz="4000" b="1">
              <a:solidFill>
                <a:srgbClr val="E8A33D"/>
              </a:solidFill>
              <a:latin typeface="JetBrains Mono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E80D89B-0D9E-F44B-BDDA-123AE040CC97}"/>
              </a:ext>
            </a:extLst>
          </p:cNvPr>
          <p:cNvSpPr/>
          <p:nvPr/>
        </p:nvSpPr>
        <p:spPr>
          <a:xfrm>
            <a:off x="1282700" y="3124200"/>
            <a:ext cx="685800" cy="50800"/>
          </a:xfrm>
          <a:prstGeom prst="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72AA4A-7F74-A146-A3C3-970EC830D1CB}"/>
              </a:ext>
            </a:extLst>
          </p:cNvPr>
          <p:cNvSpPr txBox="1"/>
          <p:nvPr/>
        </p:nvSpPr>
        <p:spPr>
          <a:xfrm>
            <a:off x="1282700" y="3479800"/>
            <a:ext cx="4165600" cy="165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2000" b="1" dirty="0">
                <a:solidFill>
                  <a:srgbClr val="14213D"/>
                </a:solidFill>
                <a:latin typeface="Pretendard"/>
              </a:rPr>
              <a:t>홍보 목적</a:t>
            </a:r>
            <a:r>
              <a:rPr lang="en-US" altLang="ko-KR" sz="2000" b="1" dirty="0">
                <a:solidFill>
                  <a:srgbClr val="14213D"/>
                </a:solidFill>
                <a:latin typeface="Pretendard"/>
              </a:rPr>
              <a:t>·</a:t>
            </a:r>
            <a:r>
              <a:rPr lang="ko-KR" altLang="en-US" sz="2000" b="1" dirty="0">
                <a:solidFill>
                  <a:srgbClr val="14213D"/>
                </a:solidFill>
                <a:latin typeface="Pretendard"/>
              </a:rPr>
              <a:t>타깃</a:t>
            </a:r>
            <a:r>
              <a:rPr lang="en-US" altLang="ko-KR" sz="2000" b="1" dirty="0">
                <a:solidFill>
                  <a:srgbClr val="14213D"/>
                </a:solidFill>
                <a:latin typeface="Pretendard"/>
              </a:rPr>
              <a:t>·</a:t>
            </a:r>
            <a:r>
              <a:rPr lang="ko-KR" altLang="en-US" sz="2000" b="1" dirty="0">
                <a:solidFill>
                  <a:srgbClr val="14213D"/>
                </a:solidFill>
                <a:latin typeface="Pretendard"/>
              </a:rPr>
              <a:t>핵심 메시지를 </a:t>
            </a:r>
            <a:endParaRPr lang="en-US" altLang="ko-KR" sz="2000" b="1" dirty="0">
              <a:solidFill>
                <a:srgbClr val="14213D"/>
              </a:solidFill>
              <a:latin typeface="Pretendard"/>
            </a:endParaRPr>
          </a:p>
          <a:p>
            <a:pPr algn="l">
              <a:lnSpc>
                <a:spcPct val="150000"/>
              </a:lnSpc>
            </a:pPr>
            <a:r>
              <a:rPr lang="ko-KR" altLang="en-US" sz="2000" b="1" dirty="0">
                <a:solidFill>
                  <a:srgbClr val="14213D"/>
                </a:solidFill>
                <a:latin typeface="Pretendard"/>
              </a:rPr>
              <a:t>한 문장으로 정리할 수 있다</a:t>
            </a:r>
            <a:r>
              <a:rPr lang="en-US" altLang="ko-KR" sz="2000" b="1" dirty="0">
                <a:solidFill>
                  <a:srgbClr val="14213D"/>
                </a:solidFill>
                <a:latin typeface="Pretendard"/>
              </a:rPr>
              <a:t>.</a:t>
            </a:r>
            <a:endParaRPr lang="ko-KR" altLang="en-US" sz="2000" b="1" dirty="0">
              <a:solidFill>
                <a:srgbClr val="14213D"/>
              </a:solidFill>
              <a:latin typeface="Pretendard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CB212D-F1E6-8C48-83AE-1DEF6EE7E092}"/>
              </a:ext>
            </a:extLst>
          </p:cNvPr>
          <p:cNvSpPr txBox="1"/>
          <p:nvPr/>
        </p:nvSpPr>
        <p:spPr>
          <a:xfrm>
            <a:off x="1282700" y="5613400"/>
            <a:ext cx="4165600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400">
                <a:solidFill>
                  <a:srgbClr val="1D4E89"/>
                </a:solidFill>
                <a:latin typeface="JetBrains Mono"/>
              </a:rPr>
              <a:t>→ 메시지 하우스로 홍보의 뼈대 세우기</a:t>
            </a: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7A1E68FD-7D8E-E042-B227-91B4F00A37EC}"/>
              </a:ext>
            </a:extLst>
          </p:cNvPr>
          <p:cNvSpPr/>
          <p:nvPr/>
        </p:nvSpPr>
        <p:spPr>
          <a:xfrm>
            <a:off x="6286500" y="1905000"/>
            <a:ext cx="5080000" cy="4381500"/>
          </a:xfrm>
          <a:prstGeom prst="roundRect">
            <a:avLst>
              <a:gd name="adj" fmla="val 580"/>
            </a:avLst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E3830CB-DEFB-6940-9D44-E6459E7D2F09}"/>
              </a:ext>
            </a:extLst>
          </p:cNvPr>
          <p:cNvSpPr txBox="1"/>
          <p:nvPr/>
        </p:nvSpPr>
        <p:spPr>
          <a:xfrm>
            <a:off x="6718300" y="2235200"/>
            <a:ext cx="1524000" cy="711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4000" b="1">
                <a:solidFill>
                  <a:srgbClr val="E8A33D"/>
                </a:solidFill>
                <a:latin typeface="JetBrains Mono"/>
              </a:rPr>
              <a:t>02</a:t>
            </a:r>
            <a:endParaRPr lang="ko-KR" altLang="en-US" sz="4000" b="1">
              <a:solidFill>
                <a:srgbClr val="E8A33D"/>
              </a:solidFill>
              <a:latin typeface="JetBrains Mono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7099229-E247-EE4B-AC03-52944D88B55A}"/>
              </a:ext>
            </a:extLst>
          </p:cNvPr>
          <p:cNvSpPr/>
          <p:nvPr/>
        </p:nvSpPr>
        <p:spPr>
          <a:xfrm>
            <a:off x="6743700" y="3124200"/>
            <a:ext cx="685800" cy="50800"/>
          </a:xfrm>
          <a:prstGeom prst="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D05C83D-ABA1-8349-BFA7-795DD2E4D8E9}"/>
              </a:ext>
            </a:extLst>
          </p:cNvPr>
          <p:cNvSpPr txBox="1"/>
          <p:nvPr/>
        </p:nvSpPr>
        <p:spPr>
          <a:xfrm>
            <a:off x="6743700" y="3479800"/>
            <a:ext cx="4165600" cy="165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2000" b="1">
                <a:solidFill>
                  <a:srgbClr val="14213D"/>
                </a:solidFill>
                <a:latin typeface="Pretendard"/>
              </a:rPr>
              <a:t>좋은 프롬프트의 구성 요소를 적용해 결과 품질을 높인다</a:t>
            </a:r>
            <a:r>
              <a:rPr lang="en-US" altLang="ko-KR" sz="2000" b="1">
                <a:solidFill>
                  <a:srgbClr val="14213D"/>
                </a:solidFill>
                <a:latin typeface="Pretendard"/>
              </a:rPr>
              <a:t>.</a:t>
            </a:r>
            <a:endParaRPr lang="ko-KR" altLang="en-US" sz="2000" b="1">
              <a:solidFill>
                <a:srgbClr val="14213D"/>
              </a:solidFill>
              <a:latin typeface="Pretendard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357A636-4C75-5C41-B2D6-73E5F888967F}"/>
              </a:ext>
            </a:extLst>
          </p:cNvPr>
          <p:cNvSpPr txBox="1"/>
          <p:nvPr/>
        </p:nvSpPr>
        <p:spPr>
          <a:xfrm>
            <a:off x="6743700" y="5613400"/>
            <a:ext cx="4165600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400">
                <a:solidFill>
                  <a:srgbClr val="1D4E89"/>
                </a:solidFill>
                <a:latin typeface="JetBrains Mono"/>
              </a:rPr>
              <a:t>→ R-C-T-F + Few-shot </a:t>
            </a:r>
            <a:r>
              <a:rPr lang="ko-KR" altLang="en-US" sz="1400">
                <a:solidFill>
                  <a:srgbClr val="1D4E89"/>
                </a:solidFill>
                <a:latin typeface="JetBrains Mono"/>
              </a:rPr>
              <a:t>적용</a:t>
            </a:r>
          </a:p>
        </p:txBody>
      </p:sp>
      <p:sp>
        <p:nvSpPr>
          <p:cNvPr id="4" name="PageNumber">
            <a:extLst>
              <a:ext uri="{FF2B5EF4-FFF2-40B4-BE49-F238E27FC236}">
                <a16:creationId xmlns:a16="http://schemas.microsoft.com/office/drawing/2014/main" id="{9FF40244-D316-5C47-A4F9-00D9AFFBB3FF}"/>
              </a:ext>
            </a:extLst>
          </p:cNvPr>
          <p:cNvSpPr txBox="1"/>
          <p:nvPr/>
        </p:nvSpPr>
        <p:spPr>
          <a:xfrm>
            <a:off x="9499600" y="6489700"/>
            <a:ext cx="23368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r"/>
            <a:r>
              <a:rPr lang="en-US" altLang="ko-KR" sz="1200">
                <a:solidFill>
                  <a:srgbClr val="576176"/>
                </a:solidFill>
                <a:latin typeface="Pretendard"/>
              </a:rPr>
              <a:t>- 28/144 -</a:t>
            </a:r>
            <a:endParaRPr lang="ko-KR" altLang="en-US" sz="1200">
              <a:solidFill>
                <a:srgbClr val="576176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10512072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4E8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>
            <a:extLst>
              <a:ext uri="{FF2B5EF4-FFF2-40B4-BE49-F238E27FC236}">
                <a16:creationId xmlns:a16="http://schemas.microsoft.com/office/drawing/2014/main" id="{BD18F8CC-D9EF-D444-A94E-3EAEAB0D4E50}"/>
              </a:ext>
            </a:extLst>
          </p:cNvPr>
          <p:cNvSpPr/>
          <p:nvPr/>
        </p:nvSpPr>
        <p:spPr>
          <a:xfrm>
            <a:off x="914400" y="2387600"/>
            <a:ext cx="165100" cy="381000"/>
          </a:xfrm>
          <a:prstGeom prst="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0625D19-B157-4743-9DA4-3F68AA6D19FE}"/>
              </a:ext>
            </a:extLst>
          </p:cNvPr>
          <p:cNvSpPr txBox="1"/>
          <p:nvPr/>
        </p:nvSpPr>
        <p:spPr>
          <a:xfrm>
            <a:off x="1219200" y="2425700"/>
            <a:ext cx="5080000" cy="304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500" b="1">
                <a:solidFill>
                  <a:srgbClr val="E8A33D"/>
                </a:solidFill>
                <a:latin typeface="JetBrains Mono"/>
              </a:rPr>
              <a:t>SESSION 1</a:t>
            </a:r>
            <a:endParaRPr lang="ko-KR" altLang="en-US" sz="1500" b="1">
              <a:solidFill>
                <a:srgbClr val="E8A33D"/>
              </a:solidFill>
              <a:latin typeface="JetBrains Mono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C5B618B-C69D-D547-B232-49344A4C3744}"/>
              </a:ext>
            </a:extLst>
          </p:cNvPr>
          <p:cNvSpPr txBox="1"/>
          <p:nvPr/>
        </p:nvSpPr>
        <p:spPr>
          <a:xfrm>
            <a:off x="889000" y="2844800"/>
            <a:ext cx="10922000" cy="635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3200" b="1">
                <a:solidFill>
                  <a:srgbClr val="FFFFFF"/>
                </a:solidFill>
                <a:latin typeface="Noto Serif KR"/>
              </a:rPr>
              <a:t>홍보 목적 → 타깃 → 핵심 메시지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B4EBABE-CAD1-104E-A01B-A95E6CA1F2C3}"/>
              </a:ext>
            </a:extLst>
          </p:cNvPr>
          <p:cNvSpPr txBox="1"/>
          <p:nvPr/>
        </p:nvSpPr>
        <p:spPr>
          <a:xfrm>
            <a:off x="914400" y="3657600"/>
            <a:ext cx="10160000" cy="584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600">
                <a:solidFill>
                  <a:srgbClr val="DCE6F2"/>
                </a:solidFill>
                <a:latin typeface="Pretendard"/>
              </a:rPr>
              <a:t>메시지 하우스</a:t>
            </a:r>
            <a:r>
              <a:rPr lang="en-US" altLang="ko-KR" sz="1600">
                <a:solidFill>
                  <a:srgbClr val="DCE6F2"/>
                </a:solidFill>
                <a:latin typeface="Pretendard"/>
              </a:rPr>
              <a:t>(</a:t>
            </a:r>
            <a:r>
              <a:rPr lang="ko-KR" altLang="en-US" sz="1600">
                <a:solidFill>
                  <a:srgbClr val="DCE6F2"/>
                </a:solidFill>
                <a:latin typeface="Pretendard"/>
              </a:rPr>
              <a:t>핵심 메시지 </a:t>
            </a:r>
            <a:r>
              <a:rPr lang="en-US" altLang="ko-KR" sz="1600">
                <a:solidFill>
                  <a:srgbClr val="DCE6F2"/>
                </a:solidFill>
                <a:latin typeface="Pretendard"/>
              </a:rPr>
              <a:t>1 + </a:t>
            </a:r>
            <a:r>
              <a:rPr lang="ko-KR" altLang="en-US" sz="1600">
                <a:solidFill>
                  <a:srgbClr val="DCE6F2"/>
                </a:solidFill>
                <a:latin typeface="Pretendard"/>
              </a:rPr>
              <a:t>근거 </a:t>
            </a:r>
            <a:r>
              <a:rPr lang="en-US" altLang="ko-KR" sz="1600">
                <a:solidFill>
                  <a:srgbClr val="DCE6F2"/>
                </a:solidFill>
                <a:latin typeface="Pretendard"/>
              </a:rPr>
              <a:t>3) </a:t>
            </a:r>
            <a:r>
              <a:rPr lang="ko-KR" altLang="en-US" sz="1600">
                <a:solidFill>
                  <a:srgbClr val="DCE6F2"/>
                </a:solidFill>
                <a:latin typeface="Pretendard"/>
              </a:rPr>
              <a:t>구조로 홍보의 뼈대를 먼저 세운다</a:t>
            </a:r>
            <a:r>
              <a:rPr lang="en-US" altLang="ko-KR" sz="1600">
                <a:solidFill>
                  <a:srgbClr val="DCE6F2"/>
                </a:solidFill>
                <a:latin typeface="Pretendard"/>
              </a:rPr>
              <a:t>.</a:t>
            </a:r>
            <a:endParaRPr lang="ko-KR" altLang="en-US" sz="1600">
              <a:solidFill>
                <a:srgbClr val="DCE6F2"/>
              </a:solidFill>
              <a:latin typeface="Pretendard"/>
            </a:endParaRPr>
          </a:p>
        </p:txBody>
      </p:sp>
      <p:sp>
        <p:nvSpPr>
          <p:cNvPr id="16" name="모서리가 둥근 직사각형 15">
            <a:extLst>
              <a:ext uri="{FF2B5EF4-FFF2-40B4-BE49-F238E27FC236}">
                <a16:creationId xmlns:a16="http://schemas.microsoft.com/office/drawing/2014/main" id="{77CE2619-312D-4148-A01B-A2A54BAE72A8}"/>
              </a:ext>
            </a:extLst>
          </p:cNvPr>
          <p:cNvSpPr/>
          <p:nvPr/>
        </p:nvSpPr>
        <p:spPr>
          <a:xfrm>
            <a:off x="914400" y="4724400"/>
            <a:ext cx="2616200" cy="863600"/>
          </a:xfrm>
          <a:prstGeom prst="roundRect">
            <a:avLst>
              <a:gd name="adj" fmla="val 2941"/>
            </a:avLst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ko-KR" altLang="en-US" sz="1600" b="1">
                <a:solidFill>
                  <a:srgbClr val="FFFFFF"/>
                </a:solidFill>
                <a:latin typeface="Pretendard"/>
              </a:rPr>
              <a:t>홍보 목적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94D41D9-755E-DD47-9FAF-17B001614D65}"/>
              </a:ext>
            </a:extLst>
          </p:cNvPr>
          <p:cNvSpPr txBox="1"/>
          <p:nvPr/>
        </p:nvSpPr>
        <p:spPr>
          <a:xfrm>
            <a:off x="3530600" y="4724400"/>
            <a:ext cx="558800" cy="863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ko-KR" altLang="en-US" sz="2400" b="1">
                <a:solidFill>
                  <a:srgbClr val="9FB3CE"/>
                </a:solidFill>
                <a:latin typeface="Pretendard"/>
              </a:rPr>
              <a:t>→</a:t>
            </a:r>
          </a:p>
        </p:txBody>
      </p:sp>
      <p:sp>
        <p:nvSpPr>
          <p:cNvPr id="18" name="모서리가 둥근 직사각형 17">
            <a:extLst>
              <a:ext uri="{FF2B5EF4-FFF2-40B4-BE49-F238E27FC236}">
                <a16:creationId xmlns:a16="http://schemas.microsoft.com/office/drawing/2014/main" id="{CAA32BFD-3B3D-6E43-BD21-3D08A31137D6}"/>
              </a:ext>
            </a:extLst>
          </p:cNvPr>
          <p:cNvSpPr/>
          <p:nvPr/>
        </p:nvSpPr>
        <p:spPr>
          <a:xfrm>
            <a:off x="4089400" y="4724400"/>
            <a:ext cx="2616200" cy="863600"/>
          </a:xfrm>
          <a:prstGeom prst="roundRect">
            <a:avLst>
              <a:gd name="adj" fmla="val 2941"/>
            </a:avLst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ko-KR" altLang="en-US" sz="1600" b="1">
                <a:solidFill>
                  <a:srgbClr val="FFFFFF"/>
                </a:solidFill>
                <a:latin typeface="Pretendard"/>
              </a:rPr>
              <a:t>타깃 고객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490D4B3-5630-C840-BBFA-343A09979BD2}"/>
              </a:ext>
            </a:extLst>
          </p:cNvPr>
          <p:cNvSpPr txBox="1"/>
          <p:nvPr/>
        </p:nvSpPr>
        <p:spPr>
          <a:xfrm>
            <a:off x="6705600" y="4724400"/>
            <a:ext cx="558800" cy="863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ko-KR" altLang="en-US" sz="2400" b="1">
                <a:solidFill>
                  <a:srgbClr val="9FB3CE"/>
                </a:solidFill>
                <a:latin typeface="Pretendard"/>
              </a:rPr>
              <a:t>→</a:t>
            </a:r>
          </a:p>
        </p:txBody>
      </p:sp>
      <p:sp>
        <p:nvSpPr>
          <p:cNvPr id="20" name="모서리가 둥근 직사각형 19">
            <a:extLst>
              <a:ext uri="{FF2B5EF4-FFF2-40B4-BE49-F238E27FC236}">
                <a16:creationId xmlns:a16="http://schemas.microsoft.com/office/drawing/2014/main" id="{186E3A9D-558A-424E-9DEB-1B98E1D27684}"/>
              </a:ext>
            </a:extLst>
          </p:cNvPr>
          <p:cNvSpPr/>
          <p:nvPr/>
        </p:nvSpPr>
        <p:spPr>
          <a:xfrm>
            <a:off x="7264400" y="4724400"/>
            <a:ext cx="2616200" cy="863600"/>
          </a:xfrm>
          <a:prstGeom prst="roundRect">
            <a:avLst>
              <a:gd name="adj" fmla="val 2941"/>
            </a:avLst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ko-KR" altLang="en-US" sz="1600" b="1">
                <a:solidFill>
                  <a:srgbClr val="14213D"/>
                </a:solidFill>
                <a:latin typeface="Pretendard"/>
              </a:rPr>
              <a:t>핵심 메시지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DC03D44F-308A-79F7-33D2-368788A083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1500" y="1524000"/>
            <a:ext cx="2041355" cy="2667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E9B5B3B-2B04-4FA8-64D7-7D718BE0E08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-965200" y="-563880"/>
            <a:ext cx="5702300" cy="2362200"/>
          </a:xfrm>
          <a:prstGeom prst="rect">
            <a:avLst/>
          </a:prstGeom>
        </p:spPr>
      </p:pic>
      <p:sp>
        <p:nvSpPr>
          <p:cNvPr id="4" name="PageNumber">
            <a:extLst>
              <a:ext uri="{FF2B5EF4-FFF2-40B4-BE49-F238E27FC236}">
                <a16:creationId xmlns:a16="http://schemas.microsoft.com/office/drawing/2014/main" id="{B2E1B031-854E-3F44-B92C-8D9B3978E67D}"/>
              </a:ext>
            </a:extLst>
          </p:cNvPr>
          <p:cNvSpPr txBox="1"/>
          <p:nvPr/>
        </p:nvSpPr>
        <p:spPr>
          <a:xfrm>
            <a:off x="9499600" y="6489700"/>
            <a:ext cx="23368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r"/>
            <a:r>
              <a:rPr lang="en-US" altLang="ko-KR" sz="1200" dirty="0">
                <a:solidFill>
                  <a:srgbClr val="576176"/>
                </a:solidFill>
                <a:latin typeface="Pretendard"/>
              </a:rPr>
              <a:t>- </a:t>
            </a:r>
            <a:r>
              <a:rPr lang="en-US" altLang="ko-KR" sz="1200" dirty="0">
                <a:solidFill>
                  <a:schemeClr val="bg1"/>
                </a:solidFill>
                <a:latin typeface="Pretendard"/>
              </a:rPr>
              <a:t>29/144</a:t>
            </a:r>
            <a:r>
              <a:rPr lang="en-US" altLang="ko-KR" sz="1200" dirty="0">
                <a:solidFill>
                  <a:srgbClr val="576176"/>
                </a:solidFill>
                <a:latin typeface="Pretendard"/>
              </a:rPr>
              <a:t> -</a:t>
            </a:r>
            <a:endParaRPr lang="ko-KR" altLang="en-US" sz="1200" dirty="0">
              <a:solidFill>
                <a:srgbClr val="576176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17325807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핵심 개념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핵심 개념</a:t>
            </a: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9AF88D31-5C39-9C4D-B2D5-254C5B356DF2}"/>
              </a:ext>
            </a:extLst>
          </p:cNvPr>
          <p:cNvSpPr/>
          <p:nvPr/>
        </p:nvSpPr>
        <p:spPr>
          <a:xfrm>
            <a:off x="825500" y="1905000"/>
            <a:ext cx="3340100" cy="4381500"/>
          </a:xfrm>
          <a:prstGeom prst="roundRect">
            <a:avLst>
              <a:gd name="adj" fmla="val 760"/>
            </a:avLst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3D182BD-F62D-BC43-98C0-8A839AD593C8}"/>
              </a:ext>
            </a:extLst>
          </p:cNvPr>
          <p:cNvSpPr/>
          <p:nvPr/>
        </p:nvSpPr>
        <p:spPr>
          <a:xfrm>
            <a:off x="825500" y="1905000"/>
            <a:ext cx="3340100" cy="88900"/>
          </a:xfrm>
          <a:prstGeom prst="rect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F7523E22-3BDB-EC48-8BC6-64B868F11A30}"/>
              </a:ext>
            </a:extLst>
          </p:cNvPr>
          <p:cNvSpPr/>
          <p:nvPr/>
        </p:nvSpPr>
        <p:spPr>
          <a:xfrm>
            <a:off x="1130300" y="2286000"/>
            <a:ext cx="508000" cy="508000"/>
          </a:xfrm>
          <a:prstGeom prst="ellipse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  <a:latin typeface="JetBrains Mono"/>
              </a:rPr>
              <a:t>1</a:t>
            </a:r>
            <a:endParaRPr lang="ko-KR" altLang="en-US" sz="16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9866BD-7877-2B42-9C9F-4D5A9A3EB088}"/>
              </a:ext>
            </a:extLst>
          </p:cNvPr>
          <p:cNvSpPr txBox="1"/>
          <p:nvPr/>
        </p:nvSpPr>
        <p:spPr>
          <a:xfrm>
            <a:off x="1790700" y="2387600"/>
            <a:ext cx="2197100" cy="381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700" b="1">
                <a:solidFill>
                  <a:srgbClr val="14213D"/>
                </a:solidFill>
                <a:latin typeface="Pretendard"/>
              </a:rPr>
              <a:t>타깃 페르소나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E3189BB-372F-AB4A-B4BA-AD66FA3B5895}"/>
              </a:ext>
            </a:extLst>
          </p:cNvPr>
          <p:cNvSpPr/>
          <p:nvPr/>
        </p:nvSpPr>
        <p:spPr>
          <a:xfrm>
            <a:off x="1130300" y="3048000"/>
            <a:ext cx="2730500" cy="12700"/>
          </a:xfrm>
          <a:prstGeom prst="rect">
            <a:avLst/>
          </a:prstGeom>
          <a:solidFill>
            <a:srgbClr val="D9E2E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882E9CA-D44E-CB47-979C-91758994B299}"/>
              </a:ext>
            </a:extLst>
          </p:cNvPr>
          <p:cNvSpPr txBox="1"/>
          <p:nvPr/>
        </p:nvSpPr>
        <p:spPr>
          <a:xfrm>
            <a:off x="1130300" y="3251200"/>
            <a:ext cx="2730500" cy="2032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400" dirty="0">
                <a:solidFill>
                  <a:srgbClr val="576176"/>
                </a:solidFill>
                <a:latin typeface="Pretendard"/>
              </a:rPr>
              <a:t>연령</a:t>
            </a:r>
            <a:r>
              <a:rPr lang="en-US" altLang="ko-KR" sz="1400" dirty="0">
                <a:solidFill>
                  <a:srgbClr val="576176"/>
                </a:solidFill>
                <a:latin typeface="Pretendard"/>
              </a:rPr>
              <a:t>·</a:t>
            </a:r>
            <a:r>
              <a:rPr lang="ko-KR" altLang="en-US" sz="1400" dirty="0">
                <a:solidFill>
                  <a:srgbClr val="576176"/>
                </a:solidFill>
                <a:latin typeface="Pretendard"/>
              </a:rPr>
              <a:t>역할</a:t>
            </a:r>
            <a:r>
              <a:rPr lang="en-US" altLang="ko-KR" sz="1400" dirty="0">
                <a:solidFill>
                  <a:srgbClr val="576176"/>
                </a:solidFill>
                <a:latin typeface="Pretendard"/>
              </a:rPr>
              <a:t>·</a:t>
            </a:r>
            <a:r>
              <a:rPr lang="ko-KR" altLang="en-US" sz="1400" dirty="0">
                <a:solidFill>
                  <a:srgbClr val="576176"/>
                </a:solidFill>
                <a:latin typeface="Pretendard"/>
              </a:rPr>
              <a:t>고민</a:t>
            </a:r>
            <a:r>
              <a:rPr lang="en-US" altLang="ko-KR" sz="1400" dirty="0">
                <a:solidFill>
                  <a:srgbClr val="576176"/>
                </a:solidFill>
                <a:latin typeface="Pretendard"/>
              </a:rPr>
              <a:t>·</a:t>
            </a:r>
            <a:r>
              <a:rPr lang="ko-KR" altLang="en-US" sz="1400" dirty="0">
                <a:solidFill>
                  <a:srgbClr val="576176"/>
                </a:solidFill>
                <a:latin typeface="Pretendard"/>
              </a:rPr>
              <a:t>구매동기를 </a:t>
            </a:r>
            <a:endParaRPr lang="en-US" altLang="ko-KR" sz="1400" dirty="0">
              <a:solidFill>
                <a:srgbClr val="576176"/>
              </a:solidFill>
              <a:latin typeface="Pretendard"/>
            </a:endParaRPr>
          </a:p>
          <a:p>
            <a:pPr algn="l">
              <a:lnSpc>
                <a:spcPct val="150000"/>
              </a:lnSpc>
            </a:pPr>
            <a:r>
              <a:rPr lang="ko-KR" altLang="en-US" sz="1400" dirty="0">
                <a:solidFill>
                  <a:srgbClr val="576176"/>
                </a:solidFill>
                <a:latin typeface="Pretendard"/>
              </a:rPr>
              <a:t>한 인물로 구체화한다</a:t>
            </a:r>
            <a:r>
              <a:rPr lang="en-US" altLang="ko-KR" sz="1400" dirty="0">
                <a:solidFill>
                  <a:srgbClr val="576176"/>
                </a:solidFill>
                <a:latin typeface="Pretendard"/>
              </a:rPr>
              <a:t>. </a:t>
            </a:r>
          </a:p>
          <a:p>
            <a:pPr algn="l">
              <a:lnSpc>
                <a:spcPct val="150000"/>
              </a:lnSpc>
            </a:pPr>
            <a:endParaRPr lang="en-US" altLang="ko-KR" sz="1400" dirty="0">
              <a:solidFill>
                <a:srgbClr val="576176"/>
              </a:solidFill>
              <a:latin typeface="Pretendard"/>
            </a:endParaRPr>
          </a:p>
          <a:p>
            <a:pPr algn="l">
              <a:lnSpc>
                <a:spcPct val="150000"/>
              </a:lnSpc>
            </a:pPr>
            <a:r>
              <a:rPr lang="ko-KR" altLang="en-US" sz="1400" dirty="0">
                <a:solidFill>
                  <a:srgbClr val="576176"/>
                </a:solidFill>
                <a:latin typeface="Pretendard"/>
              </a:rPr>
              <a:t>구체적일수록 카피가 날카로워진다</a:t>
            </a:r>
            <a:r>
              <a:rPr lang="en-US" altLang="ko-KR" sz="1400" dirty="0">
                <a:solidFill>
                  <a:srgbClr val="576176"/>
                </a:solidFill>
                <a:latin typeface="Pretendard"/>
              </a:rPr>
              <a:t>.</a:t>
            </a:r>
            <a:endParaRPr lang="ko-KR" altLang="en-US" sz="1400" dirty="0">
              <a:solidFill>
                <a:srgbClr val="576176"/>
              </a:solidFill>
              <a:latin typeface="Pretendard"/>
            </a:endParaRP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5C42A97D-C862-4447-BA09-0AA3D0AE61B1}"/>
              </a:ext>
            </a:extLst>
          </p:cNvPr>
          <p:cNvSpPr/>
          <p:nvPr/>
        </p:nvSpPr>
        <p:spPr>
          <a:xfrm>
            <a:off x="1130300" y="5562600"/>
            <a:ext cx="2730500" cy="457200"/>
          </a:xfrm>
          <a:prstGeom prst="roundRect">
            <a:avLst>
              <a:gd name="adj" fmla="val 5556"/>
            </a:avLst>
          </a:prstGeom>
          <a:solidFill>
            <a:srgbClr val="E7ECF4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A6578D-99AE-C844-BDBE-A462100D8699}"/>
              </a:ext>
            </a:extLst>
          </p:cNvPr>
          <p:cNvSpPr txBox="1"/>
          <p:nvPr/>
        </p:nvSpPr>
        <p:spPr>
          <a:xfrm>
            <a:off x="1130300" y="5562600"/>
            <a:ext cx="2730500" cy="457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ko-KR" altLang="en-US" sz="1400" b="1">
                <a:solidFill>
                  <a:srgbClr val="14213D"/>
                </a:solidFill>
                <a:latin typeface="Pretendard"/>
              </a:rPr>
              <a:t>한 사람으로 좁히기</a:t>
            </a: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A552CFE5-2E7A-8543-BBF4-2DF3BE0A2E64}"/>
              </a:ext>
            </a:extLst>
          </p:cNvPr>
          <p:cNvSpPr/>
          <p:nvPr/>
        </p:nvSpPr>
        <p:spPr>
          <a:xfrm>
            <a:off x="4419600" y="1905000"/>
            <a:ext cx="3340100" cy="4381500"/>
          </a:xfrm>
          <a:prstGeom prst="roundRect">
            <a:avLst>
              <a:gd name="adj" fmla="val 760"/>
            </a:avLst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3D50C89-3578-E14A-BF4D-FA1E51D21B99}"/>
              </a:ext>
            </a:extLst>
          </p:cNvPr>
          <p:cNvSpPr/>
          <p:nvPr/>
        </p:nvSpPr>
        <p:spPr>
          <a:xfrm>
            <a:off x="4419600" y="1905000"/>
            <a:ext cx="3340100" cy="88900"/>
          </a:xfrm>
          <a:prstGeom prst="rect">
            <a:avLst/>
          </a:prstGeom>
          <a:solidFill>
            <a:srgbClr val="1D4E89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1770731B-2DFD-A044-86D4-FED9C4986CAB}"/>
              </a:ext>
            </a:extLst>
          </p:cNvPr>
          <p:cNvSpPr/>
          <p:nvPr/>
        </p:nvSpPr>
        <p:spPr>
          <a:xfrm>
            <a:off x="4724400" y="2286000"/>
            <a:ext cx="508000" cy="508000"/>
          </a:xfrm>
          <a:prstGeom prst="ellipse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  <a:latin typeface="JetBrains Mono"/>
              </a:rPr>
              <a:t>2</a:t>
            </a:r>
            <a:endParaRPr lang="ko-KR" altLang="en-US" sz="16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E246534-9A82-6242-9EF6-21B080929F1C}"/>
              </a:ext>
            </a:extLst>
          </p:cNvPr>
          <p:cNvSpPr txBox="1"/>
          <p:nvPr/>
        </p:nvSpPr>
        <p:spPr>
          <a:xfrm>
            <a:off x="5384800" y="2387600"/>
            <a:ext cx="2197100" cy="381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700" b="1">
                <a:solidFill>
                  <a:srgbClr val="14213D"/>
                </a:solidFill>
                <a:latin typeface="Pretendard"/>
              </a:rPr>
              <a:t>메시지 하우스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5C24D14D-9CA0-8A4B-B2EE-78B5454277D5}"/>
              </a:ext>
            </a:extLst>
          </p:cNvPr>
          <p:cNvSpPr/>
          <p:nvPr/>
        </p:nvSpPr>
        <p:spPr>
          <a:xfrm>
            <a:off x="4724400" y="3048000"/>
            <a:ext cx="2730500" cy="12700"/>
          </a:xfrm>
          <a:prstGeom prst="rect">
            <a:avLst/>
          </a:prstGeom>
          <a:solidFill>
            <a:srgbClr val="D9E2E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D15BB4B-90BE-8C4D-866E-B3DF975DF83A}"/>
              </a:ext>
            </a:extLst>
          </p:cNvPr>
          <p:cNvSpPr txBox="1"/>
          <p:nvPr/>
        </p:nvSpPr>
        <p:spPr>
          <a:xfrm>
            <a:off x="4724400" y="3251200"/>
            <a:ext cx="2730500" cy="2032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400" dirty="0">
                <a:solidFill>
                  <a:srgbClr val="576176"/>
                </a:solidFill>
                <a:latin typeface="Pretendard"/>
              </a:rPr>
              <a:t>지붕</a:t>
            </a:r>
            <a:r>
              <a:rPr lang="en-US" altLang="ko-KR" sz="1400" dirty="0">
                <a:solidFill>
                  <a:srgbClr val="576176"/>
                </a:solidFill>
                <a:latin typeface="Pretendard"/>
              </a:rPr>
              <a:t>(</a:t>
            </a:r>
            <a:r>
              <a:rPr lang="ko-KR" altLang="en-US" sz="1400" dirty="0">
                <a:solidFill>
                  <a:srgbClr val="576176"/>
                </a:solidFill>
                <a:latin typeface="Pretendard"/>
              </a:rPr>
              <a:t>핵심 메시지 </a:t>
            </a:r>
            <a:r>
              <a:rPr lang="en-US" altLang="ko-KR" sz="1400" dirty="0">
                <a:solidFill>
                  <a:srgbClr val="576176"/>
                </a:solidFill>
                <a:latin typeface="Pretendard"/>
              </a:rPr>
              <a:t>1</a:t>
            </a:r>
            <a:r>
              <a:rPr lang="ko-KR" altLang="en-US" sz="1400" dirty="0">
                <a:solidFill>
                  <a:srgbClr val="576176"/>
                </a:solidFill>
                <a:latin typeface="Pretendard"/>
              </a:rPr>
              <a:t>문장</a:t>
            </a:r>
            <a:r>
              <a:rPr lang="en-US" altLang="ko-KR" sz="1400" dirty="0">
                <a:solidFill>
                  <a:srgbClr val="576176"/>
                </a:solidFill>
                <a:latin typeface="Pretendard"/>
              </a:rPr>
              <a:t>) + </a:t>
            </a:r>
            <a:r>
              <a:rPr lang="ko-KR" altLang="en-US" sz="1400" dirty="0">
                <a:solidFill>
                  <a:srgbClr val="576176"/>
                </a:solidFill>
                <a:latin typeface="Pretendard"/>
              </a:rPr>
              <a:t>기둥</a:t>
            </a:r>
            <a:r>
              <a:rPr lang="en-US" altLang="ko-KR" sz="1400" dirty="0">
                <a:solidFill>
                  <a:srgbClr val="576176"/>
                </a:solidFill>
                <a:latin typeface="Pretendard"/>
              </a:rPr>
              <a:t>(</a:t>
            </a:r>
            <a:r>
              <a:rPr lang="ko-KR" altLang="en-US" sz="1400" dirty="0">
                <a:solidFill>
                  <a:srgbClr val="576176"/>
                </a:solidFill>
                <a:latin typeface="Pretendard"/>
              </a:rPr>
              <a:t>근거 </a:t>
            </a:r>
            <a:r>
              <a:rPr lang="en-US" altLang="ko-KR" sz="1400" dirty="0">
                <a:solidFill>
                  <a:srgbClr val="576176"/>
                </a:solidFill>
                <a:latin typeface="Pretendard"/>
              </a:rPr>
              <a:t>3</a:t>
            </a:r>
            <a:r>
              <a:rPr lang="ko-KR" altLang="en-US" sz="1400" dirty="0">
                <a:solidFill>
                  <a:srgbClr val="576176"/>
                </a:solidFill>
                <a:latin typeface="Pretendard"/>
              </a:rPr>
              <a:t>개</a:t>
            </a:r>
            <a:r>
              <a:rPr lang="en-US" altLang="ko-KR" sz="1400" dirty="0">
                <a:solidFill>
                  <a:srgbClr val="576176"/>
                </a:solidFill>
                <a:latin typeface="Pretendard"/>
              </a:rPr>
              <a:t>). </a:t>
            </a:r>
          </a:p>
          <a:p>
            <a:pPr algn="l">
              <a:lnSpc>
                <a:spcPct val="150000"/>
              </a:lnSpc>
            </a:pPr>
            <a:endParaRPr lang="en-US" altLang="ko-KR" sz="1400" dirty="0">
              <a:solidFill>
                <a:srgbClr val="576176"/>
              </a:solidFill>
              <a:latin typeface="Pretendard"/>
            </a:endParaRPr>
          </a:p>
          <a:p>
            <a:pPr algn="l">
              <a:lnSpc>
                <a:spcPct val="150000"/>
              </a:lnSpc>
            </a:pPr>
            <a:r>
              <a:rPr lang="ko-KR" altLang="en-US" sz="1400" dirty="0">
                <a:solidFill>
                  <a:srgbClr val="576176"/>
                </a:solidFill>
                <a:latin typeface="Pretendard"/>
              </a:rPr>
              <a:t>모든 콘텐츠가 </a:t>
            </a:r>
            <a:endParaRPr lang="en-US" altLang="ko-KR" sz="1400" dirty="0">
              <a:solidFill>
                <a:srgbClr val="576176"/>
              </a:solidFill>
              <a:latin typeface="Pretendard"/>
            </a:endParaRPr>
          </a:p>
          <a:p>
            <a:pPr algn="l">
              <a:lnSpc>
                <a:spcPct val="150000"/>
              </a:lnSpc>
            </a:pPr>
            <a:r>
              <a:rPr lang="ko-KR" altLang="en-US" sz="1400" dirty="0">
                <a:solidFill>
                  <a:srgbClr val="576176"/>
                </a:solidFill>
                <a:latin typeface="Pretendard"/>
              </a:rPr>
              <a:t>이 한 채에서 파생된다</a:t>
            </a:r>
            <a:r>
              <a:rPr lang="en-US" altLang="ko-KR" sz="1400" dirty="0">
                <a:solidFill>
                  <a:srgbClr val="576176"/>
                </a:solidFill>
                <a:latin typeface="Pretendard"/>
              </a:rPr>
              <a:t>.</a:t>
            </a:r>
            <a:endParaRPr lang="ko-KR" altLang="en-US" sz="1400" dirty="0">
              <a:solidFill>
                <a:srgbClr val="576176"/>
              </a:solidFill>
              <a:latin typeface="Pretendard"/>
            </a:endParaRP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8F5BDFA4-5AB7-BD47-8974-FA5BE21DAA1F}"/>
              </a:ext>
            </a:extLst>
          </p:cNvPr>
          <p:cNvSpPr/>
          <p:nvPr/>
        </p:nvSpPr>
        <p:spPr>
          <a:xfrm>
            <a:off x="4724400" y="5562600"/>
            <a:ext cx="2730500" cy="457200"/>
          </a:xfrm>
          <a:prstGeom prst="roundRect">
            <a:avLst>
              <a:gd name="adj" fmla="val 5556"/>
            </a:avLst>
          </a:prstGeom>
          <a:solidFill>
            <a:srgbClr val="E4ECF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99959A3-06A6-A049-8CEB-2343B86E3787}"/>
              </a:ext>
            </a:extLst>
          </p:cNvPr>
          <p:cNvSpPr txBox="1"/>
          <p:nvPr/>
        </p:nvSpPr>
        <p:spPr>
          <a:xfrm>
            <a:off x="4724400" y="5562600"/>
            <a:ext cx="2730500" cy="457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ko-KR" altLang="en-US" sz="1400" b="1">
                <a:solidFill>
                  <a:srgbClr val="1D4E89"/>
                </a:solidFill>
                <a:latin typeface="Pretendard"/>
              </a:rPr>
              <a:t>지붕 </a:t>
            </a:r>
            <a:r>
              <a:rPr lang="en-US" altLang="ko-KR" sz="1400" b="1">
                <a:solidFill>
                  <a:srgbClr val="1D4E89"/>
                </a:solidFill>
                <a:latin typeface="Pretendard"/>
              </a:rPr>
              <a:t>1 · </a:t>
            </a:r>
            <a:r>
              <a:rPr lang="ko-KR" altLang="en-US" sz="1400" b="1">
                <a:solidFill>
                  <a:srgbClr val="1D4E89"/>
                </a:solidFill>
                <a:latin typeface="Pretendard"/>
              </a:rPr>
              <a:t>기둥 </a:t>
            </a:r>
            <a:r>
              <a:rPr lang="en-US" altLang="ko-KR" sz="1400" b="1">
                <a:solidFill>
                  <a:srgbClr val="1D4E89"/>
                </a:solidFill>
                <a:latin typeface="Pretendard"/>
              </a:rPr>
              <a:t>3</a:t>
            </a:r>
            <a:endParaRPr lang="ko-KR" altLang="en-US" sz="1400" b="1">
              <a:solidFill>
                <a:srgbClr val="1D4E89"/>
              </a:solidFill>
              <a:latin typeface="Pretendard"/>
            </a:endParaRPr>
          </a:p>
        </p:txBody>
      </p:sp>
      <p:sp>
        <p:nvSpPr>
          <p:cNvPr id="21" name="모서리가 둥근 직사각형 20">
            <a:extLst>
              <a:ext uri="{FF2B5EF4-FFF2-40B4-BE49-F238E27FC236}">
                <a16:creationId xmlns:a16="http://schemas.microsoft.com/office/drawing/2014/main" id="{E02778AD-B32F-424C-B783-8867DDF79897}"/>
              </a:ext>
            </a:extLst>
          </p:cNvPr>
          <p:cNvSpPr/>
          <p:nvPr/>
        </p:nvSpPr>
        <p:spPr>
          <a:xfrm>
            <a:off x="8013700" y="1905000"/>
            <a:ext cx="3340100" cy="4381500"/>
          </a:xfrm>
          <a:prstGeom prst="roundRect">
            <a:avLst>
              <a:gd name="adj" fmla="val 760"/>
            </a:avLst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967ABEE7-4571-2445-87F0-0D0199B1566E}"/>
              </a:ext>
            </a:extLst>
          </p:cNvPr>
          <p:cNvSpPr/>
          <p:nvPr/>
        </p:nvSpPr>
        <p:spPr>
          <a:xfrm>
            <a:off x="8013700" y="1905000"/>
            <a:ext cx="3340100" cy="88900"/>
          </a:xfrm>
          <a:prstGeom prst="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950BA16C-36A3-1B47-A89F-6415E2522176}"/>
              </a:ext>
            </a:extLst>
          </p:cNvPr>
          <p:cNvSpPr/>
          <p:nvPr/>
        </p:nvSpPr>
        <p:spPr>
          <a:xfrm>
            <a:off x="8318500" y="2286000"/>
            <a:ext cx="508000" cy="508000"/>
          </a:xfrm>
          <a:prstGeom prst="ellipse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  <a:latin typeface="JetBrains Mono"/>
              </a:rPr>
              <a:t>3</a:t>
            </a:r>
            <a:endParaRPr lang="ko-KR" altLang="en-US" sz="16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5E71E80-5D26-C34B-A661-344C02D5E1A8}"/>
              </a:ext>
            </a:extLst>
          </p:cNvPr>
          <p:cNvSpPr txBox="1"/>
          <p:nvPr/>
        </p:nvSpPr>
        <p:spPr>
          <a:xfrm>
            <a:off x="8978900" y="2387600"/>
            <a:ext cx="2197100" cy="381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700" b="1">
                <a:solidFill>
                  <a:srgbClr val="14213D"/>
                </a:solidFill>
                <a:latin typeface="Pretendard"/>
              </a:rPr>
              <a:t>가치 제안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D16C456D-6F91-7443-912D-B8089796CE52}"/>
              </a:ext>
            </a:extLst>
          </p:cNvPr>
          <p:cNvSpPr/>
          <p:nvPr/>
        </p:nvSpPr>
        <p:spPr>
          <a:xfrm>
            <a:off x="8318500" y="3048000"/>
            <a:ext cx="2730500" cy="12700"/>
          </a:xfrm>
          <a:prstGeom prst="rect">
            <a:avLst/>
          </a:prstGeom>
          <a:solidFill>
            <a:srgbClr val="D9E2E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1C5DA35-41E4-6141-B870-5B3C22275315}"/>
              </a:ext>
            </a:extLst>
          </p:cNvPr>
          <p:cNvSpPr txBox="1"/>
          <p:nvPr/>
        </p:nvSpPr>
        <p:spPr>
          <a:xfrm>
            <a:off x="8318500" y="3251200"/>
            <a:ext cx="2730500" cy="2032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400" dirty="0">
                <a:solidFill>
                  <a:srgbClr val="576176"/>
                </a:solidFill>
                <a:latin typeface="Pretendard"/>
              </a:rPr>
              <a:t>‘누구에게</a:t>
            </a:r>
            <a:r>
              <a:rPr lang="en-US" altLang="ko-KR" sz="1400" dirty="0">
                <a:solidFill>
                  <a:srgbClr val="576176"/>
                </a:solidFill>
                <a:latin typeface="Pretendard"/>
              </a:rPr>
              <a:t>·</a:t>
            </a:r>
            <a:r>
              <a:rPr lang="ko-KR" altLang="en-US" sz="1400" dirty="0">
                <a:solidFill>
                  <a:srgbClr val="576176"/>
                </a:solidFill>
                <a:latin typeface="Pretendard"/>
              </a:rPr>
              <a:t>어떤 문제를</a:t>
            </a:r>
            <a:r>
              <a:rPr lang="en-US" altLang="ko-KR" sz="1400" dirty="0">
                <a:solidFill>
                  <a:srgbClr val="576176"/>
                </a:solidFill>
                <a:latin typeface="Pretendard"/>
              </a:rPr>
              <a:t>·</a:t>
            </a:r>
          </a:p>
          <a:p>
            <a:pPr algn="l">
              <a:lnSpc>
                <a:spcPct val="150000"/>
              </a:lnSpc>
            </a:pPr>
            <a:r>
              <a:rPr lang="ko-KR" altLang="en-US" sz="1400" dirty="0">
                <a:solidFill>
                  <a:srgbClr val="576176"/>
                </a:solidFill>
                <a:latin typeface="Pretendard"/>
              </a:rPr>
              <a:t>어떻게 해결’ 한 문장</a:t>
            </a:r>
            <a:r>
              <a:rPr lang="en-US" altLang="ko-KR" sz="1400" dirty="0">
                <a:solidFill>
                  <a:srgbClr val="576176"/>
                </a:solidFill>
                <a:latin typeface="Pretendard"/>
              </a:rPr>
              <a:t>. </a:t>
            </a:r>
          </a:p>
          <a:p>
            <a:pPr algn="l">
              <a:lnSpc>
                <a:spcPct val="150000"/>
              </a:lnSpc>
            </a:pPr>
            <a:endParaRPr lang="en-US" altLang="ko-KR" sz="1400" dirty="0">
              <a:solidFill>
                <a:srgbClr val="576176"/>
              </a:solidFill>
              <a:latin typeface="Pretendard"/>
            </a:endParaRPr>
          </a:p>
          <a:p>
            <a:pPr algn="l">
              <a:lnSpc>
                <a:spcPct val="150000"/>
              </a:lnSpc>
            </a:pPr>
            <a:r>
              <a:rPr lang="ko-KR" altLang="en-US" sz="1400" dirty="0">
                <a:solidFill>
                  <a:srgbClr val="576176"/>
                </a:solidFill>
                <a:latin typeface="Pretendard"/>
              </a:rPr>
              <a:t>기능이 아니라 </a:t>
            </a:r>
            <a:endParaRPr lang="en-US" altLang="ko-KR" sz="1400" dirty="0">
              <a:solidFill>
                <a:srgbClr val="576176"/>
              </a:solidFill>
              <a:latin typeface="Pretendard"/>
            </a:endParaRPr>
          </a:p>
          <a:p>
            <a:pPr algn="l">
              <a:lnSpc>
                <a:spcPct val="150000"/>
              </a:lnSpc>
            </a:pPr>
            <a:r>
              <a:rPr lang="ko-KR" altLang="en-US" sz="1400" dirty="0">
                <a:solidFill>
                  <a:srgbClr val="576176"/>
                </a:solidFill>
                <a:latin typeface="Pretendard"/>
              </a:rPr>
              <a:t>고객이 얻는 결과로 말한다</a:t>
            </a:r>
            <a:r>
              <a:rPr lang="en-US" altLang="ko-KR" sz="1400" dirty="0">
                <a:solidFill>
                  <a:srgbClr val="576176"/>
                </a:solidFill>
                <a:latin typeface="Pretendard"/>
              </a:rPr>
              <a:t>.</a:t>
            </a:r>
            <a:endParaRPr lang="ko-KR" altLang="en-US" sz="1400" dirty="0">
              <a:solidFill>
                <a:srgbClr val="576176"/>
              </a:solidFill>
              <a:latin typeface="Pretendard"/>
            </a:endParaRPr>
          </a:p>
        </p:txBody>
      </p:sp>
      <p:sp>
        <p:nvSpPr>
          <p:cNvPr id="27" name="모서리가 둥근 직사각형 26">
            <a:extLst>
              <a:ext uri="{FF2B5EF4-FFF2-40B4-BE49-F238E27FC236}">
                <a16:creationId xmlns:a16="http://schemas.microsoft.com/office/drawing/2014/main" id="{B8C18D01-A8CD-4F47-A5EF-499DB577A5FA}"/>
              </a:ext>
            </a:extLst>
          </p:cNvPr>
          <p:cNvSpPr/>
          <p:nvPr/>
        </p:nvSpPr>
        <p:spPr>
          <a:xfrm>
            <a:off x="8318500" y="5562600"/>
            <a:ext cx="2730500" cy="457200"/>
          </a:xfrm>
          <a:prstGeom prst="roundRect">
            <a:avLst>
              <a:gd name="adj" fmla="val 5556"/>
            </a:avLst>
          </a:prstGeom>
          <a:solidFill>
            <a:srgbClr val="FBEF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94F3C99-B4F4-B849-A8B1-54D430AD8881}"/>
              </a:ext>
            </a:extLst>
          </p:cNvPr>
          <p:cNvSpPr txBox="1"/>
          <p:nvPr/>
        </p:nvSpPr>
        <p:spPr>
          <a:xfrm>
            <a:off x="8318500" y="5562600"/>
            <a:ext cx="2730500" cy="457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ko-KR" altLang="en-US" sz="1400" b="1">
                <a:solidFill>
                  <a:srgbClr val="9A6B12"/>
                </a:solidFill>
                <a:latin typeface="Pretendard"/>
              </a:rPr>
              <a:t>결과로 말하기</a:t>
            </a:r>
          </a:p>
        </p:txBody>
      </p:sp>
      <p:sp>
        <p:nvSpPr>
          <p:cNvPr id="4" name="PageNumber">
            <a:extLst>
              <a:ext uri="{FF2B5EF4-FFF2-40B4-BE49-F238E27FC236}">
                <a16:creationId xmlns:a16="http://schemas.microsoft.com/office/drawing/2014/main" id="{ADE5F861-E6D9-2D4D-A932-55FD25E8B28D}"/>
              </a:ext>
            </a:extLst>
          </p:cNvPr>
          <p:cNvSpPr txBox="1"/>
          <p:nvPr/>
        </p:nvSpPr>
        <p:spPr>
          <a:xfrm>
            <a:off x="9499600" y="6489700"/>
            <a:ext cx="23368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r"/>
            <a:r>
              <a:rPr lang="en-US" altLang="ko-KR" sz="1200">
                <a:solidFill>
                  <a:srgbClr val="576176"/>
                </a:solidFill>
                <a:latin typeface="Pretendard"/>
              </a:rPr>
              <a:t>- 30/144 -</a:t>
            </a:r>
            <a:endParaRPr lang="ko-KR" altLang="en-US" sz="1200">
              <a:solidFill>
                <a:srgbClr val="576176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102071287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개념 깊이 보기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개념을 예시로 — 우리 케이스에 적용하면</a:t>
            </a: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BBD8F524-24CD-FD48-B1A2-56568F170452}"/>
              </a:ext>
            </a:extLst>
          </p:cNvPr>
          <p:cNvSpPr/>
          <p:nvPr/>
        </p:nvSpPr>
        <p:spPr>
          <a:xfrm>
            <a:off x="825500" y="1905000"/>
            <a:ext cx="5461000" cy="4381500"/>
          </a:xfrm>
          <a:prstGeom prst="roundRect">
            <a:avLst>
              <a:gd name="adj" fmla="val 580"/>
            </a:avLst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5FBAF9-250E-0343-90CE-4CD998ADCAF0}"/>
              </a:ext>
            </a:extLst>
          </p:cNvPr>
          <p:cNvSpPr txBox="1"/>
          <p:nvPr/>
        </p:nvSpPr>
        <p:spPr>
          <a:xfrm>
            <a:off x="1181100" y="2159000"/>
            <a:ext cx="4749800" cy="355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b="1">
                <a:solidFill>
                  <a:srgbClr val="14213D"/>
                </a:solidFill>
                <a:latin typeface="Pretendard"/>
              </a:rPr>
              <a:t>타깃 페르소나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E56A7C-FF88-314C-A398-A6E2659D402C}"/>
              </a:ext>
            </a:extLst>
          </p:cNvPr>
          <p:cNvSpPr txBox="1"/>
          <p:nvPr/>
        </p:nvSpPr>
        <p:spPr>
          <a:xfrm>
            <a:off x="1181100" y="2540000"/>
            <a:ext cx="47498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400">
                <a:solidFill>
                  <a:srgbClr val="576176"/>
                </a:solidFill>
                <a:latin typeface="Pretendard"/>
              </a:rPr>
              <a:t>막연 → 구체로 좁히기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7608B8-5647-2C4A-98BA-B4C09B8B2208}"/>
              </a:ext>
            </a:extLst>
          </p:cNvPr>
          <p:cNvSpPr txBox="1"/>
          <p:nvPr/>
        </p:nvSpPr>
        <p:spPr>
          <a:xfrm>
            <a:off x="1181100" y="2946400"/>
            <a:ext cx="47498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400" b="1">
                <a:solidFill>
                  <a:srgbClr val="576176"/>
                </a:solidFill>
                <a:latin typeface="JetBrains Mono"/>
              </a:rPr>
              <a:t>BEFORE · </a:t>
            </a:r>
            <a:r>
              <a:rPr lang="ko-KR" altLang="en-US" sz="1400" b="1">
                <a:solidFill>
                  <a:srgbClr val="576176"/>
                </a:solidFill>
                <a:latin typeface="JetBrains Mono"/>
              </a:rPr>
              <a:t>막연</a:t>
            </a: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622FFD31-8E8B-5F4D-86D2-DC439372F655}"/>
              </a:ext>
            </a:extLst>
          </p:cNvPr>
          <p:cNvSpPr/>
          <p:nvPr/>
        </p:nvSpPr>
        <p:spPr>
          <a:xfrm>
            <a:off x="1181100" y="3200400"/>
            <a:ext cx="4749800" cy="533400"/>
          </a:xfrm>
          <a:prstGeom prst="roundRect">
            <a:avLst>
              <a:gd name="adj" fmla="val 4762"/>
            </a:avLst>
          </a:prstGeom>
          <a:solidFill>
            <a:srgbClr val="ECEFF3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EF13210-2ED8-A84D-B231-AF80AC3FF4BA}"/>
              </a:ext>
            </a:extLst>
          </p:cNvPr>
          <p:cNvSpPr txBox="1"/>
          <p:nvPr/>
        </p:nvSpPr>
        <p:spPr>
          <a:xfrm>
            <a:off x="1181100" y="3200400"/>
            <a:ext cx="4749800" cy="533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500">
                <a:solidFill>
                  <a:srgbClr val="576176"/>
                </a:solidFill>
                <a:latin typeface="Pretendard"/>
              </a:rPr>
              <a:t>“</a:t>
            </a:r>
            <a:r>
              <a:rPr lang="en-US" altLang="ko-KR" sz="1500">
                <a:solidFill>
                  <a:srgbClr val="576176"/>
                </a:solidFill>
                <a:latin typeface="Pretendard"/>
              </a:rPr>
              <a:t>30</a:t>
            </a:r>
            <a:r>
              <a:rPr lang="ko-KR" altLang="en-US" sz="1500">
                <a:solidFill>
                  <a:srgbClr val="576176"/>
                </a:solidFill>
                <a:latin typeface="Pretendard"/>
              </a:rPr>
              <a:t>대 직장인”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C6A4171-C62A-0048-892A-F1F605D3A9D0}"/>
              </a:ext>
            </a:extLst>
          </p:cNvPr>
          <p:cNvSpPr txBox="1"/>
          <p:nvPr/>
        </p:nvSpPr>
        <p:spPr>
          <a:xfrm>
            <a:off x="1181100" y="3810000"/>
            <a:ext cx="4749800" cy="330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2000" b="1">
                <a:solidFill>
                  <a:srgbClr val="E8A33D"/>
                </a:solidFill>
                <a:latin typeface="Pretendard"/>
              </a:rPr>
              <a:t>↓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CD23ABC-5DAE-5C40-A8F3-C053475DEA29}"/>
              </a:ext>
            </a:extLst>
          </p:cNvPr>
          <p:cNvSpPr txBox="1"/>
          <p:nvPr/>
        </p:nvSpPr>
        <p:spPr>
          <a:xfrm>
            <a:off x="1181100" y="4191000"/>
            <a:ext cx="47498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400" b="1">
                <a:solidFill>
                  <a:srgbClr val="B5781B"/>
                </a:solidFill>
                <a:latin typeface="JetBrains Mono"/>
              </a:rPr>
              <a:t>AFTER · </a:t>
            </a:r>
            <a:r>
              <a:rPr lang="ko-KR" altLang="en-US" sz="1400" b="1">
                <a:solidFill>
                  <a:srgbClr val="B5781B"/>
                </a:solidFill>
                <a:latin typeface="JetBrains Mono"/>
              </a:rPr>
              <a:t>구체</a:t>
            </a: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5276CDE7-06A7-A647-9A3D-665977883844}"/>
              </a:ext>
            </a:extLst>
          </p:cNvPr>
          <p:cNvSpPr/>
          <p:nvPr/>
        </p:nvSpPr>
        <p:spPr>
          <a:xfrm>
            <a:off x="1181100" y="4445000"/>
            <a:ext cx="4749800" cy="990600"/>
          </a:xfrm>
          <a:prstGeom prst="roundRect">
            <a:avLst>
              <a:gd name="adj" fmla="val 2564"/>
            </a:avLst>
          </a:prstGeom>
          <a:solidFill>
            <a:srgbClr val="FBEF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4BBB17B-E8CF-D548-A7AE-0F31E6A32AAD}"/>
              </a:ext>
            </a:extLst>
          </p:cNvPr>
          <p:cNvSpPr txBox="1"/>
          <p:nvPr/>
        </p:nvSpPr>
        <p:spPr>
          <a:xfrm>
            <a:off x="1333500" y="4445000"/>
            <a:ext cx="4445000" cy="990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450" b="1" dirty="0">
                <a:solidFill>
                  <a:srgbClr val="14213D"/>
                </a:solidFill>
                <a:latin typeface="Pretendard"/>
              </a:rPr>
              <a:t>“퇴근 후 </a:t>
            </a:r>
            <a:r>
              <a:rPr lang="ko-KR" altLang="en-US" sz="1450" b="1" dirty="0" err="1">
                <a:solidFill>
                  <a:srgbClr val="14213D"/>
                </a:solidFill>
                <a:latin typeface="Pretendard"/>
              </a:rPr>
              <a:t>혼술하지만</a:t>
            </a:r>
            <a:r>
              <a:rPr lang="ko-KR" altLang="en-US" sz="1450" b="1" dirty="0">
                <a:solidFill>
                  <a:srgbClr val="14213D"/>
                </a:solidFill>
                <a:latin typeface="Pretendard"/>
              </a:rPr>
              <a:t> </a:t>
            </a:r>
            <a:endParaRPr lang="en-US" altLang="ko-KR" sz="1450" b="1" dirty="0">
              <a:solidFill>
                <a:srgbClr val="14213D"/>
              </a:solidFill>
              <a:latin typeface="Pretendard"/>
            </a:endParaRPr>
          </a:p>
          <a:p>
            <a:pPr algn="l">
              <a:lnSpc>
                <a:spcPct val="150000"/>
              </a:lnSpc>
            </a:pPr>
            <a:r>
              <a:rPr lang="ko-KR" altLang="en-US" sz="1450" b="1" dirty="0">
                <a:solidFill>
                  <a:srgbClr val="14213D"/>
                </a:solidFill>
                <a:latin typeface="Pretendard"/>
              </a:rPr>
              <a:t>다음날 컨디션이 걱정인 </a:t>
            </a:r>
            <a:r>
              <a:rPr lang="en-US" altLang="ko-KR" sz="1450" b="1" dirty="0">
                <a:solidFill>
                  <a:srgbClr val="14213D"/>
                </a:solidFill>
                <a:latin typeface="Pretendard"/>
              </a:rPr>
              <a:t>33</a:t>
            </a:r>
            <a:r>
              <a:rPr lang="ko-KR" altLang="en-US" sz="1450" b="1" dirty="0">
                <a:solidFill>
                  <a:srgbClr val="14213D"/>
                </a:solidFill>
                <a:latin typeface="Pretendard"/>
              </a:rPr>
              <a:t>세 회사원 지현”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DB86448-6B53-E249-BD4F-F921A6B36458}"/>
              </a:ext>
            </a:extLst>
          </p:cNvPr>
          <p:cNvSpPr txBox="1"/>
          <p:nvPr/>
        </p:nvSpPr>
        <p:spPr>
          <a:xfrm>
            <a:off x="1181100" y="5588000"/>
            <a:ext cx="4749800" cy="304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400" i="1">
                <a:solidFill>
                  <a:srgbClr val="1D4E89"/>
                </a:solidFill>
                <a:latin typeface="JetBrains Mono"/>
              </a:rPr>
              <a:t>→ 구체적일수록 카피가 날카로워진다</a:t>
            </a:r>
            <a:r>
              <a:rPr lang="en-US" altLang="ko-KR" sz="1400" i="1">
                <a:solidFill>
                  <a:srgbClr val="1D4E89"/>
                </a:solidFill>
                <a:latin typeface="JetBrains Mono"/>
              </a:rPr>
              <a:t>.</a:t>
            </a:r>
            <a:endParaRPr lang="ko-KR" altLang="en-US" sz="1400" i="1">
              <a:solidFill>
                <a:srgbClr val="1D4E89"/>
              </a:solidFill>
              <a:latin typeface="JetBrains Mono"/>
            </a:endParaRPr>
          </a:p>
        </p:txBody>
      </p:sp>
      <p:sp>
        <p:nvSpPr>
          <p:cNvPr id="16" name="모서리가 둥근 직사각형 15">
            <a:extLst>
              <a:ext uri="{FF2B5EF4-FFF2-40B4-BE49-F238E27FC236}">
                <a16:creationId xmlns:a16="http://schemas.microsoft.com/office/drawing/2014/main" id="{07818F2C-7E27-3143-8129-90A86291B08A}"/>
              </a:ext>
            </a:extLst>
          </p:cNvPr>
          <p:cNvSpPr/>
          <p:nvPr/>
        </p:nvSpPr>
        <p:spPr>
          <a:xfrm>
            <a:off x="6540500" y="1905000"/>
            <a:ext cx="4826000" cy="4381500"/>
          </a:xfrm>
          <a:prstGeom prst="roundRect">
            <a:avLst>
              <a:gd name="adj" fmla="val 580"/>
            </a:avLst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4A24927-5650-AC4E-9FD8-94CA5706CC85}"/>
              </a:ext>
            </a:extLst>
          </p:cNvPr>
          <p:cNvSpPr txBox="1"/>
          <p:nvPr/>
        </p:nvSpPr>
        <p:spPr>
          <a:xfrm>
            <a:off x="6845300" y="2159000"/>
            <a:ext cx="4216400" cy="355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b="1">
                <a:solidFill>
                  <a:srgbClr val="FFFFFF"/>
                </a:solidFill>
                <a:latin typeface="Pretendard"/>
              </a:rPr>
              <a:t>메시지 하우스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FBAD918-4B20-D54F-9E28-A329664DFE27}"/>
              </a:ext>
            </a:extLst>
          </p:cNvPr>
          <p:cNvSpPr txBox="1"/>
          <p:nvPr/>
        </p:nvSpPr>
        <p:spPr>
          <a:xfrm>
            <a:off x="6845300" y="2540000"/>
            <a:ext cx="42164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400">
                <a:solidFill>
                  <a:srgbClr val="E8A33D"/>
                </a:solidFill>
                <a:latin typeface="Pretendard"/>
              </a:rPr>
              <a:t>지붕 </a:t>
            </a:r>
            <a:r>
              <a:rPr lang="en-US" altLang="ko-KR" sz="1400">
                <a:solidFill>
                  <a:srgbClr val="E8A33D"/>
                </a:solidFill>
                <a:latin typeface="Pretendard"/>
              </a:rPr>
              <a:t>1</a:t>
            </a:r>
            <a:r>
              <a:rPr lang="ko-KR" altLang="en-US" sz="1400">
                <a:solidFill>
                  <a:srgbClr val="E8A33D"/>
                </a:solidFill>
                <a:latin typeface="Pretendard"/>
              </a:rPr>
              <a:t>문장 </a:t>
            </a:r>
            <a:r>
              <a:rPr lang="en-US" altLang="ko-KR" sz="1400">
                <a:solidFill>
                  <a:srgbClr val="E8A33D"/>
                </a:solidFill>
                <a:latin typeface="Pretendard"/>
              </a:rPr>
              <a:t>+ </a:t>
            </a:r>
            <a:r>
              <a:rPr lang="ko-KR" altLang="en-US" sz="1400">
                <a:solidFill>
                  <a:srgbClr val="E8A33D"/>
                </a:solidFill>
                <a:latin typeface="Pretendard"/>
              </a:rPr>
              <a:t>기둥 </a:t>
            </a:r>
            <a:r>
              <a:rPr lang="en-US" altLang="ko-KR" sz="1400">
                <a:solidFill>
                  <a:srgbClr val="E8A33D"/>
                </a:solidFill>
                <a:latin typeface="Pretendard"/>
              </a:rPr>
              <a:t>3</a:t>
            </a:r>
            <a:r>
              <a:rPr lang="ko-KR" altLang="en-US" sz="1400">
                <a:solidFill>
                  <a:srgbClr val="E8A33D"/>
                </a:solidFill>
                <a:latin typeface="Pretendard"/>
              </a:rPr>
              <a:t>개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1307FD7-5BF8-4448-894E-574F61ABAC0F}"/>
              </a:ext>
            </a:extLst>
          </p:cNvPr>
          <p:cNvSpPr txBox="1"/>
          <p:nvPr/>
        </p:nvSpPr>
        <p:spPr>
          <a:xfrm>
            <a:off x="6845300" y="2921000"/>
            <a:ext cx="4216400" cy="203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400" b="1">
                <a:solidFill>
                  <a:srgbClr val="E8A33D"/>
                </a:solidFill>
                <a:latin typeface="JetBrains Mono"/>
              </a:rPr>
              <a:t>지붕 </a:t>
            </a:r>
            <a:r>
              <a:rPr lang="en-US" altLang="ko-KR" sz="1400" b="1">
                <a:solidFill>
                  <a:srgbClr val="E8A33D"/>
                </a:solidFill>
                <a:latin typeface="JetBrains Mono"/>
              </a:rPr>
              <a:t>· </a:t>
            </a:r>
            <a:r>
              <a:rPr lang="ko-KR" altLang="en-US" sz="1400" b="1">
                <a:solidFill>
                  <a:srgbClr val="E8A33D"/>
                </a:solidFill>
                <a:latin typeface="JetBrains Mono"/>
              </a:rPr>
              <a:t>핵심 메시지</a:t>
            </a:r>
          </a:p>
        </p:txBody>
      </p:sp>
      <p:sp>
        <p:nvSpPr>
          <p:cNvPr id="20" name="모서리가 둥근 직사각형 19">
            <a:extLst>
              <a:ext uri="{FF2B5EF4-FFF2-40B4-BE49-F238E27FC236}">
                <a16:creationId xmlns:a16="http://schemas.microsoft.com/office/drawing/2014/main" id="{72F96CB0-2D42-F34B-A7EE-4C6DB47D9E71}"/>
              </a:ext>
            </a:extLst>
          </p:cNvPr>
          <p:cNvSpPr/>
          <p:nvPr/>
        </p:nvSpPr>
        <p:spPr>
          <a:xfrm>
            <a:off x="6845300" y="3302000"/>
            <a:ext cx="4216400" cy="558800"/>
          </a:xfrm>
          <a:prstGeom prst="roundRect">
            <a:avLst>
              <a:gd name="adj" fmla="val 3704"/>
            </a:avLst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8D4B382-1AFC-FE4D-B040-F1336FF2D2AC}"/>
              </a:ext>
            </a:extLst>
          </p:cNvPr>
          <p:cNvSpPr txBox="1"/>
          <p:nvPr/>
        </p:nvSpPr>
        <p:spPr>
          <a:xfrm>
            <a:off x="6845300" y="3302000"/>
            <a:ext cx="4216400" cy="558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500" b="1">
                <a:solidFill>
                  <a:srgbClr val="14213D"/>
                </a:solidFill>
                <a:latin typeface="Pretendard"/>
              </a:rPr>
              <a:t>부담 없이 즐기는 진짜 맥주맛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53A17BB-63F9-F94E-BEA8-B7C4F7228297}"/>
              </a:ext>
            </a:extLst>
          </p:cNvPr>
          <p:cNvSpPr txBox="1"/>
          <p:nvPr/>
        </p:nvSpPr>
        <p:spPr>
          <a:xfrm>
            <a:off x="6845300" y="4038600"/>
            <a:ext cx="4216400" cy="203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400" b="1">
                <a:solidFill>
                  <a:srgbClr val="E8A33D"/>
                </a:solidFill>
                <a:latin typeface="JetBrains Mono"/>
              </a:rPr>
              <a:t>기둥 </a:t>
            </a:r>
            <a:r>
              <a:rPr lang="en-US" altLang="ko-KR" sz="1400" b="1">
                <a:solidFill>
                  <a:srgbClr val="E8A33D"/>
                </a:solidFill>
                <a:latin typeface="JetBrains Mono"/>
              </a:rPr>
              <a:t>· </a:t>
            </a:r>
            <a:r>
              <a:rPr lang="ko-KR" altLang="en-US" sz="1400" b="1">
                <a:solidFill>
                  <a:srgbClr val="E8A33D"/>
                </a:solidFill>
                <a:latin typeface="JetBrains Mono"/>
              </a:rPr>
              <a:t>근거 </a:t>
            </a:r>
            <a:r>
              <a:rPr lang="en-US" altLang="ko-KR" sz="1400" b="1">
                <a:solidFill>
                  <a:srgbClr val="E8A33D"/>
                </a:solidFill>
                <a:latin typeface="JetBrains Mono"/>
              </a:rPr>
              <a:t>3</a:t>
            </a:r>
            <a:endParaRPr lang="ko-KR" altLang="en-US" sz="1400" b="1">
              <a:solidFill>
                <a:srgbClr val="E8A33D"/>
              </a:solidFill>
              <a:latin typeface="JetBrains Mono"/>
            </a:endParaRPr>
          </a:p>
        </p:txBody>
      </p:sp>
      <p:sp>
        <p:nvSpPr>
          <p:cNvPr id="23" name="모서리가 둥근 직사각형 22">
            <a:extLst>
              <a:ext uri="{FF2B5EF4-FFF2-40B4-BE49-F238E27FC236}">
                <a16:creationId xmlns:a16="http://schemas.microsoft.com/office/drawing/2014/main" id="{F1138FBE-55ED-F94E-8596-AA59F5911F27}"/>
              </a:ext>
            </a:extLst>
          </p:cNvPr>
          <p:cNvSpPr/>
          <p:nvPr/>
        </p:nvSpPr>
        <p:spPr>
          <a:xfrm>
            <a:off x="6845300" y="4318000"/>
            <a:ext cx="1320800" cy="1676400"/>
          </a:xfrm>
          <a:prstGeom prst="roundRect">
            <a:avLst>
              <a:gd name="adj" fmla="val 1923"/>
            </a:avLst>
          </a:prstGeom>
          <a:solidFill>
            <a:srgbClr val="20314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ADA6E6E-07F8-2C4A-9B7F-CB1947ADCA2D}"/>
              </a:ext>
            </a:extLst>
          </p:cNvPr>
          <p:cNvSpPr txBox="1"/>
          <p:nvPr/>
        </p:nvSpPr>
        <p:spPr>
          <a:xfrm>
            <a:off x="6921500" y="4318000"/>
            <a:ext cx="1168400" cy="1676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ko-KR" altLang="en-US" sz="1400" b="1" dirty="0">
                <a:solidFill>
                  <a:srgbClr val="FFFFFF"/>
                </a:solidFill>
                <a:latin typeface="Pretendard"/>
              </a:rPr>
              <a:t>진짜 </a:t>
            </a:r>
            <a:endParaRPr lang="en-US" altLang="ko-KR" sz="1400" b="1" dirty="0">
              <a:solidFill>
                <a:srgbClr val="FFFFFF"/>
              </a:solidFill>
              <a:latin typeface="Pretendard"/>
            </a:endParaRPr>
          </a:p>
          <a:p>
            <a:pPr algn="ctr"/>
            <a:r>
              <a:rPr lang="ko-KR" altLang="en-US" sz="1400" b="1" dirty="0">
                <a:solidFill>
                  <a:srgbClr val="FFFFFF"/>
                </a:solidFill>
                <a:latin typeface="Pretendard"/>
              </a:rPr>
              <a:t>발효 공법</a:t>
            </a:r>
          </a:p>
        </p:txBody>
      </p:sp>
      <p:sp>
        <p:nvSpPr>
          <p:cNvPr id="25" name="모서리가 둥근 직사각형 24">
            <a:extLst>
              <a:ext uri="{FF2B5EF4-FFF2-40B4-BE49-F238E27FC236}">
                <a16:creationId xmlns:a16="http://schemas.microsoft.com/office/drawing/2014/main" id="{5CD5E224-196B-3948-8C6E-B56B34B8A98B}"/>
              </a:ext>
            </a:extLst>
          </p:cNvPr>
          <p:cNvSpPr/>
          <p:nvPr/>
        </p:nvSpPr>
        <p:spPr>
          <a:xfrm>
            <a:off x="8293100" y="4318000"/>
            <a:ext cx="1320800" cy="1676400"/>
          </a:xfrm>
          <a:prstGeom prst="roundRect">
            <a:avLst>
              <a:gd name="adj" fmla="val 1923"/>
            </a:avLst>
          </a:prstGeom>
          <a:solidFill>
            <a:srgbClr val="20314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9E49AD4-AF9F-3245-B6D7-F36E4BA246DA}"/>
              </a:ext>
            </a:extLst>
          </p:cNvPr>
          <p:cNvSpPr txBox="1"/>
          <p:nvPr/>
        </p:nvSpPr>
        <p:spPr>
          <a:xfrm>
            <a:off x="8369300" y="4318000"/>
            <a:ext cx="1168400" cy="1676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ko-KR" altLang="en-US" sz="1400" b="1" dirty="0">
                <a:solidFill>
                  <a:srgbClr val="FFFFFF"/>
                </a:solidFill>
                <a:latin typeface="Pretendard"/>
              </a:rPr>
              <a:t>칼로리 </a:t>
            </a:r>
            <a:r>
              <a:rPr lang="en-US" altLang="ko-KR" sz="1400" b="1" dirty="0">
                <a:solidFill>
                  <a:srgbClr val="FFFFFF"/>
                </a:solidFill>
                <a:latin typeface="Pretendard"/>
              </a:rPr>
              <a:t>30% ↓</a:t>
            </a:r>
            <a:endParaRPr lang="ko-KR" altLang="en-US" sz="1400" b="1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27" name="모서리가 둥근 직사각형 26">
            <a:extLst>
              <a:ext uri="{FF2B5EF4-FFF2-40B4-BE49-F238E27FC236}">
                <a16:creationId xmlns:a16="http://schemas.microsoft.com/office/drawing/2014/main" id="{4429EC28-712A-F947-A862-741DEF008987}"/>
              </a:ext>
            </a:extLst>
          </p:cNvPr>
          <p:cNvSpPr/>
          <p:nvPr/>
        </p:nvSpPr>
        <p:spPr>
          <a:xfrm>
            <a:off x="9740900" y="4318000"/>
            <a:ext cx="1320800" cy="1676400"/>
          </a:xfrm>
          <a:prstGeom prst="roundRect">
            <a:avLst>
              <a:gd name="adj" fmla="val 1923"/>
            </a:avLst>
          </a:prstGeom>
          <a:solidFill>
            <a:srgbClr val="20314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1268CA0-4656-AA4B-9B78-7D1093F60E34}"/>
              </a:ext>
            </a:extLst>
          </p:cNvPr>
          <p:cNvSpPr txBox="1"/>
          <p:nvPr/>
        </p:nvSpPr>
        <p:spPr>
          <a:xfrm>
            <a:off x="9817100" y="4318000"/>
            <a:ext cx="1168400" cy="1676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400" b="1">
                <a:solidFill>
                  <a:srgbClr val="FFFFFF"/>
                </a:solidFill>
                <a:latin typeface="Pretendard"/>
              </a:rPr>
              <a:t>알코올 </a:t>
            </a:r>
            <a:r>
              <a:rPr lang="en-US" altLang="ko-KR" sz="1400" b="1">
                <a:solidFill>
                  <a:srgbClr val="FFFFFF"/>
                </a:solidFill>
                <a:latin typeface="Pretendard"/>
              </a:rPr>
              <a:t>0.0%</a:t>
            </a:r>
            <a:endParaRPr lang="ko-KR" altLang="en-US" sz="1400" b="1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4" name="PageNumber">
            <a:extLst>
              <a:ext uri="{FF2B5EF4-FFF2-40B4-BE49-F238E27FC236}">
                <a16:creationId xmlns:a16="http://schemas.microsoft.com/office/drawing/2014/main" id="{F1A4CB12-8150-7A46-BF8E-4A0771180012}"/>
              </a:ext>
            </a:extLst>
          </p:cNvPr>
          <p:cNvSpPr txBox="1"/>
          <p:nvPr/>
        </p:nvSpPr>
        <p:spPr>
          <a:xfrm>
            <a:off x="9499600" y="6489700"/>
            <a:ext cx="23368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r"/>
            <a:r>
              <a:rPr lang="en-US" altLang="ko-KR" sz="1200">
                <a:solidFill>
                  <a:srgbClr val="576176"/>
                </a:solidFill>
                <a:latin typeface="Pretendard"/>
              </a:rPr>
              <a:t>- 31/144 -</a:t>
            </a:r>
            <a:endParaRPr lang="ko-KR" altLang="en-US" sz="1200">
              <a:solidFill>
                <a:srgbClr val="576176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300436982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개념 심화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메시지 하우스를 먼저 세우는 이유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011680"/>
            <a:ext cx="10332720" cy="2743200"/>
          </a:xfrm>
          <a:prstGeom prst="rect">
            <a:avLst/>
          </a:prstGeom>
          <a:solidFill>
            <a:srgbClr val="DCE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365760" rIns="457200" rtlCol="0" anchor="ctr"/>
          <a:lstStyle/>
          <a:p>
            <a:pPr algn="l">
              <a:lnSpc>
                <a:spcPct val="150000"/>
              </a:lnSpc>
              <a:spcBef>
                <a:spcPts val="600"/>
              </a:spcBef>
              <a:spcAft>
                <a:spcPts val="400"/>
              </a:spcAft>
            </a:pPr>
            <a:r>
              <a:rPr sz="1800" b="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뼈대</a:t>
            </a:r>
            <a:r>
              <a:rPr sz="1800" b="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800" b="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없이</a:t>
            </a:r>
            <a:r>
              <a:rPr sz="1800" b="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800" b="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콘텐츠부터</a:t>
            </a:r>
            <a:r>
              <a:rPr sz="1800" b="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800" b="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만들면</a:t>
            </a:r>
            <a:r>
              <a:rPr sz="1800" b="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800" b="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채널마다</a:t>
            </a:r>
            <a:r>
              <a:rPr sz="1800" b="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800" b="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말이</a:t>
            </a:r>
            <a:r>
              <a:rPr sz="1800" b="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800" b="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달라진다</a:t>
            </a:r>
            <a:r>
              <a:rPr sz="1800" b="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. </a:t>
            </a:r>
            <a:endParaRPr lang="en-US" sz="1800" b="0" dirty="0">
              <a:solidFill>
                <a:srgbClr val="14213D"/>
              </a:solidFill>
              <a:latin typeface="Pretendard"/>
              <a:ea typeface="Pretendard"/>
              <a:cs typeface="Pretendard"/>
            </a:endParaRPr>
          </a:p>
          <a:p>
            <a:pPr algn="l">
              <a:lnSpc>
                <a:spcPct val="150000"/>
              </a:lnSpc>
              <a:spcBef>
                <a:spcPts val="600"/>
              </a:spcBef>
              <a:spcAft>
                <a:spcPts val="400"/>
              </a:spcAft>
            </a:pPr>
            <a:r>
              <a:rPr sz="1800" b="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지붕</a:t>
            </a:r>
            <a:r>
              <a:rPr sz="1800" b="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(</a:t>
            </a:r>
            <a:r>
              <a:rPr sz="1800" b="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핵심</a:t>
            </a:r>
            <a:r>
              <a:rPr sz="1800" b="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 1문장) </a:t>
            </a:r>
            <a:r>
              <a:rPr sz="1800" b="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하나를</a:t>
            </a:r>
            <a:r>
              <a:rPr sz="1800" b="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800" b="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정하면</a:t>
            </a:r>
            <a:r>
              <a:rPr sz="1800" b="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800" b="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SNS·블로그·페이지가</a:t>
            </a:r>
            <a:r>
              <a:rPr sz="1800" b="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800" b="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모두</a:t>
            </a:r>
            <a:r>
              <a:rPr sz="1800" b="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800" b="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한</a:t>
            </a:r>
            <a:r>
              <a:rPr sz="1800" b="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800" b="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목소리를</a:t>
            </a:r>
            <a:r>
              <a:rPr sz="1800" b="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800" b="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낸다</a:t>
            </a:r>
            <a:r>
              <a:rPr sz="1800" b="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.</a:t>
            </a:r>
          </a:p>
        </p:txBody>
      </p:sp>
      <p:pic>
        <p:nvPicPr>
          <p:cNvPr id="5" name="Picture 16">
            <a:extLst>
              <a:ext uri="{FF2B5EF4-FFF2-40B4-BE49-F238E27FC236}">
                <a16:creationId xmlns:a16="http://schemas.microsoft.com/office/drawing/2014/main" id="{00AD12CC-ACD4-F9F2-30CF-386078E632E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9419385" y="2254277"/>
            <a:ext cx="1566477" cy="1552614"/>
          </a:xfrm>
          <a:prstGeom prst="rect">
            <a:avLst/>
          </a:prstGeom>
        </p:spPr>
      </p:pic>
      <p:sp>
        <p:nvSpPr>
          <p:cNvPr id="6" name="PageNumber">
            <a:extLst>
              <a:ext uri="{FF2B5EF4-FFF2-40B4-BE49-F238E27FC236}">
                <a16:creationId xmlns:a16="http://schemas.microsoft.com/office/drawing/2014/main" id="{E988CCA5-557B-C041-B20F-95F6F6F58EBA}"/>
              </a:ext>
            </a:extLst>
          </p:cNvPr>
          <p:cNvSpPr txBox="1"/>
          <p:nvPr/>
        </p:nvSpPr>
        <p:spPr>
          <a:xfrm>
            <a:off x="9499600" y="6489700"/>
            <a:ext cx="23368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r"/>
            <a:r>
              <a:rPr lang="en-US" altLang="ko-KR" sz="1200">
                <a:solidFill>
                  <a:srgbClr val="576176"/>
                </a:solidFill>
                <a:latin typeface="Pretendard"/>
              </a:rPr>
              <a:t>- 32/144 -</a:t>
            </a:r>
            <a:endParaRPr lang="ko-KR" altLang="en-US" sz="1200">
              <a:solidFill>
                <a:srgbClr val="576176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381735628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실습 절차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실습 절차 — 직접 해봅니다</a:t>
            </a: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17C72293-BAD6-DB45-99BD-B9D7BCDE6F52}"/>
              </a:ext>
            </a:extLst>
          </p:cNvPr>
          <p:cNvSpPr/>
          <p:nvPr/>
        </p:nvSpPr>
        <p:spPr>
          <a:xfrm>
            <a:off x="825500" y="1930400"/>
            <a:ext cx="10541000" cy="939800"/>
          </a:xfrm>
          <a:prstGeom prst="roundRect">
            <a:avLst>
              <a:gd name="adj" fmla="val 2703"/>
            </a:avLst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38EF43D-3217-CE48-B148-49A905A67060}"/>
              </a:ext>
            </a:extLst>
          </p:cNvPr>
          <p:cNvSpPr/>
          <p:nvPr/>
        </p:nvSpPr>
        <p:spPr>
          <a:xfrm>
            <a:off x="825500" y="1930400"/>
            <a:ext cx="76200" cy="939800"/>
          </a:xfrm>
          <a:prstGeom prst="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80DC9C86-1D21-794E-825A-9869A32C4BC8}"/>
              </a:ext>
            </a:extLst>
          </p:cNvPr>
          <p:cNvSpPr/>
          <p:nvPr/>
        </p:nvSpPr>
        <p:spPr>
          <a:xfrm>
            <a:off x="1143000" y="2159000"/>
            <a:ext cx="482600" cy="482600"/>
          </a:xfrm>
          <a:prstGeom prst="ellipse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  <a:latin typeface="JetBrains Mono"/>
              </a:rPr>
              <a:t>1</a:t>
            </a:r>
            <a:endParaRPr lang="ko-KR" altLang="en-US" sz="16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7AC8E3-1F6B-B847-8066-902469B3E482}"/>
              </a:ext>
            </a:extLst>
          </p:cNvPr>
          <p:cNvSpPr txBox="1"/>
          <p:nvPr/>
        </p:nvSpPr>
        <p:spPr>
          <a:xfrm>
            <a:off x="1905000" y="2282110"/>
            <a:ext cx="2286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600" b="1">
                <a:solidFill>
                  <a:srgbClr val="14213D"/>
                </a:solidFill>
                <a:latin typeface="Pretendard"/>
              </a:rPr>
              <a:t>타깃 페르소나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EC1E2D-94EA-B846-8A4D-879D0E51CE56}"/>
              </a:ext>
            </a:extLst>
          </p:cNvPr>
          <p:cNvSpPr txBox="1"/>
          <p:nvPr/>
        </p:nvSpPr>
        <p:spPr>
          <a:xfrm>
            <a:off x="4318000" y="2057400"/>
            <a:ext cx="6858000" cy="685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400">
                <a:solidFill>
                  <a:srgbClr val="576176"/>
                </a:solidFill>
                <a:latin typeface="Pretendard"/>
              </a:rPr>
              <a:t>연령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·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역할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·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고민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·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구매동기 중 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3~4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개 속성으로 한 인물을 적는다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.</a:t>
            </a:r>
            <a:endParaRPr lang="ko-KR" altLang="en-US" sz="1400">
              <a:solidFill>
                <a:srgbClr val="576176"/>
              </a:solidFill>
              <a:latin typeface="Pretendard"/>
            </a:endParaRP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13189982-046C-7449-9F0A-BA890030C72E}"/>
              </a:ext>
            </a:extLst>
          </p:cNvPr>
          <p:cNvSpPr/>
          <p:nvPr/>
        </p:nvSpPr>
        <p:spPr>
          <a:xfrm>
            <a:off x="825500" y="2971800"/>
            <a:ext cx="10541000" cy="939800"/>
          </a:xfrm>
          <a:prstGeom prst="roundRect">
            <a:avLst>
              <a:gd name="adj" fmla="val 2703"/>
            </a:avLst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A18AC96-318A-4F40-BE8B-9E9141827907}"/>
              </a:ext>
            </a:extLst>
          </p:cNvPr>
          <p:cNvSpPr/>
          <p:nvPr/>
        </p:nvSpPr>
        <p:spPr>
          <a:xfrm>
            <a:off x="825500" y="2971800"/>
            <a:ext cx="76200" cy="939800"/>
          </a:xfrm>
          <a:prstGeom prst="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7760F5A0-E420-734F-9E11-7B50AA3C7B50}"/>
              </a:ext>
            </a:extLst>
          </p:cNvPr>
          <p:cNvSpPr/>
          <p:nvPr/>
        </p:nvSpPr>
        <p:spPr>
          <a:xfrm>
            <a:off x="1143000" y="3200400"/>
            <a:ext cx="482600" cy="482600"/>
          </a:xfrm>
          <a:prstGeom prst="ellipse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  <a:latin typeface="JetBrains Mono"/>
              </a:rPr>
              <a:t>2</a:t>
            </a:r>
            <a:endParaRPr lang="ko-KR" altLang="en-US" sz="16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87998EB-4F16-D543-886E-DAD3788AAF38}"/>
              </a:ext>
            </a:extLst>
          </p:cNvPr>
          <p:cNvSpPr txBox="1"/>
          <p:nvPr/>
        </p:nvSpPr>
        <p:spPr>
          <a:xfrm>
            <a:off x="1905000" y="3323510"/>
            <a:ext cx="2286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600" b="1">
                <a:solidFill>
                  <a:srgbClr val="14213D"/>
                </a:solidFill>
                <a:latin typeface="Pretendard"/>
              </a:rPr>
              <a:t>핵심 메시지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E3E2B8-55FC-DC46-B500-C5DA1EFEDC23}"/>
              </a:ext>
            </a:extLst>
          </p:cNvPr>
          <p:cNvSpPr txBox="1"/>
          <p:nvPr/>
        </p:nvSpPr>
        <p:spPr>
          <a:xfrm>
            <a:off x="4318000" y="3098800"/>
            <a:ext cx="6858000" cy="685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400">
                <a:solidFill>
                  <a:srgbClr val="576176"/>
                </a:solidFill>
                <a:latin typeface="Pretendard"/>
              </a:rPr>
              <a:t>가치 제안 형식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(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누구에게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·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무엇을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·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어떻게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)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으로 한 문장에 담는다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.</a:t>
            </a:r>
            <a:endParaRPr lang="ko-KR" altLang="en-US" sz="1400">
              <a:solidFill>
                <a:srgbClr val="576176"/>
              </a:solidFill>
              <a:latin typeface="Pretendard"/>
            </a:endParaRPr>
          </a:p>
        </p:txBody>
      </p:sp>
      <p:sp>
        <p:nvSpPr>
          <p:cNvPr id="15" name="모서리가 둥근 직사각형 14">
            <a:extLst>
              <a:ext uri="{FF2B5EF4-FFF2-40B4-BE49-F238E27FC236}">
                <a16:creationId xmlns:a16="http://schemas.microsoft.com/office/drawing/2014/main" id="{508DBFF8-3917-DF4A-A0AE-41B337F6EBAD}"/>
              </a:ext>
            </a:extLst>
          </p:cNvPr>
          <p:cNvSpPr/>
          <p:nvPr/>
        </p:nvSpPr>
        <p:spPr>
          <a:xfrm>
            <a:off x="825500" y="4013200"/>
            <a:ext cx="10541000" cy="939800"/>
          </a:xfrm>
          <a:prstGeom prst="roundRect">
            <a:avLst>
              <a:gd name="adj" fmla="val 2703"/>
            </a:avLst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650B38C2-8EEA-2A49-949D-D788FAF4064D}"/>
              </a:ext>
            </a:extLst>
          </p:cNvPr>
          <p:cNvSpPr/>
          <p:nvPr/>
        </p:nvSpPr>
        <p:spPr>
          <a:xfrm>
            <a:off x="825500" y="4013200"/>
            <a:ext cx="76200" cy="939800"/>
          </a:xfrm>
          <a:prstGeom prst="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C4C76A6B-FF36-0D49-BF2D-377D8AA806DC}"/>
              </a:ext>
            </a:extLst>
          </p:cNvPr>
          <p:cNvSpPr/>
          <p:nvPr/>
        </p:nvSpPr>
        <p:spPr>
          <a:xfrm>
            <a:off x="1143000" y="4241800"/>
            <a:ext cx="482600" cy="482600"/>
          </a:xfrm>
          <a:prstGeom prst="ellipse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  <a:latin typeface="JetBrains Mono"/>
              </a:rPr>
              <a:t>3</a:t>
            </a:r>
            <a:endParaRPr lang="ko-KR" altLang="en-US" sz="16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2CEA1E7-F75C-8040-81D1-98E812255D0E}"/>
              </a:ext>
            </a:extLst>
          </p:cNvPr>
          <p:cNvSpPr txBox="1"/>
          <p:nvPr/>
        </p:nvSpPr>
        <p:spPr>
          <a:xfrm>
            <a:off x="1905000" y="4364910"/>
            <a:ext cx="2286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600" b="1">
                <a:solidFill>
                  <a:srgbClr val="14213D"/>
                </a:solidFill>
                <a:latin typeface="Pretendard"/>
              </a:rPr>
              <a:t>근거 </a:t>
            </a:r>
            <a:r>
              <a:rPr lang="en-US" altLang="ko-KR" sz="1600" b="1">
                <a:solidFill>
                  <a:srgbClr val="14213D"/>
                </a:solidFill>
                <a:latin typeface="Pretendard"/>
              </a:rPr>
              <a:t>3</a:t>
            </a:r>
            <a:r>
              <a:rPr lang="ko-KR" altLang="en-US" sz="1600" b="1">
                <a:solidFill>
                  <a:srgbClr val="14213D"/>
                </a:solidFill>
                <a:latin typeface="Pretendard"/>
              </a:rPr>
              <a:t>개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F9290E9-4A5D-FC4D-8222-7FBA60E865B6}"/>
              </a:ext>
            </a:extLst>
          </p:cNvPr>
          <p:cNvSpPr txBox="1"/>
          <p:nvPr/>
        </p:nvSpPr>
        <p:spPr>
          <a:xfrm>
            <a:off x="4318000" y="4140200"/>
            <a:ext cx="6858000" cy="685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400">
                <a:solidFill>
                  <a:srgbClr val="576176"/>
                </a:solidFill>
                <a:latin typeface="Pretendard"/>
              </a:rPr>
              <a:t>핵심 메시지를 떠받칠 근거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(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기둥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)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를 세 가지로 정리한다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.</a:t>
            </a:r>
            <a:endParaRPr lang="ko-KR" altLang="en-US" sz="1400">
              <a:solidFill>
                <a:srgbClr val="576176"/>
              </a:solidFill>
              <a:latin typeface="Pretendard"/>
            </a:endParaRPr>
          </a:p>
        </p:txBody>
      </p:sp>
      <p:sp>
        <p:nvSpPr>
          <p:cNvPr id="20" name="모서리가 둥근 직사각형 19">
            <a:extLst>
              <a:ext uri="{FF2B5EF4-FFF2-40B4-BE49-F238E27FC236}">
                <a16:creationId xmlns:a16="http://schemas.microsoft.com/office/drawing/2014/main" id="{A0582051-88CE-8044-913D-BB3B66815B36}"/>
              </a:ext>
            </a:extLst>
          </p:cNvPr>
          <p:cNvSpPr/>
          <p:nvPr/>
        </p:nvSpPr>
        <p:spPr>
          <a:xfrm>
            <a:off x="825500" y="5054600"/>
            <a:ext cx="10541000" cy="939800"/>
          </a:xfrm>
          <a:prstGeom prst="roundRect">
            <a:avLst>
              <a:gd name="adj" fmla="val 2703"/>
            </a:avLst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19E28A7B-D328-E044-8A03-016A29F52938}"/>
              </a:ext>
            </a:extLst>
          </p:cNvPr>
          <p:cNvSpPr/>
          <p:nvPr/>
        </p:nvSpPr>
        <p:spPr>
          <a:xfrm>
            <a:off x="825500" y="5054600"/>
            <a:ext cx="76200" cy="939800"/>
          </a:xfrm>
          <a:prstGeom prst="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AE6BB367-5FC0-4B42-B2B4-E70B700DA413}"/>
              </a:ext>
            </a:extLst>
          </p:cNvPr>
          <p:cNvSpPr/>
          <p:nvPr/>
        </p:nvSpPr>
        <p:spPr>
          <a:xfrm>
            <a:off x="1143000" y="5283200"/>
            <a:ext cx="482600" cy="482600"/>
          </a:xfrm>
          <a:prstGeom prst="ellipse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  <a:latin typeface="JetBrains Mono"/>
              </a:rPr>
              <a:t>4</a:t>
            </a:r>
            <a:endParaRPr lang="ko-KR" altLang="en-US" sz="16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3571F65-3016-094D-A0C5-F7CB2954512F}"/>
              </a:ext>
            </a:extLst>
          </p:cNvPr>
          <p:cNvSpPr txBox="1"/>
          <p:nvPr/>
        </p:nvSpPr>
        <p:spPr>
          <a:xfrm>
            <a:off x="1905000" y="5406310"/>
            <a:ext cx="2286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altLang="ko-KR" sz="1600" b="1" dirty="0">
                <a:solidFill>
                  <a:srgbClr val="14213D"/>
                </a:solidFill>
                <a:latin typeface="Pretendard"/>
              </a:rPr>
              <a:t>AI </a:t>
            </a:r>
            <a:r>
              <a:rPr lang="ko-KR" altLang="en-US" sz="1600" b="1" dirty="0">
                <a:solidFill>
                  <a:srgbClr val="14213D"/>
                </a:solidFill>
                <a:latin typeface="Pretendard"/>
              </a:rPr>
              <a:t>검토</a:t>
            </a:r>
            <a:r>
              <a:rPr lang="en-US" altLang="ko-KR" sz="1600" b="1" dirty="0">
                <a:solidFill>
                  <a:srgbClr val="14213D"/>
                </a:solidFill>
                <a:latin typeface="Pretendard"/>
              </a:rPr>
              <a:t>·</a:t>
            </a:r>
            <a:r>
              <a:rPr lang="ko-KR" altLang="en-US" sz="1600" b="1" dirty="0">
                <a:solidFill>
                  <a:srgbClr val="14213D"/>
                </a:solidFill>
                <a:latin typeface="Pretendard"/>
              </a:rPr>
              <a:t>보강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9B325D1-E3ED-7A4A-BA63-EEC2A4A3DB33}"/>
              </a:ext>
            </a:extLst>
          </p:cNvPr>
          <p:cNvSpPr txBox="1"/>
          <p:nvPr/>
        </p:nvSpPr>
        <p:spPr>
          <a:xfrm>
            <a:off x="4318000" y="5181600"/>
            <a:ext cx="6858000" cy="685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400">
                <a:solidFill>
                  <a:srgbClr val="576176"/>
                </a:solidFill>
                <a:latin typeface="Pretendard"/>
              </a:rPr>
              <a:t>완성한 메시지 하우스를 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AI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에게 검토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·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보강하도록 요청한다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.</a:t>
            </a:r>
            <a:endParaRPr lang="ko-KR" altLang="en-US" sz="1400">
              <a:solidFill>
                <a:srgbClr val="576176"/>
              </a:solidFill>
              <a:latin typeface="Pretendard"/>
            </a:endParaRPr>
          </a:p>
        </p:txBody>
      </p:sp>
      <p:sp>
        <p:nvSpPr>
          <p:cNvPr id="4" name="PageNumber">
            <a:extLst>
              <a:ext uri="{FF2B5EF4-FFF2-40B4-BE49-F238E27FC236}">
                <a16:creationId xmlns:a16="http://schemas.microsoft.com/office/drawing/2014/main" id="{35DCA3C4-2F6E-DA40-BB8A-7C01A5D1A4D7}"/>
              </a:ext>
            </a:extLst>
          </p:cNvPr>
          <p:cNvSpPr txBox="1"/>
          <p:nvPr/>
        </p:nvSpPr>
        <p:spPr>
          <a:xfrm>
            <a:off x="9499600" y="6489700"/>
            <a:ext cx="23368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r"/>
            <a:r>
              <a:rPr lang="en-US" altLang="ko-KR" sz="1200">
                <a:solidFill>
                  <a:srgbClr val="576176"/>
                </a:solidFill>
                <a:latin typeface="Pretendard"/>
              </a:rPr>
              <a:t>- 33/144 -</a:t>
            </a:r>
            <a:endParaRPr lang="ko-KR" altLang="en-US" sz="1200">
              <a:solidFill>
                <a:srgbClr val="576176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114058116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실습 프롬프트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메시지 하우스 도출 프롬프트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874519"/>
            <a:ext cx="10332720" cy="4434840"/>
          </a:xfrm>
          <a:prstGeom prst="rect">
            <a:avLst/>
          </a:prstGeom>
          <a:solidFill>
            <a:srgbClr val="10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11480" tIns="502920" rIns="365760" bIns="320040" rtlCol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너는 브랜드 전략가야. 아래 정보를 바탕으로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핵심 메시지 1문장 + 이를 뒷받침하는 근거 3개(메시지 하우스)를 만들어줘.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- 제품: (예) 무알콜 수제 맥주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- 타깃: 30대 직장인, 건강은 챙기되 분위기는 즐기고 싶은 사람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- 차별점: 진짜 맥주 맛, 칼로리 30%↓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" y="2103120"/>
            <a:ext cx="109728" cy="10972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D2FAD39C-8BDD-EEBF-11DC-98AABB6CB4F3}"/>
              </a:ext>
            </a:extLst>
          </p:cNvPr>
          <p:cNvGrpSpPr/>
          <p:nvPr/>
        </p:nvGrpSpPr>
        <p:grpSpPr>
          <a:xfrm>
            <a:off x="8399107" y="3846905"/>
            <a:ext cx="2493450" cy="2285159"/>
            <a:chOff x="17449800" y="7213600"/>
            <a:chExt cx="6146800" cy="5486400"/>
          </a:xfrm>
        </p:grpSpPr>
        <p:pic>
          <p:nvPicPr>
            <p:cNvPr id="6" name="Picture 9">
              <a:extLst>
                <a:ext uri="{FF2B5EF4-FFF2-40B4-BE49-F238E27FC236}">
                  <a16:creationId xmlns:a16="http://schemas.microsoft.com/office/drawing/2014/main" id="{1E1D92BB-5BAC-AA36-789D-C4DF6774246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653000" y="8851900"/>
              <a:ext cx="1739900" cy="774700"/>
            </a:xfrm>
            <a:prstGeom prst="rect">
              <a:avLst/>
            </a:prstGeom>
          </p:spPr>
        </p:pic>
        <p:sp>
          <p:nvSpPr>
            <p:cNvPr id="7" name="TextBox 10">
              <a:extLst>
                <a:ext uri="{FF2B5EF4-FFF2-40B4-BE49-F238E27FC236}">
                  <a16:creationId xmlns:a16="http://schemas.microsoft.com/office/drawing/2014/main" id="{9C6B0115-FD45-02D9-8D80-907774DC7B4F}"/>
                </a:ext>
              </a:extLst>
            </p:cNvPr>
            <p:cNvSpPr txBox="1"/>
            <p:nvPr/>
          </p:nvSpPr>
          <p:spPr>
            <a:xfrm>
              <a:off x="17449800" y="8991600"/>
              <a:ext cx="1930400" cy="571500"/>
            </a:xfrm>
            <a:prstGeom prst="rect">
              <a:avLst/>
            </a:prstGeom>
          </p:spPr>
          <p:txBody>
            <a:bodyPr lIns="0" tIns="40640" rIns="0" bIns="4064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2400" b="0" i="0" u="none" strike="noStrike" spc="-100" dirty="0">
                  <a:solidFill>
                    <a:srgbClr val="000000"/>
                  </a:solidFill>
                  <a:latin typeface="SB AggroOTF Bold"/>
                  <a:ea typeface="SB AggroOTF Bold"/>
                  <a:cs typeface="SB AggroOTF Bold"/>
                </a:rPr>
                <a:t>oh!</a:t>
              </a:r>
            </a:p>
          </p:txBody>
        </p:sp>
        <p:pic>
          <p:nvPicPr>
            <p:cNvPr id="8" name="Picture 27">
              <a:extLst>
                <a:ext uri="{FF2B5EF4-FFF2-40B4-BE49-F238E27FC236}">
                  <a16:creationId xmlns:a16="http://schemas.microsoft.com/office/drawing/2014/main" id="{ED90E3FD-A475-4A4E-B35C-C7CB624E239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834100" y="7213600"/>
              <a:ext cx="4762500" cy="5486400"/>
            </a:xfrm>
            <a:prstGeom prst="rect">
              <a:avLst/>
            </a:prstGeom>
          </p:spPr>
        </p:pic>
      </p:grpSp>
      <p:sp>
        <p:nvSpPr>
          <p:cNvPr id="10" name="PageNumber">
            <a:extLst>
              <a:ext uri="{FF2B5EF4-FFF2-40B4-BE49-F238E27FC236}">
                <a16:creationId xmlns:a16="http://schemas.microsoft.com/office/drawing/2014/main" id="{60655C95-94AD-2544-B7C2-D7562AAE90F6}"/>
              </a:ext>
            </a:extLst>
          </p:cNvPr>
          <p:cNvSpPr txBox="1"/>
          <p:nvPr/>
        </p:nvSpPr>
        <p:spPr>
          <a:xfrm>
            <a:off x="9499600" y="6489700"/>
            <a:ext cx="23368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r"/>
            <a:r>
              <a:rPr lang="en-US" altLang="ko-KR" sz="1200">
                <a:solidFill>
                  <a:srgbClr val="576176"/>
                </a:solidFill>
                <a:latin typeface="Pretendard"/>
              </a:rPr>
              <a:t>- 34/144 -</a:t>
            </a:r>
            <a:endParaRPr lang="ko-KR" altLang="en-US" sz="1200">
              <a:solidFill>
                <a:srgbClr val="576176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130306397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실제 입력 → 출력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실제 예시 — 메시지 하우스 산출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783080"/>
            <a:ext cx="10332720" cy="1874519"/>
          </a:xfrm>
          <a:prstGeom prst="rect">
            <a:avLst/>
          </a:prstGeom>
          <a:solidFill>
            <a:srgbClr val="10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502920" rIns="320040" rtlCol="0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40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너는 브랜드 전략가야. 아래로 핵심 메시지 1문장 + 근거 3개(메시지 하우스)를 만들어줘.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40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- 제품: 무알콜 수제 맥주 Night Off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40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- 타깃: 건강 챙기되 분위기 즐기는 30대 직장인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40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- 차별점: 진짜 맥주 맛, 칼로리 30%↓, 알코올 0.0%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783080"/>
            <a:ext cx="2011680" cy="329184"/>
          </a:xfrm>
          <a:prstGeom prst="rect">
            <a:avLst/>
          </a:prstGeom>
          <a:solidFill>
            <a:srgbClr val="243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2743200" cy="2363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400"/>
              </a:spcAft>
            </a:pPr>
            <a:r>
              <a:rPr sz="1400" b="0" dirty="0">
                <a:solidFill>
                  <a:srgbClr val="E8A33D"/>
                </a:solidFill>
                <a:latin typeface="JetBrains Mono"/>
                <a:ea typeface="JetBrains Mono"/>
                <a:cs typeface="JetBrains Mono"/>
              </a:rPr>
              <a:t>▸ </a:t>
            </a:r>
            <a:r>
              <a:rPr sz="1400" b="0" dirty="0" err="1">
                <a:solidFill>
                  <a:srgbClr val="E8A33D"/>
                </a:solidFill>
                <a:latin typeface="JetBrains Mono"/>
                <a:ea typeface="JetBrains Mono"/>
                <a:cs typeface="JetBrains Mono"/>
              </a:rPr>
              <a:t>입력</a:t>
            </a:r>
            <a:r>
              <a:rPr sz="1400" b="0" dirty="0">
                <a:solidFill>
                  <a:srgbClr val="E8A33D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400" b="0" dirty="0" err="1">
                <a:solidFill>
                  <a:srgbClr val="E8A33D"/>
                </a:solidFill>
                <a:latin typeface="JetBrains Mono"/>
                <a:ea typeface="JetBrains Mono"/>
                <a:cs typeface="JetBrains Mono"/>
              </a:rPr>
              <a:t>프롬프트</a:t>
            </a:r>
            <a:endParaRPr sz="1400" b="0" dirty="0">
              <a:solidFill>
                <a:srgbClr val="E8A33D"/>
              </a:solidFill>
              <a:latin typeface="JetBrains Mono"/>
              <a:ea typeface="JetBrains Mono"/>
              <a:cs typeface="JetBrains Mono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14400" y="3794760"/>
            <a:ext cx="10332720" cy="2514600"/>
          </a:xfrm>
          <a:prstGeom prst="rect">
            <a:avLst/>
          </a:prstGeom>
          <a:solidFill>
            <a:srgbClr val="FBFCFE"/>
          </a:solidFill>
          <a:ln w="12700">
            <a:solidFill>
              <a:srgbClr val="E9EC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502920" rIns="320040" rtlCol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40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[</a:t>
            </a:r>
            <a:r>
              <a:rPr sz="140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핵심</a:t>
            </a:r>
            <a:r>
              <a:rPr sz="140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메시지</a:t>
            </a:r>
            <a:r>
              <a:rPr sz="140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]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40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"</a:t>
            </a:r>
            <a:r>
              <a:rPr sz="140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내일을</a:t>
            </a:r>
            <a:r>
              <a:rPr sz="140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망치지</a:t>
            </a:r>
            <a:r>
              <a:rPr sz="140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않고</a:t>
            </a:r>
            <a:r>
              <a:rPr sz="140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sz="140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오늘</a:t>
            </a:r>
            <a:r>
              <a:rPr sz="140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밤을</a:t>
            </a:r>
            <a:r>
              <a:rPr sz="140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제대로</a:t>
            </a:r>
            <a:r>
              <a:rPr sz="140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즐긴다</a:t>
            </a:r>
            <a:r>
              <a:rPr sz="140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."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40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 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40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[</a:t>
            </a:r>
            <a:r>
              <a:rPr sz="140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근거</a:t>
            </a:r>
            <a:r>
              <a:rPr sz="140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 3]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40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① </a:t>
            </a:r>
            <a:r>
              <a:rPr sz="140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진짜</a:t>
            </a:r>
            <a:r>
              <a:rPr sz="140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발효</a:t>
            </a:r>
            <a:r>
              <a:rPr sz="140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공법</a:t>
            </a:r>
            <a:r>
              <a:rPr sz="140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 — </a:t>
            </a:r>
            <a:r>
              <a:rPr sz="140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무알콜인데</a:t>
            </a:r>
            <a:r>
              <a:rPr sz="140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맥주</a:t>
            </a:r>
            <a:r>
              <a:rPr sz="140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본연의</a:t>
            </a:r>
            <a:r>
              <a:rPr sz="140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풍미</a:t>
            </a:r>
            <a:endParaRPr sz="1400" dirty="0">
              <a:solidFill>
                <a:srgbClr val="14213D"/>
              </a:solidFill>
              <a:latin typeface="Pretendard"/>
              <a:ea typeface="Pretendard"/>
              <a:cs typeface="Pretendard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40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② </a:t>
            </a:r>
            <a:r>
              <a:rPr sz="140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칼로리</a:t>
            </a:r>
            <a:r>
              <a:rPr sz="140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 30%↓ — </a:t>
            </a:r>
            <a:r>
              <a:rPr sz="140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죄책감</a:t>
            </a:r>
            <a:r>
              <a:rPr sz="140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없는</a:t>
            </a:r>
            <a:r>
              <a:rPr sz="140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한</a:t>
            </a:r>
            <a:r>
              <a:rPr sz="140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캔</a:t>
            </a:r>
            <a:endParaRPr sz="1400" dirty="0">
              <a:solidFill>
                <a:srgbClr val="14213D"/>
              </a:solidFill>
              <a:latin typeface="Pretendard"/>
              <a:ea typeface="Pretendard"/>
              <a:cs typeface="Pretendard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40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③ </a:t>
            </a:r>
            <a:r>
              <a:rPr sz="140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알코올</a:t>
            </a:r>
            <a:r>
              <a:rPr sz="140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 0.0% — </a:t>
            </a:r>
            <a:r>
              <a:rPr sz="140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운전·내일</a:t>
            </a:r>
            <a:r>
              <a:rPr sz="140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출근도</a:t>
            </a:r>
            <a:r>
              <a:rPr sz="140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문제없음</a:t>
            </a:r>
            <a:endParaRPr sz="1400" dirty="0">
              <a:solidFill>
                <a:srgbClr val="14213D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14400" y="3794760"/>
            <a:ext cx="1828800" cy="329184"/>
          </a:xfrm>
          <a:prstGeom prst="rect">
            <a:avLst/>
          </a:prstGeom>
          <a:solidFill>
            <a:srgbClr val="DCE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3840480"/>
            <a:ext cx="2743200" cy="2363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400"/>
              </a:spcAft>
            </a:pPr>
            <a:r>
              <a:rPr sz="1400" b="0" dirty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▸ </a:t>
            </a:r>
            <a:r>
              <a:rPr sz="1400" b="0" dirty="0" err="1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나온</a:t>
            </a:r>
            <a:r>
              <a:rPr sz="1400" b="0" dirty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400" b="0" dirty="0" err="1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결과</a:t>
            </a:r>
            <a:r>
              <a:rPr sz="1400" b="0" dirty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 b="0" dirty="0" err="1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예</a:t>
            </a:r>
            <a:r>
              <a:rPr sz="1400" b="0" dirty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  <p:sp>
        <p:nvSpPr>
          <p:cNvPr id="10" name="PageNumber">
            <a:extLst>
              <a:ext uri="{FF2B5EF4-FFF2-40B4-BE49-F238E27FC236}">
                <a16:creationId xmlns:a16="http://schemas.microsoft.com/office/drawing/2014/main" id="{A5442FDF-E6E6-EA44-9DB5-994768F2FB19}"/>
              </a:ext>
            </a:extLst>
          </p:cNvPr>
          <p:cNvSpPr txBox="1"/>
          <p:nvPr/>
        </p:nvSpPr>
        <p:spPr>
          <a:xfrm>
            <a:off x="9499600" y="6489700"/>
            <a:ext cx="23368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r"/>
            <a:r>
              <a:rPr lang="en-US" altLang="ko-KR" sz="1200">
                <a:solidFill>
                  <a:srgbClr val="576176"/>
                </a:solidFill>
                <a:latin typeface="Pretendard"/>
              </a:rPr>
              <a:t>- 35/144 -</a:t>
            </a:r>
            <a:endParaRPr lang="ko-KR" altLang="en-US" sz="1200">
              <a:solidFill>
                <a:srgbClr val="576176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104765717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Motif Dot"/>
          <p:cNvSpPr/>
          <p:nvPr/>
        </p:nvSpPr>
        <p:spPr>
          <a:xfrm>
            <a:off x="10058400" y="1905000"/>
            <a:ext cx="203200" cy="203200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정리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홍보 목적 → 타깃고객 → 핵심 메시지 도출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920240"/>
            <a:ext cx="10332720" cy="1636776"/>
          </a:xfrm>
          <a:prstGeom prst="rect">
            <a:avLst/>
          </a:prstGeom>
          <a:solidFill>
            <a:srgbClr val="FB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228600" rIns="365760" bIns="182880" rtlCol="0" anchor="t"/>
          <a:lstStyle/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600"/>
              </a:spcAft>
            </a:pPr>
            <a:r>
              <a:rPr sz="1500" b="1">
                <a:solidFill>
                  <a:srgbClr val="B57A1A"/>
                </a:solidFill>
                <a:latin typeface="JetBrains Mono"/>
                <a:ea typeface="JetBrains Mono"/>
                <a:cs typeface="JetBrains Mono"/>
              </a:rPr>
              <a:t>⚠  흔한 실수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1">
                <a:solidFill>
                  <a:srgbClr val="E8A33D"/>
                </a:solidFill>
                <a:latin typeface="Pretendard"/>
                <a:ea typeface="Pretendard"/>
                <a:cs typeface="Pretendard"/>
              </a:rPr>
              <a:t>·  </a:t>
            </a:r>
            <a:r>
              <a:rPr sz="14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핵심 메시지가 2개 이상이면 흐려진다. 지붕은 반드시 하나.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1">
                <a:solidFill>
                  <a:srgbClr val="E8A33D"/>
                </a:solidFill>
                <a:latin typeface="Pretendard"/>
                <a:ea typeface="Pretendard"/>
                <a:cs typeface="Pretendard"/>
              </a:rPr>
              <a:t>·  </a:t>
            </a:r>
            <a:r>
              <a:rPr sz="14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기능 나열("효모 무첨가")만 하면 안 된다 → 고객 이득("부담 없이 즐기는")으로 번역.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739896"/>
            <a:ext cx="10332720" cy="1005840"/>
          </a:xfrm>
          <a:prstGeom prst="rect">
            <a:avLst/>
          </a:prstGeom>
          <a:solidFill>
            <a:srgbClr val="DCE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201168" rIns="365760" bIns="182880" rtlCol="0" anchor="t"/>
          <a:lstStyle/>
          <a:p>
            <a:pPr algn="l">
              <a:lnSpc>
                <a:spcPct val="125000"/>
              </a:lnSpc>
              <a:spcBef>
                <a:spcPts val="600"/>
              </a:spcBef>
              <a:spcAft>
                <a:spcPts val="400"/>
              </a:spcAft>
            </a:pPr>
            <a:r>
              <a:rPr sz="1500" b="1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📦  결과물   </a:t>
            </a:r>
            <a:r>
              <a:rPr sz="1600" b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메시지 하우스 1장(핵심 메시지 + 근거 3) · 타깃 페르소나 1명.</a:t>
            </a:r>
          </a:p>
        </p:txBody>
      </p:sp>
      <p:sp>
        <p:nvSpPr>
          <p:cNvPr id="6" name="PageNumber">
            <a:extLst>
              <a:ext uri="{FF2B5EF4-FFF2-40B4-BE49-F238E27FC236}">
                <a16:creationId xmlns:a16="http://schemas.microsoft.com/office/drawing/2014/main" id="{148EBD43-FC14-C74D-9854-3A7F2F1FB70D}"/>
              </a:ext>
            </a:extLst>
          </p:cNvPr>
          <p:cNvSpPr txBox="1"/>
          <p:nvPr/>
        </p:nvSpPr>
        <p:spPr>
          <a:xfrm>
            <a:off x="9499600" y="6489700"/>
            <a:ext cx="23368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r"/>
            <a:r>
              <a:rPr lang="en-US" altLang="ko-KR" sz="1200">
                <a:solidFill>
                  <a:srgbClr val="576176"/>
                </a:solidFill>
                <a:latin typeface="Pretendard"/>
              </a:rPr>
              <a:t>- 36/144 -</a:t>
            </a:r>
            <a:endParaRPr lang="ko-KR" altLang="en-US" sz="1200">
              <a:solidFill>
                <a:srgbClr val="576176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267262658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4E8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>
            <a:extLst>
              <a:ext uri="{FF2B5EF4-FFF2-40B4-BE49-F238E27FC236}">
                <a16:creationId xmlns:a16="http://schemas.microsoft.com/office/drawing/2014/main" id="{30AC465D-217F-354C-BE44-4E30913597CF}"/>
              </a:ext>
            </a:extLst>
          </p:cNvPr>
          <p:cNvSpPr/>
          <p:nvPr/>
        </p:nvSpPr>
        <p:spPr>
          <a:xfrm>
            <a:off x="914400" y="2387600"/>
            <a:ext cx="165100" cy="381000"/>
          </a:xfrm>
          <a:prstGeom prst="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BE7BEFA-873D-4544-8B83-A63222BA7BA7}"/>
              </a:ext>
            </a:extLst>
          </p:cNvPr>
          <p:cNvSpPr txBox="1"/>
          <p:nvPr/>
        </p:nvSpPr>
        <p:spPr>
          <a:xfrm>
            <a:off x="1219200" y="2425700"/>
            <a:ext cx="5080000" cy="304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500" b="1">
                <a:solidFill>
                  <a:srgbClr val="E8A33D"/>
                </a:solidFill>
                <a:latin typeface="JetBrains Mono"/>
              </a:rPr>
              <a:t>SESSION 2</a:t>
            </a:r>
            <a:endParaRPr lang="ko-KR" altLang="en-US" sz="1500" b="1">
              <a:solidFill>
                <a:srgbClr val="E8A33D"/>
              </a:solidFill>
              <a:latin typeface="JetBrains Mono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92E7BD6-66AD-234D-ACC9-F236BE7ADECA}"/>
              </a:ext>
            </a:extLst>
          </p:cNvPr>
          <p:cNvSpPr txBox="1"/>
          <p:nvPr/>
        </p:nvSpPr>
        <p:spPr>
          <a:xfrm>
            <a:off x="889000" y="2844800"/>
            <a:ext cx="10922000" cy="635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3200" b="1">
                <a:solidFill>
                  <a:srgbClr val="FFFFFF"/>
                </a:solidFill>
                <a:latin typeface="Noto Serif KR"/>
              </a:rPr>
              <a:t>프롬프트로 결과 품질을 통제한다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D27FED9-674B-F24E-B609-3DC56722F9F0}"/>
              </a:ext>
            </a:extLst>
          </p:cNvPr>
          <p:cNvSpPr txBox="1"/>
          <p:nvPr/>
        </p:nvSpPr>
        <p:spPr>
          <a:xfrm>
            <a:off x="914400" y="3657600"/>
            <a:ext cx="10160000" cy="584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600" dirty="0">
                <a:solidFill>
                  <a:srgbClr val="DCE6F2"/>
                </a:solidFill>
                <a:latin typeface="Pretendard"/>
              </a:rPr>
              <a:t>같은 요청도 프롬프트 구조에 따라 결과가 갈린다</a:t>
            </a:r>
            <a:r>
              <a:rPr lang="en-US" altLang="ko-KR" sz="1600" dirty="0">
                <a:solidFill>
                  <a:srgbClr val="DCE6F2"/>
                </a:solidFill>
                <a:latin typeface="Pretendard"/>
              </a:rPr>
              <a:t>. </a:t>
            </a:r>
          </a:p>
          <a:p>
            <a:pPr algn="l"/>
            <a:r>
              <a:rPr lang="en-US" altLang="ko-KR" sz="1600" dirty="0">
                <a:solidFill>
                  <a:srgbClr val="DCE6F2"/>
                </a:solidFill>
                <a:latin typeface="Pretendard"/>
              </a:rPr>
              <a:t>R-C-T-F + </a:t>
            </a:r>
            <a:r>
              <a:rPr lang="ko-KR" altLang="en-US" sz="1600" dirty="0">
                <a:solidFill>
                  <a:srgbClr val="DCE6F2"/>
                </a:solidFill>
                <a:latin typeface="Pretendard"/>
              </a:rPr>
              <a:t>예시로 품질을 통제한다</a:t>
            </a:r>
            <a:r>
              <a:rPr lang="en-US" altLang="ko-KR" sz="1600" dirty="0">
                <a:solidFill>
                  <a:srgbClr val="DCE6F2"/>
                </a:solidFill>
                <a:latin typeface="Pretendard"/>
              </a:rPr>
              <a:t>.</a:t>
            </a:r>
            <a:endParaRPr lang="ko-KR" altLang="en-US" sz="1600" dirty="0">
              <a:solidFill>
                <a:srgbClr val="DCE6F2"/>
              </a:solidFill>
              <a:latin typeface="Pretendard"/>
            </a:endParaRPr>
          </a:p>
        </p:txBody>
      </p:sp>
      <p:sp>
        <p:nvSpPr>
          <p:cNvPr id="16" name="모서리가 둥근 직사각형 15">
            <a:extLst>
              <a:ext uri="{FF2B5EF4-FFF2-40B4-BE49-F238E27FC236}">
                <a16:creationId xmlns:a16="http://schemas.microsoft.com/office/drawing/2014/main" id="{6BC1EEAC-CD5C-4C45-BA83-346E67C21208}"/>
              </a:ext>
            </a:extLst>
          </p:cNvPr>
          <p:cNvSpPr/>
          <p:nvPr/>
        </p:nvSpPr>
        <p:spPr>
          <a:xfrm>
            <a:off x="914400" y="4724400"/>
            <a:ext cx="2616200" cy="863600"/>
          </a:xfrm>
          <a:prstGeom prst="roundRect">
            <a:avLst>
              <a:gd name="adj" fmla="val 2941"/>
            </a:avLst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ko-KR" altLang="en-US" sz="1600" b="1">
                <a:solidFill>
                  <a:srgbClr val="FFFFFF"/>
                </a:solidFill>
                <a:latin typeface="Pretendard"/>
              </a:rPr>
              <a:t>막연한 요청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A0325B8-2989-D742-A103-8FC88FE6B85F}"/>
              </a:ext>
            </a:extLst>
          </p:cNvPr>
          <p:cNvSpPr txBox="1"/>
          <p:nvPr/>
        </p:nvSpPr>
        <p:spPr>
          <a:xfrm>
            <a:off x="3530600" y="4724400"/>
            <a:ext cx="558800" cy="863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ko-KR" altLang="en-US" sz="2400" b="1">
                <a:solidFill>
                  <a:srgbClr val="9FB3CE"/>
                </a:solidFill>
                <a:latin typeface="Pretendard"/>
              </a:rPr>
              <a:t>→</a:t>
            </a:r>
          </a:p>
        </p:txBody>
      </p:sp>
      <p:sp>
        <p:nvSpPr>
          <p:cNvPr id="18" name="모서리가 둥근 직사각형 17">
            <a:extLst>
              <a:ext uri="{FF2B5EF4-FFF2-40B4-BE49-F238E27FC236}">
                <a16:creationId xmlns:a16="http://schemas.microsoft.com/office/drawing/2014/main" id="{CC89D3D7-B027-F040-B3B4-4D235590CADA}"/>
              </a:ext>
            </a:extLst>
          </p:cNvPr>
          <p:cNvSpPr/>
          <p:nvPr/>
        </p:nvSpPr>
        <p:spPr>
          <a:xfrm>
            <a:off x="4089400" y="4724400"/>
            <a:ext cx="2616200" cy="863600"/>
          </a:xfrm>
          <a:prstGeom prst="roundRect">
            <a:avLst>
              <a:gd name="adj" fmla="val 2941"/>
            </a:avLst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ko-KR" sz="1600" b="1">
                <a:solidFill>
                  <a:srgbClr val="FFFFFF"/>
                </a:solidFill>
                <a:latin typeface="Pretendard"/>
              </a:rPr>
              <a:t>R-C-T-F + </a:t>
            </a:r>
            <a:r>
              <a:rPr lang="ko-KR" altLang="en-US" sz="1600" b="1">
                <a:solidFill>
                  <a:srgbClr val="FFFFFF"/>
                </a:solidFill>
                <a:latin typeface="Pretendard"/>
              </a:rPr>
              <a:t>예시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191E3D7-ACCB-6043-B5F2-13307510B0BE}"/>
              </a:ext>
            </a:extLst>
          </p:cNvPr>
          <p:cNvSpPr txBox="1"/>
          <p:nvPr/>
        </p:nvSpPr>
        <p:spPr>
          <a:xfrm>
            <a:off x="6705600" y="4724400"/>
            <a:ext cx="558800" cy="863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ko-KR" altLang="en-US" sz="2400" b="1">
                <a:solidFill>
                  <a:srgbClr val="9FB3CE"/>
                </a:solidFill>
                <a:latin typeface="Pretendard"/>
              </a:rPr>
              <a:t>→</a:t>
            </a:r>
          </a:p>
        </p:txBody>
      </p:sp>
      <p:sp>
        <p:nvSpPr>
          <p:cNvPr id="20" name="모서리가 둥근 직사각형 19">
            <a:extLst>
              <a:ext uri="{FF2B5EF4-FFF2-40B4-BE49-F238E27FC236}">
                <a16:creationId xmlns:a16="http://schemas.microsoft.com/office/drawing/2014/main" id="{1B555406-BF5F-8042-AD00-692D473611D0}"/>
              </a:ext>
            </a:extLst>
          </p:cNvPr>
          <p:cNvSpPr/>
          <p:nvPr/>
        </p:nvSpPr>
        <p:spPr>
          <a:xfrm>
            <a:off x="7264400" y="4724400"/>
            <a:ext cx="2616200" cy="863600"/>
          </a:xfrm>
          <a:prstGeom prst="roundRect">
            <a:avLst>
              <a:gd name="adj" fmla="val 2941"/>
            </a:avLst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ko-KR" altLang="en-US" sz="1600" b="1">
                <a:solidFill>
                  <a:srgbClr val="14213D"/>
                </a:solidFill>
                <a:latin typeface="Pretendard"/>
              </a:rPr>
              <a:t>통제된 결과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3FF3E5A0-B7D4-6027-B34F-7D00DE4286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1500" y="1524000"/>
            <a:ext cx="2041355" cy="2667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B59AC1D-C453-7AEE-E287-000E01BD1E3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-965200" y="-563880"/>
            <a:ext cx="5702300" cy="2362200"/>
          </a:xfrm>
          <a:prstGeom prst="rect">
            <a:avLst/>
          </a:prstGeom>
        </p:spPr>
      </p:pic>
      <p:sp>
        <p:nvSpPr>
          <p:cNvPr id="4" name="PageNumber">
            <a:extLst>
              <a:ext uri="{FF2B5EF4-FFF2-40B4-BE49-F238E27FC236}">
                <a16:creationId xmlns:a16="http://schemas.microsoft.com/office/drawing/2014/main" id="{972EC7D7-CFE0-AE42-AC07-3544C5BB5900}"/>
              </a:ext>
            </a:extLst>
          </p:cNvPr>
          <p:cNvSpPr txBox="1"/>
          <p:nvPr/>
        </p:nvSpPr>
        <p:spPr>
          <a:xfrm>
            <a:off x="9499600" y="6489700"/>
            <a:ext cx="23368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r"/>
            <a:r>
              <a:rPr lang="en-US" altLang="ko-KR" sz="1200">
                <a:solidFill>
                  <a:schemeClr val="bg1"/>
                </a:solidFill>
                <a:latin typeface="Pretendard"/>
              </a:rPr>
              <a:t>- 37/144 -</a:t>
            </a:r>
            <a:endParaRPr lang="ko-KR" altLang="en-US" sz="1200">
              <a:solidFill>
                <a:schemeClr val="bg1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221692079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핵심 개념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핵심 개념</a:t>
            </a: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E46FBD25-2820-9446-93FF-A1410BCB1091}"/>
              </a:ext>
            </a:extLst>
          </p:cNvPr>
          <p:cNvSpPr/>
          <p:nvPr/>
        </p:nvSpPr>
        <p:spPr>
          <a:xfrm>
            <a:off x="825500" y="1905000"/>
            <a:ext cx="3340100" cy="4381500"/>
          </a:xfrm>
          <a:prstGeom prst="roundRect">
            <a:avLst>
              <a:gd name="adj" fmla="val 760"/>
            </a:avLst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011061B-C631-414E-91E9-C7C6909950A4}"/>
              </a:ext>
            </a:extLst>
          </p:cNvPr>
          <p:cNvSpPr/>
          <p:nvPr/>
        </p:nvSpPr>
        <p:spPr>
          <a:xfrm>
            <a:off x="825500" y="1905000"/>
            <a:ext cx="3340100" cy="88900"/>
          </a:xfrm>
          <a:prstGeom prst="rect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EF08AB08-9F22-8A47-BED3-C0BE339B24F6}"/>
              </a:ext>
            </a:extLst>
          </p:cNvPr>
          <p:cNvSpPr/>
          <p:nvPr/>
        </p:nvSpPr>
        <p:spPr>
          <a:xfrm>
            <a:off x="1130300" y="2311400"/>
            <a:ext cx="939800" cy="431800"/>
          </a:xfrm>
          <a:prstGeom prst="roundRect">
            <a:avLst>
              <a:gd name="adj" fmla="val 5882"/>
            </a:avLst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400" b="1">
                <a:solidFill>
                  <a:srgbClr val="FFFFFF"/>
                </a:solidFill>
                <a:latin typeface="JetBrains Mono"/>
              </a:rPr>
              <a:t>R·C·T·F</a:t>
            </a:r>
            <a:endParaRPr lang="ko-KR" altLang="en-US" sz="14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D63ABBA-602F-CA4C-B6EC-F57857AA59DA}"/>
              </a:ext>
            </a:extLst>
          </p:cNvPr>
          <p:cNvSpPr txBox="1"/>
          <p:nvPr/>
        </p:nvSpPr>
        <p:spPr>
          <a:xfrm>
            <a:off x="1130300" y="2895600"/>
            <a:ext cx="2730500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b="1">
                <a:solidFill>
                  <a:srgbClr val="14213D"/>
                </a:solidFill>
                <a:latin typeface="Pretendard"/>
              </a:rPr>
              <a:t>R-C-T-F</a:t>
            </a:r>
            <a:endParaRPr lang="ko-KR" altLang="en-US" b="1">
              <a:solidFill>
                <a:srgbClr val="14213D"/>
              </a:solidFill>
              <a:latin typeface="Pretendard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52E27C8-F983-7340-A4FE-D45FD0F141F2}"/>
              </a:ext>
            </a:extLst>
          </p:cNvPr>
          <p:cNvSpPr/>
          <p:nvPr/>
        </p:nvSpPr>
        <p:spPr>
          <a:xfrm>
            <a:off x="1130300" y="3378200"/>
            <a:ext cx="2730500" cy="12700"/>
          </a:xfrm>
          <a:prstGeom prst="rect">
            <a:avLst/>
          </a:prstGeom>
          <a:solidFill>
            <a:srgbClr val="D9E2E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0CC83FC-6717-5B49-BF55-67F83FA6D835}"/>
              </a:ext>
            </a:extLst>
          </p:cNvPr>
          <p:cNvSpPr txBox="1"/>
          <p:nvPr/>
        </p:nvSpPr>
        <p:spPr>
          <a:xfrm>
            <a:off x="1130300" y="3581400"/>
            <a:ext cx="2730500" cy="1905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altLang="ko-KR" sz="1400" dirty="0" err="1">
                <a:solidFill>
                  <a:srgbClr val="576176"/>
                </a:solidFill>
                <a:latin typeface="Pretendard"/>
              </a:rPr>
              <a:t>Role·Context</a:t>
            </a:r>
            <a:endParaRPr lang="en-US" altLang="ko-KR" sz="1400" dirty="0">
              <a:solidFill>
                <a:srgbClr val="576176"/>
              </a:solidFill>
              <a:latin typeface="Pretendard"/>
            </a:endParaRPr>
          </a:p>
          <a:p>
            <a:pPr algn="l">
              <a:lnSpc>
                <a:spcPct val="150000"/>
              </a:lnSpc>
            </a:pPr>
            <a:r>
              <a:rPr lang="en-US" altLang="ko-KR" sz="1400" dirty="0">
                <a:solidFill>
                  <a:srgbClr val="576176"/>
                </a:solidFill>
                <a:latin typeface="Pretendard"/>
              </a:rPr>
              <a:t>·</a:t>
            </a:r>
            <a:r>
              <a:rPr lang="en-US" altLang="ko-KR" sz="1400" dirty="0" err="1">
                <a:solidFill>
                  <a:srgbClr val="576176"/>
                </a:solidFill>
                <a:latin typeface="Pretendard"/>
              </a:rPr>
              <a:t>Task·Format</a:t>
            </a:r>
            <a:r>
              <a:rPr lang="ko-KR" altLang="en-US" sz="1400" dirty="0">
                <a:solidFill>
                  <a:srgbClr val="576176"/>
                </a:solidFill>
                <a:latin typeface="Pretendard"/>
              </a:rPr>
              <a:t>을 명시하면 </a:t>
            </a:r>
            <a:endParaRPr lang="en-US" altLang="ko-KR" sz="1400" dirty="0">
              <a:solidFill>
                <a:srgbClr val="576176"/>
              </a:solidFill>
              <a:latin typeface="Pretendard"/>
            </a:endParaRPr>
          </a:p>
          <a:p>
            <a:pPr algn="l">
              <a:lnSpc>
                <a:spcPct val="150000"/>
              </a:lnSpc>
            </a:pPr>
            <a:r>
              <a:rPr lang="ko-KR" altLang="en-US" sz="1400" dirty="0">
                <a:solidFill>
                  <a:srgbClr val="576176"/>
                </a:solidFill>
                <a:latin typeface="Pretendard"/>
              </a:rPr>
              <a:t>톤</a:t>
            </a:r>
            <a:r>
              <a:rPr lang="en-US" altLang="ko-KR" sz="1400" dirty="0">
                <a:solidFill>
                  <a:srgbClr val="576176"/>
                </a:solidFill>
                <a:latin typeface="Pretendard"/>
              </a:rPr>
              <a:t>·</a:t>
            </a:r>
            <a:r>
              <a:rPr lang="ko-KR" altLang="en-US" sz="1400" dirty="0">
                <a:solidFill>
                  <a:srgbClr val="576176"/>
                </a:solidFill>
                <a:latin typeface="Pretendard"/>
              </a:rPr>
              <a:t>범위</a:t>
            </a:r>
            <a:r>
              <a:rPr lang="en-US" altLang="ko-KR" sz="1400" dirty="0">
                <a:solidFill>
                  <a:srgbClr val="576176"/>
                </a:solidFill>
                <a:latin typeface="Pretendard"/>
              </a:rPr>
              <a:t>·</a:t>
            </a:r>
            <a:r>
              <a:rPr lang="ko-KR" altLang="en-US" sz="1400" dirty="0">
                <a:solidFill>
                  <a:srgbClr val="576176"/>
                </a:solidFill>
                <a:latin typeface="Pretendard"/>
              </a:rPr>
              <a:t>형태가 안정된다</a:t>
            </a:r>
            <a:r>
              <a:rPr lang="en-US" altLang="ko-KR" sz="1400" dirty="0">
                <a:solidFill>
                  <a:srgbClr val="576176"/>
                </a:solidFill>
                <a:latin typeface="Pretendard"/>
              </a:rPr>
              <a:t>.</a:t>
            </a:r>
            <a:endParaRPr lang="ko-KR" altLang="en-US" sz="1400" dirty="0">
              <a:solidFill>
                <a:srgbClr val="576176"/>
              </a:solidFill>
              <a:latin typeface="Pretendard"/>
            </a:endParaRP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BE21BD43-DB1B-B842-BD64-9AC9AF4D04B7}"/>
              </a:ext>
            </a:extLst>
          </p:cNvPr>
          <p:cNvSpPr/>
          <p:nvPr/>
        </p:nvSpPr>
        <p:spPr>
          <a:xfrm>
            <a:off x="1130300" y="5562600"/>
            <a:ext cx="2730500" cy="457200"/>
          </a:xfrm>
          <a:prstGeom prst="roundRect">
            <a:avLst>
              <a:gd name="adj" fmla="val 5556"/>
            </a:avLst>
          </a:prstGeom>
          <a:solidFill>
            <a:srgbClr val="E7ECF4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D45EC2C-4F49-0B42-823F-0F9E5934DAB0}"/>
              </a:ext>
            </a:extLst>
          </p:cNvPr>
          <p:cNvSpPr txBox="1"/>
          <p:nvPr/>
        </p:nvSpPr>
        <p:spPr>
          <a:xfrm>
            <a:off x="1130300" y="5562600"/>
            <a:ext cx="2730500" cy="457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1400" b="1">
                <a:solidFill>
                  <a:srgbClr val="14213D"/>
                </a:solidFill>
                <a:latin typeface="Pretendard"/>
              </a:rPr>
              <a:t>4</a:t>
            </a:r>
            <a:r>
              <a:rPr lang="ko-KR" altLang="en-US" sz="1400" b="1">
                <a:solidFill>
                  <a:srgbClr val="14213D"/>
                </a:solidFill>
                <a:latin typeface="Pretendard"/>
              </a:rPr>
              <a:t>칸을 채운다</a:t>
            </a: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63F4C276-662A-E340-BCBD-C9446D61F426}"/>
              </a:ext>
            </a:extLst>
          </p:cNvPr>
          <p:cNvSpPr/>
          <p:nvPr/>
        </p:nvSpPr>
        <p:spPr>
          <a:xfrm>
            <a:off x="4419600" y="1905000"/>
            <a:ext cx="3340100" cy="4381500"/>
          </a:xfrm>
          <a:prstGeom prst="roundRect">
            <a:avLst>
              <a:gd name="adj" fmla="val 760"/>
            </a:avLst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EEB198F-E280-434A-88E6-4A6048A1CECF}"/>
              </a:ext>
            </a:extLst>
          </p:cNvPr>
          <p:cNvSpPr/>
          <p:nvPr/>
        </p:nvSpPr>
        <p:spPr>
          <a:xfrm>
            <a:off x="4419600" y="1905000"/>
            <a:ext cx="3340100" cy="88900"/>
          </a:xfrm>
          <a:prstGeom prst="rect">
            <a:avLst/>
          </a:prstGeom>
          <a:solidFill>
            <a:srgbClr val="1D4E89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5" name="모서리가 둥근 직사각형 14">
            <a:extLst>
              <a:ext uri="{FF2B5EF4-FFF2-40B4-BE49-F238E27FC236}">
                <a16:creationId xmlns:a16="http://schemas.microsoft.com/office/drawing/2014/main" id="{4A7BBBA3-6648-2B4E-9024-0AD12C46EA91}"/>
              </a:ext>
            </a:extLst>
          </p:cNvPr>
          <p:cNvSpPr/>
          <p:nvPr/>
        </p:nvSpPr>
        <p:spPr>
          <a:xfrm>
            <a:off x="4724400" y="2311400"/>
            <a:ext cx="939800" cy="431800"/>
          </a:xfrm>
          <a:prstGeom prst="roundRect">
            <a:avLst>
              <a:gd name="adj" fmla="val 5882"/>
            </a:avLst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400" b="1">
                <a:solidFill>
                  <a:srgbClr val="FFFFFF"/>
                </a:solidFill>
                <a:latin typeface="JetBrains Mono"/>
              </a:rPr>
              <a:t>Few</a:t>
            </a:r>
            <a:endParaRPr lang="ko-KR" altLang="en-US" sz="14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A043EC9-B24E-4749-A89F-BD15A8D498C6}"/>
              </a:ext>
            </a:extLst>
          </p:cNvPr>
          <p:cNvSpPr txBox="1"/>
          <p:nvPr/>
        </p:nvSpPr>
        <p:spPr>
          <a:xfrm>
            <a:off x="4724400" y="2895600"/>
            <a:ext cx="2730500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b="1">
                <a:solidFill>
                  <a:srgbClr val="14213D"/>
                </a:solidFill>
                <a:latin typeface="Pretendard"/>
              </a:rPr>
              <a:t>Few-shot</a:t>
            </a:r>
            <a:endParaRPr lang="ko-KR" altLang="en-US" b="1">
              <a:solidFill>
                <a:srgbClr val="14213D"/>
              </a:solidFill>
              <a:latin typeface="Pretendard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5F23AD4B-39E1-BE47-B4F0-8FEE0FA94F58}"/>
              </a:ext>
            </a:extLst>
          </p:cNvPr>
          <p:cNvSpPr/>
          <p:nvPr/>
        </p:nvSpPr>
        <p:spPr>
          <a:xfrm>
            <a:off x="4724400" y="3378200"/>
            <a:ext cx="2730500" cy="12700"/>
          </a:xfrm>
          <a:prstGeom prst="rect">
            <a:avLst/>
          </a:prstGeom>
          <a:solidFill>
            <a:srgbClr val="D9E2E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1BD5812-219E-BF4D-9EB6-D483A5935FF1}"/>
              </a:ext>
            </a:extLst>
          </p:cNvPr>
          <p:cNvSpPr txBox="1"/>
          <p:nvPr/>
        </p:nvSpPr>
        <p:spPr>
          <a:xfrm>
            <a:off x="4724400" y="3581400"/>
            <a:ext cx="2730500" cy="1905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400" dirty="0">
                <a:solidFill>
                  <a:srgbClr val="576176"/>
                </a:solidFill>
                <a:latin typeface="Pretendard"/>
              </a:rPr>
              <a:t>예시 </a:t>
            </a:r>
            <a:r>
              <a:rPr lang="en-US" altLang="ko-KR" sz="1400" dirty="0">
                <a:solidFill>
                  <a:srgbClr val="576176"/>
                </a:solidFill>
                <a:latin typeface="Pretendard"/>
              </a:rPr>
              <a:t>1~3</a:t>
            </a:r>
            <a:r>
              <a:rPr lang="ko-KR" altLang="en-US" sz="1400" dirty="0">
                <a:solidFill>
                  <a:srgbClr val="576176"/>
                </a:solidFill>
                <a:latin typeface="Pretendard"/>
              </a:rPr>
              <a:t>개를 주면 </a:t>
            </a:r>
            <a:endParaRPr lang="en-US" altLang="ko-KR" sz="1400" dirty="0">
              <a:solidFill>
                <a:srgbClr val="576176"/>
              </a:solidFill>
              <a:latin typeface="Pretendard"/>
            </a:endParaRPr>
          </a:p>
          <a:p>
            <a:pPr algn="l">
              <a:lnSpc>
                <a:spcPct val="150000"/>
              </a:lnSpc>
            </a:pPr>
            <a:r>
              <a:rPr lang="en-US" altLang="ko-KR" sz="1400" dirty="0">
                <a:solidFill>
                  <a:srgbClr val="576176"/>
                </a:solidFill>
                <a:latin typeface="Pretendard"/>
              </a:rPr>
              <a:t>AI</a:t>
            </a:r>
            <a:r>
              <a:rPr lang="ko-KR" altLang="en-US" sz="1400" dirty="0">
                <a:solidFill>
                  <a:srgbClr val="576176"/>
                </a:solidFill>
                <a:latin typeface="Pretendard"/>
              </a:rPr>
              <a:t>가 스타일을 모방한다</a:t>
            </a:r>
            <a:r>
              <a:rPr lang="en-US" altLang="ko-KR" sz="1400" dirty="0">
                <a:solidFill>
                  <a:srgbClr val="576176"/>
                </a:solidFill>
                <a:latin typeface="Pretendard"/>
              </a:rPr>
              <a:t>. </a:t>
            </a:r>
          </a:p>
          <a:p>
            <a:pPr algn="l">
              <a:lnSpc>
                <a:spcPct val="150000"/>
              </a:lnSpc>
            </a:pPr>
            <a:endParaRPr lang="en-US" altLang="ko-KR" sz="1400" dirty="0">
              <a:solidFill>
                <a:srgbClr val="576176"/>
              </a:solidFill>
              <a:latin typeface="Pretendard"/>
            </a:endParaRPr>
          </a:p>
          <a:p>
            <a:pPr algn="l">
              <a:lnSpc>
                <a:spcPct val="150000"/>
              </a:lnSpc>
            </a:pPr>
            <a:r>
              <a:rPr lang="ko-KR" altLang="en-US" sz="1400" dirty="0">
                <a:solidFill>
                  <a:srgbClr val="576176"/>
                </a:solidFill>
                <a:latin typeface="Pretendard"/>
              </a:rPr>
              <a:t>톤을 통일하는 강력한 장치</a:t>
            </a:r>
            <a:r>
              <a:rPr lang="en-US" altLang="ko-KR" sz="1400" dirty="0">
                <a:solidFill>
                  <a:srgbClr val="576176"/>
                </a:solidFill>
                <a:latin typeface="Pretendard"/>
              </a:rPr>
              <a:t>.</a:t>
            </a:r>
            <a:endParaRPr lang="ko-KR" altLang="en-US" sz="1400" dirty="0">
              <a:solidFill>
                <a:srgbClr val="576176"/>
              </a:solidFill>
              <a:latin typeface="Pretendard"/>
            </a:endParaRP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26BF14B3-E048-9746-B1D5-C9622E7BBE1B}"/>
              </a:ext>
            </a:extLst>
          </p:cNvPr>
          <p:cNvSpPr/>
          <p:nvPr/>
        </p:nvSpPr>
        <p:spPr>
          <a:xfrm>
            <a:off x="4724400" y="5562600"/>
            <a:ext cx="2730500" cy="457200"/>
          </a:xfrm>
          <a:prstGeom prst="roundRect">
            <a:avLst>
              <a:gd name="adj" fmla="val 5556"/>
            </a:avLst>
          </a:prstGeom>
          <a:solidFill>
            <a:srgbClr val="E4ECF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79B291E-CE37-AC4F-A7BA-F5DB3C1235BD}"/>
              </a:ext>
            </a:extLst>
          </p:cNvPr>
          <p:cNvSpPr txBox="1"/>
          <p:nvPr/>
        </p:nvSpPr>
        <p:spPr>
          <a:xfrm>
            <a:off x="4724400" y="5562600"/>
            <a:ext cx="2730500" cy="457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ko-KR" altLang="en-US" sz="1400" b="1">
                <a:solidFill>
                  <a:srgbClr val="1D4E89"/>
                </a:solidFill>
                <a:latin typeface="Pretendard"/>
              </a:rPr>
              <a:t>예시로 톤 학습</a:t>
            </a:r>
          </a:p>
        </p:txBody>
      </p:sp>
      <p:sp>
        <p:nvSpPr>
          <p:cNvPr id="21" name="모서리가 둥근 직사각형 20">
            <a:extLst>
              <a:ext uri="{FF2B5EF4-FFF2-40B4-BE49-F238E27FC236}">
                <a16:creationId xmlns:a16="http://schemas.microsoft.com/office/drawing/2014/main" id="{5115EF7D-428B-D344-8A7B-32AC025B7A56}"/>
              </a:ext>
            </a:extLst>
          </p:cNvPr>
          <p:cNvSpPr/>
          <p:nvPr/>
        </p:nvSpPr>
        <p:spPr>
          <a:xfrm>
            <a:off x="8013700" y="1905000"/>
            <a:ext cx="3340100" cy="4381500"/>
          </a:xfrm>
          <a:prstGeom prst="roundRect">
            <a:avLst>
              <a:gd name="adj" fmla="val 760"/>
            </a:avLst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F1781386-2CB3-734E-A2F3-91206E77D35B}"/>
              </a:ext>
            </a:extLst>
          </p:cNvPr>
          <p:cNvSpPr/>
          <p:nvPr/>
        </p:nvSpPr>
        <p:spPr>
          <a:xfrm>
            <a:off x="8013700" y="1905000"/>
            <a:ext cx="3340100" cy="88900"/>
          </a:xfrm>
          <a:prstGeom prst="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3" name="모서리가 둥근 직사각형 22">
            <a:extLst>
              <a:ext uri="{FF2B5EF4-FFF2-40B4-BE49-F238E27FC236}">
                <a16:creationId xmlns:a16="http://schemas.microsoft.com/office/drawing/2014/main" id="{70BB1BE7-642A-BF4C-8D59-E22CF8674298}"/>
              </a:ext>
            </a:extLst>
          </p:cNvPr>
          <p:cNvSpPr/>
          <p:nvPr/>
        </p:nvSpPr>
        <p:spPr>
          <a:xfrm>
            <a:off x="8318500" y="2311400"/>
            <a:ext cx="939800" cy="431800"/>
          </a:xfrm>
          <a:prstGeom prst="roundRect">
            <a:avLst>
              <a:gd name="adj" fmla="val 5882"/>
            </a:avLst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400" b="1">
                <a:solidFill>
                  <a:srgbClr val="FFFFFF"/>
                </a:solidFill>
                <a:latin typeface="JetBrains Mono"/>
              </a:rPr>
              <a:t>Lim</a:t>
            </a:r>
            <a:endParaRPr lang="ko-KR" altLang="en-US" sz="14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EF231F2-2EB0-4041-A239-D2CCEC1F57AB}"/>
              </a:ext>
            </a:extLst>
          </p:cNvPr>
          <p:cNvSpPr txBox="1"/>
          <p:nvPr/>
        </p:nvSpPr>
        <p:spPr>
          <a:xfrm>
            <a:off x="8318500" y="2895600"/>
            <a:ext cx="2730500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b="1">
                <a:solidFill>
                  <a:srgbClr val="14213D"/>
                </a:solidFill>
                <a:latin typeface="Pretendard"/>
              </a:rPr>
              <a:t>제약 조건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2D0F1195-E2F4-244D-97FA-60CF2BB4BDA8}"/>
              </a:ext>
            </a:extLst>
          </p:cNvPr>
          <p:cNvSpPr/>
          <p:nvPr/>
        </p:nvSpPr>
        <p:spPr>
          <a:xfrm>
            <a:off x="8318500" y="3378200"/>
            <a:ext cx="2730500" cy="12700"/>
          </a:xfrm>
          <a:prstGeom prst="rect">
            <a:avLst/>
          </a:prstGeom>
          <a:solidFill>
            <a:srgbClr val="D9E2E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4009446-99F7-6643-A9E4-10FAEF60B6F6}"/>
              </a:ext>
            </a:extLst>
          </p:cNvPr>
          <p:cNvSpPr txBox="1"/>
          <p:nvPr/>
        </p:nvSpPr>
        <p:spPr>
          <a:xfrm>
            <a:off x="8318500" y="3581400"/>
            <a:ext cx="2730500" cy="1905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400" dirty="0">
                <a:solidFill>
                  <a:srgbClr val="576176"/>
                </a:solidFill>
                <a:latin typeface="Pretendard"/>
              </a:rPr>
              <a:t>글자수</a:t>
            </a:r>
            <a:r>
              <a:rPr lang="en-US" altLang="ko-KR" sz="1400" dirty="0">
                <a:solidFill>
                  <a:srgbClr val="576176"/>
                </a:solidFill>
                <a:latin typeface="Pretendard"/>
              </a:rPr>
              <a:t>·</a:t>
            </a:r>
            <a:r>
              <a:rPr lang="ko-KR" altLang="en-US" sz="1400" dirty="0" err="1">
                <a:solidFill>
                  <a:srgbClr val="576176"/>
                </a:solidFill>
                <a:latin typeface="Pretendard"/>
              </a:rPr>
              <a:t>금지어</a:t>
            </a:r>
            <a:endParaRPr lang="en-US" altLang="ko-KR" sz="1400" dirty="0">
              <a:solidFill>
                <a:srgbClr val="576176"/>
              </a:solidFill>
              <a:latin typeface="Pretendard"/>
            </a:endParaRPr>
          </a:p>
          <a:p>
            <a:pPr algn="l">
              <a:lnSpc>
                <a:spcPct val="150000"/>
              </a:lnSpc>
            </a:pPr>
            <a:r>
              <a:rPr lang="en-US" altLang="ko-KR" sz="1400" dirty="0">
                <a:solidFill>
                  <a:srgbClr val="576176"/>
                </a:solidFill>
                <a:latin typeface="Pretendard"/>
              </a:rPr>
              <a:t>·</a:t>
            </a:r>
            <a:r>
              <a:rPr lang="ko-KR" altLang="en-US" sz="1400" dirty="0">
                <a:solidFill>
                  <a:srgbClr val="576176"/>
                </a:solidFill>
                <a:latin typeface="Pretendard"/>
              </a:rPr>
              <a:t>필수 키워드</a:t>
            </a:r>
            <a:r>
              <a:rPr lang="en-US" altLang="ko-KR" sz="1400" dirty="0">
                <a:solidFill>
                  <a:srgbClr val="576176"/>
                </a:solidFill>
                <a:latin typeface="Pretendard"/>
              </a:rPr>
              <a:t>·</a:t>
            </a:r>
            <a:r>
              <a:rPr lang="ko-KR" altLang="en-US" sz="1400" dirty="0">
                <a:solidFill>
                  <a:srgbClr val="576176"/>
                </a:solidFill>
                <a:latin typeface="Pretendard"/>
              </a:rPr>
              <a:t>말투를 명시한다</a:t>
            </a:r>
            <a:r>
              <a:rPr lang="en-US" altLang="ko-KR" sz="1400" dirty="0">
                <a:solidFill>
                  <a:srgbClr val="576176"/>
                </a:solidFill>
                <a:latin typeface="Pretendard"/>
              </a:rPr>
              <a:t>. </a:t>
            </a:r>
          </a:p>
          <a:p>
            <a:pPr algn="l">
              <a:lnSpc>
                <a:spcPct val="150000"/>
              </a:lnSpc>
            </a:pPr>
            <a:endParaRPr lang="en-US" altLang="ko-KR" sz="1400" dirty="0">
              <a:solidFill>
                <a:srgbClr val="576176"/>
              </a:solidFill>
              <a:latin typeface="Pretendard"/>
            </a:endParaRPr>
          </a:p>
          <a:p>
            <a:pPr algn="l">
              <a:lnSpc>
                <a:spcPct val="150000"/>
              </a:lnSpc>
            </a:pPr>
            <a:r>
              <a:rPr lang="ko-KR" altLang="en-US" sz="1400" dirty="0">
                <a:solidFill>
                  <a:srgbClr val="576176"/>
                </a:solidFill>
                <a:latin typeface="Pretendard"/>
              </a:rPr>
              <a:t>빈칸을 남기면 </a:t>
            </a:r>
            <a:endParaRPr lang="en-US" altLang="ko-KR" sz="1400" dirty="0">
              <a:solidFill>
                <a:srgbClr val="576176"/>
              </a:solidFill>
              <a:latin typeface="Pretendard"/>
            </a:endParaRPr>
          </a:p>
          <a:p>
            <a:pPr algn="l">
              <a:lnSpc>
                <a:spcPct val="150000"/>
              </a:lnSpc>
            </a:pPr>
            <a:r>
              <a:rPr lang="en-US" altLang="ko-KR" sz="1400" dirty="0">
                <a:solidFill>
                  <a:srgbClr val="576176"/>
                </a:solidFill>
                <a:latin typeface="Pretendard"/>
              </a:rPr>
              <a:t>AI</a:t>
            </a:r>
            <a:r>
              <a:rPr lang="ko-KR" altLang="en-US" sz="1400" dirty="0">
                <a:solidFill>
                  <a:srgbClr val="576176"/>
                </a:solidFill>
                <a:latin typeface="Pretendard"/>
              </a:rPr>
              <a:t>가 임의로 채운다</a:t>
            </a:r>
            <a:r>
              <a:rPr lang="en-US" altLang="ko-KR" sz="1400" dirty="0">
                <a:solidFill>
                  <a:srgbClr val="576176"/>
                </a:solidFill>
                <a:latin typeface="Pretendard"/>
              </a:rPr>
              <a:t>.</a:t>
            </a:r>
            <a:endParaRPr lang="ko-KR" altLang="en-US" sz="1400" dirty="0">
              <a:solidFill>
                <a:srgbClr val="576176"/>
              </a:solidFill>
              <a:latin typeface="Pretendard"/>
            </a:endParaRPr>
          </a:p>
        </p:txBody>
      </p:sp>
      <p:sp>
        <p:nvSpPr>
          <p:cNvPr id="27" name="모서리가 둥근 직사각형 26">
            <a:extLst>
              <a:ext uri="{FF2B5EF4-FFF2-40B4-BE49-F238E27FC236}">
                <a16:creationId xmlns:a16="http://schemas.microsoft.com/office/drawing/2014/main" id="{C49F3649-50A4-574B-8A0B-59D0525289DF}"/>
              </a:ext>
            </a:extLst>
          </p:cNvPr>
          <p:cNvSpPr/>
          <p:nvPr/>
        </p:nvSpPr>
        <p:spPr>
          <a:xfrm>
            <a:off x="8318500" y="5562600"/>
            <a:ext cx="2730500" cy="457200"/>
          </a:xfrm>
          <a:prstGeom prst="roundRect">
            <a:avLst>
              <a:gd name="adj" fmla="val 5556"/>
            </a:avLst>
          </a:prstGeom>
          <a:solidFill>
            <a:srgbClr val="FBEF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90709CB-A922-D148-8F45-E09479395DFC}"/>
              </a:ext>
            </a:extLst>
          </p:cNvPr>
          <p:cNvSpPr txBox="1"/>
          <p:nvPr/>
        </p:nvSpPr>
        <p:spPr>
          <a:xfrm>
            <a:off x="8318500" y="5562600"/>
            <a:ext cx="2730500" cy="457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ko-KR" altLang="en-US" sz="1400" b="1">
                <a:solidFill>
                  <a:srgbClr val="9A6B12"/>
                </a:solidFill>
                <a:latin typeface="Pretendard"/>
              </a:rPr>
              <a:t>빈칸을 남기지 마라</a:t>
            </a:r>
          </a:p>
        </p:txBody>
      </p:sp>
      <p:sp>
        <p:nvSpPr>
          <p:cNvPr id="4" name="PageNumber">
            <a:extLst>
              <a:ext uri="{FF2B5EF4-FFF2-40B4-BE49-F238E27FC236}">
                <a16:creationId xmlns:a16="http://schemas.microsoft.com/office/drawing/2014/main" id="{EFE0DECF-33A1-C94B-B723-B88132383DDF}"/>
              </a:ext>
            </a:extLst>
          </p:cNvPr>
          <p:cNvSpPr txBox="1"/>
          <p:nvPr/>
        </p:nvSpPr>
        <p:spPr>
          <a:xfrm>
            <a:off x="9499600" y="6489700"/>
            <a:ext cx="23368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r"/>
            <a:r>
              <a:rPr lang="en-US" altLang="ko-KR" sz="1200">
                <a:solidFill>
                  <a:srgbClr val="576176"/>
                </a:solidFill>
                <a:latin typeface="Pretendard"/>
              </a:rPr>
              <a:t>- 38/144 -</a:t>
            </a:r>
            <a:endParaRPr lang="ko-KR" altLang="en-US" sz="1200">
              <a:solidFill>
                <a:srgbClr val="576176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402669591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개념 깊이 보기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개념을 예시로 — 우리 케이스에 적용하면</a:t>
            </a: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4DB00536-9337-4049-901B-916F5938922D}"/>
              </a:ext>
            </a:extLst>
          </p:cNvPr>
          <p:cNvSpPr/>
          <p:nvPr/>
        </p:nvSpPr>
        <p:spPr>
          <a:xfrm>
            <a:off x="825500" y="1587763"/>
            <a:ext cx="5461000" cy="4589106"/>
          </a:xfrm>
          <a:prstGeom prst="roundRect">
            <a:avLst>
              <a:gd name="adj" fmla="val 580"/>
            </a:avLst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83D8DF-F30A-D149-BCDF-A7F56EBEE794}"/>
              </a:ext>
            </a:extLst>
          </p:cNvPr>
          <p:cNvSpPr txBox="1"/>
          <p:nvPr/>
        </p:nvSpPr>
        <p:spPr>
          <a:xfrm>
            <a:off x="1168400" y="1816363"/>
            <a:ext cx="4826000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900" b="1">
                <a:solidFill>
                  <a:srgbClr val="14213D"/>
                </a:solidFill>
                <a:latin typeface="Pretendard"/>
              </a:rPr>
              <a:t>R-C-T-F</a:t>
            </a:r>
            <a:endParaRPr lang="ko-KR" altLang="en-US" sz="1900" b="1">
              <a:solidFill>
                <a:srgbClr val="14213D"/>
              </a:solidFill>
              <a:latin typeface="Pretendard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C29508-D7E9-5D41-9E72-C7A1BC769037}"/>
              </a:ext>
            </a:extLst>
          </p:cNvPr>
          <p:cNvSpPr txBox="1"/>
          <p:nvPr/>
        </p:nvSpPr>
        <p:spPr>
          <a:xfrm>
            <a:off x="1168400" y="2235463"/>
            <a:ext cx="4826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400">
                <a:solidFill>
                  <a:srgbClr val="576176"/>
                </a:solidFill>
                <a:latin typeface="Pretendard"/>
              </a:rPr>
              <a:t>프롬프트를 채우는 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4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개의 칸</a:t>
            </a: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1C5F35DC-1E9F-CF4C-ACD3-7F086B5A5AFD}"/>
              </a:ext>
            </a:extLst>
          </p:cNvPr>
          <p:cNvSpPr/>
          <p:nvPr/>
        </p:nvSpPr>
        <p:spPr>
          <a:xfrm>
            <a:off x="1168400" y="2679963"/>
            <a:ext cx="508000" cy="508000"/>
          </a:xfrm>
          <a:prstGeom prst="ellipse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  <a:latin typeface="JetBrains Mono"/>
              </a:rPr>
              <a:t>R</a:t>
            </a:r>
            <a:endParaRPr lang="ko-KR" altLang="en-US" sz="16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E3CB7D-BC29-2C4B-B3A9-EDCA33996E8A}"/>
              </a:ext>
            </a:extLst>
          </p:cNvPr>
          <p:cNvSpPr txBox="1"/>
          <p:nvPr/>
        </p:nvSpPr>
        <p:spPr>
          <a:xfrm>
            <a:off x="1854200" y="2654563"/>
            <a:ext cx="990600" cy="558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500" b="1">
                <a:solidFill>
                  <a:srgbClr val="14213D"/>
                </a:solidFill>
                <a:latin typeface="Pretendard"/>
              </a:rPr>
              <a:t>역할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8547C5-7E49-5A4B-8E10-899CEC52E62C}"/>
              </a:ext>
            </a:extLst>
          </p:cNvPr>
          <p:cNvSpPr txBox="1"/>
          <p:nvPr/>
        </p:nvSpPr>
        <p:spPr>
          <a:xfrm>
            <a:off x="2870200" y="2654563"/>
            <a:ext cx="3175000" cy="558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altLang="ko-KR" sz="1400">
                <a:solidFill>
                  <a:srgbClr val="576176"/>
                </a:solidFill>
                <a:latin typeface="Pretendard"/>
              </a:rPr>
              <a:t>15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년차 카피라이터</a:t>
            </a: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96817B43-4DEB-F246-A4E3-D461C9F9B98E}"/>
              </a:ext>
            </a:extLst>
          </p:cNvPr>
          <p:cNvSpPr/>
          <p:nvPr/>
        </p:nvSpPr>
        <p:spPr>
          <a:xfrm>
            <a:off x="1168400" y="3467363"/>
            <a:ext cx="508000" cy="508000"/>
          </a:xfrm>
          <a:prstGeom prst="ellipse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  <a:latin typeface="JetBrains Mono"/>
              </a:rPr>
              <a:t>C</a:t>
            </a:r>
            <a:endParaRPr lang="ko-KR" altLang="en-US" sz="16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A53BF36-3406-604A-BE61-FD6158DBACEA}"/>
              </a:ext>
            </a:extLst>
          </p:cNvPr>
          <p:cNvSpPr txBox="1"/>
          <p:nvPr/>
        </p:nvSpPr>
        <p:spPr>
          <a:xfrm>
            <a:off x="1854200" y="3441963"/>
            <a:ext cx="990600" cy="558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500" b="1">
                <a:solidFill>
                  <a:srgbClr val="14213D"/>
                </a:solidFill>
                <a:latin typeface="Pretendard"/>
              </a:rPr>
              <a:t>맥락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1E6C61A-F2DC-D349-8877-50221CCE519A}"/>
              </a:ext>
            </a:extLst>
          </p:cNvPr>
          <p:cNvSpPr txBox="1"/>
          <p:nvPr/>
        </p:nvSpPr>
        <p:spPr>
          <a:xfrm>
            <a:off x="2870200" y="3441963"/>
            <a:ext cx="3175000" cy="558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altLang="ko-KR" sz="1400">
                <a:solidFill>
                  <a:srgbClr val="576176"/>
                </a:solidFill>
                <a:latin typeface="Pretendard"/>
              </a:rPr>
              <a:t>30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대 타깃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, 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위트</a:t>
            </a: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BC210F9D-7756-FF49-AFF6-935DF0BA484D}"/>
              </a:ext>
            </a:extLst>
          </p:cNvPr>
          <p:cNvSpPr/>
          <p:nvPr/>
        </p:nvSpPr>
        <p:spPr>
          <a:xfrm>
            <a:off x="1168400" y="4254763"/>
            <a:ext cx="508000" cy="508000"/>
          </a:xfrm>
          <a:prstGeom prst="ellipse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  <a:latin typeface="JetBrains Mono"/>
              </a:rPr>
              <a:t>T</a:t>
            </a:r>
            <a:endParaRPr lang="ko-KR" altLang="en-US" sz="16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8A5D6AE-9ED8-5849-8FFA-65A54EFDEED6}"/>
              </a:ext>
            </a:extLst>
          </p:cNvPr>
          <p:cNvSpPr txBox="1"/>
          <p:nvPr/>
        </p:nvSpPr>
        <p:spPr>
          <a:xfrm>
            <a:off x="1854200" y="4229363"/>
            <a:ext cx="990600" cy="558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500" b="1">
                <a:solidFill>
                  <a:srgbClr val="14213D"/>
                </a:solidFill>
                <a:latin typeface="Pretendard"/>
              </a:rPr>
              <a:t>작업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1850E47-B70C-704C-B2B0-A4CCA228F962}"/>
              </a:ext>
            </a:extLst>
          </p:cNvPr>
          <p:cNvSpPr txBox="1"/>
          <p:nvPr/>
        </p:nvSpPr>
        <p:spPr>
          <a:xfrm>
            <a:off x="2870200" y="4229363"/>
            <a:ext cx="3175000" cy="558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400">
                <a:solidFill>
                  <a:srgbClr val="576176"/>
                </a:solidFill>
                <a:latin typeface="Pretendard"/>
              </a:rPr>
              <a:t>헤드라인 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5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개</a:t>
            </a: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605CC879-ABB9-4C4A-91C2-C7C2BD222247}"/>
              </a:ext>
            </a:extLst>
          </p:cNvPr>
          <p:cNvSpPr/>
          <p:nvPr/>
        </p:nvSpPr>
        <p:spPr>
          <a:xfrm>
            <a:off x="1168400" y="5042163"/>
            <a:ext cx="508000" cy="508000"/>
          </a:xfrm>
          <a:prstGeom prst="ellipse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  <a:latin typeface="JetBrains Mono"/>
              </a:rPr>
              <a:t>F</a:t>
            </a:r>
            <a:endParaRPr lang="ko-KR" altLang="en-US" sz="16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9EBE9B5-354D-8E47-BD3C-23370611103B}"/>
              </a:ext>
            </a:extLst>
          </p:cNvPr>
          <p:cNvSpPr txBox="1"/>
          <p:nvPr/>
        </p:nvSpPr>
        <p:spPr>
          <a:xfrm>
            <a:off x="1854200" y="5016763"/>
            <a:ext cx="990600" cy="558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500" b="1">
                <a:solidFill>
                  <a:srgbClr val="14213D"/>
                </a:solidFill>
                <a:latin typeface="Pretendard"/>
              </a:rPr>
              <a:t>형식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BDED580-201F-514F-BFA4-2FDD4F4B48DA}"/>
              </a:ext>
            </a:extLst>
          </p:cNvPr>
          <p:cNvSpPr txBox="1"/>
          <p:nvPr/>
        </p:nvSpPr>
        <p:spPr>
          <a:xfrm>
            <a:off x="2870200" y="5016763"/>
            <a:ext cx="3175000" cy="558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altLang="ko-KR" sz="1400">
                <a:solidFill>
                  <a:srgbClr val="576176"/>
                </a:solidFill>
                <a:latin typeface="Pretendard"/>
              </a:rPr>
              <a:t>25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자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, 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이모지 금지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7BDE9DC-A40B-AB4A-BF28-E3239D93FD70}"/>
              </a:ext>
            </a:extLst>
          </p:cNvPr>
          <p:cNvSpPr txBox="1"/>
          <p:nvPr/>
        </p:nvSpPr>
        <p:spPr>
          <a:xfrm>
            <a:off x="1168400" y="5787575"/>
            <a:ext cx="5080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400" i="1" dirty="0">
                <a:solidFill>
                  <a:srgbClr val="1D4E89"/>
                </a:solidFill>
                <a:latin typeface="JetBrains Mono"/>
              </a:rPr>
              <a:t>→ </a:t>
            </a:r>
            <a:r>
              <a:rPr lang="en-US" altLang="ko-KR" sz="1400" i="1" dirty="0">
                <a:solidFill>
                  <a:srgbClr val="1D4E89"/>
                </a:solidFill>
                <a:latin typeface="JetBrains Mono"/>
              </a:rPr>
              <a:t>4</a:t>
            </a:r>
            <a:r>
              <a:rPr lang="ko-KR" altLang="en-US" sz="1400" i="1" dirty="0">
                <a:solidFill>
                  <a:srgbClr val="1D4E89"/>
                </a:solidFill>
                <a:latin typeface="JetBrains Mono"/>
              </a:rPr>
              <a:t>칸을 다 채울수록 결과가 </a:t>
            </a:r>
            <a:r>
              <a:rPr lang="ko-KR" altLang="en-US" sz="1400" i="1" dirty="0" err="1">
                <a:solidFill>
                  <a:srgbClr val="1D4E89"/>
                </a:solidFill>
                <a:latin typeface="JetBrains Mono"/>
              </a:rPr>
              <a:t>정확해진다</a:t>
            </a:r>
            <a:endParaRPr lang="ko-KR" altLang="en-US" sz="1400" i="1" dirty="0">
              <a:solidFill>
                <a:srgbClr val="1D4E89"/>
              </a:solidFill>
              <a:latin typeface="JetBrains Mono"/>
            </a:endParaRPr>
          </a:p>
        </p:txBody>
      </p:sp>
      <p:sp>
        <p:nvSpPr>
          <p:cNvPr id="21" name="모서리가 둥근 직사각형 20">
            <a:extLst>
              <a:ext uri="{FF2B5EF4-FFF2-40B4-BE49-F238E27FC236}">
                <a16:creationId xmlns:a16="http://schemas.microsoft.com/office/drawing/2014/main" id="{CAE6A6AC-3B36-7C43-9210-8AB8566F748C}"/>
              </a:ext>
            </a:extLst>
          </p:cNvPr>
          <p:cNvSpPr/>
          <p:nvPr/>
        </p:nvSpPr>
        <p:spPr>
          <a:xfrm>
            <a:off x="6540500" y="1587763"/>
            <a:ext cx="4826000" cy="4589106"/>
          </a:xfrm>
          <a:prstGeom prst="roundRect">
            <a:avLst>
              <a:gd name="adj" fmla="val 580"/>
            </a:avLst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8240AA5-1FCC-9147-9FA5-F973059B3DCD}"/>
              </a:ext>
            </a:extLst>
          </p:cNvPr>
          <p:cNvSpPr txBox="1"/>
          <p:nvPr/>
        </p:nvSpPr>
        <p:spPr>
          <a:xfrm>
            <a:off x="6896100" y="1867163"/>
            <a:ext cx="4064000" cy="355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900" b="1">
                <a:solidFill>
                  <a:srgbClr val="FFFFFF"/>
                </a:solidFill>
                <a:latin typeface="Pretendard"/>
              </a:rPr>
              <a:t>Few-shot</a:t>
            </a:r>
            <a:endParaRPr lang="ko-KR" altLang="en-US" sz="1900" b="1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CC76702-0151-C947-BC8C-2CD8DC1D92A0}"/>
              </a:ext>
            </a:extLst>
          </p:cNvPr>
          <p:cNvSpPr txBox="1"/>
          <p:nvPr/>
        </p:nvSpPr>
        <p:spPr>
          <a:xfrm>
            <a:off x="6896100" y="2260863"/>
            <a:ext cx="4064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400">
                <a:solidFill>
                  <a:srgbClr val="E8A33D"/>
                </a:solidFill>
                <a:latin typeface="Pretendard"/>
              </a:rPr>
              <a:t>예시 한 줄로 톤을 학습시킨다</a:t>
            </a:r>
          </a:p>
        </p:txBody>
      </p:sp>
      <p:sp>
        <p:nvSpPr>
          <p:cNvPr id="24" name="모서리가 둥근 직사각형 23">
            <a:extLst>
              <a:ext uri="{FF2B5EF4-FFF2-40B4-BE49-F238E27FC236}">
                <a16:creationId xmlns:a16="http://schemas.microsoft.com/office/drawing/2014/main" id="{3C0242EA-007D-0F4C-A63C-45E1576CDD18}"/>
              </a:ext>
            </a:extLst>
          </p:cNvPr>
          <p:cNvSpPr/>
          <p:nvPr/>
        </p:nvSpPr>
        <p:spPr>
          <a:xfrm>
            <a:off x="6896100" y="2857763"/>
            <a:ext cx="3962400" cy="1219200"/>
          </a:xfrm>
          <a:prstGeom prst="roundRect">
            <a:avLst>
              <a:gd name="adj" fmla="val 2083"/>
            </a:avLst>
          </a:prstGeom>
          <a:solidFill>
            <a:srgbClr val="20314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BE25DF6-5E2E-9D4D-A15C-8AE52B4474FF}"/>
              </a:ext>
            </a:extLst>
          </p:cNvPr>
          <p:cNvSpPr txBox="1"/>
          <p:nvPr/>
        </p:nvSpPr>
        <p:spPr>
          <a:xfrm>
            <a:off x="7048500" y="2857763"/>
            <a:ext cx="3657600" cy="1219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700" b="1" i="1">
                <a:solidFill>
                  <a:srgbClr val="E8A33D"/>
                </a:solidFill>
                <a:latin typeface="Pretendard"/>
              </a:rPr>
              <a:t>“퇴근 후 한 캔</a:t>
            </a:r>
            <a:r>
              <a:rPr lang="en-US" altLang="ko-KR" sz="1700" b="1" i="1">
                <a:solidFill>
                  <a:srgbClr val="E8A33D"/>
                </a:solidFill>
                <a:latin typeface="Pretendard"/>
              </a:rPr>
              <a:t>, </a:t>
            </a:r>
            <a:r>
              <a:rPr lang="ko-KR" altLang="en-US" sz="1700" b="1" i="1">
                <a:solidFill>
                  <a:srgbClr val="E8A33D"/>
                </a:solidFill>
                <a:latin typeface="Pretendard"/>
              </a:rPr>
              <a:t>죄책감은 빼고”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45E1287-D8FB-714C-9CC0-34903CA1BCF8}"/>
              </a:ext>
            </a:extLst>
          </p:cNvPr>
          <p:cNvSpPr txBox="1"/>
          <p:nvPr/>
        </p:nvSpPr>
        <p:spPr>
          <a:xfrm>
            <a:off x="6896100" y="4254763"/>
            <a:ext cx="3962400" cy="889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400" dirty="0">
                <a:solidFill>
                  <a:srgbClr val="C9D3E2"/>
                </a:solidFill>
                <a:latin typeface="Pretendard"/>
              </a:rPr>
              <a:t>예시 한 줄만 줘도</a:t>
            </a:r>
            <a:r>
              <a:rPr lang="en-US" altLang="ko-KR" sz="1400" dirty="0">
                <a:solidFill>
                  <a:srgbClr val="C9D3E2"/>
                </a:solidFill>
                <a:latin typeface="Pretendard"/>
              </a:rPr>
              <a:t>, </a:t>
            </a:r>
          </a:p>
          <a:p>
            <a:pPr algn="l">
              <a:lnSpc>
                <a:spcPct val="150000"/>
              </a:lnSpc>
            </a:pPr>
            <a:r>
              <a:rPr lang="ko-KR" altLang="en-US" sz="1400" dirty="0">
                <a:solidFill>
                  <a:srgbClr val="C9D3E2"/>
                </a:solidFill>
                <a:latin typeface="Pretendard"/>
              </a:rPr>
              <a:t>이후 카피의 톤이 그 결을 그대로 따라온다</a:t>
            </a:r>
            <a:r>
              <a:rPr lang="en-US" altLang="ko-KR" sz="1400" dirty="0">
                <a:solidFill>
                  <a:srgbClr val="C9D3E2"/>
                </a:solidFill>
                <a:latin typeface="Pretendard"/>
              </a:rPr>
              <a:t>.</a:t>
            </a:r>
            <a:endParaRPr lang="ko-KR" altLang="en-US" sz="1400" dirty="0">
              <a:solidFill>
                <a:srgbClr val="C9D3E2"/>
              </a:solidFill>
              <a:latin typeface="Pretendard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983362E-2D03-544F-B2CC-FBA9FA2AEF93}"/>
              </a:ext>
            </a:extLst>
          </p:cNvPr>
          <p:cNvSpPr txBox="1"/>
          <p:nvPr/>
        </p:nvSpPr>
        <p:spPr>
          <a:xfrm>
            <a:off x="6896100" y="5423163"/>
            <a:ext cx="3175000" cy="304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400" b="1">
                <a:solidFill>
                  <a:srgbClr val="E8A33D"/>
                </a:solidFill>
                <a:latin typeface="JetBrains Mono"/>
              </a:rPr>
              <a:t>결과 톤 일관성 ↑</a:t>
            </a:r>
          </a:p>
        </p:txBody>
      </p:sp>
      <p:sp>
        <p:nvSpPr>
          <p:cNvPr id="4" name="PageNumber">
            <a:extLst>
              <a:ext uri="{FF2B5EF4-FFF2-40B4-BE49-F238E27FC236}">
                <a16:creationId xmlns:a16="http://schemas.microsoft.com/office/drawing/2014/main" id="{8BBFCE77-CFBB-FE4C-AAD1-C2EA22933691}"/>
              </a:ext>
            </a:extLst>
          </p:cNvPr>
          <p:cNvSpPr txBox="1"/>
          <p:nvPr/>
        </p:nvSpPr>
        <p:spPr>
          <a:xfrm>
            <a:off x="9499600" y="6489700"/>
            <a:ext cx="23368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r"/>
            <a:r>
              <a:rPr lang="en-US" altLang="ko-KR" sz="1200">
                <a:solidFill>
                  <a:srgbClr val="576176"/>
                </a:solidFill>
                <a:latin typeface="Pretendard"/>
              </a:rPr>
              <a:t>- 39/144 -</a:t>
            </a:r>
            <a:endParaRPr lang="ko-KR" altLang="en-US" sz="1200">
              <a:solidFill>
                <a:srgbClr val="576176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290640993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실습 절차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실습 절차 — 직접 해봅니다</a:t>
            </a: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965C5D74-4A17-A34C-AE55-8C497B0BAF29}"/>
              </a:ext>
            </a:extLst>
          </p:cNvPr>
          <p:cNvSpPr/>
          <p:nvPr/>
        </p:nvSpPr>
        <p:spPr>
          <a:xfrm>
            <a:off x="825500" y="1930400"/>
            <a:ext cx="10541000" cy="939800"/>
          </a:xfrm>
          <a:prstGeom prst="roundRect">
            <a:avLst>
              <a:gd name="adj" fmla="val 2703"/>
            </a:avLst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01FCD50-2B2E-1B43-9B45-2EA9BFC840AB}"/>
              </a:ext>
            </a:extLst>
          </p:cNvPr>
          <p:cNvSpPr/>
          <p:nvPr/>
        </p:nvSpPr>
        <p:spPr>
          <a:xfrm>
            <a:off x="825500" y="1930400"/>
            <a:ext cx="76200" cy="939800"/>
          </a:xfrm>
          <a:prstGeom prst="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2C111519-9996-5F44-A4BC-31CAB2C29A86}"/>
              </a:ext>
            </a:extLst>
          </p:cNvPr>
          <p:cNvSpPr/>
          <p:nvPr/>
        </p:nvSpPr>
        <p:spPr>
          <a:xfrm>
            <a:off x="1143000" y="2159000"/>
            <a:ext cx="482600" cy="482600"/>
          </a:xfrm>
          <a:prstGeom prst="ellipse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  <a:latin typeface="JetBrains Mono"/>
              </a:rPr>
              <a:t>1</a:t>
            </a:r>
            <a:endParaRPr lang="ko-KR" altLang="en-US" sz="16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FCB596-880C-6B46-B6E3-E83BFC741C6C}"/>
              </a:ext>
            </a:extLst>
          </p:cNvPr>
          <p:cNvSpPr txBox="1"/>
          <p:nvPr/>
        </p:nvSpPr>
        <p:spPr>
          <a:xfrm>
            <a:off x="1905000" y="2263449"/>
            <a:ext cx="2413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600" b="1">
                <a:solidFill>
                  <a:srgbClr val="14213D"/>
                </a:solidFill>
                <a:latin typeface="Pretendard"/>
              </a:rPr>
              <a:t>막연하게 </a:t>
            </a:r>
            <a:r>
              <a:rPr lang="en-US" altLang="ko-KR" sz="1600" b="1">
                <a:solidFill>
                  <a:srgbClr val="14213D"/>
                </a:solidFill>
                <a:latin typeface="Pretendard"/>
              </a:rPr>
              <a:t>1</a:t>
            </a:r>
            <a:r>
              <a:rPr lang="ko-KR" altLang="en-US" sz="1600" b="1">
                <a:solidFill>
                  <a:srgbClr val="14213D"/>
                </a:solidFill>
                <a:latin typeface="Pretendard"/>
              </a:rPr>
              <a:t>번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C96CAC-0C76-C34A-BB6B-D6AFC8C9F6D0}"/>
              </a:ext>
            </a:extLst>
          </p:cNvPr>
          <p:cNvSpPr txBox="1"/>
          <p:nvPr/>
        </p:nvSpPr>
        <p:spPr>
          <a:xfrm>
            <a:off x="4419600" y="2057400"/>
            <a:ext cx="6756400" cy="685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400">
                <a:solidFill>
                  <a:srgbClr val="576176"/>
                </a:solidFill>
                <a:latin typeface="Pretendard"/>
              </a:rPr>
              <a:t>먼저 “카피 써줘”처럼 막연한 프롬프트로 한 번 생성해 본다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.</a:t>
            </a:r>
            <a:endParaRPr lang="ko-KR" altLang="en-US" sz="1400">
              <a:solidFill>
                <a:srgbClr val="576176"/>
              </a:solidFill>
              <a:latin typeface="Pretendard"/>
            </a:endParaRP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BA7CEC8F-BF1A-4D43-A0F4-82B0849C47BB}"/>
              </a:ext>
            </a:extLst>
          </p:cNvPr>
          <p:cNvSpPr/>
          <p:nvPr/>
        </p:nvSpPr>
        <p:spPr>
          <a:xfrm>
            <a:off x="825500" y="2971800"/>
            <a:ext cx="10541000" cy="939800"/>
          </a:xfrm>
          <a:prstGeom prst="roundRect">
            <a:avLst>
              <a:gd name="adj" fmla="val 2703"/>
            </a:avLst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953EF51-900E-D343-B9F8-143E6C54DBCF}"/>
              </a:ext>
            </a:extLst>
          </p:cNvPr>
          <p:cNvSpPr/>
          <p:nvPr/>
        </p:nvSpPr>
        <p:spPr>
          <a:xfrm>
            <a:off x="825500" y="2971800"/>
            <a:ext cx="76200" cy="939800"/>
          </a:xfrm>
          <a:prstGeom prst="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B4A348A2-E1C0-9648-9913-DB14FC22C87E}"/>
              </a:ext>
            </a:extLst>
          </p:cNvPr>
          <p:cNvSpPr/>
          <p:nvPr/>
        </p:nvSpPr>
        <p:spPr>
          <a:xfrm>
            <a:off x="1143000" y="3200400"/>
            <a:ext cx="482600" cy="482600"/>
          </a:xfrm>
          <a:prstGeom prst="ellipse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  <a:latin typeface="JetBrains Mono"/>
              </a:rPr>
              <a:t>2</a:t>
            </a:r>
            <a:endParaRPr lang="ko-KR" altLang="en-US" sz="16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933297D-3B87-1F49-8FFE-FFC4999E5571}"/>
              </a:ext>
            </a:extLst>
          </p:cNvPr>
          <p:cNvSpPr txBox="1"/>
          <p:nvPr/>
        </p:nvSpPr>
        <p:spPr>
          <a:xfrm>
            <a:off x="1905000" y="3304849"/>
            <a:ext cx="2413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600" b="1">
                <a:solidFill>
                  <a:srgbClr val="14213D"/>
                </a:solidFill>
                <a:latin typeface="Pretendard"/>
              </a:rPr>
              <a:t>구조 넣어 재생성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044F74E-CA22-D04C-8695-81B39A4D5C15}"/>
              </a:ext>
            </a:extLst>
          </p:cNvPr>
          <p:cNvSpPr txBox="1"/>
          <p:nvPr/>
        </p:nvSpPr>
        <p:spPr>
          <a:xfrm>
            <a:off x="4419600" y="3098800"/>
            <a:ext cx="6756400" cy="685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altLang="ko-KR" sz="1400">
                <a:solidFill>
                  <a:srgbClr val="576176"/>
                </a:solidFill>
                <a:latin typeface="Pretendard"/>
              </a:rPr>
              <a:t>R-C-T-F + 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제약 조건 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+ 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예시 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1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개를 넣어 다시 생성한다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.</a:t>
            </a:r>
            <a:endParaRPr lang="ko-KR" altLang="en-US" sz="1400">
              <a:solidFill>
                <a:srgbClr val="576176"/>
              </a:solidFill>
              <a:latin typeface="Pretendard"/>
            </a:endParaRPr>
          </a:p>
        </p:txBody>
      </p:sp>
      <p:sp>
        <p:nvSpPr>
          <p:cNvPr id="15" name="모서리가 둥근 직사각형 14">
            <a:extLst>
              <a:ext uri="{FF2B5EF4-FFF2-40B4-BE49-F238E27FC236}">
                <a16:creationId xmlns:a16="http://schemas.microsoft.com/office/drawing/2014/main" id="{B2827204-0302-3F4E-BB83-C8644F09B873}"/>
              </a:ext>
            </a:extLst>
          </p:cNvPr>
          <p:cNvSpPr/>
          <p:nvPr/>
        </p:nvSpPr>
        <p:spPr>
          <a:xfrm>
            <a:off x="825500" y="4013200"/>
            <a:ext cx="10541000" cy="939800"/>
          </a:xfrm>
          <a:prstGeom prst="roundRect">
            <a:avLst>
              <a:gd name="adj" fmla="val 2703"/>
            </a:avLst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AFB2195-27FB-3846-B645-703F1D5830AC}"/>
              </a:ext>
            </a:extLst>
          </p:cNvPr>
          <p:cNvSpPr/>
          <p:nvPr/>
        </p:nvSpPr>
        <p:spPr>
          <a:xfrm>
            <a:off x="825500" y="4013200"/>
            <a:ext cx="76200" cy="939800"/>
          </a:xfrm>
          <a:prstGeom prst="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844AD126-C642-4B4A-8E56-6C1EDD7326A1}"/>
              </a:ext>
            </a:extLst>
          </p:cNvPr>
          <p:cNvSpPr/>
          <p:nvPr/>
        </p:nvSpPr>
        <p:spPr>
          <a:xfrm>
            <a:off x="1143000" y="4241800"/>
            <a:ext cx="482600" cy="482600"/>
          </a:xfrm>
          <a:prstGeom prst="ellipse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  <a:latin typeface="JetBrains Mono"/>
              </a:rPr>
              <a:t>3</a:t>
            </a:r>
            <a:endParaRPr lang="ko-KR" altLang="en-US" sz="16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4367406-AF8D-1E43-9B53-4046A61484BE}"/>
              </a:ext>
            </a:extLst>
          </p:cNvPr>
          <p:cNvSpPr txBox="1"/>
          <p:nvPr/>
        </p:nvSpPr>
        <p:spPr>
          <a:xfrm>
            <a:off x="1905000" y="4346249"/>
            <a:ext cx="2413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600" b="1">
                <a:solidFill>
                  <a:srgbClr val="14213D"/>
                </a:solidFill>
                <a:latin typeface="Pretendard"/>
              </a:rPr>
              <a:t>나란히 비교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4641EB6-97BE-D540-922F-AABDC63CCEFA}"/>
              </a:ext>
            </a:extLst>
          </p:cNvPr>
          <p:cNvSpPr txBox="1"/>
          <p:nvPr/>
        </p:nvSpPr>
        <p:spPr>
          <a:xfrm>
            <a:off x="4419600" y="4140200"/>
            <a:ext cx="6756400" cy="685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400">
                <a:solidFill>
                  <a:srgbClr val="576176"/>
                </a:solidFill>
                <a:latin typeface="Pretendard"/>
              </a:rPr>
              <a:t>두 결과를 나란히 놓고 톤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·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구체성의 차이를 기록한다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.</a:t>
            </a:r>
            <a:endParaRPr lang="ko-KR" altLang="en-US" sz="1400">
              <a:solidFill>
                <a:srgbClr val="576176"/>
              </a:solidFill>
              <a:latin typeface="Pretendard"/>
            </a:endParaRPr>
          </a:p>
        </p:txBody>
      </p:sp>
      <p:sp>
        <p:nvSpPr>
          <p:cNvPr id="20" name="모서리가 둥근 직사각형 19">
            <a:extLst>
              <a:ext uri="{FF2B5EF4-FFF2-40B4-BE49-F238E27FC236}">
                <a16:creationId xmlns:a16="http://schemas.microsoft.com/office/drawing/2014/main" id="{2D37F606-9342-E443-B008-1992C070D855}"/>
              </a:ext>
            </a:extLst>
          </p:cNvPr>
          <p:cNvSpPr/>
          <p:nvPr/>
        </p:nvSpPr>
        <p:spPr>
          <a:xfrm>
            <a:off x="825500" y="5054600"/>
            <a:ext cx="10541000" cy="939800"/>
          </a:xfrm>
          <a:prstGeom prst="roundRect">
            <a:avLst>
              <a:gd name="adj" fmla="val 2703"/>
            </a:avLst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BB65AC88-6A9E-AD40-B16B-AE7D2EA6CEE1}"/>
              </a:ext>
            </a:extLst>
          </p:cNvPr>
          <p:cNvSpPr/>
          <p:nvPr/>
        </p:nvSpPr>
        <p:spPr>
          <a:xfrm>
            <a:off x="825500" y="5054600"/>
            <a:ext cx="76200" cy="939800"/>
          </a:xfrm>
          <a:prstGeom prst="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EF49BFF5-96BC-544D-936D-70F4166C3FFD}"/>
              </a:ext>
            </a:extLst>
          </p:cNvPr>
          <p:cNvSpPr/>
          <p:nvPr/>
        </p:nvSpPr>
        <p:spPr>
          <a:xfrm>
            <a:off x="1143000" y="5283200"/>
            <a:ext cx="482600" cy="482600"/>
          </a:xfrm>
          <a:prstGeom prst="ellipse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  <a:latin typeface="JetBrains Mono"/>
              </a:rPr>
              <a:t>4</a:t>
            </a:r>
            <a:endParaRPr lang="ko-KR" altLang="en-US" sz="16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0017E20-17D7-AB4A-82FC-6B60E4789762}"/>
              </a:ext>
            </a:extLst>
          </p:cNvPr>
          <p:cNvSpPr txBox="1"/>
          <p:nvPr/>
        </p:nvSpPr>
        <p:spPr>
          <a:xfrm>
            <a:off x="1905000" y="5387649"/>
            <a:ext cx="2413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600" b="1">
                <a:solidFill>
                  <a:srgbClr val="14213D"/>
                </a:solidFill>
                <a:latin typeface="Pretendard"/>
              </a:rPr>
              <a:t>템플릿으로 저장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5D60F04-A4CD-4E42-A2E5-4FBA86872434}"/>
              </a:ext>
            </a:extLst>
          </p:cNvPr>
          <p:cNvSpPr txBox="1"/>
          <p:nvPr/>
        </p:nvSpPr>
        <p:spPr>
          <a:xfrm>
            <a:off x="4419600" y="5181600"/>
            <a:ext cx="6756400" cy="685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400">
                <a:solidFill>
                  <a:srgbClr val="576176"/>
                </a:solidFill>
                <a:latin typeface="Pretendard"/>
              </a:rPr>
              <a:t>잘 나온 프롬프트를 ‘내 템플릿’으로 저장해 재사용한다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.</a:t>
            </a:r>
            <a:endParaRPr lang="ko-KR" altLang="en-US" sz="1400">
              <a:solidFill>
                <a:srgbClr val="576176"/>
              </a:solidFill>
              <a:latin typeface="Pretendard"/>
            </a:endParaRPr>
          </a:p>
        </p:txBody>
      </p:sp>
      <p:sp>
        <p:nvSpPr>
          <p:cNvPr id="4" name="PageNumber">
            <a:extLst>
              <a:ext uri="{FF2B5EF4-FFF2-40B4-BE49-F238E27FC236}">
                <a16:creationId xmlns:a16="http://schemas.microsoft.com/office/drawing/2014/main" id="{1A037DCF-83A8-944A-916C-07886420E992}"/>
              </a:ext>
            </a:extLst>
          </p:cNvPr>
          <p:cNvSpPr txBox="1"/>
          <p:nvPr/>
        </p:nvSpPr>
        <p:spPr>
          <a:xfrm>
            <a:off x="9499600" y="6489700"/>
            <a:ext cx="23368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r"/>
            <a:r>
              <a:rPr lang="en-US" altLang="ko-KR" sz="1200">
                <a:solidFill>
                  <a:srgbClr val="576176"/>
                </a:solidFill>
                <a:latin typeface="Pretendard"/>
              </a:rPr>
              <a:t>- 40/144 -</a:t>
            </a:r>
            <a:endParaRPr lang="ko-KR" altLang="en-US" sz="1200">
              <a:solidFill>
                <a:srgbClr val="576176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109499970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실습 프롬프트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R-C-T-F 프롬프트 골격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874519"/>
            <a:ext cx="10332720" cy="4434840"/>
          </a:xfrm>
          <a:prstGeom prst="rect">
            <a:avLst/>
          </a:prstGeom>
          <a:solidFill>
            <a:srgbClr val="10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11480" tIns="502920" rIns="365760" bIns="320040" rtlCol="0" anchor="t"/>
          <a:lstStyle/>
          <a:p>
            <a:pPr algn="l">
              <a:lnSpc>
                <a:spcPct val="2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[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역할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]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너는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15년차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카피라이터야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.</a:t>
            </a:r>
          </a:p>
          <a:p>
            <a:pPr algn="l">
              <a:lnSpc>
                <a:spcPct val="2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[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맥락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]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타깃은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30대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직장인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톤은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위트있지만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과하지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않게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.</a:t>
            </a:r>
          </a:p>
          <a:p>
            <a:pPr algn="l">
              <a:lnSpc>
                <a:spcPct val="2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[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작업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]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아래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제품의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인스타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헤드라인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5개를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써줘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.</a:t>
            </a:r>
          </a:p>
          <a:p>
            <a:pPr algn="l">
              <a:lnSpc>
                <a:spcPct val="2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[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형식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]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각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줄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25자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이내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끝에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어울리는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이모지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금지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텍스트만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).</a:t>
            </a:r>
          </a:p>
          <a:p>
            <a:pPr algn="l">
              <a:lnSpc>
                <a:spcPct val="2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[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예시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] "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퇴근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후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한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캔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죄책감은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빼고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"</a:t>
            </a:r>
          </a:p>
          <a:p>
            <a:pPr algn="l">
              <a:lnSpc>
                <a:spcPct val="2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제품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: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무알콜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수제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맥주</a:t>
            </a:r>
            <a:endParaRPr sz="1600" dirty="0">
              <a:solidFill>
                <a:srgbClr val="E8EEFA"/>
              </a:solidFill>
              <a:latin typeface="JetBrains Mono"/>
              <a:ea typeface="JetBrains Mono"/>
              <a:cs typeface="JetBrains Mono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143000" y="2103120"/>
            <a:ext cx="109728" cy="10972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9699FC12-5AAF-F464-71AE-EDB96ECF7238}"/>
              </a:ext>
            </a:extLst>
          </p:cNvPr>
          <p:cNvGrpSpPr/>
          <p:nvPr/>
        </p:nvGrpSpPr>
        <p:grpSpPr>
          <a:xfrm>
            <a:off x="8399107" y="3846905"/>
            <a:ext cx="2493450" cy="2285159"/>
            <a:chOff x="17449800" y="7213600"/>
            <a:chExt cx="6146800" cy="5486400"/>
          </a:xfrm>
        </p:grpSpPr>
        <p:pic>
          <p:nvPicPr>
            <p:cNvPr id="7" name="Picture 9">
              <a:extLst>
                <a:ext uri="{FF2B5EF4-FFF2-40B4-BE49-F238E27FC236}">
                  <a16:creationId xmlns:a16="http://schemas.microsoft.com/office/drawing/2014/main" id="{1642A7AB-A42B-B014-9389-A938091AC9B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653000" y="8851900"/>
              <a:ext cx="1739900" cy="774700"/>
            </a:xfrm>
            <a:prstGeom prst="rect">
              <a:avLst/>
            </a:prstGeom>
          </p:spPr>
        </p:pic>
        <p:sp>
          <p:nvSpPr>
            <p:cNvPr id="8" name="TextBox 10">
              <a:extLst>
                <a:ext uri="{FF2B5EF4-FFF2-40B4-BE49-F238E27FC236}">
                  <a16:creationId xmlns:a16="http://schemas.microsoft.com/office/drawing/2014/main" id="{B69FE877-FA0B-F1E3-0318-74B063629658}"/>
                </a:ext>
              </a:extLst>
            </p:cNvPr>
            <p:cNvSpPr txBox="1"/>
            <p:nvPr/>
          </p:nvSpPr>
          <p:spPr>
            <a:xfrm>
              <a:off x="17449800" y="8991600"/>
              <a:ext cx="1930400" cy="571500"/>
            </a:xfrm>
            <a:prstGeom prst="rect">
              <a:avLst/>
            </a:prstGeom>
          </p:spPr>
          <p:txBody>
            <a:bodyPr lIns="0" tIns="40640" rIns="0" bIns="4064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b="0" i="0" u="none" strike="noStrike" spc="-100" dirty="0">
                  <a:solidFill>
                    <a:srgbClr val="000000"/>
                  </a:solidFill>
                  <a:latin typeface="SB AggroOTF Bold"/>
                  <a:ea typeface="SB AggroOTF Bold"/>
                  <a:cs typeface="SB AggroOTF Bold"/>
                </a:rPr>
                <a:t>oh!</a:t>
              </a:r>
            </a:p>
          </p:txBody>
        </p:sp>
        <p:pic>
          <p:nvPicPr>
            <p:cNvPr id="9" name="Picture 27">
              <a:extLst>
                <a:ext uri="{FF2B5EF4-FFF2-40B4-BE49-F238E27FC236}">
                  <a16:creationId xmlns:a16="http://schemas.microsoft.com/office/drawing/2014/main" id="{13D1AD9C-10AB-62D2-DCD1-F9B80536785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834100" y="7213600"/>
              <a:ext cx="4762500" cy="5486400"/>
            </a:xfrm>
            <a:prstGeom prst="rect">
              <a:avLst/>
            </a:prstGeom>
          </p:spPr>
        </p:pic>
      </p:grpSp>
      <p:sp>
        <p:nvSpPr>
          <p:cNvPr id="10" name="PageNumber">
            <a:extLst>
              <a:ext uri="{FF2B5EF4-FFF2-40B4-BE49-F238E27FC236}">
                <a16:creationId xmlns:a16="http://schemas.microsoft.com/office/drawing/2014/main" id="{33C0424B-8898-CE4B-A6B2-72F39BF942F2}"/>
              </a:ext>
            </a:extLst>
          </p:cNvPr>
          <p:cNvSpPr txBox="1"/>
          <p:nvPr/>
        </p:nvSpPr>
        <p:spPr>
          <a:xfrm>
            <a:off x="9499600" y="6489700"/>
            <a:ext cx="23368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r"/>
            <a:r>
              <a:rPr lang="en-US" altLang="ko-KR" sz="1200">
                <a:solidFill>
                  <a:srgbClr val="576176"/>
                </a:solidFill>
                <a:latin typeface="Pretendard"/>
              </a:rPr>
              <a:t>- 41/144 -</a:t>
            </a:r>
            <a:endParaRPr lang="ko-KR" altLang="en-US" sz="1200">
              <a:solidFill>
                <a:srgbClr val="576176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387154739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실제 입력 → 출력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실제 예시 — R-C-T-F로 나온 헤드라인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783080"/>
            <a:ext cx="10332720" cy="1874519"/>
          </a:xfrm>
          <a:prstGeom prst="rect">
            <a:avLst/>
          </a:prstGeom>
          <a:solidFill>
            <a:srgbClr val="10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502920" rIns="320040" rtlCol="0" anchor="t"/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100"/>
              </a:spcAft>
            </a:pP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[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역할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] 15년차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카피라이터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[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맥락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] 30대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직장인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위트있지만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과하지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않게</a:t>
            </a:r>
            <a:endParaRPr sz="1600" dirty="0">
              <a:solidFill>
                <a:srgbClr val="E8EEFA"/>
              </a:solidFill>
              <a:latin typeface="JetBrains Mono"/>
              <a:ea typeface="JetBrains Mono"/>
              <a:cs typeface="JetBrains Mono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100"/>
              </a:spcAft>
            </a:pP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[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작업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]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인스타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헤드라인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5개 [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형식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]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각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25자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이내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이모지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금지</a:t>
            </a:r>
            <a:endParaRPr sz="1600" dirty="0">
              <a:solidFill>
                <a:srgbClr val="E8EEFA"/>
              </a:solidFill>
              <a:latin typeface="JetBrains Mono"/>
              <a:ea typeface="JetBrains Mono"/>
              <a:cs typeface="JetBrains Mono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100"/>
              </a:spcAft>
            </a:pP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[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예시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] "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퇴근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후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한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캔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죄책감은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빼고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" 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제품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: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무알콜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수제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맥주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Night Off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783080"/>
            <a:ext cx="2011680" cy="329184"/>
          </a:xfrm>
          <a:prstGeom prst="rect">
            <a:avLst/>
          </a:prstGeom>
          <a:solidFill>
            <a:srgbClr val="243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 sz="2400"/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2743200" cy="2700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400"/>
              </a:spcAft>
            </a:pPr>
            <a:r>
              <a:rPr sz="1600" b="0">
                <a:solidFill>
                  <a:srgbClr val="E8A33D"/>
                </a:solidFill>
                <a:latin typeface="JetBrains Mono"/>
                <a:ea typeface="JetBrains Mono"/>
                <a:cs typeface="JetBrains Mono"/>
              </a:rPr>
              <a:t>▸ 입력 프롬프트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794760"/>
            <a:ext cx="10332720" cy="2514600"/>
          </a:xfrm>
          <a:prstGeom prst="rect">
            <a:avLst/>
          </a:prstGeom>
          <a:solidFill>
            <a:srgbClr val="FBFCFE"/>
          </a:solidFill>
          <a:ln w="12700">
            <a:solidFill>
              <a:srgbClr val="E9EC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502920" rIns="320040" rtlCol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60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1. 퇴근길 무게, 한 캔에 내려놓다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60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2. 오늘 밤은 즐기고, 내일은 멀쩡하게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60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3. 알코올 0.0, 분위기 100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60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4. 죄책감 빼고, 맥주 맛만 더하고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60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5. 한 잔의 여유, 숙취 없는 자유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794760"/>
            <a:ext cx="1828800" cy="329184"/>
          </a:xfrm>
          <a:prstGeom prst="rect">
            <a:avLst/>
          </a:prstGeom>
          <a:solidFill>
            <a:srgbClr val="DCE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 sz="2400"/>
          </a:p>
        </p:txBody>
      </p:sp>
      <p:sp>
        <p:nvSpPr>
          <p:cNvPr id="9" name="TextBox 8"/>
          <p:cNvSpPr txBox="1"/>
          <p:nvPr/>
        </p:nvSpPr>
        <p:spPr>
          <a:xfrm>
            <a:off x="1097280" y="3840480"/>
            <a:ext cx="2743200" cy="2700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400"/>
              </a:spcAft>
            </a:pPr>
            <a:r>
              <a:rPr sz="16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▸ 나온 결과(예)</a:t>
            </a:r>
          </a:p>
        </p:txBody>
      </p:sp>
      <p:sp>
        <p:nvSpPr>
          <p:cNvPr id="10" name="PageNumber">
            <a:extLst>
              <a:ext uri="{FF2B5EF4-FFF2-40B4-BE49-F238E27FC236}">
                <a16:creationId xmlns:a16="http://schemas.microsoft.com/office/drawing/2014/main" id="{F9EE610D-AC00-454B-BB70-60385A6F7662}"/>
              </a:ext>
            </a:extLst>
          </p:cNvPr>
          <p:cNvSpPr txBox="1"/>
          <p:nvPr/>
        </p:nvSpPr>
        <p:spPr>
          <a:xfrm>
            <a:off x="9499600" y="6489700"/>
            <a:ext cx="23368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r"/>
            <a:r>
              <a:rPr lang="en-US" altLang="ko-KR" sz="1200">
                <a:solidFill>
                  <a:srgbClr val="576176"/>
                </a:solidFill>
                <a:latin typeface="Pretendard"/>
              </a:rPr>
              <a:t>- 42/144 -</a:t>
            </a:r>
            <a:endParaRPr lang="ko-KR" altLang="en-US" sz="1200">
              <a:solidFill>
                <a:srgbClr val="576176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108741950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좋은예 VS 나쁜예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비교 — 같은 요청, 프롬프트 차이가 결과를 가른다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920240"/>
            <a:ext cx="5029200" cy="4114800"/>
          </a:xfrm>
          <a:prstGeom prst="rect">
            <a:avLst/>
          </a:prstGeom>
          <a:solidFill>
            <a:srgbClr val="F7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20040" rIns="320040" rtlCol="0" anchor="t"/>
          <a:lstStyle/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1000"/>
              </a:spcAft>
            </a:pPr>
            <a:r>
              <a:rPr b="1">
                <a:solidFill>
                  <a:srgbClr val="A63333"/>
                </a:solidFill>
                <a:latin typeface="Noto Serif KR"/>
                <a:ea typeface="Noto Serif KR"/>
                <a:cs typeface="Noto Serif KR"/>
              </a:rPr>
              <a:t>🚫 막연한 프롬프트</a:t>
            </a:r>
          </a:p>
          <a:p>
            <a:pPr algn="l">
              <a:lnSpc>
                <a:spcPct val="130000"/>
              </a:lnSpc>
              <a:spcBef>
                <a:spcPts val="400"/>
              </a:spcBef>
              <a:spcAft>
                <a:spcPts val="400"/>
              </a:spcAft>
            </a:pPr>
            <a:r>
              <a:rPr sz="1600" b="1">
                <a:solidFill>
                  <a:srgbClr val="A63333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sz="16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입력: "무알콜 맥주 카피 써줘"</a:t>
            </a:r>
          </a:p>
          <a:p>
            <a:pPr algn="l">
              <a:lnSpc>
                <a:spcPct val="130000"/>
              </a:lnSpc>
              <a:spcBef>
                <a:spcPts val="400"/>
              </a:spcBef>
              <a:spcAft>
                <a:spcPts val="400"/>
              </a:spcAft>
            </a:pPr>
            <a:r>
              <a:rPr sz="1600" b="1">
                <a:solidFill>
                  <a:srgbClr val="A63333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sz="16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출력(예): "건강한 선택, 무알콜 맥주!"</a:t>
            </a:r>
          </a:p>
          <a:p>
            <a:pPr algn="l">
              <a:lnSpc>
                <a:spcPct val="130000"/>
              </a:lnSpc>
              <a:spcBef>
                <a:spcPts val="400"/>
              </a:spcBef>
              <a:spcAft>
                <a:spcPts val="400"/>
              </a:spcAft>
            </a:pPr>
            <a:r>
              <a:rPr sz="1600" b="1">
                <a:solidFill>
                  <a:srgbClr val="A63333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sz="16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→ 누구에게? 톤은? 길이는? 매번 다르게 나옴</a:t>
            </a:r>
          </a:p>
        </p:txBody>
      </p:sp>
      <p:sp>
        <p:nvSpPr>
          <p:cNvPr id="5" name="Rectangle 4"/>
          <p:cNvSpPr/>
          <p:nvPr/>
        </p:nvSpPr>
        <p:spPr>
          <a:xfrm>
            <a:off x="6245352" y="1920240"/>
            <a:ext cx="5029200" cy="4114800"/>
          </a:xfrm>
          <a:prstGeom prst="rect">
            <a:avLst/>
          </a:prstGeom>
          <a:solidFill>
            <a:srgbClr val="E7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20040" rIns="320040" rtlCol="0" anchor="t"/>
          <a:lstStyle/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1000"/>
              </a:spcAft>
            </a:pPr>
            <a:r>
              <a:rPr b="1" dirty="0">
                <a:solidFill>
                  <a:srgbClr val="2C6B44"/>
                </a:solidFill>
                <a:latin typeface="Noto Serif KR"/>
                <a:ea typeface="Noto Serif KR"/>
                <a:cs typeface="Noto Serif KR"/>
              </a:rPr>
              <a:t>✅ R-C-T-F + </a:t>
            </a:r>
            <a:r>
              <a:rPr b="1" dirty="0" err="1">
                <a:solidFill>
                  <a:srgbClr val="2C6B44"/>
                </a:solidFill>
                <a:latin typeface="Noto Serif KR"/>
                <a:ea typeface="Noto Serif KR"/>
                <a:cs typeface="Noto Serif KR"/>
              </a:rPr>
              <a:t>예시</a:t>
            </a:r>
            <a:endParaRPr b="1" dirty="0">
              <a:solidFill>
                <a:srgbClr val="2C6B44"/>
              </a:solidFill>
              <a:latin typeface="Noto Serif KR"/>
              <a:ea typeface="Noto Serif KR"/>
              <a:cs typeface="Noto Serif KR"/>
            </a:endParaRPr>
          </a:p>
          <a:p>
            <a:pPr algn="l">
              <a:lnSpc>
                <a:spcPct val="130000"/>
              </a:lnSpc>
              <a:spcBef>
                <a:spcPts val="400"/>
              </a:spcBef>
              <a:spcAft>
                <a:spcPts val="400"/>
              </a:spcAft>
            </a:pPr>
            <a:r>
              <a:rPr sz="1600" b="1" dirty="0">
                <a:solidFill>
                  <a:srgbClr val="2C6B44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sz="1600" b="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입력</a:t>
            </a:r>
            <a:r>
              <a:rPr sz="1600" b="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: </a:t>
            </a:r>
            <a:r>
              <a:rPr sz="1600" b="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역할·맥락·작업·형식·예시</a:t>
            </a:r>
            <a:r>
              <a:rPr sz="1600" b="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모두</a:t>
            </a:r>
            <a:r>
              <a:rPr sz="1600" b="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명시</a:t>
            </a:r>
            <a:endParaRPr sz="1600" b="0" dirty="0">
              <a:solidFill>
                <a:srgbClr val="14213D"/>
              </a:solidFill>
              <a:latin typeface="Pretendard"/>
              <a:ea typeface="Pretendard"/>
              <a:cs typeface="Pretendard"/>
            </a:endParaRPr>
          </a:p>
          <a:p>
            <a:pPr algn="l">
              <a:lnSpc>
                <a:spcPct val="130000"/>
              </a:lnSpc>
              <a:spcBef>
                <a:spcPts val="400"/>
              </a:spcBef>
              <a:spcAft>
                <a:spcPts val="400"/>
              </a:spcAft>
            </a:pPr>
            <a:r>
              <a:rPr sz="1600" b="1" dirty="0">
                <a:solidFill>
                  <a:srgbClr val="2C6B44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sz="1600" b="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출력</a:t>
            </a:r>
            <a:r>
              <a:rPr sz="1600" b="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(</a:t>
            </a:r>
            <a:r>
              <a:rPr sz="1600" b="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예</a:t>
            </a:r>
            <a:r>
              <a:rPr sz="1600" b="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)</a:t>
            </a:r>
            <a:br>
              <a:rPr lang="en-US" sz="1600" b="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</a:br>
            <a:r>
              <a:rPr lang="ko-KR" altLang="en-US" sz="1600" b="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  </a:t>
            </a:r>
            <a:r>
              <a:rPr sz="1600" b="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: "</a:t>
            </a:r>
            <a:r>
              <a:rPr sz="1600" b="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퇴근길</a:t>
            </a:r>
            <a:r>
              <a:rPr sz="1600" b="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무게</a:t>
            </a:r>
            <a:r>
              <a:rPr sz="1600" b="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sz="1600" b="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한</a:t>
            </a:r>
            <a:r>
              <a:rPr sz="1600" b="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캔에</a:t>
            </a:r>
            <a:r>
              <a:rPr sz="1600" b="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내려놓다</a:t>
            </a:r>
            <a:r>
              <a:rPr sz="1600" b="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"(23자) </a:t>
            </a:r>
            <a:r>
              <a:rPr sz="1600" b="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외</a:t>
            </a:r>
            <a:r>
              <a:rPr sz="1600" b="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 4개</a:t>
            </a:r>
          </a:p>
          <a:p>
            <a:pPr algn="l">
              <a:lnSpc>
                <a:spcPct val="130000"/>
              </a:lnSpc>
              <a:spcBef>
                <a:spcPts val="400"/>
              </a:spcBef>
              <a:spcAft>
                <a:spcPts val="400"/>
              </a:spcAft>
            </a:pPr>
            <a:r>
              <a:rPr sz="1600" b="1" dirty="0">
                <a:solidFill>
                  <a:srgbClr val="2C6B44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sz="1600" b="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→ </a:t>
            </a:r>
            <a:r>
              <a:rPr sz="1600" b="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톤·길이·개수가</a:t>
            </a:r>
            <a:r>
              <a:rPr sz="1600" b="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의도대로</a:t>
            </a:r>
            <a:r>
              <a:rPr sz="1600" b="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sz="1600" b="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재작업</a:t>
            </a:r>
            <a:r>
              <a:rPr sz="1600" b="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 ↓</a:t>
            </a:r>
          </a:p>
        </p:txBody>
      </p:sp>
      <p:pic>
        <p:nvPicPr>
          <p:cNvPr id="6" name="Picture 16">
            <a:extLst>
              <a:ext uri="{FF2B5EF4-FFF2-40B4-BE49-F238E27FC236}">
                <a16:creationId xmlns:a16="http://schemas.microsoft.com/office/drawing/2014/main" id="{97584711-8273-CF99-5C8D-2FC12C95964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9647853" y="4402260"/>
            <a:ext cx="1421425" cy="1408846"/>
          </a:xfrm>
          <a:prstGeom prst="rect">
            <a:avLst/>
          </a:prstGeom>
        </p:spPr>
      </p:pic>
      <p:sp>
        <p:nvSpPr>
          <p:cNvPr id="7" name="PageNumber">
            <a:extLst>
              <a:ext uri="{FF2B5EF4-FFF2-40B4-BE49-F238E27FC236}">
                <a16:creationId xmlns:a16="http://schemas.microsoft.com/office/drawing/2014/main" id="{EB72E81E-E4DF-1A43-B35A-3B41392BF86C}"/>
              </a:ext>
            </a:extLst>
          </p:cNvPr>
          <p:cNvSpPr txBox="1"/>
          <p:nvPr/>
        </p:nvSpPr>
        <p:spPr>
          <a:xfrm>
            <a:off x="9499600" y="6489700"/>
            <a:ext cx="23368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r"/>
            <a:r>
              <a:rPr lang="en-US" altLang="ko-KR" sz="1200">
                <a:solidFill>
                  <a:srgbClr val="576176"/>
                </a:solidFill>
                <a:latin typeface="Pretendard"/>
              </a:rPr>
              <a:t>- 43/144 -</a:t>
            </a:r>
            <a:endParaRPr lang="ko-KR" altLang="en-US" sz="1200">
              <a:solidFill>
                <a:srgbClr val="576176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216666593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정리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결과 품질을 높이는 프롬프트 작성 원리와 실습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920240"/>
            <a:ext cx="10332720" cy="1636776"/>
          </a:xfrm>
          <a:prstGeom prst="rect">
            <a:avLst/>
          </a:prstGeom>
          <a:solidFill>
            <a:srgbClr val="FB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228600" rIns="365760" bIns="182880" rtlCol="0" anchor="t"/>
          <a:lstStyle/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600"/>
              </a:spcAft>
            </a:pPr>
            <a:r>
              <a:rPr sz="1500" b="1">
                <a:solidFill>
                  <a:srgbClr val="B57A1A"/>
                </a:solidFill>
                <a:latin typeface="JetBrains Mono"/>
                <a:ea typeface="JetBrains Mono"/>
                <a:cs typeface="JetBrains Mono"/>
              </a:rPr>
              <a:t>⚠  흔한 실수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1">
                <a:solidFill>
                  <a:srgbClr val="E8A33D"/>
                </a:solidFill>
                <a:latin typeface="Pretendard"/>
                <a:ea typeface="Pretendard"/>
                <a:cs typeface="Pretendard"/>
              </a:rPr>
              <a:t>·  </a:t>
            </a:r>
            <a:r>
              <a:rPr sz="14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형식(글자 수·금지어)을 안 주면 매번 길이·톤이 달라져 재작업이 는다.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1">
                <a:solidFill>
                  <a:srgbClr val="E8A33D"/>
                </a:solidFill>
                <a:latin typeface="Pretendard"/>
                <a:ea typeface="Pretendard"/>
                <a:cs typeface="Pretendard"/>
              </a:rPr>
              <a:t>·  </a:t>
            </a:r>
            <a:r>
              <a:rPr sz="14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예시를 안 주면 톤이 들쭉날쭉 → few-shot 1개만 넣어도 안정된다.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739896"/>
            <a:ext cx="10332720" cy="1005840"/>
          </a:xfrm>
          <a:prstGeom prst="rect">
            <a:avLst/>
          </a:prstGeom>
          <a:solidFill>
            <a:srgbClr val="DCE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201168" rIns="365760" bIns="182880" rtlCol="0" anchor="t"/>
          <a:lstStyle/>
          <a:p>
            <a:pPr algn="l">
              <a:lnSpc>
                <a:spcPct val="125000"/>
              </a:lnSpc>
              <a:spcBef>
                <a:spcPts val="600"/>
              </a:spcBef>
              <a:spcAft>
                <a:spcPts val="400"/>
              </a:spcAft>
            </a:pPr>
            <a:r>
              <a:rPr sz="1500" b="1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📦  결과물   </a:t>
            </a:r>
            <a:r>
              <a:rPr sz="1600" b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나만의 카피 프롬프트 템플릿 1개(R-C-T-F + 예시 슬롯).</a:t>
            </a:r>
          </a:p>
        </p:txBody>
      </p:sp>
      <p:sp>
        <p:nvSpPr>
          <p:cNvPr id="6" name="PageNumber">
            <a:extLst>
              <a:ext uri="{FF2B5EF4-FFF2-40B4-BE49-F238E27FC236}">
                <a16:creationId xmlns:a16="http://schemas.microsoft.com/office/drawing/2014/main" id="{95843EC5-8AC3-DE47-9333-48B77B6E8142}"/>
              </a:ext>
            </a:extLst>
          </p:cNvPr>
          <p:cNvSpPr txBox="1"/>
          <p:nvPr/>
        </p:nvSpPr>
        <p:spPr>
          <a:xfrm>
            <a:off x="9499600" y="6489700"/>
            <a:ext cx="23368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r"/>
            <a:r>
              <a:rPr lang="en-US" altLang="ko-KR" sz="1200">
                <a:solidFill>
                  <a:srgbClr val="576176"/>
                </a:solidFill>
                <a:latin typeface="Pretendard"/>
              </a:rPr>
              <a:t>- 44/144 -</a:t>
            </a:r>
            <a:endParaRPr lang="ko-KR" altLang="en-US" sz="1200">
              <a:solidFill>
                <a:srgbClr val="576176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97886577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도구 가이드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이 모듈에서 쓰는 도구</a:t>
            </a: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4DA0A97E-ED37-B745-8EB7-AA095F1358EC}"/>
              </a:ext>
            </a:extLst>
          </p:cNvPr>
          <p:cNvSpPr/>
          <p:nvPr/>
        </p:nvSpPr>
        <p:spPr>
          <a:xfrm>
            <a:off x="825500" y="1905000"/>
            <a:ext cx="5080000" cy="4381500"/>
          </a:xfrm>
          <a:prstGeom prst="roundRect">
            <a:avLst>
              <a:gd name="adj" fmla="val 580"/>
            </a:avLst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93437854-2AE2-1D4E-A5CF-BBA1044E10F8}"/>
              </a:ext>
            </a:extLst>
          </p:cNvPr>
          <p:cNvSpPr/>
          <p:nvPr/>
        </p:nvSpPr>
        <p:spPr>
          <a:xfrm>
            <a:off x="1130300" y="2209800"/>
            <a:ext cx="4470400" cy="736600"/>
          </a:xfrm>
          <a:prstGeom prst="roundRect">
            <a:avLst>
              <a:gd name="adj" fmla="val 3448"/>
            </a:avLst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3869AD-32CC-BE48-9DDE-3E595993EEAD}"/>
              </a:ext>
            </a:extLst>
          </p:cNvPr>
          <p:cNvSpPr txBox="1"/>
          <p:nvPr/>
        </p:nvSpPr>
        <p:spPr>
          <a:xfrm>
            <a:off x="1130300" y="2209800"/>
            <a:ext cx="4470400" cy="736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n-US" altLang="ko-KR" sz="2300" b="1">
                <a:solidFill>
                  <a:srgbClr val="FFFFFF"/>
                </a:solidFill>
                <a:latin typeface="Pretendard"/>
              </a:rPr>
              <a:t>ChatGPT</a:t>
            </a:r>
            <a:endParaRPr lang="ko-KR" altLang="en-US" sz="2300" b="1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2D8837-D2DC-344A-ACED-C774E42B3F17}"/>
              </a:ext>
            </a:extLst>
          </p:cNvPr>
          <p:cNvSpPr txBox="1"/>
          <p:nvPr/>
        </p:nvSpPr>
        <p:spPr>
          <a:xfrm>
            <a:off x="1181100" y="3200400"/>
            <a:ext cx="43688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400" b="1">
                <a:solidFill>
                  <a:srgbClr val="576176"/>
                </a:solidFill>
                <a:latin typeface="JetBrains Mono"/>
              </a:rPr>
              <a:t>STRENGTH · </a:t>
            </a:r>
            <a:r>
              <a:rPr lang="ko-KR" altLang="en-US" sz="1400" b="1">
                <a:solidFill>
                  <a:srgbClr val="576176"/>
                </a:solidFill>
                <a:latin typeface="JetBrains Mono"/>
              </a:rPr>
              <a:t>강점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09B449-983C-9743-8A6B-29FF3FC0DAC9}"/>
              </a:ext>
            </a:extLst>
          </p:cNvPr>
          <p:cNvSpPr txBox="1"/>
          <p:nvPr/>
        </p:nvSpPr>
        <p:spPr>
          <a:xfrm>
            <a:off x="1181100" y="3530600"/>
            <a:ext cx="4368800" cy="1397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500" dirty="0">
                <a:solidFill>
                  <a:srgbClr val="2A3B57"/>
                </a:solidFill>
                <a:latin typeface="Pretendard"/>
              </a:rPr>
              <a:t>아이디어 발산과 변형이 빠르다</a:t>
            </a:r>
            <a:r>
              <a:rPr lang="en-US" altLang="ko-KR" sz="1500" dirty="0">
                <a:solidFill>
                  <a:srgbClr val="2A3B57"/>
                </a:solidFill>
                <a:latin typeface="Pretendard"/>
              </a:rPr>
              <a:t>. ‘</a:t>
            </a:r>
          </a:p>
          <a:p>
            <a:pPr algn="l">
              <a:lnSpc>
                <a:spcPct val="150000"/>
              </a:lnSpc>
            </a:pPr>
            <a:endParaRPr lang="en-US" altLang="ko-KR" sz="1500" dirty="0">
              <a:solidFill>
                <a:srgbClr val="2A3B57"/>
              </a:solidFill>
              <a:latin typeface="Pretendard"/>
            </a:endParaRPr>
          </a:p>
          <a:p>
            <a:pPr algn="l">
              <a:lnSpc>
                <a:spcPct val="150000"/>
              </a:lnSpc>
            </a:pPr>
            <a:r>
              <a:rPr lang="en-US" altLang="ko-KR" sz="1500" dirty="0">
                <a:solidFill>
                  <a:srgbClr val="2A3B57"/>
                </a:solidFill>
                <a:latin typeface="Pretendard"/>
              </a:rPr>
              <a:t>10</a:t>
            </a:r>
            <a:r>
              <a:rPr lang="ko-KR" altLang="en-US" sz="1500" dirty="0">
                <a:solidFill>
                  <a:srgbClr val="2A3B57"/>
                </a:solidFill>
                <a:latin typeface="Pretendard"/>
              </a:rPr>
              <a:t>개 더’</a:t>
            </a:r>
            <a:r>
              <a:rPr lang="en-US" altLang="ko-KR" sz="1500" dirty="0">
                <a:solidFill>
                  <a:srgbClr val="2A3B57"/>
                </a:solidFill>
                <a:latin typeface="Pretendard"/>
              </a:rPr>
              <a:t>, ‘</a:t>
            </a:r>
            <a:r>
              <a:rPr lang="ko-KR" altLang="en-US" sz="1500" dirty="0">
                <a:solidFill>
                  <a:srgbClr val="2A3B57"/>
                </a:solidFill>
                <a:latin typeface="Pretendard"/>
              </a:rPr>
              <a:t>더 </a:t>
            </a:r>
            <a:r>
              <a:rPr lang="ko-KR" altLang="en-US" sz="1500" dirty="0" err="1">
                <a:solidFill>
                  <a:srgbClr val="2A3B57"/>
                </a:solidFill>
                <a:latin typeface="Pretendard"/>
              </a:rPr>
              <a:t>짧게’처럼</a:t>
            </a:r>
            <a:r>
              <a:rPr lang="ko-KR" altLang="en-US" sz="1500" dirty="0">
                <a:solidFill>
                  <a:srgbClr val="2A3B57"/>
                </a:solidFill>
                <a:latin typeface="Pretendard"/>
              </a:rPr>
              <a:t> </a:t>
            </a:r>
            <a:endParaRPr lang="en-US" altLang="ko-KR" sz="1500" dirty="0">
              <a:solidFill>
                <a:srgbClr val="2A3B57"/>
              </a:solidFill>
              <a:latin typeface="Pretendard"/>
            </a:endParaRPr>
          </a:p>
          <a:p>
            <a:pPr algn="l">
              <a:lnSpc>
                <a:spcPct val="150000"/>
              </a:lnSpc>
            </a:pPr>
            <a:r>
              <a:rPr lang="ko-KR" altLang="en-US" sz="1500" dirty="0">
                <a:solidFill>
                  <a:srgbClr val="2A3B57"/>
                </a:solidFill>
                <a:latin typeface="Pretendard"/>
              </a:rPr>
              <a:t>반복 지시로 후보를 좁혀간다</a:t>
            </a:r>
            <a:r>
              <a:rPr lang="en-US" altLang="ko-KR" sz="1500" dirty="0">
                <a:solidFill>
                  <a:srgbClr val="2A3B57"/>
                </a:solidFill>
                <a:latin typeface="Pretendard"/>
              </a:rPr>
              <a:t>.</a:t>
            </a:r>
            <a:endParaRPr lang="ko-KR" altLang="en-US" sz="1500" dirty="0">
              <a:solidFill>
                <a:srgbClr val="2A3B57"/>
              </a:solidFill>
              <a:latin typeface="Pretendard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08D6DC2-94E6-4641-82AF-B880ABC6C008}"/>
              </a:ext>
            </a:extLst>
          </p:cNvPr>
          <p:cNvSpPr txBox="1"/>
          <p:nvPr/>
        </p:nvSpPr>
        <p:spPr>
          <a:xfrm>
            <a:off x="1181100" y="5054600"/>
            <a:ext cx="43688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400" b="1">
                <a:solidFill>
                  <a:srgbClr val="14213D"/>
                </a:solidFill>
                <a:latin typeface="JetBrains Mono"/>
              </a:rPr>
              <a:t>이렇게 쓰세요</a:t>
            </a: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0AD110B3-A5E5-A341-9599-447E31E12608}"/>
              </a:ext>
            </a:extLst>
          </p:cNvPr>
          <p:cNvSpPr/>
          <p:nvPr/>
        </p:nvSpPr>
        <p:spPr>
          <a:xfrm>
            <a:off x="1181100" y="5334000"/>
            <a:ext cx="4368800" cy="685800"/>
          </a:xfrm>
          <a:prstGeom prst="roundRect">
            <a:avLst>
              <a:gd name="adj" fmla="val 3704"/>
            </a:avLst>
          </a:prstGeom>
          <a:solidFill>
            <a:srgbClr val="E7ECF4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E061F5D-D02C-2748-9C92-7CED6CFECBE3}"/>
              </a:ext>
            </a:extLst>
          </p:cNvPr>
          <p:cNvSpPr txBox="1"/>
          <p:nvPr/>
        </p:nvSpPr>
        <p:spPr>
          <a:xfrm>
            <a:off x="1181100" y="5334000"/>
            <a:ext cx="4368800" cy="685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ko-KR" altLang="en-US" sz="1450" b="1">
                <a:solidFill>
                  <a:srgbClr val="14213D"/>
                </a:solidFill>
                <a:latin typeface="Pretendard"/>
              </a:rPr>
              <a:t>브레인스토밍 </a:t>
            </a:r>
            <a:r>
              <a:rPr lang="en-US" altLang="ko-KR" sz="1450" b="1">
                <a:solidFill>
                  <a:srgbClr val="14213D"/>
                </a:solidFill>
                <a:latin typeface="Pretendard"/>
              </a:rPr>
              <a:t>· </a:t>
            </a:r>
            <a:r>
              <a:rPr lang="ko-KR" altLang="en-US" sz="1450" b="1">
                <a:solidFill>
                  <a:srgbClr val="14213D"/>
                </a:solidFill>
                <a:latin typeface="Pretendard"/>
              </a:rPr>
              <a:t>대량 변형</a:t>
            </a: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3766B420-893F-0D46-8F73-8444C1ED8739}"/>
              </a:ext>
            </a:extLst>
          </p:cNvPr>
          <p:cNvSpPr/>
          <p:nvPr/>
        </p:nvSpPr>
        <p:spPr>
          <a:xfrm>
            <a:off x="6286500" y="1905000"/>
            <a:ext cx="5080000" cy="4381500"/>
          </a:xfrm>
          <a:prstGeom prst="roundRect">
            <a:avLst>
              <a:gd name="adj" fmla="val 580"/>
            </a:avLst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4" name="모서리가 둥근 직사각형 13">
            <a:extLst>
              <a:ext uri="{FF2B5EF4-FFF2-40B4-BE49-F238E27FC236}">
                <a16:creationId xmlns:a16="http://schemas.microsoft.com/office/drawing/2014/main" id="{7CBFA8CA-9CD2-8A41-BD05-4095F82CBC26}"/>
              </a:ext>
            </a:extLst>
          </p:cNvPr>
          <p:cNvSpPr/>
          <p:nvPr/>
        </p:nvSpPr>
        <p:spPr>
          <a:xfrm>
            <a:off x="6591300" y="2209800"/>
            <a:ext cx="4470400" cy="736600"/>
          </a:xfrm>
          <a:prstGeom prst="roundRect">
            <a:avLst>
              <a:gd name="adj" fmla="val 3448"/>
            </a:avLst>
          </a:prstGeom>
          <a:solidFill>
            <a:srgbClr val="1D4E89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A65D001-1EF5-D640-BE8D-B45E36827E56}"/>
              </a:ext>
            </a:extLst>
          </p:cNvPr>
          <p:cNvSpPr txBox="1"/>
          <p:nvPr/>
        </p:nvSpPr>
        <p:spPr>
          <a:xfrm>
            <a:off x="6591300" y="2209800"/>
            <a:ext cx="4470400" cy="736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n-US" altLang="ko-KR" sz="2300" b="1">
                <a:solidFill>
                  <a:srgbClr val="FFFFFF"/>
                </a:solidFill>
                <a:latin typeface="Pretendard"/>
              </a:rPr>
              <a:t>Claude</a:t>
            </a:r>
            <a:endParaRPr lang="ko-KR" altLang="en-US" sz="2300" b="1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81633F2-9120-264A-A363-346B63B13862}"/>
              </a:ext>
            </a:extLst>
          </p:cNvPr>
          <p:cNvSpPr txBox="1"/>
          <p:nvPr/>
        </p:nvSpPr>
        <p:spPr>
          <a:xfrm>
            <a:off x="6642100" y="3200400"/>
            <a:ext cx="43688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400" b="1">
                <a:solidFill>
                  <a:srgbClr val="576176"/>
                </a:solidFill>
                <a:latin typeface="JetBrains Mono"/>
              </a:rPr>
              <a:t>STRENGTH · </a:t>
            </a:r>
            <a:r>
              <a:rPr lang="ko-KR" altLang="en-US" sz="1400" b="1">
                <a:solidFill>
                  <a:srgbClr val="576176"/>
                </a:solidFill>
                <a:latin typeface="JetBrains Mono"/>
              </a:rPr>
              <a:t>강점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6086536-7E5D-8C4A-BF65-DCEAD0DA6440}"/>
              </a:ext>
            </a:extLst>
          </p:cNvPr>
          <p:cNvSpPr txBox="1"/>
          <p:nvPr/>
        </p:nvSpPr>
        <p:spPr>
          <a:xfrm>
            <a:off x="6642100" y="3530600"/>
            <a:ext cx="4368800" cy="1397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500" dirty="0">
                <a:solidFill>
                  <a:srgbClr val="2A3B57"/>
                </a:solidFill>
                <a:latin typeface="Pretendard"/>
              </a:rPr>
              <a:t>긴 맥락을 잘 유지하고 톤이 일관적이다</a:t>
            </a:r>
            <a:r>
              <a:rPr lang="en-US" altLang="ko-KR" sz="1500" dirty="0">
                <a:solidFill>
                  <a:srgbClr val="2A3B57"/>
                </a:solidFill>
                <a:latin typeface="Pretendard"/>
              </a:rPr>
              <a:t>. </a:t>
            </a:r>
          </a:p>
          <a:p>
            <a:pPr algn="l">
              <a:lnSpc>
                <a:spcPct val="150000"/>
              </a:lnSpc>
            </a:pPr>
            <a:endParaRPr lang="en-US" altLang="ko-KR" sz="1500" dirty="0">
              <a:solidFill>
                <a:srgbClr val="2A3B57"/>
              </a:solidFill>
              <a:latin typeface="Pretendard"/>
            </a:endParaRPr>
          </a:p>
          <a:p>
            <a:pPr algn="l">
              <a:lnSpc>
                <a:spcPct val="150000"/>
              </a:lnSpc>
            </a:pPr>
            <a:r>
              <a:rPr lang="ko-KR" altLang="en-US" sz="1500" dirty="0">
                <a:solidFill>
                  <a:srgbClr val="2A3B57"/>
                </a:solidFill>
                <a:latin typeface="Pretendard"/>
              </a:rPr>
              <a:t>메시지 하우스처럼 구조를 지키는 </a:t>
            </a:r>
            <a:endParaRPr lang="en-US" altLang="ko-KR" sz="1500" dirty="0">
              <a:solidFill>
                <a:srgbClr val="2A3B57"/>
              </a:solidFill>
              <a:latin typeface="Pretendard"/>
            </a:endParaRPr>
          </a:p>
          <a:p>
            <a:pPr algn="l">
              <a:lnSpc>
                <a:spcPct val="150000"/>
              </a:lnSpc>
            </a:pPr>
            <a:r>
              <a:rPr lang="ko-KR" altLang="en-US" sz="1500" dirty="0">
                <a:solidFill>
                  <a:srgbClr val="2A3B57"/>
                </a:solidFill>
                <a:latin typeface="Pretendard"/>
              </a:rPr>
              <a:t>작업에 유리하다</a:t>
            </a:r>
            <a:r>
              <a:rPr lang="en-US" altLang="ko-KR" sz="1500" dirty="0">
                <a:solidFill>
                  <a:srgbClr val="2A3B57"/>
                </a:solidFill>
                <a:latin typeface="Pretendard"/>
              </a:rPr>
              <a:t>.</a:t>
            </a:r>
            <a:endParaRPr lang="ko-KR" altLang="en-US" sz="1500" dirty="0">
              <a:solidFill>
                <a:srgbClr val="2A3B57"/>
              </a:solidFill>
              <a:latin typeface="Pretendard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BCF940C-B4FA-5145-A49A-3A1A8B770630}"/>
              </a:ext>
            </a:extLst>
          </p:cNvPr>
          <p:cNvSpPr txBox="1"/>
          <p:nvPr/>
        </p:nvSpPr>
        <p:spPr>
          <a:xfrm>
            <a:off x="6642100" y="5054600"/>
            <a:ext cx="43688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400" b="1">
                <a:solidFill>
                  <a:srgbClr val="1D4E89"/>
                </a:solidFill>
                <a:latin typeface="JetBrains Mono"/>
              </a:rPr>
              <a:t>이렇게 쓰세요</a:t>
            </a: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54EE7D80-004A-7946-B4AE-7CDA7981A665}"/>
              </a:ext>
            </a:extLst>
          </p:cNvPr>
          <p:cNvSpPr/>
          <p:nvPr/>
        </p:nvSpPr>
        <p:spPr>
          <a:xfrm>
            <a:off x="6642100" y="5334000"/>
            <a:ext cx="4368800" cy="685800"/>
          </a:xfrm>
          <a:prstGeom prst="roundRect">
            <a:avLst>
              <a:gd name="adj" fmla="val 3704"/>
            </a:avLst>
          </a:prstGeom>
          <a:solidFill>
            <a:srgbClr val="E4ECF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16370C1-12F6-4F4D-8737-34D80DD71183}"/>
              </a:ext>
            </a:extLst>
          </p:cNvPr>
          <p:cNvSpPr txBox="1"/>
          <p:nvPr/>
        </p:nvSpPr>
        <p:spPr>
          <a:xfrm>
            <a:off x="6642100" y="5334000"/>
            <a:ext cx="4368800" cy="685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ko-KR" altLang="en-US" sz="1450" b="1">
                <a:solidFill>
                  <a:srgbClr val="1D4E89"/>
                </a:solidFill>
                <a:latin typeface="Pretendard"/>
              </a:rPr>
              <a:t>긴 문서 </a:t>
            </a:r>
            <a:r>
              <a:rPr lang="en-US" altLang="ko-KR" sz="1450" b="1">
                <a:solidFill>
                  <a:srgbClr val="1D4E89"/>
                </a:solidFill>
                <a:latin typeface="Pretendard"/>
              </a:rPr>
              <a:t>· </a:t>
            </a:r>
            <a:r>
              <a:rPr lang="ko-KR" altLang="en-US" sz="1450" b="1">
                <a:solidFill>
                  <a:srgbClr val="1D4E89"/>
                </a:solidFill>
                <a:latin typeface="Pretendard"/>
              </a:rPr>
              <a:t>톤 일관성 작업</a:t>
            </a:r>
          </a:p>
        </p:txBody>
      </p:sp>
      <p:sp>
        <p:nvSpPr>
          <p:cNvPr id="4" name="PageNumber">
            <a:extLst>
              <a:ext uri="{FF2B5EF4-FFF2-40B4-BE49-F238E27FC236}">
                <a16:creationId xmlns:a16="http://schemas.microsoft.com/office/drawing/2014/main" id="{4733105A-94BE-8048-BF02-F68677234C7C}"/>
              </a:ext>
            </a:extLst>
          </p:cNvPr>
          <p:cNvSpPr txBox="1"/>
          <p:nvPr/>
        </p:nvSpPr>
        <p:spPr>
          <a:xfrm>
            <a:off x="9499600" y="6489700"/>
            <a:ext cx="23368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r"/>
            <a:r>
              <a:rPr lang="en-US" altLang="ko-KR" sz="1200">
                <a:solidFill>
                  <a:srgbClr val="576176"/>
                </a:solidFill>
                <a:latin typeface="Pretendard"/>
              </a:rPr>
              <a:t>- 45/144 -</a:t>
            </a:r>
            <a:endParaRPr lang="ko-KR" altLang="en-US" sz="1200">
              <a:solidFill>
                <a:srgbClr val="576176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87998864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CHECKLIST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모듈 체크리스트</a:t>
            </a: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42493D61-81B8-0445-93B8-BA0EBD6B96A2}"/>
              </a:ext>
            </a:extLst>
          </p:cNvPr>
          <p:cNvSpPr/>
          <p:nvPr/>
        </p:nvSpPr>
        <p:spPr>
          <a:xfrm>
            <a:off x="825500" y="2006600"/>
            <a:ext cx="10541000" cy="1219200"/>
          </a:xfrm>
          <a:prstGeom prst="roundRect">
            <a:avLst>
              <a:gd name="adj" fmla="val 2083"/>
            </a:avLst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9405E114-D535-CA4A-87C1-E757FBCE5AE4}"/>
              </a:ext>
            </a:extLst>
          </p:cNvPr>
          <p:cNvSpPr/>
          <p:nvPr/>
        </p:nvSpPr>
        <p:spPr>
          <a:xfrm>
            <a:off x="825500" y="2006600"/>
            <a:ext cx="76200" cy="1219200"/>
          </a:xfrm>
          <a:prstGeom prst="roundRect">
            <a:avLst>
              <a:gd name="adj" fmla="val 33333"/>
            </a:avLst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F4F56B71-FB4E-994A-9CCD-17E1B11664EB}"/>
              </a:ext>
            </a:extLst>
          </p:cNvPr>
          <p:cNvSpPr/>
          <p:nvPr/>
        </p:nvSpPr>
        <p:spPr>
          <a:xfrm>
            <a:off x="1270000" y="2362200"/>
            <a:ext cx="508000" cy="508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2225" cap="flat" cmpd="sng" algn="ctr">
            <a:solidFill>
              <a:srgbClr val="14213D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2200" b="1">
                <a:solidFill>
                  <a:srgbClr val="E8A33D"/>
                </a:solidFill>
              </a:rPr>
              <a:t>✓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411C35-721E-8E42-9072-506D7CFC6B27}"/>
              </a:ext>
            </a:extLst>
          </p:cNvPr>
          <p:cNvSpPr txBox="1"/>
          <p:nvPr/>
        </p:nvSpPr>
        <p:spPr>
          <a:xfrm>
            <a:off x="2082800" y="2286000"/>
            <a:ext cx="8890000" cy="355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b="1">
                <a:solidFill>
                  <a:srgbClr val="14213D"/>
                </a:solidFill>
                <a:latin typeface="Pretendard"/>
              </a:rPr>
              <a:t>타깃 페르소나 </a:t>
            </a:r>
            <a:r>
              <a:rPr lang="en-US" altLang="ko-KR" b="1">
                <a:solidFill>
                  <a:srgbClr val="14213D"/>
                </a:solidFill>
                <a:latin typeface="Pretendard"/>
              </a:rPr>
              <a:t>· </a:t>
            </a:r>
            <a:r>
              <a:rPr lang="ko-KR" altLang="en-US" b="1">
                <a:solidFill>
                  <a:srgbClr val="14213D"/>
                </a:solidFill>
                <a:latin typeface="Pretendard"/>
              </a:rPr>
              <a:t>메시지 하우스 완성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B2513E-2BDF-9C48-A2C4-158E35ABD4DF}"/>
              </a:ext>
            </a:extLst>
          </p:cNvPr>
          <p:cNvSpPr txBox="1"/>
          <p:nvPr/>
        </p:nvSpPr>
        <p:spPr>
          <a:xfrm>
            <a:off x="2082800" y="2667000"/>
            <a:ext cx="8890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400">
                <a:solidFill>
                  <a:srgbClr val="576176"/>
                </a:solidFill>
                <a:latin typeface="Pretendard"/>
              </a:rPr>
              <a:t>한 인물로 구체화 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+ 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지붕 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1 · 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기둥 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3</a:t>
            </a:r>
            <a:endParaRPr lang="ko-KR" altLang="en-US" sz="1400">
              <a:solidFill>
                <a:srgbClr val="576176"/>
              </a:solidFill>
              <a:latin typeface="Pretendard"/>
            </a:endParaRP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ED34A7DA-9BA4-224E-A2D8-F8C554DB1894}"/>
              </a:ext>
            </a:extLst>
          </p:cNvPr>
          <p:cNvSpPr/>
          <p:nvPr/>
        </p:nvSpPr>
        <p:spPr>
          <a:xfrm>
            <a:off x="825500" y="3403600"/>
            <a:ext cx="10541000" cy="1219200"/>
          </a:xfrm>
          <a:prstGeom prst="roundRect">
            <a:avLst>
              <a:gd name="adj" fmla="val 2083"/>
            </a:avLst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7623B597-C45D-AD4C-8912-DE43B835F621}"/>
              </a:ext>
            </a:extLst>
          </p:cNvPr>
          <p:cNvSpPr/>
          <p:nvPr/>
        </p:nvSpPr>
        <p:spPr>
          <a:xfrm>
            <a:off x="825500" y="3403600"/>
            <a:ext cx="76200" cy="1219200"/>
          </a:xfrm>
          <a:prstGeom prst="roundRect">
            <a:avLst>
              <a:gd name="adj" fmla="val 33333"/>
            </a:avLst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13E3F79A-F09B-1146-8C1E-2C015C4F6CEB}"/>
              </a:ext>
            </a:extLst>
          </p:cNvPr>
          <p:cNvSpPr/>
          <p:nvPr/>
        </p:nvSpPr>
        <p:spPr>
          <a:xfrm>
            <a:off x="1270000" y="3759200"/>
            <a:ext cx="508000" cy="508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2225" cap="flat" cmpd="sng" algn="ctr">
            <a:solidFill>
              <a:srgbClr val="14213D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2200" b="1">
                <a:solidFill>
                  <a:srgbClr val="E8A33D"/>
                </a:solidFill>
              </a:rPr>
              <a:t>✓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9F6C416-F4CA-2941-AED0-960FD2EC3134}"/>
              </a:ext>
            </a:extLst>
          </p:cNvPr>
          <p:cNvSpPr txBox="1"/>
          <p:nvPr/>
        </p:nvSpPr>
        <p:spPr>
          <a:xfrm>
            <a:off x="2082800" y="3683000"/>
            <a:ext cx="8890000" cy="355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b="1">
                <a:solidFill>
                  <a:srgbClr val="14213D"/>
                </a:solidFill>
                <a:latin typeface="Pretendard"/>
              </a:rPr>
              <a:t>R-C-T-F </a:t>
            </a:r>
            <a:r>
              <a:rPr lang="ko-KR" altLang="en-US" b="1">
                <a:solidFill>
                  <a:srgbClr val="14213D"/>
                </a:solidFill>
                <a:latin typeface="Pretendard"/>
              </a:rPr>
              <a:t>구조로 프롬프트 작성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0DB575D-DB69-F64B-BB1D-8F006C87C067}"/>
              </a:ext>
            </a:extLst>
          </p:cNvPr>
          <p:cNvSpPr txBox="1"/>
          <p:nvPr/>
        </p:nvSpPr>
        <p:spPr>
          <a:xfrm>
            <a:off x="2082800" y="4064000"/>
            <a:ext cx="8890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400">
                <a:solidFill>
                  <a:srgbClr val="576176"/>
                </a:solidFill>
                <a:latin typeface="Pretendard"/>
              </a:rPr>
              <a:t>역할 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· 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맥락 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· 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작업 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· 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형식 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+ 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예시 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1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개</a:t>
            </a:r>
          </a:p>
        </p:txBody>
      </p:sp>
      <p:sp>
        <p:nvSpPr>
          <p:cNvPr id="15" name="모서리가 둥근 직사각형 14">
            <a:extLst>
              <a:ext uri="{FF2B5EF4-FFF2-40B4-BE49-F238E27FC236}">
                <a16:creationId xmlns:a16="http://schemas.microsoft.com/office/drawing/2014/main" id="{74D262BF-F002-DD42-8C11-C9353147C2A1}"/>
              </a:ext>
            </a:extLst>
          </p:cNvPr>
          <p:cNvSpPr/>
          <p:nvPr/>
        </p:nvSpPr>
        <p:spPr>
          <a:xfrm>
            <a:off x="825500" y="4800600"/>
            <a:ext cx="10541000" cy="1219200"/>
          </a:xfrm>
          <a:prstGeom prst="roundRect">
            <a:avLst>
              <a:gd name="adj" fmla="val 2083"/>
            </a:avLst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6" name="모서리가 둥근 직사각형 15">
            <a:extLst>
              <a:ext uri="{FF2B5EF4-FFF2-40B4-BE49-F238E27FC236}">
                <a16:creationId xmlns:a16="http://schemas.microsoft.com/office/drawing/2014/main" id="{07C9D5FD-3DFE-3D4D-B955-6F81E37F6610}"/>
              </a:ext>
            </a:extLst>
          </p:cNvPr>
          <p:cNvSpPr/>
          <p:nvPr/>
        </p:nvSpPr>
        <p:spPr>
          <a:xfrm>
            <a:off x="825500" y="4800600"/>
            <a:ext cx="76200" cy="1219200"/>
          </a:xfrm>
          <a:prstGeom prst="roundRect">
            <a:avLst>
              <a:gd name="adj" fmla="val 33333"/>
            </a:avLst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7" name="모서리가 둥근 직사각형 16">
            <a:extLst>
              <a:ext uri="{FF2B5EF4-FFF2-40B4-BE49-F238E27FC236}">
                <a16:creationId xmlns:a16="http://schemas.microsoft.com/office/drawing/2014/main" id="{CEB40E86-25DB-494C-ACB4-0185C0D9CFDE}"/>
              </a:ext>
            </a:extLst>
          </p:cNvPr>
          <p:cNvSpPr/>
          <p:nvPr/>
        </p:nvSpPr>
        <p:spPr>
          <a:xfrm>
            <a:off x="1270000" y="5156200"/>
            <a:ext cx="508000" cy="508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2225" cap="flat" cmpd="sng" algn="ctr">
            <a:solidFill>
              <a:srgbClr val="14213D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2200" b="1">
                <a:solidFill>
                  <a:srgbClr val="E8A33D"/>
                </a:solidFill>
              </a:rPr>
              <a:t>✓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F44BA06-2091-494D-A21D-3B630DCF8A13}"/>
              </a:ext>
            </a:extLst>
          </p:cNvPr>
          <p:cNvSpPr txBox="1"/>
          <p:nvPr/>
        </p:nvSpPr>
        <p:spPr>
          <a:xfrm>
            <a:off x="2082800" y="5080000"/>
            <a:ext cx="8890000" cy="355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b="1">
                <a:solidFill>
                  <a:srgbClr val="14213D"/>
                </a:solidFill>
                <a:latin typeface="Pretendard"/>
              </a:rPr>
              <a:t>재사용 프롬프트 템플릿 저장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0C240CF-C9FD-CA4C-8A05-542A11B5653A}"/>
              </a:ext>
            </a:extLst>
          </p:cNvPr>
          <p:cNvSpPr txBox="1"/>
          <p:nvPr/>
        </p:nvSpPr>
        <p:spPr>
          <a:xfrm>
            <a:off x="2082800" y="5461000"/>
            <a:ext cx="8890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400">
                <a:solidFill>
                  <a:srgbClr val="576176"/>
                </a:solidFill>
                <a:latin typeface="Pretendard"/>
              </a:rPr>
              <a:t>잘 나온 프롬프트를 ‘내 템플릿’으로 보관</a:t>
            </a:r>
          </a:p>
        </p:txBody>
      </p:sp>
      <p:sp>
        <p:nvSpPr>
          <p:cNvPr id="4" name="PageNumber">
            <a:extLst>
              <a:ext uri="{FF2B5EF4-FFF2-40B4-BE49-F238E27FC236}">
                <a16:creationId xmlns:a16="http://schemas.microsoft.com/office/drawing/2014/main" id="{FF75C31E-5F5D-EC48-BCD3-415D30550A0E}"/>
              </a:ext>
            </a:extLst>
          </p:cNvPr>
          <p:cNvSpPr txBox="1"/>
          <p:nvPr/>
        </p:nvSpPr>
        <p:spPr>
          <a:xfrm>
            <a:off x="9499600" y="6489700"/>
            <a:ext cx="23368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r"/>
            <a:r>
              <a:rPr lang="en-US" altLang="ko-KR" sz="1200">
                <a:solidFill>
                  <a:srgbClr val="576176"/>
                </a:solidFill>
                <a:latin typeface="Pretendard"/>
              </a:rPr>
              <a:t>- 46/144 -</a:t>
            </a:r>
            <a:endParaRPr lang="ko-KR" altLang="en-US" sz="1200">
              <a:solidFill>
                <a:srgbClr val="576176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162305676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539484BA-22FE-7748-A83C-9C0062D91DD1}"/>
              </a:ext>
            </a:extLst>
          </p:cNvPr>
          <p:cNvSpPr/>
          <p:nvPr/>
        </p:nvSpPr>
        <p:spPr>
          <a:xfrm>
            <a:off x="825500" y="1905000"/>
            <a:ext cx="10541000" cy="3175000"/>
          </a:xfrm>
          <a:prstGeom prst="roundRect">
            <a:avLst>
              <a:gd name="adj" fmla="val 800"/>
            </a:avLst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39690883-043A-764B-BCF1-3C5266F87B45}"/>
              </a:ext>
            </a:extLst>
          </p:cNvPr>
          <p:cNvSpPr/>
          <p:nvPr/>
        </p:nvSpPr>
        <p:spPr>
          <a:xfrm>
            <a:off x="825500" y="1905000"/>
            <a:ext cx="101600" cy="3175000"/>
          </a:xfrm>
          <a:prstGeom prst="roundRect">
            <a:avLst>
              <a:gd name="adj" fmla="val 25000"/>
            </a:avLst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DB9300-4206-7B43-81F7-E45A81F659CD}"/>
              </a:ext>
            </a:extLst>
          </p:cNvPr>
          <p:cNvSpPr txBox="1"/>
          <p:nvPr/>
        </p:nvSpPr>
        <p:spPr>
          <a:xfrm>
            <a:off x="1333500" y="2286000"/>
            <a:ext cx="8890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500" b="1">
                <a:solidFill>
                  <a:srgbClr val="E8A33D"/>
                </a:solidFill>
                <a:latin typeface="JetBrains Mono"/>
              </a:rPr>
              <a:t>MISSION 02 · </a:t>
            </a:r>
            <a:r>
              <a:rPr lang="ko-KR" altLang="en-US" sz="1500" b="1">
                <a:solidFill>
                  <a:srgbClr val="E8A33D"/>
                </a:solidFill>
                <a:latin typeface="JetBrains Mono"/>
              </a:rPr>
              <a:t>도장깨기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07DE77-A082-8741-BDDA-67184D6440B3}"/>
              </a:ext>
            </a:extLst>
          </p:cNvPr>
          <p:cNvSpPr txBox="1"/>
          <p:nvPr/>
        </p:nvSpPr>
        <p:spPr>
          <a:xfrm>
            <a:off x="1333500" y="2641600"/>
            <a:ext cx="8890000" cy="584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3000" b="1">
                <a:solidFill>
                  <a:srgbClr val="FFFFFF"/>
                </a:solidFill>
                <a:latin typeface="Noto Serif KR"/>
              </a:rPr>
              <a:t>홍보 메시지 정의</a:t>
            </a: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5125D7D7-A6C9-394F-A270-8652BDEF5DCD}"/>
              </a:ext>
            </a:extLst>
          </p:cNvPr>
          <p:cNvSpPr/>
          <p:nvPr/>
        </p:nvSpPr>
        <p:spPr>
          <a:xfrm>
            <a:off x="1333500" y="3454400"/>
            <a:ext cx="9525000" cy="1320800"/>
          </a:xfrm>
          <a:prstGeom prst="roundRect">
            <a:avLst>
              <a:gd name="adj" fmla="val 1923"/>
            </a:avLst>
          </a:prstGeom>
          <a:solidFill>
            <a:srgbClr val="20314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812A33F-9032-B74A-AEFE-89B2F64554EF}"/>
              </a:ext>
            </a:extLst>
          </p:cNvPr>
          <p:cNvSpPr txBox="1"/>
          <p:nvPr/>
        </p:nvSpPr>
        <p:spPr>
          <a:xfrm>
            <a:off x="1587500" y="3657600"/>
            <a:ext cx="9017000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b="1">
                <a:solidFill>
                  <a:srgbClr val="FFFFFF"/>
                </a:solidFill>
                <a:latin typeface="Pretendard"/>
              </a:rPr>
              <a:t>“누구에게 </a:t>
            </a:r>
            <a:r>
              <a:rPr lang="en-US" altLang="ko-KR" b="1">
                <a:solidFill>
                  <a:srgbClr val="FFFFFF"/>
                </a:solidFill>
                <a:latin typeface="Pretendard"/>
              </a:rPr>
              <a:t>· </a:t>
            </a:r>
            <a:r>
              <a:rPr lang="ko-KR" altLang="en-US" b="1">
                <a:solidFill>
                  <a:srgbClr val="FFFFFF"/>
                </a:solidFill>
                <a:latin typeface="Pretendard"/>
              </a:rPr>
              <a:t>무엇을 </a:t>
            </a:r>
            <a:r>
              <a:rPr lang="en-US" altLang="ko-KR" b="1">
                <a:solidFill>
                  <a:srgbClr val="FFFFFF"/>
                </a:solidFill>
                <a:latin typeface="Pretendard"/>
              </a:rPr>
              <a:t>· </a:t>
            </a:r>
            <a:r>
              <a:rPr lang="ko-KR" altLang="en-US" b="1">
                <a:solidFill>
                  <a:srgbClr val="FFFFFF"/>
                </a:solidFill>
                <a:latin typeface="Pretendard"/>
              </a:rPr>
              <a:t>왜”를 한 줄로 정의한다</a:t>
            </a:r>
            <a:r>
              <a:rPr lang="en-US" altLang="ko-KR" b="1">
                <a:solidFill>
                  <a:srgbClr val="FFFFFF"/>
                </a:solidFill>
                <a:latin typeface="Pretendard"/>
              </a:rPr>
              <a:t>.</a:t>
            </a:r>
            <a:endParaRPr lang="ko-KR" altLang="en-US" b="1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D59A01-FA61-5043-93AF-4669ACF64AB3}"/>
              </a:ext>
            </a:extLst>
          </p:cNvPr>
          <p:cNvSpPr txBox="1"/>
          <p:nvPr/>
        </p:nvSpPr>
        <p:spPr>
          <a:xfrm>
            <a:off x="1587500" y="4140200"/>
            <a:ext cx="9017000" cy="355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450">
                <a:solidFill>
                  <a:srgbClr val="E8A33D"/>
                </a:solidFill>
                <a:latin typeface="Pretendard"/>
              </a:rPr>
              <a:t>→ 이 한 줄이 오늘 만드는 모든 프롬프트의 출발점이 된다</a:t>
            </a:r>
            <a:r>
              <a:rPr lang="en-US" altLang="ko-KR" sz="1450">
                <a:solidFill>
                  <a:srgbClr val="E8A33D"/>
                </a:solidFill>
                <a:latin typeface="Pretendard"/>
              </a:rPr>
              <a:t>.</a:t>
            </a:r>
            <a:endParaRPr lang="ko-KR" altLang="en-US" sz="1450">
              <a:solidFill>
                <a:srgbClr val="E8A33D"/>
              </a:solidFill>
              <a:latin typeface="Pretendard"/>
            </a:endParaRP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F26B0976-4A6B-8B4F-A04E-F68F482242B6}"/>
              </a:ext>
            </a:extLst>
          </p:cNvPr>
          <p:cNvSpPr/>
          <p:nvPr/>
        </p:nvSpPr>
        <p:spPr>
          <a:xfrm>
            <a:off x="825500" y="5283200"/>
            <a:ext cx="10541000" cy="939800"/>
          </a:xfrm>
          <a:prstGeom prst="roundRect">
            <a:avLst>
              <a:gd name="adj" fmla="val 2703"/>
            </a:avLst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40E382-C91A-774F-B91B-2E8A2F83BB93}"/>
              </a:ext>
            </a:extLst>
          </p:cNvPr>
          <p:cNvSpPr txBox="1"/>
          <p:nvPr/>
        </p:nvSpPr>
        <p:spPr>
          <a:xfrm>
            <a:off x="1206500" y="5486400"/>
            <a:ext cx="1778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400" b="1">
                <a:solidFill>
                  <a:srgbClr val="E8A33D"/>
                </a:solidFill>
                <a:latin typeface="JetBrains Mono"/>
              </a:rPr>
              <a:t>▶  NEXT</a:t>
            </a:r>
            <a:endParaRPr lang="ko-KR" altLang="en-US" sz="1400" b="1">
              <a:solidFill>
                <a:srgbClr val="E8A33D"/>
              </a:solidFill>
              <a:latin typeface="JetBrains Mono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FB5839-0C41-014C-A3D6-D2F89CB775C8}"/>
              </a:ext>
            </a:extLst>
          </p:cNvPr>
          <p:cNvSpPr txBox="1"/>
          <p:nvPr/>
        </p:nvSpPr>
        <p:spPr>
          <a:xfrm>
            <a:off x="1206500" y="5740400"/>
            <a:ext cx="9652000" cy="330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b="1">
                <a:solidFill>
                  <a:srgbClr val="14213D"/>
                </a:solidFill>
                <a:latin typeface="Pretendard"/>
              </a:rPr>
              <a:t>M3 · AI </a:t>
            </a:r>
            <a:r>
              <a:rPr lang="ko-KR" altLang="en-US" b="1">
                <a:solidFill>
                  <a:srgbClr val="14213D"/>
                </a:solidFill>
                <a:latin typeface="Pretendard"/>
              </a:rPr>
              <a:t>기반 콘텐츠 작성 실습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DCF32428-7AF8-795A-3729-DCD1280434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1971" y="3994734"/>
            <a:ext cx="1778000" cy="2322931"/>
          </a:xfrm>
          <a:prstGeom prst="rect">
            <a:avLst/>
          </a:prstGeom>
        </p:spPr>
      </p:pic>
      <p:pic>
        <p:nvPicPr>
          <p:cNvPr id="14" name="Picture 2">
            <a:extLst>
              <a:ext uri="{FF2B5EF4-FFF2-40B4-BE49-F238E27FC236}">
                <a16:creationId xmlns:a16="http://schemas.microsoft.com/office/drawing/2014/main" id="{F8A0D639-6F55-33D1-8615-B8B7234526D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11353800" y="965200"/>
            <a:ext cx="838200" cy="1676400"/>
          </a:xfrm>
          <a:prstGeom prst="rect">
            <a:avLst/>
          </a:prstGeom>
        </p:spPr>
      </p:pic>
      <p:pic>
        <p:nvPicPr>
          <p:cNvPr id="15" name="Picture 3">
            <a:extLst>
              <a:ext uri="{FF2B5EF4-FFF2-40B4-BE49-F238E27FC236}">
                <a16:creationId xmlns:a16="http://schemas.microsoft.com/office/drawing/2014/main" id="{3F565501-B8C9-F24D-81B3-992D3F777574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70000"/>
          </a:blip>
          <a:stretch>
            <a:fillRect/>
          </a:stretch>
        </p:blipFill>
        <p:spPr>
          <a:xfrm>
            <a:off x="8826750" y="1172675"/>
            <a:ext cx="1468925" cy="1468925"/>
          </a:xfrm>
          <a:prstGeom prst="rect">
            <a:avLst/>
          </a:prstGeom>
        </p:spPr>
      </p:pic>
      <p:pic>
        <p:nvPicPr>
          <p:cNvPr id="16" name="Picture 4">
            <a:extLst>
              <a:ext uri="{FF2B5EF4-FFF2-40B4-BE49-F238E27FC236}">
                <a16:creationId xmlns:a16="http://schemas.microsoft.com/office/drawing/2014/main" id="{8C3A25D5-EC5B-BCEB-9BF1-923C39153D40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70000"/>
          </a:blip>
          <a:stretch>
            <a:fillRect/>
          </a:stretch>
        </p:blipFill>
        <p:spPr>
          <a:xfrm>
            <a:off x="9561213" y="297130"/>
            <a:ext cx="2016660" cy="2016659"/>
          </a:xfrm>
          <a:prstGeom prst="rect">
            <a:avLst/>
          </a:prstGeom>
        </p:spPr>
      </p:pic>
      <p:pic>
        <p:nvPicPr>
          <p:cNvPr id="17" name="Picture 5">
            <a:extLst>
              <a:ext uri="{FF2B5EF4-FFF2-40B4-BE49-F238E27FC236}">
                <a16:creationId xmlns:a16="http://schemas.microsoft.com/office/drawing/2014/main" id="{7EACF555-4C65-53D6-45E9-A9A91874AEAA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70000"/>
          </a:blip>
          <a:stretch>
            <a:fillRect/>
          </a:stretch>
        </p:blipFill>
        <p:spPr>
          <a:xfrm>
            <a:off x="11171221" y="1373863"/>
            <a:ext cx="406652" cy="406651"/>
          </a:xfrm>
          <a:prstGeom prst="rect">
            <a:avLst/>
          </a:prstGeom>
        </p:spPr>
      </p:pic>
      <p:pic>
        <p:nvPicPr>
          <p:cNvPr id="18" name="Picture 7">
            <a:extLst>
              <a:ext uri="{FF2B5EF4-FFF2-40B4-BE49-F238E27FC236}">
                <a16:creationId xmlns:a16="http://schemas.microsoft.com/office/drawing/2014/main" id="{AC007638-B25A-946D-A0A6-A977F46F84AE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70000"/>
          </a:blip>
          <a:stretch>
            <a:fillRect/>
          </a:stretch>
        </p:blipFill>
        <p:spPr>
          <a:xfrm>
            <a:off x="8586079" y="2151958"/>
            <a:ext cx="485492" cy="485492"/>
          </a:xfrm>
          <a:prstGeom prst="rect">
            <a:avLst/>
          </a:prstGeom>
        </p:spPr>
      </p:pic>
      <p:pic>
        <p:nvPicPr>
          <p:cNvPr id="19" name="Picture 8">
            <a:extLst>
              <a:ext uri="{FF2B5EF4-FFF2-40B4-BE49-F238E27FC236}">
                <a16:creationId xmlns:a16="http://schemas.microsoft.com/office/drawing/2014/main" id="{60B57833-10C6-1C77-3033-9B1EBFFB83E8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41000"/>
          </a:blip>
          <a:stretch>
            <a:fillRect/>
          </a:stretch>
        </p:blipFill>
        <p:spPr>
          <a:xfrm rot="5400000">
            <a:off x="11337202" y="463110"/>
            <a:ext cx="1199207" cy="510389"/>
          </a:xfrm>
          <a:prstGeom prst="rect">
            <a:avLst/>
          </a:prstGeom>
        </p:spPr>
      </p:pic>
      <p:sp>
        <p:nvSpPr>
          <p:cNvPr id="20" name="PageNumber">
            <a:extLst>
              <a:ext uri="{FF2B5EF4-FFF2-40B4-BE49-F238E27FC236}">
                <a16:creationId xmlns:a16="http://schemas.microsoft.com/office/drawing/2014/main" id="{AB33ED3A-5EC6-A043-A80F-8B0BB393B2BC}"/>
              </a:ext>
            </a:extLst>
          </p:cNvPr>
          <p:cNvSpPr txBox="1"/>
          <p:nvPr/>
        </p:nvSpPr>
        <p:spPr>
          <a:xfrm>
            <a:off x="9499600" y="6489700"/>
            <a:ext cx="23368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r"/>
            <a:r>
              <a:rPr lang="en-US" altLang="ko-KR" sz="1200" dirty="0">
                <a:solidFill>
                  <a:srgbClr val="576176"/>
                </a:solidFill>
                <a:latin typeface="Pretendard"/>
              </a:rPr>
              <a:t>- </a:t>
            </a:r>
            <a:r>
              <a:rPr lang="en-US" altLang="ko-KR" sz="1200" dirty="0">
                <a:solidFill>
                  <a:schemeClr val="bg1"/>
                </a:solidFill>
                <a:latin typeface="Pretendard"/>
              </a:rPr>
              <a:t>47/144</a:t>
            </a:r>
            <a:r>
              <a:rPr lang="en-US" altLang="ko-KR" sz="1200" dirty="0">
                <a:solidFill>
                  <a:srgbClr val="576176"/>
                </a:solidFill>
                <a:latin typeface="Pretendard"/>
              </a:rPr>
              <a:t> -</a:t>
            </a:r>
            <a:endParaRPr lang="ko-KR" altLang="en-US" sz="1200" dirty="0">
              <a:solidFill>
                <a:srgbClr val="576176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357576045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4E8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2960" y="1554480"/>
            <a:ext cx="1005840" cy="128016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1000"/>
              </a:spcAft>
            </a:pPr>
            <a:r>
              <a:rPr sz="1400" b="0">
                <a:solidFill>
                  <a:srgbClr val="BFD2EC"/>
                </a:solidFill>
                <a:latin typeface="JetBrains Mono"/>
                <a:ea typeface="JetBrains Mono"/>
                <a:cs typeface="JetBrains Mono"/>
              </a:rPr>
              <a:t>MODULE 3 · 3교시 · 11:00–11:50</a:t>
            </a:r>
          </a:p>
          <a:p>
            <a:pPr algn="l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</a:pPr>
            <a:r>
              <a:rPr sz="3800" b="1">
                <a:solidFill>
                  <a:srgbClr val="FFFFFF"/>
                </a:solidFill>
                <a:latin typeface="Noto Serif KR"/>
                <a:ea typeface="Noto Serif KR"/>
                <a:cs typeface="Noto Serif KR"/>
              </a:rPr>
              <a:t>M3. AI 기반 콘텐츠 작성 실습</a:t>
            </a:r>
          </a:p>
          <a:p>
            <a:pPr algn="l">
              <a:lnSpc>
                <a:spcPct val="140000"/>
              </a:lnSpc>
              <a:spcBef>
                <a:spcPts val="600"/>
              </a:spcBef>
              <a:spcAft>
                <a:spcPts val="400"/>
              </a:spcAft>
            </a:pPr>
            <a:r>
              <a:rPr sz="1500" b="0">
                <a:solidFill>
                  <a:srgbClr val="DBE6F6"/>
                </a:solidFill>
                <a:latin typeface="Pretendard"/>
                <a:ea typeface="Pretendard"/>
                <a:cs typeface="Pretendard"/>
              </a:rPr>
              <a:t>메시지 하우스를 출발점으로, 채널별(소개문·SNS·블로그·카드뉴스) 문안을 톤을 유지한 채 대량 생성·검수한다.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4572000"/>
            <a:ext cx="10515600" cy="1691640"/>
          </a:xfrm>
          <a:prstGeom prst="rect">
            <a:avLst/>
          </a:prstGeom>
          <a:solidFill>
            <a:srgbClr val="184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164592" rtlCol="0" anchor="ctr"/>
          <a:lstStyle/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300"/>
              </a:spcAft>
            </a:pPr>
            <a:r>
              <a:rPr sz="1600" b="1">
                <a:solidFill>
                  <a:srgbClr val="9FC0E6"/>
                </a:solidFill>
                <a:latin typeface="JetBrains Mono"/>
                <a:ea typeface="JetBrains Mono"/>
                <a:cs typeface="JetBrains Mono"/>
              </a:rPr>
              <a:t>이전  </a:t>
            </a:r>
            <a:r>
              <a:rPr sz="16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M2의 메시지 하우스를 손에 쥐었다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300"/>
              </a:spcAft>
            </a:pPr>
            <a:r>
              <a:rPr sz="1600" b="1">
                <a:solidFill>
                  <a:srgbClr val="E8A33D"/>
                </a:solidFill>
                <a:latin typeface="JetBrains Mono"/>
                <a:ea typeface="JetBrains Mono"/>
                <a:cs typeface="JetBrains Mono"/>
              </a:rPr>
              <a:t>이번  </a:t>
            </a:r>
            <a:r>
              <a: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그 메시지를 소개문·SNS·블로그·카드뉴스로 변주한다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400"/>
              </a:spcAft>
            </a:pPr>
            <a:r>
              <a:rPr sz="1600" b="1">
                <a:solidFill>
                  <a:srgbClr val="9FC0E6"/>
                </a:solidFill>
                <a:latin typeface="JetBrains Mono"/>
                <a:ea typeface="JetBrains Mono"/>
                <a:cs typeface="JetBrains Mono"/>
              </a:rPr>
              <a:t>다음  </a:t>
            </a:r>
            <a:r>
              <a:rPr sz="16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이 문구에 어울리는 비주얼로 → M4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C03E3E74-7B38-3370-544E-DB87BACA216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7637626" y="379288"/>
            <a:ext cx="5702300" cy="2362200"/>
          </a:xfrm>
          <a:prstGeom prst="rect">
            <a:avLst/>
          </a:prstGeom>
        </p:spPr>
      </p:pic>
      <p:sp>
        <p:nvSpPr>
          <p:cNvPr id="6" name="PageNumber">
            <a:extLst>
              <a:ext uri="{FF2B5EF4-FFF2-40B4-BE49-F238E27FC236}">
                <a16:creationId xmlns:a16="http://schemas.microsoft.com/office/drawing/2014/main" id="{854DD3A0-F258-FA48-BE9C-A26A6CD64A83}"/>
              </a:ext>
            </a:extLst>
          </p:cNvPr>
          <p:cNvSpPr txBox="1"/>
          <p:nvPr/>
        </p:nvSpPr>
        <p:spPr>
          <a:xfrm>
            <a:off x="9499600" y="6489700"/>
            <a:ext cx="23368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r"/>
            <a:r>
              <a:rPr lang="en-US" altLang="ko-KR" sz="1200">
                <a:solidFill>
                  <a:schemeClr val="bg1"/>
                </a:solidFill>
                <a:latin typeface="Pretendard"/>
              </a:rPr>
              <a:t>- 48/144 -</a:t>
            </a:r>
            <a:endParaRPr lang="ko-KR" altLang="en-US" sz="1200">
              <a:solidFill>
                <a:schemeClr val="bg1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55424365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학습 목표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이 모듈에서 할 수 있게 되는 것</a:t>
            </a: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1DE23F43-ACD1-CD42-AB22-A5CD6AA494A9}"/>
              </a:ext>
            </a:extLst>
          </p:cNvPr>
          <p:cNvSpPr/>
          <p:nvPr/>
        </p:nvSpPr>
        <p:spPr>
          <a:xfrm>
            <a:off x="825500" y="1905000"/>
            <a:ext cx="5080000" cy="4381500"/>
          </a:xfrm>
          <a:prstGeom prst="roundRect">
            <a:avLst>
              <a:gd name="adj" fmla="val 580"/>
            </a:avLst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95E851-B8C0-B349-B5CB-66657768AF58}"/>
              </a:ext>
            </a:extLst>
          </p:cNvPr>
          <p:cNvSpPr txBox="1"/>
          <p:nvPr/>
        </p:nvSpPr>
        <p:spPr>
          <a:xfrm>
            <a:off x="1257300" y="2235200"/>
            <a:ext cx="1524000" cy="711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4000" b="1">
                <a:solidFill>
                  <a:srgbClr val="E8A33D"/>
                </a:solidFill>
                <a:latin typeface="JetBrains Mono"/>
              </a:rPr>
              <a:t>01</a:t>
            </a:r>
            <a:endParaRPr lang="ko-KR" altLang="en-US" sz="4000" b="1">
              <a:solidFill>
                <a:srgbClr val="E8A33D"/>
              </a:solidFill>
              <a:latin typeface="JetBrains Mono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6150195-2D50-2145-ACC9-BCBE8D5B3CF8}"/>
              </a:ext>
            </a:extLst>
          </p:cNvPr>
          <p:cNvSpPr/>
          <p:nvPr/>
        </p:nvSpPr>
        <p:spPr>
          <a:xfrm>
            <a:off x="1282700" y="3124200"/>
            <a:ext cx="685800" cy="50800"/>
          </a:xfrm>
          <a:prstGeom prst="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DB54CC-94ED-7B44-8183-ED843BCF51D7}"/>
              </a:ext>
            </a:extLst>
          </p:cNvPr>
          <p:cNvSpPr txBox="1"/>
          <p:nvPr/>
        </p:nvSpPr>
        <p:spPr>
          <a:xfrm>
            <a:off x="1282700" y="3479800"/>
            <a:ext cx="4165600" cy="165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2000" b="1" dirty="0">
                <a:solidFill>
                  <a:srgbClr val="14213D"/>
                </a:solidFill>
                <a:latin typeface="Pretendard"/>
              </a:rPr>
              <a:t>제품</a:t>
            </a:r>
            <a:r>
              <a:rPr lang="en-US" altLang="ko-KR" sz="2000" b="1" dirty="0">
                <a:solidFill>
                  <a:srgbClr val="14213D"/>
                </a:solidFill>
                <a:latin typeface="Pretendard"/>
              </a:rPr>
              <a:t>·</a:t>
            </a:r>
            <a:r>
              <a:rPr lang="ko-KR" altLang="en-US" sz="2000" b="1" dirty="0">
                <a:solidFill>
                  <a:srgbClr val="14213D"/>
                </a:solidFill>
                <a:latin typeface="Pretendard"/>
              </a:rPr>
              <a:t>서비스 소개문을 </a:t>
            </a:r>
            <a:endParaRPr lang="en-US" altLang="ko-KR" sz="2000" b="1" dirty="0">
              <a:solidFill>
                <a:srgbClr val="14213D"/>
              </a:solidFill>
              <a:latin typeface="Pretendard"/>
            </a:endParaRPr>
          </a:p>
          <a:p>
            <a:pPr algn="l">
              <a:lnSpc>
                <a:spcPct val="150000"/>
              </a:lnSpc>
            </a:pPr>
            <a:r>
              <a:rPr lang="ko-KR" altLang="en-US" sz="2000" b="1" dirty="0">
                <a:solidFill>
                  <a:srgbClr val="14213D"/>
                </a:solidFill>
                <a:latin typeface="Pretendard"/>
              </a:rPr>
              <a:t>톤을 유지하며 작성할 수 있다</a:t>
            </a:r>
            <a:r>
              <a:rPr lang="en-US" altLang="ko-KR" sz="2000" b="1" dirty="0">
                <a:solidFill>
                  <a:srgbClr val="14213D"/>
                </a:solidFill>
                <a:latin typeface="Pretendard"/>
              </a:rPr>
              <a:t>.</a:t>
            </a:r>
            <a:endParaRPr lang="ko-KR" altLang="en-US" sz="2000" b="1" dirty="0">
              <a:solidFill>
                <a:srgbClr val="14213D"/>
              </a:solidFill>
              <a:latin typeface="Pretendard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367417E-2AEF-FE4B-88B9-5A3B7B097CF3}"/>
              </a:ext>
            </a:extLst>
          </p:cNvPr>
          <p:cNvSpPr txBox="1"/>
          <p:nvPr/>
        </p:nvSpPr>
        <p:spPr>
          <a:xfrm>
            <a:off x="1282700" y="5613400"/>
            <a:ext cx="4165600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400">
                <a:solidFill>
                  <a:srgbClr val="1D4E89"/>
                </a:solidFill>
                <a:latin typeface="JetBrains Mono"/>
              </a:rPr>
              <a:t>→ PAS · </a:t>
            </a:r>
            <a:r>
              <a:rPr lang="ko-KR" altLang="en-US" sz="1400">
                <a:solidFill>
                  <a:srgbClr val="1D4E89"/>
                </a:solidFill>
                <a:latin typeface="JetBrains Mono"/>
              </a:rPr>
              <a:t>톤 가이드</a:t>
            </a: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BA259F48-45A9-754E-968D-4E703C70A1CF}"/>
              </a:ext>
            </a:extLst>
          </p:cNvPr>
          <p:cNvSpPr/>
          <p:nvPr/>
        </p:nvSpPr>
        <p:spPr>
          <a:xfrm>
            <a:off x="6286500" y="1905000"/>
            <a:ext cx="5080000" cy="4381500"/>
          </a:xfrm>
          <a:prstGeom prst="roundRect">
            <a:avLst>
              <a:gd name="adj" fmla="val 580"/>
            </a:avLst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A9B10D-CAB6-7645-AB48-95BE429CF40E}"/>
              </a:ext>
            </a:extLst>
          </p:cNvPr>
          <p:cNvSpPr txBox="1"/>
          <p:nvPr/>
        </p:nvSpPr>
        <p:spPr>
          <a:xfrm>
            <a:off x="6718300" y="2235200"/>
            <a:ext cx="1524000" cy="711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4000" b="1">
                <a:solidFill>
                  <a:srgbClr val="E8A33D"/>
                </a:solidFill>
                <a:latin typeface="JetBrains Mono"/>
              </a:rPr>
              <a:t>02</a:t>
            </a:r>
            <a:endParaRPr lang="ko-KR" altLang="en-US" sz="4000" b="1">
              <a:solidFill>
                <a:srgbClr val="E8A33D"/>
              </a:solidFill>
              <a:latin typeface="JetBrains Mono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541B4EB-D2A4-7144-974C-C8D14A0A814E}"/>
              </a:ext>
            </a:extLst>
          </p:cNvPr>
          <p:cNvSpPr/>
          <p:nvPr/>
        </p:nvSpPr>
        <p:spPr>
          <a:xfrm>
            <a:off x="6743700" y="3124200"/>
            <a:ext cx="685800" cy="50800"/>
          </a:xfrm>
          <a:prstGeom prst="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3447E31-6FFF-C34F-B9DB-781328286E1F}"/>
              </a:ext>
            </a:extLst>
          </p:cNvPr>
          <p:cNvSpPr txBox="1"/>
          <p:nvPr/>
        </p:nvSpPr>
        <p:spPr>
          <a:xfrm>
            <a:off x="6743700" y="3479800"/>
            <a:ext cx="4165600" cy="165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2000" b="1" dirty="0">
                <a:solidFill>
                  <a:srgbClr val="14213D"/>
                </a:solidFill>
                <a:latin typeface="Pretendard"/>
              </a:rPr>
              <a:t>채널별 홍보 문안을 </a:t>
            </a:r>
            <a:endParaRPr lang="en-US" altLang="ko-KR" sz="2000" b="1" dirty="0">
              <a:solidFill>
                <a:srgbClr val="14213D"/>
              </a:solidFill>
              <a:latin typeface="Pretendard"/>
            </a:endParaRPr>
          </a:p>
          <a:p>
            <a:pPr algn="l">
              <a:lnSpc>
                <a:spcPct val="150000"/>
              </a:lnSpc>
            </a:pPr>
            <a:r>
              <a:rPr lang="ko-KR" altLang="en-US" sz="2000" b="1" dirty="0">
                <a:solidFill>
                  <a:srgbClr val="14213D"/>
                </a:solidFill>
                <a:latin typeface="Pretendard"/>
              </a:rPr>
              <a:t>한 번에 생성할 수 있다</a:t>
            </a:r>
            <a:r>
              <a:rPr lang="en-US" altLang="ko-KR" sz="2000" b="1" dirty="0">
                <a:solidFill>
                  <a:srgbClr val="14213D"/>
                </a:solidFill>
                <a:latin typeface="Pretendard"/>
              </a:rPr>
              <a:t>.</a:t>
            </a:r>
            <a:endParaRPr lang="ko-KR" altLang="en-US" sz="2000" b="1" dirty="0">
              <a:solidFill>
                <a:srgbClr val="14213D"/>
              </a:solidFill>
              <a:latin typeface="Pretendard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030C910-F500-F544-AFD5-E31D29CF7A57}"/>
              </a:ext>
            </a:extLst>
          </p:cNvPr>
          <p:cNvSpPr txBox="1"/>
          <p:nvPr/>
        </p:nvSpPr>
        <p:spPr>
          <a:xfrm>
            <a:off x="6743700" y="5613400"/>
            <a:ext cx="4165600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400">
                <a:solidFill>
                  <a:srgbClr val="1D4E89"/>
                </a:solidFill>
                <a:latin typeface="JetBrains Mono"/>
              </a:rPr>
              <a:t>→ 원소스 멀티유즈</a:t>
            </a:r>
          </a:p>
        </p:txBody>
      </p:sp>
      <p:sp>
        <p:nvSpPr>
          <p:cNvPr id="15" name="PageNumber">
            <a:extLst>
              <a:ext uri="{FF2B5EF4-FFF2-40B4-BE49-F238E27FC236}">
                <a16:creationId xmlns:a16="http://schemas.microsoft.com/office/drawing/2014/main" id="{D443180F-EE07-4C49-9A31-1008B85F2D78}"/>
              </a:ext>
            </a:extLst>
          </p:cNvPr>
          <p:cNvSpPr txBox="1"/>
          <p:nvPr/>
        </p:nvSpPr>
        <p:spPr>
          <a:xfrm>
            <a:off x="9499600" y="6489700"/>
            <a:ext cx="23368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r"/>
            <a:r>
              <a:rPr lang="en-US" altLang="ko-KR" sz="1200">
                <a:solidFill>
                  <a:srgbClr val="576176"/>
                </a:solidFill>
                <a:latin typeface="Pretendard"/>
              </a:rPr>
              <a:t>- 49/144 -</a:t>
            </a:r>
            <a:endParaRPr lang="ko-KR" altLang="en-US" sz="1200">
              <a:solidFill>
                <a:srgbClr val="576176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291526122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4E8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4680024D-055E-CD4F-B486-BCAE18054A47}"/>
              </a:ext>
            </a:extLst>
          </p:cNvPr>
          <p:cNvSpPr/>
          <p:nvPr/>
        </p:nvSpPr>
        <p:spPr>
          <a:xfrm>
            <a:off x="914400" y="2362200"/>
            <a:ext cx="431800" cy="76200"/>
          </a:xfrm>
          <a:prstGeom prst="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4274DB-52A2-3545-807B-9F0E1E2EA570}"/>
              </a:ext>
            </a:extLst>
          </p:cNvPr>
          <p:cNvSpPr txBox="1"/>
          <p:nvPr/>
        </p:nvSpPr>
        <p:spPr>
          <a:xfrm>
            <a:off x="914400" y="2540000"/>
            <a:ext cx="5080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500" b="1">
                <a:solidFill>
                  <a:srgbClr val="E8A33D"/>
                </a:solidFill>
                <a:latin typeface="JetBrains Mono"/>
              </a:rPr>
              <a:t>SESSION 1</a:t>
            </a:r>
            <a:endParaRPr lang="ko-KR" altLang="en-US" sz="1500" b="1">
              <a:solidFill>
                <a:srgbClr val="E8A33D"/>
              </a:solidFill>
              <a:latin typeface="JetBrains Mono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50DB11-0891-4240-9DB7-D487F35F9789}"/>
              </a:ext>
            </a:extLst>
          </p:cNvPr>
          <p:cNvSpPr txBox="1"/>
          <p:nvPr/>
        </p:nvSpPr>
        <p:spPr>
          <a:xfrm>
            <a:off x="914400" y="2895600"/>
            <a:ext cx="10363200" cy="609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3200" b="1">
                <a:solidFill>
                  <a:srgbClr val="FFFFFF"/>
                </a:solidFill>
                <a:latin typeface="Noto Serif KR"/>
              </a:rPr>
              <a:t>제품</a:t>
            </a:r>
            <a:r>
              <a:rPr lang="en-US" altLang="ko-KR" sz="3200" b="1">
                <a:solidFill>
                  <a:srgbClr val="FFFFFF"/>
                </a:solidFill>
                <a:latin typeface="Noto Serif KR"/>
              </a:rPr>
              <a:t>·</a:t>
            </a:r>
            <a:r>
              <a:rPr lang="ko-KR" altLang="en-US" sz="3200" b="1">
                <a:solidFill>
                  <a:srgbClr val="FFFFFF"/>
                </a:solidFill>
                <a:latin typeface="Noto Serif KR"/>
              </a:rPr>
              <a:t>서비스 소개문 작성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1441AC-0580-A744-8540-0321A40AFE51}"/>
              </a:ext>
            </a:extLst>
          </p:cNvPr>
          <p:cNvSpPr txBox="1"/>
          <p:nvPr/>
        </p:nvSpPr>
        <p:spPr>
          <a:xfrm>
            <a:off x="914400" y="3657600"/>
            <a:ext cx="10033000" cy="558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600">
                <a:solidFill>
                  <a:srgbClr val="DCE6F2"/>
                </a:solidFill>
                <a:latin typeface="Pretendard"/>
              </a:rPr>
              <a:t>소개문은 ‘고객 문제 → 해결 → 근거 → 행동유도</a:t>
            </a:r>
            <a:r>
              <a:rPr lang="en-US" altLang="ko-KR" sz="1600">
                <a:solidFill>
                  <a:srgbClr val="DCE6F2"/>
                </a:solidFill>
                <a:latin typeface="Pretendard"/>
              </a:rPr>
              <a:t>(CTA)’</a:t>
            </a:r>
            <a:r>
              <a:rPr lang="ko-KR" altLang="en-US" sz="1600">
                <a:solidFill>
                  <a:srgbClr val="DCE6F2"/>
                </a:solidFill>
                <a:latin typeface="Pretendard"/>
              </a:rPr>
              <a:t>의 흐름으로 구조화한다</a:t>
            </a:r>
            <a:r>
              <a:rPr lang="en-US" altLang="ko-KR" sz="1600">
                <a:solidFill>
                  <a:srgbClr val="DCE6F2"/>
                </a:solidFill>
                <a:latin typeface="Pretendard"/>
              </a:rPr>
              <a:t>.</a:t>
            </a:r>
            <a:endParaRPr lang="ko-KR" altLang="en-US" sz="1600">
              <a:solidFill>
                <a:srgbClr val="DCE6F2"/>
              </a:solidFill>
              <a:latin typeface="Pretendard"/>
            </a:endParaRP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1478F383-E20D-2C41-825C-87962E9805EE}"/>
              </a:ext>
            </a:extLst>
          </p:cNvPr>
          <p:cNvSpPr/>
          <p:nvPr/>
        </p:nvSpPr>
        <p:spPr>
          <a:xfrm>
            <a:off x="914400" y="4521200"/>
            <a:ext cx="2616200" cy="889000"/>
          </a:xfrm>
          <a:prstGeom prst="roundRect">
            <a:avLst>
              <a:gd name="adj" fmla="val 2857"/>
            </a:avLst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ko-KR" altLang="en-US" sz="1600" b="1">
                <a:solidFill>
                  <a:srgbClr val="FFFFFF"/>
                </a:solidFill>
                <a:latin typeface="Pretendard"/>
              </a:rPr>
              <a:t>고객 문제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CF8508C-46A8-7B45-8098-6A27C943574D}"/>
              </a:ext>
            </a:extLst>
          </p:cNvPr>
          <p:cNvSpPr txBox="1"/>
          <p:nvPr/>
        </p:nvSpPr>
        <p:spPr>
          <a:xfrm>
            <a:off x="3530600" y="4521200"/>
            <a:ext cx="558800" cy="889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ko-KR" altLang="en-US" sz="2400" b="1">
                <a:solidFill>
                  <a:srgbClr val="9FB3CE"/>
                </a:solidFill>
                <a:latin typeface="Pretendard"/>
              </a:rPr>
              <a:t>→</a:t>
            </a: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164D2D8C-FD3E-9B4B-BB34-656A8B2C8683}"/>
              </a:ext>
            </a:extLst>
          </p:cNvPr>
          <p:cNvSpPr/>
          <p:nvPr/>
        </p:nvSpPr>
        <p:spPr>
          <a:xfrm>
            <a:off x="4089400" y="4521200"/>
            <a:ext cx="2616200" cy="889000"/>
          </a:xfrm>
          <a:prstGeom prst="roundRect">
            <a:avLst>
              <a:gd name="adj" fmla="val 2857"/>
            </a:avLst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ko-KR" altLang="en-US" sz="1600" b="1">
                <a:solidFill>
                  <a:srgbClr val="FFFFFF"/>
                </a:solidFill>
                <a:latin typeface="Pretendard"/>
              </a:rPr>
              <a:t>해결 </a:t>
            </a:r>
            <a:r>
              <a:rPr lang="en-US" altLang="ko-KR" sz="1600" b="1">
                <a:solidFill>
                  <a:srgbClr val="FFFFFF"/>
                </a:solidFill>
                <a:latin typeface="Pretendard"/>
              </a:rPr>
              <a:t>· </a:t>
            </a:r>
            <a:r>
              <a:rPr lang="ko-KR" altLang="en-US" sz="1600" b="1">
                <a:solidFill>
                  <a:srgbClr val="FFFFFF"/>
                </a:solidFill>
                <a:latin typeface="Pretendard"/>
              </a:rPr>
              <a:t>근거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0996100-BE8B-7544-A3B8-8E7625607C7D}"/>
              </a:ext>
            </a:extLst>
          </p:cNvPr>
          <p:cNvSpPr txBox="1"/>
          <p:nvPr/>
        </p:nvSpPr>
        <p:spPr>
          <a:xfrm>
            <a:off x="6705600" y="4521200"/>
            <a:ext cx="558800" cy="889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ko-KR" altLang="en-US" sz="2400" b="1">
                <a:solidFill>
                  <a:srgbClr val="9FB3CE"/>
                </a:solidFill>
                <a:latin typeface="Pretendard"/>
              </a:rPr>
              <a:t>→</a:t>
            </a:r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B401B242-AAF1-DA46-93C2-0B7DA8198D90}"/>
              </a:ext>
            </a:extLst>
          </p:cNvPr>
          <p:cNvSpPr/>
          <p:nvPr/>
        </p:nvSpPr>
        <p:spPr>
          <a:xfrm>
            <a:off x="7264400" y="4521200"/>
            <a:ext cx="2616200" cy="889000"/>
          </a:xfrm>
          <a:prstGeom prst="roundRect">
            <a:avLst>
              <a:gd name="adj" fmla="val 2857"/>
            </a:avLst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ko-KR" altLang="en-US" sz="1600" b="1">
                <a:solidFill>
                  <a:srgbClr val="14213D"/>
                </a:solidFill>
                <a:latin typeface="Pretendard"/>
              </a:rPr>
              <a:t>행동유도</a:t>
            </a:r>
            <a:r>
              <a:rPr lang="en-US" altLang="ko-KR" sz="1600" b="1">
                <a:solidFill>
                  <a:srgbClr val="14213D"/>
                </a:solidFill>
                <a:latin typeface="Pretendard"/>
              </a:rPr>
              <a:t>(CTA)</a:t>
            </a:r>
            <a:endParaRPr lang="ko-KR" altLang="en-US" sz="1600" b="1">
              <a:solidFill>
                <a:srgbClr val="14213D"/>
              </a:solidFill>
              <a:latin typeface="Pretendard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A68F8C2-36F5-B749-A52D-55A5BA3A5968}"/>
              </a:ext>
            </a:extLst>
          </p:cNvPr>
          <p:cNvSpPr txBox="1"/>
          <p:nvPr/>
        </p:nvSpPr>
        <p:spPr>
          <a:xfrm>
            <a:off x="914400" y="5740400"/>
            <a:ext cx="10363200" cy="304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400">
                <a:solidFill>
                  <a:srgbClr val="9FB3CE"/>
                </a:solidFill>
                <a:latin typeface="JetBrains Mono"/>
              </a:rPr>
              <a:t>→ PAS </a:t>
            </a:r>
            <a:r>
              <a:rPr lang="ko-KR" altLang="en-US" sz="1400">
                <a:solidFill>
                  <a:srgbClr val="9FB3CE"/>
                </a:solidFill>
                <a:latin typeface="JetBrains Mono"/>
              </a:rPr>
              <a:t>골격으로 짧고 강하게 쓴다</a:t>
            </a:r>
            <a:r>
              <a:rPr lang="en-US" altLang="ko-KR" sz="1400">
                <a:solidFill>
                  <a:srgbClr val="9FB3CE"/>
                </a:solidFill>
                <a:latin typeface="JetBrains Mono"/>
              </a:rPr>
              <a:t>.</a:t>
            </a:r>
            <a:endParaRPr lang="ko-KR" altLang="en-US" sz="1400">
              <a:solidFill>
                <a:srgbClr val="9FB3CE"/>
              </a:solidFill>
              <a:latin typeface="JetBrains Mono"/>
            </a:endParaRPr>
          </a:p>
        </p:txBody>
      </p:sp>
      <p:pic>
        <p:nvPicPr>
          <p:cNvPr id="14" name="Picture 14">
            <a:extLst>
              <a:ext uri="{FF2B5EF4-FFF2-40B4-BE49-F238E27FC236}">
                <a16:creationId xmlns:a16="http://schemas.microsoft.com/office/drawing/2014/main" id="{9DA72032-D7A9-9B82-C2AF-F0F4335FC6F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8000"/>
          </a:blip>
          <a:stretch>
            <a:fillRect/>
          </a:stretch>
        </p:blipFill>
        <p:spPr>
          <a:xfrm>
            <a:off x="6197602" y="-150908"/>
            <a:ext cx="7002780" cy="4665110"/>
          </a:xfrm>
          <a:prstGeom prst="rect">
            <a:avLst/>
          </a:prstGeom>
        </p:spPr>
      </p:pic>
      <p:sp>
        <p:nvSpPr>
          <p:cNvPr id="15" name="PageNumber">
            <a:extLst>
              <a:ext uri="{FF2B5EF4-FFF2-40B4-BE49-F238E27FC236}">
                <a16:creationId xmlns:a16="http://schemas.microsoft.com/office/drawing/2014/main" id="{0795360A-046C-5148-B665-FA73EAC59ACE}"/>
              </a:ext>
            </a:extLst>
          </p:cNvPr>
          <p:cNvSpPr txBox="1"/>
          <p:nvPr/>
        </p:nvSpPr>
        <p:spPr>
          <a:xfrm>
            <a:off x="9499600" y="6489700"/>
            <a:ext cx="23368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r"/>
            <a:r>
              <a:rPr lang="en-US" altLang="ko-KR" sz="1200" dirty="0">
                <a:solidFill>
                  <a:srgbClr val="576176"/>
                </a:solidFill>
                <a:latin typeface="Pretendard"/>
              </a:rPr>
              <a:t>- </a:t>
            </a:r>
            <a:r>
              <a:rPr lang="en-US" altLang="ko-KR" sz="1200" dirty="0">
                <a:solidFill>
                  <a:schemeClr val="bg1"/>
                </a:solidFill>
                <a:latin typeface="Pretendard"/>
              </a:rPr>
              <a:t>50/144</a:t>
            </a:r>
            <a:r>
              <a:rPr lang="en-US" altLang="ko-KR" sz="1200" dirty="0">
                <a:solidFill>
                  <a:srgbClr val="576176"/>
                </a:solidFill>
                <a:latin typeface="Pretendard"/>
              </a:rPr>
              <a:t> -</a:t>
            </a:r>
            <a:endParaRPr lang="ko-KR" altLang="en-US" sz="1200" dirty="0">
              <a:solidFill>
                <a:srgbClr val="576176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40598726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7863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핵심 개념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제품·서비스 문안의 핵심 4가지</a:t>
            </a:r>
          </a:p>
        </p:txBody>
      </p:sp>
      <p:sp>
        <p:nvSpPr>
          <p:cNvPr id="100" name="Row 1 BG"/>
          <p:cNvSpPr/>
          <p:nvPr/>
        </p:nvSpPr>
        <p:spPr>
          <a:xfrm>
            <a:off x="825500" y="1930400"/>
            <a:ext cx="10541000" cy="939800"/>
          </a:xfrm>
          <a:prstGeom prst="roundRect">
            <a:avLst>
              <a:gd name="adj" fmla="val 12000"/>
            </a:avLst>
          </a:prstGeom>
          <a:solidFill>
            <a:srgbClr val="F1F5FA"/>
          </a:solidFill>
          <a:ln w="12700">
            <a:solidFill>
              <a:srgbClr val="D9E2E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1" name="Row 1 Bar"/>
          <p:cNvSpPr/>
          <p:nvPr/>
        </p:nvSpPr>
        <p:spPr>
          <a:xfrm>
            <a:off x="825500" y="1930400"/>
            <a:ext cx="76200" cy="93980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2" name="Row 1 Num"/>
          <p:cNvSpPr/>
          <p:nvPr/>
        </p:nvSpPr>
        <p:spPr>
          <a:xfrm>
            <a:off x="1143000" y="2159000"/>
            <a:ext cx="482600" cy="482600"/>
          </a:xfrm>
          <a:prstGeom prst="ellipse">
            <a:avLst/>
          </a:prstGeom>
          <a:solidFill>
            <a:srgbClr val="14213D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altLang="ko-KR" sz="1600" b="1">
                <a:solidFill>
                  <a:srgbClr val="FFFFFF"/>
                </a:solidFill>
                <a:latin typeface="JetBrains Mono"/>
              </a:rPr>
              <a:t>1</a:t>
            </a:r>
          </a:p>
        </p:txBody>
      </p:sp>
      <p:sp>
        <p:nvSpPr>
          <p:cNvPr id="103" name="Row 1 Label"/>
          <p:cNvSpPr/>
          <p:nvPr/>
        </p:nvSpPr>
        <p:spPr>
          <a:xfrm>
            <a:off x="1905000" y="2242644"/>
            <a:ext cx="2540000" cy="33020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l"/>
            <a:r>
              <a:rPr lang="ko-KR" altLang="en-US" sz="1600" b="1" dirty="0">
                <a:solidFill>
                  <a:srgbClr val="14213D"/>
                </a:solidFill>
                <a:latin typeface="Pretendard"/>
              </a:rPr>
              <a:t>메시지 하우스 출발</a:t>
            </a:r>
          </a:p>
        </p:txBody>
      </p:sp>
      <p:sp>
        <p:nvSpPr>
          <p:cNvPr id="104" name="Row 1 Desc"/>
          <p:cNvSpPr/>
          <p:nvPr/>
        </p:nvSpPr>
        <p:spPr>
          <a:xfrm>
            <a:off x="4546600" y="2057400"/>
            <a:ext cx="6629400" cy="6858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algn="l">
              <a:lnSpc>
                <a:spcPct val="120000"/>
              </a:lnSpc>
            </a:pPr>
            <a:r>
              <a:rPr lang="ko-KR" altLang="en-US" sz="1400">
                <a:solidFill>
                  <a:srgbClr val="576176"/>
                </a:solidFill>
                <a:latin typeface="Pretendard"/>
              </a:rPr>
              <a:t>핵심 메시지·톤을 프롬프트에 먼저 주입해 모든 문안의 일관성을 잡는다.</a:t>
            </a:r>
          </a:p>
        </p:txBody>
      </p:sp>
      <p:sp>
        <p:nvSpPr>
          <p:cNvPr id="105" name="Row 2 BG"/>
          <p:cNvSpPr/>
          <p:nvPr/>
        </p:nvSpPr>
        <p:spPr>
          <a:xfrm>
            <a:off x="825500" y="2971800"/>
            <a:ext cx="10541000" cy="939800"/>
          </a:xfrm>
          <a:prstGeom prst="roundRect">
            <a:avLst>
              <a:gd name="adj" fmla="val 12000"/>
            </a:avLst>
          </a:prstGeom>
          <a:solidFill>
            <a:srgbClr val="F1F5FA"/>
          </a:solidFill>
          <a:ln w="12700">
            <a:solidFill>
              <a:srgbClr val="D9E2E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6" name="Row 2 Bar"/>
          <p:cNvSpPr/>
          <p:nvPr/>
        </p:nvSpPr>
        <p:spPr>
          <a:xfrm>
            <a:off x="825500" y="2971800"/>
            <a:ext cx="76200" cy="93980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7" name="Row 2 Num"/>
          <p:cNvSpPr/>
          <p:nvPr/>
        </p:nvSpPr>
        <p:spPr>
          <a:xfrm>
            <a:off x="1143000" y="3200400"/>
            <a:ext cx="482600" cy="482600"/>
          </a:xfrm>
          <a:prstGeom prst="ellipse">
            <a:avLst/>
          </a:prstGeom>
          <a:solidFill>
            <a:srgbClr val="14213D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altLang="ko-KR" sz="1600" b="1">
                <a:solidFill>
                  <a:srgbClr val="FFFFFF"/>
                </a:solidFill>
                <a:latin typeface="JetBrains Mono"/>
              </a:rPr>
              <a:t>2</a:t>
            </a:r>
          </a:p>
        </p:txBody>
      </p:sp>
      <p:sp>
        <p:nvSpPr>
          <p:cNvPr id="108" name="Row 2 Label"/>
          <p:cNvSpPr/>
          <p:nvPr/>
        </p:nvSpPr>
        <p:spPr>
          <a:xfrm>
            <a:off x="1905000" y="3284044"/>
            <a:ext cx="2540000" cy="33020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l"/>
            <a:r>
              <a:rPr lang="ko-KR" altLang="en-US" sz="1600" b="1">
                <a:solidFill>
                  <a:srgbClr val="14213D"/>
                </a:solidFill>
                <a:latin typeface="Pretendard"/>
              </a:rPr>
              <a:t>PAS 구조</a:t>
            </a:r>
          </a:p>
        </p:txBody>
      </p:sp>
      <p:sp>
        <p:nvSpPr>
          <p:cNvPr id="109" name="Row 2 Desc"/>
          <p:cNvSpPr/>
          <p:nvPr/>
        </p:nvSpPr>
        <p:spPr>
          <a:xfrm>
            <a:off x="4546600" y="3098800"/>
            <a:ext cx="6629400" cy="6858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algn="l">
              <a:lnSpc>
                <a:spcPct val="120000"/>
              </a:lnSpc>
            </a:pPr>
            <a:r>
              <a:rPr lang="ko-KR" altLang="en-US" sz="1400">
                <a:solidFill>
                  <a:srgbClr val="576176"/>
                </a:solidFill>
                <a:latin typeface="Pretendard"/>
              </a:rPr>
              <a:t>문제 → 증폭 → 해결. 짧은 홍보 문안의 기본 골격이다.</a:t>
            </a:r>
          </a:p>
        </p:txBody>
      </p:sp>
      <p:sp>
        <p:nvSpPr>
          <p:cNvPr id="110" name="Row 3 BG"/>
          <p:cNvSpPr/>
          <p:nvPr/>
        </p:nvSpPr>
        <p:spPr>
          <a:xfrm>
            <a:off x="825500" y="4013200"/>
            <a:ext cx="10541000" cy="939800"/>
          </a:xfrm>
          <a:prstGeom prst="roundRect">
            <a:avLst>
              <a:gd name="adj" fmla="val 12000"/>
            </a:avLst>
          </a:prstGeom>
          <a:solidFill>
            <a:srgbClr val="F1F5FA"/>
          </a:solidFill>
          <a:ln w="12700">
            <a:solidFill>
              <a:srgbClr val="D9E2E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1" name="Row 3 Bar"/>
          <p:cNvSpPr/>
          <p:nvPr/>
        </p:nvSpPr>
        <p:spPr>
          <a:xfrm>
            <a:off x="825500" y="4013200"/>
            <a:ext cx="76200" cy="93980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2" name="Row 3 Num"/>
          <p:cNvSpPr/>
          <p:nvPr/>
        </p:nvSpPr>
        <p:spPr>
          <a:xfrm>
            <a:off x="1143000" y="4241800"/>
            <a:ext cx="482600" cy="482600"/>
          </a:xfrm>
          <a:prstGeom prst="ellipse">
            <a:avLst/>
          </a:prstGeom>
          <a:solidFill>
            <a:srgbClr val="14213D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altLang="ko-KR" sz="1600" b="1">
                <a:solidFill>
                  <a:srgbClr val="FFFFFF"/>
                </a:solidFill>
                <a:latin typeface="JetBrains Mono"/>
              </a:rPr>
              <a:t>3</a:t>
            </a:r>
          </a:p>
        </p:txBody>
      </p:sp>
      <p:sp>
        <p:nvSpPr>
          <p:cNvPr id="113" name="Row 3 Label"/>
          <p:cNvSpPr/>
          <p:nvPr/>
        </p:nvSpPr>
        <p:spPr>
          <a:xfrm>
            <a:off x="1905000" y="4325444"/>
            <a:ext cx="2540000" cy="33020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l"/>
            <a:r>
              <a:rPr lang="ko-KR" altLang="en-US" sz="1600" b="1">
                <a:solidFill>
                  <a:srgbClr val="14213D"/>
                </a:solidFill>
                <a:latin typeface="Pretendard"/>
              </a:rPr>
              <a:t>특징 → 이득 번역</a:t>
            </a:r>
          </a:p>
        </p:txBody>
      </p:sp>
      <p:sp>
        <p:nvSpPr>
          <p:cNvPr id="114" name="Row 3 Desc"/>
          <p:cNvSpPr/>
          <p:nvPr/>
        </p:nvSpPr>
        <p:spPr>
          <a:xfrm>
            <a:off x="4546600" y="4140200"/>
            <a:ext cx="6629400" cy="6858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algn="l">
              <a:lnSpc>
                <a:spcPct val="120000"/>
              </a:lnSpc>
            </a:pPr>
            <a:r>
              <a:rPr lang="ko-KR" altLang="en-US" sz="1400">
                <a:solidFill>
                  <a:srgbClr val="576176"/>
                </a:solidFill>
                <a:latin typeface="Pretendard"/>
              </a:rPr>
              <a:t>스펙을 고객 언어로. ‘용량 2배’ → ‘두 번 살 일이 없다’.</a:t>
            </a:r>
          </a:p>
        </p:txBody>
      </p:sp>
      <p:sp>
        <p:nvSpPr>
          <p:cNvPr id="115" name="Row 4 BG"/>
          <p:cNvSpPr/>
          <p:nvPr/>
        </p:nvSpPr>
        <p:spPr>
          <a:xfrm>
            <a:off x="825500" y="5054600"/>
            <a:ext cx="10541000" cy="939800"/>
          </a:xfrm>
          <a:prstGeom prst="roundRect">
            <a:avLst>
              <a:gd name="adj" fmla="val 12000"/>
            </a:avLst>
          </a:prstGeom>
          <a:solidFill>
            <a:srgbClr val="F1F5FA"/>
          </a:solidFill>
          <a:ln w="12700">
            <a:solidFill>
              <a:srgbClr val="D9E2E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6" name="Row 4 Bar"/>
          <p:cNvSpPr/>
          <p:nvPr/>
        </p:nvSpPr>
        <p:spPr>
          <a:xfrm>
            <a:off x="825500" y="5054600"/>
            <a:ext cx="76200" cy="93980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7" name="Row 4 Num"/>
          <p:cNvSpPr/>
          <p:nvPr/>
        </p:nvSpPr>
        <p:spPr>
          <a:xfrm>
            <a:off x="1143000" y="5283200"/>
            <a:ext cx="482600" cy="482600"/>
          </a:xfrm>
          <a:prstGeom prst="ellipse">
            <a:avLst/>
          </a:prstGeom>
          <a:solidFill>
            <a:srgbClr val="14213D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altLang="ko-KR" sz="1600" b="1">
                <a:solidFill>
                  <a:srgbClr val="FFFFFF"/>
                </a:solidFill>
                <a:latin typeface="JetBrains Mono"/>
              </a:rPr>
              <a:t>4</a:t>
            </a:r>
          </a:p>
        </p:txBody>
      </p:sp>
      <p:sp>
        <p:nvSpPr>
          <p:cNvPr id="118" name="Row 4 Label"/>
          <p:cNvSpPr/>
          <p:nvPr/>
        </p:nvSpPr>
        <p:spPr>
          <a:xfrm>
            <a:off x="1905000" y="5366844"/>
            <a:ext cx="2540000" cy="330200"/>
          </a:xfrm>
          <a:prstGeom prst="rect">
            <a:avLst/>
          </a:prstGeom>
          <a:noFill/>
        </p:spPr>
        <p:txBody>
          <a:bodyPr lIns="0" tIns="0" rIns="0" bIns="0" anchor="t"/>
          <a:lstStyle/>
          <a:p>
            <a:pPr algn="l"/>
            <a:r>
              <a:rPr lang="ko-KR" altLang="en-US" sz="1600" b="1">
                <a:solidFill>
                  <a:srgbClr val="14213D"/>
                </a:solidFill>
                <a:latin typeface="Pretendard"/>
              </a:rPr>
              <a:t>톤 일관 + 사실 검수</a:t>
            </a:r>
          </a:p>
        </p:txBody>
      </p:sp>
      <p:sp>
        <p:nvSpPr>
          <p:cNvPr id="119" name="Row 4 Desc"/>
          <p:cNvSpPr/>
          <p:nvPr/>
        </p:nvSpPr>
        <p:spPr>
          <a:xfrm>
            <a:off x="4546600" y="5181600"/>
            <a:ext cx="6629400" cy="6858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algn="l">
              <a:lnSpc>
                <a:spcPct val="120000"/>
              </a:lnSpc>
            </a:pPr>
            <a:r>
              <a:rPr lang="ko-KR" altLang="en-US" sz="1400">
                <a:solidFill>
                  <a:srgbClr val="576176"/>
                </a:solidFill>
                <a:latin typeface="Pretendard"/>
              </a:rPr>
              <a:t>말투·금지어를 1줄로 고정하고, 수치·성분은 반드시 원본과 대조한다.</a:t>
            </a:r>
          </a:p>
        </p:txBody>
      </p:sp>
      <p:sp>
        <p:nvSpPr>
          <p:cNvPr id="4" name="PageNumber">
            <a:extLst>
              <a:ext uri="{FF2B5EF4-FFF2-40B4-BE49-F238E27FC236}">
                <a16:creationId xmlns:a16="http://schemas.microsoft.com/office/drawing/2014/main" id="{75D64408-A7D8-DE4F-AC54-1295B72973A3}"/>
              </a:ext>
            </a:extLst>
          </p:cNvPr>
          <p:cNvSpPr txBox="1"/>
          <p:nvPr/>
        </p:nvSpPr>
        <p:spPr>
          <a:xfrm>
            <a:off x="9499600" y="6489700"/>
            <a:ext cx="23368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r"/>
            <a:r>
              <a:rPr lang="en-US" altLang="ko-KR" sz="1200">
                <a:solidFill>
                  <a:srgbClr val="576176"/>
                </a:solidFill>
                <a:latin typeface="Pretendard"/>
              </a:rPr>
              <a:t>- 51/144 -</a:t>
            </a:r>
            <a:endParaRPr lang="ko-KR" altLang="en-US" sz="1200">
              <a:solidFill>
                <a:srgbClr val="576176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408169591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개념 깊이 보기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개념을 예시로 — 우리 케이스에 적용하면</a:t>
            </a: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FCFF4161-DC67-F24F-828B-9BCDCAE40443}"/>
              </a:ext>
            </a:extLst>
          </p:cNvPr>
          <p:cNvSpPr/>
          <p:nvPr/>
        </p:nvSpPr>
        <p:spPr>
          <a:xfrm>
            <a:off x="825500" y="1905000"/>
            <a:ext cx="5461000" cy="4381500"/>
          </a:xfrm>
          <a:prstGeom prst="roundRect">
            <a:avLst>
              <a:gd name="adj" fmla="val 580"/>
            </a:avLst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9C6AA5-F918-3F45-9273-19D2D467D124}"/>
              </a:ext>
            </a:extLst>
          </p:cNvPr>
          <p:cNvSpPr txBox="1"/>
          <p:nvPr/>
        </p:nvSpPr>
        <p:spPr>
          <a:xfrm>
            <a:off x="1181100" y="2159000"/>
            <a:ext cx="4749800" cy="355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b="1">
                <a:solidFill>
                  <a:srgbClr val="14213D"/>
                </a:solidFill>
                <a:latin typeface="Pretendard"/>
              </a:rPr>
              <a:t>PAS </a:t>
            </a:r>
            <a:r>
              <a:rPr lang="ko-KR" altLang="en-US" b="1">
                <a:solidFill>
                  <a:srgbClr val="14213D"/>
                </a:solidFill>
                <a:latin typeface="Pretendard"/>
              </a:rPr>
              <a:t>구조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59897A-0EAF-8D4F-B42C-6A09A6193A74}"/>
              </a:ext>
            </a:extLst>
          </p:cNvPr>
          <p:cNvSpPr txBox="1"/>
          <p:nvPr/>
        </p:nvSpPr>
        <p:spPr>
          <a:xfrm>
            <a:off x="1181100" y="2540000"/>
            <a:ext cx="47498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400">
                <a:solidFill>
                  <a:srgbClr val="576176"/>
                </a:solidFill>
                <a:latin typeface="Pretendard"/>
              </a:rPr>
              <a:t>문제 → 증폭 → 해결</a:t>
            </a: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EA29A91B-9CF4-9D48-87CD-C0339922F93B}"/>
              </a:ext>
            </a:extLst>
          </p:cNvPr>
          <p:cNvSpPr/>
          <p:nvPr/>
        </p:nvSpPr>
        <p:spPr>
          <a:xfrm>
            <a:off x="1181100" y="2946400"/>
            <a:ext cx="508000" cy="508000"/>
          </a:xfrm>
          <a:prstGeom prst="ellipse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  <a:latin typeface="JetBrains Mono"/>
              </a:rPr>
              <a:t>P</a:t>
            </a:r>
            <a:endParaRPr lang="ko-KR" altLang="en-US" sz="16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880F37-A42A-144B-9CFD-F75D1C4D270C}"/>
              </a:ext>
            </a:extLst>
          </p:cNvPr>
          <p:cNvSpPr txBox="1"/>
          <p:nvPr/>
        </p:nvSpPr>
        <p:spPr>
          <a:xfrm>
            <a:off x="1841500" y="2921000"/>
            <a:ext cx="4064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400" b="1">
                <a:solidFill>
                  <a:srgbClr val="14213D"/>
                </a:solidFill>
                <a:latin typeface="Pretendard"/>
              </a:rPr>
              <a:t>문제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8D4EE3-B036-2C49-9A9D-5DAA69FF1D12}"/>
              </a:ext>
            </a:extLst>
          </p:cNvPr>
          <p:cNvSpPr txBox="1"/>
          <p:nvPr/>
        </p:nvSpPr>
        <p:spPr>
          <a:xfrm>
            <a:off x="1841500" y="3200400"/>
            <a:ext cx="4064000" cy="508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400">
                <a:solidFill>
                  <a:srgbClr val="576176"/>
                </a:solidFill>
                <a:latin typeface="Pretendard"/>
              </a:rPr>
              <a:t>“혼술은 늘고 싶은데 내일이 걱정”</a:t>
            </a: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4F166B15-58E4-6F44-B448-D866AED1F777}"/>
              </a:ext>
            </a:extLst>
          </p:cNvPr>
          <p:cNvSpPr/>
          <p:nvPr/>
        </p:nvSpPr>
        <p:spPr>
          <a:xfrm>
            <a:off x="1181100" y="3937000"/>
            <a:ext cx="508000" cy="508000"/>
          </a:xfrm>
          <a:prstGeom prst="ellipse">
            <a:avLst/>
          </a:prstGeom>
          <a:solidFill>
            <a:srgbClr val="1D4E89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  <a:latin typeface="JetBrains Mono"/>
              </a:rPr>
              <a:t>A</a:t>
            </a:r>
            <a:endParaRPr lang="ko-KR" altLang="en-US" sz="16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1F3DE31-4CDF-9045-975E-387EAF316F9D}"/>
              </a:ext>
            </a:extLst>
          </p:cNvPr>
          <p:cNvSpPr txBox="1"/>
          <p:nvPr/>
        </p:nvSpPr>
        <p:spPr>
          <a:xfrm>
            <a:off x="1841500" y="3911600"/>
            <a:ext cx="4064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400" b="1">
                <a:solidFill>
                  <a:srgbClr val="14213D"/>
                </a:solidFill>
                <a:latin typeface="Pretendard"/>
              </a:rPr>
              <a:t>증폭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E5C87EB-8D7D-2949-A2C1-9D5CEF7BB615}"/>
              </a:ext>
            </a:extLst>
          </p:cNvPr>
          <p:cNvSpPr txBox="1"/>
          <p:nvPr/>
        </p:nvSpPr>
        <p:spPr>
          <a:xfrm>
            <a:off x="1841500" y="4191000"/>
            <a:ext cx="4064000" cy="508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400">
                <a:solidFill>
                  <a:srgbClr val="576176"/>
                </a:solidFill>
                <a:latin typeface="Pretendard"/>
              </a:rPr>
              <a:t>“숙취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·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칼로리 때문에 망설인다”</a:t>
            </a:r>
          </a:p>
        </p:txBody>
      </p:sp>
      <p:sp>
        <p:nvSpPr>
          <p:cNvPr id="14" name="모서리가 둥근 직사각형 13">
            <a:extLst>
              <a:ext uri="{FF2B5EF4-FFF2-40B4-BE49-F238E27FC236}">
                <a16:creationId xmlns:a16="http://schemas.microsoft.com/office/drawing/2014/main" id="{E5BEA390-CC88-F94B-9863-692ACAB1EAEE}"/>
              </a:ext>
            </a:extLst>
          </p:cNvPr>
          <p:cNvSpPr/>
          <p:nvPr/>
        </p:nvSpPr>
        <p:spPr>
          <a:xfrm>
            <a:off x="1079500" y="4876800"/>
            <a:ext cx="5029200" cy="838200"/>
          </a:xfrm>
          <a:prstGeom prst="roundRect">
            <a:avLst>
              <a:gd name="adj" fmla="val 3030"/>
            </a:avLst>
          </a:prstGeom>
          <a:solidFill>
            <a:srgbClr val="FBEF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645D165B-E192-0B4E-A45B-43B36A68A3EF}"/>
              </a:ext>
            </a:extLst>
          </p:cNvPr>
          <p:cNvSpPr/>
          <p:nvPr/>
        </p:nvSpPr>
        <p:spPr>
          <a:xfrm>
            <a:off x="1181100" y="4927600"/>
            <a:ext cx="508000" cy="508000"/>
          </a:xfrm>
          <a:prstGeom prst="ellipse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  <a:latin typeface="JetBrains Mono"/>
              </a:rPr>
              <a:t>S</a:t>
            </a:r>
            <a:endParaRPr lang="ko-KR" altLang="en-US" sz="16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4A895D1-941D-5B41-BBDC-B813FFE83DB4}"/>
              </a:ext>
            </a:extLst>
          </p:cNvPr>
          <p:cNvSpPr txBox="1"/>
          <p:nvPr/>
        </p:nvSpPr>
        <p:spPr>
          <a:xfrm>
            <a:off x="1841500" y="4902200"/>
            <a:ext cx="4064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400" b="1">
                <a:solidFill>
                  <a:srgbClr val="14213D"/>
                </a:solidFill>
                <a:latin typeface="Pretendard"/>
              </a:rPr>
              <a:t>해결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8A043CE-A4DA-B648-8A5F-6C1B408C4A8A}"/>
              </a:ext>
            </a:extLst>
          </p:cNvPr>
          <p:cNvSpPr txBox="1"/>
          <p:nvPr/>
        </p:nvSpPr>
        <p:spPr>
          <a:xfrm>
            <a:off x="1841500" y="5181600"/>
            <a:ext cx="4064000" cy="508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400" b="1">
                <a:solidFill>
                  <a:srgbClr val="14213D"/>
                </a:solidFill>
                <a:latin typeface="Pretendard"/>
              </a:rPr>
              <a:t>“Night Off</a:t>
            </a:r>
            <a:r>
              <a:rPr lang="ko-KR" altLang="en-US" sz="1400" b="1">
                <a:solidFill>
                  <a:srgbClr val="14213D"/>
                </a:solidFill>
                <a:latin typeface="Pretendard"/>
              </a:rPr>
              <a:t>면 부담 없이 즐긴다”</a:t>
            </a:r>
          </a:p>
        </p:txBody>
      </p:sp>
      <p:sp>
        <p:nvSpPr>
          <p:cNvPr id="18" name="모서리가 둥근 직사각형 17">
            <a:extLst>
              <a:ext uri="{FF2B5EF4-FFF2-40B4-BE49-F238E27FC236}">
                <a16:creationId xmlns:a16="http://schemas.microsoft.com/office/drawing/2014/main" id="{5748236A-0729-134B-97D7-7DA5D772CD40}"/>
              </a:ext>
            </a:extLst>
          </p:cNvPr>
          <p:cNvSpPr/>
          <p:nvPr/>
        </p:nvSpPr>
        <p:spPr>
          <a:xfrm>
            <a:off x="6540500" y="1905000"/>
            <a:ext cx="4826000" cy="4381500"/>
          </a:xfrm>
          <a:prstGeom prst="roundRect">
            <a:avLst>
              <a:gd name="adj" fmla="val 580"/>
            </a:avLst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FBC86B7-92A0-1F42-B0DE-4F07CDB9C862}"/>
              </a:ext>
            </a:extLst>
          </p:cNvPr>
          <p:cNvSpPr txBox="1"/>
          <p:nvPr/>
        </p:nvSpPr>
        <p:spPr>
          <a:xfrm>
            <a:off x="6845300" y="2159000"/>
            <a:ext cx="4216400" cy="355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b="1">
                <a:solidFill>
                  <a:srgbClr val="FFFFFF"/>
                </a:solidFill>
                <a:latin typeface="Pretendard"/>
              </a:rPr>
              <a:t>특징 → 이득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4C994A9-F8AA-3B4B-A945-3708BFEE43F4}"/>
              </a:ext>
            </a:extLst>
          </p:cNvPr>
          <p:cNvSpPr txBox="1"/>
          <p:nvPr/>
        </p:nvSpPr>
        <p:spPr>
          <a:xfrm>
            <a:off x="6845300" y="2540000"/>
            <a:ext cx="42164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400">
                <a:solidFill>
                  <a:srgbClr val="E8A33D"/>
                </a:solidFill>
                <a:latin typeface="Pretendard"/>
              </a:rPr>
              <a:t>고객이 얻는 것으로 번역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224D155-FEEC-D440-BEFD-DFA798AE015A}"/>
              </a:ext>
            </a:extLst>
          </p:cNvPr>
          <p:cNvSpPr txBox="1"/>
          <p:nvPr/>
        </p:nvSpPr>
        <p:spPr>
          <a:xfrm>
            <a:off x="6845300" y="2997200"/>
            <a:ext cx="4216400" cy="203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400" b="1">
                <a:solidFill>
                  <a:srgbClr val="9FB3CE"/>
                </a:solidFill>
                <a:latin typeface="JetBrains Mono"/>
              </a:rPr>
              <a:t>특징 </a:t>
            </a:r>
            <a:r>
              <a:rPr lang="en-US" altLang="ko-KR" sz="1400" b="1">
                <a:solidFill>
                  <a:srgbClr val="9FB3CE"/>
                </a:solidFill>
                <a:latin typeface="JetBrains Mono"/>
              </a:rPr>
              <a:t>(Feature)</a:t>
            </a:r>
            <a:endParaRPr lang="ko-KR" altLang="en-US" sz="1400" b="1">
              <a:solidFill>
                <a:srgbClr val="9FB3CE"/>
              </a:solidFill>
              <a:latin typeface="JetBrains Mono"/>
            </a:endParaRPr>
          </a:p>
        </p:txBody>
      </p:sp>
      <p:sp>
        <p:nvSpPr>
          <p:cNvPr id="22" name="모서리가 둥근 직사각형 21">
            <a:extLst>
              <a:ext uri="{FF2B5EF4-FFF2-40B4-BE49-F238E27FC236}">
                <a16:creationId xmlns:a16="http://schemas.microsoft.com/office/drawing/2014/main" id="{4C0ABD78-CA2E-D345-9652-FC195C8C9B81}"/>
              </a:ext>
            </a:extLst>
          </p:cNvPr>
          <p:cNvSpPr/>
          <p:nvPr/>
        </p:nvSpPr>
        <p:spPr>
          <a:xfrm>
            <a:off x="6845300" y="3403600"/>
            <a:ext cx="4216400" cy="558800"/>
          </a:xfrm>
          <a:prstGeom prst="roundRect">
            <a:avLst>
              <a:gd name="adj" fmla="val 3571"/>
            </a:avLst>
          </a:prstGeom>
          <a:solidFill>
            <a:srgbClr val="20314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E3A7C42-5273-1344-91E7-BD8F141FC458}"/>
              </a:ext>
            </a:extLst>
          </p:cNvPr>
          <p:cNvSpPr txBox="1"/>
          <p:nvPr/>
        </p:nvSpPr>
        <p:spPr>
          <a:xfrm>
            <a:off x="6845300" y="3403600"/>
            <a:ext cx="4216400" cy="558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700" b="1">
                <a:solidFill>
                  <a:srgbClr val="FFFFFF"/>
                </a:solidFill>
                <a:latin typeface="Pretendard"/>
              </a:rPr>
              <a:t>칼로리 </a:t>
            </a:r>
            <a:r>
              <a:rPr lang="en-US" altLang="ko-KR" sz="1700" b="1">
                <a:solidFill>
                  <a:srgbClr val="FFFFFF"/>
                </a:solidFill>
                <a:latin typeface="Pretendard"/>
              </a:rPr>
              <a:t>30% ↓</a:t>
            </a:r>
            <a:endParaRPr lang="ko-KR" altLang="en-US" sz="1700" b="1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9932E80-21C2-0F46-89C5-332BB4FC4D91}"/>
              </a:ext>
            </a:extLst>
          </p:cNvPr>
          <p:cNvSpPr txBox="1"/>
          <p:nvPr/>
        </p:nvSpPr>
        <p:spPr>
          <a:xfrm>
            <a:off x="6845300" y="4038600"/>
            <a:ext cx="4216400" cy="355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2200" b="1">
                <a:solidFill>
                  <a:srgbClr val="E8A33D"/>
                </a:solidFill>
                <a:latin typeface="Pretendard"/>
              </a:rPr>
              <a:t>↓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320189F-23F2-0544-BF8A-9E681BB9CF9B}"/>
              </a:ext>
            </a:extLst>
          </p:cNvPr>
          <p:cNvSpPr txBox="1"/>
          <p:nvPr/>
        </p:nvSpPr>
        <p:spPr>
          <a:xfrm>
            <a:off x="6845300" y="4445000"/>
            <a:ext cx="4216400" cy="203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400" b="1">
                <a:solidFill>
                  <a:srgbClr val="E8A33D"/>
                </a:solidFill>
                <a:latin typeface="JetBrains Mono"/>
              </a:rPr>
              <a:t>이득 </a:t>
            </a:r>
            <a:r>
              <a:rPr lang="en-US" altLang="ko-KR" sz="1400" b="1">
                <a:solidFill>
                  <a:srgbClr val="E8A33D"/>
                </a:solidFill>
                <a:latin typeface="JetBrains Mono"/>
              </a:rPr>
              <a:t>(Benefit)</a:t>
            </a:r>
            <a:endParaRPr lang="ko-KR" altLang="en-US" sz="1400" b="1">
              <a:solidFill>
                <a:srgbClr val="E8A33D"/>
              </a:solidFill>
              <a:latin typeface="JetBrains Mono"/>
            </a:endParaRPr>
          </a:p>
        </p:txBody>
      </p:sp>
      <p:sp>
        <p:nvSpPr>
          <p:cNvPr id="26" name="모서리가 둥근 직사각형 25">
            <a:extLst>
              <a:ext uri="{FF2B5EF4-FFF2-40B4-BE49-F238E27FC236}">
                <a16:creationId xmlns:a16="http://schemas.microsoft.com/office/drawing/2014/main" id="{D4194793-25BB-2C4F-A963-3F879EA4B0F9}"/>
              </a:ext>
            </a:extLst>
          </p:cNvPr>
          <p:cNvSpPr/>
          <p:nvPr/>
        </p:nvSpPr>
        <p:spPr>
          <a:xfrm>
            <a:off x="6845300" y="4876800"/>
            <a:ext cx="4216400" cy="660400"/>
          </a:xfrm>
          <a:prstGeom prst="roundRect">
            <a:avLst>
              <a:gd name="adj" fmla="val 3030"/>
            </a:avLst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BC97337-8526-3145-BCEE-1F4FE2C659F6}"/>
              </a:ext>
            </a:extLst>
          </p:cNvPr>
          <p:cNvSpPr txBox="1"/>
          <p:nvPr/>
        </p:nvSpPr>
        <p:spPr>
          <a:xfrm>
            <a:off x="6845300" y="4876800"/>
            <a:ext cx="4216400" cy="660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550" b="1">
                <a:solidFill>
                  <a:srgbClr val="14213D"/>
                </a:solidFill>
                <a:latin typeface="Pretendard"/>
              </a:rPr>
              <a:t>“한 캔 더 마셔도 죄책감 없다”</a:t>
            </a:r>
          </a:p>
        </p:txBody>
      </p:sp>
      <p:sp>
        <p:nvSpPr>
          <p:cNvPr id="4" name="PageNumber">
            <a:extLst>
              <a:ext uri="{FF2B5EF4-FFF2-40B4-BE49-F238E27FC236}">
                <a16:creationId xmlns:a16="http://schemas.microsoft.com/office/drawing/2014/main" id="{8F221D3D-90B7-894F-B75F-E4E1F64F2838}"/>
              </a:ext>
            </a:extLst>
          </p:cNvPr>
          <p:cNvSpPr txBox="1"/>
          <p:nvPr/>
        </p:nvSpPr>
        <p:spPr>
          <a:xfrm>
            <a:off x="9499600" y="6489700"/>
            <a:ext cx="23368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r"/>
            <a:r>
              <a:rPr lang="en-US" altLang="ko-KR" sz="1200">
                <a:solidFill>
                  <a:srgbClr val="576176"/>
                </a:solidFill>
                <a:latin typeface="Pretendard"/>
              </a:rPr>
              <a:t>- 52/144 -</a:t>
            </a:r>
            <a:endParaRPr lang="ko-KR" altLang="en-US" sz="1200">
              <a:solidFill>
                <a:srgbClr val="576176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415954904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실습 절차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실습 절차 — 직접 해봅니다</a:t>
            </a: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EC573A62-F852-1441-9AA9-6A8161F2424D}"/>
              </a:ext>
            </a:extLst>
          </p:cNvPr>
          <p:cNvSpPr/>
          <p:nvPr/>
        </p:nvSpPr>
        <p:spPr>
          <a:xfrm>
            <a:off x="825500" y="1930400"/>
            <a:ext cx="10541000" cy="939800"/>
          </a:xfrm>
          <a:prstGeom prst="roundRect">
            <a:avLst>
              <a:gd name="adj" fmla="val 2703"/>
            </a:avLst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2AC3F05-726F-AE45-A648-7D5E7B2E7CF6}"/>
              </a:ext>
            </a:extLst>
          </p:cNvPr>
          <p:cNvSpPr/>
          <p:nvPr/>
        </p:nvSpPr>
        <p:spPr>
          <a:xfrm>
            <a:off x="825500" y="1930400"/>
            <a:ext cx="76200" cy="939800"/>
          </a:xfrm>
          <a:prstGeom prst="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93AD0A68-7AA4-154E-9716-F3CE5C70338F}"/>
              </a:ext>
            </a:extLst>
          </p:cNvPr>
          <p:cNvSpPr/>
          <p:nvPr/>
        </p:nvSpPr>
        <p:spPr>
          <a:xfrm>
            <a:off x="1143000" y="2159000"/>
            <a:ext cx="482600" cy="482600"/>
          </a:xfrm>
          <a:prstGeom prst="ellipse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  <a:latin typeface="JetBrains Mono"/>
              </a:rPr>
              <a:t>1</a:t>
            </a:r>
            <a:endParaRPr lang="ko-KR" altLang="en-US" sz="16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8368CB-2A18-4147-A239-D15FD60686A5}"/>
              </a:ext>
            </a:extLst>
          </p:cNvPr>
          <p:cNvSpPr txBox="1"/>
          <p:nvPr/>
        </p:nvSpPr>
        <p:spPr>
          <a:xfrm>
            <a:off x="1905000" y="2253155"/>
            <a:ext cx="2540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600" b="1" dirty="0">
                <a:solidFill>
                  <a:srgbClr val="14213D"/>
                </a:solidFill>
                <a:latin typeface="Pretendard"/>
              </a:rPr>
              <a:t>톤</a:t>
            </a:r>
            <a:r>
              <a:rPr lang="en-US" altLang="ko-KR" sz="1600" b="1" dirty="0">
                <a:solidFill>
                  <a:srgbClr val="14213D"/>
                </a:solidFill>
                <a:latin typeface="Pretendard"/>
              </a:rPr>
              <a:t>·</a:t>
            </a:r>
            <a:r>
              <a:rPr lang="ko-KR" altLang="en-US" sz="1600" b="1" dirty="0">
                <a:solidFill>
                  <a:srgbClr val="14213D"/>
                </a:solidFill>
                <a:latin typeface="Pretendard"/>
              </a:rPr>
              <a:t>메시지 붙여넣기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2C80EA-1FC3-3647-8310-4C7CA72054E0}"/>
              </a:ext>
            </a:extLst>
          </p:cNvPr>
          <p:cNvSpPr txBox="1"/>
          <p:nvPr/>
        </p:nvSpPr>
        <p:spPr>
          <a:xfrm>
            <a:off x="4546600" y="2057400"/>
            <a:ext cx="6629400" cy="685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altLang="ko-KR" sz="1400">
                <a:solidFill>
                  <a:srgbClr val="576176"/>
                </a:solidFill>
                <a:latin typeface="Pretendard"/>
              </a:rPr>
              <a:t>M2 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메시지 하우스와 톤 가이드를 프롬프트에 붙여 넣는다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.</a:t>
            </a:r>
            <a:endParaRPr lang="ko-KR" altLang="en-US" sz="1400">
              <a:solidFill>
                <a:srgbClr val="576176"/>
              </a:solidFill>
              <a:latin typeface="Pretendard"/>
            </a:endParaRP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11B6620F-F79B-B948-B3BF-3B18AB209E55}"/>
              </a:ext>
            </a:extLst>
          </p:cNvPr>
          <p:cNvSpPr/>
          <p:nvPr/>
        </p:nvSpPr>
        <p:spPr>
          <a:xfrm>
            <a:off x="825500" y="2971800"/>
            <a:ext cx="10541000" cy="939800"/>
          </a:xfrm>
          <a:prstGeom prst="roundRect">
            <a:avLst>
              <a:gd name="adj" fmla="val 2703"/>
            </a:avLst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BA93EEE-CCA8-5F43-B3C4-5DE48E12CF11}"/>
              </a:ext>
            </a:extLst>
          </p:cNvPr>
          <p:cNvSpPr/>
          <p:nvPr/>
        </p:nvSpPr>
        <p:spPr>
          <a:xfrm>
            <a:off x="825500" y="2971800"/>
            <a:ext cx="76200" cy="939800"/>
          </a:xfrm>
          <a:prstGeom prst="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40A60535-EAA3-E54D-8D86-DF2D98D2D303}"/>
              </a:ext>
            </a:extLst>
          </p:cNvPr>
          <p:cNvSpPr/>
          <p:nvPr/>
        </p:nvSpPr>
        <p:spPr>
          <a:xfrm>
            <a:off x="1143000" y="3200400"/>
            <a:ext cx="482600" cy="482600"/>
          </a:xfrm>
          <a:prstGeom prst="ellipse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  <a:latin typeface="JetBrains Mono"/>
              </a:rPr>
              <a:t>2</a:t>
            </a:r>
            <a:endParaRPr lang="ko-KR" altLang="en-US" sz="16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A1F5E7F-5A56-F144-8E68-FDF7BF3ACB17}"/>
              </a:ext>
            </a:extLst>
          </p:cNvPr>
          <p:cNvSpPr txBox="1"/>
          <p:nvPr/>
        </p:nvSpPr>
        <p:spPr>
          <a:xfrm>
            <a:off x="1905000" y="3294555"/>
            <a:ext cx="2540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14213D"/>
                </a:solidFill>
                <a:latin typeface="Pretendard"/>
              </a:rPr>
              <a:t>PAS </a:t>
            </a:r>
            <a:r>
              <a:rPr lang="ko-KR" altLang="en-US" sz="1600" b="1">
                <a:solidFill>
                  <a:srgbClr val="14213D"/>
                </a:solidFill>
                <a:latin typeface="Pretendard"/>
              </a:rPr>
              <a:t>초안 생성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B6D7739-4F91-0048-AF61-CA32A8B8AE4B}"/>
              </a:ext>
            </a:extLst>
          </p:cNvPr>
          <p:cNvSpPr txBox="1"/>
          <p:nvPr/>
        </p:nvSpPr>
        <p:spPr>
          <a:xfrm>
            <a:off x="4546600" y="3098800"/>
            <a:ext cx="6629400" cy="685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altLang="ko-KR" sz="1400">
                <a:solidFill>
                  <a:srgbClr val="576176"/>
                </a:solidFill>
                <a:latin typeface="Pretendard"/>
              </a:rPr>
              <a:t>PAS 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구조로 제품 소개문 초안을 생성한다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.</a:t>
            </a:r>
            <a:endParaRPr lang="ko-KR" altLang="en-US" sz="1400">
              <a:solidFill>
                <a:srgbClr val="576176"/>
              </a:solidFill>
              <a:latin typeface="Pretendard"/>
            </a:endParaRPr>
          </a:p>
        </p:txBody>
      </p:sp>
      <p:sp>
        <p:nvSpPr>
          <p:cNvPr id="15" name="모서리가 둥근 직사각형 14">
            <a:extLst>
              <a:ext uri="{FF2B5EF4-FFF2-40B4-BE49-F238E27FC236}">
                <a16:creationId xmlns:a16="http://schemas.microsoft.com/office/drawing/2014/main" id="{B4A26599-40A9-E344-A076-5C61EB2BAD7D}"/>
              </a:ext>
            </a:extLst>
          </p:cNvPr>
          <p:cNvSpPr/>
          <p:nvPr/>
        </p:nvSpPr>
        <p:spPr>
          <a:xfrm>
            <a:off x="825500" y="4013200"/>
            <a:ext cx="10541000" cy="939800"/>
          </a:xfrm>
          <a:prstGeom prst="roundRect">
            <a:avLst>
              <a:gd name="adj" fmla="val 2703"/>
            </a:avLst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9F8D733-BDD3-CA47-AC85-33C234630833}"/>
              </a:ext>
            </a:extLst>
          </p:cNvPr>
          <p:cNvSpPr/>
          <p:nvPr/>
        </p:nvSpPr>
        <p:spPr>
          <a:xfrm>
            <a:off x="825500" y="4013200"/>
            <a:ext cx="76200" cy="939800"/>
          </a:xfrm>
          <a:prstGeom prst="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312DF7D6-1898-1D42-B19E-FBCD5E1A68D3}"/>
              </a:ext>
            </a:extLst>
          </p:cNvPr>
          <p:cNvSpPr/>
          <p:nvPr/>
        </p:nvSpPr>
        <p:spPr>
          <a:xfrm>
            <a:off x="1143000" y="4241800"/>
            <a:ext cx="482600" cy="482600"/>
          </a:xfrm>
          <a:prstGeom prst="ellipse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  <a:latin typeface="JetBrains Mono"/>
              </a:rPr>
              <a:t>3</a:t>
            </a:r>
            <a:endParaRPr lang="ko-KR" altLang="en-US" sz="16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712C6BE-346C-E743-A1C3-01E5AD1E88E9}"/>
              </a:ext>
            </a:extLst>
          </p:cNvPr>
          <p:cNvSpPr txBox="1"/>
          <p:nvPr/>
        </p:nvSpPr>
        <p:spPr>
          <a:xfrm>
            <a:off x="1905000" y="4335955"/>
            <a:ext cx="2540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600" b="1">
                <a:solidFill>
                  <a:srgbClr val="14213D"/>
                </a:solidFill>
                <a:latin typeface="Pretendard"/>
              </a:rPr>
              <a:t>이득으로 수정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946710E-F50E-2F47-B65B-F46CA98AA233}"/>
              </a:ext>
            </a:extLst>
          </p:cNvPr>
          <p:cNvSpPr txBox="1"/>
          <p:nvPr/>
        </p:nvSpPr>
        <p:spPr>
          <a:xfrm>
            <a:off x="4546600" y="4140200"/>
            <a:ext cx="6629400" cy="685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400">
                <a:solidFill>
                  <a:srgbClr val="576176"/>
                </a:solidFill>
                <a:latin typeface="Pretendard"/>
              </a:rPr>
              <a:t>특징 표현을 이득 표현으로 바꾸도록 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1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차 수정한다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.</a:t>
            </a:r>
            <a:endParaRPr lang="ko-KR" altLang="en-US" sz="1400">
              <a:solidFill>
                <a:srgbClr val="576176"/>
              </a:solidFill>
              <a:latin typeface="Pretendard"/>
            </a:endParaRPr>
          </a:p>
        </p:txBody>
      </p:sp>
      <p:sp>
        <p:nvSpPr>
          <p:cNvPr id="20" name="모서리가 둥근 직사각형 19">
            <a:extLst>
              <a:ext uri="{FF2B5EF4-FFF2-40B4-BE49-F238E27FC236}">
                <a16:creationId xmlns:a16="http://schemas.microsoft.com/office/drawing/2014/main" id="{FCFBF35F-74A0-3345-9A2E-D9C8F8B11FE1}"/>
              </a:ext>
            </a:extLst>
          </p:cNvPr>
          <p:cNvSpPr/>
          <p:nvPr/>
        </p:nvSpPr>
        <p:spPr>
          <a:xfrm>
            <a:off x="825500" y="5054600"/>
            <a:ext cx="10541000" cy="939800"/>
          </a:xfrm>
          <a:prstGeom prst="roundRect">
            <a:avLst>
              <a:gd name="adj" fmla="val 2703"/>
            </a:avLst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4B3C0B5-5896-1346-A023-A10B35CDFC0A}"/>
              </a:ext>
            </a:extLst>
          </p:cNvPr>
          <p:cNvSpPr/>
          <p:nvPr/>
        </p:nvSpPr>
        <p:spPr>
          <a:xfrm>
            <a:off x="825500" y="5054600"/>
            <a:ext cx="76200" cy="939800"/>
          </a:xfrm>
          <a:prstGeom prst="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EE6551ED-A58F-5C4B-9E07-2EF9EAA0B932}"/>
              </a:ext>
            </a:extLst>
          </p:cNvPr>
          <p:cNvSpPr/>
          <p:nvPr/>
        </p:nvSpPr>
        <p:spPr>
          <a:xfrm>
            <a:off x="1143000" y="5283200"/>
            <a:ext cx="482600" cy="482600"/>
          </a:xfrm>
          <a:prstGeom prst="ellipse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  <a:latin typeface="JetBrains Mono"/>
              </a:rPr>
              <a:t>4</a:t>
            </a:r>
            <a:endParaRPr lang="ko-KR" altLang="en-US" sz="16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CEB99B3-75DC-3D45-A81E-2299AE7B1BE7}"/>
              </a:ext>
            </a:extLst>
          </p:cNvPr>
          <p:cNvSpPr txBox="1"/>
          <p:nvPr/>
        </p:nvSpPr>
        <p:spPr>
          <a:xfrm>
            <a:off x="1905000" y="5377355"/>
            <a:ext cx="2540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600" b="1">
                <a:solidFill>
                  <a:srgbClr val="14213D"/>
                </a:solidFill>
                <a:latin typeface="Pretendard"/>
              </a:rPr>
              <a:t>사실 검수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8586C38-C4B8-8942-B24C-6CDF8C257278}"/>
              </a:ext>
            </a:extLst>
          </p:cNvPr>
          <p:cNvSpPr txBox="1"/>
          <p:nvPr/>
        </p:nvSpPr>
        <p:spPr>
          <a:xfrm>
            <a:off x="4546600" y="5181600"/>
            <a:ext cx="6629400" cy="685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400">
                <a:solidFill>
                  <a:srgbClr val="576176"/>
                </a:solidFill>
                <a:latin typeface="Pretendard"/>
              </a:rPr>
              <a:t>수치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·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기능을 원본과 대조해 검수한다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.</a:t>
            </a:r>
            <a:endParaRPr lang="ko-KR" altLang="en-US" sz="1400">
              <a:solidFill>
                <a:srgbClr val="576176"/>
              </a:solidFill>
              <a:latin typeface="Pretendard"/>
            </a:endParaRPr>
          </a:p>
        </p:txBody>
      </p:sp>
      <p:sp>
        <p:nvSpPr>
          <p:cNvPr id="4" name="PageNumber">
            <a:extLst>
              <a:ext uri="{FF2B5EF4-FFF2-40B4-BE49-F238E27FC236}">
                <a16:creationId xmlns:a16="http://schemas.microsoft.com/office/drawing/2014/main" id="{3F96F3B5-BD8D-BE4B-A1C1-4CC469DD7A34}"/>
              </a:ext>
            </a:extLst>
          </p:cNvPr>
          <p:cNvSpPr txBox="1"/>
          <p:nvPr/>
        </p:nvSpPr>
        <p:spPr>
          <a:xfrm>
            <a:off x="9499600" y="6489700"/>
            <a:ext cx="23368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r"/>
            <a:r>
              <a:rPr lang="en-US" altLang="ko-KR" sz="1200">
                <a:solidFill>
                  <a:srgbClr val="576176"/>
                </a:solidFill>
                <a:latin typeface="Pretendard"/>
              </a:rPr>
              <a:t>- 53/144 -</a:t>
            </a:r>
            <a:endParaRPr lang="ko-KR" altLang="en-US" sz="1200">
              <a:solidFill>
                <a:srgbClr val="576176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398318101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실습 프롬프트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제품 소개문 생성 프롬프트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874519"/>
            <a:ext cx="10332720" cy="4434840"/>
          </a:xfrm>
          <a:prstGeom prst="rect">
            <a:avLst/>
          </a:prstGeom>
          <a:solidFill>
            <a:srgbClr val="10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11480" tIns="502920" rIns="365760" bIns="320040" rtlCol="0" anchor="t"/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200"/>
              </a:spcAft>
            </a:pP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[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톤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]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친근한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반말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금지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정중하지만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가벼운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존댓말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.</a:t>
            </a:r>
            <a:endParaRPr lang="en-US" sz="1600" dirty="0">
              <a:solidFill>
                <a:srgbClr val="E8EEFA"/>
              </a:solidFill>
              <a:latin typeface="JetBrains Mono"/>
              <a:ea typeface="JetBrains Mono"/>
              <a:cs typeface="JetBrains Mono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200"/>
              </a:spcAft>
            </a:pPr>
            <a:endParaRPr sz="1600" dirty="0">
              <a:solidFill>
                <a:srgbClr val="E8EEFA"/>
              </a:solidFill>
              <a:latin typeface="JetBrains Mono"/>
              <a:ea typeface="JetBrains Mono"/>
              <a:cs typeface="JetBrains Mono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200"/>
              </a:spcAft>
            </a:pP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[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구조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] PAS(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문제→공감→해결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)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로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, 280자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내외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.</a:t>
            </a:r>
            <a:endParaRPr lang="en-US" sz="1600" dirty="0">
              <a:solidFill>
                <a:srgbClr val="E8EEFA"/>
              </a:solidFill>
              <a:latin typeface="JetBrains Mono"/>
              <a:ea typeface="JetBrains Mono"/>
              <a:cs typeface="JetBrains Mono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200"/>
              </a:spcAft>
            </a:pPr>
            <a:endParaRPr sz="1600" dirty="0">
              <a:solidFill>
                <a:srgbClr val="E8EEFA"/>
              </a:solidFill>
              <a:latin typeface="JetBrains Mono"/>
              <a:ea typeface="JetBrains Mono"/>
              <a:cs typeface="JetBrains Mono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200"/>
              </a:spcAft>
            </a:pP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[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필수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]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핵심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메시지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: "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부담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없이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즐기는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진짜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맥주맛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"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200"/>
              </a:spcAft>
            </a:pP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특징을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고객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이득으로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바꿔서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써줘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.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200"/>
              </a:spcAft>
            </a:pP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제품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정보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: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무알콜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수제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맥주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칼로리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30%↓,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진짜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발효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공법</a:t>
            </a:r>
            <a:endParaRPr sz="1600" dirty="0">
              <a:solidFill>
                <a:srgbClr val="E8EEFA"/>
              </a:solidFill>
              <a:latin typeface="JetBrains Mono"/>
              <a:ea typeface="JetBrains Mono"/>
              <a:cs typeface="JetBrains Mono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143000" y="2103120"/>
            <a:ext cx="109728" cy="10972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AEF755DE-F689-4F09-56D0-532E31B62034}"/>
              </a:ext>
            </a:extLst>
          </p:cNvPr>
          <p:cNvGrpSpPr/>
          <p:nvPr/>
        </p:nvGrpSpPr>
        <p:grpSpPr>
          <a:xfrm>
            <a:off x="8399107" y="3846905"/>
            <a:ext cx="2493450" cy="2285159"/>
            <a:chOff x="17449800" y="7213600"/>
            <a:chExt cx="6146800" cy="5486400"/>
          </a:xfrm>
        </p:grpSpPr>
        <p:pic>
          <p:nvPicPr>
            <p:cNvPr id="7" name="Picture 9">
              <a:extLst>
                <a:ext uri="{FF2B5EF4-FFF2-40B4-BE49-F238E27FC236}">
                  <a16:creationId xmlns:a16="http://schemas.microsoft.com/office/drawing/2014/main" id="{E6F6E875-F055-4ED4-F233-CD4FF6625C5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653000" y="8851900"/>
              <a:ext cx="1739900" cy="774700"/>
            </a:xfrm>
            <a:prstGeom prst="rect">
              <a:avLst/>
            </a:prstGeom>
          </p:spPr>
        </p:pic>
        <p:sp>
          <p:nvSpPr>
            <p:cNvPr id="8" name="TextBox 10">
              <a:extLst>
                <a:ext uri="{FF2B5EF4-FFF2-40B4-BE49-F238E27FC236}">
                  <a16:creationId xmlns:a16="http://schemas.microsoft.com/office/drawing/2014/main" id="{4F017795-AC63-3E71-D459-4A2406D1F874}"/>
                </a:ext>
              </a:extLst>
            </p:cNvPr>
            <p:cNvSpPr txBox="1"/>
            <p:nvPr/>
          </p:nvSpPr>
          <p:spPr>
            <a:xfrm>
              <a:off x="17449800" y="8991600"/>
              <a:ext cx="1930400" cy="571500"/>
            </a:xfrm>
            <a:prstGeom prst="rect">
              <a:avLst/>
            </a:prstGeom>
          </p:spPr>
          <p:txBody>
            <a:bodyPr lIns="0" tIns="40640" rIns="0" bIns="4064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2400" b="0" i="0" u="none" strike="noStrike" spc="-100" dirty="0">
                  <a:solidFill>
                    <a:srgbClr val="000000"/>
                  </a:solidFill>
                  <a:latin typeface="SB AggroOTF Bold"/>
                  <a:ea typeface="SB AggroOTF Bold"/>
                  <a:cs typeface="SB AggroOTF Bold"/>
                </a:rPr>
                <a:t>oh!</a:t>
              </a:r>
            </a:p>
          </p:txBody>
        </p:sp>
        <p:pic>
          <p:nvPicPr>
            <p:cNvPr id="9" name="Picture 27">
              <a:extLst>
                <a:ext uri="{FF2B5EF4-FFF2-40B4-BE49-F238E27FC236}">
                  <a16:creationId xmlns:a16="http://schemas.microsoft.com/office/drawing/2014/main" id="{4F92E536-BA1A-2D3A-5994-BE0B9369E66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834100" y="7213600"/>
              <a:ext cx="4762500" cy="5486400"/>
            </a:xfrm>
            <a:prstGeom prst="rect">
              <a:avLst/>
            </a:prstGeom>
          </p:spPr>
        </p:pic>
      </p:grpSp>
      <p:sp>
        <p:nvSpPr>
          <p:cNvPr id="10" name="PageNumber">
            <a:extLst>
              <a:ext uri="{FF2B5EF4-FFF2-40B4-BE49-F238E27FC236}">
                <a16:creationId xmlns:a16="http://schemas.microsoft.com/office/drawing/2014/main" id="{10F3D937-8433-2C47-9E99-F5783E3F2676}"/>
              </a:ext>
            </a:extLst>
          </p:cNvPr>
          <p:cNvSpPr txBox="1"/>
          <p:nvPr/>
        </p:nvSpPr>
        <p:spPr>
          <a:xfrm>
            <a:off x="9499600" y="6489700"/>
            <a:ext cx="23368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r"/>
            <a:r>
              <a:rPr lang="en-US" altLang="ko-KR" sz="1200">
                <a:solidFill>
                  <a:srgbClr val="576176"/>
                </a:solidFill>
                <a:latin typeface="Pretendard"/>
              </a:rPr>
              <a:t>- 54/144 -</a:t>
            </a:r>
            <a:endParaRPr lang="ko-KR" altLang="en-US" sz="1200">
              <a:solidFill>
                <a:srgbClr val="576176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69056655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실제 입력 → 출력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실제 예시 — PAS 소개문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783080"/>
            <a:ext cx="10332720" cy="1874519"/>
          </a:xfrm>
          <a:prstGeom prst="rect">
            <a:avLst/>
          </a:prstGeom>
          <a:solidFill>
            <a:srgbClr val="10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502920" rIns="320040" rtlCol="0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4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[</a:t>
            </a:r>
            <a:r>
              <a:rPr sz="14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톤</a:t>
            </a:r>
            <a:r>
              <a:rPr sz="14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] </a:t>
            </a:r>
            <a:r>
              <a:rPr sz="14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정중하지만</a:t>
            </a:r>
            <a:r>
              <a:rPr sz="14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4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가벼운</a:t>
            </a:r>
            <a:r>
              <a:rPr sz="14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4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존댓말</a:t>
            </a:r>
            <a:r>
              <a:rPr sz="14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[</a:t>
            </a:r>
            <a:r>
              <a:rPr sz="14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구조</a:t>
            </a:r>
            <a:r>
              <a:rPr sz="14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] PAS, 280자 </a:t>
            </a:r>
            <a:r>
              <a:rPr sz="14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내외</a:t>
            </a:r>
            <a:endParaRPr lang="en-US" sz="1400" dirty="0">
              <a:solidFill>
                <a:srgbClr val="E8EEFA"/>
              </a:solidFill>
              <a:latin typeface="JetBrains Mono"/>
              <a:ea typeface="JetBrains Mono"/>
              <a:cs typeface="JetBrains Mono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endParaRPr sz="1400" dirty="0">
              <a:solidFill>
                <a:srgbClr val="E8EEFA"/>
              </a:solidFill>
              <a:latin typeface="JetBrains Mono"/>
              <a:ea typeface="JetBrains Mono"/>
              <a:cs typeface="JetBrains Mono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4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[</a:t>
            </a:r>
            <a:r>
              <a:rPr sz="14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필수</a:t>
            </a:r>
            <a:r>
              <a:rPr sz="14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] </a:t>
            </a:r>
            <a:r>
              <a:rPr sz="14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핵심</a:t>
            </a:r>
            <a:r>
              <a:rPr sz="14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4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메시지</a:t>
            </a:r>
            <a:r>
              <a:rPr sz="14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"</a:t>
            </a:r>
            <a:r>
              <a:rPr sz="14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부담</a:t>
            </a:r>
            <a:r>
              <a:rPr sz="14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4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없이</a:t>
            </a:r>
            <a:r>
              <a:rPr sz="14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4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즐기는</a:t>
            </a:r>
            <a:r>
              <a:rPr sz="14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4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진짜</a:t>
            </a:r>
            <a:r>
              <a:rPr sz="14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4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맥주맛</a:t>
            </a:r>
            <a:r>
              <a:rPr sz="14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", </a:t>
            </a:r>
            <a:r>
              <a:rPr sz="14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특징을</a:t>
            </a:r>
            <a:r>
              <a:rPr sz="14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4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이득으로</a:t>
            </a:r>
            <a:endParaRPr sz="1400" dirty="0">
              <a:solidFill>
                <a:srgbClr val="E8EEFA"/>
              </a:solidFill>
              <a:latin typeface="JetBrains Mono"/>
              <a:ea typeface="JetBrains Mono"/>
              <a:cs typeface="JetBrains Mono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4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제품</a:t>
            </a:r>
            <a:r>
              <a:rPr sz="14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: </a:t>
            </a:r>
            <a:r>
              <a:rPr sz="14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무알콜</a:t>
            </a:r>
            <a:r>
              <a:rPr sz="14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4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수제</a:t>
            </a:r>
            <a:r>
              <a:rPr sz="14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4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맥주</a:t>
            </a:r>
            <a:r>
              <a:rPr sz="14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Night Off (</a:t>
            </a:r>
            <a:r>
              <a:rPr sz="14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칼로리</a:t>
            </a:r>
            <a:r>
              <a:rPr sz="14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30%↓, </a:t>
            </a:r>
            <a:r>
              <a:rPr sz="14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발효공법</a:t>
            </a:r>
            <a:r>
              <a:rPr sz="14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sz="14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알코올</a:t>
            </a:r>
            <a:r>
              <a:rPr sz="14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0.0%)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783080"/>
            <a:ext cx="2011680" cy="329184"/>
          </a:xfrm>
          <a:prstGeom prst="rect">
            <a:avLst/>
          </a:prstGeom>
          <a:solidFill>
            <a:srgbClr val="243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400"/>
              </a:spcAft>
            </a:pPr>
            <a:r>
              <a:rPr sz="1400" b="0">
                <a:solidFill>
                  <a:srgbClr val="E8A33D"/>
                </a:solidFill>
                <a:latin typeface="JetBrains Mono"/>
                <a:ea typeface="JetBrains Mono"/>
                <a:cs typeface="JetBrains Mono"/>
              </a:rPr>
              <a:t>▸ 입력 프롬프트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794760"/>
            <a:ext cx="10332720" cy="2514600"/>
          </a:xfrm>
          <a:prstGeom prst="rect">
            <a:avLst/>
          </a:prstGeom>
          <a:solidFill>
            <a:srgbClr val="FBFCFE"/>
          </a:solidFill>
          <a:ln w="12700">
            <a:solidFill>
              <a:srgbClr val="E9EC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502920" rIns="320040" rtlCol="0" anchor="t"/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100"/>
              </a:spcAft>
            </a:pPr>
            <a:r>
              <a:rPr sz="140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하루를</a:t>
            </a:r>
            <a:r>
              <a:rPr sz="140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끝내고</a:t>
            </a:r>
            <a:r>
              <a:rPr sz="140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한</a:t>
            </a:r>
            <a:r>
              <a:rPr sz="140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잔이</a:t>
            </a:r>
            <a:r>
              <a:rPr sz="140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간절한</a:t>
            </a:r>
            <a:r>
              <a:rPr sz="140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밤</a:t>
            </a:r>
            <a:r>
              <a:rPr sz="140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sz="140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그런데</a:t>
            </a:r>
            <a:r>
              <a:rPr sz="140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내일</a:t>
            </a:r>
            <a:r>
              <a:rPr sz="140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아침이</a:t>
            </a:r>
            <a:r>
              <a:rPr sz="140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걱정이신가요</a:t>
            </a:r>
            <a:r>
              <a:rPr sz="140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?(P)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100"/>
              </a:spcAft>
            </a:pPr>
            <a:r>
              <a:rPr sz="140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숙취도</a:t>
            </a:r>
            <a:r>
              <a:rPr sz="140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sz="140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칼로리도</a:t>
            </a:r>
            <a:r>
              <a:rPr sz="140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sz="140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운전</a:t>
            </a:r>
            <a:r>
              <a:rPr sz="140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걱정도</a:t>
            </a:r>
            <a:r>
              <a:rPr sz="140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매번</a:t>
            </a:r>
            <a:r>
              <a:rPr sz="140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한</a:t>
            </a:r>
            <a:r>
              <a:rPr sz="140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캔을</a:t>
            </a:r>
            <a:r>
              <a:rPr sz="140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망설이게</a:t>
            </a:r>
            <a:r>
              <a:rPr sz="140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합니다</a:t>
            </a:r>
            <a:r>
              <a:rPr sz="140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.(A)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100"/>
              </a:spcAft>
            </a:pPr>
            <a:r>
              <a:rPr sz="140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Night </a:t>
            </a:r>
            <a:r>
              <a:rPr sz="140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Off는</a:t>
            </a:r>
            <a:r>
              <a:rPr sz="140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진짜</a:t>
            </a:r>
            <a:r>
              <a:rPr sz="140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발효</a:t>
            </a:r>
            <a:r>
              <a:rPr sz="140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공법으로</a:t>
            </a:r>
            <a:r>
              <a:rPr sz="140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맥주</a:t>
            </a:r>
            <a:r>
              <a:rPr sz="140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본연의</a:t>
            </a:r>
            <a:r>
              <a:rPr sz="140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맛은</a:t>
            </a:r>
            <a:r>
              <a:rPr sz="140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살리고</a:t>
            </a:r>
            <a:r>
              <a:rPr sz="140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알코올은</a:t>
            </a:r>
            <a:r>
              <a:rPr sz="140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 0.0%.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100"/>
              </a:spcAft>
            </a:pPr>
            <a:r>
              <a:rPr sz="140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칼로리는</a:t>
            </a:r>
            <a:r>
              <a:rPr sz="140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 30% </a:t>
            </a:r>
            <a:r>
              <a:rPr sz="140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낮춰</a:t>
            </a:r>
            <a:r>
              <a:rPr sz="140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sz="140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오늘</a:t>
            </a:r>
            <a:r>
              <a:rPr sz="140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밤을</a:t>
            </a:r>
            <a:r>
              <a:rPr sz="140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제대로</a:t>
            </a:r>
            <a:r>
              <a:rPr sz="140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즐기고도</a:t>
            </a:r>
            <a:r>
              <a:rPr sz="140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내일을</a:t>
            </a:r>
            <a:r>
              <a:rPr sz="140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멀쩡하게</a:t>
            </a:r>
            <a:r>
              <a:rPr sz="140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시작합니다</a:t>
            </a:r>
            <a:r>
              <a:rPr sz="140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.(S)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794760"/>
            <a:ext cx="1828800" cy="329184"/>
          </a:xfrm>
          <a:prstGeom prst="rect">
            <a:avLst/>
          </a:prstGeom>
          <a:solidFill>
            <a:srgbClr val="DCE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384048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400"/>
              </a:spcAft>
            </a:pPr>
            <a:r>
              <a:rPr sz="14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▸ 나온 결과(예)</a:t>
            </a:r>
          </a:p>
        </p:txBody>
      </p:sp>
      <p:sp>
        <p:nvSpPr>
          <p:cNvPr id="10" name="PageNumber">
            <a:extLst>
              <a:ext uri="{FF2B5EF4-FFF2-40B4-BE49-F238E27FC236}">
                <a16:creationId xmlns:a16="http://schemas.microsoft.com/office/drawing/2014/main" id="{4BB99E30-0C60-8845-8971-10A3ACD0ED06}"/>
              </a:ext>
            </a:extLst>
          </p:cNvPr>
          <p:cNvSpPr txBox="1"/>
          <p:nvPr/>
        </p:nvSpPr>
        <p:spPr>
          <a:xfrm>
            <a:off x="9499600" y="6489700"/>
            <a:ext cx="23368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r"/>
            <a:r>
              <a:rPr lang="en-US" altLang="ko-KR" sz="1200">
                <a:solidFill>
                  <a:srgbClr val="576176"/>
                </a:solidFill>
                <a:latin typeface="Pretendard"/>
              </a:rPr>
              <a:t>- 55/144 -</a:t>
            </a:r>
            <a:endParaRPr lang="ko-KR" altLang="en-US" sz="1200">
              <a:solidFill>
                <a:srgbClr val="576176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392429564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정리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제품·서비스 소개문과 홍보 문안 작성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920240"/>
            <a:ext cx="10332720" cy="1636776"/>
          </a:xfrm>
          <a:prstGeom prst="rect">
            <a:avLst/>
          </a:prstGeom>
          <a:solidFill>
            <a:srgbClr val="FB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228600" rIns="365760" bIns="182880" rtlCol="0" anchor="t"/>
          <a:lstStyle/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600"/>
              </a:spcAft>
            </a:pPr>
            <a:r>
              <a:rPr sz="1500" b="1">
                <a:solidFill>
                  <a:srgbClr val="B57A1A"/>
                </a:solidFill>
                <a:latin typeface="JetBrains Mono"/>
                <a:ea typeface="JetBrains Mono"/>
                <a:cs typeface="JetBrains Mono"/>
              </a:rPr>
              <a:t>⚠  흔한 실수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1">
                <a:solidFill>
                  <a:srgbClr val="E8A33D"/>
                </a:solidFill>
                <a:latin typeface="Pretendard"/>
                <a:ea typeface="Pretendard"/>
                <a:cs typeface="Pretendard"/>
              </a:rPr>
              <a:t>·  </a:t>
            </a:r>
            <a:r>
              <a:rPr sz="14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사실 검증 누락 → 칼로리·성분 수치는 반드시 원본 대조.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1">
                <a:solidFill>
                  <a:srgbClr val="E8A33D"/>
                </a:solidFill>
                <a:latin typeface="Pretendard"/>
                <a:ea typeface="Pretendard"/>
                <a:cs typeface="Pretendard"/>
              </a:rPr>
              <a:t>·  </a:t>
            </a:r>
            <a:r>
              <a:rPr sz="14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톤 가이드를 매번 안 넣으면 글마다 말투가 바뀐다.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739896"/>
            <a:ext cx="10332720" cy="1005840"/>
          </a:xfrm>
          <a:prstGeom prst="rect">
            <a:avLst/>
          </a:prstGeom>
          <a:solidFill>
            <a:srgbClr val="DCE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201168" rIns="365760" bIns="182880" rtlCol="0" anchor="t"/>
          <a:lstStyle/>
          <a:p>
            <a:pPr algn="l">
              <a:lnSpc>
                <a:spcPct val="125000"/>
              </a:lnSpc>
              <a:spcBef>
                <a:spcPts val="600"/>
              </a:spcBef>
              <a:spcAft>
                <a:spcPts val="400"/>
              </a:spcAft>
            </a:pPr>
            <a:r>
              <a:rPr sz="1500" b="1" dirty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📦  </a:t>
            </a:r>
            <a:r>
              <a:rPr sz="1500" b="1" dirty="0" err="1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결과물</a:t>
            </a:r>
            <a:r>
              <a:rPr sz="1500" b="1" dirty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   </a:t>
            </a:r>
            <a:r>
              <a:rPr sz="1600" b="1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제품·서비스</a:t>
            </a:r>
            <a:r>
              <a:rPr sz="1600" b="1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1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소개문</a:t>
            </a:r>
            <a:r>
              <a:rPr sz="1600" b="1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 1편</a:t>
            </a:r>
            <a:r>
              <a:rPr lang="ko-KR" altLang="en-US" sz="1600" b="1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1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(PAS · </a:t>
            </a:r>
            <a:r>
              <a:rPr sz="1600" b="1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톤</a:t>
            </a:r>
            <a:r>
              <a:rPr sz="1600" b="1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1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일관</a:t>
            </a:r>
            <a:r>
              <a:rPr sz="1600" b="1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 · </a:t>
            </a:r>
            <a:r>
              <a:rPr sz="1600" b="1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사실</a:t>
            </a:r>
            <a:r>
              <a:rPr sz="1600" b="1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1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검수</a:t>
            </a:r>
            <a:r>
              <a:rPr sz="1600" b="1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1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완료</a:t>
            </a:r>
            <a:r>
              <a:rPr sz="1600" b="1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).</a:t>
            </a:r>
          </a:p>
        </p:txBody>
      </p:sp>
      <p:sp>
        <p:nvSpPr>
          <p:cNvPr id="6" name="PageNumber">
            <a:extLst>
              <a:ext uri="{FF2B5EF4-FFF2-40B4-BE49-F238E27FC236}">
                <a16:creationId xmlns:a16="http://schemas.microsoft.com/office/drawing/2014/main" id="{07F100B7-8FF8-0740-B18B-905B163D0B1E}"/>
              </a:ext>
            </a:extLst>
          </p:cNvPr>
          <p:cNvSpPr txBox="1"/>
          <p:nvPr/>
        </p:nvSpPr>
        <p:spPr>
          <a:xfrm>
            <a:off x="9499600" y="6489700"/>
            <a:ext cx="23368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r"/>
            <a:r>
              <a:rPr lang="en-US" altLang="ko-KR" sz="1200">
                <a:solidFill>
                  <a:srgbClr val="576176"/>
                </a:solidFill>
                <a:latin typeface="Pretendard"/>
              </a:rPr>
              <a:t>- 56/144 -</a:t>
            </a:r>
            <a:endParaRPr lang="ko-KR" altLang="en-US" sz="1200">
              <a:solidFill>
                <a:srgbClr val="576176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123226379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4E8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573F64A0-75B2-2847-B900-706A9251DBBB}"/>
              </a:ext>
            </a:extLst>
          </p:cNvPr>
          <p:cNvSpPr/>
          <p:nvPr/>
        </p:nvSpPr>
        <p:spPr>
          <a:xfrm>
            <a:off x="914400" y="2362200"/>
            <a:ext cx="431800" cy="76200"/>
          </a:xfrm>
          <a:prstGeom prst="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936D1D-61F9-7D42-A8A2-7BC552E5C126}"/>
              </a:ext>
            </a:extLst>
          </p:cNvPr>
          <p:cNvSpPr txBox="1"/>
          <p:nvPr/>
        </p:nvSpPr>
        <p:spPr>
          <a:xfrm>
            <a:off x="914400" y="2540000"/>
            <a:ext cx="5080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500" b="1">
                <a:solidFill>
                  <a:srgbClr val="E8A33D"/>
                </a:solidFill>
                <a:latin typeface="JetBrains Mono"/>
              </a:rPr>
              <a:t>SESSION 2</a:t>
            </a:r>
            <a:endParaRPr lang="ko-KR" altLang="en-US" sz="1500" b="1">
              <a:solidFill>
                <a:srgbClr val="E8A33D"/>
              </a:solidFill>
              <a:latin typeface="JetBrains Mono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10FD3F-004D-2F4A-AF23-93708F51EDE8}"/>
              </a:ext>
            </a:extLst>
          </p:cNvPr>
          <p:cNvSpPr txBox="1"/>
          <p:nvPr/>
        </p:nvSpPr>
        <p:spPr>
          <a:xfrm>
            <a:off x="914400" y="2895600"/>
            <a:ext cx="10363200" cy="609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3200" b="1">
                <a:solidFill>
                  <a:srgbClr val="FFFFFF"/>
                </a:solidFill>
                <a:latin typeface="Noto Serif KR"/>
              </a:rPr>
              <a:t>한 메시지를 채널별로 변주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CFC4AE-3104-464E-B2B4-4DEF393D8AA6}"/>
              </a:ext>
            </a:extLst>
          </p:cNvPr>
          <p:cNvSpPr txBox="1"/>
          <p:nvPr/>
        </p:nvSpPr>
        <p:spPr>
          <a:xfrm>
            <a:off x="914400" y="3657600"/>
            <a:ext cx="10033000" cy="558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600">
                <a:solidFill>
                  <a:srgbClr val="DCE6F2"/>
                </a:solidFill>
                <a:latin typeface="Pretendard"/>
              </a:rPr>
              <a:t>같은 메시지를 채널 규격</a:t>
            </a:r>
            <a:r>
              <a:rPr lang="en-US" altLang="ko-KR" sz="1600">
                <a:solidFill>
                  <a:srgbClr val="DCE6F2"/>
                </a:solidFill>
                <a:latin typeface="Pretendard"/>
              </a:rPr>
              <a:t>(</a:t>
            </a:r>
            <a:r>
              <a:rPr lang="ko-KR" altLang="en-US" sz="1600">
                <a:solidFill>
                  <a:srgbClr val="DCE6F2"/>
                </a:solidFill>
                <a:latin typeface="Pretendard"/>
              </a:rPr>
              <a:t>글자 수</a:t>
            </a:r>
            <a:r>
              <a:rPr lang="en-US" altLang="ko-KR" sz="1600">
                <a:solidFill>
                  <a:srgbClr val="DCE6F2"/>
                </a:solidFill>
                <a:latin typeface="Pretendard"/>
              </a:rPr>
              <a:t>·</a:t>
            </a:r>
            <a:r>
              <a:rPr lang="ko-KR" altLang="en-US" sz="1600">
                <a:solidFill>
                  <a:srgbClr val="DCE6F2"/>
                </a:solidFill>
                <a:latin typeface="Pretendard"/>
              </a:rPr>
              <a:t>해시태그</a:t>
            </a:r>
            <a:r>
              <a:rPr lang="en-US" altLang="ko-KR" sz="1600">
                <a:solidFill>
                  <a:srgbClr val="DCE6F2"/>
                </a:solidFill>
                <a:latin typeface="Pretendard"/>
              </a:rPr>
              <a:t>·</a:t>
            </a:r>
            <a:r>
              <a:rPr lang="ko-KR" altLang="en-US" sz="1600">
                <a:solidFill>
                  <a:srgbClr val="DCE6F2"/>
                </a:solidFill>
                <a:latin typeface="Pretendard"/>
              </a:rPr>
              <a:t>말투</a:t>
            </a:r>
            <a:r>
              <a:rPr lang="en-US" altLang="ko-KR" sz="1600">
                <a:solidFill>
                  <a:srgbClr val="DCE6F2"/>
                </a:solidFill>
                <a:latin typeface="Pretendard"/>
              </a:rPr>
              <a:t>)</a:t>
            </a:r>
            <a:r>
              <a:rPr lang="ko-KR" altLang="en-US" sz="1600">
                <a:solidFill>
                  <a:srgbClr val="DCE6F2"/>
                </a:solidFill>
                <a:latin typeface="Pretendard"/>
              </a:rPr>
              <a:t>에 맞춰 한 번에 변주한다</a:t>
            </a:r>
            <a:r>
              <a:rPr lang="en-US" altLang="ko-KR" sz="1600">
                <a:solidFill>
                  <a:srgbClr val="DCE6F2"/>
                </a:solidFill>
                <a:latin typeface="Pretendard"/>
              </a:rPr>
              <a:t>.</a:t>
            </a:r>
            <a:endParaRPr lang="ko-KR" altLang="en-US" sz="1600">
              <a:solidFill>
                <a:srgbClr val="DCE6F2"/>
              </a:solidFill>
              <a:latin typeface="Pretendard"/>
            </a:endParaRP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AECA01D3-3104-3441-B0DB-6F47E09756D3}"/>
              </a:ext>
            </a:extLst>
          </p:cNvPr>
          <p:cNvSpPr/>
          <p:nvPr/>
        </p:nvSpPr>
        <p:spPr>
          <a:xfrm>
            <a:off x="914400" y="4521200"/>
            <a:ext cx="2616200" cy="889000"/>
          </a:xfrm>
          <a:prstGeom prst="roundRect">
            <a:avLst>
              <a:gd name="adj" fmla="val 2857"/>
            </a:avLst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ko-KR" altLang="en-US" sz="1600" b="1">
                <a:solidFill>
                  <a:srgbClr val="FFFFFF"/>
                </a:solidFill>
                <a:latin typeface="Pretendard"/>
              </a:rPr>
              <a:t>인스타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B9B3FFA-E887-8B4E-B6E4-330A8973A277}"/>
              </a:ext>
            </a:extLst>
          </p:cNvPr>
          <p:cNvSpPr txBox="1"/>
          <p:nvPr/>
        </p:nvSpPr>
        <p:spPr>
          <a:xfrm>
            <a:off x="3530600" y="4521200"/>
            <a:ext cx="558800" cy="889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ko-KR" altLang="en-US" sz="2400" b="1">
                <a:solidFill>
                  <a:srgbClr val="9FB3CE"/>
                </a:solidFill>
                <a:latin typeface="Pretendard"/>
              </a:rPr>
              <a:t>→</a:t>
            </a: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7C45D6D5-A35B-074A-ABFD-4D3ABB81C45D}"/>
              </a:ext>
            </a:extLst>
          </p:cNvPr>
          <p:cNvSpPr/>
          <p:nvPr/>
        </p:nvSpPr>
        <p:spPr>
          <a:xfrm>
            <a:off x="4089400" y="4521200"/>
            <a:ext cx="2616200" cy="889000"/>
          </a:xfrm>
          <a:prstGeom prst="roundRect">
            <a:avLst>
              <a:gd name="adj" fmla="val 2857"/>
            </a:avLst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ko-KR" altLang="en-US" sz="1600" b="1">
                <a:solidFill>
                  <a:srgbClr val="FFFFFF"/>
                </a:solidFill>
                <a:latin typeface="Pretendard"/>
              </a:rPr>
              <a:t>블로그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91AF08E-266A-BF4E-9990-BDF7E2362565}"/>
              </a:ext>
            </a:extLst>
          </p:cNvPr>
          <p:cNvSpPr txBox="1"/>
          <p:nvPr/>
        </p:nvSpPr>
        <p:spPr>
          <a:xfrm>
            <a:off x="6705600" y="4521200"/>
            <a:ext cx="558800" cy="889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ko-KR" altLang="en-US" sz="2400" b="1">
                <a:solidFill>
                  <a:srgbClr val="9FB3CE"/>
                </a:solidFill>
                <a:latin typeface="Pretendard"/>
              </a:rPr>
              <a:t>→</a:t>
            </a:r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68F28E10-E34D-854F-839F-62522FE0DE8A}"/>
              </a:ext>
            </a:extLst>
          </p:cNvPr>
          <p:cNvSpPr/>
          <p:nvPr/>
        </p:nvSpPr>
        <p:spPr>
          <a:xfrm>
            <a:off x="7264400" y="4521200"/>
            <a:ext cx="2616200" cy="889000"/>
          </a:xfrm>
          <a:prstGeom prst="roundRect">
            <a:avLst>
              <a:gd name="adj" fmla="val 2857"/>
            </a:avLst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ko-KR" altLang="en-US" sz="1600" b="1">
                <a:solidFill>
                  <a:srgbClr val="14213D"/>
                </a:solidFill>
                <a:latin typeface="Pretendard"/>
              </a:rPr>
              <a:t>카드뉴스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B010403-1A65-F149-8241-ECDEE7B2AD9F}"/>
              </a:ext>
            </a:extLst>
          </p:cNvPr>
          <p:cNvSpPr txBox="1"/>
          <p:nvPr/>
        </p:nvSpPr>
        <p:spPr>
          <a:xfrm>
            <a:off x="914400" y="5740400"/>
            <a:ext cx="10363200" cy="304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400">
                <a:solidFill>
                  <a:srgbClr val="9FB3CE"/>
                </a:solidFill>
                <a:latin typeface="JetBrains Mono"/>
              </a:rPr>
              <a:t>→ 메시지 하우스 </a:t>
            </a:r>
            <a:r>
              <a:rPr lang="en-US" altLang="ko-KR" sz="1400">
                <a:solidFill>
                  <a:srgbClr val="9FB3CE"/>
                </a:solidFill>
                <a:latin typeface="JetBrains Mono"/>
              </a:rPr>
              <a:t>1</a:t>
            </a:r>
            <a:r>
              <a:rPr lang="ko-KR" altLang="en-US" sz="1400">
                <a:solidFill>
                  <a:srgbClr val="9FB3CE"/>
                </a:solidFill>
                <a:latin typeface="JetBrains Mono"/>
              </a:rPr>
              <a:t>개에서 모든 채널을 파생한다</a:t>
            </a:r>
            <a:r>
              <a:rPr lang="en-US" altLang="ko-KR" sz="1400">
                <a:solidFill>
                  <a:srgbClr val="9FB3CE"/>
                </a:solidFill>
                <a:latin typeface="JetBrains Mono"/>
              </a:rPr>
              <a:t>.</a:t>
            </a:r>
            <a:endParaRPr lang="ko-KR" altLang="en-US" sz="1400">
              <a:solidFill>
                <a:srgbClr val="9FB3CE"/>
              </a:solidFill>
              <a:latin typeface="JetBrains Mono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12D8F88E-11FE-7E26-93AE-303A96977C1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6340410" y="381000"/>
            <a:ext cx="5702300" cy="2362200"/>
          </a:xfrm>
          <a:prstGeom prst="rect">
            <a:avLst/>
          </a:prstGeom>
        </p:spPr>
      </p:pic>
      <p:sp>
        <p:nvSpPr>
          <p:cNvPr id="3" name="PageNumber">
            <a:extLst>
              <a:ext uri="{FF2B5EF4-FFF2-40B4-BE49-F238E27FC236}">
                <a16:creationId xmlns:a16="http://schemas.microsoft.com/office/drawing/2014/main" id="{F5014275-2D18-9941-A19E-DFFE6AC98965}"/>
              </a:ext>
            </a:extLst>
          </p:cNvPr>
          <p:cNvSpPr txBox="1"/>
          <p:nvPr/>
        </p:nvSpPr>
        <p:spPr>
          <a:xfrm>
            <a:off x="9499600" y="6489700"/>
            <a:ext cx="23368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r"/>
            <a:r>
              <a:rPr lang="en-US" altLang="ko-KR" sz="1200" dirty="0">
                <a:solidFill>
                  <a:schemeClr val="bg1"/>
                </a:solidFill>
                <a:latin typeface="Pretendard"/>
              </a:rPr>
              <a:t>- 57/144 -</a:t>
            </a:r>
            <a:endParaRPr lang="ko-KR" altLang="en-US" sz="1200" dirty="0">
              <a:solidFill>
                <a:schemeClr val="bg1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346093075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7863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핵심 개념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채널별 확산 — 한 메시지, 여러 채널</a:t>
            </a:r>
          </a:p>
        </p:txBody>
      </p:sp>
      <p:sp>
        <p:nvSpPr>
          <p:cNvPr id="100" name="Row 1 BG"/>
          <p:cNvSpPr/>
          <p:nvPr/>
        </p:nvSpPr>
        <p:spPr>
          <a:xfrm>
            <a:off x="825500" y="1930400"/>
            <a:ext cx="10541000" cy="1168400"/>
          </a:xfrm>
          <a:prstGeom prst="roundRect">
            <a:avLst>
              <a:gd name="adj" fmla="val 10000"/>
            </a:avLst>
          </a:prstGeom>
          <a:solidFill>
            <a:srgbClr val="F1F5FA"/>
          </a:solidFill>
          <a:ln w="12700">
            <a:solidFill>
              <a:srgbClr val="D9E2E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1" name="Row 1 Bar"/>
          <p:cNvSpPr/>
          <p:nvPr/>
        </p:nvSpPr>
        <p:spPr>
          <a:xfrm>
            <a:off x="825500" y="1930400"/>
            <a:ext cx="76200" cy="116840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2" name="Row 1 Num"/>
          <p:cNvSpPr/>
          <p:nvPr/>
        </p:nvSpPr>
        <p:spPr>
          <a:xfrm>
            <a:off x="1143000" y="2273300"/>
            <a:ext cx="482600" cy="482600"/>
          </a:xfrm>
          <a:prstGeom prst="ellipse">
            <a:avLst/>
          </a:prstGeom>
          <a:solidFill>
            <a:srgbClr val="14213D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altLang="ko-KR" sz="1600" b="1">
                <a:solidFill>
                  <a:srgbClr val="FFFFFF"/>
                </a:solidFill>
                <a:latin typeface="JetBrains Mono"/>
              </a:rPr>
              <a:t>1</a:t>
            </a:r>
          </a:p>
        </p:txBody>
      </p:sp>
      <p:sp>
        <p:nvSpPr>
          <p:cNvPr id="103" name="Row 1 Label"/>
          <p:cNvSpPr/>
          <p:nvPr/>
        </p:nvSpPr>
        <p:spPr>
          <a:xfrm>
            <a:off x="1905000" y="1930400"/>
            <a:ext cx="2540000" cy="11684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algn="l"/>
            <a:r>
              <a:rPr lang="ko-KR" altLang="en-US" sz="1600" b="1">
                <a:solidFill>
                  <a:srgbClr val="14213D"/>
                </a:solidFill>
                <a:latin typeface="Pretendard"/>
              </a:rPr>
              <a:t>채널 규격</a:t>
            </a:r>
          </a:p>
        </p:txBody>
      </p:sp>
      <p:sp>
        <p:nvSpPr>
          <p:cNvPr id="104" name="Row 1 Desc"/>
          <p:cNvSpPr/>
          <p:nvPr/>
        </p:nvSpPr>
        <p:spPr>
          <a:xfrm>
            <a:off x="4546600" y="1930400"/>
            <a:ext cx="6629400" cy="11684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algn="l">
              <a:lnSpc>
                <a:spcPct val="120000"/>
              </a:lnSpc>
            </a:pPr>
            <a:r>
              <a:rPr lang="ko-KR" altLang="en-US" sz="1400">
                <a:solidFill>
                  <a:srgbClr val="576176"/>
                </a:solidFill>
                <a:latin typeface="Pretendard"/>
              </a:rPr>
              <a:t>인스타는 짧게, 블로그는 길게, 카드뉴스는 한 문장으로 분량을 맞춘다.</a:t>
            </a:r>
          </a:p>
        </p:txBody>
      </p:sp>
      <p:sp>
        <p:nvSpPr>
          <p:cNvPr id="105" name="Row 2 BG"/>
          <p:cNvSpPr/>
          <p:nvPr/>
        </p:nvSpPr>
        <p:spPr>
          <a:xfrm>
            <a:off x="825500" y="3505200"/>
            <a:ext cx="10541000" cy="1168400"/>
          </a:xfrm>
          <a:prstGeom prst="roundRect">
            <a:avLst>
              <a:gd name="adj" fmla="val 10000"/>
            </a:avLst>
          </a:prstGeom>
          <a:solidFill>
            <a:srgbClr val="F1F5FA"/>
          </a:solidFill>
          <a:ln w="12700">
            <a:solidFill>
              <a:srgbClr val="D9E2E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6" name="Row 2 Bar"/>
          <p:cNvSpPr/>
          <p:nvPr/>
        </p:nvSpPr>
        <p:spPr>
          <a:xfrm>
            <a:off x="825500" y="3505200"/>
            <a:ext cx="76200" cy="116840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7" name="Row 2 Num"/>
          <p:cNvSpPr/>
          <p:nvPr/>
        </p:nvSpPr>
        <p:spPr>
          <a:xfrm>
            <a:off x="1143000" y="3848100"/>
            <a:ext cx="482600" cy="482600"/>
          </a:xfrm>
          <a:prstGeom prst="ellipse">
            <a:avLst/>
          </a:prstGeom>
          <a:solidFill>
            <a:srgbClr val="14213D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altLang="ko-KR" sz="1600" b="1">
                <a:solidFill>
                  <a:srgbClr val="FFFFFF"/>
                </a:solidFill>
                <a:latin typeface="JetBrains Mono"/>
              </a:rPr>
              <a:t>2</a:t>
            </a:r>
          </a:p>
        </p:txBody>
      </p:sp>
      <p:sp>
        <p:nvSpPr>
          <p:cNvPr id="108" name="Row 2 Label"/>
          <p:cNvSpPr/>
          <p:nvPr/>
        </p:nvSpPr>
        <p:spPr>
          <a:xfrm>
            <a:off x="1905000" y="3505200"/>
            <a:ext cx="2540000" cy="11684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algn="l"/>
            <a:r>
              <a:rPr lang="ko-KR" altLang="en-US" sz="1600" b="1">
                <a:solidFill>
                  <a:srgbClr val="14213D"/>
                </a:solidFill>
                <a:latin typeface="Pretendard"/>
              </a:rPr>
              <a:t>해시태그 믹스</a:t>
            </a:r>
          </a:p>
        </p:txBody>
      </p:sp>
      <p:sp>
        <p:nvSpPr>
          <p:cNvPr id="109" name="Row 2 Desc"/>
          <p:cNvSpPr/>
          <p:nvPr/>
        </p:nvSpPr>
        <p:spPr>
          <a:xfrm>
            <a:off x="4546600" y="3505200"/>
            <a:ext cx="6629400" cy="11684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algn="l">
              <a:lnSpc>
                <a:spcPct val="120000"/>
              </a:lnSpc>
            </a:pPr>
            <a:r>
              <a:rPr lang="ko-KR" altLang="en-US" sz="1400">
                <a:solidFill>
                  <a:srgbClr val="576176"/>
                </a:solidFill>
                <a:latin typeface="Pretendard"/>
              </a:rPr>
              <a:t>대형·중형·롱테일을 섞는다. 대형만 쓰면 글이 묻힌다.</a:t>
            </a:r>
          </a:p>
        </p:txBody>
      </p:sp>
      <p:sp>
        <p:nvSpPr>
          <p:cNvPr id="110" name="Row 3 BG"/>
          <p:cNvSpPr/>
          <p:nvPr/>
        </p:nvSpPr>
        <p:spPr>
          <a:xfrm>
            <a:off x="825500" y="5080000"/>
            <a:ext cx="10541000" cy="1168400"/>
          </a:xfrm>
          <a:prstGeom prst="roundRect">
            <a:avLst>
              <a:gd name="adj" fmla="val 10000"/>
            </a:avLst>
          </a:prstGeom>
          <a:solidFill>
            <a:srgbClr val="F1F5FA"/>
          </a:solidFill>
          <a:ln w="12700">
            <a:solidFill>
              <a:srgbClr val="D9E2E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1" name="Row 3 Bar"/>
          <p:cNvSpPr/>
          <p:nvPr/>
        </p:nvSpPr>
        <p:spPr>
          <a:xfrm>
            <a:off x="825500" y="5080000"/>
            <a:ext cx="76200" cy="116840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2" name="Row 3 Num"/>
          <p:cNvSpPr/>
          <p:nvPr/>
        </p:nvSpPr>
        <p:spPr>
          <a:xfrm>
            <a:off x="1143000" y="5422900"/>
            <a:ext cx="482600" cy="482600"/>
          </a:xfrm>
          <a:prstGeom prst="ellipse">
            <a:avLst/>
          </a:prstGeom>
          <a:solidFill>
            <a:srgbClr val="14213D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altLang="ko-KR" sz="1600" b="1">
                <a:solidFill>
                  <a:srgbClr val="FFFFFF"/>
                </a:solidFill>
                <a:latin typeface="JetBrains Mono"/>
              </a:rPr>
              <a:t>3</a:t>
            </a:r>
          </a:p>
        </p:txBody>
      </p:sp>
      <p:sp>
        <p:nvSpPr>
          <p:cNvPr id="113" name="Row 3 Label"/>
          <p:cNvSpPr/>
          <p:nvPr/>
        </p:nvSpPr>
        <p:spPr>
          <a:xfrm>
            <a:off x="1905000" y="5080000"/>
            <a:ext cx="2540000" cy="11684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algn="l"/>
            <a:r>
              <a:rPr lang="ko-KR" altLang="en-US" sz="1600" b="1">
                <a:solidFill>
                  <a:srgbClr val="14213D"/>
                </a:solidFill>
                <a:latin typeface="Pretendard"/>
              </a:rPr>
              <a:t>OSMU</a:t>
            </a:r>
          </a:p>
        </p:txBody>
      </p:sp>
      <p:sp>
        <p:nvSpPr>
          <p:cNvPr id="114" name="Row 3 Desc"/>
          <p:cNvSpPr/>
          <p:nvPr/>
        </p:nvSpPr>
        <p:spPr>
          <a:xfrm>
            <a:off x="4546600" y="5080000"/>
            <a:ext cx="6629400" cy="11684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algn="l">
              <a:lnSpc>
                <a:spcPct val="120000"/>
              </a:lnSpc>
            </a:pPr>
            <a:r>
              <a:rPr lang="ko-KR" altLang="en-US" sz="1400">
                <a:solidFill>
                  <a:srgbClr val="576176"/>
                </a:solidFill>
                <a:latin typeface="Pretendard"/>
              </a:rPr>
              <a:t>1개 메시지를 모든 채널로. 톤 일관성과 제작 속도를 동시에 잡는다.</a:t>
            </a:r>
          </a:p>
        </p:txBody>
      </p:sp>
      <p:sp>
        <p:nvSpPr>
          <p:cNvPr id="4" name="PageNumber">
            <a:extLst>
              <a:ext uri="{FF2B5EF4-FFF2-40B4-BE49-F238E27FC236}">
                <a16:creationId xmlns:a16="http://schemas.microsoft.com/office/drawing/2014/main" id="{A4E74573-5FB3-2D40-B8FF-F06CDBEB8B74}"/>
              </a:ext>
            </a:extLst>
          </p:cNvPr>
          <p:cNvSpPr txBox="1"/>
          <p:nvPr/>
        </p:nvSpPr>
        <p:spPr>
          <a:xfrm>
            <a:off x="9499600" y="6489700"/>
            <a:ext cx="23368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r"/>
            <a:r>
              <a:rPr lang="en-US" altLang="ko-KR" sz="1200">
                <a:solidFill>
                  <a:srgbClr val="576176"/>
                </a:solidFill>
                <a:latin typeface="Pretendard"/>
              </a:rPr>
              <a:t>- 58/144 -</a:t>
            </a:r>
            <a:endParaRPr lang="ko-KR" altLang="en-US" sz="1200">
              <a:solidFill>
                <a:srgbClr val="576176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227199033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개념 깊이 보기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개념을 예시로 — 우리 케이스에 적용하면</a:t>
            </a: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C1186980-45E4-D143-A182-3DE5B9C3FC79}"/>
              </a:ext>
            </a:extLst>
          </p:cNvPr>
          <p:cNvSpPr/>
          <p:nvPr/>
        </p:nvSpPr>
        <p:spPr>
          <a:xfrm>
            <a:off x="825500" y="1905000"/>
            <a:ext cx="5461000" cy="4381500"/>
          </a:xfrm>
          <a:prstGeom prst="roundRect">
            <a:avLst>
              <a:gd name="adj" fmla="val 580"/>
            </a:avLst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520328-7140-4A40-8EF0-6190741C4677}"/>
              </a:ext>
            </a:extLst>
          </p:cNvPr>
          <p:cNvSpPr txBox="1"/>
          <p:nvPr/>
        </p:nvSpPr>
        <p:spPr>
          <a:xfrm>
            <a:off x="1181100" y="2159000"/>
            <a:ext cx="4749800" cy="355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b="1">
                <a:solidFill>
                  <a:srgbClr val="14213D"/>
                </a:solidFill>
                <a:latin typeface="Pretendard"/>
              </a:rPr>
              <a:t>해시태그 믹스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E9D2B7-A215-C14A-8122-21D43E14F9DE}"/>
              </a:ext>
            </a:extLst>
          </p:cNvPr>
          <p:cNvSpPr txBox="1"/>
          <p:nvPr/>
        </p:nvSpPr>
        <p:spPr>
          <a:xfrm>
            <a:off x="1181100" y="2540000"/>
            <a:ext cx="47498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400">
                <a:solidFill>
                  <a:srgbClr val="576176"/>
                </a:solidFill>
                <a:latin typeface="Pretendard"/>
              </a:rPr>
              <a:t>노출 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+ 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관련성 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+ 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전환을 섞는다</a:t>
            </a: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B162BFC2-C496-D648-919F-B8429490F6D9}"/>
              </a:ext>
            </a:extLst>
          </p:cNvPr>
          <p:cNvSpPr/>
          <p:nvPr/>
        </p:nvSpPr>
        <p:spPr>
          <a:xfrm>
            <a:off x="1181100" y="2997200"/>
            <a:ext cx="1219200" cy="431800"/>
          </a:xfrm>
          <a:prstGeom prst="roundRect">
            <a:avLst>
              <a:gd name="adj" fmla="val 5882"/>
            </a:avLst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ko-KR" altLang="en-US" sz="1400" b="1">
                <a:solidFill>
                  <a:srgbClr val="FFFFFF"/>
                </a:solidFill>
                <a:latin typeface="Pretendard"/>
              </a:rPr>
              <a:t>대형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3BDFAD-47BD-0B40-BF4B-7A59DDF7F552}"/>
              </a:ext>
            </a:extLst>
          </p:cNvPr>
          <p:cNvSpPr txBox="1"/>
          <p:nvPr/>
        </p:nvSpPr>
        <p:spPr>
          <a:xfrm>
            <a:off x="2552700" y="2971800"/>
            <a:ext cx="33782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400">
                <a:solidFill>
                  <a:srgbClr val="576176"/>
                </a:solidFill>
                <a:latin typeface="Pretendard"/>
              </a:rPr>
              <a:t>노출용 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· 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검색량 큼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F752B8A-3FB4-4342-B6CB-8E5AD32919CD}"/>
              </a:ext>
            </a:extLst>
          </p:cNvPr>
          <p:cNvSpPr txBox="1"/>
          <p:nvPr/>
        </p:nvSpPr>
        <p:spPr>
          <a:xfrm>
            <a:off x="2552700" y="3225800"/>
            <a:ext cx="33782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500" b="1">
                <a:solidFill>
                  <a:srgbClr val="1D4E89"/>
                </a:solidFill>
                <a:latin typeface="JetBrains Mono"/>
              </a:rPr>
              <a:t>#</a:t>
            </a:r>
            <a:r>
              <a:rPr lang="ko-KR" altLang="en-US" sz="1500" b="1">
                <a:solidFill>
                  <a:srgbClr val="1D4E89"/>
                </a:solidFill>
                <a:latin typeface="JetBrains Mono"/>
              </a:rPr>
              <a:t>무알콜맥주</a:t>
            </a: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B75E7643-F27E-D94E-972A-B91E08440F49}"/>
              </a:ext>
            </a:extLst>
          </p:cNvPr>
          <p:cNvSpPr/>
          <p:nvPr/>
        </p:nvSpPr>
        <p:spPr>
          <a:xfrm>
            <a:off x="1181100" y="3987800"/>
            <a:ext cx="1219200" cy="431800"/>
          </a:xfrm>
          <a:prstGeom prst="roundRect">
            <a:avLst>
              <a:gd name="adj" fmla="val 5882"/>
            </a:avLst>
          </a:prstGeom>
          <a:solidFill>
            <a:srgbClr val="1D4E89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ko-KR" altLang="en-US" sz="1400" b="1">
                <a:solidFill>
                  <a:srgbClr val="FFFFFF"/>
                </a:solidFill>
                <a:latin typeface="Pretendard"/>
              </a:rPr>
              <a:t>중형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0FCA4C7-1669-1048-A789-8B073E013D10}"/>
              </a:ext>
            </a:extLst>
          </p:cNvPr>
          <p:cNvSpPr txBox="1"/>
          <p:nvPr/>
        </p:nvSpPr>
        <p:spPr>
          <a:xfrm>
            <a:off x="2552700" y="3962400"/>
            <a:ext cx="33782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400">
                <a:solidFill>
                  <a:srgbClr val="576176"/>
                </a:solidFill>
                <a:latin typeface="Pretendard"/>
              </a:rPr>
              <a:t>관련성 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· 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적정 경쟁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9F500DA-847F-ED40-B6B9-4CAC67F5C7D1}"/>
              </a:ext>
            </a:extLst>
          </p:cNvPr>
          <p:cNvSpPr txBox="1"/>
          <p:nvPr/>
        </p:nvSpPr>
        <p:spPr>
          <a:xfrm>
            <a:off x="2552700" y="4216400"/>
            <a:ext cx="33782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500" b="1">
                <a:solidFill>
                  <a:srgbClr val="1D4E89"/>
                </a:solidFill>
                <a:latin typeface="JetBrains Mono"/>
              </a:rPr>
              <a:t>#</a:t>
            </a:r>
            <a:r>
              <a:rPr lang="ko-KR" altLang="en-US" sz="1500" b="1">
                <a:solidFill>
                  <a:srgbClr val="1D4E89"/>
                </a:solidFill>
                <a:latin typeface="JetBrains Mono"/>
              </a:rPr>
              <a:t>혼술추천</a:t>
            </a:r>
          </a:p>
        </p:txBody>
      </p:sp>
      <p:sp>
        <p:nvSpPr>
          <p:cNvPr id="14" name="모서리가 둥근 직사각형 13">
            <a:extLst>
              <a:ext uri="{FF2B5EF4-FFF2-40B4-BE49-F238E27FC236}">
                <a16:creationId xmlns:a16="http://schemas.microsoft.com/office/drawing/2014/main" id="{61357864-B469-B046-98D1-9CE4013A4972}"/>
              </a:ext>
            </a:extLst>
          </p:cNvPr>
          <p:cNvSpPr/>
          <p:nvPr/>
        </p:nvSpPr>
        <p:spPr>
          <a:xfrm>
            <a:off x="1181100" y="4978400"/>
            <a:ext cx="1219200" cy="431800"/>
          </a:xfrm>
          <a:prstGeom prst="roundRect">
            <a:avLst>
              <a:gd name="adj" fmla="val 5882"/>
            </a:avLst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ko-KR" altLang="en-US" sz="1400" b="1">
                <a:solidFill>
                  <a:srgbClr val="14213D"/>
                </a:solidFill>
                <a:latin typeface="Pretendard"/>
              </a:rPr>
              <a:t>롱테일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D9BADB-86FC-7947-A566-607BAEFA3E8D}"/>
              </a:ext>
            </a:extLst>
          </p:cNvPr>
          <p:cNvSpPr txBox="1"/>
          <p:nvPr/>
        </p:nvSpPr>
        <p:spPr>
          <a:xfrm>
            <a:off x="2552700" y="4953000"/>
            <a:ext cx="33782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400">
                <a:solidFill>
                  <a:srgbClr val="576176"/>
                </a:solidFill>
                <a:latin typeface="Pretendard"/>
              </a:rPr>
              <a:t>전환용 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· 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의도 뚜렷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0BFFCAB-EA7B-1747-8D30-0209C9B5EC52}"/>
              </a:ext>
            </a:extLst>
          </p:cNvPr>
          <p:cNvSpPr txBox="1"/>
          <p:nvPr/>
        </p:nvSpPr>
        <p:spPr>
          <a:xfrm>
            <a:off x="2552700" y="5207000"/>
            <a:ext cx="33782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500" b="1">
                <a:solidFill>
                  <a:srgbClr val="9A6B12"/>
                </a:solidFill>
                <a:latin typeface="JetBrains Mono"/>
              </a:rPr>
              <a:t>#</a:t>
            </a:r>
            <a:r>
              <a:rPr lang="ko-KR" altLang="en-US" sz="1500" b="1">
                <a:solidFill>
                  <a:srgbClr val="9A6B12"/>
                </a:solidFill>
                <a:latin typeface="JetBrains Mono"/>
              </a:rPr>
              <a:t>내일출근혼술</a:t>
            </a:r>
          </a:p>
        </p:txBody>
      </p:sp>
      <p:sp>
        <p:nvSpPr>
          <p:cNvPr id="17" name="모서리가 둥근 직사각형 16">
            <a:extLst>
              <a:ext uri="{FF2B5EF4-FFF2-40B4-BE49-F238E27FC236}">
                <a16:creationId xmlns:a16="http://schemas.microsoft.com/office/drawing/2014/main" id="{DD13E53B-08F4-2F4C-81D5-E76B8B52C6D6}"/>
              </a:ext>
            </a:extLst>
          </p:cNvPr>
          <p:cNvSpPr/>
          <p:nvPr/>
        </p:nvSpPr>
        <p:spPr>
          <a:xfrm>
            <a:off x="6540500" y="1905000"/>
            <a:ext cx="4826000" cy="4381500"/>
          </a:xfrm>
          <a:prstGeom prst="roundRect">
            <a:avLst>
              <a:gd name="adj" fmla="val 580"/>
            </a:avLst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268121D-D6BB-B048-B5F3-D93DF2C54CDC}"/>
              </a:ext>
            </a:extLst>
          </p:cNvPr>
          <p:cNvSpPr txBox="1"/>
          <p:nvPr/>
        </p:nvSpPr>
        <p:spPr>
          <a:xfrm>
            <a:off x="6845300" y="2159000"/>
            <a:ext cx="4216400" cy="355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b="1">
                <a:solidFill>
                  <a:srgbClr val="FFFFFF"/>
                </a:solidFill>
                <a:latin typeface="Pretendard"/>
              </a:rPr>
              <a:t>원소스 멀티유즈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B36F06B-83C2-C349-9A67-AD56779DDFC4}"/>
              </a:ext>
            </a:extLst>
          </p:cNvPr>
          <p:cNvSpPr txBox="1"/>
          <p:nvPr/>
        </p:nvSpPr>
        <p:spPr>
          <a:xfrm>
            <a:off x="6845300" y="2540000"/>
            <a:ext cx="42164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400">
                <a:solidFill>
                  <a:srgbClr val="E8A33D"/>
                </a:solidFill>
                <a:latin typeface="Pretendard"/>
              </a:rPr>
              <a:t>1</a:t>
            </a:r>
            <a:r>
              <a:rPr lang="ko-KR" altLang="en-US" sz="1400">
                <a:solidFill>
                  <a:srgbClr val="E8A33D"/>
                </a:solidFill>
                <a:latin typeface="Pretendard"/>
              </a:rPr>
              <a:t>개에서 모든 채널 파생</a:t>
            </a:r>
          </a:p>
        </p:txBody>
      </p:sp>
      <p:sp>
        <p:nvSpPr>
          <p:cNvPr id="20" name="모서리가 둥근 직사각형 19">
            <a:extLst>
              <a:ext uri="{FF2B5EF4-FFF2-40B4-BE49-F238E27FC236}">
                <a16:creationId xmlns:a16="http://schemas.microsoft.com/office/drawing/2014/main" id="{9626B85A-8A84-AF41-975F-5BD6B1E548C8}"/>
              </a:ext>
            </a:extLst>
          </p:cNvPr>
          <p:cNvSpPr/>
          <p:nvPr/>
        </p:nvSpPr>
        <p:spPr>
          <a:xfrm>
            <a:off x="7683500" y="3098800"/>
            <a:ext cx="2540000" cy="584200"/>
          </a:xfrm>
          <a:prstGeom prst="roundRect">
            <a:avLst>
              <a:gd name="adj" fmla="val 4348"/>
            </a:avLst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ko-KR" altLang="en-US" sz="1400" b="1">
                <a:solidFill>
                  <a:srgbClr val="14213D"/>
                </a:solidFill>
                <a:latin typeface="Pretendard"/>
              </a:rPr>
              <a:t>메시지 하우스 </a:t>
            </a:r>
            <a:r>
              <a:rPr lang="en-US" altLang="ko-KR" sz="1400" b="1">
                <a:solidFill>
                  <a:srgbClr val="14213D"/>
                </a:solidFill>
                <a:latin typeface="Pretendard"/>
              </a:rPr>
              <a:t>①</a:t>
            </a:r>
            <a:endParaRPr lang="ko-KR" altLang="en-US" sz="1400" b="1">
              <a:solidFill>
                <a:srgbClr val="14213D"/>
              </a:solidFill>
              <a:latin typeface="Pretendard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D52ECC2-8979-8541-9078-9D58F239EEC3}"/>
              </a:ext>
            </a:extLst>
          </p:cNvPr>
          <p:cNvSpPr txBox="1"/>
          <p:nvPr/>
        </p:nvSpPr>
        <p:spPr>
          <a:xfrm>
            <a:off x="6845300" y="3733800"/>
            <a:ext cx="4216400" cy="304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ctr"/>
            <a:r>
              <a:rPr lang="ko-KR" altLang="en-US" sz="2000" b="1">
                <a:solidFill>
                  <a:srgbClr val="E8A33D"/>
                </a:solidFill>
                <a:latin typeface="Pretendard"/>
              </a:rPr>
              <a:t>↓</a:t>
            </a:r>
          </a:p>
        </p:txBody>
      </p:sp>
      <p:sp>
        <p:nvSpPr>
          <p:cNvPr id="22" name="모서리가 둥근 직사각형 21">
            <a:extLst>
              <a:ext uri="{FF2B5EF4-FFF2-40B4-BE49-F238E27FC236}">
                <a16:creationId xmlns:a16="http://schemas.microsoft.com/office/drawing/2014/main" id="{163C875C-DDB5-A748-AC6C-12F150B5845C}"/>
              </a:ext>
            </a:extLst>
          </p:cNvPr>
          <p:cNvSpPr/>
          <p:nvPr/>
        </p:nvSpPr>
        <p:spPr>
          <a:xfrm>
            <a:off x="6845300" y="4191000"/>
            <a:ext cx="1320800" cy="1066800"/>
          </a:xfrm>
          <a:prstGeom prst="roundRect">
            <a:avLst>
              <a:gd name="adj" fmla="val 2381"/>
            </a:avLst>
          </a:prstGeom>
          <a:solidFill>
            <a:srgbClr val="20314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ko-KR" altLang="en-US" sz="1400" b="1">
                <a:solidFill>
                  <a:srgbClr val="FFFFFF"/>
                </a:solidFill>
                <a:latin typeface="Pretendard"/>
              </a:rPr>
              <a:t>인스타</a:t>
            </a:r>
          </a:p>
        </p:txBody>
      </p:sp>
      <p:sp>
        <p:nvSpPr>
          <p:cNvPr id="23" name="모서리가 둥근 직사각형 22">
            <a:extLst>
              <a:ext uri="{FF2B5EF4-FFF2-40B4-BE49-F238E27FC236}">
                <a16:creationId xmlns:a16="http://schemas.microsoft.com/office/drawing/2014/main" id="{FC2D7B55-6B4A-FB45-BAAA-3F4EDEDEA5D1}"/>
              </a:ext>
            </a:extLst>
          </p:cNvPr>
          <p:cNvSpPr/>
          <p:nvPr/>
        </p:nvSpPr>
        <p:spPr>
          <a:xfrm>
            <a:off x="8293100" y="4191000"/>
            <a:ext cx="1320800" cy="1066800"/>
          </a:xfrm>
          <a:prstGeom prst="roundRect">
            <a:avLst>
              <a:gd name="adj" fmla="val 2381"/>
            </a:avLst>
          </a:prstGeom>
          <a:solidFill>
            <a:srgbClr val="20314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ko-KR" altLang="en-US" sz="1400" b="1">
                <a:solidFill>
                  <a:srgbClr val="FFFFFF"/>
                </a:solidFill>
                <a:latin typeface="Pretendard"/>
              </a:rPr>
              <a:t>블로그</a:t>
            </a:r>
          </a:p>
        </p:txBody>
      </p:sp>
      <p:sp>
        <p:nvSpPr>
          <p:cNvPr id="24" name="모서리가 둥근 직사각형 23">
            <a:extLst>
              <a:ext uri="{FF2B5EF4-FFF2-40B4-BE49-F238E27FC236}">
                <a16:creationId xmlns:a16="http://schemas.microsoft.com/office/drawing/2014/main" id="{EC42D764-3371-A64F-8F0A-071DCE97C57D}"/>
              </a:ext>
            </a:extLst>
          </p:cNvPr>
          <p:cNvSpPr/>
          <p:nvPr/>
        </p:nvSpPr>
        <p:spPr>
          <a:xfrm>
            <a:off x="9740900" y="4191000"/>
            <a:ext cx="1320800" cy="1066800"/>
          </a:xfrm>
          <a:prstGeom prst="roundRect">
            <a:avLst>
              <a:gd name="adj" fmla="val 2381"/>
            </a:avLst>
          </a:prstGeom>
          <a:solidFill>
            <a:srgbClr val="20314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ko-KR" altLang="en-US" sz="1400" b="1">
                <a:solidFill>
                  <a:srgbClr val="FFFFFF"/>
                </a:solidFill>
                <a:latin typeface="Pretendard"/>
              </a:rPr>
              <a:t>카드뉴스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437D173-C8E7-5D43-9418-034FA493538C}"/>
              </a:ext>
            </a:extLst>
          </p:cNvPr>
          <p:cNvSpPr txBox="1"/>
          <p:nvPr/>
        </p:nvSpPr>
        <p:spPr>
          <a:xfrm>
            <a:off x="6845300" y="5461000"/>
            <a:ext cx="4216400" cy="304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400">
                <a:solidFill>
                  <a:srgbClr val="E8A33D"/>
                </a:solidFill>
                <a:latin typeface="JetBrains Mono"/>
              </a:rPr>
              <a:t>→ 톤 일관 </a:t>
            </a:r>
            <a:r>
              <a:rPr lang="en-US" altLang="ko-KR" sz="1400">
                <a:solidFill>
                  <a:srgbClr val="E8A33D"/>
                </a:solidFill>
                <a:latin typeface="JetBrains Mono"/>
              </a:rPr>
              <a:t>+ </a:t>
            </a:r>
            <a:r>
              <a:rPr lang="ko-KR" altLang="en-US" sz="1400">
                <a:solidFill>
                  <a:srgbClr val="E8A33D"/>
                </a:solidFill>
                <a:latin typeface="JetBrains Mono"/>
              </a:rPr>
              <a:t>제작 속도</a:t>
            </a:r>
          </a:p>
        </p:txBody>
      </p:sp>
      <p:sp>
        <p:nvSpPr>
          <p:cNvPr id="4" name="PageNumber">
            <a:extLst>
              <a:ext uri="{FF2B5EF4-FFF2-40B4-BE49-F238E27FC236}">
                <a16:creationId xmlns:a16="http://schemas.microsoft.com/office/drawing/2014/main" id="{526407B7-C74E-904E-ACDA-D08A0DE5F910}"/>
              </a:ext>
            </a:extLst>
          </p:cNvPr>
          <p:cNvSpPr txBox="1"/>
          <p:nvPr/>
        </p:nvSpPr>
        <p:spPr>
          <a:xfrm>
            <a:off x="9499600" y="6489700"/>
            <a:ext cx="23368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r"/>
            <a:r>
              <a:rPr lang="en-US" altLang="ko-KR" sz="1200">
                <a:solidFill>
                  <a:srgbClr val="576176"/>
                </a:solidFill>
                <a:latin typeface="Pretendard"/>
              </a:rPr>
              <a:t>- 59/144 -</a:t>
            </a:r>
            <a:endParaRPr lang="ko-KR" altLang="en-US" sz="1200">
              <a:solidFill>
                <a:srgbClr val="576176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336392269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실습 절차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실습 절차 — 직접 해봅니다</a:t>
            </a: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D200C1B1-0056-624E-808F-7B6316F87FC3}"/>
              </a:ext>
            </a:extLst>
          </p:cNvPr>
          <p:cNvSpPr/>
          <p:nvPr/>
        </p:nvSpPr>
        <p:spPr>
          <a:xfrm>
            <a:off x="825500" y="1930400"/>
            <a:ext cx="10541000" cy="939800"/>
          </a:xfrm>
          <a:prstGeom prst="roundRect">
            <a:avLst>
              <a:gd name="adj" fmla="val 2703"/>
            </a:avLst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1FF1108-22B0-F44F-9AA4-25BEA6010F00}"/>
              </a:ext>
            </a:extLst>
          </p:cNvPr>
          <p:cNvSpPr/>
          <p:nvPr/>
        </p:nvSpPr>
        <p:spPr>
          <a:xfrm>
            <a:off x="825500" y="1930400"/>
            <a:ext cx="76200" cy="939800"/>
          </a:xfrm>
          <a:prstGeom prst="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F02B76D5-B47D-C749-AFD0-95BDCC23E217}"/>
              </a:ext>
            </a:extLst>
          </p:cNvPr>
          <p:cNvSpPr/>
          <p:nvPr/>
        </p:nvSpPr>
        <p:spPr>
          <a:xfrm>
            <a:off x="1143000" y="2159000"/>
            <a:ext cx="482600" cy="482600"/>
          </a:xfrm>
          <a:prstGeom prst="ellipse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  <a:latin typeface="JetBrains Mono"/>
              </a:rPr>
              <a:t>1</a:t>
            </a:r>
            <a:endParaRPr lang="ko-KR" altLang="en-US" sz="16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517741-2802-874B-A727-E498EA4107D4}"/>
              </a:ext>
            </a:extLst>
          </p:cNvPr>
          <p:cNvSpPr txBox="1"/>
          <p:nvPr/>
        </p:nvSpPr>
        <p:spPr>
          <a:xfrm>
            <a:off x="1905000" y="2232135"/>
            <a:ext cx="2540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600" b="1">
                <a:solidFill>
                  <a:srgbClr val="14213D"/>
                </a:solidFill>
                <a:latin typeface="Pretendard"/>
              </a:rPr>
              <a:t>소개문 입력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A7BD2A-44C2-AB4B-B8DB-08B4A8729676}"/>
              </a:ext>
            </a:extLst>
          </p:cNvPr>
          <p:cNvSpPr txBox="1"/>
          <p:nvPr/>
        </p:nvSpPr>
        <p:spPr>
          <a:xfrm>
            <a:off x="4546600" y="2057400"/>
            <a:ext cx="6629400" cy="685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altLang="ko-KR" sz="1400">
                <a:solidFill>
                  <a:srgbClr val="576176"/>
                </a:solidFill>
                <a:latin typeface="Pretendard"/>
              </a:rPr>
              <a:t>M3-1 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소개문을 입력으로 준다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.</a:t>
            </a:r>
            <a:endParaRPr lang="ko-KR" altLang="en-US" sz="1400">
              <a:solidFill>
                <a:srgbClr val="576176"/>
              </a:solidFill>
              <a:latin typeface="Pretendard"/>
            </a:endParaRP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47AD2A96-0E01-D74A-870A-EF8C5CBD13DB}"/>
              </a:ext>
            </a:extLst>
          </p:cNvPr>
          <p:cNvSpPr/>
          <p:nvPr/>
        </p:nvSpPr>
        <p:spPr>
          <a:xfrm>
            <a:off x="825500" y="2971800"/>
            <a:ext cx="10541000" cy="939800"/>
          </a:xfrm>
          <a:prstGeom prst="roundRect">
            <a:avLst>
              <a:gd name="adj" fmla="val 2703"/>
            </a:avLst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5EA10F2-171E-3B4D-B5E7-79C6B1BC3799}"/>
              </a:ext>
            </a:extLst>
          </p:cNvPr>
          <p:cNvSpPr/>
          <p:nvPr/>
        </p:nvSpPr>
        <p:spPr>
          <a:xfrm>
            <a:off x="825500" y="2971800"/>
            <a:ext cx="76200" cy="939800"/>
          </a:xfrm>
          <a:prstGeom prst="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2F27850C-21DA-034C-84FD-7A1052718D9B}"/>
              </a:ext>
            </a:extLst>
          </p:cNvPr>
          <p:cNvSpPr/>
          <p:nvPr/>
        </p:nvSpPr>
        <p:spPr>
          <a:xfrm>
            <a:off x="1143000" y="3200400"/>
            <a:ext cx="482600" cy="482600"/>
          </a:xfrm>
          <a:prstGeom prst="ellipse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  <a:latin typeface="JetBrains Mono"/>
              </a:rPr>
              <a:t>2</a:t>
            </a:r>
            <a:endParaRPr lang="ko-KR" altLang="en-US" sz="16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B5C7EED-34EF-A14E-AC0B-B9A2E4127F9F}"/>
              </a:ext>
            </a:extLst>
          </p:cNvPr>
          <p:cNvSpPr txBox="1"/>
          <p:nvPr/>
        </p:nvSpPr>
        <p:spPr>
          <a:xfrm>
            <a:off x="1905000" y="3273535"/>
            <a:ext cx="2540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600" b="1">
                <a:solidFill>
                  <a:srgbClr val="14213D"/>
                </a:solidFill>
                <a:latin typeface="Pretendard"/>
              </a:rPr>
              <a:t>동시 변주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267491D-E675-CD4C-A37F-4EC7677EB86C}"/>
              </a:ext>
            </a:extLst>
          </p:cNvPr>
          <p:cNvSpPr txBox="1"/>
          <p:nvPr/>
        </p:nvSpPr>
        <p:spPr>
          <a:xfrm>
            <a:off x="4546600" y="3098800"/>
            <a:ext cx="6629400" cy="685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400">
                <a:solidFill>
                  <a:srgbClr val="576176"/>
                </a:solidFill>
                <a:latin typeface="Pretendard"/>
              </a:rPr>
              <a:t>인스타 캡션 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/ 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블로그 도입부 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/ 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카드뉴스 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5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장 문구로 변주한다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.</a:t>
            </a:r>
            <a:endParaRPr lang="ko-KR" altLang="en-US" sz="1400">
              <a:solidFill>
                <a:srgbClr val="576176"/>
              </a:solidFill>
              <a:latin typeface="Pretendard"/>
            </a:endParaRPr>
          </a:p>
        </p:txBody>
      </p:sp>
      <p:sp>
        <p:nvSpPr>
          <p:cNvPr id="15" name="모서리가 둥근 직사각형 14">
            <a:extLst>
              <a:ext uri="{FF2B5EF4-FFF2-40B4-BE49-F238E27FC236}">
                <a16:creationId xmlns:a16="http://schemas.microsoft.com/office/drawing/2014/main" id="{041A1835-30A5-1F4C-99A5-DF2D8C2F412F}"/>
              </a:ext>
            </a:extLst>
          </p:cNvPr>
          <p:cNvSpPr/>
          <p:nvPr/>
        </p:nvSpPr>
        <p:spPr>
          <a:xfrm>
            <a:off x="825500" y="4013200"/>
            <a:ext cx="10541000" cy="939800"/>
          </a:xfrm>
          <a:prstGeom prst="roundRect">
            <a:avLst>
              <a:gd name="adj" fmla="val 2703"/>
            </a:avLst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567E610-6DBB-734D-894D-6CCA1F84EAD6}"/>
              </a:ext>
            </a:extLst>
          </p:cNvPr>
          <p:cNvSpPr/>
          <p:nvPr/>
        </p:nvSpPr>
        <p:spPr>
          <a:xfrm>
            <a:off x="825500" y="4013200"/>
            <a:ext cx="76200" cy="939800"/>
          </a:xfrm>
          <a:prstGeom prst="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EE9132B0-C364-2746-8F1C-C9E327FC90A3}"/>
              </a:ext>
            </a:extLst>
          </p:cNvPr>
          <p:cNvSpPr/>
          <p:nvPr/>
        </p:nvSpPr>
        <p:spPr>
          <a:xfrm>
            <a:off x="1143000" y="4241800"/>
            <a:ext cx="482600" cy="482600"/>
          </a:xfrm>
          <a:prstGeom prst="ellipse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  <a:latin typeface="JetBrains Mono"/>
              </a:rPr>
              <a:t>3</a:t>
            </a:r>
            <a:endParaRPr lang="ko-KR" altLang="en-US" sz="16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0A0E23C-2D1D-CC4F-B3C3-57312468F1A2}"/>
              </a:ext>
            </a:extLst>
          </p:cNvPr>
          <p:cNvSpPr txBox="1"/>
          <p:nvPr/>
        </p:nvSpPr>
        <p:spPr>
          <a:xfrm>
            <a:off x="1905000" y="4314935"/>
            <a:ext cx="2540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600" b="1">
                <a:solidFill>
                  <a:srgbClr val="14213D"/>
                </a:solidFill>
                <a:latin typeface="Pretendard"/>
              </a:rPr>
              <a:t>해시태그 분류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CD10323-06AD-D440-9B70-A177B259836B}"/>
              </a:ext>
            </a:extLst>
          </p:cNvPr>
          <p:cNvSpPr txBox="1"/>
          <p:nvPr/>
        </p:nvSpPr>
        <p:spPr>
          <a:xfrm>
            <a:off x="4546600" y="4140200"/>
            <a:ext cx="6629400" cy="685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400">
                <a:solidFill>
                  <a:srgbClr val="576176"/>
                </a:solidFill>
                <a:latin typeface="Pretendard"/>
              </a:rPr>
              <a:t>대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·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중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·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롱테일로 분류해 해시태그 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10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개를 받는다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.</a:t>
            </a:r>
            <a:endParaRPr lang="ko-KR" altLang="en-US" sz="1400">
              <a:solidFill>
                <a:srgbClr val="576176"/>
              </a:solidFill>
              <a:latin typeface="Pretendard"/>
            </a:endParaRPr>
          </a:p>
        </p:txBody>
      </p:sp>
      <p:sp>
        <p:nvSpPr>
          <p:cNvPr id="20" name="모서리가 둥근 직사각형 19">
            <a:extLst>
              <a:ext uri="{FF2B5EF4-FFF2-40B4-BE49-F238E27FC236}">
                <a16:creationId xmlns:a16="http://schemas.microsoft.com/office/drawing/2014/main" id="{88641C65-4A8C-E24A-A475-4F1C54A62807}"/>
              </a:ext>
            </a:extLst>
          </p:cNvPr>
          <p:cNvSpPr/>
          <p:nvPr/>
        </p:nvSpPr>
        <p:spPr>
          <a:xfrm>
            <a:off x="825500" y="5054600"/>
            <a:ext cx="10541000" cy="939800"/>
          </a:xfrm>
          <a:prstGeom prst="roundRect">
            <a:avLst>
              <a:gd name="adj" fmla="val 2703"/>
            </a:avLst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256744FD-0B97-D744-8A1E-4644EF6D191E}"/>
              </a:ext>
            </a:extLst>
          </p:cNvPr>
          <p:cNvSpPr/>
          <p:nvPr/>
        </p:nvSpPr>
        <p:spPr>
          <a:xfrm>
            <a:off x="825500" y="5054600"/>
            <a:ext cx="76200" cy="939800"/>
          </a:xfrm>
          <a:prstGeom prst="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87A77123-EA53-A14B-8C28-62B6CCF350C6}"/>
              </a:ext>
            </a:extLst>
          </p:cNvPr>
          <p:cNvSpPr/>
          <p:nvPr/>
        </p:nvSpPr>
        <p:spPr>
          <a:xfrm>
            <a:off x="1143000" y="5283200"/>
            <a:ext cx="482600" cy="482600"/>
          </a:xfrm>
          <a:prstGeom prst="ellipse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  <a:latin typeface="JetBrains Mono"/>
              </a:rPr>
              <a:t>4</a:t>
            </a:r>
            <a:endParaRPr lang="ko-KR" altLang="en-US" sz="16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A261E11-FBA5-D14E-AAA2-AE1BD63F2F33}"/>
              </a:ext>
            </a:extLst>
          </p:cNvPr>
          <p:cNvSpPr txBox="1"/>
          <p:nvPr/>
        </p:nvSpPr>
        <p:spPr>
          <a:xfrm>
            <a:off x="1905000" y="5356335"/>
            <a:ext cx="2540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600" b="1" dirty="0">
                <a:solidFill>
                  <a:srgbClr val="14213D"/>
                </a:solidFill>
                <a:latin typeface="Pretendard"/>
              </a:rPr>
              <a:t>규격 검수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26F795A-1498-1F45-AB9C-6A6CBBA123E0}"/>
              </a:ext>
            </a:extLst>
          </p:cNvPr>
          <p:cNvSpPr txBox="1"/>
          <p:nvPr/>
        </p:nvSpPr>
        <p:spPr>
          <a:xfrm>
            <a:off x="4546600" y="5181600"/>
            <a:ext cx="6629400" cy="685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400">
                <a:solidFill>
                  <a:srgbClr val="576176"/>
                </a:solidFill>
                <a:latin typeface="Pretendard"/>
              </a:rPr>
              <a:t>각 채널 규격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(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길이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·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금지어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)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에 맞는지 검수한다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.</a:t>
            </a:r>
            <a:endParaRPr lang="ko-KR" altLang="en-US" sz="1400">
              <a:solidFill>
                <a:srgbClr val="576176"/>
              </a:solidFill>
              <a:latin typeface="Pretendard"/>
            </a:endParaRPr>
          </a:p>
        </p:txBody>
      </p:sp>
      <p:sp>
        <p:nvSpPr>
          <p:cNvPr id="4" name="PageNumber">
            <a:extLst>
              <a:ext uri="{FF2B5EF4-FFF2-40B4-BE49-F238E27FC236}">
                <a16:creationId xmlns:a16="http://schemas.microsoft.com/office/drawing/2014/main" id="{75281BE4-1B33-0243-BE80-A2E98B82C3D9}"/>
              </a:ext>
            </a:extLst>
          </p:cNvPr>
          <p:cNvSpPr txBox="1"/>
          <p:nvPr/>
        </p:nvSpPr>
        <p:spPr>
          <a:xfrm>
            <a:off x="9499600" y="6489700"/>
            <a:ext cx="23368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r"/>
            <a:r>
              <a:rPr lang="en-US" altLang="ko-KR" sz="1200">
                <a:solidFill>
                  <a:srgbClr val="576176"/>
                </a:solidFill>
                <a:latin typeface="Pretendard"/>
              </a:rPr>
              <a:t>- 60/144 -</a:t>
            </a:r>
            <a:endParaRPr lang="ko-KR" altLang="en-US" sz="1200">
              <a:solidFill>
                <a:srgbClr val="576176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287575911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실습 프롬프트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채널 멀티유즈 변주 프롬프트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874519"/>
            <a:ext cx="10332720" cy="4434840"/>
          </a:xfrm>
          <a:prstGeom prst="rect">
            <a:avLst/>
          </a:prstGeom>
          <a:solidFill>
            <a:srgbClr val="10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11480" tIns="502920" rIns="365760" bIns="320040" rtlCol="0" anchor="t"/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200"/>
              </a:spcAft>
            </a:pP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아래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소개문을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3개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채널용으로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변주해줘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.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톤은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동일하게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유지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.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200"/>
              </a:spcAft>
            </a:pP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1)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인스타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캡션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: 120자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이내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+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해시태그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10개(대형3·중형4·롱테일3)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200"/>
              </a:spcAft>
            </a:pP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2)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블로그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도입부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: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검색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키워드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"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무알콜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맥주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"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포함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, 3문단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200"/>
              </a:spcAft>
            </a:pP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3)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카드뉴스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: 5장,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장당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한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문장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(15자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내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200"/>
              </a:spcAft>
            </a:pP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200"/>
              </a:spcAft>
            </a:pP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[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소개문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]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200"/>
              </a:spcAft>
            </a:pP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{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여기에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M3-1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결과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붙여넣기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}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" y="2103120"/>
            <a:ext cx="109728" cy="10972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661E495B-AFD9-5CC0-9D40-30C8CCCC8697}"/>
              </a:ext>
            </a:extLst>
          </p:cNvPr>
          <p:cNvGrpSpPr/>
          <p:nvPr/>
        </p:nvGrpSpPr>
        <p:grpSpPr>
          <a:xfrm>
            <a:off x="8399107" y="3846905"/>
            <a:ext cx="2493450" cy="2285159"/>
            <a:chOff x="17449800" y="7213600"/>
            <a:chExt cx="6146800" cy="5486400"/>
          </a:xfrm>
        </p:grpSpPr>
        <p:pic>
          <p:nvPicPr>
            <p:cNvPr id="7" name="Picture 9">
              <a:extLst>
                <a:ext uri="{FF2B5EF4-FFF2-40B4-BE49-F238E27FC236}">
                  <a16:creationId xmlns:a16="http://schemas.microsoft.com/office/drawing/2014/main" id="{4E4CDE83-23B4-F7DC-C163-42F87D5E7DA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653000" y="8851900"/>
              <a:ext cx="1739900" cy="774700"/>
            </a:xfrm>
            <a:prstGeom prst="rect">
              <a:avLst/>
            </a:prstGeom>
          </p:spPr>
        </p:pic>
        <p:sp>
          <p:nvSpPr>
            <p:cNvPr id="8" name="TextBox 10">
              <a:extLst>
                <a:ext uri="{FF2B5EF4-FFF2-40B4-BE49-F238E27FC236}">
                  <a16:creationId xmlns:a16="http://schemas.microsoft.com/office/drawing/2014/main" id="{0DE38D1A-B4BF-B28E-66D3-7D94EFBD424E}"/>
                </a:ext>
              </a:extLst>
            </p:cNvPr>
            <p:cNvSpPr txBox="1"/>
            <p:nvPr/>
          </p:nvSpPr>
          <p:spPr>
            <a:xfrm>
              <a:off x="17449800" y="8991600"/>
              <a:ext cx="1930400" cy="571500"/>
            </a:xfrm>
            <a:prstGeom prst="rect">
              <a:avLst/>
            </a:prstGeom>
          </p:spPr>
          <p:txBody>
            <a:bodyPr lIns="0" tIns="40640" rIns="0" bIns="4064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2400" b="0" i="0" u="none" strike="noStrike" spc="-100" dirty="0">
                  <a:solidFill>
                    <a:srgbClr val="000000"/>
                  </a:solidFill>
                  <a:latin typeface="SB AggroOTF Bold"/>
                  <a:ea typeface="SB AggroOTF Bold"/>
                  <a:cs typeface="SB AggroOTF Bold"/>
                </a:rPr>
                <a:t>oh!</a:t>
              </a:r>
            </a:p>
          </p:txBody>
        </p:sp>
        <p:pic>
          <p:nvPicPr>
            <p:cNvPr id="9" name="Picture 27">
              <a:extLst>
                <a:ext uri="{FF2B5EF4-FFF2-40B4-BE49-F238E27FC236}">
                  <a16:creationId xmlns:a16="http://schemas.microsoft.com/office/drawing/2014/main" id="{7578433E-D090-3DC6-D41D-B75715EE13C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834100" y="7213600"/>
              <a:ext cx="4762500" cy="5486400"/>
            </a:xfrm>
            <a:prstGeom prst="rect">
              <a:avLst/>
            </a:prstGeom>
          </p:spPr>
        </p:pic>
      </p:grpSp>
      <p:sp>
        <p:nvSpPr>
          <p:cNvPr id="10" name="PageNumber">
            <a:extLst>
              <a:ext uri="{FF2B5EF4-FFF2-40B4-BE49-F238E27FC236}">
                <a16:creationId xmlns:a16="http://schemas.microsoft.com/office/drawing/2014/main" id="{7869B21A-B86A-2E4B-A7BC-5C320AA148EC}"/>
              </a:ext>
            </a:extLst>
          </p:cNvPr>
          <p:cNvSpPr txBox="1"/>
          <p:nvPr/>
        </p:nvSpPr>
        <p:spPr>
          <a:xfrm>
            <a:off x="9499600" y="6489700"/>
            <a:ext cx="23368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r"/>
            <a:r>
              <a:rPr lang="en-US" altLang="ko-KR" sz="1200">
                <a:solidFill>
                  <a:srgbClr val="576176"/>
                </a:solidFill>
                <a:latin typeface="Pretendard"/>
              </a:rPr>
              <a:t>- 61/144 -</a:t>
            </a:r>
            <a:endParaRPr lang="ko-KR" altLang="en-US" sz="1200">
              <a:solidFill>
                <a:srgbClr val="576176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12939878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좋은예 VS 나쁜예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비교 — 해시태그, 대형만 쓰면?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920240"/>
            <a:ext cx="5029200" cy="4114800"/>
          </a:xfrm>
          <a:prstGeom prst="rect">
            <a:avLst/>
          </a:prstGeom>
          <a:solidFill>
            <a:srgbClr val="F7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20040" rIns="320040" rtlCol="0" anchor="t"/>
          <a:lstStyle/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1000"/>
              </a:spcAft>
            </a:pPr>
            <a:r>
              <a:rPr b="1">
                <a:solidFill>
                  <a:srgbClr val="A63333"/>
                </a:solidFill>
                <a:latin typeface="Noto Serif KR"/>
                <a:ea typeface="Noto Serif KR"/>
                <a:cs typeface="Noto Serif KR"/>
              </a:rPr>
              <a:t>🚫 대형 태그만</a:t>
            </a:r>
          </a:p>
          <a:p>
            <a:pPr algn="l">
              <a:lnSpc>
                <a:spcPct val="130000"/>
              </a:lnSpc>
              <a:spcBef>
                <a:spcPts val="400"/>
              </a:spcBef>
              <a:spcAft>
                <a:spcPts val="400"/>
              </a:spcAft>
            </a:pPr>
            <a:r>
              <a:rPr sz="1600" b="1">
                <a:solidFill>
                  <a:srgbClr val="A63333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sz="16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#맥주 #술 #혼술</a:t>
            </a:r>
          </a:p>
          <a:p>
            <a:pPr algn="l">
              <a:lnSpc>
                <a:spcPct val="130000"/>
              </a:lnSpc>
              <a:spcBef>
                <a:spcPts val="400"/>
              </a:spcBef>
              <a:spcAft>
                <a:spcPts val="400"/>
              </a:spcAft>
            </a:pPr>
            <a:r>
              <a:rPr sz="1600" b="1">
                <a:solidFill>
                  <a:srgbClr val="A63333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sz="16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경쟁 글 수십만 개에 묻힘</a:t>
            </a:r>
          </a:p>
          <a:p>
            <a:pPr algn="l">
              <a:lnSpc>
                <a:spcPct val="130000"/>
              </a:lnSpc>
              <a:spcBef>
                <a:spcPts val="400"/>
              </a:spcBef>
              <a:spcAft>
                <a:spcPts val="400"/>
              </a:spcAft>
            </a:pPr>
            <a:r>
              <a:rPr sz="1600" b="1">
                <a:solidFill>
                  <a:srgbClr val="A63333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sz="16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도달은 넓지만 전환은 거의 0</a:t>
            </a:r>
          </a:p>
        </p:txBody>
      </p:sp>
      <p:sp>
        <p:nvSpPr>
          <p:cNvPr id="5" name="Rectangle 4"/>
          <p:cNvSpPr/>
          <p:nvPr/>
        </p:nvSpPr>
        <p:spPr>
          <a:xfrm>
            <a:off x="6245352" y="1920240"/>
            <a:ext cx="5029200" cy="4114800"/>
          </a:xfrm>
          <a:prstGeom prst="rect">
            <a:avLst/>
          </a:prstGeom>
          <a:solidFill>
            <a:srgbClr val="E7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20040" rIns="320040" rtlCol="0" anchor="t"/>
          <a:lstStyle/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1000"/>
              </a:spcAft>
            </a:pPr>
            <a:r>
              <a:rPr b="1">
                <a:solidFill>
                  <a:srgbClr val="2C6B44"/>
                </a:solidFill>
                <a:latin typeface="Noto Serif KR"/>
                <a:ea typeface="Noto Serif KR"/>
                <a:cs typeface="Noto Serif KR"/>
              </a:rPr>
              <a:t>✅ 대·중·롱테일 믹스</a:t>
            </a:r>
          </a:p>
          <a:p>
            <a:pPr algn="l">
              <a:lnSpc>
                <a:spcPct val="130000"/>
              </a:lnSpc>
              <a:spcBef>
                <a:spcPts val="400"/>
              </a:spcBef>
              <a:spcAft>
                <a:spcPts val="400"/>
              </a:spcAft>
            </a:pPr>
            <a:r>
              <a:rPr sz="1600" b="1">
                <a:solidFill>
                  <a:srgbClr val="2C6B44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sz="16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대형 #무알콜맥주 (노출)</a:t>
            </a:r>
          </a:p>
          <a:p>
            <a:pPr algn="l">
              <a:lnSpc>
                <a:spcPct val="130000"/>
              </a:lnSpc>
              <a:spcBef>
                <a:spcPts val="400"/>
              </a:spcBef>
              <a:spcAft>
                <a:spcPts val="400"/>
              </a:spcAft>
            </a:pPr>
            <a:r>
              <a:rPr sz="1600" b="1">
                <a:solidFill>
                  <a:srgbClr val="2C6B44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sz="16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중형 #혼술추천 #홈술 (관련성)</a:t>
            </a:r>
          </a:p>
          <a:p>
            <a:pPr algn="l">
              <a:lnSpc>
                <a:spcPct val="130000"/>
              </a:lnSpc>
              <a:spcBef>
                <a:spcPts val="400"/>
              </a:spcBef>
              <a:spcAft>
                <a:spcPts val="400"/>
              </a:spcAft>
            </a:pPr>
            <a:r>
              <a:rPr sz="1600" b="1">
                <a:solidFill>
                  <a:srgbClr val="2C6B44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sz="16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롱테일 #내일출근혼술 #숙취없는맥주 (전환)</a:t>
            </a:r>
          </a:p>
        </p:txBody>
      </p:sp>
      <p:pic>
        <p:nvPicPr>
          <p:cNvPr id="6" name="Picture 16">
            <a:extLst>
              <a:ext uri="{FF2B5EF4-FFF2-40B4-BE49-F238E27FC236}">
                <a16:creationId xmlns:a16="http://schemas.microsoft.com/office/drawing/2014/main" id="{41F2C2A1-34B4-102E-A054-17C5CF68DC7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9385403" y="4161453"/>
            <a:ext cx="1758520" cy="1742958"/>
          </a:xfrm>
          <a:prstGeom prst="rect">
            <a:avLst/>
          </a:prstGeom>
        </p:spPr>
      </p:pic>
      <p:sp>
        <p:nvSpPr>
          <p:cNvPr id="7" name="PageNumber">
            <a:extLst>
              <a:ext uri="{FF2B5EF4-FFF2-40B4-BE49-F238E27FC236}">
                <a16:creationId xmlns:a16="http://schemas.microsoft.com/office/drawing/2014/main" id="{D9623A2D-FE77-6349-BF79-8B5363B62D47}"/>
              </a:ext>
            </a:extLst>
          </p:cNvPr>
          <p:cNvSpPr txBox="1"/>
          <p:nvPr/>
        </p:nvSpPr>
        <p:spPr>
          <a:xfrm>
            <a:off x="9499600" y="6489700"/>
            <a:ext cx="23368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r"/>
            <a:r>
              <a:rPr lang="en-US" altLang="ko-KR" sz="1200">
                <a:solidFill>
                  <a:srgbClr val="576176"/>
                </a:solidFill>
                <a:latin typeface="Pretendard"/>
              </a:rPr>
              <a:t>- 62/144 -</a:t>
            </a:r>
            <a:endParaRPr lang="ko-KR" altLang="en-US" sz="1200">
              <a:solidFill>
                <a:srgbClr val="576176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389558488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정리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SNS 게시글·블로그 초안·행사 안내문·카드뉴스 문구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920240"/>
            <a:ext cx="10332720" cy="1636776"/>
          </a:xfrm>
          <a:prstGeom prst="rect">
            <a:avLst/>
          </a:prstGeom>
          <a:solidFill>
            <a:srgbClr val="FB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228600" rIns="365760" bIns="182880" rtlCol="0" anchor="t"/>
          <a:lstStyle/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600"/>
              </a:spcAft>
            </a:pPr>
            <a:r>
              <a:rPr sz="1500" b="1">
                <a:solidFill>
                  <a:srgbClr val="B57A1A"/>
                </a:solidFill>
                <a:latin typeface="JetBrains Mono"/>
                <a:ea typeface="JetBrains Mono"/>
                <a:cs typeface="JetBrains Mono"/>
              </a:rPr>
              <a:t>⚠  흔한 실수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1">
                <a:solidFill>
                  <a:srgbClr val="E8A33D"/>
                </a:solidFill>
                <a:latin typeface="Pretendard"/>
                <a:ea typeface="Pretendard"/>
                <a:cs typeface="Pretendard"/>
              </a:rPr>
              <a:t>·  </a:t>
            </a:r>
            <a:r>
              <a:rPr sz="14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채널별 글자수 제약을 빼먹으면 규격 초과로 재작업.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1">
                <a:solidFill>
                  <a:srgbClr val="E8A33D"/>
                </a:solidFill>
                <a:latin typeface="Pretendard"/>
                <a:ea typeface="Pretendard"/>
                <a:cs typeface="Pretendard"/>
              </a:rPr>
              <a:t>·  </a:t>
            </a:r>
            <a:r>
              <a:rPr sz="14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해시태그를 대형만 넣으면 경쟁에 묻힌다 → 롱테일 필수.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739896"/>
            <a:ext cx="10332720" cy="1005840"/>
          </a:xfrm>
          <a:prstGeom prst="rect">
            <a:avLst/>
          </a:prstGeom>
          <a:solidFill>
            <a:srgbClr val="DCE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201168" rIns="365760" bIns="182880" rtlCol="0" anchor="t"/>
          <a:lstStyle/>
          <a:p>
            <a:pPr algn="l">
              <a:lnSpc>
                <a:spcPct val="125000"/>
              </a:lnSpc>
              <a:spcBef>
                <a:spcPts val="600"/>
              </a:spcBef>
              <a:spcAft>
                <a:spcPts val="400"/>
              </a:spcAft>
            </a:pPr>
            <a:r>
              <a:rPr sz="1500" b="1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📦  결과물   </a:t>
            </a:r>
            <a:r>
              <a:rPr sz="1600" b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SNS 캡션 + 해시태그 10개 + 블로그 도입부 + 카드뉴스 5장 문구 세트.</a:t>
            </a:r>
          </a:p>
        </p:txBody>
      </p:sp>
      <p:sp>
        <p:nvSpPr>
          <p:cNvPr id="6" name="PageNumber">
            <a:extLst>
              <a:ext uri="{FF2B5EF4-FFF2-40B4-BE49-F238E27FC236}">
                <a16:creationId xmlns:a16="http://schemas.microsoft.com/office/drawing/2014/main" id="{F5711104-9EE2-4945-A995-9B04D6C8909F}"/>
              </a:ext>
            </a:extLst>
          </p:cNvPr>
          <p:cNvSpPr txBox="1"/>
          <p:nvPr/>
        </p:nvSpPr>
        <p:spPr>
          <a:xfrm>
            <a:off x="9499600" y="6489700"/>
            <a:ext cx="23368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r"/>
            <a:r>
              <a:rPr lang="en-US" altLang="ko-KR" sz="1200">
                <a:solidFill>
                  <a:srgbClr val="576176"/>
                </a:solidFill>
                <a:latin typeface="Pretendard"/>
              </a:rPr>
              <a:t>- 63/144 -</a:t>
            </a:r>
            <a:endParaRPr lang="ko-KR" altLang="en-US" sz="1200">
              <a:solidFill>
                <a:srgbClr val="576176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393456614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도구 가이드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이 모듈에서 쓰는 도구</a:t>
            </a: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C41D0094-1CF3-0A46-AEF8-97A64453C6B8}"/>
              </a:ext>
            </a:extLst>
          </p:cNvPr>
          <p:cNvSpPr/>
          <p:nvPr/>
        </p:nvSpPr>
        <p:spPr>
          <a:xfrm>
            <a:off x="825500" y="1905000"/>
            <a:ext cx="5080000" cy="4381500"/>
          </a:xfrm>
          <a:prstGeom prst="roundRect">
            <a:avLst>
              <a:gd name="adj" fmla="val 580"/>
            </a:avLst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51DA734A-85EB-EB40-8AA5-B79D22726707}"/>
              </a:ext>
            </a:extLst>
          </p:cNvPr>
          <p:cNvSpPr/>
          <p:nvPr/>
        </p:nvSpPr>
        <p:spPr>
          <a:xfrm>
            <a:off x="1130300" y="2209800"/>
            <a:ext cx="4470400" cy="736600"/>
          </a:xfrm>
          <a:prstGeom prst="roundRect">
            <a:avLst>
              <a:gd name="adj" fmla="val 3448"/>
            </a:avLst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5D543A-F913-B744-BFF5-9EA88B8A1E42}"/>
              </a:ext>
            </a:extLst>
          </p:cNvPr>
          <p:cNvSpPr txBox="1"/>
          <p:nvPr/>
        </p:nvSpPr>
        <p:spPr>
          <a:xfrm>
            <a:off x="1130300" y="2209800"/>
            <a:ext cx="4470400" cy="736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n-US" altLang="ko-KR" sz="2300" b="1">
                <a:solidFill>
                  <a:srgbClr val="FFFFFF"/>
                </a:solidFill>
                <a:latin typeface="Pretendard"/>
              </a:rPr>
              <a:t>ChatGPT</a:t>
            </a:r>
            <a:endParaRPr lang="ko-KR" altLang="en-US" sz="2300" b="1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DADF8F-13BC-734E-99D3-76AADE6A75C0}"/>
              </a:ext>
            </a:extLst>
          </p:cNvPr>
          <p:cNvSpPr txBox="1"/>
          <p:nvPr/>
        </p:nvSpPr>
        <p:spPr>
          <a:xfrm>
            <a:off x="1181100" y="3200400"/>
            <a:ext cx="43688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400" b="1">
                <a:solidFill>
                  <a:srgbClr val="576176"/>
                </a:solidFill>
                <a:latin typeface="JetBrains Mono"/>
              </a:rPr>
              <a:t>STRENGTH · </a:t>
            </a:r>
            <a:r>
              <a:rPr lang="ko-KR" altLang="en-US" sz="1400" b="1">
                <a:solidFill>
                  <a:srgbClr val="576176"/>
                </a:solidFill>
                <a:latin typeface="JetBrains Mono"/>
              </a:rPr>
              <a:t>강점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BFF6A1-9822-6D4A-91AA-41954DC25C23}"/>
              </a:ext>
            </a:extLst>
          </p:cNvPr>
          <p:cNvSpPr txBox="1"/>
          <p:nvPr/>
        </p:nvSpPr>
        <p:spPr>
          <a:xfrm>
            <a:off x="1181100" y="3530600"/>
            <a:ext cx="4368800" cy="1397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500" dirty="0">
                <a:solidFill>
                  <a:srgbClr val="2A3B57"/>
                </a:solidFill>
                <a:latin typeface="Pretendard"/>
              </a:rPr>
              <a:t>변주</a:t>
            </a:r>
            <a:r>
              <a:rPr lang="en-US" altLang="ko-KR" sz="1500" dirty="0">
                <a:solidFill>
                  <a:srgbClr val="2A3B57"/>
                </a:solidFill>
                <a:latin typeface="Pretendard"/>
              </a:rPr>
              <a:t>·</a:t>
            </a:r>
            <a:r>
              <a:rPr lang="ko-KR" altLang="en-US" sz="1500" dirty="0">
                <a:solidFill>
                  <a:srgbClr val="2A3B57"/>
                </a:solidFill>
                <a:latin typeface="Pretendard"/>
              </a:rPr>
              <a:t>해시태그 생성이 빠르다</a:t>
            </a:r>
            <a:r>
              <a:rPr lang="en-US" altLang="ko-KR" sz="1500" dirty="0">
                <a:solidFill>
                  <a:srgbClr val="2A3B57"/>
                </a:solidFill>
                <a:latin typeface="Pretendard"/>
              </a:rPr>
              <a:t>. </a:t>
            </a:r>
          </a:p>
          <a:p>
            <a:pPr algn="l"/>
            <a:endParaRPr lang="en-US" altLang="ko-KR" sz="1500" dirty="0">
              <a:solidFill>
                <a:srgbClr val="2A3B57"/>
              </a:solidFill>
              <a:latin typeface="Pretendard"/>
            </a:endParaRPr>
          </a:p>
          <a:p>
            <a:pPr algn="l"/>
            <a:r>
              <a:rPr lang="ko-KR" altLang="en-US" sz="1500" dirty="0">
                <a:solidFill>
                  <a:srgbClr val="2A3B57"/>
                </a:solidFill>
                <a:latin typeface="Pretendard"/>
              </a:rPr>
              <a:t>한 메시지를 여러 채널 버전으로 즉시 펼친다</a:t>
            </a:r>
            <a:r>
              <a:rPr lang="en-US" altLang="ko-KR" sz="1500" dirty="0">
                <a:solidFill>
                  <a:srgbClr val="2A3B57"/>
                </a:solidFill>
                <a:latin typeface="Pretendard"/>
              </a:rPr>
              <a:t>.</a:t>
            </a:r>
            <a:endParaRPr lang="ko-KR" altLang="en-US" sz="1500" dirty="0">
              <a:solidFill>
                <a:srgbClr val="2A3B57"/>
              </a:solidFill>
              <a:latin typeface="Pretendard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1CC1E5A-0442-F040-91EC-E0FBCFFD2CC4}"/>
              </a:ext>
            </a:extLst>
          </p:cNvPr>
          <p:cNvSpPr txBox="1"/>
          <p:nvPr/>
        </p:nvSpPr>
        <p:spPr>
          <a:xfrm>
            <a:off x="1181100" y="5054600"/>
            <a:ext cx="43688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400" b="1">
                <a:solidFill>
                  <a:srgbClr val="14213D"/>
                </a:solidFill>
                <a:latin typeface="JetBrains Mono"/>
              </a:rPr>
              <a:t>이렇게 쓰세요</a:t>
            </a: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8EDECF23-FF49-2549-9578-4BB1B4B1C9CE}"/>
              </a:ext>
            </a:extLst>
          </p:cNvPr>
          <p:cNvSpPr/>
          <p:nvPr/>
        </p:nvSpPr>
        <p:spPr>
          <a:xfrm>
            <a:off x="1181100" y="5334000"/>
            <a:ext cx="4368800" cy="685800"/>
          </a:xfrm>
          <a:prstGeom prst="roundRect">
            <a:avLst>
              <a:gd name="adj" fmla="val 3704"/>
            </a:avLst>
          </a:prstGeom>
          <a:solidFill>
            <a:srgbClr val="E7ECF4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0CCE025-BCC5-6D42-8E12-E3A1AB46ACFC}"/>
              </a:ext>
            </a:extLst>
          </p:cNvPr>
          <p:cNvSpPr txBox="1"/>
          <p:nvPr/>
        </p:nvSpPr>
        <p:spPr>
          <a:xfrm>
            <a:off x="1181100" y="5334000"/>
            <a:ext cx="4368800" cy="685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ko-KR" altLang="en-US" sz="1450" b="1">
                <a:solidFill>
                  <a:srgbClr val="14213D"/>
                </a:solidFill>
                <a:latin typeface="Pretendard"/>
              </a:rPr>
              <a:t>변주 </a:t>
            </a:r>
            <a:r>
              <a:rPr lang="en-US" altLang="ko-KR" sz="1450" b="1">
                <a:solidFill>
                  <a:srgbClr val="14213D"/>
                </a:solidFill>
                <a:latin typeface="Pretendard"/>
              </a:rPr>
              <a:t>· </a:t>
            </a:r>
            <a:r>
              <a:rPr lang="ko-KR" altLang="en-US" sz="1450" b="1">
                <a:solidFill>
                  <a:srgbClr val="14213D"/>
                </a:solidFill>
                <a:latin typeface="Pretendard"/>
              </a:rPr>
              <a:t>해시태그</a:t>
            </a: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7845EC22-3A7B-A24C-967F-7B4678221F74}"/>
              </a:ext>
            </a:extLst>
          </p:cNvPr>
          <p:cNvSpPr/>
          <p:nvPr/>
        </p:nvSpPr>
        <p:spPr>
          <a:xfrm>
            <a:off x="6286500" y="1905000"/>
            <a:ext cx="5080000" cy="4381500"/>
          </a:xfrm>
          <a:prstGeom prst="roundRect">
            <a:avLst>
              <a:gd name="adj" fmla="val 580"/>
            </a:avLst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4" name="모서리가 둥근 직사각형 13">
            <a:extLst>
              <a:ext uri="{FF2B5EF4-FFF2-40B4-BE49-F238E27FC236}">
                <a16:creationId xmlns:a16="http://schemas.microsoft.com/office/drawing/2014/main" id="{51F2C082-3867-A942-8872-C6C73C37BB24}"/>
              </a:ext>
            </a:extLst>
          </p:cNvPr>
          <p:cNvSpPr/>
          <p:nvPr/>
        </p:nvSpPr>
        <p:spPr>
          <a:xfrm>
            <a:off x="6591300" y="2209800"/>
            <a:ext cx="4470400" cy="736600"/>
          </a:xfrm>
          <a:prstGeom prst="roundRect">
            <a:avLst>
              <a:gd name="adj" fmla="val 3448"/>
            </a:avLst>
          </a:prstGeom>
          <a:solidFill>
            <a:srgbClr val="1D4E89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934085B-429E-894C-A46D-0C70ECE4FE6A}"/>
              </a:ext>
            </a:extLst>
          </p:cNvPr>
          <p:cNvSpPr txBox="1"/>
          <p:nvPr/>
        </p:nvSpPr>
        <p:spPr>
          <a:xfrm>
            <a:off x="6591300" y="2209800"/>
            <a:ext cx="4470400" cy="736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n-US" altLang="ko-KR" sz="2300" b="1">
                <a:solidFill>
                  <a:srgbClr val="FFFFFF"/>
                </a:solidFill>
                <a:latin typeface="Pretendard"/>
              </a:rPr>
              <a:t>Claude</a:t>
            </a:r>
            <a:endParaRPr lang="ko-KR" altLang="en-US" sz="2300" b="1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08B82E8-ABBE-754D-BEBD-4823AF561E1B}"/>
              </a:ext>
            </a:extLst>
          </p:cNvPr>
          <p:cNvSpPr txBox="1"/>
          <p:nvPr/>
        </p:nvSpPr>
        <p:spPr>
          <a:xfrm>
            <a:off x="6642100" y="3200400"/>
            <a:ext cx="43688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400" b="1">
                <a:solidFill>
                  <a:srgbClr val="576176"/>
                </a:solidFill>
                <a:latin typeface="JetBrains Mono"/>
              </a:rPr>
              <a:t>STRENGTH · </a:t>
            </a:r>
            <a:r>
              <a:rPr lang="ko-KR" altLang="en-US" sz="1400" b="1">
                <a:solidFill>
                  <a:srgbClr val="576176"/>
                </a:solidFill>
                <a:latin typeface="JetBrains Mono"/>
              </a:rPr>
              <a:t>강점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E740479-1ED5-824B-AC6F-FC956D49B454}"/>
              </a:ext>
            </a:extLst>
          </p:cNvPr>
          <p:cNvSpPr txBox="1"/>
          <p:nvPr/>
        </p:nvSpPr>
        <p:spPr>
          <a:xfrm>
            <a:off x="6642100" y="3530600"/>
            <a:ext cx="4368800" cy="1397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500" dirty="0">
                <a:solidFill>
                  <a:srgbClr val="2A3B57"/>
                </a:solidFill>
                <a:latin typeface="Pretendard"/>
              </a:rPr>
              <a:t>길고 구조적인 글에서 톤을 일관되게 유지한다</a:t>
            </a:r>
            <a:r>
              <a:rPr lang="en-US" altLang="ko-KR" sz="1500" dirty="0">
                <a:solidFill>
                  <a:srgbClr val="2A3B57"/>
                </a:solidFill>
                <a:latin typeface="Pretendard"/>
              </a:rPr>
              <a:t>. </a:t>
            </a:r>
          </a:p>
          <a:p>
            <a:pPr algn="l"/>
            <a:endParaRPr lang="en-US" altLang="ko-KR" sz="1500" dirty="0">
              <a:solidFill>
                <a:srgbClr val="2A3B57"/>
              </a:solidFill>
              <a:latin typeface="Pretendard"/>
            </a:endParaRPr>
          </a:p>
          <a:p>
            <a:pPr algn="l"/>
            <a:r>
              <a:rPr lang="ko-KR" altLang="en-US" sz="1500" dirty="0">
                <a:solidFill>
                  <a:srgbClr val="2A3B57"/>
                </a:solidFill>
                <a:latin typeface="Pretendard"/>
              </a:rPr>
              <a:t>소개문</a:t>
            </a:r>
            <a:r>
              <a:rPr lang="en-US" altLang="ko-KR" sz="1500" dirty="0">
                <a:solidFill>
                  <a:srgbClr val="2A3B57"/>
                </a:solidFill>
                <a:latin typeface="Pretendard"/>
              </a:rPr>
              <a:t>·</a:t>
            </a:r>
            <a:r>
              <a:rPr lang="ko-KR" altLang="en-US" sz="1500" dirty="0">
                <a:solidFill>
                  <a:srgbClr val="2A3B57"/>
                </a:solidFill>
                <a:latin typeface="Pretendard"/>
              </a:rPr>
              <a:t>블로그에 강하다</a:t>
            </a:r>
            <a:r>
              <a:rPr lang="en-US" altLang="ko-KR" sz="1500" dirty="0">
                <a:solidFill>
                  <a:srgbClr val="2A3B57"/>
                </a:solidFill>
                <a:latin typeface="Pretendard"/>
              </a:rPr>
              <a:t>.</a:t>
            </a:r>
            <a:endParaRPr lang="ko-KR" altLang="en-US" sz="1500" dirty="0">
              <a:solidFill>
                <a:srgbClr val="2A3B57"/>
              </a:solidFill>
              <a:latin typeface="Pretendard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53F4F23-B5E5-E34F-9449-7B57A2D63CA6}"/>
              </a:ext>
            </a:extLst>
          </p:cNvPr>
          <p:cNvSpPr txBox="1"/>
          <p:nvPr/>
        </p:nvSpPr>
        <p:spPr>
          <a:xfrm>
            <a:off x="6642100" y="5054600"/>
            <a:ext cx="43688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400" b="1">
                <a:solidFill>
                  <a:srgbClr val="1D4E89"/>
                </a:solidFill>
                <a:latin typeface="JetBrains Mono"/>
              </a:rPr>
              <a:t>이렇게 쓰세요</a:t>
            </a: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6F60AE5E-AA02-A242-8969-BE1A584ACAAE}"/>
              </a:ext>
            </a:extLst>
          </p:cNvPr>
          <p:cNvSpPr/>
          <p:nvPr/>
        </p:nvSpPr>
        <p:spPr>
          <a:xfrm>
            <a:off x="6642100" y="5334000"/>
            <a:ext cx="4368800" cy="685800"/>
          </a:xfrm>
          <a:prstGeom prst="roundRect">
            <a:avLst>
              <a:gd name="adj" fmla="val 3704"/>
            </a:avLst>
          </a:prstGeom>
          <a:solidFill>
            <a:srgbClr val="E4ECF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07A989B-8CF5-AB4A-91E9-F5844C330428}"/>
              </a:ext>
            </a:extLst>
          </p:cNvPr>
          <p:cNvSpPr txBox="1"/>
          <p:nvPr/>
        </p:nvSpPr>
        <p:spPr>
          <a:xfrm>
            <a:off x="6642100" y="5334000"/>
            <a:ext cx="4368800" cy="685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ko-KR" altLang="en-US" sz="1450" b="1">
                <a:solidFill>
                  <a:srgbClr val="1D4E89"/>
                </a:solidFill>
                <a:latin typeface="Pretendard"/>
              </a:rPr>
              <a:t>긴 글 </a:t>
            </a:r>
            <a:r>
              <a:rPr lang="en-US" altLang="ko-KR" sz="1450" b="1">
                <a:solidFill>
                  <a:srgbClr val="1D4E89"/>
                </a:solidFill>
                <a:latin typeface="Pretendard"/>
              </a:rPr>
              <a:t>· </a:t>
            </a:r>
            <a:r>
              <a:rPr lang="ko-KR" altLang="en-US" sz="1450" b="1">
                <a:solidFill>
                  <a:srgbClr val="1D4E89"/>
                </a:solidFill>
                <a:latin typeface="Pretendard"/>
              </a:rPr>
              <a:t>톤 유지</a:t>
            </a:r>
          </a:p>
        </p:txBody>
      </p:sp>
      <p:sp>
        <p:nvSpPr>
          <p:cNvPr id="4" name="PageNumber">
            <a:extLst>
              <a:ext uri="{FF2B5EF4-FFF2-40B4-BE49-F238E27FC236}">
                <a16:creationId xmlns:a16="http://schemas.microsoft.com/office/drawing/2014/main" id="{ABCAA035-2CC0-7344-933E-CD0B7E6AF55B}"/>
              </a:ext>
            </a:extLst>
          </p:cNvPr>
          <p:cNvSpPr txBox="1"/>
          <p:nvPr/>
        </p:nvSpPr>
        <p:spPr>
          <a:xfrm>
            <a:off x="9499600" y="6489700"/>
            <a:ext cx="23368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r"/>
            <a:r>
              <a:rPr lang="en-US" altLang="ko-KR" sz="1200">
                <a:solidFill>
                  <a:srgbClr val="576176"/>
                </a:solidFill>
                <a:latin typeface="Pretendard"/>
              </a:rPr>
              <a:t>- 64/144 -</a:t>
            </a:r>
            <a:endParaRPr lang="ko-KR" altLang="en-US" sz="1200">
              <a:solidFill>
                <a:srgbClr val="576176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24673943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CHECKLIST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모듈 체크리스트</a:t>
            </a: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E50D44B2-9622-3648-B9D7-B07E89B05232}"/>
              </a:ext>
            </a:extLst>
          </p:cNvPr>
          <p:cNvSpPr/>
          <p:nvPr/>
        </p:nvSpPr>
        <p:spPr>
          <a:xfrm>
            <a:off x="825500" y="2006600"/>
            <a:ext cx="10541000" cy="1219200"/>
          </a:xfrm>
          <a:prstGeom prst="roundRect">
            <a:avLst>
              <a:gd name="adj" fmla="val 2083"/>
            </a:avLst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471A2087-CCDA-2D40-8855-AB85A5945F78}"/>
              </a:ext>
            </a:extLst>
          </p:cNvPr>
          <p:cNvSpPr/>
          <p:nvPr/>
        </p:nvSpPr>
        <p:spPr>
          <a:xfrm>
            <a:off x="825500" y="2006600"/>
            <a:ext cx="76200" cy="1219200"/>
          </a:xfrm>
          <a:prstGeom prst="roundRect">
            <a:avLst>
              <a:gd name="adj" fmla="val 33333"/>
            </a:avLst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AA815423-597E-E54E-8A71-4503F1464654}"/>
              </a:ext>
            </a:extLst>
          </p:cNvPr>
          <p:cNvSpPr/>
          <p:nvPr/>
        </p:nvSpPr>
        <p:spPr>
          <a:xfrm>
            <a:off x="1270000" y="2362200"/>
            <a:ext cx="508000" cy="508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2225" cap="flat" cmpd="sng" algn="ctr">
            <a:solidFill>
              <a:srgbClr val="14213D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2200" b="1">
                <a:solidFill>
                  <a:srgbClr val="E8A33D"/>
                </a:solidFill>
              </a:rPr>
              <a:t>✓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0C30E71-98AB-2D4C-92C8-A0E364C80805}"/>
              </a:ext>
            </a:extLst>
          </p:cNvPr>
          <p:cNvSpPr txBox="1"/>
          <p:nvPr/>
        </p:nvSpPr>
        <p:spPr>
          <a:xfrm>
            <a:off x="2082800" y="2286000"/>
            <a:ext cx="8890000" cy="355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b="1">
                <a:solidFill>
                  <a:srgbClr val="14213D"/>
                </a:solidFill>
                <a:latin typeface="Pretendard"/>
              </a:rPr>
              <a:t>톤 가이드 고정해 소개문 작성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E82B44-8D52-A34A-BD37-83E7D072FAC1}"/>
              </a:ext>
            </a:extLst>
          </p:cNvPr>
          <p:cNvSpPr txBox="1"/>
          <p:nvPr/>
        </p:nvSpPr>
        <p:spPr>
          <a:xfrm>
            <a:off x="2082800" y="2667000"/>
            <a:ext cx="8890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400">
                <a:solidFill>
                  <a:srgbClr val="576176"/>
                </a:solidFill>
                <a:latin typeface="Pretendard"/>
              </a:rPr>
              <a:t>말투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·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금지 표현 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1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줄 고정 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+ PAS 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골격</a:t>
            </a: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F4A0DA1D-5AC6-4A47-BA17-5F7F1A34B17F}"/>
              </a:ext>
            </a:extLst>
          </p:cNvPr>
          <p:cNvSpPr/>
          <p:nvPr/>
        </p:nvSpPr>
        <p:spPr>
          <a:xfrm>
            <a:off x="825500" y="3403600"/>
            <a:ext cx="10541000" cy="1219200"/>
          </a:xfrm>
          <a:prstGeom prst="roundRect">
            <a:avLst>
              <a:gd name="adj" fmla="val 2083"/>
            </a:avLst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63B891A0-714E-CC45-98A1-D8553B1A01F4}"/>
              </a:ext>
            </a:extLst>
          </p:cNvPr>
          <p:cNvSpPr/>
          <p:nvPr/>
        </p:nvSpPr>
        <p:spPr>
          <a:xfrm>
            <a:off x="825500" y="3403600"/>
            <a:ext cx="76200" cy="1219200"/>
          </a:xfrm>
          <a:prstGeom prst="roundRect">
            <a:avLst>
              <a:gd name="adj" fmla="val 33333"/>
            </a:avLst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25A018D3-AD26-E94F-95A4-777309844539}"/>
              </a:ext>
            </a:extLst>
          </p:cNvPr>
          <p:cNvSpPr/>
          <p:nvPr/>
        </p:nvSpPr>
        <p:spPr>
          <a:xfrm>
            <a:off x="1270000" y="3759200"/>
            <a:ext cx="508000" cy="508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2225" cap="flat" cmpd="sng" algn="ctr">
            <a:solidFill>
              <a:srgbClr val="14213D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2200" b="1">
                <a:solidFill>
                  <a:srgbClr val="E8A33D"/>
                </a:solidFill>
              </a:rPr>
              <a:t>✓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52468E-0640-7A45-8E86-E23E2AC1C013}"/>
              </a:ext>
            </a:extLst>
          </p:cNvPr>
          <p:cNvSpPr txBox="1"/>
          <p:nvPr/>
        </p:nvSpPr>
        <p:spPr>
          <a:xfrm>
            <a:off x="2082800" y="3683000"/>
            <a:ext cx="8890000" cy="355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b="1">
                <a:solidFill>
                  <a:srgbClr val="14213D"/>
                </a:solidFill>
                <a:latin typeface="Pretendard"/>
              </a:rPr>
              <a:t>한 메시지를 </a:t>
            </a:r>
            <a:r>
              <a:rPr lang="en-US" altLang="ko-KR" b="1">
                <a:solidFill>
                  <a:srgbClr val="14213D"/>
                </a:solidFill>
                <a:latin typeface="Pretendard"/>
              </a:rPr>
              <a:t>3</a:t>
            </a:r>
            <a:r>
              <a:rPr lang="ko-KR" altLang="en-US" b="1">
                <a:solidFill>
                  <a:srgbClr val="14213D"/>
                </a:solidFill>
                <a:latin typeface="Pretendard"/>
              </a:rPr>
              <a:t>채널로 변주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51525E1-B5BC-994D-85BD-CBE948A5D63C}"/>
              </a:ext>
            </a:extLst>
          </p:cNvPr>
          <p:cNvSpPr txBox="1"/>
          <p:nvPr/>
        </p:nvSpPr>
        <p:spPr>
          <a:xfrm>
            <a:off x="2082800" y="4064000"/>
            <a:ext cx="8890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400">
                <a:solidFill>
                  <a:srgbClr val="576176"/>
                </a:solidFill>
                <a:latin typeface="Pretendard"/>
              </a:rPr>
              <a:t>인스타 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· 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블로그 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· 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카드뉴스</a:t>
            </a:r>
          </a:p>
        </p:txBody>
      </p:sp>
      <p:sp>
        <p:nvSpPr>
          <p:cNvPr id="15" name="모서리가 둥근 직사각형 14">
            <a:extLst>
              <a:ext uri="{FF2B5EF4-FFF2-40B4-BE49-F238E27FC236}">
                <a16:creationId xmlns:a16="http://schemas.microsoft.com/office/drawing/2014/main" id="{AA2A93F9-E2A6-E94A-B675-A9F10A06C3EA}"/>
              </a:ext>
            </a:extLst>
          </p:cNvPr>
          <p:cNvSpPr/>
          <p:nvPr/>
        </p:nvSpPr>
        <p:spPr>
          <a:xfrm>
            <a:off x="825500" y="4800600"/>
            <a:ext cx="10541000" cy="1219200"/>
          </a:xfrm>
          <a:prstGeom prst="roundRect">
            <a:avLst>
              <a:gd name="adj" fmla="val 2083"/>
            </a:avLst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6" name="모서리가 둥근 직사각형 15">
            <a:extLst>
              <a:ext uri="{FF2B5EF4-FFF2-40B4-BE49-F238E27FC236}">
                <a16:creationId xmlns:a16="http://schemas.microsoft.com/office/drawing/2014/main" id="{D5E97ED5-FFE8-F34D-ABB3-E65E26147FA7}"/>
              </a:ext>
            </a:extLst>
          </p:cNvPr>
          <p:cNvSpPr/>
          <p:nvPr/>
        </p:nvSpPr>
        <p:spPr>
          <a:xfrm>
            <a:off x="825500" y="4800600"/>
            <a:ext cx="76200" cy="1219200"/>
          </a:xfrm>
          <a:prstGeom prst="roundRect">
            <a:avLst>
              <a:gd name="adj" fmla="val 33333"/>
            </a:avLst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7" name="모서리가 둥근 직사각형 16">
            <a:extLst>
              <a:ext uri="{FF2B5EF4-FFF2-40B4-BE49-F238E27FC236}">
                <a16:creationId xmlns:a16="http://schemas.microsoft.com/office/drawing/2014/main" id="{ACC334F3-D8FC-EB49-BE98-F485F76160E9}"/>
              </a:ext>
            </a:extLst>
          </p:cNvPr>
          <p:cNvSpPr/>
          <p:nvPr/>
        </p:nvSpPr>
        <p:spPr>
          <a:xfrm>
            <a:off x="1270000" y="5156200"/>
            <a:ext cx="508000" cy="508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2225" cap="flat" cmpd="sng" algn="ctr">
            <a:solidFill>
              <a:srgbClr val="14213D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2200" b="1">
                <a:solidFill>
                  <a:srgbClr val="E8A33D"/>
                </a:solidFill>
              </a:rPr>
              <a:t>✓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21D9697-6A9C-DD44-A072-1E290FAE961E}"/>
              </a:ext>
            </a:extLst>
          </p:cNvPr>
          <p:cNvSpPr txBox="1"/>
          <p:nvPr/>
        </p:nvSpPr>
        <p:spPr>
          <a:xfrm>
            <a:off x="2082800" y="5080000"/>
            <a:ext cx="8890000" cy="355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b="1">
                <a:solidFill>
                  <a:srgbClr val="14213D"/>
                </a:solidFill>
                <a:latin typeface="Pretendard"/>
              </a:rPr>
              <a:t>해시태그 대</a:t>
            </a:r>
            <a:r>
              <a:rPr lang="en-US" altLang="ko-KR" b="1">
                <a:solidFill>
                  <a:srgbClr val="14213D"/>
                </a:solidFill>
                <a:latin typeface="Pretendard"/>
              </a:rPr>
              <a:t>·</a:t>
            </a:r>
            <a:r>
              <a:rPr lang="ko-KR" altLang="en-US" b="1">
                <a:solidFill>
                  <a:srgbClr val="14213D"/>
                </a:solidFill>
                <a:latin typeface="Pretendard"/>
              </a:rPr>
              <a:t>중</a:t>
            </a:r>
            <a:r>
              <a:rPr lang="en-US" altLang="ko-KR" b="1">
                <a:solidFill>
                  <a:srgbClr val="14213D"/>
                </a:solidFill>
                <a:latin typeface="Pretendard"/>
              </a:rPr>
              <a:t>·</a:t>
            </a:r>
            <a:r>
              <a:rPr lang="ko-KR" altLang="en-US" b="1">
                <a:solidFill>
                  <a:srgbClr val="14213D"/>
                </a:solidFill>
                <a:latin typeface="Pretendard"/>
              </a:rPr>
              <a:t>롱테일 분류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B41DDE0-8177-EA4A-9CD2-A765FE6CA8F7}"/>
              </a:ext>
            </a:extLst>
          </p:cNvPr>
          <p:cNvSpPr txBox="1"/>
          <p:nvPr/>
        </p:nvSpPr>
        <p:spPr>
          <a:xfrm>
            <a:off x="2082800" y="5461000"/>
            <a:ext cx="8890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400">
                <a:solidFill>
                  <a:srgbClr val="576176"/>
                </a:solidFill>
                <a:latin typeface="Pretendard"/>
              </a:rPr>
              <a:t>노출 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+ 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관련성 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+ 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전환</a:t>
            </a:r>
          </a:p>
        </p:txBody>
      </p:sp>
      <p:sp>
        <p:nvSpPr>
          <p:cNvPr id="4" name="PageNumber">
            <a:extLst>
              <a:ext uri="{FF2B5EF4-FFF2-40B4-BE49-F238E27FC236}">
                <a16:creationId xmlns:a16="http://schemas.microsoft.com/office/drawing/2014/main" id="{A423162D-1714-0E4A-9C71-BD634F817101}"/>
              </a:ext>
            </a:extLst>
          </p:cNvPr>
          <p:cNvSpPr txBox="1"/>
          <p:nvPr/>
        </p:nvSpPr>
        <p:spPr>
          <a:xfrm>
            <a:off x="9499600" y="6489700"/>
            <a:ext cx="23368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r"/>
            <a:r>
              <a:rPr lang="en-US" altLang="ko-KR" sz="1200">
                <a:solidFill>
                  <a:srgbClr val="576176"/>
                </a:solidFill>
                <a:latin typeface="Pretendard"/>
              </a:rPr>
              <a:t>- 65/144 -</a:t>
            </a:r>
            <a:endParaRPr lang="ko-KR" altLang="en-US" sz="1200">
              <a:solidFill>
                <a:srgbClr val="576176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395834852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1CB4642B-F1DC-2E43-B71F-D134DACA3949}"/>
              </a:ext>
            </a:extLst>
          </p:cNvPr>
          <p:cNvSpPr/>
          <p:nvPr/>
        </p:nvSpPr>
        <p:spPr>
          <a:xfrm>
            <a:off x="825500" y="1905000"/>
            <a:ext cx="10541000" cy="3175000"/>
          </a:xfrm>
          <a:prstGeom prst="roundRect">
            <a:avLst>
              <a:gd name="adj" fmla="val 800"/>
            </a:avLst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FC558AF7-CCDF-004E-965A-BE7966ACE2E2}"/>
              </a:ext>
            </a:extLst>
          </p:cNvPr>
          <p:cNvSpPr/>
          <p:nvPr/>
        </p:nvSpPr>
        <p:spPr>
          <a:xfrm>
            <a:off x="825500" y="1905000"/>
            <a:ext cx="101600" cy="3175000"/>
          </a:xfrm>
          <a:prstGeom prst="roundRect">
            <a:avLst>
              <a:gd name="adj" fmla="val 25000"/>
            </a:avLst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4BC04D-2807-924A-A31E-908AB8CBACC0}"/>
              </a:ext>
            </a:extLst>
          </p:cNvPr>
          <p:cNvSpPr txBox="1"/>
          <p:nvPr/>
        </p:nvSpPr>
        <p:spPr>
          <a:xfrm>
            <a:off x="1333500" y="2286000"/>
            <a:ext cx="8890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500" b="1">
                <a:solidFill>
                  <a:srgbClr val="E8A33D"/>
                </a:solidFill>
                <a:latin typeface="JetBrains Mono"/>
              </a:rPr>
              <a:t>MISSION 03 · </a:t>
            </a:r>
            <a:r>
              <a:rPr lang="ko-KR" altLang="en-US" sz="1500" b="1">
                <a:solidFill>
                  <a:srgbClr val="E8A33D"/>
                </a:solidFill>
                <a:latin typeface="JetBrains Mono"/>
              </a:rPr>
              <a:t>도장깨기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8ACC77-772B-AA4C-B7A4-F0CED0833404}"/>
              </a:ext>
            </a:extLst>
          </p:cNvPr>
          <p:cNvSpPr txBox="1"/>
          <p:nvPr/>
        </p:nvSpPr>
        <p:spPr>
          <a:xfrm>
            <a:off x="1333500" y="2641600"/>
            <a:ext cx="8890000" cy="584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3000" b="1">
                <a:solidFill>
                  <a:srgbClr val="FFFFFF"/>
                </a:solidFill>
                <a:latin typeface="Noto Serif KR"/>
              </a:rPr>
              <a:t>홍보 콘텐츠 작성</a:t>
            </a: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026E2520-FD17-434B-8539-AC254C158D2E}"/>
              </a:ext>
            </a:extLst>
          </p:cNvPr>
          <p:cNvSpPr/>
          <p:nvPr/>
        </p:nvSpPr>
        <p:spPr>
          <a:xfrm>
            <a:off x="1333500" y="3454400"/>
            <a:ext cx="9525000" cy="1320800"/>
          </a:xfrm>
          <a:prstGeom prst="roundRect">
            <a:avLst>
              <a:gd name="adj" fmla="val 1923"/>
            </a:avLst>
          </a:prstGeom>
          <a:solidFill>
            <a:srgbClr val="20314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405902-BC46-C04F-9CBE-8D55E4419D0B}"/>
              </a:ext>
            </a:extLst>
          </p:cNvPr>
          <p:cNvSpPr txBox="1"/>
          <p:nvPr/>
        </p:nvSpPr>
        <p:spPr>
          <a:xfrm>
            <a:off x="1587500" y="3657600"/>
            <a:ext cx="9017000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b="1">
                <a:solidFill>
                  <a:srgbClr val="FFFFFF"/>
                </a:solidFill>
                <a:latin typeface="Pretendard"/>
              </a:rPr>
              <a:t>톤앤매너 키워드를 고정해 콘텐츠 세트를 만든다</a:t>
            </a:r>
            <a:r>
              <a:rPr lang="en-US" altLang="ko-KR" b="1">
                <a:solidFill>
                  <a:srgbClr val="FFFFFF"/>
                </a:solidFill>
                <a:latin typeface="Pretendard"/>
              </a:rPr>
              <a:t>.</a:t>
            </a:r>
            <a:endParaRPr lang="ko-KR" altLang="en-US" b="1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F80BBC-44C4-4F44-A4B2-A882FECAE8CA}"/>
              </a:ext>
            </a:extLst>
          </p:cNvPr>
          <p:cNvSpPr txBox="1"/>
          <p:nvPr/>
        </p:nvSpPr>
        <p:spPr>
          <a:xfrm>
            <a:off x="1587500" y="4140200"/>
            <a:ext cx="9017000" cy="355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450">
                <a:solidFill>
                  <a:srgbClr val="E8A33D"/>
                </a:solidFill>
                <a:latin typeface="Pretendard"/>
              </a:rPr>
              <a:t>→ 채널이 달라도 톤이 유지되는 한 세트로 묶는다</a:t>
            </a:r>
            <a:r>
              <a:rPr lang="en-US" altLang="ko-KR" sz="1450">
                <a:solidFill>
                  <a:srgbClr val="E8A33D"/>
                </a:solidFill>
                <a:latin typeface="Pretendard"/>
              </a:rPr>
              <a:t>.</a:t>
            </a:r>
            <a:endParaRPr lang="ko-KR" altLang="en-US" sz="1450">
              <a:solidFill>
                <a:srgbClr val="E8A33D"/>
              </a:solidFill>
              <a:latin typeface="Pretendard"/>
            </a:endParaRP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8FA9F683-8320-8E41-A0B8-ABC39D0E2124}"/>
              </a:ext>
            </a:extLst>
          </p:cNvPr>
          <p:cNvSpPr/>
          <p:nvPr/>
        </p:nvSpPr>
        <p:spPr>
          <a:xfrm>
            <a:off x="825500" y="5283200"/>
            <a:ext cx="10541000" cy="939800"/>
          </a:xfrm>
          <a:prstGeom prst="roundRect">
            <a:avLst>
              <a:gd name="adj" fmla="val 2703"/>
            </a:avLst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E56D3F0-8E2B-7D42-A5E1-2B2DEA9272D4}"/>
              </a:ext>
            </a:extLst>
          </p:cNvPr>
          <p:cNvSpPr txBox="1"/>
          <p:nvPr/>
        </p:nvSpPr>
        <p:spPr>
          <a:xfrm>
            <a:off x="1206500" y="5486400"/>
            <a:ext cx="1778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400" b="1">
                <a:solidFill>
                  <a:srgbClr val="E8A33D"/>
                </a:solidFill>
                <a:latin typeface="JetBrains Mono"/>
              </a:rPr>
              <a:t>▶  NEXT</a:t>
            </a:r>
            <a:endParaRPr lang="ko-KR" altLang="en-US" sz="1400" b="1">
              <a:solidFill>
                <a:srgbClr val="E8A33D"/>
              </a:solidFill>
              <a:latin typeface="JetBrains Mono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3CE307-2C67-0543-A35A-13B4E4E27E5B}"/>
              </a:ext>
            </a:extLst>
          </p:cNvPr>
          <p:cNvSpPr txBox="1"/>
          <p:nvPr/>
        </p:nvSpPr>
        <p:spPr>
          <a:xfrm>
            <a:off x="1206500" y="5740400"/>
            <a:ext cx="9652000" cy="330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b="1">
                <a:solidFill>
                  <a:srgbClr val="14213D"/>
                </a:solidFill>
                <a:latin typeface="Pretendard"/>
              </a:rPr>
              <a:t>M4 · AI </a:t>
            </a:r>
            <a:r>
              <a:rPr lang="ko-KR" altLang="en-US" b="1">
                <a:solidFill>
                  <a:srgbClr val="14213D"/>
                </a:solidFill>
                <a:latin typeface="Pretendard"/>
              </a:rPr>
              <a:t>기반 시각자료 제작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96C0B0E0-B5C0-1E81-43BA-4D18844456CD}"/>
              </a:ext>
            </a:extLst>
          </p:cNvPr>
          <p:cNvGrpSpPr/>
          <p:nvPr/>
        </p:nvGrpSpPr>
        <p:grpSpPr>
          <a:xfrm>
            <a:off x="7846785" y="100001"/>
            <a:ext cx="4345215" cy="4040199"/>
            <a:chOff x="13449300" y="2921000"/>
            <a:chExt cx="11036300" cy="1026160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E152435A-3F31-D01F-C525-FC049F6F3DB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50000"/>
            </a:blip>
            <a:stretch>
              <a:fillRect/>
            </a:stretch>
          </p:blipFill>
          <p:spPr>
            <a:xfrm>
              <a:off x="21920200" y="8051800"/>
              <a:ext cx="2565400" cy="5130800"/>
            </a:xfrm>
            <a:prstGeom prst="rect">
              <a:avLst/>
            </a:prstGeom>
          </p:spPr>
        </p:pic>
        <p:pic>
          <p:nvPicPr>
            <p:cNvPr id="14" name="Picture 3">
              <a:extLst>
                <a:ext uri="{FF2B5EF4-FFF2-40B4-BE49-F238E27FC236}">
                  <a16:creationId xmlns:a16="http://schemas.microsoft.com/office/drawing/2014/main" id="{2B7D7BA9-E6F5-BCC8-5982-E3C36EB5DC0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70000"/>
            </a:blip>
            <a:stretch>
              <a:fillRect/>
            </a:stretch>
          </p:blipFill>
          <p:spPr>
            <a:xfrm>
              <a:off x="14185900" y="8686800"/>
              <a:ext cx="4495800" cy="4495800"/>
            </a:xfrm>
            <a:prstGeom prst="rect">
              <a:avLst/>
            </a:prstGeom>
          </p:spPr>
        </p:pic>
        <p:pic>
          <p:nvPicPr>
            <p:cNvPr id="15" name="Picture 4">
              <a:extLst>
                <a:ext uri="{FF2B5EF4-FFF2-40B4-BE49-F238E27FC236}">
                  <a16:creationId xmlns:a16="http://schemas.microsoft.com/office/drawing/2014/main" id="{6C5ECE84-EFBA-9870-4471-6B16FC6AB50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70000"/>
            </a:blip>
            <a:stretch>
              <a:fillRect/>
            </a:stretch>
          </p:blipFill>
          <p:spPr>
            <a:xfrm>
              <a:off x="16433800" y="6007100"/>
              <a:ext cx="6172200" cy="6172200"/>
            </a:xfrm>
            <a:prstGeom prst="rect">
              <a:avLst/>
            </a:prstGeom>
          </p:spPr>
        </p:pic>
        <p:pic>
          <p:nvPicPr>
            <p:cNvPr id="16" name="Picture 5">
              <a:extLst>
                <a:ext uri="{FF2B5EF4-FFF2-40B4-BE49-F238E27FC236}">
                  <a16:creationId xmlns:a16="http://schemas.microsoft.com/office/drawing/2014/main" id="{DB354944-4FA3-6A0B-37BD-C1A5E22D0BC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alphaModFix amt="70000"/>
            </a:blip>
            <a:stretch>
              <a:fillRect/>
            </a:stretch>
          </p:blipFill>
          <p:spPr>
            <a:xfrm>
              <a:off x="20688300" y="2921000"/>
              <a:ext cx="1244600" cy="1244600"/>
            </a:xfrm>
            <a:prstGeom prst="rect">
              <a:avLst/>
            </a:prstGeom>
          </p:spPr>
        </p:pic>
        <p:pic>
          <p:nvPicPr>
            <p:cNvPr id="17" name="Picture 7">
              <a:extLst>
                <a:ext uri="{FF2B5EF4-FFF2-40B4-BE49-F238E27FC236}">
                  <a16:creationId xmlns:a16="http://schemas.microsoft.com/office/drawing/2014/main" id="{7C71B37C-F69C-663B-E694-38AC48E59D1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alphaModFix amt="70000"/>
            </a:blip>
            <a:stretch>
              <a:fillRect/>
            </a:stretch>
          </p:blipFill>
          <p:spPr>
            <a:xfrm>
              <a:off x="13449300" y="11684000"/>
              <a:ext cx="1485900" cy="1485900"/>
            </a:xfrm>
            <a:prstGeom prst="rect">
              <a:avLst/>
            </a:prstGeom>
          </p:spPr>
        </p:pic>
        <p:pic>
          <p:nvPicPr>
            <p:cNvPr id="18" name="Picture 8">
              <a:extLst>
                <a:ext uri="{FF2B5EF4-FFF2-40B4-BE49-F238E27FC236}">
                  <a16:creationId xmlns:a16="http://schemas.microsoft.com/office/drawing/2014/main" id="{40E93DD3-8852-2E60-4F50-90695F5B243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alphaModFix amt="41000"/>
            </a:blip>
            <a:stretch>
              <a:fillRect/>
            </a:stretch>
          </p:blipFill>
          <p:spPr>
            <a:xfrm rot="5400000">
              <a:off x="21869400" y="6515100"/>
              <a:ext cx="3670300" cy="1562100"/>
            </a:xfrm>
            <a:prstGeom prst="rect">
              <a:avLst/>
            </a:prstGeom>
          </p:spPr>
        </p:pic>
      </p:grpSp>
      <p:sp>
        <p:nvSpPr>
          <p:cNvPr id="19" name="PageNumber">
            <a:extLst>
              <a:ext uri="{FF2B5EF4-FFF2-40B4-BE49-F238E27FC236}">
                <a16:creationId xmlns:a16="http://schemas.microsoft.com/office/drawing/2014/main" id="{A7DC4426-17B1-034C-9B39-F65D95665C79}"/>
              </a:ext>
            </a:extLst>
          </p:cNvPr>
          <p:cNvSpPr txBox="1"/>
          <p:nvPr/>
        </p:nvSpPr>
        <p:spPr>
          <a:xfrm>
            <a:off x="9499600" y="6489700"/>
            <a:ext cx="23368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r"/>
            <a:r>
              <a:rPr lang="en-US" altLang="ko-KR" sz="1200">
                <a:solidFill>
                  <a:schemeClr val="bg1"/>
                </a:solidFill>
                <a:latin typeface="Pretendard"/>
              </a:rPr>
              <a:t>- 66/144 -</a:t>
            </a:r>
            <a:endParaRPr lang="ko-KR" altLang="en-US" sz="1200">
              <a:solidFill>
                <a:schemeClr val="bg1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414463433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4E8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2960" y="1554480"/>
            <a:ext cx="1005840" cy="128016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1000"/>
              </a:spcAft>
            </a:pPr>
            <a:r>
              <a:rPr sz="1400" b="0">
                <a:solidFill>
                  <a:srgbClr val="BFD2EC"/>
                </a:solidFill>
                <a:latin typeface="JetBrains Mono"/>
                <a:ea typeface="JetBrains Mono"/>
                <a:cs typeface="JetBrains Mono"/>
              </a:rPr>
              <a:t>MODULE 4 · 4교시 · 13:00–13:50</a:t>
            </a:r>
          </a:p>
          <a:p>
            <a:pPr algn="l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</a:pPr>
            <a:r>
              <a:rPr sz="3800" b="1">
                <a:solidFill>
                  <a:srgbClr val="FFFFFF"/>
                </a:solidFill>
                <a:latin typeface="Noto Serif KR"/>
                <a:ea typeface="Noto Serif KR"/>
                <a:cs typeface="Noto Serif KR"/>
              </a:rPr>
              <a:t>M4. AI 기반 시각자료 제작</a:t>
            </a:r>
          </a:p>
          <a:p>
            <a:pPr algn="l">
              <a:lnSpc>
                <a:spcPct val="140000"/>
              </a:lnSpc>
              <a:spcBef>
                <a:spcPts val="600"/>
              </a:spcBef>
              <a:spcAft>
                <a:spcPts val="400"/>
              </a:spcAft>
            </a:pPr>
            <a:r>
              <a:rPr sz="1500" b="0">
                <a:solidFill>
                  <a:srgbClr val="DBE6F6"/>
                </a:solidFill>
                <a:latin typeface="Pretendard"/>
                <a:ea typeface="Pretendard"/>
                <a:cs typeface="Pretendard"/>
              </a:rPr>
              <a:t>이미지 생성 AI의 프롬프트 구조(피사체·스타일·구도·색·금지)를 이해하고, 문구와 톤이 일치하는 홍보 시각자료를 만든다.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4352544"/>
            <a:ext cx="10515600" cy="1911096"/>
          </a:xfrm>
          <a:prstGeom prst="rect">
            <a:avLst/>
          </a:prstGeom>
          <a:solidFill>
            <a:srgbClr val="184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164592" rtlCol="0" anchor="ctr"/>
          <a:lstStyle/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300"/>
              </a:spcAft>
            </a:pPr>
            <a:r>
              <a:rPr sz="1600" b="1">
                <a:solidFill>
                  <a:srgbClr val="9FC0E6"/>
                </a:solidFill>
                <a:latin typeface="JetBrains Mono"/>
                <a:ea typeface="JetBrains Mono"/>
                <a:cs typeface="JetBrains Mono"/>
              </a:rPr>
              <a:t>이전  </a:t>
            </a:r>
            <a:r>
              <a:rPr sz="16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M3의 카드뉴스 문구가 준비됐다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300"/>
              </a:spcAft>
            </a:pPr>
            <a:r>
              <a:rPr sz="1600" b="1">
                <a:solidFill>
                  <a:srgbClr val="E8A33D"/>
                </a:solidFill>
                <a:latin typeface="JetBrains Mono"/>
                <a:ea typeface="JetBrains Mono"/>
                <a:cs typeface="JetBrains Mono"/>
              </a:rPr>
              <a:t>이번  </a:t>
            </a:r>
            <a:r>
              <a: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문구와 톤이 맞는 시각자료를 만든다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400"/>
              </a:spcAft>
            </a:pPr>
            <a:r>
              <a:rPr sz="1600" b="1">
                <a:solidFill>
                  <a:srgbClr val="9FC0E6"/>
                </a:solidFill>
                <a:latin typeface="JetBrains Mono"/>
                <a:ea typeface="JetBrains Mono"/>
                <a:cs typeface="JetBrains Mono"/>
              </a:rPr>
              <a:t>다음  </a:t>
            </a:r>
            <a:r>
              <a:rPr sz="16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콘텐츠·비주얼을 담을 화면을 설계하러 → M5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8DF5DD66-0BAF-77AA-7644-5845708EAB8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7590712" y="161917"/>
            <a:ext cx="5702300" cy="2362200"/>
          </a:xfrm>
          <a:prstGeom prst="rect">
            <a:avLst/>
          </a:prstGeom>
        </p:spPr>
      </p:pic>
      <p:sp>
        <p:nvSpPr>
          <p:cNvPr id="6" name="PageNumber">
            <a:extLst>
              <a:ext uri="{FF2B5EF4-FFF2-40B4-BE49-F238E27FC236}">
                <a16:creationId xmlns:a16="http://schemas.microsoft.com/office/drawing/2014/main" id="{676E0D52-D7BE-3B43-918A-752E36A5D95A}"/>
              </a:ext>
            </a:extLst>
          </p:cNvPr>
          <p:cNvSpPr txBox="1"/>
          <p:nvPr/>
        </p:nvSpPr>
        <p:spPr>
          <a:xfrm>
            <a:off x="9499600" y="6489700"/>
            <a:ext cx="23368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r"/>
            <a:r>
              <a:rPr lang="en-US" altLang="ko-KR" sz="1200">
                <a:solidFill>
                  <a:schemeClr val="bg1"/>
                </a:solidFill>
                <a:latin typeface="Pretendard"/>
              </a:rPr>
              <a:t>- 67/144 -</a:t>
            </a:r>
            <a:endParaRPr lang="ko-KR" altLang="en-US" sz="1200">
              <a:solidFill>
                <a:schemeClr val="bg1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195986755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학습 목표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이 모듈에서 할 수 있게 되는 것</a:t>
            </a: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985F074A-2048-4F43-BFAE-A01C86FFB3F7}"/>
              </a:ext>
            </a:extLst>
          </p:cNvPr>
          <p:cNvSpPr/>
          <p:nvPr/>
        </p:nvSpPr>
        <p:spPr>
          <a:xfrm>
            <a:off x="825500" y="1905000"/>
            <a:ext cx="5080000" cy="4381500"/>
          </a:xfrm>
          <a:prstGeom prst="roundRect">
            <a:avLst>
              <a:gd name="adj" fmla="val 580"/>
            </a:avLst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F2A02C-E572-3B48-A0B2-9EE82D561A68}"/>
              </a:ext>
            </a:extLst>
          </p:cNvPr>
          <p:cNvSpPr txBox="1"/>
          <p:nvPr/>
        </p:nvSpPr>
        <p:spPr>
          <a:xfrm>
            <a:off x="1257300" y="2235200"/>
            <a:ext cx="1524000" cy="711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4000" b="1">
                <a:solidFill>
                  <a:srgbClr val="E8A33D"/>
                </a:solidFill>
                <a:latin typeface="JetBrains Mono"/>
              </a:rPr>
              <a:t>01</a:t>
            </a:r>
            <a:endParaRPr lang="ko-KR" altLang="en-US" sz="4000" b="1">
              <a:solidFill>
                <a:srgbClr val="E8A33D"/>
              </a:solidFill>
              <a:latin typeface="JetBrains Mono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17DE485-911B-024E-92C7-8E231D6A282D}"/>
              </a:ext>
            </a:extLst>
          </p:cNvPr>
          <p:cNvSpPr/>
          <p:nvPr/>
        </p:nvSpPr>
        <p:spPr>
          <a:xfrm>
            <a:off x="1282700" y="3124200"/>
            <a:ext cx="685800" cy="50800"/>
          </a:xfrm>
          <a:prstGeom prst="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AD590F8-396C-4643-8BCE-2AB8473AC4BA}"/>
              </a:ext>
            </a:extLst>
          </p:cNvPr>
          <p:cNvSpPr txBox="1"/>
          <p:nvPr/>
        </p:nvSpPr>
        <p:spPr>
          <a:xfrm>
            <a:off x="1282700" y="3479800"/>
            <a:ext cx="4165600" cy="165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2000" b="1" dirty="0">
                <a:solidFill>
                  <a:srgbClr val="14213D"/>
                </a:solidFill>
                <a:latin typeface="Pretendard"/>
              </a:rPr>
              <a:t>이미지 생성 </a:t>
            </a:r>
            <a:r>
              <a:rPr lang="en-US" altLang="ko-KR" sz="2000" b="1" dirty="0">
                <a:solidFill>
                  <a:srgbClr val="14213D"/>
                </a:solidFill>
                <a:latin typeface="Pretendard"/>
              </a:rPr>
              <a:t>AI</a:t>
            </a:r>
            <a:r>
              <a:rPr lang="ko-KR" altLang="en-US" sz="2000" b="1" dirty="0">
                <a:solidFill>
                  <a:srgbClr val="14213D"/>
                </a:solidFill>
                <a:latin typeface="Pretendard"/>
              </a:rPr>
              <a:t>로 </a:t>
            </a:r>
            <a:endParaRPr lang="en-US" altLang="ko-KR" sz="2000" b="1" dirty="0">
              <a:solidFill>
                <a:srgbClr val="14213D"/>
              </a:solidFill>
              <a:latin typeface="Pretendard"/>
            </a:endParaRPr>
          </a:p>
          <a:p>
            <a:pPr algn="l">
              <a:lnSpc>
                <a:spcPct val="150000"/>
              </a:lnSpc>
            </a:pPr>
            <a:r>
              <a:rPr lang="ko-KR" altLang="en-US" sz="2000" b="1" dirty="0">
                <a:solidFill>
                  <a:srgbClr val="14213D"/>
                </a:solidFill>
                <a:latin typeface="Pretendard"/>
              </a:rPr>
              <a:t>홍보용 시각자료 초안을 </a:t>
            </a:r>
            <a:endParaRPr lang="en-US" altLang="ko-KR" sz="2000" b="1" dirty="0">
              <a:solidFill>
                <a:srgbClr val="14213D"/>
              </a:solidFill>
              <a:latin typeface="Pretendard"/>
            </a:endParaRPr>
          </a:p>
          <a:p>
            <a:pPr algn="l">
              <a:lnSpc>
                <a:spcPct val="150000"/>
              </a:lnSpc>
            </a:pPr>
            <a:r>
              <a:rPr lang="ko-KR" altLang="en-US" sz="2000" b="1" dirty="0">
                <a:solidFill>
                  <a:srgbClr val="14213D"/>
                </a:solidFill>
                <a:latin typeface="Pretendard"/>
              </a:rPr>
              <a:t>만들 수 있다</a:t>
            </a:r>
            <a:r>
              <a:rPr lang="en-US" altLang="ko-KR" sz="2000" b="1" dirty="0">
                <a:solidFill>
                  <a:srgbClr val="14213D"/>
                </a:solidFill>
                <a:latin typeface="Pretendard"/>
              </a:rPr>
              <a:t>.</a:t>
            </a:r>
            <a:endParaRPr lang="ko-KR" altLang="en-US" sz="2000" b="1" dirty="0">
              <a:solidFill>
                <a:srgbClr val="14213D"/>
              </a:solidFill>
              <a:latin typeface="Pretendard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D55EE6E-AC8F-6644-8108-075857B1E219}"/>
              </a:ext>
            </a:extLst>
          </p:cNvPr>
          <p:cNvSpPr txBox="1"/>
          <p:nvPr/>
        </p:nvSpPr>
        <p:spPr>
          <a:xfrm>
            <a:off x="1282700" y="5613400"/>
            <a:ext cx="4165600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400">
                <a:solidFill>
                  <a:srgbClr val="1D4E89"/>
                </a:solidFill>
                <a:latin typeface="JetBrains Mono"/>
              </a:rPr>
              <a:t>→ 배너 </a:t>
            </a:r>
            <a:r>
              <a:rPr lang="en-US" altLang="ko-KR" sz="1400">
                <a:solidFill>
                  <a:srgbClr val="1D4E89"/>
                </a:solidFill>
                <a:latin typeface="JetBrains Mono"/>
              </a:rPr>
              <a:t>· </a:t>
            </a:r>
            <a:r>
              <a:rPr lang="ko-KR" altLang="en-US" sz="1400">
                <a:solidFill>
                  <a:srgbClr val="1D4E89"/>
                </a:solidFill>
                <a:latin typeface="JetBrains Mono"/>
              </a:rPr>
              <a:t>카드뉴스 </a:t>
            </a:r>
            <a:r>
              <a:rPr lang="en-US" altLang="ko-KR" sz="1400">
                <a:solidFill>
                  <a:srgbClr val="1D4E89"/>
                </a:solidFill>
                <a:latin typeface="JetBrains Mono"/>
              </a:rPr>
              <a:t>· </a:t>
            </a:r>
            <a:r>
              <a:rPr lang="ko-KR" altLang="en-US" sz="1400">
                <a:solidFill>
                  <a:srgbClr val="1D4E89"/>
                </a:solidFill>
                <a:latin typeface="JetBrains Mono"/>
              </a:rPr>
              <a:t>썸네일</a:t>
            </a: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BAF7631F-F384-AB4D-AF39-621C9B9BCDB4}"/>
              </a:ext>
            </a:extLst>
          </p:cNvPr>
          <p:cNvSpPr/>
          <p:nvPr/>
        </p:nvSpPr>
        <p:spPr>
          <a:xfrm>
            <a:off x="6286500" y="1905000"/>
            <a:ext cx="5080000" cy="4381500"/>
          </a:xfrm>
          <a:prstGeom prst="roundRect">
            <a:avLst>
              <a:gd name="adj" fmla="val 580"/>
            </a:avLst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26FDC4-43C8-9649-88B6-CF63AFDC8DC4}"/>
              </a:ext>
            </a:extLst>
          </p:cNvPr>
          <p:cNvSpPr txBox="1"/>
          <p:nvPr/>
        </p:nvSpPr>
        <p:spPr>
          <a:xfrm>
            <a:off x="6718300" y="2235200"/>
            <a:ext cx="1524000" cy="711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4000" b="1">
                <a:solidFill>
                  <a:srgbClr val="E8A33D"/>
                </a:solidFill>
                <a:latin typeface="JetBrains Mono"/>
              </a:rPr>
              <a:t>02</a:t>
            </a:r>
            <a:endParaRPr lang="ko-KR" altLang="en-US" sz="4000" b="1">
              <a:solidFill>
                <a:srgbClr val="E8A33D"/>
              </a:solidFill>
              <a:latin typeface="JetBrains Mono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3DC3AD5-247B-9A49-8A8A-F3FA6E543209}"/>
              </a:ext>
            </a:extLst>
          </p:cNvPr>
          <p:cNvSpPr/>
          <p:nvPr/>
        </p:nvSpPr>
        <p:spPr>
          <a:xfrm>
            <a:off x="6743700" y="3124200"/>
            <a:ext cx="685800" cy="50800"/>
          </a:xfrm>
          <a:prstGeom prst="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0B3DE43-ED5F-3A46-8A55-6D8A147602A0}"/>
              </a:ext>
            </a:extLst>
          </p:cNvPr>
          <p:cNvSpPr txBox="1"/>
          <p:nvPr/>
        </p:nvSpPr>
        <p:spPr>
          <a:xfrm>
            <a:off x="6743700" y="3479800"/>
            <a:ext cx="4165600" cy="165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2000" b="1" dirty="0">
                <a:solidFill>
                  <a:srgbClr val="14213D"/>
                </a:solidFill>
                <a:latin typeface="Pretendard"/>
              </a:rPr>
              <a:t>이미지와 </a:t>
            </a:r>
            <a:endParaRPr lang="en-US" altLang="ko-KR" sz="2000" b="1" dirty="0">
              <a:solidFill>
                <a:srgbClr val="14213D"/>
              </a:solidFill>
              <a:latin typeface="Pretendard"/>
            </a:endParaRPr>
          </a:p>
          <a:p>
            <a:pPr algn="l">
              <a:lnSpc>
                <a:spcPct val="150000"/>
              </a:lnSpc>
            </a:pPr>
            <a:r>
              <a:rPr lang="ko-KR" altLang="en-US" sz="2000" b="1" dirty="0">
                <a:solidFill>
                  <a:srgbClr val="14213D"/>
                </a:solidFill>
                <a:latin typeface="Pretendard"/>
              </a:rPr>
              <a:t>카피의 톤을 </a:t>
            </a:r>
            <a:endParaRPr lang="en-US" altLang="ko-KR" sz="2000" b="1" dirty="0">
              <a:solidFill>
                <a:srgbClr val="14213D"/>
              </a:solidFill>
              <a:latin typeface="Pretendard"/>
            </a:endParaRPr>
          </a:p>
          <a:p>
            <a:pPr algn="l">
              <a:lnSpc>
                <a:spcPct val="150000"/>
              </a:lnSpc>
            </a:pPr>
            <a:r>
              <a:rPr lang="ko-KR" altLang="en-US" sz="2000" b="1" dirty="0">
                <a:solidFill>
                  <a:srgbClr val="14213D"/>
                </a:solidFill>
                <a:latin typeface="Pretendard"/>
              </a:rPr>
              <a:t>일치시킬 수 있다</a:t>
            </a:r>
            <a:r>
              <a:rPr lang="en-US" altLang="ko-KR" sz="2000" b="1" dirty="0">
                <a:solidFill>
                  <a:srgbClr val="14213D"/>
                </a:solidFill>
                <a:latin typeface="Pretendard"/>
              </a:rPr>
              <a:t>.</a:t>
            </a:r>
            <a:endParaRPr lang="ko-KR" altLang="en-US" sz="2000" b="1" dirty="0">
              <a:solidFill>
                <a:srgbClr val="14213D"/>
              </a:solidFill>
              <a:latin typeface="Pretendard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E0D3D4C-2F49-8C47-B949-FFA5694CEEA8}"/>
              </a:ext>
            </a:extLst>
          </p:cNvPr>
          <p:cNvSpPr txBox="1"/>
          <p:nvPr/>
        </p:nvSpPr>
        <p:spPr>
          <a:xfrm>
            <a:off x="6743700" y="5613400"/>
            <a:ext cx="4165600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400">
                <a:solidFill>
                  <a:srgbClr val="1D4E89"/>
                </a:solidFill>
                <a:latin typeface="JetBrains Mono"/>
              </a:rPr>
              <a:t>→ 스타일 </a:t>
            </a:r>
            <a:r>
              <a:rPr lang="en-US" altLang="ko-KR" sz="1400">
                <a:solidFill>
                  <a:srgbClr val="1D4E89"/>
                </a:solidFill>
                <a:latin typeface="JetBrains Mono"/>
              </a:rPr>
              <a:t>· </a:t>
            </a:r>
            <a:r>
              <a:rPr lang="ko-KR" altLang="en-US" sz="1400">
                <a:solidFill>
                  <a:srgbClr val="1D4E89"/>
                </a:solidFill>
                <a:latin typeface="JetBrains Mono"/>
              </a:rPr>
              <a:t>레이아웃 통일</a:t>
            </a:r>
          </a:p>
        </p:txBody>
      </p:sp>
      <p:sp>
        <p:nvSpPr>
          <p:cNvPr id="4" name="PageNumber">
            <a:extLst>
              <a:ext uri="{FF2B5EF4-FFF2-40B4-BE49-F238E27FC236}">
                <a16:creationId xmlns:a16="http://schemas.microsoft.com/office/drawing/2014/main" id="{14408681-F27D-DE43-ACE2-F5812BB0E9C2}"/>
              </a:ext>
            </a:extLst>
          </p:cNvPr>
          <p:cNvSpPr txBox="1"/>
          <p:nvPr/>
        </p:nvSpPr>
        <p:spPr>
          <a:xfrm>
            <a:off x="9499600" y="6489700"/>
            <a:ext cx="23368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r"/>
            <a:r>
              <a:rPr lang="en-US" altLang="ko-KR" sz="1200">
                <a:solidFill>
                  <a:srgbClr val="576176"/>
                </a:solidFill>
                <a:latin typeface="Pretendard"/>
              </a:rPr>
              <a:t>- 68/144 -</a:t>
            </a:r>
            <a:endParaRPr lang="ko-KR" altLang="en-US" sz="1200">
              <a:solidFill>
                <a:srgbClr val="576176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226363156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4E8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10E3DE7-B1B2-4241-A2CF-087B50FCE6F4}"/>
              </a:ext>
            </a:extLst>
          </p:cNvPr>
          <p:cNvSpPr/>
          <p:nvPr/>
        </p:nvSpPr>
        <p:spPr>
          <a:xfrm>
            <a:off x="914400" y="2336800"/>
            <a:ext cx="431800" cy="76200"/>
          </a:xfrm>
          <a:prstGeom prst="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29B5C8-6B15-654E-B425-62194896A505}"/>
              </a:ext>
            </a:extLst>
          </p:cNvPr>
          <p:cNvSpPr txBox="1"/>
          <p:nvPr/>
        </p:nvSpPr>
        <p:spPr>
          <a:xfrm>
            <a:off x="914400" y="2514600"/>
            <a:ext cx="5080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500" b="1">
                <a:solidFill>
                  <a:srgbClr val="E8A33D"/>
                </a:solidFill>
                <a:latin typeface="JetBrains Mono"/>
              </a:rPr>
              <a:t>SESSION 1</a:t>
            </a:r>
            <a:endParaRPr lang="ko-KR" altLang="en-US" sz="1500" b="1">
              <a:solidFill>
                <a:srgbClr val="E8A33D"/>
              </a:solidFill>
              <a:latin typeface="JetBrains Mono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FCC110-D39F-214D-AF91-20907A0F9B96}"/>
              </a:ext>
            </a:extLst>
          </p:cNvPr>
          <p:cNvSpPr txBox="1"/>
          <p:nvPr/>
        </p:nvSpPr>
        <p:spPr>
          <a:xfrm>
            <a:off x="914400" y="2870200"/>
            <a:ext cx="10414000" cy="584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3200" b="1">
                <a:solidFill>
                  <a:srgbClr val="FFFFFF"/>
                </a:solidFill>
                <a:latin typeface="Noto Serif KR"/>
              </a:rPr>
              <a:t>배너</a:t>
            </a:r>
            <a:r>
              <a:rPr lang="en-US" altLang="ko-KR" sz="3200" b="1">
                <a:solidFill>
                  <a:srgbClr val="FFFFFF"/>
                </a:solidFill>
                <a:latin typeface="Noto Serif KR"/>
              </a:rPr>
              <a:t>·</a:t>
            </a:r>
            <a:r>
              <a:rPr lang="ko-KR" altLang="en-US" sz="3200" b="1">
                <a:solidFill>
                  <a:srgbClr val="FFFFFF"/>
                </a:solidFill>
                <a:latin typeface="Noto Serif KR"/>
              </a:rPr>
              <a:t>카드뉴스</a:t>
            </a:r>
            <a:r>
              <a:rPr lang="en-US" altLang="ko-KR" sz="3200" b="1">
                <a:solidFill>
                  <a:srgbClr val="FFFFFF"/>
                </a:solidFill>
                <a:latin typeface="Noto Serif KR"/>
              </a:rPr>
              <a:t>·</a:t>
            </a:r>
            <a:r>
              <a:rPr lang="ko-KR" altLang="en-US" sz="3200" b="1">
                <a:solidFill>
                  <a:srgbClr val="FFFFFF"/>
                </a:solidFill>
                <a:latin typeface="Noto Serif KR"/>
              </a:rPr>
              <a:t>썸네일 초안 제작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CC65E7-D48C-A64B-8DF4-B4D7BC859CB7}"/>
              </a:ext>
            </a:extLst>
          </p:cNvPr>
          <p:cNvSpPr txBox="1"/>
          <p:nvPr/>
        </p:nvSpPr>
        <p:spPr>
          <a:xfrm>
            <a:off x="914400" y="3632200"/>
            <a:ext cx="10160000" cy="584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600">
                <a:solidFill>
                  <a:srgbClr val="DCE6F2"/>
                </a:solidFill>
                <a:latin typeface="Pretendard"/>
              </a:rPr>
              <a:t>이미지 프롬프트는 ‘무엇을 </a:t>
            </a:r>
            <a:r>
              <a:rPr lang="en-US" altLang="ko-KR" sz="1600">
                <a:solidFill>
                  <a:srgbClr val="DCE6F2"/>
                </a:solidFill>
                <a:latin typeface="Pretendard"/>
              </a:rPr>
              <a:t>+ </a:t>
            </a:r>
            <a:r>
              <a:rPr lang="ko-KR" altLang="en-US" sz="1600">
                <a:solidFill>
                  <a:srgbClr val="DCE6F2"/>
                </a:solidFill>
                <a:latin typeface="Pretendard"/>
              </a:rPr>
              <a:t>스타일 </a:t>
            </a:r>
            <a:r>
              <a:rPr lang="en-US" altLang="ko-KR" sz="1600">
                <a:solidFill>
                  <a:srgbClr val="DCE6F2"/>
                </a:solidFill>
                <a:latin typeface="Pretendard"/>
              </a:rPr>
              <a:t>+ </a:t>
            </a:r>
            <a:r>
              <a:rPr lang="ko-KR" altLang="en-US" sz="1600">
                <a:solidFill>
                  <a:srgbClr val="DCE6F2"/>
                </a:solidFill>
                <a:latin typeface="Pretendard"/>
              </a:rPr>
              <a:t>구도</a:t>
            </a:r>
            <a:r>
              <a:rPr lang="en-US" altLang="ko-KR" sz="1600">
                <a:solidFill>
                  <a:srgbClr val="DCE6F2"/>
                </a:solidFill>
                <a:latin typeface="Pretendard"/>
              </a:rPr>
              <a:t>·</a:t>
            </a:r>
            <a:r>
              <a:rPr lang="ko-KR" altLang="en-US" sz="1600">
                <a:solidFill>
                  <a:srgbClr val="DCE6F2"/>
                </a:solidFill>
                <a:latin typeface="Pretendard"/>
              </a:rPr>
              <a:t>조명 </a:t>
            </a:r>
            <a:r>
              <a:rPr lang="en-US" altLang="ko-KR" sz="1600">
                <a:solidFill>
                  <a:srgbClr val="DCE6F2"/>
                </a:solidFill>
                <a:latin typeface="Pretendard"/>
              </a:rPr>
              <a:t>+ </a:t>
            </a:r>
            <a:r>
              <a:rPr lang="ko-KR" altLang="en-US" sz="1600">
                <a:solidFill>
                  <a:srgbClr val="DCE6F2"/>
                </a:solidFill>
                <a:latin typeface="Pretendard"/>
              </a:rPr>
              <a:t>색 </a:t>
            </a:r>
            <a:r>
              <a:rPr lang="en-US" altLang="ko-KR" sz="1600">
                <a:solidFill>
                  <a:srgbClr val="DCE6F2"/>
                </a:solidFill>
                <a:latin typeface="Pretendard"/>
              </a:rPr>
              <a:t>+ </a:t>
            </a:r>
            <a:r>
              <a:rPr lang="ko-KR" altLang="en-US" sz="1600">
                <a:solidFill>
                  <a:srgbClr val="DCE6F2"/>
                </a:solidFill>
                <a:latin typeface="Pretendard"/>
              </a:rPr>
              <a:t>금지요소’ 순서로 쓴다</a:t>
            </a:r>
            <a:r>
              <a:rPr lang="en-US" altLang="ko-KR" sz="1600">
                <a:solidFill>
                  <a:srgbClr val="DCE6F2"/>
                </a:solidFill>
                <a:latin typeface="Pretendard"/>
              </a:rPr>
              <a:t>.</a:t>
            </a:r>
            <a:endParaRPr lang="ko-KR" altLang="en-US" sz="1600">
              <a:solidFill>
                <a:srgbClr val="DCE6F2"/>
              </a:solidFill>
              <a:latin typeface="Pretendard"/>
            </a:endParaRP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ECF05995-626C-7440-9057-3DDD5A46F0F4}"/>
              </a:ext>
            </a:extLst>
          </p:cNvPr>
          <p:cNvSpPr/>
          <p:nvPr/>
        </p:nvSpPr>
        <p:spPr>
          <a:xfrm>
            <a:off x="914400" y="4572000"/>
            <a:ext cx="2616200" cy="838200"/>
          </a:xfrm>
          <a:prstGeom prst="roundRect">
            <a:avLst>
              <a:gd name="adj" fmla="val 3030"/>
            </a:avLst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ko-KR" altLang="en-US" sz="1550" b="1">
                <a:solidFill>
                  <a:srgbClr val="FFFFFF"/>
                </a:solidFill>
                <a:latin typeface="Pretendard"/>
              </a:rPr>
              <a:t>규격 정하기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BA3897-FB55-F94B-8398-C2CF5754DD90}"/>
              </a:ext>
            </a:extLst>
          </p:cNvPr>
          <p:cNvSpPr txBox="1"/>
          <p:nvPr/>
        </p:nvSpPr>
        <p:spPr>
          <a:xfrm>
            <a:off x="3530600" y="4572000"/>
            <a:ext cx="558800" cy="838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ko-KR" altLang="en-US" sz="2400" b="1">
                <a:solidFill>
                  <a:srgbClr val="9FB3CE"/>
                </a:solidFill>
                <a:latin typeface="Pretendard"/>
              </a:rPr>
              <a:t>→</a:t>
            </a: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43C1CF8F-D494-E34A-BFC0-A4DBA5E886FC}"/>
              </a:ext>
            </a:extLst>
          </p:cNvPr>
          <p:cNvSpPr/>
          <p:nvPr/>
        </p:nvSpPr>
        <p:spPr>
          <a:xfrm>
            <a:off x="4089400" y="4572000"/>
            <a:ext cx="2616200" cy="838200"/>
          </a:xfrm>
          <a:prstGeom prst="roundRect">
            <a:avLst>
              <a:gd name="adj" fmla="val 3030"/>
            </a:avLst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ko-KR" altLang="en-US" sz="1550" b="1">
                <a:solidFill>
                  <a:srgbClr val="FFFFFF"/>
                </a:solidFill>
                <a:latin typeface="Pretendard"/>
              </a:rPr>
              <a:t>프롬프트 </a:t>
            </a:r>
            <a:r>
              <a:rPr lang="en-US" altLang="ko-KR" sz="1550" b="1">
                <a:solidFill>
                  <a:srgbClr val="FFFFFF"/>
                </a:solidFill>
                <a:latin typeface="Pretendard"/>
              </a:rPr>
              <a:t>5</a:t>
            </a:r>
            <a:r>
              <a:rPr lang="ko-KR" altLang="en-US" sz="1550" b="1">
                <a:solidFill>
                  <a:srgbClr val="FFFFFF"/>
                </a:solidFill>
                <a:latin typeface="Pretendard"/>
              </a:rPr>
              <a:t>요소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175F88-07F8-684A-A08E-30A5D0E517BB}"/>
              </a:ext>
            </a:extLst>
          </p:cNvPr>
          <p:cNvSpPr txBox="1"/>
          <p:nvPr/>
        </p:nvSpPr>
        <p:spPr>
          <a:xfrm>
            <a:off x="6705600" y="4572000"/>
            <a:ext cx="558800" cy="838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ko-KR" altLang="en-US" sz="2400" b="1">
                <a:solidFill>
                  <a:srgbClr val="9FB3CE"/>
                </a:solidFill>
                <a:latin typeface="Pretendard"/>
              </a:rPr>
              <a:t>→</a:t>
            </a:r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7E68E950-12B7-A84E-9C0C-C2DF8BE0C221}"/>
              </a:ext>
            </a:extLst>
          </p:cNvPr>
          <p:cNvSpPr/>
          <p:nvPr/>
        </p:nvSpPr>
        <p:spPr>
          <a:xfrm>
            <a:off x="7264400" y="4572000"/>
            <a:ext cx="2616200" cy="838200"/>
          </a:xfrm>
          <a:prstGeom prst="roundRect">
            <a:avLst>
              <a:gd name="adj" fmla="val 3030"/>
            </a:avLst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ko-KR" altLang="en-US" sz="1550" b="1">
                <a:solidFill>
                  <a:srgbClr val="14213D"/>
                </a:solidFill>
                <a:latin typeface="Pretendard"/>
              </a:rPr>
              <a:t>변형 → 선택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31B58FD1-0666-E785-CBBD-8CBB773872A1}"/>
              </a:ext>
            </a:extLst>
          </p:cNvPr>
          <p:cNvGrpSpPr/>
          <p:nvPr/>
        </p:nvGrpSpPr>
        <p:grpSpPr>
          <a:xfrm>
            <a:off x="9125339" y="310906"/>
            <a:ext cx="3066661" cy="2851394"/>
            <a:chOff x="13449300" y="2921000"/>
            <a:chExt cx="11036300" cy="1026160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9371B15F-B493-7984-D395-3D04EC063ED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50000"/>
            </a:blip>
            <a:stretch>
              <a:fillRect/>
            </a:stretch>
          </p:blipFill>
          <p:spPr>
            <a:xfrm>
              <a:off x="21920200" y="8051800"/>
              <a:ext cx="2565400" cy="5130800"/>
            </a:xfrm>
            <a:prstGeom prst="rect">
              <a:avLst/>
            </a:prstGeom>
          </p:spPr>
        </p:pic>
        <p:pic>
          <p:nvPicPr>
            <p:cNvPr id="13" name="Picture 3">
              <a:extLst>
                <a:ext uri="{FF2B5EF4-FFF2-40B4-BE49-F238E27FC236}">
                  <a16:creationId xmlns:a16="http://schemas.microsoft.com/office/drawing/2014/main" id="{E15730F8-2B29-FFEA-3D9F-BD977C8CC08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70000"/>
            </a:blip>
            <a:stretch>
              <a:fillRect/>
            </a:stretch>
          </p:blipFill>
          <p:spPr>
            <a:xfrm>
              <a:off x="14185900" y="8686800"/>
              <a:ext cx="4495800" cy="4495800"/>
            </a:xfrm>
            <a:prstGeom prst="rect">
              <a:avLst/>
            </a:prstGeom>
          </p:spPr>
        </p:pic>
        <p:pic>
          <p:nvPicPr>
            <p:cNvPr id="14" name="Picture 4">
              <a:extLst>
                <a:ext uri="{FF2B5EF4-FFF2-40B4-BE49-F238E27FC236}">
                  <a16:creationId xmlns:a16="http://schemas.microsoft.com/office/drawing/2014/main" id="{EE5ECA9D-C5B5-1B5D-4417-FC5EA2D6406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70000"/>
            </a:blip>
            <a:stretch>
              <a:fillRect/>
            </a:stretch>
          </p:blipFill>
          <p:spPr>
            <a:xfrm>
              <a:off x="16433800" y="6007100"/>
              <a:ext cx="6172200" cy="6172200"/>
            </a:xfrm>
            <a:prstGeom prst="rect">
              <a:avLst/>
            </a:prstGeom>
          </p:spPr>
        </p:pic>
        <p:pic>
          <p:nvPicPr>
            <p:cNvPr id="15" name="Picture 5">
              <a:extLst>
                <a:ext uri="{FF2B5EF4-FFF2-40B4-BE49-F238E27FC236}">
                  <a16:creationId xmlns:a16="http://schemas.microsoft.com/office/drawing/2014/main" id="{C7405501-0B32-2A74-D74E-1E173DDDF06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alphaModFix amt="70000"/>
            </a:blip>
            <a:stretch>
              <a:fillRect/>
            </a:stretch>
          </p:blipFill>
          <p:spPr>
            <a:xfrm>
              <a:off x="20688300" y="2921000"/>
              <a:ext cx="1244600" cy="1244600"/>
            </a:xfrm>
            <a:prstGeom prst="rect">
              <a:avLst/>
            </a:prstGeom>
          </p:spPr>
        </p:pic>
        <p:pic>
          <p:nvPicPr>
            <p:cNvPr id="16" name="Picture 7">
              <a:extLst>
                <a:ext uri="{FF2B5EF4-FFF2-40B4-BE49-F238E27FC236}">
                  <a16:creationId xmlns:a16="http://schemas.microsoft.com/office/drawing/2014/main" id="{7B210BCF-EAD6-54EE-9BBB-213CBF36FA6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alphaModFix amt="70000"/>
            </a:blip>
            <a:stretch>
              <a:fillRect/>
            </a:stretch>
          </p:blipFill>
          <p:spPr>
            <a:xfrm>
              <a:off x="13449300" y="11684000"/>
              <a:ext cx="1485900" cy="1485900"/>
            </a:xfrm>
            <a:prstGeom prst="rect">
              <a:avLst/>
            </a:prstGeom>
          </p:spPr>
        </p:pic>
        <p:pic>
          <p:nvPicPr>
            <p:cNvPr id="17" name="Picture 8">
              <a:extLst>
                <a:ext uri="{FF2B5EF4-FFF2-40B4-BE49-F238E27FC236}">
                  <a16:creationId xmlns:a16="http://schemas.microsoft.com/office/drawing/2014/main" id="{F6DEE494-F3DF-7E61-A0C0-F96A9CD9DE3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alphaModFix amt="41000"/>
            </a:blip>
            <a:stretch>
              <a:fillRect/>
            </a:stretch>
          </p:blipFill>
          <p:spPr>
            <a:xfrm rot="5400000">
              <a:off x="21869400" y="6515100"/>
              <a:ext cx="3670300" cy="1562100"/>
            </a:xfrm>
            <a:prstGeom prst="rect">
              <a:avLst/>
            </a:prstGeom>
          </p:spPr>
        </p:pic>
      </p:grpSp>
      <p:sp>
        <p:nvSpPr>
          <p:cNvPr id="18" name="PageNumber">
            <a:extLst>
              <a:ext uri="{FF2B5EF4-FFF2-40B4-BE49-F238E27FC236}">
                <a16:creationId xmlns:a16="http://schemas.microsoft.com/office/drawing/2014/main" id="{3EF81943-C392-8646-873F-71EC1B28031D}"/>
              </a:ext>
            </a:extLst>
          </p:cNvPr>
          <p:cNvSpPr txBox="1"/>
          <p:nvPr/>
        </p:nvSpPr>
        <p:spPr>
          <a:xfrm>
            <a:off x="9499600" y="6489700"/>
            <a:ext cx="23368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r"/>
            <a:r>
              <a:rPr lang="en-US" altLang="ko-KR" sz="1200" dirty="0">
                <a:solidFill>
                  <a:schemeClr val="bg1"/>
                </a:solidFill>
                <a:latin typeface="Pretendard"/>
              </a:rPr>
              <a:t>- 69/144 -</a:t>
            </a:r>
            <a:endParaRPr lang="ko-KR" altLang="en-US" sz="1200" dirty="0">
              <a:solidFill>
                <a:schemeClr val="bg1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244572940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7863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핵심 개념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좋은 이미지 프롬프트의 3가지 기준</a:t>
            </a: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94DD80E2-AD6C-124A-88C8-0CB7A965ABDA}"/>
              </a:ext>
            </a:extLst>
          </p:cNvPr>
          <p:cNvSpPr/>
          <p:nvPr/>
        </p:nvSpPr>
        <p:spPr>
          <a:xfrm>
            <a:off x="825500" y="1905000"/>
            <a:ext cx="3340100" cy="4381500"/>
          </a:xfrm>
          <a:prstGeom prst="roundRect">
            <a:avLst>
              <a:gd name="adj" fmla="val 760"/>
            </a:avLst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F2AC7B0-0556-C447-85D3-410822304FD2}"/>
              </a:ext>
            </a:extLst>
          </p:cNvPr>
          <p:cNvSpPr/>
          <p:nvPr/>
        </p:nvSpPr>
        <p:spPr>
          <a:xfrm>
            <a:off x="825500" y="1905000"/>
            <a:ext cx="3340100" cy="88900"/>
          </a:xfrm>
          <a:prstGeom prst="rect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A66F047F-A0EC-1440-8A96-086DD7A947E1}"/>
              </a:ext>
            </a:extLst>
          </p:cNvPr>
          <p:cNvSpPr/>
          <p:nvPr/>
        </p:nvSpPr>
        <p:spPr>
          <a:xfrm>
            <a:off x="1130300" y="2286000"/>
            <a:ext cx="508000" cy="508000"/>
          </a:xfrm>
          <a:prstGeom prst="ellipse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  <a:latin typeface="JetBrains Mono"/>
              </a:rPr>
              <a:t>1</a:t>
            </a:r>
            <a:endParaRPr lang="ko-KR" altLang="en-US" sz="16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4740B1-529B-1347-BF26-C2445DE4F93D}"/>
              </a:ext>
            </a:extLst>
          </p:cNvPr>
          <p:cNvSpPr txBox="1"/>
          <p:nvPr/>
        </p:nvSpPr>
        <p:spPr>
          <a:xfrm>
            <a:off x="1130300" y="2946400"/>
            <a:ext cx="2730500" cy="584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650" b="1">
                <a:solidFill>
                  <a:srgbClr val="14213D"/>
                </a:solidFill>
                <a:latin typeface="Pretendard"/>
              </a:rPr>
              <a:t>프롬프트 구조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0B72136-B4DA-3B43-902A-DD1F7A0BDD59}"/>
              </a:ext>
            </a:extLst>
          </p:cNvPr>
          <p:cNvSpPr/>
          <p:nvPr/>
        </p:nvSpPr>
        <p:spPr>
          <a:xfrm>
            <a:off x="1130300" y="3632200"/>
            <a:ext cx="2730500" cy="12700"/>
          </a:xfrm>
          <a:prstGeom prst="rect">
            <a:avLst/>
          </a:prstGeom>
          <a:solidFill>
            <a:srgbClr val="D9E2E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71B96C4-FD00-314B-8E5F-B778565C7CBB}"/>
              </a:ext>
            </a:extLst>
          </p:cNvPr>
          <p:cNvSpPr txBox="1"/>
          <p:nvPr/>
        </p:nvSpPr>
        <p:spPr>
          <a:xfrm>
            <a:off x="1130300" y="3784600"/>
            <a:ext cx="2730500" cy="1625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altLang="ko-KR" sz="1400" dirty="0">
                <a:solidFill>
                  <a:srgbClr val="576176"/>
                </a:solidFill>
                <a:latin typeface="Pretendard"/>
              </a:rPr>
              <a:t>[</a:t>
            </a:r>
            <a:r>
              <a:rPr lang="ko-KR" altLang="en-US" sz="1400" dirty="0">
                <a:solidFill>
                  <a:srgbClr val="576176"/>
                </a:solidFill>
                <a:latin typeface="Pretendard"/>
              </a:rPr>
              <a:t>피사체</a:t>
            </a:r>
            <a:r>
              <a:rPr lang="en-US" altLang="ko-KR" sz="1400" dirty="0">
                <a:solidFill>
                  <a:srgbClr val="576176"/>
                </a:solidFill>
                <a:latin typeface="Pretendard"/>
              </a:rPr>
              <a:t>]+[</a:t>
            </a:r>
            <a:r>
              <a:rPr lang="ko-KR" altLang="en-US" sz="1400" dirty="0">
                <a:solidFill>
                  <a:srgbClr val="576176"/>
                </a:solidFill>
                <a:latin typeface="Pretendard"/>
              </a:rPr>
              <a:t>스타일</a:t>
            </a:r>
            <a:r>
              <a:rPr lang="en-US" altLang="ko-KR" sz="1400" dirty="0">
                <a:solidFill>
                  <a:srgbClr val="576176"/>
                </a:solidFill>
                <a:latin typeface="Pretendard"/>
              </a:rPr>
              <a:t>/</a:t>
            </a:r>
            <a:r>
              <a:rPr lang="ko-KR" altLang="en-US" sz="1400" dirty="0">
                <a:solidFill>
                  <a:srgbClr val="576176"/>
                </a:solidFill>
                <a:latin typeface="Pretendard"/>
              </a:rPr>
              <a:t>매체</a:t>
            </a:r>
            <a:r>
              <a:rPr lang="en-US" altLang="ko-KR" sz="1400" dirty="0">
                <a:solidFill>
                  <a:srgbClr val="576176"/>
                </a:solidFill>
                <a:latin typeface="Pretendard"/>
              </a:rPr>
              <a:t>]</a:t>
            </a:r>
          </a:p>
          <a:p>
            <a:pPr algn="l">
              <a:lnSpc>
                <a:spcPct val="150000"/>
              </a:lnSpc>
            </a:pPr>
            <a:r>
              <a:rPr lang="en-US" altLang="ko-KR" sz="1400" dirty="0">
                <a:solidFill>
                  <a:srgbClr val="576176"/>
                </a:solidFill>
                <a:latin typeface="Pretendard"/>
              </a:rPr>
              <a:t>+[</a:t>
            </a:r>
            <a:r>
              <a:rPr lang="ko-KR" altLang="en-US" sz="1400" dirty="0">
                <a:solidFill>
                  <a:srgbClr val="576176"/>
                </a:solidFill>
                <a:latin typeface="Pretendard"/>
              </a:rPr>
              <a:t>구도</a:t>
            </a:r>
            <a:r>
              <a:rPr lang="en-US" altLang="ko-KR" sz="1400" dirty="0">
                <a:solidFill>
                  <a:srgbClr val="576176"/>
                </a:solidFill>
                <a:latin typeface="Pretendard"/>
              </a:rPr>
              <a:t>·</a:t>
            </a:r>
            <a:r>
              <a:rPr lang="ko-KR" altLang="en-US" sz="1400" dirty="0">
                <a:solidFill>
                  <a:srgbClr val="576176"/>
                </a:solidFill>
                <a:latin typeface="Pretendard"/>
              </a:rPr>
              <a:t>조명</a:t>
            </a:r>
            <a:r>
              <a:rPr lang="en-US" altLang="ko-KR" sz="1400" dirty="0">
                <a:solidFill>
                  <a:srgbClr val="576176"/>
                </a:solidFill>
                <a:latin typeface="Pretendard"/>
              </a:rPr>
              <a:t>]+[</a:t>
            </a:r>
            <a:r>
              <a:rPr lang="ko-KR" altLang="en-US" sz="1400" dirty="0">
                <a:solidFill>
                  <a:srgbClr val="576176"/>
                </a:solidFill>
                <a:latin typeface="Pretendard"/>
              </a:rPr>
              <a:t>색</a:t>
            </a:r>
            <a:r>
              <a:rPr lang="en-US" altLang="ko-KR" sz="1400" dirty="0">
                <a:solidFill>
                  <a:srgbClr val="576176"/>
                </a:solidFill>
                <a:latin typeface="Pretendard"/>
              </a:rPr>
              <a:t>]+[--no </a:t>
            </a:r>
            <a:r>
              <a:rPr lang="ko-KR" altLang="en-US" sz="1400" dirty="0">
                <a:solidFill>
                  <a:srgbClr val="576176"/>
                </a:solidFill>
                <a:latin typeface="Pretendard"/>
              </a:rPr>
              <a:t>금지</a:t>
            </a:r>
            <a:r>
              <a:rPr lang="en-US" altLang="ko-KR" sz="1400" dirty="0">
                <a:solidFill>
                  <a:srgbClr val="576176"/>
                </a:solidFill>
                <a:latin typeface="Pretendard"/>
              </a:rPr>
              <a:t>]. </a:t>
            </a:r>
            <a:r>
              <a:rPr lang="ko-KR" altLang="en-US" sz="1400" dirty="0">
                <a:solidFill>
                  <a:srgbClr val="576176"/>
                </a:solidFill>
                <a:latin typeface="Pretendard"/>
              </a:rPr>
              <a:t>디테일은 </a:t>
            </a:r>
            <a:endParaRPr lang="en-US" altLang="ko-KR" sz="1400" dirty="0">
              <a:solidFill>
                <a:srgbClr val="576176"/>
              </a:solidFill>
              <a:latin typeface="Pretendard"/>
            </a:endParaRPr>
          </a:p>
          <a:p>
            <a:pPr algn="l">
              <a:lnSpc>
                <a:spcPct val="150000"/>
              </a:lnSpc>
            </a:pPr>
            <a:r>
              <a:rPr lang="ko-KR" altLang="en-US" sz="1400" dirty="0">
                <a:solidFill>
                  <a:srgbClr val="576176"/>
                </a:solidFill>
                <a:latin typeface="Pretendard"/>
              </a:rPr>
              <a:t>영어가 유리할 때가 많다</a:t>
            </a:r>
            <a:r>
              <a:rPr lang="en-US" altLang="ko-KR" sz="1400" dirty="0">
                <a:solidFill>
                  <a:srgbClr val="576176"/>
                </a:solidFill>
                <a:latin typeface="Pretendard"/>
              </a:rPr>
              <a:t>.</a:t>
            </a:r>
            <a:endParaRPr lang="ko-KR" altLang="en-US" sz="1400" dirty="0">
              <a:solidFill>
                <a:srgbClr val="576176"/>
              </a:solidFill>
              <a:latin typeface="Pretendard"/>
            </a:endParaRP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BC88199F-EE75-6745-8C3D-3DFA2D54F9BA}"/>
              </a:ext>
            </a:extLst>
          </p:cNvPr>
          <p:cNvSpPr/>
          <p:nvPr/>
        </p:nvSpPr>
        <p:spPr>
          <a:xfrm>
            <a:off x="1130300" y="5562600"/>
            <a:ext cx="2730500" cy="457200"/>
          </a:xfrm>
          <a:prstGeom prst="roundRect">
            <a:avLst>
              <a:gd name="adj" fmla="val 5556"/>
            </a:avLst>
          </a:prstGeom>
          <a:solidFill>
            <a:srgbClr val="E7ECF4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D9B4030-321C-0C4C-8FC1-0A79FF92476D}"/>
              </a:ext>
            </a:extLst>
          </p:cNvPr>
          <p:cNvSpPr txBox="1"/>
          <p:nvPr/>
        </p:nvSpPr>
        <p:spPr>
          <a:xfrm>
            <a:off x="1130300" y="5562600"/>
            <a:ext cx="2730500" cy="457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ctr"/>
            <a:r>
              <a:rPr lang="en-US" altLang="ko-KR" sz="1400" b="1">
                <a:solidFill>
                  <a:srgbClr val="14213D"/>
                </a:solidFill>
                <a:latin typeface="Pretendard"/>
              </a:rPr>
              <a:t>5</a:t>
            </a:r>
            <a:r>
              <a:rPr lang="ko-KR" altLang="en-US" sz="1400" b="1">
                <a:solidFill>
                  <a:srgbClr val="14213D"/>
                </a:solidFill>
                <a:latin typeface="Pretendard"/>
              </a:rPr>
              <a:t>요소로 쓴다</a:t>
            </a: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67724CCC-9609-E74A-BEE2-E8E25F6771FE}"/>
              </a:ext>
            </a:extLst>
          </p:cNvPr>
          <p:cNvSpPr/>
          <p:nvPr/>
        </p:nvSpPr>
        <p:spPr>
          <a:xfrm>
            <a:off x="4419600" y="1905000"/>
            <a:ext cx="3340100" cy="4381500"/>
          </a:xfrm>
          <a:prstGeom prst="roundRect">
            <a:avLst>
              <a:gd name="adj" fmla="val 760"/>
            </a:avLst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2DFD4D0-A311-3B4A-8463-9C21E54A7F23}"/>
              </a:ext>
            </a:extLst>
          </p:cNvPr>
          <p:cNvSpPr/>
          <p:nvPr/>
        </p:nvSpPr>
        <p:spPr>
          <a:xfrm>
            <a:off x="4419600" y="1905000"/>
            <a:ext cx="3340100" cy="88900"/>
          </a:xfrm>
          <a:prstGeom prst="rect">
            <a:avLst/>
          </a:prstGeom>
          <a:solidFill>
            <a:srgbClr val="1D4E89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E11F7D5D-443C-9E4C-A554-713FD4CDC0C5}"/>
              </a:ext>
            </a:extLst>
          </p:cNvPr>
          <p:cNvSpPr/>
          <p:nvPr/>
        </p:nvSpPr>
        <p:spPr>
          <a:xfrm>
            <a:off x="4724400" y="2286000"/>
            <a:ext cx="508000" cy="508000"/>
          </a:xfrm>
          <a:prstGeom prst="ellipse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  <a:latin typeface="JetBrains Mono"/>
              </a:rPr>
              <a:t>2</a:t>
            </a:r>
            <a:endParaRPr lang="ko-KR" altLang="en-US" sz="16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43C7238-36B5-5441-8FC4-E526F00BE15E}"/>
              </a:ext>
            </a:extLst>
          </p:cNvPr>
          <p:cNvSpPr txBox="1"/>
          <p:nvPr/>
        </p:nvSpPr>
        <p:spPr>
          <a:xfrm>
            <a:off x="4724400" y="2946400"/>
            <a:ext cx="2730500" cy="584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650" b="1">
                <a:solidFill>
                  <a:srgbClr val="14213D"/>
                </a:solidFill>
                <a:latin typeface="Pretendard"/>
              </a:rPr>
              <a:t>종횡비 </a:t>
            </a:r>
            <a:r>
              <a:rPr lang="en-US" altLang="ko-KR" sz="1650" b="1">
                <a:solidFill>
                  <a:srgbClr val="14213D"/>
                </a:solidFill>
                <a:latin typeface="Pretendard"/>
              </a:rPr>
              <a:t>(Aspect Ratio)</a:t>
            </a:r>
            <a:endParaRPr lang="ko-KR" altLang="en-US" sz="1650" b="1">
              <a:solidFill>
                <a:srgbClr val="14213D"/>
              </a:solidFill>
              <a:latin typeface="Pretendard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4E730805-028C-EF45-829E-4EF3A4F12637}"/>
              </a:ext>
            </a:extLst>
          </p:cNvPr>
          <p:cNvSpPr/>
          <p:nvPr/>
        </p:nvSpPr>
        <p:spPr>
          <a:xfrm>
            <a:off x="4724400" y="3632200"/>
            <a:ext cx="2730500" cy="12700"/>
          </a:xfrm>
          <a:prstGeom prst="rect">
            <a:avLst/>
          </a:prstGeom>
          <a:solidFill>
            <a:srgbClr val="D9E2E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B72F6EB-5A4C-AB48-B094-EF0F7FD27585}"/>
              </a:ext>
            </a:extLst>
          </p:cNvPr>
          <p:cNvSpPr txBox="1"/>
          <p:nvPr/>
        </p:nvSpPr>
        <p:spPr>
          <a:xfrm>
            <a:off x="4724400" y="3784600"/>
            <a:ext cx="2730500" cy="1625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400" dirty="0">
                <a:solidFill>
                  <a:srgbClr val="576176"/>
                </a:solidFill>
                <a:latin typeface="Pretendard"/>
              </a:rPr>
              <a:t>인스타 </a:t>
            </a:r>
            <a:r>
              <a:rPr lang="en-US" altLang="ko-KR" sz="1400" dirty="0">
                <a:solidFill>
                  <a:srgbClr val="576176"/>
                </a:solidFill>
                <a:latin typeface="Pretendard"/>
              </a:rPr>
              <a:t>1:1, </a:t>
            </a:r>
          </a:p>
          <a:p>
            <a:pPr algn="l">
              <a:lnSpc>
                <a:spcPct val="150000"/>
              </a:lnSpc>
            </a:pPr>
            <a:r>
              <a:rPr lang="ko-KR" altLang="en-US" sz="1400" dirty="0">
                <a:solidFill>
                  <a:srgbClr val="576176"/>
                </a:solidFill>
                <a:latin typeface="Pretendard"/>
              </a:rPr>
              <a:t>스토리</a:t>
            </a:r>
            <a:r>
              <a:rPr lang="en-US" altLang="ko-KR" sz="1400" dirty="0">
                <a:solidFill>
                  <a:srgbClr val="576176"/>
                </a:solidFill>
                <a:latin typeface="Pretendard"/>
              </a:rPr>
              <a:t>·</a:t>
            </a:r>
            <a:r>
              <a:rPr lang="ko-KR" altLang="en-US" sz="1400" dirty="0" err="1">
                <a:solidFill>
                  <a:srgbClr val="576176"/>
                </a:solidFill>
                <a:latin typeface="Pretendard"/>
              </a:rPr>
              <a:t>릴스</a:t>
            </a:r>
            <a:r>
              <a:rPr lang="ko-KR" altLang="en-US" sz="1400" dirty="0">
                <a:solidFill>
                  <a:srgbClr val="576176"/>
                </a:solidFill>
                <a:latin typeface="Pretendard"/>
              </a:rPr>
              <a:t> </a:t>
            </a:r>
            <a:r>
              <a:rPr lang="en-US" altLang="ko-KR" sz="1400" dirty="0">
                <a:solidFill>
                  <a:srgbClr val="576176"/>
                </a:solidFill>
                <a:latin typeface="Pretendard"/>
              </a:rPr>
              <a:t>9:16, </a:t>
            </a:r>
          </a:p>
          <a:p>
            <a:pPr algn="l">
              <a:lnSpc>
                <a:spcPct val="150000"/>
              </a:lnSpc>
            </a:pPr>
            <a:r>
              <a:rPr lang="ko-KR" altLang="en-US" sz="1400" dirty="0">
                <a:solidFill>
                  <a:srgbClr val="576176"/>
                </a:solidFill>
                <a:latin typeface="Pretendard"/>
              </a:rPr>
              <a:t>썸네일 </a:t>
            </a:r>
            <a:r>
              <a:rPr lang="en-US" altLang="ko-KR" sz="1400" dirty="0">
                <a:solidFill>
                  <a:srgbClr val="576176"/>
                </a:solidFill>
                <a:latin typeface="Pretendard"/>
              </a:rPr>
              <a:t>16:9, </a:t>
            </a:r>
          </a:p>
          <a:p>
            <a:pPr algn="l">
              <a:lnSpc>
                <a:spcPct val="150000"/>
              </a:lnSpc>
            </a:pPr>
            <a:r>
              <a:rPr lang="ko-KR" altLang="en-US" sz="1400" dirty="0">
                <a:solidFill>
                  <a:srgbClr val="576176"/>
                </a:solidFill>
                <a:latin typeface="Pretendard"/>
              </a:rPr>
              <a:t>배너 가로형</a:t>
            </a:r>
            <a:r>
              <a:rPr lang="en-US" altLang="ko-KR" sz="1400" dirty="0">
                <a:solidFill>
                  <a:srgbClr val="576176"/>
                </a:solidFill>
                <a:latin typeface="Pretendard"/>
              </a:rPr>
              <a:t>. </a:t>
            </a:r>
          </a:p>
          <a:p>
            <a:pPr algn="l">
              <a:lnSpc>
                <a:spcPct val="150000"/>
              </a:lnSpc>
            </a:pPr>
            <a:r>
              <a:rPr lang="ko-KR" altLang="en-US" sz="1400" dirty="0">
                <a:solidFill>
                  <a:srgbClr val="576176"/>
                </a:solidFill>
                <a:latin typeface="Pretendard"/>
              </a:rPr>
              <a:t>채널 규격을 먼저 정한다</a:t>
            </a:r>
            <a:r>
              <a:rPr lang="en-US" altLang="ko-KR" sz="1400" dirty="0">
                <a:solidFill>
                  <a:srgbClr val="576176"/>
                </a:solidFill>
                <a:latin typeface="Pretendard"/>
              </a:rPr>
              <a:t>.</a:t>
            </a:r>
            <a:endParaRPr lang="ko-KR" altLang="en-US" sz="1400" dirty="0">
              <a:solidFill>
                <a:srgbClr val="576176"/>
              </a:solidFill>
              <a:latin typeface="Pretendard"/>
            </a:endParaRP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C8F10374-F9B1-814D-A056-D4D8CD9FBDA2}"/>
              </a:ext>
            </a:extLst>
          </p:cNvPr>
          <p:cNvSpPr/>
          <p:nvPr/>
        </p:nvSpPr>
        <p:spPr>
          <a:xfrm>
            <a:off x="4724400" y="5562600"/>
            <a:ext cx="2730500" cy="457200"/>
          </a:xfrm>
          <a:prstGeom prst="roundRect">
            <a:avLst>
              <a:gd name="adj" fmla="val 5556"/>
            </a:avLst>
          </a:prstGeom>
          <a:solidFill>
            <a:srgbClr val="E4ECF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BBE3F9B-1BF5-9441-9885-8592EF958415}"/>
              </a:ext>
            </a:extLst>
          </p:cNvPr>
          <p:cNvSpPr txBox="1"/>
          <p:nvPr/>
        </p:nvSpPr>
        <p:spPr>
          <a:xfrm>
            <a:off x="4724400" y="5562600"/>
            <a:ext cx="2730500" cy="457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ctr"/>
            <a:r>
              <a:rPr lang="ko-KR" altLang="en-US" sz="1400" b="1">
                <a:solidFill>
                  <a:srgbClr val="1D4E89"/>
                </a:solidFill>
                <a:latin typeface="Pretendard"/>
              </a:rPr>
              <a:t>규격 먼저 정하기</a:t>
            </a:r>
          </a:p>
        </p:txBody>
      </p:sp>
      <p:sp>
        <p:nvSpPr>
          <p:cNvPr id="21" name="모서리가 둥근 직사각형 20">
            <a:extLst>
              <a:ext uri="{FF2B5EF4-FFF2-40B4-BE49-F238E27FC236}">
                <a16:creationId xmlns:a16="http://schemas.microsoft.com/office/drawing/2014/main" id="{D99428C4-1339-A943-93A8-5ACCD81DE8CE}"/>
              </a:ext>
            </a:extLst>
          </p:cNvPr>
          <p:cNvSpPr/>
          <p:nvPr/>
        </p:nvSpPr>
        <p:spPr>
          <a:xfrm>
            <a:off x="8013700" y="1905000"/>
            <a:ext cx="3340100" cy="4381500"/>
          </a:xfrm>
          <a:prstGeom prst="roundRect">
            <a:avLst>
              <a:gd name="adj" fmla="val 760"/>
            </a:avLst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5AD4CF7B-EAE4-E740-A226-7B7629A8ABC9}"/>
              </a:ext>
            </a:extLst>
          </p:cNvPr>
          <p:cNvSpPr/>
          <p:nvPr/>
        </p:nvSpPr>
        <p:spPr>
          <a:xfrm>
            <a:off x="8013700" y="1905000"/>
            <a:ext cx="3340100" cy="88900"/>
          </a:xfrm>
          <a:prstGeom prst="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D86F3467-4188-CC4E-A7F7-0362B737BE55}"/>
              </a:ext>
            </a:extLst>
          </p:cNvPr>
          <p:cNvSpPr/>
          <p:nvPr/>
        </p:nvSpPr>
        <p:spPr>
          <a:xfrm>
            <a:off x="8318500" y="2286000"/>
            <a:ext cx="508000" cy="508000"/>
          </a:xfrm>
          <a:prstGeom prst="ellipse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  <a:latin typeface="JetBrains Mono"/>
              </a:rPr>
              <a:t>3</a:t>
            </a:r>
            <a:endParaRPr lang="ko-KR" altLang="en-US" sz="16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2A2E535-7ED9-484C-8CBF-41BF7DC0BB9A}"/>
              </a:ext>
            </a:extLst>
          </p:cNvPr>
          <p:cNvSpPr txBox="1"/>
          <p:nvPr/>
        </p:nvSpPr>
        <p:spPr>
          <a:xfrm>
            <a:off x="8318500" y="2946400"/>
            <a:ext cx="2730500" cy="584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650" b="1">
                <a:solidFill>
                  <a:srgbClr val="14213D"/>
                </a:solidFill>
                <a:latin typeface="Pretendard"/>
              </a:rPr>
              <a:t>저작권</a:t>
            </a:r>
            <a:r>
              <a:rPr lang="en-US" altLang="ko-KR" sz="1650" b="1">
                <a:solidFill>
                  <a:srgbClr val="14213D"/>
                </a:solidFill>
                <a:latin typeface="Pretendard"/>
              </a:rPr>
              <a:t>·</a:t>
            </a:r>
            <a:r>
              <a:rPr lang="ko-KR" altLang="en-US" sz="1650" b="1">
                <a:solidFill>
                  <a:srgbClr val="14213D"/>
                </a:solidFill>
                <a:latin typeface="Pretendard"/>
              </a:rPr>
              <a:t>상업적 이용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22764DFC-493E-934D-BF78-4C158D7A855F}"/>
              </a:ext>
            </a:extLst>
          </p:cNvPr>
          <p:cNvSpPr/>
          <p:nvPr/>
        </p:nvSpPr>
        <p:spPr>
          <a:xfrm>
            <a:off x="8318500" y="3632200"/>
            <a:ext cx="2730500" cy="12700"/>
          </a:xfrm>
          <a:prstGeom prst="rect">
            <a:avLst/>
          </a:prstGeom>
          <a:solidFill>
            <a:srgbClr val="D9E2E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550BAD7-6149-F147-919B-016F94B45026}"/>
              </a:ext>
            </a:extLst>
          </p:cNvPr>
          <p:cNvSpPr txBox="1"/>
          <p:nvPr/>
        </p:nvSpPr>
        <p:spPr>
          <a:xfrm>
            <a:off x="8318500" y="3784600"/>
            <a:ext cx="2730500" cy="1625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400" dirty="0">
                <a:solidFill>
                  <a:srgbClr val="576176"/>
                </a:solidFill>
                <a:latin typeface="Pretendard"/>
              </a:rPr>
              <a:t>도구별 약관</a:t>
            </a:r>
            <a:r>
              <a:rPr lang="en-US" altLang="ko-KR" sz="1400" dirty="0">
                <a:solidFill>
                  <a:srgbClr val="576176"/>
                </a:solidFill>
                <a:latin typeface="Pretendard"/>
              </a:rPr>
              <a:t>·</a:t>
            </a:r>
            <a:r>
              <a:rPr lang="ko-KR" altLang="en-US" sz="1400" dirty="0">
                <a:solidFill>
                  <a:srgbClr val="576176"/>
                </a:solidFill>
                <a:latin typeface="Pretendard"/>
              </a:rPr>
              <a:t>초상권을 확인한다</a:t>
            </a:r>
            <a:r>
              <a:rPr lang="en-US" altLang="ko-KR" sz="1400" dirty="0">
                <a:solidFill>
                  <a:srgbClr val="576176"/>
                </a:solidFill>
                <a:latin typeface="Pretendard"/>
              </a:rPr>
              <a:t>. </a:t>
            </a:r>
          </a:p>
          <a:p>
            <a:pPr algn="l">
              <a:lnSpc>
                <a:spcPct val="150000"/>
              </a:lnSpc>
            </a:pPr>
            <a:endParaRPr lang="en-US" altLang="ko-KR" sz="1400" dirty="0">
              <a:solidFill>
                <a:srgbClr val="576176"/>
              </a:solidFill>
              <a:latin typeface="Pretendard"/>
            </a:endParaRPr>
          </a:p>
          <a:p>
            <a:pPr algn="l">
              <a:lnSpc>
                <a:spcPct val="150000"/>
              </a:lnSpc>
            </a:pPr>
            <a:r>
              <a:rPr lang="ko-KR" altLang="en-US" sz="1400" dirty="0">
                <a:solidFill>
                  <a:srgbClr val="576176"/>
                </a:solidFill>
                <a:latin typeface="Pretendard"/>
              </a:rPr>
              <a:t>로고</a:t>
            </a:r>
            <a:r>
              <a:rPr lang="en-US" altLang="ko-KR" sz="1400" dirty="0">
                <a:solidFill>
                  <a:srgbClr val="576176"/>
                </a:solidFill>
                <a:latin typeface="Pretendard"/>
              </a:rPr>
              <a:t>·</a:t>
            </a:r>
            <a:r>
              <a:rPr lang="ko-KR" altLang="en-US" sz="1400" dirty="0">
                <a:solidFill>
                  <a:srgbClr val="576176"/>
                </a:solidFill>
                <a:latin typeface="Pretendard"/>
              </a:rPr>
              <a:t>실제 인물</a:t>
            </a:r>
            <a:endParaRPr lang="en-US" altLang="ko-KR" sz="1400" dirty="0">
              <a:solidFill>
                <a:srgbClr val="576176"/>
              </a:solidFill>
              <a:latin typeface="Pretendard"/>
            </a:endParaRPr>
          </a:p>
          <a:p>
            <a:pPr algn="l">
              <a:lnSpc>
                <a:spcPct val="150000"/>
              </a:lnSpc>
            </a:pPr>
            <a:r>
              <a:rPr lang="en-US" altLang="ko-KR" sz="1400" dirty="0">
                <a:solidFill>
                  <a:srgbClr val="576176"/>
                </a:solidFill>
                <a:latin typeface="Pretendard"/>
              </a:rPr>
              <a:t>·</a:t>
            </a:r>
            <a:r>
              <a:rPr lang="ko-KR" altLang="en-US" sz="1400" dirty="0">
                <a:solidFill>
                  <a:srgbClr val="576176"/>
                </a:solidFill>
                <a:latin typeface="Pretendard"/>
              </a:rPr>
              <a:t>타사 상표는 </a:t>
            </a:r>
            <a:endParaRPr lang="en-US" altLang="ko-KR" sz="1400" dirty="0">
              <a:solidFill>
                <a:srgbClr val="576176"/>
              </a:solidFill>
              <a:latin typeface="Pretendard"/>
            </a:endParaRPr>
          </a:p>
          <a:p>
            <a:pPr algn="l">
              <a:lnSpc>
                <a:spcPct val="150000"/>
              </a:lnSpc>
            </a:pPr>
            <a:r>
              <a:rPr lang="ko-KR" altLang="en-US" sz="1400" dirty="0">
                <a:solidFill>
                  <a:srgbClr val="576176"/>
                </a:solidFill>
                <a:latin typeface="Pretendard"/>
              </a:rPr>
              <a:t>생성에 넣지 않는다</a:t>
            </a:r>
            <a:r>
              <a:rPr lang="en-US" altLang="ko-KR" sz="1400" dirty="0">
                <a:solidFill>
                  <a:srgbClr val="576176"/>
                </a:solidFill>
                <a:latin typeface="Pretendard"/>
              </a:rPr>
              <a:t>.</a:t>
            </a:r>
            <a:endParaRPr lang="ko-KR" altLang="en-US" sz="1400" dirty="0">
              <a:solidFill>
                <a:srgbClr val="576176"/>
              </a:solidFill>
              <a:latin typeface="Pretendard"/>
            </a:endParaRPr>
          </a:p>
        </p:txBody>
      </p:sp>
      <p:sp>
        <p:nvSpPr>
          <p:cNvPr id="27" name="모서리가 둥근 직사각형 26">
            <a:extLst>
              <a:ext uri="{FF2B5EF4-FFF2-40B4-BE49-F238E27FC236}">
                <a16:creationId xmlns:a16="http://schemas.microsoft.com/office/drawing/2014/main" id="{837D096F-03B9-D64A-BCF9-6AAF244CCEF8}"/>
              </a:ext>
            </a:extLst>
          </p:cNvPr>
          <p:cNvSpPr/>
          <p:nvPr/>
        </p:nvSpPr>
        <p:spPr>
          <a:xfrm>
            <a:off x="8318500" y="5562600"/>
            <a:ext cx="2730500" cy="457200"/>
          </a:xfrm>
          <a:prstGeom prst="roundRect">
            <a:avLst>
              <a:gd name="adj" fmla="val 5556"/>
            </a:avLst>
          </a:prstGeom>
          <a:solidFill>
            <a:srgbClr val="FBEF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EDA36D9-BBDB-AA47-8DE2-3B80863AFD8C}"/>
              </a:ext>
            </a:extLst>
          </p:cNvPr>
          <p:cNvSpPr txBox="1"/>
          <p:nvPr/>
        </p:nvSpPr>
        <p:spPr>
          <a:xfrm>
            <a:off x="8318500" y="5562600"/>
            <a:ext cx="2730500" cy="457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ctr"/>
            <a:r>
              <a:rPr lang="ko-KR" altLang="en-US" sz="1400" b="1">
                <a:solidFill>
                  <a:srgbClr val="9A6B12"/>
                </a:solidFill>
                <a:latin typeface="Pretendard"/>
              </a:rPr>
              <a:t>약관</a:t>
            </a:r>
            <a:r>
              <a:rPr lang="en-US" altLang="ko-KR" sz="1400" b="1">
                <a:solidFill>
                  <a:srgbClr val="9A6B12"/>
                </a:solidFill>
                <a:latin typeface="Pretendard"/>
              </a:rPr>
              <a:t>·</a:t>
            </a:r>
            <a:r>
              <a:rPr lang="ko-KR" altLang="en-US" sz="1400" b="1">
                <a:solidFill>
                  <a:srgbClr val="9A6B12"/>
                </a:solidFill>
                <a:latin typeface="Pretendard"/>
              </a:rPr>
              <a:t>초상권 확인</a:t>
            </a:r>
          </a:p>
        </p:txBody>
      </p:sp>
      <p:sp>
        <p:nvSpPr>
          <p:cNvPr id="4" name="PageNumber">
            <a:extLst>
              <a:ext uri="{FF2B5EF4-FFF2-40B4-BE49-F238E27FC236}">
                <a16:creationId xmlns:a16="http://schemas.microsoft.com/office/drawing/2014/main" id="{8B723CF1-78C1-0E4B-9757-BE40620384A0}"/>
              </a:ext>
            </a:extLst>
          </p:cNvPr>
          <p:cNvSpPr txBox="1"/>
          <p:nvPr/>
        </p:nvSpPr>
        <p:spPr>
          <a:xfrm>
            <a:off x="9499600" y="6489700"/>
            <a:ext cx="23368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r"/>
            <a:r>
              <a:rPr lang="en-US" altLang="ko-KR" sz="1200">
                <a:solidFill>
                  <a:srgbClr val="576176"/>
                </a:solidFill>
                <a:latin typeface="Pretendard"/>
              </a:rPr>
              <a:t>- 70/144 -</a:t>
            </a:r>
            <a:endParaRPr lang="ko-KR" altLang="en-US" sz="1200">
              <a:solidFill>
                <a:srgbClr val="576176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352704419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개념 깊이 보기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개념을 예시로 — 우리 케이스에 적용하면</a:t>
            </a: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4AD16234-8E23-2840-8196-04CB007D4FFC}"/>
              </a:ext>
            </a:extLst>
          </p:cNvPr>
          <p:cNvSpPr/>
          <p:nvPr/>
        </p:nvSpPr>
        <p:spPr>
          <a:xfrm>
            <a:off x="825500" y="1905000"/>
            <a:ext cx="5461000" cy="4381500"/>
          </a:xfrm>
          <a:prstGeom prst="roundRect">
            <a:avLst>
              <a:gd name="adj" fmla="val 580"/>
            </a:avLst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C252E7-7D0B-DD46-99FD-25E87B356079}"/>
              </a:ext>
            </a:extLst>
          </p:cNvPr>
          <p:cNvSpPr txBox="1"/>
          <p:nvPr/>
        </p:nvSpPr>
        <p:spPr>
          <a:xfrm>
            <a:off x="1181100" y="2184400"/>
            <a:ext cx="4749800" cy="355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b="1">
                <a:solidFill>
                  <a:srgbClr val="14213D"/>
                </a:solidFill>
                <a:latin typeface="Pretendard"/>
              </a:rPr>
              <a:t>이미지 프롬프트 </a:t>
            </a:r>
            <a:r>
              <a:rPr lang="en-US" altLang="ko-KR" b="1">
                <a:solidFill>
                  <a:srgbClr val="14213D"/>
                </a:solidFill>
                <a:latin typeface="Pretendard"/>
              </a:rPr>
              <a:t>5</a:t>
            </a:r>
            <a:r>
              <a:rPr lang="ko-KR" altLang="en-US" b="1">
                <a:solidFill>
                  <a:srgbClr val="14213D"/>
                </a:solidFill>
                <a:latin typeface="Pretendard"/>
              </a:rPr>
              <a:t>요소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0E39AE-767F-3F4D-8CB2-D317F482C6DA}"/>
              </a:ext>
            </a:extLst>
          </p:cNvPr>
          <p:cNvSpPr txBox="1"/>
          <p:nvPr/>
        </p:nvSpPr>
        <p:spPr>
          <a:xfrm>
            <a:off x="1181100" y="2565400"/>
            <a:ext cx="47498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400">
                <a:solidFill>
                  <a:srgbClr val="576176"/>
                </a:solidFill>
                <a:latin typeface="JetBrains Mono"/>
              </a:rPr>
              <a:t>예</a:t>
            </a:r>
            <a:r>
              <a:rPr lang="en-US" altLang="ko-KR" sz="1400">
                <a:solidFill>
                  <a:srgbClr val="576176"/>
                </a:solidFill>
                <a:latin typeface="JetBrains Mono"/>
              </a:rPr>
              <a:t>) </a:t>
            </a:r>
            <a:r>
              <a:rPr lang="ko-KR" altLang="en-US" sz="1400">
                <a:solidFill>
                  <a:srgbClr val="576176"/>
                </a:solidFill>
                <a:latin typeface="JetBrains Mono"/>
              </a:rPr>
              <a:t>무알콜 맥주 캔 컷</a:t>
            </a: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6CFA0CF9-D5A6-644D-9094-80FF6615B031}"/>
              </a:ext>
            </a:extLst>
          </p:cNvPr>
          <p:cNvSpPr/>
          <p:nvPr/>
        </p:nvSpPr>
        <p:spPr>
          <a:xfrm>
            <a:off x="1181100" y="2946400"/>
            <a:ext cx="1092200" cy="381000"/>
          </a:xfrm>
          <a:prstGeom prst="roundRect">
            <a:avLst>
              <a:gd name="adj" fmla="val 6667"/>
            </a:avLst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ko-KR" altLang="en-US" sz="1400" b="1">
                <a:solidFill>
                  <a:srgbClr val="FFFFFF"/>
                </a:solidFill>
                <a:latin typeface="JetBrains Mono"/>
              </a:rPr>
              <a:t>피사체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841F6C-8A5D-9347-B960-E61C8E331439}"/>
              </a:ext>
            </a:extLst>
          </p:cNvPr>
          <p:cNvSpPr txBox="1"/>
          <p:nvPr/>
        </p:nvSpPr>
        <p:spPr>
          <a:xfrm>
            <a:off x="2425700" y="2946400"/>
            <a:ext cx="3505200" cy="381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450" b="1">
                <a:solidFill>
                  <a:srgbClr val="2A3B57"/>
                </a:solidFill>
                <a:latin typeface="Pretendard"/>
              </a:rPr>
              <a:t>무알콜 맥주 캔</a:t>
            </a: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84124945-08D4-0247-9881-857ABCE726FE}"/>
              </a:ext>
            </a:extLst>
          </p:cNvPr>
          <p:cNvSpPr/>
          <p:nvPr/>
        </p:nvSpPr>
        <p:spPr>
          <a:xfrm>
            <a:off x="1181100" y="3581400"/>
            <a:ext cx="1092200" cy="381000"/>
          </a:xfrm>
          <a:prstGeom prst="roundRect">
            <a:avLst>
              <a:gd name="adj" fmla="val 6667"/>
            </a:avLst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ko-KR" altLang="en-US" sz="1400" b="1">
                <a:solidFill>
                  <a:srgbClr val="FFFFFF"/>
                </a:solidFill>
                <a:latin typeface="JetBrains Mono"/>
              </a:rPr>
              <a:t>스타일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15850F4-EB7F-CA42-8901-8F84D9BB01B7}"/>
              </a:ext>
            </a:extLst>
          </p:cNvPr>
          <p:cNvSpPr txBox="1"/>
          <p:nvPr/>
        </p:nvSpPr>
        <p:spPr>
          <a:xfrm>
            <a:off x="2425700" y="3581400"/>
            <a:ext cx="3505200" cy="381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450" b="1">
                <a:solidFill>
                  <a:srgbClr val="2A3B57"/>
                </a:solidFill>
                <a:latin typeface="Pretendard"/>
              </a:rPr>
              <a:t>미니멀 스튜디오</a:t>
            </a:r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200E9420-1B47-1D4F-A615-64ECF7112A0B}"/>
              </a:ext>
            </a:extLst>
          </p:cNvPr>
          <p:cNvSpPr/>
          <p:nvPr/>
        </p:nvSpPr>
        <p:spPr>
          <a:xfrm>
            <a:off x="1181100" y="4216400"/>
            <a:ext cx="1092200" cy="381000"/>
          </a:xfrm>
          <a:prstGeom prst="roundRect">
            <a:avLst>
              <a:gd name="adj" fmla="val 6667"/>
            </a:avLst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ko-KR" altLang="en-US" sz="1400" b="1">
                <a:solidFill>
                  <a:srgbClr val="FFFFFF"/>
                </a:solidFill>
                <a:latin typeface="JetBrains Mono"/>
              </a:rPr>
              <a:t>조명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4881C44-BBB2-1B42-A50D-02DAA9CE8511}"/>
              </a:ext>
            </a:extLst>
          </p:cNvPr>
          <p:cNvSpPr txBox="1"/>
          <p:nvPr/>
        </p:nvSpPr>
        <p:spPr>
          <a:xfrm>
            <a:off x="2425700" y="4216400"/>
            <a:ext cx="3505200" cy="381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450" b="1">
                <a:solidFill>
                  <a:srgbClr val="2A3B57"/>
                </a:solidFill>
                <a:latin typeface="Pretendard"/>
              </a:rPr>
              <a:t>부드러운 측광</a:t>
            </a:r>
          </a:p>
        </p:txBody>
      </p:sp>
      <p:sp>
        <p:nvSpPr>
          <p:cNvPr id="14" name="모서리가 둥근 직사각형 13">
            <a:extLst>
              <a:ext uri="{FF2B5EF4-FFF2-40B4-BE49-F238E27FC236}">
                <a16:creationId xmlns:a16="http://schemas.microsoft.com/office/drawing/2014/main" id="{E6E1D018-14AE-104B-9FA7-39F662F069BC}"/>
              </a:ext>
            </a:extLst>
          </p:cNvPr>
          <p:cNvSpPr/>
          <p:nvPr/>
        </p:nvSpPr>
        <p:spPr>
          <a:xfrm>
            <a:off x="1181100" y="4851400"/>
            <a:ext cx="1092200" cy="381000"/>
          </a:xfrm>
          <a:prstGeom prst="roundRect">
            <a:avLst>
              <a:gd name="adj" fmla="val 6667"/>
            </a:avLst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ko-KR" altLang="en-US" sz="1400" b="1">
                <a:solidFill>
                  <a:srgbClr val="FFFFFF"/>
                </a:solidFill>
                <a:latin typeface="JetBrains Mono"/>
              </a:rPr>
              <a:t>색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582F3C6-3504-3943-BA5F-1A64264BD2FE}"/>
              </a:ext>
            </a:extLst>
          </p:cNvPr>
          <p:cNvSpPr txBox="1"/>
          <p:nvPr/>
        </p:nvSpPr>
        <p:spPr>
          <a:xfrm>
            <a:off x="2425700" y="4851400"/>
            <a:ext cx="3505200" cy="381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altLang="ko-KR" sz="1450" b="1">
                <a:solidFill>
                  <a:srgbClr val="2A3B57"/>
                </a:solidFill>
                <a:latin typeface="Pretendard"/>
              </a:rPr>
              <a:t>amber + navy</a:t>
            </a:r>
            <a:endParaRPr lang="ko-KR" altLang="en-US" sz="1450" b="1">
              <a:solidFill>
                <a:srgbClr val="2A3B57"/>
              </a:solidFill>
              <a:latin typeface="Pretendard"/>
            </a:endParaRPr>
          </a:p>
        </p:txBody>
      </p:sp>
      <p:sp>
        <p:nvSpPr>
          <p:cNvPr id="16" name="모서리가 둥근 직사각형 15">
            <a:extLst>
              <a:ext uri="{FF2B5EF4-FFF2-40B4-BE49-F238E27FC236}">
                <a16:creationId xmlns:a16="http://schemas.microsoft.com/office/drawing/2014/main" id="{0571195D-72E4-6443-903E-720CA7B33314}"/>
              </a:ext>
            </a:extLst>
          </p:cNvPr>
          <p:cNvSpPr/>
          <p:nvPr/>
        </p:nvSpPr>
        <p:spPr>
          <a:xfrm>
            <a:off x="1181100" y="5486400"/>
            <a:ext cx="1092200" cy="381000"/>
          </a:xfrm>
          <a:prstGeom prst="roundRect">
            <a:avLst>
              <a:gd name="adj" fmla="val 6667"/>
            </a:avLst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ko-KR" sz="1400" b="1">
                <a:solidFill>
                  <a:srgbClr val="FFFFFF"/>
                </a:solidFill>
                <a:latin typeface="JetBrains Mono"/>
              </a:rPr>
              <a:t>--no</a:t>
            </a:r>
            <a:endParaRPr lang="ko-KR" altLang="en-US" sz="14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0847F9A-FA57-8741-9059-C2D1477A35AB}"/>
              </a:ext>
            </a:extLst>
          </p:cNvPr>
          <p:cNvSpPr txBox="1"/>
          <p:nvPr/>
        </p:nvSpPr>
        <p:spPr>
          <a:xfrm>
            <a:off x="2425700" y="5486400"/>
            <a:ext cx="3505200" cy="381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450" b="1">
                <a:solidFill>
                  <a:srgbClr val="2A3B57"/>
                </a:solidFill>
                <a:latin typeface="Pretendard"/>
              </a:rPr>
              <a:t>글자 </a:t>
            </a:r>
            <a:r>
              <a:rPr lang="en-US" altLang="ko-KR" sz="1450" b="1">
                <a:solidFill>
                  <a:srgbClr val="2A3B57"/>
                </a:solidFill>
                <a:latin typeface="Pretendard"/>
              </a:rPr>
              <a:t>· </a:t>
            </a:r>
            <a:r>
              <a:rPr lang="ko-KR" altLang="en-US" sz="1450" b="1">
                <a:solidFill>
                  <a:srgbClr val="2A3B57"/>
                </a:solidFill>
                <a:latin typeface="Pretendard"/>
              </a:rPr>
              <a:t>로고</a:t>
            </a:r>
          </a:p>
        </p:txBody>
      </p:sp>
      <p:sp>
        <p:nvSpPr>
          <p:cNvPr id="18" name="모서리가 둥근 직사각형 17">
            <a:extLst>
              <a:ext uri="{FF2B5EF4-FFF2-40B4-BE49-F238E27FC236}">
                <a16:creationId xmlns:a16="http://schemas.microsoft.com/office/drawing/2014/main" id="{3CDE6D11-1D76-CF45-A6CA-57F8C9BF3E2B}"/>
              </a:ext>
            </a:extLst>
          </p:cNvPr>
          <p:cNvSpPr/>
          <p:nvPr/>
        </p:nvSpPr>
        <p:spPr>
          <a:xfrm>
            <a:off x="6540500" y="1905000"/>
            <a:ext cx="4826000" cy="4381500"/>
          </a:xfrm>
          <a:prstGeom prst="roundRect">
            <a:avLst>
              <a:gd name="adj" fmla="val 580"/>
            </a:avLst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CCE03A3-4080-E143-BE87-0A434D52E54F}"/>
              </a:ext>
            </a:extLst>
          </p:cNvPr>
          <p:cNvSpPr txBox="1"/>
          <p:nvPr/>
        </p:nvSpPr>
        <p:spPr>
          <a:xfrm>
            <a:off x="6845300" y="2184400"/>
            <a:ext cx="4216400" cy="355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b="1">
                <a:solidFill>
                  <a:srgbClr val="FFFFFF"/>
                </a:solidFill>
                <a:latin typeface="Pretendard"/>
              </a:rPr>
              <a:t>종횡비 </a:t>
            </a:r>
            <a:r>
              <a:rPr lang="en-US" altLang="ko-KR" b="1">
                <a:solidFill>
                  <a:srgbClr val="FFFFFF"/>
                </a:solidFill>
                <a:latin typeface="Pretendard"/>
              </a:rPr>
              <a:t>(Aspect Ratio)</a:t>
            </a:r>
            <a:endParaRPr lang="ko-KR" altLang="en-US" b="1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9A87367-5EEA-DF46-94B4-DB6D51A28DDC}"/>
              </a:ext>
            </a:extLst>
          </p:cNvPr>
          <p:cNvSpPr txBox="1"/>
          <p:nvPr/>
        </p:nvSpPr>
        <p:spPr>
          <a:xfrm>
            <a:off x="6845300" y="2565400"/>
            <a:ext cx="42164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400">
                <a:solidFill>
                  <a:srgbClr val="E8A33D"/>
                </a:solidFill>
                <a:latin typeface="Pretendard"/>
              </a:rPr>
              <a:t>채널별 규격을 먼저 정한다</a:t>
            </a:r>
          </a:p>
        </p:txBody>
      </p:sp>
      <p:sp>
        <p:nvSpPr>
          <p:cNvPr id="21" name="모서리가 둥근 직사각형 20">
            <a:extLst>
              <a:ext uri="{FF2B5EF4-FFF2-40B4-BE49-F238E27FC236}">
                <a16:creationId xmlns:a16="http://schemas.microsoft.com/office/drawing/2014/main" id="{9D0DEF3E-044B-B44A-9CF1-ADAA8176EC90}"/>
              </a:ext>
            </a:extLst>
          </p:cNvPr>
          <p:cNvSpPr/>
          <p:nvPr/>
        </p:nvSpPr>
        <p:spPr>
          <a:xfrm>
            <a:off x="7289800" y="3683000"/>
            <a:ext cx="889000" cy="889000"/>
          </a:xfrm>
          <a:prstGeom prst="roundRect">
            <a:avLst>
              <a:gd name="adj" fmla="val 2857"/>
            </a:avLst>
          </a:prstGeom>
          <a:solidFill>
            <a:srgbClr val="20314F"/>
          </a:solidFill>
          <a:ln w="19050" cap="flat" cmpd="sng" algn="ctr">
            <a:solidFill>
              <a:srgbClr val="E8A33D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2" name="모서리가 둥근 직사각형 21">
            <a:extLst>
              <a:ext uri="{FF2B5EF4-FFF2-40B4-BE49-F238E27FC236}">
                <a16:creationId xmlns:a16="http://schemas.microsoft.com/office/drawing/2014/main" id="{C734CCE6-CF9B-1749-A4F2-F107F71AC19E}"/>
              </a:ext>
            </a:extLst>
          </p:cNvPr>
          <p:cNvSpPr/>
          <p:nvPr/>
        </p:nvSpPr>
        <p:spPr>
          <a:xfrm>
            <a:off x="8382000" y="3454400"/>
            <a:ext cx="635000" cy="1117600"/>
          </a:xfrm>
          <a:prstGeom prst="roundRect">
            <a:avLst>
              <a:gd name="adj" fmla="val 4000"/>
            </a:avLst>
          </a:prstGeom>
          <a:solidFill>
            <a:srgbClr val="20314F"/>
          </a:solidFill>
          <a:ln w="19050" cap="flat" cmpd="sng" algn="ctr">
            <a:solidFill>
              <a:srgbClr val="E8A33D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3" name="모서리가 둥근 직사각형 22">
            <a:extLst>
              <a:ext uri="{FF2B5EF4-FFF2-40B4-BE49-F238E27FC236}">
                <a16:creationId xmlns:a16="http://schemas.microsoft.com/office/drawing/2014/main" id="{B85C72FA-84DF-8A46-A1F0-6C20AE7BF201}"/>
              </a:ext>
            </a:extLst>
          </p:cNvPr>
          <p:cNvSpPr/>
          <p:nvPr/>
        </p:nvSpPr>
        <p:spPr>
          <a:xfrm>
            <a:off x="9220200" y="3784600"/>
            <a:ext cx="1397000" cy="787400"/>
          </a:xfrm>
          <a:prstGeom prst="roundRect">
            <a:avLst>
              <a:gd name="adj" fmla="val 3226"/>
            </a:avLst>
          </a:prstGeom>
          <a:solidFill>
            <a:srgbClr val="20314F"/>
          </a:solidFill>
          <a:ln w="19050" cap="flat" cmpd="sng" algn="ctr">
            <a:solidFill>
              <a:srgbClr val="E8A33D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622B2BA-4B62-8A4E-9727-211194C02765}"/>
              </a:ext>
            </a:extLst>
          </p:cNvPr>
          <p:cNvSpPr txBox="1"/>
          <p:nvPr/>
        </p:nvSpPr>
        <p:spPr>
          <a:xfrm>
            <a:off x="7289800" y="4648200"/>
            <a:ext cx="8890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400" b="1">
                <a:solidFill>
                  <a:srgbClr val="E8A33D"/>
                </a:solidFill>
                <a:latin typeface="JetBrains Mono"/>
              </a:rPr>
              <a:t>1:1</a:t>
            </a:r>
            <a:endParaRPr lang="ko-KR" altLang="en-US" sz="1400" b="1">
              <a:solidFill>
                <a:srgbClr val="E8A33D"/>
              </a:solidFill>
              <a:latin typeface="JetBrains Mono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036A3FA-C478-604E-A6E5-D647A91EB367}"/>
              </a:ext>
            </a:extLst>
          </p:cNvPr>
          <p:cNvSpPr txBox="1"/>
          <p:nvPr/>
        </p:nvSpPr>
        <p:spPr>
          <a:xfrm>
            <a:off x="8229600" y="4648200"/>
            <a:ext cx="9398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400" b="1">
                <a:solidFill>
                  <a:srgbClr val="E8A33D"/>
                </a:solidFill>
                <a:latin typeface="JetBrains Mono"/>
              </a:rPr>
              <a:t>9:16</a:t>
            </a:r>
            <a:endParaRPr lang="ko-KR" altLang="en-US" sz="1400" b="1">
              <a:solidFill>
                <a:srgbClr val="E8A33D"/>
              </a:solidFill>
              <a:latin typeface="JetBrains Mono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5E0015F-925D-3246-989E-3289766C70D7}"/>
              </a:ext>
            </a:extLst>
          </p:cNvPr>
          <p:cNvSpPr txBox="1"/>
          <p:nvPr/>
        </p:nvSpPr>
        <p:spPr>
          <a:xfrm>
            <a:off x="9220200" y="4648200"/>
            <a:ext cx="13970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400" b="1">
                <a:solidFill>
                  <a:srgbClr val="E8A33D"/>
                </a:solidFill>
                <a:latin typeface="JetBrains Mono"/>
              </a:rPr>
              <a:t>16:9</a:t>
            </a:r>
            <a:endParaRPr lang="ko-KR" altLang="en-US" sz="1400" b="1">
              <a:solidFill>
                <a:srgbClr val="E8A33D"/>
              </a:solidFill>
              <a:latin typeface="JetBrains Mono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5C844D3-21CC-A946-97D1-B0591A26737F}"/>
              </a:ext>
            </a:extLst>
          </p:cNvPr>
          <p:cNvSpPr txBox="1"/>
          <p:nvPr/>
        </p:nvSpPr>
        <p:spPr>
          <a:xfrm>
            <a:off x="6845300" y="5080000"/>
            <a:ext cx="42164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400">
                <a:solidFill>
                  <a:srgbClr val="DCE6F2"/>
                </a:solidFill>
                <a:latin typeface="Pretendard"/>
              </a:rPr>
              <a:t>인스타 </a:t>
            </a:r>
            <a:r>
              <a:rPr lang="en-US" altLang="ko-KR" sz="1400">
                <a:solidFill>
                  <a:srgbClr val="DCE6F2"/>
                </a:solidFill>
                <a:latin typeface="Pretendard"/>
              </a:rPr>
              <a:t>1:1 · </a:t>
            </a:r>
            <a:r>
              <a:rPr lang="ko-KR" altLang="en-US" sz="1400">
                <a:solidFill>
                  <a:srgbClr val="DCE6F2"/>
                </a:solidFill>
                <a:latin typeface="Pretendard"/>
              </a:rPr>
              <a:t>릴스 </a:t>
            </a:r>
            <a:r>
              <a:rPr lang="en-US" altLang="ko-KR" sz="1400">
                <a:solidFill>
                  <a:srgbClr val="DCE6F2"/>
                </a:solidFill>
                <a:latin typeface="Pretendard"/>
              </a:rPr>
              <a:t>9:16 · </a:t>
            </a:r>
            <a:r>
              <a:rPr lang="ko-KR" altLang="en-US" sz="1400">
                <a:solidFill>
                  <a:srgbClr val="DCE6F2"/>
                </a:solidFill>
                <a:latin typeface="Pretendard"/>
              </a:rPr>
              <a:t>썸네일 </a:t>
            </a:r>
            <a:r>
              <a:rPr lang="en-US" altLang="ko-KR" sz="1400">
                <a:solidFill>
                  <a:srgbClr val="DCE6F2"/>
                </a:solidFill>
                <a:latin typeface="Pretendard"/>
              </a:rPr>
              <a:t>16:9</a:t>
            </a:r>
            <a:endParaRPr lang="ko-KR" altLang="en-US" sz="1400">
              <a:solidFill>
                <a:srgbClr val="DCE6F2"/>
              </a:solidFill>
              <a:latin typeface="Pretendard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62241D7-3753-064D-A8D3-32611BF30131}"/>
              </a:ext>
            </a:extLst>
          </p:cNvPr>
          <p:cNvSpPr txBox="1"/>
          <p:nvPr/>
        </p:nvSpPr>
        <p:spPr>
          <a:xfrm>
            <a:off x="6845300" y="5511800"/>
            <a:ext cx="42164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400">
                <a:solidFill>
                  <a:srgbClr val="E8A33D"/>
                </a:solidFill>
                <a:latin typeface="JetBrains Mono"/>
              </a:rPr>
              <a:t>→ 규격을 정하고 생성해야 잘리지 않는다</a:t>
            </a:r>
            <a:r>
              <a:rPr lang="en-US" altLang="ko-KR" sz="1400">
                <a:solidFill>
                  <a:srgbClr val="E8A33D"/>
                </a:solidFill>
                <a:latin typeface="JetBrains Mono"/>
              </a:rPr>
              <a:t>.</a:t>
            </a:r>
            <a:endParaRPr lang="ko-KR" altLang="en-US" sz="1400">
              <a:solidFill>
                <a:srgbClr val="E8A33D"/>
              </a:solidFill>
              <a:latin typeface="JetBrains Mono"/>
            </a:endParaRPr>
          </a:p>
        </p:txBody>
      </p:sp>
      <p:sp>
        <p:nvSpPr>
          <p:cNvPr id="4" name="PageNumber">
            <a:extLst>
              <a:ext uri="{FF2B5EF4-FFF2-40B4-BE49-F238E27FC236}">
                <a16:creationId xmlns:a16="http://schemas.microsoft.com/office/drawing/2014/main" id="{B1D663A4-BA0F-4A44-933A-594FCBB32503}"/>
              </a:ext>
            </a:extLst>
          </p:cNvPr>
          <p:cNvSpPr txBox="1"/>
          <p:nvPr/>
        </p:nvSpPr>
        <p:spPr>
          <a:xfrm>
            <a:off x="9499600" y="6489700"/>
            <a:ext cx="23368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r"/>
            <a:r>
              <a:rPr lang="en-US" altLang="ko-KR" sz="1200">
                <a:solidFill>
                  <a:srgbClr val="576176"/>
                </a:solidFill>
                <a:latin typeface="Pretendard"/>
              </a:rPr>
              <a:t>- 71/144 -</a:t>
            </a:r>
            <a:endParaRPr lang="ko-KR" altLang="en-US" sz="1200">
              <a:solidFill>
                <a:srgbClr val="576176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264164553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실습 절차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실습 절차 — 직접 해봅니다</a:t>
            </a: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8C9F8EA3-D339-1F4D-B212-36CC0DFD7E25}"/>
              </a:ext>
            </a:extLst>
          </p:cNvPr>
          <p:cNvSpPr/>
          <p:nvPr/>
        </p:nvSpPr>
        <p:spPr>
          <a:xfrm>
            <a:off x="825500" y="1930400"/>
            <a:ext cx="10541000" cy="939800"/>
          </a:xfrm>
          <a:prstGeom prst="roundRect">
            <a:avLst>
              <a:gd name="adj" fmla="val 2703"/>
            </a:avLst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2F19DCE-0945-1F41-9AF3-220EE39346D4}"/>
              </a:ext>
            </a:extLst>
          </p:cNvPr>
          <p:cNvSpPr/>
          <p:nvPr/>
        </p:nvSpPr>
        <p:spPr>
          <a:xfrm>
            <a:off x="825500" y="1930400"/>
            <a:ext cx="76200" cy="939800"/>
          </a:xfrm>
          <a:prstGeom prst="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79A93FEF-BF1E-E545-9224-A2913669ED68}"/>
              </a:ext>
            </a:extLst>
          </p:cNvPr>
          <p:cNvSpPr/>
          <p:nvPr/>
        </p:nvSpPr>
        <p:spPr>
          <a:xfrm>
            <a:off x="1143000" y="2159000"/>
            <a:ext cx="482600" cy="482600"/>
          </a:xfrm>
          <a:prstGeom prst="ellipse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  <a:latin typeface="JetBrains Mono"/>
              </a:rPr>
              <a:t>1</a:t>
            </a:r>
            <a:endParaRPr lang="ko-KR" altLang="en-US" sz="16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79A850-78DC-B942-ACB0-5858ACDDB6CC}"/>
              </a:ext>
            </a:extLst>
          </p:cNvPr>
          <p:cNvSpPr txBox="1"/>
          <p:nvPr/>
        </p:nvSpPr>
        <p:spPr>
          <a:xfrm>
            <a:off x="1905000" y="2221625"/>
            <a:ext cx="2667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600" b="1">
                <a:solidFill>
                  <a:srgbClr val="14213D"/>
                </a:solidFill>
                <a:latin typeface="Pretendard"/>
              </a:rPr>
              <a:t>용도</a:t>
            </a:r>
            <a:r>
              <a:rPr lang="en-US" altLang="ko-KR" sz="1600" b="1">
                <a:solidFill>
                  <a:srgbClr val="14213D"/>
                </a:solidFill>
                <a:latin typeface="Pretendard"/>
              </a:rPr>
              <a:t>·</a:t>
            </a:r>
            <a:r>
              <a:rPr lang="ko-KR" altLang="en-US" sz="1600" b="1">
                <a:solidFill>
                  <a:srgbClr val="14213D"/>
                </a:solidFill>
                <a:latin typeface="Pretendard"/>
              </a:rPr>
              <a:t>종횡비 정하기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004E7B-FFD3-A443-9F86-B76157188CE7}"/>
              </a:ext>
            </a:extLst>
          </p:cNvPr>
          <p:cNvSpPr txBox="1"/>
          <p:nvPr/>
        </p:nvSpPr>
        <p:spPr>
          <a:xfrm>
            <a:off x="4699000" y="2057400"/>
            <a:ext cx="6477000" cy="685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400">
                <a:solidFill>
                  <a:srgbClr val="576176"/>
                </a:solidFill>
                <a:latin typeface="Pretendard"/>
              </a:rPr>
              <a:t>배너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/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카드뉴스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/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썸네일 용도와 채널 규격을 먼저 정한다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.</a:t>
            </a:r>
            <a:endParaRPr lang="ko-KR" altLang="en-US" sz="1400">
              <a:solidFill>
                <a:srgbClr val="576176"/>
              </a:solidFill>
              <a:latin typeface="Pretendard"/>
            </a:endParaRP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EC7BD6D1-E29D-0045-9BCD-B15654A26A7C}"/>
              </a:ext>
            </a:extLst>
          </p:cNvPr>
          <p:cNvSpPr/>
          <p:nvPr/>
        </p:nvSpPr>
        <p:spPr>
          <a:xfrm>
            <a:off x="825500" y="2971800"/>
            <a:ext cx="10541000" cy="939800"/>
          </a:xfrm>
          <a:prstGeom prst="roundRect">
            <a:avLst>
              <a:gd name="adj" fmla="val 2703"/>
            </a:avLst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E161FA4-5016-094A-B23E-43BA4FF9B556}"/>
              </a:ext>
            </a:extLst>
          </p:cNvPr>
          <p:cNvSpPr/>
          <p:nvPr/>
        </p:nvSpPr>
        <p:spPr>
          <a:xfrm>
            <a:off x="825500" y="2971800"/>
            <a:ext cx="76200" cy="939800"/>
          </a:xfrm>
          <a:prstGeom prst="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A54AD09E-6C7C-4A43-9AF7-04385B41A3A9}"/>
              </a:ext>
            </a:extLst>
          </p:cNvPr>
          <p:cNvSpPr/>
          <p:nvPr/>
        </p:nvSpPr>
        <p:spPr>
          <a:xfrm>
            <a:off x="1143000" y="3200400"/>
            <a:ext cx="482600" cy="482600"/>
          </a:xfrm>
          <a:prstGeom prst="ellipse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  <a:latin typeface="JetBrains Mono"/>
              </a:rPr>
              <a:t>2</a:t>
            </a:r>
            <a:endParaRPr lang="ko-KR" altLang="en-US" sz="16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6216ED9-5E87-0E43-A2D5-36816E2CD89B}"/>
              </a:ext>
            </a:extLst>
          </p:cNvPr>
          <p:cNvSpPr txBox="1"/>
          <p:nvPr/>
        </p:nvSpPr>
        <p:spPr>
          <a:xfrm>
            <a:off x="1905000" y="3263025"/>
            <a:ext cx="2667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14213D"/>
                </a:solidFill>
                <a:latin typeface="Pretendard"/>
              </a:rPr>
              <a:t>5</a:t>
            </a:r>
            <a:r>
              <a:rPr lang="ko-KR" altLang="en-US" sz="1600" b="1">
                <a:solidFill>
                  <a:srgbClr val="14213D"/>
                </a:solidFill>
                <a:latin typeface="Pretendard"/>
              </a:rPr>
              <a:t>요소 프롬프트 작성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AB22B6D-58D5-8145-A972-4CA0FFC09EFA}"/>
              </a:ext>
            </a:extLst>
          </p:cNvPr>
          <p:cNvSpPr txBox="1"/>
          <p:nvPr/>
        </p:nvSpPr>
        <p:spPr>
          <a:xfrm>
            <a:off x="4699000" y="3098800"/>
            <a:ext cx="6477000" cy="685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400">
                <a:solidFill>
                  <a:srgbClr val="576176"/>
                </a:solidFill>
                <a:latin typeface="Pretendard"/>
              </a:rPr>
              <a:t>피사체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+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스타일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+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구도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·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조명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+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색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+--no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로 작성 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(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글자는 편집 도구에서 얹기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).</a:t>
            </a:r>
            <a:endParaRPr lang="ko-KR" altLang="en-US" sz="1400">
              <a:solidFill>
                <a:srgbClr val="576176"/>
              </a:solidFill>
              <a:latin typeface="Pretendard"/>
            </a:endParaRPr>
          </a:p>
        </p:txBody>
      </p:sp>
      <p:sp>
        <p:nvSpPr>
          <p:cNvPr id="15" name="모서리가 둥근 직사각형 14">
            <a:extLst>
              <a:ext uri="{FF2B5EF4-FFF2-40B4-BE49-F238E27FC236}">
                <a16:creationId xmlns:a16="http://schemas.microsoft.com/office/drawing/2014/main" id="{80292B67-02EF-AF4F-B782-C6BBC616F458}"/>
              </a:ext>
            </a:extLst>
          </p:cNvPr>
          <p:cNvSpPr/>
          <p:nvPr/>
        </p:nvSpPr>
        <p:spPr>
          <a:xfrm>
            <a:off x="825500" y="4013200"/>
            <a:ext cx="10541000" cy="939800"/>
          </a:xfrm>
          <a:prstGeom prst="roundRect">
            <a:avLst>
              <a:gd name="adj" fmla="val 2703"/>
            </a:avLst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FAC04D6-14E1-7248-8603-09F62AB41488}"/>
              </a:ext>
            </a:extLst>
          </p:cNvPr>
          <p:cNvSpPr/>
          <p:nvPr/>
        </p:nvSpPr>
        <p:spPr>
          <a:xfrm>
            <a:off x="825500" y="4013200"/>
            <a:ext cx="76200" cy="939800"/>
          </a:xfrm>
          <a:prstGeom prst="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DFD760CF-5929-034C-BC6A-E254666A34D8}"/>
              </a:ext>
            </a:extLst>
          </p:cNvPr>
          <p:cNvSpPr/>
          <p:nvPr/>
        </p:nvSpPr>
        <p:spPr>
          <a:xfrm>
            <a:off x="1143000" y="4241800"/>
            <a:ext cx="482600" cy="482600"/>
          </a:xfrm>
          <a:prstGeom prst="ellipse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  <a:latin typeface="JetBrains Mono"/>
              </a:rPr>
              <a:t>3</a:t>
            </a:r>
            <a:endParaRPr lang="ko-KR" altLang="en-US" sz="16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929FE98-2289-5F45-8BB1-1F91E4550189}"/>
              </a:ext>
            </a:extLst>
          </p:cNvPr>
          <p:cNvSpPr txBox="1"/>
          <p:nvPr/>
        </p:nvSpPr>
        <p:spPr>
          <a:xfrm>
            <a:off x="1905000" y="4304425"/>
            <a:ext cx="2667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14213D"/>
                </a:solidFill>
                <a:latin typeface="Pretendard"/>
              </a:rPr>
              <a:t>2~3</a:t>
            </a:r>
            <a:r>
              <a:rPr lang="ko-KR" altLang="en-US" sz="1600" b="1">
                <a:solidFill>
                  <a:srgbClr val="14213D"/>
                </a:solidFill>
                <a:latin typeface="Pretendard"/>
              </a:rPr>
              <a:t>장 변형 후 선택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F4A0194-B3DA-2747-9929-A1741E3F5A09}"/>
              </a:ext>
            </a:extLst>
          </p:cNvPr>
          <p:cNvSpPr txBox="1"/>
          <p:nvPr/>
        </p:nvSpPr>
        <p:spPr>
          <a:xfrm>
            <a:off x="4699000" y="4140200"/>
            <a:ext cx="6477000" cy="685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400">
                <a:solidFill>
                  <a:srgbClr val="576176"/>
                </a:solidFill>
                <a:latin typeface="Pretendard"/>
              </a:rPr>
              <a:t>여러 장 생성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·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변형하고 가장 맞는 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1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장을 고른다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.</a:t>
            </a:r>
            <a:endParaRPr lang="ko-KR" altLang="en-US" sz="1400">
              <a:solidFill>
                <a:srgbClr val="576176"/>
              </a:solidFill>
              <a:latin typeface="Pretendard"/>
            </a:endParaRPr>
          </a:p>
        </p:txBody>
      </p:sp>
      <p:sp>
        <p:nvSpPr>
          <p:cNvPr id="20" name="모서리가 둥근 직사각형 19">
            <a:extLst>
              <a:ext uri="{FF2B5EF4-FFF2-40B4-BE49-F238E27FC236}">
                <a16:creationId xmlns:a16="http://schemas.microsoft.com/office/drawing/2014/main" id="{AF53FA47-B011-054B-80E6-4005629EC8D0}"/>
              </a:ext>
            </a:extLst>
          </p:cNvPr>
          <p:cNvSpPr/>
          <p:nvPr/>
        </p:nvSpPr>
        <p:spPr>
          <a:xfrm>
            <a:off x="825500" y="5054600"/>
            <a:ext cx="10541000" cy="939800"/>
          </a:xfrm>
          <a:prstGeom prst="roundRect">
            <a:avLst>
              <a:gd name="adj" fmla="val 2703"/>
            </a:avLst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428B1B49-69BB-804E-A1E2-1246DD2F0E20}"/>
              </a:ext>
            </a:extLst>
          </p:cNvPr>
          <p:cNvSpPr/>
          <p:nvPr/>
        </p:nvSpPr>
        <p:spPr>
          <a:xfrm>
            <a:off x="825500" y="5054600"/>
            <a:ext cx="76200" cy="939800"/>
          </a:xfrm>
          <a:prstGeom prst="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552E1180-E972-0143-BC05-F67CA3943CFC}"/>
              </a:ext>
            </a:extLst>
          </p:cNvPr>
          <p:cNvSpPr/>
          <p:nvPr/>
        </p:nvSpPr>
        <p:spPr>
          <a:xfrm>
            <a:off x="1143000" y="5283200"/>
            <a:ext cx="482600" cy="482600"/>
          </a:xfrm>
          <a:prstGeom prst="ellipse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  <a:latin typeface="JetBrains Mono"/>
              </a:rPr>
              <a:t>4</a:t>
            </a:r>
            <a:endParaRPr lang="ko-KR" altLang="en-US" sz="16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F969E42-8815-C747-9FD9-F0BB994BF78A}"/>
              </a:ext>
            </a:extLst>
          </p:cNvPr>
          <p:cNvSpPr txBox="1"/>
          <p:nvPr/>
        </p:nvSpPr>
        <p:spPr>
          <a:xfrm>
            <a:off x="1905000" y="5345825"/>
            <a:ext cx="2667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600" b="1" dirty="0">
                <a:solidFill>
                  <a:srgbClr val="14213D"/>
                </a:solidFill>
                <a:latin typeface="Pretendard"/>
              </a:rPr>
              <a:t>상업적 이용 확인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2E6A230-31B1-A34F-B2FD-03088D66EAB5}"/>
              </a:ext>
            </a:extLst>
          </p:cNvPr>
          <p:cNvSpPr txBox="1"/>
          <p:nvPr/>
        </p:nvSpPr>
        <p:spPr>
          <a:xfrm>
            <a:off x="4699000" y="5181600"/>
            <a:ext cx="6477000" cy="685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400">
                <a:solidFill>
                  <a:srgbClr val="576176"/>
                </a:solidFill>
                <a:latin typeface="Pretendard"/>
              </a:rPr>
              <a:t>도구 약관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·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초상권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·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상표를 확인하고 사용한다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.</a:t>
            </a:r>
            <a:endParaRPr lang="ko-KR" altLang="en-US" sz="1400">
              <a:solidFill>
                <a:srgbClr val="576176"/>
              </a:solidFill>
              <a:latin typeface="Pretendard"/>
            </a:endParaRPr>
          </a:p>
        </p:txBody>
      </p:sp>
      <p:sp>
        <p:nvSpPr>
          <p:cNvPr id="4" name="PageNumber">
            <a:extLst>
              <a:ext uri="{FF2B5EF4-FFF2-40B4-BE49-F238E27FC236}">
                <a16:creationId xmlns:a16="http://schemas.microsoft.com/office/drawing/2014/main" id="{D2FDA3D4-8407-894E-BC70-7500CA892421}"/>
              </a:ext>
            </a:extLst>
          </p:cNvPr>
          <p:cNvSpPr txBox="1"/>
          <p:nvPr/>
        </p:nvSpPr>
        <p:spPr>
          <a:xfrm>
            <a:off x="9499600" y="6489700"/>
            <a:ext cx="23368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r"/>
            <a:r>
              <a:rPr lang="en-US" altLang="ko-KR" sz="1200">
                <a:solidFill>
                  <a:srgbClr val="576176"/>
                </a:solidFill>
                <a:latin typeface="Pretendard"/>
              </a:rPr>
              <a:t>- 72/144 -</a:t>
            </a:r>
            <a:endParaRPr lang="ko-KR" altLang="en-US" sz="1200">
              <a:solidFill>
                <a:srgbClr val="576176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271844437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실습 프롬프트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홍보 배너 이미지 프롬프트(영문 예시)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874519"/>
            <a:ext cx="10332720" cy="4434840"/>
          </a:xfrm>
          <a:prstGeom prst="rect">
            <a:avLst/>
          </a:prstGeom>
          <a:solidFill>
            <a:srgbClr val="10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11480" tIns="502920" rIns="365760" bIns="320040" rtlCol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minimal product banner background for a craft non-alcoholic beer,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soft studio side-light, warm amber + deep navy palette,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clean negative space on the left for text, 16:9,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--no text, logo, real people, neon, watermark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</a:pPr>
            <a:endParaRPr lang="en-US" dirty="0">
              <a:solidFill>
                <a:srgbClr val="8893A8"/>
              </a:solidFill>
              <a:latin typeface="JetBrains Mono"/>
              <a:ea typeface="JetBrains Mono"/>
              <a:cs typeface="JetBrains Mono"/>
            </a:endParaRP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</a:pPr>
            <a:r>
              <a:rPr dirty="0">
                <a:solidFill>
                  <a:srgbClr val="8893A8"/>
                </a:solidFill>
                <a:latin typeface="JetBrains Mono"/>
                <a:ea typeface="JetBrains Mono"/>
                <a:cs typeface="JetBrains Mono"/>
              </a:rPr>
              <a:t># 변형 — 인스타 스토리 세로형 (9:16)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minimal vertical key visual for a craft non-alcoholic beer,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top-down flat lay, warm amber + deep navy, soft grain, 9:16,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generous space at top for a one-line headline,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--no text, logo, real people, watermark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" y="2103120"/>
            <a:ext cx="109728" cy="10972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1D6DADA1-AE4C-68BE-27B7-FB3AD80C71C6}"/>
              </a:ext>
            </a:extLst>
          </p:cNvPr>
          <p:cNvGrpSpPr/>
          <p:nvPr/>
        </p:nvGrpSpPr>
        <p:grpSpPr>
          <a:xfrm>
            <a:off x="8399107" y="3846905"/>
            <a:ext cx="2493450" cy="2285159"/>
            <a:chOff x="17449800" y="7213600"/>
            <a:chExt cx="6146800" cy="5486400"/>
          </a:xfrm>
        </p:grpSpPr>
        <p:pic>
          <p:nvPicPr>
            <p:cNvPr id="7" name="Picture 9">
              <a:extLst>
                <a:ext uri="{FF2B5EF4-FFF2-40B4-BE49-F238E27FC236}">
                  <a16:creationId xmlns:a16="http://schemas.microsoft.com/office/drawing/2014/main" id="{A40D9AAC-75B8-1F1B-4EEB-F5CC32E649D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653000" y="8851900"/>
              <a:ext cx="1739900" cy="774700"/>
            </a:xfrm>
            <a:prstGeom prst="rect">
              <a:avLst/>
            </a:prstGeom>
          </p:spPr>
        </p:pic>
        <p:sp>
          <p:nvSpPr>
            <p:cNvPr id="8" name="TextBox 10">
              <a:extLst>
                <a:ext uri="{FF2B5EF4-FFF2-40B4-BE49-F238E27FC236}">
                  <a16:creationId xmlns:a16="http://schemas.microsoft.com/office/drawing/2014/main" id="{0470FCED-016D-9778-93C3-C93546FBF8CF}"/>
                </a:ext>
              </a:extLst>
            </p:cNvPr>
            <p:cNvSpPr txBox="1"/>
            <p:nvPr/>
          </p:nvSpPr>
          <p:spPr>
            <a:xfrm>
              <a:off x="17449800" y="8991600"/>
              <a:ext cx="1930400" cy="571500"/>
            </a:xfrm>
            <a:prstGeom prst="rect">
              <a:avLst/>
            </a:prstGeom>
          </p:spPr>
          <p:txBody>
            <a:bodyPr lIns="0" tIns="40640" rIns="0" bIns="4064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2400" b="0" i="0" u="none" strike="noStrike" spc="-100" dirty="0">
                  <a:solidFill>
                    <a:srgbClr val="000000"/>
                  </a:solidFill>
                  <a:latin typeface="SB AggroOTF Bold"/>
                  <a:ea typeface="SB AggroOTF Bold"/>
                  <a:cs typeface="SB AggroOTF Bold"/>
                </a:rPr>
                <a:t>oh!</a:t>
              </a:r>
            </a:p>
          </p:txBody>
        </p:sp>
        <p:pic>
          <p:nvPicPr>
            <p:cNvPr id="9" name="Picture 27">
              <a:extLst>
                <a:ext uri="{FF2B5EF4-FFF2-40B4-BE49-F238E27FC236}">
                  <a16:creationId xmlns:a16="http://schemas.microsoft.com/office/drawing/2014/main" id="{EB2C445B-F649-10D2-DB3B-1A71C8BF998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834100" y="7213600"/>
              <a:ext cx="4762500" cy="5486400"/>
            </a:xfrm>
            <a:prstGeom prst="rect">
              <a:avLst/>
            </a:prstGeom>
          </p:spPr>
        </p:pic>
      </p:grpSp>
      <p:sp>
        <p:nvSpPr>
          <p:cNvPr id="10" name="PageNumber">
            <a:extLst>
              <a:ext uri="{FF2B5EF4-FFF2-40B4-BE49-F238E27FC236}">
                <a16:creationId xmlns:a16="http://schemas.microsoft.com/office/drawing/2014/main" id="{22779818-544A-4F41-980F-E4B1553A16CA}"/>
              </a:ext>
            </a:extLst>
          </p:cNvPr>
          <p:cNvSpPr txBox="1"/>
          <p:nvPr/>
        </p:nvSpPr>
        <p:spPr>
          <a:xfrm>
            <a:off x="9499600" y="6489700"/>
            <a:ext cx="23368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r"/>
            <a:r>
              <a:rPr lang="en-US" altLang="ko-KR" sz="1200">
                <a:solidFill>
                  <a:srgbClr val="576176"/>
                </a:solidFill>
                <a:latin typeface="Pretendard"/>
              </a:rPr>
              <a:t>- 73/144 -</a:t>
            </a:r>
            <a:endParaRPr lang="ko-KR" altLang="en-US" sz="1200">
              <a:solidFill>
                <a:srgbClr val="576176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194856944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실제 입력 → 출력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실제 예시 — 배너 이미지 프롬프트(영문)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783080"/>
            <a:ext cx="10332720" cy="1874519"/>
          </a:xfrm>
          <a:prstGeom prst="rect">
            <a:avLst/>
          </a:prstGeom>
          <a:solidFill>
            <a:srgbClr val="10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502920" rIns="320040" rtlCol="0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minimal product banner for a craft non-alcoholic beer "Night Off",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soft studio side-light, warm amber + deep navy palette,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clean negative space on the left for text, 16:9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--no text, logo, real people, neon, watermark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783080"/>
            <a:ext cx="2011680" cy="329184"/>
          </a:xfrm>
          <a:prstGeom prst="rect">
            <a:avLst/>
          </a:prstGeom>
          <a:solidFill>
            <a:srgbClr val="243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400"/>
              </a:spcAft>
            </a:pPr>
            <a:r>
              <a:rPr sz="1400" b="0">
                <a:solidFill>
                  <a:srgbClr val="E8A33D"/>
                </a:solidFill>
                <a:latin typeface="JetBrains Mono"/>
                <a:ea typeface="JetBrains Mono"/>
                <a:cs typeface="JetBrains Mono"/>
              </a:rPr>
              <a:t>▸ 입력 프롬프트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794760"/>
            <a:ext cx="10332720" cy="2514600"/>
          </a:xfrm>
          <a:prstGeom prst="rect">
            <a:avLst/>
          </a:prstGeom>
          <a:solidFill>
            <a:srgbClr val="FBFCFE"/>
          </a:solidFill>
          <a:ln w="12700">
            <a:solidFill>
              <a:srgbClr val="E9EC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502920" rIns="320040" rtlCol="0" anchor="t"/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100"/>
              </a:spcAft>
            </a:pPr>
            <a:r>
              <a:rPr sz="140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결과</a:t>
            </a:r>
            <a:r>
              <a:rPr sz="140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(</a:t>
            </a:r>
            <a:r>
              <a:rPr sz="140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기대</a:t>
            </a:r>
            <a:r>
              <a:rPr sz="140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): </a:t>
            </a:r>
            <a:r>
              <a:rPr sz="140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좌측</a:t>
            </a:r>
            <a:r>
              <a:rPr sz="140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 1/3이 </a:t>
            </a:r>
            <a:r>
              <a:rPr sz="140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비어</a:t>
            </a:r>
            <a:r>
              <a:rPr sz="140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헤드라인</a:t>
            </a:r>
            <a:r>
              <a:rPr sz="140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얹기</a:t>
            </a:r>
            <a:r>
              <a:rPr sz="140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좋은</a:t>
            </a:r>
            <a:r>
              <a:rPr sz="140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배너</a:t>
            </a:r>
            <a:r>
              <a:rPr sz="140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.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100"/>
              </a:spcAft>
            </a:pPr>
            <a:r>
              <a:rPr sz="140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호박빛</a:t>
            </a:r>
            <a:r>
              <a:rPr sz="140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조명</a:t>
            </a:r>
            <a:r>
              <a:rPr sz="140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아래</a:t>
            </a:r>
            <a:r>
              <a:rPr sz="140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캔이</a:t>
            </a:r>
            <a:r>
              <a:rPr sz="140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중앙</a:t>
            </a:r>
            <a:r>
              <a:rPr sz="140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sz="140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짙은</a:t>
            </a:r>
            <a:r>
              <a:rPr sz="140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남색</a:t>
            </a:r>
            <a:r>
              <a:rPr sz="140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배경</a:t>
            </a:r>
            <a:r>
              <a:rPr sz="140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sz="140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글자·로고</a:t>
            </a:r>
            <a:r>
              <a:rPr sz="140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없이</a:t>
            </a:r>
            <a:r>
              <a:rPr sz="140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깔끔</a:t>
            </a:r>
            <a:r>
              <a:rPr sz="140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.</a:t>
            </a:r>
            <a:endParaRPr lang="en-US" sz="1400" dirty="0">
              <a:solidFill>
                <a:srgbClr val="14213D"/>
              </a:solidFill>
              <a:latin typeface="Pretendard"/>
              <a:ea typeface="Pretendard"/>
              <a:cs typeface="Pretendard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100"/>
              </a:spcAft>
            </a:pPr>
            <a:endParaRPr sz="1400" dirty="0">
              <a:solidFill>
                <a:srgbClr val="14213D"/>
              </a:solidFill>
              <a:latin typeface="Pretendard"/>
              <a:ea typeface="Pretendard"/>
              <a:cs typeface="Pretendard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100"/>
              </a:spcAft>
            </a:pPr>
            <a:r>
              <a:rPr sz="1400" dirty="0">
                <a:solidFill>
                  <a:srgbClr val="1D4E89"/>
                </a:solidFill>
                <a:latin typeface="Pretendard"/>
                <a:ea typeface="Pretendard"/>
                <a:cs typeface="Pretendard"/>
              </a:rPr>
              <a:t>→ </a:t>
            </a:r>
            <a:r>
              <a:rPr sz="1400" dirty="0" err="1">
                <a:solidFill>
                  <a:srgbClr val="1D4E89"/>
                </a:solidFill>
                <a:latin typeface="Pretendard"/>
                <a:ea typeface="Pretendard"/>
                <a:cs typeface="Pretendard"/>
              </a:rPr>
              <a:t>Canva로</a:t>
            </a:r>
            <a:r>
              <a:rPr sz="1400" dirty="0">
                <a:solidFill>
                  <a:srgbClr val="1D4E8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solidFill>
                  <a:srgbClr val="1D4E89"/>
                </a:solidFill>
                <a:latin typeface="Pretendard"/>
                <a:ea typeface="Pretendard"/>
                <a:cs typeface="Pretendard"/>
              </a:rPr>
              <a:t>가져가</a:t>
            </a:r>
            <a:r>
              <a:rPr sz="1400" dirty="0">
                <a:solidFill>
                  <a:srgbClr val="1D4E89"/>
                </a:solidFill>
                <a:latin typeface="Pretendard"/>
                <a:ea typeface="Pretendard"/>
                <a:cs typeface="Pretendard"/>
              </a:rPr>
              <a:t> M2 </a:t>
            </a:r>
            <a:r>
              <a:rPr sz="1400" dirty="0" err="1">
                <a:solidFill>
                  <a:srgbClr val="1D4E89"/>
                </a:solidFill>
                <a:latin typeface="Pretendard"/>
                <a:ea typeface="Pretendard"/>
                <a:cs typeface="Pretendard"/>
              </a:rPr>
              <a:t>헤드라인</a:t>
            </a:r>
            <a:r>
              <a:rPr sz="1400" dirty="0">
                <a:solidFill>
                  <a:srgbClr val="1D4E89"/>
                </a:solidFill>
                <a:latin typeface="Pretendard"/>
                <a:ea typeface="Pretendard"/>
                <a:cs typeface="Pretendard"/>
              </a:rPr>
              <a:t> "</a:t>
            </a:r>
            <a:r>
              <a:rPr sz="1400" dirty="0" err="1">
                <a:solidFill>
                  <a:srgbClr val="1D4E89"/>
                </a:solidFill>
                <a:latin typeface="Pretendard"/>
                <a:ea typeface="Pretendard"/>
                <a:cs typeface="Pretendard"/>
              </a:rPr>
              <a:t>오늘</a:t>
            </a:r>
            <a:r>
              <a:rPr sz="1400" dirty="0">
                <a:solidFill>
                  <a:srgbClr val="1D4E8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solidFill>
                  <a:srgbClr val="1D4E89"/>
                </a:solidFill>
                <a:latin typeface="Pretendard"/>
                <a:ea typeface="Pretendard"/>
                <a:cs typeface="Pretendard"/>
              </a:rPr>
              <a:t>밤은</a:t>
            </a:r>
            <a:r>
              <a:rPr sz="1400" dirty="0">
                <a:solidFill>
                  <a:srgbClr val="1D4E8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solidFill>
                  <a:srgbClr val="1D4E89"/>
                </a:solidFill>
                <a:latin typeface="Pretendard"/>
                <a:ea typeface="Pretendard"/>
                <a:cs typeface="Pretendard"/>
              </a:rPr>
              <a:t>즐기고</a:t>
            </a:r>
            <a:r>
              <a:rPr sz="1400" dirty="0">
                <a:solidFill>
                  <a:srgbClr val="1D4E89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sz="1400" dirty="0" err="1">
                <a:solidFill>
                  <a:srgbClr val="1D4E89"/>
                </a:solidFill>
                <a:latin typeface="Pretendard"/>
                <a:ea typeface="Pretendard"/>
                <a:cs typeface="Pretendard"/>
              </a:rPr>
              <a:t>내일은</a:t>
            </a:r>
            <a:r>
              <a:rPr sz="1400" dirty="0">
                <a:solidFill>
                  <a:srgbClr val="1D4E8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solidFill>
                  <a:srgbClr val="1D4E89"/>
                </a:solidFill>
                <a:latin typeface="Pretendard"/>
                <a:ea typeface="Pretendard"/>
                <a:cs typeface="Pretendard"/>
              </a:rPr>
              <a:t>멀쩡하게"를</a:t>
            </a:r>
            <a:r>
              <a:rPr sz="1400" dirty="0">
                <a:solidFill>
                  <a:srgbClr val="1D4E8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solidFill>
                  <a:srgbClr val="1D4E89"/>
                </a:solidFill>
                <a:latin typeface="Pretendard"/>
                <a:ea typeface="Pretendard"/>
                <a:cs typeface="Pretendard"/>
              </a:rPr>
              <a:t>좌측에</a:t>
            </a:r>
            <a:r>
              <a:rPr sz="1400" dirty="0">
                <a:solidFill>
                  <a:srgbClr val="1D4E8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solidFill>
                  <a:srgbClr val="1D4E89"/>
                </a:solidFill>
                <a:latin typeface="Pretendard"/>
                <a:ea typeface="Pretendard"/>
                <a:cs typeface="Pretendard"/>
              </a:rPr>
              <a:t>얹는다</a:t>
            </a:r>
            <a:r>
              <a:rPr sz="1400" dirty="0">
                <a:solidFill>
                  <a:srgbClr val="1D4E89"/>
                </a:solidFill>
                <a:latin typeface="Pretendard"/>
                <a:ea typeface="Pretendard"/>
                <a:cs typeface="Pretendard"/>
              </a:rPr>
              <a:t>.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794760"/>
            <a:ext cx="1828800" cy="329184"/>
          </a:xfrm>
          <a:prstGeom prst="rect">
            <a:avLst/>
          </a:prstGeom>
          <a:solidFill>
            <a:srgbClr val="DCE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384048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400"/>
              </a:spcAft>
            </a:pPr>
            <a:r>
              <a:rPr sz="14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▸ 나온 결과(예)</a:t>
            </a:r>
          </a:p>
        </p:txBody>
      </p:sp>
      <p:sp>
        <p:nvSpPr>
          <p:cNvPr id="10" name="PageNumber">
            <a:extLst>
              <a:ext uri="{FF2B5EF4-FFF2-40B4-BE49-F238E27FC236}">
                <a16:creationId xmlns:a16="http://schemas.microsoft.com/office/drawing/2014/main" id="{1AC2F097-200F-9A4B-B7DB-39C6CFF1C304}"/>
              </a:ext>
            </a:extLst>
          </p:cNvPr>
          <p:cNvSpPr txBox="1"/>
          <p:nvPr/>
        </p:nvSpPr>
        <p:spPr>
          <a:xfrm>
            <a:off x="9499600" y="6489700"/>
            <a:ext cx="23368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r"/>
            <a:r>
              <a:rPr lang="en-US" altLang="ko-KR" sz="1200">
                <a:solidFill>
                  <a:srgbClr val="576176"/>
                </a:solidFill>
                <a:latin typeface="Pretendard"/>
              </a:rPr>
              <a:t>- 74/144 -</a:t>
            </a:r>
            <a:endParaRPr lang="ko-KR" altLang="en-US" sz="1200">
              <a:solidFill>
                <a:srgbClr val="576176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1532222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좋은예 VS 나쁜예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비교 — 이미지 프롬프트, 디테일이 결과를 만든다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920240"/>
            <a:ext cx="5029200" cy="4114800"/>
          </a:xfrm>
          <a:prstGeom prst="rect">
            <a:avLst/>
          </a:prstGeom>
          <a:solidFill>
            <a:srgbClr val="F7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20040" rIns="320040" rtlCol="0" anchor="t"/>
          <a:lstStyle/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1000"/>
              </a:spcAft>
            </a:pPr>
            <a:r>
              <a:rPr sz="1700" b="1">
                <a:solidFill>
                  <a:srgbClr val="A63333"/>
                </a:solidFill>
                <a:latin typeface="Noto Serif KR"/>
                <a:ea typeface="Noto Serif KR"/>
                <a:cs typeface="Noto Serif KR"/>
              </a:rPr>
              <a:t>🚫 막연한 프롬프트</a:t>
            </a:r>
          </a:p>
          <a:p>
            <a:pPr algn="l">
              <a:lnSpc>
                <a:spcPct val="13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>
                <a:solidFill>
                  <a:srgbClr val="A63333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sz="14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"맥주 광고 이미지 만들어줘"</a:t>
            </a:r>
          </a:p>
          <a:p>
            <a:pPr algn="l">
              <a:lnSpc>
                <a:spcPct val="13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>
                <a:solidFill>
                  <a:srgbClr val="A63333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sz="14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글자가 박힌 깨진 이미지, 랜덤 색감</a:t>
            </a:r>
          </a:p>
          <a:p>
            <a:pPr algn="l">
              <a:lnSpc>
                <a:spcPct val="13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>
                <a:solidFill>
                  <a:srgbClr val="A63333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sz="14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워터마크·이상한 손이 섞임</a:t>
            </a:r>
          </a:p>
        </p:txBody>
      </p:sp>
      <p:sp>
        <p:nvSpPr>
          <p:cNvPr id="5" name="Rectangle 4"/>
          <p:cNvSpPr/>
          <p:nvPr/>
        </p:nvSpPr>
        <p:spPr>
          <a:xfrm>
            <a:off x="6245352" y="1920240"/>
            <a:ext cx="5029200" cy="4114800"/>
          </a:xfrm>
          <a:prstGeom prst="rect">
            <a:avLst/>
          </a:prstGeom>
          <a:solidFill>
            <a:srgbClr val="E7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20040" rIns="320040" rtlCol="0" anchor="t"/>
          <a:lstStyle/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1000"/>
              </a:spcAft>
            </a:pPr>
            <a:r>
              <a:rPr sz="1700" b="1">
                <a:solidFill>
                  <a:srgbClr val="2C6B44"/>
                </a:solidFill>
                <a:latin typeface="Noto Serif KR"/>
                <a:ea typeface="Noto Serif KR"/>
                <a:cs typeface="Noto Serif KR"/>
              </a:rPr>
              <a:t>✅ 5요소 구조 + 금지</a:t>
            </a:r>
          </a:p>
          <a:p>
            <a:pPr algn="l">
              <a:lnSpc>
                <a:spcPct val="13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>
                <a:solidFill>
                  <a:srgbClr val="2C6B44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sz="14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피사체·스타일·조명·색·종횡비 명시</a:t>
            </a:r>
          </a:p>
          <a:p>
            <a:pPr algn="l">
              <a:lnSpc>
                <a:spcPct val="13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>
                <a:solidFill>
                  <a:srgbClr val="2C6B44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sz="14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warm amber + deep navy, 16:9, 좌측 여백</a:t>
            </a:r>
          </a:p>
          <a:p>
            <a:pPr algn="l">
              <a:lnSpc>
                <a:spcPct val="13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>
                <a:solidFill>
                  <a:srgbClr val="2C6B44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sz="14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--no text, logo, watermark 로 노이즈 제거</a:t>
            </a:r>
          </a:p>
        </p:txBody>
      </p:sp>
      <p:pic>
        <p:nvPicPr>
          <p:cNvPr id="6" name="Picture 16">
            <a:extLst>
              <a:ext uri="{FF2B5EF4-FFF2-40B4-BE49-F238E27FC236}">
                <a16:creationId xmlns:a16="http://schemas.microsoft.com/office/drawing/2014/main" id="{EEB604F1-3DB3-A9DB-0622-C41CE3F5C46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9385403" y="4161453"/>
            <a:ext cx="1758520" cy="1742958"/>
          </a:xfrm>
          <a:prstGeom prst="rect">
            <a:avLst/>
          </a:prstGeom>
        </p:spPr>
      </p:pic>
      <p:sp>
        <p:nvSpPr>
          <p:cNvPr id="7" name="PageNumber">
            <a:extLst>
              <a:ext uri="{FF2B5EF4-FFF2-40B4-BE49-F238E27FC236}">
                <a16:creationId xmlns:a16="http://schemas.microsoft.com/office/drawing/2014/main" id="{184EC248-CD9A-1D40-8013-5A7DD1EACE30}"/>
              </a:ext>
            </a:extLst>
          </p:cNvPr>
          <p:cNvSpPr txBox="1"/>
          <p:nvPr/>
        </p:nvSpPr>
        <p:spPr>
          <a:xfrm>
            <a:off x="9499600" y="6489700"/>
            <a:ext cx="23368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r"/>
            <a:r>
              <a:rPr lang="en-US" altLang="ko-KR" sz="1200">
                <a:solidFill>
                  <a:srgbClr val="576176"/>
                </a:solidFill>
                <a:latin typeface="Pretendard"/>
              </a:rPr>
              <a:t>- 75/144 -</a:t>
            </a:r>
            <a:endParaRPr lang="ko-KR" altLang="en-US" sz="1200">
              <a:solidFill>
                <a:srgbClr val="576176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1168280070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정리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배너·카드뉴스·썸네일 등 시각자료 초안 제작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920240"/>
            <a:ext cx="10332720" cy="2070100"/>
          </a:xfrm>
          <a:prstGeom prst="rect">
            <a:avLst/>
          </a:prstGeom>
          <a:solidFill>
            <a:srgbClr val="FB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228600" rIns="365760" bIns="182880" rtlCol="0" anchor="t"/>
          <a:lstStyle/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600"/>
              </a:spcAft>
            </a:pPr>
            <a:r>
              <a:rPr sz="1500" b="1" dirty="0">
                <a:solidFill>
                  <a:srgbClr val="B57A1A"/>
                </a:solidFill>
                <a:latin typeface="JetBrains Mono"/>
                <a:ea typeface="JetBrains Mono"/>
                <a:cs typeface="JetBrains Mono"/>
              </a:rPr>
              <a:t>⚠  </a:t>
            </a:r>
            <a:r>
              <a:rPr sz="1500" b="1" dirty="0" err="1">
                <a:solidFill>
                  <a:srgbClr val="B57A1A"/>
                </a:solidFill>
                <a:latin typeface="JetBrains Mono"/>
                <a:ea typeface="JetBrains Mono"/>
                <a:cs typeface="JetBrains Mono"/>
              </a:rPr>
              <a:t>흔한</a:t>
            </a:r>
            <a:r>
              <a:rPr sz="1500" b="1" dirty="0">
                <a:solidFill>
                  <a:srgbClr val="B57A1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500" b="1" dirty="0" err="1">
                <a:solidFill>
                  <a:srgbClr val="B57A1A"/>
                </a:solidFill>
                <a:latin typeface="JetBrains Mono"/>
                <a:ea typeface="JetBrains Mono"/>
                <a:cs typeface="JetBrains Mono"/>
              </a:rPr>
              <a:t>실수</a:t>
            </a:r>
            <a:endParaRPr sz="1500" b="1" dirty="0">
              <a:solidFill>
                <a:srgbClr val="B57A1A"/>
              </a:solidFill>
              <a:latin typeface="JetBrains Mono"/>
              <a:ea typeface="JetBrains Mono"/>
              <a:cs typeface="JetBrains Mono"/>
            </a:endParaRPr>
          </a:p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1" dirty="0">
                <a:solidFill>
                  <a:srgbClr val="E8A33D"/>
                </a:solidFill>
                <a:latin typeface="Pretendard"/>
                <a:ea typeface="Pretendard"/>
                <a:cs typeface="Pretendard"/>
              </a:rPr>
              <a:t>·  </a:t>
            </a:r>
            <a:r>
              <a:rPr sz="1400" b="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이미지에</a:t>
            </a:r>
            <a:r>
              <a:rPr sz="1400" b="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b="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글자를</a:t>
            </a:r>
            <a:r>
              <a:rPr sz="1400" b="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b="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생성시키면</a:t>
            </a:r>
            <a:r>
              <a:rPr sz="1400" b="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b="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깨진</a:t>
            </a:r>
            <a:r>
              <a:rPr sz="1400" b="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b="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글자가</a:t>
            </a:r>
            <a:r>
              <a:rPr sz="1400" b="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b="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나온다</a:t>
            </a:r>
            <a:r>
              <a:rPr sz="1400" b="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 → </a:t>
            </a:r>
            <a:r>
              <a:rPr sz="1400" b="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텍스트는</a:t>
            </a:r>
            <a:r>
              <a:rPr sz="1400" b="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 Canva </a:t>
            </a:r>
            <a:r>
              <a:rPr sz="1400" b="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등에서</a:t>
            </a:r>
            <a:r>
              <a:rPr sz="1400" b="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b="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얹는다</a:t>
            </a:r>
            <a:r>
              <a:rPr sz="1400" b="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.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1" dirty="0">
                <a:solidFill>
                  <a:srgbClr val="E8A33D"/>
                </a:solidFill>
                <a:latin typeface="Pretendard"/>
                <a:ea typeface="Pretendard"/>
                <a:cs typeface="Pretendard"/>
              </a:rPr>
              <a:t>·  </a:t>
            </a:r>
            <a:r>
              <a:rPr sz="1400" b="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금지요소</a:t>
            </a:r>
            <a:r>
              <a:rPr sz="1400" b="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(--no)</a:t>
            </a:r>
            <a:r>
              <a:rPr sz="1400" b="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를</a:t>
            </a:r>
            <a:r>
              <a:rPr sz="1400" b="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b="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안</a:t>
            </a:r>
            <a:r>
              <a:rPr sz="1400" b="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b="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주면</a:t>
            </a:r>
            <a:r>
              <a:rPr sz="1400" b="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b="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워터마크·이상한</a:t>
            </a:r>
            <a:r>
              <a:rPr sz="1400" b="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b="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손·로고가</a:t>
            </a:r>
            <a:r>
              <a:rPr sz="1400" b="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b="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섞인다</a:t>
            </a:r>
            <a:r>
              <a:rPr sz="1400" b="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.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1" dirty="0">
                <a:solidFill>
                  <a:srgbClr val="E8A33D"/>
                </a:solidFill>
                <a:latin typeface="Pretendard"/>
                <a:ea typeface="Pretendard"/>
                <a:cs typeface="Pretendard"/>
              </a:rPr>
              <a:t>·  </a:t>
            </a:r>
            <a:r>
              <a:rPr sz="1400" b="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종횡비를</a:t>
            </a:r>
            <a:r>
              <a:rPr sz="1400" b="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b="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안</a:t>
            </a:r>
            <a:r>
              <a:rPr sz="1400" b="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b="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맞추면</a:t>
            </a:r>
            <a:r>
              <a:rPr sz="1400" b="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b="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채널에서</a:t>
            </a:r>
            <a:r>
              <a:rPr sz="1400" b="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b="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이미지가</a:t>
            </a:r>
            <a:r>
              <a:rPr sz="1400" b="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b="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잘린다</a:t>
            </a:r>
            <a:r>
              <a:rPr sz="1400" b="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 → </a:t>
            </a:r>
            <a:r>
              <a:rPr sz="1400" b="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규격을</a:t>
            </a:r>
            <a:r>
              <a:rPr sz="1400" b="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b="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먼저</a:t>
            </a:r>
            <a:r>
              <a:rPr sz="1400" b="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b="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정한다</a:t>
            </a:r>
            <a:r>
              <a:rPr sz="1400" b="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4191000"/>
            <a:ext cx="10332720" cy="1005840"/>
          </a:xfrm>
          <a:prstGeom prst="rect">
            <a:avLst/>
          </a:prstGeom>
          <a:solidFill>
            <a:srgbClr val="DCE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201168" rIns="365760" bIns="182880" rtlCol="0" anchor="t"/>
          <a:lstStyle/>
          <a:p>
            <a:pPr algn="l">
              <a:lnSpc>
                <a:spcPct val="125000"/>
              </a:lnSpc>
              <a:spcBef>
                <a:spcPts val="600"/>
              </a:spcBef>
              <a:spcAft>
                <a:spcPts val="400"/>
              </a:spcAft>
            </a:pPr>
            <a:r>
              <a:rPr sz="1500" b="1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📦  결과물   </a:t>
            </a:r>
            <a:r>
              <a:rPr sz="1600" b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배너 또는 썸네일 1종(채널 규격 · 상업적 이용 확인).</a:t>
            </a:r>
          </a:p>
        </p:txBody>
      </p:sp>
      <p:sp>
        <p:nvSpPr>
          <p:cNvPr id="6" name="PageNumber">
            <a:extLst>
              <a:ext uri="{FF2B5EF4-FFF2-40B4-BE49-F238E27FC236}">
                <a16:creationId xmlns:a16="http://schemas.microsoft.com/office/drawing/2014/main" id="{A3BE2180-C402-FB43-B8F8-1DF960FA9B94}"/>
              </a:ext>
            </a:extLst>
          </p:cNvPr>
          <p:cNvSpPr txBox="1"/>
          <p:nvPr/>
        </p:nvSpPr>
        <p:spPr>
          <a:xfrm>
            <a:off x="9499600" y="6489700"/>
            <a:ext cx="23368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r"/>
            <a:r>
              <a:rPr lang="en-US" altLang="ko-KR" sz="1200">
                <a:solidFill>
                  <a:srgbClr val="576176"/>
                </a:solidFill>
                <a:latin typeface="Pretendard"/>
              </a:rPr>
              <a:t>- 76/144 -</a:t>
            </a:r>
            <a:endParaRPr lang="ko-KR" altLang="en-US" sz="1200">
              <a:solidFill>
                <a:srgbClr val="576176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346743712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4E8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1B667612-9CEA-4249-B326-FFA4ACBFAEF9}"/>
              </a:ext>
            </a:extLst>
          </p:cNvPr>
          <p:cNvSpPr/>
          <p:nvPr/>
        </p:nvSpPr>
        <p:spPr>
          <a:xfrm>
            <a:off x="914400" y="2336800"/>
            <a:ext cx="431800" cy="76200"/>
          </a:xfrm>
          <a:prstGeom prst="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18DBCF-1F5C-1C41-AF68-ADFD422C1209}"/>
              </a:ext>
            </a:extLst>
          </p:cNvPr>
          <p:cNvSpPr txBox="1"/>
          <p:nvPr/>
        </p:nvSpPr>
        <p:spPr>
          <a:xfrm>
            <a:off x="914400" y="2514600"/>
            <a:ext cx="5080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500" b="1">
                <a:solidFill>
                  <a:srgbClr val="E8A33D"/>
                </a:solidFill>
                <a:latin typeface="JetBrains Mono"/>
              </a:rPr>
              <a:t>SESSION 2</a:t>
            </a:r>
            <a:endParaRPr lang="ko-KR" altLang="en-US" sz="1500" b="1">
              <a:solidFill>
                <a:srgbClr val="E8A33D"/>
              </a:solidFill>
              <a:latin typeface="JetBrains Mono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341FF8-3B48-EB49-840C-239BD11E3200}"/>
              </a:ext>
            </a:extLst>
          </p:cNvPr>
          <p:cNvSpPr txBox="1"/>
          <p:nvPr/>
        </p:nvSpPr>
        <p:spPr>
          <a:xfrm>
            <a:off x="914400" y="2870200"/>
            <a:ext cx="10414000" cy="584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3200" b="1">
                <a:solidFill>
                  <a:srgbClr val="FFFFFF"/>
                </a:solidFill>
                <a:latin typeface="Noto Serif KR"/>
              </a:rPr>
              <a:t>이미지와 문구의 일관성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048579-E6A9-0149-969B-243380926BD4}"/>
              </a:ext>
            </a:extLst>
          </p:cNvPr>
          <p:cNvSpPr txBox="1"/>
          <p:nvPr/>
        </p:nvSpPr>
        <p:spPr>
          <a:xfrm>
            <a:off x="914400" y="3632200"/>
            <a:ext cx="10160000" cy="584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600">
                <a:solidFill>
                  <a:srgbClr val="DCE6F2"/>
                </a:solidFill>
                <a:latin typeface="Pretendard"/>
              </a:rPr>
              <a:t>같은 스타일 키워드를 재사용하고 동일 레이아웃을 유지해 시리즈의 톤을 통일한다</a:t>
            </a:r>
            <a:r>
              <a:rPr lang="en-US" altLang="ko-KR" sz="1600">
                <a:solidFill>
                  <a:srgbClr val="DCE6F2"/>
                </a:solidFill>
                <a:latin typeface="Pretendard"/>
              </a:rPr>
              <a:t>.</a:t>
            </a:r>
            <a:endParaRPr lang="ko-KR" altLang="en-US" sz="1600">
              <a:solidFill>
                <a:srgbClr val="DCE6F2"/>
              </a:solidFill>
              <a:latin typeface="Pretendard"/>
            </a:endParaRP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78CE0EEF-4CE7-5542-9037-5544AC5844AA}"/>
              </a:ext>
            </a:extLst>
          </p:cNvPr>
          <p:cNvSpPr/>
          <p:nvPr/>
        </p:nvSpPr>
        <p:spPr>
          <a:xfrm>
            <a:off x="914400" y="4572000"/>
            <a:ext cx="2616200" cy="838200"/>
          </a:xfrm>
          <a:prstGeom prst="roundRect">
            <a:avLst>
              <a:gd name="adj" fmla="val 3030"/>
            </a:avLst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ko-KR" altLang="en-US" sz="1550" b="1">
                <a:solidFill>
                  <a:srgbClr val="FFFFFF"/>
                </a:solidFill>
                <a:latin typeface="Pretendard"/>
              </a:rPr>
              <a:t>스타일 키워드 고정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5060717-6A6C-1C4B-91FA-494279172655}"/>
              </a:ext>
            </a:extLst>
          </p:cNvPr>
          <p:cNvSpPr txBox="1"/>
          <p:nvPr/>
        </p:nvSpPr>
        <p:spPr>
          <a:xfrm>
            <a:off x="3530600" y="4572000"/>
            <a:ext cx="558800" cy="838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ko-KR" altLang="en-US" sz="2400" b="1">
                <a:solidFill>
                  <a:srgbClr val="9FB3CE"/>
                </a:solidFill>
                <a:latin typeface="Pretendard"/>
              </a:rPr>
              <a:t>→</a:t>
            </a: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7C228DBF-3F0D-7F4B-95CB-CD4B70849242}"/>
              </a:ext>
            </a:extLst>
          </p:cNvPr>
          <p:cNvSpPr/>
          <p:nvPr/>
        </p:nvSpPr>
        <p:spPr>
          <a:xfrm>
            <a:off x="4089400" y="4572000"/>
            <a:ext cx="2616200" cy="838200"/>
          </a:xfrm>
          <a:prstGeom prst="roundRect">
            <a:avLst>
              <a:gd name="adj" fmla="val 3030"/>
            </a:avLst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ko-KR" altLang="en-US" sz="1550" b="1">
                <a:solidFill>
                  <a:srgbClr val="FFFFFF"/>
                </a:solidFill>
                <a:latin typeface="Pretendard"/>
              </a:rPr>
              <a:t>동일 레이아웃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95A1EE2-F9AB-2846-A880-37ABDB7C0135}"/>
              </a:ext>
            </a:extLst>
          </p:cNvPr>
          <p:cNvSpPr txBox="1"/>
          <p:nvPr/>
        </p:nvSpPr>
        <p:spPr>
          <a:xfrm>
            <a:off x="6705600" y="4572000"/>
            <a:ext cx="558800" cy="838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ko-KR" altLang="en-US" sz="2400" b="1">
                <a:solidFill>
                  <a:srgbClr val="9FB3CE"/>
                </a:solidFill>
                <a:latin typeface="Pretendard"/>
              </a:rPr>
              <a:t>→</a:t>
            </a:r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506815BA-6678-F44F-A556-1960B058CBA3}"/>
              </a:ext>
            </a:extLst>
          </p:cNvPr>
          <p:cNvSpPr/>
          <p:nvPr/>
        </p:nvSpPr>
        <p:spPr>
          <a:xfrm>
            <a:off x="7264400" y="4572000"/>
            <a:ext cx="2616200" cy="838200"/>
          </a:xfrm>
          <a:prstGeom prst="roundRect">
            <a:avLst>
              <a:gd name="adj" fmla="val 3030"/>
            </a:avLst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ko-KR" altLang="en-US" sz="1550" b="1">
                <a:solidFill>
                  <a:srgbClr val="14213D"/>
                </a:solidFill>
                <a:latin typeface="Pretendard"/>
              </a:rPr>
              <a:t>톤 통일 세트</a:t>
            </a:r>
          </a:p>
        </p:txBody>
      </p:sp>
      <p:pic>
        <p:nvPicPr>
          <p:cNvPr id="2" name="Picture 14">
            <a:extLst>
              <a:ext uri="{FF2B5EF4-FFF2-40B4-BE49-F238E27FC236}">
                <a16:creationId xmlns:a16="http://schemas.microsoft.com/office/drawing/2014/main" id="{1F43B6CF-B975-DFD3-1EC7-9849C5289AA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8000"/>
          </a:blip>
          <a:stretch>
            <a:fillRect/>
          </a:stretch>
        </p:blipFill>
        <p:spPr>
          <a:xfrm>
            <a:off x="5994400" y="-270910"/>
            <a:ext cx="7002780" cy="4665110"/>
          </a:xfrm>
          <a:prstGeom prst="rect">
            <a:avLst/>
          </a:prstGeom>
        </p:spPr>
      </p:pic>
      <p:sp>
        <p:nvSpPr>
          <p:cNvPr id="3" name="PageNumber">
            <a:extLst>
              <a:ext uri="{FF2B5EF4-FFF2-40B4-BE49-F238E27FC236}">
                <a16:creationId xmlns:a16="http://schemas.microsoft.com/office/drawing/2014/main" id="{3C38731C-66B3-AE4E-BBA6-A700FF0404BD}"/>
              </a:ext>
            </a:extLst>
          </p:cNvPr>
          <p:cNvSpPr txBox="1"/>
          <p:nvPr/>
        </p:nvSpPr>
        <p:spPr>
          <a:xfrm>
            <a:off x="9499600" y="6489700"/>
            <a:ext cx="23368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r"/>
            <a:r>
              <a:rPr lang="en-US" altLang="ko-KR" sz="1200">
                <a:solidFill>
                  <a:schemeClr val="bg1"/>
                </a:solidFill>
                <a:latin typeface="Pretendard"/>
              </a:rPr>
              <a:t>- 77/144 -</a:t>
            </a:r>
            <a:endParaRPr lang="ko-KR" altLang="en-US" sz="1200">
              <a:solidFill>
                <a:schemeClr val="bg1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240188960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7863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핵심 개념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톤이 일관된 시각자료의 3원칙</a:t>
            </a: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6DB58C66-F64A-E246-9B0D-303D3D4C5DE4}"/>
              </a:ext>
            </a:extLst>
          </p:cNvPr>
          <p:cNvSpPr/>
          <p:nvPr/>
        </p:nvSpPr>
        <p:spPr>
          <a:xfrm>
            <a:off x="825500" y="1905000"/>
            <a:ext cx="3340100" cy="4381500"/>
          </a:xfrm>
          <a:prstGeom prst="roundRect">
            <a:avLst>
              <a:gd name="adj" fmla="val 760"/>
            </a:avLst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45D737E-249F-6645-8F7C-8A314D51D2B6}"/>
              </a:ext>
            </a:extLst>
          </p:cNvPr>
          <p:cNvSpPr/>
          <p:nvPr/>
        </p:nvSpPr>
        <p:spPr>
          <a:xfrm>
            <a:off x="825500" y="1905000"/>
            <a:ext cx="3340100" cy="88900"/>
          </a:xfrm>
          <a:prstGeom prst="rect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008AE67E-60EC-8E40-9E47-D44AC667032F}"/>
              </a:ext>
            </a:extLst>
          </p:cNvPr>
          <p:cNvSpPr/>
          <p:nvPr/>
        </p:nvSpPr>
        <p:spPr>
          <a:xfrm>
            <a:off x="1130300" y="2286000"/>
            <a:ext cx="508000" cy="508000"/>
          </a:xfrm>
          <a:prstGeom prst="ellipse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  <a:latin typeface="JetBrains Mono"/>
              </a:rPr>
              <a:t>1</a:t>
            </a:r>
            <a:endParaRPr lang="ko-KR" altLang="en-US" sz="16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04E41B-5724-344B-9ABF-8AB4A0435823}"/>
              </a:ext>
            </a:extLst>
          </p:cNvPr>
          <p:cNvSpPr txBox="1"/>
          <p:nvPr/>
        </p:nvSpPr>
        <p:spPr>
          <a:xfrm>
            <a:off x="1130300" y="2946400"/>
            <a:ext cx="2730500" cy="584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650" b="1">
                <a:solidFill>
                  <a:srgbClr val="14213D"/>
                </a:solidFill>
                <a:latin typeface="Pretendard"/>
              </a:rPr>
              <a:t>스타일 시드 고정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FD93884-9A35-2B41-8D39-7541DD5F0B3D}"/>
              </a:ext>
            </a:extLst>
          </p:cNvPr>
          <p:cNvSpPr/>
          <p:nvPr/>
        </p:nvSpPr>
        <p:spPr>
          <a:xfrm>
            <a:off x="1130300" y="3632200"/>
            <a:ext cx="2730500" cy="12700"/>
          </a:xfrm>
          <a:prstGeom prst="rect">
            <a:avLst/>
          </a:prstGeom>
          <a:solidFill>
            <a:srgbClr val="D9E2E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EDAF33-267B-1A44-935D-348786AC79CC}"/>
              </a:ext>
            </a:extLst>
          </p:cNvPr>
          <p:cNvSpPr txBox="1"/>
          <p:nvPr/>
        </p:nvSpPr>
        <p:spPr>
          <a:xfrm>
            <a:off x="1130300" y="3784600"/>
            <a:ext cx="2730500" cy="1625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400" dirty="0">
                <a:solidFill>
                  <a:srgbClr val="576176"/>
                </a:solidFill>
                <a:latin typeface="Pretendard"/>
              </a:rPr>
              <a:t>같은 스타일 키워드</a:t>
            </a:r>
            <a:endParaRPr lang="en-US" altLang="ko-KR" sz="1400" dirty="0">
              <a:solidFill>
                <a:srgbClr val="576176"/>
              </a:solidFill>
              <a:latin typeface="Pretendard"/>
            </a:endParaRPr>
          </a:p>
          <a:p>
            <a:pPr algn="l">
              <a:lnSpc>
                <a:spcPct val="150000"/>
              </a:lnSpc>
            </a:pPr>
            <a:r>
              <a:rPr lang="en-US" altLang="ko-KR" sz="1400" dirty="0">
                <a:solidFill>
                  <a:srgbClr val="576176"/>
                </a:solidFill>
                <a:latin typeface="Pretendard"/>
              </a:rPr>
              <a:t>(</a:t>
            </a:r>
            <a:r>
              <a:rPr lang="ko-KR" altLang="en-US" sz="1400" dirty="0">
                <a:solidFill>
                  <a:srgbClr val="576176"/>
                </a:solidFill>
                <a:latin typeface="Pretendard"/>
              </a:rPr>
              <a:t>또는 </a:t>
            </a:r>
            <a:r>
              <a:rPr lang="en-US" altLang="ko-KR" sz="1400" dirty="0">
                <a:solidFill>
                  <a:srgbClr val="576176"/>
                </a:solidFill>
                <a:latin typeface="Pretendard"/>
              </a:rPr>
              <a:t>seed)</a:t>
            </a:r>
            <a:r>
              <a:rPr lang="ko-KR" altLang="en-US" sz="1400" dirty="0" err="1">
                <a:solidFill>
                  <a:srgbClr val="576176"/>
                </a:solidFill>
                <a:latin typeface="Pretendard"/>
              </a:rPr>
              <a:t>를</a:t>
            </a:r>
            <a:r>
              <a:rPr lang="ko-KR" altLang="en-US" sz="1400" dirty="0">
                <a:solidFill>
                  <a:srgbClr val="576176"/>
                </a:solidFill>
                <a:latin typeface="Pretendard"/>
              </a:rPr>
              <a:t> </a:t>
            </a:r>
            <a:endParaRPr lang="en-US" altLang="ko-KR" sz="1400" dirty="0">
              <a:solidFill>
                <a:srgbClr val="576176"/>
              </a:solidFill>
              <a:latin typeface="Pretendard"/>
            </a:endParaRPr>
          </a:p>
          <a:p>
            <a:pPr algn="l">
              <a:lnSpc>
                <a:spcPct val="150000"/>
              </a:lnSpc>
            </a:pPr>
            <a:r>
              <a:rPr lang="ko-KR" altLang="en-US" sz="1400" dirty="0">
                <a:solidFill>
                  <a:srgbClr val="576176"/>
                </a:solidFill>
                <a:latin typeface="Pretendard"/>
              </a:rPr>
              <a:t>재사용하면 </a:t>
            </a:r>
            <a:endParaRPr lang="en-US" altLang="ko-KR" sz="1400" dirty="0">
              <a:solidFill>
                <a:srgbClr val="576176"/>
              </a:solidFill>
              <a:latin typeface="Pretendard"/>
            </a:endParaRPr>
          </a:p>
          <a:p>
            <a:pPr algn="l">
              <a:lnSpc>
                <a:spcPct val="150000"/>
              </a:lnSpc>
            </a:pPr>
            <a:r>
              <a:rPr lang="ko-KR" altLang="en-US" sz="1400" dirty="0">
                <a:solidFill>
                  <a:srgbClr val="576176"/>
                </a:solidFill>
                <a:latin typeface="Pretendard"/>
              </a:rPr>
              <a:t>여러 장의 톤이 일관된다</a:t>
            </a:r>
            <a:r>
              <a:rPr lang="en-US" altLang="ko-KR" sz="1400" dirty="0">
                <a:solidFill>
                  <a:srgbClr val="576176"/>
                </a:solidFill>
                <a:latin typeface="Pretendard"/>
              </a:rPr>
              <a:t>.</a:t>
            </a:r>
            <a:endParaRPr lang="ko-KR" altLang="en-US" sz="1400" dirty="0">
              <a:solidFill>
                <a:srgbClr val="576176"/>
              </a:solidFill>
              <a:latin typeface="Pretendard"/>
            </a:endParaRP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89BD960A-D4B3-484B-AE0C-912650EFC591}"/>
              </a:ext>
            </a:extLst>
          </p:cNvPr>
          <p:cNvSpPr/>
          <p:nvPr/>
        </p:nvSpPr>
        <p:spPr>
          <a:xfrm>
            <a:off x="1130300" y="5562600"/>
            <a:ext cx="2730500" cy="457200"/>
          </a:xfrm>
          <a:prstGeom prst="roundRect">
            <a:avLst>
              <a:gd name="adj" fmla="val 5556"/>
            </a:avLst>
          </a:prstGeom>
          <a:solidFill>
            <a:srgbClr val="E7ECF4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4ECF7A4-3DF4-0344-936D-8F14A74BBCB3}"/>
              </a:ext>
            </a:extLst>
          </p:cNvPr>
          <p:cNvSpPr txBox="1"/>
          <p:nvPr/>
        </p:nvSpPr>
        <p:spPr>
          <a:xfrm>
            <a:off x="1130300" y="5562600"/>
            <a:ext cx="2730500" cy="457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ctr"/>
            <a:r>
              <a:rPr lang="ko-KR" altLang="en-US" sz="1400" b="1">
                <a:solidFill>
                  <a:srgbClr val="14213D"/>
                </a:solidFill>
                <a:latin typeface="Pretendard"/>
              </a:rPr>
              <a:t>키워드 재사용</a:t>
            </a: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4930C769-B480-B942-9E05-F2F18D1FF9D1}"/>
              </a:ext>
            </a:extLst>
          </p:cNvPr>
          <p:cNvSpPr/>
          <p:nvPr/>
        </p:nvSpPr>
        <p:spPr>
          <a:xfrm>
            <a:off x="4419600" y="1905000"/>
            <a:ext cx="3340100" cy="4381500"/>
          </a:xfrm>
          <a:prstGeom prst="roundRect">
            <a:avLst>
              <a:gd name="adj" fmla="val 760"/>
            </a:avLst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64138E5-9360-CF4D-BE50-B29542484CAA}"/>
              </a:ext>
            </a:extLst>
          </p:cNvPr>
          <p:cNvSpPr/>
          <p:nvPr/>
        </p:nvSpPr>
        <p:spPr>
          <a:xfrm>
            <a:off x="4419600" y="1905000"/>
            <a:ext cx="3340100" cy="88900"/>
          </a:xfrm>
          <a:prstGeom prst="rect">
            <a:avLst/>
          </a:prstGeom>
          <a:solidFill>
            <a:srgbClr val="1D4E89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95954590-055D-8240-92F7-64F43A0FC1C3}"/>
              </a:ext>
            </a:extLst>
          </p:cNvPr>
          <p:cNvSpPr/>
          <p:nvPr/>
        </p:nvSpPr>
        <p:spPr>
          <a:xfrm>
            <a:off x="4724400" y="2286000"/>
            <a:ext cx="508000" cy="508000"/>
          </a:xfrm>
          <a:prstGeom prst="ellipse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  <a:latin typeface="JetBrains Mono"/>
              </a:rPr>
              <a:t>2</a:t>
            </a:r>
            <a:endParaRPr lang="ko-KR" altLang="en-US" sz="16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D93A8D1-B777-8B47-B519-72DE4DA6BCA1}"/>
              </a:ext>
            </a:extLst>
          </p:cNvPr>
          <p:cNvSpPr txBox="1"/>
          <p:nvPr/>
        </p:nvSpPr>
        <p:spPr>
          <a:xfrm>
            <a:off x="4724400" y="2946400"/>
            <a:ext cx="2730500" cy="584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650" b="1">
                <a:solidFill>
                  <a:srgbClr val="14213D"/>
                </a:solidFill>
                <a:latin typeface="Pretendard"/>
              </a:rPr>
              <a:t>그리드</a:t>
            </a:r>
            <a:r>
              <a:rPr lang="en-US" altLang="ko-KR" sz="1650" b="1">
                <a:solidFill>
                  <a:srgbClr val="14213D"/>
                </a:solidFill>
                <a:latin typeface="Pretendard"/>
              </a:rPr>
              <a:t>·</a:t>
            </a:r>
            <a:r>
              <a:rPr lang="ko-KR" altLang="en-US" sz="1650" b="1">
                <a:solidFill>
                  <a:srgbClr val="14213D"/>
                </a:solidFill>
                <a:latin typeface="Pretendard"/>
              </a:rPr>
              <a:t>여백 시스템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0E7A936-75DB-BC4C-94EC-114DF344A309}"/>
              </a:ext>
            </a:extLst>
          </p:cNvPr>
          <p:cNvSpPr/>
          <p:nvPr/>
        </p:nvSpPr>
        <p:spPr>
          <a:xfrm>
            <a:off x="4724400" y="3632200"/>
            <a:ext cx="2730500" cy="12700"/>
          </a:xfrm>
          <a:prstGeom prst="rect">
            <a:avLst/>
          </a:prstGeom>
          <a:solidFill>
            <a:srgbClr val="D9E2E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CEE012F-185B-1F4A-8E61-8C47EEC7802A}"/>
              </a:ext>
            </a:extLst>
          </p:cNvPr>
          <p:cNvSpPr txBox="1"/>
          <p:nvPr/>
        </p:nvSpPr>
        <p:spPr>
          <a:xfrm>
            <a:off x="4724400" y="3784600"/>
            <a:ext cx="2730500" cy="1625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400" dirty="0">
                <a:solidFill>
                  <a:srgbClr val="576176"/>
                </a:solidFill>
                <a:latin typeface="Pretendard"/>
              </a:rPr>
              <a:t>카드마다 제목 위치</a:t>
            </a:r>
            <a:endParaRPr lang="en-US" altLang="ko-KR" sz="1400" dirty="0">
              <a:solidFill>
                <a:srgbClr val="576176"/>
              </a:solidFill>
              <a:latin typeface="Pretendard"/>
            </a:endParaRPr>
          </a:p>
          <a:p>
            <a:pPr algn="l">
              <a:lnSpc>
                <a:spcPct val="150000"/>
              </a:lnSpc>
            </a:pPr>
            <a:r>
              <a:rPr lang="en-US" altLang="ko-KR" sz="1400" dirty="0">
                <a:solidFill>
                  <a:srgbClr val="576176"/>
                </a:solidFill>
                <a:latin typeface="Pretendard"/>
              </a:rPr>
              <a:t>·</a:t>
            </a:r>
            <a:r>
              <a:rPr lang="ko-KR" altLang="en-US" sz="1400" dirty="0">
                <a:solidFill>
                  <a:srgbClr val="576176"/>
                </a:solidFill>
                <a:latin typeface="Pretendard"/>
              </a:rPr>
              <a:t>여백</a:t>
            </a:r>
            <a:r>
              <a:rPr lang="en-US" altLang="ko-KR" sz="1400" dirty="0">
                <a:solidFill>
                  <a:srgbClr val="576176"/>
                </a:solidFill>
                <a:latin typeface="Pretendard"/>
              </a:rPr>
              <a:t>·</a:t>
            </a:r>
            <a:r>
              <a:rPr lang="ko-KR" altLang="en-US" sz="1400" dirty="0">
                <a:solidFill>
                  <a:srgbClr val="576176"/>
                </a:solidFill>
                <a:latin typeface="Pretendard"/>
              </a:rPr>
              <a:t>폰트를 고정해 </a:t>
            </a:r>
            <a:endParaRPr lang="en-US" altLang="ko-KR" sz="1400" dirty="0">
              <a:solidFill>
                <a:srgbClr val="576176"/>
              </a:solidFill>
              <a:latin typeface="Pretendard"/>
            </a:endParaRPr>
          </a:p>
          <a:p>
            <a:pPr algn="l">
              <a:lnSpc>
                <a:spcPct val="150000"/>
              </a:lnSpc>
            </a:pPr>
            <a:r>
              <a:rPr lang="ko-KR" altLang="en-US" sz="1400" dirty="0">
                <a:solidFill>
                  <a:srgbClr val="576176"/>
                </a:solidFill>
                <a:latin typeface="Pretendard"/>
              </a:rPr>
              <a:t>한 시리즈처럼 보이게 한다</a:t>
            </a:r>
            <a:r>
              <a:rPr lang="en-US" altLang="ko-KR" sz="1400" dirty="0">
                <a:solidFill>
                  <a:srgbClr val="576176"/>
                </a:solidFill>
                <a:latin typeface="Pretendard"/>
              </a:rPr>
              <a:t>.</a:t>
            </a:r>
            <a:endParaRPr lang="ko-KR" altLang="en-US" sz="1400" dirty="0">
              <a:solidFill>
                <a:srgbClr val="576176"/>
              </a:solidFill>
              <a:latin typeface="Pretendard"/>
            </a:endParaRP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5889187B-21E7-5041-8CEA-E07837965481}"/>
              </a:ext>
            </a:extLst>
          </p:cNvPr>
          <p:cNvSpPr/>
          <p:nvPr/>
        </p:nvSpPr>
        <p:spPr>
          <a:xfrm>
            <a:off x="4724400" y="5562600"/>
            <a:ext cx="2730500" cy="457200"/>
          </a:xfrm>
          <a:prstGeom prst="roundRect">
            <a:avLst>
              <a:gd name="adj" fmla="val 5556"/>
            </a:avLst>
          </a:prstGeom>
          <a:solidFill>
            <a:srgbClr val="E4ECF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FD8CF74-145F-C944-8CB0-ECFB7F75862E}"/>
              </a:ext>
            </a:extLst>
          </p:cNvPr>
          <p:cNvSpPr txBox="1"/>
          <p:nvPr/>
        </p:nvSpPr>
        <p:spPr>
          <a:xfrm>
            <a:off x="4724400" y="5562600"/>
            <a:ext cx="2730500" cy="457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ctr"/>
            <a:r>
              <a:rPr lang="ko-KR" altLang="en-US" sz="1400" b="1">
                <a:solidFill>
                  <a:srgbClr val="1D4E89"/>
                </a:solidFill>
                <a:latin typeface="Pretendard"/>
              </a:rPr>
              <a:t>레이아웃 고정</a:t>
            </a:r>
          </a:p>
        </p:txBody>
      </p:sp>
      <p:sp>
        <p:nvSpPr>
          <p:cNvPr id="21" name="모서리가 둥근 직사각형 20">
            <a:extLst>
              <a:ext uri="{FF2B5EF4-FFF2-40B4-BE49-F238E27FC236}">
                <a16:creationId xmlns:a16="http://schemas.microsoft.com/office/drawing/2014/main" id="{312C8EA6-1432-554D-8236-90995406FB9A}"/>
              </a:ext>
            </a:extLst>
          </p:cNvPr>
          <p:cNvSpPr/>
          <p:nvPr/>
        </p:nvSpPr>
        <p:spPr>
          <a:xfrm>
            <a:off x="8013700" y="1905000"/>
            <a:ext cx="3340100" cy="4381500"/>
          </a:xfrm>
          <a:prstGeom prst="roundRect">
            <a:avLst>
              <a:gd name="adj" fmla="val 760"/>
            </a:avLst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9E1E3695-DA2E-F94B-9FA3-FDBD0AB9F972}"/>
              </a:ext>
            </a:extLst>
          </p:cNvPr>
          <p:cNvSpPr/>
          <p:nvPr/>
        </p:nvSpPr>
        <p:spPr>
          <a:xfrm>
            <a:off x="8013700" y="1905000"/>
            <a:ext cx="3340100" cy="88900"/>
          </a:xfrm>
          <a:prstGeom prst="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E0BE696E-BFF6-464E-AA2C-BA290B8135D7}"/>
              </a:ext>
            </a:extLst>
          </p:cNvPr>
          <p:cNvSpPr/>
          <p:nvPr/>
        </p:nvSpPr>
        <p:spPr>
          <a:xfrm>
            <a:off x="8318500" y="2286000"/>
            <a:ext cx="508000" cy="508000"/>
          </a:xfrm>
          <a:prstGeom prst="ellipse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  <a:latin typeface="JetBrains Mono"/>
              </a:rPr>
              <a:t>3</a:t>
            </a:r>
            <a:endParaRPr lang="ko-KR" altLang="en-US" sz="16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0BA15A8-D8BA-974E-8C4B-95F4021AB2B8}"/>
              </a:ext>
            </a:extLst>
          </p:cNvPr>
          <p:cNvSpPr txBox="1"/>
          <p:nvPr/>
        </p:nvSpPr>
        <p:spPr>
          <a:xfrm>
            <a:off x="8318500" y="2946400"/>
            <a:ext cx="2730500" cy="584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650" b="1">
                <a:solidFill>
                  <a:srgbClr val="14213D"/>
                </a:solidFill>
                <a:latin typeface="Pretendard"/>
              </a:rPr>
              <a:t>문구</a:t>
            </a:r>
            <a:r>
              <a:rPr lang="en-US" altLang="ko-KR" sz="1650" b="1">
                <a:solidFill>
                  <a:srgbClr val="14213D"/>
                </a:solidFill>
                <a:latin typeface="Pretendard"/>
              </a:rPr>
              <a:t>–</a:t>
            </a:r>
            <a:r>
              <a:rPr lang="ko-KR" altLang="en-US" sz="1650" b="1">
                <a:solidFill>
                  <a:srgbClr val="14213D"/>
                </a:solidFill>
                <a:latin typeface="Pretendard"/>
              </a:rPr>
              <a:t>비주얼 정합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6743D9B7-0A08-4E40-96BC-7EC8DD283D7F}"/>
              </a:ext>
            </a:extLst>
          </p:cNvPr>
          <p:cNvSpPr/>
          <p:nvPr/>
        </p:nvSpPr>
        <p:spPr>
          <a:xfrm>
            <a:off x="8318500" y="3632200"/>
            <a:ext cx="2730500" cy="12700"/>
          </a:xfrm>
          <a:prstGeom prst="rect">
            <a:avLst/>
          </a:prstGeom>
          <a:solidFill>
            <a:srgbClr val="D9E2E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B611E5D-3655-1841-9334-A91BC2D043E7}"/>
              </a:ext>
            </a:extLst>
          </p:cNvPr>
          <p:cNvSpPr txBox="1"/>
          <p:nvPr/>
        </p:nvSpPr>
        <p:spPr>
          <a:xfrm>
            <a:off x="8318500" y="3784600"/>
            <a:ext cx="2730500" cy="1625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altLang="ko-KR" sz="1400" dirty="0">
                <a:solidFill>
                  <a:srgbClr val="576176"/>
                </a:solidFill>
                <a:latin typeface="Pretendard"/>
              </a:rPr>
              <a:t>M3 </a:t>
            </a:r>
            <a:r>
              <a:rPr lang="ko-KR" altLang="en-US" sz="1400" dirty="0">
                <a:solidFill>
                  <a:srgbClr val="576176"/>
                </a:solidFill>
                <a:latin typeface="Pretendard"/>
              </a:rPr>
              <a:t>카드뉴스 문구를 </a:t>
            </a:r>
            <a:endParaRPr lang="en-US" altLang="ko-KR" sz="1400" dirty="0">
              <a:solidFill>
                <a:srgbClr val="576176"/>
              </a:solidFill>
              <a:latin typeface="Pretendard"/>
            </a:endParaRPr>
          </a:p>
          <a:p>
            <a:pPr algn="l">
              <a:lnSpc>
                <a:spcPct val="150000"/>
              </a:lnSpc>
            </a:pPr>
            <a:r>
              <a:rPr lang="ko-KR" altLang="en-US" sz="1400" dirty="0">
                <a:solidFill>
                  <a:srgbClr val="576176"/>
                </a:solidFill>
                <a:latin typeface="Pretendard"/>
              </a:rPr>
              <a:t>그대로 얹어 메시지와 </a:t>
            </a:r>
            <a:endParaRPr lang="en-US" altLang="ko-KR" sz="1400" dirty="0">
              <a:solidFill>
                <a:srgbClr val="576176"/>
              </a:solidFill>
              <a:latin typeface="Pretendard"/>
            </a:endParaRPr>
          </a:p>
          <a:p>
            <a:pPr algn="l">
              <a:lnSpc>
                <a:spcPct val="150000"/>
              </a:lnSpc>
            </a:pPr>
            <a:r>
              <a:rPr lang="ko-KR" altLang="en-US" sz="1400" dirty="0">
                <a:solidFill>
                  <a:srgbClr val="576176"/>
                </a:solidFill>
                <a:latin typeface="Pretendard"/>
              </a:rPr>
              <a:t>이미지가 따로 놀지 않게 한다</a:t>
            </a:r>
            <a:r>
              <a:rPr lang="en-US" altLang="ko-KR" sz="1400" dirty="0">
                <a:solidFill>
                  <a:srgbClr val="576176"/>
                </a:solidFill>
                <a:latin typeface="Pretendard"/>
              </a:rPr>
              <a:t>.</a:t>
            </a:r>
            <a:endParaRPr lang="ko-KR" altLang="en-US" sz="1400" dirty="0">
              <a:solidFill>
                <a:srgbClr val="576176"/>
              </a:solidFill>
              <a:latin typeface="Pretendard"/>
            </a:endParaRPr>
          </a:p>
        </p:txBody>
      </p:sp>
      <p:sp>
        <p:nvSpPr>
          <p:cNvPr id="27" name="모서리가 둥근 직사각형 26">
            <a:extLst>
              <a:ext uri="{FF2B5EF4-FFF2-40B4-BE49-F238E27FC236}">
                <a16:creationId xmlns:a16="http://schemas.microsoft.com/office/drawing/2014/main" id="{63776182-1896-364C-861D-B103E7324093}"/>
              </a:ext>
            </a:extLst>
          </p:cNvPr>
          <p:cNvSpPr/>
          <p:nvPr/>
        </p:nvSpPr>
        <p:spPr>
          <a:xfrm>
            <a:off x="8318500" y="5562600"/>
            <a:ext cx="2730500" cy="457200"/>
          </a:xfrm>
          <a:prstGeom prst="roundRect">
            <a:avLst>
              <a:gd name="adj" fmla="val 5556"/>
            </a:avLst>
          </a:prstGeom>
          <a:solidFill>
            <a:srgbClr val="FBEF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A4F85A9-A24F-484A-9E32-4C39BBAD7D22}"/>
              </a:ext>
            </a:extLst>
          </p:cNvPr>
          <p:cNvSpPr txBox="1"/>
          <p:nvPr/>
        </p:nvSpPr>
        <p:spPr>
          <a:xfrm>
            <a:off x="8318500" y="5562600"/>
            <a:ext cx="2730500" cy="457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ctr"/>
            <a:r>
              <a:rPr lang="ko-KR" altLang="en-US" sz="1400" b="1">
                <a:solidFill>
                  <a:srgbClr val="9A6B12"/>
                </a:solidFill>
                <a:latin typeface="Pretendard"/>
              </a:rPr>
              <a:t>문구 </a:t>
            </a:r>
            <a:r>
              <a:rPr lang="en-US" altLang="ko-KR" sz="1400" b="1">
                <a:solidFill>
                  <a:srgbClr val="9A6B12"/>
                </a:solidFill>
                <a:latin typeface="Pretendard"/>
              </a:rPr>
              <a:t>= </a:t>
            </a:r>
            <a:r>
              <a:rPr lang="ko-KR" altLang="en-US" sz="1400" b="1">
                <a:solidFill>
                  <a:srgbClr val="9A6B12"/>
                </a:solidFill>
                <a:latin typeface="Pretendard"/>
              </a:rPr>
              <a:t>비주얼</a:t>
            </a:r>
          </a:p>
        </p:txBody>
      </p:sp>
      <p:sp>
        <p:nvSpPr>
          <p:cNvPr id="4" name="PageNumber">
            <a:extLst>
              <a:ext uri="{FF2B5EF4-FFF2-40B4-BE49-F238E27FC236}">
                <a16:creationId xmlns:a16="http://schemas.microsoft.com/office/drawing/2014/main" id="{7D13BF42-E31A-4D42-A242-F3F0594E8FAB}"/>
              </a:ext>
            </a:extLst>
          </p:cNvPr>
          <p:cNvSpPr txBox="1"/>
          <p:nvPr/>
        </p:nvSpPr>
        <p:spPr>
          <a:xfrm>
            <a:off x="9499600" y="6489700"/>
            <a:ext cx="23368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r"/>
            <a:r>
              <a:rPr lang="en-US" altLang="ko-KR" sz="1200">
                <a:solidFill>
                  <a:srgbClr val="576176"/>
                </a:solidFill>
                <a:latin typeface="Pretendard"/>
              </a:rPr>
              <a:t>- 78/144 -</a:t>
            </a:r>
            <a:endParaRPr lang="ko-KR" altLang="en-US" sz="1200">
              <a:solidFill>
                <a:srgbClr val="576176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1417704258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개념 깊이 보기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개념을 예시로 — 우리 케이스에 적용하면</a:t>
            </a: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456E4D69-542B-A54B-81CE-FFB0A2B51A8E}"/>
              </a:ext>
            </a:extLst>
          </p:cNvPr>
          <p:cNvSpPr/>
          <p:nvPr/>
        </p:nvSpPr>
        <p:spPr>
          <a:xfrm>
            <a:off x="825500" y="1905000"/>
            <a:ext cx="10541000" cy="1447800"/>
          </a:xfrm>
          <a:prstGeom prst="roundRect">
            <a:avLst>
              <a:gd name="adj" fmla="val 1754"/>
            </a:avLst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714F34-07A3-C349-90E8-8D59D9BE0173}"/>
              </a:ext>
            </a:extLst>
          </p:cNvPr>
          <p:cNvSpPr txBox="1"/>
          <p:nvPr/>
        </p:nvSpPr>
        <p:spPr>
          <a:xfrm>
            <a:off x="1181100" y="2159000"/>
            <a:ext cx="5461000" cy="355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b="1">
                <a:solidFill>
                  <a:srgbClr val="14213D"/>
                </a:solidFill>
                <a:latin typeface="Pretendard"/>
              </a:rPr>
              <a:t>스타일 시드 고정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17CC8F-493C-6843-929D-EEC6D04980EE}"/>
              </a:ext>
            </a:extLst>
          </p:cNvPr>
          <p:cNvSpPr txBox="1"/>
          <p:nvPr/>
        </p:nvSpPr>
        <p:spPr>
          <a:xfrm>
            <a:off x="1181100" y="2590800"/>
            <a:ext cx="5461000" cy="558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400">
                <a:solidFill>
                  <a:srgbClr val="576176"/>
                </a:solidFill>
                <a:latin typeface="Pretendard"/>
              </a:rPr>
              <a:t>카드 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1~5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장에 같은 스타일 키워드를 재사용하면 톤이 하나로 묶인다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.</a:t>
            </a:r>
            <a:endParaRPr lang="ko-KR" altLang="en-US" sz="1400">
              <a:solidFill>
                <a:srgbClr val="576176"/>
              </a:solidFill>
              <a:latin typeface="Pretendar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E5FBCE-0AA4-BC4B-9F15-9BB4F9AA8E96}"/>
              </a:ext>
            </a:extLst>
          </p:cNvPr>
          <p:cNvSpPr txBox="1"/>
          <p:nvPr/>
        </p:nvSpPr>
        <p:spPr>
          <a:xfrm>
            <a:off x="7112000" y="2159000"/>
            <a:ext cx="39624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400" b="1">
                <a:solidFill>
                  <a:srgbClr val="E8A33D"/>
                </a:solidFill>
                <a:latin typeface="JetBrains Mono"/>
              </a:rPr>
              <a:t>SEED · </a:t>
            </a:r>
            <a:r>
              <a:rPr lang="ko-KR" altLang="en-US" sz="1400" b="1">
                <a:solidFill>
                  <a:srgbClr val="E8A33D"/>
                </a:solidFill>
                <a:latin typeface="JetBrains Mono"/>
              </a:rPr>
              <a:t>재사용 키워드</a:t>
            </a: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C3237181-A8B5-DD4F-AE45-5082B83466F0}"/>
              </a:ext>
            </a:extLst>
          </p:cNvPr>
          <p:cNvSpPr/>
          <p:nvPr/>
        </p:nvSpPr>
        <p:spPr>
          <a:xfrm>
            <a:off x="7112000" y="2463800"/>
            <a:ext cx="3962400" cy="660400"/>
          </a:xfrm>
          <a:prstGeom prst="roundRect">
            <a:avLst>
              <a:gd name="adj" fmla="val 3846"/>
            </a:avLst>
          </a:prstGeom>
          <a:solidFill>
            <a:srgbClr val="E7ECF4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AA7220F-2B7F-3F45-948E-F5AE1B38E16D}"/>
              </a:ext>
            </a:extLst>
          </p:cNvPr>
          <p:cNvSpPr txBox="1"/>
          <p:nvPr/>
        </p:nvSpPr>
        <p:spPr>
          <a:xfrm>
            <a:off x="7264400" y="2463800"/>
            <a:ext cx="3657600" cy="660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altLang="ko-KR" sz="1400" b="1">
                <a:solidFill>
                  <a:srgbClr val="14213D"/>
                </a:solidFill>
                <a:latin typeface="JetBrains Mono"/>
              </a:rPr>
              <a:t>warm amber + navy, flat minimal, studio light</a:t>
            </a:r>
            <a:endParaRPr lang="ko-KR" altLang="en-US" sz="1400" b="1">
              <a:solidFill>
                <a:srgbClr val="14213D"/>
              </a:solidFill>
              <a:latin typeface="JetBrains Mono"/>
            </a:endParaRP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F2784FC5-5D07-034E-9EC2-A8E148D022BD}"/>
              </a:ext>
            </a:extLst>
          </p:cNvPr>
          <p:cNvSpPr/>
          <p:nvPr/>
        </p:nvSpPr>
        <p:spPr>
          <a:xfrm>
            <a:off x="977900" y="3657600"/>
            <a:ext cx="1905000" cy="2273300"/>
          </a:xfrm>
          <a:prstGeom prst="roundRect">
            <a:avLst>
              <a:gd name="adj" fmla="val 1333"/>
            </a:avLst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D91707C-E106-EF4A-8958-6BD5A981ACEC}"/>
              </a:ext>
            </a:extLst>
          </p:cNvPr>
          <p:cNvSpPr/>
          <p:nvPr/>
        </p:nvSpPr>
        <p:spPr>
          <a:xfrm>
            <a:off x="977900" y="3657600"/>
            <a:ext cx="1905000" cy="88900"/>
          </a:xfrm>
          <a:prstGeom prst="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15844239-0A82-BD46-9EDD-1E37FA78E14C}"/>
              </a:ext>
            </a:extLst>
          </p:cNvPr>
          <p:cNvSpPr/>
          <p:nvPr/>
        </p:nvSpPr>
        <p:spPr>
          <a:xfrm>
            <a:off x="1714500" y="4064000"/>
            <a:ext cx="431800" cy="431800"/>
          </a:xfrm>
          <a:prstGeom prst="ellipse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05E62F5-3902-3649-B1FF-5E18858BBD02}"/>
              </a:ext>
            </a:extLst>
          </p:cNvPr>
          <p:cNvSpPr txBox="1"/>
          <p:nvPr/>
        </p:nvSpPr>
        <p:spPr>
          <a:xfrm>
            <a:off x="1104900" y="4648200"/>
            <a:ext cx="1651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400" b="1">
                <a:solidFill>
                  <a:srgbClr val="FFFFFF"/>
                </a:solidFill>
                <a:latin typeface="Pretendard"/>
              </a:rPr>
              <a:t>Night Off</a:t>
            </a:r>
            <a:endParaRPr lang="ko-KR" altLang="en-US" sz="1400" b="1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62A7EA3-E5A6-A644-87BD-A661650772F8}"/>
              </a:ext>
            </a:extLst>
          </p:cNvPr>
          <p:cNvSpPr txBox="1"/>
          <p:nvPr/>
        </p:nvSpPr>
        <p:spPr>
          <a:xfrm>
            <a:off x="1104900" y="4927600"/>
            <a:ext cx="1651000" cy="203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400">
                <a:solidFill>
                  <a:srgbClr val="C9D3E2"/>
                </a:solidFill>
                <a:latin typeface="Pretendard"/>
              </a:rPr>
              <a:t>오늘 밤, 부담 없이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5E5E67-BC8B-BE4E-8C7A-1BF692D21E32}"/>
              </a:ext>
            </a:extLst>
          </p:cNvPr>
          <p:cNvSpPr txBox="1"/>
          <p:nvPr/>
        </p:nvSpPr>
        <p:spPr>
          <a:xfrm>
            <a:off x="1104900" y="5308600"/>
            <a:ext cx="1651000" cy="203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400" b="1">
                <a:solidFill>
                  <a:srgbClr val="E8A33D"/>
                </a:solidFill>
                <a:latin typeface="JetBrains Mono"/>
              </a:rPr>
              <a:t>CARD #1</a:t>
            </a:r>
            <a:endParaRPr lang="ko-KR" altLang="en-US" sz="1400" b="1">
              <a:solidFill>
                <a:srgbClr val="E8A33D"/>
              </a:solidFill>
              <a:latin typeface="JetBrains Mono"/>
            </a:endParaRPr>
          </a:p>
        </p:txBody>
      </p:sp>
      <p:sp>
        <p:nvSpPr>
          <p:cNvPr id="17" name="모서리가 둥근 직사각형 16">
            <a:extLst>
              <a:ext uri="{FF2B5EF4-FFF2-40B4-BE49-F238E27FC236}">
                <a16:creationId xmlns:a16="http://schemas.microsoft.com/office/drawing/2014/main" id="{EFF08502-B511-8F4C-96E2-BFE5C9C12099}"/>
              </a:ext>
            </a:extLst>
          </p:cNvPr>
          <p:cNvSpPr/>
          <p:nvPr/>
        </p:nvSpPr>
        <p:spPr>
          <a:xfrm>
            <a:off x="3060700" y="3657600"/>
            <a:ext cx="1905000" cy="2273300"/>
          </a:xfrm>
          <a:prstGeom prst="roundRect">
            <a:avLst>
              <a:gd name="adj" fmla="val 1333"/>
            </a:avLst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50361D2-5CC6-104E-B18A-575D1C19E34D}"/>
              </a:ext>
            </a:extLst>
          </p:cNvPr>
          <p:cNvSpPr/>
          <p:nvPr/>
        </p:nvSpPr>
        <p:spPr>
          <a:xfrm>
            <a:off x="3060700" y="3657600"/>
            <a:ext cx="1905000" cy="88900"/>
          </a:xfrm>
          <a:prstGeom prst="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4063C544-4EEA-B54E-A638-4B465723696A}"/>
              </a:ext>
            </a:extLst>
          </p:cNvPr>
          <p:cNvSpPr/>
          <p:nvPr/>
        </p:nvSpPr>
        <p:spPr>
          <a:xfrm>
            <a:off x="3797300" y="4064000"/>
            <a:ext cx="431800" cy="431800"/>
          </a:xfrm>
          <a:prstGeom prst="ellipse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A1CC0DA-0308-B347-8FF5-179111BA238F}"/>
              </a:ext>
            </a:extLst>
          </p:cNvPr>
          <p:cNvSpPr txBox="1"/>
          <p:nvPr/>
        </p:nvSpPr>
        <p:spPr>
          <a:xfrm>
            <a:off x="3187700" y="4648200"/>
            <a:ext cx="1651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400" b="1">
                <a:solidFill>
                  <a:srgbClr val="FFFFFF"/>
                </a:solidFill>
                <a:latin typeface="Pretendard"/>
              </a:rPr>
              <a:t>Night Off</a:t>
            </a:r>
            <a:endParaRPr lang="ko-KR" altLang="en-US" sz="1400" b="1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ED69547-1F19-6946-BB42-EC46AD818C46}"/>
              </a:ext>
            </a:extLst>
          </p:cNvPr>
          <p:cNvSpPr txBox="1"/>
          <p:nvPr/>
        </p:nvSpPr>
        <p:spPr>
          <a:xfrm>
            <a:off x="3187700" y="4927600"/>
            <a:ext cx="1778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400" dirty="0">
                <a:solidFill>
                  <a:srgbClr val="C9D3E2"/>
                </a:solidFill>
                <a:latin typeface="Pretendard"/>
              </a:rPr>
              <a:t>취하지 않는 </a:t>
            </a:r>
            <a:r>
              <a:rPr lang="ko-KR" altLang="en-US" sz="1400" dirty="0" err="1">
                <a:solidFill>
                  <a:srgbClr val="C9D3E2"/>
                </a:solidFill>
                <a:latin typeface="Pretendard"/>
              </a:rPr>
              <a:t>맥주맛</a:t>
            </a:r>
            <a:endParaRPr lang="ko-KR" altLang="en-US" sz="1400" dirty="0">
              <a:solidFill>
                <a:srgbClr val="C9D3E2"/>
              </a:solidFill>
              <a:latin typeface="Pretendard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63201F0-5A0B-314E-905B-1E3FEA766D30}"/>
              </a:ext>
            </a:extLst>
          </p:cNvPr>
          <p:cNvSpPr txBox="1"/>
          <p:nvPr/>
        </p:nvSpPr>
        <p:spPr>
          <a:xfrm>
            <a:off x="3187700" y="5308600"/>
            <a:ext cx="1651000" cy="203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400" b="1">
                <a:solidFill>
                  <a:srgbClr val="E8A33D"/>
                </a:solidFill>
                <a:latin typeface="JetBrains Mono"/>
              </a:rPr>
              <a:t>CARD #2</a:t>
            </a:r>
            <a:endParaRPr lang="ko-KR" altLang="en-US" sz="1400" b="1">
              <a:solidFill>
                <a:srgbClr val="E8A33D"/>
              </a:solidFill>
              <a:latin typeface="JetBrains Mono"/>
            </a:endParaRPr>
          </a:p>
        </p:txBody>
      </p:sp>
      <p:sp>
        <p:nvSpPr>
          <p:cNvPr id="23" name="모서리가 둥근 직사각형 22">
            <a:extLst>
              <a:ext uri="{FF2B5EF4-FFF2-40B4-BE49-F238E27FC236}">
                <a16:creationId xmlns:a16="http://schemas.microsoft.com/office/drawing/2014/main" id="{299CB203-23CD-444E-93B4-C88EF46A53DE}"/>
              </a:ext>
            </a:extLst>
          </p:cNvPr>
          <p:cNvSpPr/>
          <p:nvPr/>
        </p:nvSpPr>
        <p:spPr>
          <a:xfrm>
            <a:off x="5143500" y="3657600"/>
            <a:ext cx="1905000" cy="2273300"/>
          </a:xfrm>
          <a:prstGeom prst="roundRect">
            <a:avLst>
              <a:gd name="adj" fmla="val 1333"/>
            </a:avLst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2504CCBD-9C9A-6D49-9D4A-0B5174EEE385}"/>
              </a:ext>
            </a:extLst>
          </p:cNvPr>
          <p:cNvSpPr/>
          <p:nvPr/>
        </p:nvSpPr>
        <p:spPr>
          <a:xfrm>
            <a:off x="5143500" y="3657600"/>
            <a:ext cx="1905000" cy="88900"/>
          </a:xfrm>
          <a:prstGeom prst="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9386B663-AB25-4D48-B86F-F1547493D6CC}"/>
              </a:ext>
            </a:extLst>
          </p:cNvPr>
          <p:cNvSpPr/>
          <p:nvPr/>
        </p:nvSpPr>
        <p:spPr>
          <a:xfrm>
            <a:off x="5880100" y="4064000"/>
            <a:ext cx="431800" cy="431800"/>
          </a:xfrm>
          <a:prstGeom prst="ellipse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D575A59-FEDE-C940-8404-204E0107A6E1}"/>
              </a:ext>
            </a:extLst>
          </p:cNvPr>
          <p:cNvSpPr txBox="1"/>
          <p:nvPr/>
        </p:nvSpPr>
        <p:spPr>
          <a:xfrm>
            <a:off x="5270500" y="4648200"/>
            <a:ext cx="1651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400" b="1">
                <a:solidFill>
                  <a:srgbClr val="FFFFFF"/>
                </a:solidFill>
                <a:latin typeface="Pretendard"/>
              </a:rPr>
              <a:t>Night Off</a:t>
            </a:r>
            <a:endParaRPr lang="ko-KR" altLang="en-US" sz="1400" b="1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969C1AC-2BD4-B643-9FB3-9A6E5D052252}"/>
              </a:ext>
            </a:extLst>
          </p:cNvPr>
          <p:cNvSpPr txBox="1"/>
          <p:nvPr/>
        </p:nvSpPr>
        <p:spPr>
          <a:xfrm>
            <a:off x="5270500" y="4927600"/>
            <a:ext cx="1778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400" dirty="0">
                <a:solidFill>
                  <a:srgbClr val="C9D3E2"/>
                </a:solidFill>
                <a:latin typeface="Pretendard"/>
              </a:rPr>
              <a:t>내일이 가벼워요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387AFD2-F658-B64E-B51C-D25A3FE690A3}"/>
              </a:ext>
            </a:extLst>
          </p:cNvPr>
          <p:cNvSpPr txBox="1"/>
          <p:nvPr/>
        </p:nvSpPr>
        <p:spPr>
          <a:xfrm>
            <a:off x="5270500" y="5308600"/>
            <a:ext cx="1651000" cy="203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400" b="1">
                <a:solidFill>
                  <a:srgbClr val="E8A33D"/>
                </a:solidFill>
                <a:latin typeface="JetBrains Mono"/>
              </a:rPr>
              <a:t>CARD #3</a:t>
            </a:r>
            <a:endParaRPr lang="ko-KR" altLang="en-US" sz="1400" b="1">
              <a:solidFill>
                <a:srgbClr val="E8A33D"/>
              </a:solidFill>
              <a:latin typeface="JetBrains Mono"/>
            </a:endParaRPr>
          </a:p>
        </p:txBody>
      </p:sp>
      <p:sp>
        <p:nvSpPr>
          <p:cNvPr id="29" name="모서리가 둥근 직사각형 28">
            <a:extLst>
              <a:ext uri="{FF2B5EF4-FFF2-40B4-BE49-F238E27FC236}">
                <a16:creationId xmlns:a16="http://schemas.microsoft.com/office/drawing/2014/main" id="{3505A7C7-C11B-634F-8CD2-8DCCC3801491}"/>
              </a:ext>
            </a:extLst>
          </p:cNvPr>
          <p:cNvSpPr/>
          <p:nvPr/>
        </p:nvSpPr>
        <p:spPr>
          <a:xfrm>
            <a:off x="7226300" y="3657600"/>
            <a:ext cx="1905000" cy="2273300"/>
          </a:xfrm>
          <a:prstGeom prst="roundRect">
            <a:avLst>
              <a:gd name="adj" fmla="val 1333"/>
            </a:avLst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09AC252E-BE30-A840-A1D4-70331019A73D}"/>
              </a:ext>
            </a:extLst>
          </p:cNvPr>
          <p:cNvSpPr/>
          <p:nvPr/>
        </p:nvSpPr>
        <p:spPr>
          <a:xfrm>
            <a:off x="7226300" y="3657600"/>
            <a:ext cx="1905000" cy="88900"/>
          </a:xfrm>
          <a:prstGeom prst="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5D26F5F9-4A06-1D4C-B671-F4045653104C}"/>
              </a:ext>
            </a:extLst>
          </p:cNvPr>
          <p:cNvSpPr/>
          <p:nvPr/>
        </p:nvSpPr>
        <p:spPr>
          <a:xfrm>
            <a:off x="7962900" y="4064000"/>
            <a:ext cx="431800" cy="431800"/>
          </a:xfrm>
          <a:prstGeom prst="ellipse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1AA3C07-B49B-384D-BB87-D5B553024049}"/>
              </a:ext>
            </a:extLst>
          </p:cNvPr>
          <p:cNvSpPr txBox="1"/>
          <p:nvPr/>
        </p:nvSpPr>
        <p:spPr>
          <a:xfrm>
            <a:off x="7353300" y="4648200"/>
            <a:ext cx="1651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400" b="1">
                <a:solidFill>
                  <a:srgbClr val="FFFFFF"/>
                </a:solidFill>
                <a:latin typeface="Pretendard"/>
              </a:rPr>
              <a:t>Night Off</a:t>
            </a:r>
            <a:endParaRPr lang="ko-KR" altLang="en-US" sz="1400" b="1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3A17EA0-9BFA-AA4D-97F3-F368CBC1CD23}"/>
              </a:ext>
            </a:extLst>
          </p:cNvPr>
          <p:cNvSpPr txBox="1"/>
          <p:nvPr/>
        </p:nvSpPr>
        <p:spPr>
          <a:xfrm>
            <a:off x="7311260" y="4927600"/>
            <a:ext cx="1778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400" dirty="0">
                <a:solidFill>
                  <a:srgbClr val="C9D3E2"/>
                </a:solidFill>
                <a:latin typeface="Pretendard"/>
              </a:rPr>
              <a:t>운전 걱정 없이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4ED077B-6C35-BF42-A6D3-2502D148AF36}"/>
              </a:ext>
            </a:extLst>
          </p:cNvPr>
          <p:cNvSpPr txBox="1"/>
          <p:nvPr/>
        </p:nvSpPr>
        <p:spPr>
          <a:xfrm>
            <a:off x="7353300" y="5308600"/>
            <a:ext cx="1651000" cy="203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400" b="1">
                <a:solidFill>
                  <a:srgbClr val="E8A33D"/>
                </a:solidFill>
                <a:latin typeface="JetBrains Mono"/>
              </a:rPr>
              <a:t>CARD #4</a:t>
            </a:r>
            <a:endParaRPr lang="ko-KR" altLang="en-US" sz="1400" b="1">
              <a:solidFill>
                <a:srgbClr val="E8A33D"/>
              </a:solidFill>
              <a:latin typeface="JetBrains Mono"/>
            </a:endParaRPr>
          </a:p>
        </p:txBody>
      </p:sp>
      <p:sp>
        <p:nvSpPr>
          <p:cNvPr id="35" name="모서리가 둥근 직사각형 34">
            <a:extLst>
              <a:ext uri="{FF2B5EF4-FFF2-40B4-BE49-F238E27FC236}">
                <a16:creationId xmlns:a16="http://schemas.microsoft.com/office/drawing/2014/main" id="{F2F3C009-81E6-7246-A2B9-C8B062C9F2F9}"/>
              </a:ext>
            </a:extLst>
          </p:cNvPr>
          <p:cNvSpPr/>
          <p:nvPr/>
        </p:nvSpPr>
        <p:spPr>
          <a:xfrm>
            <a:off x="9309100" y="3657600"/>
            <a:ext cx="1905000" cy="2273300"/>
          </a:xfrm>
          <a:prstGeom prst="roundRect">
            <a:avLst>
              <a:gd name="adj" fmla="val 1333"/>
            </a:avLst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8F4D3AAB-9E15-4D41-A3E5-D60A8BC53DC9}"/>
              </a:ext>
            </a:extLst>
          </p:cNvPr>
          <p:cNvSpPr/>
          <p:nvPr/>
        </p:nvSpPr>
        <p:spPr>
          <a:xfrm>
            <a:off x="9309100" y="3657600"/>
            <a:ext cx="1905000" cy="88900"/>
          </a:xfrm>
          <a:prstGeom prst="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53147301-75A6-874B-8B5E-D5D0D84FFAAC}"/>
              </a:ext>
            </a:extLst>
          </p:cNvPr>
          <p:cNvSpPr/>
          <p:nvPr/>
        </p:nvSpPr>
        <p:spPr>
          <a:xfrm>
            <a:off x="10045700" y="4064000"/>
            <a:ext cx="431800" cy="431800"/>
          </a:xfrm>
          <a:prstGeom prst="ellipse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2AB83D6-0006-DD49-90A8-38DD82E7B71C}"/>
              </a:ext>
            </a:extLst>
          </p:cNvPr>
          <p:cNvSpPr txBox="1"/>
          <p:nvPr/>
        </p:nvSpPr>
        <p:spPr>
          <a:xfrm>
            <a:off x="9436100" y="4648200"/>
            <a:ext cx="1651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400" b="1">
                <a:solidFill>
                  <a:srgbClr val="FFFFFF"/>
                </a:solidFill>
                <a:latin typeface="Pretendard"/>
              </a:rPr>
              <a:t>Night Off</a:t>
            </a:r>
            <a:endParaRPr lang="ko-KR" altLang="en-US" sz="1400" b="1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1937F02-4931-1640-B3A9-ADA0E42E74CA}"/>
              </a:ext>
            </a:extLst>
          </p:cNvPr>
          <p:cNvSpPr txBox="1"/>
          <p:nvPr/>
        </p:nvSpPr>
        <p:spPr>
          <a:xfrm>
            <a:off x="9436100" y="4927600"/>
            <a:ext cx="1651000" cy="203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400">
                <a:solidFill>
                  <a:srgbClr val="C9D3E2"/>
                </a:solidFill>
                <a:latin typeface="Pretendard"/>
              </a:rPr>
              <a:t>잠들기 전 딱 한 잔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4CB4CD9-E9DD-CF4A-8671-67D2351E49B5}"/>
              </a:ext>
            </a:extLst>
          </p:cNvPr>
          <p:cNvSpPr txBox="1"/>
          <p:nvPr/>
        </p:nvSpPr>
        <p:spPr>
          <a:xfrm>
            <a:off x="9436100" y="5308600"/>
            <a:ext cx="1651000" cy="203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400" b="1">
                <a:solidFill>
                  <a:srgbClr val="E8A33D"/>
                </a:solidFill>
                <a:latin typeface="JetBrains Mono"/>
              </a:rPr>
              <a:t>CARD #5</a:t>
            </a:r>
            <a:endParaRPr lang="ko-KR" altLang="en-US" sz="1400" b="1">
              <a:solidFill>
                <a:srgbClr val="E8A33D"/>
              </a:solidFill>
              <a:latin typeface="JetBrains Mono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0794CD0-5046-A145-A3A7-537880E4F3CF}"/>
              </a:ext>
            </a:extLst>
          </p:cNvPr>
          <p:cNvSpPr txBox="1"/>
          <p:nvPr/>
        </p:nvSpPr>
        <p:spPr>
          <a:xfrm>
            <a:off x="825500" y="6159500"/>
            <a:ext cx="10541000" cy="304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400" dirty="0">
                <a:solidFill>
                  <a:srgbClr val="1D4E89"/>
                </a:solidFill>
                <a:latin typeface="JetBrains Mono"/>
              </a:rPr>
              <a:t>→ 같은 스타일 </a:t>
            </a:r>
            <a:r>
              <a:rPr lang="ko-KR" altLang="en-US" sz="1400" dirty="0" err="1">
                <a:solidFill>
                  <a:srgbClr val="1D4E89"/>
                </a:solidFill>
                <a:latin typeface="JetBrains Mono"/>
              </a:rPr>
              <a:t>시드를</a:t>
            </a:r>
            <a:r>
              <a:rPr lang="ko-KR" altLang="en-US" sz="1400" dirty="0">
                <a:solidFill>
                  <a:srgbClr val="1D4E89"/>
                </a:solidFill>
                <a:latin typeface="JetBrains Mono"/>
              </a:rPr>
              <a:t> 재사용 </a:t>
            </a:r>
            <a:r>
              <a:rPr lang="en-US" altLang="ko-KR" sz="1400" dirty="0">
                <a:solidFill>
                  <a:srgbClr val="1D4E89"/>
                </a:solidFill>
                <a:latin typeface="JetBrains Mono"/>
              </a:rPr>
              <a:t>= 5</a:t>
            </a:r>
            <a:r>
              <a:rPr lang="ko-KR" altLang="en-US" sz="1400" dirty="0">
                <a:solidFill>
                  <a:srgbClr val="1D4E89"/>
                </a:solidFill>
                <a:latin typeface="JetBrains Mono"/>
              </a:rPr>
              <a:t>장이 한 시리즈처럼 보인다</a:t>
            </a:r>
            <a:r>
              <a:rPr lang="en-US" altLang="ko-KR" sz="1400" dirty="0">
                <a:solidFill>
                  <a:srgbClr val="1D4E89"/>
                </a:solidFill>
                <a:latin typeface="JetBrains Mono"/>
              </a:rPr>
              <a:t>.</a:t>
            </a:r>
            <a:endParaRPr lang="ko-KR" altLang="en-US" sz="1400" dirty="0">
              <a:solidFill>
                <a:srgbClr val="1D4E89"/>
              </a:solidFill>
              <a:latin typeface="JetBrains Mono"/>
            </a:endParaRPr>
          </a:p>
        </p:txBody>
      </p:sp>
      <p:sp>
        <p:nvSpPr>
          <p:cNvPr id="4" name="PageNumber">
            <a:extLst>
              <a:ext uri="{FF2B5EF4-FFF2-40B4-BE49-F238E27FC236}">
                <a16:creationId xmlns:a16="http://schemas.microsoft.com/office/drawing/2014/main" id="{C92A596F-B3C6-6947-BA6A-E192C4931CB5}"/>
              </a:ext>
            </a:extLst>
          </p:cNvPr>
          <p:cNvSpPr txBox="1"/>
          <p:nvPr/>
        </p:nvSpPr>
        <p:spPr>
          <a:xfrm>
            <a:off x="9499600" y="6489700"/>
            <a:ext cx="23368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r"/>
            <a:r>
              <a:rPr lang="en-US" altLang="ko-KR" sz="1200">
                <a:solidFill>
                  <a:srgbClr val="576176"/>
                </a:solidFill>
                <a:latin typeface="Pretendard"/>
              </a:rPr>
              <a:t>- 79/144 -</a:t>
            </a:r>
            <a:endParaRPr lang="ko-KR" altLang="en-US" sz="1200">
              <a:solidFill>
                <a:srgbClr val="576176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171323187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실습 절차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실습 절차 — 직접 해봅니다</a:t>
            </a: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8A59B815-2B94-F047-9964-D29DDFC81463}"/>
              </a:ext>
            </a:extLst>
          </p:cNvPr>
          <p:cNvSpPr/>
          <p:nvPr/>
        </p:nvSpPr>
        <p:spPr>
          <a:xfrm>
            <a:off x="825500" y="1930400"/>
            <a:ext cx="10541000" cy="939800"/>
          </a:xfrm>
          <a:prstGeom prst="roundRect">
            <a:avLst>
              <a:gd name="adj" fmla="val 2703"/>
            </a:avLst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5A04409-8166-1F41-A97D-C77F0F645E27}"/>
              </a:ext>
            </a:extLst>
          </p:cNvPr>
          <p:cNvSpPr/>
          <p:nvPr/>
        </p:nvSpPr>
        <p:spPr>
          <a:xfrm>
            <a:off x="825500" y="1930400"/>
            <a:ext cx="76200" cy="939800"/>
          </a:xfrm>
          <a:prstGeom prst="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7799C31D-4CAA-C04A-B2BD-210C6B655A0B}"/>
              </a:ext>
            </a:extLst>
          </p:cNvPr>
          <p:cNvSpPr/>
          <p:nvPr/>
        </p:nvSpPr>
        <p:spPr>
          <a:xfrm>
            <a:off x="1143000" y="2159000"/>
            <a:ext cx="482600" cy="482600"/>
          </a:xfrm>
          <a:prstGeom prst="ellipse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  <a:latin typeface="JetBrains Mono"/>
              </a:rPr>
              <a:t>1</a:t>
            </a:r>
            <a:endParaRPr lang="ko-KR" altLang="en-US" sz="16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3A6CB3-1A2E-064D-8192-50EB3D2F3559}"/>
              </a:ext>
            </a:extLst>
          </p:cNvPr>
          <p:cNvSpPr txBox="1"/>
          <p:nvPr/>
        </p:nvSpPr>
        <p:spPr>
          <a:xfrm>
            <a:off x="1905000" y="2221624"/>
            <a:ext cx="2667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600" b="1">
                <a:solidFill>
                  <a:srgbClr val="14213D"/>
                </a:solidFill>
                <a:latin typeface="Pretendard"/>
              </a:rPr>
              <a:t>스타일 키워드 재사용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3095E24-5536-144F-B143-517D6D9DB1DC}"/>
              </a:ext>
            </a:extLst>
          </p:cNvPr>
          <p:cNvSpPr txBox="1"/>
          <p:nvPr/>
        </p:nvSpPr>
        <p:spPr>
          <a:xfrm>
            <a:off x="4699000" y="2057400"/>
            <a:ext cx="6477000" cy="685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altLang="ko-KR" sz="1400">
                <a:solidFill>
                  <a:srgbClr val="576176"/>
                </a:solidFill>
                <a:latin typeface="Pretendard"/>
              </a:rPr>
              <a:t>M4-1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에서 정한 키워드로 배경 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2~3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장을 생성한다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.</a:t>
            </a:r>
            <a:endParaRPr lang="ko-KR" altLang="en-US" sz="1400">
              <a:solidFill>
                <a:srgbClr val="576176"/>
              </a:solidFill>
              <a:latin typeface="Pretendard"/>
            </a:endParaRP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09384427-0177-B94C-8951-C5ACFEE02871}"/>
              </a:ext>
            </a:extLst>
          </p:cNvPr>
          <p:cNvSpPr/>
          <p:nvPr/>
        </p:nvSpPr>
        <p:spPr>
          <a:xfrm>
            <a:off x="825500" y="2971800"/>
            <a:ext cx="10541000" cy="939800"/>
          </a:xfrm>
          <a:prstGeom prst="roundRect">
            <a:avLst>
              <a:gd name="adj" fmla="val 2703"/>
            </a:avLst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1AFCD8D-D0C3-154C-B56A-EA3AF3BC5CEF}"/>
              </a:ext>
            </a:extLst>
          </p:cNvPr>
          <p:cNvSpPr/>
          <p:nvPr/>
        </p:nvSpPr>
        <p:spPr>
          <a:xfrm>
            <a:off x="825500" y="2971800"/>
            <a:ext cx="76200" cy="939800"/>
          </a:xfrm>
          <a:prstGeom prst="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CCA7F3C5-3661-9842-8DB7-92F08FB10CDF}"/>
              </a:ext>
            </a:extLst>
          </p:cNvPr>
          <p:cNvSpPr/>
          <p:nvPr/>
        </p:nvSpPr>
        <p:spPr>
          <a:xfrm>
            <a:off x="1143000" y="3200400"/>
            <a:ext cx="482600" cy="482600"/>
          </a:xfrm>
          <a:prstGeom prst="ellipse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  <a:latin typeface="JetBrains Mono"/>
              </a:rPr>
              <a:t>2</a:t>
            </a:r>
            <a:endParaRPr lang="ko-KR" altLang="en-US" sz="16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7C73836-08EE-3A42-AB69-7A2AC4FB649A}"/>
              </a:ext>
            </a:extLst>
          </p:cNvPr>
          <p:cNvSpPr txBox="1"/>
          <p:nvPr/>
        </p:nvSpPr>
        <p:spPr>
          <a:xfrm>
            <a:off x="1905000" y="3263024"/>
            <a:ext cx="2667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14213D"/>
                </a:solidFill>
                <a:latin typeface="Pretendard"/>
              </a:rPr>
              <a:t>Canva </a:t>
            </a:r>
            <a:r>
              <a:rPr lang="ko-KR" altLang="en-US" sz="1600" b="1">
                <a:solidFill>
                  <a:srgbClr val="14213D"/>
                </a:solidFill>
                <a:latin typeface="Pretendard"/>
              </a:rPr>
              <a:t>동일 템플릿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1C7C748-310C-C942-A347-F0BA422DD346}"/>
              </a:ext>
            </a:extLst>
          </p:cNvPr>
          <p:cNvSpPr txBox="1"/>
          <p:nvPr/>
        </p:nvSpPr>
        <p:spPr>
          <a:xfrm>
            <a:off x="4699000" y="3098800"/>
            <a:ext cx="6477000" cy="685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400">
                <a:solidFill>
                  <a:srgbClr val="576176"/>
                </a:solidFill>
                <a:latin typeface="Pretendard"/>
              </a:rPr>
              <a:t>같은 템플릿에 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M3 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카드뉴스 문구를 얹는다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.</a:t>
            </a:r>
            <a:endParaRPr lang="ko-KR" altLang="en-US" sz="1400">
              <a:solidFill>
                <a:srgbClr val="576176"/>
              </a:solidFill>
              <a:latin typeface="Pretendard"/>
            </a:endParaRPr>
          </a:p>
        </p:txBody>
      </p:sp>
      <p:sp>
        <p:nvSpPr>
          <p:cNvPr id="15" name="모서리가 둥근 직사각형 14">
            <a:extLst>
              <a:ext uri="{FF2B5EF4-FFF2-40B4-BE49-F238E27FC236}">
                <a16:creationId xmlns:a16="http://schemas.microsoft.com/office/drawing/2014/main" id="{D19464FE-5723-FB48-8458-43DC9ABE4351}"/>
              </a:ext>
            </a:extLst>
          </p:cNvPr>
          <p:cNvSpPr/>
          <p:nvPr/>
        </p:nvSpPr>
        <p:spPr>
          <a:xfrm>
            <a:off x="825500" y="4013200"/>
            <a:ext cx="10541000" cy="939800"/>
          </a:xfrm>
          <a:prstGeom prst="roundRect">
            <a:avLst>
              <a:gd name="adj" fmla="val 2703"/>
            </a:avLst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262CCE2-9973-4E4D-B4DB-31F35CBD03F9}"/>
              </a:ext>
            </a:extLst>
          </p:cNvPr>
          <p:cNvSpPr/>
          <p:nvPr/>
        </p:nvSpPr>
        <p:spPr>
          <a:xfrm>
            <a:off x="825500" y="4013200"/>
            <a:ext cx="76200" cy="939800"/>
          </a:xfrm>
          <a:prstGeom prst="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7939808F-0E39-5041-B530-8BE038E023C5}"/>
              </a:ext>
            </a:extLst>
          </p:cNvPr>
          <p:cNvSpPr/>
          <p:nvPr/>
        </p:nvSpPr>
        <p:spPr>
          <a:xfrm>
            <a:off x="1143000" y="4241800"/>
            <a:ext cx="482600" cy="482600"/>
          </a:xfrm>
          <a:prstGeom prst="ellipse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  <a:latin typeface="JetBrains Mono"/>
              </a:rPr>
              <a:t>3</a:t>
            </a:r>
            <a:endParaRPr lang="ko-KR" altLang="en-US" sz="16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6124EF3-49BA-C940-8AAC-1E7E8E957F06}"/>
              </a:ext>
            </a:extLst>
          </p:cNvPr>
          <p:cNvSpPr txBox="1"/>
          <p:nvPr/>
        </p:nvSpPr>
        <p:spPr>
          <a:xfrm>
            <a:off x="1905000" y="4304424"/>
            <a:ext cx="2667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600" b="1">
                <a:solidFill>
                  <a:srgbClr val="14213D"/>
                </a:solidFill>
                <a:latin typeface="Pretendard"/>
              </a:rPr>
              <a:t>제목</a:t>
            </a:r>
            <a:r>
              <a:rPr lang="en-US" altLang="ko-KR" sz="1600" b="1">
                <a:solidFill>
                  <a:srgbClr val="14213D"/>
                </a:solidFill>
                <a:latin typeface="Pretendard"/>
              </a:rPr>
              <a:t>·</a:t>
            </a:r>
            <a:r>
              <a:rPr lang="ko-KR" altLang="en-US" sz="1600" b="1">
                <a:solidFill>
                  <a:srgbClr val="14213D"/>
                </a:solidFill>
                <a:latin typeface="Pretendard"/>
              </a:rPr>
              <a:t>폰트</a:t>
            </a:r>
            <a:r>
              <a:rPr lang="en-US" altLang="ko-KR" sz="1600" b="1">
                <a:solidFill>
                  <a:srgbClr val="14213D"/>
                </a:solidFill>
                <a:latin typeface="Pretendard"/>
              </a:rPr>
              <a:t>·</a:t>
            </a:r>
            <a:r>
              <a:rPr lang="ko-KR" altLang="en-US" sz="1600" b="1">
                <a:solidFill>
                  <a:srgbClr val="14213D"/>
                </a:solidFill>
                <a:latin typeface="Pretendard"/>
              </a:rPr>
              <a:t>색 통일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30C026E-B6D5-954F-9ED3-B3E868C3DA71}"/>
              </a:ext>
            </a:extLst>
          </p:cNvPr>
          <p:cNvSpPr txBox="1"/>
          <p:nvPr/>
        </p:nvSpPr>
        <p:spPr>
          <a:xfrm>
            <a:off x="4699000" y="4140200"/>
            <a:ext cx="6477000" cy="685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400">
                <a:solidFill>
                  <a:srgbClr val="576176"/>
                </a:solidFill>
                <a:latin typeface="Pretendard"/>
              </a:rPr>
              <a:t>카드 전체의 제목 위치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·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폰트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·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색을 하나로 맞춘다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.</a:t>
            </a:r>
            <a:endParaRPr lang="ko-KR" altLang="en-US" sz="1400">
              <a:solidFill>
                <a:srgbClr val="576176"/>
              </a:solidFill>
              <a:latin typeface="Pretendard"/>
            </a:endParaRPr>
          </a:p>
        </p:txBody>
      </p:sp>
      <p:sp>
        <p:nvSpPr>
          <p:cNvPr id="20" name="모서리가 둥근 직사각형 19">
            <a:extLst>
              <a:ext uri="{FF2B5EF4-FFF2-40B4-BE49-F238E27FC236}">
                <a16:creationId xmlns:a16="http://schemas.microsoft.com/office/drawing/2014/main" id="{22D9D1D9-6AED-704B-B042-AF262C180B05}"/>
              </a:ext>
            </a:extLst>
          </p:cNvPr>
          <p:cNvSpPr/>
          <p:nvPr/>
        </p:nvSpPr>
        <p:spPr>
          <a:xfrm>
            <a:off x="825500" y="5054600"/>
            <a:ext cx="10541000" cy="939800"/>
          </a:xfrm>
          <a:prstGeom prst="roundRect">
            <a:avLst>
              <a:gd name="adj" fmla="val 2703"/>
            </a:avLst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6897D9BE-B1B4-424B-976B-8C9DAA278985}"/>
              </a:ext>
            </a:extLst>
          </p:cNvPr>
          <p:cNvSpPr/>
          <p:nvPr/>
        </p:nvSpPr>
        <p:spPr>
          <a:xfrm>
            <a:off x="825500" y="5054600"/>
            <a:ext cx="76200" cy="939800"/>
          </a:xfrm>
          <a:prstGeom prst="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9ABBC1C6-F9C1-094A-916D-8DAD184AF01C}"/>
              </a:ext>
            </a:extLst>
          </p:cNvPr>
          <p:cNvSpPr/>
          <p:nvPr/>
        </p:nvSpPr>
        <p:spPr>
          <a:xfrm>
            <a:off x="1143000" y="5283200"/>
            <a:ext cx="482600" cy="482600"/>
          </a:xfrm>
          <a:prstGeom prst="ellipse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  <a:latin typeface="JetBrains Mono"/>
              </a:rPr>
              <a:t>4</a:t>
            </a:r>
            <a:endParaRPr lang="ko-KR" altLang="en-US" sz="16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6302F99-EAB3-8846-A14F-E10CBC31BC6C}"/>
              </a:ext>
            </a:extLst>
          </p:cNvPr>
          <p:cNvSpPr txBox="1"/>
          <p:nvPr/>
        </p:nvSpPr>
        <p:spPr>
          <a:xfrm>
            <a:off x="1905000" y="5345824"/>
            <a:ext cx="2667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600" b="1" dirty="0">
                <a:solidFill>
                  <a:srgbClr val="14213D"/>
                </a:solidFill>
                <a:latin typeface="Pretendard"/>
              </a:rPr>
              <a:t>채널 규격 일괄 내보내기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547224F-0ECD-BE4E-BF4B-611E558AC1E7}"/>
              </a:ext>
            </a:extLst>
          </p:cNvPr>
          <p:cNvSpPr txBox="1"/>
          <p:nvPr/>
        </p:nvSpPr>
        <p:spPr>
          <a:xfrm>
            <a:off x="4699000" y="5181600"/>
            <a:ext cx="6477000" cy="685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400">
                <a:solidFill>
                  <a:srgbClr val="576176"/>
                </a:solidFill>
                <a:latin typeface="Pretendard"/>
              </a:rPr>
              <a:t>채널별 종횡비로 세트를 한 번에 내보낸다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.</a:t>
            </a:r>
            <a:endParaRPr lang="ko-KR" altLang="en-US" sz="1400">
              <a:solidFill>
                <a:srgbClr val="576176"/>
              </a:solidFill>
              <a:latin typeface="Pretendard"/>
            </a:endParaRPr>
          </a:p>
        </p:txBody>
      </p:sp>
      <p:sp>
        <p:nvSpPr>
          <p:cNvPr id="4" name="PageNumber">
            <a:extLst>
              <a:ext uri="{FF2B5EF4-FFF2-40B4-BE49-F238E27FC236}">
                <a16:creationId xmlns:a16="http://schemas.microsoft.com/office/drawing/2014/main" id="{D8F89045-C551-9E41-B0BE-22DB2387EF33}"/>
              </a:ext>
            </a:extLst>
          </p:cNvPr>
          <p:cNvSpPr txBox="1"/>
          <p:nvPr/>
        </p:nvSpPr>
        <p:spPr>
          <a:xfrm>
            <a:off x="9499600" y="6489700"/>
            <a:ext cx="23368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r"/>
            <a:r>
              <a:rPr lang="en-US" altLang="ko-KR" sz="1200">
                <a:solidFill>
                  <a:srgbClr val="576176"/>
                </a:solidFill>
                <a:latin typeface="Pretendard"/>
              </a:rPr>
              <a:t>- 80/144 -</a:t>
            </a:r>
            <a:endParaRPr lang="ko-KR" altLang="en-US" sz="1200">
              <a:solidFill>
                <a:srgbClr val="576176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700678104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실습 프롬프트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카드뉴스 배경 일관성 프롬프트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874519"/>
            <a:ext cx="10332720" cy="4434840"/>
          </a:xfrm>
          <a:prstGeom prst="rect">
            <a:avLst/>
          </a:prstGeom>
          <a:solidFill>
            <a:srgbClr val="10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11480" tIns="502920" rIns="365760" bIns="320040" rtlCol="0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same visual style as before: warm amber + navy, flat minimal,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soft grain, generous top margin for a one-line title, 1:1,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make 3 variations keeping identical mood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--no text, busy background</a:t>
            </a:r>
            <a:endParaRPr lang="en-US" dirty="0">
              <a:solidFill>
                <a:srgbClr val="E8EEFA"/>
              </a:solidFill>
              <a:latin typeface="JetBrains Mono"/>
              <a:ea typeface="JetBrains Mono"/>
              <a:cs typeface="JetBrains Mono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endParaRPr dirty="0">
              <a:solidFill>
                <a:srgbClr val="E8EEFA"/>
              </a:solidFill>
              <a:latin typeface="JetBrains Mono"/>
              <a:ea typeface="JetBrains Mono"/>
              <a:cs typeface="JetBrains Mono"/>
            </a:endParaRP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dirty="0">
                <a:solidFill>
                  <a:srgbClr val="8893A8"/>
                </a:solidFill>
                <a:latin typeface="JetBrains Mono"/>
                <a:ea typeface="JetBrains Mono"/>
                <a:cs typeface="JetBrains Mono"/>
              </a:rPr>
              <a:t># 변형 — 표지(커버) 카드 강조형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same amber + navy minimal style, soft grain,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centered hero bottle with strong negative space, 1:1,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make 1 bolder cover variation, higher contrast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--no text, busy background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" y="2103120"/>
            <a:ext cx="109728" cy="10972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AB1F2E1F-0397-8E3F-8494-323545956CE3}"/>
              </a:ext>
            </a:extLst>
          </p:cNvPr>
          <p:cNvGrpSpPr/>
          <p:nvPr/>
        </p:nvGrpSpPr>
        <p:grpSpPr>
          <a:xfrm>
            <a:off x="8399107" y="3846905"/>
            <a:ext cx="2493450" cy="2285159"/>
            <a:chOff x="17449800" y="7213600"/>
            <a:chExt cx="6146800" cy="5486400"/>
          </a:xfrm>
        </p:grpSpPr>
        <p:pic>
          <p:nvPicPr>
            <p:cNvPr id="7" name="Picture 9">
              <a:extLst>
                <a:ext uri="{FF2B5EF4-FFF2-40B4-BE49-F238E27FC236}">
                  <a16:creationId xmlns:a16="http://schemas.microsoft.com/office/drawing/2014/main" id="{F999FDEA-E900-444D-FD70-E6FE8E38322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653000" y="8851900"/>
              <a:ext cx="1739900" cy="774700"/>
            </a:xfrm>
            <a:prstGeom prst="rect">
              <a:avLst/>
            </a:prstGeom>
          </p:spPr>
        </p:pic>
        <p:sp>
          <p:nvSpPr>
            <p:cNvPr id="8" name="TextBox 10">
              <a:extLst>
                <a:ext uri="{FF2B5EF4-FFF2-40B4-BE49-F238E27FC236}">
                  <a16:creationId xmlns:a16="http://schemas.microsoft.com/office/drawing/2014/main" id="{DC4C6939-E97A-84BA-33D9-FFCF4DFD549E}"/>
                </a:ext>
              </a:extLst>
            </p:cNvPr>
            <p:cNvSpPr txBox="1"/>
            <p:nvPr/>
          </p:nvSpPr>
          <p:spPr>
            <a:xfrm>
              <a:off x="17449800" y="8991600"/>
              <a:ext cx="1930400" cy="571500"/>
            </a:xfrm>
            <a:prstGeom prst="rect">
              <a:avLst/>
            </a:prstGeom>
          </p:spPr>
          <p:txBody>
            <a:bodyPr lIns="0" tIns="40640" rIns="0" bIns="4064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2400" b="0" i="0" u="none" strike="noStrike" spc="-100" dirty="0">
                  <a:solidFill>
                    <a:srgbClr val="000000"/>
                  </a:solidFill>
                  <a:latin typeface="SB AggroOTF Bold"/>
                  <a:ea typeface="SB AggroOTF Bold"/>
                  <a:cs typeface="SB AggroOTF Bold"/>
                </a:rPr>
                <a:t>oh!</a:t>
              </a:r>
            </a:p>
          </p:txBody>
        </p:sp>
        <p:pic>
          <p:nvPicPr>
            <p:cNvPr id="9" name="Picture 27">
              <a:extLst>
                <a:ext uri="{FF2B5EF4-FFF2-40B4-BE49-F238E27FC236}">
                  <a16:creationId xmlns:a16="http://schemas.microsoft.com/office/drawing/2014/main" id="{83C27D5F-A4C1-B6E7-9AED-31859605532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834100" y="7213600"/>
              <a:ext cx="4762500" cy="5486400"/>
            </a:xfrm>
            <a:prstGeom prst="rect">
              <a:avLst/>
            </a:prstGeom>
          </p:spPr>
        </p:pic>
      </p:grpSp>
      <p:sp>
        <p:nvSpPr>
          <p:cNvPr id="10" name="PageNumber">
            <a:extLst>
              <a:ext uri="{FF2B5EF4-FFF2-40B4-BE49-F238E27FC236}">
                <a16:creationId xmlns:a16="http://schemas.microsoft.com/office/drawing/2014/main" id="{31E7978D-96EB-C342-9409-8B462C68AF1E}"/>
              </a:ext>
            </a:extLst>
          </p:cNvPr>
          <p:cNvSpPr txBox="1"/>
          <p:nvPr/>
        </p:nvSpPr>
        <p:spPr>
          <a:xfrm>
            <a:off x="9499600" y="6489700"/>
            <a:ext cx="23368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r"/>
            <a:r>
              <a:rPr lang="en-US" altLang="ko-KR" sz="1200">
                <a:solidFill>
                  <a:srgbClr val="576176"/>
                </a:solidFill>
                <a:latin typeface="Pretendard"/>
              </a:rPr>
              <a:t>- 81/144 -</a:t>
            </a:r>
            <a:endParaRPr lang="ko-KR" altLang="en-US" sz="1200">
              <a:solidFill>
                <a:srgbClr val="576176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2416704655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좋은예 VS 나쁜예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비교 — 카드뉴스 5장, 톤이 따로 노는 이유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920240"/>
            <a:ext cx="5029200" cy="4114800"/>
          </a:xfrm>
          <a:prstGeom prst="rect">
            <a:avLst/>
          </a:prstGeom>
          <a:solidFill>
            <a:srgbClr val="F7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20040" rIns="320040" rtlCol="0" anchor="t"/>
          <a:lstStyle/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1000"/>
              </a:spcAft>
            </a:pPr>
            <a:r>
              <a:rPr sz="1700" b="1">
                <a:solidFill>
                  <a:srgbClr val="A63333"/>
                </a:solidFill>
                <a:latin typeface="Noto Serif KR"/>
                <a:ea typeface="Noto Serif KR"/>
                <a:cs typeface="Noto Serif KR"/>
              </a:rPr>
              <a:t>🚫 매번 새 스타일</a:t>
            </a:r>
          </a:p>
          <a:p>
            <a:pPr algn="l">
              <a:lnSpc>
                <a:spcPct val="13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>
                <a:solidFill>
                  <a:srgbClr val="A63333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sz="14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장마다 다른 색·질감으로 생성</a:t>
            </a:r>
          </a:p>
          <a:p>
            <a:pPr algn="l">
              <a:lnSpc>
                <a:spcPct val="13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>
                <a:solidFill>
                  <a:srgbClr val="A63333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sz="14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5장이 제각각, 시리즈 느낌 X</a:t>
            </a:r>
          </a:p>
          <a:p>
            <a:pPr algn="l">
              <a:lnSpc>
                <a:spcPct val="13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>
                <a:solidFill>
                  <a:srgbClr val="A63333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sz="14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문구 가독성 낮은 화려한 배경</a:t>
            </a:r>
          </a:p>
        </p:txBody>
      </p:sp>
      <p:sp>
        <p:nvSpPr>
          <p:cNvPr id="5" name="Rectangle 4"/>
          <p:cNvSpPr/>
          <p:nvPr/>
        </p:nvSpPr>
        <p:spPr>
          <a:xfrm>
            <a:off x="6245352" y="1920240"/>
            <a:ext cx="5029200" cy="4114800"/>
          </a:xfrm>
          <a:prstGeom prst="rect">
            <a:avLst/>
          </a:prstGeom>
          <a:solidFill>
            <a:srgbClr val="E7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20040" rIns="320040" rtlCol="0" anchor="t"/>
          <a:lstStyle/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1000"/>
              </a:spcAft>
            </a:pPr>
            <a:r>
              <a:rPr sz="1700" b="1">
                <a:solidFill>
                  <a:srgbClr val="2C6B44"/>
                </a:solidFill>
                <a:latin typeface="Noto Serif KR"/>
                <a:ea typeface="Noto Serif KR"/>
                <a:cs typeface="Noto Serif KR"/>
              </a:rPr>
              <a:t>✅ 키워드 재사용 + 여백</a:t>
            </a:r>
          </a:p>
          <a:p>
            <a:pPr algn="l">
              <a:lnSpc>
                <a:spcPct val="13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>
                <a:solidFill>
                  <a:srgbClr val="2C6B44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sz="14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동일 스타일 키워드로 3변형 생성</a:t>
            </a:r>
          </a:p>
          <a:p>
            <a:pPr algn="l">
              <a:lnSpc>
                <a:spcPct val="13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>
                <a:solidFill>
                  <a:srgbClr val="2C6B44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sz="14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제목 위치·폰트·색 카드 간 통일</a:t>
            </a:r>
          </a:p>
          <a:p>
            <a:pPr algn="l">
              <a:lnSpc>
                <a:spcPct val="13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>
                <a:solidFill>
                  <a:srgbClr val="2C6B44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sz="14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상단 여백 확보로 한 줄 문구 또렷</a:t>
            </a:r>
          </a:p>
        </p:txBody>
      </p:sp>
      <p:pic>
        <p:nvPicPr>
          <p:cNvPr id="6" name="Picture 16">
            <a:extLst>
              <a:ext uri="{FF2B5EF4-FFF2-40B4-BE49-F238E27FC236}">
                <a16:creationId xmlns:a16="http://schemas.microsoft.com/office/drawing/2014/main" id="{1C195396-C2C8-0B1C-9ADF-4BCF830C681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9073006" y="3852977"/>
            <a:ext cx="2201546" cy="2182063"/>
          </a:xfrm>
          <a:prstGeom prst="rect">
            <a:avLst/>
          </a:prstGeom>
        </p:spPr>
      </p:pic>
      <p:sp>
        <p:nvSpPr>
          <p:cNvPr id="7" name="PageNumber">
            <a:extLst>
              <a:ext uri="{FF2B5EF4-FFF2-40B4-BE49-F238E27FC236}">
                <a16:creationId xmlns:a16="http://schemas.microsoft.com/office/drawing/2014/main" id="{D396A9D1-6DFA-8A44-9BC8-82879A0786A2}"/>
              </a:ext>
            </a:extLst>
          </p:cNvPr>
          <p:cNvSpPr txBox="1"/>
          <p:nvPr/>
        </p:nvSpPr>
        <p:spPr>
          <a:xfrm>
            <a:off x="9499600" y="6489700"/>
            <a:ext cx="23368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r"/>
            <a:r>
              <a:rPr lang="en-US" altLang="ko-KR" sz="1200">
                <a:solidFill>
                  <a:srgbClr val="576176"/>
                </a:solidFill>
                <a:latin typeface="Pretendard"/>
              </a:rPr>
              <a:t>- 82/144 -</a:t>
            </a:r>
            <a:endParaRPr lang="ko-KR" altLang="en-US" sz="1200">
              <a:solidFill>
                <a:srgbClr val="576176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3063033057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정리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이미지와 문구의 일관성 확보 방법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920240"/>
            <a:ext cx="10332720" cy="2070100"/>
          </a:xfrm>
          <a:prstGeom prst="rect">
            <a:avLst/>
          </a:prstGeom>
          <a:solidFill>
            <a:srgbClr val="FB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228600" rIns="365760" bIns="182880" rtlCol="0" anchor="t"/>
          <a:lstStyle/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600"/>
              </a:spcAft>
            </a:pPr>
            <a:r>
              <a:rPr sz="1500" b="1">
                <a:solidFill>
                  <a:srgbClr val="B57A1A"/>
                </a:solidFill>
                <a:latin typeface="JetBrains Mono"/>
                <a:ea typeface="JetBrains Mono"/>
                <a:cs typeface="JetBrains Mono"/>
              </a:rPr>
              <a:t>⚠  흔한 실수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1">
                <a:solidFill>
                  <a:srgbClr val="E8A33D"/>
                </a:solidFill>
                <a:latin typeface="Pretendard"/>
                <a:ea typeface="Pretendard"/>
                <a:cs typeface="Pretendard"/>
              </a:rPr>
              <a:t>·  </a:t>
            </a:r>
            <a:r>
              <a:rPr sz="14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카드마다 스타일을 새로 지정하면 시리즈가 따로 논다 → 키워드 재사용.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1">
                <a:solidFill>
                  <a:srgbClr val="E8A33D"/>
                </a:solidFill>
                <a:latin typeface="Pretendard"/>
                <a:ea typeface="Pretendard"/>
                <a:cs typeface="Pretendard"/>
              </a:rPr>
              <a:t>·  </a:t>
            </a:r>
            <a:r>
              <a:rPr sz="14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배경이 너무 화려하면 문구 가독성이 떨어진다 → 여백 확보.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1">
                <a:solidFill>
                  <a:srgbClr val="E8A33D"/>
                </a:solidFill>
                <a:latin typeface="Pretendard"/>
                <a:ea typeface="Pretendard"/>
                <a:cs typeface="Pretendard"/>
              </a:rPr>
              <a:t>·  </a:t>
            </a:r>
            <a:r>
              <a:rPr sz="14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배경만 만들고 문구를 안 얹으면 메시지가 빠진다 → M3 카피를 정합해 얹는다.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4191000"/>
            <a:ext cx="10332720" cy="1005840"/>
          </a:xfrm>
          <a:prstGeom prst="rect">
            <a:avLst/>
          </a:prstGeom>
          <a:solidFill>
            <a:srgbClr val="DCE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201168" rIns="365760" bIns="182880" rtlCol="0" anchor="t"/>
          <a:lstStyle/>
          <a:p>
            <a:pPr algn="l">
              <a:lnSpc>
                <a:spcPct val="125000"/>
              </a:lnSpc>
              <a:spcBef>
                <a:spcPts val="600"/>
              </a:spcBef>
              <a:spcAft>
                <a:spcPts val="400"/>
              </a:spcAft>
            </a:pPr>
            <a:r>
              <a:rPr sz="1500" b="1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📦  결과물   </a:t>
            </a:r>
            <a:r>
              <a:rPr sz="1600" b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문구·톤이 일치하는 카드뉴스 1세트(2~3장).</a:t>
            </a:r>
          </a:p>
        </p:txBody>
      </p:sp>
      <p:sp>
        <p:nvSpPr>
          <p:cNvPr id="6" name="PageNumber">
            <a:extLst>
              <a:ext uri="{FF2B5EF4-FFF2-40B4-BE49-F238E27FC236}">
                <a16:creationId xmlns:a16="http://schemas.microsoft.com/office/drawing/2014/main" id="{2E161FC2-E9E3-2846-8AA6-6EF45A84117F}"/>
              </a:ext>
            </a:extLst>
          </p:cNvPr>
          <p:cNvSpPr txBox="1"/>
          <p:nvPr/>
        </p:nvSpPr>
        <p:spPr>
          <a:xfrm>
            <a:off x="9499600" y="6489700"/>
            <a:ext cx="23368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r"/>
            <a:r>
              <a:rPr lang="en-US" altLang="ko-KR" sz="1200">
                <a:solidFill>
                  <a:srgbClr val="576176"/>
                </a:solidFill>
                <a:latin typeface="Pretendard"/>
              </a:rPr>
              <a:t>- 83/144 -</a:t>
            </a:r>
            <a:endParaRPr lang="ko-KR" altLang="en-US" sz="1200">
              <a:solidFill>
                <a:srgbClr val="576176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1595885009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도구 가이드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이 모듈에서 쓰는 도구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18224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•  </a:t>
            </a:r>
            <a:r>
              <a:rPr sz="1700" b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ImageFX — </a:t>
            </a:r>
            <a:r>
              <a:rPr sz="1500" b="0">
                <a:solidFill>
                  <a:srgbClr val="576176"/>
                </a:solidFill>
                <a:latin typeface="Pretendard"/>
                <a:ea typeface="Pretendard"/>
                <a:cs typeface="Pretendard"/>
              </a:rPr>
              <a:t>Google의 무료 이미지 생성. 한글 프롬프트도 가능, 빠른 시안에 적합.</a:t>
            </a:r>
          </a:p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•  </a:t>
            </a:r>
            <a:r>
              <a:rPr sz="1700" b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Midjourney — </a:t>
            </a:r>
            <a:r>
              <a:rPr sz="1500" b="0">
                <a:solidFill>
                  <a:srgbClr val="576176"/>
                </a:solidFill>
                <a:latin typeface="Pretendard"/>
                <a:ea typeface="Pretendard"/>
                <a:cs typeface="Pretendard"/>
              </a:rPr>
              <a:t>사진급 퀄리티와 일관된 무드의 강자(유료). --ar 비율·--no 제외 파라미터로 디테일을 정교하게 제어.</a:t>
            </a:r>
          </a:p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•  </a:t>
            </a:r>
            <a:r>
              <a:rPr sz="1700" b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DALL·E — </a:t>
            </a:r>
            <a:r>
              <a:rPr sz="1500" b="0">
                <a:solidFill>
                  <a:srgbClr val="576176"/>
                </a:solidFill>
                <a:latin typeface="Pretendard"/>
                <a:ea typeface="Pretendard"/>
                <a:cs typeface="Pretendard"/>
              </a:rPr>
              <a:t>ChatGPT 내장. 구도·컨셉 잡기에 편리. 텍스트 렌더는 여전히 약함.</a:t>
            </a:r>
          </a:p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600"/>
              </a:spcAft>
            </a:pPr>
            <a:r>
              <a:rPr sz="1700" b="1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•  </a:t>
            </a:r>
            <a:r>
              <a:rPr sz="1700" b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Canva AI — </a:t>
            </a:r>
            <a:r>
              <a:rPr sz="1500" b="0">
                <a:solidFill>
                  <a:srgbClr val="576176"/>
                </a:solidFill>
                <a:latin typeface="Pretendard"/>
                <a:ea typeface="Pretendard"/>
                <a:cs typeface="Pretendard"/>
              </a:rPr>
              <a:t>생성+편집+규격 내보내기를 한 곳에서. 문구 얹기·배경 제거·리사이즈에 강하다.</a:t>
            </a:r>
          </a:p>
        </p:txBody>
      </p:sp>
      <p:sp>
        <p:nvSpPr>
          <p:cNvPr id="5" name="PageNumber">
            <a:extLst>
              <a:ext uri="{FF2B5EF4-FFF2-40B4-BE49-F238E27FC236}">
                <a16:creationId xmlns:a16="http://schemas.microsoft.com/office/drawing/2014/main" id="{56423F04-9999-DF4A-997E-0D0E09E69FF5}"/>
              </a:ext>
            </a:extLst>
          </p:cNvPr>
          <p:cNvSpPr txBox="1"/>
          <p:nvPr/>
        </p:nvSpPr>
        <p:spPr>
          <a:xfrm>
            <a:off x="9499600" y="6489700"/>
            <a:ext cx="23368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r"/>
            <a:r>
              <a:rPr lang="en-US" altLang="ko-KR" sz="1200">
                <a:solidFill>
                  <a:srgbClr val="576176"/>
                </a:solidFill>
                <a:latin typeface="Pretendard"/>
              </a:rPr>
              <a:t>- 84/144 -</a:t>
            </a:r>
            <a:endParaRPr lang="ko-KR" altLang="en-US" sz="1200">
              <a:solidFill>
                <a:srgbClr val="576176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1821198295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CHECKLIST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모듈 체크리스트</a:t>
            </a: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22DD94C3-7B80-134F-9DCB-4B27F13917C3}"/>
              </a:ext>
            </a:extLst>
          </p:cNvPr>
          <p:cNvSpPr/>
          <p:nvPr/>
        </p:nvSpPr>
        <p:spPr>
          <a:xfrm>
            <a:off x="825500" y="2006600"/>
            <a:ext cx="10541000" cy="1219200"/>
          </a:xfrm>
          <a:prstGeom prst="roundRect">
            <a:avLst>
              <a:gd name="adj" fmla="val 2083"/>
            </a:avLst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9B2C164B-864D-2048-90DC-9E06ED68E508}"/>
              </a:ext>
            </a:extLst>
          </p:cNvPr>
          <p:cNvSpPr/>
          <p:nvPr/>
        </p:nvSpPr>
        <p:spPr>
          <a:xfrm>
            <a:off x="825500" y="2006600"/>
            <a:ext cx="76200" cy="1219200"/>
          </a:xfrm>
          <a:prstGeom prst="roundRect">
            <a:avLst>
              <a:gd name="adj" fmla="val 33333"/>
            </a:avLst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26539CED-C29D-E347-984B-EF5A6335BC4C}"/>
              </a:ext>
            </a:extLst>
          </p:cNvPr>
          <p:cNvSpPr/>
          <p:nvPr/>
        </p:nvSpPr>
        <p:spPr>
          <a:xfrm>
            <a:off x="1270000" y="2362200"/>
            <a:ext cx="508000" cy="508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2225" cap="flat" cmpd="sng" algn="ctr">
            <a:solidFill>
              <a:srgbClr val="14213D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2200" b="1">
                <a:solidFill>
                  <a:srgbClr val="E8A33D"/>
                </a:solidFill>
              </a:rPr>
              <a:t>✓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BD51D6-B1B3-3147-A8B4-7176EFE28CD2}"/>
              </a:ext>
            </a:extLst>
          </p:cNvPr>
          <p:cNvSpPr txBox="1"/>
          <p:nvPr/>
        </p:nvSpPr>
        <p:spPr>
          <a:xfrm>
            <a:off x="2082800" y="2286000"/>
            <a:ext cx="8890000" cy="355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b="1">
                <a:solidFill>
                  <a:srgbClr val="14213D"/>
                </a:solidFill>
                <a:latin typeface="Pretendard"/>
              </a:rPr>
              <a:t>채널 종횡비에 맞춰 제작했다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516CF5-81B5-9644-A78B-E845C1F4C564}"/>
              </a:ext>
            </a:extLst>
          </p:cNvPr>
          <p:cNvSpPr txBox="1"/>
          <p:nvPr/>
        </p:nvSpPr>
        <p:spPr>
          <a:xfrm>
            <a:off x="2082800" y="2667000"/>
            <a:ext cx="8890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400">
                <a:solidFill>
                  <a:srgbClr val="576176"/>
                </a:solidFill>
                <a:latin typeface="Pretendard"/>
              </a:rPr>
              <a:t>배너 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· 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썸네일 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· 1:1 · 9:16 · 16:9 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규격 확인</a:t>
            </a: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0E07EB61-BE13-7640-A96F-124EEA8A08D6}"/>
              </a:ext>
            </a:extLst>
          </p:cNvPr>
          <p:cNvSpPr/>
          <p:nvPr/>
        </p:nvSpPr>
        <p:spPr>
          <a:xfrm>
            <a:off x="825500" y="3403600"/>
            <a:ext cx="10541000" cy="1219200"/>
          </a:xfrm>
          <a:prstGeom prst="roundRect">
            <a:avLst>
              <a:gd name="adj" fmla="val 2083"/>
            </a:avLst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4D3ABC26-A246-6145-8DFF-6EFB6E61121B}"/>
              </a:ext>
            </a:extLst>
          </p:cNvPr>
          <p:cNvSpPr/>
          <p:nvPr/>
        </p:nvSpPr>
        <p:spPr>
          <a:xfrm>
            <a:off x="825500" y="3403600"/>
            <a:ext cx="76200" cy="1219200"/>
          </a:xfrm>
          <a:prstGeom prst="roundRect">
            <a:avLst>
              <a:gd name="adj" fmla="val 33333"/>
            </a:avLst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8EC0E1B3-8AAC-824C-89B7-148DB34D64B6}"/>
              </a:ext>
            </a:extLst>
          </p:cNvPr>
          <p:cNvSpPr/>
          <p:nvPr/>
        </p:nvSpPr>
        <p:spPr>
          <a:xfrm>
            <a:off x="1270000" y="3759200"/>
            <a:ext cx="508000" cy="508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2225" cap="flat" cmpd="sng" algn="ctr">
            <a:solidFill>
              <a:srgbClr val="14213D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2200" b="1">
                <a:solidFill>
                  <a:srgbClr val="E8A33D"/>
                </a:solidFill>
              </a:rPr>
              <a:t>✓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904A98B-EF49-D54B-BA3E-D54F8C780DDF}"/>
              </a:ext>
            </a:extLst>
          </p:cNvPr>
          <p:cNvSpPr txBox="1"/>
          <p:nvPr/>
        </p:nvSpPr>
        <p:spPr>
          <a:xfrm>
            <a:off x="2082800" y="3683000"/>
            <a:ext cx="8890000" cy="355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b="1">
                <a:solidFill>
                  <a:srgbClr val="14213D"/>
                </a:solidFill>
                <a:latin typeface="Pretendard"/>
              </a:rPr>
              <a:t>카드뉴스 세트의 스타일을 통일했다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1CFBD0F-F7A5-3849-8B67-41BD74BB41D8}"/>
              </a:ext>
            </a:extLst>
          </p:cNvPr>
          <p:cNvSpPr txBox="1"/>
          <p:nvPr/>
        </p:nvSpPr>
        <p:spPr>
          <a:xfrm>
            <a:off x="2082800" y="4064000"/>
            <a:ext cx="8890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400">
                <a:solidFill>
                  <a:srgbClr val="576176"/>
                </a:solidFill>
                <a:latin typeface="Pretendard"/>
              </a:rPr>
              <a:t>스타일 키워드 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· 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레이아웃 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· 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폰트 고정</a:t>
            </a:r>
          </a:p>
        </p:txBody>
      </p:sp>
      <p:sp>
        <p:nvSpPr>
          <p:cNvPr id="15" name="모서리가 둥근 직사각형 14">
            <a:extLst>
              <a:ext uri="{FF2B5EF4-FFF2-40B4-BE49-F238E27FC236}">
                <a16:creationId xmlns:a16="http://schemas.microsoft.com/office/drawing/2014/main" id="{403DD7FA-7A60-0C48-A9FE-9A8A8220EBDC}"/>
              </a:ext>
            </a:extLst>
          </p:cNvPr>
          <p:cNvSpPr/>
          <p:nvPr/>
        </p:nvSpPr>
        <p:spPr>
          <a:xfrm>
            <a:off x="825500" y="4800600"/>
            <a:ext cx="10541000" cy="1219200"/>
          </a:xfrm>
          <a:prstGeom prst="roundRect">
            <a:avLst>
              <a:gd name="adj" fmla="val 2083"/>
            </a:avLst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6" name="모서리가 둥근 직사각형 15">
            <a:extLst>
              <a:ext uri="{FF2B5EF4-FFF2-40B4-BE49-F238E27FC236}">
                <a16:creationId xmlns:a16="http://schemas.microsoft.com/office/drawing/2014/main" id="{DF8685AB-B0BD-C249-AB76-E8351FA2E823}"/>
              </a:ext>
            </a:extLst>
          </p:cNvPr>
          <p:cNvSpPr/>
          <p:nvPr/>
        </p:nvSpPr>
        <p:spPr>
          <a:xfrm>
            <a:off x="825500" y="4800600"/>
            <a:ext cx="76200" cy="1219200"/>
          </a:xfrm>
          <a:prstGeom prst="roundRect">
            <a:avLst>
              <a:gd name="adj" fmla="val 33333"/>
            </a:avLst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7" name="모서리가 둥근 직사각형 16">
            <a:extLst>
              <a:ext uri="{FF2B5EF4-FFF2-40B4-BE49-F238E27FC236}">
                <a16:creationId xmlns:a16="http://schemas.microsoft.com/office/drawing/2014/main" id="{9792C59E-FB3F-B84D-8E33-9550CAB6E7FE}"/>
              </a:ext>
            </a:extLst>
          </p:cNvPr>
          <p:cNvSpPr/>
          <p:nvPr/>
        </p:nvSpPr>
        <p:spPr>
          <a:xfrm>
            <a:off x="1270000" y="5156200"/>
            <a:ext cx="508000" cy="508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2225" cap="flat" cmpd="sng" algn="ctr">
            <a:solidFill>
              <a:srgbClr val="14213D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2200" b="1">
                <a:solidFill>
                  <a:srgbClr val="E8A33D"/>
                </a:solidFill>
              </a:rPr>
              <a:t>✓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1155ED6-4D43-6F41-A2E7-21A2F735BFCB}"/>
              </a:ext>
            </a:extLst>
          </p:cNvPr>
          <p:cNvSpPr txBox="1"/>
          <p:nvPr/>
        </p:nvSpPr>
        <p:spPr>
          <a:xfrm>
            <a:off x="2082800" y="5080000"/>
            <a:ext cx="8890000" cy="355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b="1">
                <a:solidFill>
                  <a:srgbClr val="14213D"/>
                </a:solidFill>
                <a:latin typeface="Pretendard"/>
              </a:rPr>
              <a:t>상업적 이용 가능 여부를 확인했다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53B985F-8BA0-014D-A079-8B61F699EC08}"/>
              </a:ext>
            </a:extLst>
          </p:cNvPr>
          <p:cNvSpPr txBox="1"/>
          <p:nvPr/>
        </p:nvSpPr>
        <p:spPr>
          <a:xfrm>
            <a:off x="2082800" y="5461000"/>
            <a:ext cx="8890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400">
                <a:solidFill>
                  <a:srgbClr val="576176"/>
                </a:solidFill>
                <a:latin typeface="Pretendard"/>
              </a:rPr>
              <a:t>도구 약관 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· 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초상권 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· 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타사 상표 점검</a:t>
            </a:r>
          </a:p>
        </p:txBody>
      </p:sp>
      <p:sp>
        <p:nvSpPr>
          <p:cNvPr id="4" name="PageNumber">
            <a:extLst>
              <a:ext uri="{FF2B5EF4-FFF2-40B4-BE49-F238E27FC236}">
                <a16:creationId xmlns:a16="http://schemas.microsoft.com/office/drawing/2014/main" id="{7655587B-E14D-B74C-88A1-7F611ADDD237}"/>
              </a:ext>
            </a:extLst>
          </p:cNvPr>
          <p:cNvSpPr txBox="1"/>
          <p:nvPr/>
        </p:nvSpPr>
        <p:spPr>
          <a:xfrm>
            <a:off x="9499600" y="6489700"/>
            <a:ext cx="23368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r"/>
            <a:r>
              <a:rPr lang="en-US" altLang="ko-KR" sz="1200">
                <a:solidFill>
                  <a:srgbClr val="576176"/>
                </a:solidFill>
                <a:latin typeface="Pretendard"/>
              </a:rPr>
              <a:t>- 85/144 -</a:t>
            </a:r>
            <a:endParaRPr lang="ko-KR" altLang="en-US" sz="1200">
              <a:solidFill>
                <a:srgbClr val="576176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3004067258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95BCA84E-0293-1A4B-B052-DFC42E3D32B6}"/>
              </a:ext>
            </a:extLst>
          </p:cNvPr>
          <p:cNvSpPr/>
          <p:nvPr/>
        </p:nvSpPr>
        <p:spPr>
          <a:xfrm>
            <a:off x="825500" y="1905000"/>
            <a:ext cx="10541000" cy="3175000"/>
          </a:xfrm>
          <a:prstGeom prst="roundRect">
            <a:avLst>
              <a:gd name="adj" fmla="val 800"/>
            </a:avLst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E0E3D281-5BB0-C84A-8844-99138E55C331}"/>
              </a:ext>
            </a:extLst>
          </p:cNvPr>
          <p:cNvSpPr/>
          <p:nvPr/>
        </p:nvSpPr>
        <p:spPr>
          <a:xfrm>
            <a:off x="825500" y="1905000"/>
            <a:ext cx="101600" cy="3175000"/>
          </a:xfrm>
          <a:prstGeom prst="roundRect">
            <a:avLst>
              <a:gd name="adj" fmla="val 25000"/>
            </a:avLst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9F2D36-B457-6A44-ABE3-EFE9B23153E2}"/>
              </a:ext>
            </a:extLst>
          </p:cNvPr>
          <p:cNvSpPr txBox="1"/>
          <p:nvPr/>
        </p:nvSpPr>
        <p:spPr>
          <a:xfrm>
            <a:off x="1333500" y="2286000"/>
            <a:ext cx="8890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500" b="1">
                <a:solidFill>
                  <a:srgbClr val="E8A33D"/>
                </a:solidFill>
                <a:latin typeface="JetBrains Mono"/>
              </a:rPr>
              <a:t>MISSION 04 · </a:t>
            </a:r>
            <a:r>
              <a:rPr lang="ko-KR" altLang="en-US" sz="1500" b="1">
                <a:solidFill>
                  <a:srgbClr val="E8A33D"/>
                </a:solidFill>
                <a:latin typeface="JetBrains Mono"/>
              </a:rPr>
              <a:t>도장깨기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85614D-F6DC-F642-B9C9-5DBF5FDA07A5}"/>
              </a:ext>
            </a:extLst>
          </p:cNvPr>
          <p:cNvSpPr txBox="1"/>
          <p:nvPr/>
        </p:nvSpPr>
        <p:spPr>
          <a:xfrm>
            <a:off x="1333500" y="2641600"/>
            <a:ext cx="8890000" cy="584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3000" b="1">
                <a:solidFill>
                  <a:srgbClr val="FFFFFF"/>
                </a:solidFill>
                <a:latin typeface="Noto Serif KR"/>
              </a:rPr>
              <a:t>홍보 시각자료 만들기</a:t>
            </a: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A329270C-2B44-994A-88DC-2CB5389933CA}"/>
              </a:ext>
            </a:extLst>
          </p:cNvPr>
          <p:cNvSpPr/>
          <p:nvPr/>
        </p:nvSpPr>
        <p:spPr>
          <a:xfrm>
            <a:off x="1333500" y="3454400"/>
            <a:ext cx="9525000" cy="1320800"/>
          </a:xfrm>
          <a:prstGeom prst="roundRect">
            <a:avLst>
              <a:gd name="adj" fmla="val 1923"/>
            </a:avLst>
          </a:prstGeom>
          <a:solidFill>
            <a:srgbClr val="20314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E5E1221-915A-D548-8191-5DC568D793BD}"/>
              </a:ext>
            </a:extLst>
          </p:cNvPr>
          <p:cNvSpPr txBox="1"/>
          <p:nvPr/>
        </p:nvSpPr>
        <p:spPr>
          <a:xfrm>
            <a:off x="1587500" y="3657600"/>
            <a:ext cx="9017000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b="1">
                <a:solidFill>
                  <a:srgbClr val="FFFFFF"/>
                </a:solidFill>
                <a:latin typeface="Pretendard"/>
              </a:rPr>
              <a:t>같은 스타일 키워드를 재사용해 한 세트로 보이는 시각자료를 만든다</a:t>
            </a:r>
            <a:r>
              <a:rPr lang="en-US" altLang="ko-KR" b="1">
                <a:solidFill>
                  <a:srgbClr val="FFFFFF"/>
                </a:solidFill>
                <a:latin typeface="Pretendard"/>
              </a:rPr>
              <a:t>.</a:t>
            </a:r>
            <a:endParaRPr lang="ko-KR" altLang="en-US" b="1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5F337DD-C0D9-2845-AB88-DD3E385F7037}"/>
              </a:ext>
            </a:extLst>
          </p:cNvPr>
          <p:cNvSpPr txBox="1"/>
          <p:nvPr/>
        </p:nvSpPr>
        <p:spPr>
          <a:xfrm>
            <a:off x="1587500" y="4140200"/>
            <a:ext cx="9017000" cy="355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450">
                <a:solidFill>
                  <a:srgbClr val="E8A33D"/>
                </a:solidFill>
                <a:latin typeface="Pretendard"/>
              </a:rPr>
              <a:t>→ 배너</a:t>
            </a:r>
            <a:r>
              <a:rPr lang="en-US" altLang="ko-KR" sz="1450">
                <a:solidFill>
                  <a:srgbClr val="E8A33D"/>
                </a:solidFill>
                <a:latin typeface="Pretendard"/>
              </a:rPr>
              <a:t>·</a:t>
            </a:r>
            <a:r>
              <a:rPr lang="ko-KR" altLang="en-US" sz="1450">
                <a:solidFill>
                  <a:srgbClr val="E8A33D"/>
                </a:solidFill>
                <a:latin typeface="Pretendard"/>
              </a:rPr>
              <a:t>카드뉴스</a:t>
            </a:r>
            <a:r>
              <a:rPr lang="en-US" altLang="ko-KR" sz="1450">
                <a:solidFill>
                  <a:srgbClr val="E8A33D"/>
                </a:solidFill>
                <a:latin typeface="Pretendard"/>
              </a:rPr>
              <a:t>·</a:t>
            </a:r>
            <a:r>
              <a:rPr lang="ko-KR" altLang="en-US" sz="1450">
                <a:solidFill>
                  <a:srgbClr val="E8A33D"/>
                </a:solidFill>
                <a:latin typeface="Pretendard"/>
              </a:rPr>
              <a:t>썸네일이 ‘한 브랜드’처럼 보이게</a:t>
            </a:r>
            <a:r>
              <a:rPr lang="en-US" altLang="ko-KR" sz="1450">
                <a:solidFill>
                  <a:srgbClr val="E8A33D"/>
                </a:solidFill>
                <a:latin typeface="Pretendard"/>
              </a:rPr>
              <a:t>.</a:t>
            </a:r>
            <a:endParaRPr lang="ko-KR" altLang="en-US" sz="1450">
              <a:solidFill>
                <a:srgbClr val="E8A33D"/>
              </a:solidFill>
              <a:latin typeface="Pretendard"/>
            </a:endParaRP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44E4053B-47A5-0740-A2FE-1232DBAE74E4}"/>
              </a:ext>
            </a:extLst>
          </p:cNvPr>
          <p:cNvSpPr/>
          <p:nvPr/>
        </p:nvSpPr>
        <p:spPr>
          <a:xfrm>
            <a:off x="825500" y="5283200"/>
            <a:ext cx="10541000" cy="939800"/>
          </a:xfrm>
          <a:prstGeom prst="roundRect">
            <a:avLst>
              <a:gd name="adj" fmla="val 2703"/>
            </a:avLst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C1F7BF1-D298-AC43-8240-BC091663738F}"/>
              </a:ext>
            </a:extLst>
          </p:cNvPr>
          <p:cNvSpPr txBox="1"/>
          <p:nvPr/>
        </p:nvSpPr>
        <p:spPr>
          <a:xfrm>
            <a:off x="1206500" y="5486400"/>
            <a:ext cx="1778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400" b="1">
                <a:solidFill>
                  <a:srgbClr val="E8A33D"/>
                </a:solidFill>
                <a:latin typeface="JetBrains Mono"/>
              </a:rPr>
              <a:t>▶  NEXT</a:t>
            </a:r>
            <a:endParaRPr lang="ko-KR" altLang="en-US" sz="1400" b="1">
              <a:solidFill>
                <a:srgbClr val="E8A33D"/>
              </a:solidFill>
              <a:latin typeface="JetBrains Mono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0A79527-D59C-A54B-91D4-222D4B8BA3E1}"/>
              </a:ext>
            </a:extLst>
          </p:cNvPr>
          <p:cNvSpPr txBox="1"/>
          <p:nvPr/>
        </p:nvSpPr>
        <p:spPr>
          <a:xfrm>
            <a:off x="1206500" y="5740400"/>
            <a:ext cx="9652000" cy="330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b="1">
                <a:solidFill>
                  <a:srgbClr val="14213D"/>
                </a:solidFill>
                <a:latin typeface="Pretendard"/>
              </a:rPr>
              <a:t>M5 · AI </a:t>
            </a:r>
            <a:r>
              <a:rPr lang="ko-KR" altLang="en-US" b="1">
                <a:solidFill>
                  <a:srgbClr val="14213D"/>
                </a:solidFill>
                <a:latin typeface="Pretendard"/>
              </a:rPr>
              <a:t>기반 </a:t>
            </a:r>
            <a:r>
              <a:rPr lang="en-US" altLang="ko-KR" b="1">
                <a:solidFill>
                  <a:srgbClr val="14213D"/>
                </a:solidFill>
                <a:latin typeface="Pretendard"/>
              </a:rPr>
              <a:t>UI </a:t>
            </a:r>
            <a:r>
              <a:rPr lang="ko-KR" altLang="en-US" b="1">
                <a:solidFill>
                  <a:srgbClr val="14213D"/>
                </a:solidFill>
                <a:latin typeface="Pretendard"/>
              </a:rPr>
              <a:t>시안 제작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8FCBE2F3-B284-04F4-0C7B-019BFE05D16E}"/>
              </a:ext>
            </a:extLst>
          </p:cNvPr>
          <p:cNvGrpSpPr/>
          <p:nvPr/>
        </p:nvGrpSpPr>
        <p:grpSpPr>
          <a:xfrm>
            <a:off x="8791821" y="343699"/>
            <a:ext cx="3400179" cy="3161501"/>
            <a:chOff x="13449300" y="2921000"/>
            <a:chExt cx="11036300" cy="1026160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061A7DAF-3404-64DC-4D15-06A508E548B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50000"/>
            </a:blip>
            <a:stretch>
              <a:fillRect/>
            </a:stretch>
          </p:blipFill>
          <p:spPr>
            <a:xfrm>
              <a:off x="21920200" y="8051800"/>
              <a:ext cx="2565400" cy="5130800"/>
            </a:xfrm>
            <a:prstGeom prst="rect">
              <a:avLst/>
            </a:prstGeom>
          </p:spPr>
        </p:pic>
        <p:pic>
          <p:nvPicPr>
            <p:cNvPr id="14" name="Picture 3">
              <a:extLst>
                <a:ext uri="{FF2B5EF4-FFF2-40B4-BE49-F238E27FC236}">
                  <a16:creationId xmlns:a16="http://schemas.microsoft.com/office/drawing/2014/main" id="{6A15E7F7-4E16-F7D9-7547-8979294DF96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70000"/>
            </a:blip>
            <a:stretch>
              <a:fillRect/>
            </a:stretch>
          </p:blipFill>
          <p:spPr>
            <a:xfrm>
              <a:off x="14185900" y="8686800"/>
              <a:ext cx="4495800" cy="4495800"/>
            </a:xfrm>
            <a:prstGeom prst="rect">
              <a:avLst/>
            </a:prstGeom>
          </p:spPr>
        </p:pic>
        <p:pic>
          <p:nvPicPr>
            <p:cNvPr id="15" name="Picture 4">
              <a:extLst>
                <a:ext uri="{FF2B5EF4-FFF2-40B4-BE49-F238E27FC236}">
                  <a16:creationId xmlns:a16="http://schemas.microsoft.com/office/drawing/2014/main" id="{F1026807-DCA0-B893-2760-DD97FDBA073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70000"/>
            </a:blip>
            <a:stretch>
              <a:fillRect/>
            </a:stretch>
          </p:blipFill>
          <p:spPr>
            <a:xfrm>
              <a:off x="16433800" y="6007100"/>
              <a:ext cx="6172200" cy="6172200"/>
            </a:xfrm>
            <a:prstGeom prst="rect">
              <a:avLst/>
            </a:prstGeom>
          </p:spPr>
        </p:pic>
        <p:pic>
          <p:nvPicPr>
            <p:cNvPr id="16" name="Picture 5">
              <a:extLst>
                <a:ext uri="{FF2B5EF4-FFF2-40B4-BE49-F238E27FC236}">
                  <a16:creationId xmlns:a16="http://schemas.microsoft.com/office/drawing/2014/main" id="{0997AAB2-2397-AF50-89DA-F10ECCD59DD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alphaModFix amt="70000"/>
            </a:blip>
            <a:stretch>
              <a:fillRect/>
            </a:stretch>
          </p:blipFill>
          <p:spPr>
            <a:xfrm>
              <a:off x="20688300" y="2921000"/>
              <a:ext cx="1244600" cy="1244600"/>
            </a:xfrm>
            <a:prstGeom prst="rect">
              <a:avLst/>
            </a:prstGeom>
          </p:spPr>
        </p:pic>
        <p:pic>
          <p:nvPicPr>
            <p:cNvPr id="17" name="Picture 7">
              <a:extLst>
                <a:ext uri="{FF2B5EF4-FFF2-40B4-BE49-F238E27FC236}">
                  <a16:creationId xmlns:a16="http://schemas.microsoft.com/office/drawing/2014/main" id="{CE51D341-706F-D251-7429-0474A9C95C7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alphaModFix amt="70000"/>
            </a:blip>
            <a:stretch>
              <a:fillRect/>
            </a:stretch>
          </p:blipFill>
          <p:spPr>
            <a:xfrm>
              <a:off x="13449300" y="11684000"/>
              <a:ext cx="1485900" cy="1485900"/>
            </a:xfrm>
            <a:prstGeom prst="rect">
              <a:avLst/>
            </a:prstGeom>
          </p:spPr>
        </p:pic>
        <p:pic>
          <p:nvPicPr>
            <p:cNvPr id="18" name="Picture 8">
              <a:extLst>
                <a:ext uri="{FF2B5EF4-FFF2-40B4-BE49-F238E27FC236}">
                  <a16:creationId xmlns:a16="http://schemas.microsoft.com/office/drawing/2014/main" id="{EAD06075-6D03-A048-5A27-5B7398BFD26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alphaModFix amt="41000"/>
            </a:blip>
            <a:stretch>
              <a:fillRect/>
            </a:stretch>
          </p:blipFill>
          <p:spPr>
            <a:xfrm rot="5400000">
              <a:off x="21869400" y="6515100"/>
              <a:ext cx="3670300" cy="1562100"/>
            </a:xfrm>
            <a:prstGeom prst="rect">
              <a:avLst/>
            </a:prstGeom>
          </p:spPr>
        </p:pic>
      </p:grpSp>
      <p:sp>
        <p:nvSpPr>
          <p:cNvPr id="19" name="PageNumber">
            <a:extLst>
              <a:ext uri="{FF2B5EF4-FFF2-40B4-BE49-F238E27FC236}">
                <a16:creationId xmlns:a16="http://schemas.microsoft.com/office/drawing/2014/main" id="{8292A707-3A71-8647-B187-0587C805FD32}"/>
              </a:ext>
            </a:extLst>
          </p:cNvPr>
          <p:cNvSpPr txBox="1"/>
          <p:nvPr/>
        </p:nvSpPr>
        <p:spPr>
          <a:xfrm>
            <a:off x="9499600" y="6489700"/>
            <a:ext cx="23368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r"/>
            <a:r>
              <a:rPr lang="en-US" altLang="ko-KR" sz="1200">
                <a:solidFill>
                  <a:schemeClr val="bg1"/>
                </a:solidFill>
                <a:latin typeface="Pretendard"/>
              </a:rPr>
              <a:t>- 86/144 -</a:t>
            </a:r>
            <a:endParaRPr lang="ko-KR" altLang="en-US" sz="1200">
              <a:solidFill>
                <a:schemeClr val="bg1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1670467609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4E8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2960" y="1554480"/>
            <a:ext cx="1005840" cy="128016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1000"/>
              </a:spcAft>
            </a:pPr>
            <a:r>
              <a:rPr sz="1400" b="0">
                <a:solidFill>
                  <a:srgbClr val="BFD2EC"/>
                </a:solidFill>
                <a:latin typeface="JetBrains Mono"/>
                <a:ea typeface="JetBrains Mono"/>
                <a:cs typeface="JetBrains Mono"/>
              </a:rPr>
              <a:t>MODULE 5 · 5교시 · 14:00–14:50</a:t>
            </a:r>
          </a:p>
          <a:p>
            <a:pPr algn="l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</a:pPr>
            <a:r>
              <a:rPr sz="3800" b="1">
                <a:solidFill>
                  <a:srgbClr val="FFFFFF"/>
                </a:solidFill>
                <a:latin typeface="Noto Serif KR"/>
                <a:ea typeface="Noto Serif KR"/>
                <a:cs typeface="Noto Serif KR"/>
              </a:rPr>
              <a:t>M5. AI 기반 UI 시안 제작</a:t>
            </a:r>
          </a:p>
          <a:p>
            <a:pPr algn="l">
              <a:lnSpc>
                <a:spcPct val="140000"/>
              </a:lnSpc>
              <a:spcBef>
                <a:spcPts val="600"/>
              </a:spcBef>
              <a:spcAft>
                <a:spcPts val="400"/>
              </a:spcAft>
            </a:pPr>
            <a:r>
              <a:rPr sz="1500" b="0">
                <a:solidFill>
                  <a:srgbClr val="DBE6F6"/>
                </a:solidFill>
                <a:latin typeface="Pretendard"/>
                <a:ea typeface="Pretendard"/>
                <a:cs typeface="Pretendard"/>
              </a:rPr>
              <a:t>Google Stitch로 자연어 설명만으로 홍보용 UI 시안을 생성하고, 랜딩/이벤트 페이지의 화면 구조와 흐름을 설계한다.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4206240"/>
            <a:ext cx="10515600" cy="2057400"/>
          </a:xfrm>
          <a:prstGeom prst="rect">
            <a:avLst/>
          </a:prstGeom>
          <a:solidFill>
            <a:srgbClr val="184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164592" rtlCol="0" anchor="ctr"/>
          <a:lstStyle/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300"/>
              </a:spcAft>
            </a:pPr>
            <a:r>
              <a:rPr b="1">
                <a:solidFill>
                  <a:srgbClr val="9FC0E6"/>
                </a:solidFill>
                <a:latin typeface="JetBrains Mono"/>
                <a:ea typeface="JetBrains Mono"/>
                <a:cs typeface="JetBrains Mono"/>
              </a:rPr>
              <a:t>이전  </a:t>
            </a:r>
            <a:r>
              <a:rPr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M3·M4의 콘텐츠·비주얼이 모였다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300"/>
              </a:spcAft>
            </a:pPr>
            <a:r>
              <a:rPr b="1">
                <a:solidFill>
                  <a:srgbClr val="E8A33D"/>
                </a:solidFill>
                <a:latin typeface="JetBrains Mono"/>
                <a:ea typeface="JetBrains Mono"/>
                <a:cs typeface="JetBrains Mono"/>
              </a:rPr>
              <a:t>이번  </a:t>
            </a:r>
            <a:r>
              <a:rPr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이것들을 담을 홍보 페이지 UI 시안을 만든다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400"/>
              </a:spcAft>
            </a:pPr>
            <a:r>
              <a:rPr b="1">
                <a:solidFill>
                  <a:srgbClr val="9FC0E6"/>
                </a:solidFill>
                <a:latin typeface="JetBrains Mono"/>
                <a:ea typeface="JetBrains Mono"/>
                <a:cs typeface="JetBrains Mono"/>
              </a:rPr>
              <a:t>다음  </a:t>
            </a:r>
            <a:r>
              <a:rPr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시안에 카피·이미지를 채워 실제 페이지로 → M6</a:t>
            </a:r>
          </a:p>
        </p:txBody>
      </p:sp>
      <p:pic>
        <p:nvPicPr>
          <p:cNvPr id="5" name="Picture 11">
            <a:extLst>
              <a:ext uri="{FF2B5EF4-FFF2-40B4-BE49-F238E27FC236}">
                <a16:creationId xmlns:a16="http://schemas.microsoft.com/office/drawing/2014/main" id="{6CC62012-472C-DCB0-09B7-C901BD081E3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7000"/>
          </a:blip>
          <a:stretch>
            <a:fillRect/>
          </a:stretch>
        </p:blipFill>
        <p:spPr>
          <a:xfrm>
            <a:off x="8030547" y="378997"/>
            <a:ext cx="5486400" cy="2272763"/>
          </a:xfrm>
          <a:prstGeom prst="rect">
            <a:avLst/>
          </a:prstGeom>
        </p:spPr>
      </p:pic>
      <p:sp>
        <p:nvSpPr>
          <p:cNvPr id="6" name="PageNumber">
            <a:extLst>
              <a:ext uri="{FF2B5EF4-FFF2-40B4-BE49-F238E27FC236}">
                <a16:creationId xmlns:a16="http://schemas.microsoft.com/office/drawing/2014/main" id="{DBACB1B1-BCCC-8C42-9D89-9C345451BA76}"/>
              </a:ext>
            </a:extLst>
          </p:cNvPr>
          <p:cNvSpPr txBox="1"/>
          <p:nvPr/>
        </p:nvSpPr>
        <p:spPr>
          <a:xfrm>
            <a:off x="9499600" y="6489700"/>
            <a:ext cx="23368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r"/>
            <a:r>
              <a:rPr lang="en-US" altLang="ko-KR" sz="1200" dirty="0">
                <a:solidFill>
                  <a:srgbClr val="576176"/>
                </a:solidFill>
                <a:latin typeface="Pretendard"/>
              </a:rPr>
              <a:t>- </a:t>
            </a:r>
            <a:r>
              <a:rPr lang="en-US" altLang="ko-KR" sz="1200" dirty="0">
                <a:solidFill>
                  <a:schemeClr val="bg1"/>
                </a:solidFill>
                <a:latin typeface="Pretendard"/>
              </a:rPr>
              <a:t>87/144</a:t>
            </a:r>
            <a:r>
              <a:rPr lang="en-US" altLang="ko-KR" sz="1200" dirty="0">
                <a:solidFill>
                  <a:srgbClr val="576176"/>
                </a:solidFill>
                <a:latin typeface="Pretendard"/>
              </a:rPr>
              <a:t> -</a:t>
            </a:r>
            <a:endParaRPr lang="ko-KR" altLang="en-US" sz="1200" dirty="0">
              <a:solidFill>
                <a:srgbClr val="576176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2381619643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학습 목표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이 모듈에서 할 수 있게 되는 것</a:t>
            </a: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32312353-19CD-C745-8F03-0D3A7F1AB085}"/>
              </a:ext>
            </a:extLst>
          </p:cNvPr>
          <p:cNvSpPr/>
          <p:nvPr/>
        </p:nvSpPr>
        <p:spPr>
          <a:xfrm>
            <a:off x="825500" y="1905000"/>
            <a:ext cx="5080000" cy="4381500"/>
          </a:xfrm>
          <a:prstGeom prst="roundRect">
            <a:avLst>
              <a:gd name="adj" fmla="val 580"/>
            </a:avLst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FCE8A0-62AC-1E4D-9B18-2518AC1CF3A9}"/>
              </a:ext>
            </a:extLst>
          </p:cNvPr>
          <p:cNvSpPr txBox="1"/>
          <p:nvPr/>
        </p:nvSpPr>
        <p:spPr>
          <a:xfrm>
            <a:off x="1257300" y="2235200"/>
            <a:ext cx="1524000" cy="711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4000" b="1">
                <a:solidFill>
                  <a:srgbClr val="E8A33D"/>
                </a:solidFill>
                <a:latin typeface="JetBrains Mono"/>
              </a:rPr>
              <a:t>01</a:t>
            </a:r>
            <a:endParaRPr lang="ko-KR" altLang="en-US" sz="4000" b="1">
              <a:solidFill>
                <a:srgbClr val="E8A33D"/>
              </a:solidFill>
              <a:latin typeface="JetBrains Mono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23BDE64-DD68-2546-A00F-00BD5843828B}"/>
              </a:ext>
            </a:extLst>
          </p:cNvPr>
          <p:cNvSpPr/>
          <p:nvPr/>
        </p:nvSpPr>
        <p:spPr>
          <a:xfrm>
            <a:off x="1282700" y="3124200"/>
            <a:ext cx="685800" cy="50800"/>
          </a:xfrm>
          <a:prstGeom prst="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022B02-F633-AB43-8C92-C4D8D88CE2AF}"/>
              </a:ext>
            </a:extLst>
          </p:cNvPr>
          <p:cNvSpPr txBox="1"/>
          <p:nvPr/>
        </p:nvSpPr>
        <p:spPr>
          <a:xfrm>
            <a:off x="1282700" y="3479800"/>
            <a:ext cx="4165600" cy="165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2000" b="1" dirty="0">
                <a:solidFill>
                  <a:srgbClr val="14213D"/>
                </a:solidFill>
                <a:latin typeface="Pretendard"/>
              </a:rPr>
              <a:t>자연어 설명으로 </a:t>
            </a:r>
            <a:endParaRPr lang="en-US" altLang="ko-KR" sz="2000" b="1" dirty="0">
              <a:solidFill>
                <a:srgbClr val="14213D"/>
              </a:solidFill>
              <a:latin typeface="Pretendard"/>
            </a:endParaRPr>
          </a:p>
          <a:p>
            <a:pPr algn="l">
              <a:lnSpc>
                <a:spcPct val="150000"/>
              </a:lnSpc>
            </a:pPr>
            <a:r>
              <a:rPr lang="ko-KR" altLang="en-US" sz="2000" b="1" dirty="0">
                <a:solidFill>
                  <a:srgbClr val="14213D"/>
                </a:solidFill>
                <a:latin typeface="Pretendard"/>
              </a:rPr>
              <a:t>홍보용 </a:t>
            </a:r>
            <a:r>
              <a:rPr lang="en-US" altLang="ko-KR" sz="2000" b="1" dirty="0">
                <a:solidFill>
                  <a:srgbClr val="14213D"/>
                </a:solidFill>
                <a:latin typeface="Pretendard"/>
                <a:ea typeface="Pretendard"/>
              </a:rPr>
              <a:t>UI </a:t>
            </a:r>
            <a:r>
              <a:rPr lang="ko-KR" altLang="en-US" sz="2000" b="1" dirty="0">
                <a:solidFill>
                  <a:srgbClr val="14213D"/>
                </a:solidFill>
                <a:latin typeface="Pretendard"/>
              </a:rPr>
              <a:t>시안을 생성할 수 있다</a:t>
            </a:r>
            <a:r>
              <a:rPr lang="en-US" altLang="ko-KR" sz="2000" b="1" dirty="0">
                <a:solidFill>
                  <a:srgbClr val="14213D"/>
                </a:solidFill>
                <a:latin typeface="Pretendard"/>
                <a:ea typeface="Pretendard"/>
              </a:rPr>
              <a:t>.</a:t>
            </a:r>
            <a:endParaRPr lang="ko-KR" altLang="en-US" sz="2000" b="1" dirty="0">
              <a:solidFill>
                <a:srgbClr val="14213D"/>
              </a:solidFill>
              <a:latin typeface="Pretendard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81009A-28F2-5841-951D-EE5B73284298}"/>
              </a:ext>
            </a:extLst>
          </p:cNvPr>
          <p:cNvSpPr txBox="1"/>
          <p:nvPr/>
        </p:nvSpPr>
        <p:spPr>
          <a:xfrm>
            <a:off x="1282700" y="5613400"/>
            <a:ext cx="4165600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400">
                <a:solidFill>
                  <a:srgbClr val="1D4E89"/>
                </a:solidFill>
                <a:latin typeface="JetBrains Mono"/>
              </a:rPr>
              <a:t>→ Google Stitch </a:t>
            </a:r>
            <a:r>
              <a:rPr lang="ko-KR" altLang="en-US" sz="1400">
                <a:solidFill>
                  <a:srgbClr val="1D4E89"/>
                </a:solidFill>
                <a:latin typeface="JetBrains Mono"/>
              </a:rPr>
              <a:t>활용</a:t>
            </a: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B0AC69EB-6A4D-194C-A087-5D41343677FB}"/>
              </a:ext>
            </a:extLst>
          </p:cNvPr>
          <p:cNvSpPr/>
          <p:nvPr/>
        </p:nvSpPr>
        <p:spPr>
          <a:xfrm>
            <a:off x="6286500" y="1905000"/>
            <a:ext cx="5080000" cy="4381500"/>
          </a:xfrm>
          <a:prstGeom prst="roundRect">
            <a:avLst>
              <a:gd name="adj" fmla="val 580"/>
            </a:avLst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FDD172A-CE38-FF48-950A-9ABBA190A1F9}"/>
              </a:ext>
            </a:extLst>
          </p:cNvPr>
          <p:cNvSpPr txBox="1"/>
          <p:nvPr/>
        </p:nvSpPr>
        <p:spPr>
          <a:xfrm>
            <a:off x="6718300" y="2235200"/>
            <a:ext cx="1524000" cy="711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4000" b="1">
                <a:solidFill>
                  <a:srgbClr val="E8A33D"/>
                </a:solidFill>
                <a:latin typeface="JetBrains Mono"/>
              </a:rPr>
              <a:t>02</a:t>
            </a:r>
            <a:endParaRPr lang="ko-KR" altLang="en-US" sz="4000" b="1">
              <a:solidFill>
                <a:srgbClr val="E8A33D"/>
              </a:solidFill>
              <a:latin typeface="JetBrains Mono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2C45294-6260-3C47-855B-62D9DD84B2A0}"/>
              </a:ext>
            </a:extLst>
          </p:cNvPr>
          <p:cNvSpPr/>
          <p:nvPr/>
        </p:nvSpPr>
        <p:spPr>
          <a:xfrm>
            <a:off x="6743700" y="3124200"/>
            <a:ext cx="685800" cy="50800"/>
          </a:xfrm>
          <a:prstGeom prst="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E8CAA33-A9AF-5B48-8765-4FF97AB0D168}"/>
              </a:ext>
            </a:extLst>
          </p:cNvPr>
          <p:cNvSpPr txBox="1"/>
          <p:nvPr/>
        </p:nvSpPr>
        <p:spPr>
          <a:xfrm>
            <a:off x="6743700" y="3479800"/>
            <a:ext cx="4165600" cy="165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2000" b="1" dirty="0">
                <a:solidFill>
                  <a:srgbClr val="14213D"/>
                </a:solidFill>
                <a:latin typeface="Pretendard"/>
              </a:rPr>
              <a:t>홍보 페이지의 </a:t>
            </a:r>
            <a:endParaRPr lang="en-US" altLang="ko-KR" sz="2000" b="1" dirty="0">
              <a:solidFill>
                <a:srgbClr val="14213D"/>
              </a:solidFill>
              <a:latin typeface="Pretendard"/>
            </a:endParaRPr>
          </a:p>
          <a:p>
            <a:pPr algn="l">
              <a:lnSpc>
                <a:spcPct val="150000"/>
              </a:lnSpc>
            </a:pPr>
            <a:r>
              <a:rPr lang="ko-KR" altLang="en-US" sz="2000" b="1" dirty="0">
                <a:solidFill>
                  <a:srgbClr val="14213D"/>
                </a:solidFill>
                <a:latin typeface="Pretendard"/>
              </a:rPr>
              <a:t>화면 구조와 흐름을 설계할 수 있다</a:t>
            </a:r>
            <a:r>
              <a:rPr lang="en-US" altLang="ko-KR" sz="2000" b="1" dirty="0">
                <a:solidFill>
                  <a:srgbClr val="14213D"/>
                </a:solidFill>
                <a:latin typeface="Pretendard"/>
                <a:ea typeface="Pretendard"/>
              </a:rPr>
              <a:t>.</a:t>
            </a:r>
            <a:endParaRPr lang="ko-KR" altLang="en-US" sz="2000" b="1" dirty="0">
              <a:solidFill>
                <a:srgbClr val="14213D"/>
              </a:solidFill>
              <a:latin typeface="Pretendard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ED1B18A-8AB7-1B46-8694-C5086FE54F70}"/>
              </a:ext>
            </a:extLst>
          </p:cNvPr>
          <p:cNvSpPr txBox="1"/>
          <p:nvPr/>
        </p:nvSpPr>
        <p:spPr>
          <a:xfrm>
            <a:off x="6743700" y="5613400"/>
            <a:ext cx="4165600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400">
                <a:solidFill>
                  <a:srgbClr val="1D4E89"/>
                </a:solidFill>
                <a:latin typeface="JetBrains Mono"/>
              </a:rPr>
              <a:t>→ 랜딩</a:t>
            </a:r>
            <a:r>
              <a:rPr lang="en-US" altLang="ko-KR" sz="1400">
                <a:solidFill>
                  <a:srgbClr val="1D4E89"/>
                </a:solidFill>
                <a:latin typeface="JetBrains Mono"/>
              </a:rPr>
              <a:t>·</a:t>
            </a:r>
            <a:r>
              <a:rPr lang="ko-KR" altLang="en-US" sz="1400">
                <a:solidFill>
                  <a:srgbClr val="1D4E89"/>
                </a:solidFill>
                <a:latin typeface="JetBrains Mono"/>
              </a:rPr>
              <a:t>이벤트 페이지</a:t>
            </a:r>
          </a:p>
        </p:txBody>
      </p:sp>
      <p:sp>
        <p:nvSpPr>
          <p:cNvPr id="4" name="PageNumber">
            <a:extLst>
              <a:ext uri="{FF2B5EF4-FFF2-40B4-BE49-F238E27FC236}">
                <a16:creationId xmlns:a16="http://schemas.microsoft.com/office/drawing/2014/main" id="{CF069D45-6D43-5840-94DA-CDE55D1F58A2}"/>
              </a:ext>
            </a:extLst>
          </p:cNvPr>
          <p:cNvSpPr txBox="1"/>
          <p:nvPr/>
        </p:nvSpPr>
        <p:spPr>
          <a:xfrm>
            <a:off x="9499600" y="6489700"/>
            <a:ext cx="23368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r"/>
            <a:r>
              <a:rPr lang="en-US" altLang="ko-KR" sz="1200">
                <a:solidFill>
                  <a:srgbClr val="576176"/>
                </a:solidFill>
                <a:latin typeface="Pretendard"/>
              </a:rPr>
              <a:t>- 88/144 -</a:t>
            </a:r>
            <a:endParaRPr lang="ko-KR" altLang="en-US" sz="1200">
              <a:solidFill>
                <a:srgbClr val="576176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36197592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4E8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70C3955A-4E31-694A-A4EB-89E3D255E47B}"/>
              </a:ext>
            </a:extLst>
          </p:cNvPr>
          <p:cNvSpPr/>
          <p:nvPr/>
        </p:nvSpPr>
        <p:spPr>
          <a:xfrm>
            <a:off x="914400" y="2117649"/>
            <a:ext cx="431800" cy="76200"/>
          </a:xfrm>
          <a:prstGeom prst="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68DF6F-C234-D44E-A280-635E917830E9}"/>
              </a:ext>
            </a:extLst>
          </p:cNvPr>
          <p:cNvSpPr txBox="1"/>
          <p:nvPr/>
        </p:nvSpPr>
        <p:spPr>
          <a:xfrm>
            <a:off x="914400" y="2295449"/>
            <a:ext cx="5080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500" b="1">
                <a:solidFill>
                  <a:srgbClr val="E8A33D"/>
                </a:solidFill>
                <a:latin typeface="JetBrains Mono"/>
              </a:rPr>
              <a:t>SESSION 1</a:t>
            </a:r>
            <a:endParaRPr lang="ko-KR" altLang="en-US" sz="1500" b="1">
              <a:solidFill>
                <a:srgbClr val="E8A33D"/>
              </a:solidFill>
              <a:latin typeface="JetBrains Mono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711E67-3624-DC49-943D-D1CC4C497C55}"/>
              </a:ext>
            </a:extLst>
          </p:cNvPr>
          <p:cNvSpPr txBox="1"/>
          <p:nvPr/>
        </p:nvSpPr>
        <p:spPr>
          <a:xfrm>
            <a:off x="914400" y="2651049"/>
            <a:ext cx="10363200" cy="609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3200" b="1">
                <a:solidFill>
                  <a:srgbClr val="FFFFFF"/>
                </a:solidFill>
                <a:latin typeface="Noto Serif KR"/>
              </a:rPr>
              <a:t>자연어로 </a:t>
            </a:r>
            <a:r>
              <a:rPr lang="en-US" altLang="ko-KR" sz="3200" b="1">
                <a:solidFill>
                  <a:srgbClr val="FFFFFF"/>
                </a:solidFill>
                <a:latin typeface="Noto Serif KR"/>
              </a:rPr>
              <a:t>UI </a:t>
            </a:r>
            <a:r>
              <a:rPr lang="ko-KR" altLang="en-US" sz="3200" b="1">
                <a:solidFill>
                  <a:srgbClr val="FFFFFF"/>
                </a:solidFill>
                <a:latin typeface="Noto Serif KR"/>
              </a:rPr>
              <a:t>시안 만들기 </a:t>
            </a:r>
            <a:r>
              <a:rPr lang="en-US" altLang="ko-KR" sz="3200" b="1">
                <a:solidFill>
                  <a:srgbClr val="FFFFFF"/>
                </a:solidFill>
                <a:latin typeface="Noto Serif KR"/>
              </a:rPr>
              <a:t>(Google Stitch)</a:t>
            </a:r>
            <a:endParaRPr lang="ko-KR" altLang="en-US" sz="3200" b="1">
              <a:solidFill>
                <a:srgbClr val="FFFFFF"/>
              </a:solidFill>
              <a:latin typeface="Noto Serif KR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F393E3-6EEF-F945-A8CA-EA4D672C6215}"/>
              </a:ext>
            </a:extLst>
          </p:cNvPr>
          <p:cNvSpPr txBox="1"/>
          <p:nvPr/>
        </p:nvSpPr>
        <p:spPr>
          <a:xfrm>
            <a:off x="914400" y="3336849"/>
            <a:ext cx="10033000" cy="879551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altLang="ko-KR" sz="1600" dirty="0">
                <a:solidFill>
                  <a:srgbClr val="DCE6F2"/>
                </a:solidFill>
                <a:latin typeface="Pretendard"/>
              </a:rPr>
              <a:t>Stitch</a:t>
            </a:r>
            <a:r>
              <a:rPr lang="ko-KR" altLang="en-US" sz="1600" dirty="0">
                <a:solidFill>
                  <a:srgbClr val="DCE6F2"/>
                </a:solidFill>
                <a:latin typeface="Pretendard"/>
              </a:rPr>
              <a:t>는 자연어 프롬프트를 </a:t>
            </a:r>
            <a:r>
              <a:rPr lang="en-US" altLang="ko-KR" sz="1600" dirty="0">
                <a:solidFill>
                  <a:srgbClr val="DCE6F2"/>
                </a:solidFill>
                <a:latin typeface="Pretendard"/>
              </a:rPr>
              <a:t>UI </a:t>
            </a:r>
            <a:r>
              <a:rPr lang="ko-KR" altLang="en-US" sz="1600" dirty="0">
                <a:solidFill>
                  <a:srgbClr val="DCE6F2"/>
                </a:solidFill>
                <a:latin typeface="Pretendard"/>
              </a:rPr>
              <a:t>시안으로 바꾼다</a:t>
            </a:r>
            <a:r>
              <a:rPr lang="en-US" altLang="ko-KR" sz="1600" dirty="0">
                <a:solidFill>
                  <a:srgbClr val="DCE6F2"/>
                </a:solidFill>
                <a:latin typeface="Pretendard"/>
              </a:rPr>
              <a:t>. </a:t>
            </a:r>
          </a:p>
          <a:p>
            <a:pPr algn="l">
              <a:lnSpc>
                <a:spcPct val="150000"/>
              </a:lnSpc>
            </a:pPr>
            <a:r>
              <a:rPr lang="en-US" altLang="ko-KR" sz="1600" dirty="0">
                <a:solidFill>
                  <a:srgbClr val="DCE6F2"/>
                </a:solidFill>
                <a:latin typeface="Pretendard"/>
              </a:rPr>
              <a:t>‘</a:t>
            </a:r>
            <a:r>
              <a:rPr lang="ko-KR" altLang="en-US" sz="1600" dirty="0">
                <a:solidFill>
                  <a:srgbClr val="DCE6F2"/>
                </a:solidFill>
                <a:latin typeface="Pretendard"/>
              </a:rPr>
              <a:t>무엇을 위한 </a:t>
            </a:r>
            <a:r>
              <a:rPr lang="ko-KR" altLang="en-US" sz="1600" dirty="0" err="1">
                <a:solidFill>
                  <a:srgbClr val="DCE6F2"/>
                </a:solidFill>
                <a:latin typeface="Pretendard"/>
              </a:rPr>
              <a:t>화면인지’를</a:t>
            </a:r>
            <a:r>
              <a:rPr lang="ko-KR" altLang="en-US" sz="1600" dirty="0">
                <a:solidFill>
                  <a:srgbClr val="DCE6F2"/>
                </a:solidFill>
                <a:latin typeface="Pretendard"/>
              </a:rPr>
              <a:t> 명확히 적는 게 핵심</a:t>
            </a:r>
            <a:r>
              <a:rPr lang="en-US" altLang="ko-KR" sz="1600" dirty="0">
                <a:solidFill>
                  <a:srgbClr val="DCE6F2"/>
                </a:solidFill>
                <a:latin typeface="Pretendard"/>
              </a:rPr>
              <a:t>.</a:t>
            </a:r>
            <a:endParaRPr lang="ko-KR" altLang="en-US" sz="1600" dirty="0">
              <a:solidFill>
                <a:srgbClr val="DCE6F2"/>
              </a:solidFill>
              <a:latin typeface="Pretendard"/>
            </a:endParaRP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B349B10A-62E3-EF4E-A0D0-B802FF002B21}"/>
              </a:ext>
            </a:extLst>
          </p:cNvPr>
          <p:cNvSpPr/>
          <p:nvPr/>
        </p:nvSpPr>
        <p:spPr>
          <a:xfrm>
            <a:off x="914400" y="4521200"/>
            <a:ext cx="2616200" cy="889000"/>
          </a:xfrm>
          <a:prstGeom prst="roundRect">
            <a:avLst>
              <a:gd name="adj" fmla="val 2857"/>
            </a:avLst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ko-KR" altLang="en-US" sz="1600" b="1">
                <a:solidFill>
                  <a:srgbClr val="FFFFFF"/>
                </a:solidFill>
                <a:latin typeface="Pretendard"/>
              </a:rPr>
              <a:t>디자인 브리프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FE56BC-5D0F-964F-A985-D49DE7071720}"/>
              </a:ext>
            </a:extLst>
          </p:cNvPr>
          <p:cNvSpPr txBox="1"/>
          <p:nvPr/>
        </p:nvSpPr>
        <p:spPr>
          <a:xfrm>
            <a:off x="3530600" y="4521200"/>
            <a:ext cx="558800" cy="889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ko-KR" altLang="en-US" sz="2400" b="1">
                <a:solidFill>
                  <a:srgbClr val="9FB3CE"/>
                </a:solidFill>
                <a:latin typeface="Pretendard"/>
              </a:rPr>
              <a:t>→</a:t>
            </a: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211A8D03-3EF4-8A4C-B882-F08CF0BBC7A8}"/>
              </a:ext>
            </a:extLst>
          </p:cNvPr>
          <p:cNvSpPr/>
          <p:nvPr/>
        </p:nvSpPr>
        <p:spPr>
          <a:xfrm>
            <a:off x="4089400" y="4521200"/>
            <a:ext cx="2616200" cy="889000"/>
          </a:xfrm>
          <a:prstGeom prst="roundRect">
            <a:avLst>
              <a:gd name="adj" fmla="val 2857"/>
            </a:avLst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ko-KR" sz="1600" b="1">
                <a:solidFill>
                  <a:srgbClr val="FFFFFF"/>
                </a:solidFill>
                <a:latin typeface="Pretendard"/>
              </a:rPr>
              <a:t>Stitch </a:t>
            </a:r>
            <a:r>
              <a:rPr lang="ko-KR" altLang="en-US" sz="1600" b="1">
                <a:solidFill>
                  <a:srgbClr val="FFFFFF"/>
                </a:solidFill>
                <a:latin typeface="Pretendard"/>
              </a:rPr>
              <a:t>생성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D56C6E6-59B3-1642-946B-3510168E9AE7}"/>
              </a:ext>
            </a:extLst>
          </p:cNvPr>
          <p:cNvSpPr txBox="1"/>
          <p:nvPr/>
        </p:nvSpPr>
        <p:spPr>
          <a:xfrm>
            <a:off x="6705600" y="4521200"/>
            <a:ext cx="558800" cy="889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ko-KR" altLang="en-US" sz="2400" b="1">
                <a:solidFill>
                  <a:srgbClr val="9FB3CE"/>
                </a:solidFill>
                <a:latin typeface="Pretendard"/>
              </a:rPr>
              <a:t>→</a:t>
            </a:r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7DEE01AD-F543-2D4B-A8E1-FC495243CF37}"/>
              </a:ext>
            </a:extLst>
          </p:cNvPr>
          <p:cNvSpPr/>
          <p:nvPr/>
        </p:nvSpPr>
        <p:spPr>
          <a:xfrm>
            <a:off x="7264400" y="4521200"/>
            <a:ext cx="2616200" cy="889000"/>
          </a:xfrm>
          <a:prstGeom prst="roundRect">
            <a:avLst>
              <a:gd name="adj" fmla="val 2857"/>
            </a:avLst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ko-KR" altLang="en-US" sz="1600" b="1">
                <a:solidFill>
                  <a:srgbClr val="14213D"/>
                </a:solidFill>
                <a:latin typeface="Pretendard"/>
              </a:rPr>
              <a:t>반복 수정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F041F7-1FDB-354F-B195-DAD4AF081A13}"/>
              </a:ext>
            </a:extLst>
          </p:cNvPr>
          <p:cNvSpPr txBox="1"/>
          <p:nvPr/>
        </p:nvSpPr>
        <p:spPr>
          <a:xfrm>
            <a:off x="914400" y="5740400"/>
            <a:ext cx="10363200" cy="304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400">
                <a:solidFill>
                  <a:srgbClr val="9FB3CE"/>
                </a:solidFill>
                <a:latin typeface="JetBrains Mono"/>
              </a:rPr>
              <a:t>→ 화면의 목적을 한 문장으로 적는 것에서 시작한다</a:t>
            </a:r>
            <a:r>
              <a:rPr lang="en-US" altLang="ko-KR" sz="1400">
                <a:solidFill>
                  <a:srgbClr val="9FB3CE"/>
                </a:solidFill>
                <a:latin typeface="JetBrains Mono"/>
              </a:rPr>
              <a:t>.</a:t>
            </a:r>
            <a:endParaRPr lang="ko-KR" altLang="en-US" sz="1400">
              <a:solidFill>
                <a:srgbClr val="9FB3CE"/>
              </a:solidFill>
              <a:latin typeface="JetBrains Mono"/>
            </a:endParaRPr>
          </a:p>
        </p:txBody>
      </p:sp>
      <p:pic>
        <p:nvPicPr>
          <p:cNvPr id="2" name="Picture 14">
            <a:extLst>
              <a:ext uri="{FF2B5EF4-FFF2-40B4-BE49-F238E27FC236}">
                <a16:creationId xmlns:a16="http://schemas.microsoft.com/office/drawing/2014/main" id="{21C56A50-93E1-257C-AF6F-B63EF3C7774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8000"/>
          </a:blip>
          <a:stretch>
            <a:fillRect/>
          </a:stretch>
        </p:blipFill>
        <p:spPr>
          <a:xfrm>
            <a:off x="6985000" y="0"/>
            <a:ext cx="6202095" cy="4131710"/>
          </a:xfrm>
          <a:prstGeom prst="rect">
            <a:avLst/>
          </a:prstGeom>
        </p:spPr>
      </p:pic>
      <p:sp>
        <p:nvSpPr>
          <p:cNvPr id="3" name="PageNumber">
            <a:extLst>
              <a:ext uri="{FF2B5EF4-FFF2-40B4-BE49-F238E27FC236}">
                <a16:creationId xmlns:a16="http://schemas.microsoft.com/office/drawing/2014/main" id="{86A8A551-5678-0448-8506-C25FD79E6658}"/>
              </a:ext>
            </a:extLst>
          </p:cNvPr>
          <p:cNvSpPr txBox="1"/>
          <p:nvPr/>
        </p:nvSpPr>
        <p:spPr>
          <a:xfrm>
            <a:off x="9499600" y="6489700"/>
            <a:ext cx="23368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r"/>
            <a:r>
              <a:rPr lang="en-US" altLang="ko-KR" sz="1200" dirty="0">
                <a:solidFill>
                  <a:schemeClr val="bg1"/>
                </a:solidFill>
                <a:latin typeface="Pretendard"/>
              </a:rPr>
              <a:t>- 89/144 -</a:t>
            </a:r>
            <a:endParaRPr lang="ko-KR" altLang="en-US" sz="1200" dirty="0">
              <a:solidFill>
                <a:schemeClr val="bg1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2394590913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7863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핵심 개념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좋은 UI 시안을 얻는 3가지 열쇠</a:t>
            </a: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E8B01244-2C7B-994A-88DE-1EED66F7FE74}"/>
              </a:ext>
            </a:extLst>
          </p:cNvPr>
          <p:cNvSpPr/>
          <p:nvPr/>
        </p:nvSpPr>
        <p:spPr>
          <a:xfrm>
            <a:off x="825500" y="1905000"/>
            <a:ext cx="3340100" cy="4381500"/>
          </a:xfrm>
          <a:prstGeom prst="roundRect">
            <a:avLst>
              <a:gd name="adj" fmla="val 760"/>
            </a:avLst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07CBB5C-AA9B-4246-BA09-E367EC033511}"/>
              </a:ext>
            </a:extLst>
          </p:cNvPr>
          <p:cNvSpPr/>
          <p:nvPr/>
        </p:nvSpPr>
        <p:spPr>
          <a:xfrm>
            <a:off x="825500" y="1905000"/>
            <a:ext cx="3340100" cy="88900"/>
          </a:xfrm>
          <a:prstGeom prst="rect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14048E96-7BD6-234C-AE79-F62A3CFBE26A}"/>
              </a:ext>
            </a:extLst>
          </p:cNvPr>
          <p:cNvSpPr/>
          <p:nvPr/>
        </p:nvSpPr>
        <p:spPr>
          <a:xfrm>
            <a:off x="1130300" y="2286000"/>
            <a:ext cx="508000" cy="508000"/>
          </a:xfrm>
          <a:prstGeom prst="ellipse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  <a:latin typeface="JetBrains Mono"/>
              </a:rPr>
              <a:t>1</a:t>
            </a:r>
            <a:endParaRPr lang="ko-KR" altLang="en-US" sz="16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40E5CF-F399-B040-A6BB-874759728631}"/>
              </a:ext>
            </a:extLst>
          </p:cNvPr>
          <p:cNvSpPr txBox="1"/>
          <p:nvPr/>
        </p:nvSpPr>
        <p:spPr>
          <a:xfrm>
            <a:off x="1130300" y="2946400"/>
            <a:ext cx="2730500" cy="584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650" b="1">
                <a:solidFill>
                  <a:srgbClr val="14213D"/>
                </a:solidFill>
                <a:latin typeface="Pretendard"/>
              </a:rPr>
              <a:t>Google Stitch</a:t>
            </a:r>
            <a:endParaRPr lang="ko-KR" altLang="en-US" sz="1650" b="1">
              <a:solidFill>
                <a:srgbClr val="14213D"/>
              </a:solidFill>
              <a:latin typeface="Pretendard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941A366-8721-4C4E-AED5-649739A62627}"/>
              </a:ext>
            </a:extLst>
          </p:cNvPr>
          <p:cNvSpPr/>
          <p:nvPr/>
        </p:nvSpPr>
        <p:spPr>
          <a:xfrm>
            <a:off x="1130300" y="3632200"/>
            <a:ext cx="2730500" cy="12700"/>
          </a:xfrm>
          <a:prstGeom prst="rect">
            <a:avLst/>
          </a:prstGeom>
          <a:solidFill>
            <a:srgbClr val="D9E2E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CDA6948-CCE1-7B4F-9EBB-685703709F5F}"/>
              </a:ext>
            </a:extLst>
          </p:cNvPr>
          <p:cNvSpPr txBox="1"/>
          <p:nvPr/>
        </p:nvSpPr>
        <p:spPr>
          <a:xfrm>
            <a:off x="1130300" y="3784600"/>
            <a:ext cx="2730500" cy="1625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400" dirty="0">
                <a:solidFill>
                  <a:srgbClr val="576176"/>
                </a:solidFill>
                <a:latin typeface="Pretendard"/>
              </a:rPr>
              <a:t>자연어로 앱</a:t>
            </a:r>
            <a:r>
              <a:rPr lang="en-US" altLang="ko-KR" sz="1400" dirty="0">
                <a:solidFill>
                  <a:srgbClr val="576176"/>
                </a:solidFill>
                <a:latin typeface="Pretendard"/>
              </a:rPr>
              <a:t>·</a:t>
            </a:r>
            <a:r>
              <a:rPr lang="ko-KR" altLang="en-US" sz="1400" dirty="0">
                <a:solidFill>
                  <a:srgbClr val="576176"/>
                </a:solidFill>
                <a:latin typeface="Pretendard"/>
              </a:rPr>
              <a:t>웹 </a:t>
            </a:r>
            <a:r>
              <a:rPr lang="en-US" altLang="ko-KR" sz="1400" dirty="0">
                <a:solidFill>
                  <a:srgbClr val="576176"/>
                </a:solidFill>
                <a:latin typeface="Pretendard"/>
              </a:rPr>
              <a:t>UI </a:t>
            </a:r>
            <a:r>
              <a:rPr lang="ko-KR" altLang="en-US" sz="1400" dirty="0">
                <a:solidFill>
                  <a:srgbClr val="576176"/>
                </a:solidFill>
                <a:latin typeface="Pretendard"/>
              </a:rPr>
              <a:t>시안을 생성하는 구글 도구</a:t>
            </a:r>
            <a:r>
              <a:rPr lang="en-US" altLang="ko-KR" sz="1400" dirty="0">
                <a:solidFill>
                  <a:srgbClr val="576176"/>
                </a:solidFill>
                <a:latin typeface="Pretendard"/>
              </a:rPr>
              <a:t>. </a:t>
            </a:r>
            <a:r>
              <a:rPr lang="ko-KR" altLang="en-US" sz="1400" dirty="0">
                <a:solidFill>
                  <a:srgbClr val="576176"/>
                </a:solidFill>
                <a:latin typeface="Pretendard"/>
              </a:rPr>
              <a:t>화면 목적</a:t>
            </a:r>
            <a:r>
              <a:rPr lang="en-US" altLang="ko-KR" sz="1400" dirty="0">
                <a:solidFill>
                  <a:srgbClr val="576176"/>
                </a:solidFill>
                <a:latin typeface="Pretendard"/>
              </a:rPr>
              <a:t>·</a:t>
            </a:r>
            <a:r>
              <a:rPr lang="ko-KR" altLang="en-US" sz="1400" dirty="0">
                <a:solidFill>
                  <a:srgbClr val="576176"/>
                </a:solidFill>
                <a:latin typeface="Pretendard"/>
              </a:rPr>
              <a:t>섹션</a:t>
            </a:r>
            <a:r>
              <a:rPr lang="en-US" altLang="ko-KR" sz="1400" dirty="0">
                <a:solidFill>
                  <a:srgbClr val="576176"/>
                </a:solidFill>
                <a:latin typeface="Pretendard"/>
              </a:rPr>
              <a:t>·</a:t>
            </a:r>
            <a:r>
              <a:rPr lang="ko-KR" altLang="en-US" sz="1400" dirty="0">
                <a:solidFill>
                  <a:srgbClr val="576176"/>
                </a:solidFill>
                <a:latin typeface="Pretendard"/>
              </a:rPr>
              <a:t>톤을 주면 </a:t>
            </a:r>
            <a:endParaRPr lang="en-US" altLang="ko-KR" sz="1400" dirty="0">
              <a:solidFill>
                <a:srgbClr val="576176"/>
              </a:solidFill>
              <a:latin typeface="Pretendard"/>
            </a:endParaRPr>
          </a:p>
          <a:p>
            <a:pPr algn="l">
              <a:lnSpc>
                <a:spcPct val="150000"/>
              </a:lnSpc>
            </a:pPr>
            <a:r>
              <a:rPr lang="ko-KR" altLang="en-US" sz="1400" dirty="0">
                <a:solidFill>
                  <a:srgbClr val="576176"/>
                </a:solidFill>
                <a:latin typeface="Pretendard"/>
              </a:rPr>
              <a:t>레이아웃을 만든다</a:t>
            </a:r>
            <a:r>
              <a:rPr lang="en-US" altLang="ko-KR" sz="1400" dirty="0">
                <a:solidFill>
                  <a:srgbClr val="576176"/>
                </a:solidFill>
                <a:latin typeface="Pretendard"/>
              </a:rPr>
              <a:t>.</a:t>
            </a:r>
            <a:endParaRPr lang="ko-KR" altLang="en-US" sz="1400" dirty="0">
              <a:solidFill>
                <a:srgbClr val="576176"/>
              </a:solidFill>
              <a:latin typeface="Pretendard"/>
            </a:endParaRP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435EEA90-7AEA-DA43-AC7E-822069896C6E}"/>
              </a:ext>
            </a:extLst>
          </p:cNvPr>
          <p:cNvSpPr/>
          <p:nvPr/>
        </p:nvSpPr>
        <p:spPr>
          <a:xfrm>
            <a:off x="1130300" y="5562600"/>
            <a:ext cx="2730500" cy="457200"/>
          </a:xfrm>
          <a:prstGeom prst="roundRect">
            <a:avLst>
              <a:gd name="adj" fmla="val 5556"/>
            </a:avLst>
          </a:prstGeom>
          <a:solidFill>
            <a:srgbClr val="E7ECF4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9F20711-1C09-864F-8665-628D7024EE06}"/>
              </a:ext>
            </a:extLst>
          </p:cNvPr>
          <p:cNvSpPr txBox="1"/>
          <p:nvPr/>
        </p:nvSpPr>
        <p:spPr>
          <a:xfrm>
            <a:off x="1130300" y="5562600"/>
            <a:ext cx="2730500" cy="457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ctr"/>
            <a:r>
              <a:rPr lang="ko-KR" altLang="en-US" sz="1400" b="1">
                <a:solidFill>
                  <a:srgbClr val="14213D"/>
                </a:solidFill>
                <a:latin typeface="Pretendard"/>
              </a:rPr>
              <a:t>자연어 → </a:t>
            </a:r>
            <a:r>
              <a:rPr lang="en-US" altLang="ko-KR" sz="1400" b="1">
                <a:solidFill>
                  <a:srgbClr val="14213D"/>
                </a:solidFill>
                <a:latin typeface="Pretendard"/>
              </a:rPr>
              <a:t>UI </a:t>
            </a:r>
            <a:r>
              <a:rPr lang="ko-KR" altLang="en-US" sz="1400" b="1">
                <a:solidFill>
                  <a:srgbClr val="14213D"/>
                </a:solidFill>
                <a:latin typeface="Pretendard"/>
              </a:rPr>
              <a:t>시안</a:t>
            </a: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BBD0320E-16C2-D64D-828A-5DE8A4607544}"/>
              </a:ext>
            </a:extLst>
          </p:cNvPr>
          <p:cNvSpPr/>
          <p:nvPr/>
        </p:nvSpPr>
        <p:spPr>
          <a:xfrm>
            <a:off x="4419600" y="1905000"/>
            <a:ext cx="3340100" cy="4381500"/>
          </a:xfrm>
          <a:prstGeom prst="roundRect">
            <a:avLst>
              <a:gd name="adj" fmla="val 760"/>
            </a:avLst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DB9DCBC-D27A-4245-BBB7-08E033F3C3D8}"/>
              </a:ext>
            </a:extLst>
          </p:cNvPr>
          <p:cNvSpPr/>
          <p:nvPr/>
        </p:nvSpPr>
        <p:spPr>
          <a:xfrm>
            <a:off x="4419600" y="1905000"/>
            <a:ext cx="3340100" cy="88900"/>
          </a:xfrm>
          <a:prstGeom prst="rect">
            <a:avLst/>
          </a:prstGeom>
          <a:solidFill>
            <a:srgbClr val="1D4E89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8D166824-7A72-0A42-88CA-ED92BA1F9847}"/>
              </a:ext>
            </a:extLst>
          </p:cNvPr>
          <p:cNvSpPr/>
          <p:nvPr/>
        </p:nvSpPr>
        <p:spPr>
          <a:xfrm>
            <a:off x="4724400" y="2286000"/>
            <a:ext cx="508000" cy="508000"/>
          </a:xfrm>
          <a:prstGeom prst="ellipse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  <a:latin typeface="JetBrains Mono"/>
              </a:rPr>
              <a:t>2</a:t>
            </a:r>
            <a:endParaRPr lang="ko-KR" altLang="en-US" sz="16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D5484E9-4693-1144-BF39-A807B8DDC065}"/>
              </a:ext>
            </a:extLst>
          </p:cNvPr>
          <p:cNvSpPr txBox="1"/>
          <p:nvPr/>
        </p:nvSpPr>
        <p:spPr>
          <a:xfrm>
            <a:off x="4724400" y="2946400"/>
            <a:ext cx="2730500" cy="584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650" b="1">
                <a:solidFill>
                  <a:srgbClr val="14213D"/>
                </a:solidFill>
                <a:latin typeface="Pretendard"/>
              </a:rPr>
              <a:t>디자인 브리프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CABE8FD-FE59-DB47-BA09-53F947D2FD74}"/>
              </a:ext>
            </a:extLst>
          </p:cNvPr>
          <p:cNvSpPr/>
          <p:nvPr/>
        </p:nvSpPr>
        <p:spPr>
          <a:xfrm>
            <a:off x="4724400" y="3632200"/>
            <a:ext cx="2730500" cy="12700"/>
          </a:xfrm>
          <a:prstGeom prst="rect">
            <a:avLst/>
          </a:prstGeom>
          <a:solidFill>
            <a:srgbClr val="D9E2E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8939001-32F4-A049-8BAC-2B427982C338}"/>
              </a:ext>
            </a:extLst>
          </p:cNvPr>
          <p:cNvSpPr txBox="1"/>
          <p:nvPr/>
        </p:nvSpPr>
        <p:spPr>
          <a:xfrm>
            <a:off x="4724400" y="3784600"/>
            <a:ext cx="2730500" cy="1625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400" dirty="0">
                <a:solidFill>
                  <a:srgbClr val="576176"/>
                </a:solidFill>
                <a:latin typeface="Pretendard"/>
              </a:rPr>
              <a:t>목적</a:t>
            </a:r>
            <a:r>
              <a:rPr lang="en-US" altLang="ko-KR" sz="1400" dirty="0">
                <a:solidFill>
                  <a:srgbClr val="576176"/>
                </a:solidFill>
                <a:latin typeface="Pretendard"/>
              </a:rPr>
              <a:t>·</a:t>
            </a:r>
            <a:r>
              <a:rPr lang="ko-KR" altLang="en-US" sz="1400" dirty="0">
                <a:solidFill>
                  <a:srgbClr val="576176"/>
                </a:solidFill>
                <a:latin typeface="Pretendard"/>
              </a:rPr>
              <a:t>타깃</a:t>
            </a:r>
            <a:r>
              <a:rPr lang="en-US" altLang="ko-KR" sz="1400" dirty="0">
                <a:solidFill>
                  <a:srgbClr val="576176"/>
                </a:solidFill>
                <a:latin typeface="Pretendard"/>
              </a:rPr>
              <a:t>·CTA·</a:t>
            </a:r>
            <a:r>
              <a:rPr lang="ko-KR" altLang="en-US" sz="1400" dirty="0">
                <a:solidFill>
                  <a:srgbClr val="576176"/>
                </a:solidFill>
                <a:latin typeface="Pretendard"/>
              </a:rPr>
              <a:t>톤</a:t>
            </a:r>
            <a:r>
              <a:rPr lang="en-US" altLang="ko-KR" sz="1400" dirty="0">
                <a:solidFill>
                  <a:srgbClr val="576176"/>
                </a:solidFill>
                <a:latin typeface="Pretendard"/>
              </a:rPr>
              <a:t>·</a:t>
            </a:r>
            <a:r>
              <a:rPr lang="ko-KR" altLang="en-US" sz="1400" dirty="0">
                <a:solidFill>
                  <a:srgbClr val="576176"/>
                </a:solidFill>
                <a:latin typeface="Pretendard"/>
              </a:rPr>
              <a:t>필수 섹션을 </a:t>
            </a:r>
            <a:endParaRPr lang="en-US" altLang="ko-KR" sz="1400" dirty="0">
              <a:solidFill>
                <a:srgbClr val="576176"/>
              </a:solidFill>
              <a:latin typeface="Pretendard"/>
            </a:endParaRPr>
          </a:p>
          <a:p>
            <a:pPr algn="l">
              <a:lnSpc>
                <a:spcPct val="150000"/>
              </a:lnSpc>
            </a:pPr>
            <a:r>
              <a:rPr lang="ko-KR" altLang="en-US" sz="1400" dirty="0">
                <a:solidFill>
                  <a:srgbClr val="576176"/>
                </a:solidFill>
                <a:latin typeface="Pretendard"/>
              </a:rPr>
              <a:t>한 문단으로</a:t>
            </a:r>
            <a:r>
              <a:rPr lang="en-US" altLang="ko-KR" sz="1400" dirty="0">
                <a:solidFill>
                  <a:srgbClr val="576176"/>
                </a:solidFill>
                <a:latin typeface="Pretendard"/>
              </a:rPr>
              <a:t>. </a:t>
            </a:r>
          </a:p>
          <a:p>
            <a:pPr algn="l">
              <a:lnSpc>
                <a:spcPct val="150000"/>
              </a:lnSpc>
            </a:pPr>
            <a:endParaRPr lang="en-US" altLang="ko-KR" sz="1400" dirty="0">
              <a:solidFill>
                <a:srgbClr val="576176"/>
              </a:solidFill>
              <a:latin typeface="Pretendard"/>
            </a:endParaRPr>
          </a:p>
          <a:p>
            <a:pPr algn="l">
              <a:lnSpc>
                <a:spcPct val="150000"/>
              </a:lnSpc>
            </a:pPr>
            <a:r>
              <a:rPr lang="ko-KR" altLang="en-US" sz="1400" dirty="0">
                <a:solidFill>
                  <a:srgbClr val="576176"/>
                </a:solidFill>
                <a:latin typeface="Pretendard"/>
              </a:rPr>
              <a:t>시안 품질은 </a:t>
            </a:r>
            <a:endParaRPr lang="en-US" altLang="ko-KR" sz="1400" dirty="0">
              <a:solidFill>
                <a:srgbClr val="576176"/>
              </a:solidFill>
              <a:latin typeface="Pretendard"/>
            </a:endParaRPr>
          </a:p>
          <a:p>
            <a:pPr algn="l">
              <a:lnSpc>
                <a:spcPct val="150000"/>
              </a:lnSpc>
            </a:pPr>
            <a:r>
              <a:rPr lang="ko-KR" altLang="en-US" sz="1400" dirty="0" err="1">
                <a:solidFill>
                  <a:srgbClr val="576176"/>
                </a:solidFill>
                <a:latin typeface="Pretendard"/>
              </a:rPr>
              <a:t>브리프</a:t>
            </a:r>
            <a:r>
              <a:rPr lang="ko-KR" altLang="en-US" sz="1400" dirty="0">
                <a:solidFill>
                  <a:srgbClr val="576176"/>
                </a:solidFill>
                <a:latin typeface="Pretendard"/>
              </a:rPr>
              <a:t> 품질에 비례한다</a:t>
            </a:r>
            <a:r>
              <a:rPr lang="en-US" altLang="ko-KR" sz="1400" dirty="0">
                <a:solidFill>
                  <a:srgbClr val="576176"/>
                </a:solidFill>
                <a:latin typeface="Pretendard"/>
              </a:rPr>
              <a:t>.</a:t>
            </a:r>
            <a:endParaRPr lang="ko-KR" altLang="en-US" sz="1400" dirty="0">
              <a:solidFill>
                <a:srgbClr val="576176"/>
              </a:solidFill>
              <a:latin typeface="Pretendard"/>
            </a:endParaRP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AD6464B7-BA00-6C4E-B74A-5DF507991FA4}"/>
              </a:ext>
            </a:extLst>
          </p:cNvPr>
          <p:cNvSpPr/>
          <p:nvPr/>
        </p:nvSpPr>
        <p:spPr>
          <a:xfrm>
            <a:off x="4724400" y="5562600"/>
            <a:ext cx="2730500" cy="457200"/>
          </a:xfrm>
          <a:prstGeom prst="roundRect">
            <a:avLst>
              <a:gd name="adj" fmla="val 5556"/>
            </a:avLst>
          </a:prstGeom>
          <a:solidFill>
            <a:srgbClr val="E4ECF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6DCB60B-8C66-BD49-80A5-C5CC8D51DA3F}"/>
              </a:ext>
            </a:extLst>
          </p:cNvPr>
          <p:cNvSpPr txBox="1"/>
          <p:nvPr/>
        </p:nvSpPr>
        <p:spPr>
          <a:xfrm>
            <a:off x="4724400" y="5562600"/>
            <a:ext cx="2730500" cy="457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ctr"/>
            <a:r>
              <a:rPr lang="ko-KR" altLang="en-US" sz="1400" b="1">
                <a:solidFill>
                  <a:srgbClr val="1D4E89"/>
                </a:solidFill>
                <a:latin typeface="Pretendard"/>
              </a:rPr>
              <a:t>브리프가 품질을 결정</a:t>
            </a:r>
          </a:p>
        </p:txBody>
      </p:sp>
      <p:sp>
        <p:nvSpPr>
          <p:cNvPr id="21" name="모서리가 둥근 직사각형 20">
            <a:extLst>
              <a:ext uri="{FF2B5EF4-FFF2-40B4-BE49-F238E27FC236}">
                <a16:creationId xmlns:a16="http://schemas.microsoft.com/office/drawing/2014/main" id="{2DB42C44-DEDB-8943-A07B-B650FBEFA266}"/>
              </a:ext>
            </a:extLst>
          </p:cNvPr>
          <p:cNvSpPr/>
          <p:nvPr/>
        </p:nvSpPr>
        <p:spPr>
          <a:xfrm>
            <a:off x="8013700" y="1905000"/>
            <a:ext cx="3340100" cy="4381500"/>
          </a:xfrm>
          <a:prstGeom prst="roundRect">
            <a:avLst>
              <a:gd name="adj" fmla="val 760"/>
            </a:avLst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12ED774B-E0C2-BA4E-87B1-6BE7852E36D4}"/>
              </a:ext>
            </a:extLst>
          </p:cNvPr>
          <p:cNvSpPr/>
          <p:nvPr/>
        </p:nvSpPr>
        <p:spPr>
          <a:xfrm>
            <a:off x="8013700" y="1905000"/>
            <a:ext cx="3340100" cy="88900"/>
          </a:xfrm>
          <a:prstGeom prst="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835F6CE3-C8CA-7A4A-B13F-29545E0A2B14}"/>
              </a:ext>
            </a:extLst>
          </p:cNvPr>
          <p:cNvSpPr/>
          <p:nvPr/>
        </p:nvSpPr>
        <p:spPr>
          <a:xfrm>
            <a:off x="8318500" y="2286000"/>
            <a:ext cx="508000" cy="508000"/>
          </a:xfrm>
          <a:prstGeom prst="ellipse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  <a:latin typeface="JetBrains Mono"/>
              </a:rPr>
              <a:t>3</a:t>
            </a:r>
            <a:endParaRPr lang="ko-KR" altLang="en-US" sz="16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66E1F8A-C3BA-E244-90C7-9FE096EA2585}"/>
              </a:ext>
            </a:extLst>
          </p:cNvPr>
          <p:cNvSpPr txBox="1"/>
          <p:nvPr/>
        </p:nvSpPr>
        <p:spPr>
          <a:xfrm>
            <a:off x="8318500" y="2946400"/>
            <a:ext cx="2730500" cy="584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650" b="1">
                <a:solidFill>
                  <a:srgbClr val="14213D"/>
                </a:solidFill>
                <a:latin typeface="Pretendard"/>
              </a:rPr>
              <a:t>반복 </a:t>
            </a:r>
            <a:r>
              <a:rPr lang="en-US" altLang="ko-KR" sz="1650" b="1">
                <a:solidFill>
                  <a:srgbClr val="14213D"/>
                </a:solidFill>
                <a:latin typeface="Pretendard"/>
              </a:rPr>
              <a:t>(Iteration)</a:t>
            </a:r>
            <a:endParaRPr lang="ko-KR" altLang="en-US" sz="1650" b="1">
              <a:solidFill>
                <a:srgbClr val="14213D"/>
              </a:solidFill>
              <a:latin typeface="Pretendard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BDB13D1C-9C82-7E4C-8852-41021F328FAE}"/>
              </a:ext>
            </a:extLst>
          </p:cNvPr>
          <p:cNvSpPr/>
          <p:nvPr/>
        </p:nvSpPr>
        <p:spPr>
          <a:xfrm>
            <a:off x="8318500" y="3632200"/>
            <a:ext cx="2730500" cy="12700"/>
          </a:xfrm>
          <a:prstGeom prst="rect">
            <a:avLst/>
          </a:prstGeom>
          <a:solidFill>
            <a:srgbClr val="D9E2E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11ABC34-6526-744C-ACD2-A29C516FD20E}"/>
              </a:ext>
            </a:extLst>
          </p:cNvPr>
          <p:cNvSpPr txBox="1"/>
          <p:nvPr/>
        </p:nvSpPr>
        <p:spPr>
          <a:xfrm>
            <a:off x="8318500" y="3784600"/>
            <a:ext cx="2730500" cy="1625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400" dirty="0">
                <a:solidFill>
                  <a:srgbClr val="576176"/>
                </a:solidFill>
                <a:latin typeface="Pretendard"/>
              </a:rPr>
              <a:t>한 번에 완성하지 않는다</a:t>
            </a:r>
            <a:r>
              <a:rPr lang="en-US" altLang="ko-KR" sz="1400" dirty="0">
                <a:solidFill>
                  <a:srgbClr val="576176"/>
                </a:solidFill>
                <a:latin typeface="Pretendard"/>
              </a:rPr>
              <a:t>. </a:t>
            </a:r>
          </a:p>
          <a:p>
            <a:pPr algn="l">
              <a:lnSpc>
                <a:spcPct val="150000"/>
              </a:lnSpc>
            </a:pPr>
            <a:endParaRPr lang="en-US" altLang="ko-KR" sz="1400" dirty="0">
              <a:solidFill>
                <a:srgbClr val="576176"/>
              </a:solidFill>
              <a:latin typeface="Pretendard"/>
            </a:endParaRPr>
          </a:p>
          <a:p>
            <a:pPr algn="l">
              <a:lnSpc>
                <a:spcPct val="150000"/>
              </a:lnSpc>
            </a:pPr>
            <a:r>
              <a:rPr lang="en-US" altLang="ko-KR" sz="1400" dirty="0">
                <a:solidFill>
                  <a:srgbClr val="576176"/>
                </a:solidFill>
                <a:latin typeface="Pretendard"/>
              </a:rPr>
              <a:t>‘</a:t>
            </a:r>
            <a:r>
              <a:rPr lang="ko-KR" altLang="en-US" sz="1400" dirty="0">
                <a:solidFill>
                  <a:srgbClr val="576176"/>
                </a:solidFill>
                <a:latin typeface="Pretendard"/>
              </a:rPr>
              <a:t>히어로 더 </a:t>
            </a:r>
            <a:r>
              <a:rPr lang="ko-KR" altLang="en-US" sz="1400" dirty="0" err="1">
                <a:solidFill>
                  <a:srgbClr val="576176"/>
                </a:solidFill>
                <a:latin typeface="Pretendard"/>
              </a:rPr>
              <a:t>크게’처럼</a:t>
            </a:r>
            <a:r>
              <a:rPr lang="ko-KR" altLang="en-US" sz="1400" dirty="0">
                <a:solidFill>
                  <a:srgbClr val="576176"/>
                </a:solidFill>
                <a:latin typeface="Pretendard"/>
              </a:rPr>
              <a:t> 부분 수정으로 다듬는다</a:t>
            </a:r>
            <a:r>
              <a:rPr lang="en-US" altLang="ko-KR" sz="1400" dirty="0">
                <a:solidFill>
                  <a:srgbClr val="576176"/>
                </a:solidFill>
                <a:latin typeface="Pretendard"/>
              </a:rPr>
              <a:t>.</a:t>
            </a:r>
            <a:endParaRPr lang="ko-KR" altLang="en-US" sz="1400" dirty="0">
              <a:solidFill>
                <a:srgbClr val="576176"/>
              </a:solidFill>
              <a:latin typeface="Pretendard"/>
            </a:endParaRPr>
          </a:p>
        </p:txBody>
      </p:sp>
      <p:sp>
        <p:nvSpPr>
          <p:cNvPr id="27" name="모서리가 둥근 직사각형 26">
            <a:extLst>
              <a:ext uri="{FF2B5EF4-FFF2-40B4-BE49-F238E27FC236}">
                <a16:creationId xmlns:a16="http://schemas.microsoft.com/office/drawing/2014/main" id="{1C00FE91-944E-3C49-95AB-E0C95700282E}"/>
              </a:ext>
            </a:extLst>
          </p:cNvPr>
          <p:cNvSpPr/>
          <p:nvPr/>
        </p:nvSpPr>
        <p:spPr>
          <a:xfrm>
            <a:off x="8318500" y="5562600"/>
            <a:ext cx="2730500" cy="457200"/>
          </a:xfrm>
          <a:prstGeom prst="roundRect">
            <a:avLst>
              <a:gd name="adj" fmla="val 5556"/>
            </a:avLst>
          </a:prstGeom>
          <a:solidFill>
            <a:srgbClr val="FBEF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061EFA7-715B-1745-8373-EBE52F9BB279}"/>
              </a:ext>
            </a:extLst>
          </p:cNvPr>
          <p:cNvSpPr txBox="1"/>
          <p:nvPr/>
        </p:nvSpPr>
        <p:spPr>
          <a:xfrm>
            <a:off x="8318500" y="5562600"/>
            <a:ext cx="2730500" cy="457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ctr"/>
            <a:r>
              <a:rPr lang="ko-KR" altLang="en-US" sz="1400" b="1">
                <a:solidFill>
                  <a:srgbClr val="9A6B12"/>
                </a:solidFill>
                <a:latin typeface="Pretendard"/>
              </a:rPr>
              <a:t>부분 수정 반복</a:t>
            </a:r>
          </a:p>
        </p:txBody>
      </p:sp>
      <p:sp>
        <p:nvSpPr>
          <p:cNvPr id="4" name="PageNumber">
            <a:extLst>
              <a:ext uri="{FF2B5EF4-FFF2-40B4-BE49-F238E27FC236}">
                <a16:creationId xmlns:a16="http://schemas.microsoft.com/office/drawing/2014/main" id="{8ECC1E13-6004-B040-8888-4DF5B5F6D90D}"/>
              </a:ext>
            </a:extLst>
          </p:cNvPr>
          <p:cNvSpPr txBox="1"/>
          <p:nvPr/>
        </p:nvSpPr>
        <p:spPr>
          <a:xfrm>
            <a:off x="9499600" y="6489700"/>
            <a:ext cx="23368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r"/>
            <a:r>
              <a:rPr lang="en-US" altLang="ko-KR" sz="1200">
                <a:solidFill>
                  <a:srgbClr val="576176"/>
                </a:solidFill>
                <a:latin typeface="Pretendard"/>
              </a:rPr>
              <a:t>- 90/144 -</a:t>
            </a:r>
            <a:endParaRPr lang="ko-KR" altLang="en-US" sz="1200">
              <a:solidFill>
                <a:srgbClr val="576176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1999101234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개념 깊이 보기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개념을 예시로 — 우리 케이스에 적용하면</a:t>
            </a: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08D41C25-A6FC-6047-9936-DF9EEE1E8F7A}"/>
              </a:ext>
            </a:extLst>
          </p:cNvPr>
          <p:cNvSpPr/>
          <p:nvPr/>
        </p:nvSpPr>
        <p:spPr>
          <a:xfrm>
            <a:off x="825500" y="1905000"/>
            <a:ext cx="5461000" cy="4381500"/>
          </a:xfrm>
          <a:prstGeom prst="roundRect">
            <a:avLst>
              <a:gd name="adj" fmla="val 580"/>
            </a:avLst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F92796-C73C-0543-BCA0-576AD75ABD1D}"/>
              </a:ext>
            </a:extLst>
          </p:cNvPr>
          <p:cNvSpPr txBox="1"/>
          <p:nvPr/>
        </p:nvSpPr>
        <p:spPr>
          <a:xfrm>
            <a:off x="1181100" y="2159000"/>
            <a:ext cx="4749800" cy="355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b="1">
                <a:solidFill>
                  <a:srgbClr val="14213D"/>
                </a:solidFill>
              </a:rPr>
              <a:t>디자인 브리프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827B79-8B84-FA43-862A-CA71285D55ED}"/>
              </a:ext>
            </a:extLst>
          </p:cNvPr>
          <p:cNvSpPr txBox="1"/>
          <p:nvPr/>
        </p:nvSpPr>
        <p:spPr>
          <a:xfrm>
            <a:off x="1181100" y="2540000"/>
            <a:ext cx="47498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400">
                <a:solidFill>
                  <a:srgbClr val="576176"/>
                </a:solidFill>
              </a:rPr>
              <a:t>한 문단으로 정리한다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45C766-1460-1848-B460-38E0E0EF90EE}"/>
              </a:ext>
            </a:extLst>
          </p:cNvPr>
          <p:cNvSpPr txBox="1"/>
          <p:nvPr/>
        </p:nvSpPr>
        <p:spPr>
          <a:xfrm>
            <a:off x="1181100" y="3180321"/>
            <a:ext cx="8128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400" b="1">
                <a:solidFill>
                  <a:srgbClr val="1D4E89"/>
                </a:solidFill>
                <a:latin typeface="JetBrains Mono"/>
              </a:rPr>
              <a:t>목적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6778DF-9CD9-124D-BE60-1D77A4E7295A}"/>
              </a:ext>
            </a:extLst>
          </p:cNvPr>
          <p:cNvSpPr txBox="1"/>
          <p:nvPr/>
        </p:nvSpPr>
        <p:spPr>
          <a:xfrm>
            <a:off x="2095500" y="3180321"/>
            <a:ext cx="3835400" cy="3048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ko-KR" altLang="en-US" sz="1400">
                <a:solidFill>
                  <a:srgbClr val="14213D"/>
                </a:solidFill>
              </a:rPr>
              <a:t>사전예약 전환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35316F1-A675-D24C-85A7-66DCD38B90E5}"/>
              </a:ext>
            </a:extLst>
          </p:cNvPr>
          <p:cNvSpPr txBox="1"/>
          <p:nvPr/>
        </p:nvSpPr>
        <p:spPr>
          <a:xfrm>
            <a:off x="1181100" y="3764521"/>
            <a:ext cx="8128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400" b="1">
                <a:solidFill>
                  <a:srgbClr val="1D4E89"/>
                </a:solidFill>
                <a:latin typeface="JetBrains Mono"/>
              </a:rPr>
              <a:t>타깃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BE8243E-9308-9F49-BEBE-A18ED6B1CB99}"/>
              </a:ext>
            </a:extLst>
          </p:cNvPr>
          <p:cNvSpPr txBox="1"/>
          <p:nvPr/>
        </p:nvSpPr>
        <p:spPr>
          <a:xfrm>
            <a:off x="2095500" y="3764521"/>
            <a:ext cx="3835400" cy="3048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1400">
                <a:solidFill>
                  <a:srgbClr val="14213D"/>
                </a:solidFill>
                <a:ea typeface="Pretendard"/>
              </a:rPr>
              <a:t>30</a:t>
            </a:r>
            <a:r>
              <a:rPr lang="ko-KR" altLang="en-US" sz="1400">
                <a:solidFill>
                  <a:srgbClr val="14213D"/>
                </a:solidFill>
              </a:rPr>
              <a:t>대 직장인 ‘지현’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4A76509-FAB7-3F4A-8DAB-ED22949EDEDE}"/>
              </a:ext>
            </a:extLst>
          </p:cNvPr>
          <p:cNvSpPr txBox="1"/>
          <p:nvPr/>
        </p:nvSpPr>
        <p:spPr>
          <a:xfrm>
            <a:off x="1181100" y="4348721"/>
            <a:ext cx="8128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400" b="1">
                <a:solidFill>
                  <a:srgbClr val="1D4E89"/>
                </a:solidFill>
                <a:latin typeface="JetBrains Mono"/>
              </a:rPr>
              <a:t>톤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267540F-4319-2943-9231-3D2A56077C13}"/>
              </a:ext>
            </a:extLst>
          </p:cNvPr>
          <p:cNvSpPr txBox="1"/>
          <p:nvPr/>
        </p:nvSpPr>
        <p:spPr>
          <a:xfrm>
            <a:off x="2095500" y="4348721"/>
            <a:ext cx="3835400" cy="3048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1400">
                <a:solidFill>
                  <a:srgbClr val="14213D"/>
                </a:solidFill>
                <a:ea typeface="Pretendard"/>
              </a:rPr>
              <a:t>warm · premium</a:t>
            </a:r>
            <a:endParaRPr lang="ko-KR" altLang="en-US" sz="1400">
              <a:solidFill>
                <a:srgbClr val="14213D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F236F6B-0295-DD4F-A7D8-D36FD858E886}"/>
              </a:ext>
            </a:extLst>
          </p:cNvPr>
          <p:cNvSpPr txBox="1"/>
          <p:nvPr/>
        </p:nvSpPr>
        <p:spPr>
          <a:xfrm>
            <a:off x="1181100" y="4932921"/>
            <a:ext cx="8128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400" b="1">
                <a:solidFill>
                  <a:srgbClr val="1D4E89"/>
                </a:solidFill>
                <a:latin typeface="JetBrains Mono"/>
              </a:rPr>
              <a:t>섹션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3C05FAA-D1A8-714D-8390-7F416FA5192E}"/>
              </a:ext>
            </a:extLst>
          </p:cNvPr>
          <p:cNvSpPr txBox="1"/>
          <p:nvPr/>
        </p:nvSpPr>
        <p:spPr>
          <a:xfrm>
            <a:off x="2095500" y="4932921"/>
            <a:ext cx="3835400" cy="3048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ko-KR" altLang="en-US" sz="1400">
                <a:solidFill>
                  <a:srgbClr val="14213D"/>
                </a:solidFill>
              </a:rPr>
              <a:t>히어로</a:t>
            </a:r>
            <a:r>
              <a:rPr lang="en-US" altLang="ko-KR" sz="1400">
                <a:solidFill>
                  <a:srgbClr val="14213D"/>
                </a:solidFill>
                <a:ea typeface="Pretendard"/>
              </a:rPr>
              <a:t>·</a:t>
            </a:r>
            <a:r>
              <a:rPr lang="ko-KR" altLang="en-US" sz="1400">
                <a:solidFill>
                  <a:srgbClr val="14213D"/>
                </a:solidFill>
              </a:rPr>
              <a:t>특징</a:t>
            </a:r>
            <a:r>
              <a:rPr lang="en-US" altLang="ko-KR" sz="1400">
                <a:solidFill>
                  <a:srgbClr val="14213D"/>
                </a:solidFill>
                <a:ea typeface="Pretendard"/>
              </a:rPr>
              <a:t>·</a:t>
            </a:r>
            <a:r>
              <a:rPr lang="ko-KR" altLang="en-US" sz="1400">
                <a:solidFill>
                  <a:srgbClr val="14213D"/>
                </a:solidFill>
              </a:rPr>
              <a:t>후기</a:t>
            </a:r>
            <a:r>
              <a:rPr lang="en-US" altLang="ko-KR" sz="1400">
                <a:solidFill>
                  <a:srgbClr val="14213D"/>
                </a:solidFill>
                <a:ea typeface="Pretendard"/>
              </a:rPr>
              <a:t>·FAQ·CTA</a:t>
            </a:r>
            <a:endParaRPr lang="ko-KR" altLang="en-US" sz="1400">
              <a:solidFill>
                <a:srgbClr val="14213D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829E9DA-57B1-214C-8B9B-E17C66581A23}"/>
              </a:ext>
            </a:extLst>
          </p:cNvPr>
          <p:cNvSpPr txBox="1"/>
          <p:nvPr/>
        </p:nvSpPr>
        <p:spPr>
          <a:xfrm>
            <a:off x="1181100" y="5517121"/>
            <a:ext cx="8128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altLang="ko-KR" sz="1400" b="1">
                <a:solidFill>
                  <a:srgbClr val="1D4E89"/>
                </a:solidFill>
                <a:latin typeface="JetBrains Mono"/>
              </a:rPr>
              <a:t>CTA</a:t>
            </a:r>
            <a:endParaRPr lang="ko-KR" altLang="en-US" sz="1400" b="1">
              <a:solidFill>
                <a:srgbClr val="1D4E89"/>
              </a:solidFill>
              <a:latin typeface="JetBrains Mono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6F73DD0-B627-A643-A08C-BC7539FB0164}"/>
              </a:ext>
            </a:extLst>
          </p:cNvPr>
          <p:cNvSpPr txBox="1"/>
          <p:nvPr/>
        </p:nvSpPr>
        <p:spPr>
          <a:xfrm>
            <a:off x="2095500" y="5517121"/>
            <a:ext cx="3835400" cy="3048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ko-KR" altLang="en-US" sz="1400">
                <a:solidFill>
                  <a:srgbClr val="14213D"/>
                </a:solidFill>
              </a:rPr>
              <a:t>“사전예약하고 </a:t>
            </a:r>
            <a:r>
              <a:rPr lang="en-US" altLang="ko-KR" sz="1400">
                <a:solidFill>
                  <a:srgbClr val="14213D"/>
                </a:solidFill>
                <a:ea typeface="Pretendard"/>
              </a:rPr>
              <a:t>20% </a:t>
            </a:r>
            <a:r>
              <a:rPr lang="ko-KR" altLang="en-US" sz="1400">
                <a:solidFill>
                  <a:srgbClr val="14213D"/>
                </a:solidFill>
              </a:rPr>
              <a:t>받기”</a:t>
            </a:r>
          </a:p>
        </p:txBody>
      </p:sp>
      <p:sp>
        <p:nvSpPr>
          <p:cNvPr id="18" name="모서리가 둥근 직사각형 17">
            <a:extLst>
              <a:ext uri="{FF2B5EF4-FFF2-40B4-BE49-F238E27FC236}">
                <a16:creationId xmlns:a16="http://schemas.microsoft.com/office/drawing/2014/main" id="{28DF073A-3C95-F144-8357-CB63CECD7F7C}"/>
              </a:ext>
            </a:extLst>
          </p:cNvPr>
          <p:cNvSpPr/>
          <p:nvPr/>
        </p:nvSpPr>
        <p:spPr>
          <a:xfrm>
            <a:off x="6540500" y="1905000"/>
            <a:ext cx="4826000" cy="4381500"/>
          </a:xfrm>
          <a:prstGeom prst="roundRect">
            <a:avLst>
              <a:gd name="adj" fmla="val 580"/>
            </a:avLst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92D38FB-4D58-BC4B-907D-92F643DCBE80}"/>
              </a:ext>
            </a:extLst>
          </p:cNvPr>
          <p:cNvSpPr txBox="1"/>
          <p:nvPr/>
        </p:nvSpPr>
        <p:spPr>
          <a:xfrm>
            <a:off x="6845300" y="2159000"/>
            <a:ext cx="4216400" cy="355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b="1">
                <a:solidFill>
                  <a:srgbClr val="FFFFFF"/>
                </a:solidFill>
              </a:rPr>
              <a:t>반복 </a:t>
            </a:r>
            <a:r>
              <a:rPr lang="en-US" altLang="ko-KR" b="1">
                <a:solidFill>
                  <a:srgbClr val="FFFFFF"/>
                </a:solidFill>
                <a:ea typeface="Pretendard"/>
              </a:rPr>
              <a:t>(Iteration)</a:t>
            </a:r>
            <a:endParaRPr lang="ko-KR" altLang="en-US" b="1">
              <a:solidFill>
                <a:srgbClr val="FFFFFF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07F9268-A7FE-0345-BBB2-479BE164CDDD}"/>
              </a:ext>
            </a:extLst>
          </p:cNvPr>
          <p:cNvSpPr txBox="1"/>
          <p:nvPr/>
        </p:nvSpPr>
        <p:spPr>
          <a:xfrm>
            <a:off x="6845300" y="2540000"/>
            <a:ext cx="42164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400">
                <a:solidFill>
                  <a:srgbClr val="E8A33D"/>
                </a:solidFill>
              </a:rPr>
              <a:t>부분 수정으로 다듬기</a:t>
            </a:r>
          </a:p>
        </p:txBody>
      </p:sp>
      <p:sp>
        <p:nvSpPr>
          <p:cNvPr id="21" name="모서리가 둥근 직사각형 20">
            <a:extLst>
              <a:ext uri="{FF2B5EF4-FFF2-40B4-BE49-F238E27FC236}">
                <a16:creationId xmlns:a16="http://schemas.microsoft.com/office/drawing/2014/main" id="{8A756121-C57C-D74F-BD74-1EE79CFBF6F7}"/>
              </a:ext>
            </a:extLst>
          </p:cNvPr>
          <p:cNvSpPr/>
          <p:nvPr/>
        </p:nvSpPr>
        <p:spPr>
          <a:xfrm>
            <a:off x="6845300" y="3022600"/>
            <a:ext cx="4216400" cy="584200"/>
          </a:xfrm>
          <a:prstGeom prst="roundRect">
            <a:avLst>
              <a:gd name="adj" fmla="val 4348"/>
            </a:avLst>
          </a:prstGeom>
          <a:solidFill>
            <a:srgbClr val="20314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7DA454A-81B6-A848-8F21-18FB92BB428F}"/>
              </a:ext>
            </a:extLst>
          </p:cNvPr>
          <p:cNvSpPr txBox="1"/>
          <p:nvPr/>
        </p:nvSpPr>
        <p:spPr>
          <a:xfrm>
            <a:off x="6997700" y="3022600"/>
            <a:ext cx="431800" cy="584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altLang="ko-KR" sz="1400" b="1">
                <a:solidFill>
                  <a:srgbClr val="E8A33D"/>
                </a:solidFill>
                <a:latin typeface="JetBrains Mono"/>
              </a:rPr>
              <a:t>v1</a:t>
            </a:r>
            <a:endParaRPr lang="ko-KR" altLang="en-US" sz="1400" b="1">
              <a:solidFill>
                <a:srgbClr val="E8A33D"/>
              </a:solidFill>
              <a:latin typeface="JetBrains Mono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7C7232D-9362-4F4F-9109-0C870825C960}"/>
              </a:ext>
            </a:extLst>
          </p:cNvPr>
          <p:cNvSpPr txBox="1"/>
          <p:nvPr/>
        </p:nvSpPr>
        <p:spPr>
          <a:xfrm>
            <a:off x="7493000" y="3022600"/>
            <a:ext cx="3454400" cy="584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1400">
                <a:solidFill>
                  <a:srgbClr val="FFFFFF"/>
                </a:solidFill>
                <a:ea typeface="Pretendard"/>
              </a:rPr>
              <a:t>›  </a:t>
            </a:r>
            <a:r>
              <a:rPr lang="ko-KR" altLang="en-US" sz="1400">
                <a:solidFill>
                  <a:srgbClr val="FFFFFF"/>
                </a:solidFill>
              </a:rPr>
              <a:t>히어로를 더 크게</a:t>
            </a:r>
          </a:p>
        </p:txBody>
      </p:sp>
      <p:sp>
        <p:nvSpPr>
          <p:cNvPr id="24" name="모서리가 둥근 직사각형 23">
            <a:extLst>
              <a:ext uri="{FF2B5EF4-FFF2-40B4-BE49-F238E27FC236}">
                <a16:creationId xmlns:a16="http://schemas.microsoft.com/office/drawing/2014/main" id="{67158229-13F8-8E4C-9E25-702B7F2AEEC7}"/>
              </a:ext>
            </a:extLst>
          </p:cNvPr>
          <p:cNvSpPr/>
          <p:nvPr/>
        </p:nvSpPr>
        <p:spPr>
          <a:xfrm>
            <a:off x="6845300" y="3733800"/>
            <a:ext cx="4216400" cy="584200"/>
          </a:xfrm>
          <a:prstGeom prst="roundRect">
            <a:avLst>
              <a:gd name="adj" fmla="val 4348"/>
            </a:avLst>
          </a:prstGeom>
          <a:solidFill>
            <a:srgbClr val="20314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367FF18-2F69-3646-B076-48B1D7648322}"/>
              </a:ext>
            </a:extLst>
          </p:cNvPr>
          <p:cNvSpPr txBox="1"/>
          <p:nvPr/>
        </p:nvSpPr>
        <p:spPr>
          <a:xfrm>
            <a:off x="6997700" y="3733800"/>
            <a:ext cx="431800" cy="584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altLang="ko-KR" sz="1400" b="1">
                <a:solidFill>
                  <a:srgbClr val="E8A33D"/>
                </a:solidFill>
                <a:latin typeface="JetBrains Mono"/>
              </a:rPr>
              <a:t>v2</a:t>
            </a:r>
            <a:endParaRPr lang="ko-KR" altLang="en-US" sz="1400" b="1">
              <a:solidFill>
                <a:srgbClr val="E8A33D"/>
              </a:solidFill>
              <a:latin typeface="JetBrains Mono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B97C645-479C-974C-ADC1-184C21E46964}"/>
              </a:ext>
            </a:extLst>
          </p:cNvPr>
          <p:cNvSpPr txBox="1"/>
          <p:nvPr/>
        </p:nvSpPr>
        <p:spPr>
          <a:xfrm>
            <a:off x="7493000" y="3733800"/>
            <a:ext cx="3454400" cy="584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1400">
                <a:solidFill>
                  <a:srgbClr val="FFFFFF"/>
                </a:solidFill>
                <a:ea typeface="Pretendard"/>
              </a:rPr>
              <a:t>›  </a:t>
            </a:r>
            <a:r>
              <a:rPr lang="ko-KR" altLang="en-US" sz="1400">
                <a:solidFill>
                  <a:srgbClr val="FFFFFF"/>
                </a:solidFill>
              </a:rPr>
              <a:t>후기 섹션 추가</a:t>
            </a:r>
          </a:p>
        </p:txBody>
      </p:sp>
      <p:sp>
        <p:nvSpPr>
          <p:cNvPr id="27" name="모서리가 둥근 직사각형 26">
            <a:extLst>
              <a:ext uri="{FF2B5EF4-FFF2-40B4-BE49-F238E27FC236}">
                <a16:creationId xmlns:a16="http://schemas.microsoft.com/office/drawing/2014/main" id="{77555D55-0EF8-6349-82AB-84C2E17ECCE4}"/>
              </a:ext>
            </a:extLst>
          </p:cNvPr>
          <p:cNvSpPr/>
          <p:nvPr/>
        </p:nvSpPr>
        <p:spPr>
          <a:xfrm>
            <a:off x="6845300" y="4445000"/>
            <a:ext cx="4216400" cy="584200"/>
          </a:xfrm>
          <a:prstGeom prst="roundRect">
            <a:avLst>
              <a:gd name="adj" fmla="val 4348"/>
            </a:avLst>
          </a:prstGeom>
          <a:solidFill>
            <a:srgbClr val="20314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C2B44ED-55E1-D74A-9C03-B569847C809A}"/>
              </a:ext>
            </a:extLst>
          </p:cNvPr>
          <p:cNvSpPr txBox="1"/>
          <p:nvPr/>
        </p:nvSpPr>
        <p:spPr>
          <a:xfrm>
            <a:off x="6997700" y="4445000"/>
            <a:ext cx="431800" cy="584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altLang="ko-KR" sz="1400" b="1">
                <a:solidFill>
                  <a:srgbClr val="E8A33D"/>
                </a:solidFill>
                <a:latin typeface="JetBrains Mono"/>
              </a:rPr>
              <a:t>v3</a:t>
            </a:r>
            <a:endParaRPr lang="ko-KR" altLang="en-US" sz="1400" b="1">
              <a:solidFill>
                <a:srgbClr val="E8A33D"/>
              </a:solidFill>
              <a:latin typeface="JetBrains Mono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DD32486-3F13-2043-90FC-96FE426E4DF1}"/>
              </a:ext>
            </a:extLst>
          </p:cNvPr>
          <p:cNvSpPr txBox="1"/>
          <p:nvPr/>
        </p:nvSpPr>
        <p:spPr>
          <a:xfrm>
            <a:off x="7493000" y="4445000"/>
            <a:ext cx="3454400" cy="584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altLang="ko-KR" sz="1400">
                <a:solidFill>
                  <a:srgbClr val="FFFFFF"/>
                </a:solidFill>
                <a:ea typeface="Pretendard"/>
              </a:rPr>
              <a:t>›  CTA </a:t>
            </a:r>
            <a:r>
              <a:rPr lang="ko-KR" altLang="en-US" sz="1400">
                <a:solidFill>
                  <a:srgbClr val="FFFFFF"/>
                </a:solidFill>
              </a:rPr>
              <a:t>색을 더 강조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79D24B4-8E74-6E4C-90E2-4739D1B06103}"/>
              </a:ext>
            </a:extLst>
          </p:cNvPr>
          <p:cNvSpPr txBox="1"/>
          <p:nvPr/>
        </p:nvSpPr>
        <p:spPr>
          <a:xfrm>
            <a:off x="6845300" y="5257800"/>
            <a:ext cx="4216400" cy="508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400">
                <a:solidFill>
                  <a:srgbClr val="E8A33D"/>
                </a:solidFill>
                <a:latin typeface="JetBrains Mono"/>
              </a:rPr>
              <a:t>→ </a:t>
            </a:r>
            <a:r>
              <a:rPr lang="en-US" altLang="ko-KR" sz="1400">
                <a:solidFill>
                  <a:srgbClr val="E8A33D"/>
                </a:solidFill>
                <a:latin typeface="JetBrains Mono"/>
              </a:rPr>
              <a:t>2~3</a:t>
            </a:r>
            <a:r>
              <a:rPr lang="ko-KR" altLang="en-US" sz="1400">
                <a:solidFill>
                  <a:srgbClr val="E8A33D"/>
                </a:solidFill>
                <a:latin typeface="JetBrains Mono"/>
              </a:rPr>
              <a:t>회 반복하면 시안이 완성에 가까워진다</a:t>
            </a:r>
            <a:r>
              <a:rPr lang="en-US" altLang="ko-KR" sz="1400">
                <a:solidFill>
                  <a:srgbClr val="E8A33D"/>
                </a:solidFill>
                <a:latin typeface="JetBrains Mono"/>
              </a:rPr>
              <a:t>.</a:t>
            </a:r>
            <a:endParaRPr lang="ko-KR" altLang="en-US" sz="1400">
              <a:solidFill>
                <a:srgbClr val="E8A33D"/>
              </a:solidFill>
              <a:latin typeface="JetBrains Mono"/>
            </a:endParaRPr>
          </a:p>
        </p:txBody>
      </p:sp>
      <p:sp>
        <p:nvSpPr>
          <p:cNvPr id="4" name="PageNumber">
            <a:extLst>
              <a:ext uri="{FF2B5EF4-FFF2-40B4-BE49-F238E27FC236}">
                <a16:creationId xmlns:a16="http://schemas.microsoft.com/office/drawing/2014/main" id="{83D789F0-3907-DB4C-B025-12B3C78D346C}"/>
              </a:ext>
            </a:extLst>
          </p:cNvPr>
          <p:cNvSpPr txBox="1"/>
          <p:nvPr/>
        </p:nvSpPr>
        <p:spPr>
          <a:xfrm>
            <a:off x="9499600" y="6489700"/>
            <a:ext cx="23368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r"/>
            <a:r>
              <a:rPr lang="en-US" altLang="ko-KR" sz="1200">
                <a:solidFill>
                  <a:srgbClr val="576176"/>
                </a:solidFill>
                <a:latin typeface="Pretendard"/>
              </a:rPr>
              <a:t>- 91/144 -</a:t>
            </a:r>
            <a:endParaRPr lang="ko-KR" altLang="en-US" sz="1200">
              <a:solidFill>
                <a:srgbClr val="576176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404987522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실습 절차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실습 절차 — 직접 해봅니다</a:t>
            </a: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5832E379-9C66-594D-8520-8BF5EB2DB1A0}"/>
              </a:ext>
            </a:extLst>
          </p:cNvPr>
          <p:cNvSpPr/>
          <p:nvPr/>
        </p:nvSpPr>
        <p:spPr>
          <a:xfrm>
            <a:off x="825500" y="1919768"/>
            <a:ext cx="10541000" cy="939800"/>
          </a:xfrm>
          <a:prstGeom prst="roundRect">
            <a:avLst>
              <a:gd name="adj" fmla="val 2703"/>
            </a:avLst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E3C7D11-9B2F-8642-B2D3-2A4A45293AEF}"/>
              </a:ext>
            </a:extLst>
          </p:cNvPr>
          <p:cNvSpPr/>
          <p:nvPr/>
        </p:nvSpPr>
        <p:spPr>
          <a:xfrm>
            <a:off x="825500" y="1930400"/>
            <a:ext cx="76200" cy="939800"/>
          </a:xfrm>
          <a:prstGeom prst="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5B337393-6E52-CF43-A835-B8D911697D9C}"/>
              </a:ext>
            </a:extLst>
          </p:cNvPr>
          <p:cNvSpPr/>
          <p:nvPr/>
        </p:nvSpPr>
        <p:spPr>
          <a:xfrm>
            <a:off x="1143000" y="2159000"/>
            <a:ext cx="482600" cy="482600"/>
          </a:xfrm>
          <a:prstGeom prst="ellipse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  <a:latin typeface="JetBrains Mono"/>
              </a:rPr>
              <a:t>1</a:t>
            </a:r>
            <a:endParaRPr lang="ko-KR" altLang="en-US" sz="16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720E5E-1B12-F54A-B4A3-F300D4CF25D3}"/>
              </a:ext>
            </a:extLst>
          </p:cNvPr>
          <p:cNvSpPr txBox="1"/>
          <p:nvPr/>
        </p:nvSpPr>
        <p:spPr>
          <a:xfrm>
            <a:off x="1905000" y="2223093"/>
            <a:ext cx="2540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600" b="1">
                <a:solidFill>
                  <a:srgbClr val="14213D"/>
                </a:solidFill>
                <a:latin typeface="Pretendard"/>
              </a:rPr>
              <a:t>페이지 목적</a:t>
            </a:r>
            <a:r>
              <a:rPr lang="en-US" altLang="ko-KR" sz="1600" b="1">
                <a:solidFill>
                  <a:srgbClr val="14213D"/>
                </a:solidFill>
                <a:latin typeface="Pretendard"/>
              </a:rPr>
              <a:t>·CTA</a:t>
            </a:r>
            <a:endParaRPr lang="ko-KR" altLang="en-US" sz="1600" b="1">
              <a:solidFill>
                <a:srgbClr val="14213D"/>
              </a:solidFill>
              <a:latin typeface="Pretendard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66B8F8-D98D-C745-88FC-AFB6ECC69F75}"/>
              </a:ext>
            </a:extLst>
          </p:cNvPr>
          <p:cNvSpPr txBox="1"/>
          <p:nvPr/>
        </p:nvSpPr>
        <p:spPr>
          <a:xfrm>
            <a:off x="4546600" y="2057400"/>
            <a:ext cx="6629400" cy="685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400">
                <a:solidFill>
                  <a:srgbClr val="576176"/>
                </a:solidFill>
                <a:latin typeface="Pretendard"/>
              </a:rPr>
              <a:t>페이지의 목적과 핵심 행동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(CTA)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을 한 문장으로 정한다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.</a:t>
            </a:r>
            <a:endParaRPr lang="ko-KR" altLang="en-US" sz="1400">
              <a:solidFill>
                <a:srgbClr val="576176"/>
              </a:solidFill>
              <a:latin typeface="Pretendard"/>
            </a:endParaRP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4F5CDD82-4710-5246-BF89-C7AC8934B48B}"/>
              </a:ext>
            </a:extLst>
          </p:cNvPr>
          <p:cNvSpPr/>
          <p:nvPr/>
        </p:nvSpPr>
        <p:spPr>
          <a:xfrm>
            <a:off x="825500" y="2971800"/>
            <a:ext cx="10541000" cy="939800"/>
          </a:xfrm>
          <a:prstGeom prst="roundRect">
            <a:avLst>
              <a:gd name="adj" fmla="val 2703"/>
            </a:avLst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9108E91-9B65-FB46-AC49-206005C97D05}"/>
              </a:ext>
            </a:extLst>
          </p:cNvPr>
          <p:cNvSpPr/>
          <p:nvPr/>
        </p:nvSpPr>
        <p:spPr>
          <a:xfrm>
            <a:off x="825500" y="2971800"/>
            <a:ext cx="76200" cy="939800"/>
          </a:xfrm>
          <a:prstGeom prst="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0A708CEC-8B63-334C-ABB4-AFEA069AD2FB}"/>
              </a:ext>
            </a:extLst>
          </p:cNvPr>
          <p:cNvSpPr/>
          <p:nvPr/>
        </p:nvSpPr>
        <p:spPr>
          <a:xfrm>
            <a:off x="1143000" y="3200400"/>
            <a:ext cx="482600" cy="482600"/>
          </a:xfrm>
          <a:prstGeom prst="ellipse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  <a:latin typeface="JetBrains Mono"/>
              </a:rPr>
              <a:t>2</a:t>
            </a:r>
            <a:endParaRPr lang="ko-KR" altLang="en-US" sz="16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42CF9B2-05E7-F14D-8708-E235E60285D5}"/>
              </a:ext>
            </a:extLst>
          </p:cNvPr>
          <p:cNvSpPr txBox="1"/>
          <p:nvPr/>
        </p:nvSpPr>
        <p:spPr>
          <a:xfrm>
            <a:off x="1905000" y="3275126"/>
            <a:ext cx="2540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600" b="1">
                <a:solidFill>
                  <a:srgbClr val="14213D"/>
                </a:solidFill>
                <a:latin typeface="Pretendard"/>
              </a:rPr>
              <a:t>필수 섹션 목록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2CD1857-4E9E-9C47-9086-3500D32947C8}"/>
              </a:ext>
            </a:extLst>
          </p:cNvPr>
          <p:cNvSpPr txBox="1"/>
          <p:nvPr/>
        </p:nvSpPr>
        <p:spPr>
          <a:xfrm>
            <a:off x="4546600" y="3098800"/>
            <a:ext cx="6629400" cy="685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400">
                <a:solidFill>
                  <a:srgbClr val="576176"/>
                </a:solidFill>
                <a:latin typeface="Pretendard"/>
              </a:rPr>
              <a:t>히어로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·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특징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·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후기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·CTA 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등 필요한 섹션을 적는다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.</a:t>
            </a:r>
            <a:endParaRPr lang="ko-KR" altLang="en-US" sz="1400">
              <a:solidFill>
                <a:srgbClr val="576176"/>
              </a:solidFill>
              <a:latin typeface="Pretendard"/>
            </a:endParaRPr>
          </a:p>
        </p:txBody>
      </p:sp>
      <p:sp>
        <p:nvSpPr>
          <p:cNvPr id="15" name="모서리가 둥근 직사각형 14">
            <a:extLst>
              <a:ext uri="{FF2B5EF4-FFF2-40B4-BE49-F238E27FC236}">
                <a16:creationId xmlns:a16="http://schemas.microsoft.com/office/drawing/2014/main" id="{049DFA38-D019-3C44-BF39-0D8E2461AE28}"/>
              </a:ext>
            </a:extLst>
          </p:cNvPr>
          <p:cNvSpPr/>
          <p:nvPr/>
        </p:nvSpPr>
        <p:spPr>
          <a:xfrm>
            <a:off x="825500" y="4013200"/>
            <a:ext cx="10541000" cy="939800"/>
          </a:xfrm>
          <a:prstGeom prst="roundRect">
            <a:avLst>
              <a:gd name="adj" fmla="val 2703"/>
            </a:avLst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1C7B673-B09E-C44E-B72F-DCE071E09044}"/>
              </a:ext>
            </a:extLst>
          </p:cNvPr>
          <p:cNvSpPr/>
          <p:nvPr/>
        </p:nvSpPr>
        <p:spPr>
          <a:xfrm>
            <a:off x="825500" y="4013200"/>
            <a:ext cx="76200" cy="939800"/>
          </a:xfrm>
          <a:prstGeom prst="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5DE90CF9-F3DD-F949-BA40-FA1BA3899AA9}"/>
              </a:ext>
            </a:extLst>
          </p:cNvPr>
          <p:cNvSpPr/>
          <p:nvPr/>
        </p:nvSpPr>
        <p:spPr>
          <a:xfrm>
            <a:off x="1143000" y="4241800"/>
            <a:ext cx="482600" cy="482600"/>
          </a:xfrm>
          <a:prstGeom prst="ellipse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  <a:latin typeface="JetBrains Mono"/>
              </a:rPr>
              <a:t>3</a:t>
            </a:r>
            <a:endParaRPr lang="ko-KR" altLang="en-US" sz="16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9B48BAF-2ACF-804C-8056-4B8E23668941}"/>
              </a:ext>
            </a:extLst>
          </p:cNvPr>
          <p:cNvSpPr txBox="1"/>
          <p:nvPr/>
        </p:nvSpPr>
        <p:spPr>
          <a:xfrm>
            <a:off x="1905000" y="4316526"/>
            <a:ext cx="2540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14213D"/>
                </a:solidFill>
                <a:latin typeface="Pretendard"/>
              </a:rPr>
              <a:t>Stitch </a:t>
            </a:r>
            <a:r>
              <a:rPr lang="ko-KR" altLang="en-US" sz="1600" b="1">
                <a:solidFill>
                  <a:srgbClr val="14213D"/>
                </a:solidFill>
                <a:latin typeface="Pretendard"/>
              </a:rPr>
              <a:t>첫 시안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732DB19-61EE-5A47-9459-12591F0E4CF3}"/>
              </a:ext>
            </a:extLst>
          </p:cNvPr>
          <p:cNvSpPr txBox="1"/>
          <p:nvPr/>
        </p:nvSpPr>
        <p:spPr>
          <a:xfrm>
            <a:off x="4546600" y="4140200"/>
            <a:ext cx="6629400" cy="685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400">
                <a:solidFill>
                  <a:srgbClr val="576176"/>
                </a:solidFill>
                <a:latin typeface="Pretendard"/>
              </a:rPr>
              <a:t>디자인 브리프를 입력해 첫 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UI 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시안을 생성한다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.</a:t>
            </a:r>
            <a:endParaRPr lang="ko-KR" altLang="en-US" sz="1400">
              <a:solidFill>
                <a:srgbClr val="576176"/>
              </a:solidFill>
              <a:latin typeface="Pretendard"/>
            </a:endParaRPr>
          </a:p>
        </p:txBody>
      </p:sp>
      <p:sp>
        <p:nvSpPr>
          <p:cNvPr id="20" name="모서리가 둥근 직사각형 19">
            <a:extLst>
              <a:ext uri="{FF2B5EF4-FFF2-40B4-BE49-F238E27FC236}">
                <a16:creationId xmlns:a16="http://schemas.microsoft.com/office/drawing/2014/main" id="{245AC2A5-8AC4-6041-9D0E-9BB18BD808D2}"/>
              </a:ext>
            </a:extLst>
          </p:cNvPr>
          <p:cNvSpPr/>
          <p:nvPr/>
        </p:nvSpPr>
        <p:spPr>
          <a:xfrm>
            <a:off x="825500" y="5054600"/>
            <a:ext cx="10541000" cy="939800"/>
          </a:xfrm>
          <a:prstGeom prst="roundRect">
            <a:avLst>
              <a:gd name="adj" fmla="val 2703"/>
            </a:avLst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F7C9B889-0EC0-F147-AE49-C2BAE88598C1}"/>
              </a:ext>
            </a:extLst>
          </p:cNvPr>
          <p:cNvSpPr/>
          <p:nvPr/>
        </p:nvSpPr>
        <p:spPr>
          <a:xfrm>
            <a:off x="825500" y="5054600"/>
            <a:ext cx="76200" cy="939800"/>
          </a:xfrm>
          <a:prstGeom prst="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4596DFD0-942E-7B4D-BF94-AE610193116F}"/>
              </a:ext>
            </a:extLst>
          </p:cNvPr>
          <p:cNvSpPr/>
          <p:nvPr/>
        </p:nvSpPr>
        <p:spPr>
          <a:xfrm>
            <a:off x="1143000" y="5283200"/>
            <a:ext cx="482600" cy="482600"/>
          </a:xfrm>
          <a:prstGeom prst="ellipse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  <a:latin typeface="JetBrains Mono"/>
              </a:rPr>
              <a:t>4</a:t>
            </a:r>
            <a:endParaRPr lang="ko-KR" altLang="en-US" sz="16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F2C1958-A9F5-0546-A30E-FD305A99F2AF}"/>
              </a:ext>
            </a:extLst>
          </p:cNvPr>
          <p:cNvSpPr txBox="1"/>
          <p:nvPr/>
        </p:nvSpPr>
        <p:spPr>
          <a:xfrm>
            <a:off x="1905000" y="5357926"/>
            <a:ext cx="2540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600" b="1" dirty="0">
                <a:solidFill>
                  <a:srgbClr val="14213D"/>
                </a:solidFill>
                <a:latin typeface="Pretendard"/>
              </a:rPr>
              <a:t>반복 수정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8714988-A8A2-5B43-9C91-FA1941F3A402}"/>
              </a:ext>
            </a:extLst>
          </p:cNvPr>
          <p:cNvSpPr txBox="1"/>
          <p:nvPr/>
        </p:nvSpPr>
        <p:spPr>
          <a:xfrm>
            <a:off x="4546600" y="5181600"/>
            <a:ext cx="6629400" cy="685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400">
                <a:solidFill>
                  <a:srgbClr val="576176"/>
                </a:solidFill>
                <a:latin typeface="Pretendard"/>
              </a:rPr>
              <a:t>부분 수정 지시로 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2~3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회 다듬어 완성도를 올린다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.</a:t>
            </a:r>
            <a:endParaRPr lang="ko-KR" altLang="en-US" sz="1400">
              <a:solidFill>
                <a:srgbClr val="576176"/>
              </a:solidFill>
              <a:latin typeface="Pretendard"/>
            </a:endParaRPr>
          </a:p>
        </p:txBody>
      </p:sp>
      <p:sp>
        <p:nvSpPr>
          <p:cNvPr id="4" name="PageNumber">
            <a:extLst>
              <a:ext uri="{FF2B5EF4-FFF2-40B4-BE49-F238E27FC236}">
                <a16:creationId xmlns:a16="http://schemas.microsoft.com/office/drawing/2014/main" id="{65F50C2D-081D-B54B-A922-803047A76FEE}"/>
              </a:ext>
            </a:extLst>
          </p:cNvPr>
          <p:cNvSpPr txBox="1"/>
          <p:nvPr/>
        </p:nvSpPr>
        <p:spPr>
          <a:xfrm>
            <a:off x="9499600" y="6489700"/>
            <a:ext cx="23368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r"/>
            <a:r>
              <a:rPr lang="en-US" altLang="ko-KR" sz="1200">
                <a:solidFill>
                  <a:srgbClr val="576176"/>
                </a:solidFill>
                <a:latin typeface="Pretendard"/>
              </a:rPr>
              <a:t>- 92/144 -</a:t>
            </a:r>
            <a:endParaRPr lang="ko-KR" altLang="en-US" sz="1200">
              <a:solidFill>
                <a:srgbClr val="576176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953385361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실습 프롬프트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Stitch 디자인 브리프 예시</a:t>
            </a:r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983507FA-3159-8947-B960-4EA234491CE0}"/>
              </a:ext>
            </a:extLst>
          </p:cNvPr>
          <p:cNvSpPr/>
          <p:nvPr/>
        </p:nvSpPr>
        <p:spPr>
          <a:xfrm>
            <a:off x="825500" y="1905000"/>
            <a:ext cx="5461000" cy="4381500"/>
          </a:xfrm>
          <a:prstGeom prst="roundRect">
            <a:avLst>
              <a:gd name="adj" fmla="val 580"/>
            </a:avLst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2D3C4C53-EFAB-0C40-84F4-3A5EFCD39F35}"/>
              </a:ext>
            </a:extLst>
          </p:cNvPr>
          <p:cNvSpPr/>
          <p:nvPr/>
        </p:nvSpPr>
        <p:spPr>
          <a:xfrm>
            <a:off x="1155700" y="2209800"/>
            <a:ext cx="139700" cy="139700"/>
          </a:xfrm>
          <a:prstGeom prst="ellipse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2DDEFBED-B4D4-7E45-9621-B4F5264A73C9}"/>
              </a:ext>
            </a:extLst>
          </p:cNvPr>
          <p:cNvSpPr/>
          <p:nvPr/>
        </p:nvSpPr>
        <p:spPr>
          <a:xfrm>
            <a:off x="1358900" y="2209800"/>
            <a:ext cx="139700" cy="139700"/>
          </a:xfrm>
          <a:prstGeom prst="ellipse">
            <a:avLst/>
          </a:prstGeom>
          <a:solidFill>
            <a:srgbClr val="4A587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74F5E5C5-D6CB-974F-B9F2-FFD745080750}"/>
              </a:ext>
            </a:extLst>
          </p:cNvPr>
          <p:cNvSpPr/>
          <p:nvPr/>
        </p:nvSpPr>
        <p:spPr>
          <a:xfrm>
            <a:off x="1562100" y="2209800"/>
            <a:ext cx="139700" cy="139700"/>
          </a:xfrm>
          <a:prstGeom prst="ellipse">
            <a:avLst/>
          </a:prstGeom>
          <a:solidFill>
            <a:srgbClr val="4A587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34F9B66-C74B-3149-8902-2886FF2929AB}"/>
              </a:ext>
            </a:extLst>
          </p:cNvPr>
          <p:cNvSpPr txBox="1"/>
          <p:nvPr/>
        </p:nvSpPr>
        <p:spPr>
          <a:xfrm>
            <a:off x="4826000" y="2159000"/>
            <a:ext cx="12700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400" b="1">
                <a:solidFill>
                  <a:srgbClr val="E8A33D"/>
                </a:solidFill>
                <a:latin typeface="JetBrains Mono"/>
              </a:rPr>
              <a:t>BRIEF · </a:t>
            </a:r>
            <a:r>
              <a:rPr lang="ko-KR" altLang="en-US" sz="1400" b="1">
                <a:solidFill>
                  <a:srgbClr val="E8A33D"/>
                </a:solidFill>
                <a:latin typeface="JetBrains Mono"/>
              </a:rPr>
              <a:t>입력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7587936-90A5-E44C-BF74-88EFFAAD630D}"/>
              </a:ext>
            </a:extLst>
          </p:cNvPr>
          <p:cNvSpPr txBox="1"/>
          <p:nvPr/>
        </p:nvSpPr>
        <p:spPr>
          <a:xfrm>
            <a:off x="1155700" y="2667000"/>
            <a:ext cx="4927600" cy="3429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altLang="ko-KR" sz="1600" dirty="0">
                <a:solidFill>
                  <a:srgbClr val="E8EEFA"/>
                </a:solidFill>
                <a:latin typeface="JetBrains Mono"/>
              </a:rPr>
              <a:t>Create a landing page for a craft
non-alcoholic beer brand.
Goal: get visitors to pre-order.
Tone: warm, premium, minimal
(amber + navy).
Sections: hero + headline + CTA,
3 feature cards, quotes, FAQ, final CTA.
Mobile-first layout.</a:t>
            </a:r>
            <a:endParaRPr lang="ko-KR" altLang="en-US" sz="1600" dirty="0">
              <a:solidFill>
                <a:srgbClr val="E8EEFA"/>
              </a:solidFill>
              <a:latin typeface="JetBrains Mono"/>
            </a:endParaRPr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E823AD81-D8C8-0342-BE0A-E7AD4992999A}"/>
              </a:ext>
            </a:extLst>
          </p:cNvPr>
          <p:cNvSpPr/>
          <p:nvPr/>
        </p:nvSpPr>
        <p:spPr>
          <a:xfrm>
            <a:off x="6540500" y="1905000"/>
            <a:ext cx="4826000" cy="4381500"/>
          </a:xfrm>
          <a:prstGeom prst="roundRect">
            <a:avLst>
              <a:gd name="adj" fmla="val 580"/>
            </a:avLst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B0C55AF-5A8B-4A41-B5C9-30386B8B2A42}"/>
              </a:ext>
            </a:extLst>
          </p:cNvPr>
          <p:cNvSpPr txBox="1"/>
          <p:nvPr/>
        </p:nvSpPr>
        <p:spPr>
          <a:xfrm>
            <a:off x="6845300" y="2133600"/>
            <a:ext cx="25400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400" b="1">
                <a:solidFill>
                  <a:srgbClr val="9A6B12"/>
                </a:solidFill>
                <a:latin typeface="JetBrains Mono"/>
              </a:rPr>
              <a:t>WIREFRAME · </a:t>
            </a:r>
            <a:r>
              <a:rPr lang="ko-KR" altLang="en-US" sz="1400" b="1">
                <a:solidFill>
                  <a:srgbClr val="9A6B12"/>
                </a:solidFill>
                <a:latin typeface="JetBrains Mono"/>
              </a:rPr>
              <a:t>출력</a:t>
            </a:r>
          </a:p>
        </p:txBody>
      </p:sp>
      <p:sp>
        <p:nvSpPr>
          <p:cNvPr id="14" name="모서리가 둥근 직사각형 13">
            <a:extLst>
              <a:ext uri="{FF2B5EF4-FFF2-40B4-BE49-F238E27FC236}">
                <a16:creationId xmlns:a16="http://schemas.microsoft.com/office/drawing/2014/main" id="{FEB1DDD0-3833-E847-867D-85CBF40DA09E}"/>
              </a:ext>
            </a:extLst>
          </p:cNvPr>
          <p:cNvSpPr/>
          <p:nvPr/>
        </p:nvSpPr>
        <p:spPr>
          <a:xfrm>
            <a:off x="7683500" y="2489200"/>
            <a:ext cx="2540000" cy="3683000"/>
          </a:xfrm>
          <a:prstGeom prst="roundRect">
            <a:avLst>
              <a:gd name="adj" fmla="val 1000"/>
            </a:avLst>
          </a:prstGeom>
          <a:solidFill>
            <a:srgbClr val="FFFFFF"/>
          </a:solidFill>
          <a:ln w="12700" cap="flat" cmpd="sng" algn="ctr">
            <a:solidFill>
              <a:srgbClr val="CBD6E6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5" name="모서리가 둥근 직사각형 14">
            <a:extLst>
              <a:ext uri="{FF2B5EF4-FFF2-40B4-BE49-F238E27FC236}">
                <a16:creationId xmlns:a16="http://schemas.microsoft.com/office/drawing/2014/main" id="{64ECBBB3-79B0-174A-ACDC-232DFA2AFE78}"/>
              </a:ext>
            </a:extLst>
          </p:cNvPr>
          <p:cNvSpPr/>
          <p:nvPr/>
        </p:nvSpPr>
        <p:spPr>
          <a:xfrm>
            <a:off x="7810500" y="2590800"/>
            <a:ext cx="2286000" cy="127000"/>
          </a:xfrm>
          <a:prstGeom prst="roundRect">
            <a:avLst>
              <a:gd name="adj" fmla="val 20000"/>
            </a:avLst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6" name="모서리가 둥근 직사각형 15">
            <a:extLst>
              <a:ext uri="{FF2B5EF4-FFF2-40B4-BE49-F238E27FC236}">
                <a16:creationId xmlns:a16="http://schemas.microsoft.com/office/drawing/2014/main" id="{69F575E2-3705-7343-900E-5F0E1D0F4C68}"/>
              </a:ext>
            </a:extLst>
          </p:cNvPr>
          <p:cNvSpPr/>
          <p:nvPr/>
        </p:nvSpPr>
        <p:spPr>
          <a:xfrm>
            <a:off x="7810500" y="2819400"/>
            <a:ext cx="2286000" cy="533400"/>
          </a:xfrm>
          <a:prstGeom prst="roundRect">
            <a:avLst>
              <a:gd name="adj" fmla="val 4762"/>
            </a:avLst>
          </a:prstGeom>
          <a:solidFill>
            <a:srgbClr val="E3E8F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B480720-ECCA-E048-8486-B58927CCFC4C}"/>
              </a:ext>
            </a:extLst>
          </p:cNvPr>
          <p:cNvSpPr txBox="1"/>
          <p:nvPr/>
        </p:nvSpPr>
        <p:spPr>
          <a:xfrm>
            <a:off x="7810500" y="2819400"/>
            <a:ext cx="2286000" cy="533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altLang="ko-KR" sz="1400">
                <a:solidFill>
                  <a:srgbClr val="576176"/>
                </a:solidFill>
                <a:ea typeface="Pretendard"/>
              </a:rPr>
              <a:t>HERO · </a:t>
            </a:r>
            <a:r>
              <a:rPr lang="ko-KR" altLang="en-US" sz="1400">
                <a:solidFill>
                  <a:srgbClr val="576176"/>
                </a:solidFill>
              </a:rPr>
              <a:t>헤드라인</a:t>
            </a:r>
          </a:p>
        </p:txBody>
      </p:sp>
      <p:sp>
        <p:nvSpPr>
          <p:cNvPr id="18" name="모서리가 둥근 직사각형 17">
            <a:extLst>
              <a:ext uri="{FF2B5EF4-FFF2-40B4-BE49-F238E27FC236}">
                <a16:creationId xmlns:a16="http://schemas.microsoft.com/office/drawing/2014/main" id="{9CEF31B0-B4DF-F441-800C-E07EB85EDCBB}"/>
              </a:ext>
            </a:extLst>
          </p:cNvPr>
          <p:cNvSpPr/>
          <p:nvPr/>
        </p:nvSpPr>
        <p:spPr>
          <a:xfrm>
            <a:off x="7810500" y="3429000"/>
            <a:ext cx="2286000" cy="304800"/>
          </a:xfrm>
          <a:prstGeom prst="roundRect">
            <a:avLst>
              <a:gd name="adj" fmla="val 8333"/>
            </a:avLst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400" b="1">
                <a:solidFill>
                  <a:srgbClr val="14213D"/>
                </a:solidFill>
                <a:ea typeface="Pretendard"/>
              </a:rPr>
              <a:t>Pre-order  →</a:t>
            </a:r>
            <a:endParaRPr lang="ko-KR" altLang="en-US" sz="1400" b="1">
              <a:solidFill>
                <a:srgbClr val="14213D"/>
              </a:solidFill>
            </a:endParaRP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B7CB8D33-265B-0246-B0C3-7F3A0D6CB64B}"/>
              </a:ext>
            </a:extLst>
          </p:cNvPr>
          <p:cNvSpPr/>
          <p:nvPr/>
        </p:nvSpPr>
        <p:spPr>
          <a:xfrm>
            <a:off x="7810500" y="3835400"/>
            <a:ext cx="711200" cy="381000"/>
          </a:xfrm>
          <a:prstGeom prst="roundRect">
            <a:avLst>
              <a:gd name="adj" fmla="val 6667"/>
            </a:avLst>
          </a:prstGeom>
          <a:solidFill>
            <a:srgbClr val="E3E8F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02D23EB-27CD-874B-83DF-2FB90A64B1CC}"/>
              </a:ext>
            </a:extLst>
          </p:cNvPr>
          <p:cNvSpPr txBox="1"/>
          <p:nvPr/>
        </p:nvSpPr>
        <p:spPr>
          <a:xfrm>
            <a:off x="7810500" y="3835400"/>
            <a:ext cx="711200" cy="381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400">
                <a:solidFill>
                  <a:srgbClr val="576176"/>
                </a:solidFill>
              </a:rPr>
              <a:t>특징</a:t>
            </a:r>
            <a:r>
              <a:rPr lang="en-US" altLang="ko-KR" sz="1400">
                <a:solidFill>
                  <a:srgbClr val="576176"/>
                </a:solidFill>
                <a:ea typeface="Pretendard"/>
              </a:rPr>
              <a:t>1</a:t>
            </a:r>
            <a:endParaRPr lang="ko-KR" altLang="en-US" sz="1400">
              <a:solidFill>
                <a:srgbClr val="576176"/>
              </a:solidFill>
            </a:endParaRPr>
          </a:p>
        </p:txBody>
      </p:sp>
      <p:sp>
        <p:nvSpPr>
          <p:cNvPr id="21" name="모서리가 둥근 직사각형 20">
            <a:extLst>
              <a:ext uri="{FF2B5EF4-FFF2-40B4-BE49-F238E27FC236}">
                <a16:creationId xmlns:a16="http://schemas.microsoft.com/office/drawing/2014/main" id="{2FC79C25-F3DC-9543-BAF5-D8B42EAF0D9D}"/>
              </a:ext>
            </a:extLst>
          </p:cNvPr>
          <p:cNvSpPr/>
          <p:nvPr/>
        </p:nvSpPr>
        <p:spPr>
          <a:xfrm>
            <a:off x="8597900" y="3835400"/>
            <a:ext cx="711200" cy="381000"/>
          </a:xfrm>
          <a:prstGeom prst="roundRect">
            <a:avLst>
              <a:gd name="adj" fmla="val 6667"/>
            </a:avLst>
          </a:prstGeom>
          <a:solidFill>
            <a:srgbClr val="E3E8F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581A454-5AEB-2C4F-8B48-894BCAD0B99B}"/>
              </a:ext>
            </a:extLst>
          </p:cNvPr>
          <p:cNvSpPr txBox="1"/>
          <p:nvPr/>
        </p:nvSpPr>
        <p:spPr>
          <a:xfrm>
            <a:off x="8597900" y="3835400"/>
            <a:ext cx="711200" cy="381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400">
                <a:solidFill>
                  <a:srgbClr val="576176"/>
                </a:solidFill>
              </a:rPr>
              <a:t>특징</a:t>
            </a:r>
            <a:r>
              <a:rPr lang="en-US" altLang="ko-KR" sz="1400">
                <a:solidFill>
                  <a:srgbClr val="576176"/>
                </a:solidFill>
                <a:ea typeface="Pretendard"/>
              </a:rPr>
              <a:t>2</a:t>
            </a:r>
            <a:endParaRPr lang="ko-KR" altLang="en-US" sz="1400">
              <a:solidFill>
                <a:srgbClr val="576176"/>
              </a:solidFill>
            </a:endParaRPr>
          </a:p>
        </p:txBody>
      </p:sp>
      <p:sp>
        <p:nvSpPr>
          <p:cNvPr id="23" name="모서리가 둥근 직사각형 22">
            <a:extLst>
              <a:ext uri="{FF2B5EF4-FFF2-40B4-BE49-F238E27FC236}">
                <a16:creationId xmlns:a16="http://schemas.microsoft.com/office/drawing/2014/main" id="{2FC6C3CD-536E-1B41-B239-C7C8F9324D0F}"/>
              </a:ext>
            </a:extLst>
          </p:cNvPr>
          <p:cNvSpPr/>
          <p:nvPr/>
        </p:nvSpPr>
        <p:spPr>
          <a:xfrm>
            <a:off x="9385300" y="3835400"/>
            <a:ext cx="711200" cy="381000"/>
          </a:xfrm>
          <a:prstGeom prst="roundRect">
            <a:avLst>
              <a:gd name="adj" fmla="val 6667"/>
            </a:avLst>
          </a:prstGeom>
          <a:solidFill>
            <a:srgbClr val="E3E8F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5AD257A-5338-AF42-8FE3-656274DF1655}"/>
              </a:ext>
            </a:extLst>
          </p:cNvPr>
          <p:cNvSpPr txBox="1"/>
          <p:nvPr/>
        </p:nvSpPr>
        <p:spPr>
          <a:xfrm>
            <a:off x="9385300" y="3835400"/>
            <a:ext cx="711200" cy="381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400">
                <a:solidFill>
                  <a:srgbClr val="576176"/>
                </a:solidFill>
              </a:rPr>
              <a:t>특징</a:t>
            </a:r>
            <a:r>
              <a:rPr lang="en-US" altLang="ko-KR" sz="1400">
                <a:solidFill>
                  <a:srgbClr val="576176"/>
                </a:solidFill>
                <a:ea typeface="Pretendard"/>
              </a:rPr>
              <a:t>3</a:t>
            </a:r>
            <a:endParaRPr lang="ko-KR" altLang="en-US" sz="1400">
              <a:solidFill>
                <a:srgbClr val="576176"/>
              </a:solidFill>
            </a:endParaRPr>
          </a:p>
        </p:txBody>
      </p:sp>
      <p:sp>
        <p:nvSpPr>
          <p:cNvPr id="25" name="모서리가 둥근 직사각형 24">
            <a:extLst>
              <a:ext uri="{FF2B5EF4-FFF2-40B4-BE49-F238E27FC236}">
                <a16:creationId xmlns:a16="http://schemas.microsoft.com/office/drawing/2014/main" id="{36E9CA31-D188-E240-88C6-B8E3BCC63455}"/>
              </a:ext>
            </a:extLst>
          </p:cNvPr>
          <p:cNvSpPr/>
          <p:nvPr/>
        </p:nvSpPr>
        <p:spPr>
          <a:xfrm>
            <a:off x="7810500" y="4318000"/>
            <a:ext cx="2286000" cy="279400"/>
          </a:xfrm>
          <a:prstGeom prst="roundRect">
            <a:avLst>
              <a:gd name="adj" fmla="val 9091"/>
            </a:avLst>
          </a:prstGeom>
          <a:solidFill>
            <a:srgbClr val="E3E8F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4E0E196-C69D-2542-8A54-602C027D61C2}"/>
              </a:ext>
            </a:extLst>
          </p:cNvPr>
          <p:cNvSpPr txBox="1"/>
          <p:nvPr/>
        </p:nvSpPr>
        <p:spPr>
          <a:xfrm>
            <a:off x="7810500" y="4318000"/>
            <a:ext cx="22860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400">
                <a:solidFill>
                  <a:srgbClr val="576176"/>
                </a:solidFill>
              </a:rPr>
              <a:t>★★★★★  후기</a:t>
            </a:r>
          </a:p>
        </p:txBody>
      </p:sp>
      <p:sp>
        <p:nvSpPr>
          <p:cNvPr id="27" name="모서리가 둥근 직사각형 26">
            <a:extLst>
              <a:ext uri="{FF2B5EF4-FFF2-40B4-BE49-F238E27FC236}">
                <a16:creationId xmlns:a16="http://schemas.microsoft.com/office/drawing/2014/main" id="{0E353696-D6A9-AF4D-8AD5-BE46DBC072D4}"/>
              </a:ext>
            </a:extLst>
          </p:cNvPr>
          <p:cNvSpPr/>
          <p:nvPr/>
        </p:nvSpPr>
        <p:spPr>
          <a:xfrm>
            <a:off x="7810500" y="4673600"/>
            <a:ext cx="2286000" cy="254000"/>
          </a:xfrm>
          <a:prstGeom prst="roundRect">
            <a:avLst>
              <a:gd name="adj" fmla="val 10000"/>
            </a:avLst>
          </a:prstGeom>
          <a:solidFill>
            <a:srgbClr val="E3E8F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2874A5E-BC13-B047-87BC-8135C0B8C6A4}"/>
              </a:ext>
            </a:extLst>
          </p:cNvPr>
          <p:cNvSpPr txBox="1"/>
          <p:nvPr/>
        </p:nvSpPr>
        <p:spPr>
          <a:xfrm>
            <a:off x="7810500" y="4673600"/>
            <a:ext cx="2286000" cy="254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altLang="ko-KR" sz="1400">
                <a:solidFill>
                  <a:srgbClr val="576176"/>
                </a:solidFill>
                <a:ea typeface="Pretendard"/>
              </a:rPr>
              <a:t>FAQ</a:t>
            </a:r>
            <a:endParaRPr lang="ko-KR" altLang="en-US" sz="1400">
              <a:solidFill>
                <a:srgbClr val="576176"/>
              </a:solidFill>
            </a:endParaRPr>
          </a:p>
        </p:txBody>
      </p:sp>
      <p:sp>
        <p:nvSpPr>
          <p:cNvPr id="29" name="모서리가 둥근 직사각형 28">
            <a:extLst>
              <a:ext uri="{FF2B5EF4-FFF2-40B4-BE49-F238E27FC236}">
                <a16:creationId xmlns:a16="http://schemas.microsoft.com/office/drawing/2014/main" id="{DB427E13-95D3-D04B-95ED-C316AB7EEB9A}"/>
              </a:ext>
            </a:extLst>
          </p:cNvPr>
          <p:cNvSpPr/>
          <p:nvPr/>
        </p:nvSpPr>
        <p:spPr>
          <a:xfrm>
            <a:off x="7810500" y="5003800"/>
            <a:ext cx="2286000" cy="304800"/>
          </a:xfrm>
          <a:prstGeom prst="roundRect">
            <a:avLst>
              <a:gd name="adj" fmla="val 8333"/>
            </a:avLst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400" b="1">
                <a:solidFill>
                  <a:srgbClr val="14213D"/>
                </a:solidFill>
                <a:ea typeface="Pretendard"/>
              </a:rPr>
              <a:t>Pre-order</a:t>
            </a:r>
            <a:endParaRPr lang="ko-KR" altLang="en-US" sz="1400" b="1">
              <a:solidFill>
                <a:srgbClr val="14213D"/>
              </a:solidFill>
            </a:endParaRPr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246BC681-E41E-F147-BD40-CD48C2D520F6}"/>
              </a:ext>
            </a:extLst>
          </p:cNvPr>
          <p:cNvSpPr/>
          <p:nvPr/>
        </p:nvSpPr>
        <p:spPr>
          <a:xfrm>
            <a:off x="6184900" y="3860800"/>
            <a:ext cx="457200" cy="457200"/>
          </a:xfrm>
          <a:prstGeom prst="ellipse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b="1">
                <a:solidFill>
                  <a:srgbClr val="14213D"/>
                </a:solidFill>
              </a:rPr>
              <a:t>→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2E04B2AB-6D72-024C-EA28-566B8409E98C}"/>
              </a:ext>
            </a:extLst>
          </p:cNvPr>
          <p:cNvGrpSpPr/>
          <p:nvPr/>
        </p:nvGrpSpPr>
        <p:grpSpPr>
          <a:xfrm>
            <a:off x="4756534" y="4902201"/>
            <a:ext cx="1856917" cy="1701799"/>
            <a:chOff x="17449800" y="7213600"/>
            <a:chExt cx="6146800" cy="5486400"/>
          </a:xfrm>
        </p:grpSpPr>
        <p:pic>
          <p:nvPicPr>
            <p:cNvPr id="5" name="Picture 9">
              <a:extLst>
                <a:ext uri="{FF2B5EF4-FFF2-40B4-BE49-F238E27FC236}">
                  <a16:creationId xmlns:a16="http://schemas.microsoft.com/office/drawing/2014/main" id="{C4CF0068-9914-3029-52C8-7489CF1E172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653000" y="8851900"/>
              <a:ext cx="1739900" cy="774700"/>
            </a:xfrm>
            <a:prstGeom prst="rect">
              <a:avLst/>
            </a:prstGeom>
          </p:spPr>
        </p:pic>
        <p:sp>
          <p:nvSpPr>
            <p:cNvPr id="31" name="TextBox 10">
              <a:extLst>
                <a:ext uri="{FF2B5EF4-FFF2-40B4-BE49-F238E27FC236}">
                  <a16:creationId xmlns:a16="http://schemas.microsoft.com/office/drawing/2014/main" id="{EFA1973A-EBB4-34D7-7F4E-90BD8F43EDA3}"/>
                </a:ext>
              </a:extLst>
            </p:cNvPr>
            <p:cNvSpPr txBox="1"/>
            <p:nvPr/>
          </p:nvSpPr>
          <p:spPr>
            <a:xfrm>
              <a:off x="17449800" y="8991600"/>
              <a:ext cx="1930400" cy="571500"/>
            </a:xfrm>
            <a:prstGeom prst="rect">
              <a:avLst/>
            </a:prstGeom>
          </p:spPr>
          <p:txBody>
            <a:bodyPr lIns="0" tIns="40640" rIns="0" bIns="4064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b="0" i="0" u="none" strike="noStrike" spc="-100" dirty="0">
                  <a:solidFill>
                    <a:srgbClr val="000000"/>
                  </a:solidFill>
                  <a:latin typeface="SB AggroOTF Bold"/>
                  <a:ea typeface="SB AggroOTF Bold"/>
                  <a:cs typeface="SB AggroOTF Bold"/>
                </a:rPr>
                <a:t>oh!</a:t>
              </a:r>
            </a:p>
          </p:txBody>
        </p:sp>
        <p:pic>
          <p:nvPicPr>
            <p:cNvPr id="32" name="Picture 27">
              <a:extLst>
                <a:ext uri="{FF2B5EF4-FFF2-40B4-BE49-F238E27FC236}">
                  <a16:creationId xmlns:a16="http://schemas.microsoft.com/office/drawing/2014/main" id="{6920EEB6-83B1-B27B-4844-93783586690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834100" y="7213600"/>
              <a:ext cx="4762500" cy="5486400"/>
            </a:xfrm>
            <a:prstGeom prst="rect">
              <a:avLst/>
            </a:prstGeom>
          </p:spPr>
        </p:pic>
      </p:grpSp>
      <p:sp>
        <p:nvSpPr>
          <p:cNvPr id="33" name="PageNumber">
            <a:extLst>
              <a:ext uri="{FF2B5EF4-FFF2-40B4-BE49-F238E27FC236}">
                <a16:creationId xmlns:a16="http://schemas.microsoft.com/office/drawing/2014/main" id="{614815E5-1D09-BF43-AEF9-DEAC574914D6}"/>
              </a:ext>
            </a:extLst>
          </p:cNvPr>
          <p:cNvSpPr txBox="1"/>
          <p:nvPr/>
        </p:nvSpPr>
        <p:spPr>
          <a:xfrm>
            <a:off x="9499600" y="6489700"/>
            <a:ext cx="23368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r"/>
            <a:r>
              <a:rPr lang="en-US" altLang="ko-KR" sz="1200">
                <a:solidFill>
                  <a:srgbClr val="576176"/>
                </a:solidFill>
                <a:latin typeface="Pretendard"/>
              </a:rPr>
              <a:t>- 93/144 -</a:t>
            </a:r>
            <a:endParaRPr lang="ko-KR" altLang="en-US" sz="1200">
              <a:solidFill>
                <a:srgbClr val="576176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2674749349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실제 입력 → 출력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실제 예시 — Stitch 브리프 → 생성 화면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783080"/>
            <a:ext cx="10332720" cy="1874519"/>
          </a:xfrm>
          <a:prstGeom prst="rect">
            <a:avLst/>
          </a:prstGeom>
          <a:solidFill>
            <a:srgbClr val="10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502920" rIns="320040" rtlCol="0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Create a landing page for "Night Off", a craft non-alcoholic beer.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Goal: pre-order. Tone: warm, premium, minimal (amber + navy).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Sections: hero(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headline+CTA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), 3 features, customer quotes, FAQ, final CTA.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Mobile-first.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783080"/>
            <a:ext cx="2011680" cy="329184"/>
          </a:xfrm>
          <a:prstGeom prst="rect">
            <a:avLst/>
          </a:prstGeom>
          <a:solidFill>
            <a:srgbClr val="243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400"/>
              </a:spcAft>
            </a:pPr>
            <a:r>
              <a:rPr sz="1400" b="0">
                <a:solidFill>
                  <a:srgbClr val="E8A33D"/>
                </a:solidFill>
                <a:latin typeface="JetBrains Mono"/>
                <a:ea typeface="JetBrains Mono"/>
                <a:cs typeface="JetBrains Mono"/>
              </a:rPr>
              <a:t>▸ 입력 프롬프트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794760"/>
            <a:ext cx="10332720" cy="2514600"/>
          </a:xfrm>
          <a:prstGeom prst="rect">
            <a:avLst/>
          </a:prstGeom>
          <a:solidFill>
            <a:srgbClr val="FBFCFE"/>
          </a:solidFill>
          <a:ln w="12700">
            <a:solidFill>
              <a:srgbClr val="E9EC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502920" rIns="320040" rtlCol="0" anchor="t"/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100"/>
              </a:spcAft>
            </a:pPr>
            <a:r>
              <a:rPr sz="140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결과</a:t>
            </a:r>
            <a:r>
              <a:rPr sz="140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(</a:t>
            </a:r>
            <a:r>
              <a:rPr sz="140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기대</a:t>
            </a:r>
            <a:r>
              <a:rPr sz="140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): </a:t>
            </a:r>
            <a:r>
              <a:rPr sz="140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위→아래로</a:t>
            </a:r>
            <a:endParaRPr sz="1400" dirty="0">
              <a:solidFill>
                <a:srgbClr val="14213D"/>
              </a:solidFill>
              <a:latin typeface="Pretendard"/>
              <a:ea typeface="Pretendard"/>
              <a:cs typeface="Pretendard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100"/>
              </a:spcAft>
            </a:pPr>
            <a:r>
              <a:rPr sz="140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① </a:t>
            </a:r>
            <a:r>
              <a:rPr sz="140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히어로</a:t>
            </a:r>
            <a:r>
              <a:rPr sz="140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(</a:t>
            </a:r>
            <a:r>
              <a:rPr sz="140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한</a:t>
            </a:r>
            <a:r>
              <a:rPr sz="140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줄</a:t>
            </a:r>
            <a:r>
              <a:rPr sz="140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헤드라인</a:t>
            </a:r>
            <a:r>
              <a:rPr sz="140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 + "</a:t>
            </a:r>
            <a:r>
              <a:rPr sz="140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사전예약</a:t>
            </a:r>
            <a:r>
              <a:rPr sz="140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" </a:t>
            </a:r>
            <a:r>
              <a:rPr sz="140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버튼</a:t>
            </a:r>
            <a:r>
              <a:rPr sz="140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)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100"/>
              </a:spcAft>
            </a:pPr>
            <a:r>
              <a:rPr sz="140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② </a:t>
            </a:r>
            <a:r>
              <a:rPr sz="140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특징</a:t>
            </a:r>
            <a:r>
              <a:rPr sz="140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 3카드(발효공법·저칼로리·0.0%)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100"/>
              </a:spcAft>
            </a:pPr>
            <a:r>
              <a:rPr sz="140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③ </a:t>
            </a:r>
            <a:r>
              <a:rPr sz="140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고객</a:t>
            </a:r>
            <a:r>
              <a:rPr sz="140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후기</a:t>
            </a:r>
            <a:r>
              <a:rPr sz="140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 ④ FAQ ⑤ </a:t>
            </a:r>
            <a:r>
              <a:rPr sz="140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하단</a:t>
            </a:r>
            <a:r>
              <a:rPr sz="140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 CTA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100"/>
              </a:spcAft>
            </a:pPr>
            <a:r>
              <a:rPr sz="1400" dirty="0">
                <a:solidFill>
                  <a:srgbClr val="1D4E89"/>
                </a:solidFill>
                <a:latin typeface="Pretendard"/>
                <a:ea typeface="Pretendard"/>
                <a:cs typeface="Pretendard"/>
              </a:rPr>
              <a:t>→ "</a:t>
            </a:r>
            <a:r>
              <a:rPr sz="1400" dirty="0" err="1">
                <a:solidFill>
                  <a:srgbClr val="1D4E89"/>
                </a:solidFill>
                <a:latin typeface="Pretendard"/>
                <a:ea typeface="Pretendard"/>
                <a:cs typeface="Pretendard"/>
              </a:rPr>
              <a:t>특징을</a:t>
            </a:r>
            <a:r>
              <a:rPr sz="1400" dirty="0">
                <a:solidFill>
                  <a:srgbClr val="1D4E89"/>
                </a:solidFill>
                <a:latin typeface="Pretendard"/>
                <a:ea typeface="Pretendard"/>
                <a:cs typeface="Pretendard"/>
              </a:rPr>
              <a:t> 2개로 </a:t>
            </a:r>
            <a:r>
              <a:rPr sz="1400" dirty="0" err="1">
                <a:solidFill>
                  <a:srgbClr val="1D4E89"/>
                </a:solidFill>
                <a:latin typeface="Pretendard"/>
                <a:ea typeface="Pretendard"/>
                <a:cs typeface="Pretendard"/>
              </a:rPr>
              <a:t>줄여줘"처럼</a:t>
            </a:r>
            <a:r>
              <a:rPr sz="1400" dirty="0">
                <a:solidFill>
                  <a:srgbClr val="1D4E8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solidFill>
                  <a:srgbClr val="1D4E89"/>
                </a:solidFill>
                <a:latin typeface="Pretendard"/>
                <a:ea typeface="Pretendard"/>
                <a:cs typeface="Pretendard"/>
              </a:rPr>
              <a:t>부분</a:t>
            </a:r>
            <a:r>
              <a:rPr sz="1400" dirty="0">
                <a:solidFill>
                  <a:srgbClr val="1D4E8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solidFill>
                  <a:srgbClr val="1D4E89"/>
                </a:solidFill>
                <a:latin typeface="Pretendard"/>
                <a:ea typeface="Pretendard"/>
                <a:cs typeface="Pretendard"/>
              </a:rPr>
              <a:t>수정으로</a:t>
            </a:r>
            <a:r>
              <a:rPr sz="1400" dirty="0">
                <a:solidFill>
                  <a:srgbClr val="1D4E8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solidFill>
                  <a:srgbClr val="1D4E89"/>
                </a:solidFill>
                <a:latin typeface="Pretendard"/>
                <a:ea typeface="Pretendard"/>
                <a:cs typeface="Pretendard"/>
              </a:rPr>
              <a:t>다듬는다</a:t>
            </a:r>
            <a:r>
              <a:rPr sz="1400" dirty="0">
                <a:solidFill>
                  <a:srgbClr val="1D4E89"/>
                </a:solidFill>
                <a:latin typeface="Pretendard"/>
                <a:ea typeface="Pretendard"/>
                <a:cs typeface="Pretendard"/>
              </a:rPr>
              <a:t>.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794760"/>
            <a:ext cx="1828800" cy="329184"/>
          </a:xfrm>
          <a:prstGeom prst="rect">
            <a:avLst/>
          </a:prstGeom>
          <a:solidFill>
            <a:srgbClr val="DCE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384048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400"/>
              </a:spcAft>
            </a:pPr>
            <a:r>
              <a:rPr sz="14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▸ 나온 결과(예)</a:t>
            </a:r>
          </a:p>
        </p:txBody>
      </p:sp>
      <p:sp>
        <p:nvSpPr>
          <p:cNvPr id="10" name="PageNumber">
            <a:extLst>
              <a:ext uri="{FF2B5EF4-FFF2-40B4-BE49-F238E27FC236}">
                <a16:creationId xmlns:a16="http://schemas.microsoft.com/office/drawing/2014/main" id="{5E76AF25-A077-7641-8436-FA2D6EC63707}"/>
              </a:ext>
            </a:extLst>
          </p:cNvPr>
          <p:cNvSpPr txBox="1"/>
          <p:nvPr/>
        </p:nvSpPr>
        <p:spPr>
          <a:xfrm>
            <a:off x="9499600" y="6489700"/>
            <a:ext cx="23368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r"/>
            <a:r>
              <a:rPr lang="en-US" altLang="ko-KR" sz="1200">
                <a:solidFill>
                  <a:srgbClr val="576176"/>
                </a:solidFill>
                <a:latin typeface="Pretendard"/>
              </a:rPr>
              <a:t>- 94/144 -</a:t>
            </a:r>
            <a:endParaRPr lang="ko-KR" altLang="en-US" sz="1200">
              <a:solidFill>
                <a:srgbClr val="576176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310076891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정리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자연어 기반 UI 시안 생성 (Google Stitch)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920240"/>
            <a:ext cx="10332720" cy="1636776"/>
          </a:xfrm>
          <a:prstGeom prst="rect">
            <a:avLst/>
          </a:prstGeom>
          <a:solidFill>
            <a:srgbClr val="FB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228600" rIns="365760" bIns="182880" rtlCol="0" anchor="t"/>
          <a:lstStyle/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600"/>
              </a:spcAft>
            </a:pPr>
            <a:r>
              <a:rPr sz="1500" b="1">
                <a:solidFill>
                  <a:srgbClr val="B57A1A"/>
                </a:solidFill>
                <a:latin typeface="JetBrains Mono"/>
                <a:ea typeface="JetBrains Mono"/>
                <a:cs typeface="JetBrains Mono"/>
              </a:rPr>
              <a:t>⚠  흔한 실수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1">
                <a:solidFill>
                  <a:srgbClr val="E8A33D"/>
                </a:solidFill>
                <a:latin typeface="Pretendard"/>
                <a:ea typeface="Pretendard"/>
                <a:cs typeface="Pretendard"/>
              </a:rPr>
              <a:t>·  </a:t>
            </a:r>
            <a:r>
              <a:rPr sz="14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목적/CTA 없이 "예쁘게"만 요청하면 방향 없는 시안이 나온다.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1">
                <a:solidFill>
                  <a:srgbClr val="E8A33D"/>
                </a:solidFill>
                <a:latin typeface="Pretendard"/>
                <a:ea typeface="Pretendard"/>
                <a:cs typeface="Pretendard"/>
              </a:rPr>
              <a:t>·  </a:t>
            </a:r>
            <a:r>
              <a:rPr sz="14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한 번에 완벽 기대 금지 → 부분 수정 반복이 정석.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739896"/>
            <a:ext cx="10332720" cy="1005840"/>
          </a:xfrm>
          <a:prstGeom prst="rect">
            <a:avLst/>
          </a:prstGeom>
          <a:solidFill>
            <a:srgbClr val="DCE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201168" rIns="365760" bIns="182880" rtlCol="0" anchor="t"/>
          <a:lstStyle/>
          <a:p>
            <a:pPr algn="l">
              <a:lnSpc>
                <a:spcPct val="125000"/>
              </a:lnSpc>
              <a:spcBef>
                <a:spcPts val="600"/>
              </a:spcBef>
              <a:spcAft>
                <a:spcPts val="400"/>
              </a:spcAft>
            </a:pPr>
            <a:r>
              <a:rPr sz="1500" b="1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📦  결과물   </a:t>
            </a:r>
            <a:r>
              <a:rPr sz="1600" b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홍보용 페이지 UI 시안 1개(히어로·특징·CTA 포함).</a:t>
            </a:r>
          </a:p>
        </p:txBody>
      </p:sp>
      <p:sp>
        <p:nvSpPr>
          <p:cNvPr id="6" name="PageNumber">
            <a:extLst>
              <a:ext uri="{FF2B5EF4-FFF2-40B4-BE49-F238E27FC236}">
                <a16:creationId xmlns:a16="http://schemas.microsoft.com/office/drawing/2014/main" id="{33DC082D-D38F-844A-B378-2F0D06D47E66}"/>
              </a:ext>
            </a:extLst>
          </p:cNvPr>
          <p:cNvSpPr txBox="1"/>
          <p:nvPr/>
        </p:nvSpPr>
        <p:spPr>
          <a:xfrm>
            <a:off x="9499600" y="6489700"/>
            <a:ext cx="23368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r"/>
            <a:r>
              <a:rPr lang="en-US" altLang="ko-KR" sz="1200">
                <a:solidFill>
                  <a:srgbClr val="576176"/>
                </a:solidFill>
                <a:latin typeface="Pretendard"/>
              </a:rPr>
              <a:t>- 95/144 -</a:t>
            </a:r>
            <a:endParaRPr lang="ko-KR" altLang="en-US" sz="1200">
              <a:solidFill>
                <a:srgbClr val="576176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2084246232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4E8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F7BF028-1070-BE4C-9463-D14B912811F1}"/>
              </a:ext>
            </a:extLst>
          </p:cNvPr>
          <p:cNvSpPr/>
          <p:nvPr/>
        </p:nvSpPr>
        <p:spPr>
          <a:xfrm>
            <a:off x="914400" y="2362200"/>
            <a:ext cx="431800" cy="76200"/>
          </a:xfrm>
          <a:prstGeom prst="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985053-EC50-FF48-B207-C5B280EBB3E8}"/>
              </a:ext>
            </a:extLst>
          </p:cNvPr>
          <p:cNvSpPr txBox="1"/>
          <p:nvPr/>
        </p:nvSpPr>
        <p:spPr>
          <a:xfrm>
            <a:off x="914400" y="2540000"/>
            <a:ext cx="5080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500" b="1">
                <a:solidFill>
                  <a:srgbClr val="E8A33D"/>
                </a:solidFill>
                <a:latin typeface="JetBrains Mono"/>
              </a:rPr>
              <a:t>SESSION 2</a:t>
            </a:r>
            <a:endParaRPr lang="ko-KR" altLang="en-US" sz="1500" b="1">
              <a:solidFill>
                <a:srgbClr val="E8A33D"/>
              </a:solidFill>
              <a:latin typeface="JetBrains Mono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1BAA97-8FF9-D64B-80B2-F7B344C0DCC3}"/>
              </a:ext>
            </a:extLst>
          </p:cNvPr>
          <p:cNvSpPr txBox="1"/>
          <p:nvPr/>
        </p:nvSpPr>
        <p:spPr>
          <a:xfrm>
            <a:off x="914400" y="2895600"/>
            <a:ext cx="10363200" cy="609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3200" b="1">
                <a:solidFill>
                  <a:srgbClr val="FFFFFF"/>
                </a:solidFill>
                <a:latin typeface="Noto Serif KR"/>
              </a:rPr>
              <a:t>랜딩</a:t>
            </a:r>
            <a:r>
              <a:rPr lang="en-US" altLang="ko-KR" sz="3200" b="1">
                <a:solidFill>
                  <a:srgbClr val="FFFFFF"/>
                </a:solidFill>
                <a:latin typeface="Noto Serif KR"/>
              </a:rPr>
              <a:t>·</a:t>
            </a:r>
            <a:r>
              <a:rPr lang="ko-KR" altLang="en-US" sz="3200" b="1">
                <a:solidFill>
                  <a:srgbClr val="FFFFFF"/>
                </a:solidFill>
                <a:latin typeface="Noto Serif KR"/>
              </a:rPr>
              <a:t>이벤트 페이지 구조 설계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21FDD6-1AAD-8E4F-BE69-D33AA04D4151}"/>
              </a:ext>
            </a:extLst>
          </p:cNvPr>
          <p:cNvSpPr txBox="1"/>
          <p:nvPr/>
        </p:nvSpPr>
        <p:spPr>
          <a:xfrm>
            <a:off x="914400" y="3657600"/>
            <a:ext cx="10033000" cy="558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600">
                <a:solidFill>
                  <a:srgbClr val="DCE6F2"/>
                </a:solidFill>
                <a:latin typeface="Pretendard"/>
              </a:rPr>
              <a:t>한 페이지 </a:t>
            </a:r>
            <a:r>
              <a:rPr lang="en-US" altLang="ko-KR" sz="1600">
                <a:solidFill>
                  <a:srgbClr val="DCE6F2"/>
                </a:solidFill>
                <a:latin typeface="Pretendard"/>
              </a:rPr>
              <a:t>= </a:t>
            </a:r>
            <a:r>
              <a:rPr lang="ko-KR" altLang="en-US" sz="1600">
                <a:solidFill>
                  <a:srgbClr val="DCE6F2"/>
                </a:solidFill>
                <a:latin typeface="Pretendard"/>
              </a:rPr>
              <a:t>하나의 목표</a:t>
            </a:r>
            <a:r>
              <a:rPr lang="en-US" altLang="ko-KR" sz="1600">
                <a:solidFill>
                  <a:srgbClr val="DCE6F2"/>
                </a:solidFill>
                <a:latin typeface="Pretendard"/>
              </a:rPr>
              <a:t>. </a:t>
            </a:r>
            <a:r>
              <a:rPr lang="ko-KR" altLang="en-US" sz="1600">
                <a:solidFill>
                  <a:srgbClr val="DCE6F2"/>
                </a:solidFill>
                <a:latin typeface="Pretendard"/>
              </a:rPr>
              <a:t>목표를 향한 화면 흐름을 먼저 설계한다</a:t>
            </a:r>
            <a:r>
              <a:rPr lang="en-US" altLang="ko-KR" sz="1600">
                <a:solidFill>
                  <a:srgbClr val="DCE6F2"/>
                </a:solidFill>
                <a:latin typeface="Pretendard"/>
              </a:rPr>
              <a:t>.</a:t>
            </a:r>
            <a:endParaRPr lang="ko-KR" altLang="en-US" sz="1600">
              <a:solidFill>
                <a:srgbClr val="DCE6F2"/>
              </a:solidFill>
              <a:latin typeface="Pretendard"/>
            </a:endParaRP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4E63222E-BB37-B54C-B798-0782663E6EB5}"/>
              </a:ext>
            </a:extLst>
          </p:cNvPr>
          <p:cNvSpPr/>
          <p:nvPr/>
        </p:nvSpPr>
        <p:spPr>
          <a:xfrm>
            <a:off x="914400" y="4521200"/>
            <a:ext cx="2616200" cy="889000"/>
          </a:xfrm>
          <a:prstGeom prst="roundRect">
            <a:avLst>
              <a:gd name="adj" fmla="val 2857"/>
            </a:avLst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ko-KR" altLang="en-US" sz="1600" b="1">
                <a:solidFill>
                  <a:srgbClr val="FFFFFF"/>
                </a:solidFill>
                <a:latin typeface="Pretendard"/>
              </a:rPr>
              <a:t>단일 목표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5B1C05-2BF8-8E44-BDAE-6CA1A3CC3773}"/>
              </a:ext>
            </a:extLst>
          </p:cNvPr>
          <p:cNvSpPr txBox="1"/>
          <p:nvPr/>
        </p:nvSpPr>
        <p:spPr>
          <a:xfrm>
            <a:off x="3530600" y="4521200"/>
            <a:ext cx="558800" cy="889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ko-KR" altLang="en-US" sz="2400" b="1">
                <a:solidFill>
                  <a:srgbClr val="9FB3CE"/>
                </a:solidFill>
                <a:latin typeface="Pretendard"/>
              </a:rPr>
              <a:t>→</a:t>
            </a: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CB2BFBB8-DDB3-D049-ADDD-5EA6187D029E}"/>
              </a:ext>
            </a:extLst>
          </p:cNvPr>
          <p:cNvSpPr/>
          <p:nvPr/>
        </p:nvSpPr>
        <p:spPr>
          <a:xfrm>
            <a:off x="4089400" y="4521200"/>
            <a:ext cx="2616200" cy="889000"/>
          </a:xfrm>
          <a:prstGeom prst="roundRect">
            <a:avLst>
              <a:gd name="adj" fmla="val 2857"/>
            </a:avLst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ko-KR" altLang="en-US" sz="1600" b="1">
                <a:solidFill>
                  <a:srgbClr val="FFFFFF"/>
                </a:solidFill>
                <a:latin typeface="Pretendard"/>
              </a:rPr>
              <a:t>섹션 흐름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9D62D84-F2BE-DB46-A864-43D79136416A}"/>
              </a:ext>
            </a:extLst>
          </p:cNvPr>
          <p:cNvSpPr txBox="1"/>
          <p:nvPr/>
        </p:nvSpPr>
        <p:spPr>
          <a:xfrm>
            <a:off x="6705600" y="4521200"/>
            <a:ext cx="558800" cy="889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ko-KR" altLang="en-US" sz="2400" b="1">
                <a:solidFill>
                  <a:srgbClr val="9FB3CE"/>
                </a:solidFill>
                <a:latin typeface="Pretendard"/>
              </a:rPr>
              <a:t>→</a:t>
            </a:r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68091715-EA7B-784B-B7A4-E6CD53B1DF4D}"/>
              </a:ext>
            </a:extLst>
          </p:cNvPr>
          <p:cNvSpPr/>
          <p:nvPr/>
        </p:nvSpPr>
        <p:spPr>
          <a:xfrm>
            <a:off x="7264400" y="4521200"/>
            <a:ext cx="2616200" cy="889000"/>
          </a:xfrm>
          <a:prstGeom prst="roundRect">
            <a:avLst>
              <a:gd name="adj" fmla="val 2857"/>
            </a:avLst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ko-KR" sz="1600" b="1">
                <a:solidFill>
                  <a:srgbClr val="14213D"/>
                </a:solidFill>
                <a:latin typeface="Pretendard"/>
              </a:rPr>
              <a:t>CTA </a:t>
            </a:r>
            <a:r>
              <a:rPr lang="ko-KR" altLang="en-US" sz="1600" b="1">
                <a:solidFill>
                  <a:srgbClr val="14213D"/>
                </a:solidFill>
                <a:latin typeface="Pretendard"/>
              </a:rPr>
              <a:t>반복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C2A0431-C9FF-5547-B738-913A62A8EA73}"/>
              </a:ext>
            </a:extLst>
          </p:cNvPr>
          <p:cNvSpPr txBox="1"/>
          <p:nvPr/>
        </p:nvSpPr>
        <p:spPr>
          <a:xfrm>
            <a:off x="914400" y="5740400"/>
            <a:ext cx="10363200" cy="304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400">
                <a:solidFill>
                  <a:srgbClr val="9FB3CE"/>
                </a:solidFill>
                <a:latin typeface="JetBrains Mono"/>
              </a:rPr>
              <a:t>→ 목표가 하나일 때 페이지가 가장 잘 작동한다</a:t>
            </a:r>
            <a:r>
              <a:rPr lang="en-US" altLang="ko-KR" sz="1400">
                <a:solidFill>
                  <a:srgbClr val="9FB3CE"/>
                </a:solidFill>
                <a:latin typeface="JetBrains Mono"/>
              </a:rPr>
              <a:t>.</a:t>
            </a:r>
            <a:endParaRPr lang="ko-KR" altLang="en-US" sz="1400">
              <a:solidFill>
                <a:srgbClr val="9FB3CE"/>
              </a:solidFill>
              <a:latin typeface="JetBrains Mono"/>
            </a:endParaRPr>
          </a:p>
        </p:txBody>
      </p:sp>
      <p:pic>
        <p:nvPicPr>
          <p:cNvPr id="2" name="Picture 14">
            <a:extLst>
              <a:ext uri="{FF2B5EF4-FFF2-40B4-BE49-F238E27FC236}">
                <a16:creationId xmlns:a16="http://schemas.microsoft.com/office/drawing/2014/main" id="{6020EFFC-A21C-282C-F330-F32C93F7E4A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8000"/>
          </a:blip>
          <a:stretch>
            <a:fillRect/>
          </a:stretch>
        </p:blipFill>
        <p:spPr>
          <a:xfrm>
            <a:off x="6197602" y="-150908"/>
            <a:ext cx="7002780" cy="4665110"/>
          </a:xfrm>
          <a:prstGeom prst="rect">
            <a:avLst/>
          </a:prstGeom>
        </p:spPr>
      </p:pic>
      <p:sp>
        <p:nvSpPr>
          <p:cNvPr id="3" name="PageNumber">
            <a:extLst>
              <a:ext uri="{FF2B5EF4-FFF2-40B4-BE49-F238E27FC236}">
                <a16:creationId xmlns:a16="http://schemas.microsoft.com/office/drawing/2014/main" id="{B8FBC109-9117-B246-B37F-ECD3A3BB72CA}"/>
              </a:ext>
            </a:extLst>
          </p:cNvPr>
          <p:cNvSpPr txBox="1"/>
          <p:nvPr/>
        </p:nvSpPr>
        <p:spPr>
          <a:xfrm>
            <a:off x="9499600" y="6489700"/>
            <a:ext cx="23368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r"/>
            <a:r>
              <a:rPr lang="en-US" altLang="ko-KR" sz="1200">
                <a:solidFill>
                  <a:schemeClr val="bg1"/>
                </a:solidFill>
                <a:latin typeface="Pretendard"/>
              </a:rPr>
              <a:t>- 96/144 -</a:t>
            </a:r>
            <a:endParaRPr lang="ko-KR" altLang="en-US" sz="1200">
              <a:solidFill>
                <a:schemeClr val="bg1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578836416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7863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핵심 개념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전환되는 페이지 구조의 3원칙</a:t>
            </a: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D2D52A99-D732-0B4F-9833-B999E567C720}"/>
              </a:ext>
            </a:extLst>
          </p:cNvPr>
          <p:cNvSpPr/>
          <p:nvPr/>
        </p:nvSpPr>
        <p:spPr>
          <a:xfrm>
            <a:off x="825500" y="1905000"/>
            <a:ext cx="3340100" cy="4381500"/>
          </a:xfrm>
          <a:prstGeom prst="roundRect">
            <a:avLst>
              <a:gd name="adj" fmla="val 760"/>
            </a:avLst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41C6118-0449-EA40-8648-36B69D61D7CD}"/>
              </a:ext>
            </a:extLst>
          </p:cNvPr>
          <p:cNvSpPr/>
          <p:nvPr/>
        </p:nvSpPr>
        <p:spPr>
          <a:xfrm>
            <a:off x="825500" y="1905000"/>
            <a:ext cx="3340100" cy="88900"/>
          </a:xfrm>
          <a:prstGeom prst="rect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D2CEC211-52A2-B04F-AE7C-1AD0F988F1C2}"/>
              </a:ext>
            </a:extLst>
          </p:cNvPr>
          <p:cNvSpPr/>
          <p:nvPr/>
        </p:nvSpPr>
        <p:spPr>
          <a:xfrm>
            <a:off x="1130300" y="2286000"/>
            <a:ext cx="508000" cy="508000"/>
          </a:xfrm>
          <a:prstGeom prst="ellipse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  <a:latin typeface="JetBrains Mono"/>
              </a:rPr>
              <a:t>1</a:t>
            </a:r>
            <a:endParaRPr lang="ko-KR" altLang="en-US" sz="16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C92968-8EB7-F048-A275-A661EA68B1BD}"/>
              </a:ext>
            </a:extLst>
          </p:cNvPr>
          <p:cNvSpPr txBox="1"/>
          <p:nvPr/>
        </p:nvSpPr>
        <p:spPr>
          <a:xfrm>
            <a:off x="1130300" y="2946400"/>
            <a:ext cx="2730500" cy="584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650" b="1">
                <a:solidFill>
                  <a:srgbClr val="14213D"/>
                </a:solidFill>
                <a:latin typeface="Pretendard"/>
              </a:rPr>
              <a:t>1</a:t>
            </a:r>
            <a:r>
              <a:rPr lang="ko-KR" altLang="en-US" sz="1650" b="1">
                <a:solidFill>
                  <a:srgbClr val="14213D"/>
                </a:solidFill>
                <a:latin typeface="Pretendard"/>
              </a:rPr>
              <a:t>페이지 </a:t>
            </a:r>
            <a:r>
              <a:rPr lang="en-US" altLang="ko-KR" sz="1650" b="1">
                <a:solidFill>
                  <a:srgbClr val="14213D"/>
                </a:solidFill>
                <a:latin typeface="Pretendard"/>
              </a:rPr>
              <a:t>1</a:t>
            </a:r>
            <a:r>
              <a:rPr lang="ko-KR" altLang="en-US" sz="1650" b="1">
                <a:solidFill>
                  <a:srgbClr val="14213D"/>
                </a:solidFill>
                <a:latin typeface="Pretendard"/>
              </a:rPr>
              <a:t>목표 원칙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9DB7A1E-5B3B-7145-9443-A3CB83A75245}"/>
              </a:ext>
            </a:extLst>
          </p:cNvPr>
          <p:cNvSpPr/>
          <p:nvPr/>
        </p:nvSpPr>
        <p:spPr>
          <a:xfrm>
            <a:off x="1130300" y="3632200"/>
            <a:ext cx="2730500" cy="12700"/>
          </a:xfrm>
          <a:prstGeom prst="rect">
            <a:avLst/>
          </a:prstGeom>
          <a:solidFill>
            <a:srgbClr val="D9E2E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0506D9A-C914-074A-BCE4-03660F575531}"/>
              </a:ext>
            </a:extLst>
          </p:cNvPr>
          <p:cNvSpPr txBox="1"/>
          <p:nvPr/>
        </p:nvSpPr>
        <p:spPr>
          <a:xfrm>
            <a:off x="1130300" y="3784600"/>
            <a:ext cx="2730500" cy="1625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400" dirty="0">
                <a:solidFill>
                  <a:srgbClr val="576176"/>
                </a:solidFill>
                <a:latin typeface="Pretendard"/>
              </a:rPr>
              <a:t>한 페이지는 하나의 전환 목표</a:t>
            </a:r>
            <a:r>
              <a:rPr lang="en-US" altLang="ko-KR" sz="1400" dirty="0">
                <a:solidFill>
                  <a:srgbClr val="576176"/>
                </a:solidFill>
                <a:latin typeface="Pretendard"/>
              </a:rPr>
              <a:t>(</a:t>
            </a:r>
            <a:r>
              <a:rPr lang="ko-KR" altLang="en-US" sz="1400" dirty="0">
                <a:solidFill>
                  <a:srgbClr val="576176"/>
                </a:solidFill>
                <a:latin typeface="Pretendard"/>
              </a:rPr>
              <a:t>구매</a:t>
            </a:r>
            <a:r>
              <a:rPr lang="en-US" altLang="ko-KR" sz="1400" dirty="0">
                <a:solidFill>
                  <a:srgbClr val="576176"/>
                </a:solidFill>
                <a:latin typeface="Pretendard"/>
              </a:rPr>
              <a:t>·</a:t>
            </a:r>
            <a:r>
              <a:rPr lang="ko-KR" altLang="en-US" sz="1400" dirty="0">
                <a:solidFill>
                  <a:srgbClr val="576176"/>
                </a:solidFill>
                <a:latin typeface="Pretendard"/>
              </a:rPr>
              <a:t>신청</a:t>
            </a:r>
            <a:r>
              <a:rPr lang="en-US" altLang="ko-KR" sz="1400" dirty="0">
                <a:solidFill>
                  <a:srgbClr val="576176"/>
                </a:solidFill>
                <a:latin typeface="Pretendard"/>
              </a:rPr>
              <a:t>·</a:t>
            </a:r>
            <a:r>
              <a:rPr lang="ko-KR" altLang="en-US" sz="1400" dirty="0">
                <a:solidFill>
                  <a:srgbClr val="576176"/>
                </a:solidFill>
                <a:latin typeface="Pretendard"/>
              </a:rPr>
              <a:t>문의</a:t>
            </a:r>
            <a:r>
              <a:rPr lang="en-US" altLang="ko-KR" sz="1400" dirty="0">
                <a:solidFill>
                  <a:srgbClr val="576176"/>
                </a:solidFill>
                <a:latin typeface="Pretendard"/>
              </a:rPr>
              <a:t>)</a:t>
            </a:r>
            <a:r>
              <a:rPr lang="ko-KR" altLang="en-US" sz="1400" dirty="0">
                <a:solidFill>
                  <a:srgbClr val="576176"/>
                </a:solidFill>
                <a:latin typeface="Pretendard"/>
              </a:rPr>
              <a:t>만</a:t>
            </a:r>
            <a:r>
              <a:rPr lang="en-US" altLang="ko-KR" sz="1400" dirty="0">
                <a:solidFill>
                  <a:srgbClr val="576176"/>
                </a:solidFill>
                <a:latin typeface="Pretendard"/>
              </a:rPr>
              <a:t>. </a:t>
            </a:r>
          </a:p>
          <a:p>
            <a:pPr algn="l">
              <a:lnSpc>
                <a:spcPct val="150000"/>
              </a:lnSpc>
            </a:pPr>
            <a:endParaRPr lang="en-US" altLang="ko-KR" sz="1400" dirty="0">
              <a:solidFill>
                <a:srgbClr val="576176"/>
              </a:solidFill>
              <a:latin typeface="Pretendard"/>
            </a:endParaRPr>
          </a:p>
          <a:p>
            <a:pPr algn="l">
              <a:lnSpc>
                <a:spcPct val="150000"/>
              </a:lnSpc>
            </a:pPr>
            <a:r>
              <a:rPr lang="ko-KR" altLang="en-US" sz="1400" dirty="0">
                <a:solidFill>
                  <a:srgbClr val="576176"/>
                </a:solidFill>
                <a:latin typeface="Pretendard"/>
              </a:rPr>
              <a:t>목표가 많으면 전환율이 떨어진다</a:t>
            </a:r>
            <a:r>
              <a:rPr lang="en-US" altLang="ko-KR" sz="1400" dirty="0">
                <a:solidFill>
                  <a:srgbClr val="576176"/>
                </a:solidFill>
                <a:latin typeface="Pretendard"/>
              </a:rPr>
              <a:t>.</a:t>
            </a:r>
            <a:endParaRPr lang="ko-KR" altLang="en-US" sz="1400" dirty="0">
              <a:solidFill>
                <a:srgbClr val="576176"/>
              </a:solidFill>
              <a:latin typeface="Pretendard"/>
            </a:endParaRP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BB5C5AD9-835C-9C4C-9AFA-FE00C58A29CA}"/>
              </a:ext>
            </a:extLst>
          </p:cNvPr>
          <p:cNvSpPr/>
          <p:nvPr/>
        </p:nvSpPr>
        <p:spPr>
          <a:xfrm>
            <a:off x="1130300" y="5562600"/>
            <a:ext cx="2730500" cy="457200"/>
          </a:xfrm>
          <a:prstGeom prst="roundRect">
            <a:avLst>
              <a:gd name="adj" fmla="val 5556"/>
            </a:avLst>
          </a:prstGeom>
          <a:solidFill>
            <a:srgbClr val="E7ECF4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9998B22-6F79-254C-9E04-7A0CC27C0F8C}"/>
              </a:ext>
            </a:extLst>
          </p:cNvPr>
          <p:cNvSpPr txBox="1"/>
          <p:nvPr/>
        </p:nvSpPr>
        <p:spPr>
          <a:xfrm>
            <a:off x="1130300" y="5562600"/>
            <a:ext cx="2730500" cy="457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ctr"/>
            <a:r>
              <a:rPr lang="ko-KR" altLang="en-US" sz="1400" b="1">
                <a:solidFill>
                  <a:srgbClr val="14213D"/>
                </a:solidFill>
                <a:latin typeface="Pretendard"/>
              </a:rPr>
              <a:t>목표는 하나만</a:t>
            </a: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5370C159-761E-8B4B-98E2-2334EB2B5F6F}"/>
              </a:ext>
            </a:extLst>
          </p:cNvPr>
          <p:cNvSpPr/>
          <p:nvPr/>
        </p:nvSpPr>
        <p:spPr>
          <a:xfrm>
            <a:off x="4419600" y="1905000"/>
            <a:ext cx="3340100" cy="4381500"/>
          </a:xfrm>
          <a:prstGeom prst="roundRect">
            <a:avLst>
              <a:gd name="adj" fmla="val 760"/>
            </a:avLst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031DE23-5CD0-5646-AA9A-8E7928D29FA3}"/>
              </a:ext>
            </a:extLst>
          </p:cNvPr>
          <p:cNvSpPr/>
          <p:nvPr/>
        </p:nvSpPr>
        <p:spPr>
          <a:xfrm>
            <a:off x="4419600" y="1905000"/>
            <a:ext cx="3340100" cy="88900"/>
          </a:xfrm>
          <a:prstGeom prst="rect">
            <a:avLst/>
          </a:prstGeom>
          <a:solidFill>
            <a:srgbClr val="1D4E89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AA826075-E1F5-6747-B04C-B626DF5778BC}"/>
              </a:ext>
            </a:extLst>
          </p:cNvPr>
          <p:cNvSpPr/>
          <p:nvPr/>
        </p:nvSpPr>
        <p:spPr>
          <a:xfrm>
            <a:off x="4724400" y="2286000"/>
            <a:ext cx="508000" cy="508000"/>
          </a:xfrm>
          <a:prstGeom prst="ellipse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  <a:latin typeface="JetBrains Mono"/>
              </a:rPr>
              <a:t>2</a:t>
            </a:r>
            <a:endParaRPr lang="ko-KR" altLang="en-US" sz="16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4166A39-4AC7-274C-A3AA-38573A4AC762}"/>
              </a:ext>
            </a:extLst>
          </p:cNvPr>
          <p:cNvSpPr txBox="1"/>
          <p:nvPr/>
        </p:nvSpPr>
        <p:spPr>
          <a:xfrm>
            <a:off x="4724400" y="2946400"/>
            <a:ext cx="2730500" cy="584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650" b="1">
                <a:solidFill>
                  <a:srgbClr val="14213D"/>
                </a:solidFill>
                <a:latin typeface="Pretendard"/>
              </a:rPr>
              <a:t>시각적 흐름 </a:t>
            </a:r>
            <a:r>
              <a:rPr lang="en-US" altLang="ko-KR" sz="1650" b="1">
                <a:solidFill>
                  <a:srgbClr val="14213D"/>
                </a:solidFill>
                <a:latin typeface="Pretendard"/>
              </a:rPr>
              <a:t>(F/Z)</a:t>
            </a:r>
            <a:endParaRPr lang="ko-KR" altLang="en-US" sz="1650" b="1">
              <a:solidFill>
                <a:srgbClr val="14213D"/>
              </a:solidFill>
              <a:latin typeface="Pretendard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50A6912-540E-EE45-9515-4EBEDC402B8A}"/>
              </a:ext>
            </a:extLst>
          </p:cNvPr>
          <p:cNvSpPr/>
          <p:nvPr/>
        </p:nvSpPr>
        <p:spPr>
          <a:xfrm>
            <a:off x="4724400" y="3632200"/>
            <a:ext cx="2730500" cy="12700"/>
          </a:xfrm>
          <a:prstGeom prst="rect">
            <a:avLst/>
          </a:prstGeom>
          <a:solidFill>
            <a:srgbClr val="D9E2E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2470275-7D00-A44E-BA2B-3E5E19138F70}"/>
              </a:ext>
            </a:extLst>
          </p:cNvPr>
          <p:cNvSpPr txBox="1"/>
          <p:nvPr/>
        </p:nvSpPr>
        <p:spPr>
          <a:xfrm>
            <a:off x="4724400" y="3784600"/>
            <a:ext cx="2730500" cy="1625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400" dirty="0">
                <a:solidFill>
                  <a:srgbClr val="576176"/>
                </a:solidFill>
                <a:latin typeface="Pretendard"/>
              </a:rPr>
              <a:t>시선 동선을 고려해 </a:t>
            </a:r>
            <a:endParaRPr lang="en-US" altLang="ko-KR" sz="1400" dirty="0">
              <a:solidFill>
                <a:srgbClr val="576176"/>
              </a:solidFill>
              <a:latin typeface="Pretendard"/>
            </a:endParaRPr>
          </a:p>
          <a:p>
            <a:pPr algn="l">
              <a:lnSpc>
                <a:spcPct val="150000"/>
              </a:lnSpc>
            </a:pPr>
            <a:r>
              <a:rPr lang="ko-KR" altLang="en-US" sz="1400" dirty="0">
                <a:solidFill>
                  <a:srgbClr val="576176"/>
                </a:solidFill>
                <a:latin typeface="Pretendard"/>
              </a:rPr>
              <a:t>핵심 메시지와 </a:t>
            </a:r>
            <a:r>
              <a:rPr lang="en-US" altLang="ko-KR" sz="1400" dirty="0">
                <a:solidFill>
                  <a:srgbClr val="576176"/>
                </a:solidFill>
                <a:latin typeface="Pretendard"/>
              </a:rPr>
              <a:t>CTA</a:t>
            </a:r>
            <a:r>
              <a:rPr lang="ko-KR" altLang="en-US" sz="1400" dirty="0" err="1">
                <a:solidFill>
                  <a:srgbClr val="576176"/>
                </a:solidFill>
                <a:latin typeface="Pretendard"/>
              </a:rPr>
              <a:t>를</a:t>
            </a:r>
            <a:r>
              <a:rPr lang="ko-KR" altLang="en-US" sz="1400" dirty="0">
                <a:solidFill>
                  <a:srgbClr val="576176"/>
                </a:solidFill>
                <a:latin typeface="Pretendard"/>
              </a:rPr>
              <a:t> </a:t>
            </a:r>
            <a:endParaRPr lang="en-US" altLang="ko-KR" sz="1400" dirty="0">
              <a:solidFill>
                <a:srgbClr val="576176"/>
              </a:solidFill>
              <a:latin typeface="Pretendard"/>
            </a:endParaRPr>
          </a:p>
          <a:p>
            <a:pPr algn="l">
              <a:lnSpc>
                <a:spcPct val="150000"/>
              </a:lnSpc>
            </a:pPr>
            <a:r>
              <a:rPr lang="ko-KR" altLang="en-US" sz="1400" dirty="0">
                <a:solidFill>
                  <a:srgbClr val="576176"/>
                </a:solidFill>
                <a:latin typeface="Pretendard"/>
              </a:rPr>
              <a:t>동선 위에 배치한다</a:t>
            </a:r>
            <a:r>
              <a:rPr lang="en-US" altLang="ko-KR" sz="1400" dirty="0">
                <a:solidFill>
                  <a:srgbClr val="576176"/>
                </a:solidFill>
                <a:latin typeface="Pretendard"/>
              </a:rPr>
              <a:t>.</a:t>
            </a:r>
            <a:endParaRPr lang="ko-KR" altLang="en-US" sz="1400" dirty="0">
              <a:solidFill>
                <a:srgbClr val="576176"/>
              </a:solidFill>
              <a:latin typeface="Pretendard"/>
            </a:endParaRP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73B7BB94-72A3-5E4D-883C-46023D636D68}"/>
              </a:ext>
            </a:extLst>
          </p:cNvPr>
          <p:cNvSpPr/>
          <p:nvPr/>
        </p:nvSpPr>
        <p:spPr>
          <a:xfrm>
            <a:off x="4724400" y="5562600"/>
            <a:ext cx="2730500" cy="457200"/>
          </a:xfrm>
          <a:prstGeom prst="roundRect">
            <a:avLst>
              <a:gd name="adj" fmla="val 5556"/>
            </a:avLst>
          </a:prstGeom>
          <a:solidFill>
            <a:srgbClr val="E4ECF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27D4FF9-EB5F-8143-96F4-8EBE6328DA6B}"/>
              </a:ext>
            </a:extLst>
          </p:cNvPr>
          <p:cNvSpPr txBox="1"/>
          <p:nvPr/>
        </p:nvSpPr>
        <p:spPr>
          <a:xfrm>
            <a:off x="4724400" y="5562600"/>
            <a:ext cx="2730500" cy="457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ctr"/>
            <a:r>
              <a:rPr lang="ko-KR" altLang="en-US" sz="1400" b="1">
                <a:solidFill>
                  <a:srgbClr val="1D4E89"/>
                </a:solidFill>
                <a:latin typeface="Pretendard"/>
              </a:rPr>
              <a:t>동선 위에 </a:t>
            </a:r>
            <a:r>
              <a:rPr lang="en-US" altLang="ko-KR" sz="1400" b="1">
                <a:solidFill>
                  <a:srgbClr val="1D4E89"/>
                </a:solidFill>
                <a:latin typeface="Pretendard"/>
              </a:rPr>
              <a:t>CTA</a:t>
            </a:r>
            <a:endParaRPr lang="ko-KR" altLang="en-US" sz="1400" b="1">
              <a:solidFill>
                <a:srgbClr val="1D4E89"/>
              </a:solidFill>
              <a:latin typeface="Pretendard"/>
            </a:endParaRPr>
          </a:p>
        </p:txBody>
      </p:sp>
      <p:sp>
        <p:nvSpPr>
          <p:cNvPr id="21" name="모서리가 둥근 직사각형 20">
            <a:extLst>
              <a:ext uri="{FF2B5EF4-FFF2-40B4-BE49-F238E27FC236}">
                <a16:creationId xmlns:a16="http://schemas.microsoft.com/office/drawing/2014/main" id="{D70F4096-6822-3742-9989-F249246006BF}"/>
              </a:ext>
            </a:extLst>
          </p:cNvPr>
          <p:cNvSpPr/>
          <p:nvPr/>
        </p:nvSpPr>
        <p:spPr>
          <a:xfrm>
            <a:off x="8013700" y="1905000"/>
            <a:ext cx="3340100" cy="4381500"/>
          </a:xfrm>
          <a:prstGeom prst="roundRect">
            <a:avLst>
              <a:gd name="adj" fmla="val 760"/>
            </a:avLst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4834EEE4-EFF7-B345-8E1C-741EEBBEB9E6}"/>
              </a:ext>
            </a:extLst>
          </p:cNvPr>
          <p:cNvSpPr/>
          <p:nvPr/>
        </p:nvSpPr>
        <p:spPr>
          <a:xfrm>
            <a:off x="8013700" y="1905000"/>
            <a:ext cx="3340100" cy="88900"/>
          </a:xfrm>
          <a:prstGeom prst="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A810F20D-6982-FB44-956F-D2CD49B745D9}"/>
              </a:ext>
            </a:extLst>
          </p:cNvPr>
          <p:cNvSpPr/>
          <p:nvPr/>
        </p:nvSpPr>
        <p:spPr>
          <a:xfrm>
            <a:off x="8318500" y="2286000"/>
            <a:ext cx="508000" cy="508000"/>
          </a:xfrm>
          <a:prstGeom prst="ellipse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  <a:latin typeface="JetBrains Mono"/>
              </a:rPr>
              <a:t>3</a:t>
            </a:r>
            <a:endParaRPr lang="ko-KR" altLang="en-US" sz="16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313F27B-7574-C44E-B50E-8AC948F4C3BA}"/>
              </a:ext>
            </a:extLst>
          </p:cNvPr>
          <p:cNvSpPr txBox="1"/>
          <p:nvPr/>
        </p:nvSpPr>
        <p:spPr>
          <a:xfrm>
            <a:off x="8318500" y="2946400"/>
            <a:ext cx="2730500" cy="584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650" b="1">
                <a:solidFill>
                  <a:srgbClr val="14213D"/>
                </a:solidFill>
                <a:latin typeface="Pretendard"/>
              </a:rPr>
              <a:t>와이어프레임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1E55486B-7127-D642-9478-B971F72B79F1}"/>
              </a:ext>
            </a:extLst>
          </p:cNvPr>
          <p:cNvSpPr/>
          <p:nvPr/>
        </p:nvSpPr>
        <p:spPr>
          <a:xfrm>
            <a:off x="8318500" y="3632200"/>
            <a:ext cx="2730500" cy="12700"/>
          </a:xfrm>
          <a:prstGeom prst="rect">
            <a:avLst/>
          </a:prstGeom>
          <a:solidFill>
            <a:srgbClr val="D9E2E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2A7BA7B-E4B4-884F-AEA4-42DA402A6742}"/>
              </a:ext>
            </a:extLst>
          </p:cNvPr>
          <p:cNvSpPr txBox="1"/>
          <p:nvPr/>
        </p:nvSpPr>
        <p:spPr>
          <a:xfrm>
            <a:off x="8318500" y="3784600"/>
            <a:ext cx="2730500" cy="1625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400">
                <a:solidFill>
                  <a:srgbClr val="576176"/>
                </a:solidFill>
                <a:latin typeface="Pretendard"/>
              </a:rPr>
              <a:t>색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·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이미지 전에 박스로 구조를 먼저 잡는 저해상도 설계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.</a:t>
            </a:r>
            <a:endParaRPr lang="ko-KR" altLang="en-US" sz="1400">
              <a:solidFill>
                <a:srgbClr val="576176"/>
              </a:solidFill>
              <a:latin typeface="Pretendard"/>
            </a:endParaRPr>
          </a:p>
        </p:txBody>
      </p:sp>
      <p:sp>
        <p:nvSpPr>
          <p:cNvPr id="27" name="모서리가 둥근 직사각형 26">
            <a:extLst>
              <a:ext uri="{FF2B5EF4-FFF2-40B4-BE49-F238E27FC236}">
                <a16:creationId xmlns:a16="http://schemas.microsoft.com/office/drawing/2014/main" id="{D905FD95-78E5-7941-A941-ED0F09006183}"/>
              </a:ext>
            </a:extLst>
          </p:cNvPr>
          <p:cNvSpPr/>
          <p:nvPr/>
        </p:nvSpPr>
        <p:spPr>
          <a:xfrm>
            <a:off x="8318500" y="5562600"/>
            <a:ext cx="2730500" cy="457200"/>
          </a:xfrm>
          <a:prstGeom prst="roundRect">
            <a:avLst>
              <a:gd name="adj" fmla="val 5556"/>
            </a:avLst>
          </a:prstGeom>
          <a:solidFill>
            <a:srgbClr val="FBEF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9B86305-48A0-A745-9D63-080657F9AD17}"/>
              </a:ext>
            </a:extLst>
          </p:cNvPr>
          <p:cNvSpPr txBox="1"/>
          <p:nvPr/>
        </p:nvSpPr>
        <p:spPr>
          <a:xfrm>
            <a:off x="8318500" y="5562600"/>
            <a:ext cx="2730500" cy="457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ctr"/>
            <a:r>
              <a:rPr lang="ko-KR" altLang="en-US" sz="1400" b="1">
                <a:solidFill>
                  <a:srgbClr val="9A6B12"/>
                </a:solidFill>
                <a:latin typeface="Pretendard"/>
              </a:rPr>
              <a:t>박스로 먼저</a:t>
            </a:r>
          </a:p>
        </p:txBody>
      </p:sp>
      <p:sp>
        <p:nvSpPr>
          <p:cNvPr id="4" name="PageNumber">
            <a:extLst>
              <a:ext uri="{FF2B5EF4-FFF2-40B4-BE49-F238E27FC236}">
                <a16:creationId xmlns:a16="http://schemas.microsoft.com/office/drawing/2014/main" id="{452DD677-D016-A34D-AC60-83586FEA7C7E}"/>
              </a:ext>
            </a:extLst>
          </p:cNvPr>
          <p:cNvSpPr txBox="1"/>
          <p:nvPr/>
        </p:nvSpPr>
        <p:spPr>
          <a:xfrm>
            <a:off x="9499600" y="6489700"/>
            <a:ext cx="23368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r"/>
            <a:r>
              <a:rPr lang="en-US" altLang="ko-KR" sz="1200">
                <a:solidFill>
                  <a:srgbClr val="576176"/>
                </a:solidFill>
                <a:latin typeface="Pretendard"/>
              </a:rPr>
              <a:t>- 97/144 -</a:t>
            </a:r>
            <a:endParaRPr lang="ko-KR" altLang="en-US" sz="1200">
              <a:solidFill>
                <a:srgbClr val="576176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4058860351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13553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개념 깊이 보기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개념을 예시로 — 우리 케이스에 적용하면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47C5A7-73B1-7D48-A8C9-B7B721200292}"/>
              </a:ext>
            </a:extLst>
          </p:cNvPr>
          <p:cNvSpPr txBox="1"/>
          <p:nvPr/>
        </p:nvSpPr>
        <p:spPr>
          <a:xfrm>
            <a:off x="825500" y="2006600"/>
            <a:ext cx="4953000" cy="304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600" b="1">
                <a:solidFill>
                  <a:srgbClr val="C0504D"/>
                </a:solidFill>
              </a:rPr>
              <a:t>✕  목표 분산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50EDB5-F5A4-6548-BA21-70065F277DCA}"/>
              </a:ext>
            </a:extLst>
          </p:cNvPr>
          <p:cNvSpPr txBox="1"/>
          <p:nvPr/>
        </p:nvSpPr>
        <p:spPr>
          <a:xfrm>
            <a:off x="6413500" y="2006600"/>
            <a:ext cx="4953000" cy="304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600" b="1">
                <a:solidFill>
                  <a:srgbClr val="9A6B12"/>
                </a:solidFill>
              </a:rPr>
              <a:t>✓  단일 목표</a:t>
            </a:r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233CB58B-200E-0C43-B9A1-4AED2C5FE7EA}"/>
              </a:ext>
            </a:extLst>
          </p:cNvPr>
          <p:cNvSpPr/>
          <p:nvPr/>
        </p:nvSpPr>
        <p:spPr>
          <a:xfrm>
            <a:off x="825500" y="2387600"/>
            <a:ext cx="4953000" cy="3454400"/>
          </a:xfrm>
          <a:prstGeom prst="roundRect">
            <a:avLst>
              <a:gd name="adj" fmla="val 735"/>
            </a:avLst>
          </a:prstGeom>
          <a:solidFill>
            <a:srgbClr val="F7F9FC"/>
          </a:solidFill>
          <a:ln w="12700" cap="flat" cmpd="sng" algn="ctr">
            <a:solidFill>
              <a:srgbClr val="CBD6E6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4827D044-3276-9E42-AB63-B1F3435F6857}"/>
              </a:ext>
            </a:extLst>
          </p:cNvPr>
          <p:cNvSpPr/>
          <p:nvPr/>
        </p:nvSpPr>
        <p:spPr>
          <a:xfrm>
            <a:off x="952500" y="2489200"/>
            <a:ext cx="4699000" cy="228600"/>
          </a:xfrm>
          <a:prstGeom prst="roundRect">
            <a:avLst>
              <a:gd name="adj" fmla="val 11111"/>
            </a:avLst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2BE03637-0D90-214C-892A-DE9D1E1F802D}"/>
              </a:ext>
            </a:extLst>
          </p:cNvPr>
          <p:cNvSpPr/>
          <p:nvPr/>
        </p:nvSpPr>
        <p:spPr>
          <a:xfrm>
            <a:off x="1079500" y="2552700"/>
            <a:ext cx="101600" cy="101600"/>
          </a:xfrm>
          <a:prstGeom prst="ellipse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69C8EC2B-6E46-6841-87CB-64A3B48D55D5}"/>
              </a:ext>
            </a:extLst>
          </p:cNvPr>
          <p:cNvSpPr/>
          <p:nvPr/>
        </p:nvSpPr>
        <p:spPr>
          <a:xfrm>
            <a:off x="1231900" y="2552700"/>
            <a:ext cx="101600" cy="101600"/>
          </a:xfrm>
          <a:prstGeom prst="ellipse">
            <a:avLst/>
          </a:prstGeom>
          <a:solidFill>
            <a:srgbClr val="4A587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BDAE6A34-0B86-3741-A115-9801BDB515DB}"/>
              </a:ext>
            </a:extLst>
          </p:cNvPr>
          <p:cNvSpPr/>
          <p:nvPr/>
        </p:nvSpPr>
        <p:spPr>
          <a:xfrm>
            <a:off x="1384300" y="2552700"/>
            <a:ext cx="101600" cy="101600"/>
          </a:xfrm>
          <a:prstGeom prst="ellipse">
            <a:avLst/>
          </a:prstGeom>
          <a:solidFill>
            <a:srgbClr val="4A587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0F0CD58C-2F58-6C41-A1B7-B79710D694AD}"/>
              </a:ext>
            </a:extLst>
          </p:cNvPr>
          <p:cNvSpPr/>
          <p:nvPr/>
        </p:nvSpPr>
        <p:spPr>
          <a:xfrm>
            <a:off x="1028700" y="2844800"/>
            <a:ext cx="4546600" cy="635000"/>
          </a:xfrm>
          <a:prstGeom prst="roundRect">
            <a:avLst>
              <a:gd name="adj" fmla="val 4000"/>
            </a:avLst>
          </a:prstGeom>
          <a:solidFill>
            <a:srgbClr val="E3E8F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6619439-2C31-4047-A43A-DB65A18B485C}"/>
              </a:ext>
            </a:extLst>
          </p:cNvPr>
          <p:cNvSpPr txBox="1"/>
          <p:nvPr/>
        </p:nvSpPr>
        <p:spPr>
          <a:xfrm>
            <a:off x="1028700" y="2844800"/>
            <a:ext cx="4546600" cy="635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n-US" altLang="ko-KR" sz="1400">
                <a:solidFill>
                  <a:srgbClr val="576176"/>
                </a:solidFill>
                <a:ea typeface="Pretendard"/>
              </a:rPr>
              <a:t>HERO · </a:t>
            </a:r>
            <a:r>
              <a:rPr lang="ko-KR" altLang="en-US" sz="1400">
                <a:solidFill>
                  <a:srgbClr val="576176"/>
                </a:solidFill>
              </a:rPr>
              <a:t>헤드라인</a:t>
            </a:r>
          </a:p>
        </p:txBody>
      </p:sp>
      <p:sp>
        <p:nvSpPr>
          <p:cNvPr id="14" name="모서리가 둥근 직사각형 13">
            <a:extLst>
              <a:ext uri="{FF2B5EF4-FFF2-40B4-BE49-F238E27FC236}">
                <a16:creationId xmlns:a16="http://schemas.microsoft.com/office/drawing/2014/main" id="{709D07D3-1687-B943-BE29-560FC480BC83}"/>
              </a:ext>
            </a:extLst>
          </p:cNvPr>
          <p:cNvSpPr/>
          <p:nvPr/>
        </p:nvSpPr>
        <p:spPr>
          <a:xfrm>
            <a:off x="1028700" y="3632200"/>
            <a:ext cx="2184400" cy="482600"/>
          </a:xfrm>
          <a:prstGeom prst="roundRect">
            <a:avLst>
              <a:gd name="adj" fmla="val 5263"/>
            </a:avLst>
          </a:prstGeom>
          <a:solidFill>
            <a:srgbClr val="DCE6F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ko-KR" altLang="en-US" sz="1400" b="1">
                <a:solidFill>
                  <a:srgbClr val="14213D"/>
                </a:solidFill>
              </a:rPr>
              <a:t>사전예약</a:t>
            </a:r>
          </a:p>
        </p:txBody>
      </p:sp>
      <p:sp>
        <p:nvSpPr>
          <p:cNvPr id="15" name="모서리가 둥근 직사각형 14">
            <a:extLst>
              <a:ext uri="{FF2B5EF4-FFF2-40B4-BE49-F238E27FC236}">
                <a16:creationId xmlns:a16="http://schemas.microsoft.com/office/drawing/2014/main" id="{14381AFD-0659-3940-A9B8-F233E5382C72}"/>
              </a:ext>
            </a:extLst>
          </p:cNvPr>
          <p:cNvSpPr/>
          <p:nvPr/>
        </p:nvSpPr>
        <p:spPr>
          <a:xfrm>
            <a:off x="3390900" y="3632200"/>
            <a:ext cx="2184400" cy="482600"/>
          </a:xfrm>
          <a:prstGeom prst="roundRect">
            <a:avLst>
              <a:gd name="adj" fmla="val 5263"/>
            </a:avLst>
          </a:prstGeom>
          <a:solidFill>
            <a:srgbClr val="DCE6F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ko-KR" altLang="en-US" sz="1400" b="1">
                <a:solidFill>
                  <a:srgbClr val="14213D"/>
                </a:solidFill>
              </a:rPr>
              <a:t>구매하기</a:t>
            </a:r>
          </a:p>
        </p:txBody>
      </p:sp>
      <p:sp>
        <p:nvSpPr>
          <p:cNvPr id="16" name="모서리가 둥근 직사각형 15">
            <a:extLst>
              <a:ext uri="{FF2B5EF4-FFF2-40B4-BE49-F238E27FC236}">
                <a16:creationId xmlns:a16="http://schemas.microsoft.com/office/drawing/2014/main" id="{F7255F91-91CA-174B-90CD-36C6400B49E1}"/>
              </a:ext>
            </a:extLst>
          </p:cNvPr>
          <p:cNvSpPr/>
          <p:nvPr/>
        </p:nvSpPr>
        <p:spPr>
          <a:xfrm>
            <a:off x="1028700" y="4216400"/>
            <a:ext cx="2184400" cy="482600"/>
          </a:xfrm>
          <a:prstGeom prst="roundRect">
            <a:avLst>
              <a:gd name="adj" fmla="val 5263"/>
            </a:avLst>
          </a:prstGeom>
          <a:solidFill>
            <a:srgbClr val="DCE6F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ko-KR" altLang="en-US" sz="1400" b="1">
                <a:solidFill>
                  <a:srgbClr val="14213D"/>
                </a:solidFill>
              </a:rPr>
              <a:t>뉴스레터</a:t>
            </a:r>
          </a:p>
        </p:txBody>
      </p:sp>
      <p:sp>
        <p:nvSpPr>
          <p:cNvPr id="17" name="모서리가 둥근 직사각형 16">
            <a:extLst>
              <a:ext uri="{FF2B5EF4-FFF2-40B4-BE49-F238E27FC236}">
                <a16:creationId xmlns:a16="http://schemas.microsoft.com/office/drawing/2014/main" id="{98081231-3B3F-5D49-98EC-4BD2E669BE38}"/>
              </a:ext>
            </a:extLst>
          </p:cNvPr>
          <p:cNvSpPr/>
          <p:nvPr/>
        </p:nvSpPr>
        <p:spPr>
          <a:xfrm>
            <a:off x="3390900" y="4216400"/>
            <a:ext cx="2184400" cy="482600"/>
          </a:xfrm>
          <a:prstGeom prst="roundRect">
            <a:avLst>
              <a:gd name="adj" fmla="val 5263"/>
            </a:avLst>
          </a:prstGeom>
          <a:solidFill>
            <a:srgbClr val="DCE6F2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ko-KR" altLang="en-US" sz="1400" b="1">
                <a:solidFill>
                  <a:srgbClr val="14213D"/>
                </a:solidFill>
              </a:rPr>
              <a:t>문의하기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B57D710-037B-C24F-AECC-9D8FF19A13CF}"/>
              </a:ext>
            </a:extLst>
          </p:cNvPr>
          <p:cNvSpPr txBox="1"/>
          <p:nvPr/>
        </p:nvSpPr>
        <p:spPr>
          <a:xfrm>
            <a:off x="825500" y="5918200"/>
            <a:ext cx="4953000" cy="304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400" b="1">
                <a:solidFill>
                  <a:srgbClr val="C0504D"/>
                </a:solidFill>
                <a:latin typeface="JetBrains Mono"/>
              </a:rPr>
              <a:t>→ CTA 4</a:t>
            </a:r>
            <a:r>
              <a:rPr lang="ko-KR" altLang="en-US" sz="1400" b="1">
                <a:solidFill>
                  <a:srgbClr val="C0504D"/>
                </a:solidFill>
                <a:latin typeface="JetBrains Mono"/>
              </a:rPr>
              <a:t>개가 경쟁 </a:t>
            </a:r>
            <a:r>
              <a:rPr lang="en-US" altLang="ko-KR" sz="1400" b="1">
                <a:solidFill>
                  <a:srgbClr val="C0504D"/>
                </a:solidFill>
                <a:latin typeface="JetBrains Mono"/>
              </a:rPr>
              <a:t>= </a:t>
            </a:r>
            <a:r>
              <a:rPr lang="ko-KR" altLang="en-US" sz="1400" b="1">
                <a:solidFill>
                  <a:srgbClr val="C0504D"/>
                </a:solidFill>
                <a:latin typeface="JetBrains Mono"/>
              </a:rPr>
              <a:t>전환 분산</a:t>
            </a: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F2D4D5D0-3CEF-0345-8124-EB60496BC041}"/>
              </a:ext>
            </a:extLst>
          </p:cNvPr>
          <p:cNvSpPr/>
          <p:nvPr/>
        </p:nvSpPr>
        <p:spPr>
          <a:xfrm>
            <a:off x="6413500" y="2387600"/>
            <a:ext cx="4953000" cy="3454400"/>
          </a:xfrm>
          <a:prstGeom prst="roundRect">
            <a:avLst>
              <a:gd name="adj" fmla="val 735"/>
            </a:avLst>
          </a:prstGeom>
          <a:solidFill>
            <a:srgbClr val="F7F9FC"/>
          </a:solidFill>
          <a:ln w="12700" cap="flat" cmpd="sng" algn="ctr">
            <a:solidFill>
              <a:srgbClr val="CBD6E6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0" name="모서리가 둥근 직사각형 19">
            <a:extLst>
              <a:ext uri="{FF2B5EF4-FFF2-40B4-BE49-F238E27FC236}">
                <a16:creationId xmlns:a16="http://schemas.microsoft.com/office/drawing/2014/main" id="{4F560C7F-AA26-8947-8A9E-38B3FCA716EE}"/>
              </a:ext>
            </a:extLst>
          </p:cNvPr>
          <p:cNvSpPr/>
          <p:nvPr/>
        </p:nvSpPr>
        <p:spPr>
          <a:xfrm>
            <a:off x="6540500" y="2489200"/>
            <a:ext cx="4699000" cy="228600"/>
          </a:xfrm>
          <a:prstGeom prst="roundRect">
            <a:avLst>
              <a:gd name="adj" fmla="val 11111"/>
            </a:avLst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9B153E9E-CB02-B347-B8FD-023360CBC440}"/>
              </a:ext>
            </a:extLst>
          </p:cNvPr>
          <p:cNvSpPr/>
          <p:nvPr/>
        </p:nvSpPr>
        <p:spPr>
          <a:xfrm>
            <a:off x="6667500" y="2552700"/>
            <a:ext cx="101600" cy="101600"/>
          </a:xfrm>
          <a:prstGeom prst="ellipse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F9248642-FF01-3B41-9067-6FFA4DD2301B}"/>
              </a:ext>
            </a:extLst>
          </p:cNvPr>
          <p:cNvSpPr/>
          <p:nvPr/>
        </p:nvSpPr>
        <p:spPr>
          <a:xfrm>
            <a:off x="6819900" y="2552700"/>
            <a:ext cx="101600" cy="101600"/>
          </a:xfrm>
          <a:prstGeom prst="ellipse">
            <a:avLst/>
          </a:prstGeom>
          <a:solidFill>
            <a:srgbClr val="4A587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307D083F-166F-FB45-A5F9-6688DC9CDD92}"/>
              </a:ext>
            </a:extLst>
          </p:cNvPr>
          <p:cNvSpPr/>
          <p:nvPr/>
        </p:nvSpPr>
        <p:spPr>
          <a:xfrm>
            <a:off x="6972300" y="2552700"/>
            <a:ext cx="101600" cy="101600"/>
          </a:xfrm>
          <a:prstGeom prst="ellipse">
            <a:avLst/>
          </a:prstGeom>
          <a:solidFill>
            <a:srgbClr val="4A587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4" name="모서리가 둥근 직사각형 23">
            <a:extLst>
              <a:ext uri="{FF2B5EF4-FFF2-40B4-BE49-F238E27FC236}">
                <a16:creationId xmlns:a16="http://schemas.microsoft.com/office/drawing/2014/main" id="{44FF4473-3E98-9C49-9378-BAC6778EEED1}"/>
              </a:ext>
            </a:extLst>
          </p:cNvPr>
          <p:cNvSpPr/>
          <p:nvPr/>
        </p:nvSpPr>
        <p:spPr>
          <a:xfrm>
            <a:off x="6616700" y="2844800"/>
            <a:ext cx="4546600" cy="584200"/>
          </a:xfrm>
          <a:prstGeom prst="roundRect">
            <a:avLst>
              <a:gd name="adj" fmla="val 4348"/>
            </a:avLst>
          </a:prstGeom>
          <a:solidFill>
            <a:srgbClr val="E3E8F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AD55E72-A281-8148-966F-49260A9BD2BB}"/>
              </a:ext>
            </a:extLst>
          </p:cNvPr>
          <p:cNvSpPr txBox="1"/>
          <p:nvPr/>
        </p:nvSpPr>
        <p:spPr>
          <a:xfrm>
            <a:off x="6616700" y="2844800"/>
            <a:ext cx="4546600" cy="584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n-US" altLang="ko-KR" sz="1400">
                <a:solidFill>
                  <a:srgbClr val="576176"/>
                </a:solidFill>
                <a:ea typeface="Pretendard"/>
              </a:rPr>
              <a:t>HERO · </a:t>
            </a:r>
            <a:r>
              <a:rPr lang="ko-KR" altLang="en-US" sz="1400">
                <a:solidFill>
                  <a:srgbClr val="576176"/>
                </a:solidFill>
              </a:rPr>
              <a:t>헤드라인</a:t>
            </a:r>
          </a:p>
        </p:txBody>
      </p:sp>
      <p:sp>
        <p:nvSpPr>
          <p:cNvPr id="26" name="모서리가 둥근 직사각형 25">
            <a:extLst>
              <a:ext uri="{FF2B5EF4-FFF2-40B4-BE49-F238E27FC236}">
                <a16:creationId xmlns:a16="http://schemas.microsoft.com/office/drawing/2014/main" id="{D527D9CB-D0A8-F24A-84E2-5187DF9E26DA}"/>
              </a:ext>
            </a:extLst>
          </p:cNvPr>
          <p:cNvSpPr/>
          <p:nvPr/>
        </p:nvSpPr>
        <p:spPr>
          <a:xfrm>
            <a:off x="6616700" y="3530600"/>
            <a:ext cx="4546600" cy="508000"/>
          </a:xfrm>
          <a:prstGeom prst="roundRect">
            <a:avLst>
              <a:gd name="adj" fmla="val 5000"/>
            </a:avLst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ko-KR" altLang="en-US" sz="1400" b="1">
                <a:solidFill>
                  <a:srgbClr val="14213D"/>
                </a:solidFill>
              </a:rPr>
              <a:t>사전예약하고 </a:t>
            </a:r>
            <a:r>
              <a:rPr lang="en-US" altLang="ko-KR" sz="1400" b="1">
                <a:solidFill>
                  <a:srgbClr val="14213D"/>
                </a:solidFill>
                <a:ea typeface="Pretendard"/>
              </a:rPr>
              <a:t>20% </a:t>
            </a:r>
            <a:r>
              <a:rPr lang="ko-KR" altLang="en-US" sz="1400" b="1">
                <a:solidFill>
                  <a:srgbClr val="14213D"/>
                </a:solidFill>
              </a:rPr>
              <a:t>받기  →</a:t>
            </a:r>
          </a:p>
        </p:txBody>
      </p:sp>
      <p:sp>
        <p:nvSpPr>
          <p:cNvPr id="27" name="모서리가 둥근 직사각형 26">
            <a:extLst>
              <a:ext uri="{FF2B5EF4-FFF2-40B4-BE49-F238E27FC236}">
                <a16:creationId xmlns:a16="http://schemas.microsoft.com/office/drawing/2014/main" id="{422F9126-78A5-C241-82FF-4D2375132074}"/>
              </a:ext>
            </a:extLst>
          </p:cNvPr>
          <p:cNvSpPr/>
          <p:nvPr/>
        </p:nvSpPr>
        <p:spPr>
          <a:xfrm>
            <a:off x="6616700" y="4140200"/>
            <a:ext cx="2184400" cy="431800"/>
          </a:xfrm>
          <a:prstGeom prst="roundRect">
            <a:avLst>
              <a:gd name="adj" fmla="val 5882"/>
            </a:avLst>
          </a:prstGeom>
          <a:solidFill>
            <a:srgbClr val="E3E8F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59B6697-6AB3-8E4B-95FC-06221A4A80E0}"/>
              </a:ext>
            </a:extLst>
          </p:cNvPr>
          <p:cNvSpPr txBox="1"/>
          <p:nvPr/>
        </p:nvSpPr>
        <p:spPr>
          <a:xfrm>
            <a:off x="6616700" y="4140200"/>
            <a:ext cx="2184400" cy="431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ko-KR" altLang="en-US" sz="1400">
                <a:solidFill>
                  <a:srgbClr val="576176"/>
                </a:solidFill>
              </a:rPr>
              <a:t>특징</a:t>
            </a:r>
          </a:p>
        </p:txBody>
      </p:sp>
      <p:sp>
        <p:nvSpPr>
          <p:cNvPr id="29" name="모서리가 둥근 직사각형 28">
            <a:extLst>
              <a:ext uri="{FF2B5EF4-FFF2-40B4-BE49-F238E27FC236}">
                <a16:creationId xmlns:a16="http://schemas.microsoft.com/office/drawing/2014/main" id="{656FF4DB-8211-0E4C-A943-59C2F10A61D7}"/>
              </a:ext>
            </a:extLst>
          </p:cNvPr>
          <p:cNvSpPr/>
          <p:nvPr/>
        </p:nvSpPr>
        <p:spPr>
          <a:xfrm>
            <a:off x="8978900" y="4140200"/>
            <a:ext cx="2184400" cy="431800"/>
          </a:xfrm>
          <a:prstGeom prst="roundRect">
            <a:avLst>
              <a:gd name="adj" fmla="val 5882"/>
            </a:avLst>
          </a:prstGeom>
          <a:solidFill>
            <a:srgbClr val="E3E8F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ko-KR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9E19C7F-B4E8-6447-BF9F-FEE435F5CE84}"/>
              </a:ext>
            </a:extLst>
          </p:cNvPr>
          <p:cNvSpPr txBox="1"/>
          <p:nvPr/>
        </p:nvSpPr>
        <p:spPr>
          <a:xfrm>
            <a:off x="8978900" y="4140200"/>
            <a:ext cx="2184400" cy="431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ko-KR" altLang="en-US" sz="1400">
                <a:solidFill>
                  <a:srgbClr val="576176"/>
                </a:solidFill>
              </a:rPr>
              <a:t>후기</a:t>
            </a:r>
          </a:p>
        </p:txBody>
      </p:sp>
      <p:sp>
        <p:nvSpPr>
          <p:cNvPr id="31" name="모서리가 둥근 직사각형 30">
            <a:extLst>
              <a:ext uri="{FF2B5EF4-FFF2-40B4-BE49-F238E27FC236}">
                <a16:creationId xmlns:a16="http://schemas.microsoft.com/office/drawing/2014/main" id="{5F7A189C-BBC1-514B-BF42-B8434D25694C}"/>
              </a:ext>
            </a:extLst>
          </p:cNvPr>
          <p:cNvSpPr/>
          <p:nvPr/>
        </p:nvSpPr>
        <p:spPr>
          <a:xfrm>
            <a:off x="6616700" y="4699000"/>
            <a:ext cx="4546600" cy="431800"/>
          </a:xfrm>
          <a:prstGeom prst="roundRect">
            <a:avLst>
              <a:gd name="adj" fmla="val 5882"/>
            </a:avLst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ko-KR" altLang="en-US" sz="1400" b="1">
                <a:solidFill>
                  <a:srgbClr val="14213D"/>
                </a:solidFill>
              </a:rPr>
              <a:t>사전예약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43419E9-1422-B04A-8DE5-2A0D645CFD5D}"/>
              </a:ext>
            </a:extLst>
          </p:cNvPr>
          <p:cNvSpPr txBox="1"/>
          <p:nvPr/>
        </p:nvSpPr>
        <p:spPr>
          <a:xfrm>
            <a:off x="6413500" y="5918200"/>
            <a:ext cx="4953000" cy="304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400" b="1">
                <a:solidFill>
                  <a:srgbClr val="9A6B12"/>
                </a:solidFill>
                <a:latin typeface="JetBrains Mono"/>
              </a:rPr>
              <a:t>→ CTA 1</a:t>
            </a:r>
            <a:r>
              <a:rPr lang="ko-KR" altLang="en-US" sz="1400" b="1">
                <a:solidFill>
                  <a:srgbClr val="9A6B12"/>
                </a:solidFill>
                <a:latin typeface="JetBrains Mono"/>
              </a:rPr>
              <a:t>개에 집중 </a:t>
            </a:r>
            <a:r>
              <a:rPr lang="en-US" altLang="ko-KR" sz="1400" b="1">
                <a:solidFill>
                  <a:srgbClr val="9A6B12"/>
                </a:solidFill>
                <a:latin typeface="JetBrains Mono"/>
              </a:rPr>
              <a:t>= </a:t>
            </a:r>
            <a:r>
              <a:rPr lang="ko-KR" altLang="en-US" sz="1400" b="1">
                <a:solidFill>
                  <a:srgbClr val="9A6B12"/>
                </a:solidFill>
                <a:latin typeface="JetBrains Mono"/>
              </a:rPr>
              <a:t>전환 상승</a:t>
            </a:r>
          </a:p>
        </p:txBody>
      </p:sp>
      <p:sp>
        <p:nvSpPr>
          <p:cNvPr id="4" name="PageNumber">
            <a:extLst>
              <a:ext uri="{FF2B5EF4-FFF2-40B4-BE49-F238E27FC236}">
                <a16:creationId xmlns:a16="http://schemas.microsoft.com/office/drawing/2014/main" id="{567B6B71-2ECB-244A-9F21-90AE023B5CAA}"/>
              </a:ext>
            </a:extLst>
          </p:cNvPr>
          <p:cNvSpPr txBox="1"/>
          <p:nvPr/>
        </p:nvSpPr>
        <p:spPr>
          <a:xfrm>
            <a:off x="9499600" y="6489700"/>
            <a:ext cx="23368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r"/>
            <a:r>
              <a:rPr lang="en-US" altLang="ko-KR" sz="1200">
                <a:solidFill>
                  <a:srgbClr val="576176"/>
                </a:solidFill>
                <a:latin typeface="Pretendard"/>
              </a:rPr>
              <a:t>- 98/144 -</a:t>
            </a:r>
            <a:endParaRPr lang="ko-KR" altLang="en-US" sz="1200">
              <a:solidFill>
                <a:srgbClr val="576176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2503374107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실습 절차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실습 절차 — 직접 해봅니다</a:t>
            </a: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19A81DE7-06C1-9D4F-B15C-B01742DF012D}"/>
              </a:ext>
            </a:extLst>
          </p:cNvPr>
          <p:cNvSpPr/>
          <p:nvPr/>
        </p:nvSpPr>
        <p:spPr>
          <a:xfrm>
            <a:off x="825500" y="1930400"/>
            <a:ext cx="10541000" cy="939800"/>
          </a:xfrm>
          <a:prstGeom prst="roundRect">
            <a:avLst>
              <a:gd name="adj" fmla="val 2703"/>
            </a:avLst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C1E0B8F-0A61-E141-9EAD-6434E26A0194}"/>
              </a:ext>
            </a:extLst>
          </p:cNvPr>
          <p:cNvSpPr/>
          <p:nvPr/>
        </p:nvSpPr>
        <p:spPr>
          <a:xfrm>
            <a:off x="825500" y="1930400"/>
            <a:ext cx="76200" cy="939800"/>
          </a:xfrm>
          <a:prstGeom prst="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A9176E66-783E-8044-8A57-AA84C15C6D61}"/>
              </a:ext>
            </a:extLst>
          </p:cNvPr>
          <p:cNvSpPr/>
          <p:nvPr/>
        </p:nvSpPr>
        <p:spPr>
          <a:xfrm>
            <a:off x="1143000" y="2159000"/>
            <a:ext cx="482600" cy="482600"/>
          </a:xfrm>
          <a:prstGeom prst="ellipse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  <a:latin typeface="JetBrains Mono"/>
              </a:rPr>
              <a:t>1</a:t>
            </a:r>
            <a:endParaRPr lang="ko-KR" altLang="en-US" sz="16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583D25-2749-3449-9299-B94954EB7D6D}"/>
              </a:ext>
            </a:extLst>
          </p:cNvPr>
          <p:cNvSpPr txBox="1"/>
          <p:nvPr/>
        </p:nvSpPr>
        <p:spPr>
          <a:xfrm>
            <a:off x="1905000" y="2191195"/>
            <a:ext cx="2540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600" b="1">
                <a:solidFill>
                  <a:srgbClr val="14213D"/>
                </a:solidFill>
                <a:latin typeface="Pretendard"/>
              </a:rPr>
              <a:t>단일 목표 정의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0BBACA-DC43-7B40-BB90-CA760DEEF041}"/>
              </a:ext>
            </a:extLst>
          </p:cNvPr>
          <p:cNvSpPr txBox="1"/>
          <p:nvPr/>
        </p:nvSpPr>
        <p:spPr>
          <a:xfrm>
            <a:off x="4546600" y="2057400"/>
            <a:ext cx="6629400" cy="685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400">
                <a:solidFill>
                  <a:srgbClr val="576176"/>
                </a:solidFill>
                <a:latin typeface="Pretendard"/>
              </a:rPr>
              <a:t>이 페이지가 노리는 단 하나의 목표를 적는다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.</a:t>
            </a:r>
            <a:endParaRPr lang="ko-KR" altLang="en-US" sz="1400">
              <a:solidFill>
                <a:srgbClr val="576176"/>
              </a:solidFill>
              <a:latin typeface="Pretendard"/>
            </a:endParaRP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2079B0FF-CF00-454C-9793-FCA3022BA54A}"/>
              </a:ext>
            </a:extLst>
          </p:cNvPr>
          <p:cNvSpPr/>
          <p:nvPr/>
        </p:nvSpPr>
        <p:spPr>
          <a:xfrm>
            <a:off x="825500" y="2971799"/>
            <a:ext cx="10541000" cy="939800"/>
          </a:xfrm>
          <a:prstGeom prst="roundRect">
            <a:avLst>
              <a:gd name="adj" fmla="val 2703"/>
            </a:avLst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25E1B11-118D-9246-B34E-86B4684731F8}"/>
              </a:ext>
            </a:extLst>
          </p:cNvPr>
          <p:cNvSpPr/>
          <p:nvPr/>
        </p:nvSpPr>
        <p:spPr>
          <a:xfrm>
            <a:off x="825500" y="2971800"/>
            <a:ext cx="76200" cy="939800"/>
          </a:xfrm>
          <a:prstGeom prst="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CB791D37-036F-924C-8976-27369E79D4A0}"/>
              </a:ext>
            </a:extLst>
          </p:cNvPr>
          <p:cNvSpPr/>
          <p:nvPr/>
        </p:nvSpPr>
        <p:spPr>
          <a:xfrm>
            <a:off x="1143000" y="3200400"/>
            <a:ext cx="482600" cy="482600"/>
          </a:xfrm>
          <a:prstGeom prst="ellipse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  <a:latin typeface="JetBrains Mono"/>
              </a:rPr>
              <a:t>2</a:t>
            </a:r>
            <a:endParaRPr lang="ko-KR" altLang="en-US" sz="16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8363AA0-D9F3-FF45-BF4C-22CF554D972E}"/>
              </a:ext>
            </a:extLst>
          </p:cNvPr>
          <p:cNvSpPr txBox="1"/>
          <p:nvPr/>
        </p:nvSpPr>
        <p:spPr>
          <a:xfrm>
            <a:off x="1905000" y="3232595"/>
            <a:ext cx="2540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600" b="1">
                <a:solidFill>
                  <a:srgbClr val="14213D"/>
                </a:solidFill>
                <a:latin typeface="Pretendard"/>
              </a:rPr>
              <a:t>와이어프레임 배치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F5DE241-462D-C946-92B9-74D0515A513E}"/>
              </a:ext>
            </a:extLst>
          </p:cNvPr>
          <p:cNvSpPr txBox="1"/>
          <p:nvPr/>
        </p:nvSpPr>
        <p:spPr>
          <a:xfrm>
            <a:off x="4546600" y="3098800"/>
            <a:ext cx="6629400" cy="685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400">
                <a:solidFill>
                  <a:srgbClr val="576176"/>
                </a:solidFill>
                <a:latin typeface="Pretendard"/>
              </a:rPr>
              <a:t>섹션 순서를 박스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(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저해상도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)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로 먼저 배치한다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.</a:t>
            </a:r>
            <a:endParaRPr lang="ko-KR" altLang="en-US" sz="1400">
              <a:solidFill>
                <a:srgbClr val="576176"/>
              </a:solidFill>
              <a:latin typeface="Pretendard"/>
            </a:endParaRPr>
          </a:p>
        </p:txBody>
      </p:sp>
      <p:sp>
        <p:nvSpPr>
          <p:cNvPr id="15" name="모서리가 둥근 직사각형 14">
            <a:extLst>
              <a:ext uri="{FF2B5EF4-FFF2-40B4-BE49-F238E27FC236}">
                <a16:creationId xmlns:a16="http://schemas.microsoft.com/office/drawing/2014/main" id="{756408D5-643B-E348-8B45-A047B4950835}"/>
              </a:ext>
            </a:extLst>
          </p:cNvPr>
          <p:cNvSpPr/>
          <p:nvPr/>
        </p:nvSpPr>
        <p:spPr>
          <a:xfrm>
            <a:off x="825500" y="4013200"/>
            <a:ext cx="10541000" cy="939800"/>
          </a:xfrm>
          <a:prstGeom prst="roundRect">
            <a:avLst>
              <a:gd name="adj" fmla="val 2703"/>
            </a:avLst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8FC75A1-2194-E24C-A8D8-21999509A0DA}"/>
              </a:ext>
            </a:extLst>
          </p:cNvPr>
          <p:cNvSpPr/>
          <p:nvPr/>
        </p:nvSpPr>
        <p:spPr>
          <a:xfrm>
            <a:off x="825500" y="4013200"/>
            <a:ext cx="76200" cy="939800"/>
          </a:xfrm>
          <a:prstGeom prst="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534BDD62-F3E8-3E45-A25C-6E53618A46F7}"/>
              </a:ext>
            </a:extLst>
          </p:cNvPr>
          <p:cNvSpPr/>
          <p:nvPr/>
        </p:nvSpPr>
        <p:spPr>
          <a:xfrm>
            <a:off x="1143000" y="4241800"/>
            <a:ext cx="482600" cy="482600"/>
          </a:xfrm>
          <a:prstGeom prst="ellipse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  <a:latin typeface="JetBrains Mono"/>
              </a:rPr>
              <a:t>3</a:t>
            </a:r>
            <a:endParaRPr lang="ko-KR" altLang="en-US" sz="16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7096E4B-173F-6741-80B4-7393F757DC6D}"/>
              </a:ext>
            </a:extLst>
          </p:cNvPr>
          <p:cNvSpPr txBox="1"/>
          <p:nvPr/>
        </p:nvSpPr>
        <p:spPr>
          <a:xfrm>
            <a:off x="1905000" y="4273995"/>
            <a:ext cx="2540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600" b="1">
                <a:solidFill>
                  <a:srgbClr val="14213D"/>
                </a:solidFill>
                <a:latin typeface="Pretendard"/>
              </a:rPr>
              <a:t>시안 맞춤 조정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020092B-0012-854F-8903-C37C6AB9607A}"/>
              </a:ext>
            </a:extLst>
          </p:cNvPr>
          <p:cNvSpPr txBox="1"/>
          <p:nvPr/>
        </p:nvSpPr>
        <p:spPr>
          <a:xfrm>
            <a:off x="4546600" y="4140200"/>
            <a:ext cx="6629400" cy="685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altLang="ko-KR" sz="1400">
                <a:solidFill>
                  <a:srgbClr val="576176"/>
                </a:solidFill>
                <a:latin typeface="Pretendard"/>
              </a:rPr>
              <a:t>Stitch 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시안을 이 구조에 맞춰 조정한다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.</a:t>
            </a:r>
            <a:endParaRPr lang="ko-KR" altLang="en-US" sz="1400">
              <a:solidFill>
                <a:srgbClr val="576176"/>
              </a:solidFill>
              <a:latin typeface="Pretendard"/>
            </a:endParaRPr>
          </a:p>
        </p:txBody>
      </p:sp>
      <p:sp>
        <p:nvSpPr>
          <p:cNvPr id="20" name="모서리가 둥근 직사각형 19">
            <a:extLst>
              <a:ext uri="{FF2B5EF4-FFF2-40B4-BE49-F238E27FC236}">
                <a16:creationId xmlns:a16="http://schemas.microsoft.com/office/drawing/2014/main" id="{65091E60-8367-EA48-8390-71AEFE094F63}"/>
              </a:ext>
            </a:extLst>
          </p:cNvPr>
          <p:cNvSpPr/>
          <p:nvPr/>
        </p:nvSpPr>
        <p:spPr>
          <a:xfrm>
            <a:off x="825500" y="5054600"/>
            <a:ext cx="10541000" cy="939800"/>
          </a:xfrm>
          <a:prstGeom prst="roundRect">
            <a:avLst>
              <a:gd name="adj" fmla="val 2703"/>
            </a:avLst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7370159F-285E-D944-BE77-E8B5AACEFDA1}"/>
              </a:ext>
            </a:extLst>
          </p:cNvPr>
          <p:cNvSpPr/>
          <p:nvPr/>
        </p:nvSpPr>
        <p:spPr>
          <a:xfrm>
            <a:off x="825500" y="5054600"/>
            <a:ext cx="76200" cy="939800"/>
          </a:xfrm>
          <a:prstGeom prst="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D7A17782-1401-104B-AEBD-EDE10C0AF953}"/>
              </a:ext>
            </a:extLst>
          </p:cNvPr>
          <p:cNvSpPr/>
          <p:nvPr/>
        </p:nvSpPr>
        <p:spPr>
          <a:xfrm>
            <a:off x="1143000" y="5283200"/>
            <a:ext cx="482600" cy="482600"/>
          </a:xfrm>
          <a:prstGeom prst="ellipse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  <a:latin typeface="JetBrains Mono"/>
              </a:rPr>
              <a:t>4</a:t>
            </a:r>
            <a:endParaRPr lang="ko-KR" altLang="en-US" sz="16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D7ABD5C-90CD-244A-8527-AEB79FF9E93F}"/>
              </a:ext>
            </a:extLst>
          </p:cNvPr>
          <p:cNvSpPr txBox="1"/>
          <p:nvPr/>
        </p:nvSpPr>
        <p:spPr>
          <a:xfrm>
            <a:off x="1905000" y="5315395"/>
            <a:ext cx="2540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altLang="ko-KR" sz="1600" b="1" dirty="0">
                <a:solidFill>
                  <a:srgbClr val="14213D"/>
                </a:solidFill>
                <a:latin typeface="Pretendard"/>
              </a:rPr>
              <a:t>CTA </a:t>
            </a:r>
            <a:r>
              <a:rPr lang="ko-KR" altLang="en-US" sz="1600" b="1" dirty="0">
                <a:solidFill>
                  <a:srgbClr val="14213D"/>
                </a:solidFill>
                <a:latin typeface="Pretendard"/>
              </a:rPr>
              <a:t>반복 확인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D8CD66-AA1F-9E42-A65F-5750A7F3687E}"/>
              </a:ext>
            </a:extLst>
          </p:cNvPr>
          <p:cNvSpPr txBox="1"/>
          <p:nvPr/>
        </p:nvSpPr>
        <p:spPr>
          <a:xfrm>
            <a:off x="4546600" y="5181600"/>
            <a:ext cx="6629400" cy="685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altLang="ko-KR" sz="1400">
                <a:solidFill>
                  <a:srgbClr val="576176"/>
                </a:solidFill>
                <a:latin typeface="Pretendard"/>
              </a:rPr>
              <a:t>CTA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가 첫 화면과 마지막에 반복되는지 확인한다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.</a:t>
            </a:r>
            <a:endParaRPr lang="ko-KR" altLang="en-US" sz="1400">
              <a:solidFill>
                <a:srgbClr val="576176"/>
              </a:solidFill>
              <a:latin typeface="Pretendard"/>
            </a:endParaRPr>
          </a:p>
        </p:txBody>
      </p:sp>
      <p:sp>
        <p:nvSpPr>
          <p:cNvPr id="4" name="PageNumber">
            <a:extLst>
              <a:ext uri="{FF2B5EF4-FFF2-40B4-BE49-F238E27FC236}">
                <a16:creationId xmlns:a16="http://schemas.microsoft.com/office/drawing/2014/main" id="{981AEDC9-0038-CC44-B2B0-7E146D082EF0}"/>
              </a:ext>
            </a:extLst>
          </p:cNvPr>
          <p:cNvSpPr txBox="1"/>
          <p:nvPr/>
        </p:nvSpPr>
        <p:spPr>
          <a:xfrm>
            <a:off x="9499600" y="6489700"/>
            <a:ext cx="23368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r"/>
            <a:r>
              <a:rPr lang="en-US" altLang="ko-KR" sz="1200">
                <a:solidFill>
                  <a:srgbClr val="576176"/>
                </a:solidFill>
                <a:latin typeface="Pretendard"/>
              </a:rPr>
              <a:t>- 99/144 -</a:t>
            </a:r>
            <a:endParaRPr lang="ko-KR" altLang="en-US" sz="1200">
              <a:solidFill>
                <a:srgbClr val="576176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2680867738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실습 프롬프트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구조 조정 지시 예시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874519"/>
            <a:ext cx="10332720" cy="4434840"/>
          </a:xfrm>
          <a:prstGeom prst="rect">
            <a:avLst/>
          </a:prstGeom>
          <a:solidFill>
            <a:srgbClr val="10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11480" tIns="502920" rIns="365760" bIns="320040" rtlCol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Refine the page: move the primary CTA into the hero,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add a sticky top bar with the CTA,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reduce sections to: hero, 3 benefits, social proof, CTA.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Keep it single-goal: pre-order.</a:t>
            </a:r>
            <a:endParaRPr lang="en-US" dirty="0">
              <a:solidFill>
                <a:srgbClr val="E8EEFA"/>
              </a:solidFill>
              <a:latin typeface="JetBrains Mono"/>
              <a:ea typeface="JetBrains Mono"/>
              <a:cs typeface="JetBrains Mono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endParaRPr dirty="0">
              <a:solidFill>
                <a:srgbClr val="E8EEFA"/>
              </a:solidFill>
              <a:latin typeface="JetBrains Mono"/>
              <a:ea typeface="JetBrains Mono"/>
              <a:cs typeface="JetBrains Mono"/>
            </a:endParaRP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</a:pPr>
            <a:r>
              <a:rPr dirty="0">
                <a:solidFill>
                  <a:srgbClr val="8893A8"/>
                </a:solidFill>
                <a:latin typeface="JetBrains Mono"/>
                <a:ea typeface="JetBrains Mono"/>
                <a:cs typeface="JetBrains Mono"/>
              </a:rPr>
              <a:t># </a:t>
            </a:r>
            <a:r>
              <a:rPr dirty="0" err="1">
                <a:solidFill>
                  <a:srgbClr val="8893A8"/>
                </a:solidFill>
                <a:latin typeface="JetBrains Mono"/>
                <a:ea typeface="JetBrains Mono"/>
                <a:cs typeface="JetBrains Mono"/>
              </a:rPr>
              <a:t>변형</a:t>
            </a:r>
            <a:r>
              <a:rPr dirty="0">
                <a:solidFill>
                  <a:srgbClr val="8893A8"/>
                </a:solidFill>
                <a:latin typeface="JetBrains Mono"/>
                <a:ea typeface="JetBrains Mono"/>
                <a:cs typeface="JetBrains Mono"/>
              </a:rPr>
              <a:t> — </a:t>
            </a:r>
            <a:r>
              <a:rPr dirty="0" err="1">
                <a:solidFill>
                  <a:srgbClr val="8893A8"/>
                </a:solidFill>
                <a:latin typeface="JetBrains Mono"/>
                <a:ea typeface="JetBrains Mono"/>
                <a:cs typeface="JetBrains Mono"/>
              </a:rPr>
              <a:t>신뢰</a:t>
            </a:r>
            <a:r>
              <a:rPr dirty="0">
                <a:solidFill>
                  <a:srgbClr val="8893A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dirty="0" err="1">
                <a:solidFill>
                  <a:srgbClr val="8893A8"/>
                </a:solidFill>
                <a:latin typeface="JetBrains Mono"/>
                <a:ea typeface="JetBrains Mono"/>
                <a:cs typeface="JetBrains Mono"/>
              </a:rPr>
              <a:t>요소</a:t>
            </a:r>
            <a:r>
              <a:rPr dirty="0">
                <a:solidFill>
                  <a:srgbClr val="8893A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dirty="0" err="1">
                <a:solidFill>
                  <a:srgbClr val="8893A8"/>
                </a:solidFill>
                <a:latin typeface="JetBrains Mono"/>
                <a:ea typeface="JetBrains Mono"/>
                <a:cs typeface="JetBrains Mono"/>
              </a:rPr>
              <a:t>강화</a:t>
            </a:r>
            <a:r>
              <a:rPr dirty="0">
                <a:solidFill>
                  <a:srgbClr val="8893A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dirty="0" err="1">
                <a:solidFill>
                  <a:srgbClr val="8893A8"/>
                </a:solidFill>
                <a:latin typeface="JetBrains Mono"/>
                <a:ea typeface="JetBrains Mono"/>
                <a:cs typeface="JetBrains Mono"/>
              </a:rPr>
              <a:t>지시</a:t>
            </a:r>
            <a:endParaRPr dirty="0">
              <a:solidFill>
                <a:srgbClr val="8893A8"/>
              </a:solidFill>
              <a:latin typeface="JetBrains Mono"/>
              <a:ea typeface="JetBrains Mono"/>
              <a:cs typeface="JetBrains Mono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Refine: add a partner logo strip under the hero,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add 2 short customer quotes near the CTA,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show a limited-quantity badge to add urgency.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Keep it single-goal: pre-order.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" y="2103120"/>
            <a:ext cx="109728" cy="10972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93B0219E-B528-E216-5E8B-350597BE2562}"/>
              </a:ext>
            </a:extLst>
          </p:cNvPr>
          <p:cNvGrpSpPr/>
          <p:nvPr/>
        </p:nvGrpSpPr>
        <p:grpSpPr>
          <a:xfrm>
            <a:off x="8399107" y="3846905"/>
            <a:ext cx="2493450" cy="2285159"/>
            <a:chOff x="17449800" y="7213600"/>
            <a:chExt cx="6146800" cy="5486400"/>
          </a:xfrm>
        </p:grpSpPr>
        <p:pic>
          <p:nvPicPr>
            <p:cNvPr id="7" name="Picture 9">
              <a:extLst>
                <a:ext uri="{FF2B5EF4-FFF2-40B4-BE49-F238E27FC236}">
                  <a16:creationId xmlns:a16="http://schemas.microsoft.com/office/drawing/2014/main" id="{6F5936A4-8837-ED7F-DD9E-ACBD7C6011B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653000" y="8851900"/>
              <a:ext cx="1739900" cy="774700"/>
            </a:xfrm>
            <a:prstGeom prst="rect">
              <a:avLst/>
            </a:prstGeom>
          </p:spPr>
        </p:pic>
        <p:sp>
          <p:nvSpPr>
            <p:cNvPr id="8" name="TextBox 10">
              <a:extLst>
                <a:ext uri="{FF2B5EF4-FFF2-40B4-BE49-F238E27FC236}">
                  <a16:creationId xmlns:a16="http://schemas.microsoft.com/office/drawing/2014/main" id="{9477D895-A836-C7CA-0E3D-50FFCA9F94BF}"/>
                </a:ext>
              </a:extLst>
            </p:cNvPr>
            <p:cNvSpPr txBox="1"/>
            <p:nvPr/>
          </p:nvSpPr>
          <p:spPr>
            <a:xfrm>
              <a:off x="17449800" y="8991600"/>
              <a:ext cx="1930400" cy="571500"/>
            </a:xfrm>
            <a:prstGeom prst="rect">
              <a:avLst/>
            </a:prstGeom>
          </p:spPr>
          <p:txBody>
            <a:bodyPr lIns="0" tIns="40640" rIns="0" bIns="4064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2400" b="0" i="0" u="none" strike="noStrike" spc="-100" dirty="0">
                  <a:solidFill>
                    <a:srgbClr val="000000"/>
                  </a:solidFill>
                  <a:latin typeface="SB AggroOTF Bold"/>
                  <a:ea typeface="SB AggroOTF Bold"/>
                  <a:cs typeface="SB AggroOTF Bold"/>
                </a:rPr>
                <a:t>oh!</a:t>
              </a:r>
            </a:p>
          </p:txBody>
        </p:sp>
        <p:pic>
          <p:nvPicPr>
            <p:cNvPr id="9" name="Picture 27">
              <a:extLst>
                <a:ext uri="{FF2B5EF4-FFF2-40B4-BE49-F238E27FC236}">
                  <a16:creationId xmlns:a16="http://schemas.microsoft.com/office/drawing/2014/main" id="{50DE7A73-CDE5-7D4A-BF4A-768B6BB1060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834100" y="7213600"/>
              <a:ext cx="4762500" cy="5486400"/>
            </a:xfrm>
            <a:prstGeom prst="rect">
              <a:avLst/>
            </a:prstGeom>
          </p:spPr>
        </p:pic>
      </p:grpSp>
      <p:sp>
        <p:nvSpPr>
          <p:cNvPr id="10" name="PageNumber">
            <a:extLst>
              <a:ext uri="{FF2B5EF4-FFF2-40B4-BE49-F238E27FC236}">
                <a16:creationId xmlns:a16="http://schemas.microsoft.com/office/drawing/2014/main" id="{07B6174B-2FA3-F349-A147-69C383CA6DCB}"/>
              </a:ext>
            </a:extLst>
          </p:cNvPr>
          <p:cNvSpPr txBox="1"/>
          <p:nvPr/>
        </p:nvSpPr>
        <p:spPr>
          <a:xfrm>
            <a:off x="9499600" y="6489700"/>
            <a:ext cx="23368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r"/>
            <a:r>
              <a:rPr lang="en-US" altLang="ko-KR" sz="1200">
                <a:solidFill>
                  <a:srgbClr val="576176"/>
                </a:solidFill>
                <a:latin typeface="Pretendard"/>
              </a:rPr>
              <a:t>- 100/144 -</a:t>
            </a:r>
            <a:endParaRPr lang="ko-KR" altLang="en-US" sz="1200">
              <a:solidFill>
                <a:srgbClr val="576176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2328271006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좋은예 VS 나쁜예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비교 — 한 페이지, 목표가 몇 개?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920240"/>
            <a:ext cx="5029200" cy="4114800"/>
          </a:xfrm>
          <a:prstGeom prst="rect">
            <a:avLst/>
          </a:prstGeom>
          <a:solidFill>
            <a:srgbClr val="F7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20040" rIns="320040" rtlCol="0" anchor="t"/>
          <a:lstStyle/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1000"/>
              </a:spcAft>
            </a:pPr>
            <a:r>
              <a:rPr sz="1700" b="1">
                <a:solidFill>
                  <a:srgbClr val="A63333"/>
                </a:solidFill>
                <a:latin typeface="Noto Serif KR"/>
                <a:ea typeface="Noto Serif KR"/>
                <a:cs typeface="Noto Serif KR"/>
              </a:rPr>
              <a:t>🚫 목표 여럿</a:t>
            </a:r>
          </a:p>
          <a:p>
            <a:pPr algn="l">
              <a:lnSpc>
                <a:spcPct val="13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>
                <a:solidFill>
                  <a:srgbClr val="A63333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sz="14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사전예약+뉴스레터+매장찾기+문의</a:t>
            </a:r>
          </a:p>
          <a:p>
            <a:pPr algn="l">
              <a:lnSpc>
                <a:spcPct val="13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>
                <a:solidFill>
                  <a:srgbClr val="A63333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sz="14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방문자가 뭘 해야 할지 혼란</a:t>
            </a:r>
          </a:p>
          <a:p>
            <a:pPr algn="l">
              <a:lnSpc>
                <a:spcPct val="13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>
                <a:solidFill>
                  <a:srgbClr val="A63333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sz="14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CTA가 흩어져 전환율 ↓</a:t>
            </a:r>
          </a:p>
        </p:txBody>
      </p:sp>
      <p:sp>
        <p:nvSpPr>
          <p:cNvPr id="5" name="Rectangle 4"/>
          <p:cNvSpPr/>
          <p:nvPr/>
        </p:nvSpPr>
        <p:spPr>
          <a:xfrm>
            <a:off x="6245352" y="1920240"/>
            <a:ext cx="5029200" cy="4114800"/>
          </a:xfrm>
          <a:prstGeom prst="rect">
            <a:avLst/>
          </a:prstGeom>
          <a:solidFill>
            <a:srgbClr val="E7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20040" rIns="320040" rtlCol="0" anchor="t"/>
          <a:lstStyle/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1000"/>
              </a:spcAft>
            </a:pPr>
            <a:r>
              <a:rPr sz="1700" b="1">
                <a:solidFill>
                  <a:srgbClr val="2C6B44"/>
                </a:solidFill>
                <a:latin typeface="Noto Serif KR"/>
                <a:ea typeface="Noto Serif KR"/>
                <a:cs typeface="Noto Serif KR"/>
              </a:rPr>
              <a:t>✅ 1페이지 1목표</a:t>
            </a:r>
          </a:p>
          <a:p>
            <a:pPr algn="l">
              <a:lnSpc>
                <a:spcPct val="13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>
                <a:solidFill>
                  <a:srgbClr val="2C6B44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sz="14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목표는 "사전예약" 하나</a:t>
            </a:r>
          </a:p>
          <a:p>
            <a:pPr algn="l">
              <a:lnSpc>
                <a:spcPct val="13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>
                <a:solidFill>
                  <a:srgbClr val="2C6B44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sz="14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CTA를 히어로·하단에 반복 배치</a:t>
            </a:r>
          </a:p>
          <a:p>
            <a:pPr algn="l">
              <a:lnSpc>
                <a:spcPct val="13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>
                <a:solidFill>
                  <a:srgbClr val="2C6B44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sz="14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나머지는 과감히 덜어냄</a:t>
            </a:r>
          </a:p>
        </p:txBody>
      </p:sp>
      <p:pic>
        <p:nvPicPr>
          <p:cNvPr id="6" name="Picture 16">
            <a:extLst>
              <a:ext uri="{FF2B5EF4-FFF2-40B4-BE49-F238E27FC236}">
                <a16:creationId xmlns:a16="http://schemas.microsoft.com/office/drawing/2014/main" id="{327F26B8-5E4B-1F6F-4F5F-36F73CBD155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9385403" y="4161453"/>
            <a:ext cx="1758520" cy="1742958"/>
          </a:xfrm>
          <a:prstGeom prst="rect">
            <a:avLst/>
          </a:prstGeom>
        </p:spPr>
      </p:pic>
      <p:sp>
        <p:nvSpPr>
          <p:cNvPr id="7" name="PageNumber">
            <a:extLst>
              <a:ext uri="{FF2B5EF4-FFF2-40B4-BE49-F238E27FC236}">
                <a16:creationId xmlns:a16="http://schemas.microsoft.com/office/drawing/2014/main" id="{87484017-4D31-4B48-919E-86BBF340CADA}"/>
              </a:ext>
            </a:extLst>
          </p:cNvPr>
          <p:cNvSpPr txBox="1"/>
          <p:nvPr/>
        </p:nvSpPr>
        <p:spPr>
          <a:xfrm>
            <a:off x="9499600" y="6489700"/>
            <a:ext cx="23368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r"/>
            <a:r>
              <a:rPr lang="en-US" altLang="ko-KR" sz="1200">
                <a:solidFill>
                  <a:srgbClr val="576176"/>
                </a:solidFill>
                <a:latin typeface="Pretendard"/>
              </a:rPr>
              <a:t>- 101/144 -</a:t>
            </a:r>
            <a:endParaRPr lang="ko-KR" altLang="en-US" sz="1200">
              <a:solidFill>
                <a:srgbClr val="576176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3312986899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정리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랜딩페이지·이벤트 페이지 구조 설계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920240"/>
            <a:ext cx="10332720" cy="2068576"/>
          </a:xfrm>
          <a:prstGeom prst="rect">
            <a:avLst/>
          </a:prstGeom>
          <a:solidFill>
            <a:srgbClr val="FB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228600" rIns="365760" bIns="182880" rtlCol="0" anchor="t"/>
          <a:lstStyle/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600"/>
              </a:spcAft>
            </a:pPr>
            <a:r>
              <a:rPr sz="1500" b="1">
                <a:solidFill>
                  <a:srgbClr val="B57A1A"/>
                </a:solidFill>
                <a:latin typeface="JetBrains Mono"/>
                <a:ea typeface="JetBrains Mono"/>
                <a:cs typeface="JetBrains Mono"/>
              </a:rPr>
              <a:t>⚠  흔한 실수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1">
                <a:solidFill>
                  <a:srgbClr val="E8A33D"/>
                </a:solidFill>
                <a:latin typeface="Pretendard"/>
                <a:ea typeface="Pretendard"/>
                <a:cs typeface="Pretendard"/>
              </a:rPr>
              <a:t>·  </a:t>
            </a:r>
            <a:r>
              <a:rPr sz="14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한 페이지에 목표가 여럿이면 전환이 분산된다 → 1페이지 1목표.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1">
                <a:solidFill>
                  <a:srgbClr val="E8A33D"/>
                </a:solidFill>
                <a:latin typeface="Pretendard"/>
                <a:ea typeface="Pretendard"/>
                <a:cs typeface="Pretendard"/>
              </a:rPr>
              <a:t>·  </a:t>
            </a:r>
            <a:r>
              <a:rPr sz="14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CTA가 한 번만 있으면 놓친다 → 상단·하단 반복 배치.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1">
                <a:solidFill>
                  <a:srgbClr val="E8A33D"/>
                </a:solidFill>
                <a:latin typeface="Pretendard"/>
                <a:ea typeface="Pretendard"/>
                <a:cs typeface="Pretendard"/>
              </a:rPr>
              <a:t>·  </a:t>
            </a:r>
            <a:r>
              <a:rPr sz="14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목적·CTA 없이 ‘예쁘게’만 요청하면 방향 없는 시안 → 브리프부터 구체화.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4192016"/>
            <a:ext cx="10332720" cy="1005840"/>
          </a:xfrm>
          <a:prstGeom prst="rect">
            <a:avLst/>
          </a:prstGeom>
          <a:solidFill>
            <a:srgbClr val="DCE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201168" rIns="365760" bIns="182880" rtlCol="0" anchor="t"/>
          <a:lstStyle/>
          <a:p>
            <a:pPr algn="l">
              <a:lnSpc>
                <a:spcPct val="125000"/>
              </a:lnSpc>
              <a:spcBef>
                <a:spcPts val="600"/>
              </a:spcBef>
              <a:spcAft>
                <a:spcPts val="400"/>
              </a:spcAft>
            </a:pPr>
            <a:r>
              <a:rPr sz="1500" b="1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📦  결과물   </a:t>
            </a:r>
            <a:r>
              <a:rPr sz="1600" b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캠페인용 페이지 구조(와이어프레임) + 조정된 Stitch 시안.</a:t>
            </a:r>
          </a:p>
        </p:txBody>
      </p:sp>
      <p:sp>
        <p:nvSpPr>
          <p:cNvPr id="6" name="PageNumber">
            <a:extLst>
              <a:ext uri="{FF2B5EF4-FFF2-40B4-BE49-F238E27FC236}">
                <a16:creationId xmlns:a16="http://schemas.microsoft.com/office/drawing/2014/main" id="{130CAC92-ACB7-3244-9633-DF84C18740BB}"/>
              </a:ext>
            </a:extLst>
          </p:cNvPr>
          <p:cNvSpPr txBox="1"/>
          <p:nvPr/>
        </p:nvSpPr>
        <p:spPr>
          <a:xfrm>
            <a:off x="9499600" y="6489700"/>
            <a:ext cx="23368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r"/>
            <a:r>
              <a:rPr lang="en-US" altLang="ko-KR" sz="1200">
                <a:solidFill>
                  <a:srgbClr val="576176"/>
                </a:solidFill>
                <a:latin typeface="Pretendard"/>
              </a:rPr>
              <a:t>- 102/144 -</a:t>
            </a:r>
            <a:endParaRPr lang="ko-KR" altLang="en-US" sz="1200">
              <a:solidFill>
                <a:srgbClr val="576176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653893559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도구 가이드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이 모듈에서 쓰는 도구</a:t>
            </a: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865CF8A0-0A97-B744-9F66-3655CD4230AB}"/>
              </a:ext>
            </a:extLst>
          </p:cNvPr>
          <p:cNvSpPr/>
          <p:nvPr/>
        </p:nvSpPr>
        <p:spPr>
          <a:xfrm>
            <a:off x="825500" y="1905000"/>
            <a:ext cx="5080000" cy="4381500"/>
          </a:xfrm>
          <a:prstGeom prst="roundRect">
            <a:avLst>
              <a:gd name="adj" fmla="val 580"/>
            </a:avLst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48922153-5193-8C48-8EDB-94C2467B5D1A}"/>
              </a:ext>
            </a:extLst>
          </p:cNvPr>
          <p:cNvSpPr/>
          <p:nvPr/>
        </p:nvSpPr>
        <p:spPr>
          <a:xfrm>
            <a:off x="1130300" y="2209800"/>
            <a:ext cx="4470400" cy="736600"/>
          </a:xfrm>
          <a:prstGeom prst="roundRect">
            <a:avLst>
              <a:gd name="adj" fmla="val 3448"/>
            </a:avLst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3D6B96-FFD6-FD43-BFBE-AE1756CCC362}"/>
              </a:ext>
            </a:extLst>
          </p:cNvPr>
          <p:cNvSpPr txBox="1"/>
          <p:nvPr/>
        </p:nvSpPr>
        <p:spPr>
          <a:xfrm>
            <a:off x="1130300" y="2209800"/>
            <a:ext cx="4470400" cy="736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n-US" altLang="ko-KR" sz="2200" b="1">
                <a:solidFill>
                  <a:srgbClr val="FFFFFF"/>
                </a:solidFill>
                <a:latin typeface="Pretendard"/>
                <a:ea typeface="Pretendard"/>
              </a:rPr>
              <a:t>Google Stitch</a:t>
            </a:r>
            <a:endParaRPr lang="ko-KR" altLang="en-US" sz="2200" b="1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30E601-F9B1-A740-8F64-EEB7F6AD7592}"/>
              </a:ext>
            </a:extLst>
          </p:cNvPr>
          <p:cNvSpPr txBox="1"/>
          <p:nvPr/>
        </p:nvSpPr>
        <p:spPr>
          <a:xfrm>
            <a:off x="1181100" y="3200400"/>
            <a:ext cx="43688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400" b="1">
                <a:solidFill>
                  <a:srgbClr val="576176"/>
                </a:solidFill>
                <a:latin typeface="JetBrains Mono"/>
              </a:rPr>
              <a:t>STRENGTH · </a:t>
            </a:r>
            <a:r>
              <a:rPr lang="ko-KR" altLang="en-US" sz="1400" b="1">
                <a:solidFill>
                  <a:srgbClr val="576176"/>
                </a:solidFill>
                <a:latin typeface="JetBrains Mono"/>
              </a:rPr>
              <a:t>강점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2CEDBD6-413F-024B-B3C6-B75DD18D810D}"/>
              </a:ext>
            </a:extLst>
          </p:cNvPr>
          <p:cNvSpPr txBox="1"/>
          <p:nvPr/>
        </p:nvSpPr>
        <p:spPr>
          <a:xfrm>
            <a:off x="1181100" y="3530600"/>
            <a:ext cx="4368800" cy="1397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500" dirty="0">
                <a:solidFill>
                  <a:srgbClr val="2A3B57"/>
                </a:solidFill>
                <a:latin typeface="Pretendard"/>
              </a:rPr>
              <a:t>자연어로 </a:t>
            </a:r>
            <a:r>
              <a:rPr lang="en-US" altLang="ko-KR" sz="1500" dirty="0">
                <a:solidFill>
                  <a:srgbClr val="2A3B57"/>
                </a:solidFill>
                <a:latin typeface="Pretendard"/>
                <a:ea typeface="Pretendard"/>
              </a:rPr>
              <a:t>UI </a:t>
            </a:r>
            <a:r>
              <a:rPr lang="ko-KR" altLang="en-US" sz="1500" dirty="0">
                <a:solidFill>
                  <a:srgbClr val="2A3B57"/>
                </a:solidFill>
                <a:latin typeface="Pretendard"/>
              </a:rPr>
              <a:t>시안을 생성한다</a:t>
            </a:r>
            <a:r>
              <a:rPr lang="en-US" altLang="ko-KR" sz="1500" dirty="0">
                <a:solidFill>
                  <a:srgbClr val="2A3B57"/>
                </a:solidFill>
                <a:latin typeface="Pretendard"/>
                <a:ea typeface="Pretendard"/>
              </a:rPr>
              <a:t>. </a:t>
            </a:r>
          </a:p>
          <a:p>
            <a:pPr algn="l">
              <a:lnSpc>
                <a:spcPct val="150000"/>
              </a:lnSpc>
            </a:pPr>
            <a:endParaRPr lang="en-US" altLang="ko-KR" sz="1500" dirty="0">
              <a:solidFill>
                <a:srgbClr val="2A3B57"/>
              </a:solidFill>
              <a:latin typeface="Pretendard"/>
            </a:endParaRPr>
          </a:p>
          <a:p>
            <a:pPr algn="l">
              <a:lnSpc>
                <a:spcPct val="150000"/>
              </a:lnSpc>
            </a:pPr>
            <a:r>
              <a:rPr lang="ko-KR" altLang="en-US" sz="1500" dirty="0" err="1">
                <a:solidFill>
                  <a:srgbClr val="2A3B57"/>
                </a:solidFill>
                <a:latin typeface="Pretendard"/>
              </a:rPr>
              <a:t>브리프는</a:t>
            </a:r>
            <a:r>
              <a:rPr lang="ko-KR" altLang="en-US" sz="1500" dirty="0">
                <a:solidFill>
                  <a:srgbClr val="2A3B57"/>
                </a:solidFill>
                <a:latin typeface="Pretendard"/>
              </a:rPr>
              <a:t> 영어로 쓰면 더 안정적이고</a:t>
            </a:r>
            <a:r>
              <a:rPr lang="en-US" altLang="ko-KR" sz="1500" dirty="0">
                <a:solidFill>
                  <a:srgbClr val="2A3B57"/>
                </a:solidFill>
                <a:latin typeface="Pretendard"/>
                <a:ea typeface="Pretendard"/>
              </a:rPr>
              <a:t>, </a:t>
            </a:r>
          </a:p>
          <a:p>
            <a:pPr algn="l">
              <a:lnSpc>
                <a:spcPct val="150000"/>
              </a:lnSpc>
            </a:pPr>
            <a:r>
              <a:rPr lang="ko-KR" altLang="en-US" sz="1500" dirty="0">
                <a:solidFill>
                  <a:srgbClr val="2A3B57"/>
                </a:solidFill>
                <a:latin typeface="Pretendard"/>
              </a:rPr>
              <a:t>부분 수정으로 반복한다</a:t>
            </a:r>
            <a:r>
              <a:rPr lang="en-US" altLang="ko-KR" sz="1500" dirty="0">
                <a:solidFill>
                  <a:srgbClr val="2A3B57"/>
                </a:solidFill>
                <a:latin typeface="Pretendard"/>
                <a:ea typeface="Pretendard"/>
              </a:rPr>
              <a:t>.</a:t>
            </a:r>
            <a:endParaRPr lang="ko-KR" altLang="en-US" sz="1500" dirty="0">
              <a:solidFill>
                <a:srgbClr val="2A3B57"/>
              </a:solidFill>
              <a:latin typeface="Pretendard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06C9F28-A4E0-C246-81AE-8693E80ED3C8}"/>
              </a:ext>
            </a:extLst>
          </p:cNvPr>
          <p:cNvSpPr txBox="1"/>
          <p:nvPr/>
        </p:nvSpPr>
        <p:spPr>
          <a:xfrm>
            <a:off x="1181100" y="5054600"/>
            <a:ext cx="43688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400" b="1">
                <a:solidFill>
                  <a:srgbClr val="14213D"/>
                </a:solidFill>
                <a:latin typeface="JetBrains Mono"/>
              </a:rPr>
              <a:t>이렇게 쓰세요</a:t>
            </a: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98E60BC3-CA00-D348-82D7-45717F6F71BD}"/>
              </a:ext>
            </a:extLst>
          </p:cNvPr>
          <p:cNvSpPr/>
          <p:nvPr/>
        </p:nvSpPr>
        <p:spPr>
          <a:xfrm>
            <a:off x="1181100" y="5334000"/>
            <a:ext cx="4368800" cy="685800"/>
          </a:xfrm>
          <a:prstGeom prst="roundRect">
            <a:avLst>
              <a:gd name="adj" fmla="val 3704"/>
            </a:avLst>
          </a:prstGeom>
          <a:solidFill>
            <a:srgbClr val="E7ECF4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E534B51-E695-244C-9A6C-0F2941B417EB}"/>
              </a:ext>
            </a:extLst>
          </p:cNvPr>
          <p:cNvSpPr txBox="1"/>
          <p:nvPr/>
        </p:nvSpPr>
        <p:spPr>
          <a:xfrm>
            <a:off x="1181100" y="5334000"/>
            <a:ext cx="4368800" cy="685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ko-KR" altLang="en-US" sz="1450" b="1">
                <a:solidFill>
                  <a:srgbClr val="14213D"/>
                </a:solidFill>
                <a:latin typeface="Pretendard"/>
              </a:rPr>
              <a:t>자연어 → </a:t>
            </a:r>
            <a:r>
              <a:rPr lang="en-US" altLang="ko-KR" sz="1450" b="1">
                <a:solidFill>
                  <a:srgbClr val="14213D"/>
                </a:solidFill>
                <a:latin typeface="Pretendard"/>
                <a:ea typeface="Pretendard"/>
              </a:rPr>
              <a:t>UI </a:t>
            </a:r>
            <a:r>
              <a:rPr lang="ko-KR" altLang="en-US" sz="1450" b="1">
                <a:solidFill>
                  <a:srgbClr val="14213D"/>
                </a:solidFill>
                <a:latin typeface="Pretendard"/>
              </a:rPr>
              <a:t>시안 생성</a:t>
            </a: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770224CD-B5E4-6D47-AF1E-82EB63163430}"/>
              </a:ext>
            </a:extLst>
          </p:cNvPr>
          <p:cNvSpPr/>
          <p:nvPr/>
        </p:nvSpPr>
        <p:spPr>
          <a:xfrm>
            <a:off x="6286500" y="1905000"/>
            <a:ext cx="5080000" cy="4381500"/>
          </a:xfrm>
          <a:prstGeom prst="roundRect">
            <a:avLst>
              <a:gd name="adj" fmla="val 580"/>
            </a:avLst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4" name="모서리가 둥근 직사각형 13">
            <a:extLst>
              <a:ext uri="{FF2B5EF4-FFF2-40B4-BE49-F238E27FC236}">
                <a16:creationId xmlns:a16="http://schemas.microsoft.com/office/drawing/2014/main" id="{E49BEEA0-06D8-0F4B-9C52-A16D4A4092B2}"/>
              </a:ext>
            </a:extLst>
          </p:cNvPr>
          <p:cNvSpPr/>
          <p:nvPr/>
        </p:nvSpPr>
        <p:spPr>
          <a:xfrm>
            <a:off x="6591300" y="2209800"/>
            <a:ext cx="4470400" cy="736600"/>
          </a:xfrm>
          <a:prstGeom prst="roundRect">
            <a:avLst>
              <a:gd name="adj" fmla="val 3448"/>
            </a:avLst>
          </a:prstGeom>
          <a:solidFill>
            <a:srgbClr val="1D4E89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A373ECD-A9E9-D246-A94E-8831176BFF0F}"/>
              </a:ext>
            </a:extLst>
          </p:cNvPr>
          <p:cNvSpPr txBox="1"/>
          <p:nvPr/>
        </p:nvSpPr>
        <p:spPr>
          <a:xfrm>
            <a:off x="6591300" y="2209800"/>
            <a:ext cx="4470400" cy="736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n-US" altLang="ko-KR" sz="2200" b="1">
                <a:solidFill>
                  <a:srgbClr val="FFFFFF"/>
                </a:solidFill>
                <a:latin typeface="Pretendard"/>
                <a:ea typeface="Pretendard"/>
              </a:rPr>
              <a:t>Figma (</a:t>
            </a:r>
            <a:r>
              <a:rPr lang="ko-KR" altLang="en-US" sz="2200" b="1">
                <a:solidFill>
                  <a:srgbClr val="FFFFFF"/>
                </a:solidFill>
                <a:latin typeface="Pretendard"/>
              </a:rPr>
              <a:t>선택</a:t>
            </a:r>
            <a:r>
              <a:rPr lang="en-US" altLang="ko-KR" sz="2200" b="1">
                <a:solidFill>
                  <a:srgbClr val="FFFFFF"/>
                </a:solidFill>
                <a:latin typeface="Pretendard"/>
                <a:ea typeface="Pretendard"/>
              </a:rPr>
              <a:t>)</a:t>
            </a:r>
            <a:endParaRPr lang="ko-KR" altLang="en-US" sz="2200" b="1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FC43AFC-F35A-AB4F-9DE3-7DEDB1DA2A56}"/>
              </a:ext>
            </a:extLst>
          </p:cNvPr>
          <p:cNvSpPr txBox="1"/>
          <p:nvPr/>
        </p:nvSpPr>
        <p:spPr>
          <a:xfrm>
            <a:off x="6642100" y="3200400"/>
            <a:ext cx="43688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400" b="1">
                <a:solidFill>
                  <a:srgbClr val="576176"/>
                </a:solidFill>
                <a:latin typeface="JetBrains Mono"/>
              </a:rPr>
              <a:t>STRENGTH · </a:t>
            </a:r>
            <a:r>
              <a:rPr lang="ko-KR" altLang="en-US" sz="1400" b="1">
                <a:solidFill>
                  <a:srgbClr val="576176"/>
                </a:solidFill>
                <a:latin typeface="JetBrains Mono"/>
              </a:rPr>
              <a:t>강점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F8DD7A6-E6A8-1046-9F91-837C953C127F}"/>
              </a:ext>
            </a:extLst>
          </p:cNvPr>
          <p:cNvSpPr txBox="1"/>
          <p:nvPr/>
        </p:nvSpPr>
        <p:spPr>
          <a:xfrm>
            <a:off x="6642100" y="3530600"/>
            <a:ext cx="4368800" cy="1397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500" dirty="0">
                <a:solidFill>
                  <a:srgbClr val="2A3B57"/>
                </a:solidFill>
                <a:latin typeface="Pretendard"/>
              </a:rPr>
              <a:t>생성된 시안을 정교하게 편집</a:t>
            </a:r>
            <a:r>
              <a:rPr lang="en-US" altLang="ko-KR" sz="1500" dirty="0">
                <a:solidFill>
                  <a:srgbClr val="2A3B57"/>
                </a:solidFill>
                <a:latin typeface="Pretendard"/>
                <a:ea typeface="Pretendard"/>
              </a:rPr>
              <a:t>·</a:t>
            </a:r>
            <a:r>
              <a:rPr lang="ko-KR" altLang="en-US" sz="1500" dirty="0">
                <a:solidFill>
                  <a:srgbClr val="2A3B57"/>
                </a:solidFill>
                <a:latin typeface="Pretendard"/>
              </a:rPr>
              <a:t>정리할 때 쓴다</a:t>
            </a:r>
            <a:r>
              <a:rPr lang="en-US" altLang="ko-KR" sz="1500" dirty="0">
                <a:solidFill>
                  <a:srgbClr val="2A3B57"/>
                </a:solidFill>
                <a:latin typeface="Pretendard"/>
                <a:ea typeface="Pretendard"/>
              </a:rPr>
              <a:t>.</a:t>
            </a:r>
          </a:p>
          <a:p>
            <a:pPr algn="l">
              <a:lnSpc>
                <a:spcPct val="150000"/>
              </a:lnSpc>
            </a:pPr>
            <a:endParaRPr lang="en-US" altLang="ko-KR" sz="1500" dirty="0">
              <a:solidFill>
                <a:srgbClr val="2A3B57"/>
              </a:solidFill>
              <a:latin typeface="Pretendard"/>
              <a:ea typeface="Pretendard"/>
            </a:endParaRPr>
          </a:p>
          <a:p>
            <a:pPr algn="l">
              <a:lnSpc>
                <a:spcPct val="150000"/>
              </a:lnSpc>
            </a:pPr>
            <a:r>
              <a:rPr lang="ko-KR" altLang="en-US" sz="1500" dirty="0">
                <a:solidFill>
                  <a:srgbClr val="2A3B57"/>
                </a:solidFill>
                <a:latin typeface="Pretendard"/>
              </a:rPr>
              <a:t>컴포넌트</a:t>
            </a:r>
            <a:r>
              <a:rPr lang="en-US" altLang="ko-KR" sz="1500" dirty="0">
                <a:solidFill>
                  <a:srgbClr val="2A3B57"/>
                </a:solidFill>
                <a:latin typeface="Pretendard"/>
                <a:ea typeface="Pretendard"/>
              </a:rPr>
              <a:t>·</a:t>
            </a:r>
            <a:r>
              <a:rPr lang="ko-KR" altLang="en-US" sz="1500" dirty="0">
                <a:solidFill>
                  <a:srgbClr val="2A3B57"/>
                </a:solidFill>
                <a:latin typeface="Pretendard"/>
              </a:rPr>
              <a:t>간격</a:t>
            </a:r>
            <a:r>
              <a:rPr lang="en-US" altLang="ko-KR" sz="1500" dirty="0">
                <a:solidFill>
                  <a:srgbClr val="2A3B57"/>
                </a:solidFill>
                <a:latin typeface="Pretendard"/>
                <a:ea typeface="Pretendard"/>
              </a:rPr>
              <a:t>·</a:t>
            </a:r>
            <a:r>
              <a:rPr lang="ko-KR" altLang="en-US" sz="1500" dirty="0">
                <a:solidFill>
                  <a:srgbClr val="2A3B57"/>
                </a:solidFill>
                <a:latin typeface="Pretendard"/>
              </a:rPr>
              <a:t>정렬을 손본다</a:t>
            </a:r>
            <a:r>
              <a:rPr lang="en-US" altLang="ko-KR" sz="1500" dirty="0">
                <a:solidFill>
                  <a:srgbClr val="2A3B57"/>
                </a:solidFill>
                <a:latin typeface="Pretendard"/>
                <a:ea typeface="Pretendard"/>
              </a:rPr>
              <a:t>.</a:t>
            </a:r>
            <a:endParaRPr lang="ko-KR" altLang="en-US" sz="1500" dirty="0">
              <a:solidFill>
                <a:srgbClr val="2A3B57"/>
              </a:solidFill>
              <a:latin typeface="Pretendard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B1FFAAD-B0A5-EA40-A4B8-5433E157B0C9}"/>
              </a:ext>
            </a:extLst>
          </p:cNvPr>
          <p:cNvSpPr txBox="1"/>
          <p:nvPr/>
        </p:nvSpPr>
        <p:spPr>
          <a:xfrm>
            <a:off x="6642100" y="5054600"/>
            <a:ext cx="43688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400" b="1">
                <a:solidFill>
                  <a:srgbClr val="1D4E89"/>
                </a:solidFill>
                <a:latin typeface="JetBrains Mono"/>
              </a:rPr>
              <a:t>이렇게 쓰세요</a:t>
            </a: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C3ADEBA7-B97E-2B46-A11D-329D63425DD8}"/>
              </a:ext>
            </a:extLst>
          </p:cNvPr>
          <p:cNvSpPr/>
          <p:nvPr/>
        </p:nvSpPr>
        <p:spPr>
          <a:xfrm>
            <a:off x="6642100" y="5334000"/>
            <a:ext cx="4368800" cy="685800"/>
          </a:xfrm>
          <a:prstGeom prst="roundRect">
            <a:avLst>
              <a:gd name="adj" fmla="val 3704"/>
            </a:avLst>
          </a:prstGeom>
          <a:solidFill>
            <a:srgbClr val="E4ECF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44AE6BB-DF16-8C49-9987-CD3F33623753}"/>
              </a:ext>
            </a:extLst>
          </p:cNvPr>
          <p:cNvSpPr txBox="1"/>
          <p:nvPr/>
        </p:nvSpPr>
        <p:spPr>
          <a:xfrm>
            <a:off x="6642100" y="5334000"/>
            <a:ext cx="4368800" cy="685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ko-KR" altLang="en-US" sz="1450" b="1">
                <a:solidFill>
                  <a:srgbClr val="1D4E89"/>
                </a:solidFill>
                <a:latin typeface="Pretendard"/>
              </a:rPr>
              <a:t>정교한 편집</a:t>
            </a:r>
            <a:r>
              <a:rPr lang="en-US" altLang="ko-KR" sz="1450" b="1">
                <a:solidFill>
                  <a:srgbClr val="1D4E89"/>
                </a:solidFill>
                <a:latin typeface="Pretendard"/>
                <a:ea typeface="Pretendard"/>
              </a:rPr>
              <a:t>·</a:t>
            </a:r>
            <a:r>
              <a:rPr lang="ko-KR" altLang="en-US" sz="1450" b="1">
                <a:solidFill>
                  <a:srgbClr val="1D4E89"/>
                </a:solidFill>
                <a:latin typeface="Pretendard"/>
              </a:rPr>
              <a:t>정리</a:t>
            </a:r>
          </a:p>
        </p:txBody>
      </p:sp>
      <p:sp>
        <p:nvSpPr>
          <p:cNvPr id="4" name="PageNumber">
            <a:extLst>
              <a:ext uri="{FF2B5EF4-FFF2-40B4-BE49-F238E27FC236}">
                <a16:creationId xmlns:a16="http://schemas.microsoft.com/office/drawing/2014/main" id="{A9D6732C-AF75-144D-BA45-A959505897F3}"/>
              </a:ext>
            </a:extLst>
          </p:cNvPr>
          <p:cNvSpPr txBox="1"/>
          <p:nvPr/>
        </p:nvSpPr>
        <p:spPr>
          <a:xfrm>
            <a:off x="9499600" y="6489700"/>
            <a:ext cx="23368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r"/>
            <a:r>
              <a:rPr lang="en-US" altLang="ko-KR" sz="1200">
                <a:solidFill>
                  <a:srgbClr val="576176"/>
                </a:solidFill>
                <a:latin typeface="Pretendard"/>
              </a:rPr>
              <a:t>- 103/144 -</a:t>
            </a:r>
            <a:endParaRPr lang="ko-KR" altLang="en-US" sz="1200">
              <a:solidFill>
                <a:srgbClr val="576176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118977113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CHECKLIST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모듈 체크리스트</a:t>
            </a: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201456DB-A3FD-6F46-993E-AD5EA929851A}"/>
              </a:ext>
            </a:extLst>
          </p:cNvPr>
          <p:cNvSpPr/>
          <p:nvPr/>
        </p:nvSpPr>
        <p:spPr>
          <a:xfrm>
            <a:off x="825500" y="2006600"/>
            <a:ext cx="10541000" cy="1219200"/>
          </a:xfrm>
          <a:prstGeom prst="roundRect">
            <a:avLst>
              <a:gd name="adj" fmla="val 2083"/>
            </a:avLst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E5423025-A137-B249-9AF4-84C05C4F0A8D}"/>
              </a:ext>
            </a:extLst>
          </p:cNvPr>
          <p:cNvSpPr/>
          <p:nvPr/>
        </p:nvSpPr>
        <p:spPr>
          <a:xfrm>
            <a:off x="825500" y="2006600"/>
            <a:ext cx="76200" cy="1219200"/>
          </a:xfrm>
          <a:prstGeom prst="roundRect">
            <a:avLst>
              <a:gd name="adj" fmla="val 33333"/>
            </a:avLst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E2B0FC82-95B6-0144-B80D-D646766657C9}"/>
              </a:ext>
            </a:extLst>
          </p:cNvPr>
          <p:cNvSpPr/>
          <p:nvPr/>
        </p:nvSpPr>
        <p:spPr>
          <a:xfrm>
            <a:off x="1270000" y="2362200"/>
            <a:ext cx="508000" cy="508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2225" cap="flat" cmpd="sng" algn="ctr">
            <a:solidFill>
              <a:srgbClr val="14213D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2200" b="1">
                <a:solidFill>
                  <a:srgbClr val="E8A33D"/>
                </a:solidFill>
              </a:rPr>
              <a:t>✓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4BF7F0-6843-0248-B29F-DCA28085338E}"/>
              </a:ext>
            </a:extLst>
          </p:cNvPr>
          <p:cNvSpPr txBox="1"/>
          <p:nvPr/>
        </p:nvSpPr>
        <p:spPr>
          <a:xfrm>
            <a:off x="2082800" y="2286000"/>
            <a:ext cx="8890000" cy="355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b="1">
                <a:solidFill>
                  <a:srgbClr val="14213D"/>
                </a:solidFill>
              </a:rPr>
              <a:t>페이지 목적</a:t>
            </a:r>
            <a:r>
              <a:rPr lang="en-US" altLang="ko-KR" b="1">
                <a:solidFill>
                  <a:srgbClr val="14213D"/>
                </a:solidFill>
                <a:ea typeface="Pretendard"/>
              </a:rPr>
              <a:t>·CTA</a:t>
            </a:r>
            <a:r>
              <a:rPr lang="ko-KR" altLang="en-US" b="1">
                <a:solidFill>
                  <a:srgbClr val="14213D"/>
                </a:solidFill>
              </a:rPr>
              <a:t>를 한 문장으로 정의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FE05B5-2F6A-104F-8E02-6FD6C10581F1}"/>
              </a:ext>
            </a:extLst>
          </p:cNvPr>
          <p:cNvSpPr txBox="1"/>
          <p:nvPr/>
        </p:nvSpPr>
        <p:spPr>
          <a:xfrm>
            <a:off x="2082800" y="2667000"/>
            <a:ext cx="8890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400">
                <a:solidFill>
                  <a:srgbClr val="576176"/>
                </a:solidFill>
              </a:rPr>
              <a:t>이 화면이 노리는 단 하나의 행동을 적었다</a:t>
            </a: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11764EBF-ED0D-5F44-B1CD-6C120575204A}"/>
              </a:ext>
            </a:extLst>
          </p:cNvPr>
          <p:cNvSpPr/>
          <p:nvPr/>
        </p:nvSpPr>
        <p:spPr>
          <a:xfrm>
            <a:off x="825500" y="3403600"/>
            <a:ext cx="10541000" cy="1219200"/>
          </a:xfrm>
          <a:prstGeom prst="roundRect">
            <a:avLst>
              <a:gd name="adj" fmla="val 2083"/>
            </a:avLst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1A382D48-709F-D744-85F1-570D58426C9D}"/>
              </a:ext>
            </a:extLst>
          </p:cNvPr>
          <p:cNvSpPr/>
          <p:nvPr/>
        </p:nvSpPr>
        <p:spPr>
          <a:xfrm>
            <a:off x="825500" y="3403600"/>
            <a:ext cx="76200" cy="1219200"/>
          </a:xfrm>
          <a:prstGeom prst="roundRect">
            <a:avLst>
              <a:gd name="adj" fmla="val 33333"/>
            </a:avLst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F537F0B4-DE13-B148-BE51-64DFF6156513}"/>
              </a:ext>
            </a:extLst>
          </p:cNvPr>
          <p:cNvSpPr/>
          <p:nvPr/>
        </p:nvSpPr>
        <p:spPr>
          <a:xfrm>
            <a:off x="1270000" y="3759200"/>
            <a:ext cx="508000" cy="508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2225" cap="flat" cmpd="sng" algn="ctr">
            <a:solidFill>
              <a:srgbClr val="14213D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2200" b="1">
                <a:solidFill>
                  <a:srgbClr val="E8A33D"/>
                </a:solidFill>
              </a:rPr>
              <a:t>✓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B4767FC-2D6C-894A-9709-77E5BFB9758F}"/>
              </a:ext>
            </a:extLst>
          </p:cNvPr>
          <p:cNvSpPr txBox="1"/>
          <p:nvPr/>
        </p:nvSpPr>
        <p:spPr>
          <a:xfrm>
            <a:off x="2082800" y="3683000"/>
            <a:ext cx="8890000" cy="355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b="1">
                <a:solidFill>
                  <a:srgbClr val="14213D"/>
                </a:solidFill>
                <a:ea typeface="Pretendard"/>
              </a:rPr>
              <a:t>Stitch</a:t>
            </a:r>
            <a:r>
              <a:rPr lang="ko-KR" altLang="en-US" b="1">
                <a:solidFill>
                  <a:srgbClr val="14213D"/>
                </a:solidFill>
              </a:rPr>
              <a:t>로 시안 생성 </a:t>
            </a:r>
            <a:r>
              <a:rPr lang="en-US" altLang="ko-KR" b="1">
                <a:solidFill>
                  <a:srgbClr val="14213D"/>
                </a:solidFill>
                <a:ea typeface="Pretendard"/>
              </a:rPr>
              <a:t>· </a:t>
            </a:r>
            <a:r>
              <a:rPr lang="ko-KR" altLang="en-US" b="1">
                <a:solidFill>
                  <a:srgbClr val="14213D"/>
                </a:solidFill>
              </a:rPr>
              <a:t>반복 수정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828C4C6-7055-F341-94BB-883DFE8692BF}"/>
              </a:ext>
            </a:extLst>
          </p:cNvPr>
          <p:cNvSpPr txBox="1"/>
          <p:nvPr/>
        </p:nvSpPr>
        <p:spPr>
          <a:xfrm>
            <a:off x="2082800" y="4064000"/>
            <a:ext cx="8890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400">
                <a:solidFill>
                  <a:srgbClr val="576176"/>
                </a:solidFill>
              </a:rPr>
              <a:t>브리프 입력 </a:t>
            </a:r>
            <a:r>
              <a:rPr lang="en-US" altLang="ko-KR" sz="1400">
                <a:solidFill>
                  <a:srgbClr val="576176"/>
                </a:solidFill>
                <a:ea typeface="Pretendard"/>
              </a:rPr>
              <a:t>+ </a:t>
            </a:r>
            <a:r>
              <a:rPr lang="ko-KR" altLang="en-US" sz="1400">
                <a:solidFill>
                  <a:srgbClr val="576176"/>
                </a:solidFill>
              </a:rPr>
              <a:t>부분 수정 </a:t>
            </a:r>
            <a:r>
              <a:rPr lang="en-US" altLang="ko-KR" sz="1400">
                <a:solidFill>
                  <a:srgbClr val="576176"/>
                </a:solidFill>
                <a:ea typeface="Pretendard"/>
              </a:rPr>
              <a:t>2~3</a:t>
            </a:r>
            <a:r>
              <a:rPr lang="ko-KR" altLang="en-US" sz="1400">
                <a:solidFill>
                  <a:srgbClr val="576176"/>
                </a:solidFill>
              </a:rPr>
              <a:t>회</a:t>
            </a:r>
          </a:p>
        </p:txBody>
      </p:sp>
      <p:sp>
        <p:nvSpPr>
          <p:cNvPr id="15" name="모서리가 둥근 직사각형 14">
            <a:extLst>
              <a:ext uri="{FF2B5EF4-FFF2-40B4-BE49-F238E27FC236}">
                <a16:creationId xmlns:a16="http://schemas.microsoft.com/office/drawing/2014/main" id="{6407E4E6-0C26-004E-952C-AFF11884E7BD}"/>
              </a:ext>
            </a:extLst>
          </p:cNvPr>
          <p:cNvSpPr/>
          <p:nvPr/>
        </p:nvSpPr>
        <p:spPr>
          <a:xfrm>
            <a:off x="825500" y="4800600"/>
            <a:ext cx="10541000" cy="1219200"/>
          </a:xfrm>
          <a:prstGeom prst="roundRect">
            <a:avLst>
              <a:gd name="adj" fmla="val 2083"/>
            </a:avLst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6" name="모서리가 둥근 직사각형 15">
            <a:extLst>
              <a:ext uri="{FF2B5EF4-FFF2-40B4-BE49-F238E27FC236}">
                <a16:creationId xmlns:a16="http://schemas.microsoft.com/office/drawing/2014/main" id="{EE8923E6-9385-E74B-94AF-CA7854CD8EA5}"/>
              </a:ext>
            </a:extLst>
          </p:cNvPr>
          <p:cNvSpPr/>
          <p:nvPr/>
        </p:nvSpPr>
        <p:spPr>
          <a:xfrm>
            <a:off x="825500" y="4800600"/>
            <a:ext cx="76200" cy="1219200"/>
          </a:xfrm>
          <a:prstGeom prst="roundRect">
            <a:avLst>
              <a:gd name="adj" fmla="val 33333"/>
            </a:avLst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7" name="모서리가 둥근 직사각형 16">
            <a:extLst>
              <a:ext uri="{FF2B5EF4-FFF2-40B4-BE49-F238E27FC236}">
                <a16:creationId xmlns:a16="http://schemas.microsoft.com/office/drawing/2014/main" id="{1362CB77-2F47-324C-8F1A-2AEE6693DC16}"/>
              </a:ext>
            </a:extLst>
          </p:cNvPr>
          <p:cNvSpPr/>
          <p:nvPr/>
        </p:nvSpPr>
        <p:spPr>
          <a:xfrm>
            <a:off x="1270000" y="5156200"/>
            <a:ext cx="508000" cy="508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2225" cap="flat" cmpd="sng" algn="ctr">
            <a:solidFill>
              <a:srgbClr val="14213D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2200" b="1">
                <a:solidFill>
                  <a:srgbClr val="E8A33D"/>
                </a:solidFill>
              </a:rPr>
              <a:t>✓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DF44A52-0223-0747-8A4D-A2D6454AC1FD}"/>
              </a:ext>
            </a:extLst>
          </p:cNvPr>
          <p:cNvSpPr txBox="1"/>
          <p:nvPr/>
        </p:nvSpPr>
        <p:spPr>
          <a:xfrm>
            <a:off x="2082800" y="5080000"/>
            <a:ext cx="8890000" cy="355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b="1">
                <a:solidFill>
                  <a:srgbClr val="14213D"/>
                </a:solidFill>
              </a:rPr>
              <a:t>단일 목표로 섹션 구조 정리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02C3CD3-E0AF-5541-A7FA-F2D4E94D361B}"/>
              </a:ext>
            </a:extLst>
          </p:cNvPr>
          <p:cNvSpPr txBox="1"/>
          <p:nvPr/>
        </p:nvSpPr>
        <p:spPr>
          <a:xfrm>
            <a:off x="2082800" y="5461000"/>
            <a:ext cx="8890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400">
                <a:solidFill>
                  <a:srgbClr val="576176"/>
                </a:solidFill>
              </a:rPr>
              <a:t>히어로 </a:t>
            </a:r>
            <a:r>
              <a:rPr lang="en-US" altLang="ko-KR" sz="1400">
                <a:solidFill>
                  <a:srgbClr val="576176"/>
                </a:solidFill>
                <a:ea typeface="Pretendard"/>
              </a:rPr>
              <a:t>· </a:t>
            </a:r>
            <a:r>
              <a:rPr lang="ko-KR" altLang="en-US" sz="1400">
                <a:solidFill>
                  <a:srgbClr val="576176"/>
                </a:solidFill>
              </a:rPr>
              <a:t>특징 </a:t>
            </a:r>
            <a:r>
              <a:rPr lang="en-US" altLang="ko-KR" sz="1400">
                <a:solidFill>
                  <a:srgbClr val="576176"/>
                </a:solidFill>
                <a:ea typeface="Pretendard"/>
              </a:rPr>
              <a:t>· </a:t>
            </a:r>
            <a:r>
              <a:rPr lang="ko-KR" altLang="en-US" sz="1400">
                <a:solidFill>
                  <a:srgbClr val="576176"/>
                </a:solidFill>
              </a:rPr>
              <a:t>후기 </a:t>
            </a:r>
            <a:r>
              <a:rPr lang="en-US" altLang="ko-KR" sz="1400">
                <a:solidFill>
                  <a:srgbClr val="576176"/>
                </a:solidFill>
                <a:ea typeface="Pretendard"/>
              </a:rPr>
              <a:t>· CTA </a:t>
            </a:r>
            <a:r>
              <a:rPr lang="ko-KR" altLang="en-US" sz="1400">
                <a:solidFill>
                  <a:srgbClr val="576176"/>
                </a:solidFill>
              </a:rPr>
              <a:t>흐름</a:t>
            </a:r>
          </a:p>
        </p:txBody>
      </p:sp>
      <p:sp>
        <p:nvSpPr>
          <p:cNvPr id="4" name="PageNumber">
            <a:extLst>
              <a:ext uri="{FF2B5EF4-FFF2-40B4-BE49-F238E27FC236}">
                <a16:creationId xmlns:a16="http://schemas.microsoft.com/office/drawing/2014/main" id="{965E1470-E0DC-A74A-812B-A965A9D9DDB2}"/>
              </a:ext>
            </a:extLst>
          </p:cNvPr>
          <p:cNvSpPr txBox="1"/>
          <p:nvPr/>
        </p:nvSpPr>
        <p:spPr>
          <a:xfrm>
            <a:off x="9499600" y="6489700"/>
            <a:ext cx="23368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r"/>
            <a:r>
              <a:rPr lang="en-US" altLang="ko-KR" sz="1200">
                <a:solidFill>
                  <a:srgbClr val="576176"/>
                </a:solidFill>
                <a:latin typeface="Pretendard"/>
              </a:rPr>
              <a:t>- 104/144 -</a:t>
            </a:r>
            <a:endParaRPr lang="ko-KR" altLang="en-US" sz="1200">
              <a:solidFill>
                <a:srgbClr val="576176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1783815795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06D06F3F-8534-0447-A9B0-8BAC6ACCDFDC}"/>
              </a:ext>
            </a:extLst>
          </p:cNvPr>
          <p:cNvSpPr/>
          <p:nvPr/>
        </p:nvSpPr>
        <p:spPr>
          <a:xfrm>
            <a:off x="825500" y="1905000"/>
            <a:ext cx="10541000" cy="3175000"/>
          </a:xfrm>
          <a:prstGeom prst="roundRect">
            <a:avLst>
              <a:gd name="adj" fmla="val 800"/>
            </a:avLst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5A392BA5-CED7-6647-9167-A6684BB62B74}"/>
              </a:ext>
            </a:extLst>
          </p:cNvPr>
          <p:cNvSpPr/>
          <p:nvPr/>
        </p:nvSpPr>
        <p:spPr>
          <a:xfrm>
            <a:off x="825500" y="1905000"/>
            <a:ext cx="101600" cy="3175000"/>
          </a:xfrm>
          <a:prstGeom prst="roundRect">
            <a:avLst>
              <a:gd name="adj" fmla="val 25000"/>
            </a:avLst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478838-613E-3B40-9FF4-D7A87AC3F32A}"/>
              </a:ext>
            </a:extLst>
          </p:cNvPr>
          <p:cNvSpPr txBox="1"/>
          <p:nvPr/>
        </p:nvSpPr>
        <p:spPr>
          <a:xfrm>
            <a:off x="1333500" y="2286000"/>
            <a:ext cx="8890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500" b="1">
                <a:solidFill>
                  <a:srgbClr val="E8A33D"/>
                </a:solidFill>
                <a:latin typeface="JetBrains Mono"/>
              </a:rPr>
              <a:t>MISSION 05 · </a:t>
            </a:r>
            <a:r>
              <a:rPr lang="ko-KR" altLang="en-US" sz="1500" b="1">
                <a:solidFill>
                  <a:srgbClr val="E8A33D"/>
                </a:solidFill>
                <a:latin typeface="JetBrains Mono"/>
              </a:rPr>
              <a:t>도장깨기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C333B4-0B6F-3D4D-90E5-452D7D584C10}"/>
              </a:ext>
            </a:extLst>
          </p:cNvPr>
          <p:cNvSpPr txBox="1"/>
          <p:nvPr/>
        </p:nvSpPr>
        <p:spPr>
          <a:xfrm>
            <a:off x="1333500" y="2641600"/>
            <a:ext cx="8890000" cy="584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3000" b="1">
                <a:solidFill>
                  <a:srgbClr val="FFFFFF"/>
                </a:solidFill>
                <a:latin typeface="Noto Serif KR"/>
              </a:rPr>
              <a:t>UI </a:t>
            </a:r>
            <a:r>
              <a:rPr lang="ko-KR" altLang="en-US" sz="3000" b="1">
                <a:solidFill>
                  <a:srgbClr val="FFFFFF"/>
                </a:solidFill>
                <a:latin typeface="Noto Serif KR"/>
              </a:rPr>
              <a:t>시안 만들기 </a:t>
            </a:r>
            <a:r>
              <a:rPr lang="en-US" altLang="ko-KR" sz="3000" b="1">
                <a:solidFill>
                  <a:srgbClr val="FFFFFF"/>
                </a:solidFill>
                <a:latin typeface="Noto Serif KR"/>
              </a:rPr>
              <a:t>(Stitch)</a:t>
            </a:r>
            <a:endParaRPr lang="ko-KR" altLang="en-US" sz="3000" b="1">
              <a:solidFill>
                <a:srgbClr val="FFFFFF"/>
              </a:solidFill>
              <a:latin typeface="Noto Serif KR"/>
            </a:endParaRP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98B5BD51-08AE-994B-8DFB-C1B1BE10C8F1}"/>
              </a:ext>
            </a:extLst>
          </p:cNvPr>
          <p:cNvSpPr/>
          <p:nvPr/>
        </p:nvSpPr>
        <p:spPr>
          <a:xfrm>
            <a:off x="1333500" y="3454400"/>
            <a:ext cx="9525000" cy="1320800"/>
          </a:xfrm>
          <a:prstGeom prst="roundRect">
            <a:avLst>
              <a:gd name="adj" fmla="val 1923"/>
            </a:avLst>
          </a:prstGeom>
          <a:solidFill>
            <a:srgbClr val="20314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DB0E22-C0D3-4844-8EDE-6F8A360FA604}"/>
              </a:ext>
            </a:extLst>
          </p:cNvPr>
          <p:cNvSpPr txBox="1"/>
          <p:nvPr/>
        </p:nvSpPr>
        <p:spPr>
          <a:xfrm>
            <a:off x="1587500" y="3657600"/>
            <a:ext cx="9017000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b="1">
                <a:solidFill>
                  <a:srgbClr val="FFFFFF"/>
                </a:solidFill>
              </a:rPr>
              <a:t>원하는 홍보 화면을 자연어로 설명하고 시안을 생성한다</a:t>
            </a:r>
            <a:r>
              <a:rPr lang="en-US" altLang="ko-KR" b="1">
                <a:solidFill>
                  <a:srgbClr val="FFFFFF"/>
                </a:solidFill>
                <a:ea typeface="Pretendard"/>
              </a:rPr>
              <a:t>.</a:t>
            </a:r>
            <a:endParaRPr lang="ko-KR" altLang="en-US" b="1">
              <a:solidFill>
                <a:srgbClr val="FFFFFF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47E9B3-685C-6D4A-8159-9184F85EB877}"/>
              </a:ext>
            </a:extLst>
          </p:cNvPr>
          <p:cNvSpPr txBox="1"/>
          <p:nvPr/>
        </p:nvSpPr>
        <p:spPr>
          <a:xfrm>
            <a:off x="1587500" y="4140200"/>
            <a:ext cx="9017000" cy="355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450">
                <a:solidFill>
                  <a:srgbClr val="E8A33D"/>
                </a:solidFill>
              </a:rPr>
              <a:t>→ ‘히어로 더 크게’처럼 부분 수정으로 </a:t>
            </a:r>
            <a:r>
              <a:rPr lang="en-US" altLang="ko-KR" sz="1450">
                <a:solidFill>
                  <a:srgbClr val="E8A33D"/>
                </a:solidFill>
                <a:ea typeface="Pretendard"/>
              </a:rPr>
              <a:t>2~3</a:t>
            </a:r>
            <a:r>
              <a:rPr lang="ko-KR" altLang="en-US" sz="1450">
                <a:solidFill>
                  <a:srgbClr val="E8A33D"/>
                </a:solidFill>
              </a:rPr>
              <a:t>회 다듬는다</a:t>
            </a:r>
            <a:r>
              <a:rPr lang="en-US" altLang="ko-KR" sz="1450">
                <a:solidFill>
                  <a:srgbClr val="E8A33D"/>
                </a:solidFill>
                <a:ea typeface="Pretendard"/>
              </a:rPr>
              <a:t>.</a:t>
            </a:r>
            <a:endParaRPr lang="ko-KR" altLang="en-US" sz="1450">
              <a:solidFill>
                <a:srgbClr val="E8A33D"/>
              </a:solidFill>
            </a:endParaRP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A5BE74A5-4EF4-6740-BFAD-BF377ED81124}"/>
              </a:ext>
            </a:extLst>
          </p:cNvPr>
          <p:cNvSpPr/>
          <p:nvPr/>
        </p:nvSpPr>
        <p:spPr>
          <a:xfrm>
            <a:off x="825500" y="5283200"/>
            <a:ext cx="10541000" cy="939800"/>
          </a:xfrm>
          <a:prstGeom prst="roundRect">
            <a:avLst>
              <a:gd name="adj" fmla="val 2703"/>
            </a:avLst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32840DC-6160-9548-A077-9A6350EC943C}"/>
              </a:ext>
            </a:extLst>
          </p:cNvPr>
          <p:cNvSpPr txBox="1"/>
          <p:nvPr/>
        </p:nvSpPr>
        <p:spPr>
          <a:xfrm>
            <a:off x="1206500" y="5486400"/>
            <a:ext cx="1778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400" b="1">
                <a:solidFill>
                  <a:srgbClr val="E8A33D"/>
                </a:solidFill>
                <a:latin typeface="JetBrains Mono"/>
              </a:rPr>
              <a:t>▶  NEXT</a:t>
            </a:r>
            <a:endParaRPr lang="ko-KR" altLang="en-US" sz="1400" b="1">
              <a:solidFill>
                <a:srgbClr val="E8A33D"/>
              </a:solidFill>
              <a:latin typeface="JetBrains Mono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41A9C9E-C703-FC4C-84D8-E9D33F770E0E}"/>
              </a:ext>
            </a:extLst>
          </p:cNvPr>
          <p:cNvSpPr txBox="1"/>
          <p:nvPr/>
        </p:nvSpPr>
        <p:spPr>
          <a:xfrm>
            <a:off x="1206500" y="5740400"/>
            <a:ext cx="9652000" cy="330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b="1">
                <a:solidFill>
                  <a:srgbClr val="14213D"/>
                </a:solidFill>
                <a:ea typeface="Pretendard"/>
              </a:rPr>
              <a:t>M6 · AI </a:t>
            </a:r>
            <a:r>
              <a:rPr lang="ko-KR" altLang="en-US" b="1">
                <a:solidFill>
                  <a:srgbClr val="14213D"/>
                </a:solidFill>
              </a:rPr>
              <a:t>기반 페이지 구성 실무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6AEABCCA-8E09-4F4A-45C8-BD49063FD60F}"/>
              </a:ext>
            </a:extLst>
          </p:cNvPr>
          <p:cNvGrpSpPr/>
          <p:nvPr/>
        </p:nvGrpSpPr>
        <p:grpSpPr>
          <a:xfrm>
            <a:off x="7846785" y="100001"/>
            <a:ext cx="4345215" cy="4040199"/>
            <a:chOff x="13449300" y="2921000"/>
            <a:chExt cx="11036300" cy="1026160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A2CB7C73-ECD5-FC88-5263-72E371F6487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50000"/>
            </a:blip>
            <a:stretch>
              <a:fillRect/>
            </a:stretch>
          </p:blipFill>
          <p:spPr>
            <a:xfrm>
              <a:off x="21920200" y="8051800"/>
              <a:ext cx="2565400" cy="5130800"/>
            </a:xfrm>
            <a:prstGeom prst="rect">
              <a:avLst/>
            </a:prstGeom>
          </p:spPr>
        </p:pic>
        <p:pic>
          <p:nvPicPr>
            <p:cNvPr id="14" name="Picture 3">
              <a:extLst>
                <a:ext uri="{FF2B5EF4-FFF2-40B4-BE49-F238E27FC236}">
                  <a16:creationId xmlns:a16="http://schemas.microsoft.com/office/drawing/2014/main" id="{B717EB49-E89A-480B-914F-40439E2288D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70000"/>
            </a:blip>
            <a:stretch>
              <a:fillRect/>
            </a:stretch>
          </p:blipFill>
          <p:spPr>
            <a:xfrm>
              <a:off x="14185900" y="8686800"/>
              <a:ext cx="4495800" cy="4495800"/>
            </a:xfrm>
            <a:prstGeom prst="rect">
              <a:avLst/>
            </a:prstGeom>
          </p:spPr>
        </p:pic>
        <p:pic>
          <p:nvPicPr>
            <p:cNvPr id="15" name="Picture 4">
              <a:extLst>
                <a:ext uri="{FF2B5EF4-FFF2-40B4-BE49-F238E27FC236}">
                  <a16:creationId xmlns:a16="http://schemas.microsoft.com/office/drawing/2014/main" id="{BA202C5B-4010-BE32-7EF1-1EC627315B8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70000"/>
            </a:blip>
            <a:stretch>
              <a:fillRect/>
            </a:stretch>
          </p:blipFill>
          <p:spPr>
            <a:xfrm>
              <a:off x="16433800" y="6007100"/>
              <a:ext cx="6172200" cy="6172200"/>
            </a:xfrm>
            <a:prstGeom prst="rect">
              <a:avLst/>
            </a:prstGeom>
          </p:spPr>
        </p:pic>
        <p:pic>
          <p:nvPicPr>
            <p:cNvPr id="16" name="Picture 5">
              <a:extLst>
                <a:ext uri="{FF2B5EF4-FFF2-40B4-BE49-F238E27FC236}">
                  <a16:creationId xmlns:a16="http://schemas.microsoft.com/office/drawing/2014/main" id="{DAC302E9-1808-05F2-41FA-9D0579A21BB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alphaModFix amt="70000"/>
            </a:blip>
            <a:stretch>
              <a:fillRect/>
            </a:stretch>
          </p:blipFill>
          <p:spPr>
            <a:xfrm>
              <a:off x="20688300" y="2921000"/>
              <a:ext cx="1244600" cy="1244600"/>
            </a:xfrm>
            <a:prstGeom prst="rect">
              <a:avLst/>
            </a:prstGeom>
          </p:spPr>
        </p:pic>
        <p:pic>
          <p:nvPicPr>
            <p:cNvPr id="17" name="Picture 7">
              <a:extLst>
                <a:ext uri="{FF2B5EF4-FFF2-40B4-BE49-F238E27FC236}">
                  <a16:creationId xmlns:a16="http://schemas.microsoft.com/office/drawing/2014/main" id="{DECEDB3C-40C1-966B-119F-7D32E1974D4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alphaModFix amt="70000"/>
            </a:blip>
            <a:stretch>
              <a:fillRect/>
            </a:stretch>
          </p:blipFill>
          <p:spPr>
            <a:xfrm>
              <a:off x="13449300" y="11684000"/>
              <a:ext cx="1485900" cy="1485900"/>
            </a:xfrm>
            <a:prstGeom prst="rect">
              <a:avLst/>
            </a:prstGeom>
          </p:spPr>
        </p:pic>
        <p:pic>
          <p:nvPicPr>
            <p:cNvPr id="18" name="Picture 8">
              <a:extLst>
                <a:ext uri="{FF2B5EF4-FFF2-40B4-BE49-F238E27FC236}">
                  <a16:creationId xmlns:a16="http://schemas.microsoft.com/office/drawing/2014/main" id="{BA23AD91-BE0F-A160-C06D-D5ED2B48F30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alphaModFix amt="41000"/>
            </a:blip>
            <a:stretch>
              <a:fillRect/>
            </a:stretch>
          </p:blipFill>
          <p:spPr>
            <a:xfrm rot="5400000">
              <a:off x="21869400" y="6515100"/>
              <a:ext cx="3670300" cy="1562100"/>
            </a:xfrm>
            <a:prstGeom prst="rect">
              <a:avLst/>
            </a:prstGeom>
          </p:spPr>
        </p:pic>
      </p:grpSp>
      <p:sp>
        <p:nvSpPr>
          <p:cNvPr id="19" name="PageNumber">
            <a:extLst>
              <a:ext uri="{FF2B5EF4-FFF2-40B4-BE49-F238E27FC236}">
                <a16:creationId xmlns:a16="http://schemas.microsoft.com/office/drawing/2014/main" id="{1D1EABCB-9435-3744-8F4A-9DFCEAE99705}"/>
              </a:ext>
            </a:extLst>
          </p:cNvPr>
          <p:cNvSpPr txBox="1"/>
          <p:nvPr/>
        </p:nvSpPr>
        <p:spPr>
          <a:xfrm>
            <a:off x="9499600" y="6489700"/>
            <a:ext cx="23368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r"/>
            <a:r>
              <a:rPr lang="en-US" altLang="ko-KR" sz="1200">
                <a:solidFill>
                  <a:schemeClr val="bg1"/>
                </a:solidFill>
                <a:latin typeface="Pretendard"/>
              </a:rPr>
              <a:t>- 105/144 -</a:t>
            </a:r>
            <a:endParaRPr lang="ko-KR" altLang="en-US" sz="1200">
              <a:solidFill>
                <a:schemeClr val="bg1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4013268405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4E8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2960" y="1554480"/>
            <a:ext cx="1005840" cy="128016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20762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1000"/>
              </a:spcAft>
            </a:pPr>
            <a:r>
              <a:rPr sz="1400" b="0" dirty="0">
                <a:solidFill>
                  <a:srgbClr val="BFD2EC"/>
                </a:solidFill>
                <a:latin typeface="JetBrains Mono"/>
                <a:ea typeface="JetBrains Mono"/>
                <a:cs typeface="JetBrains Mono"/>
              </a:rPr>
              <a:t>MODULE 6 · 6교시 · 15:00–15:50</a:t>
            </a:r>
          </a:p>
          <a:p>
            <a:pPr algn="l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</a:pPr>
            <a:r>
              <a:rPr sz="3800" b="1" dirty="0">
                <a:solidFill>
                  <a:srgbClr val="FFFFFF"/>
                </a:solidFill>
                <a:latin typeface="Noto Serif KR"/>
                <a:ea typeface="Noto Serif KR"/>
                <a:cs typeface="Noto Serif KR"/>
              </a:rPr>
              <a:t>M6. AI </a:t>
            </a:r>
            <a:r>
              <a:rPr sz="3800" b="1" dirty="0" err="1">
                <a:solidFill>
                  <a:srgbClr val="FFFFFF"/>
                </a:solidFill>
                <a:latin typeface="Noto Serif KR"/>
                <a:ea typeface="Noto Serif KR"/>
                <a:cs typeface="Noto Serif KR"/>
              </a:rPr>
              <a:t>기반</a:t>
            </a:r>
            <a:r>
              <a:rPr sz="3800" b="1" dirty="0">
                <a:solidFill>
                  <a:srgbClr val="FFFFFF"/>
                </a:solidFill>
                <a:latin typeface="Noto Serif KR"/>
                <a:ea typeface="Noto Serif KR"/>
                <a:cs typeface="Noto Serif KR"/>
              </a:rPr>
              <a:t> </a:t>
            </a:r>
            <a:r>
              <a:rPr sz="3800" b="1" dirty="0" err="1">
                <a:solidFill>
                  <a:srgbClr val="FFFFFF"/>
                </a:solidFill>
                <a:latin typeface="Noto Serif KR"/>
                <a:ea typeface="Noto Serif KR"/>
                <a:cs typeface="Noto Serif KR"/>
              </a:rPr>
              <a:t>페이지</a:t>
            </a:r>
            <a:r>
              <a:rPr sz="3800" b="1" dirty="0">
                <a:solidFill>
                  <a:srgbClr val="FFFFFF"/>
                </a:solidFill>
                <a:latin typeface="Noto Serif KR"/>
                <a:ea typeface="Noto Serif KR"/>
                <a:cs typeface="Noto Serif KR"/>
              </a:rPr>
              <a:t> </a:t>
            </a:r>
            <a:r>
              <a:rPr sz="3800" b="1" dirty="0" err="1">
                <a:solidFill>
                  <a:srgbClr val="FFFFFF"/>
                </a:solidFill>
                <a:latin typeface="Noto Serif KR"/>
                <a:ea typeface="Noto Serif KR"/>
                <a:cs typeface="Noto Serif KR"/>
              </a:rPr>
              <a:t>구성</a:t>
            </a:r>
            <a:r>
              <a:rPr sz="3800" b="1" dirty="0">
                <a:solidFill>
                  <a:srgbClr val="FFFFFF"/>
                </a:solidFill>
                <a:latin typeface="Noto Serif KR"/>
                <a:ea typeface="Noto Serif KR"/>
                <a:cs typeface="Noto Serif KR"/>
              </a:rPr>
              <a:t> </a:t>
            </a:r>
            <a:r>
              <a:rPr sz="3800" b="1" dirty="0" err="1">
                <a:solidFill>
                  <a:srgbClr val="FFFFFF"/>
                </a:solidFill>
                <a:latin typeface="Noto Serif KR"/>
                <a:ea typeface="Noto Serif KR"/>
                <a:cs typeface="Noto Serif KR"/>
              </a:rPr>
              <a:t>실무</a:t>
            </a:r>
            <a:endParaRPr sz="3800" b="1" dirty="0">
              <a:solidFill>
                <a:srgbClr val="FFFFFF"/>
              </a:solidFill>
              <a:latin typeface="Noto Serif KR"/>
              <a:ea typeface="Noto Serif KR"/>
              <a:cs typeface="Noto Serif KR"/>
            </a:endParaRPr>
          </a:p>
          <a:p>
            <a:pPr algn="l">
              <a:lnSpc>
                <a:spcPct val="140000"/>
              </a:lnSpc>
              <a:spcBef>
                <a:spcPts val="600"/>
              </a:spcBef>
              <a:spcAft>
                <a:spcPts val="400"/>
              </a:spcAft>
            </a:pPr>
            <a:r>
              <a:rPr sz="1500" b="0" dirty="0" err="1">
                <a:solidFill>
                  <a:srgbClr val="DBE6F6"/>
                </a:solidFill>
                <a:latin typeface="Pretendard"/>
                <a:ea typeface="Pretendard"/>
                <a:cs typeface="Pretendard"/>
              </a:rPr>
              <a:t>시안을</a:t>
            </a:r>
            <a:r>
              <a:rPr sz="1500" b="0" dirty="0">
                <a:solidFill>
                  <a:srgbClr val="DBE6F6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500" b="0" dirty="0" err="1">
                <a:solidFill>
                  <a:srgbClr val="DBE6F6"/>
                </a:solidFill>
                <a:latin typeface="Pretendard"/>
                <a:ea typeface="Pretendard"/>
                <a:cs typeface="Pretendard"/>
              </a:rPr>
              <a:t>실제</a:t>
            </a:r>
            <a:r>
              <a:rPr sz="1500" b="0" dirty="0">
                <a:solidFill>
                  <a:srgbClr val="DBE6F6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500" b="0" dirty="0" err="1">
                <a:solidFill>
                  <a:srgbClr val="DBE6F6"/>
                </a:solidFill>
                <a:latin typeface="Pretendard"/>
                <a:ea typeface="Pretendard"/>
                <a:cs typeface="Pretendard"/>
              </a:rPr>
              <a:t>홍보</a:t>
            </a:r>
            <a:r>
              <a:rPr sz="1500" b="0" dirty="0">
                <a:solidFill>
                  <a:srgbClr val="DBE6F6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500" b="0" dirty="0" err="1">
                <a:solidFill>
                  <a:srgbClr val="DBE6F6"/>
                </a:solidFill>
                <a:latin typeface="Pretendard"/>
                <a:ea typeface="Pretendard"/>
                <a:cs typeface="Pretendard"/>
              </a:rPr>
              <a:t>페이지로</a:t>
            </a:r>
            <a:r>
              <a:rPr sz="1500" b="0" dirty="0">
                <a:solidFill>
                  <a:srgbClr val="DBE6F6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500" b="0" dirty="0" err="1">
                <a:solidFill>
                  <a:srgbClr val="DBE6F6"/>
                </a:solidFill>
                <a:latin typeface="Pretendard"/>
                <a:ea typeface="Pretendard"/>
                <a:cs typeface="Pretendard"/>
              </a:rPr>
              <a:t>구성한다</a:t>
            </a:r>
            <a:r>
              <a:rPr sz="1500" b="0" dirty="0">
                <a:solidFill>
                  <a:srgbClr val="DBE6F6"/>
                </a:solidFill>
                <a:latin typeface="Pretendard"/>
                <a:ea typeface="Pretendard"/>
                <a:cs typeface="Pretendard"/>
              </a:rPr>
              <a:t>. </a:t>
            </a:r>
            <a:endParaRPr lang="en-US" sz="1500" b="0" dirty="0">
              <a:solidFill>
                <a:srgbClr val="DBE6F6"/>
              </a:solidFill>
              <a:latin typeface="Pretendard"/>
              <a:ea typeface="Pretendard"/>
              <a:cs typeface="Pretendard"/>
            </a:endParaRPr>
          </a:p>
          <a:p>
            <a:pPr algn="l">
              <a:lnSpc>
                <a:spcPct val="140000"/>
              </a:lnSpc>
              <a:spcBef>
                <a:spcPts val="600"/>
              </a:spcBef>
              <a:spcAft>
                <a:spcPts val="400"/>
              </a:spcAft>
            </a:pPr>
            <a:r>
              <a:rPr sz="1500" b="0" dirty="0" err="1">
                <a:solidFill>
                  <a:srgbClr val="DBE6F6"/>
                </a:solidFill>
                <a:latin typeface="Pretendard"/>
                <a:ea typeface="Pretendard"/>
                <a:cs typeface="Pretendard"/>
              </a:rPr>
              <a:t>섹션별</a:t>
            </a:r>
            <a:r>
              <a:rPr sz="1500" b="0" dirty="0">
                <a:solidFill>
                  <a:srgbClr val="DBE6F6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500" b="0" dirty="0" err="1">
                <a:solidFill>
                  <a:srgbClr val="DBE6F6"/>
                </a:solidFill>
                <a:latin typeface="Pretendard"/>
                <a:ea typeface="Pretendard"/>
                <a:cs typeface="Pretendard"/>
              </a:rPr>
              <a:t>카피·CTA·사용자</a:t>
            </a:r>
            <a:r>
              <a:rPr sz="1500" b="0" dirty="0">
                <a:solidFill>
                  <a:srgbClr val="DBE6F6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500" b="0" dirty="0" err="1">
                <a:solidFill>
                  <a:srgbClr val="DBE6F6"/>
                </a:solidFill>
                <a:latin typeface="Pretendard"/>
                <a:ea typeface="Pretendard"/>
                <a:cs typeface="Pretendard"/>
              </a:rPr>
              <a:t>흐름을</a:t>
            </a:r>
            <a:r>
              <a:rPr sz="1500" b="0" dirty="0">
                <a:solidFill>
                  <a:srgbClr val="DBE6F6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500" b="0" dirty="0" err="1">
                <a:solidFill>
                  <a:srgbClr val="DBE6F6"/>
                </a:solidFill>
                <a:latin typeface="Pretendard"/>
                <a:ea typeface="Pretendard"/>
                <a:cs typeface="Pretendard"/>
              </a:rPr>
              <a:t>설계해</a:t>
            </a:r>
            <a:r>
              <a:rPr sz="1500" b="0" dirty="0">
                <a:solidFill>
                  <a:srgbClr val="DBE6F6"/>
                </a:solidFill>
                <a:latin typeface="Pretendard"/>
                <a:ea typeface="Pretendard"/>
                <a:cs typeface="Pretendard"/>
              </a:rPr>
              <a:t> "</a:t>
            </a:r>
            <a:r>
              <a:rPr sz="1500" b="0" dirty="0" err="1">
                <a:solidFill>
                  <a:srgbClr val="DBE6F6"/>
                </a:solidFill>
                <a:latin typeface="Pretendard"/>
                <a:ea typeface="Pretendard"/>
                <a:cs typeface="Pretendard"/>
              </a:rPr>
              <a:t>전환되는</a:t>
            </a:r>
            <a:r>
              <a:rPr sz="1500" b="0" dirty="0">
                <a:solidFill>
                  <a:srgbClr val="DBE6F6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500" b="0" dirty="0" err="1">
                <a:solidFill>
                  <a:srgbClr val="DBE6F6"/>
                </a:solidFill>
                <a:latin typeface="Pretendard"/>
                <a:ea typeface="Pretendard"/>
                <a:cs typeface="Pretendard"/>
              </a:rPr>
              <a:t>페이지"를</a:t>
            </a:r>
            <a:r>
              <a:rPr sz="1500" b="0" dirty="0">
                <a:solidFill>
                  <a:srgbClr val="DBE6F6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500" b="0" dirty="0" err="1">
                <a:solidFill>
                  <a:srgbClr val="DBE6F6"/>
                </a:solidFill>
                <a:latin typeface="Pretendard"/>
                <a:ea typeface="Pretendard"/>
                <a:cs typeface="Pretendard"/>
              </a:rPr>
              <a:t>만든다</a:t>
            </a:r>
            <a:r>
              <a:rPr sz="1500" b="0" dirty="0">
                <a:solidFill>
                  <a:srgbClr val="DBE6F6"/>
                </a:solidFill>
                <a:latin typeface="Pretendard"/>
                <a:ea typeface="Pretendard"/>
                <a:cs typeface="Pretendard"/>
              </a:rPr>
              <a:t>.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4352544"/>
            <a:ext cx="10515600" cy="1911096"/>
          </a:xfrm>
          <a:prstGeom prst="rect">
            <a:avLst/>
          </a:prstGeom>
          <a:solidFill>
            <a:srgbClr val="184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164592" rtlCol="0" anchor="ctr"/>
          <a:lstStyle/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300"/>
              </a:spcAft>
            </a:pPr>
            <a:r>
              <a:rPr b="1" dirty="0" err="1">
                <a:solidFill>
                  <a:srgbClr val="9FC0E6"/>
                </a:solidFill>
                <a:latin typeface="JetBrains Mono"/>
                <a:ea typeface="JetBrains Mono"/>
                <a:cs typeface="JetBrains Mono"/>
              </a:rPr>
              <a:t>이전</a:t>
            </a:r>
            <a:r>
              <a:rPr b="1" dirty="0">
                <a:solidFill>
                  <a:srgbClr val="9FC0E6"/>
                </a:solidFill>
                <a:latin typeface="JetBrains Mono"/>
                <a:ea typeface="JetBrains Mono"/>
                <a:cs typeface="JetBrains Mono"/>
              </a:rPr>
              <a:t>  </a:t>
            </a:r>
            <a:r>
              <a:rPr b="0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M5의 </a:t>
            </a:r>
            <a:r>
              <a:rPr b="0" dirty="0" err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시안</a:t>
            </a:r>
            <a:r>
              <a:rPr b="0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b="0" dirty="0" err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구조가</a:t>
            </a:r>
            <a:r>
              <a:rPr b="0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b="0" dirty="0" err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잡혔다</a:t>
            </a:r>
            <a:endParaRPr b="0" dirty="0">
              <a:solidFill>
                <a:srgbClr val="FFFFFF"/>
              </a:solidFill>
              <a:latin typeface="Pretendard"/>
              <a:ea typeface="Pretendard"/>
              <a:cs typeface="Pretendard"/>
            </a:endParaRP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300"/>
              </a:spcAft>
            </a:pPr>
            <a:r>
              <a:rPr b="1" dirty="0" err="1">
                <a:solidFill>
                  <a:srgbClr val="E8A33D"/>
                </a:solidFill>
                <a:latin typeface="JetBrains Mono"/>
                <a:ea typeface="JetBrains Mono"/>
                <a:cs typeface="JetBrains Mono"/>
              </a:rPr>
              <a:t>이번</a:t>
            </a:r>
            <a:r>
              <a:rPr b="1" dirty="0">
                <a:solidFill>
                  <a:srgbClr val="E8A33D"/>
                </a:solidFill>
                <a:latin typeface="JetBrains Mono"/>
                <a:ea typeface="JetBrains Mono"/>
                <a:cs typeface="JetBrains Mono"/>
              </a:rPr>
              <a:t>  </a:t>
            </a:r>
            <a:r>
              <a:rPr b="1" dirty="0" err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섹션</a:t>
            </a:r>
            <a:r>
              <a:rPr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b="1" dirty="0" err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카피·CTA·사용자</a:t>
            </a:r>
            <a:r>
              <a:rPr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b="1" dirty="0" err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흐름으로</a:t>
            </a:r>
            <a:r>
              <a:rPr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b="1" dirty="0" err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전환되는</a:t>
            </a:r>
            <a:r>
              <a:rPr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b="1" dirty="0" err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페이지를</a:t>
            </a:r>
            <a:r>
              <a:rPr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b="1" dirty="0" err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완성한다</a:t>
            </a:r>
            <a:endParaRPr b="1" dirty="0">
              <a:solidFill>
                <a:srgbClr val="FFFFFF"/>
              </a:solidFill>
              <a:latin typeface="Pretendard"/>
              <a:ea typeface="Pretendard"/>
              <a:cs typeface="Pretendard"/>
            </a:endParaRP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400"/>
              </a:spcAft>
            </a:pPr>
            <a:r>
              <a:rPr b="1" dirty="0" err="1">
                <a:solidFill>
                  <a:srgbClr val="9FC0E6"/>
                </a:solidFill>
                <a:latin typeface="JetBrains Mono"/>
                <a:ea typeface="JetBrains Mono"/>
                <a:cs typeface="JetBrains Mono"/>
              </a:rPr>
              <a:t>다음</a:t>
            </a:r>
            <a:r>
              <a:rPr b="1" dirty="0">
                <a:solidFill>
                  <a:srgbClr val="9FC0E6"/>
                </a:solidFill>
                <a:latin typeface="JetBrains Mono"/>
                <a:ea typeface="JetBrains Mono"/>
                <a:cs typeface="JetBrains Mono"/>
              </a:rPr>
              <a:t>  </a:t>
            </a:r>
            <a:r>
              <a:rPr b="0" dirty="0" err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이</a:t>
            </a:r>
            <a:r>
              <a:rPr b="0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b="0" dirty="0" err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제작</a:t>
            </a:r>
            <a:r>
              <a:rPr b="0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b="0" dirty="0" err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과정을</a:t>
            </a:r>
            <a:r>
              <a:rPr b="0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b="0" dirty="0" err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반복</a:t>
            </a:r>
            <a:r>
              <a:rPr b="0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b="0" dirty="0" err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자산으로</a:t>
            </a:r>
            <a:r>
              <a:rPr b="0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→ M7</a:t>
            </a:r>
          </a:p>
        </p:txBody>
      </p:sp>
      <p:pic>
        <p:nvPicPr>
          <p:cNvPr id="5" name="Picture 11">
            <a:extLst>
              <a:ext uri="{FF2B5EF4-FFF2-40B4-BE49-F238E27FC236}">
                <a16:creationId xmlns:a16="http://schemas.microsoft.com/office/drawing/2014/main" id="{24112354-42F5-45EB-A647-0EC9273C67B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7000"/>
          </a:blip>
          <a:stretch>
            <a:fillRect/>
          </a:stretch>
        </p:blipFill>
        <p:spPr>
          <a:xfrm>
            <a:off x="8011886" y="232693"/>
            <a:ext cx="5486400" cy="2272763"/>
          </a:xfrm>
          <a:prstGeom prst="rect">
            <a:avLst/>
          </a:prstGeom>
        </p:spPr>
      </p:pic>
      <p:sp>
        <p:nvSpPr>
          <p:cNvPr id="6" name="PageNumber">
            <a:extLst>
              <a:ext uri="{FF2B5EF4-FFF2-40B4-BE49-F238E27FC236}">
                <a16:creationId xmlns:a16="http://schemas.microsoft.com/office/drawing/2014/main" id="{93E946E1-5FA6-7F4B-8A10-B0BFE0765B28}"/>
              </a:ext>
            </a:extLst>
          </p:cNvPr>
          <p:cNvSpPr txBox="1"/>
          <p:nvPr/>
        </p:nvSpPr>
        <p:spPr>
          <a:xfrm>
            <a:off x="9499600" y="6489700"/>
            <a:ext cx="23368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r"/>
            <a:r>
              <a:rPr lang="en-US" altLang="ko-KR" sz="1200">
                <a:solidFill>
                  <a:schemeClr val="bg1"/>
                </a:solidFill>
                <a:latin typeface="Pretendard"/>
              </a:rPr>
              <a:t>- 106/144 -</a:t>
            </a:r>
            <a:endParaRPr lang="ko-KR" altLang="en-US" sz="1200">
              <a:solidFill>
                <a:schemeClr val="bg1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1784551225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학습 목표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이 모듈에서 할 수 있게 되는 것</a:t>
            </a: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C5584179-3A10-7E42-961D-48F9F8F8F7B4}"/>
              </a:ext>
            </a:extLst>
          </p:cNvPr>
          <p:cNvSpPr/>
          <p:nvPr/>
        </p:nvSpPr>
        <p:spPr>
          <a:xfrm>
            <a:off x="825500" y="1905000"/>
            <a:ext cx="5080000" cy="4381500"/>
          </a:xfrm>
          <a:prstGeom prst="roundRect">
            <a:avLst>
              <a:gd name="adj" fmla="val 580"/>
            </a:avLst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066069-E4DE-EF43-85AE-9C7B89D34428}"/>
              </a:ext>
            </a:extLst>
          </p:cNvPr>
          <p:cNvSpPr txBox="1"/>
          <p:nvPr/>
        </p:nvSpPr>
        <p:spPr>
          <a:xfrm>
            <a:off x="1257300" y="2235200"/>
            <a:ext cx="1524000" cy="711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4000" b="1">
                <a:solidFill>
                  <a:srgbClr val="E8A33D"/>
                </a:solidFill>
                <a:latin typeface="JetBrains Mono"/>
              </a:rPr>
              <a:t>01</a:t>
            </a:r>
            <a:endParaRPr lang="ko-KR" altLang="en-US" sz="4000" b="1">
              <a:solidFill>
                <a:srgbClr val="E8A33D"/>
              </a:solidFill>
              <a:latin typeface="JetBrains Mono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BD0082D-8B08-8A4E-8C49-9F502FEDF142}"/>
              </a:ext>
            </a:extLst>
          </p:cNvPr>
          <p:cNvSpPr/>
          <p:nvPr/>
        </p:nvSpPr>
        <p:spPr>
          <a:xfrm>
            <a:off x="1282700" y="3124200"/>
            <a:ext cx="685800" cy="50800"/>
          </a:xfrm>
          <a:prstGeom prst="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9A0E92-8C4D-AB4E-BF2C-238BEE79BEEA}"/>
              </a:ext>
            </a:extLst>
          </p:cNvPr>
          <p:cNvSpPr txBox="1"/>
          <p:nvPr/>
        </p:nvSpPr>
        <p:spPr>
          <a:xfrm>
            <a:off x="1282700" y="3479800"/>
            <a:ext cx="4165600" cy="165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2000" b="1" dirty="0">
                <a:solidFill>
                  <a:srgbClr val="14213D"/>
                </a:solidFill>
                <a:latin typeface="Pretendard"/>
              </a:rPr>
              <a:t>페이지 섹션 구성과 </a:t>
            </a:r>
            <a:endParaRPr lang="en-US" altLang="ko-KR" sz="2000" b="1" dirty="0">
              <a:solidFill>
                <a:srgbClr val="14213D"/>
              </a:solidFill>
              <a:latin typeface="Pretendard"/>
            </a:endParaRPr>
          </a:p>
          <a:p>
            <a:pPr algn="l">
              <a:lnSpc>
                <a:spcPct val="150000"/>
              </a:lnSpc>
            </a:pPr>
            <a:r>
              <a:rPr lang="en-US" altLang="ko-KR" sz="2000" b="1" dirty="0">
                <a:solidFill>
                  <a:srgbClr val="14213D"/>
                </a:solidFill>
                <a:latin typeface="Pretendard"/>
              </a:rPr>
              <a:t>CTA </a:t>
            </a:r>
            <a:r>
              <a:rPr lang="ko-KR" altLang="en-US" sz="2000" b="1" dirty="0">
                <a:solidFill>
                  <a:srgbClr val="14213D"/>
                </a:solidFill>
                <a:latin typeface="Pretendard"/>
              </a:rPr>
              <a:t>문구를 설계할 수 있다</a:t>
            </a:r>
            <a:r>
              <a:rPr lang="en-US" altLang="ko-KR" sz="2000" b="1" dirty="0">
                <a:solidFill>
                  <a:srgbClr val="14213D"/>
                </a:solidFill>
                <a:latin typeface="Pretendard"/>
              </a:rPr>
              <a:t>.</a:t>
            </a:r>
            <a:endParaRPr lang="ko-KR" altLang="en-US" sz="2000" b="1" dirty="0">
              <a:solidFill>
                <a:srgbClr val="14213D"/>
              </a:solidFill>
              <a:latin typeface="Pretendard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771206-AA2F-C649-AD22-6D3CCED62D42}"/>
              </a:ext>
            </a:extLst>
          </p:cNvPr>
          <p:cNvSpPr txBox="1"/>
          <p:nvPr/>
        </p:nvSpPr>
        <p:spPr>
          <a:xfrm>
            <a:off x="1282700" y="5613400"/>
            <a:ext cx="4165600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400">
                <a:solidFill>
                  <a:srgbClr val="1D4E89"/>
                </a:solidFill>
                <a:latin typeface="JetBrains Mono"/>
              </a:rPr>
              <a:t>→ 섹션 역할 </a:t>
            </a:r>
            <a:r>
              <a:rPr lang="en-US" altLang="ko-KR" sz="1400">
                <a:solidFill>
                  <a:srgbClr val="1D4E89"/>
                </a:solidFill>
                <a:latin typeface="JetBrains Mono"/>
              </a:rPr>
              <a:t>· </a:t>
            </a:r>
            <a:r>
              <a:rPr lang="ko-KR" altLang="en-US" sz="1400">
                <a:solidFill>
                  <a:srgbClr val="1D4E89"/>
                </a:solidFill>
                <a:latin typeface="JetBrains Mono"/>
              </a:rPr>
              <a:t>이득형 </a:t>
            </a:r>
            <a:r>
              <a:rPr lang="en-US" altLang="ko-KR" sz="1400">
                <a:solidFill>
                  <a:srgbClr val="1D4E89"/>
                </a:solidFill>
                <a:latin typeface="JetBrains Mono"/>
              </a:rPr>
              <a:t>CTA</a:t>
            </a:r>
            <a:endParaRPr lang="ko-KR" altLang="en-US" sz="1400">
              <a:solidFill>
                <a:srgbClr val="1D4E89"/>
              </a:solidFill>
              <a:latin typeface="JetBrains Mono"/>
            </a:endParaRP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16D8C409-3FAC-1144-8099-E93C7EAD847B}"/>
              </a:ext>
            </a:extLst>
          </p:cNvPr>
          <p:cNvSpPr/>
          <p:nvPr/>
        </p:nvSpPr>
        <p:spPr>
          <a:xfrm>
            <a:off x="6286500" y="1905000"/>
            <a:ext cx="5080000" cy="4381500"/>
          </a:xfrm>
          <a:prstGeom prst="roundRect">
            <a:avLst>
              <a:gd name="adj" fmla="val 580"/>
            </a:avLst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C8A8571-3B07-E64C-A966-F89F5D3731DA}"/>
              </a:ext>
            </a:extLst>
          </p:cNvPr>
          <p:cNvSpPr txBox="1"/>
          <p:nvPr/>
        </p:nvSpPr>
        <p:spPr>
          <a:xfrm>
            <a:off x="6718300" y="2235200"/>
            <a:ext cx="1524000" cy="711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4000" b="1">
                <a:solidFill>
                  <a:srgbClr val="E8A33D"/>
                </a:solidFill>
                <a:latin typeface="JetBrains Mono"/>
              </a:rPr>
              <a:t>02</a:t>
            </a:r>
            <a:endParaRPr lang="ko-KR" altLang="en-US" sz="4000" b="1">
              <a:solidFill>
                <a:srgbClr val="E8A33D"/>
              </a:solidFill>
              <a:latin typeface="JetBrains Mono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496DCB3-D8BD-4844-9BBA-B5B022BECC04}"/>
              </a:ext>
            </a:extLst>
          </p:cNvPr>
          <p:cNvSpPr/>
          <p:nvPr/>
        </p:nvSpPr>
        <p:spPr>
          <a:xfrm>
            <a:off x="6743700" y="3124200"/>
            <a:ext cx="685800" cy="50800"/>
          </a:xfrm>
          <a:prstGeom prst="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38DCB66-2622-494E-9B32-EEC1F8A7DD33}"/>
              </a:ext>
            </a:extLst>
          </p:cNvPr>
          <p:cNvSpPr txBox="1"/>
          <p:nvPr/>
        </p:nvSpPr>
        <p:spPr>
          <a:xfrm>
            <a:off x="6743700" y="3479800"/>
            <a:ext cx="4165600" cy="165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2000" b="1" dirty="0">
                <a:solidFill>
                  <a:srgbClr val="14213D"/>
                </a:solidFill>
                <a:latin typeface="Pretendard"/>
              </a:rPr>
              <a:t>사용자 흐름에 맞춰 </a:t>
            </a:r>
            <a:endParaRPr lang="en-US" altLang="ko-KR" sz="2000" b="1" dirty="0">
              <a:solidFill>
                <a:srgbClr val="14213D"/>
              </a:solidFill>
              <a:latin typeface="Pretendard"/>
            </a:endParaRPr>
          </a:p>
          <a:p>
            <a:pPr algn="l">
              <a:lnSpc>
                <a:spcPct val="150000"/>
              </a:lnSpc>
            </a:pPr>
            <a:r>
              <a:rPr lang="ko-KR" altLang="en-US" sz="2000" b="1" dirty="0">
                <a:solidFill>
                  <a:srgbClr val="14213D"/>
                </a:solidFill>
                <a:latin typeface="Pretendard"/>
              </a:rPr>
              <a:t>서비스 소개형 페이지를 </a:t>
            </a:r>
            <a:endParaRPr lang="en-US" altLang="ko-KR" sz="2000" b="1" dirty="0">
              <a:solidFill>
                <a:srgbClr val="14213D"/>
              </a:solidFill>
              <a:latin typeface="Pretendard"/>
            </a:endParaRPr>
          </a:p>
          <a:p>
            <a:pPr algn="l">
              <a:lnSpc>
                <a:spcPct val="150000"/>
              </a:lnSpc>
            </a:pPr>
            <a:r>
              <a:rPr lang="ko-KR" altLang="en-US" sz="2000" b="1" dirty="0">
                <a:solidFill>
                  <a:srgbClr val="14213D"/>
                </a:solidFill>
                <a:latin typeface="Pretendard"/>
              </a:rPr>
              <a:t>구성할 수 있다</a:t>
            </a:r>
            <a:r>
              <a:rPr lang="en-US" altLang="ko-KR" sz="2000" b="1" dirty="0">
                <a:solidFill>
                  <a:srgbClr val="14213D"/>
                </a:solidFill>
                <a:latin typeface="Pretendard"/>
              </a:rPr>
              <a:t>.</a:t>
            </a:r>
            <a:endParaRPr lang="ko-KR" altLang="en-US" sz="2000" b="1" dirty="0">
              <a:solidFill>
                <a:srgbClr val="14213D"/>
              </a:solidFill>
              <a:latin typeface="Pretendard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0F84248-4F3A-E34F-B478-BB271DFA2CEA}"/>
              </a:ext>
            </a:extLst>
          </p:cNvPr>
          <p:cNvSpPr txBox="1"/>
          <p:nvPr/>
        </p:nvSpPr>
        <p:spPr>
          <a:xfrm>
            <a:off x="6743700" y="5613400"/>
            <a:ext cx="4165600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400">
                <a:solidFill>
                  <a:srgbClr val="1D4E89"/>
                </a:solidFill>
                <a:latin typeface="JetBrains Mono"/>
              </a:rPr>
              <a:t>→ AIDA </a:t>
            </a:r>
            <a:r>
              <a:rPr lang="ko-KR" altLang="en-US" sz="1400">
                <a:solidFill>
                  <a:srgbClr val="1D4E89"/>
                </a:solidFill>
                <a:latin typeface="JetBrains Mono"/>
              </a:rPr>
              <a:t>흐름 설계</a:t>
            </a:r>
          </a:p>
        </p:txBody>
      </p:sp>
      <p:sp>
        <p:nvSpPr>
          <p:cNvPr id="4" name="PageNumber">
            <a:extLst>
              <a:ext uri="{FF2B5EF4-FFF2-40B4-BE49-F238E27FC236}">
                <a16:creationId xmlns:a16="http://schemas.microsoft.com/office/drawing/2014/main" id="{4C10602A-A909-B94C-B76E-0709D129C969}"/>
              </a:ext>
            </a:extLst>
          </p:cNvPr>
          <p:cNvSpPr txBox="1"/>
          <p:nvPr/>
        </p:nvSpPr>
        <p:spPr>
          <a:xfrm>
            <a:off x="9499600" y="6489700"/>
            <a:ext cx="23368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r"/>
            <a:r>
              <a:rPr lang="en-US" altLang="ko-KR" sz="1200">
                <a:solidFill>
                  <a:srgbClr val="576176"/>
                </a:solidFill>
                <a:latin typeface="Pretendard"/>
              </a:rPr>
              <a:t>- 107/144 -</a:t>
            </a:r>
            <a:endParaRPr lang="ko-KR" altLang="en-US" sz="1200">
              <a:solidFill>
                <a:srgbClr val="576176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2161313245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4E8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F865A151-4342-FD48-99EB-F2B23CA3C124}"/>
              </a:ext>
            </a:extLst>
          </p:cNvPr>
          <p:cNvSpPr/>
          <p:nvPr/>
        </p:nvSpPr>
        <p:spPr>
          <a:xfrm>
            <a:off x="914400" y="2362200"/>
            <a:ext cx="431800" cy="76200"/>
          </a:xfrm>
          <a:prstGeom prst="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418F1D-7B83-F64E-9F43-FB20520A0C0A}"/>
              </a:ext>
            </a:extLst>
          </p:cNvPr>
          <p:cNvSpPr txBox="1"/>
          <p:nvPr/>
        </p:nvSpPr>
        <p:spPr>
          <a:xfrm>
            <a:off x="914400" y="2540000"/>
            <a:ext cx="5080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500" b="1">
                <a:solidFill>
                  <a:srgbClr val="E8A33D"/>
                </a:solidFill>
                <a:latin typeface="JetBrains Mono"/>
              </a:rPr>
              <a:t>SESSION 1</a:t>
            </a:r>
            <a:endParaRPr lang="ko-KR" altLang="en-US" sz="1500" b="1">
              <a:solidFill>
                <a:srgbClr val="E8A33D"/>
              </a:solidFill>
              <a:latin typeface="JetBrains Mono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14D62D-155C-F845-A0B8-BB8F350E3936}"/>
              </a:ext>
            </a:extLst>
          </p:cNvPr>
          <p:cNvSpPr txBox="1"/>
          <p:nvPr/>
        </p:nvSpPr>
        <p:spPr>
          <a:xfrm>
            <a:off x="914400" y="2895600"/>
            <a:ext cx="10363200" cy="609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3200" b="1">
                <a:solidFill>
                  <a:srgbClr val="FFFFFF"/>
                </a:solidFill>
                <a:latin typeface="Noto Serif KR"/>
              </a:rPr>
              <a:t>섹션 구성과 </a:t>
            </a:r>
            <a:r>
              <a:rPr lang="en-US" altLang="ko-KR" sz="3200" b="1">
                <a:solidFill>
                  <a:srgbClr val="FFFFFF"/>
                </a:solidFill>
                <a:latin typeface="Noto Serif KR"/>
              </a:rPr>
              <a:t>CTA </a:t>
            </a:r>
            <a:r>
              <a:rPr lang="ko-KR" altLang="en-US" sz="3200" b="1">
                <a:solidFill>
                  <a:srgbClr val="FFFFFF"/>
                </a:solidFill>
                <a:latin typeface="Noto Serif KR"/>
              </a:rPr>
              <a:t>문구 작성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1C58CD-7BFE-724D-8C45-B49C689BD5FE}"/>
              </a:ext>
            </a:extLst>
          </p:cNvPr>
          <p:cNvSpPr txBox="1"/>
          <p:nvPr/>
        </p:nvSpPr>
        <p:spPr>
          <a:xfrm>
            <a:off x="914400" y="3657600"/>
            <a:ext cx="10033000" cy="558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600" dirty="0">
                <a:solidFill>
                  <a:srgbClr val="DCE6F2"/>
                </a:solidFill>
                <a:latin typeface="Pretendard"/>
              </a:rPr>
              <a:t>섹션마다 역할이 있다</a:t>
            </a:r>
            <a:r>
              <a:rPr lang="en-US" altLang="ko-KR" sz="1600" dirty="0">
                <a:solidFill>
                  <a:srgbClr val="DCE6F2"/>
                </a:solidFill>
                <a:latin typeface="Pretendard"/>
              </a:rPr>
              <a:t>. </a:t>
            </a:r>
          </a:p>
          <a:p>
            <a:pPr algn="l"/>
            <a:r>
              <a:rPr lang="ko-KR" altLang="en-US" sz="1600" dirty="0">
                <a:solidFill>
                  <a:srgbClr val="DCE6F2"/>
                </a:solidFill>
                <a:latin typeface="Pretendard"/>
              </a:rPr>
              <a:t>히어로</a:t>
            </a:r>
            <a:r>
              <a:rPr lang="en-US" altLang="ko-KR" sz="1600" dirty="0">
                <a:solidFill>
                  <a:srgbClr val="DCE6F2"/>
                </a:solidFill>
                <a:latin typeface="Pretendard"/>
              </a:rPr>
              <a:t>=</a:t>
            </a:r>
            <a:r>
              <a:rPr lang="ko-KR" altLang="en-US" sz="1600" dirty="0" err="1">
                <a:solidFill>
                  <a:srgbClr val="DCE6F2"/>
                </a:solidFill>
                <a:latin typeface="Pretendard"/>
              </a:rPr>
              <a:t>후킹</a:t>
            </a:r>
            <a:r>
              <a:rPr lang="en-US" altLang="ko-KR" sz="1600" dirty="0">
                <a:solidFill>
                  <a:srgbClr val="DCE6F2"/>
                </a:solidFill>
                <a:latin typeface="Pretendard"/>
              </a:rPr>
              <a:t>, </a:t>
            </a:r>
            <a:r>
              <a:rPr lang="ko-KR" altLang="en-US" sz="1600" dirty="0">
                <a:solidFill>
                  <a:srgbClr val="DCE6F2"/>
                </a:solidFill>
                <a:latin typeface="Pretendard"/>
              </a:rPr>
              <a:t>특징</a:t>
            </a:r>
            <a:r>
              <a:rPr lang="en-US" altLang="ko-KR" sz="1600" dirty="0">
                <a:solidFill>
                  <a:srgbClr val="DCE6F2"/>
                </a:solidFill>
                <a:latin typeface="Pretendard"/>
              </a:rPr>
              <a:t>=</a:t>
            </a:r>
            <a:r>
              <a:rPr lang="ko-KR" altLang="en-US" sz="1600" dirty="0">
                <a:solidFill>
                  <a:srgbClr val="DCE6F2"/>
                </a:solidFill>
                <a:latin typeface="Pretendard"/>
              </a:rPr>
              <a:t>설득</a:t>
            </a:r>
            <a:r>
              <a:rPr lang="en-US" altLang="ko-KR" sz="1600" dirty="0">
                <a:solidFill>
                  <a:srgbClr val="DCE6F2"/>
                </a:solidFill>
                <a:latin typeface="Pretendard"/>
              </a:rPr>
              <a:t>, </a:t>
            </a:r>
            <a:r>
              <a:rPr lang="ko-KR" altLang="en-US" sz="1600" dirty="0">
                <a:solidFill>
                  <a:srgbClr val="DCE6F2"/>
                </a:solidFill>
                <a:latin typeface="Pretendard"/>
              </a:rPr>
              <a:t>후기</a:t>
            </a:r>
            <a:r>
              <a:rPr lang="en-US" altLang="ko-KR" sz="1600" dirty="0">
                <a:solidFill>
                  <a:srgbClr val="DCE6F2"/>
                </a:solidFill>
                <a:latin typeface="Pretendard"/>
              </a:rPr>
              <a:t>=</a:t>
            </a:r>
            <a:r>
              <a:rPr lang="ko-KR" altLang="en-US" sz="1600" dirty="0">
                <a:solidFill>
                  <a:srgbClr val="DCE6F2"/>
                </a:solidFill>
                <a:latin typeface="Pretendard"/>
              </a:rPr>
              <a:t>신뢰</a:t>
            </a:r>
            <a:r>
              <a:rPr lang="en-US" altLang="ko-KR" sz="1600" dirty="0">
                <a:solidFill>
                  <a:srgbClr val="DCE6F2"/>
                </a:solidFill>
                <a:latin typeface="Pretendard"/>
              </a:rPr>
              <a:t>, CTA=</a:t>
            </a:r>
            <a:r>
              <a:rPr lang="ko-KR" altLang="en-US" sz="1600" dirty="0">
                <a:solidFill>
                  <a:srgbClr val="DCE6F2"/>
                </a:solidFill>
                <a:latin typeface="Pretendard"/>
              </a:rPr>
              <a:t>행동</a:t>
            </a:r>
            <a:r>
              <a:rPr lang="en-US" altLang="ko-KR" sz="1600" dirty="0">
                <a:solidFill>
                  <a:srgbClr val="DCE6F2"/>
                </a:solidFill>
                <a:latin typeface="Pretendard"/>
              </a:rPr>
              <a:t>.</a:t>
            </a:r>
            <a:endParaRPr lang="ko-KR" altLang="en-US" sz="1600" dirty="0">
              <a:solidFill>
                <a:srgbClr val="DCE6F2"/>
              </a:solidFill>
              <a:latin typeface="Pretendard"/>
            </a:endParaRP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48ADC2FB-BDD6-6F4F-BE8D-160CC59242B8}"/>
              </a:ext>
            </a:extLst>
          </p:cNvPr>
          <p:cNvSpPr/>
          <p:nvPr/>
        </p:nvSpPr>
        <p:spPr>
          <a:xfrm>
            <a:off x="914400" y="4521200"/>
            <a:ext cx="2616200" cy="889000"/>
          </a:xfrm>
          <a:prstGeom prst="roundRect">
            <a:avLst>
              <a:gd name="adj" fmla="val 2857"/>
            </a:avLst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ko-KR" altLang="en-US" sz="1600" b="1">
                <a:solidFill>
                  <a:srgbClr val="FFFFFF"/>
                </a:solidFill>
                <a:latin typeface="Pretendard"/>
              </a:rPr>
              <a:t>후킹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9085EC-2F5C-F741-8755-6B700173DFDD}"/>
              </a:ext>
            </a:extLst>
          </p:cNvPr>
          <p:cNvSpPr txBox="1"/>
          <p:nvPr/>
        </p:nvSpPr>
        <p:spPr>
          <a:xfrm>
            <a:off x="3530600" y="4521200"/>
            <a:ext cx="558800" cy="889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ko-KR" altLang="en-US" sz="2400" b="1">
                <a:solidFill>
                  <a:srgbClr val="9FB3CE"/>
                </a:solidFill>
                <a:latin typeface="Pretendard"/>
              </a:rPr>
              <a:t>→</a:t>
            </a: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FE49A29D-48A7-8244-BC09-B0F417DD00A1}"/>
              </a:ext>
            </a:extLst>
          </p:cNvPr>
          <p:cNvSpPr/>
          <p:nvPr/>
        </p:nvSpPr>
        <p:spPr>
          <a:xfrm>
            <a:off x="4089400" y="4521200"/>
            <a:ext cx="2616200" cy="889000"/>
          </a:xfrm>
          <a:prstGeom prst="roundRect">
            <a:avLst>
              <a:gd name="adj" fmla="val 2857"/>
            </a:avLst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ko-KR" altLang="en-US" sz="1600" b="1">
                <a:solidFill>
                  <a:srgbClr val="FFFFFF"/>
                </a:solidFill>
                <a:latin typeface="Pretendard"/>
              </a:rPr>
              <a:t>설득 </a:t>
            </a:r>
            <a:r>
              <a:rPr lang="en-US" altLang="ko-KR" sz="1600" b="1">
                <a:solidFill>
                  <a:srgbClr val="FFFFFF"/>
                </a:solidFill>
                <a:latin typeface="Pretendard"/>
              </a:rPr>
              <a:t>· </a:t>
            </a:r>
            <a:r>
              <a:rPr lang="ko-KR" altLang="en-US" sz="1600" b="1">
                <a:solidFill>
                  <a:srgbClr val="FFFFFF"/>
                </a:solidFill>
                <a:latin typeface="Pretendard"/>
              </a:rPr>
              <a:t>신뢰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6E4C34-8F59-794A-9A66-3301242437EC}"/>
              </a:ext>
            </a:extLst>
          </p:cNvPr>
          <p:cNvSpPr txBox="1"/>
          <p:nvPr/>
        </p:nvSpPr>
        <p:spPr>
          <a:xfrm>
            <a:off x="6705600" y="4521200"/>
            <a:ext cx="558800" cy="889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ko-KR" altLang="en-US" sz="2400" b="1">
                <a:solidFill>
                  <a:srgbClr val="9FB3CE"/>
                </a:solidFill>
                <a:latin typeface="Pretendard"/>
              </a:rPr>
              <a:t>→</a:t>
            </a:r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0BB751B0-51B0-0F4D-A465-6683853F003D}"/>
              </a:ext>
            </a:extLst>
          </p:cNvPr>
          <p:cNvSpPr/>
          <p:nvPr/>
        </p:nvSpPr>
        <p:spPr>
          <a:xfrm>
            <a:off x="7264400" y="4521200"/>
            <a:ext cx="2616200" cy="889000"/>
          </a:xfrm>
          <a:prstGeom prst="roundRect">
            <a:avLst>
              <a:gd name="adj" fmla="val 2857"/>
            </a:avLst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ko-KR" altLang="en-US" sz="1600" b="1">
                <a:solidFill>
                  <a:srgbClr val="14213D"/>
                </a:solidFill>
                <a:latin typeface="Pretendard"/>
              </a:rPr>
              <a:t>행동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266E528-55DC-7846-91AE-DF5B13881767}"/>
              </a:ext>
            </a:extLst>
          </p:cNvPr>
          <p:cNvSpPr txBox="1"/>
          <p:nvPr/>
        </p:nvSpPr>
        <p:spPr>
          <a:xfrm>
            <a:off x="914400" y="5740400"/>
            <a:ext cx="10363200" cy="304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400">
                <a:solidFill>
                  <a:srgbClr val="9FB3CE"/>
                </a:solidFill>
                <a:latin typeface="JetBrains Mono"/>
              </a:rPr>
              <a:t>→ 섹션마다 단 하나의 역할을 준다</a:t>
            </a:r>
            <a:r>
              <a:rPr lang="en-US" altLang="ko-KR" sz="1400">
                <a:solidFill>
                  <a:srgbClr val="9FB3CE"/>
                </a:solidFill>
                <a:latin typeface="JetBrains Mono"/>
              </a:rPr>
              <a:t>.</a:t>
            </a:r>
            <a:endParaRPr lang="ko-KR" altLang="en-US" sz="1400">
              <a:solidFill>
                <a:srgbClr val="9FB3CE"/>
              </a:solidFill>
              <a:latin typeface="JetBrains Mono"/>
            </a:endParaRPr>
          </a:p>
        </p:txBody>
      </p:sp>
      <p:pic>
        <p:nvPicPr>
          <p:cNvPr id="2" name="Picture 14">
            <a:extLst>
              <a:ext uri="{FF2B5EF4-FFF2-40B4-BE49-F238E27FC236}">
                <a16:creationId xmlns:a16="http://schemas.microsoft.com/office/drawing/2014/main" id="{B8BC7159-ADD8-0C0A-3322-FB057CB51B2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8000"/>
          </a:blip>
          <a:stretch>
            <a:fillRect/>
          </a:stretch>
        </p:blipFill>
        <p:spPr>
          <a:xfrm>
            <a:off x="6197602" y="-150908"/>
            <a:ext cx="7002780" cy="4665110"/>
          </a:xfrm>
          <a:prstGeom prst="rect">
            <a:avLst/>
          </a:prstGeom>
        </p:spPr>
      </p:pic>
      <p:sp>
        <p:nvSpPr>
          <p:cNvPr id="14" name="PageNumber">
            <a:extLst>
              <a:ext uri="{FF2B5EF4-FFF2-40B4-BE49-F238E27FC236}">
                <a16:creationId xmlns:a16="http://schemas.microsoft.com/office/drawing/2014/main" id="{8F514170-C670-5445-826F-A006DE0FDAB8}"/>
              </a:ext>
            </a:extLst>
          </p:cNvPr>
          <p:cNvSpPr txBox="1"/>
          <p:nvPr/>
        </p:nvSpPr>
        <p:spPr>
          <a:xfrm>
            <a:off x="9499600" y="6489700"/>
            <a:ext cx="23368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r"/>
            <a:r>
              <a:rPr lang="en-US" altLang="ko-KR" sz="1200">
                <a:solidFill>
                  <a:schemeClr val="bg1"/>
                </a:solidFill>
                <a:latin typeface="Pretendard"/>
              </a:rPr>
              <a:t>- 108/144 -</a:t>
            </a:r>
            <a:endParaRPr lang="ko-KR" altLang="en-US" sz="1200">
              <a:solidFill>
                <a:schemeClr val="bg1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4108207646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7863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핵심 개념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전환을 만드는 섹션의 3요소</a:t>
            </a: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CA01C622-6828-F14E-BA71-C7A16566310A}"/>
              </a:ext>
            </a:extLst>
          </p:cNvPr>
          <p:cNvSpPr/>
          <p:nvPr/>
        </p:nvSpPr>
        <p:spPr>
          <a:xfrm>
            <a:off x="825500" y="1905000"/>
            <a:ext cx="3340100" cy="4381500"/>
          </a:xfrm>
          <a:prstGeom prst="roundRect">
            <a:avLst>
              <a:gd name="adj" fmla="val 760"/>
            </a:avLst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87C328E-7DE4-304C-A777-C2129613FA67}"/>
              </a:ext>
            </a:extLst>
          </p:cNvPr>
          <p:cNvSpPr/>
          <p:nvPr/>
        </p:nvSpPr>
        <p:spPr>
          <a:xfrm>
            <a:off x="825500" y="1905000"/>
            <a:ext cx="3340100" cy="88900"/>
          </a:xfrm>
          <a:prstGeom prst="rect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4848CC7D-CB52-5046-8F17-E541F3A531A9}"/>
              </a:ext>
            </a:extLst>
          </p:cNvPr>
          <p:cNvSpPr/>
          <p:nvPr/>
        </p:nvSpPr>
        <p:spPr>
          <a:xfrm>
            <a:off x="1130300" y="2286000"/>
            <a:ext cx="508000" cy="508000"/>
          </a:xfrm>
          <a:prstGeom prst="ellipse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  <a:latin typeface="JetBrains Mono"/>
              </a:rPr>
              <a:t>1</a:t>
            </a:r>
            <a:endParaRPr lang="ko-KR" altLang="en-US" sz="16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6D2733-98C7-8649-9BCA-6C2D98296FB5}"/>
              </a:ext>
            </a:extLst>
          </p:cNvPr>
          <p:cNvSpPr txBox="1"/>
          <p:nvPr/>
        </p:nvSpPr>
        <p:spPr>
          <a:xfrm>
            <a:off x="1130300" y="2946400"/>
            <a:ext cx="2730500" cy="584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650" b="1">
                <a:solidFill>
                  <a:srgbClr val="14213D"/>
                </a:solidFill>
                <a:latin typeface="Pretendard"/>
              </a:rPr>
              <a:t>히어로 섹션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B8B0E22-3AE5-804E-88E4-7D42B98BFD12}"/>
              </a:ext>
            </a:extLst>
          </p:cNvPr>
          <p:cNvSpPr/>
          <p:nvPr/>
        </p:nvSpPr>
        <p:spPr>
          <a:xfrm>
            <a:off x="1130300" y="3632200"/>
            <a:ext cx="2730500" cy="12700"/>
          </a:xfrm>
          <a:prstGeom prst="rect">
            <a:avLst/>
          </a:prstGeom>
          <a:solidFill>
            <a:srgbClr val="D9E2E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661893A-120E-034E-B954-9FD5A2E36A58}"/>
              </a:ext>
            </a:extLst>
          </p:cNvPr>
          <p:cNvSpPr txBox="1"/>
          <p:nvPr/>
        </p:nvSpPr>
        <p:spPr>
          <a:xfrm>
            <a:off x="1130300" y="3784600"/>
            <a:ext cx="2730500" cy="1625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altLang="ko-KR" sz="1400" dirty="0">
                <a:solidFill>
                  <a:srgbClr val="576176"/>
                </a:solidFill>
                <a:latin typeface="Pretendard"/>
              </a:rPr>
              <a:t>3</a:t>
            </a:r>
            <a:r>
              <a:rPr lang="ko-KR" altLang="en-US" sz="1400" dirty="0">
                <a:solidFill>
                  <a:srgbClr val="576176"/>
                </a:solidFill>
                <a:latin typeface="Pretendard"/>
              </a:rPr>
              <a:t>초 안에 ‘무엇을</a:t>
            </a:r>
            <a:r>
              <a:rPr lang="en-US" altLang="ko-KR" sz="1400" dirty="0">
                <a:solidFill>
                  <a:srgbClr val="576176"/>
                </a:solidFill>
                <a:latin typeface="Pretendard"/>
              </a:rPr>
              <a:t>·</a:t>
            </a:r>
            <a:r>
              <a:rPr lang="ko-KR" altLang="en-US" sz="1400" dirty="0" err="1">
                <a:solidFill>
                  <a:srgbClr val="576176"/>
                </a:solidFill>
                <a:latin typeface="Pretendard"/>
              </a:rPr>
              <a:t>왜’를</a:t>
            </a:r>
            <a:r>
              <a:rPr lang="ko-KR" altLang="en-US" sz="1400" dirty="0">
                <a:solidFill>
                  <a:srgbClr val="576176"/>
                </a:solidFill>
                <a:latin typeface="Pretendard"/>
              </a:rPr>
              <a:t> 전달</a:t>
            </a:r>
            <a:r>
              <a:rPr lang="en-US" altLang="ko-KR" sz="1400" dirty="0">
                <a:solidFill>
                  <a:srgbClr val="576176"/>
                </a:solidFill>
                <a:latin typeface="Pretendard"/>
              </a:rPr>
              <a:t>. </a:t>
            </a:r>
          </a:p>
          <a:p>
            <a:pPr algn="l">
              <a:lnSpc>
                <a:spcPct val="150000"/>
              </a:lnSpc>
            </a:pPr>
            <a:endParaRPr lang="en-US" altLang="ko-KR" sz="1400" dirty="0">
              <a:solidFill>
                <a:srgbClr val="576176"/>
              </a:solidFill>
              <a:latin typeface="Pretendard"/>
            </a:endParaRPr>
          </a:p>
          <a:p>
            <a:pPr algn="l">
              <a:lnSpc>
                <a:spcPct val="150000"/>
              </a:lnSpc>
            </a:pPr>
            <a:r>
              <a:rPr lang="ko-KR" altLang="en-US" sz="1400" dirty="0">
                <a:solidFill>
                  <a:srgbClr val="576176"/>
                </a:solidFill>
                <a:latin typeface="Pretendard"/>
              </a:rPr>
              <a:t>한 줄 헤드라인 </a:t>
            </a:r>
            <a:endParaRPr lang="en-US" altLang="ko-KR" sz="1400" dirty="0">
              <a:solidFill>
                <a:srgbClr val="576176"/>
              </a:solidFill>
              <a:latin typeface="Pretendard"/>
            </a:endParaRPr>
          </a:p>
          <a:p>
            <a:pPr algn="l">
              <a:lnSpc>
                <a:spcPct val="150000"/>
              </a:lnSpc>
            </a:pPr>
            <a:r>
              <a:rPr lang="en-US" altLang="ko-KR" sz="1400" dirty="0">
                <a:solidFill>
                  <a:srgbClr val="576176"/>
                </a:solidFill>
                <a:latin typeface="Pretendard"/>
              </a:rPr>
              <a:t>+ </a:t>
            </a:r>
            <a:r>
              <a:rPr lang="ko-KR" altLang="en-US" sz="1400" dirty="0">
                <a:solidFill>
                  <a:srgbClr val="576176"/>
                </a:solidFill>
                <a:latin typeface="Pretendard"/>
              </a:rPr>
              <a:t>보조 문구 </a:t>
            </a:r>
            <a:r>
              <a:rPr lang="en-US" altLang="ko-KR" sz="1400" dirty="0">
                <a:solidFill>
                  <a:srgbClr val="576176"/>
                </a:solidFill>
                <a:latin typeface="Pretendard"/>
              </a:rPr>
              <a:t>+ CTA </a:t>
            </a:r>
            <a:r>
              <a:rPr lang="ko-KR" altLang="en-US" sz="1400" dirty="0">
                <a:solidFill>
                  <a:srgbClr val="576176"/>
                </a:solidFill>
                <a:latin typeface="Pretendard"/>
              </a:rPr>
              <a:t>버튼</a:t>
            </a:r>
            <a:r>
              <a:rPr lang="en-US" altLang="ko-KR" sz="1400" dirty="0">
                <a:solidFill>
                  <a:srgbClr val="576176"/>
                </a:solidFill>
                <a:latin typeface="Pretendard"/>
              </a:rPr>
              <a:t>.</a:t>
            </a:r>
            <a:endParaRPr lang="ko-KR" altLang="en-US" sz="1400" dirty="0">
              <a:solidFill>
                <a:srgbClr val="576176"/>
              </a:solidFill>
              <a:latin typeface="Pretendard"/>
            </a:endParaRP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A160452C-FCEC-6C48-A8C5-550C9E9A820F}"/>
              </a:ext>
            </a:extLst>
          </p:cNvPr>
          <p:cNvSpPr/>
          <p:nvPr/>
        </p:nvSpPr>
        <p:spPr>
          <a:xfrm>
            <a:off x="1130300" y="5562600"/>
            <a:ext cx="2730500" cy="457200"/>
          </a:xfrm>
          <a:prstGeom prst="roundRect">
            <a:avLst>
              <a:gd name="adj" fmla="val 5556"/>
            </a:avLst>
          </a:prstGeom>
          <a:solidFill>
            <a:srgbClr val="E7ECF4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6458533-A786-EB45-BF42-0CFBA2F6289B}"/>
              </a:ext>
            </a:extLst>
          </p:cNvPr>
          <p:cNvSpPr txBox="1"/>
          <p:nvPr/>
        </p:nvSpPr>
        <p:spPr>
          <a:xfrm>
            <a:off x="1130300" y="5562600"/>
            <a:ext cx="2730500" cy="457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ctr"/>
            <a:r>
              <a:rPr lang="en-US" altLang="ko-KR" sz="1400" b="1">
                <a:solidFill>
                  <a:srgbClr val="14213D"/>
                </a:solidFill>
                <a:latin typeface="Pretendard"/>
              </a:rPr>
              <a:t>3</a:t>
            </a:r>
            <a:r>
              <a:rPr lang="ko-KR" altLang="en-US" sz="1400" b="1">
                <a:solidFill>
                  <a:srgbClr val="14213D"/>
                </a:solidFill>
                <a:latin typeface="Pretendard"/>
              </a:rPr>
              <a:t>초 안에 전달</a:t>
            </a: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7BC36E64-24DF-014B-90AC-C46326AF0EAC}"/>
              </a:ext>
            </a:extLst>
          </p:cNvPr>
          <p:cNvSpPr/>
          <p:nvPr/>
        </p:nvSpPr>
        <p:spPr>
          <a:xfrm>
            <a:off x="4419600" y="1905000"/>
            <a:ext cx="3340100" cy="4381500"/>
          </a:xfrm>
          <a:prstGeom prst="roundRect">
            <a:avLst>
              <a:gd name="adj" fmla="val 760"/>
            </a:avLst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71B662D-9FAE-8145-94BD-6264DEE7E9EE}"/>
              </a:ext>
            </a:extLst>
          </p:cNvPr>
          <p:cNvSpPr/>
          <p:nvPr/>
        </p:nvSpPr>
        <p:spPr>
          <a:xfrm>
            <a:off x="4419600" y="1905000"/>
            <a:ext cx="3340100" cy="88900"/>
          </a:xfrm>
          <a:prstGeom prst="rect">
            <a:avLst/>
          </a:prstGeom>
          <a:solidFill>
            <a:srgbClr val="1D4E89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F9B500A2-BA6A-7442-81F9-83422F117DE6}"/>
              </a:ext>
            </a:extLst>
          </p:cNvPr>
          <p:cNvSpPr/>
          <p:nvPr/>
        </p:nvSpPr>
        <p:spPr>
          <a:xfrm>
            <a:off x="4724400" y="2286000"/>
            <a:ext cx="508000" cy="508000"/>
          </a:xfrm>
          <a:prstGeom prst="ellipse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  <a:latin typeface="JetBrains Mono"/>
              </a:rPr>
              <a:t>2</a:t>
            </a:r>
            <a:endParaRPr lang="ko-KR" altLang="en-US" sz="16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41514EF-289C-844A-90EF-5704DEEAAFB9}"/>
              </a:ext>
            </a:extLst>
          </p:cNvPr>
          <p:cNvSpPr txBox="1"/>
          <p:nvPr/>
        </p:nvSpPr>
        <p:spPr>
          <a:xfrm>
            <a:off x="4724400" y="2946400"/>
            <a:ext cx="2730500" cy="584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650" b="1">
                <a:solidFill>
                  <a:srgbClr val="14213D"/>
                </a:solidFill>
                <a:latin typeface="Pretendard"/>
              </a:rPr>
              <a:t>CTA </a:t>
            </a:r>
            <a:r>
              <a:rPr lang="ko-KR" altLang="en-US" sz="1650" b="1">
                <a:solidFill>
                  <a:srgbClr val="14213D"/>
                </a:solidFill>
                <a:latin typeface="Pretendard"/>
              </a:rPr>
              <a:t>카피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0B506C6-9E89-CB42-AE6B-4D6E10DF9457}"/>
              </a:ext>
            </a:extLst>
          </p:cNvPr>
          <p:cNvSpPr/>
          <p:nvPr/>
        </p:nvSpPr>
        <p:spPr>
          <a:xfrm>
            <a:off x="4724400" y="3632200"/>
            <a:ext cx="2730500" cy="12700"/>
          </a:xfrm>
          <a:prstGeom prst="rect">
            <a:avLst/>
          </a:prstGeom>
          <a:solidFill>
            <a:srgbClr val="D9E2E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0FAB20D-74ED-B54F-9A6B-1CA6872B2C36}"/>
              </a:ext>
            </a:extLst>
          </p:cNvPr>
          <p:cNvSpPr txBox="1"/>
          <p:nvPr/>
        </p:nvSpPr>
        <p:spPr>
          <a:xfrm>
            <a:off x="4724400" y="3784600"/>
            <a:ext cx="2730500" cy="1625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400" dirty="0">
                <a:solidFill>
                  <a:srgbClr val="576176"/>
                </a:solidFill>
                <a:latin typeface="Pretendard"/>
              </a:rPr>
              <a:t>‘</a:t>
            </a:r>
            <a:r>
              <a:rPr lang="ko-KR" altLang="en-US" sz="1400" dirty="0" err="1">
                <a:solidFill>
                  <a:srgbClr val="576176"/>
                </a:solidFill>
                <a:latin typeface="Pretendard"/>
              </a:rPr>
              <a:t>제출’보다</a:t>
            </a:r>
            <a:r>
              <a:rPr lang="ko-KR" altLang="en-US" sz="1400" dirty="0">
                <a:solidFill>
                  <a:srgbClr val="576176"/>
                </a:solidFill>
                <a:latin typeface="Pretendard"/>
              </a:rPr>
              <a:t> ‘지금 무료로 </a:t>
            </a:r>
            <a:r>
              <a:rPr lang="ko-KR" altLang="en-US" sz="1400" dirty="0" err="1">
                <a:solidFill>
                  <a:srgbClr val="576176"/>
                </a:solidFill>
                <a:latin typeface="Pretendard"/>
              </a:rPr>
              <a:t>받기’처럼</a:t>
            </a:r>
            <a:r>
              <a:rPr lang="ko-KR" altLang="en-US" sz="1400" dirty="0">
                <a:solidFill>
                  <a:srgbClr val="576176"/>
                </a:solidFill>
                <a:latin typeface="Pretendard"/>
              </a:rPr>
              <a:t> 이득 동사로</a:t>
            </a:r>
            <a:r>
              <a:rPr lang="en-US" altLang="ko-KR" sz="1400" dirty="0">
                <a:solidFill>
                  <a:srgbClr val="576176"/>
                </a:solidFill>
                <a:latin typeface="Pretendard"/>
              </a:rPr>
              <a:t>. </a:t>
            </a:r>
          </a:p>
          <a:p>
            <a:pPr algn="l">
              <a:lnSpc>
                <a:spcPct val="150000"/>
              </a:lnSpc>
            </a:pPr>
            <a:endParaRPr lang="en-US" altLang="ko-KR" sz="1400" dirty="0">
              <a:solidFill>
                <a:srgbClr val="576176"/>
              </a:solidFill>
              <a:latin typeface="Pretendard"/>
            </a:endParaRPr>
          </a:p>
          <a:p>
            <a:pPr algn="l">
              <a:lnSpc>
                <a:spcPct val="150000"/>
              </a:lnSpc>
            </a:pPr>
            <a:r>
              <a:rPr lang="ko-KR" altLang="en-US" sz="1400" dirty="0">
                <a:solidFill>
                  <a:srgbClr val="576176"/>
                </a:solidFill>
                <a:latin typeface="Pretendard"/>
              </a:rPr>
              <a:t>버튼은 </a:t>
            </a:r>
            <a:r>
              <a:rPr lang="en-US" altLang="ko-KR" sz="1400" dirty="0">
                <a:solidFill>
                  <a:srgbClr val="576176"/>
                </a:solidFill>
                <a:latin typeface="Pretendard"/>
              </a:rPr>
              <a:t>1</a:t>
            </a:r>
            <a:r>
              <a:rPr lang="ko-KR" altLang="en-US" sz="1400" dirty="0">
                <a:solidFill>
                  <a:srgbClr val="576176"/>
                </a:solidFill>
                <a:latin typeface="Pretendard"/>
              </a:rPr>
              <a:t>차 행동 </a:t>
            </a:r>
            <a:r>
              <a:rPr lang="en-US" altLang="ko-KR" sz="1400" dirty="0">
                <a:solidFill>
                  <a:srgbClr val="576176"/>
                </a:solidFill>
                <a:latin typeface="Pretendard"/>
              </a:rPr>
              <a:t>1</a:t>
            </a:r>
            <a:r>
              <a:rPr lang="ko-KR" altLang="en-US" sz="1400" dirty="0">
                <a:solidFill>
                  <a:srgbClr val="576176"/>
                </a:solidFill>
                <a:latin typeface="Pretendard"/>
              </a:rPr>
              <a:t>개에 집중</a:t>
            </a:r>
            <a:r>
              <a:rPr lang="en-US" altLang="ko-KR" sz="1400" dirty="0">
                <a:solidFill>
                  <a:srgbClr val="576176"/>
                </a:solidFill>
                <a:latin typeface="Pretendard"/>
              </a:rPr>
              <a:t>.</a:t>
            </a:r>
            <a:endParaRPr lang="ko-KR" altLang="en-US" sz="1400" dirty="0">
              <a:solidFill>
                <a:srgbClr val="576176"/>
              </a:solidFill>
              <a:latin typeface="Pretendard"/>
            </a:endParaRP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E2618AA2-7AEF-9B41-AFD1-277F7782DB8B}"/>
              </a:ext>
            </a:extLst>
          </p:cNvPr>
          <p:cNvSpPr/>
          <p:nvPr/>
        </p:nvSpPr>
        <p:spPr>
          <a:xfrm>
            <a:off x="4724400" y="5562600"/>
            <a:ext cx="2730500" cy="457200"/>
          </a:xfrm>
          <a:prstGeom prst="roundRect">
            <a:avLst>
              <a:gd name="adj" fmla="val 5556"/>
            </a:avLst>
          </a:prstGeom>
          <a:solidFill>
            <a:srgbClr val="E4ECF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B774944-FB75-E14B-96BA-A8BD64AAE2CB}"/>
              </a:ext>
            </a:extLst>
          </p:cNvPr>
          <p:cNvSpPr txBox="1"/>
          <p:nvPr/>
        </p:nvSpPr>
        <p:spPr>
          <a:xfrm>
            <a:off x="4724400" y="5562600"/>
            <a:ext cx="2730500" cy="457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ctr"/>
            <a:r>
              <a:rPr lang="ko-KR" altLang="en-US" sz="1400" b="1">
                <a:solidFill>
                  <a:srgbClr val="1D4E89"/>
                </a:solidFill>
                <a:latin typeface="Pretendard"/>
              </a:rPr>
              <a:t>이득 동사 </a:t>
            </a:r>
            <a:r>
              <a:rPr lang="en-US" altLang="ko-KR" sz="1400" b="1">
                <a:solidFill>
                  <a:srgbClr val="1D4E89"/>
                </a:solidFill>
                <a:latin typeface="Pretendard"/>
              </a:rPr>
              <a:t>1</a:t>
            </a:r>
            <a:r>
              <a:rPr lang="ko-KR" altLang="en-US" sz="1400" b="1">
                <a:solidFill>
                  <a:srgbClr val="1D4E89"/>
                </a:solidFill>
                <a:latin typeface="Pretendard"/>
              </a:rPr>
              <a:t>개</a:t>
            </a:r>
          </a:p>
        </p:txBody>
      </p:sp>
      <p:sp>
        <p:nvSpPr>
          <p:cNvPr id="21" name="모서리가 둥근 직사각형 20">
            <a:extLst>
              <a:ext uri="{FF2B5EF4-FFF2-40B4-BE49-F238E27FC236}">
                <a16:creationId xmlns:a16="http://schemas.microsoft.com/office/drawing/2014/main" id="{8F670049-9E56-BD42-BF5E-297BC8983125}"/>
              </a:ext>
            </a:extLst>
          </p:cNvPr>
          <p:cNvSpPr/>
          <p:nvPr/>
        </p:nvSpPr>
        <p:spPr>
          <a:xfrm>
            <a:off x="8013700" y="1905000"/>
            <a:ext cx="3340100" cy="4381500"/>
          </a:xfrm>
          <a:prstGeom prst="roundRect">
            <a:avLst>
              <a:gd name="adj" fmla="val 760"/>
            </a:avLst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BEE12C08-0A25-2B46-901E-8C92C6BB803F}"/>
              </a:ext>
            </a:extLst>
          </p:cNvPr>
          <p:cNvSpPr/>
          <p:nvPr/>
        </p:nvSpPr>
        <p:spPr>
          <a:xfrm>
            <a:off x="8013700" y="1905000"/>
            <a:ext cx="3340100" cy="88900"/>
          </a:xfrm>
          <a:prstGeom prst="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3DA0FF71-91BE-DB42-8AB3-EE5B783E22E3}"/>
              </a:ext>
            </a:extLst>
          </p:cNvPr>
          <p:cNvSpPr/>
          <p:nvPr/>
        </p:nvSpPr>
        <p:spPr>
          <a:xfrm>
            <a:off x="8318500" y="2286000"/>
            <a:ext cx="508000" cy="508000"/>
          </a:xfrm>
          <a:prstGeom prst="ellipse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  <a:latin typeface="JetBrains Mono"/>
              </a:rPr>
              <a:t>3</a:t>
            </a:r>
            <a:endParaRPr lang="ko-KR" altLang="en-US" sz="16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23E1168-C7FD-664B-8753-913B468BB63F}"/>
              </a:ext>
            </a:extLst>
          </p:cNvPr>
          <p:cNvSpPr txBox="1"/>
          <p:nvPr/>
        </p:nvSpPr>
        <p:spPr>
          <a:xfrm>
            <a:off x="8318500" y="2946400"/>
            <a:ext cx="2730500" cy="584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650" b="1">
                <a:solidFill>
                  <a:srgbClr val="14213D"/>
                </a:solidFill>
                <a:latin typeface="Pretendard"/>
              </a:rPr>
              <a:t>사회적 증거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70DB4D23-6798-C849-8AC0-31E31A3C45D6}"/>
              </a:ext>
            </a:extLst>
          </p:cNvPr>
          <p:cNvSpPr/>
          <p:nvPr/>
        </p:nvSpPr>
        <p:spPr>
          <a:xfrm>
            <a:off x="8318500" y="3632200"/>
            <a:ext cx="2730500" cy="12700"/>
          </a:xfrm>
          <a:prstGeom prst="rect">
            <a:avLst/>
          </a:prstGeom>
          <a:solidFill>
            <a:srgbClr val="D9E2E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1B3E564-4EC4-B146-BA4D-C8F3032FA46D}"/>
              </a:ext>
            </a:extLst>
          </p:cNvPr>
          <p:cNvSpPr txBox="1"/>
          <p:nvPr/>
        </p:nvSpPr>
        <p:spPr>
          <a:xfrm>
            <a:off x="8318500" y="3784600"/>
            <a:ext cx="2730500" cy="1625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400" dirty="0">
                <a:solidFill>
                  <a:srgbClr val="576176"/>
                </a:solidFill>
                <a:latin typeface="Pretendard"/>
              </a:rPr>
              <a:t>후기</a:t>
            </a:r>
            <a:r>
              <a:rPr lang="en-US" altLang="ko-KR" sz="1400" dirty="0">
                <a:solidFill>
                  <a:srgbClr val="576176"/>
                </a:solidFill>
                <a:latin typeface="Pretendard"/>
              </a:rPr>
              <a:t>·</a:t>
            </a:r>
            <a:r>
              <a:rPr lang="ko-KR" altLang="en-US" sz="1400" dirty="0">
                <a:solidFill>
                  <a:srgbClr val="576176"/>
                </a:solidFill>
                <a:latin typeface="Pretendard"/>
              </a:rPr>
              <a:t>사용 수</a:t>
            </a:r>
            <a:r>
              <a:rPr lang="en-US" altLang="ko-KR" sz="1400" dirty="0">
                <a:solidFill>
                  <a:srgbClr val="576176"/>
                </a:solidFill>
                <a:latin typeface="Pretendard"/>
              </a:rPr>
              <a:t>·</a:t>
            </a:r>
            <a:r>
              <a:rPr lang="ko-KR" altLang="en-US" sz="1400" dirty="0">
                <a:solidFill>
                  <a:srgbClr val="576176"/>
                </a:solidFill>
                <a:latin typeface="Pretendard"/>
              </a:rPr>
              <a:t>로고로 </a:t>
            </a:r>
            <a:endParaRPr lang="en-US" altLang="ko-KR" sz="1400" dirty="0">
              <a:solidFill>
                <a:srgbClr val="576176"/>
              </a:solidFill>
              <a:latin typeface="Pretendard"/>
            </a:endParaRPr>
          </a:p>
          <a:p>
            <a:pPr algn="l">
              <a:lnSpc>
                <a:spcPct val="150000"/>
              </a:lnSpc>
            </a:pPr>
            <a:r>
              <a:rPr lang="ko-KR" altLang="en-US" sz="1400" dirty="0">
                <a:solidFill>
                  <a:srgbClr val="576176"/>
                </a:solidFill>
                <a:latin typeface="Pretendard"/>
              </a:rPr>
              <a:t>신뢰를 보강한다</a:t>
            </a:r>
            <a:r>
              <a:rPr lang="en-US" altLang="ko-KR" sz="1400" dirty="0">
                <a:solidFill>
                  <a:srgbClr val="576176"/>
                </a:solidFill>
                <a:latin typeface="Pretendard"/>
              </a:rPr>
              <a:t>. </a:t>
            </a:r>
          </a:p>
          <a:p>
            <a:pPr algn="l">
              <a:lnSpc>
                <a:spcPct val="150000"/>
              </a:lnSpc>
            </a:pPr>
            <a:endParaRPr lang="en-US" altLang="ko-KR" sz="1400" dirty="0">
              <a:solidFill>
                <a:srgbClr val="576176"/>
              </a:solidFill>
              <a:latin typeface="Pretendard"/>
            </a:endParaRPr>
          </a:p>
          <a:p>
            <a:pPr algn="l">
              <a:lnSpc>
                <a:spcPct val="150000"/>
              </a:lnSpc>
            </a:pPr>
            <a:r>
              <a:rPr lang="ko-KR" altLang="en-US" sz="1400" dirty="0">
                <a:solidFill>
                  <a:srgbClr val="576176"/>
                </a:solidFill>
                <a:latin typeface="Pretendard"/>
              </a:rPr>
              <a:t>숫자가 있으면 더 강력하다</a:t>
            </a:r>
            <a:r>
              <a:rPr lang="en-US" altLang="ko-KR" sz="1400" dirty="0">
                <a:solidFill>
                  <a:srgbClr val="576176"/>
                </a:solidFill>
                <a:latin typeface="Pretendard"/>
              </a:rPr>
              <a:t>.</a:t>
            </a:r>
            <a:endParaRPr lang="ko-KR" altLang="en-US" sz="1400" dirty="0">
              <a:solidFill>
                <a:srgbClr val="576176"/>
              </a:solidFill>
              <a:latin typeface="Pretendard"/>
            </a:endParaRPr>
          </a:p>
        </p:txBody>
      </p:sp>
      <p:sp>
        <p:nvSpPr>
          <p:cNvPr id="27" name="모서리가 둥근 직사각형 26">
            <a:extLst>
              <a:ext uri="{FF2B5EF4-FFF2-40B4-BE49-F238E27FC236}">
                <a16:creationId xmlns:a16="http://schemas.microsoft.com/office/drawing/2014/main" id="{50B89452-AFB7-684A-AECA-753D659693A6}"/>
              </a:ext>
            </a:extLst>
          </p:cNvPr>
          <p:cNvSpPr/>
          <p:nvPr/>
        </p:nvSpPr>
        <p:spPr>
          <a:xfrm>
            <a:off x="8318500" y="5562600"/>
            <a:ext cx="2730500" cy="457200"/>
          </a:xfrm>
          <a:prstGeom prst="roundRect">
            <a:avLst>
              <a:gd name="adj" fmla="val 5556"/>
            </a:avLst>
          </a:prstGeom>
          <a:solidFill>
            <a:srgbClr val="FBEF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FEEB679-2C22-1044-BD60-F76DC64CD837}"/>
              </a:ext>
            </a:extLst>
          </p:cNvPr>
          <p:cNvSpPr txBox="1"/>
          <p:nvPr/>
        </p:nvSpPr>
        <p:spPr>
          <a:xfrm>
            <a:off x="8318500" y="5562600"/>
            <a:ext cx="2730500" cy="457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ctr"/>
            <a:r>
              <a:rPr lang="ko-KR" altLang="en-US" sz="1400" b="1">
                <a:solidFill>
                  <a:srgbClr val="9A6B12"/>
                </a:solidFill>
                <a:latin typeface="Pretendard"/>
              </a:rPr>
              <a:t>숫자로 신뢰</a:t>
            </a:r>
          </a:p>
        </p:txBody>
      </p:sp>
      <p:sp>
        <p:nvSpPr>
          <p:cNvPr id="4" name="PageNumber">
            <a:extLst>
              <a:ext uri="{FF2B5EF4-FFF2-40B4-BE49-F238E27FC236}">
                <a16:creationId xmlns:a16="http://schemas.microsoft.com/office/drawing/2014/main" id="{8530DC41-19C3-624E-A02D-A72C03709E05}"/>
              </a:ext>
            </a:extLst>
          </p:cNvPr>
          <p:cNvSpPr txBox="1"/>
          <p:nvPr/>
        </p:nvSpPr>
        <p:spPr>
          <a:xfrm>
            <a:off x="9499600" y="6489700"/>
            <a:ext cx="23368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r"/>
            <a:r>
              <a:rPr lang="en-US" altLang="ko-KR" sz="1200">
                <a:solidFill>
                  <a:srgbClr val="576176"/>
                </a:solidFill>
                <a:latin typeface="Pretendard"/>
              </a:rPr>
              <a:t>- 109/144 -</a:t>
            </a:r>
            <a:endParaRPr lang="ko-KR" altLang="en-US" sz="1200">
              <a:solidFill>
                <a:srgbClr val="576176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3829861583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개념 깊이 보기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개념을 예시로 — 우리 케이스에 적용하면</a:t>
            </a: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3AE1C1CB-18AC-D54E-B35F-AB270208D786}"/>
              </a:ext>
            </a:extLst>
          </p:cNvPr>
          <p:cNvSpPr/>
          <p:nvPr/>
        </p:nvSpPr>
        <p:spPr>
          <a:xfrm>
            <a:off x="825500" y="1905000"/>
            <a:ext cx="5461000" cy="4381500"/>
          </a:xfrm>
          <a:prstGeom prst="roundRect">
            <a:avLst>
              <a:gd name="adj" fmla="val 580"/>
            </a:avLst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0A0D0B-508A-C544-A500-ED5E4F7C2857}"/>
              </a:ext>
            </a:extLst>
          </p:cNvPr>
          <p:cNvSpPr txBox="1"/>
          <p:nvPr/>
        </p:nvSpPr>
        <p:spPr>
          <a:xfrm>
            <a:off x="1181100" y="2159000"/>
            <a:ext cx="4749800" cy="355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b="1">
                <a:solidFill>
                  <a:srgbClr val="14213D"/>
                </a:solidFill>
                <a:latin typeface="Pretendard"/>
              </a:rPr>
              <a:t>히어로 섹션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9C7F22-6F32-CA46-8372-A32298D4696A}"/>
              </a:ext>
            </a:extLst>
          </p:cNvPr>
          <p:cNvSpPr txBox="1"/>
          <p:nvPr/>
        </p:nvSpPr>
        <p:spPr>
          <a:xfrm>
            <a:off x="1181100" y="2540000"/>
            <a:ext cx="47498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400">
                <a:solidFill>
                  <a:srgbClr val="576176"/>
                </a:solidFill>
                <a:latin typeface="Pretendard"/>
              </a:rPr>
              <a:t>3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초 안에 무엇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·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왜를 전달</a:t>
            </a: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915311FC-3A91-EE4F-9950-08F8AC51ADD7}"/>
              </a:ext>
            </a:extLst>
          </p:cNvPr>
          <p:cNvSpPr/>
          <p:nvPr/>
        </p:nvSpPr>
        <p:spPr>
          <a:xfrm>
            <a:off x="1130300" y="2946400"/>
            <a:ext cx="4851400" cy="2692400"/>
          </a:xfrm>
          <a:prstGeom prst="roundRect">
            <a:avLst>
              <a:gd name="adj" fmla="val 943"/>
            </a:avLst>
          </a:prstGeom>
          <a:solidFill>
            <a:srgbClr val="FFFFFF"/>
          </a:solidFill>
          <a:ln w="12700" cap="flat" cmpd="sng" algn="ctr">
            <a:solidFill>
              <a:srgbClr val="CBD6E6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AAABD9-3BF8-614F-8508-BB34ADA27F07}"/>
              </a:ext>
            </a:extLst>
          </p:cNvPr>
          <p:cNvSpPr txBox="1"/>
          <p:nvPr/>
        </p:nvSpPr>
        <p:spPr>
          <a:xfrm>
            <a:off x="1333500" y="3124200"/>
            <a:ext cx="2540000" cy="203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400" b="1">
                <a:solidFill>
                  <a:srgbClr val="576176"/>
                </a:solidFill>
                <a:latin typeface="JetBrains Mono"/>
              </a:rPr>
              <a:t>HERO</a:t>
            </a:r>
            <a:endParaRPr lang="ko-KR" altLang="en-US" sz="1400" b="1">
              <a:solidFill>
                <a:srgbClr val="576176"/>
              </a:solidFill>
              <a:latin typeface="JetBrains Mono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B55537-51BA-DD4D-8A9B-CE41C50D41C4}"/>
              </a:ext>
            </a:extLst>
          </p:cNvPr>
          <p:cNvSpPr txBox="1"/>
          <p:nvPr/>
        </p:nvSpPr>
        <p:spPr>
          <a:xfrm>
            <a:off x="1333500" y="3454400"/>
            <a:ext cx="4445000" cy="812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2400" b="1">
                <a:solidFill>
                  <a:srgbClr val="14213D"/>
                </a:solidFill>
                <a:latin typeface="Noto Serif KR"/>
              </a:rPr>
              <a:t>내일을 망치지 않는 한 잔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0755E4C-8D8F-B94A-A469-6AF8F0FA2785}"/>
              </a:ext>
            </a:extLst>
          </p:cNvPr>
          <p:cNvSpPr txBox="1"/>
          <p:nvPr/>
        </p:nvSpPr>
        <p:spPr>
          <a:xfrm>
            <a:off x="1333500" y="4368800"/>
            <a:ext cx="4445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400">
                <a:solidFill>
                  <a:srgbClr val="576176"/>
                </a:solidFill>
                <a:latin typeface="Pretendard"/>
              </a:rPr>
              <a:t>0.0% 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알코올 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· 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진짜 발효 맥주맛</a:t>
            </a:r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1AB0976D-74A8-8C4E-892E-B4285F0ACA3B}"/>
              </a:ext>
            </a:extLst>
          </p:cNvPr>
          <p:cNvSpPr/>
          <p:nvPr/>
        </p:nvSpPr>
        <p:spPr>
          <a:xfrm>
            <a:off x="1333500" y="4775200"/>
            <a:ext cx="2286000" cy="533400"/>
          </a:xfrm>
          <a:prstGeom prst="roundRect">
            <a:avLst>
              <a:gd name="adj" fmla="val 4762"/>
            </a:avLst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400" b="1">
                <a:solidFill>
                  <a:srgbClr val="14213D"/>
                </a:solidFill>
                <a:latin typeface="Pretendard"/>
              </a:rPr>
              <a:t>사전예약  →</a:t>
            </a: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8B5C7857-D575-1043-B70F-602BFFA4F296}"/>
              </a:ext>
            </a:extLst>
          </p:cNvPr>
          <p:cNvSpPr/>
          <p:nvPr/>
        </p:nvSpPr>
        <p:spPr>
          <a:xfrm>
            <a:off x="6540500" y="1905000"/>
            <a:ext cx="4826000" cy="4381500"/>
          </a:xfrm>
          <a:prstGeom prst="roundRect">
            <a:avLst>
              <a:gd name="adj" fmla="val 580"/>
            </a:avLst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29F9132-DB1A-A34B-9E54-F8AFE775F935}"/>
              </a:ext>
            </a:extLst>
          </p:cNvPr>
          <p:cNvSpPr txBox="1"/>
          <p:nvPr/>
        </p:nvSpPr>
        <p:spPr>
          <a:xfrm>
            <a:off x="6845300" y="2159000"/>
            <a:ext cx="4216400" cy="355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b="1">
                <a:solidFill>
                  <a:srgbClr val="FFFFFF"/>
                </a:solidFill>
                <a:latin typeface="Pretendard"/>
              </a:rPr>
              <a:t>CTA </a:t>
            </a:r>
            <a:r>
              <a:rPr lang="ko-KR" altLang="en-US" b="1">
                <a:solidFill>
                  <a:srgbClr val="FFFFFF"/>
                </a:solidFill>
                <a:latin typeface="Pretendard"/>
              </a:rPr>
              <a:t>카피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436C302-DAC6-AE43-AAF1-2E1BDCBFCD10}"/>
              </a:ext>
            </a:extLst>
          </p:cNvPr>
          <p:cNvSpPr txBox="1"/>
          <p:nvPr/>
        </p:nvSpPr>
        <p:spPr>
          <a:xfrm>
            <a:off x="6845300" y="2540000"/>
            <a:ext cx="42164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400">
                <a:solidFill>
                  <a:srgbClr val="E8A33D"/>
                </a:solidFill>
                <a:latin typeface="Pretendard"/>
              </a:rPr>
              <a:t>이득 동사로 바꾼다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156E620-F7ED-C746-A678-0FC2E1CC935C}"/>
              </a:ext>
            </a:extLst>
          </p:cNvPr>
          <p:cNvSpPr txBox="1"/>
          <p:nvPr/>
        </p:nvSpPr>
        <p:spPr>
          <a:xfrm>
            <a:off x="6845300" y="3022600"/>
            <a:ext cx="4216400" cy="203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400" b="1">
                <a:solidFill>
                  <a:srgbClr val="9FB3CE"/>
                </a:solidFill>
                <a:latin typeface="JetBrains Mono"/>
              </a:rPr>
              <a:t>BEFORE  ✕</a:t>
            </a:r>
            <a:endParaRPr lang="ko-KR" altLang="en-US" sz="1400" b="1">
              <a:solidFill>
                <a:srgbClr val="9FB3CE"/>
              </a:solidFill>
              <a:latin typeface="JetBrains Mono"/>
            </a:endParaRPr>
          </a:p>
        </p:txBody>
      </p:sp>
      <p:sp>
        <p:nvSpPr>
          <p:cNvPr id="17" name="모서리가 둥근 직사각형 16">
            <a:extLst>
              <a:ext uri="{FF2B5EF4-FFF2-40B4-BE49-F238E27FC236}">
                <a16:creationId xmlns:a16="http://schemas.microsoft.com/office/drawing/2014/main" id="{244F2F40-6D6A-8F42-AC94-9C1248ED4B55}"/>
              </a:ext>
            </a:extLst>
          </p:cNvPr>
          <p:cNvSpPr/>
          <p:nvPr/>
        </p:nvSpPr>
        <p:spPr>
          <a:xfrm>
            <a:off x="6845300" y="3329765"/>
            <a:ext cx="4216400" cy="609600"/>
          </a:xfrm>
          <a:prstGeom prst="roundRect">
            <a:avLst>
              <a:gd name="adj" fmla="val 4167"/>
            </a:avLst>
          </a:prstGeom>
          <a:solidFill>
            <a:srgbClr val="20314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44CBB9D-8480-AB4A-96B9-E4FEE888D069}"/>
              </a:ext>
            </a:extLst>
          </p:cNvPr>
          <p:cNvSpPr txBox="1"/>
          <p:nvPr/>
        </p:nvSpPr>
        <p:spPr>
          <a:xfrm>
            <a:off x="6845300" y="3329765"/>
            <a:ext cx="4216400" cy="609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600" b="1">
                <a:solidFill>
                  <a:srgbClr val="9FB3CE"/>
                </a:solidFill>
                <a:latin typeface="Pretendard"/>
              </a:rPr>
              <a:t>“제출”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C4B2334-F5EB-1A41-B1A0-FB495D27315B}"/>
              </a:ext>
            </a:extLst>
          </p:cNvPr>
          <p:cNvSpPr txBox="1"/>
          <p:nvPr/>
        </p:nvSpPr>
        <p:spPr>
          <a:xfrm>
            <a:off x="6845300" y="3962400"/>
            <a:ext cx="4216400" cy="330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2000" b="1">
                <a:solidFill>
                  <a:srgbClr val="E8A33D"/>
                </a:solidFill>
                <a:latin typeface="Pretendard"/>
              </a:rPr>
              <a:t>↓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370B571-F957-A44F-8332-EFB681FD4BED}"/>
              </a:ext>
            </a:extLst>
          </p:cNvPr>
          <p:cNvSpPr txBox="1"/>
          <p:nvPr/>
        </p:nvSpPr>
        <p:spPr>
          <a:xfrm>
            <a:off x="6845300" y="4394200"/>
            <a:ext cx="4216400" cy="203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400" b="1">
                <a:solidFill>
                  <a:srgbClr val="E8A33D"/>
                </a:solidFill>
                <a:latin typeface="JetBrains Mono"/>
              </a:rPr>
              <a:t>AFTER  ✓</a:t>
            </a:r>
            <a:endParaRPr lang="ko-KR" altLang="en-US" sz="1400" b="1">
              <a:solidFill>
                <a:srgbClr val="E8A33D"/>
              </a:solidFill>
              <a:latin typeface="JetBrains Mono"/>
            </a:endParaRPr>
          </a:p>
        </p:txBody>
      </p:sp>
      <p:sp>
        <p:nvSpPr>
          <p:cNvPr id="21" name="모서리가 둥근 직사각형 20">
            <a:extLst>
              <a:ext uri="{FF2B5EF4-FFF2-40B4-BE49-F238E27FC236}">
                <a16:creationId xmlns:a16="http://schemas.microsoft.com/office/drawing/2014/main" id="{E7F01F87-B1B7-6A4B-939B-E0FCCE08D00C}"/>
              </a:ext>
            </a:extLst>
          </p:cNvPr>
          <p:cNvSpPr/>
          <p:nvPr/>
        </p:nvSpPr>
        <p:spPr>
          <a:xfrm>
            <a:off x="6845300" y="4765160"/>
            <a:ext cx="4216400" cy="736600"/>
          </a:xfrm>
          <a:prstGeom prst="roundRect">
            <a:avLst>
              <a:gd name="adj" fmla="val 3448"/>
            </a:avLst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312984D-3BB8-654C-9C06-5918B15CD9C8}"/>
              </a:ext>
            </a:extLst>
          </p:cNvPr>
          <p:cNvSpPr txBox="1"/>
          <p:nvPr/>
        </p:nvSpPr>
        <p:spPr>
          <a:xfrm>
            <a:off x="6845300" y="4765160"/>
            <a:ext cx="4216400" cy="736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500" b="1">
                <a:solidFill>
                  <a:srgbClr val="14213D"/>
                </a:solidFill>
                <a:latin typeface="Pretendard"/>
              </a:rPr>
              <a:t>“지금 사전예약하고 </a:t>
            </a:r>
            <a:r>
              <a:rPr lang="en-US" altLang="ko-KR" sz="1500" b="1">
                <a:solidFill>
                  <a:srgbClr val="14213D"/>
                </a:solidFill>
                <a:latin typeface="Pretendard"/>
              </a:rPr>
              <a:t>20% </a:t>
            </a:r>
            <a:r>
              <a:rPr lang="ko-KR" altLang="en-US" sz="1500" b="1">
                <a:solidFill>
                  <a:srgbClr val="14213D"/>
                </a:solidFill>
                <a:latin typeface="Pretendard"/>
              </a:rPr>
              <a:t>받기”</a:t>
            </a:r>
          </a:p>
        </p:txBody>
      </p:sp>
      <p:sp>
        <p:nvSpPr>
          <p:cNvPr id="4" name="PageNumber">
            <a:extLst>
              <a:ext uri="{FF2B5EF4-FFF2-40B4-BE49-F238E27FC236}">
                <a16:creationId xmlns:a16="http://schemas.microsoft.com/office/drawing/2014/main" id="{A0B77649-7064-4C42-A051-F2D811B5B920}"/>
              </a:ext>
            </a:extLst>
          </p:cNvPr>
          <p:cNvSpPr txBox="1"/>
          <p:nvPr/>
        </p:nvSpPr>
        <p:spPr>
          <a:xfrm>
            <a:off x="9499600" y="6489700"/>
            <a:ext cx="23368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r"/>
            <a:r>
              <a:rPr lang="en-US" altLang="ko-KR" sz="1200">
                <a:solidFill>
                  <a:srgbClr val="576176"/>
                </a:solidFill>
                <a:latin typeface="Pretendard"/>
              </a:rPr>
              <a:t>- 110/144 -</a:t>
            </a:r>
            <a:endParaRPr lang="ko-KR" altLang="en-US" sz="1200">
              <a:solidFill>
                <a:srgbClr val="576176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2234909820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실습 절차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실습 절차 — 직접 해봅니다</a:t>
            </a: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8EF2D945-0CA5-FC41-9224-34467C5D8EA6}"/>
              </a:ext>
            </a:extLst>
          </p:cNvPr>
          <p:cNvSpPr/>
          <p:nvPr/>
        </p:nvSpPr>
        <p:spPr>
          <a:xfrm>
            <a:off x="825500" y="1930400"/>
            <a:ext cx="10541000" cy="939800"/>
          </a:xfrm>
          <a:prstGeom prst="roundRect">
            <a:avLst>
              <a:gd name="adj" fmla="val 2703"/>
            </a:avLst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87786A3-DFFB-2A45-B09B-5CC61EE9D9F2}"/>
              </a:ext>
            </a:extLst>
          </p:cNvPr>
          <p:cNvSpPr/>
          <p:nvPr/>
        </p:nvSpPr>
        <p:spPr>
          <a:xfrm>
            <a:off x="825500" y="1930400"/>
            <a:ext cx="76200" cy="939800"/>
          </a:xfrm>
          <a:prstGeom prst="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F15A74A1-4AA8-E244-B97C-0E63ABA77612}"/>
              </a:ext>
            </a:extLst>
          </p:cNvPr>
          <p:cNvSpPr/>
          <p:nvPr/>
        </p:nvSpPr>
        <p:spPr>
          <a:xfrm>
            <a:off x="1143000" y="2159000"/>
            <a:ext cx="482600" cy="482600"/>
          </a:xfrm>
          <a:prstGeom prst="ellipse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  <a:latin typeface="JetBrains Mono"/>
              </a:rPr>
              <a:t>1</a:t>
            </a:r>
            <a:endParaRPr lang="ko-KR" altLang="en-US" sz="16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A9F705-9C44-A747-9A92-23BE7F3F488F}"/>
              </a:ext>
            </a:extLst>
          </p:cNvPr>
          <p:cNvSpPr txBox="1"/>
          <p:nvPr/>
        </p:nvSpPr>
        <p:spPr>
          <a:xfrm>
            <a:off x="1905000" y="2223094"/>
            <a:ext cx="2540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600" b="1">
                <a:solidFill>
                  <a:srgbClr val="14213D"/>
                </a:solidFill>
                <a:latin typeface="Pretendard"/>
              </a:rPr>
              <a:t>섹션 역할 매핑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B8C010-3890-9344-9E24-C2AE9D9597D1}"/>
              </a:ext>
            </a:extLst>
          </p:cNvPr>
          <p:cNvSpPr txBox="1"/>
          <p:nvPr/>
        </p:nvSpPr>
        <p:spPr>
          <a:xfrm>
            <a:off x="4546600" y="2057400"/>
            <a:ext cx="6629400" cy="685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400">
                <a:solidFill>
                  <a:srgbClr val="576176"/>
                </a:solidFill>
                <a:latin typeface="Pretendard"/>
              </a:rPr>
              <a:t>히어로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·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특징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·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후기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·CTA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에 각각의 역할을 배정한다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.</a:t>
            </a:r>
            <a:endParaRPr lang="ko-KR" altLang="en-US" sz="1400">
              <a:solidFill>
                <a:srgbClr val="576176"/>
              </a:solidFill>
              <a:latin typeface="Pretendard"/>
            </a:endParaRP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D0417C19-BBE2-8647-81C9-8F7016645418}"/>
              </a:ext>
            </a:extLst>
          </p:cNvPr>
          <p:cNvSpPr/>
          <p:nvPr/>
        </p:nvSpPr>
        <p:spPr>
          <a:xfrm>
            <a:off x="825500" y="2971800"/>
            <a:ext cx="10541000" cy="939800"/>
          </a:xfrm>
          <a:prstGeom prst="roundRect">
            <a:avLst>
              <a:gd name="adj" fmla="val 2703"/>
            </a:avLst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AAF773A-1897-834B-BCAB-672E7B67D852}"/>
              </a:ext>
            </a:extLst>
          </p:cNvPr>
          <p:cNvSpPr/>
          <p:nvPr/>
        </p:nvSpPr>
        <p:spPr>
          <a:xfrm>
            <a:off x="825500" y="2971800"/>
            <a:ext cx="76200" cy="939800"/>
          </a:xfrm>
          <a:prstGeom prst="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062AC089-6F79-114F-A87B-BB6EEBD167E9}"/>
              </a:ext>
            </a:extLst>
          </p:cNvPr>
          <p:cNvSpPr/>
          <p:nvPr/>
        </p:nvSpPr>
        <p:spPr>
          <a:xfrm>
            <a:off x="1143000" y="3200400"/>
            <a:ext cx="482600" cy="482600"/>
          </a:xfrm>
          <a:prstGeom prst="ellipse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  <a:latin typeface="JetBrains Mono"/>
              </a:rPr>
              <a:t>2</a:t>
            </a:r>
            <a:endParaRPr lang="ko-KR" altLang="en-US" sz="16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9BBAB5D-56DA-4540-B7C5-AF25DCB0835B}"/>
              </a:ext>
            </a:extLst>
          </p:cNvPr>
          <p:cNvSpPr txBox="1"/>
          <p:nvPr/>
        </p:nvSpPr>
        <p:spPr>
          <a:xfrm>
            <a:off x="1905000" y="3264494"/>
            <a:ext cx="2540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600" b="1">
                <a:solidFill>
                  <a:srgbClr val="14213D"/>
                </a:solidFill>
                <a:latin typeface="Pretendard"/>
              </a:rPr>
              <a:t>히어로 헤드라인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C9FA473-1405-9248-9A5E-FD6548A20713}"/>
              </a:ext>
            </a:extLst>
          </p:cNvPr>
          <p:cNvSpPr txBox="1"/>
          <p:nvPr/>
        </p:nvSpPr>
        <p:spPr>
          <a:xfrm>
            <a:off x="4546600" y="3098800"/>
            <a:ext cx="6629400" cy="685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400">
                <a:solidFill>
                  <a:srgbClr val="576176"/>
                </a:solidFill>
                <a:latin typeface="Pretendard"/>
              </a:rPr>
              <a:t>메시지 하우스의 핵심 메시지를 헤드라인으로 옮긴다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.</a:t>
            </a:r>
            <a:endParaRPr lang="ko-KR" altLang="en-US" sz="1400">
              <a:solidFill>
                <a:srgbClr val="576176"/>
              </a:solidFill>
              <a:latin typeface="Pretendard"/>
            </a:endParaRPr>
          </a:p>
        </p:txBody>
      </p:sp>
      <p:sp>
        <p:nvSpPr>
          <p:cNvPr id="15" name="모서리가 둥근 직사각형 14">
            <a:extLst>
              <a:ext uri="{FF2B5EF4-FFF2-40B4-BE49-F238E27FC236}">
                <a16:creationId xmlns:a16="http://schemas.microsoft.com/office/drawing/2014/main" id="{08C01F4C-0D5E-6440-B9D4-D6ED4CBD2EFF}"/>
              </a:ext>
            </a:extLst>
          </p:cNvPr>
          <p:cNvSpPr/>
          <p:nvPr/>
        </p:nvSpPr>
        <p:spPr>
          <a:xfrm>
            <a:off x="825500" y="4013200"/>
            <a:ext cx="10541000" cy="939800"/>
          </a:xfrm>
          <a:prstGeom prst="roundRect">
            <a:avLst>
              <a:gd name="adj" fmla="val 2703"/>
            </a:avLst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07D6A42-9AB7-7048-B053-E18D4389F4EB}"/>
              </a:ext>
            </a:extLst>
          </p:cNvPr>
          <p:cNvSpPr/>
          <p:nvPr/>
        </p:nvSpPr>
        <p:spPr>
          <a:xfrm>
            <a:off x="825500" y="4013200"/>
            <a:ext cx="76200" cy="939800"/>
          </a:xfrm>
          <a:prstGeom prst="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EF18BF57-F31C-0547-BE39-7785C022C8E7}"/>
              </a:ext>
            </a:extLst>
          </p:cNvPr>
          <p:cNvSpPr/>
          <p:nvPr/>
        </p:nvSpPr>
        <p:spPr>
          <a:xfrm>
            <a:off x="1143000" y="4241800"/>
            <a:ext cx="482600" cy="482600"/>
          </a:xfrm>
          <a:prstGeom prst="ellipse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  <a:latin typeface="JetBrains Mono"/>
              </a:rPr>
              <a:t>3</a:t>
            </a:r>
            <a:endParaRPr lang="ko-KR" altLang="en-US" sz="16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A2A104A-BABD-B040-977F-1F428BE16562}"/>
              </a:ext>
            </a:extLst>
          </p:cNvPr>
          <p:cNvSpPr txBox="1"/>
          <p:nvPr/>
        </p:nvSpPr>
        <p:spPr>
          <a:xfrm>
            <a:off x="1905000" y="4305894"/>
            <a:ext cx="2540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600" b="1">
                <a:solidFill>
                  <a:srgbClr val="14213D"/>
                </a:solidFill>
                <a:latin typeface="Pretendard"/>
              </a:rPr>
              <a:t>이득 카피 </a:t>
            </a:r>
            <a:r>
              <a:rPr lang="en-US" altLang="ko-KR" sz="1600" b="1">
                <a:solidFill>
                  <a:srgbClr val="14213D"/>
                </a:solidFill>
                <a:latin typeface="Pretendard"/>
              </a:rPr>
              <a:t>3</a:t>
            </a:r>
            <a:r>
              <a:rPr lang="ko-KR" altLang="en-US" sz="1600" b="1">
                <a:solidFill>
                  <a:srgbClr val="14213D"/>
                </a:solidFill>
                <a:latin typeface="Pretendard"/>
              </a:rPr>
              <a:t>개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9E84656-7003-AD44-9383-F37BAF82981A}"/>
              </a:ext>
            </a:extLst>
          </p:cNvPr>
          <p:cNvSpPr txBox="1"/>
          <p:nvPr/>
        </p:nvSpPr>
        <p:spPr>
          <a:xfrm>
            <a:off x="4546600" y="4140200"/>
            <a:ext cx="6629400" cy="685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400">
                <a:solidFill>
                  <a:srgbClr val="576176"/>
                </a:solidFill>
                <a:latin typeface="Pretendard"/>
              </a:rPr>
              <a:t>특징을 고객 이득 카피 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3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개로 바꾼다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.</a:t>
            </a:r>
            <a:endParaRPr lang="ko-KR" altLang="en-US" sz="1400">
              <a:solidFill>
                <a:srgbClr val="576176"/>
              </a:solidFill>
              <a:latin typeface="Pretendard"/>
            </a:endParaRPr>
          </a:p>
        </p:txBody>
      </p:sp>
      <p:sp>
        <p:nvSpPr>
          <p:cNvPr id="20" name="모서리가 둥근 직사각형 19">
            <a:extLst>
              <a:ext uri="{FF2B5EF4-FFF2-40B4-BE49-F238E27FC236}">
                <a16:creationId xmlns:a16="http://schemas.microsoft.com/office/drawing/2014/main" id="{F3994149-A401-CE42-A049-9A7C0B6DFB5B}"/>
              </a:ext>
            </a:extLst>
          </p:cNvPr>
          <p:cNvSpPr/>
          <p:nvPr/>
        </p:nvSpPr>
        <p:spPr>
          <a:xfrm>
            <a:off x="825500" y="5054600"/>
            <a:ext cx="10541000" cy="939800"/>
          </a:xfrm>
          <a:prstGeom prst="roundRect">
            <a:avLst>
              <a:gd name="adj" fmla="val 2703"/>
            </a:avLst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54BE1AE5-12D6-8A49-8F30-FDB9AF0FE532}"/>
              </a:ext>
            </a:extLst>
          </p:cNvPr>
          <p:cNvSpPr/>
          <p:nvPr/>
        </p:nvSpPr>
        <p:spPr>
          <a:xfrm>
            <a:off x="825500" y="5054600"/>
            <a:ext cx="76200" cy="939800"/>
          </a:xfrm>
          <a:prstGeom prst="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D9FFA352-B05A-4740-AEC2-0D1846DF9B6B}"/>
              </a:ext>
            </a:extLst>
          </p:cNvPr>
          <p:cNvSpPr/>
          <p:nvPr/>
        </p:nvSpPr>
        <p:spPr>
          <a:xfrm>
            <a:off x="1143000" y="5283200"/>
            <a:ext cx="482600" cy="482600"/>
          </a:xfrm>
          <a:prstGeom prst="ellipse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  <a:latin typeface="JetBrains Mono"/>
              </a:rPr>
              <a:t>4</a:t>
            </a:r>
            <a:endParaRPr lang="ko-KR" altLang="en-US" sz="16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4BD3B82-FE79-7946-B184-A50FC09185B7}"/>
              </a:ext>
            </a:extLst>
          </p:cNvPr>
          <p:cNvSpPr txBox="1"/>
          <p:nvPr/>
        </p:nvSpPr>
        <p:spPr>
          <a:xfrm>
            <a:off x="1905000" y="5347294"/>
            <a:ext cx="2540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altLang="ko-KR" sz="1600" b="1" dirty="0">
                <a:solidFill>
                  <a:srgbClr val="14213D"/>
                </a:solidFill>
                <a:latin typeface="Pretendard"/>
              </a:rPr>
              <a:t>CTA A/B</a:t>
            </a:r>
            <a:endParaRPr lang="ko-KR" altLang="en-US" sz="1600" b="1" dirty="0">
              <a:solidFill>
                <a:srgbClr val="14213D"/>
              </a:solidFill>
              <a:latin typeface="Pretendard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C311CA3-482D-0445-9BC6-DA96A434FF5F}"/>
              </a:ext>
            </a:extLst>
          </p:cNvPr>
          <p:cNvSpPr txBox="1"/>
          <p:nvPr/>
        </p:nvSpPr>
        <p:spPr>
          <a:xfrm>
            <a:off x="4546600" y="5181600"/>
            <a:ext cx="6629400" cy="685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400">
                <a:solidFill>
                  <a:srgbClr val="576176"/>
                </a:solidFill>
                <a:latin typeface="Pretendard"/>
              </a:rPr>
              <a:t>이득 동사 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CTA 3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종을 만들어 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A/B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로 비교한다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.</a:t>
            </a:r>
            <a:endParaRPr lang="ko-KR" altLang="en-US" sz="1400">
              <a:solidFill>
                <a:srgbClr val="576176"/>
              </a:solidFill>
              <a:latin typeface="Pretendard"/>
            </a:endParaRPr>
          </a:p>
        </p:txBody>
      </p:sp>
      <p:sp>
        <p:nvSpPr>
          <p:cNvPr id="4" name="PageNumber">
            <a:extLst>
              <a:ext uri="{FF2B5EF4-FFF2-40B4-BE49-F238E27FC236}">
                <a16:creationId xmlns:a16="http://schemas.microsoft.com/office/drawing/2014/main" id="{7C58CA3F-E772-5D4A-A31F-64F982988886}"/>
              </a:ext>
            </a:extLst>
          </p:cNvPr>
          <p:cNvSpPr txBox="1"/>
          <p:nvPr/>
        </p:nvSpPr>
        <p:spPr>
          <a:xfrm>
            <a:off x="9499600" y="6489700"/>
            <a:ext cx="23368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r"/>
            <a:r>
              <a:rPr lang="en-US" altLang="ko-KR" sz="1200">
                <a:solidFill>
                  <a:srgbClr val="576176"/>
                </a:solidFill>
                <a:latin typeface="Pretendard"/>
              </a:rPr>
              <a:t>- 111/144 -</a:t>
            </a:r>
            <a:endParaRPr lang="ko-KR" altLang="en-US" sz="1200">
              <a:solidFill>
                <a:srgbClr val="576176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3284611214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실습 프롬프트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섹션 카피 생성 프롬프트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874519"/>
            <a:ext cx="10332720" cy="4434840"/>
          </a:xfrm>
          <a:prstGeom prst="rect">
            <a:avLst/>
          </a:prstGeom>
          <a:solidFill>
            <a:srgbClr val="10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11480" tIns="502920" rIns="365760" bIns="320040" rtlCol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랜딩페이지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섹션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카피를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써줘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.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톤은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따뜻·프리미엄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-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히어로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헤드라인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1줄(20자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내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) +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보조문구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1줄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-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특징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3개: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각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[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소제목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+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이득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한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줄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]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- CTA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버튼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문구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3종(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이득형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동사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핵심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메시지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: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부담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없이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즐기는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진짜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맥주맛</a:t>
            </a:r>
            <a:endParaRPr lang="en-US" sz="1600" dirty="0">
              <a:solidFill>
                <a:srgbClr val="E8EEFA"/>
              </a:solidFill>
              <a:latin typeface="JetBrains Mono"/>
              <a:ea typeface="JetBrains Mono"/>
              <a:cs typeface="JetBrains Mono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endParaRPr sz="1600" dirty="0">
              <a:solidFill>
                <a:srgbClr val="E8EEFA"/>
              </a:solidFill>
              <a:latin typeface="JetBrains Mono"/>
              <a:ea typeface="JetBrains Mono"/>
              <a:cs typeface="JetBrains Mono"/>
            </a:endParaRP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</a:pPr>
            <a:r>
              <a:rPr sz="1600" dirty="0">
                <a:solidFill>
                  <a:srgbClr val="8893A8"/>
                </a:solidFill>
                <a:latin typeface="JetBrains Mono"/>
                <a:ea typeface="JetBrains Mono"/>
                <a:cs typeface="JetBrains Mono"/>
              </a:rPr>
              <a:t># </a:t>
            </a:r>
            <a:r>
              <a:rPr sz="1600" dirty="0" err="1">
                <a:solidFill>
                  <a:srgbClr val="8893A8"/>
                </a:solidFill>
                <a:latin typeface="JetBrains Mono"/>
                <a:ea typeface="JetBrains Mono"/>
                <a:cs typeface="JetBrains Mono"/>
              </a:rPr>
              <a:t>변형</a:t>
            </a:r>
            <a:r>
              <a:rPr sz="1600" dirty="0">
                <a:solidFill>
                  <a:srgbClr val="8893A8"/>
                </a:solidFill>
                <a:latin typeface="JetBrains Mono"/>
                <a:ea typeface="JetBrains Mono"/>
                <a:cs typeface="JetBrains Mono"/>
              </a:rPr>
              <a:t> — </a:t>
            </a:r>
            <a:r>
              <a:rPr sz="1600" dirty="0" err="1">
                <a:solidFill>
                  <a:srgbClr val="8893A8"/>
                </a:solidFill>
                <a:latin typeface="JetBrains Mono"/>
                <a:ea typeface="JetBrains Mono"/>
                <a:cs typeface="JetBrains Mono"/>
              </a:rPr>
              <a:t>후기·신뢰</a:t>
            </a:r>
            <a:r>
              <a:rPr sz="1600" dirty="0">
                <a:solidFill>
                  <a:srgbClr val="8893A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 dirty="0" err="1">
                <a:solidFill>
                  <a:srgbClr val="8893A8"/>
                </a:solidFill>
                <a:latin typeface="JetBrains Mono"/>
                <a:ea typeface="JetBrains Mono"/>
                <a:cs typeface="JetBrains Mono"/>
              </a:rPr>
              <a:t>강조</a:t>
            </a:r>
            <a:r>
              <a:rPr sz="1600" dirty="0">
                <a:solidFill>
                  <a:srgbClr val="8893A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 dirty="0" err="1">
                <a:solidFill>
                  <a:srgbClr val="8893A8"/>
                </a:solidFill>
                <a:latin typeface="JetBrains Mono"/>
                <a:ea typeface="JetBrains Mono"/>
                <a:cs typeface="JetBrains Mono"/>
              </a:rPr>
              <a:t>버전</a:t>
            </a:r>
            <a:endParaRPr sz="1600" dirty="0">
              <a:solidFill>
                <a:srgbClr val="8893A8"/>
              </a:solidFill>
              <a:latin typeface="JetBrains Mono"/>
              <a:ea typeface="JetBrains Mono"/>
              <a:cs typeface="JetBrains Mono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같은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페이지의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'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후기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섹션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'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카피를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써줘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.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톤은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진솔·신뢰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-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섹션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헤드라인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1줄 +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고객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후기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3개(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각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1~2줄)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-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후기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아래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보조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CTA 1줄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핵심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메시지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: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부담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없이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즐기는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진짜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맥주맛</a:t>
            </a:r>
            <a:endParaRPr sz="1600" dirty="0">
              <a:solidFill>
                <a:srgbClr val="E8EEFA"/>
              </a:solidFill>
              <a:latin typeface="JetBrains Mono"/>
              <a:ea typeface="JetBrains Mono"/>
              <a:cs typeface="JetBrains Mono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143000" y="2103120"/>
            <a:ext cx="109728" cy="10972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B5086DB3-9655-90D0-EBD2-2EBAE3C888C9}"/>
              </a:ext>
            </a:extLst>
          </p:cNvPr>
          <p:cNvGrpSpPr/>
          <p:nvPr/>
        </p:nvGrpSpPr>
        <p:grpSpPr>
          <a:xfrm>
            <a:off x="8399107" y="3846905"/>
            <a:ext cx="2493450" cy="2285159"/>
            <a:chOff x="17449800" y="7213600"/>
            <a:chExt cx="6146800" cy="5486400"/>
          </a:xfrm>
        </p:grpSpPr>
        <p:pic>
          <p:nvPicPr>
            <p:cNvPr id="7" name="Picture 9">
              <a:extLst>
                <a:ext uri="{FF2B5EF4-FFF2-40B4-BE49-F238E27FC236}">
                  <a16:creationId xmlns:a16="http://schemas.microsoft.com/office/drawing/2014/main" id="{B959E04C-6FA8-38E5-7EEA-B3B5107DBA1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653000" y="8851900"/>
              <a:ext cx="1739900" cy="774700"/>
            </a:xfrm>
            <a:prstGeom prst="rect">
              <a:avLst/>
            </a:prstGeom>
          </p:spPr>
        </p:pic>
        <p:sp>
          <p:nvSpPr>
            <p:cNvPr id="8" name="TextBox 10">
              <a:extLst>
                <a:ext uri="{FF2B5EF4-FFF2-40B4-BE49-F238E27FC236}">
                  <a16:creationId xmlns:a16="http://schemas.microsoft.com/office/drawing/2014/main" id="{30F86001-694D-ACE7-0A65-29F79E3D811D}"/>
                </a:ext>
              </a:extLst>
            </p:cNvPr>
            <p:cNvSpPr txBox="1"/>
            <p:nvPr/>
          </p:nvSpPr>
          <p:spPr>
            <a:xfrm>
              <a:off x="17449800" y="8991600"/>
              <a:ext cx="1930400" cy="571500"/>
            </a:xfrm>
            <a:prstGeom prst="rect">
              <a:avLst/>
            </a:prstGeom>
          </p:spPr>
          <p:txBody>
            <a:bodyPr lIns="0" tIns="40640" rIns="0" bIns="4064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2400" b="0" i="0" u="none" strike="noStrike" spc="-100" dirty="0">
                  <a:solidFill>
                    <a:srgbClr val="000000"/>
                  </a:solidFill>
                  <a:latin typeface="SB AggroOTF Bold"/>
                  <a:ea typeface="SB AggroOTF Bold"/>
                  <a:cs typeface="SB AggroOTF Bold"/>
                </a:rPr>
                <a:t>oh!</a:t>
              </a:r>
            </a:p>
          </p:txBody>
        </p:sp>
        <p:pic>
          <p:nvPicPr>
            <p:cNvPr id="9" name="Picture 27">
              <a:extLst>
                <a:ext uri="{FF2B5EF4-FFF2-40B4-BE49-F238E27FC236}">
                  <a16:creationId xmlns:a16="http://schemas.microsoft.com/office/drawing/2014/main" id="{8D17FB81-10D1-CFE6-8093-80F5019CBC3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834100" y="7213600"/>
              <a:ext cx="4762500" cy="5486400"/>
            </a:xfrm>
            <a:prstGeom prst="rect">
              <a:avLst/>
            </a:prstGeom>
          </p:spPr>
        </p:pic>
      </p:grpSp>
      <p:sp>
        <p:nvSpPr>
          <p:cNvPr id="10" name="PageNumber">
            <a:extLst>
              <a:ext uri="{FF2B5EF4-FFF2-40B4-BE49-F238E27FC236}">
                <a16:creationId xmlns:a16="http://schemas.microsoft.com/office/drawing/2014/main" id="{A74ABC8B-4F8E-4849-9C63-6A49C297F3D4}"/>
              </a:ext>
            </a:extLst>
          </p:cNvPr>
          <p:cNvSpPr txBox="1"/>
          <p:nvPr/>
        </p:nvSpPr>
        <p:spPr>
          <a:xfrm>
            <a:off x="9499600" y="6489700"/>
            <a:ext cx="23368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r"/>
            <a:r>
              <a:rPr lang="en-US" altLang="ko-KR" sz="1200">
                <a:solidFill>
                  <a:srgbClr val="576176"/>
                </a:solidFill>
                <a:latin typeface="Pretendard"/>
              </a:rPr>
              <a:t>- 112/144 -</a:t>
            </a:r>
            <a:endParaRPr lang="ko-KR" altLang="en-US" sz="1200">
              <a:solidFill>
                <a:srgbClr val="576176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2638032379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실제 입력 → 출력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실제 예시 — 섹션 카피 산출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783080"/>
            <a:ext cx="10332720" cy="1874519"/>
          </a:xfrm>
          <a:prstGeom prst="rect">
            <a:avLst/>
          </a:prstGeom>
          <a:solidFill>
            <a:srgbClr val="10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502920" rIns="320040" rtlCol="0" anchor="t"/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100"/>
              </a:spcAft>
            </a:pPr>
            <a:r>
              <a:rPr sz="140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랜딩 섹션 카피를 써줘. 톤 따뜻·프리미엄.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100"/>
              </a:spcAft>
            </a:pPr>
            <a:r>
              <a:rPr sz="140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- 히어로 헤드라인 1줄(20자내)+보조문구 - 특징 3개[소제목+이득 한 줄]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100"/>
              </a:spcAft>
            </a:pPr>
            <a:r>
              <a:rPr sz="140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- CTA 3종(이득형). 핵심 메시지: 부담 없이 즐기는 진짜 맥주맛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783080"/>
            <a:ext cx="2011680" cy="329184"/>
          </a:xfrm>
          <a:prstGeom prst="rect">
            <a:avLst/>
          </a:prstGeom>
          <a:solidFill>
            <a:srgbClr val="243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400"/>
              </a:spcAft>
            </a:pPr>
            <a:r>
              <a:rPr sz="1400" b="0">
                <a:solidFill>
                  <a:srgbClr val="E8A33D"/>
                </a:solidFill>
                <a:latin typeface="JetBrains Mono"/>
                <a:ea typeface="JetBrains Mono"/>
                <a:cs typeface="JetBrains Mono"/>
              </a:rPr>
              <a:t>▸ 입력 프롬프트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794760"/>
            <a:ext cx="10332720" cy="2514600"/>
          </a:xfrm>
          <a:prstGeom prst="rect">
            <a:avLst/>
          </a:prstGeom>
          <a:solidFill>
            <a:srgbClr val="FBFCFE"/>
          </a:solidFill>
          <a:ln w="12700">
            <a:solidFill>
              <a:srgbClr val="E9EC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502920" rIns="320040" rtlCol="0" anchor="t"/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100"/>
              </a:spcAft>
            </a:pPr>
            <a:r>
              <a:rPr sz="140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[</a:t>
            </a:r>
            <a:r>
              <a:rPr sz="140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히어로</a:t>
            </a:r>
            <a:r>
              <a:rPr sz="140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] "</a:t>
            </a:r>
            <a:r>
              <a:rPr sz="140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내일을</a:t>
            </a:r>
            <a:r>
              <a:rPr sz="140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망치지</a:t>
            </a:r>
            <a:r>
              <a:rPr sz="140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않는</a:t>
            </a:r>
            <a:r>
              <a:rPr sz="140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한</a:t>
            </a:r>
            <a:r>
              <a:rPr sz="140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잔</a:t>
            </a:r>
            <a:r>
              <a:rPr sz="140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" / </a:t>
            </a:r>
            <a:r>
              <a:rPr sz="140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진짜</a:t>
            </a:r>
            <a:r>
              <a:rPr sz="140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맥주맛</a:t>
            </a:r>
            <a:r>
              <a:rPr sz="140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sz="140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알코올은</a:t>
            </a:r>
            <a:r>
              <a:rPr sz="140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 0.0%</a:t>
            </a:r>
            <a:endParaRPr lang="en-US" sz="1400" dirty="0">
              <a:solidFill>
                <a:srgbClr val="14213D"/>
              </a:solidFill>
              <a:latin typeface="Pretendard"/>
              <a:ea typeface="Pretendard"/>
              <a:cs typeface="Pretendard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100"/>
              </a:spcAft>
            </a:pPr>
            <a:endParaRPr sz="1400" dirty="0">
              <a:solidFill>
                <a:srgbClr val="14213D"/>
              </a:solidFill>
              <a:latin typeface="Pretendard"/>
              <a:ea typeface="Pretendard"/>
              <a:cs typeface="Pretendard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100"/>
              </a:spcAft>
            </a:pPr>
            <a:r>
              <a:rPr sz="140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[</a:t>
            </a:r>
            <a:r>
              <a:rPr sz="140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특징</a:t>
            </a:r>
            <a:r>
              <a:rPr sz="140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] </a:t>
            </a:r>
            <a:r>
              <a:rPr sz="140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발효공법</a:t>
            </a:r>
            <a:r>
              <a:rPr sz="140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 — </a:t>
            </a:r>
            <a:r>
              <a:rPr sz="140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무알콜인데</a:t>
            </a:r>
            <a:r>
              <a:rPr sz="140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진짜</a:t>
            </a:r>
            <a:r>
              <a:rPr sz="140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맥주맛</a:t>
            </a:r>
            <a:r>
              <a:rPr sz="140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 / </a:t>
            </a:r>
            <a:r>
              <a:rPr sz="140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저칼로리</a:t>
            </a:r>
            <a:r>
              <a:rPr sz="140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 — </a:t>
            </a:r>
            <a:r>
              <a:rPr sz="140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한</a:t>
            </a:r>
            <a:r>
              <a:rPr sz="140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캔</a:t>
            </a:r>
            <a:r>
              <a:rPr sz="140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더도</a:t>
            </a:r>
            <a:r>
              <a:rPr sz="140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가볍게</a:t>
            </a:r>
            <a:r>
              <a:rPr sz="140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 / 0.0% — </a:t>
            </a:r>
            <a:r>
              <a:rPr sz="140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운전도</a:t>
            </a:r>
            <a:r>
              <a:rPr sz="140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출근도</a:t>
            </a:r>
            <a:r>
              <a:rPr sz="140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문제없이</a:t>
            </a:r>
            <a:endParaRPr sz="1400" dirty="0">
              <a:solidFill>
                <a:srgbClr val="14213D"/>
              </a:solidFill>
              <a:latin typeface="Pretendard"/>
              <a:ea typeface="Pretendard"/>
              <a:cs typeface="Pretendard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100"/>
              </a:spcAft>
            </a:pPr>
            <a:r>
              <a:rPr sz="140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[CTA] ①</a:t>
            </a:r>
            <a:r>
              <a:rPr sz="140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지금</a:t>
            </a:r>
            <a:r>
              <a:rPr sz="140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사전예약하고</a:t>
            </a:r>
            <a:r>
              <a:rPr sz="140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 20% </a:t>
            </a:r>
            <a:r>
              <a:rPr sz="140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받기</a:t>
            </a:r>
            <a:r>
              <a:rPr sz="140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 ②</a:t>
            </a:r>
            <a:r>
              <a:rPr sz="140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첫</a:t>
            </a:r>
            <a:r>
              <a:rPr sz="140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한</a:t>
            </a:r>
            <a:r>
              <a:rPr sz="140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박스</a:t>
            </a:r>
            <a:r>
              <a:rPr sz="140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받아보기</a:t>
            </a:r>
            <a:r>
              <a:rPr sz="140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 ③</a:t>
            </a:r>
            <a:r>
              <a:rPr sz="140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출시</a:t>
            </a:r>
            <a:r>
              <a:rPr sz="140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알림</a:t>
            </a:r>
            <a:r>
              <a:rPr sz="1400" dirty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dirty="0" err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신청</a:t>
            </a:r>
            <a:endParaRPr sz="1400" dirty="0">
              <a:solidFill>
                <a:srgbClr val="14213D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14400" y="3794760"/>
            <a:ext cx="1828800" cy="329184"/>
          </a:xfrm>
          <a:prstGeom prst="rect">
            <a:avLst/>
          </a:prstGeom>
          <a:solidFill>
            <a:srgbClr val="DCE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384048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400"/>
              </a:spcAft>
            </a:pPr>
            <a:r>
              <a:rPr sz="14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▸ 나온 결과(예)</a:t>
            </a:r>
          </a:p>
        </p:txBody>
      </p:sp>
      <p:sp>
        <p:nvSpPr>
          <p:cNvPr id="10" name="PageNumber">
            <a:extLst>
              <a:ext uri="{FF2B5EF4-FFF2-40B4-BE49-F238E27FC236}">
                <a16:creationId xmlns:a16="http://schemas.microsoft.com/office/drawing/2014/main" id="{1BD404E6-FD1F-6546-8480-EA0B811410AA}"/>
              </a:ext>
            </a:extLst>
          </p:cNvPr>
          <p:cNvSpPr txBox="1"/>
          <p:nvPr/>
        </p:nvSpPr>
        <p:spPr>
          <a:xfrm>
            <a:off x="9499600" y="6489700"/>
            <a:ext cx="23368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r"/>
            <a:r>
              <a:rPr lang="en-US" altLang="ko-KR" sz="1200">
                <a:solidFill>
                  <a:srgbClr val="576176"/>
                </a:solidFill>
                <a:latin typeface="Pretendard"/>
              </a:rPr>
              <a:t>- 113/144 -</a:t>
            </a:r>
            <a:endParaRPr lang="ko-KR" altLang="en-US" sz="1200">
              <a:solidFill>
                <a:srgbClr val="576176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755068322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정리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섹션 구성과 CTA 문구 작성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920240"/>
            <a:ext cx="10332720" cy="2068576"/>
          </a:xfrm>
          <a:prstGeom prst="rect">
            <a:avLst/>
          </a:prstGeom>
          <a:solidFill>
            <a:srgbClr val="FB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228600" rIns="365760" bIns="182880" rtlCol="0" anchor="t"/>
          <a:lstStyle/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600"/>
              </a:spcAft>
            </a:pPr>
            <a:r>
              <a:rPr sz="1500" b="1">
                <a:solidFill>
                  <a:srgbClr val="B57A1A"/>
                </a:solidFill>
                <a:latin typeface="JetBrains Mono"/>
                <a:ea typeface="JetBrains Mono"/>
                <a:cs typeface="JetBrains Mono"/>
              </a:rPr>
              <a:t>⚠  흔한 실수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1">
                <a:solidFill>
                  <a:srgbClr val="E8A33D"/>
                </a:solidFill>
                <a:latin typeface="Pretendard"/>
                <a:ea typeface="Pretendard"/>
                <a:cs typeface="Pretendard"/>
              </a:rPr>
              <a:t>·  </a:t>
            </a:r>
            <a:r>
              <a:rPr sz="14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CTA가 "더보기"처럼 모호하면 클릭률이 떨어진다 → 이득을 담는다.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1">
                <a:solidFill>
                  <a:srgbClr val="E8A33D"/>
                </a:solidFill>
                <a:latin typeface="Pretendard"/>
                <a:ea typeface="Pretendard"/>
                <a:cs typeface="Pretendard"/>
              </a:rPr>
              <a:t>·  </a:t>
            </a:r>
            <a:r>
              <a:rPr sz="14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특징을 스펙 나열로 쓰면 안 읽힌다 → 이득 한 줄로.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1">
                <a:solidFill>
                  <a:srgbClr val="E8A33D"/>
                </a:solidFill>
                <a:latin typeface="Pretendard"/>
                <a:ea typeface="Pretendard"/>
                <a:cs typeface="Pretendard"/>
              </a:rPr>
              <a:t>·  </a:t>
            </a:r>
            <a:r>
              <a:rPr sz="14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버튼이 여러 개면 1차 행동이 흐려진다 → 핵심 CTA 하나에 집중.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4192016"/>
            <a:ext cx="10332720" cy="1005840"/>
          </a:xfrm>
          <a:prstGeom prst="rect">
            <a:avLst/>
          </a:prstGeom>
          <a:solidFill>
            <a:srgbClr val="DCE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201168" rIns="365760" bIns="182880" rtlCol="0" anchor="t"/>
          <a:lstStyle/>
          <a:p>
            <a:pPr algn="l">
              <a:lnSpc>
                <a:spcPct val="125000"/>
              </a:lnSpc>
              <a:spcBef>
                <a:spcPts val="600"/>
              </a:spcBef>
              <a:spcAft>
                <a:spcPts val="400"/>
              </a:spcAft>
            </a:pPr>
            <a:r>
              <a:rPr sz="1500" b="1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📦  결과물   </a:t>
            </a:r>
            <a:r>
              <a:rPr sz="1600" b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섹션별 카피 + CTA 문구 3종(A/B 후보).</a:t>
            </a:r>
          </a:p>
        </p:txBody>
      </p:sp>
      <p:sp>
        <p:nvSpPr>
          <p:cNvPr id="6" name="PageNumber">
            <a:extLst>
              <a:ext uri="{FF2B5EF4-FFF2-40B4-BE49-F238E27FC236}">
                <a16:creationId xmlns:a16="http://schemas.microsoft.com/office/drawing/2014/main" id="{C0F0E039-9EE1-0249-873B-6B889753A3A3}"/>
              </a:ext>
            </a:extLst>
          </p:cNvPr>
          <p:cNvSpPr txBox="1"/>
          <p:nvPr/>
        </p:nvSpPr>
        <p:spPr>
          <a:xfrm>
            <a:off x="9499600" y="6489700"/>
            <a:ext cx="23368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r"/>
            <a:r>
              <a:rPr lang="en-US" altLang="ko-KR" sz="1200">
                <a:solidFill>
                  <a:srgbClr val="576176"/>
                </a:solidFill>
                <a:latin typeface="Pretendard"/>
              </a:rPr>
              <a:t>- 114/144 -</a:t>
            </a:r>
            <a:endParaRPr lang="ko-KR" altLang="en-US" sz="1200">
              <a:solidFill>
                <a:srgbClr val="576176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3558548470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4E8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112E5CA1-DC27-2143-B200-0D4C7D573CA2}"/>
              </a:ext>
            </a:extLst>
          </p:cNvPr>
          <p:cNvSpPr/>
          <p:nvPr/>
        </p:nvSpPr>
        <p:spPr>
          <a:xfrm>
            <a:off x="914400" y="2362200"/>
            <a:ext cx="431800" cy="76200"/>
          </a:xfrm>
          <a:prstGeom prst="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5A8BB9-173C-D441-9DEF-A7CC72E1FCC8}"/>
              </a:ext>
            </a:extLst>
          </p:cNvPr>
          <p:cNvSpPr txBox="1"/>
          <p:nvPr/>
        </p:nvSpPr>
        <p:spPr>
          <a:xfrm>
            <a:off x="914400" y="2540000"/>
            <a:ext cx="5080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500" b="1">
                <a:solidFill>
                  <a:srgbClr val="E8A33D"/>
                </a:solidFill>
                <a:latin typeface="JetBrains Mono"/>
              </a:rPr>
              <a:t>SESSION 2</a:t>
            </a:r>
            <a:endParaRPr lang="ko-KR" altLang="en-US" sz="1500" b="1">
              <a:solidFill>
                <a:srgbClr val="E8A33D"/>
              </a:solidFill>
              <a:latin typeface="JetBrains Mono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1BF232-D0C8-5944-9699-319568E6E8F1}"/>
              </a:ext>
            </a:extLst>
          </p:cNvPr>
          <p:cNvSpPr txBox="1"/>
          <p:nvPr/>
        </p:nvSpPr>
        <p:spPr>
          <a:xfrm>
            <a:off x="914400" y="2895600"/>
            <a:ext cx="10363200" cy="609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3200" b="1">
                <a:solidFill>
                  <a:srgbClr val="FFFFFF"/>
                </a:solidFill>
                <a:latin typeface="Noto Serif KR"/>
              </a:rPr>
              <a:t>사용자 흐름 설계 </a:t>
            </a:r>
            <a:r>
              <a:rPr lang="en-US" altLang="ko-KR" sz="3200" b="1">
                <a:solidFill>
                  <a:srgbClr val="FFFFFF"/>
                </a:solidFill>
                <a:latin typeface="Noto Serif KR"/>
              </a:rPr>
              <a:t>· </a:t>
            </a:r>
            <a:r>
              <a:rPr lang="ko-KR" altLang="en-US" sz="3200" b="1">
                <a:solidFill>
                  <a:srgbClr val="FFFFFF"/>
                </a:solidFill>
                <a:latin typeface="Noto Serif KR"/>
              </a:rPr>
              <a:t>소개형 페이지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D248F0-2147-5641-8FCD-36C757D001C4}"/>
              </a:ext>
            </a:extLst>
          </p:cNvPr>
          <p:cNvSpPr txBox="1"/>
          <p:nvPr/>
        </p:nvSpPr>
        <p:spPr>
          <a:xfrm>
            <a:off x="914400" y="3657600"/>
            <a:ext cx="10033000" cy="558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600">
                <a:solidFill>
                  <a:srgbClr val="DCE6F2"/>
                </a:solidFill>
                <a:latin typeface="Pretendard"/>
              </a:rPr>
              <a:t>인지→관심→욕구→행동의 흐름에 맞춰 섹션 순서와 정보 우선순위를 정한다</a:t>
            </a:r>
            <a:r>
              <a:rPr lang="en-US" altLang="ko-KR" sz="1600">
                <a:solidFill>
                  <a:srgbClr val="DCE6F2"/>
                </a:solidFill>
                <a:latin typeface="Pretendard"/>
              </a:rPr>
              <a:t>.</a:t>
            </a:r>
            <a:endParaRPr lang="ko-KR" altLang="en-US" sz="1600">
              <a:solidFill>
                <a:srgbClr val="DCE6F2"/>
              </a:solidFill>
              <a:latin typeface="Pretendard"/>
            </a:endParaRP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B20DD67E-3CC0-E141-A3EF-8CB198576331}"/>
              </a:ext>
            </a:extLst>
          </p:cNvPr>
          <p:cNvSpPr/>
          <p:nvPr/>
        </p:nvSpPr>
        <p:spPr>
          <a:xfrm>
            <a:off x="914400" y="4521200"/>
            <a:ext cx="2616200" cy="889000"/>
          </a:xfrm>
          <a:prstGeom prst="roundRect">
            <a:avLst>
              <a:gd name="adj" fmla="val 2857"/>
            </a:avLst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ko-KR" altLang="en-US" sz="1600" b="1">
                <a:solidFill>
                  <a:srgbClr val="FFFFFF"/>
                </a:solidFill>
                <a:latin typeface="Pretendard"/>
              </a:rPr>
              <a:t>인지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3B3B5E-2A55-F649-BCBA-BF7BF24B7291}"/>
              </a:ext>
            </a:extLst>
          </p:cNvPr>
          <p:cNvSpPr txBox="1"/>
          <p:nvPr/>
        </p:nvSpPr>
        <p:spPr>
          <a:xfrm>
            <a:off x="3530600" y="4521200"/>
            <a:ext cx="558800" cy="889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ko-KR" altLang="en-US" sz="2400" b="1">
                <a:solidFill>
                  <a:srgbClr val="9FB3CE"/>
                </a:solidFill>
                <a:latin typeface="Pretendard"/>
              </a:rPr>
              <a:t>→</a:t>
            </a: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5265334D-4F29-8C40-B625-4A0BCFD5119A}"/>
              </a:ext>
            </a:extLst>
          </p:cNvPr>
          <p:cNvSpPr/>
          <p:nvPr/>
        </p:nvSpPr>
        <p:spPr>
          <a:xfrm>
            <a:off x="4089400" y="4521200"/>
            <a:ext cx="2616200" cy="889000"/>
          </a:xfrm>
          <a:prstGeom prst="roundRect">
            <a:avLst>
              <a:gd name="adj" fmla="val 2857"/>
            </a:avLst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ko-KR" altLang="en-US" sz="1600" b="1">
                <a:solidFill>
                  <a:srgbClr val="FFFFFF"/>
                </a:solidFill>
                <a:latin typeface="Pretendard"/>
              </a:rPr>
              <a:t>관심 </a:t>
            </a:r>
            <a:r>
              <a:rPr lang="en-US" altLang="ko-KR" sz="1600" b="1">
                <a:solidFill>
                  <a:srgbClr val="FFFFFF"/>
                </a:solidFill>
                <a:latin typeface="Pretendard"/>
              </a:rPr>
              <a:t>· </a:t>
            </a:r>
            <a:r>
              <a:rPr lang="ko-KR" altLang="en-US" sz="1600" b="1">
                <a:solidFill>
                  <a:srgbClr val="FFFFFF"/>
                </a:solidFill>
                <a:latin typeface="Pretendard"/>
              </a:rPr>
              <a:t>욕구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ADC0B24-4634-3941-8364-20F4D6EFAC34}"/>
              </a:ext>
            </a:extLst>
          </p:cNvPr>
          <p:cNvSpPr txBox="1"/>
          <p:nvPr/>
        </p:nvSpPr>
        <p:spPr>
          <a:xfrm>
            <a:off x="6705600" y="4521200"/>
            <a:ext cx="558800" cy="889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ko-KR" altLang="en-US" sz="2400" b="1">
                <a:solidFill>
                  <a:srgbClr val="9FB3CE"/>
                </a:solidFill>
                <a:latin typeface="Pretendard"/>
              </a:rPr>
              <a:t>→</a:t>
            </a:r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9DE80BDA-0A13-7E4F-BCFD-FAD027EF0092}"/>
              </a:ext>
            </a:extLst>
          </p:cNvPr>
          <p:cNvSpPr/>
          <p:nvPr/>
        </p:nvSpPr>
        <p:spPr>
          <a:xfrm>
            <a:off x="7264400" y="4521200"/>
            <a:ext cx="2616200" cy="889000"/>
          </a:xfrm>
          <a:prstGeom prst="roundRect">
            <a:avLst>
              <a:gd name="adj" fmla="val 2857"/>
            </a:avLst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ko-KR" altLang="en-US" sz="1600" b="1">
                <a:solidFill>
                  <a:srgbClr val="14213D"/>
                </a:solidFill>
                <a:latin typeface="Pretendard"/>
              </a:rPr>
              <a:t>행동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0E59CC2-8275-3E43-B3B8-CE43F64F17F2}"/>
              </a:ext>
            </a:extLst>
          </p:cNvPr>
          <p:cNvSpPr txBox="1"/>
          <p:nvPr/>
        </p:nvSpPr>
        <p:spPr>
          <a:xfrm>
            <a:off x="914400" y="5740400"/>
            <a:ext cx="10363200" cy="304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400">
                <a:solidFill>
                  <a:srgbClr val="9FB3CE"/>
                </a:solidFill>
                <a:latin typeface="JetBrains Mono"/>
              </a:rPr>
              <a:t>→ AIDA </a:t>
            </a:r>
            <a:r>
              <a:rPr lang="ko-KR" altLang="en-US" sz="1400">
                <a:solidFill>
                  <a:srgbClr val="9FB3CE"/>
                </a:solidFill>
                <a:latin typeface="JetBrains Mono"/>
              </a:rPr>
              <a:t>흐름으로 섹션을 배열한다</a:t>
            </a:r>
            <a:r>
              <a:rPr lang="en-US" altLang="ko-KR" sz="1400">
                <a:solidFill>
                  <a:srgbClr val="9FB3CE"/>
                </a:solidFill>
                <a:latin typeface="JetBrains Mono"/>
              </a:rPr>
              <a:t>.</a:t>
            </a:r>
            <a:endParaRPr lang="ko-KR" altLang="en-US" sz="1400">
              <a:solidFill>
                <a:srgbClr val="9FB3CE"/>
              </a:solidFill>
              <a:latin typeface="JetBrains Mono"/>
            </a:endParaRPr>
          </a:p>
        </p:txBody>
      </p:sp>
      <p:pic>
        <p:nvPicPr>
          <p:cNvPr id="2" name="Picture 14">
            <a:extLst>
              <a:ext uri="{FF2B5EF4-FFF2-40B4-BE49-F238E27FC236}">
                <a16:creationId xmlns:a16="http://schemas.microsoft.com/office/drawing/2014/main" id="{DA4B906A-D4BC-5952-AF01-E2014FB64B5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8000"/>
          </a:blip>
          <a:stretch>
            <a:fillRect/>
          </a:stretch>
        </p:blipFill>
        <p:spPr>
          <a:xfrm>
            <a:off x="6197602" y="-150908"/>
            <a:ext cx="7002780" cy="4665110"/>
          </a:xfrm>
          <a:prstGeom prst="rect">
            <a:avLst/>
          </a:prstGeom>
        </p:spPr>
      </p:pic>
      <p:sp>
        <p:nvSpPr>
          <p:cNvPr id="3" name="PageNumber">
            <a:extLst>
              <a:ext uri="{FF2B5EF4-FFF2-40B4-BE49-F238E27FC236}">
                <a16:creationId xmlns:a16="http://schemas.microsoft.com/office/drawing/2014/main" id="{F0C0F0F0-24BA-2C43-9B1B-A82C73806264}"/>
              </a:ext>
            </a:extLst>
          </p:cNvPr>
          <p:cNvSpPr txBox="1"/>
          <p:nvPr/>
        </p:nvSpPr>
        <p:spPr>
          <a:xfrm>
            <a:off x="9499600" y="6489700"/>
            <a:ext cx="23368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r"/>
            <a:r>
              <a:rPr lang="en-US" altLang="ko-KR" sz="1200">
                <a:solidFill>
                  <a:schemeClr val="bg1"/>
                </a:solidFill>
                <a:latin typeface="Pretendard"/>
              </a:rPr>
              <a:t>- 115/144 -</a:t>
            </a:r>
            <a:endParaRPr lang="ko-KR" altLang="en-US" sz="1200">
              <a:solidFill>
                <a:schemeClr val="bg1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1695343143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7863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핵심 개념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사용자를 움직이는 흐름 설계 3원칙</a:t>
            </a: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AE4E1E1E-B161-9E4D-98AF-A944F617A4BD}"/>
              </a:ext>
            </a:extLst>
          </p:cNvPr>
          <p:cNvSpPr/>
          <p:nvPr/>
        </p:nvSpPr>
        <p:spPr>
          <a:xfrm>
            <a:off x="825500" y="1905000"/>
            <a:ext cx="3340100" cy="4381500"/>
          </a:xfrm>
          <a:prstGeom prst="roundRect">
            <a:avLst>
              <a:gd name="adj" fmla="val 760"/>
            </a:avLst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8343246-C8C2-DE4E-BCF1-A801FDD4FECA}"/>
              </a:ext>
            </a:extLst>
          </p:cNvPr>
          <p:cNvSpPr/>
          <p:nvPr/>
        </p:nvSpPr>
        <p:spPr>
          <a:xfrm>
            <a:off x="825500" y="1905000"/>
            <a:ext cx="3340100" cy="88900"/>
          </a:xfrm>
          <a:prstGeom prst="rect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4A3AC87E-F7FA-1B40-B614-9F8E91E72C00}"/>
              </a:ext>
            </a:extLst>
          </p:cNvPr>
          <p:cNvSpPr/>
          <p:nvPr/>
        </p:nvSpPr>
        <p:spPr>
          <a:xfrm>
            <a:off x="1130300" y="2286000"/>
            <a:ext cx="508000" cy="508000"/>
          </a:xfrm>
          <a:prstGeom prst="ellipse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  <a:latin typeface="JetBrains Mono"/>
              </a:rPr>
              <a:t>1</a:t>
            </a:r>
            <a:endParaRPr lang="ko-KR" altLang="en-US" sz="16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82A05C-F021-A743-A70E-46EDC71B8F63}"/>
              </a:ext>
            </a:extLst>
          </p:cNvPr>
          <p:cNvSpPr txBox="1"/>
          <p:nvPr/>
        </p:nvSpPr>
        <p:spPr>
          <a:xfrm>
            <a:off x="1130300" y="2946400"/>
            <a:ext cx="2730500" cy="584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650" b="1">
                <a:solidFill>
                  <a:srgbClr val="14213D"/>
                </a:solidFill>
                <a:latin typeface="Pretendard"/>
              </a:rPr>
              <a:t>AIDA</a:t>
            </a:r>
            <a:endParaRPr lang="ko-KR" altLang="en-US" sz="1650" b="1">
              <a:solidFill>
                <a:srgbClr val="14213D"/>
              </a:solidFill>
              <a:latin typeface="Pretendard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43C7E54-AD8C-1F4D-95CC-0DC6D935F7C8}"/>
              </a:ext>
            </a:extLst>
          </p:cNvPr>
          <p:cNvSpPr/>
          <p:nvPr/>
        </p:nvSpPr>
        <p:spPr>
          <a:xfrm>
            <a:off x="1130300" y="3632200"/>
            <a:ext cx="2730500" cy="12700"/>
          </a:xfrm>
          <a:prstGeom prst="rect">
            <a:avLst/>
          </a:prstGeom>
          <a:solidFill>
            <a:srgbClr val="D9E2E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5453EDE-D0F4-F848-A155-A0FA5E4664B2}"/>
              </a:ext>
            </a:extLst>
          </p:cNvPr>
          <p:cNvSpPr txBox="1"/>
          <p:nvPr/>
        </p:nvSpPr>
        <p:spPr>
          <a:xfrm>
            <a:off x="1130300" y="3784600"/>
            <a:ext cx="2730500" cy="1625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altLang="ko-KR" sz="1400" dirty="0" err="1">
                <a:solidFill>
                  <a:srgbClr val="576176"/>
                </a:solidFill>
                <a:latin typeface="Pretendard"/>
              </a:rPr>
              <a:t>Attention→Interest</a:t>
            </a:r>
            <a:r>
              <a:rPr lang="en-US" altLang="ko-KR" sz="1400" dirty="0">
                <a:solidFill>
                  <a:srgbClr val="576176"/>
                </a:solidFill>
                <a:latin typeface="Pretendard"/>
              </a:rPr>
              <a:t>→</a:t>
            </a:r>
          </a:p>
          <a:p>
            <a:pPr algn="l">
              <a:lnSpc>
                <a:spcPct val="150000"/>
              </a:lnSpc>
            </a:pPr>
            <a:r>
              <a:rPr lang="en-US" altLang="ko-KR" sz="1400" dirty="0" err="1">
                <a:solidFill>
                  <a:srgbClr val="576176"/>
                </a:solidFill>
                <a:latin typeface="Pretendard"/>
              </a:rPr>
              <a:t>Desire→Action</a:t>
            </a:r>
            <a:r>
              <a:rPr lang="en-US" altLang="ko-KR" sz="1400" dirty="0">
                <a:solidFill>
                  <a:srgbClr val="576176"/>
                </a:solidFill>
                <a:latin typeface="Pretendard"/>
              </a:rPr>
              <a:t>. </a:t>
            </a:r>
            <a:r>
              <a:rPr lang="ko-KR" altLang="en-US" sz="1400" dirty="0">
                <a:solidFill>
                  <a:srgbClr val="576176"/>
                </a:solidFill>
                <a:latin typeface="Pretendard"/>
              </a:rPr>
              <a:t>섹션 순서를 </a:t>
            </a:r>
            <a:endParaRPr lang="en-US" altLang="ko-KR" sz="1400" dirty="0">
              <a:solidFill>
                <a:srgbClr val="576176"/>
              </a:solidFill>
              <a:latin typeface="Pretendard"/>
            </a:endParaRPr>
          </a:p>
          <a:p>
            <a:pPr algn="l">
              <a:lnSpc>
                <a:spcPct val="150000"/>
              </a:lnSpc>
            </a:pPr>
            <a:r>
              <a:rPr lang="ko-KR" altLang="en-US" sz="1400" dirty="0">
                <a:solidFill>
                  <a:srgbClr val="576176"/>
                </a:solidFill>
                <a:latin typeface="Pretendard"/>
              </a:rPr>
              <a:t>이 흐름에 맞춘다</a:t>
            </a:r>
            <a:r>
              <a:rPr lang="en-US" altLang="ko-KR" sz="1400" dirty="0">
                <a:solidFill>
                  <a:srgbClr val="576176"/>
                </a:solidFill>
                <a:latin typeface="Pretendard"/>
              </a:rPr>
              <a:t>.</a:t>
            </a:r>
            <a:endParaRPr lang="ko-KR" altLang="en-US" sz="1400" dirty="0">
              <a:solidFill>
                <a:srgbClr val="576176"/>
              </a:solidFill>
              <a:latin typeface="Pretendard"/>
            </a:endParaRP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A4D2CE43-784F-9946-87C2-51940D2BA788}"/>
              </a:ext>
            </a:extLst>
          </p:cNvPr>
          <p:cNvSpPr/>
          <p:nvPr/>
        </p:nvSpPr>
        <p:spPr>
          <a:xfrm>
            <a:off x="1130300" y="5562600"/>
            <a:ext cx="2730500" cy="457200"/>
          </a:xfrm>
          <a:prstGeom prst="roundRect">
            <a:avLst>
              <a:gd name="adj" fmla="val 5556"/>
            </a:avLst>
          </a:prstGeom>
          <a:solidFill>
            <a:srgbClr val="E7ECF4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637DA3F-11D7-9F4E-8E6A-127C2445A932}"/>
              </a:ext>
            </a:extLst>
          </p:cNvPr>
          <p:cNvSpPr txBox="1"/>
          <p:nvPr/>
        </p:nvSpPr>
        <p:spPr>
          <a:xfrm>
            <a:off x="1130300" y="5562600"/>
            <a:ext cx="2730500" cy="457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ctr"/>
            <a:r>
              <a:rPr lang="en-US" altLang="ko-KR" sz="1400" b="1">
                <a:solidFill>
                  <a:srgbClr val="14213D"/>
                </a:solidFill>
                <a:latin typeface="Pretendard"/>
              </a:rPr>
              <a:t>A · I · D · A </a:t>
            </a:r>
            <a:r>
              <a:rPr lang="ko-KR" altLang="en-US" sz="1400" b="1">
                <a:solidFill>
                  <a:srgbClr val="14213D"/>
                </a:solidFill>
                <a:latin typeface="Pretendard"/>
              </a:rPr>
              <a:t>순서</a:t>
            </a: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92442DB4-961C-144C-A40D-C81D9648FC41}"/>
              </a:ext>
            </a:extLst>
          </p:cNvPr>
          <p:cNvSpPr/>
          <p:nvPr/>
        </p:nvSpPr>
        <p:spPr>
          <a:xfrm>
            <a:off x="4419600" y="1905000"/>
            <a:ext cx="3340100" cy="4381500"/>
          </a:xfrm>
          <a:prstGeom prst="roundRect">
            <a:avLst>
              <a:gd name="adj" fmla="val 760"/>
            </a:avLst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E084D3C-D897-244C-8F22-836BF0D7CE09}"/>
              </a:ext>
            </a:extLst>
          </p:cNvPr>
          <p:cNvSpPr/>
          <p:nvPr/>
        </p:nvSpPr>
        <p:spPr>
          <a:xfrm>
            <a:off x="4419600" y="1905000"/>
            <a:ext cx="3340100" cy="88900"/>
          </a:xfrm>
          <a:prstGeom prst="rect">
            <a:avLst/>
          </a:prstGeom>
          <a:solidFill>
            <a:srgbClr val="1D4E89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11275042-819D-8F4A-8041-A69F56C35341}"/>
              </a:ext>
            </a:extLst>
          </p:cNvPr>
          <p:cNvSpPr/>
          <p:nvPr/>
        </p:nvSpPr>
        <p:spPr>
          <a:xfrm>
            <a:off x="4724400" y="2286000"/>
            <a:ext cx="508000" cy="508000"/>
          </a:xfrm>
          <a:prstGeom prst="ellipse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  <a:latin typeface="JetBrains Mono"/>
              </a:rPr>
              <a:t>2</a:t>
            </a:r>
            <a:endParaRPr lang="ko-KR" altLang="en-US" sz="16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2FAA452-7700-AC4D-B06D-35820BCACF76}"/>
              </a:ext>
            </a:extLst>
          </p:cNvPr>
          <p:cNvSpPr txBox="1"/>
          <p:nvPr/>
        </p:nvSpPr>
        <p:spPr>
          <a:xfrm>
            <a:off x="4724400" y="2946400"/>
            <a:ext cx="2730500" cy="584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650" b="1">
                <a:solidFill>
                  <a:srgbClr val="14213D"/>
                </a:solidFill>
                <a:latin typeface="Pretendard"/>
              </a:rPr>
              <a:t>정보 우선순위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50AB84B2-1459-1544-98AC-3A3C66C34383}"/>
              </a:ext>
            </a:extLst>
          </p:cNvPr>
          <p:cNvSpPr/>
          <p:nvPr/>
        </p:nvSpPr>
        <p:spPr>
          <a:xfrm>
            <a:off x="4724400" y="3632200"/>
            <a:ext cx="2730500" cy="12700"/>
          </a:xfrm>
          <a:prstGeom prst="rect">
            <a:avLst/>
          </a:prstGeom>
          <a:solidFill>
            <a:srgbClr val="D9E2E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28883D9-0279-EB4F-863B-9C8082A07D93}"/>
              </a:ext>
            </a:extLst>
          </p:cNvPr>
          <p:cNvSpPr txBox="1"/>
          <p:nvPr/>
        </p:nvSpPr>
        <p:spPr>
          <a:xfrm>
            <a:off x="4724400" y="3784600"/>
            <a:ext cx="2730500" cy="1625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400" dirty="0">
                <a:solidFill>
                  <a:srgbClr val="576176"/>
                </a:solidFill>
                <a:latin typeface="Pretendard"/>
              </a:rPr>
              <a:t>가장 중요한 </a:t>
            </a:r>
            <a:r>
              <a:rPr lang="en-US" altLang="ko-KR" sz="1400" dirty="0">
                <a:solidFill>
                  <a:srgbClr val="576176"/>
                </a:solidFill>
                <a:latin typeface="Pretendard"/>
              </a:rPr>
              <a:t>1</a:t>
            </a:r>
            <a:r>
              <a:rPr lang="ko-KR" altLang="en-US" sz="1400" dirty="0">
                <a:solidFill>
                  <a:srgbClr val="576176"/>
                </a:solidFill>
                <a:latin typeface="Pretendard"/>
              </a:rPr>
              <a:t>가지를 첫 화면에</a:t>
            </a:r>
            <a:r>
              <a:rPr lang="en-US" altLang="ko-KR" sz="1400" dirty="0">
                <a:solidFill>
                  <a:srgbClr val="576176"/>
                </a:solidFill>
                <a:latin typeface="Pretendard"/>
              </a:rPr>
              <a:t>. </a:t>
            </a:r>
          </a:p>
          <a:p>
            <a:pPr algn="l">
              <a:lnSpc>
                <a:spcPct val="150000"/>
              </a:lnSpc>
            </a:pPr>
            <a:endParaRPr lang="en-US" altLang="ko-KR" sz="1400" dirty="0">
              <a:solidFill>
                <a:srgbClr val="576176"/>
              </a:solidFill>
              <a:latin typeface="Pretendard"/>
            </a:endParaRPr>
          </a:p>
          <a:p>
            <a:pPr algn="l">
              <a:lnSpc>
                <a:spcPct val="150000"/>
              </a:lnSpc>
            </a:pPr>
            <a:r>
              <a:rPr lang="ko-KR" altLang="en-US" sz="1400" dirty="0">
                <a:solidFill>
                  <a:srgbClr val="576176"/>
                </a:solidFill>
                <a:latin typeface="Pretendard"/>
              </a:rPr>
              <a:t>스크롤 할수록 </a:t>
            </a:r>
            <a:endParaRPr lang="en-US" altLang="ko-KR" sz="1400" dirty="0">
              <a:solidFill>
                <a:srgbClr val="576176"/>
              </a:solidFill>
              <a:latin typeface="Pretendard"/>
            </a:endParaRPr>
          </a:p>
          <a:p>
            <a:pPr algn="l">
              <a:lnSpc>
                <a:spcPct val="150000"/>
              </a:lnSpc>
            </a:pPr>
            <a:r>
              <a:rPr lang="ko-KR" altLang="en-US" sz="1400" dirty="0">
                <a:solidFill>
                  <a:srgbClr val="576176"/>
                </a:solidFill>
                <a:latin typeface="Pretendard"/>
              </a:rPr>
              <a:t>보조 정보로 내려간다</a:t>
            </a:r>
            <a:r>
              <a:rPr lang="en-US" altLang="ko-KR" sz="1400" dirty="0">
                <a:solidFill>
                  <a:srgbClr val="576176"/>
                </a:solidFill>
                <a:latin typeface="Pretendard"/>
              </a:rPr>
              <a:t>.</a:t>
            </a:r>
            <a:endParaRPr lang="ko-KR" altLang="en-US" sz="1400" dirty="0">
              <a:solidFill>
                <a:srgbClr val="576176"/>
              </a:solidFill>
              <a:latin typeface="Pretendard"/>
            </a:endParaRP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05A5B7BE-563B-2641-AFA4-89C49705518A}"/>
              </a:ext>
            </a:extLst>
          </p:cNvPr>
          <p:cNvSpPr/>
          <p:nvPr/>
        </p:nvSpPr>
        <p:spPr>
          <a:xfrm>
            <a:off x="4724400" y="5562600"/>
            <a:ext cx="2730500" cy="457200"/>
          </a:xfrm>
          <a:prstGeom prst="roundRect">
            <a:avLst>
              <a:gd name="adj" fmla="val 5556"/>
            </a:avLst>
          </a:prstGeom>
          <a:solidFill>
            <a:srgbClr val="E4ECF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7F53154-5989-1B4A-B1BC-A3BACFF8CC59}"/>
              </a:ext>
            </a:extLst>
          </p:cNvPr>
          <p:cNvSpPr txBox="1"/>
          <p:nvPr/>
        </p:nvSpPr>
        <p:spPr>
          <a:xfrm>
            <a:off x="4724400" y="5562600"/>
            <a:ext cx="2730500" cy="457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ctr"/>
            <a:r>
              <a:rPr lang="ko-KR" altLang="en-US" sz="1400" b="1">
                <a:solidFill>
                  <a:srgbClr val="1D4E89"/>
                </a:solidFill>
                <a:latin typeface="Pretendard"/>
              </a:rPr>
              <a:t>중요한 건 위로</a:t>
            </a:r>
          </a:p>
        </p:txBody>
      </p:sp>
      <p:sp>
        <p:nvSpPr>
          <p:cNvPr id="21" name="모서리가 둥근 직사각형 20">
            <a:extLst>
              <a:ext uri="{FF2B5EF4-FFF2-40B4-BE49-F238E27FC236}">
                <a16:creationId xmlns:a16="http://schemas.microsoft.com/office/drawing/2014/main" id="{DF40025F-0870-1F48-A71C-62DFC8706E49}"/>
              </a:ext>
            </a:extLst>
          </p:cNvPr>
          <p:cNvSpPr/>
          <p:nvPr/>
        </p:nvSpPr>
        <p:spPr>
          <a:xfrm>
            <a:off x="8013700" y="1905000"/>
            <a:ext cx="3340100" cy="4381500"/>
          </a:xfrm>
          <a:prstGeom prst="roundRect">
            <a:avLst>
              <a:gd name="adj" fmla="val 760"/>
            </a:avLst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D63860E3-A16D-574B-9B6C-DD5E332A324C}"/>
              </a:ext>
            </a:extLst>
          </p:cNvPr>
          <p:cNvSpPr/>
          <p:nvPr/>
        </p:nvSpPr>
        <p:spPr>
          <a:xfrm>
            <a:off x="8013700" y="1905000"/>
            <a:ext cx="3340100" cy="88900"/>
          </a:xfrm>
          <a:prstGeom prst="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AADBCE2B-D8FA-A046-8DCF-25B9A9876FDC}"/>
              </a:ext>
            </a:extLst>
          </p:cNvPr>
          <p:cNvSpPr/>
          <p:nvPr/>
        </p:nvSpPr>
        <p:spPr>
          <a:xfrm>
            <a:off x="8318500" y="2286000"/>
            <a:ext cx="508000" cy="508000"/>
          </a:xfrm>
          <a:prstGeom prst="ellipse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  <a:latin typeface="JetBrains Mono"/>
              </a:rPr>
              <a:t>3</a:t>
            </a:r>
            <a:endParaRPr lang="ko-KR" altLang="en-US" sz="16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5715B33-8034-1140-ABDE-B7D6D12CF62B}"/>
              </a:ext>
            </a:extLst>
          </p:cNvPr>
          <p:cNvSpPr txBox="1"/>
          <p:nvPr/>
        </p:nvSpPr>
        <p:spPr>
          <a:xfrm>
            <a:off x="8318500" y="2946400"/>
            <a:ext cx="2730500" cy="584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650" b="1">
                <a:solidFill>
                  <a:srgbClr val="14213D"/>
                </a:solidFill>
                <a:latin typeface="Pretendard"/>
              </a:rPr>
              <a:t>인지 부하 줄이기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6B62243A-3C47-094B-9FF3-2EDD8AF2ABCE}"/>
              </a:ext>
            </a:extLst>
          </p:cNvPr>
          <p:cNvSpPr/>
          <p:nvPr/>
        </p:nvSpPr>
        <p:spPr>
          <a:xfrm>
            <a:off x="8318500" y="3632200"/>
            <a:ext cx="2730500" cy="12700"/>
          </a:xfrm>
          <a:prstGeom prst="rect">
            <a:avLst/>
          </a:prstGeom>
          <a:solidFill>
            <a:srgbClr val="D9E2E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B51075D-03EC-D641-8995-CECF54D51467}"/>
              </a:ext>
            </a:extLst>
          </p:cNvPr>
          <p:cNvSpPr txBox="1"/>
          <p:nvPr/>
        </p:nvSpPr>
        <p:spPr>
          <a:xfrm>
            <a:off x="8318500" y="3784600"/>
            <a:ext cx="2730500" cy="1625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400" dirty="0">
                <a:solidFill>
                  <a:srgbClr val="576176"/>
                </a:solidFill>
                <a:latin typeface="Pretendard"/>
              </a:rPr>
              <a:t>한 섹션 한 메시지</a:t>
            </a:r>
            <a:r>
              <a:rPr lang="en-US" altLang="ko-KR" sz="1400" dirty="0">
                <a:solidFill>
                  <a:srgbClr val="576176"/>
                </a:solidFill>
                <a:latin typeface="Pretendard"/>
              </a:rPr>
              <a:t>. </a:t>
            </a:r>
          </a:p>
          <a:p>
            <a:pPr algn="l">
              <a:lnSpc>
                <a:spcPct val="150000"/>
              </a:lnSpc>
            </a:pPr>
            <a:endParaRPr lang="en-US" altLang="ko-KR" sz="1400" dirty="0">
              <a:solidFill>
                <a:srgbClr val="576176"/>
              </a:solidFill>
              <a:latin typeface="Pretendard"/>
            </a:endParaRPr>
          </a:p>
          <a:p>
            <a:pPr algn="l">
              <a:lnSpc>
                <a:spcPct val="150000"/>
              </a:lnSpc>
            </a:pPr>
            <a:r>
              <a:rPr lang="ko-KR" altLang="en-US" sz="1400" dirty="0">
                <a:solidFill>
                  <a:srgbClr val="576176"/>
                </a:solidFill>
                <a:latin typeface="Pretendard"/>
              </a:rPr>
              <a:t>선택지를 줄여 </a:t>
            </a:r>
            <a:endParaRPr lang="en-US" altLang="ko-KR" sz="1400" dirty="0">
              <a:solidFill>
                <a:srgbClr val="576176"/>
              </a:solidFill>
              <a:latin typeface="Pretendard"/>
            </a:endParaRPr>
          </a:p>
          <a:p>
            <a:pPr algn="l">
              <a:lnSpc>
                <a:spcPct val="150000"/>
              </a:lnSpc>
            </a:pPr>
            <a:r>
              <a:rPr lang="ko-KR" altLang="en-US" sz="1400" dirty="0">
                <a:solidFill>
                  <a:srgbClr val="576176"/>
                </a:solidFill>
                <a:latin typeface="Pretendard"/>
              </a:rPr>
              <a:t>행동을 쉽게 만든다</a:t>
            </a:r>
            <a:r>
              <a:rPr lang="en-US" altLang="ko-KR" sz="1400" dirty="0">
                <a:solidFill>
                  <a:srgbClr val="576176"/>
                </a:solidFill>
                <a:latin typeface="Pretendard"/>
              </a:rPr>
              <a:t>.</a:t>
            </a:r>
            <a:endParaRPr lang="ko-KR" altLang="en-US" sz="1400" dirty="0">
              <a:solidFill>
                <a:srgbClr val="576176"/>
              </a:solidFill>
              <a:latin typeface="Pretendard"/>
            </a:endParaRPr>
          </a:p>
        </p:txBody>
      </p:sp>
      <p:sp>
        <p:nvSpPr>
          <p:cNvPr id="27" name="모서리가 둥근 직사각형 26">
            <a:extLst>
              <a:ext uri="{FF2B5EF4-FFF2-40B4-BE49-F238E27FC236}">
                <a16:creationId xmlns:a16="http://schemas.microsoft.com/office/drawing/2014/main" id="{BF4E4954-2B2A-9443-BD82-7D34B9499AFF}"/>
              </a:ext>
            </a:extLst>
          </p:cNvPr>
          <p:cNvSpPr/>
          <p:nvPr/>
        </p:nvSpPr>
        <p:spPr>
          <a:xfrm>
            <a:off x="8318500" y="5562600"/>
            <a:ext cx="2730500" cy="457200"/>
          </a:xfrm>
          <a:prstGeom prst="roundRect">
            <a:avLst>
              <a:gd name="adj" fmla="val 5556"/>
            </a:avLst>
          </a:prstGeom>
          <a:solidFill>
            <a:srgbClr val="FBEF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A36D96E-1E2C-CA4D-9AF2-7DC22F76C5DD}"/>
              </a:ext>
            </a:extLst>
          </p:cNvPr>
          <p:cNvSpPr txBox="1"/>
          <p:nvPr/>
        </p:nvSpPr>
        <p:spPr>
          <a:xfrm>
            <a:off x="8318500" y="5562600"/>
            <a:ext cx="2730500" cy="457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ctr"/>
            <a:r>
              <a:rPr lang="ko-KR" altLang="en-US" sz="1400" b="1">
                <a:solidFill>
                  <a:srgbClr val="9A6B12"/>
                </a:solidFill>
                <a:latin typeface="Pretendard"/>
              </a:rPr>
              <a:t>한 섹션 한 메시지</a:t>
            </a:r>
          </a:p>
        </p:txBody>
      </p:sp>
      <p:sp>
        <p:nvSpPr>
          <p:cNvPr id="4" name="PageNumber">
            <a:extLst>
              <a:ext uri="{FF2B5EF4-FFF2-40B4-BE49-F238E27FC236}">
                <a16:creationId xmlns:a16="http://schemas.microsoft.com/office/drawing/2014/main" id="{5B4B0AEF-79ED-5542-9163-CBF645640619}"/>
              </a:ext>
            </a:extLst>
          </p:cNvPr>
          <p:cNvSpPr txBox="1"/>
          <p:nvPr/>
        </p:nvSpPr>
        <p:spPr>
          <a:xfrm>
            <a:off x="9499600" y="6489700"/>
            <a:ext cx="23368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r"/>
            <a:r>
              <a:rPr lang="en-US" altLang="ko-KR" sz="1200">
                <a:solidFill>
                  <a:srgbClr val="576176"/>
                </a:solidFill>
                <a:latin typeface="Pretendard"/>
              </a:rPr>
              <a:t>- 116/144 -</a:t>
            </a:r>
            <a:endParaRPr lang="ko-KR" altLang="en-US" sz="1200">
              <a:solidFill>
                <a:srgbClr val="576176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1580956438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개념 깊이 보기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개념을 예시로 — 우리 케이스에 적용하면</a:t>
            </a: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592F8F11-68AF-3845-BDC3-B99053873780}"/>
              </a:ext>
            </a:extLst>
          </p:cNvPr>
          <p:cNvSpPr/>
          <p:nvPr/>
        </p:nvSpPr>
        <p:spPr>
          <a:xfrm>
            <a:off x="825500" y="1905000"/>
            <a:ext cx="5461000" cy="4381500"/>
          </a:xfrm>
          <a:prstGeom prst="roundRect">
            <a:avLst>
              <a:gd name="adj" fmla="val 580"/>
            </a:avLst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58CF4D-C26D-D346-B3FA-839A52B3D3E5}"/>
              </a:ext>
            </a:extLst>
          </p:cNvPr>
          <p:cNvSpPr txBox="1"/>
          <p:nvPr/>
        </p:nvSpPr>
        <p:spPr>
          <a:xfrm>
            <a:off x="1181100" y="2159000"/>
            <a:ext cx="4749800" cy="355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b="1">
                <a:solidFill>
                  <a:srgbClr val="14213D"/>
                </a:solidFill>
                <a:latin typeface="Pretendard"/>
              </a:rPr>
              <a:t>AIDA </a:t>
            </a:r>
            <a:r>
              <a:rPr lang="ko-KR" altLang="en-US" b="1">
                <a:solidFill>
                  <a:srgbClr val="14213D"/>
                </a:solidFill>
                <a:latin typeface="Pretendard"/>
              </a:rPr>
              <a:t>흐름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E7D16C-7E93-444A-B835-F0DBAD5E2C4B}"/>
              </a:ext>
            </a:extLst>
          </p:cNvPr>
          <p:cNvSpPr txBox="1"/>
          <p:nvPr/>
        </p:nvSpPr>
        <p:spPr>
          <a:xfrm>
            <a:off x="1181100" y="2540000"/>
            <a:ext cx="47498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400">
                <a:solidFill>
                  <a:srgbClr val="576176"/>
                </a:solidFill>
                <a:latin typeface="Pretendard"/>
              </a:rPr>
              <a:t>섹션 순서를 정하는 공식</a:t>
            </a: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330009FC-9D0B-C340-A929-C5DCA73D581E}"/>
              </a:ext>
            </a:extLst>
          </p:cNvPr>
          <p:cNvSpPr/>
          <p:nvPr/>
        </p:nvSpPr>
        <p:spPr>
          <a:xfrm>
            <a:off x="1181100" y="2971800"/>
            <a:ext cx="482600" cy="482600"/>
          </a:xfrm>
          <a:prstGeom prst="ellipse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500" b="1">
                <a:solidFill>
                  <a:srgbClr val="FFFFFF"/>
                </a:solidFill>
                <a:latin typeface="JetBrains Mono"/>
              </a:rPr>
              <a:t>A</a:t>
            </a:r>
            <a:endParaRPr lang="ko-KR" altLang="en-US" sz="15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8122058-5988-F343-A99B-A4629F0AFF03}"/>
              </a:ext>
            </a:extLst>
          </p:cNvPr>
          <p:cNvSpPr txBox="1"/>
          <p:nvPr/>
        </p:nvSpPr>
        <p:spPr>
          <a:xfrm>
            <a:off x="1841500" y="2959100"/>
            <a:ext cx="2540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400" b="1">
                <a:solidFill>
                  <a:srgbClr val="14213D"/>
                </a:solidFill>
                <a:latin typeface="Pretendard"/>
              </a:rPr>
              <a:t>Attention</a:t>
            </a:r>
            <a:endParaRPr lang="ko-KR" altLang="en-US" sz="1400" b="1">
              <a:solidFill>
                <a:srgbClr val="14213D"/>
              </a:solidFill>
              <a:latin typeface="Pretendard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B740278-220F-0A42-B33C-DED202C43BB2}"/>
              </a:ext>
            </a:extLst>
          </p:cNvPr>
          <p:cNvSpPr txBox="1"/>
          <p:nvPr/>
        </p:nvSpPr>
        <p:spPr>
          <a:xfrm>
            <a:off x="1841500" y="3213100"/>
            <a:ext cx="38100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400">
                <a:solidFill>
                  <a:srgbClr val="576176"/>
                </a:solidFill>
                <a:latin typeface="Pretendard"/>
              </a:rPr>
              <a:t>시선을 끈다</a:t>
            </a: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DD05461A-E763-2344-B87C-CD3916FBA271}"/>
              </a:ext>
            </a:extLst>
          </p:cNvPr>
          <p:cNvSpPr/>
          <p:nvPr/>
        </p:nvSpPr>
        <p:spPr>
          <a:xfrm>
            <a:off x="1181100" y="3733800"/>
            <a:ext cx="482600" cy="482600"/>
          </a:xfrm>
          <a:prstGeom prst="ellipse">
            <a:avLst/>
          </a:prstGeom>
          <a:solidFill>
            <a:srgbClr val="1D4E89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500" b="1">
                <a:solidFill>
                  <a:srgbClr val="FFFFFF"/>
                </a:solidFill>
                <a:latin typeface="JetBrains Mono"/>
              </a:rPr>
              <a:t>I</a:t>
            </a:r>
            <a:endParaRPr lang="ko-KR" altLang="en-US" sz="15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D79E6C1-0D61-A648-B7DC-B43EB1E03600}"/>
              </a:ext>
            </a:extLst>
          </p:cNvPr>
          <p:cNvSpPr txBox="1"/>
          <p:nvPr/>
        </p:nvSpPr>
        <p:spPr>
          <a:xfrm>
            <a:off x="1841500" y="3721100"/>
            <a:ext cx="2540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400" b="1">
                <a:solidFill>
                  <a:srgbClr val="14213D"/>
                </a:solidFill>
                <a:latin typeface="Pretendard"/>
              </a:rPr>
              <a:t>Interest</a:t>
            </a:r>
            <a:endParaRPr lang="ko-KR" altLang="en-US" sz="1400" b="1">
              <a:solidFill>
                <a:srgbClr val="14213D"/>
              </a:solidFill>
              <a:latin typeface="Pretendard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506616E-3806-A240-A49D-8FC30C7BB7FE}"/>
              </a:ext>
            </a:extLst>
          </p:cNvPr>
          <p:cNvSpPr txBox="1"/>
          <p:nvPr/>
        </p:nvSpPr>
        <p:spPr>
          <a:xfrm>
            <a:off x="1841500" y="3975100"/>
            <a:ext cx="38100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400">
                <a:solidFill>
                  <a:srgbClr val="576176"/>
                </a:solidFill>
                <a:latin typeface="Pretendard"/>
              </a:rPr>
              <a:t>흥미를 만든다</a:t>
            </a: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FF12D5A5-2E7A-BB45-8059-6F64E7796B43}"/>
              </a:ext>
            </a:extLst>
          </p:cNvPr>
          <p:cNvSpPr/>
          <p:nvPr/>
        </p:nvSpPr>
        <p:spPr>
          <a:xfrm>
            <a:off x="1181100" y="4495800"/>
            <a:ext cx="482600" cy="482600"/>
          </a:xfrm>
          <a:prstGeom prst="ellipse">
            <a:avLst/>
          </a:prstGeom>
          <a:solidFill>
            <a:srgbClr val="1D4E89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500" b="1">
                <a:solidFill>
                  <a:srgbClr val="FFFFFF"/>
                </a:solidFill>
                <a:latin typeface="JetBrains Mono"/>
              </a:rPr>
              <a:t>D</a:t>
            </a:r>
            <a:endParaRPr lang="ko-KR" altLang="en-US" sz="15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004FDEF-569F-A649-9BD6-0E0116DA5BD9}"/>
              </a:ext>
            </a:extLst>
          </p:cNvPr>
          <p:cNvSpPr txBox="1"/>
          <p:nvPr/>
        </p:nvSpPr>
        <p:spPr>
          <a:xfrm>
            <a:off x="1841500" y="4483100"/>
            <a:ext cx="2540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400" b="1">
                <a:solidFill>
                  <a:srgbClr val="14213D"/>
                </a:solidFill>
                <a:latin typeface="Pretendard"/>
              </a:rPr>
              <a:t>Desire</a:t>
            </a:r>
            <a:endParaRPr lang="ko-KR" altLang="en-US" sz="1400" b="1">
              <a:solidFill>
                <a:srgbClr val="14213D"/>
              </a:solidFill>
              <a:latin typeface="Pretendard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D47E8BB-6EDB-4B4D-B3FE-7706F53FF0E0}"/>
              </a:ext>
            </a:extLst>
          </p:cNvPr>
          <p:cNvSpPr txBox="1"/>
          <p:nvPr/>
        </p:nvSpPr>
        <p:spPr>
          <a:xfrm>
            <a:off x="1841500" y="4737100"/>
            <a:ext cx="38100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400">
                <a:solidFill>
                  <a:srgbClr val="576176"/>
                </a:solidFill>
                <a:latin typeface="Pretendard"/>
              </a:rPr>
              <a:t>갖고 싶게 한다</a:t>
            </a: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AB7CEE9B-9823-B945-BA09-3619211E9FB9}"/>
              </a:ext>
            </a:extLst>
          </p:cNvPr>
          <p:cNvSpPr/>
          <p:nvPr/>
        </p:nvSpPr>
        <p:spPr>
          <a:xfrm>
            <a:off x="1181100" y="5257800"/>
            <a:ext cx="482600" cy="482600"/>
          </a:xfrm>
          <a:prstGeom prst="ellipse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500" b="1">
                <a:solidFill>
                  <a:srgbClr val="FFFFFF"/>
                </a:solidFill>
                <a:latin typeface="JetBrains Mono"/>
              </a:rPr>
              <a:t>A</a:t>
            </a:r>
            <a:endParaRPr lang="ko-KR" altLang="en-US" sz="15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2B0EAAF-D5E9-664D-865C-476FF4BF456D}"/>
              </a:ext>
            </a:extLst>
          </p:cNvPr>
          <p:cNvSpPr txBox="1"/>
          <p:nvPr/>
        </p:nvSpPr>
        <p:spPr>
          <a:xfrm>
            <a:off x="1841500" y="5245100"/>
            <a:ext cx="2540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400" b="1">
                <a:solidFill>
                  <a:srgbClr val="14213D"/>
                </a:solidFill>
                <a:latin typeface="Pretendard"/>
              </a:rPr>
              <a:t>Action</a:t>
            </a:r>
            <a:endParaRPr lang="ko-KR" altLang="en-US" sz="1400" b="1">
              <a:solidFill>
                <a:srgbClr val="14213D"/>
              </a:solidFill>
              <a:latin typeface="Pretendard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BCD4665-D2EC-C64D-A27B-335B4966B0D2}"/>
              </a:ext>
            </a:extLst>
          </p:cNvPr>
          <p:cNvSpPr txBox="1"/>
          <p:nvPr/>
        </p:nvSpPr>
        <p:spPr>
          <a:xfrm>
            <a:off x="1841500" y="5499100"/>
            <a:ext cx="38100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400">
                <a:solidFill>
                  <a:srgbClr val="576176"/>
                </a:solidFill>
                <a:latin typeface="Pretendard"/>
              </a:rPr>
              <a:t>행동하게 한다</a:t>
            </a:r>
          </a:p>
        </p:txBody>
      </p:sp>
      <p:sp>
        <p:nvSpPr>
          <p:cNvPr id="20" name="모서리가 둥근 직사각형 19">
            <a:extLst>
              <a:ext uri="{FF2B5EF4-FFF2-40B4-BE49-F238E27FC236}">
                <a16:creationId xmlns:a16="http://schemas.microsoft.com/office/drawing/2014/main" id="{FF18BB15-50CC-9A4C-9EC1-866FC3FD8E21}"/>
              </a:ext>
            </a:extLst>
          </p:cNvPr>
          <p:cNvSpPr/>
          <p:nvPr/>
        </p:nvSpPr>
        <p:spPr>
          <a:xfrm>
            <a:off x="6540500" y="1905000"/>
            <a:ext cx="4826000" cy="4381500"/>
          </a:xfrm>
          <a:prstGeom prst="roundRect">
            <a:avLst>
              <a:gd name="adj" fmla="val 580"/>
            </a:avLst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1E2275B-B454-8F42-ABD6-2D6C5568F61A}"/>
              </a:ext>
            </a:extLst>
          </p:cNvPr>
          <p:cNvSpPr txBox="1"/>
          <p:nvPr/>
        </p:nvSpPr>
        <p:spPr>
          <a:xfrm>
            <a:off x="6845300" y="2159000"/>
            <a:ext cx="4216400" cy="355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b="1">
                <a:solidFill>
                  <a:srgbClr val="FFFFFF"/>
                </a:solidFill>
                <a:latin typeface="Pretendard"/>
              </a:rPr>
              <a:t>섹션에 매핑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1511995-A8F0-3046-A031-0B00DF5B3FFD}"/>
              </a:ext>
            </a:extLst>
          </p:cNvPr>
          <p:cNvSpPr txBox="1"/>
          <p:nvPr/>
        </p:nvSpPr>
        <p:spPr>
          <a:xfrm>
            <a:off x="6845300" y="2540000"/>
            <a:ext cx="42164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400">
                <a:solidFill>
                  <a:srgbClr val="E8A33D"/>
                </a:solidFill>
                <a:latin typeface="Pretendard"/>
              </a:rPr>
              <a:t>위에서 아래로 배열</a:t>
            </a:r>
          </a:p>
        </p:txBody>
      </p:sp>
      <p:sp>
        <p:nvSpPr>
          <p:cNvPr id="23" name="모서리가 둥근 직사각형 22">
            <a:extLst>
              <a:ext uri="{FF2B5EF4-FFF2-40B4-BE49-F238E27FC236}">
                <a16:creationId xmlns:a16="http://schemas.microsoft.com/office/drawing/2014/main" id="{0346774F-85A0-654D-909C-94C863B08BBA}"/>
              </a:ext>
            </a:extLst>
          </p:cNvPr>
          <p:cNvSpPr/>
          <p:nvPr/>
        </p:nvSpPr>
        <p:spPr>
          <a:xfrm>
            <a:off x="6845300" y="2971800"/>
            <a:ext cx="4216400" cy="685800"/>
          </a:xfrm>
          <a:prstGeom prst="roundRect">
            <a:avLst>
              <a:gd name="adj" fmla="val 3704"/>
            </a:avLst>
          </a:prstGeom>
          <a:solidFill>
            <a:srgbClr val="20314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4" name="모서리가 둥근 직사각형 23">
            <a:extLst>
              <a:ext uri="{FF2B5EF4-FFF2-40B4-BE49-F238E27FC236}">
                <a16:creationId xmlns:a16="http://schemas.microsoft.com/office/drawing/2014/main" id="{FBD7C172-01D9-D346-A7A5-E1B0358004A8}"/>
              </a:ext>
            </a:extLst>
          </p:cNvPr>
          <p:cNvSpPr/>
          <p:nvPr/>
        </p:nvSpPr>
        <p:spPr>
          <a:xfrm>
            <a:off x="7023100" y="3136900"/>
            <a:ext cx="355600" cy="355600"/>
          </a:xfrm>
          <a:prstGeom prst="roundRect">
            <a:avLst>
              <a:gd name="adj" fmla="val 7143"/>
            </a:avLst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400" b="1">
                <a:solidFill>
                  <a:srgbClr val="14213D"/>
                </a:solidFill>
                <a:latin typeface="JetBrains Mono"/>
              </a:rPr>
              <a:t>A</a:t>
            </a:r>
            <a:endParaRPr lang="ko-KR" altLang="en-US" sz="1400" b="1">
              <a:solidFill>
                <a:srgbClr val="14213D"/>
              </a:solidFill>
              <a:latin typeface="JetBrains Mono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61C1752-9E21-2449-AD3A-0E81241E5D2D}"/>
              </a:ext>
            </a:extLst>
          </p:cNvPr>
          <p:cNvSpPr txBox="1"/>
          <p:nvPr/>
        </p:nvSpPr>
        <p:spPr>
          <a:xfrm>
            <a:off x="7556500" y="2971800"/>
            <a:ext cx="3302000" cy="685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500" b="1">
                <a:solidFill>
                  <a:srgbClr val="FFFFFF"/>
                </a:solidFill>
                <a:latin typeface="Pretendard"/>
              </a:rPr>
              <a:t>히어로 섹션</a:t>
            </a:r>
          </a:p>
        </p:txBody>
      </p:sp>
      <p:sp>
        <p:nvSpPr>
          <p:cNvPr id="26" name="모서리가 둥근 직사각형 25">
            <a:extLst>
              <a:ext uri="{FF2B5EF4-FFF2-40B4-BE49-F238E27FC236}">
                <a16:creationId xmlns:a16="http://schemas.microsoft.com/office/drawing/2014/main" id="{EFDFA017-C126-684F-9B96-337E19FF27FF}"/>
              </a:ext>
            </a:extLst>
          </p:cNvPr>
          <p:cNvSpPr/>
          <p:nvPr/>
        </p:nvSpPr>
        <p:spPr>
          <a:xfrm>
            <a:off x="6845300" y="3759200"/>
            <a:ext cx="4216400" cy="685800"/>
          </a:xfrm>
          <a:prstGeom prst="roundRect">
            <a:avLst>
              <a:gd name="adj" fmla="val 3704"/>
            </a:avLst>
          </a:prstGeom>
          <a:solidFill>
            <a:srgbClr val="20314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7" name="모서리가 둥근 직사각형 26">
            <a:extLst>
              <a:ext uri="{FF2B5EF4-FFF2-40B4-BE49-F238E27FC236}">
                <a16:creationId xmlns:a16="http://schemas.microsoft.com/office/drawing/2014/main" id="{1BC53AD4-4B38-9647-9426-FBE7700CEFD4}"/>
              </a:ext>
            </a:extLst>
          </p:cNvPr>
          <p:cNvSpPr/>
          <p:nvPr/>
        </p:nvSpPr>
        <p:spPr>
          <a:xfrm>
            <a:off x="7023100" y="3924300"/>
            <a:ext cx="355600" cy="355600"/>
          </a:xfrm>
          <a:prstGeom prst="roundRect">
            <a:avLst>
              <a:gd name="adj" fmla="val 7143"/>
            </a:avLst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400" b="1">
                <a:solidFill>
                  <a:srgbClr val="14213D"/>
                </a:solidFill>
                <a:latin typeface="JetBrains Mono"/>
              </a:rPr>
              <a:t>I</a:t>
            </a:r>
            <a:endParaRPr lang="ko-KR" altLang="en-US" sz="1400" b="1">
              <a:solidFill>
                <a:srgbClr val="14213D"/>
              </a:solidFill>
              <a:latin typeface="JetBrains Mono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02FAC4C-CCCF-0C42-A060-83C51EC608A8}"/>
              </a:ext>
            </a:extLst>
          </p:cNvPr>
          <p:cNvSpPr txBox="1"/>
          <p:nvPr/>
        </p:nvSpPr>
        <p:spPr>
          <a:xfrm>
            <a:off x="7556500" y="3759200"/>
            <a:ext cx="3302000" cy="685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500" b="1">
                <a:solidFill>
                  <a:srgbClr val="FFFFFF"/>
                </a:solidFill>
                <a:latin typeface="Pretendard"/>
              </a:rPr>
              <a:t>특징</a:t>
            </a:r>
          </a:p>
        </p:txBody>
      </p:sp>
      <p:sp>
        <p:nvSpPr>
          <p:cNvPr id="29" name="모서리가 둥근 직사각형 28">
            <a:extLst>
              <a:ext uri="{FF2B5EF4-FFF2-40B4-BE49-F238E27FC236}">
                <a16:creationId xmlns:a16="http://schemas.microsoft.com/office/drawing/2014/main" id="{33B6098D-2857-E746-A65D-AFB3E98A70B7}"/>
              </a:ext>
            </a:extLst>
          </p:cNvPr>
          <p:cNvSpPr/>
          <p:nvPr/>
        </p:nvSpPr>
        <p:spPr>
          <a:xfrm>
            <a:off x="6845300" y="4546600"/>
            <a:ext cx="4216400" cy="685800"/>
          </a:xfrm>
          <a:prstGeom prst="roundRect">
            <a:avLst>
              <a:gd name="adj" fmla="val 3704"/>
            </a:avLst>
          </a:prstGeom>
          <a:solidFill>
            <a:srgbClr val="20314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0" name="모서리가 둥근 직사각형 29">
            <a:extLst>
              <a:ext uri="{FF2B5EF4-FFF2-40B4-BE49-F238E27FC236}">
                <a16:creationId xmlns:a16="http://schemas.microsoft.com/office/drawing/2014/main" id="{A01DA53F-C90F-9E4F-A72F-24634A27F03B}"/>
              </a:ext>
            </a:extLst>
          </p:cNvPr>
          <p:cNvSpPr/>
          <p:nvPr/>
        </p:nvSpPr>
        <p:spPr>
          <a:xfrm>
            <a:off x="7023100" y="4711700"/>
            <a:ext cx="355600" cy="355600"/>
          </a:xfrm>
          <a:prstGeom prst="roundRect">
            <a:avLst>
              <a:gd name="adj" fmla="val 7143"/>
            </a:avLst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400" b="1">
                <a:solidFill>
                  <a:srgbClr val="14213D"/>
                </a:solidFill>
                <a:latin typeface="JetBrains Mono"/>
              </a:rPr>
              <a:t>D</a:t>
            </a:r>
            <a:endParaRPr lang="ko-KR" altLang="en-US" sz="1400" b="1">
              <a:solidFill>
                <a:srgbClr val="14213D"/>
              </a:solidFill>
              <a:latin typeface="JetBrains Mono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C995DAD-DFC3-2A4B-A509-8C7FE644E70C}"/>
              </a:ext>
            </a:extLst>
          </p:cNvPr>
          <p:cNvSpPr txBox="1"/>
          <p:nvPr/>
        </p:nvSpPr>
        <p:spPr>
          <a:xfrm>
            <a:off x="7556500" y="4546600"/>
            <a:ext cx="3302000" cy="685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500" b="1">
                <a:solidFill>
                  <a:srgbClr val="FFFFFF"/>
                </a:solidFill>
                <a:latin typeface="Pretendard"/>
              </a:rPr>
              <a:t>후기 </a:t>
            </a:r>
            <a:r>
              <a:rPr lang="en-US" altLang="ko-KR" sz="1500" b="1">
                <a:solidFill>
                  <a:srgbClr val="FFFFFF"/>
                </a:solidFill>
                <a:latin typeface="Pretendard"/>
              </a:rPr>
              <a:t>· </a:t>
            </a:r>
            <a:r>
              <a:rPr lang="ko-KR" altLang="en-US" sz="1500" b="1">
                <a:solidFill>
                  <a:srgbClr val="FFFFFF"/>
                </a:solidFill>
                <a:latin typeface="Pretendard"/>
              </a:rPr>
              <a:t>사회적 증거</a:t>
            </a:r>
          </a:p>
        </p:txBody>
      </p:sp>
      <p:sp>
        <p:nvSpPr>
          <p:cNvPr id="32" name="모서리가 둥근 직사각형 31">
            <a:extLst>
              <a:ext uri="{FF2B5EF4-FFF2-40B4-BE49-F238E27FC236}">
                <a16:creationId xmlns:a16="http://schemas.microsoft.com/office/drawing/2014/main" id="{D99D3861-7ADD-1648-B2EF-A50768F722AD}"/>
              </a:ext>
            </a:extLst>
          </p:cNvPr>
          <p:cNvSpPr/>
          <p:nvPr/>
        </p:nvSpPr>
        <p:spPr>
          <a:xfrm>
            <a:off x="6845300" y="5334000"/>
            <a:ext cx="4216400" cy="685800"/>
          </a:xfrm>
          <a:prstGeom prst="roundRect">
            <a:avLst>
              <a:gd name="adj" fmla="val 3704"/>
            </a:avLst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3" name="모서리가 둥근 직사각형 32">
            <a:extLst>
              <a:ext uri="{FF2B5EF4-FFF2-40B4-BE49-F238E27FC236}">
                <a16:creationId xmlns:a16="http://schemas.microsoft.com/office/drawing/2014/main" id="{2F5DC481-3E3E-9540-A257-8D2479DEEEC5}"/>
              </a:ext>
            </a:extLst>
          </p:cNvPr>
          <p:cNvSpPr/>
          <p:nvPr/>
        </p:nvSpPr>
        <p:spPr>
          <a:xfrm>
            <a:off x="7023100" y="5499100"/>
            <a:ext cx="355600" cy="355600"/>
          </a:xfrm>
          <a:prstGeom prst="roundRect">
            <a:avLst>
              <a:gd name="adj" fmla="val 7143"/>
            </a:avLst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400" b="1">
                <a:solidFill>
                  <a:srgbClr val="FFFFFF"/>
                </a:solidFill>
                <a:latin typeface="JetBrains Mono"/>
              </a:rPr>
              <a:t>A</a:t>
            </a:r>
            <a:endParaRPr lang="ko-KR" altLang="en-US" sz="14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56DC1F8-D140-B24C-ACF1-D32C17BE097A}"/>
              </a:ext>
            </a:extLst>
          </p:cNvPr>
          <p:cNvSpPr txBox="1"/>
          <p:nvPr/>
        </p:nvSpPr>
        <p:spPr>
          <a:xfrm>
            <a:off x="7556500" y="5334000"/>
            <a:ext cx="3302000" cy="685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altLang="ko-KR" sz="1500" b="1">
                <a:solidFill>
                  <a:srgbClr val="14213D"/>
                </a:solidFill>
                <a:latin typeface="Pretendard"/>
              </a:rPr>
              <a:t>CTA</a:t>
            </a:r>
            <a:endParaRPr lang="ko-KR" altLang="en-US" sz="1500" b="1">
              <a:solidFill>
                <a:srgbClr val="14213D"/>
              </a:solidFill>
              <a:latin typeface="Pretendard"/>
            </a:endParaRPr>
          </a:p>
        </p:txBody>
      </p:sp>
      <p:sp>
        <p:nvSpPr>
          <p:cNvPr id="4" name="PageNumber">
            <a:extLst>
              <a:ext uri="{FF2B5EF4-FFF2-40B4-BE49-F238E27FC236}">
                <a16:creationId xmlns:a16="http://schemas.microsoft.com/office/drawing/2014/main" id="{F4EDF783-34BD-A144-A628-36B228571042}"/>
              </a:ext>
            </a:extLst>
          </p:cNvPr>
          <p:cNvSpPr txBox="1"/>
          <p:nvPr/>
        </p:nvSpPr>
        <p:spPr>
          <a:xfrm>
            <a:off x="9499600" y="6489700"/>
            <a:ext cx="23368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r"/>
            <a:r>
              <a:rPr lang="en-US" altLang="ko-KR" sz="1200">
                <a:solidFill>
                  <a:srgbClr val="576176"/>
                </a:solidFill>
                <a:latin typeface="Pretendard"/>
              </a:rPr>
              <a:t>- 117/144 -</a:t>
            </a:r>
            <a:endParaRPr lang="ko-KR" altLang="en-US" sz="1200">
              <a:solidFill>
                <a:srgbClr val="576176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770155137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실습 절차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실습 절차 — 직접 해봅니다</a:t>
            </a: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FE3BCC13-01AC-134F-816D-7FF976D8A74F}"/>
              </a:ext>
            </a:extLst>
          </p:cNvPr>
          <p:cNvSpPr/>
          <p:nvPr/>
        </p:nvSpPr>
        <p:spPr>
          <a:xfrm>
            <a:off x="825500" y="1930400"/>
            <a:ext cx="10541000" cy="939800"/>
          </a:xfrm>
          <a:prstGeom prst="roundRect">
            <a:avLst>
              <a:gd name="adj" fmla="val 2703"/>
            </a:avLst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D5E5D3F-CD27-6B4C-A58C-70BD20D6EDBD}"/>
              </a:ext>
            </a:extLst>
          </p:cNvPr>
          <p:cNvSpPr/>
          <p:nvPr/>
        </p:nvSpPr>
        <p:spPr>
          <a:xfrm>
            <a:off x="825500" y="1930400"/>
            <a:ext cx="76200" cy="939800"/>
          </a:xfrm>
          <a:prstGeom prst="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F1ECCC3A-4AA1-C14A-8AA6-0E2964CB45CB}"/>
              </a:ext>
            </a:extLst>
          </p:cNvPr>
          <p:cNvSpPr/>
          <p:nvPr/>
        </p:nvSpPr>
        <p:spPr>
          <a:xfrm>
            <a:off x="1143000" y="2159000"/>
            <a:ext cx="482600" cy="482600"/>
          </a:xfrm>
          <a:prstGeom prst="ellipse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  <a:latin typeface="JetBrains Mono"/>
              </a:rPr>
              <a:t>1</a:t>
            </a:r>
            <a:endParaRPr lang="ko-KR" altLang="en-US" sz="16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C7B952-34C1-0F45-9330-BD4E5EB3547B}"/>
              </a:ext>
            </a:extLst>
          </p:cNvPr>
          <p:cNvSpPr txBox="1"/>
          <p:nvPr/>
        </p:nvSpPr>
        <p:spPr>
          <a:xfrm>
            <a:off x="1905000" y="2212461"/>
            <a:ext cx="2540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14213D"/>
                </a:solidFill>
                <a:latin typeface="Pretendard"/>
              </a:rPr>
              <a:t>AIDA</a:t>
            </a:r>
            <a:r>
              <a:rPr lang="ko-KR" altLang="en-US" sz="1600" b="1">
                <a:solidFill>
                  <a:srgbClr val="14213D"/>
                </a:solidFill>
                <a:latin typeface="Pretendard"/>
              </a:rPr>
              <a:t>로 재배열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B41397-1F5E-E84B-86DD-E77A0CD1D13E}"/>
              </a:ext>
            </a:extLst>
          </p:cNvPr>
          <p:cNvSpPr txBox="1"/>
          <p:nvPr/>
        </p:nvSpPr>
        <p:spPr>
          <a:xfrm>
            <a:off x="4546600" y="2057400"/>
            <a:ext cx="6629400" cy="685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400">
                <a:solidFill>
                  <a:srgbClr val="576176"/>
                </a:solidFill>
                <a:latin typeface="Pretendard"/>
              </a:rPr>
              <a:t>섹션을 인지→관심→욕구→행동 순으로 배열한다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.</a:t>
            </a:r>
            <a:endParaRPr lang="ko-KR" altLang="en-US" sz="1400">
              <a:solidFill>
                <a:srgbClr val="576176"/>
              </a:solidFill>
              <a:latin typeface="Pretendard"/>
            </a:endParaRP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14B1C04B-A365-224F-987C-0813F33D6B9A}"/>
              </a:ext>
            </a:extLst>
          </p:cNvPr>
          <p:cNvSpPr/>
          <p:nvPr/>
        </p:nvSpPr>
        <p:spPr>
          <a:xfrm>
            <a:off x="825500" y="2971800"/>
            <a:ext cx="10541000" cy="939800"/>
          </a:xfrm>
          <a:prstGeom prst="roundRect">
            <a:avLst>
              <a:gd name="adj" fmla="val 2703"/>
            </a:avLst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05CB52E-1DD3-FC46-A486-D43A9D7DD364}"/>
              </a:ext>
            </a:extLst>
          </p:cNvPr>
          <p:cNvSpPr/>
          <p:nvPr/>
        </p:nvSpPr>
        <p:spPr>
          <a:xfrm>
            <a:off x="825500" y="2971800"/>
            <a:ext cx="76200" cy="939800"/>
          </a:xfrm>
          <a:prstGeom prst="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D913612C-756D-D24E-9FF6-8507CE1F96AF}"/>
              </a:ext>
            </a:extLst>
          </p:cNvPr>
          <p:cNvSpPr/>
          <p:nvPr/>
        </p:nvSpPr>
        <p:spPr>
          <a:xfrm>
            <a:off x="1143000" y="3200400"/>
            <a:ext cx="482600" cy="482600"/>
          </a:xfrm>
          <a:prstGeom prst="ellipse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  <a:latin typeface="JetBrains Mono"/>
              </a:rPr>
              <a:t>2</a:t>
            </a:r>
            <a:endParaRPr lang="ko-KR" altLang="en-US" sz="16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DFD0753-AEFF-B348-88C9-B98AF6F2E760}"/>
              </a:ext>
            </a:extLst>
          </p:cNvPr>
          <p:cNvSpPr txBox="1"/>
          <p:nvPr/>
        </p:nvSpPr>
        <p:spPr>
          <a:xfrm>
            <a:off x="1905000" y="3253861"/>
            <a:ext cx="2540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600" b="1">
                <a:solidFill>
                  <a:srgbClr val="14213D"/>
                </a:solidFill>
                <a:latin typeface="Pretendard"/>
              </a:rPr>
              <a:t>첫 화면 점검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C0A9F24-6940-1F40-9CAD-4FD8FE41EC58}"/>
              </a:ext>
            </a:extLst>
          </p:cNvPr>
          <p:cNvSpPr txBox="1"/>
          <p:nvPr/>
        </p:nvSpPr>
        <p:spPr>
          <a:xfrm>
            <a:off x="4546600" y="3098800"/>
            <a:ext cx="6629400" cy="685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400">
                <a:solidFill>
                  <a:srgbClr val="576176"/>
                </a:solidFill>
                <a:latin typeface="Pretendard"/>
              </a:rPr>
              <a:t>첫 화면에 핵심 메시지와 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CTA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가 있는지 확인한다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.</a:t>
            </a:r>
            <a:endParaRPr lang="ko-KR" altLang="en-US" sz="1400">
              <a:solidFill>
                <a:srgbClr val="576176"/>
              </a:solidFill>
              <a:latin typeface="Pretendard"/>
            </a:endParaRPr>
          </a:p>
        </p:txBody>
      </p:sp>
      <p:sp>
        <p:nvSpPr>
          <p:cNvPr id="15" name="모서리가 둥근 직사각형 14">
            <a:extLst>
              <a:ext uri="{FF2B5EF4-FFF2-40B4-BE49-F238E27FC236}">
                <a16:creationId xmlns:a16="http://schemas.microsoft.com/office/drawing/2014/main" id="{42448DE3-0618-AE4F-B522-058FC643A694}"/>
              </a:ext>
            </a:extLst>
          </p:cNvPr>
          <p:cNvSpPr/>
          <p:nvPr/>
        </p:nvSpPr>
        <p:spPr>
          <a:xfrm>
            <a:off x="825500" y="4013200"/>
            <a:ext cx="10541000" cy="939800"/>
          </a:xfrm>
          <a:prstGeom prst="roundRect">
            <a:avLst>
              <a:gd name="adj" fmla="val 2703"/>
            </a:avLst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B6F8879-A5C3-1C41-956F-098ED03F29E1}"/>
              </a:ext>
            </a:extLst>
          </p:cNvPr>
          <p:cNvSpPr/>
          <p:nvPr/>
        </p:nvSpPr>
        <p:spPr>
          <a:xfrm>
            <a:off x="825500" y="4013200"/>
            <a:ext cx="76200" cy="939800"/>
          </a:xfrm>
          <a:prstGeom prst="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58057786-3804-BB47-B185-5C19082594C7}"/>
              </a:ext>
            </a:extLst>
          </p:cNvPr>
          <p:cNvSpPr/>
          <p:nvPr/>
        </p:nvSpPr>
        <p:spPr>
          <a:xfrm>
            <a:off x="1143000" y="4241800"/>
            <a:ext cx="482600" cy="482600"/>
          </a:xfrm>
          <a:prstGeom prst="ellipse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  <a:latin typeface="JetBrains Mono"/>
              </a:rPr>
              <a:t>3</a:t>
            </a:r>
            <a:endParaRPr lang="ko-KR" altLang="en-US" sz="16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7AF9903-0D75-024E-AD12-3423A75CAEA1}"/>
              </a:ext>
            </a:extLst>
          </p:cNvPr>
          <p:cNvSpPr txBox="1"/>
          <p:nvPr/>
        </p:nvSpPr>
        <p:spPr>
          <a:xfrm>
            <a:off x="1905000" y="4295261"/>
            <a:ext cx="2540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600" b="1">
                <a:solidFill>
                  <a:srgbClr val="14213D"/>
                </a:solidFill>
                <a:latin typeface="Pretendard"/>
              </a:rPr>
              <a:t>불필요 섹션 제거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B808D49-6FE2-7845-92FA-5D199F81B624}"/>
              </a:ext>
            </a:extLst>
          </p:cNvPr>
          <p:cNvSpPr txBox="1"/>
          <p:nvPr/>
        </p:nvSpPr>
        <p:spPr>
          <a:xfrm>
            <a:off x="4546600" y="4140200"/>
            <a:ext cx="6629400" cy="685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400">
                <a:solidFill>
                  <a:srgbClr val="576176"/>
                </a:solidFill>
                <a:latin typeface="Pretendard"/>
              </a:rPr>
              <a:t>목표와 무관한 섹션을 덜어낸다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.</a:t>
            </a:r>
            <a:endParaRPr lang="ko-KR" altLang="en-US" sz="1400">
              <a:solidFill>
                <a:srgbClr val="576176"/>
              </a:solidFill>
              <a:latin typeface="Pretendard"/>
            </a:endParaRPr>
          </a:p>
        </p:txBody>
      </p:sp>
      <p:sp>
        <p:nvSpPr>
          <p:cNvPr id="20" name="모서리가 둥근 직사각형 19">
            <a:extLst>
              <a:ext uri="{FF2B5EF4-FFF2-40B4-BE49-F238E27FC236}">
                <a16:creationId xmlns:a16="http://schemas.microsoft.com/office/drawing/2014/main" id="{2B1D5033-6B37-0442-8091-875D2BA7588E}"/>
              </a:ext>
            </a:extLst>
          </p:cNvPr>
          <p:cNvSpPr/>
          <p:nvPr/>
        </p:nvSpPr>
        <p:spPr>
          <a:xfrm>
            <a:off x="825500" y="5054600"/>
            <a:ext cx="10541000" cy="939800"/>
          </a:xfrm>
          <a:prstGeom prst="roundRect">
            <a:avLst>
              <a:gd name="adj" fmla="val 2703"/>
            </a:avLst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EE229931-D644-6742-9030-8A5214935B38}"/>
              </a:ext>
            </a:extLst>
          </p:cNvPr>
          <p:cNvSpPr/>
          <p:nvPr/>
        </p:nvSpPr>
        <p:spPr>
          <a:xfrm>
            <a:off x="825500" y="5054600"/>
            <a:ext cx="76200" cy="939800"/>
          </a:xfrm>
          <a:prstGeom prst="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31A2F118-2EF1-1146-9170-A8969B4E0CBB}"/>
              </a:ext>
            </a:extLst>
          </p:cNvPr>
          <p:cNvSpPr/>
          <p:nvPr/>
        </p:nvSpPr>
        <p:spPr>
          <a:xfrm>
            <a:off x="1143000" y="5283200"/>
            <a:ext cx="482600" cy="482600"/>
          </a:xfrm>
          <a:prstGeom prst="ellipse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  <a:latin typeface="JetBrains Mono"/>
              </a:rPr>
              <a:t>4</a:t>
            </a:r>
            <a:endParaRPr lang="ko-KR" altLang="en-US" sz="16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CAC47C0-3AE1-5940-A913-A1D99BABDFF7}"/>
              </a:ext>
            </a:extLst>
          </p:cNvPr>
          <p:cNvSpPr txBox="1"/>
          <p:nvPr/>
        </p:nvSpPr>
        <p:spPr>
          <a:xfrm>
            <a:off x="1905000" y="5336661"/>
            <a:ext cx="2540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600" b="1" dirty="0">
                <a:solidFill>
                  <a:srgbClr val="14213D"/>
                </a:solidFill>
                <a:latin typeface="Pretendard"/>
              </a:rPr>
              <a:t>모바일 점검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9D71013-58D5-4F41-BC44-0EA14913BE06}"/>
              </a:ext>
            </a:extLst>
          </p:cNvPr>
          <p:cNvSpPr txBox="1"/>
          <p:nvPr/>
        </p:nvSpPr>
        <p:spPr>
          <a:xfrm>
            <a:off x="4546600" y="5181600"/>
            <a:ext cx="6629400" cy="685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400">
                <a:solidFill>
                  <a:srgbClr val="576176"/>
                </a:solidFill>
                <a:latin typeface="Pretendard"/>
              </a:rPr>
              <a:t>모바일에서 흐름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·CTA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가 유지되는지 본다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.</a:t>
            </a:r>
            <a:endParaRPr lang="ko-KR" altLang="en-US" sz="1400">
              <a:solidFill>
                <a:srgbClr val="576176"/>
              </a:solidFill>
              <a:latin typeface="Pretendard"/>
            </a:endParaRPr>
          </a:p>
        </p:txBody>
      </p:sp>
      <p:sp>
        <p:nvSpPr>
          <p:cNvPr id="4" name="PageNumber">
            <a:extLst>
              <a:ext uri="{FF2B5EF4-FFF2-40B4-BE49-F238E27FC236}">
                <a16:creationId xmlns:a16="http://schemas.microsoft.com/office/drawing/2014/main" id="{7A7458B2-80B2-AC42-A038-EC79FA3A2D88}"/>
              </a:ext>
            </a:extLst>
          </p:cNvPr>
          <p:cNvSpPr txBox="1"/>
          <p:nvPr/>
        </p:nvSpPr>
        <p:spPr>
          <a:xfrm>
            <a:off x="9499600" y="6489700"/>
            <a:ext cx="23368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r"/>
            <a:r>
              <a:rPr lang="en-US" altLang="ko-KR" sz="1200">
                <a:solidFill>
                  <a:srgbClr val="576176"/>
                </a:solidFill>
                <a:latin typeface="Pretendard"/>
              </a:rPr>
              <a:t>- 118/144 -</a:t>
            </a:r>
            <a:endParaRPr lang="ko-KR" altLang="en-US" sz="1200">
              <a:solidFill>
                <a:srgbClr val="576176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3646173655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실습 프롬프트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흐름 점검 프롬프트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874519"/>
            <a:ext cx="10332720" cy="4434840"/>
          </a:xfrm>
          <a:prstGeom prst="rect">
            <a:avLst/>
          </a:prstGeom>
          <a:solidFill>
            <a:srgbClr val="10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11480" tIns="502920" rIns="365760" bIns="320040" rtlCol="0" anchor="t"/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200"/>
              </a:spcAft>
            </a:pP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다음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섹션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순서를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AIDA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관점에서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검토하고</a:t>
            </a:r>
            <a:endParaRPr sz="1600" dirty="0">
              <a:solidFill>
                <a:srgbClr val="E8EEFA"/>
              </a:solidFill>
              <a:latin typeface="JetBrains Mono"/>
              <a:ea typeface="JetBrains Mono"/>
              <a:cs typeface="JetBrains Mono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200"/>
              </a:spcAft>
            </a:pP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더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전환이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잘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되는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순서로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재배열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+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이유를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알려줘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.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200"/>
              </a:spcAft>
            </a:pP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현재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: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특징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→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히어로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→ FAQ →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후기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→ CTA</a:t>
            </a:r>
            <a:endParaRPr lang="en-US" sz="1600" dirty="0">
              <a:solidFill>
                <a:srgbClr val="E8EEFA"/>
              </a:solidFill>
              <a:latin typeface="JetBrains Mono"/>
              <a:ea typeface="JetBrains Mono"/>
              <a:cs typeface="JetBrains Mono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200"/>
              </a:spcAft>
            </a:pPr>
            <a:endParaRPr sz="1600" dirty="0">
              <a:solidFill>
                <a:srgbClr val="E8EEFA"/>
              </a:solidFill>
              <a:latin typeface="JetBrains Mono"/>
              <a:ea typeface="JetBrains Mono"/>
              <a:cs typeface="JetBrains Mono"/>
            </a:endParaRPr>
          </a:p>
          <a:p>
            <a:pPr algn="l">
              <a:lnSpc>
                <a:spcPct val="150000"/>
              </a:lnSpc>
              <a:spcBef>
                <a:spcPts val="400"/>
              </a:spcBef>
              <a:spcAft>
                <a:spcPts val="200"/>
              </a:spcAft>
            </a:pPr>
            <a:r>
              <a:rPr sz="1600" dirty="0">
                <a:solidFill>
                  <a:srgbClr val="8893A8"/>
                </a:solidFill>
                <a:latin typeface="JetBrains Mono"/>
                <a:ea typeface="JetBrains Mono"/>
                <a:cs typeface="JetBrains Mono"/>
              </a:rPr>
              <a:t># </a:t>
            </a:r>
            <a:r>
              <a:rPr sz="1600" dirty="0" err="1">
                <a:solidFill>
                  <a:srgbClr val="8893A8"/>
                </a:solidFill>
                <a:latin typeface="JetBrains Mono"/>
                <a:ea typeface="JetBrains Mono"/>
                <a:cs typeface="JetBrains Mono"/>
              </a:rPr>
              <a:t>변형</a:t>
            </a:r>
            <a:r>
              <a:rPr sz="1600" dirty="0">
                <a:solidFill>
                  <a:srgbClr val="8893A8"/>
                </a:solidFill>
                <a:latin typeface="JetBrains Mono"/>
                <a:ea typeface="JetBrains Mono"/>
                <a:cs typeface="JetBrains Mono"/>
              </a:rPr>
              <a:t> — </a:t>
            </a:r>
            <a:r>
              <a:rPr sz="1600" dirty="0" err="1">
                <a:solidFill>
                  <a:srgbClr val="8893A8"/>
                </a:solidFill>
                <a:latin typeface="JetBrains Mono"/>
                <a:ea typeface="JetBrains Mono"/>
                <a:cs typeface="JetBrains Mono"/>
              </a:rPr>
              <a:t>모바일</a:t>
            </a:r>
            <a:r>
              <a:rPr sz="1600" dirty="0">
                <a:solidFill>
                  <a:srgbClr val="8893A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 dirty="0" err="1">
                <a:solidFill>
                  <a:srgbClr val="8893A8"/>
                </a:solidFill>
                <a:latin typeface="JetBrains Mono"/>
                <a:ea typeface="JetBrains Mono"/>
                <a:cs typeface="JetBrains Mono"/>
              </a:rPr>
              <a:t>우선</a:t>
            </a:r>
            <a:r>
              <a:rPr sz="1600" dirty="0">
                <a:solidFill>
                  <a:srgbClr val="8893A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 dirty="0" err="1">
                <a:solidFill>
                  <a:srgbClr val="8893A8"/>
                </a:solidFill>
                <a:latin typeface="JetBrains Mono"/>
                <a:ea typeface="JetBrains Mono"/>
                <a:cs typeface="JetBrains Mono"/>
              </a:rPr>
              <a:t>점검</a:t>
            </a:r>
            <a:endParaRPr sz="1600" dirty="0">
              <a:solidFill>
                <a:srgbClr val="8893A8"/>
              </a:solidFill>
              <a:latin typeface="JetBrains Mono"/>
              <a:ea typeface="JetBrains Mono"/>
              <a:cs typeface="JetBrains Mono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200"/>
              </a:spcAft>
            </a:pP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다음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섹션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순서를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'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모바일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첫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화면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'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기준으로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검토하고</a:t>
            </a:r>
            <a:endParaRPr sz="1600" dirty="0">
              <a:solidFill>
                <a:srgbClr val="E8EEFA"/>
              </a:solidFill>
              <a:latin typeface="JetBrains Mono"/>
              <a:ea typeface="JetBrains Mono"/>
              <a:cs typeface="JetBrains Mono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200"/>
              </a:spcAft>
            </a:pP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첫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스크롤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안에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핵심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메시지+CTA가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보이게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재배열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+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이유를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알려줘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.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200"/>
              </a:spcAft>
            </a:pP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현재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: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히어로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→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특징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→ </a:t>
            </a:r>
            <a:r>
              <a:rPr sz="16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후기</a:t>
            </a:r>
            <a:r>
              <a:rPr sz="16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→ FAQ → CTA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" y="2103120"/>
            <a:ext cx="109728" cy="10972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3279355F-EBFB-5028-6010-9B63DD879CAF}"/>
              </a:ext>
            </a:extLst>
          </p:cNvPr>
          <p:cNvGrpSpPr/>
          <p:nvPr/>
        </p:nvGrpSpPr>
        <p:grpSpPr>
          <a:xfrm>
            <a:off x="8399107" y="3846905"/>
            <a:ext cx="2493450" cy="2285159"/>
            <a:chOff x="17449800" y="7213600"/>
            <a:chExt cx="6146800" cy="5486400"/>
          </a:xfrm>
        </p:grpSpPr>
        <p:pic>
          <p:nvPicPr>
            <p:cNvPr id="7" name="Picture 9">
              <a:extLst>
                <a:ext uri="{FF2B5EF4-FFF2-40B4-BE49-F238E27FC236}">
                  <a16:creationId xmlns:a16="http://schemas.microsoft.com/office/drawing/2014/main" id="{E95627D6-A0EA-6D4C-FCC8-617CAB2B7D7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653000" y="8851900"/>
              <a:ext cx="1739900" cy="774700"/>
            </a:xfrm>
            <a:prstGeom prst="rect">
              <a:avLst/>
            </a:prstGeom>
          </p:spPr>
        </p:pic>
        <p:sp>
          <p:nvSpPr>
            <p:cNvPr id="8" name="TextBox 10">
              <a:extLst>
                <a:ext uri="{FF2B5EF4-FFF2-40B4-BE49-F238E27FC236}">
                  <a16:creationId xmlns:a16="http://schemas.microsoft.com/office/drawing/2014/main" id="{7E9C7354-AA53-4C97-EB5E-EAA1C3BCCC62}"/>
                </a:ext>
              </a:extLst>
            </p:cNvPr>
            <p:cNvSpPr txBox="1"/>
            <p:nvPr/>
          </p:nvSpPr>
          <p:spPr>
            <a:xfrm>
              <a:off x="17449800" y="8991600"/>
              <a:ext cx="1930400" cy="571500"/>
            </a:xfrm>
            <a:prstGeom prst="rect">
              <a:avLst/>
            </a:prstGeom>
          </p:spPr>
          <p:txBody>
            <a:bodyPr lIns="0" tIns="40640" rIns="0" bIns="4064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2400" b="0" i="0" u="none" strike="noStrike" spc="-100" dirty="0">
                  <a:solidFill>
                    <a:srgbClr val="000000"/>
                  </a:solidFill>
                  <a:latin typeface="SB AggroOTF Bold"/>
                  <a:ea typeface="SB AggroOTF Bold"/>
                  <a:cs typeface="SB AggroOTF Bold"/>
                </a:rPr>
                <a:t>oh!</a:t>
              </a:r>
            </a:p>
          </p:txBody>
        </p:sp>
        <p:pic>
          <p:nvPicPr>
            <p:cNvPr id="9" name="Picture 27">
              <a:extLst>
                <a:ext uri="{FF2B5EF4-FFF2-40B4-BE49-F238E27FC236}">
                  <a16:creationId xmlns:a16="http://schemas.microsoft.com/office/drawing/2014/main" id="{D9BC59CD-F884-5D52-47A4-BE454428D9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834100" y="7213600"/>
              <a:ext cx="4762500" cy="5486400"/>
            </a:xfrm>
            <a:prstGeom prst="rect">
              <a:avLst/>
            </a:prstGeom>
          </p:spPr>
        </p:pic>
      </p:grpSp>
      <p:sp>
        <p:nvSpPr>
          <p:cNvPr id="10" name="PageNumber">
            <a:extLst>
              <a:ext uri="{FF2B5EF4-FFF2-40B4-BE49-F238E27FC236}">
                <a16:creationId xmlns:a16="http://schemas.microsoft.com/office/drawing/2014/main" id="{235AFB6B-6B18-2B4E-9A6C-12178D7AAD15}"/>
              </a:ext>
            </a:extLst>
          </p:cNvPr>
          <p:cNvSpPr txBox="1"/>
          <p:nvPr/>
        </p:nvSpPr>
        <p:spPr>
          <a:xfrm>
            <a:off x="9499600" y="6489700"/>
            <a:ext cx="23368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r"/>
            <a:r>
              <a:rPr lang="en-US" altLang="ko-KR" sz="1200">
                <a:solidFill>
                  <a:srgbClr val="576176"/>
                </a:solidFill>
                <a:latin typeface="Pretendard"/>
              </a:rPr>
              <a:t>- 119/144 -</a:t>
            </a:r>
            <a:endParaRPr lang="ko-KR" altLang="en-US" sz="1200">
              <a:solidFill>
                <a:srgbClr val="576176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2018168143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좋은예 VS 나쁜예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비교 — CTA 문구, 한 끗 차이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920240"/>
            <a:ext cx="5029200" cy="4114800"/>
          </a:xfrm>
          <a:prstGeom prst="rect">
            <a:avLst/>
          </a:prstGeom>
          <a:solidFill>
            <a:srgbClr val="F7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20040" rIns="320040" rtlCol="0" anchor="t"/>
          <a:lstStyle/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1000"/>
              </a:spcAft>
            </a:pPr>
            <a:r>
              <a:rPr sz="1700" b="1">
                <a:solidFill>
                  <a:srgbClr val="A63333"/>
                </a:solidFill>
                <a:latin typeface="Noto Serif KR"/>
                <a:ea typeface="Noto Serif KR"/>
                <a:cs typeface="Noto Serif KR"/>
              </a:rPr>
              <a:t>🚫 모호한 CTA</a:t>
            </a:r>
          </a:p>
          <a:p>
            <a:pPr algn="l">
              <a:lnSpc>
                <a:spcPct val="13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>
                <a:solidFill>
                  <a:srgbClr val="A63333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sz="14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"더보기"</a:t>
            </a:r>
          </a:p>
          <a:p>
            <a:pPr algn="l">
              <a:lnSpc>
                <a:spcPct val="13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>
                <a:solidFill>
                  <a:srgbClr val="A63333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sz="14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"제출하기"</a:t>
            </a:r>
          </a:p>
          <a:p>
            <a:pPr algn="l">
              <a:lnSpc>
                <a:spcPct val="13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>
                <a:solidFill>
                  <a:srgbClr val="A63333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sz="14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→ 클릭해서 뭘 얻는지 안 보임</a:t>
            </a:r>
          </a:p>
        </p:txBody>
      </p:sp>
      <p:sp>
        <p:nvSpPr>
          <p:cNvPr id="5" name="Rectangle 4"/>
          <p:cNvSpPr/>
          <p:nvPr/>
        </p:nvSpPr>
        <p:spPr>
          <a:xfrm>
            <a:off x="6245352" y="1920240"/>
            <a:ext cx="5029200" cy="4114800"/>
          </a:xfrm>
          <a:prstGeom prst="rect">
            <a:avLst/>
          </a:prstGeom>
          <a:solidFill>
            <a:srgbClr val="E7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20040" rIns="320040" rtlCol="0" anchor="t"/>
          <a:lstStyle/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1000"/>
              </a:spcAft>
            </a:pPr>
            <a:r>
              <a:rPr sz="1700" b="1">
                <a:solidFill>
                  <a:srgbClr val="2C6B44"/>
                </a:solidFill>
                <a:latin typeface="Noto Serif KR"/>
                <a:ea typeface="Noto Serif KR"/>
                <a:cs typeface="Noto Serif KR"/>
              </a:rPr>
              <a:t>✅ 이득형 CTA</a:t>
            </a:r>
          </a:p>
          <a:p>
            <a:pPr algn="l">
              <a:lnSpc>
                <a:spcPct val="13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>
                <a:solidFill>
                  <a:srgbClr val="2C6B44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sz="14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"지금 사전예약하고 20% 받기"</a:t>
            </a:r>
          </a:p>
          <a:p>
            <a:pPr algn="l">
              <a:lnSpc>
                <a:spcPct val="13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>
                <a:solidFill>
                  <a:srgbClr val="2C6B44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sz="14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"숙취 없는 첫 박스 받아보기"</a:t>
            </a:r>
          </a:p>
          <a:p>
            <a:pPr algn="l">
              <a:lnSpc>
                <a:spcPct val="13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>
                <a:solidFill>
                  <a:srgbClr val="2C6B44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sz="14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→ 행동의 이득이 분명</a:t>
            </a:r>
          </a:p>
        </p:txBody>
      </p:sp>
      <p:pic>
        <p:nvPicPr>
          <p:cNvPr id="6" name="Picture 16">
            <a:extLst>
              <a:ext uri="{FF2B5EF4-FFF2-40B4-BE49-F238E27FC236}">
                <a16:creationId xmlns:a16="http://schemas.microsoft.com/office/drawing/2014/main" id="{B702B014-46EB-5296-E91A-CB76E9177FF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9385403" y="4161453"/>
            <a:ext cx="1758520" cy="1742958"/>
          </a:xfrm>
          <a:prstGeom prst="rect">
            <a:avLst/>
          </a:prstGeom>
        </p:spPr>
      </p:pic>
      <p:sp>
        <p:nvSpPr>
          <p:cNvPr id="7" name="PageNumber">
            <a:extLst>
              <a:ext uri="{FF2B5EF4-FFF2-40B4-BE49-F238E27FC236}">
                <a16:creationId xmlns:a16="http://schemas.microsoft.com/office/drawing/2014/main" id="{540A8BE5-33C5-3D40-899D-E25805F0D2C5}"/>
              </a:ext>
            </a:extLst>
          </p:cNvPr>
          <p:cNvSpPr txBox="1"/>
          <p:nvPr/>
        </p:nvSpPr>
        <p:spPr>
          <a:xfrm>
            <a:off x="9499600" y="6489700"/>
            <a:ext cx="23368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r"/>
            <a:r>
              <a:rPr lang="en-US" altLang="ko-KR" sz="1200">
                <a:solidFill>
                  <a:srgbClr val="576176"/>
                </a:solidFill>
                <a:latin typeface="Pretendard"/>
              </a:rPr>
              <a:t>- 120/144 -</a:t>
            </a:r>
            <a:endParaRPr lang="ko-KR" altLang="en-US" sz="1200">
              <a:solidFill>
                <a:srgbClr val="576176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1386442923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정리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사용자 흐름 설계와 서비스 소개형 페이지 구성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920240"/>
            <a:ext cx="10332720" cy="2068576"/>
          </a:xfrm>
          <a:prstGeom prst="rect">
            <a:avLst/>
          </a:prstGeom>
          <a:solidFill>
            <a:srgbClr val="FB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228600" rIns="365760" bIns="182880" rtlCol="0" anchor="t"/>
          <a:lstStyle/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600"/>
              </a:spcAft>
            </a:pPr>
            <a:r>
              <a:rPr sz="1500" b="1">
                <a:solidFill>
                  <a:srgbClr val="B57A1A"/>
                </a:solidFill>
                <a:latin typeface="JetBrains Mono"/>
                <a:ea typeface="JetBrains Mono"/>
                <a:cs typeface="JetBrains Mono"/>
              </a:rPr>
              <a:t>⚠  흔한 실수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1">
                <a:solidFill>
                  <a:srgbClr val="E8A33D"/>
                </a:solidFill>
                <a:latin typeface="Pretendard"/>
                <a:ea typeface="Pretendard"/>
                <a:cs typeface="Pretendard"/>
              </a:rPr>
              <a:t>·  </a:t>
            </a:r>
            <a:r>
              <a:rPr sz="14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섹션이 너무 많으면 이탈한다 → 핵심만 남긴다.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1">
                <a:solidFill>
                  <a:srgbClr val="E8A33D"/>
                </a:solidFill>
                <a:latin typeface="Pretendard"/>
                <a:ea typeface="Pretendard"/>
                <a:cs typeface="Pretendard"/>
              </a:rPr>
              <a:t>·  </a:t>
            </a:r>
            <a:r>
              <a:rPr sz="14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모바일 미점검 → 데스크톱만 보고 발행하면 흐름이 깨진다.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1">
                <a:solidFill>
                  <a:srgbClr val="E8A33D"/>
                </a:solidFill>
                <a:latin typeface="Pretendard"/>
                <a:ea typeface="Pretendard"/>
                <a:cs typeface="Pretendard"/>
              </a:rPr>
              <a:t>·  </a:t>
            </a:r>
            <a:r>
              <a:rPr sz="14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첫 화면에 핵심이 없으면 스크롤 전에 떠난다 → 가장 중요한 1가지를 위로.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4192016"/>
            <a:ext cx="10332720" cy="1005840"/>
          </a:xfrm>
          <a:prstGeom prst="rect">
            <a:avLst/>
          </a:prstGeom>
          <a:solidFill>
            <a:srgbClr val="DCE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201168" rIns="365760" bIns="182880" rtlCol="0" anchor="t"/>
          <a:lstStyle/>
          <a:p>
            <a:pPr algn="l">
              <a:lnSpc>
                <a:spcPct val="125000"/>
              </a:lnSpc>
              <a:spcBef>
                <a:spcPts val="600"/>
              </a:spcBef>
              <a:spcAft>
                <a:spcPts val="400"/>
              </a:spcAft>
            </a:pPr>
            <a:r>
              <a:rPr sz="1500" b="1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📦  결과물   </a:t>
            </a:r>
            <a:r>
              <a:rPr sz="1600" b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사용자 흐름에 맞춘 서비스 소개형 페이지 구성 1개.</a:t>
            </a:r>
          </a:p>
        </p:txBody>
      </p:sp>
      <p:sp>
        <p:nvSpPr>
          <p:cNvPr id="6" name="PageNumber">
            <a:extLst>
              <a:ext uri="{FF2B5EF4-FFF2-40B4-BE49-F238E27FC236}">
                <a16:creationId xmlns:a16="http://schemas.microsoft.com/office/drawing/2014/main" id="{C0E6B726-ACAB-9D4D-8E3D-D1545D54CCD7}"/>
              </a:ext>
            </a:extLst>
          </p:cNvPr>
          <p:cNvSpPr txBox="1"/>
          <p:nvPr/>
        </p:nvSpPr>
        <p:spPr>
          <a:xfrm>
            <a:off x="9499600" y="6489700"/>
            <a:ext cx="23368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r"/>
            <a:r>
              <a:rPr lang="en-US" altLang="ko-KR" sz="1200">
                <a:solidFill>
                  <a:srgbClr val="576176"/>
                </a:solidFill>
                <a:latin typeface="Pretendard"/>
              </a:rPr>
              <a:t>- 121/144 -</a:t>
            </a:r>
            <a:endParaRPr lang="ko-KR" altLang="en-US" sz="1200">
              <a:solidFill>
                <a:srgbClr val="576176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3251888346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도구 가이드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이 모듈에서 쓰는 도구</a:t>
            </a: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FC5497AA-799F-7242-8483-A8224222B422}"/>
              </a:ext>
            </a:extLst>
          </p:cNvPr>
          <p:cNvSpPr/>
          <p:nvPr/>
        </p:nvSpPr>
        <p:spPr>
          <a:xfrm>
            <a:off x="825500" y="1905000"/>
            <a:ext cx="3340100" cy="4381500"/>
          </a:xfrm>
          <a:prstGeom prst="roundRect">
            <a:avLst>
              <a:gd name="adj" fmla="val 760"/>
            </a:avLst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721C9E4-8914-4948-BF6C-6CE9A641E713}"/>
              </a:ext>
            </a:extLst>
          </p:cNvPr>
          <p:cNvSpPr/>
          <p:nvPr/>
        </p:nvSpPr>
        <p:spPr>
          <a:xfrm>
            <a:off x="825500" y="1905000"/>
            <a:ext cx="3340100" cy="88900"/>
          </a:xfrm>
          <a:prstGeom prst="rect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A740AE8E-4094-1945-B62C-5460D65FF8B3}"/>
              </a:ext>
            </a:extLst>
          </p:cNvPr>
          <p:cNvSpPr/>
          <p:nvPr/>
        </p:nvSpPr>
        <p:spPr>
          <a:xfrm>
            <a:off x="1130300" y="2235200"/>
            <a:ext cx="2730500" cy="584200"/>
          </a:xfrm>
          <a:prstGeom prst="roundRect">
            <a:avLst>
              <a:gd name="adj" fmla="val 4348"/>
            </a:avLst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F739E7-E79E-954A-98D9-FE6C1CEE07A3}"/>
              </a:ext>
            </a:extLst>
          </p:cNvPr>
          <p:cNvSpPr txBox="1"/>
          <p:nvPr/>
        </p:nvSpPr>
        <p:spPr>
          <a:xfrm>
            <a:off x="1130300" y="2235200"/>
            <a:ext cx="2730500" cy="584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n-US" altLang="ko-KR" sz="1650" b="1">
                <a:solidFill>
                  <a:srgbClr val="FFFFFF"/>
                </a:solidFill>
                <a:latin typeface="Pretendard"/>
              </a:rPr>
              <a:t>Google Stitch</a:t>
            </a:r>
            <a:endParaRPr lang="ko-KR" altLang="en-US" sz="1650" b="1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6726847-658A-CE42-A194-5085A88A0743}"/>
              </a:ext>
            </a:extLst>
          </p:cNvPr>
          <p:cNvSpPr txBox="1"/>
          <p:nvPr/>
        </p:nvSpPr>
        <p:spPr>
          <a:xfrm>
            <a:off x="1130300" y="3098800"/>
            <a:ext cx="2730500" cy="1905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400" dirty="0">
                <a:solidFill>
                  <a:srgbClr val="576176"/>
                </a:solidFill>
                <a:latin typeface="Pretendard"/>
              </a:rPr>
              <a:t>자연어로 </a:t>
            </a:r>
            <a:endParaRPr lang="en-US" altLang="ko-KR" sz="1400" dirty="0">
              <a:solidFill>
                <a:srgbClr val="576176"/>
              </a:solidFill>
              <a:latin typeface="Pretendard"/>
            </a:endParaRPr>
          </a:p>
          <a:p>
            <a:pPr algn="l">
              <a:lnSpc>
                <a:spcPct val="150000"/>
              </a:lnSpc>
            </a:pPr>
            <a:r>
              <a:rPr lang="ko-KR" altLang="en-US" sz="1400" dirty="0">
                <a:solidFill>
                  <a:srgbClr val="576176"/>
                </a:solidFill>
                <a:latin typeface="Pretendard"/>
              </a:rPr>
              <a:t>페이지 섹션 구조를 잡는다</a:t>
            </a:r>
            <a:r>
              <a:rPr lang="en-US" altLang="ko-KR" sz="1400" dirty="0">
                <a:solidFill>
                  <a:srgbClr val="576176"/>
                </a:solidFill>
                <a:latin typeface="Pretendard"/>
              </a:rPr>
              <a:t>. </a:t>
            </a:r>
          </a:p>
          <a:p>
            <a:pPr algn="l">
              <a:lnSpc>
                <a:spcPct val="150000"/>
              </a:lnSpc>
            </a:pPr>
            <a:endParaRPr lang="en-US" altLang="ko-KR" sz="1400" dirty="0">
              <a:solidFill>
                <a:srgbClr val="576176"/>
              </a:solidFill>
              <a:latin typeface="Pretendard"/>
            </a:endParaRPr>
          </a:p>
          <a:p>
            <a:pPr algn="l">
              <a:lnSpc>
                <a:spcPct val="150000"/>
              </a:lnSpc>
            </a:pPr>
            <a:r>
              <a:rPr lang="ko-KR" altLang="en-US" sz="1400" dirty="0">
                <a:solidFill>
                  <a:srgbClr val="576176"/>
                </a:solidFill>
                <a:latin typeface="Pretendard"/>
              </a:rPr>
              <a:t>시안 단계에 적합</a:t>
            </a:r>
            <a:r>
              <a:rPr lang="en-US" altLang="ko-KR" sz="1400" dirty="0">
                <a:solidFill>
                  <a:srgbClr val="576176"/>
                </a:solidFill>
                <a:latin typeface="Pretendard"/>
              </a:rPr>
              <a:t>.</a:t>
            </a:r>
            <a:endParaRPr lang="ko-KR" altLang="en-US" sz="1400" dirty="0">
              <a:solidFill>
                <a:srgbClr val="576176"/>
              </a:solidFill>
              <a:latin typeface="Pretendard"/>
            </a:endParaRP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00367360-C98A-D943-960F-8B6BCC12372A}"/>
              </a:ext>
            </a:extLst>
          </p:cNvPr>
          <p:cNvSpPr/>
          <p:nvPr/>
        </p:nvSpPr>
        <p:spPr>
          <a:xfrm>
            <a:off x="1130300" y="5562600"/>
            <a:ext cx="2730500" cy="457200"/>
          </a:xfrm>
          <a:prstGeom prst="roundRect">
            <a:avLst>
              <a:gd name="adj" fmla="val 5556"/>
            </a:avLst>
          </a:prstGeom>
          <a:solidFill>
            <a:srgbClr val="E7ECF4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866251-1019-5841-A31E-F70E927A0786}"/>
              </a:ext>
            </a:extLst>
          </p:cNvPr>
          <p:cNvSpPr txBox="1"/>
          <p:nvPr/>
        </p:nvSpPr>
        <p:spPr>
          <a:xfrm>
            <a:off x="1130300" y="5562600"/>
            <a:ext cx="2730500" cy="457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ctr"/>
            <a:r>
              <a:rPr lang="ko-KR" altLang="en-US" sz="1400" b="1">
                <a:solidFill>
                  <a:srgbClr val="14213D"/>
                </a:solidFill>
                <a:latin typeface="Pretendard"/>
              </a:rPr>
              <a:t>섹션 구조 시안</a:t>
            </a:r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933A54EE-81BB-5040-B604-E16A36A61424}"/>
              </a:ext>
            </a:extLst>
          </p:cNvPr>
          <p:cNvSpPr/>
          <p:nvPr/>
        </p:nvSpPr>
        <p:spPr>
          <a:xfrm>
            <a:off x="4419600" y="1905000"/>
            <a:ext cx="3340100" cy="4381500"/>
          </a:xfrm>
          <a:prstGeom prst="roundRect">
            <a:avLst>
              <a:gd name="adj" fmla="val 760"/>
            </a:avLst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AD688F6-668A-6844-81FC-DF21781ACF9A}"/>
              </a:ext>
            </a:extLst>
          </p:cNvPr>
          <p:cNvSpPr/>
          <p:nvPr/>
        </p:nvSpPr>
        <p:spPr>
          <a:xfrm>
            <a:off x="4419600" y="1905000"/>
            <a:ext cx="3340100" cy="88900"/>
          </a:xfrm>
          <a:prstGeom prst="rect">
            <a:avLst/>
          </a:prstGeom>
          <a:solidFill>
            <a:srgbClr val="1D4E89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4" name="모서리가 둥근 직사각형 13">
            <a:extLst>
              <a:ext uri="{FF2B5EF4-FFF2-40B4-BE49-F238E27FC236}">
                <a16:creationId xmlns:a16="http://schemas.microsoft.com/office/drawing/2014/main" id="{B5342F3F-D295-6447-B5C3-98BC25B4C00B}"/>
              </a:ext>
            </a:extLst>
          </p:cNvPr>
          <p:cNvSpPr/>
          <p:nvPr/>
        </p:nvSpPr>
        <p:spPr>
          <a:xfrm>
            <a:off x="4724400" y="2235200"/>
            <a:ext cx="2730500" cy="584200"/>
          </a:xfrm>
          <a:prstGeom prst="roundRect">
            <a:avLst>
              <a:gd name="adj" fmla="val 4348"/>
            </a:avLst>
          </a:prstGeom>
          <a:solidFill>
            <a:srgbClr val="1D4E89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A17DE3B-056A-F24F-B37B-5C345EA43BE2}"/>
              </a:ext>
            </a:extLst>
          </p:cNvPr>
          <p:cNvSpPr txBox="1"/>
          <p:nvPr/>
        </p:nvSpPr>
        <p:spPr>
          <a:xfrm>
            <a:off x="4724400" y="2235200"/>
            <a:ext cx="2730500" cy="584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n-US" altLang="ko-KR" sz="1650" b="1">
                <a:solidFill>
                  <a:srgbClr val="FFFFFF"/>
                </a:solidFill>
                <a:latin typeface="Pretendard"/>
              </a:rPr>
              <a:t>Framer</a:t>
            </a:r>
            <a:endParaRPr lang="ko-KR" altLang="en-US" sz="1650" b="1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25D28B2-E7D0-D749-9C25-8EAFD79A3B8B}"/>
              </a:ext>
            </a:extLst>
          </p:cNvPr>
          <p:cNvSpPr txBox="1"/>
          <p:nvPr/>
        </p:nvSpPr>
        <p:spPr>
          <a:xfrm>
            <a:off x="4724400" y="3098800"/>
            <a:ext cx="2730500" cy="1905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400" dirty="0">
                <a:solidFill>
                  <a:srgbClr val="576176"/>
                </a:solidFill>
                <a:latin typeface="Pretendard"/>
              </a:rPr>
              <a:t>시안을 실제 게시 가능한 </a:t>
            </a:r>
            <a:endParaRPr lang="en-US" altLang="ko-KR" sz="1400" dirty="0">
              <a:solidFill>
                <a:srgbClr val="576176"/>
              </a:solidFill>
              <a:latin typeface="Pretendard"/>
            </a:endParaRPr>
          </a:p>
          <a:p>
            <a:pPr algn="l">
              <a:lnSpc>
                <a:spcPct val="150000"/>
              </a:lnSpc>
            </a:pPr>
            <a:r>
              <a:rPr lang="ko-KR" altLang="en-US" sz="1400" dirty="0">
                <a:solidFill>
                  <a:srgbClr val="576176"/>
                </a:solidFill>
                <a:latin typeface="Pretendard"/>
              </a:rPr>
              <a:t>반응형 페이지로</a:t>
            </a:r>
            <a:r>
              <a:rPr lang="en-US" altLang="ko-KR" sz="1400" dirty="0">
                <a:solidFill>
                  <a:srgbClr val="576176"/>
                </a:solidFill>
                <a:latin typeface="Pretendard"/>
              </a:rPr>
              <a:t>. </a:t>
            </a:r>
          </a:p>
          <a:p>
            <a:pPr algn="l">
              <a:lnSpc>
                <a:spcPct val="150000"/>
              </a:lnSpc>
            </a:pPr>
            <a:endParaRPr lang="en-US" altLang="ko-KR" sz="1400" dirty="0">
              <a:solidFill>
                <a:srgbClr val="576176"/>
              </a:solidFill>
              <a:latin typeface="Pretendard"/>
            </a:endParaRPr>
          </a:p>
          <a:p>
            <a:pPr algn="l">
              <a:lnSpc>
                <a:spcPct val="150000"/>
              </a:lnSpc>
            </a:pPr>
            <a:r>
              <a:rPr lang="ko-KR" altLang="en-US" sz="1400" dirty="0">
                <a:solidFill>
                  <a:srgbClr val="576176"/>
                </a:solidFill>
                <a:latin typeface="Pretendard"/>
              </a:rPr>
              <a:t>노코드로 공개 </a:t>
            </a:r>
            <a:r>
              <a:rPr lang="en-US" altLang="ko-KR" sz="1400" dirty="0">
                <a:solidFill>
                  <a:srgbClr val="576176"/>
                </a:solidFill>
                <a:latin typeface="Pretendard"/>
              </a:rPr>
              <a:t>URL</a:t>
            </a:r>
            <a:r>
              <a:rPr lang="ko-KR" altLang="en-US" sz="1400" dirty="0">
                <a:solidFill>
                  <a:srgbClr val="576176"/>
                </a:solidFill>
                <a:latin typeface="Pretendard"/>
              </a:rPr>
              <a:t>까지</a:t>
            </a:r>
            <a:r>
              <a:rPr lang="en-US" altLang="ko-KR" sz="1400" dirty="0">
                <a:solidFill>
                  <a:srgbClr val="576176"/>
                </a:solidFill>
                <a:latin typeface="Pretendard"/>
              </a:rPr>
              <a:t>.</a:t>
            </a:r>
            <a:endParaRPr lang="ko-KR" altLang="en-US" sz="1400" dirty="0">
              <a:solidFill>
                <a:srgbClr val="576176"/>
              </a:solidFill>
              <a:latin typeface="Pretendard"/>
            </a:endParaRPr>
          </a:p>
        </p:txBody>
      </p:sp>
      <p:sp>
        <p:nvSpPr>
          <p:cNvPr id="17" name="모서리가 둥근 직사각형 16">
            <a:extLst>
              <a:ext uri="{FF2B5EF4-FFF2-40B4-BE49-F238E27FC236}">
                <a16:creationId xmlns:a16="http://schemas.microsoft.com/office/drawing/2014/main" id="{33D8FFF2-AE0F-E947-A5BE-BC3C781879BF}"/>
              </a:ext>
            </a:extLst>
          </p:cNvPr>
          <p:cNvSpPr/>
          <p:nvPr/>
        </p:nvSpPr>
        <p:spPr>
          <a:xfrm>
            <a:off x="4724400" y="5562600"/>
            <a:ext cx="2730500" cy="457200"/>
          </a:xfrm>
          <a:prstGeom prst="roundRect">
            <a:avLst>
              <a:gd name="adj" fmla="val 5556"/>
            </a:avLst>
          </a:prstGeom>
          <a:solidFill>
            <a:srgbClr val="E4ECF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04D79A2-8033-8148-8D44-0B489D8A49B5}"/>
              </a:ext>
            </a:extLst>
          </p:cNvPr>
          <p:cNvSpPr txBox="1"/>
          <p:nvPr/>
        </p:nvSpPr>
        <p:spPr>
          <a:xfrm>
            <a:off x="4724400" y="5562600"/>
            <a:ext cx="2730500" cy="457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ctr"/>
            <a:r>
              <a:rPr lang="ko-KR" altLang="en-US" sz="1400" b="1">
                <a:solidFill>
                  <a:srgbClr val="1D4E89"/>
                </a:solidFill>
                <a:latin typeface="Pretendard"/>
              </a:rPr>
              <a:t>반응형 게시 </a:t>
            </a:r>
            <a:r>
              <a:rPr lang="en-US" altLang="ko-KR" sz="1400" b="1">
                <a:solidFill>
                  <a:srgbClr val="1D4E89"/>
                </a:solidFill>
                <a:latin typeface="Pretendard"/>
              </a:rPr>
              <a:t>· URL</a:t>
            </a:r>
            <a:endParaRPr lang="ko-KR" altLang="en-US" sz="1400" b="1">
              <a:solidFill>
                <a:srgbClr val="1D4E89"/>
              </a:solidFill>
              <a:latin typeface="Pretendard"/>
            </a:endParaRP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56DB0F82-09D1-6A41-837E-725F07D15D36}"/>
              </a:ext>
            </a:extLst>
          </p:cNvPr>
          <p:cNvSpPr/>
          <p:nvPr/>
        </p:nvSpPr>
        <p:spPr>
          <a:xfrm>
            <a:off x="8013700" y="1905000"/>
            <a:ext cx="3340100" cy="4381500"/>
          </a:xfrm>
          <a:prstGeom prst="roundRect">
            <a:avLst>
              <a:gd name="adj" fmla="val 760"/>
            </a:avLst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43F40118-BE57-FF44-912A-EA3153A7CEBD}"/>
              </a:ext>
            </a:extLst>
          </p:cNvPr>
          <p:cNvSpPr/>
          <p:nvPr/>
        </p:nvSpPr>
        <p:spPr>
          <a:xfrm>
            <a:off x="8013700" y="1905000"/>
            <a:ext cx="3340100" cy="88900"/>
          </a:xfrm>
          <a:prstGeom prst="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1" name="모서리가 둥근 직사각형 20">
            <a:extLst>
              <a:ext uri="{FF2B5EF4-FFF2-40B4-BE49-F238E27FC236}">
                <a16:creationId xmlns:a16="http://schemas.microsoft.com/office/drawing/2014/main" id="{63C01F5C-B88A-764E-B089-A971C788AE56}"/>
              </a:ext>
            </a:extLst>
          </p:cNvPr>
          <p:cNvSpPr/>
          <p:nvPr/>
        </p:nvSpPr>
        <p:spPr>
          <a:xfrm>
            <a:off x="8318500" y="2235200"/>
            <a:ext cx="2730500" cy="584200"/>
          </a:xfrm>
          <a:prstGeom prst="roundRect">
            <a:avLst>
              <a:gd name="adj" fmla="val 4348"/>
            </a:avLst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5978222-2627-6A48-91BF-0D7DA0AF65F3}"/>
              </a:ext>
            </a:extLst>
          </p:cNvPr>
          <p:cNvSpPr txBox="1"/>
          <p:nvPr/>
        </p:nvSpPr>
        <p:spPr>
          <a:xfrm>
            <a:off x="8318500" y="2235200"/>
            <a:ext cx="2730500" cy="584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n-US" altLang="ko-KR" sz="1650" b="1">
                <a:solidFill>
                  <a:srgbClr val="FFFFFF"/>
                </a:solidFill>
                <a:latin typeface="Pretendard"/>
              </a:rPr>
              <a:t>Carrd</a:t>
            </a:r>
            <a:endParaRPr lang="ko-KR" altLang="en-US" sz="1650" b="1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25C981B-EAB5-E24E-8530-188FC5BC9667}"/>
              </a:ext>
            </a:extLst>
          </p:cNvPr>
          <p:cNvSpPr txBox="1"/>
          <p:nvPr/>
        </p:nvSpPr>
        <p:spPr>
          <a:xfrm>
            <a:off x="8318500" y="3098800"/>
            <a:ext cx="2730500" cy="1905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400" dirty="0">
                <a:solidFill>
                  <a:srgbClr val="576176"/>
                </a:solidFill>
                <a:latin typeface="Pretendard"/>
              </a:rPr>
              <a:t>가벼운 원페이지 </a:t>
            </a:r>
            <a:endParaRPr lang="en-US" altLang="ko-KR" sz="1400" dirty="0">
              <a:solidFill>
                <a:srgbClr val="576176"/>
              </a:solidFill>
              <a:latin typeface="Pretendard"/>
            </a:endParaRPr>
          </a:p>
          <a:p>
            <a:pPr algn="l">
              <a:lnSpc>
                <a:spcPct val="150000"/>
              </a:lnSpc>
            </a:pPr>
            <a:r>
              <a:rPr lang="ko-KR" altLang="en-US" sz="1400" dirty="0">
                <a:solidFill>
                  <a:srgbClr val="576176"/>
                </a:solidFill>
                <a:latin typeface="Pretendard"/>
              </a:rPr>
              <a:t>프로모션에 적합</a:t>
            </a:r>
            <a:r>
              <a:rPr lang="en-US" altLang="ko-KR" sz="1400" dirty="0">
                <a:solidFill>
                  <a:srgbClr val="576176"/>
                </a:solidFill>
                <a:latin typeface="Pretendard"/>
              </a:rPr>
              <a:t>. </a:t>
            </a:r>
          </a:p>
          <a:p>
            <a:pPr algn="l">
              <a:lnSpc>
                <a:spcPct val="150000"/>
              </a:lnSpc>
            </a:pPr>
            <a:endParaRPr lang="en-US" altLang="ko-KR" sz="1400" dirty="0">
              <a:solidFill>
                <a:srgbClr val="576176"/>
              </a:solidFill>
              <a:latin typeface="Pretendard"/>
            </a:endParaRPr>
          </a:p>
          <a:p>
            <a:pPr algn="l">
              <a:lnSpc>
                <a:spcPct val="150000"/>
              </a:lnSpc>
            </a:pPr>
            <a:r>
              <a:rPr lang="ko-KR" altLang="en-US" sz="1400" dirty="0">
                <a:solidFill>
                  <a:srgbClr val="576176"/>
                </a:solidFill>
                <a:latin typeface="Pretendard"/>
              </a:rPr>
              <a:t>빠르게 만들고 공개한다</a:t>
            </a:r>
            <a:r>
              <a:rPr lang="en-US" altLang="ko-KR" sz="1400" dirty="0">
                <a:solidFill>
                  <a:srgbClr val="576176"/>
                </a:solidFill>
                <a:latin typeface="Pretendard"/>
              </a:rPr>
              <a:t>.</a:t>
            </a:r>
            <a:endParaRPr lang="ko-KR" altLang="en-US" sz="1400" dirty="0">
              <a:solidFill>
                <a:srgbClr val="576176"/>
              </a:solidFill>
              <a:latin typeface="Pretendard"/>
            </a:endParaRPr>
          </a:p>
        </p:txBody>
      </p:sp>
      <p:sp>
        <p:nvSpPr>
          <p:cNvPr id="24" name="모서리가 둥근 직사각형 23">
            <a:extLst>
              <a:ext uri="{FF2B5EF4-FFF2-40B4-BE49-F238E27FC236}">
                <a16:creationId xmlns:a16="http://schemas.microsoft.com/office/drawing/2014/main" id="{CDD956D6-B936-8745-8E1E-BD64204F9C91}"/>
              </a:ext>
            </a:extLst>
          </p:cNvPr>
          <p:cNvSpPr/>
          <p:nvPr/>
        </p:nvSpPr>
        <p:spPr>
          <a:xfrm>
            <a:off x="8318500" y="5562600"/>
            <a:ext cx="2730500" cy="457200"/>
          </a:xfrm>
          <a:prstGeom prst="roundRect">
            <a:avLst>
              <a:gd name="adj" fmla="val 5556"/>
            </a:avLst>
          </a:prstGeom>
          <a:solidFill>
            <a:srgbClr val="FBEF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3C58F67-5864-C545-B02B-B8D60516E943}"/>
              </a:ext>
            </a:extLst>
          </p:cNvPr>
          <p:cNvSpPr txBox="1"/>
          <p:nvPr/>
        </p:nvSpPr>
        <p:spPr>
          <a:xfrm>
            <a:off x="8318500" y="5562600"/>
            <a:ext cx="2730500" cy="457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ctr"/>
            <a:r>
              <a:rPr lang="ko-KR" altLang="en-US" sz="1400" b="1">
                <a:solidFill>
                  <a:srgbClr val="9A6B12"/>
                </a:solidFill>
                <a:latin typeface="Pretendard"/>
              </a:rPr>
              <a:t>가벼운 원페이지</a:t>
            </a:r>
          </a:p>
        </p:txBody>
      </p:sp>
      <p:sp>
        <p:nvSpPr>
          <p:cNvPr id="4" name="PageNumber">
            <a:extLst>
              <a:ext uri="{FF2B5EF4-FFF2-40B4-BE49-F238E27FC236}">
                <a16:creationId xmlns:a16="http://schemas.microsoft.com/office/drawing/2014/main" id="{55048288-9156-0747-87AB-9A4A07E31ECE}"/>
              </a:ext>
            </a:extLst>
          </p:cNvPr>
          <p:cNvSpPr txBox="1"/>
          <p:nvPr/>
        </p:nvSpPr>
        <p:spPr>
          <a:xfrm>
            <a:off x="9499600" y="6489700"/>
            <a:ext cx="23368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r"/>
            <a:r>
              <a:rPr lang="en-US" altLang="ko-KR" sz="1200">
                <a:solidFill>
                  <a:srgbClr val="576176"/>
                </a:solidFill>
                <a:latin typeface="Pretendard"/>
              </a:rPr>
              <a:t>- 122/144 -</a:t>
            </a:r>
            <a:endParaRPr lang="ko-KR" altLang="en-US" sz="1200">
              <a:solidFill>
                <a:srgbClr val="576176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3151033930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CHECKLIST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모듈 체크리스트</a:t>
            </a: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46111687-096E-2244-B8AC-52E355892DEA}"/>
              </a:ext>
            </a:extLst>
          </p:cNvPr>
          <p:cNvSpPr/>
          <p:nvPr/>
        </p:nvSpPr>
        <p:spPr>
          <a:xfrm>
            <a:off x="825500" y="2006600"/>
            <a:ext cx="10541000" cy="1219200"/>
          </a:xfrm>
          <a:prstGeom prst="roundRect">
            <a:avLst>
              <a:gd name="adj" fmla="val 2083"/>
            </a:avLst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194E2FEE-E018-D94F-9DA7-83A73A228524}"/>
              </a:ext>
            </a:extLst>
          </p:cNvPr>
          <p:cNvSpPr/>
          <p:nvPr/>
        </p:nvSpPr>
        <p:spPr>
          <a:xfrm>
            <a:off x="825500" y="2006600"/>
            <a:ext cx="76200" cy="1219200"/>
          </a:xfrm>
          <a:prstGeom prst="roundRect">
            <a:avLst>
              <a:gd name="adj" fmla="val 33333"/>
            </a:avLst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683560E8-CC2F-1A41-A3BC-3634D3C1B696}"/>
              </a:ext>
            </a:extLst>
          </p:cNvPr>
          <p:cNvSpPr/>
          <p:nvPr/>
        </p:nvSpPr>
        <p:spPr>
          <a:xfrm>
            <a:off x="1270000" y="2362200"/>
            <a:ext cx="508000" cy="508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2225" cap="flat" cmpd="sng" algn="ctr">
            <a:solidFill>
              <a:srgbClr val="14213D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2200" b="1">
                <a:solidFill>
                  <a:srgbClr val="E8A33D"/>
                </a:solidFill>
              </a:rPr>
              <a:t>✓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3E6995-D795-784C-B0CC-5706A3E4367C}"/>
              </a:ext>
            </a:extLst>
          </p:cNvPr>
          <p:cNvSpPr txBox="1"/>
          <p:nvPr/>
        </p:nvSpPr>
        <p:spPr>
          <a:xfrm>
            <a:off x="2082800" y="2286000"/>
            <a:ext cx="8890000" cy="355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b="1">
                <a:solidFill>
                  <a:srgbClr val="14213D"/>
                </a:solidFill>
                <a:latin typeface="Pretendard"/>
              </a:rPr>
              <a:t>섹션마다 역할 부여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D31541-8F24-5249-B070-0347CB0EA2AC}"/>
              </a:ext>
            </a:extLst>
          </p:cNvPr>
          <p:cNvSpPr txBox="1"/>
          <p:nvPr/>
        </p:nvSpPr>
        <p:spPr>
          <a:xfrm>
            <a:off x="2082800" y="2667000"/>
            <a:ext cx="8890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400">
                <a:solidFill>
                  <a:srgbClr val="576176"/>
                </a:solidFill>
                <a:latin typeface="Pretendard"/>
              </a:rPr>
              <a:t>히어로 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· 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특징 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· 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후기 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· CTA</a:t>
            </a:r>
            <a:endParaRPr lang="ko-KR" altLang="en-US" sz="1400">
              <a:solidFill>
                <a:srgbClr val="576176"/>
              </a:solidFill>
              <a:latin typeface="Pretendard"/>
            </a:endParaRP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1370618B-A981-6C43-9461-65D16C7953D6}"/>
              </a:ext>
            </a:extLst>
          </p:cNvPr>
          <p:cNvSpPr/>
          <p:nvPr/>
        </p:nvSpPr>
        <p:spPr>
          <a:xfrm>
            <a:off x="825500" y="3403600"/>
            <a:ext cx="10541000" cy="1219200"/>
          </a:xfrm>
          <a:prstGeom prst="roundRect">
            <a:avLst>
              <a:gd name="adj" fmla="val 2083"/>
            </a:avLst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16309C20-D805-334D-9FCF-6008CDDBCA29}"/>
              </a:ext>
            </a:extLst>
          </p:cNvPr>
          <p:cNvSpPr/>
          <p:nvPr/>
        </p:nvSpPr>
        <p:spPr>
          <a:xfrm>
            <a:off x="825500" y="3403600"/>
            <a:ext cx="76200" cy="1219200"/>
          </a:xfrm>
          <a:prstGeom prst="roundRect">
            <a:avLst>
              <a:gd name="adj" fmla="val 33333"/>
            </a:avLst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73C2099E-F3A0-FB4F-AFAD-41248DDB4498}"/>
              </a:ext>
            </a:extLst>
          </p:cNvPr>
          <p:cNvSpPr/>
          <p:nvPr/>
        </p:nvSpPr>
        <p:spPr>
          <a:xfrm>
            <a:off x="1270000" y="3759200"/>
            <a:ext cx="508000" cy="508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2225" cap="flat" cmpd="sng" algn="ctr">
            <a:solidFill>
              <a:srgbClr val="14213D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2200" b="1">
                <a:solidFill>
                  <a:srgbClr val="E8A33D"/>
                </a:solidFill>
              </a:rPr>
              <a:t>✓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3CD0355-33AA-6B47-B959-828B3B2C552B}"/>
              </a:ext>
            </a:extLst>
          </p:cNvPr>
          <p:cNvSpPr txBox="1"/>
          <p:nvPr/>
        </p:nvSpPr>
        <p:spPr>
          <a:xfrm>
            <a:off x="2082800" y="3683000"/>
            <a:ext cx="8890000" cy="355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b="1">
                <a:solidFill>
                  <a:srgbClr val="14213D"/>
                </a:solidFill>
                <a:latin typeface="Pretendard"/>
              </a:rPr>
              <a:t>이득형 </a:t>
            </a:r>
            <a:r>
              <a:rPr lang="en-US" altLang="ko-KR" b="1">
                <a:solidFill>
                  <a:srgbClr val="14213D"/>
                </a:solidFill>
                <a:latin typeface="Pretendard"/>
              </a:rPr>
              <a:t>CTA 3</a:t>
            </a:r>
            <a:r>
              <a:rPr lang="ko-KR" altLang="en-US" b="1">
                <a:solidFill>
                  <a:srgbClr val="14213D"/>
                </a:solidFill>
                <a:latin typeface="Pretendard"/>
              </a:rPr>
              <a:t>종 작성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E689505-869C-AB4D-8FCD-EB84BD385EB0}"/>
              </a:ext>
            </a:extLst>
          </p:cNvPr>
          <p:cNvSpPr txBox="1"/>
          <p:nvPr/>
        </p:nvSpPr>
        <p:spPr>
          <a:xfrm>
            <a:off x="2082800" y="4064000"/>
            <a:ext cx="8890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400">
                <a:solidFill>
                  <a:srgbClr val="576176"/>
                </a:solidFill>
                <a:latin typeface="Pretendard"/>
              </a:rPr>
              <a:t>이득 동사 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+ 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버튼 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1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개에 집중</a:t>
            </a:r>
          </a:p>
        </p:txBody>
      </p:sp>
      <p:sp>
        <p:nvSpPr>
          <p:cNvPr id="15" name="모서리가 둥근 직사각형 14">
            <a:extLst>
              <a:ext uri="{FF2B5EF4-FFF2-40B4-BE49-F238E27FC236}">
                <a16:creationId xmlns:a16="http://schemas.microsoft.com/office/drawing/2014/main" id="{8AF97932-6EAE-9D4E-938E-ABEFBBBB3EC9}"/>
              </a:ext>
            </a:extLst>
          </p:cNvPr>
          <p:cNvSpPr/>
          <p:nvPr/>
        </p:nvSpPr>
        <p:spPr>
          <a:xfrm>
            <a:off x="825500" y="4800600"/>
            <a:ext cx="10541000" cy="1219200"/>
          </a:xfrm>
          <a:prstGeom prst="roundRect">
            <a:avLst>
              <a:gd name="adj" fmla="val 2083"/>
            </a:avLst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6" name="모서리가 둥근 직사각형 15">
            <a:extLst>
              <a:ext uri="{FF2B5EF4-FFF2-40B4-BE49-F238E27FC236}">
                <a16:creationId xmlns:a16="http://schemas.microsoft.com/office/drawing/2014/main" id="{5622351C-5465-B54C-BFF5-915C5EED910F}"/>
              </a:ext>
            </a:extLst>
          </p:cNvPr>
          <p:cNvSpPr/>
          <p:nvPr/>
        </p:nvSpPr>
        <p:spPr>
          <a:xfrm>
            <a:off x="825500" y="4800600"/>
            <a:ext cx="76200" cy="1219200"/>
          </a:xfrm>
          <a:prstGeom prst="roundRect">
            <a:avLst>
              <a:gd name="adj" fmla="val 33333"/>
            </a:avLst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7" name="모서리가 둥근 직사각형 16">
            <a:extLst>
              <a:ext uri="{FF2B5EF4-FFF2-40B4-BE49-F238E27FC236}">
                <a16:creationId xmlns:a16="http://schemas.microsoft.com/office/drawing/2014/main" id="{87E5D225-943E-134E-8048-986B0BD7FD3F}"/>
              </a:ext>
            </a:extLst>
          </p:cNvPr>
          <p:cNvSpPr/>
          <p:nvPr/>
        </p:nvSpPr>
        <p:spPr>
          <a:xfrm>
            <a:off x="1270000" y="5156200"/>
            <a:ext cx="508000" cy="508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2225" cap="flat" cmpd="sng" algn="ctr">
            <a:solidFill>
              <a:srgbClr val="14213D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2200" b="1">
                <a:solidFill>
                  <a:srgbClr val="E8A33D"/>
                </a:solidFill>
              </a:rPr>
              <a:t>✓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883710A-5E1F-5D4A-B1DC-EB65FC35E6C9}"/>
              </a:ext>
            </a:extLst>
          </p:cNvPr>
          <p:cNvSpPr txBox="1"/>
          <p:nvPr/>
        </p:nvSpPr>
        <p:spPr>
          <a:xfrm>
            <a:off x="2082800" y="5080000"/>
            <a:ext cx="8890000" cy="355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b="1">
                <a:solidFill>
                  <a:srgbClr val="14213D"/>
                </a:solidFill>
                <a:latin typeface="Pretendard"/>
              </a:rPr>
              <a:t>AIDA </a:t>
            </a:r>
            <a:r>
              <a:rPr lang="ko-KR" altLang="en-US" b="1">
                <a:solidFill>
                  <a:srgbClr val="14213D"/>
                </a:solidFill>
                <a:latin typeface="Pretendard"/>
              </a:rPr>
              <a:t>흐름으로 재배열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87ED060-4035-7A4A-BE7E-3E380815F387}"/>
              </a:ext>
            </a:extLst>
          </p:cNvPr>
          <p:cNvSpPr txBox="1"/>
          <p:nvPr/>
        </p:nvSpPr>
        <p:spPr>
          <a:xfrm>
            <a:off x="2082800" y="5461000"/>
            <a:ext cx="8890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400">
                <a:solidFill>
                  <a:srgbClr val="576176"/>
                </a:solidFill>
                <a:latin typeface="Pretendard"/>
              </a:rPr>
              <a:t>인지 → 관심 → 욕구 → 행동</a:t>
            </a:r>
          </a:p>
        </p:txBody>
      </p:sp>
      <p:sp>
        <p:nvSpPr>
          <p:cNvPr id="4" name="PageNumber">
            <a:extLst>
              <a:ext uri="{FF2B5EF4-FFF2-40B4-BE49-F238E27FC236}">
                <a16:creationId xmlns:a16="http://schemas.microsoft.com/office/drawing/2014/main" id="{E079252D-4617-8C49-A0B1-1861E437DC69}"/>
              </a:ext>
            </a:extLst>
          </p:cNvPr>
          <p:cNvSpPr txBox="1"/>
          <p:nvPr/>
        </p:nvSpPr>
        <p:spPr>
          <a:xfrm>
            <a:off x="9499600" y="6489700"/>
            <a:ext cx="23368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r"/>
            <a:r>
              <a:rPr lang="en-US" altLang="ko-KR" sz="1200">
                <a:solidFill>
                  <a:srgbClr val="576176"/>
                </a:solidFill>
                <a:latin typeface="Pretendard"/>
              </a:rPr>
              <a:t>- 123/144 -</a:t>
            </a:r>
            <a:endParaRPr lang="ko-KR" altLang="en-US" sz="1200">
              <a:solidFill>
                <a:srgbClr val="576176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1979199033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01FE2EB5-D48D-3C46-AD43-668945EB9F01}"/>
              </a:ext>
            </a:extLst>
          </p:cNvPr>
          <p:cNvSpPr/>
          <p:nvPr/>
        </p:nvSpPr>
        <p:spPr>
          <a:xfrm>
            <a:off x="825500" y="1905000"/>
            <a:ext cx="10541000" cy="3175000"/>
          </a:xfrm>
          <a:prstGeom prst="roundRect">
            <a:avLst>
              <a:gd name="adj" fmla="val 800"/>
            </a:avLst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544052C9-964A-314B-81A1-A2063ED99B4D}"/>
              </a:ext>
            </a:extLst>
          </p:cNvPr>
          <p:cNvSpPr/>
          <p:nvPr/>
        </p:nvSpPr>
        <p:spPr>
          <a:xfrm>
            <a:off x="825500" y="1905000"/>
            <a:ext cx="101600" cy="3175000"/>
          </a:xfrm>
          <a:prstGeom prst="roundRect">
            <a:avLst>
              <a:gd name="adj" fmla="val 25000"/>
            </a:avLst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D18431-CB0D-6F49-B4B0-C9531C81BC33}"/>
              </a:ext>
            </a:extLst>
          </p:cNvPr>
          <p:cNvSpPr txBox="1"/>
          <p:nvPr/>
        </p:nvSpPr>
        <p:spPr>
          <a:xfrm>
            <a:off x="1333500" y="2286000"/>
            <a:ext cx="8890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500" b="1">
                <a:solidFill>
                  <a:srgbClr val="E8A33D"/>
                </a:solidFill>
                <a:latin typeface="JetBrains Mono"/>
              </a:rPr>
              <a:t>MISSION 06 · </a:t>
            </a:r>
            <a:r>
              <a:rPr lang="ko-KR" altLang="en-US" sz="1500" b="1">
                <a:solidFill>
                  <a:srgbClr val="E8A33D"/>
                </a:solidFill>
                <a:latin typeface="JetBrains Mono"/>
              </a:rPr>
              <a:t>도장깨기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913BEE-4D1B-D94F-9C0B-48A069D920E6}"/>
              </a:ext>
            </a:extLst>
          </p:cNvPr>
          <p:cNvSpPr txBox="1"/>
          <p:nvPr/>
        </p:nvSpPr>
        <p:spPr>
          <a:xfrm>
            <a:off x="1333500" y="2641600"/>
            <a:ext cx="8890000" cy="584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3000" b="1">
                <a:solidFill>
                  <a:srgbClr val="FFFFFF"/>
                </a:solidFill>
                <a:latin typeface="Noto Serif KR"/>
              </a:rPr>
              <a:t>홍보 페이지 구성</a:t>
            </a: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8B0937E6-320D-BD49-8BD9-567C8601B1F2}"/>
              </a:ext>
            </a:extLst>
          </p:cNvPr>
          <p:cNvSpPr/>
          <p:nvPr/>
        </p:nvSpPr>
        <p:spPr>
          <a:xfrm>
            <a:off x="1333500" y="3454400"/>
            <a:ext cx="9525000" cy="1320800"/>
          </a:xfrm>
          <a:prstGeom prst="roundRect">
            <a:avLst>
              <a:gd name="adj" fmla="val 1923"/>
            </a:avLst>
          </a:prstGeom>
          <a:solidFill>
            <a:srgbClr val="20314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A1D3599-2063-B64E-9F72-A6A541162EA8}"/>
              </a:ext>
            </a:extLst>
          </p:cNvPr>
          <p:cNvSpPr txBox="1"/>
          <p:nvPr/>
        </p:nvSpPr>
        <p:spPr>
          <a:xfrm>
            <a:off x="1587500" y="3657600"/>
            <a:ext cx="9017000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b="1">
                <a:solidFill>
                  <a:srgbClr val="FFFFFF"/>
                </a:solidFill>
                <a:latin typeface="Pretendard"/>
              </a:rPr>
              <a:t>소개형 페이지를 사용자 흐름 순으로 구성한다</a:t>
            </a:r>
            <a:r>
              <a:rPr lang="en-US" altLang="ko-KR" b="1">
                <a:solidFill>
                  <a:srgbClr val="FFFFFF"/>
                </a:solidFill>
                <a:latin typeface="Pretendard"/>
              </a:rPr>
              <a:t>.</a:t>
            </a:r>
            <a:endParaRPr lang="ko-KR" altLang="en-US" b="1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DA6D26A-94DF-EF4B-986B-5E20DE8C1B03}"/>
              </a:ext>
            </a:extLst>
          </p:cNvPr>
          <p:cNvSpPr txBox="1"/>
          <p:nvPr/>
        </p:nvSpPr>
        <p:spPr>
          <a:xfrm>
            <a:off x="1587500" y="4140200"/>
            <a:ext cx="9017000" cy="355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450">
                <a:solidFill>
                  <a:srgbClr val="E8A33D"/>
                </a:solidFill>
                <a:latin typeface="Pretendard"/>
              </a:rPr>
              <a:t>→ 인지 → 관심 → 행동 순으로 섹션을 배치한다</a:t>
            </a:r>
            <a:r>
              <a:rPr lang="en-US" altLang="ko-KR" sz="1450">
                <a:solidFill>
                  <a:srgbClr val="E8A33D"/>
                </a:solidFill>
                <a:latin typeface="Pretendard"/>
              </a:rPr>
              <a:t>.</a:t>
            </a:r>
            <a:endParaRPr lang="ko-KR" altLang="en-US" sz="1450">
              <a:solidFill>
                <a:srgbClr val="E8A33D"/>
              </a:solidFill>
              <a:latin typeface="Pretendard"/>
            </a:endParaRP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FB37313B-0188-F548-BD11-E0FA8CD99583}"/>
              </a:ext>
            </a:extLst>
          </p:cNvPr>
          <p:cNvSpPr/>
          <p:nvPr/>
        </p:nvSpPr>
        <p:spPr>
          <a:xfrm>
            <a:off x="825500" y="5283200"/>
            <a:ext cx="10541000" cy="939800"/>
          </a:xfrm>
          <a:prstGeom prst="roundRect">
            <a:avLst>
              <a:gd name="adj" fmla="val 2703"/>
            </a:avLst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7A9E06-AA01-EE47-822B-118FB2C976A7}"/>
              </a:ext>
            </a:extLst>
          </p:cNvPr>
          <p:cNvSpPr txBox="1"/>
          <p:nvPr/>
        </p:nvSpPr>
        <p:spPr>
          <a:xfrm>
            <a:off x="1206500" y="5486400"/>
            <a:ext cx="1778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400" b="1">
                <a:solidFill>
                  <a:srgbClr val="E8A33D"/>
                </a:solidFill>
                <a:latin typeface="JetBrains Mono"/>
              </a:rPr>
              <a:t>▶  NEXT</a:t>
            </a:r>
            <a:endParaRPr lang="ko-KR" altLang="en-US" sz="1400" b="1">
              <a:solidFill>
                <a:srgbClr val="E8A33D"/>
              </a:solidFill>
              <a:latin typeface="JetBrains Mono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DD903CC-F581-AE4C-B145-688707403B1D}"/>
              </a:ext>
            </a:extLst>
          </p:cNvPr>
          <p:cNvSpPr txBox="1"/>
          <p:nvPr/>
        </p:nvSpPr>
        <p:spPr>
          <a:xfrm>
            <a:off x="1206500" y="5740400"/>
            <a:ext cx="9652000" cy="330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b="1">
                <a:solidFill>
                  <a:srgbClr val="14213D"/>
                </a:solidFill>
                <a:latin typeface="Pretendard"/>
              </a:rPr>
              <a:t>M7 · AI </a:t>
            </a:r>
            <a:r>
              <a:rPr lang="ko-KR" altLang="en-US" b="1">
                <a:solidFill>
                  <a:srgbClr val="14213D"/>
                </a:solidFill>
                <a:latin typeface="Pretendard"/>
              </a:rPr>
              <a:t>기반 반복업무 자동화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09F9A581-6F60-B627-2DC5-0DFB5A880B99}"/>
              </a:ext>
            </a:extLst>
          </p:cNvPr>
          <p:cNvGrpSpPr/>
          <p:nvPr/>
        </p:nvGrpSpPr>
        <p:grpSpPr>
          <a:xfrm>
            <a:off x="7846785" y="100001"/>
            <a:ext cx="4345215" cy="4040199"/>
            <a:chOff x="13449300" y="2921000"/>
            <a:chExt cx="11036300" cy="1026160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CEAE70FC-DC45-092F-CF2E-A0C21FB6C6C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50000"/>
            </a:blip>
            <a:stretch>
              <a:fillRect/>
            </a:stretch>
          </p:blipFill>
          <p:spPr>
            <a:xfrm>
              <a:off x="21920200" y="8051800"/>
              <a:ext cx="2565400" cy="5130800"/>
            </a:xfrm>
            <a:prstGeom prst="rect">
              <a:avLst/>
            </a:prstGeom>
          </p:spPr>
        </p:pic>
        <p:pic>
          <p:nvPicPr>
            <p:cNvPr id="14" name="Picture 3">
              <a:extLst>
                <a:ext uri="{FF2B5EF4-FFF2-40B4-BE49-F238E27FC236}">
                  <a16:creationId xmlns:a16="http://schemas.microsoft.com/office/drawing/2014/main" id="{D81B87BF-9FAA-93B3-5444-31837834EA3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70000"/>
            </a:blip>
            <a:stretch>
              <a:fillRect/>
            </a:stretch>
          </p:blipFill>
          <p:spPr>
            <a:xfrm>
              <a:off x="14185900" y="8686800"/>
              <a:ext cx="4495800" cy="4495800"/>
            </a:xfrm>
            <a:prstGeom prst="rect">
              <a:avLst/>
            </a:prstGeom>
          </p:spPr>
        </p:pic>
        <p:pic>
          <p:nvPicPr>
            <p:cNvPr id="15" name="Picture 4">
              <a:extLst>
                <a:ext uri="{FF2B5EF4-FFF2-40B4-BE49-F238E27FC236}">
                  <a16:creationId xmlns:a16="http://schemas.microsoft.com/office/drawing/2014/main" id="{7DE18A03-CE7B-6EE3-AADB-5177D35DF7E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70000"/>
            </a:blip>
            <a:stretch>
              <a:fillRect/>
            </a:stretch>
          </p:blipFill>
          <p:spPr>
            <a:xfrm>
              <a:off x="16433800" y="6007100"/>
              <a:ext cx="6172200" cy="6172200"/>
            </a:xfrm>
            <a:prstGeom prst="rect">
              <a:avLst/>
            </a:prstGeom>
          </p:spPr>
        </p:pic>
        <p:pic>
          <p:nvPicPr>
            <p:cNvPr id="16" name="Picture 5">
              <a:extLst>
                <a:ext uri="{FF2B5EF4-FFF2-40B4-BE49-F238E27FC236}">
                  <a16:creationId xmlns:a16="http://schemas.microsoft.com/office/drawing/2014/main" id="{5D584D00-7669-2BA7-0F19-6EB712A861D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alphaModFix amt="70000"/>
            </a:blip>
            <a:stretch>
              <a:fillRect/>
            </a:stretch>
          </p:blipFill>
          <p:spPr>
            <a:xfrm>
              <a:off x="20688300" y="2921000"/>
              <a:ext cx="1244600" cy="1244600"/>
            </a:xfrm>
            <a:prstGeom prst="rect">
              <a:avLst/>
            </a:prstGeom>
          </p:spPr>
        </p:pic>
        <p:pic>
          <p:nvPicPr>
            <p:cNvPr id="17" name="Picture 7">
              <a:extLst>
                <a:ext uri="{FF2B5EF4-FFF2-40B4-BE49-F238E27FC236}">
                  <a16:creationId xmlns:a16="http://schemas.microsoft.com/office/drawing/2014/main" id="{4349F426-FAB6-0E2C-ADC8-E45FD42FDF9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alphaModFix amt="70000"/>
            </a:blip>
            <a:stretch>
              <a:fillRect/>
            </a:stretch>
          </p:blipFill>
          <p:spPr>
            <a:xfrm>
              <a:off x="13449300" y="11684000"/>
              <a:ext cx="1485900" cy="1485900"/>
            </a:xfrm>
            <a:prstGeom prst="rect">
              <a:avLst/>
            </a:prstGeom>
          </p:spPr>
        </p:pic>
        <p:pic>
          <p:nvPicPr>
            <p:cNvPr id="18" name="Picture 8">
              <a:extLst>
                <a:ext uri="{FF2B5EF4-FFF2-40B4-BE49-F238E27FC236}">
                  <a16:creationId xmlns:a16="http://schemas.microsoft.com/office/drawing/2014/main" id="{5DCF535E-1290-1958-A537-EABE047E0CE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alphaModFix amt="41000"/>
            </a:blip>
            <a:stretch>
              <a:fillRect/>
            </a:stretch>
          </p:blipFill>
          <p:spPr>
            <a:xfrm rot="5400000">
              <a:off x="21869400" y="6515100"/>
              <a:ext cx="3670300" cy="1562100"/>
            </a:xfrm>
            <a:prstGeom prst="rect">
              <a:avLst/>
            </a:prstGeom>
          </p:spPr>
        </p:pic>
      </p:grpSp>
      <p:sp>
        <p:nvSpPr>
          <p:cNvPr id="19" name="PageNumber">
            <a:extLst>
              <a:ext uri="{FF2B5EF4-FFF2-40B4-BE49-F238E27FC236}">
                <a16:creationId xmlns:a16="http://schemas.microsoft.com/office/drawing/2014/main" id="{F70D2CE8-BC17-2F44-A620-E1AC94FC2F54}"/>
              </a:ext>
            </a:extLst>
          </p:cNvPr>
          <p:cNvSpPr txBox="1"/>
          <p:nvPr/>
        </p:nvSpPr>
        <p:spPr>
          <a:xfrm>
            <a:off x="9499600" y="6489700"/>
            <a:ext cx="23368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r"/>
            <a:r>
              <a:rPr lang="en-US" altLang="ko-KR" sz="1200" dirty="0">
                <a:solidFill>
                  <a:schemeClr val="bg1"/>
                </a:solidFill>
                <a:latin typeface="Pretendard"/>
              </a:rPr>
              <a:t>- 124/144 -</a:t>
            </a:r>
            <a:endParaRPr lang="ko-KR" altLang="en-US" sz="1200" dirty="0">
              <a:solidFill>
                <a:schemeClr val="bg1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4231178325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4E8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2960" y="1554480"/>
            <a:ext cx="1005840" cy="128016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20762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1000"/>
              </a:spcAft>
            </a:pPr>
            <a:r>
              <a:rPr sz="1400" b="0" dirty="0">
                <a:solidFill>
                  <a:srgbClr val="BFD2EC"/>
                </a:solidFill>
                <a:latin typeface="JetBrains Mono"/>
                <a:ea typeface="JetBrains Mono"/>
                <a:cs typeface="JetBrains Mono"/>
              </a:rPr>
              <a:t>MODULE 7 · 7–8교시 · 16:00–17:50</a:t>
            </a:r>
          </a:p>
          <a:p>
            <a:pPr algn="l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</a:pPr>
            <a:r>
              <a:rPr sz="3800" b="1" dirty="0">
                <a:solidFill>
                  <a:srgbClr val="FFFFFF"/>
                </a:solidFill>
                <a:latin typeface="Noto Serif KR"/>
                <a:ea typeface="Noto Serif KR"/>
                <a:cs typeface="Noto Serif KR"/>
              </a:rPr>
              <a:t>M7. AI </a:t>
            </a:r>
            <a:r>
              <a:rPr sz="3800" b="1" dirty="0" err="1">
                <a:solidFill>
                  <a:srgbClr val="FFFFFF"/>
                </a:solidFill>
                <a:latin typeface="Noto Serif KR"/>
                <a:ea typeface="Noto Serif KR"/>
                <a:cs typeface="Noto Serif KR"/>
              </a:rPr>
              <a:t>기반</a:t>
            </a:r>
            <a:r>
              <a:rPr sz="3800" b="1" dirty="0">
                <a:solidFill>
                  <a:srgbClr val="FFFFFF"/>
                </a:solidFill>
                <a:latin typeface="Noto Serif KR"/>
                <a:ea typeface="Noto Serif KR"/>
                <a:cs typeface="Noto Serif KR"/>
              </a:rPr>
              <a:t> </a:t>
            </a:r>
            <a:r>
              <a:rPr sz="3800" b="1" dirty="0" err="1">
                <a:solidFill>
                  <a:srgbClr val="FFFFFF"/>
                </a:solidFill>
                <a:latin typeface="Noto Serif KR"/>
                <a:ea typeface="Noto Serif KR"/>
                <a:cs typeface="Noto Serif KR"/>
              </a:rPr>
              <a:t>반복업무</a:t>
            </a:r>
            <a:r>
              <a:rPr sz="3800" b="1" dirty="0">
                <a:solidFill>
                  <a:srgbClr val="FFFFFF"/>
                </a:solidFill>
                <a:latin typeface="Noto Serif KR"/>
                <a:ea typeface="Noto Serif KR"/>
                <a:cs typeface="Noto Serif KR"/>
              </a:rPr>
              <a:t> </a:t>
            </a:r>
            <a:r>
              <a:rPr sz="3800" b="1" dirty="0" err="1">
                <a:solidFill>
                  <a:srgbClr val="FFFFFF"/>
                </a:solidFill>
                <a:latin typeface="Noto Serif KR"/>
                <a:ea typeface="Noto Serif KR"/>
                <a:cs typeface="Noto Serif KR"/>
              </a:rPr>
              <a:t>자동화</a:t>
            </a:r>
            <a:endParaRPr sz="3800" b="1" dirty="0">
              <a:solidFill>
                <a:srgbClr val="FFFFFF"/>
              </a:solidFill>
              <a:latin typeface="Noto Serif KR"/>
              <a:ea typeface="Noto Serif KR"/>
              <a:cs typeface="Noto Serif KR"/>
            </a:endParaRPr>
          </a:p>
          <a:p>
            <a:pPr algn="l">
              <a:lnSpc>
                <a:spcPct val="140000"/>
              </a:lnSpc>
              <a:spcBef>
                <a:spcPts val="600"/>
              </a:spcBef>
              <a:spcAft>
                <a:spcPts val="400"/>
              </a:spcAft>
            </a:pPr>
            <a:r>
              <a:rPr sz="1500" b="0" dirty="0" err="1">
                <a:solidFill>
                  <a:srgbClr val="DBE6F6"/>
                </a:solidFill>
                <a:latin typeface="Pretendard"/>
                <a:ea typeface="Pretendard"/>
                <a:cs typeface="Pretendard"/>
              </a:rPr>
              <a:t>하루</a:t>
            </a:r>
            <a:r>
              <a:rPr sz="1500" b="0" dirty="0">
                <a:solidFill>
                  <a:srgbClr val="DBE6F6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500" b="0" dirty="0" err="1">
                <a:solidFill>
                  <a:srgbClr val="DBE6F6"/>
                </a:solidFill>
                <a:latin typeface="Pretendard"/>
                <a:ea typeface="Pretendard"/>
                <a:cs typeface="Pretendard"/>
              </a:rPr>
              <a:t>동안</a:t>
            </a:r>
            <a:r>
              <a:rPr sz="1500" b="0" dirty="0">
                <a:solidFill>
                  <a:srgbClr val="DBE6F6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500" b="0" dirty="0" err="1">
                <a:solidFill>
                  <a:srgbClr val="DBE6F6"/>
                </a:solidFill>
                <a:latin typeface="Pretendard"/>
                <a:ea typeface="Pretendard"/>
                <a:cs typeface="Pretendard"/>
              </a:rPr>
              <a:t>만든</a:t>
            </a:r>
            <a:r>
              <a:rPr sz="1500" b="0" dirty="0">
                <a:solidFill>
                  <a:srgbClr val="DBE6F6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500" b="0" dirty="0" err="1">
                <a:solidFill>
                  <a:srgbClr val="DBE6F6"/>
                </a:solidFill>
                <a:latin typeface="Pretendard"/>
                <a:ea typeface="Pretendard"/>
                <a:cs typeface="Pretendard"/>
              </a:rPr>
              <a:t>산출물을</a:t>
            </a:r>
            <a:r>
              <a:rPr sz="1500" b="0" dirty="0">
                <a:solidFill>
                  <a:srgbClr val="DBE6F6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500" b="0" dirty="0" err="1">
                <a:solidFill>
                  <a:srgbClr val="DBE6F6"/>
                </a:solidFill>
                <a:latin typeface="Pretendard"/>
                <a:ea typeface="Pretendard"/>
                <a:cs typeface="Pretendard"/>
              </a:rPr>
              <a:t>재사용</a:t>
            </a:r>
            <a:r>
              <a:rPr sz="1500" b="0" dirty="0">
                <a:solidFill>
                  <a:srgbClr val="DBE6F6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500" b="0" dirty="0" err="1">
                <a:solidFill>
                  <a:srgbClr val="DBE6F6"/>
                </a:solidFill>
                <a:latin typeface="Pretendard"/>
                <a:ea typeface="Pretendard"/>
                <a:cs typeface="Pretendard"/>
              </a:rPr>
              <a:t>템플릿으로</a:t>
            </a:r>
            <a:r>
              <a:rPr sz="1500" b="0" dirty="0">
                <a:solidFill>
                  <a:srgbClr val="DBE6F6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500" b="0" dirty="0" err="1">
                <a:solidFill>
                  <a:srgbClr val="DBE6F6"/>
                </a:solidFill>
                <a:latin typeface="Pretendard"/>
                <a:ea typeface="Pretendard"/>
                <a:cs typeface="Pretendard"/>
              </a:rPr>
              <a:t>자산화하고</a:t>
            </a:r>
            <a:r>
              <a:rPr sz="1500" b="0" dirty="0">
                <a:solidFill>
                  <a:srgbClr val="DBE6F6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sz="1500" b="0" dirty="0" err="1">
                <a:solidFill>
                  <a:srgbClr val="DBE6F6"/>
                </a:solidFill>
                <a:latin typeface="Pretendard"/>
                <a:ea typeface="Pretendard"/>
                <a:cs typeface="Pretendard"/>
              </a:rPr>
              <a:t>반복</a:t>
            </a:r>
            <a:r>
              <a:rPr sz="1500" b="0" dirty="0">
                <a:solidFill>
                  <a:srgbClr val="DBE6F6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500" b="0" dirty="0" err="1">
                <a:solidFill>
                  <a:srgbClr val="DBE6F6"/>
                </a:solidFill>
                <a:latin typeface="Pretendard"/>
                <a:ea typeface="Pretendard"/>
                <a:cs typeface="Pretendard"/>
              </a:rPr>
              <a:t>홍보업무를</a:t>
            </a:r>
            <a:r>
              <a:rPr sz="1500" b="0" dirty="0">
                <a:solidFill>
                  <a:srgbClr val="DBE6F6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500" b="0" dirty="0" err="1">
                <a:solidFill>
                  <a:srgbClr val="DBE6F6"/>
                </a:solidFill>
                <a:latin typeface="Pretendard"/>
                <a:ea typeface="Pretendard"/>
                <a:cs typeface="Pretendard"/>
              </a:rPr>
              <a:t>자동화</a:t>
            </a:r>
            <a:r>
              <a:rPr sz="1500" b="0" dirty="0">
                <a:solidFill>
                  <a:srgbClr val="DBE6F6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500" b="0" dirty="0" err="1">
                <a:solidFill>
                  <a:srgbClr val="DBE6F6"/>
                </a:solidFill>
                <a:latin typeface="Pretendard"/>
                <a:ea typeface="Pretendard"/>
                <a:cs typeface="Pretendard"/>
              </a:rPr>
              <a:t>루틴으로</a:t>
            </a:r>
            <a:r>
              <a:rPr sz="1500" b="0" dirty="0">
                <a:solidFill>
                  <a:srgbClr val="DBE6F6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500" b="0" dirty="0" err="1">
                <a:solidFill>
                  <a:srgbClr val="DBE6F6"/>
                </a:solidFill>
                <a:latin typeface="Pretendard"/>
                <a:ea typeface="Pretendard"/>
                <a:cs typeface="Pretendard"/>
              </a:rPr>
              <a:t>설계한다</a:t>
            </a:r>
            <a:r>
              <a:rPr sz="1500" b="0" dirty="0">
                <a:solidFill>
                  <a:srgbClr val="DBE6F6"/>
                </a:solidFill>
                <a:latin typeface="Pretendard"/>
                <a:ea typeface="Pretendard"/>
                <a:cs typeface="Pretendard"/>
              </a:rPr>
              <a:t>. </a:t>
            </a:r>
            <a:endParaRPr lang="en-US" sz="1500" b="0" dirty="0">
              <a:solidFill>
                <a:srgbClr val="DBE6F6"/>
              </a:solidFill>
              <a:latin typeface="Pretendard"/>
              <a:ea typeface="Pretendard"/>
              <a:cs typeface="Pretendard"/>
            </a:endParaRPr>
          </a:p>
          <a:p>
            <a:pPr algn="l">
              <a:lnSpc>
                <a:spcPct val="140000"/>
              </a:lnSpc>
              <a:spcBef>
                <a:spcPts val="600"/>
              </a:spcBef>
              <a:spcAft>
                <a:spcPts val="400"/>
              </a:spcAft>
            </a:pPr>
            <a:r>
              <a:rPr sz="1500" b="0" dirty="0">
                <a:solidFill>
                  <a:srgbClr val="DBE6F6"/>
                </a:solidFill>
                <a:latin typeface="Pretendard"/>
                <a:ea typeface="Pretendard"/>
                <a:cs typeface="Pretendard"/>
              </a:rPr>
              <a:t>(2시간 · </a:t>
            </a:r>
            <a:r>
              <a:rPr sz="1500" b="0" dirty="0" err="1">
                <a:solidFill>
                  <a:srgbClr val="DBE6F6"/>
                </a:solidFill>
                <a:latin typeface="Pretendard"/>
                <a:ea typeface="Pretendard"/>
                <a:cs typeface="Pretendard"/>
              </a:rPr>
              <a:t>결과물</a:t>
            </a:r>
            <a:r>
              <a:rPr sz="1500" b="0" dirty="0">
                <a:solidFill>
                  <a:srgbClr val="DBE6F6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500" b="0" dirty="0" err="1">
                <a:solidFill>
                  <a:srgbClr val="DBE6F6"/>
                </a:solidFill>
                <a:latin typeface="Pretendard"/>
                <a:ea typeface="Pretendard"/>
                <a:cs typeface="Pretendard"/>
              </a:rPr>
              <a:t>완성·발표</a:t>
            </a:r>
            <a:r>
              <a:rPr sz="1500" b="0" dirty="0">
                <a:solidFill>
                  <a:srgbClr val="DBE6F6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500" b="0" dirty="0" err="1">
                <a:solidFill>
                  <a:srgbClr val="DBE6F6"/>
                </a:solidFill>
                <a:latin typeface="Pretendard"/>
                <a:ea typeface="Pretendard"/>
                <a:cs typeface="Pretendard"/>
              </a:rPr>
              <a:t>포함</a:t>
            </a:r>
            <a:r>
              <a:rPr sz="1500" b="0" dirty="0">
                <a:solidFill>
                  <a:srgbClr val="DBE6F6"/>
                </a:solidFill>
                <a:latin typeface="Pretendard"/>
                <a:ea typeface="Pretendard"/>
                <a:cs typeface="Pretendard"/>
              </a:rPr>
              <a:t>)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4404049"/>
            <a:ext cx="10515600" cy="1859591"/>
          </a:xfrm>
          <a:prstGeom prst="rect">
            <a:avLst/>
          </a:prstGeom>
          <a:solidFill>
            <a:srgbClr val="184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164592" rtlCol="0" anchor="ctr"/>
          <a:lstStyle/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300"/>
              </a:spcAft>
            </a:pPr>
            <a:r>
              <a:rPr b="1">
                <a:solidFill>
                  <a:srgbClr val="9FC0E6"/>
                </a:solidFill>
                <a:latin typeface="JetBrains Mono"/>
                <a:ea typeface="JetBrains Mono"/>
                <a:cs typeface="JetBrains Mono"/>
              </a:rPr>
              <a:t>이전  </a:t>
            </a:r>
            <a:r>
              <a:rPr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M1~M6의 결과물이 모두 모였다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300"/>
              </a:spcAft>
            </a:pPr>
            <a:r>
              <a:rPr b="1">
                <a:solidFill>
                  <a:srgbClr val="E8A33D"/>
                </a:solidFill>
                <a:latin typeface="JetBrains Mono"/>
                <a:ea typeface="JetBrains Mono"/>
                <a:cs typeface="JetBrains Mono"/>
              </a:rPr>
              <a:t>이번  </a:t>
            </a:r>
            <a:r>
              <a:rPr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오늘 만든 것을 템플릿·자동화로 자산화하고 발표한다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400"/>
              </a:spcAft>
            </a:pPr>
            <a:r>
              <a:rPr b="1">
                <a:solidFill>
                  <a:srgbClr val="9FC0E6"/>
                </a:solidFill>
                <a:latin typeface="JetBrains Mono"/>
                <a:ea typeface="JetBrains Mono"/>
                <a:cs typeface="JetBrains Mono"/>
              </a:rPr>
              <a:t>다음  </a:t>
            </a:r>
            <a:r>
              <a:rPr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하루의 결과물이 내일의 자산으로 🏁</a:t>
            </a:r>
          </a:p>
        </p:txBody>
      </p:sp>
      <p:pic>
        <p:nvPicPr>
          <p:cNvPr id="5" name="Picture 11">
            <a:extLst>
              <a:ext uri="{FF2B5EF4-FFF2-40B4-BE49-F238E27FC236}">
                <a16:creationId xmlns:a16="http://schemas.microsoft.com/office/drawing/2014/main" id="{CF3CF579-E3F9-E542-FA71-85B9AF8A4D3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7000"/>
          </a:blip>
          <a:stretch>
            <a:fillRect/>
          </a:stretch>
        </p:blipFill>
        <p:spPr>
          <a:xfrm>
            <a:off x="7731967" y="418098"/>
            <a:ext cx="5486400" cy="2272763"/>
          </a:xfrm>
          <a:prstGeom prst="rect">
            <a:avLst/>
          </a:prstGeom>
        </p:spPr>
      </p:pic>
      <p:sp>
        <p:nvSpPr>
          <p:cNvPr id="6" name="PageNumber">
            <a:extLst>
              <a:ext uri="{FF2B5EF4-FFF2-40B4-BE49-F238E27FC236}">
                <a16:creationId xmlns:a16="http://schemas.microsoft.com/office/drawing/2014/main" id="{E7D713EA-FBB5-8D4B-81A0-6BB31F18D5E6}"/>
              </a:ext>
            </a:extLst>
          </p:cNvPr>
          <p:cNvSpPr txBox="1"/>
          <p:nvPr/>
        </p:nvSpPr>
        <p:spPr>
          <a:xfrm>
            <a:off x="9499600" y="6489700"/>
            <a:ext cx="23368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r"/>
            <a:r>
              <a:rPr lang="en-US" altLang="ko-KR" sz="1200">
                <a:solidFill>
                  <a:schemeClr val="bg1"/>
                </a:solidFill>
                <a:latin typeface="Pretendard"/>
              </a:rPr>
              <a:t>- 125/144 -</a:t>
            </a:r>
            <a:endParaRPr lang="ko-KR" altLang="en-US" sz="1200">
              <a:solidFill>
                <a:schemeClr val="bg1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3759430601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학습 목표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이 모듈에서 할 수 있게 되는 것</a:t>
            </a: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3BFD5E3A-0541-2446-8FFC-7141D0059F1B}"/>
              </a:ext>
            </a:extLst>
          </p:cNvPr>
          <p:cNvSpPr/>
          <p:nvPr/>
        </p:nvSpPr>
        <p:spPr>
          <a:xfrm>
            <a:off x="825500" y="1905000"/>
            <a:ext cx="5080000" cy="4381500"/>
          </a:xfrm>
          <a:prstGeom prst="roundRect">
            <a:avLst>
              <a:gd name="adj" fmla="val 580"/>
            </a:avLst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D24503-B256-8049-B668-15AD48055B06}"/>
              </a:ext>
            </a:extLst>
          </p:cNvPr>
          <p:cNvSpPr txBox="1"/>
          <p:nvPr/>
        </p:nvSpPr>
        <p:spPr>
          <a:xfrm>
            <a:off x="1257300" y="2235200"/>
            <a:ext cx="1524000" cy="711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4000" b="1">
                <a:solidFill>
                  <a:srgbClr val="E8A33D"/>
                </a:solidFill>
                <a:latin typeface="JetBrains Mono"/>
              </a:rPr>
              <a:t>01</a:t>
            </a:r>
            <a:endParaRPr lang="ko-KR" altLang="en-US" sz="4000" b="1">
              <a:solidFill>
                <a:srgbClr val="E8A33D"/>
              </a:solidFill>
              <a:latin typeface="JetBrains Mono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470FF6F-B816-C04C-A37E-6CB6005A1E01}"/>
              </a:ext>
            </a:extLst>
          </p:cNvPr>
          <p:cNvSpPr/>
          <p:nvPr/>
        </p:nvSpPr>
        <p:spPr>
          <a:xfrm>
            <a:off x="1282700" y="3124200"/>
            <a:ext cx="685800" cy="50800"/>
          </a:xfrm>
          <a:prstGeom prst="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328CD1-3BD1-AF44-83B1-E31B80DB466F}"/>
              </a:ext>
            </a:extLst>
          </p:cNvPr>
          <p:cNvSpPr txBox="1"/>
          <p:nvPr/>
        </p:nvSpPr>
        <p:spPr>
          <a:xfrm>
            <a:off x="1282700" y="3479800"/>
            <a:ext cx="4165600" cy="1778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2000" b="1" dirty="0">
                <a:solidFill>
                  <a:srgbClr val="14213D"/>
                </a:solidFill>
                <a:latin typeface="Pretendard"/>
              </a:rPr>
              <a:t>반복 홍보업무를 </a:t>
            </a:r>
            <a:endParaRPr lang="en-US" altLang="ko-KR" sz="2000" b="1" dirty="0">
              <a:solidFill>
                <a:srgbClr val="14213D"/>
              </a:solidFill>
              <a:latin typeface="Pretendard"/>
            </a:endParaRPr>
          </a:p>
          <a:p>
            <a:pPr algn="l">
              <a:lnSpc>
                <a:spcPct val="150000"/>
              </a:lnSpc>
            </a:pPr>
            <a:r>
              <a:rPr lang="ko-KR" altLang="en-US" sz="2000" b="1" dirty="0">
                <a:solidFill>
                  <a:srgbClr val="14213D"/>
                </a:solidFill>
                <a:latin typeface="Pretendard"/>
              </a:rPr>
              <a:t>템플릿화하고 </a:t>
            </a:r>
            <a:endParaRPr lang="en-US" altLang="ko-KR" sz="2000" b="1" dirty="0">
              <a:solidFill>
                <a:srgbClr val="14213D"/>
              </a:solidFill>
              <a:latin typeface="Pretendard"/>
            </a:endParaRPr>
          </a:p>
          <a:p>
            <a:pPr algn="l">
              <a:lnSpc>
                <a:spcPct val="150000"/>
              </a:lnSpc>
            </a:pPr>
            <a:r>
              <a:rPr lang="ko-KR" altLang="en-US" sz="2000" b="1" dirty="0">
                <a:solidFill>
                  <a:srgbClr val="14213D"/>
                </a:solidFill>
                <a:latin typeface="Pretendard"/>
              </a:rPr>
              <a:t>실무 적용 프로세스를 </a:t>
            </a:r>
            <a:endParaRPr lang="en-US" altLang="ko-KR" sz="2000" b="1" dirty="0">
              <a:solidFill>
                <a:srgbClr val="14213D"/>
              </a:solidFill>
              <a:latin typeface="Pretendard"/>
            </a:endParaRPr>
          </a:p>
          <a:p>
            <a:pPr algn="l">
              <a:lnSpc>
                <a:spcPct val="150000"/>
              </a:lnSpc>
            </a:pPr>
            <a:r>
              <a:rPr lang="ko-KR" altLang="en-US" sz="2000" b="1" dirty="0">
                <a:solidFill>
                  <a:srgbClr val="14213D"/>
                </a:solidFill>
                <a:latin typeface="Pretendard"/>
              </a:rPr>
              <a:t>설계할 수 있다</a:t>
            </a:r>
            <a:r>
              <a:rPr lang="en-US" altLang="ko-KR" sz="2000" b="1" dirty="0">
                <a:solidFill>
                  <a:srgbClr val="14213D"/>
                </a:solidFill>
                <a:latin typeface="Pretendard"/>
              </a:rPr>
              <a:t>.</a:t>
            </a:r>
            <a:endParaRPr lang="ko-KR" altLang="en-US" sz="2000" b="1" dirty="0">
              <a:solidFill>
                <a:srgbClr val="14213D"/>
              </a:solidFill>
              <a:latin typeface="Pretendard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D5A3BFA-0D1F-C84D-BC3E-5C70F47E9C7B}"/>
              </a:ext>
            </a:extLst>
          </p:cNvPr>
          <p:cNvSpPr txBox="1"/>
          <p:nvPr/>
        </p:nvSpPr>
        <p:spPr>
          <a:xfrm>
            <a:off x="1282700" y="5689600"/>
            <a:ext cx="4165600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400">
                <a:solidFill>
                  <a:srgbClr val="1D4E89"/>
                </a:solidFill>
                <a:latin typeface="JetBrains Mono"/>
              </a:rPr>
              <a:t>→ </a:t>
            </a:r>
            <a:r>
              <a:rPr lang="en-US" altLang="ko-KR" sz="1400">
                <a:solidFill>
                  <a:srgbClr val="1D4E89"/>
                </a:solidFill>
                <a:latin typeface="JetBrains Mono"/>
              </a:rPr>
              <a:t>3</a:t>
            </a:r>
            <a:r>
              <a:rPr lang="ko-KR" altLang="en-US" sz="1400">
                <a:solidFill>
                  <a:srgbClr val="1D4E89"/>
                </a:solidFill>
                <a:latin typeface="JetBrains Mono"/>
              </a:rPr>
              <a:t>종 세트 템플릿화</a:t>
            </a: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2C6FCC60-99C2-2141-B5DE-73489E338A42}"/>
              </a:ext>
            </a:extLst>
          </p:cNvPr>
          <p:cNvSpPr/>
          <p:nvPr/>
        </p:nvSpPr>
        <p:spPr>
          <a:xfrm>
            <a:off x="6286500" y="1905000"/>
            <a:ext cx="5080000" cy="4381500"/>
          </a:xfrm>
          <a:prstGeom prst="roundRect">
            <a:avLst>
              <a:gd name="adj" fmla="val 580"/>
            </a:avLst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8E3440-BF68-4B46-8F20-52E2660830A2}"/>
              </a:ext>
            </a:extLst>
          </p:cNvPr>
          <p:cNvSpPr txBox="1"/>
          <p:nvPr/>
        </p:nvSpPr>
        <p:spPr>
          <a:xfrm>
            <a:off x="6718300" y="2235200"/>
            <a:ext cx="1524000" cy="711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4000" b="1">
                <a:solidFill>
                  <a:srgbClr val="E8A33D"/>
                </a:solidFill>
                <a:latin typeface="JetBrains Mono"/>
              </a:rPr>
              <a:t>02</a:t>
            </a:r>
            <a:endParaRPr lang="ko-KR" altLang="en-US" sz="4000" b="1">
              <a:solidFill>
                <a:srgbClr val="E8A33D"/>
              </a:solidFill>
              <a:latin typeface="JetBrains Mono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E3F483E-6271-B648-AA16-5239C3893E73}"/>
              </a:ext>
            </a:extLst>
          </p:cNvPr>
          <p:cNvSpPr/>
          <p:nvPr/>
        </p:nvSpPr>
        <p:spPr>
          <a:xfrm>
            <a:off x="6743700" y="3124200"/>
            <a:ext cx="685800" cy="50800"/>
          </a:xfrm>
          <a:prstGeom prst="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F7FE6D5-8E3D-EC4A-AA06-D8313C687183}"/>
              </a:ext>
            </a:extLst>
          </p:cNvPr>
          <p:cNvSpPr txBox="1"/>
          <p:nvPr/>
        </p:nvSpPr>
        <p:spPr>
          <a:xfrm>
            <a:off x="6743700" y="3479800"/>
            <a:ext cx="4165600" cy="1778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2000" b="1" dirty="0">
                <a:solidFill>
                  <a:srgbClr val="14213D"/>
                </a:solidFill>
                <a:latin typeface="Pretendard"/>
              </a:rPr>
              <a:t>오늘 만든 결과물을 완성하고 </a:t>
            </a:r>
            <a:endParaRPr lang="en-US" altLang="ko-KR" sz="2000" b="1" dirty="0">
              <a:solidFill>
                <a:srgbClr val="14213D"/>
              </a:solidFill>
              <a:latin typeface="Pretendard"/>
            </a:endParaRPr>
          </a:p>
          <a:p>
            <a:pPr algn="l">
              <a:lnSpc>
                <a:spcPct val="150000"/>
              </a:lnSpc>
            </a:pPr>
            <a:r>
              <a:rPr lang="ko-KR" altLang="en-US" sz="2000" b="1" dirty="0">
                <a:solidFill>
                  <a:srgbClr val="14213D"/>
                </a:solidFill>
                <a:latin typeface="Pretendard"/>
              </a:rPr>
              <a:t>현업 적용 방안을 정리할 수 있다</a:t>
            </a:r>
            <a:r>
              <a:rPr lang="en-US" altLang="ko-KR" sz="2000" b="1" dirty="0">
                <a:solidFill>
                  <a:srgbClr val="14213D"/>
                </a:solidFill>
                <a:latin typeface="Pretendard"/>
              </a:rPr>
              <a:t>.</a:t>
            </a:r>
            <a:endParaRPr lang="ko-KR" altLang="en-US" sz="2000" b="1" dirty="0">
              <a:solidFill>
                <a:srgbClr val="14213D"/>
              </a:solidFill>
              <a:latin typeface="Pretendard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96B1035-D6F5-F946-B04B-625104ED7F88}"/>
              </a:ext>
            </a:extLst>
          </p:cNvPr>
          <p:cNvSpPr txBox="1"/>
          <p:nvPr/>
        </p:nvSpPr>
        <p:spPr>
          <a:xfrm>
            <a:off x="6743700" y="5689600"/>
            <a:ext cx="4165600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400">
                <a:solidFill>
                  <a:srgbClr val="1D4E89"/>
                </a:solidFill>
                <a:latin typeface="JetBrains Mono"/>
              </a:rPr>
              <a:t>→ 결과물 패키지화</a:t>
            </a:r>
          </a:p>
        </p:txBody>
      </p:sp>
      <p:sp>
        <p:nvSpPr>
          <p:cNvPr id="4" name="PageNumber">
            <a:extLst>
              <a:ext uri="{FF2B5EF4-FFF2-40B4-BE49-F238E27FC236}">
                <a16:creationId xmlns:a16="http://schemas.microsoft.com/office/drawing/2014/main" id="{0DCC4F36-8052-B349-986C-94C1C3C7F543}"/>
              </a:ext>
            </a:extLst>
          </p:cNvPr>
          <p:cNvSpPr txBox="1"/>
          <p:nvPr/>
        </p:nvSpPr>
        <p:spPr>
          <a:xfrm>
            <a:off x="9499600" y="6489700"/>
            <a:ext cx="23368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r"/>
            <a:r>
              <a:rPr lang="en-US" altLang="ko-KR" sz="1200">
                <a:solidFill>
                  <a:srgbClr val="576176"/>
                </a:solidFill>
                <a:latin typeface="Pretendard"/>
              </a:rPr>
              <a:t>- 126/144 -</a:t>
            </a:r>
            <a:endParaRPr lang="ko-KR" altLang="en-US" sz="1200">
              <a:solidFill>
                <a:srgbClr val="576176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2049552095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4E8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3FCCF55E-A862-EF4B-B1B2-A2A2F4BE82CD}"/>
              </a:ext>
            </a:extLst>
          </p:cNvPr>
          <p:cNvSpPr/>
          <p:nvPr/>
        </p:nvSpPr>
        <p:spPr>
          <a:xfrm>
            <a:off x="914400" y="2362200"/>
            <a:ext cx="431800" cy="76200"/>
          </a:xfrm>
          <a:prstGeom prst="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3D230E-DE8B-A145-A269-3CD85D0D3A82}"/>
              </a:ext>
            </a:extLst>
          </p:cNvPr>
          <p:cNvSpPr txBox="1"/>
          <p:nvPr/>
        </p:nvSpPr>
        <p:spPr>
          <a:xfrm>
            <a:off x="914400" y="2540000"/>
            <a:ext cx="5080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500" b="1">
                <a:solidFill>
                  <a:srgbClr val="E8A33D"/>
                </a:solidFill>
                <a:latin typeface="JetBrains Mono"/>
              </a:rPr>
              <a:t>SESSION 1</a:t>
            </a:r>
            <a:endParaRPr lang="ko-KR" altLang="en-US" sz="1500" b="1">
              <a:solidFill>
                <a:srgbClr val="E8A33D"/>
              </a:solidFill>
              <a:latin typeface="JetBrains Mono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742764-F4E3-8A4C-878A-6F308D41F19C}"/>
              </a:ext>
            </a:extLst>
          </p:cNvPr>
          <p:cNvSpPr txBox="1"/>
          <p:nvPr/>
        </p:nvSpPr>
        <p:spPr>
          <a:xfrm>
            <a:off x="914400" y="2895600"/>
            <a:ext cx="10363200" cy="609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3200" b="1">
                <a:solidFill>
                  <a:srgbClr val="FFFFFF"/>
                </a:solidFill>
                <a:latin typeface="Noto Serif KR"/>
              </a:rPr>
              <a:t>홍보업무 템플릿화와 재사용 전략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8F1023-D671-804D-924F-E4A45695E958}"/>
              </a:ext>
            </a:extLst>
          </p:cNvPr>
          <p:cNvSpPr txBox="1"/>
          <p:nvPr/>
        </p:nvSpPr>
        <p:spPr>
          <a:xfrm>
            <a:off x="914400" y="3657600"/>
            <a:ext cx="10033000" cy="558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600">
                <a:solidFill>
                  <a:srgbClr val="DCE6F2"/>
                </a:solidFill>
                <a:latin typeface="Pretendard"/>
              </a:rPr>
              <a:t>반복업무는 ‘프롬프트 </a:t>
            </a:r>
            <a:r>
              <a:rPr lang="en-US" altLang="ko-KR" sz="1600">
                <a:solidFill>
                  <a:srgbClr val="DCE6F2"/>
                </a:solidFill>
                <a:latin typeface="Pretendard"/>
              </a:rPr>
              <a:t>+ </a:t>
            </a:r>
            <a:r>
              <a:rPr lang="ko-KR" altLang="en-US" sz="1600">
                <a:solidFill>
                  <a:srgbClr val="DCE6F2"/>
                </a:solidFill>
                <a:latin typeface="Pretendard"/>
              </a:rPr>
              <a:t>체크리스트 </a:t>
            </a:r>
            <a:r>
              <a:rPr lang="en-US" altLang="ko-KR" sz="1600">
                <a:solidFill>
                  <a:srgbClr val="DCE6F2"/>
                </a:solidFill>
                <a:latin typeface="Pretendard"/>
              </a:rPr>
              <a:t>+ </a:t>
            </a:r>
            <a:r>
              <a:rPr lang="ko-KR" altLang="en-US" sz="1600">
                <a:solidFill>
                  <a:srgbClr val="DCE6F2"/>
                </a:solidFill>
                <a:latin typeface="Pretendard"/>
              </a:rPr>
              <a:t>자산’의 </a:t>
            </a:r>
            <a:r>
              <a:rPr lang="en-US" altLang="ko-KR" sz="1600">
                <a:solidFill>
                  <a:srgbClr val="DCE6F2"/>
                </a:solidFill>
                <a:latin typeface="Pretendard"/>
              </a:rPr>
              <a:t>3</a:t>
            </a:r>
            <a:r>
              <a:rPr lang="ko-KR" altLang="en-US" sz="1600">
                <a:solidFill>
                  <a:srgbClr val="DCE6F2"/>
                </a:solidFill>
                <a:latin typeface="Pretendard"/>
              </a:rPr>
              <a:t>종 세트로 템플릿화한다</a:t>
            </a:r>
            <a:r>
              <a:rPr lang="en-US" altLang="ko-KR" sz="1600">
                <a:solidFill>
                  <a:srgbClr val="DCE6F2"/>
                </a:solidFill>
                <a:latin typeface="Pretendard"/>
              </a:rPr>
              <a:t>.</a:t>
            </a:r>
            <a:endParaRPr lang="ko-KR" altLang="en-US" sz="1600">
              <a:solidFill>
                <a:srgbClr val="DCE6F2"/>
              </a:solidFill>
              <a:latin typeface="Pretendard"/>
            </a:endParaRP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FC67BD9D-06D3-514F-8F6C-BB5A05054645}"/>
              </a:ext>
            </a:extLst>
          </p:cNvPr>
          <p:cNvSpPr/>
          <p:nvPr/>
        </p:nvSpPr>
        <p:spPr>
          <a:xfrm>
            <a:off x="914400" y="4521200"/>
            <a:ext cx="2616200" cy="889000"/>
          </a:xfrm>
          <a:prstGeom prst="roundRect">
            <a:avLst>
              <a:gd name="adj" fmla="val 2857"/>
            </a:avLst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ko-KR" altLang="en-US" sz="1600" b="1">
                <a:solidFill>
                  <a:srgbClr val="FFFFFF"/>
                </a:solidFill>
                <a:latin typeface="Pretendard"/>
              </a:rPr>
              <a:t>프롬프트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E410ABA-1FBD-164A-9CA8-E7710AA60F3F}"/>
              </a:ext>
            </a:extLst>
          </p:cNvPr>
          <p:cNvSpPr txBox="1"/>
          <p:nvPr/>
        </p:nvSpPr>
        <p:spPr>
          <a:xfrm>
            <a:off x="3530600" y="4521200"/>
            <a:ext cx="558800" cy="889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ko-KR" altLang="en-US" sz="2400" b="1">
                <a:solidFill>
                  <a:srgbClr val="9FB3CE"/>
                </a:solidFill>
                <a:latin typeface="Pretendard"/>
              </a:rPr>
              <a:t>→</a:t>
            </a: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EE1578A7-941E-5248-81B1-C9A3218B1341}"/>
              </a:ext>
            </a:extLst>
          </p:cNvPr>
          <p:cNvSpPr/>
          <p:nvPr/>
        </p:nvSpPr>
        <p:spPr>
          <a:xfrm>
            <a:off x="4089400" y="4521200"/>
            <a:ext cx="2616200" cy="889000"/>
          </a:xfrm>
          <a:prstGeom prst="roundRect">
            <a:avLst>
              <a:gd name="adj" fmla="val 2857"/>
            </a:avLst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ko-KR" altLang="en-US" sz="1600" b="1">
                <a:solidFill>
                  <a:srgbClr val="FFFFFF"/>
                </a:solidFill>
                <a:latin typeface="Pretendard"/>
              </a:rPr>
              <a:t>체크리스트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AE65719-15CE-A543-96E0-3FDD2C30818F}"/>
              </a:ext>
            </a:extLst>
          </p:cNvPr>
          <p:cNvSpPr txBox="1"/>
          <p:nvPr/>
        </p:nvSpPr>
        <p:spPr>
          <a:xfrm>
            <a:off x="6705600" y="4521200"/>
            <a:ext cx="558800" cy="889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ko-KR" altLang="en-US" sz="2400" b="1">
                <a:solidFill>
                  <a:srgbClr val="9FB3CE"/>
                </a:solidFill>
                <a:latin typeface="Pretendard"/>
              </a:rPr>
              <a:t>→</a:t>
            </a:r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10EECA38-BC6F-8644-966C-737DF925B817}"/>
              </a:ext>
            </a:extLst>
          </p:cNvPr>
          <p:cNvSpPr/>
          <p:nvPr/>
        </p:nvSpPr>
        <p:spPr>
          <a:xfrm>
            <a:off x="7264400" y="4521200"/>
            <a:ext cx="2616200" cy="889000"/>
          </a:xfrm>
          <a:prstGeom prst="roundRect">
            <a:avLst>
              <a:gd name="adj" fmla="val 2857"/>
            </a:avLst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ko-KR" altLang="en-US" sz="1600" b="1">
                <a:solidFill>
                  <a:srgbClr val="14213D"/>
                </a:solidFill>
                <a:latin typeface="Pretendard"/>
              </a:rPr>
              <a:t>자산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A19D078-8EA4-C54C-B384-D83EFC4F8E22}"/>
              </a:ext>
            </a:extLst>
          </p:cNvPr>
          <p:cNvSpPr txBox="1"/>
          <p:nvPr/>
        </p:nvSpPr>
        <p:spPr>
          <a:xfrm>
            <a:off x="914400" y="5740400"/>
            <a:ext cx="10363200" cy="304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400">
                <a:solidFill>
                  <a:srgbClr val="9FB3CE"/>
                </a:solidFill>
                <a:latin typeface="JetBrains Mono"/>
              </a:rPr>
              <a:t>→ 다음엔 </a:t>
            </a:r>
            <a:r>
              <a:rPr lang="en-US" altLang="ko-KR" sz="1400">
                <a:solidFill>
                  <a:srgbClr val="9FB3CE"/>
                </a:solidFill>
                <a:latin typeface="JetBrains Mono"/>
              </a:rPr>
              <a:t>0</a:t>
            </a:r>
            <a:r>
              <a:rPr lang="ko-KR" altLang="en-US" sz="1400">
                <a:solidFill>
                  <a:srgbClr val="9FB3CE"/>
                </a:solidFill>
                <a:latin typeface="JetBrains Mono"/>
              </a:rPr>
              <a:t>에서 시작하지 않는다</a:t>
            </a:r>
            <a:r>
              <a:rPr lang="en-US" altLang="ko-KR" sz="1400">
                <a:solidFill>
                  <a:srgbClr val="9FB3CE"/>
                </a:solidFill>
                <a:latin typeface="JetBrains Mono"/>
              </a:rPr>
              <a:t>.</a:t>
            </a:r>
            <a:endParaRPr lang="ko-KR" altLang="en-US" sz="1400">
              <a:solidFill>
                <a:srgbClr val="9FB3CE"/>
              </a:solidFill>
              <a:latin typeface="JetBrains Mono"/>
            </a:endParaRPr>
          </a:p>
        </p:txBody>
      </p:sp>
      <p:pic>
        <p:nvPicPr>
          <p:cNvPr id="2" name="Picture 14">
            <a:extLst>
              <a:ext uri="{FF2B5EF4-FFF2-40B4-BE49-F238E27FC236}">
                <a16:creationId xmlns:a16="http://schemas.microsoft.com/office/drawing/2014/main" id="{1D0B3327-3099-4F0A-1755-DC65C2FE674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8000"/>
          </a:blip>
          <a:stretch>
            <a:fillRect/>
          </a:stretch>
        </p:blipFill>
        <p:spPr>
          <a:xfrm>
            <a:off x="6197602" y="-150908"/>
            <a:ext cx="7002780" cy="4665110"/>
          </a:xfrm>
          <a:prstGeom prst="rect">
            <a:avLst/>
          </a:prstGeom>
        </p:spPr>
      </p:pic>
      <p:sp>
        <p:nvSpPr>
          <p:cNvPr id="3" name="PageNumber">
            <a:extLst>
              <a:ext uri="{FF2B5EF4-FFF2-40B4-BE49-F238E27FC236}">
                <a16:creationId xmlns:a16="http://schemas.microsoft.com/office/drawing/2014/main" id="{9F5B2BE1-BC0F-034A-84F4-1F78296D4DC0}"/>
              </a:ext>
            </a:extLst>
          </p:cNvPr>
          <p:cNvSpPr txBox="1"/>
          <p:nvPr/>
        </p:nvSpPr>
        <p:spPr>
          <a:xfrm>
            <a:off x="9499600" y="6489700"/>
            <a:ext cx="23368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r"/>
            <a:r>
              <a:rPr lang="en-US" altLang="ko-KR" sz="1200" dirty="0">
                <a:solidFill>
                  <a:schemeClr val="bg1"/>
                </a:solidFill>
                <a:latin typeface="Pretendard"/>
              </a:rPr>
              <a:t>- 127/144 -</a:t>
            </a:r>
            <a:endParaRPr lang="ko-KR" altLang="en-US" sz="1200" dirty="0">
              <a:solidFill>
                <a:schemeClr val="bg1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4027343112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7863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핵심 개념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반복업무를 자산으로 만드는 3가지</a:t>
            </a: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0F802DD9-952B-EF49-AA4F-2103F1159C17}"/>
              </a:ext>
            </a:extLst>
          </p:cNvPr>
          <p:cNvSpPr/>
          <p:nvPr/>
        </p:nvSpPr>
        <p:spPr>
          <a:xfrm>
            <a:off x="825500" y="1905000"/>
            <a:ext cx="3340100" cy="4381500"/>
          </a:xfrm>
          <a:prstGeom prst="roundRect">
            <a:avLst>
              <a:gd name="adj" fmla="val 760"/>
            </a:avLst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54FCA9F-C2B2-1145-8565-A27A0A28ACB6}"/>
              </a:ext>
            </a:extLst>
          </p:cNvPr>
          <p:cNvSpPr/>
          <p:nvPr/>
        </p:nvSpPr>
        <p:spPr>
          <a:xfrm>
            <a:off x="825500" y="1905000"/>
            <a:ext cx="3340100" cy="88900"/>
          </a:xfrm>
          <a:prstGeom prst="rect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FCB029C4-9CFF-0B4C-9FC2-0558D71289BD}"/>
              </a:ext>
            </a:extLst>
          </p:cNvPr>
          <p:cNvSpPr/>
          <p:nvPr/>
        </p:nvSpPr>
        <p:spPr>
          <a:xfrm>
            <a:off x="1130300" y="2286000"/>
            <a:ext cx="508000" cy="508000"/>
          </a:xfrm>
          <a:prstGeom prst="ellipse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  <a:latin typeface="JetBrains Mono"/>
              </a:rPr>
              <a:t>1</a:t>
            </a:r>
            <a:endParaRPr lang="ko-KR" altLang="en-US" sz="16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FAC652-3D20-3B49-93BB-177A237B54B1}"/>
              </a:ext>
            </a:extLst>
          </p:cNvPr>
          <p:cNvSpPr txBox="1"/>
          <p:nvPr/>
        </p:nvSpPr>
        <p:spPr>
          <a:xfrm>
            <a:off x="1130300" y="2946400"/>
            <a:ext cx="2730500" cy="584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600" b="1">
                <a:solidFill>
                  <a:srgbClr val="14213D"/>
                </a:solidFill>
                <a:latin typeface="Pretendard"/>
              </a:rPr>
              <a:t>프롬프트 라이브러리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20DD47D-8922-5841-8F24-5F3163FADC2E}"/>
              </a:ext>
            </a:extLst>
          </p:cNvPr>
          <p:cNvSpPr/>
          <p:nvPr/>
        </p:nvSpPr>
        <p:spPr>
          <a:xfrm>
            <a:off x="1130300" y="3632200"/>
            <a:ext cx="2730500" cy="12700"/>
          </a:xfrm>
          <a:prstGeom prst="rect">
            <a:avLst/>
          </a:prstGeom>
          <a:solidFill>
            <a:srgbClr val="D9E2E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55DDA01-9F76-4442-95E2-7CB97C48A0E8}"/>
              </a:ext>
            </a:extLst>
          </p:cNvPr>
          <p:cNvSpPr txBox="1"/>
          <p:nvPr/>
        </p:nvSpPr>
        <p:spPr>
          <a:xfrm>
            <a:off x="1130300" y="3784600"/>
            <a:ext cx="2730500" cy="1625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400" dirty="0">
                <a:solidFill>
                  <a:srgbClr val="576176"/>
                </a:solidFill>
                <a:latin typeface="Pretendard"/>
              </a:rPr>
              <a:t>잘 작동한 프롬프트를 </a:t>
            </a:r>
            <a:endParaRPr lang="en-US" altLang="ko-KR" sz="1400" dirty="0">
              <a:solidFill>
                <a:srgbClr val="576176"/>
              </a:solidFill>
              <a:latin typeface="Pretendard"/>
            </a:endParaRPr>
          </a:p>
          <a:p>
            <a:pPr algn="l">
              <a:lnSpc>
                <a:spcPct val="150000"/>
              </a:lnSpc>
            </a:pPr>
            <a:r>
              <a:rPr lang="ko-KR" altLang="en-US" sz="1400" dirty="0">
                <a:solidFill>
                  <a:srgbClr val="576176"/>
                </a:solidFill>
                <a:latin typeface="Pretendard"/>
              </a:rPr>
              <a:t>용도별로 모은 개인 자산</a:t>
            </a:r>
            <a:r>
              <a:rPr lang="en-US" altLang="ko-KR" sz="1400" dirty="0">
                <a:solidFill>
                  <a:srgbClr val="576176"/>
                </a:solidFill>
                <a:latin typeface="Pretendard"/>
              </a:rPr>
              <a:t>. </a:t>
            </a:r>
          </a:p>
          <a:p>
            <a:pPr algn="l">
              <a:lnSpc>
                <a:spcPct val="150000"/>
              </a:lnSpc>
            </a:pPr>
            <a:endParaRPr lang="en-US" altLang="ko-KR" sz="1400" dirty="0">
              <a:solidFill>
                <a:srgbClr val="576176"/>
              </a:solidFill>
              <a:latin typeface="Pretendard"/>
            </a:endParaRPr>
          </a:p>
          <a:p>
            <a:pPr algn="l">
              <a:lnSpc>
                <a:spcPct val="150000"/>
              </a:lnSpc>
            </a:pPr>
            <a:r>
              <a:rPr lang="ko-KR" altLang="en-US" sz="1400" dirty="0">
                <a:solidFill>
                  <a:srgbClr val="576176"/>
                </a:solidFill>
                <a:latin typeface="Pretendard"/>
              </a:rPr>
              <a:t>다음엔 </a:t>
            </a:r>
            <a:r>
              <a:rPr lang="en-US" altLang="ko-KR" sz="1400" dirty="0">
                <a:solidFill>
                  <a:srgbClr val="576176"/>
                </a:solidFill>
                <a:latin typeface="Pretendard"/>
              </a:rPr>
              <a:t>0</a:t>
            </a:r>
            <a:r>
              <a:rPr lang="ko-KR" altLang="en-US" sz="1400" dirty="0">
                <a:solidFill>
                  <a:srgbClr val="576176"/>
                </a:solidFill>
                <a:latin typeface="Pretendard"/>
              </a:rPr>
              <a:t>에서 시작하지 않는다</a:t>
            </a:r>
            <a:r>
              <a:rPr lang="en-US" altLang="ko-KR" sz="1400" dirty="0">
                <a:solidFill>
                  <a:srgbClr val="576176"/>
                </a:solidFill>
                <a:latin typeface="Pretendard"/>
              </a:rPr>
              <a:t>.</a:t>
            </a:r>
            <a:endParaRPr lang="ko-KR" altLang="en-US" sz="1400" dirty="0">
              <a:solidFill>
                <a:srgbClr val="576176"/>
              </a:solidFill>
              <a:latin typeface="Pretendard"/>
            </a:endParaRP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6C726D42-CD8B-5040-9CE0-C3FCC0E2D229}"/>
              </a:ext>
            </a:extLst>
          </p:cNvPr>
          <p:cNvSpPr/>
          <p:nvPr/>
        </p:nvSpPr>
        <p:spPr>
          <a:xfrm>
            <a:off x="1130300" y="5562600"/>
            <a:ext cx="2730500" cy="457200"/>
          </a:xfrm>
          <a:prstGeom prst="roundRect">
            <a:avLst>
              <a:gd name="adj" fmla="val 5556"/>
            </a:avLst>
          </a:prstGeom>
          <a:solidFill>
            <a:srgbClr val="E7ECF4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8540091-3D4B-BF44-AAA5-8C396E1EFC3A}"/>
              </a:ext>
            </a:extLst>
          </p:cNvPr>
          <p:cNvSpPr txBox="1"/>
          <p:nvPr/>
        </p:nvSpPr>
        <p:spPr>
          <a:xfrm>
            <a:off x="1130300" y="5562600"/>
            <a:ext cx="2730500" cy="457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ctr"/>
            <a:r>
              <a:rPr lang="en-US" altLang="ko-KR" sz="1400" b="1">
                <a:solidFill>
                  <a:srgbClr val="14213D"/>
                </a:solidFill>
                <a:latin typeface="Pretendard"/>
              </a:rPr>
              <a:t>0</a:t>
            </a:r>
            <a:r>
              <a:rPr lang="ko-KR" altLang="en-US" sz="1400" b="1">
                <a:solidFill>
                  <a:srgbClr val="14213D"/>
                </a:solidFill>
                <a:latin typeface="Pretendard"/>
              </a:rPr>
              <a:t>에서 시작 안 함</a:t>
            </a: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CBD92866-A276-2F48-BA22-F5F0A88C42DB}"/>
              </a:ext>
            </a:extLst>
          </p:cNvPr>
          <p:cNvSpPr/>
          <p:nvPr/>
        </p:nvSpPr>
        <p:spPr>
          <a:xfrm>
            <a:off x="4419600" y="1905000"/>
            <a:ext cx="3340100" cy="4381500"/>
          </a:xfrm>
          <a:prstGeom prst="roundRect">
            <a:avLst>
              <a:gd name="adj" fmla="val 760"/>
            </a:avLst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E1AB994-E3EC-BD4F-A3F0-8EAE21E0DE95}"/>
              </a:ext>
            </a:extLst>
          </p:cNvPr>
          <p:cNvSpPr/>
          <p:nvPr/>
        </p:nvSpPr>
        <p:spPr>
          <a:xfrm>
            <a:off x="4419600" y="1905000"/>
            <a:ext cx="3340100" cy="88900"/>
          </a:xfrm>
          <a:prstGeom prst="rect">
            <a:avLst/>
          </a:prstGeom>
          <a:solidFill>
            <a:srgbClr val="1D4E89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A80C1D23-D4D5-524C-BCFA-426353F5F005}"/>
              </a:ext>
            </a:extLst>
          </p:cNvPr>
          <p:cNvSpPr/>
          <p:nvPr/>
        </p:nvSpPr>
        <p:spPr>
          <a:xfrm>
            <a:off x="4724400" y="2286000"/>
            <a:ext cx="508000" cy="508000"/>
          </a:xfrm>
          <a:prstGeom prst="ellipse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  <a:latin typeface="JetBrains Mono"/>
              </a:rPr>
              <a:t>2</a:t>
            </a:r>
            <a:endParaRPr lang="ko-KR" altLang="en-US" sz="16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34EFE3E-9D5C-4040-B179-BC893C8BD37A}"/>
              </a:ext>
            </a:extLst>
          </p:cNvPr>
          <p:cNvSpPr txBox="1"/>
          <p:nvPr/>
        </p:nvSpPr>
        <p:spPr>
          <a:xfrm>
            <a:off x="4724400" y="2946400"/>
            <a:ext cx="2730500" cy="584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600" b="1">
                <a:solidFill>
                  <a:srgbClr val="14213D"/>
                </a:solidFill>
                <a:latin typeface="Pretendard"/>
              </a:rPr>
              <a:t>콘텐츠 리퍼포징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E6B28A4-C522-7444-B8B3-94484260432E}"/>
              </a:ext>
            </a:extLst>
          </p:cNvPr>
          <p:cNvSpPr/>
          <p:nvPr/>
        </p:nvSpPr>
        <p:spPr>
          <a:xfrm>
            <a:off x="4724400" y="3632200"/>
            <a:ext cx="2730500" cy="12700"/>
          </a:xfrm>
          <a:prstGeom prst="rect">
            <a:avLst/>
          </a:prstGeom>
          <a:solidFill>
            <a:srgbClr val="D9E2E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3970805-E18D-0D4A-9FD4-F0088BB8051B}"/>
              </a:ext>
            </a:extLst>
          </p:cNvPr>
          <p:cNvSpPr txBox="1"/>
          <p:nvPr/>
        </p:nvSpPr>
        <p:spPr>
          <a:xfrm>
            <a:off x="4724400" y="3784600"/>
            <a:ext cx="2730500" cy="1625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400" dirty="0">
                <a:solidFill>
                  <a:srgbClr val="576176"/>
                </a:solidFill>
                <a:latin typeface="Pretendard"/>
              </a:rPr>
              <a:t>하나의 핵심 콘텐츠를 </a:t>
            </a:r>
            <a:endParaRPr lang="en-US" altLang="ko-KR" sz="1400" dirty="0">
              <a:solidFill>
                <a:srgbClr val="576176"/>
              </a:solidFill>
              <a:latin typeface="Pretendard"/>
            </a:endParaRPr>
          </a:p>
          <a:p>
            <a:pPr algn="l">
              <a:lnSpc>
                <a:spcPct val="150000"/>
              </a:lnSpc>
            </a:pPr>
            <a:r>
              <a:rPr lang="ko-KR" altLang="en-US" sz="1400" dirty="0">
                <a:solidFill>
                  <a:srgbClr val="576176"/>
                </a:solidFill>
                <a:latin typeface="Pretendard"/>
              </a:rPr>
              <a:t>여러 채널</a:t>
            </a:r>
            <a:r>
              <a:rPr lang="en-US" altLang="ko-KR" sz="1400" dirty="0">
                <a:solidFill>
                  <a:srgbClr val="576176"/>
                </a:solidFill>
                <a:latin typeface="Pretendard"/>
              </a:rPr>
              <a:t>·</a:t>
            </a:r>
            <a:r>
              <a:rPr lang="ko-KR" altLang="en-US" sz="1400" dirty="0">
                <a:solidFill>
                  <a:srgbClr val="576176"/>
                </a:solidFill>
                <a:latin typeface="Pretendard"/>
              </a:rPr>
              <a:t>형식으로 재가공</a:t>
            </a:r>
            <a:r>
              <a:rPr lang="en-US" altLang="ko-KR" sz="1400" dirty="0">
                <a:solidFill>
                  <a:srgbClr val="576176"/>
                </a:solidFill>
                <a:latin typeface="Pretendard"/>
              </a:rPr>
              <a:t>. </a:t>
            </a:r>
          </a:p>
          <a:p>
            <a:pPr algn="l">
              <a:lnSpc>
                <a:spcPct val="150000"/>
              </a:lnSpc>
            </a:pPr>
            <a:endParaRPr lang="en-US" altLang="ko-KR" sz="1400" dirty="0">
              <a:solidFill>
                <a:srgbClr val="576176"/>
              </a:solidFill>
              <a:latin typeface="Pretendard"/>
            </a:endParaRPr>
          </a:p>
          <a:p>
            <a:pPr algn="l">
              <a:lnSpc>
                <a:spcPct val="150000"/>
              </a:lnSpc>
            </a:pPr>
            <a:r>
              <a:rPr lang="ko-KR" altLang="en-US" sz="1400" dirty="0" err="1">
                <a:solidFill>
                  <a:srgbClr val="576176"/>
                </a:solidFill>
                <a:latin typeface="Pretendard"/>
              </a:rPr>
              <a:t>원소스</a:t>
            </a:r>
            <a:r>
              <a:rPr lang="ko-KR" altLang="en-US" sz="1400" dirty="0">
                <a:solidFill>
                  <a:srgbClr val="576176"/>
                </a:solidFill>
                <a:latin typeface="Pretendard"/>
              </a:rPr>
              <a:t> </a:t>
            </a:r>
            <a:r>
              <a:rPr lang="ko-KR" altLang="en-US" sz="1400" dirty="0" err="1">
                <a:solidFill>
                  <a:srgbClr val="576176"/>
                </a:solidFill>
                <a:latin typeface="Pretendard"/>
              </a:rPr>
              <a:t>멀티유즈의</a:t>
            </a:r>
            <a:r>
              <a:rPr lang="ko-KR" altLang="en-US" sz="1400" dirty="0">
                <a:solidFill>
                  <a:srgbClr val="576176"/>
                </a:solidFill>
                <a:latin typeface="Pretendard"/>
              </a:rPr>
              <a:t> </a:t>
            </a:r>
            <a:r>
              <a:rPr lang="ko-KR" altLang="en-US" sz="1400" dirty="0" err="1">
                <a:solidFill>
                  <a:srgbClr val="576176"/>
                </a:solidFill>
                <a:latin typeface="Pretendard"/>
              </a:rPr>
              <a:t>운영판</a:t>
            </a:r>
            <a:r>
              <a:rPr lang="en-US" altLang="ko-KR" sz="1400" dirty="0">
                <a:solidFill>
                  <a:srgbClr val="576176"/>
                </a:solidFill>
                <a:latin typeface="Pretendard"/>
              </a:rPr>
              <a:t>.</a:t>
            </a:r>
            <a:endParaRPr lang="ko-KR" altLang="en-US" sz="1400" dirty="0">
              <a:solidFill>
                <a:srgbClr val="576176"/>
              </a:solidFill>
              <a:latin typeface="Pretendard"/>
            </a:endParaRP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C65543B8-D325-2147-AB17-28CECEC5EEF6}"/>
              </a:ext>
            </a:extLst>
          </p:cNvPr>
          <p:cNvSpPr/>
          <p:nvPr/>
        </p:nvSpPr>
        <p:spPr>
          <a:xfrm>
            <a:off x="4724400" y="5562600"/>
            <a:ext cx="2730500" cy="457200"/>
          </a:xfrm>
          <a:prstGeom prst="roundRect">
            <a:avLst>
              <a:gd name="adj" fmla="val 5556"/>
            </a:avLst>
          </a:prstGeom>
          <a:solidFill>
            <a:srgbClr val="E4ECF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2616868-A347-774F-969E-0575330D25AB}"/>
              </a:ext>
            </a:extLst>
          </p:cNvPr>
          <p:cNvSpPr txBox="1"/>
          <p:nvPr/>
        </p:nvSpPr>
        <p:spPr>
          <a:xfrm>
            <a:off x="4724400" y="5562600"/>
            <a:ext cx="2730500" cy="457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ctr"/>
            <a:r>
              <a:rPr lang="en-US" altLang="ko-KR" sz="1400" b="1">
                <a:solidFill>
                  <a:srgbClr val="1D4E89"/>
                </a:solidFill>
                <a:latin typeface="Pretendard"/>
              </a:rPr>
              <a:t>1</a:t>
            </a:r>
            <a:r>
              <a:rPr lang="ko-KR" altLang="en-US" sz="1400" b="1">
                <a:solidFill>
                  <a:srgbClr val="1D4E89"/>
                </a:solidFill>
                <a:latin typeface="Pretendard"/>
              </a:rPr>
              <a:t>소스 재가공</a:t>
            </a:r>
          </a:p>
        </p:txBody>
      </p:sp>
      <p:sp>
        <p:nvSpPr>
          <p:cNvPr id="21" name="모서리가 둥근 직사각형 20">
            <a:extLst>
              <a:ext uri="{FF2B5EF4-FFF2-40B4-BE49-F238E27FC236}">
                <a16:creationId xmlns:a16="http://schemas.microsoft.com/office/drawing/2014/main" id="{CE4FF12B-EDF4-4044-BDE2-711A74F31ECE}"/>
              </a:ext>
            </a:extLst>
          </p:cNvPr>
          <p:cNvSpPr/>
          <p:nvPr/>
        </p:nvSpPr>
        <p:spPr>
          <a:xfrm>
            <a:off x="8013700" y="1905000"/>
            <a:ext cx="3340100" cy="4381500"/>
          </a:xfrm>
          <a:prstGeom prst="roundRect">
            <a:avLst>
              <a:gd name="adj" fmla="val 760"/>
            </a:avLst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CBBCA5E4-280D-3B4D-9429-C141D5FC27A0}"/>
              </a:ext>
            </a:extLst>
          </p:cNvPr>
          <p:cNvSpPr/>
          <p:nvPr/>
        </p:nvSpPr>
        <p:spPr>
          <a:xfrm>
            <a:off x="8013700" y="1905000"/>
            <a:ext cx="3340100" cy="88900"/>
          </a:xfrm>
          <a:prstGeom prst="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C1EC3B00-EC51-E042-AD79-0C0AB5310BF4}"/>
              </a:ext>
            </a:extLst>
          </p:cNvPr>
          <p:cNvSpPr/>
          <p:nvPr/>
        </p:nvSpPr>
        <p:spPr>
          <a:xfrm>
            <a:off x="8318500" y="2286000"/>
            <a:ext cx="508000" cy="508000"/>
          </a:xfrm>
          <a:prstGeom prst="ellipse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  <a:latin typeface="JetBrains Mono"/>
              </a:rPr>
              <a:t>3</a:t>
            </a:r>
            <a:endParaRPr lang="ko-KR" altLang="en-US" sz="16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F684411-3354-324C-8238-BB7F4A57BC78}"/>
              </a:ext>
            </a:extLst>
          </p:cNvPr>
          <p:cNvSpPr txBox="1"/>
          <p:nvPr/>
        </p:nvSpPr>
        <p:spPr>
          <a:xfrm>
            <a:off x="8318500" y="2946400"/>
            <a:ext cx="2730500" cy="584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600" b="1">
                <a:solidFill>
                  <a:srgbClr val="14213D"/>
                </a:solidFill>
                <a:latin typeface="Pretendard"/>
              </a:rPr>
              <a:t>워크플로 자동화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E4EB9B45-90C9-6140-8A62-5A5E9E7017F0}"/>
              </a:ext>
            </a:extLst>
          </p:cNvPr>
          <p:cNvSpPr/>
          <p:nvPr/>
        </p:nvSpPr>
        <p:spPr>
          <a:xfrm>
            <a:off x="8318500" y="3632200"/>
            <a:ext cx="2730500" cy="12700"/>
          </a:xfrm>
          <a:prstGeom prst="rect">
            <a:avLst/>
          </a:prstGeom>
          <a:solidFill>
            <a:srgbClr val="D9E2E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2EB37C9-927A-0043-B386-71222F870834}"/>
              </a:ext>
            </a:extLst>
          </p:cNvPr>
          <p:cNvSpPr txBox="1"/>
          <p:nvPr/>
        </p:nvSpPr>
        <p:spPr>
          <a:xfrm>
            <a:off x="8318500" y="3784600"/>
            <a:ext cx="2730500" cy="1625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400" dirty="0" err="1">
                <a:solidFill>
                  <a:srgbClr val="576176"/>
                </a:solidFill>
                <a:latin typeface="Pretendard"/>
              </a:rPr>
              <a:t>트리거→생성→사람</a:t>
            </a:r>
            <a:r>
              <a:rPr lang="ko-KR" altLang="en-US" sz="1400" dirty="0">
                <a:solidFill>
                  <a:srgbClr val="576176"/>
                </a:solidFill>
                <a:latin typeface="Pretendard"/>
              </a:rPr>
              <a:t> </a:t>
            </a:r>
            <a:r>
              <a:rPr lang="ko-KR" altLang="en-US" sz="1400" dirty="0" err="1">
                <a:solidFill>
                  <a:srgbClr val="576176"/>
                </a:solidFill>
                <a:latin typeface="Pretendard"/>
              </a:rPr>
              <a:t>검수→발행을</a:t>
            </a:r>
            <a:r>
              <a:rPr lang="ko-KR" altLang="en-US" sz="1400" dirty="0">
                <a:solidFill>
                  <a:srgbClr val="576176"/>
                </a:solidFill>
                <a:latin typeface="Pretendard"/>
              </a:rPr>
              <a:t> 정의</a:t>
            </a:r>
            <a:r>
              <a:rPr lang="en-US" altLang="ko-KR" sz="1400" dirty="0">
                <a:solidFill>
                  <a:srgbClr val="576176"/>
                </a:solidFill>
                <a:latin typeface="Pretendard"/>
              </a:rPr>
              <a:t>.</a:t>
            </a:r>
          </a:p>
          <a:p>
            <a:pPr algn="l">
              <a:lnSpc>
                <a:spcPct val="150000"/>
              </a:lnSpc>
            </a:pPr>
            <a:endParaRPr lang="en-US" altLang="ko-KR" sz="1400" dirty="0">
              <a:solidFill>
                <a:srgbClr val="576176"/>
              </a:solidFill>
              <a:latin typeface="Pretendard"/>
            </a:endParaRPr>
          </a:p>
          <a:p>
            <a:pPr algn="l">
              <a:lnSpc>
                <a:spcPct val="150000"/>
              </a:lnSpc>
            </a:pPr>
            <a:r>
              <a:rPr lang="en-US" altLang="ko-KR" sz="1400" dirty="0">
                <a:solidFill>
                  <a:srgbClr val="576176"/>
                </a:solidFill>
                <a:latin typeface="Pretendard"/>
              </a:rPr>
              <a:t>Make/Zapier</a:t>
            </a:r>
            <a:r>
              <a:rPr lang="ko-KR" altLang="en-US" sz="1400" dirty="0">
                <a:solidFill>
                  <a:srgbClr val="576176"/>
                </a:solidFill>
                <a:latin typeface="Pretendard"/>
              </a:rPr>
              <a:t>로 일부 단계를 연결</a:t>
            </a:r>
            <a:r>
              <a:rPr lang="en-US" altLang="ko-KR" sz="1400" dirty="0">
                <a:solidFill>
                  <a:srgbClr val="576176"/>
                </a:solidFill>
                <a:latin typeface="Pretendard"/>
              </a:rPr>
              <a:t>.</a:t>
            </a:r>
            <a:endParaRPr lang="ko-KR" altLang="en-US" sz="1400" dirty="0">
              <a:solidFill>
                <a:srgbClr val="576176"/>
              </a:solidFill>
              <a:latin typeface="Pretendard"/>
            </a:endParaRPr>
          </a:p>
        </p:txBody>
      </p:sp>
      <p:sp>
        <p:nvSpPr>
          <p:cNvPr id="27" name="모서리가 둥근 직사각형 26">
            <a:extLst>
              <a:ext uri="{FF2B5EF4-FFF2-40B4-BE49-F238E27FC236}">
                <a16:creationId xmlns:a16="http://schemas.microsoft.com/office/drawing/2014/main" id="{7B12B4A6-85FC-AA47-B89C-48B2AAFD2367}"/>
              </a:ext>
            </a:extLst>
          </p:cNvPr>
          <p:cNvSpPr/>
          <p:nvPr/>
        </p:nvSpPr>
        <p:spPr>
          <a:xfrm>
            <a:off x="8318500" y="5562600"/>
            <a:ext cx="2730500" cy="457200"/>
          </a:xfrm>
          <a:prstGeom prst="roundRect">
            <a:avLst>
              <a:gd name="adj" fmla="val 5556"/>
            </a:avLst>
          </a:prstGeom>
          <a:solidFill>
            <a:srgbClr val="FBEF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C4BB768-F528-754A-B840-B8F165BCD9D1}"/>
              </a:ext>
            </a:extLst>
          </p:cNvPr>
          <p:cNvSpPr txBox="1"/>
          <p:nvPr/>
        </p:nvSpPr>
        <p:spPr>
          <a:xfrm>
            <a:off x="8318500" y="5562600"/>
            <a:ext cx="2730500" cy="457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ctr"/>
            <a:r>
              <a:rPr lang="ko-KR" altLang="en-US" sz="1400" b="1">
                <a:solidFill>
                  <a:srgbClr val="9A6B12"/>
                </a:solidFill>
                <a:latin typeface="Pretendard"/>
              </a:rPr>
              <a:t>트리거 → 발행</a:t>
            </a:r>
          </a:p>
        </p:txBody>
      </p:sp>
      <p:sp>
        <p:nvSpPr>
          <p:cNvPr id="29" name="PageNumber">
            <a:extLst>
              <a:ext uri="{FF2B5EF4-FFF2-40B4-BE49-F238E27FC236}">
                <a16:creationId xmlns:a16="http://schemas.microsoft.com/office/drawing/2014/main" id="{340B34F9-C92F-E540-A1FF-321C51E9125B}"/>
              </a:ext>
            </a:extLst>
          </p:cNvPr>
          <p:cNvSpPr txBox="1"/>
          <p:nvPr/>
        </p:nvSpPr>
        <p:spPr>
          <a:xfrm>
            <a:off x="9499600" y="6489700"/>
            <a:ext cx="23368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r"/>
            <a:r>
              <a:rPr lang="en-US" altLang="ko-KR" sz="1200">
                <a:solidFill>
                  <a:srgbClr val="576176"/>
                </a:solidFill>
                <a:latin typeface="Pretendard"/>
              </a:rPr>
              <a:t>- 128/144 -</a:t>
            </a:r>
            <a:endParaRPr lang="ko-KR" altLang="en-US" sz="1200">
              <a:solidFill>
                <a:srgbClr val="576176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2623067464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개념 깊이 보기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개념을 예시로 — 우리 케이스에 적용하면</a:t>
            </a: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C1FA23C2-11C9-1F41-AAFE-A79BA2F99329}"/>
              </a:ext>
            </a:extLst>
          </p:cNvPr>
          <p:cNvSpPr/>
          <p:nvPr/>
        </p:nvSpPr>
        <p:spPr>
          <a:xfrm>
            <a:off x="825500" y="1905000"/>
            <a:ext cx="5461000" cy="4381500"/>
          </a:xfrm>
          <a:prstGeom prst="roundRect">
            <a:avLst>
              <a:gd name="adj" fmla="val 580"/>
            </a:avLst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8AA8D1-BB37-EB41-98D5-3C7230C8EC7A}"/>
              </a:ext>
            </a:extLst>
          </p:cNvPr>
          <p:cNvSpPr txBox="1"/>
          <p:nvPr/>
        </p:nvSpPr>
        <p:spPr>
          <a:xfrm>
            <a:off x="1181100" y="2159000"/>
            <a:ext cx="4749800" cy="355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b="1">
                <a:solidFill>
                  <a:srgbClr val="14213D"/>
                </a:solidFill>
                <a:latin typeface="Pretendard"/>
              </a:rPr>
              <a:t>프롬프트 라이브러리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F9194F-0C50-E847-8112-5B724E07B266}"/>
              </a:ext>
            </a:extLst>
          </p:cNvPr>
          <p:cNvSpPr txBox="1"/>
          <p:nvPr/>
        </p:nvSpPr>
        <p:spPr>
          <a:xfrm>
            <a:off x="1181100" y="2540000"/>
            <a:ext cx="47498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400">
                <a:solidFill>
                  <a:srgbClr val="576176"/>
                </a:solidFill>
                <a:latin typeface="Pretendard"/>
              </a:rPr>
              <a:t>한 번 잘 만들면 계속 쓴다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7752FA-CBA4-F345-A9FA-16E657EE9E95}"/>
              </a:ext>
            </a:extLst>
          </p:cNvPr>
          <p:cNvSpPr txBox="1"/>
          <p:nvPr/>
        </p:nvSpPr>
        <p:spPr>
          <a:xfrm>
            <a:off x="1181100" y="2971800"/>
            <a:ext cx="4749800" cy="203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400" b="1">
                <a:solidFill>
                  <a:srgbClr val="B5781B"/>
                </a:solidFill>
                <a:latin typeface="JetBrains Mono"/>
              </a:rPr>
              <a:t>SAVED · </a:t>
            </a:r>
            <a:r>
              <a:rPr lang="ko-KR" altLang="en-US" sz="1400" b="1">
                <a:solidFill>
                  <a:srgbClr val="B5781B"/>
                </a:solidFill>
                <a:latin typeface="JetBrains Mono"/>
              </a:rPr>
              <a:t>노션</a:t>
            </a: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A05CF23F-D2DE-2D4F-82EB-28F8D1F9D62C}"/>
              </a:ext>
            </a:extLst>
          </p:cNvPr>
          <p:cNvSpPr/>
          <p:nvPr/>
        </p:nvSpPr>
        <p:spPr>
          <a:xfrm>
            <a:off x="1130300" y="3251200"/>
            <a:ext cx="4851400" cy="106680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2700" cap="flat" cmpd="sng" algn="ctr">
            <a:solidFill>
              <a:srgbClr val="CBD6E6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DD5CA5-301B-C941-99DD-839B04B4B25F}"/>
              </a:ext>
            </a:extLst>
          </p:cNvPr>
          <p:cNvSpPr txBox="1"/>
          <p:nvPr/>
        </p:nvSpPr>
        <p:spPr>
          <a:xfrm>
            <a:off x="1333500" y="3378200"/>
            <a:ext cx="4445000" cy="304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450" b="1">
                <a:solidFill>
                  <a:srgbClr val="14213D"/>
                </a:solidFill>
                <a:latin typeface="Pretendard"/>
              </a:rPr>
              <a:t>“</a:t>
            </a:r>
            <a:r>
              <a:rPr lang="en-US" altLang="ko-KR" sz="1450" b="1">
                <a:solidFill>
                  <a:srgbClr val="14213D"/>
                </a:solidFill>
                <a:latin typeface="Pretendard"/>
              </a:rPr>
              <a:t>[</a:t>
            </a:r>
            <a:r>
              <a:rPr lang="ko-KR" altLang="en-US" sz="1450" b="1">
                <a:solidFill>
                  <a:srgbClr val="14213D"/>
                </a:solidFill>
                <a:latin typeface="Pretendard"/>
              </a:rPr>
              <a:t>제품</a:t>
            </a:r>
            <a:r>
              <a:rPr lang="en-US" altLang="ko-KR" sz="1450" b="1">
                <a:solidFill>
                  <a:srgbClr val="14213D"/>
                </a:solidFill>
                <a:latin typeface="Pretendard"/>
              </a:rPr>
              <a:t>] </a:t>
            </a:r>
            <a:r>
              <a:rPr lang="ko-KR" altLang="en-US" sz="1450" b="1">
                <a:solidFill>
                  <a:srgbClr val="14213D"/>
                </a:solidFill>
                <a:latin typeface="Pretendard"/>
              </a:rPr>
              <a:t>헤드라인 </a:t>
            </a:r>
            <a:r>
              <a:rPr lang="en-US" altLang="ko-KR" sz="1450" b="1">
                <a:solidFill>
                  <a:srgbClr val="14213D"/>
                </a:solidFill>
                <a:latin typeface="Pretendard"/>
              </a:rPr>
              <a:t>5</a:t>
            </a:r>
            <a:r>
              <a:rPr lang="ko-KR" altLang="en-US" sz="1450" b="1">
                <a:solidFill>
                  <a:srgbClr val="14213D"/>
                </a:solidFill>
                <a:latin typeface="Pretendard"/>
              </a:rPr>
              <a:t>개 만들기”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67DA822-DAC5-334E-94EA-B8CEA1031E0F}"/>
              </a:ext>
            </a:extLst>
          </p:cNvPr>
          <p:cNvSpPr txBox="1"/>
          <p:nvPr/>
        </p:nvSpPr>
        <p:spPr>
          <a:xfrm>
            <a:off x="1333500" y="3759200"/>
            <a:ext cx="4445000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400">
                <a:solidFill>
                  <a:srgbClr val="576176"/>
                </a:solidFill>
                <a:latin typeface="Pretendard"/>
              </a:rPr>
              <a:t>역할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·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맥락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·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작업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·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형식을 채운 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R-C-T-F 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템플릿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916AC7B-BA29-9242-A2E5-EF06264356F4}"/>
              </a:ext>
            </a:extLst>
          </p:cNvPr>
          <p:cNvSpPr txBox="1"/>
          <p:nvPr/>
        </p:nvSpPr>
        <p:spPr>
          <a:xfrm>
            <a:off x="1181100" y="4419600"/>
            <a:ext cx="47498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400" b="1">
                <a:solidFill>
                  <a:srgbClr val="E8A33D"/>
                </a:solidFill>
                <a:latin typeface="JetBrains Mono"/>
              </a:rPr>
              <a:t>↓  재사용</a:t>
            </a: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33BB03E9-A5E4-3D4C-AABB-6F8DA9C614C8}"/>
              </a:ext>
            </a:extLst>
          </p:cNvPr>
          <p:cNvSpPr/>
          <p:nvPr/>
        </p:nvSpPr>
        <p:spPr>
          <a:xfrm>
            <a:off x="1130300" y="4724400"/>
            <a:ext cx="4851400" cy="736600"/>
          </a:xfrm>
          <a:prstGeom prst="roundRect">
            <a:avLst>
              <a:gd name="adj" fmla="val 3448"/>
            </a:avLst>
          </a:prstGeom>
          <a:solidFill>
            <a:srgbClr val="FBEF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470A727-84EE-4240-B930-D98DA69E3249}"/>
              </a:ext>
            </a:extLst>
          </p:cNvPr>
          <p:cNvSpPr txBox="1"/>
          <p:nvPr/>
        </p:nvSpPr>
        <p:spPr>
          <a:xfrm>
            <a:off x="1282700" y="4724400"/>
            <a:ext cx="4546600" cy="736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400" b="1">
                <a:solidFill>
                  <a:srgbClr val="14213D"/>
                </a:solidFill>
                <a:latin typeface="Pretendard"/>
              </a:rPr>
              <a:t>제품명만 바꿔 다음 캠페인에 그대로 사용</a:t>
            </a:r>
          </a:p>
        </p:txBody>
      </p:sp>
      <p:sp>
        <p:nvSpPr>
          <p:cNvPr id="15" name="모서리가 둥근 직사각형 14">
            <a:extLst>
              <a:ext uri="{FF2B5EF4-FFF2-40B4-BE49-F238E27FC236}">
                <a16:creationId xmlns:a16="http://schemas.microsoft.com/office/drawing/2014/main" id="{DBA814F6-10EE-5C4F-AFAF-A7A9BAC357E9}"/>
              </a:ext>
            </a:extLst>
          </p:cNvPr>
          <p:cNvSpPr/>
          <p:nvPr/>
        </p:nvSpPr>
        <p:spPr>
          <a:xfrm>
            <a:off x="6540500" y="1905000"/>
            <a:ext cx="4826000" cy="4381500"/>
          </a:xfrm>
          <a:prstGeom prst="roundRect">
            <a:avLst>
              <a:gd name="adj" fmla="val 580"/>
            </a:avLst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154BC59-39D4-B44B-A787-FB7B4A431B94}"/>
              </a:ext>
            </a:extLst>
          </p:cNvPr>
          <p:cNvSpPr txBox="1"/>
          <p:nvPr/>
        </p:nvSpPr>
        <p:spPr>
          <a:xfrm>
            <a:off x="6845300" y="2159000"/>
            <a:ext cx="4216400" cy="355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b="1">
                <a:solidFill>
                  <a:srgbClr val="FFFFFF"/>
                </a:solidFill>
                <a:latin typeface="Pretendard"/>
              </a:rPr>
              <a:t>워크플로 자동화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C862229-5071-0D42-8039-EA80E0A34EA6}"/>
              </a:ext>
            </a:extLst>
          </p:cNvPr>
          <p:cNvSpPr txBox="1"/>
          <p:nvPr/>
        </p:nvSpPr>
        <p:spPr>
          <a:xfrm>
            <a:off x="6845300" y="2540000"/>
            <a:ext cx="42164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400">
                <a:solidFill>
                  <a:srgbClr val="E8A33D"/>
                </a:solidFill>
                <a:latin typeface="Pretendard"/>
              </a:rPr>
              <a:t>트리거 → 발행까지 연결</a:t>
            </a:r>
          </a:p>
        </p:txBody>
      </p:sp>
      <p:sp>
        <p:nvSpPr>
          <p:cNvPr id="18" name="모서리가 둥근 직사각형 17">
            <a:extLst>
              <a:ext uri="{FF2B5EF4-FFF2-40B4-BE49-F238E27FC236}">
                <a16:creationId xmlns:a16="http://schemas.microsoft.com/office/drawing/2014/main" id="{237E973E-0033-6D46-A677-EC3291448FC1}"/>
              </a:ext>
            </a:extLst>
          </p:cNvPr>
          <p:cNvSpPr/>
          <p:nvPr/>
        </p:nvSpPr>
        <p:spPr>
          <a:xfrm>
            <a:off x="6845300" y="2946400"/>
            <a:ext cx="4216400" cy="558800"/>
          </a:xfrm>
          <a:prstGeom prst="roundRect">
            <a:avLst>
              <a:gd name="adj" fmla="val 4545"/>
            </a:avLst>
          </a:prstGeom>
          <a:solidFill>
            <a:srgbClr val="20314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C4CB048-7D58-864A-892E-1333D60AED02}"/>
              </a:ext>
            </a:extLst>
          </p:cNvPr>
          <p:cNvSpPr txBox="1"/>
          <p:nvPr/>
        </p:nvSpPr>
        <p:spPr>
          <a:xfrm>
            <a:off x="7023100" y="2946400"/>
            <a:ext cx="914400" cy="558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400" b="1">
                <a:solidFill>
                  <a:srgbClr val="E8A33D"/>
                </a:solidFill>
                <a:latin typeface="JetBrains Mono"/>
              </a:rPr>
              <a:t>트리거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2958CD3-131B-1B47-BDC4-7A96EC5A55FB}"/>
              </a:ext>
            </a:extLst>
          </p:cNvPr>
          <p:cNvSpPr txBox="1"/>
          <p:nvPr/>
        </p:nvSpPr>
        <p:spPr>
          <a:xfrm>
            <a:off x="7975600" y="2946400"/>
            <a:ext cx="2946400" cy="558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450" b="1">
                <a:solidFill>
                  <a:srgbClr val="FFFFFF"/>
                </a:solidFill>
                <a:latin typeface="Pretendard"/>
              </a:rPr>
              <a:t>매주 월 </a:t>
            </a:r>
            <a:r>
              <a:rPr lang="en-US" altLang="ko-KR" sz="1450" b="1">
                <a:solidFill>
                  <a:srgbClr val="FFFFFF"/>
                </a:solidFill>
                <a:latin typeface="Pretendard"/>
              </a:rPr>
              <a:t>09:00</a:t>
            </a:r>
            <a:endParaRPr lang="ko-KR" altLang="en-US" sz="1450" b="1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268F4A5-6F91-5949-9142-0DEB3EA50684}"/>
              </a:ext>
            </a:extLst>
          </p:cNvPr>
          <p:cNvSpPr txBox="1"/>
          <p:nvPr/>
        </p:nvSpPr>
        <p:spPr>
          <a:xfrm>
            <a:off x="6845300" y="3505200"/>
            <a:ext cx="4216400" cy="152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400" b="1">
                <a:solidFill>
                  <a:srgbClr val="E8A33D"/>
                </a:solidFill>
                <a:latin typeface="Pretendard"/>
              </a:rPr>
              <a:t>↓</a:t>
            </a:r>
          </a:p>
        </p:txBody>
      </p:sp>
      <p:sp>
        <p:nvSpPr>
          <p:cNvPr id="22" name="모서리가 둥근 직사각형 21">
            <a:extLst>
              <a:ext uri="{FF2B5EF4-FFF2-40B4-BE49-F238E27FC236}">
                <a16:creationId xmlns:a16="http://schemas.microsoft.com/office/drawing/2014/main" id="{59F4CE4E-37BD-F743-8D56-5BDD5222DA6C}"/>
              </a:ext>
            </a:extLst>
          </p:cNvPr>
          <p:cNvSpPr/>
          <p:nvPr/>
        </p:nvSpPr>
        <p:spPr>
          <a:xfrm>
            <a:off x="6845300" y="3657600"/>
            <a:ext cx="4216400" cy="558800"/>
          </a:xfrm>
          <a:prstGeom prst="roundRect">
            <a:avLst>
              <a:gd name="adj" fmla="val 4545"/>
            </a:avLst>
          </a:prstGeom>
          <a:solidFill>
            <a:srgbClr val="20314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CFCA3B9-0A04-344E-AC8E-F883FEC0A139}"/>
              </a:ext>
            </a:extLst>
          </p:cNvPr>
          <p:cNvSpPr txBox="1"/>
          <p:nvPr/>
        </p:nvSpPr>
        <p:spPr>
          <a:xfrm>
            <a:off x="7023100" y="3657600"/>
            <a:ext cx="914400" cy="558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400" b="1">
                <a:solidFill>
                  <a:srgbClr val="E8A33D"/>
                </a:solidFill>
                <a:latin typeface="JetBrains Mono"/>
              </a:rPr>
              <a:t>생성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153DC55-D64C-BD46-BAE5-9996165C021E}"/>
              </a:ext>
            </a:extLst>
          </p:cNvPr>
          <p:cNvSpPr txBox="1"/>
          <p:nvPr/>
        </p:nvSpPr>
        <p:spPr>
          <a:xfrm>
            <a:off x="7975600" y="3657600"/>
            <a:ext cx="2946400" cy="558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altLang="ko-KR" sz="1450" b="1">
                <a:solidFill>
                  <a:srgbClr val="FFFFFF"/>
                </a:solidFill>
                <a:latin typeface="Pretendard"/>
              </a:rPr>
              <a:t>ChatGPT </a:t>
            </a:r>
            <a:r>
              <a:rPr lang="ko-KR" altLang="en-US" sz="1450" b="1">
                <a:solidFill>
                  <a:srgbClr val="FFFFFF"/>
                </a:solidFill>
                <a:latin typeface="Pretendard"/>
              </a:rPr>
              <a:t>초안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C26CDE4-F1AC-E44D-ABAA-E07F74A22FF8}"/>
              </a:ext>
            </a:extLst>
          </p:cNvPr>
          <p:cNvSpPr txBox="1"/>
          <p:nvPr/>
        </p:nvSpPr>
        <p:spPr>
          <a:xfrm>
            <a:off x="6845300" y="4216400"/>
            <a:ext cx="4216400" cy="152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400" b="1">
                <a:solidFill>
                  <a:srgbClr val="E8A33D"/>
                </a:solidFill>
                <a:latin typeface="Pretendard"/>
              </a:rPr>
              <a:t>↓</a:t>
            </a:r>
          </a:p>
        </p:txBody>
      </p:sp>
      <p:sp>
        <p:nvSpPr>
          <p:cNvPr id="26" name="모서리가 둥근 직사각형 25">
            <a:extLst>
              <a:ext uri="{FF2B5EF4-FFF2-40B4-BE49-F238E27FC236}">
                <a16:creationId xmlns:a16="http://schemas.microsoft.com/office/drawing/2014/main" id="{5E20DDC9-5B32-5B47-8A47-665592130A69}"/>
              </a:ext>
            </a:extLst>
          </p:cNvPr>
          <p:cNvSpPr/>
          <p:nvPr/>
        </p:nvSpPr>
        <p:spPr>
          <a:xfrm>
            <a:off x="6845300" y="4368800"/>
            <a:ext cx="4216400" cy="558800"/>
          </a:xfrm>
          <a:prstGeom prst="roundRect">
            <a:avLst>
              <a:gd name="adj" fmla="val 4545"/>
            </a:avLst>
          </a:prstGeom>
          <a:solidFill>
            <a:srgbClr val="20314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649731E-FBCA-6B4C-A1E0-CEB1F35E8DB8}"/>
              </a:ext>
            </a:extLst>
          </p:cNvPr>
          <p:cNvSpPr txBox="1"/>
          <p:nvPr/>
        </p:nvSpPr>
        <p:spPr>
          <a:xfrm>
            <a:off x="7023100" y="4368800"/>
            <a:ext cx="914400" cy="558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400" b="1">
                <a:solidFill>
                  <a:srgbClr val="E8A33D"/>
                </a:solidFill>
                <a:latin typeface="JetBrains Mono"/>
              </a:rPr>
              <a:t>검수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734ED57-9BAC-C44A-892F-36C61C3E476B}"/>
              </a:ext>
            </a:extLst>
          </p:cNvPr>
          <p:cNvSpPr txBox="1"/>
          <p:nvPr/>
        </p:nvSpPr>
        <p:spPr>
          <a:xfrm>
            <a:off x="7975600" y="4368800"/>
            <a:ext cx="2946400" cy="558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450" b="1">
                <a:solidFill>
                  <a:srgbClr val="FFFFFF"/>
                </a:solidFill>
                <a:latin typeface="Pretendard"/>
              </a:rPr>
              <a:t>사람 검수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8E0336C-C2B4-6547-AAE0-1A5A46D40CF2}"/>
              </a:ext>
            </a:extLst>
          </p:cNvPr>
          <p:cNvSpPr txBox="1"/>
          <p:nvPr/>
        </p:nvSpPr>
        <p:spPr>
          <a:xfrm>
            <a:off x="6845300" y="4927600"/>
            <a:ext cx="4216400" cy="152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400" b="1">
                <a:solidFill>
                  <a:srgbClr val="E8A33D"/>
                </a:solidFill>
                <a:latin typeface="Pretendard"/>
              </a:rPr>
              <a:t>↓</a:t>
            </a:r>
          </a:p>
        </p:txBody>
      </p:sp>
      <p:sp>
        <p:nvSpPr>
          <p:cNvPr id="30" name="모서리가 둥근 직사각형 29">
            <a:extLst>
              <a:ext uri="{FF2B5EF4-FFF2-40B4-BE49-F238E27FC236}">
                <a16:creationId xmlns:a16="http://schemas.microsoft.com/office/drawing/2014/main" id="{5783BFBA-209E-1B49-9CA8-7E136E171726}"/>
              </a:ext>
            </a:extLst>
          </p:cNvPr>
          <p:cNvSpPr/>
          <p:nvPr/>
        </p:nvSpPr>
        <p:spPr>
          <a:xfrm>
            <a:off x="6845300" y="5080000"/>
            <a:ext cx="4216400" cy="558800"/>
          </a:xfrm>
          <a:prstGeom prst="roundRect">
            <a:avLst>
              <a:gd name="adj" fmla="val 4545"/>
            </a:avLst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E240164-28C3-7946-89D3-BCA20E90044A}"/>
              </a:ext>
            </a:extLst>
          </p:cNvPr>
          <p:cNvSpPr txBox="1"/>
          <p:nvPr/>
        </p:nvSpPr>
        <p:spPr>
          <a:xfrm>
            <a:off x="7023100" y="5080000"/>
            <a:ext cx="914400" cy="558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400" b="1">
                <a:solidFill>
                  <a:srgbClr val="14213D"/>
                </a:solidFill>
                <a:latin typeface="JetBrains Mono"/>
              </a:rPr>
              <a:t>발행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31E9859-A5CB-E942-8F24-BC420E3ECEAB}"/>
              </a:ext>
            </a:extLst>
          </p:cNvPr>
          <p:cNvSpPr txBox="1"/>
          <p:nvPr/>
        </p:nvSpPr>
        <p:spPr>
          <a:xfrm>
            <a:off x="7975600" y="5080000"/>
            <a:ext cx="2946400" cy="558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450" b="1">
                <a:solidFill>
                  <a:srgbClr val="14213D"/>
                </a:solidFill>
                <a:latin typeface="Pretendard"/>
              </a:rPr>
              <a:t>인스타 예약발행</a:t>
            </a:r>
          </a:p>
        </p:txBody>
      </p:sp>
      <p:sp>
        <p:nvSpPr>
          <p:cNvPr id="4" name="PageNumber">
            <a:extLst>
              <a:ext uri="{FF2B5EF4-FFF2-40B4-BE49-F238E27FC236}">
                <a16:creationId xmlns:a16="http://schemas.microsoft.com/office/drawing/2014/main" id="{CAD0EAAF-C7D7-CF48-B0C9-E71CC39EC36B}"/>
              </a:ext>
            </a:extLst>
          </p:cNvPr>
          <p:cNvSpPr txBox="1"/>
          <p:nvPr/>
        </p:nvSpPr>
        <p:spPr>
          <a:xfrm>
            <a:off x="9499600" y="6489700"/>
            <a:ext cx="23368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r"/>
            <a:r>
              <a:rPr lang="en-US" altLang="ko-KR" sz="1200">
                <a:solidFill>
                  <a:srgbClr val="576176"/>
                </a:solidFill>
                <a:latin typeface="Pretendard"/>
              </a:rPr>
              <a:t>- 129/144 -</a:t>
            </a:r>
            <a:endParaRPr lang="ko-KR" altLang="en-US" sz="1200">
              <a:solidFill>
                <a:srgbClr val="576176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196692613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실습 절차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실습 절차 — 직접 해봅니다</a:t>
            </a: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CDCCE759-0F31-4C44-B969-10CF03AF8736}"/>
              </a:ext>
            </a:extLst>
          </p:cNvPr>
          <p:cNvSpPr/>
          <p:nvPr/>
        </p:nvSpPr>
        <p:spPr>
          <a:xfrm>
            <a:off x="825500" y="1930400"/>
            <a:ext cx="10541000" cy="939800"/>
          </a:xfrm>
          <a:prstGeom prst="roundRect">
            <a:avLst>
              <a:gd name="adj" fmla="val 2703"/>
            </a:avLst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2DA41CC-3A6C-C248-9230-BD4A06F2FDB3}"/>
              </a:ext>
            </a:extLst>
          </p:cNvPr>
          <p:cNvSpPr/>
          <p:nvPr/>
        </p:nvSpPr>
        <p:spPr>
          <a:xfrm>
            <a:off x="825500" y="1930400"/>
            <a:ext cx="76200" cy="939800"/>
          </a:xfrm>
          <a:prstGeom prst="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E28953E5-57D6-B845-8C5A-C090904B2DC2}"/>
              </a:ext>
            </a:extLst>
          </p:cNvPr>
          <p:cNvSpPr/>
          <p:nvPr/>
        </p:nvSpPr>
        <p:spPr>
          <a:xfrm>
            <a:off x="1143000" y="2159000"/>
            <a:ext cx="482600" cy="482600"/>
          </a:xfrm>
          <a:prstGeom prst="ellipse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  <a:latin typeface="JetBrains Mono"/>
              </a:rPr>
              <a:t>1</a:t>
            </a:r>
            <a:endParaRPr lang="ko-KR" altLang="en-US" sz="16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4EEF41-CFE8-6F40-9C5E-1C83F491EC87}"/>
              </a:ext>
            </a:extLst>
          </p:cNvPr>
          <p:cNvSpPr txBox="1"/>
          <p:nvPr/>
        </p:nvSpPr>
        <p:spPr>
          <a:xfrm>
            <a:off x="1905000" y="2223094"/>
            <a:ext cx="2540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600" b="1" dirty="0">
                <a:solidFill>
                  <a:srgbClr val="14213D"/>
                </a:solidFill>
                <a:latin typeface="Pretendard"/>
              </a:rPr>
              <a:t>라이브러리 정리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00E7E7-632E-E946-98B1-BC182E27394F}"/>
              </a:ext>
            </a:extLst>
          </p:cNvPr>
          <p:cNvSpPr txBox="1"/>
          <p:nvPr/>
        </p:nvSpPr>
        <p:spPr>
          <a:xfrm>
            <a:off x="4546600" y="2057400"/>
            <a:ext cx="6629400" cy="685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400">
                <a:solidFill>
                  <a:srgbClr val="576176"/>
                </a:solidFill>
                <a:latin typeface="Pretendard"/>
              </a:rPr>
              <a:t>재사용할 프롬프트를 용도별로 라이브러리에 정리한다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.</a:t>
            </a:r>
            <a:endParaRPr lang="ko-KR" altLang="en-US" sz="1400">
              <a:solidFill>
                <a:srgbClr val="576176"/>
              </a:solidFill>
              <a:latin typeface="Pretendard"/>
            </a:endParaRP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6691066F-80FE-844C-B6C4-7BD975B7BB85}"/>
              </a:ext>
            </a:extLst>
          </p:cNvPr>
          <p:cNvSpPr/>
          <p:nvPr/>
        </p:nvSpPr>
        <p:spPr>
          <a:xfrm>
            <a:off x="825500" y="2971800"/>
            <a:ext cx="10541000" cy="939800"/>
          </a:xfrm>
          <a:prstGeom prst="roundRect">
            <a:avLst>
              <a:gd name="adj" fmla="val 2703"/>
            </a:avLst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4F67433-FC0A-9D46-A0D6-E7107DE0408C}"/>
              </a:ext>
            </a:extLst>
          </p:cNvPr>
          <p:cNvSpPr/>
          <p:nvPr/>
        </p:nvSpPr>
        <p:spPr>
          <a:xfrm>
            <a:off x="825500" y="2971800"/>
            <a:ext cx="76200" cy="939800"/>
          </a:xfrm>
          <a:prstGeom prst="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A11D2F86-21FD-1D48-925C-D3380F67F422}"/>
              </a:ext>
            </a:extLst>
          </p:cNvPr>
          <p:cNvSpPr/>
          <p:nvPr/>
        </p:nvSpPr>
        <p:spPr>
          <a:xfrm>
            <a:off x="1143000" y="3200400"/>
            <a:ext cx="482600" cy="482600"/>
          </a:xfrm>
          <a:prstGeom prst="ellipse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  <a:latin typeface="JetBrains Mono"/>
              </a:rPr>
              <a:t>2</a:t>
            </a:r>
            <a:endParaRPr lang="ko-KR" altLang="en-US" sz="16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92E7448-7C2B-024F-ABF1-F4364C158A48}"/>
              </a:ext>
            </a:extLst>
          </p:cNvPr>
          <p:cNvSpPr txBox="1"/>
          <p:nvPr/>
        </p:nvSpPr>
        <p:spPr>
          <a:xfrm>
            <a:off x="1905000" y="3264494"/>
            <a:ext cx="2540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600" b="1">
                <a:solidFill>
                  <a:srgbClr val="14213D"/>
                </a:solidFill>
                <a:latin typeface="Pretendard"/>
              </a:rPr>
              <a:t>워크플로 그리기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7E39000-FB63-D642-A200-D867EE3B2E0C}"/>
              </a:ext>
            </a:extLst>
          </p:cNvPr>
          <p:cNvSpPr txBox="1"/>
          <p:nvPr/>
        </p:nvSpPr>
        <p:spPr>
          <a:xfrm>
            <a:off x="4546600" y="3098800"/>
            <a:ext cx="6629400" cy="685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400">
                <a:solidFill>
                  <a:srgbClr val="576176"/>
                </a:solidFill>
                <a:latin typeface="Pretendard"/>
              </a:rPr>
              <a:t>반복업무 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1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개를 트리거→생성→검수→발행으로 그린다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.</a:t>
            </a:r>
            <a:endParaRPr lang="ko-KR" altLang="en-US" sz="1400">
              <a:solidFill>
                <a:srgbClr val="576176"/>
              </a:solidFill>
              <a:latin typeface="Pretendard"/>
            </a:endParaRPr>
          </a:p>
        </p:txBody>
      </p:sp>
      <p:sp>
        <p:nvSpPr>
          <p:cNvPr id="15" name="모서리가 둥근 직사각형 14">
            <a:extLst>
              <a:ext uri="{FF2B5EF4-FFF2-40B4-BE49-F238E27FC236}">
                <a16:creationId xmlns:a16="http://schemas.microsoft.com/office/drawing/2014/main" id="{C2477E0A-6AEB-1A44-9CD6-57B0452248F3}"/>
              </a:ext>
            </a:extLst>
          </p:cNvPr>
          <p:cNvSpPr/>
          <p:nvPr/>
        </p:nvSpPr>
        <p:spPr>
          <a:xfrm>
            <a:off x="825500" y="4013200"/>
            <a:ext cx="10541000" cy="939800"/>
          </a:xfrm>
          <a:prstGeom prst="roundRect">
            <a:avLst>
              <a:gd name="adj" fmla="val 2703"/>
            </a:avLst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5ABE6C4-472F-1649-9B69-921CA3DF1F8C}"/>
              </a:ext>
            </a:extLst>
          </p:cNvPr>
          <p:cNvSpPr/>
          <p:nvPr/>
        </p:nvSpPr>
        <p:spPr>
          <a:xfrm>
            <a:off x="825500" y="4013200"/>
            <a:ext cx="76200" cy="939800"/>
          </a:xfrm>
          <a:prstGeom prst="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EE2E5E4F-E9AF-0D4E-9574-EF5FE839A3E0}"/>
              </a:ext>
            </a:extLst>
          </p:cNvPr>
          <p:cNvSpPr/>
          <p:nvPr/>
        </p:nvSpPr>
        <p:spPr>
          <a:xfrm>
            <a:off x="1143000" y="4241800"/>
            <a:ext cx="482600" cy="482600"/>
          </a:xfrm>
          <a:prstGeom prst="ellipse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  <a:latin typeface="JetBrains Mono"/>
              </a:rPr>
              <a:t>3</a:t>
            </a:r>
            <a:endParaRPr lang="ko-KR" altLang="en-US" sz="16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3F71945-25FA-8B4C-810D-B8A3D901BE7A}"/>
              </a:ext>
            </a:extLst>
          </p:cNvPr>
          <p:cNvSpPr txBox="1"/>
          <p:nvPr/>
        </p:nvSpPr>
        <p:spPr>
          <a:xfrm>
            <a:off x="1905000" y="4305894"/>
            <a:ext cx="2540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600" b="1">
                <a:solidFill>
                  <a:srgbClr val="14213D"/>
                </a:solidFill>
                <a:latin typeface="Pretendard"/>
              </a:rPr>
              <a:t>단계별 담당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37B3D3C-AA6C-4447-AFBC-8173D787E3C5}"/>
              </a:ext>
            </a:extLst>
          </p:cNvPr>
          <p:cNvSpPr txBox="1"/>
          <p:nvPr/>
        </p:nvSpPr>
        <p:spPr>
          <a:xfrm>
            <a:off x="4546600" y="4140200"/>
            <a:ext cx="6629400" cy="685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400">
                <a:solidFill>
                  <a:srgbClr val="576176"/>
                </a:solidFill>
                <a:latin typeface="Pretendard"/>
              </a:rPr>
              <a:t>각 단계의 입력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·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출력과 담당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(AI/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사람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)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을 정한다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.</a:t>
            </a:r>
            <a:endParaRPr lang="ko-KR" altLang="en-US" sz="1400">
              <a:solidFill>
                <a:srgbClr val="576176"/>
              </a:solidFill>
              <a:latin typeface="Pretendard"/>
            </a:endParaRPr>
          </a:p>
        </p:txBody>
      </p:sp>
      <p:sp>
        <p:nvSpPr>
          <p:cNvPr id="20" name="모서리가 둥근 직사각형 19">
            <a:extLst>
              <a:ext uri="{FF2B5EF4-FFF2-40B4-BE49-F238E27FC236}">
                <a16:creationId xmlns:a16="http://schemas.microsoft.com/office/drawing/2014/main" id="{0DC7B134-E3D9-A549-85EC-25B6200E5826}"/>
              </a:ext>
            </a:extLst>
          </p:cNvPr>
          <p:cNvSpPr/>
          <p:nvPr/>
        </p:nvSpPr>
        <p:spPr>
          <a:xfrm>
            <a:off x="825500" y="5054600"/>
            <a:ext cx="10541000" cy="939800"/>
          </a:xfrm>
          <a:prstGeom prst="roundRect">
            <a:avLst>
              <a:gd name="adj" fmla="val 2703"/>
            </a:avLst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B5479F56-B248-CE40-809C-B1E2FD7998BC}"/>
              </a:ext>
            </a:extLst>
          </p:cNvPr>
          <p:cNvSpPr/>
          <p:nvPr/>
        </p:nvSpPr>
        <p:spPr>
          <a:xfrm>
            <a:off x="825500" y="5054600"/>
            <a:ext cx="76200" cy="939800"/>
          </a:xfrm>
          <a:prstGeom prst="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595D2BBF-54F4-3A40-88A9-4A5ACC14F553}"/>
              </a:ext>
            </a:extLst>
          </p:cNvPr>
          <p:cNvSpPr/>
          <p:nvPr/>
        </p:nvSpPr>
        <p:spPr>
          <a:xfrm>
            <a:off x="1143000" y="5283200"/>
            <a:ext cx="482600" cy="482600"/>
          </a:xfrm>
          <a:prstGeom prst="ellipse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  <a:latin typeface="JetBrains Mono"/>
              </a:rPr>
              <a:t>4</a:t>
            </a:r>
            <a:endParaRPr lang="ko-KR" altLang="en-US" sz="16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8EDEBBC-11D9-544E-A478-92DFD72DC8EB}"/>
              </a:ext>
            </a:extLst>
          </p:cNvPr>
          <p:cNvSpPr txBox="1"/>
          <p:nvPr/>
        </p:nvSpPr>
        <p:spPr>
          <a:xfrm>
            <a:off x="1905000" y="5347294"/>
            <a:ext cx="2540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600" b="1">
                <a:solidFill>
                  <a:srgbClr val="14213D"/>
                </a:solidFill>
                <a:latin typeface="Pretendard"/>
              </a:rPr>
              <a:t>절감 시간 계산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F3E2A36-A44A-824F-83F2-0A092180E120}"/>
              </a:ext>
            </a:extLst>
          </p:cNvPr>
          <p:cNvSpPr txBox="1"/>
          <p:nvPr/>
        </p:nvSpPr>
        <p:spPr>
          <a:xfrm>
            <a:off x="4546600" y="5181600"/>
            <a:ext cx="6629400" cy="685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400">
                <a:solidFill>
                  <a:srgbClr val="576176"/>
                </a:solidFill>
                <a:latin typeface="Pretendard"/>
              </a:rPr>
              <a:t>자동화로 줄어드는 월간 시간을 계산한다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.</a:t>
            </a:r>
            <a:endParaRPr lang="ko-KR" altLang="en-US" sz="1400">
              <a:solidFill>
                <a:srgbClr val="576176"/>
              </a:solidFill>
              <a:latin typeface="Pretendard"/>
            </a:endParaRPr>
          </a:p>
        </p:txBody>
      </p:sp>
      <p:sp>
        <p:nvSpPr>
          <p:cNvPr id="4" name="PageNumber">
            <a:extLst>
              <a:ext uri="{FF2B5EF4-FFF2-40B4-BE49-F238E27FC236}">
                <a16:creationId xmlns:a16="http://schemas.microsoft.com/office/drawing/2014/main" id="{8A89DC6F-E567-DC45-A800-721AE54374D9}"/>
              </a:ext>
            </a:extLst>
          </p:cNvPr>
          <p:cNvSpPr txBox="1"/>
          <p:nvPr/>
        </p:nvSpPr>
        <p:spPr>
          <a:xfrm>
            <a:off x="9499600" y="6489700"/>
            <a:ext cx="23368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r"/>
            <a:r>
              <a:rPr lang="en-US" altLang="ko-KR" sz="1200">
                <a:solidFill>
                  <a:srgbClr val="576176"/>
                </a:solidFill>
                <a:latin typeface="Pretendard"/>
              </a:rPr>
              <a:t>- 130/144 -</a:t>
            </a:r>
            <a:endParaRPr lang="ko-KR" altLang="en-US" sz="1200">
              <a:solidFill>
                <a:srgbClr val="576176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880318410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실습 프롬프트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워크플로 설계 보조 프롬프트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874519"/>
            <a:ext cx="10332720" cy="4434840"/>
          </a:xfrm>
          <a:prstGeom prst="rect">
            <a:avLst/>
          </a:prstGeom>
          <a:solidFill>
            <a:srgbClr val="10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11480" tIns="502920" rIns="365760" bIns="320040" rtlCol="0" anchor="t"/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200"/>
              </a:spcAft>
            </a:pPr>
            <a:r>
              <a:rPr sz="14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다음</a:t>
            </a:r>
            <a:r>
              <a:rPr sz="14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4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반복</a:t>
            </a:r>
            <a:r>
              <a:rPr sz="14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4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홍보업무를</a:t>
            </a:r>
            <a:r>
              <a:rPr sz="14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4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자동화</a:t>
            </a:r>
            <a:r>
              <a:rPr sz="14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4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워크플로로</a:t>
            </a:r>
            <a:r>
              <a:rPr sz="14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4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설계해줘</a:t>
            </a:r>
            <a:r>
              <a:rPr sz="14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.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200"/>
              </a:spcAft>
            </a:pPr>
            <a:r>
              <a:rPr sz="14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"</a:t>
            </a:r>
            <a:r>
              <a:rPr sz="14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트리거</a:t>
            </a:r>
            <a:r>
              <a:rPr sz="14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/ AI </a:t>
            </a:r>
            <a:r>
              <a:rPr sz="14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단계</a:t>
            </a:r>
            <a:r>
              <a:rPr sz="14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/ </a:t>
            </a:r>
            <a:r>
              <a:rPr sz="14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사람</a:t>
            </a:r>
            <a:r>
              <a:rPr sz="14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4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검수</a:t>
            </a:r>
            <a:r>
              <a:rPr sz="14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/ </a:t>
            </a:r>
            <a:r>
              <a:rPr sz="14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발행"으로</a:t>
            </a:r>
            <a:r>
              <a:rPr sz="14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4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표를</a:t>
            </a:r>
            <a:r>
              <a:rPr sz="14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4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만들고</a:t>
            </a:r>
            <a:r>
              <a:rPr sz="14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,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200"/>
              </a:spcAft>
            </a:pPr>
            <a:r>
              <a:rPr sz="14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각</a:t>
            </a:r>
            <a:r>
              <a:rPr sz="14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4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단계에</a:t>
            </a:r>
            <a:r>
              <a:rPr sz="14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4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쓸</a:t>
            </a:r>
            <a:r>
              <a:rPr sz="14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4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도구와</a:t>
            </a:r>
            <a:r>
              <a:rPr sz="14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4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예상</a:t>
            </a:r>
            <a:r>
              <a:rPr sz="14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4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소요시간을</a:t>
            </a:r>
            <a:r>
              <a:rPr sz="14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4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적어줘</a:t>
            </a:r>
            <a:r>
              <a:rPr sz="14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.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200"/>
              </a:spcAft>
            </a:pPr>
            <a:r>
              <a:rPr sz="14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업무</a:t>
            </a:r>
            <a:r>
              <a:rPr sz="14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: </a:t>
            </a:r>
            <a:r>
              <a:rPr sz="14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매주</a:t>
            </a:r>
            <a:r>
              <a:rPr sz="14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4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신제품</a:t>
            </a:r>
            <a:r>
              <a:rPr sz="14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4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인스타</a:t>
            </a:r>
            <a:r>
              <a:rPr sz="14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4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게시글</a:t>
            </a:r>
            <a:r>
              <a:rPr sz="14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+ </a:t>
            </a:r>
            <a:r>
              <a:rPr sz="14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카드뉴스</a:t>
            </a:r>
            <a:r>
              <a:rPr sz="14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4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발행</a:t>
            </a:r>
            <a:endParaRPr lang="en-US" sz="1400" dirty="0">
              <a:solidFill>
                <a:srgbClr val="E8EEFA"/>
              </a:solidFill>
              <a:latin typeface="JetBrains Mono"/>
              <a:ea typeface="JetBrains Mono"/>
              <a:cs typeface="JetBrains Mono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200"/>
              </a:spcAft>
            </a:pPr>
            <a:endParaRPr sz="1400" dirty="0">
              <a:solidFill>
                <a:srgbClr val="E8EEFA"/>
              </a:solidFill>
              <a:latin typeface="JetBrains Mono"/>
              <a:ea typeface="JetBrains Mono"/>
              <a:cs typeface="JetBrains Mono"/>
            </a:endParaRPr>
          </a:p>
          <a:p>
            <a:pPr algn="l">
              <a:lnSpc>
                <a:spcPct val="150000"/>
              </a:lnSpc>
              <a:spcBef>
                <a:spcPts val="400"/>
              </a:spcBef>
              <a:spcAft>
                <a:spcPts val="200"/>
              </a:spcAft>
            </a:pPr>
            <a:r>
              <a:rPr sz="1400" dirty="0">
                <a:solidFill>
                  <a:srgbClr val="8893A8"/>
                </a:solidFill>
                <a:latin typeface="JetBrains Mono"/>
                <a:ea typeface="JetBrains Mono"/>
                <a:cs typeface="JetBrains Mono"/>
              </a:rPr>
              <a:t># </a:t>
            </a:r>
            <a:r>
              <a:rPr sz="1400" dirty="0" err="1">
                <a:solidFill>
                  <a:srgbClr val="8893A8"/>
                </a:solidFill>
                <a:latin typeface="JetBrains Mono"/>
                <a:ea typeface="JetBrains Mono"/>
                <a:cs typeface="JetBrains Mono"/>
              </a:rPr>
              <a:t>변형</a:t>
            </a:r>
            <a:r>
              <a:rPr sz="1400" dirty="0">
                <a:solidFill>
                  <a:srgbClr val="8893A8"/>
                </a:solidFill>
                <a:latin typeface="JetBrains Mono"/>
                <a:ea typeface="JetBrains Mono"/>
                <a:cs typeface="JetBrains Mono"/>
              </a:rPr>
              <a:t> — </a:t>
            </a:r>
            <a:r>
              <a:rPr sz="1400" dirty="0" err="1">
                <a:solidFill>
                  <a:srgbClr val="8893A8"/>
                </a:solidFill>
                <a:latin typeface="JetBrains Mono"/>
                <a:ea typeface="JetBrains Mono"/>
                <a:cs typeface="JetBrains Mono"/>
              </a:rPr>
              <a:t>월간</a:t>
            </a:r>
            <a:r>
              <a:rPr sz="1400" dirty="0">
                <a:solidFill>
                  <a:srgbClr val="8893A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400" dirty="0" err="1">
                <a:solidFill>
                  <a:srgbClr val="8893A8"/>
                </a:solidFill>
                <a:latin typeface="JetBrains Mono"/>
                <a:ea typeface="JetBrains Mono"/>
                <a:cs typeface="JetBrains Mono"/>
              </a:rPr>
              <a:t>뉴스레터</a:t>
            </a:r>
            <a:r>
              <a:rPr sz="1400" dirty="0">
                <a:solidFill>
                  <a:srgbClr val="8893A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400" dirty="0" err="1">
                <a:solidFill>
                  <a:srgbClr val="8893A8"/>
                </a:solidFill>
                <a:latin typeface="JetBrains Mono"/>
                <a:ea typeface="JetBrains Mono"/>
                <a:cs typeface="JetBrains Mono"/>
              </a:rPr>
              <a:t>자동화</a:t>
            </a:r>
            <a:endParaRPr sz="1400" dirty="0">
              <a:solidFill>
                <a:srgbClr val="8893A8"/>
              </a:solidFill>
              <a:latin typeface="JetBrains Mono"/>
              <a:ea typeface="JetBrains Mono"/>
              <a:cs typeface="JetBrains Mono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200"/>
              </a:spcAft>
            </a:pPr>
            <a:r>
              <a:rPr sz="14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다음</a:t>
            </a:r>
            <a:r>
              <a:rPr sz="14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4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반복</a:t>
            </a:r>
            <a:r>
              <a:rPr sz="14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4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홍보업무를</a:t>
            </a:r>
            <a:r>
              <a:rPr sz="14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4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자동화</a:t>
            </a:r>
            <a:r>
              <a:rPr sz="14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4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워크플로로</a:t>
            </a:r>
            <a:r>
              <a:rPr sz="14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4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설계해줘</a:t>
            </a:r>
            <a:r>
              <a:rPr sz="14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.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200"/>
              </a:spcAft>
            </a:pPr>
            <a:r>
              <a:rPr sz="14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"</a:t>
            </a:r>
            <a:r>
              <a:rPr sz="14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트리거</a:t>
            </a:r>
            <a:r>
              <a:rPr sz="14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/ AI </a:t>
            </a:r>
            <a:r>
              <a:rPr sz="14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단계</a:t>
            </a:r>
            <a:r>
              <a:rPr sz="14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/ </a:t>
            </a:r>
            <a:r>
              <a:rPr sz="14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사람</a:t>
            </a:r>
            <a:r>
              <a:rPr sz="14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4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검수</a:t>
            </a:r>
            <a:r>
              <a:rPr sz="14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/ </a:t>
            </a:r>
            <a:r>
              <a:rPr sz="14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발행"으로</a:t>
            </a:r>
            <a:r>
              <a:rPr sz="14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4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표를</a:t>
            </a:r>
            <a:r>
              <a:rPr sz="14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4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만들고</a:t>
            </a:r>
            <a:r>
              <a:rPr sz="14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,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200"/>
              </a:spcAft>
            </a:pPr>
            <a:r>
              <a:rPr sz="14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각</a:t>
            </a:r>
            <a:r>
              <a:rPr sz="14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4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단계에</a:t>
            </a:r>
            <a:r>
              <a:rPr sz="14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4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쓸</a:t>
            </a:r>
            <a:r>
              <a:rPr sz="14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4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도구와</a:t>
            </a:r>
            <a:r>
              <a:rPr sz="14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4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예상</a:t>
            </a:r>
            <a:r>
              <a:rPr sz="14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4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소요시간을</a:t>
            </a:r>
            <a:r>
              <a:rPr sz="14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4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적어줘</a:t>
            </a:r>
            <a:r>
              <a:rPr sz="14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.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200"/>
              </a:spcAft>
            </a:pPr>
            <a:r>
              <a:rPr sz="14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업무</a:t>
            </a:r>
            <a:r>
              <a:rPr sz="14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: </a:t>
            </a:r>
            <a:r>
              <a:rPr sz="14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매월</a:t>
            </a:r>
            <a:r>
              <a:rPr sz="14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4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뉴스레터</a:t>
            </a:r>
            <a:r>
              <a:rPr sz="14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소식+신제품</a:t>
            </a:r>
            <a:r>
              <a:rPr sz="14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) </a:t>
            </a:r>
            <a:r>
              <a:rPr sz="14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작성·발송</a:t>
            </a:r>
            <a:endParaRPr sz="1400" dirty="0">
              <a:solidFill>
                <a:srgbClr val="E8EEFA"/>
              </a:solidFill>
              <a:latin typeface="JetBrains Mono"/>
              <a:ea typeface="JetBrains Mono"/>
              <a:cs typeface="JetBrains Mono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143000" y="2103120"/>
            <a:ext cx="109728" cy="10972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B19B3C8C-7296-2B3E-6830-831120CD0F67}"/>
              </a:ext>
            </a:extLst>
          </p:cNvPr>
          <p:cNvGrpSpPr/>
          <p:nvPr/>
        </p:nvGrpSpPr>
        <p:grpSpPr>
          <a:xfrm>
            <a:off x="8399107" y="3846905"/>
            <a:ext cx="2493450" cy="2285159"/>
            <a:chOff x="17449800" y="7213600"/>
            <a:chExt cx="6146800" cy="5486400"/>
          </a:xfrm>
        </p:grpSpPr>
        <p:pic>
          <p:nvPicPr>
            <p:cNvPr id="7" name="Picture 9">
              <a:extLst>
                <a:ext uri="{FF2B5EF4-FFF2-40B4-BE49-F238E27FC236}">
                  <a16:creationId xmlns:a16="http://schemas.microsoft.com/office/drawing/2014/main" id="{4521F12F-A037-C8ED-1A5E-7CED9F7FD3A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653000" y="8851900"/>
              <a:ext cx="1739900" cy="774700"/>
            </a:xfrm>
            <a:prstGeom prst="rect">
              <a:avLst/>
            </a:prstGeom>
          </p:spPr>
        </p:pic>
        <p:sp>
          <p:nvSpPr>
            <p:cNvPr id="8" name="TextBox 10">
              <a:extLst>
                <a:ext uri="{FF2B5EF4-FFF2-40B4-BE49-F238E27FC236}">
                  <a16:creationId xmlns:a16="http://schemas.microsoft.com/office/drawing/2014/main" id="{EF0B5191-274C-AC06-5D52-B926A19CDB9A}"/>
                </a:ext>
              </a:extLst>
            </p:cNvPr>
            <p:cNvSpPr txBox="1"/>
            <p:nvPr/>
          </p:nvSpPr>
          <p:spPr>
            <a:xfrm>
              <a:off x="17449800" y="8991600"/>
              <a:ext cx="1930400" cy="571500"/>
            </a:xfrm>
            <a:prstGeom prst="rect">
              <a:avLst/>
            </a:prstGeom>
          </p:spPr>
          <p:txBody>
            <a:bodyPr lIns="0" tIns="40640" rIns="0" bIns="4064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2400" b="0" i="0" u="none" strike="noStrike" spc="-100" dirty="0">
                  <a:solidFill>
                    <a:srgbClr val="000000"/>
                  </a:solidFill>
                  <a:latin typeface="SB AggroOTF Bold"/>
                  <a:ea typeface="SB AggroOTF Bold"/>
                  <a:cs typeface="SB AggroOTF Bold"/>
                </a:rPr>
                <a:t>oh!</a:t>
              </a:r>
            </a:p>
          </p:txBody>
        </p:sp>
        <p:pic>
          <p:nvPicPr>
            <p:cNvPr id="9" name="Picture 27">
              <a:extLst>
                <a:ext uri="{FF2B5EF4-FFF2-40B4-BE49-F238E27FC236}">
                  <a16:creationId xmlns:a16="http://schemas.microsoft.com/office/drawing/2014/main" id="{24135117-2745-9A01-65CA-75E44745403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834100" y="7213600"/>
              <a:ext cx="4762500" cy="5486400"/>
            </a:xfrm>
            <a:prstGeom prst="rect">
              <a:avLst/>
            </a:prstGeom>
          </p:spPr>
        </p:pic>
      </p:grpSp>
      <p:sp>
        <p:nvSpPr>
          <p:cNvPr id="10" name="PageNumber">
            <a:extLst>
              <a:ext uri="{FF2B5EF4-FFF2-40B4-BE49-F238E27FC236}">
                <a16:creationId xmlns:a16="http://schemas.microsoft.com/office/drawing/2014/main" id="{6456E513-06AD-D54F-98C2-F5EB1D809255}"/>
              </a:ext>
            </a:extLst>
          </p:cNvPr>
          <p:cNvSpPr txBox="1"/>
          <p:nvPr/>
        </p:nvSpPr>
        <p:spPr>
          <a:xfrm>
            <a:off x="9499600" y="6489700"/>
            <a:ext cx="23368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r"/>
            <a:r>
              <a:rPr lang="en-US" altLang="ko-KR" sz="1200">
                <a:solidFill>
                  <a:srgbClr val="576176"/>
                </a:solidFill>
                <a:latin typeface="Pretendard"/>
              </a:rPr>
              <a:t>- 131/144 -</a:t>
            </a:r>
            <a:endParaRPr lang="ko-KR" altLang="en-US" sz="1200">
              <a:solidFill>
                <a:srgbClr val="576176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1431068454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실제 입력 → 출력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실제 예시 — 자동화 워크플로 설계 표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783080"/>
            <a:ext cx="10332720" cy="1874519"/>
          </a:xfrm>
          <a:prstGeom prst="rect">
            <a:avLst/>
          </a:prstGeom>
          <a:solidFill>
            <a:srgbClr val="10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502920" rIns="320040" rtlCol="0" anchor="t"/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100"/>
              </a:spcAft>
            </a:pPr>
            <a:r>
              <a:rPr sz="14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다음</a:t>
            </a:r>
            <a:r>
              <a:rPr sz="14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4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반복</a:t>
            </a:r>
            <a:r>
              <a:rPr sz="14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4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업무를</a:t>
            </a:r>
            <a:r>
              <a:rPr sz="14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4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자동화</a:t>
            </a:r>
            <a:r>
              <a:rPr sz="14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4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워크플로로</a:t>
            </a:r>
            <a:r>
              <a:rPr sz="14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4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설계해줘</a:t>
            </a:r>
            <a:r>
              <a:rPr sz="14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. </a:t>
            </a:r>
            <a:endParaRPr lang="en-US" sz="1400" dirty="0">
              <a:solidFill>
                <a:srgbClr val="E8EEFA"/>
              </a:solidFill>
              <a:latin typeface="JetBrains Mono"/>
              <a:ea typeface="JetBrains Mono"/>
              <a:cs typeface="JetBrains Mono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100"/>
              </a:spcAft>
            </a:pPr>
            <a:r>
              <a:rPr sz="14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"</a:t>
            </a:r>
            <a:r>
              <a:rPr sz="14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트리거</a:t>
            </a:r>
            <a:r>
              <a:rPr sz="14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/AI/</a:t>
            </a:r>
            <a:r>
              <a:rPr sz="14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사람검수</a:t>
            </a:r>
            <a:r>
              <a:rPr sz="14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/</a:t>
            </a:r>
            <a:r>
              <a:rPr sz="14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발행</a:t>
            </a:r>
            <a:r>
              <a:rPr sz="14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" </a:t>
            </a:r>
            <a:r>
              <a:rPr sz="14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표</a:t>
            </a:r>
            <a:r>
              <a:rPr sz="14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+ </a:t>
            </a:r>
            <a:r>
              <a:rPr sz="14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도구·소요시간</a:t>
            </a:r>
            <a:r>
              <a:rPr sz="14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.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100"/>
              </a:spcAft>
            </a:pPr>
            <a:r>
              <a:rPr sz="14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업무</a:t>
            </a:r>
            <a:r>
              <a:rPr sz="14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: </a:t>
            </a:r>
            <a:r>
              <a:rPr sz="14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매주</a:t>
            </a:r>
            <a:r>
              <a:rPr sz="14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4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신제품</a:t>
            </a:r>
            <a:r>
              <a:rPr sz="14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4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인스타</a:t>
            </a:r>
            <a:r>
              <a:rPr sz="14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4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게시글</a:t>
            </a:r>
            <a:r>
              <a:rPr sz="14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+ </a:t>
            </a:r>
            <a:r>
              <a:rPr sz="14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카드뉴스</a:t>
            </a:r>
            <a:r>
              <a:rPr sz="1400"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400"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발행</a:t>
            </a:r>
            <a:endParaRPr sz="1400" dirty="0">
              <a:solidFill>
                <a:srgbClr val="E8EEFA"/>
              </a:solidFill>
              <a:latin typeface="JetBrains Mono"/>
              <a:ea typeface="JetBrains Mono"/>
              <a:cs typeface="JetBrains Mono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14400" y="1783080"/>
            <a:ext cx="2011680" cy="329184"/>
          </a:xfrm>
          <a:prstGeom prst="rect">
            <a:avLst/>
          </a:prstGeom>
          <a:solidFill>
            <a:srgbClr val="243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400"/>
              </a:spcAft>
            </a:pPr>
            <a:r>
              <a:rPr sz="1400" b="0">
                <a:solidFill>
                  <a:srgbClr val="E8A33D"/>
                </a:solidFill>
                <a:latin typeface="JetBrains Mono"/>
                <a:ea typeface="JetBrains Mono"/>
                <a:cs typeface="JetBrains Mono"/>
              </a:rPr>
              <a:t>▸ 입력 프롬프트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794760"/>
            <a:ext cx="10332720" cy="2514600"/>
          </a:xfrm>
          <a:prstGeom prst="rect">
            <a:avLst/>
          </a:prstGeom>
          <a:solidFill>
            <a:srgbClr val="FBFCFE"/>
          </a:solidFill>
          <a:ln w="12700">
            <a:solidFill>
              <a:srgbClr val="E9EC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502920" rIns="320040" rtlCol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endParaRPr sz="1400" dirty="0">
              <a:solidFill>
                <a:srgbClr val="1D4E89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14400" y="3794760"/>
            <a:ext cx="1828800" cy="329184"/>
          </a:xfrm>
          <a:prstGeom prst="rect">
            <a:avLst/>
          </a:prstGeom>
          <a:solidFill>
            <a:srgbClr val="DCE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384048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400"/>
              </a:spcAft>
            </a:pPr>
            <a:r>
              <a:rPr sz="14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▸ 나온 결과(예)</a:t>
            </a: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5AC3E5FD-F014-D643-96C2-C385BF16DC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2855257"/>
              </p:ext>
            </p:extLst>
          </p:nvPr>
        </p:nvGraphicFramePr>
        <p:xfrm>
          <a:off x="1066800" y="4229100"/>
          <a:ext cx="6604000" cy="1460500"/>
        </p:xfrm>
        <a:graphic>
          <a:graphicData uri="http://schemas.openxmlformats.org/drawingml/2006/table">
            <a:tbl>
              <a:tblPr/>
              <a:tblGrid>
                <a:gridCol w="1257300">
                  <a:extLst>
                    <a:ext uri="{9D8B030D-6E8A-4147-A177-3AD203B41FA5}">
                      <a16:colId xmlns:a16="http://schemas.microsoft.com/office/drawing/2014/main" val="597956783"/>
                    </a:ext>
                  </a:extLst>
                </a:gridCol>
                <a:gridCol w="2654943">
                  <a:extLst>
                    <a:ext uri="{9D8B030D-6E8A-4147-A177-3AD203B41FA5}">
                      <a16:colId xmlns:a16="http://schemas.microsoft.com/office/drawing/2014/main" val="315903530"/>
                    </a:ext>
                  </a:extLst>
                </a:gridCol>
                <a:gridCol w="1437833">
                  <a:extLst>
                    <a:ext uri="{9D8B030D-6E8A-4147-A177-3AD203B41FA5}">
                      <a16:colId xmlns:a16="http://schemas.microsoft.com/office/drawing/2014/main" val="4198841022"/>
                    </a:ext>
                  </a:extLst>
                </a:gridCol>
                <a:gridCol w="1253924">
                  <a:extLst>
                    <a:ext uri="{9D8B030D-6E8A-4147-A177-3AD203B41FA5}">
                      <a16:colId xmlns:a16="http://schemas.microsoft.com/office/drawing/2014/main" val="4289602706"/>
                    </a:ext>
                  </a:extLst>
                </a:gridCol>
              </a:tblGrid>
              <a:tr h="2921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1">
                          <a:solidFill>
                            <a:srgbClr val="FFFFFF"/>
                          </a:solidFill>
                          <a:latin typeface="Pretendard"/>
                        </a:rPr>
                        <a:t>단계</a:t>
                      </a:r>
                    </a:p>
                  </a:txBody>
                  <a:tcPr marT="27940" marB="2794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1">
                          <a:solidFill>
                            <a:srgbClr val="FFFFFF"/>
                          </a:solidFill>
                          <a:latin typeface="Pretendard"/>
                        </a:rPr>
                        <a:t>하는 일</a:t>
                      </a:r>
                    </a:p>
                  </a:txBody>
                  <a:tcPr marT="27940" marB="2794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1">
                          <a:solidFill>
                            <a:srgbClr val="FFFFFF"/>
                          </a:solidFill>
                          <a:latin typeface="Pretendard"/>
                        </a:rPr>
                        <a:t>도구</a:t>
                      </a:r>
                    </a:p>
                  </a:txBody>
                  <a:tcPr marT="27940" marB="2794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1">
                          <a:solidFill>
                            <a:srgbClr val="FFFFFF"/>
                          </a:solidFill>
                          <a:latin typeface="Pretendard"/>
                        </a:rPr>
                        <a:t>시간</a:t>
                      </a:r>
                    </a:p>
                  </a:txBody>
                  <a:tcPr marT="27940" marB="2794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421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040992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b="1">
                          <a:solidFill>
                            <a:srgbClr val="14213D"/>
                          </a:solidFill>
                          <a:latin typeface="Pretendard"/>
                        </a:rPr>
                        <a:t>트리거</a:t>
                      </a:r>
                    </a:p>
                  </a:txBody>
                  <a:tcPr marT="27940" marB="2794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b="0">
                          <a:solidFill>
                            <a:srgbClr val="14213D"/>
                          </a:solidFill>
                          <a:latin typeface="Pretendard"/>
                        </a:rPr>
                        <a:t>매주 월 09:00</a:t>
                      </a:r>
                    </a:p>
                  </a:txBody>
                  <a:tcPr marT="27940" marB="2794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b="0">
                          <a:solidFill>
                            <a:srgbClr val="14213D"/>
                          </a:solidFill>
                          <a:latin typeface="Pretendard"/>
                        </a:rPr>
                        <a:t>Make</a:t>
                      </a:r>
                    </a:p>
                  </a:txBody>
                  <a:tcPr marT="27940" marB="2794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b="0">
                          <a:solidFill>
                            <a:srgbClr val="14213D"/>
                          </a:solidFill>
                          <a:latin typeface="Pretendard"/>
                        </a:rPr>
                        <a:t>—</a:t>
                      </a:r>
                    </a:p>
                  </a:txBody>
                  <a:tcPr marT="27940" marB="2794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0593255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b="1">
                          <a:solidFill>
                            <a:srgbClr val="14213D"/>
                          </a:solidFill>
                          <a:latin typeface="Pretendard"/>
                        </a:rPr>
                        <a:t>AI 생성</a:t>
                      </a:r>
                    </a:p>
                  </a:txBody>
                  <a:tcPr marT="27940" marB="2794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b="0" dirty="0" err="1">
                          <a:solidFill>
                            <a:srgbClr val="14213D"/>
                          </a:solidFill>
                          <a:latin typeface="Pretendard"/>
                        </a:rPr>
                        <a:t>게시글+문구</a:t>
                      </a:r>
                      <a:r>
                        <a:rPr lang="ko-KR" altLang="en-US" sz="1300" b="0" dirty="0">
                          <a:solidFill>
                            <a:srgbClr val="14213D"/>
                          </a:solidFill>
                          <a:latin typeface="Pretendard"/>
                        </a:rPr>
                        <a:t> 초안</a:t>
                      </a:r>
                    </a:p>
                  </a:txBody>
                  <a:tcPr marT="27940" marB="2794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b="0">
                          <a:solidFill>
                            <a:srgbClr val="14213D"/>
                          </a:solidFill>
                          <a:latin typeface="Pretendard"/>
                        </a:rPr>
                        <a:t>ChatGPT</a:t>
                      </a:r>
                    </a:p>
                  </a:txBody>
                  <a:tcPr marT="27940" marB="2794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b="0">
                          <a:solidFill>
                            <a:srgbClr val="14213D"/>
                          </a:solidFill>
                          <a:latin typeface="Pretendard"/>
                        </a:rPr>
                        <a:t>2분</a:t>
                      </a:r>
                    </a:p>
                  </a:txBody>
                  <a:tcPr marT="27940" marB="2794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1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3915584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b="1">
                          <a:solidFill>
                            <a:srgbClr val="14213D"/>
                          </a:solidFill>
                          <a:latin typeface="Pretendard"/>
                        </a:rPr>
                        <a:t>사람 검수</a:t>
                      </a:r>
                    </a:p>
                  </a:txBody>
                  <a:tcPr marT="27940" marB="2794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b="0">
                          <a:solidFill>
                            <a:srgbClr val="14213D"/>
                          </a:solidFill>
                          <a:latin typeface="Pretendard"/>
                        </a:rPr>
                        <a:t>사실·톤 확인</a:t>
                      </a:r>
                    </a:p>
                  </a:txBody>
                  <a:tcPr marT="27940" marB="2794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b="0">
                          <a:solidFill>
                            <a:srgbClr val="14213D"/>
                          </a:solidFill>
                          <a:latin typeface="Pretendard"/>
                        </a:rPr>
                        <a:t>담당자</a:t>
                      </a:r>
                    </a:p>
                  </a:txBody>
                  <a:tcPr marT="27940" marB="2794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b="0">
                          <a:solidFill>
                            <a:srgbClr val="14213D"/>
                          </a:solidFill>
                          <a:latin typeface="Pretendard"/>
                        </a:rPr>
                        <a:t>5분</a:t>
                      </a:r>
                    </a:p>
                  </a:txBody>
                  <a:tcPr marT="27940" marB="2794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0057302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b="1">
                          <a:solidFill>
                            <a:srgbClr val="14213D"/>
                          </a:solidFill>
                          <a:latin typeface="Pretendard"/>
                        </a:rPr>
                        <a:t>발행</a:t>
                      </a:r>
                    </a:p>
                  </a:txBody>
                  <a:tcPr marT="27940" marB="2794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b="0">
                          <a:solidFill>
                            <a:srgbClr val="14213D"/>
                          </a:solidFill>
                          <a:latin typeface="Pretendard"/>
                        </a:rPr>
                        <a:t>인스타 예약발행</a:t>
                      </a:r>
                    </a:p>
                  </a:txBody>
                  <a:tcPr marT="27940" marB="2794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b="0">
                          <a:solidFill>
                            <a:srgbClr val="14213D"/>
                          </a:solidFill>
                          <a:latin typeface="Pretendard"/>
                        </a:rPr>
                        <a:t>Make</a:t>
                      </a:r>
                    </a:p>
                  </a:txBody>
                  <a:tcPr marT="27940" marB="2794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b="0" dirty="0">
                          <a:solidFill>
                            <a:srgbClr val="14213D"/>
                          </a:solidFill>
                          <a:latin typeface="Pretendard"/>
                        </a:rPr>
                        <a:t>1분</a:t>
                      </a:r>
                    </a:p>
                  </a:txBody>
                  <a:tcPr marT="27940" marB="2794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1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8653968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8893F396-5471-D24B-BCAD-A581A9BEE7A0}"/>
              </a:ext>
            </a:extLst>
          </p:cNvPr>
          <p:cNvSpPr txBox="1"/>
          <p:nvPr/>
        </p:nvSpPr>
        <p:spPr>
          <a:xfrm>
            <a:off x="1066800" y="5969000"/>
            <a:ext cx="10033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ko-KR" altLang="en-US" sz="1400">
                <a:solidFill>
                  <a:srgbClr val="1D4E89"/>
                </a:solidFill>
                <a:latin typeface="Pretendard"/>
              </a:rPr>
              <a:t>→ 기존 주 </a:t>
            </a:r>
            <a:r>
              <a:rPr lang="en-US" altLang="ko-KR" sz="1400">
                <a:solidFill>
                  <a:srgbClr val="1D4E89"/>
                </a:solidFill>
                <a:latin typeface="Pretendard"/>
              </a:rPr>
              <a:t>3</a:t>
            </a:r>
            <a:r>
              <a:rPr lang="ko-KR" altLang="en-US" sz="1400">
                <a:solidFill>
                  <a:srgbClr val="1D4E89"/>
                </a:solidFill>
                <a:latin typeface="Pretendard"/>
              </a:rPr>
              <a:t>시간 → 약 </a:t>
            </a:r>
            <a:r>
              <a:rPr lang="en-US" altLang="ko-KR" sz="1400">
                <a:solidFill>
                  <a:srgbClr val="1D4E89"/>
                </a:solidFill>
                <a:latin typeface="Pretendard"/>
              </a:rPr>
              <a:t>10</a:t>
            </a:r>
            <a:r>
              <a:rPr lang="ko-KR" altLang="en-US" sz="1400">
                <a:solidFill>
                  <a:srgbClr val="1D4E89"/>
                </a:solidFill>
                <a:latin typeface="Pretendard"/>
              </a:rPr>
              <a:t>분</a:t>
            </a:r>
            <a:r>
              <a:rPr lang="en-US" altLang="ko-KR" sz="1400">
                <a:solidFill>
                  <a:srgbClr val="1D4E89"/>
                </a:solidFill>
                <a:latin typeface="Pretendard"/>
              </a:rPr>
              <a:t>. </a:t>
            </a:r>
            <a:r>
              <a:rPr lang="ko-KR" altLang="en-US" sz="1400">
                <a:solidFill>
                  <a:srgbClr val="1D4E89"/>
                </a:solidFill>
                <a:latin typeface="Pretendard"/>
              </a:rPr>
              <a:t>검수는 사람이 게이트</a:t>
            </a:r>
            <a:r>
              <a:rPr lang="en-US" altLang="ko-KR" sz="1400">
                <a:solidFill>
                  <a:srgbClr val="1D4E89"/>
                </a:solidFill>
                <a:latin typeface="Pretendard"/>
              </a:rPr>
              <a:t>.</a:t>
            </a:r>
            <a:endParaRPr lang="ko-KR" altLang="en-US" sz="1400">
              <a:solidFill>
                <a:srgbClr val="1D4E89"/>
              </a:solidFill>
              <a:latin typeface="Pretendard"/>
            </a:endParaRPr>
          </a:p>
        </p:txBody>
      </p:sp>
      <p:sp>
        <p:nvSpPr>
          <p:cNvPr id="13" name="PageNumber">
            <a:extLst>
              <a:ext uri="{FF2B5EF4-FFF2-40B4-BE49-F238E27FC236}">
                <a16:creationId xmlns:a16="http://schemas.microsoft.com/office/drawing/2014/main" id="{63553FAA-38B1-9D49-B48F-FC48815E45E0}"/>
              </a:ext>
            </a:extLst>
          </p:cNvPr>
          <p:cNvSpPr txBox="1"/>
          <p:nvPr/>
        </p:nvSpPr>
        <p:spPr>
          <a:xfrm>
            <a:off x="9499600" y="6489700"/>
            <a:ext cx="23368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r"/>
            <a:r>
              <a:rPr lang="en-US" altLang="ko-KR" sz="1200">
                <a:solidFill>
                  <a:srgbClr val="576176"/>
                </a:solidFill>
                <a:latin typeface="Pretendard"/>
              </a:rPr>
              <a:t>- 132/144 -</a:t>
            </a:r>
            <a:endParaRPr lang="ko-KR" altLang="en-US" sz="1200">
              <a:solidFill>
                <a:srgbClr val="576176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2815267791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정리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홍보업무 템플릿화와 재사용 전략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920240"/>
            <a:ext cx="10332720" cy="2068576"/>
          </a:xfrm>
          <a:prstGeom prst="rect">
            <a:avLst/>
          </a:prstGeom>
          <a:solidFill>
            <a:srgbClr val="FB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228600" rIns="365760" bIns="182880" rtlCol="0" anchor="t"/>
          <a:lstStyle/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600"/>
              </a:spcAft>
            </a:pPr>
            <a:r>
              <a:rPr sz="1500" b="1">
                <a:solidFill>
                  <a:srgbClr val="B57A1A"/>
                </a:solidFill>
                <a:latin typeface="JetBrains Mono"/>
                <a:ea typeface="JetBrains Mono"/>
                <a:cs typeface="JetBrains Mono"/>
              </a:rPr>
              <a:t>⚠  흔한 실수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1">
                <a:solidFill>
                  <a:srgbClr val="E8A33D"/>
                </a:solidFill>
                <a:latin typeface="Pretendard"/>
                <a:ea typeface="Pretendard"/>
                <a:cs typeface="Pretendard"/>
              </a:rPr>
              <a:t>·  </a:t>
            </a:r>
            <a:r>
              <a:rPr sz="14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검수 단계를 빼고 자동 발행하면 사고 위험 → 사람 게이트 필수.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1">
                <a:solidFill>
                  <a:srgbClr val="E8A33D"/>
                </a:solidFill>
                <a:latin typeface="Pretendard"/>
                <a:ea typeface="Pretendard"/>
                <a:cs typeface="Pretendard"/>
              </a:rPr>
              <a:t>·  </a:t>
            </a:r>
            <a:r>
              <a:rPr sz="14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템플릿을 안 남기면 매번 처음부터 → 라이브러리화가 핵심 자산.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1">
                <a:solidFill>
                  <a:srgbClr val="E8A33D"/>
                </a:solidFill>
                <a:latin typeface="Pretendard"/>
                <a:ea typeface="Pretendard"/>
                <a:cs typeface="Pretendard"/>
              </a:rPr>
              <a:t>·  </a:t>
            </a:r>
            <a:r>
              <a:rPr sz="14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한 번에 전 과정을 자동화하려다 멈춘다 → 한 단계부터 연결한다.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4192016"/>
            <a:ext cx="10332720" cy="1005840"/>
          </a:xfrm>
          <a:prstGeom prst="rect">
            <a:avLst/>
          </a:prstGeom>
          <a:solidFill>
            <a:srgbClr val="DCE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201168" rIns="365760" bIns="182880" rtlCol="0" anchor="t"/>
          <a:lstStyle/>
          <a:p>
            <a:pPr algn="l">
              <a:lnSpc>
                <a:spcPct val="125000"/>
              </a:lnSpc>
              <a:spcBef>
                <a:spcPts val="600"/>
              </a:spcBef>
              <a:spcAft>
                <a:spcPts val="400"/>
              </a:spcAft>
            </a:pPr>
            <a:r>
              <a:rPr sz="1500" b="1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📦  결과물   </a:t>
            </a:r>
            <a:r>
              <a:rPr sz="1600" b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재사용 프롬프트 라이브러리 + 자동화 워크플로 1건.</a:t>
            </a:r>
          </a:p>
        </p:txBody>
      </p:sp>
      <p:sp>
        <p:nvSpPr>
          <p:cNvPr id="6" name="PageNumber">
            <a:extLst>
              <a:ext uri="{FF2B5EF4-FFF2-40B4-BE49-F238E27FC236}">
                <a16:creationId xmlns:a16="http://schemas.microsoft.com/office/drawing/2014/main" id="{F5D0DCE1-F61B-444C-A543-E0E02C981DC2}"/>
              </a:ext>
            </a:extLst>
          </p:cNvPr>
          <p:cNvSpPr txBox="1"/>
          <p:nvPr/>
        </p:nvSpPr>
        <p:spPr>
          <a:xfrm>
            <a:off x="9499600" y="6489700"/>
            <a:ext cx="23368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r"/>
            <a:r>
              <a:rPr lang="en-US" altLang="ko-KR" sz="1200">
                <a:solidFill>
                  <a:srgbClr val="576176"/>
                </a:solidFill>
                <a:latin typeface="Pretendard"/>
              </a:rPr>
              <a:t>- 133/144 -</a:t>
            </a:r>
            <a:endParaRPr lang="ko-KR" altLang="en-US" sz="1200">
              <a:solidFill>
                <a:srgbClr val="576176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340403809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4E8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547559D-284D-1544-9BF8-7DEF16ACB02B}"/>
              </a:ext>
            </a:extLst>
          </p:cNvPr>
          <p:cNvSpPr/>
          <p:nvPr/>
        </p:nvSpPr>
        <p:spPr>
          <a:xfrm>
            <a:off x="914400" y="2362200"/>
            <a:ext cx="431800" cy="76200"/>
          </a:xfrm>
          <a:prstGeom prst="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84E568-FA41-2440-BBD9-E96391151CD9}"/>
              </a:ext>
            </a:extLst>
          </p:cNvPr>
          <p:cNvSpPr txBox="1"/>
          <p:nvPr/>
        </p:nvSpPr>
        <p:spPr>
          <a:xfrm>
            <a:off x="914400" y="2540000"/>
            <a:ext cx="5080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500" b="1">
                <a:solidFill>
                  <a:srgbClr val="E8A33D"/>
                </a:solidFill>
                <a:latin typeface="JetBrains Mono"/>
              </a:rPr>
              <a:t>SESSION 2</a:t>
            </a:r>
            <a:endParaRPr lang="ko-KR" altLang="en-US" sz="1500" b="1">
              <a:solidFill>
                <a:srgbClr val="E8A33D"/>
              </a:solidFill>
              <a:latin typeface="JetBrains Mono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B32A54-C81D-2A4C-9C4D-A6AD0F99A3F4}"/>
              </a:ext>
            </a:extLst>
          </p:cNvPr>
          <p:cNvSpPr txBox="1"/>
          <p:nvPr/>
        </p:nvSpPr>
        <p:spPr>
          <a:xfrm>
            <a:off x="914400" y="2895600"/>
            <a:ext cx="10363200" cy="609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3200" b="1">
                <a:solidFill>
                  <a:srgbClr val="FFFFFF"/>
                </a:solidFill>
                <a:latin typeface="Noto Serif KR"/>
              </a:rPr>
              <a:t>결과물 완성 및 피드백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BDBC18-4B22-6642-A913-97C111E86040}"/>
              </a:ext>
            </a:extLst>
          </p:cNvPr>
          <p:cNvSpPr txBox="1"/>
          <p:nvPr/>
        </p:nvSpPr>
        <p:spPr>
          <a:xfrm>
            <a:off x="914400" y="3657600"/>
            <a:ext cx="10033000" cy="558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600">
                <a:solidFill>
                  <a:srgbClr val="DCE6F2"/>
                </a:solidFill>
                <a:latin typeface="Pretendard"/>
              </a:rPr>
              <a:t>오늘의 결과물을 모아 발표하고</a:t>
            </a:r>
            <a:r>
              <a:rPr lang="en-US" altLang="ko-KR" sz="1600">
                <a:solidFill>
                  <a:srgbClr val="DCE6F2"/>
                </a:solidFill>
                <a:latin typeface="Pretendard"/>
              </a:rPr>
              <a:t>, </a:t>
            </a:r>
            <a:r>
              <a:rPr lang="ko-KR" altLang="en-US" sz="1600">
                <a:solidFill>
                  <a:srgbClr val="DCE6F2"/>
                </a:solidFill>
                <a:latin typeface="Pretendard"/>
              </a:rPr>
              <a:t>현업 적용 계획과 체크리스트로 마무리한다</a:t>
            </a:r>
            <a:r>
              <a:rPr lang="en-US" altLang="ko-KR" sz="1600">
                <a:solidFill>
                  <a:srgbClr val="DCE6F2"/>
                </a:solidFill>
                <a:latin typeface="Pretendard"/>
              </a:rPr>
              <a:t>.</a:t>
            </a:r>
            <a:endParaRPr lang="ko-KR" altLang="en-US" sz="1600">
              <a:solidFill>
                <a:srgbClr val="DCE6F2"/>
              </a:solidFill>
              <a:latin typeface="Pretendard"/>
            </a:endParaRP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E110A149-9F83-1A4D-9356-4B258F32B058}"/>
              </a:ext>
            </a:extLst>
          </p:cNvPr>
          <p:cNvSpPr/>
          <p:nvPr/>
        </p:nvSpPr>
        <p:spPr>
          <a:xfrm>
            <a:off x="914400" y="4521200"/>
            <a:ext cx="2616200" cy="889000"/>
          </a:xfrm>
          <a:prstGeom prst="roundRect">
            <a:avLst>
              <a:gd name="adj" fmla="val 2857"/>
            </a:avLst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ko-KR" altLang="en-US" sz="1600" b="1">
                <a:solidFill>
                  <a:srgbClr val="FFFFFF"/>
                </a:solidFill>
                <a:latin typeface="Pretendard"/>
              </a:rPr>
              <a:t>패키지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277F4B1-7A61-5F40-A79C-AA29F17DF258}"/>
              </a:ext>
            </a:extLst>
          </p:cNvPr>
          <p:cNvSpPr txBox="1"/>
          <p:nvPr/>
        </p:nvSpPr>
        <p:spPr>
          <a:xfrm>
            <a:off x="3530600" y="4521200"/>
            <a:ext cx="558800" cy="889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ko-KR" altLang="en-US" sz="2400" b="1">
                <a:solidFill>
                  <a:srgbClr val="9FB3CE"/>
                </a:solidFill>
                <a:latin typeface="Pretendard"/>
              </a:rPr>
              <a:t>→</a:t>
            </a: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27A0BE8B-EB75-7B47-81E7-9E0C50FBC169}"/>
              </a:ext>
            </a:extLst>
          </p:cNvPr>
          <p:cNvSpPr/>
          <p:nvPr/>
        </p:nvSpPr>
        <p:spPr>
          <a:xfrm>
            <a:off x="4089400" y="4521200"/>
            <a:ext cx="2616200" cy="889000"/>
          </a:xfrm>
          <a:prstGeom prst="roundRect">
            <a:avLst>
              <a:gd name="adj" fmla="val 2857"/>
            </a:avLst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ko-KR" altLang="en-US" sz="1600" b="1">
                <a:solidFill>
                  <a:srgbClr val="FFFFFF"/>
                </a:solidFill>
                <a:latin typeface="Pretendard"/>
              </a:rPr>
              <a:t>발표 </a:t>
            </a:r>
            <a:r>
              <a:rPr lang="en-US" altLang="ko-KR" sz="1600" b="1">
                <a:solidFill>
                  <a:srgbClr val="FFFFFF"/>
                </a:solidFill>
                <a:latin typeface="Pretendard"/>
              </a:rPr>
              <a:t>· </a:t>
            </a:r>
            <a:r>
              <a:rPr lang="ko-KR" altLang="en-US" sz="1600" b="1">
                <a:solidFill>
                  <a:srgbClr val="FFFFFF"/>
                </a:solidFill>
                <a:latin typeface="Pretendard"/>
              </a:rPr>
              <a:t>피드백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74B4991-CA4B-E140-AB1E-02EAF8FA34CA}"/>
              </a:ext>
            </a:extLst>
          </p:cNvPr>
          <p:cNvSpPr txBox="1"/>
          <p:nvPr/>
        </p:nvSpPr>
        <p:spPr>
          <a:xfrm>
            <a:off x="6705600" y="4521200"/>
            <a:ext cx="558800" cy="889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ko-KR" altLang="en-US" sz="2400" b="1">
                <a:solidFill>
                  <a:srgbClr val="9FB3CE"/>
                </a:solidFill>
                <a:latin typeface="Pretendard"/>
              </a:rPr>
              <a:t>→</a:t>
            </a:r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2260A0D4-F1C3-C144-B29A-9CA4C40BC69A}"/>
              </a:ext>
            </a:extLst>
          </p:cNvPr>
          <p:cNvSpPr/>
          <p:nvPr/>
        </p:nvSpPr>
        <p:spPr>
          <a:xfrm>
            <a:off x="7264400" y="4521200"/>
            <a:ext cx="2616200" cy="889000"/>
          </a:xfrm>
          <a:prstGeom prst="roundRect">
            <a:avLst>
              <a:gd name="adj" fmla="val 2857"/>
            </a:avLst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ko-KR" altLang="en-US" sz="1600" b="1">
                <a:solidFill>
                  <a:srgbClr val="14213D"/>
                </a:solidFill>
                <a:latin typeface="Pretendard"/>
              </a:rPr>
              <a:t>적용 계획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066B5E6-C8D2-0A4C-B667-7A76C5AEAD0D}"/>
              </a:ext>
            </a:extLst>
          </p:cNvPr>
          <p:cNvSpPr txBox="1"/>
          <p:nvPr/>
        </p:nvSpPr>
        <p:spPr>
          <a:xfrm>
            <a:off x="914400" y="5740400"/>
            <a:ext cx="10363200" cy="304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400">
                <a:solidFill>
                  <a:srgbClr val="9FB3CE"/>
                </a:solidFill>
                <a:latin typeface="JetBrains Mono"/>
              </a:rPr>
              <a:t>→ 작은 개선 </a:t>
            </a:r>
            <a:r>
              <a:rPr lang="en-US" altLang="ko-KR" sz="1400">
                <a:solidFill>
                  <a:srgbClr val="9FB3CE"/>
                </a:solidFill>
                <a:latin typeface="JetBrains Mono"/>
              </a:rPr>
              <a:t>1</a:t>
            </a:r>
            <a:r>
              <a:rPr lang="ko-KR" altLang="en-US" sz="1400">
                <a:solidFill>
                  <a:srgbClr val="9FB3CE"/>
                </a:solidFill>
                <a:latin typeface="JetBrains Mono"/>
              </a:rPr>
              <a:t>개를 즉시 반영한다</a:t>
            </a:r>
            <a:r>
              <a:rPr lang="en-US" altLang="ko-KR" sz="1400">
                <a:solidFill>
                  <a:srgbClr val="9FB3CE"/>
                </a:solidFill>
                <a:latin typeface="JetBrains Mono"/>
              </a:rPr>
              <a:t>.</a:t>
            </a:r>
            <a:endParaRPr lang="ko-KR" altLang="en-US" sz="1400">
              <a:solidFill>
                <a:srgbClr val="9FB3CE"/>
              </a:solidFill>
              <a:latin typeface="JetBrains Mono"/>
            </a:endParaRPr>
          </a:p>
        </p:txBody>
      </p:sp>
      <p:pic>
        <p:nvPicPr>
          <p:cNvPr id="19" name="Picture 14">
            <a:extLst>
              <a:ext uri="{FF2B5EF4-FFF2-40B4-BE49-F238E27FC236}">
                <a16:creationId xmlns:a16="http://schemas.microsoft.com/office/drawing/2014/main" id="{A8A64779-8736-F6EB-66B6-3DAAEB74F96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8000"/>
          </a:blip>
          <a:stretch>
            <a:fillRect/>
          </a:stretch>
        </p:blipFill>
        <p:spPr>
          <a:xfrm>
            <a:off x="6197602" y="-150908"/>
            <a:ext cx="7002780" cy="4665110"/>
          </a:xfrm>
          <a:prstGeom prst="rect">
            <a:avLst/>
          </a:prstGeom>
        </p:spPr>
      </p:pic>
      <p:sp>
        <p:nvSpPr>
          <p:cNvPr id="20" name="PageNumber">
            <a:extLst>
              <a:ext uri="{FF2B5EF4-FFF2-40B4-BE49-F238E27FC236}">
                <a16:creationId xmlns:a16="http://schemas.microsoft.com/office/drawing/2014/main" id="{24D548F7-DE66-9545-838F-C1C5CBD8CCD8}"/>
              </a:ext>
            </a:extLst>
          </p:cNvPr>
          <p:cNvSpPr txBox="1"/>
          <p:nvPr/>
        </p:nvSpPr>
        <p:spPr>
          <a:xfrm>
            <a:off x="9499600" y="6489700"/>
            <a:ext cx="23368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r"/>
            <a:r>
              <a:rPr lang="en-US" altLang="ko-KR" sz="1200" dirty="0">
                <a:solidFill>
                  <a:schemeClr val="bg1"/>
                </a:solidFill>
                <a:latin typeface="Pretendard"/>
              </a:rPr>
              <a:t>- 134/144 -</a:t>
            </a:r>
            <a:endParaRPr lang="ko-KR" altLang="en-US" sz="1200" dirty="0">
              <a:solidFill>
                <a:schemeClr val="bg1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1308927251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7863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핵심 개념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결과물을 자산으로 잇는 3가지</a:t>
            </a: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76682C1E-5EBD-9B49-8844-E41D4BB5A931}"/>
              </a:ext>
            </a:extLst>
          </p:cNvPr>
          <p:cNvSpPr/>
          <p:nvPr/>
        </p:nvSpPr>
        <p:spPr>
          <a:xfrm>
            <a:off x="825500" y="1905000"/>
            <a:ext cx="3340100" cy="4381500"/>
          </a:xfrm>
          <a:prstGeom prst="roundRect">
            <a:avLst>
              <a:gd name="adj" fmla="val 760"/>
            </a:avLst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F4A8AE3-23DA-2640-A195-A73834B837E2}"/>
              </a:ext>
            </a:extLst>
          </p:cNvPr>
          <p:cNvSpPr/>
          <p:nvPr/>
        </p:nvSpPr>
        <p:spPr>
          <a:xfrm>
            <a:off x="825500" y="1905000"/>
            <a:ext cx="3340100" cy="88900"/>
          </a:xfrm>
          <a:prstGeom prst="rect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7A2B2982-0B68-C540-B413-3ED59BD0DA27}"/>
              </a:ext>
            </a:extLst>
          </p:cNvPr>
          <p:cNvSpPr/>
          <p:nvPr/>
        </p:nvSpPr>
        <p:spPr>
          <a:xfrm>
            <a:off x="1130300" y="2286000"/>
            <a:ext cx="508000" cy="508000"/>
          </a:xfrm>
          <a:prstGeom prst="ellipse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  <a:latin typeface="JetBrains Mono"/>
              </a:rPr>
              <a:t>1</a:t>
            </a:r>
            <a:endParaRPr lang="ko-KR" altLang="en-US" sz="16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65B4A6-1C65-5141-9A66-D65B96D57D46}"/>
              </a:ext>
            </a:extLst>
          </p:cNvPr>
          <p:cNvSpPr txBox="1"/>
          <p:nvPr/>
        </p:nvSpPr>
        <p:spPr>
          <a:xfrm>
            <a:off x="1130300" y="2946400"/>
            <a:ext cx="2730500" cy="584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600" b="1">
                <a:solidFill>
                  <a:srgbClr val="14213D"/>
                </a:solidFill>
                <a:latin typeface="Pretendard"/>
              </a:rPr>
              <a:t>결과물 패키지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6D2BA68-EDE0-8846-9825-98953DDF0072}"/>
              </a:ext>
            </a:extLst>
          </p:cNvPr>
          <p:cNvSpPr/>
          <p:nvPr/>
        </p:nvSpPr>
        <p:spPr>
          <a:xfrm>
            <a:off x="1130300" y="3632200"/>
            <a:ext cx="2730500" cy="12700"/>
          </a:xfrm>
          <a:prstGeom prst="rect">
            <a:avLst/>
          </a:prstGeom>
          <a:solidFill>
            <a:srgbClr val="D9E2E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0E37DCA-564F-7F40-B3F4-E6B7FE36DAC4}"/>
              </a:ext>
            </a:extLst>
          </p:cNvPr>
          <p:cNvSpPr txBox="1"/>
          <p:nvPr/>
        </p:nvSpPr>
        <p:spPr>
          <a:xfrm>
            <a:off x="1130300" y="3784600"/>
            <a:ext cx="2730500" cy="1625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altLang="ko-KR" sz="1400" dirty="0">
                <a:solidFill>
                  <a:srgbClr val="576176"/>
                </a:solidFill>
                <a:latin typeface="Pretendard"/>
              </a:rPr>
              <a:t>M2~M6 </a:t>
            </a:r>
            <a:r>
              <a:rPr lang="ko-KR" altLang="en-US" sz="1400" dirty="0">
                <a:solidFill>
                  <a:srgbClr val="576176"/>
                </a:solidFill>
                <a:latin typeface="Pretendard"/>
              </a:rPr>
              <a:t>산출물을 </a:t>
            </a:r>
            <a:endParaRPr lang="en-US" altLang="ko-KR" sz="1400" dirty="0">
              <a:solidFill>
                <a:srgbClr val="576176"/>
              </a:solidFill>
              <a:latin typeface="Pretendard"/>
            </a:endParaRPr>
          </a:p>
          <a:p>
            <a:pPr algn="l">
              <a:lnSpc>
                <a:spcPct val="150000"/>
              </a:lnSpc>
            </a:pPr>
            <a:r>
              <a:rPr lang="ko-KR" altLang="en-US" sz="1400" dirty="0">
                <a:solidFill>
                  <a:srgbClr val="576176"/>
                </a:solidFill>
                <a:latin typeface="Pretendard"/>
              </a:rPr>
              <a:t>한 폴더</a:t>
            </a:r>
            <a:r>
              <a:rPr lang="en-US" altLang="ko-KR" sz="1400" dirty="0">
                <a:solidFill>
                  <a:srgbClr val="576176"/>
                </a:solidFill>
                <a:latin typeface="Pretendard"/>
              </a:rPr>
              <a:t>/</a:t>
            </a:r>
            <a:r>
              <a:rPr lang="ko-KR" altLang="en-US" sz="1400" dirty="0">
                <a:solidFill>
                  <a:srgbClr val="576176"/>
                </a:solidFill>
                <a:latin typeface="Pretendard"/>
              </a:rPr>
              <a:t>문서로 묶어 포트폴리오로 만든다</a:t>
            </a:r>
            <a:r>
              <a:rPr lang="en-US" altLang="ko-KR" sz="1400" dirty="0">
                <a:solidFill>
                  <a:srgbClr val="576176"/>
                </a:solidFill>
                <a:latin typeface="Pretendard"/>
              </a:rPr>
              <a:t>.</a:t>
            </a:r>
            <a:endParaRPr lang="ko-KR" altLang="en-US" sz="1400" dirty="0">
              <a:solidFill>
                <a:srgbClr val="576176"/>
              </a:solidFill>
              <a:latin typeface="Pretendard"/>
            </a:endParaRP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7851BB65-E1C7-914D-BC22-FD1FEA24D36D}"/>
              </a:ext>
            </a:extLst>
          </p:cNvPr>
          <p:cNvSpPr/>
          <p:nvPr/>
        </p:nvSpPr>
        <p:spPr>
          <a:xfrm>
            <a:off x="1130300" y="5562600"/>
            <a:ext cx="2730500" cy="457200"/>
          </a:xfrm>
          <a:prstGeom prst="roundRect">
            <a:avLst>
              <a:gd name="adj" fmla="val 5556"/>
            </a:avLst>
          </a:prstGeom>
          <a:solidFill>
            <a:srgbClr val="E7ECF4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1831F51-5DE6-1247-A9E3-DF443EE47D96}"/>
              </a:ext>
            </a:extLst>
          </p:cNvPr>
          <p:cNvSpPr txBox="1"/>
          <p:nvPr/>
        </p:nvSpPr>
        <p:spPr>
          <a:xfrm>
            <a:off x="1130300" y="5562600"/>
            <a:ext cx="2730500" cy="457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ctr"/>
            <a:r>
              <a:rPr lang="ko-KR" altLang="en-US" sz="1400" b="1">
                <a:solidFill>
                  <a:srgbClr val="14213D"/>
                </a:solidFill>
                <a:latin typeface="Pretendard"/>
              </a:rPr>
              <a:t>한 곳에 묶기</a:t>
            </a: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D482AE1A-1C41-E44B-8FF2-5B751AF1B683}"/>
              </a:ext>
            </a:extLst>
          </p:cNvPr>
          <p:cNvSpPr/>
          <p:nvPr/>
        </p:nvSpPr>
        <p:spPr>
          <a:xfrm>
            <a:off x="4419600" y="1905000"/>
            <a:ext cx="3340100" cy="4381500"/>
          </a:xfrm>
          <a:prstGeom prst="roundRect">
            <a:avLst>
              <a:gd name="adj" fmla="val 760"/>
            </a:avLst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9F6E468-EE52-7F45-BF27-292AB4504FCD}"/>
              </a:ext>
            </a:extLst>
          </p:cNvPr>
          <p:cNvSpPr/>
          <p:nvPr/>
        </p:nvSpPr>
        <p:spPr>
          <a:xfrm>
            <a:off x="4419600" y="1905000"/>
            <a:ext cx="3340100" cy="88900"/>
          </a:xfrm>
          <a:prstGeom prst="rect">
            <a:avLst/>
          </a:prstGeom>
          <a:solidFill>
            <a:srgbClr val="1D4E89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0FA79C33-5AEF-4549-82E2-2A0699B53507}"/>
              </a:ext>
            </a:extLst>
          </p:cNvPr>
          <p:cNvSpPr/>
          <p:nvPr/>
        </p:nvSpPr>
        <p:spPr>
          <a:xfrm>
            <a:off x="4724400" y="2286000"/>
            <a:ext cx="508000" cy="508000"/>
          </a:xfrm>
          <a:prstGeom prst="ellipse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  <a:latin typeface="JetBrains Mono"/>
              </a:rPr>
              <a:t>2</a:t>
            </a:r>
            <a:endParaRPr lang="ko-KR" altLang="en-US" sz="16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539449B-5E1A-9545-ACD4-CF1EA252E303}"/>
              </a:ext>
            </a:extLst>
          </p:cNvPr>
          <p:cNvSpPr txBox="1"/>
          <p:nvPr/>
        </p:nvSpPr>
        <p:spPr>
          <a:xfrm>
            <a:off x="4724400" y="2946400"/>
            <a:ext cx="2730500" cy="584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600" b="1">
                <a:solidFill>
                  <a:srgbClr val="14213D"/>
                </a:solidFill>
                <a:latin typeface="Pretendard"/>
              </a:rPr>
              <a:t>피드백 루프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52CBF15-DB23-A94D-B326-CA047C070463}"/>
              </a:ext>
            </a:extLst>
          </p:cNvPr>
          <p:cNvSpPr/>
          <p:nvPr/>
        </p:nvSpPr>
        <p:spPr>
          <a:xfrm>
            <a:off x="4724400" y="3632200"/>
            <a:ext cx="2730500" cy="12700"/>
          </a:xfrm>
          <a:prstGeom prst="rect">
            <a:avLst/>
          </a:prstGeom>
          <a:solidFill>
            <a:srgbClr val="D9E2E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D62B2F6-F520-574A-B2F1-57C8659DD350}"/>
              </a:ext>
            </a:extLst>
          </p:cNvPr>
          <p:cNvSpPr txBox="1"/>
          <p:nvPr/>
        </p:nvSpPr>
        <p:spPr>
          <a:xfrm>
            <a:off x="4724400" y="3784600"/>
            <a:ext cx="2730500" cy="1625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400" dirty="0">
                <a:solidFill>
                  <a:srgbClr val="576176"/>
                </a:solidFill>
                <a:latin typeface="Pretendard"/>
              </a:rPr>
              <a:t>발표 → 피드백 </a:t>
            </a:r>
            <a:endParaRPr lang="en-US" altLang="ko-KR" sz="1400" dirty="0">
              <a:solidFill>
                <a:srgbClr val="576176"/>
              </a:solidFill>
              <a:latin typeface="Pretendard"/>
            </a:endParaRPr>
          </a:p>
          <a:p>
            <a:pPr algn="l">
              <a:lnSpc>
                <a:spcPct val="150000"/>
              </a:lnSpc>
            </a:pPr>
            <a:r>
              <a:rPr lang="ko-KR" altLang="en-US" sz="1400" dirty="0">
                <a:solidFill>
                  <a:srgbClr val="576176"/>
                </a:solidFill>
                <a:latin typeface="Pretendard"/>
              </a:rPr>
              <a:t>→ 개선점 </a:t>
            </a:r>
            <a:r>
              <a:rPr lang="en-US" altLang="ko-KR" sz="1400" dirty="0">
                <a:solidFill>
                  <a:srgbClr val="576176"/>
                </a:solidFill>
                <a:latin typeface="Pretendard"/>
              </a:rPr>
              <a:t>1</a:t>
            </a:r>
            <a:r>
              <a:rPr lang="ko-KR" altLang="en-US" sz="1400" dirty="0">
                <a:solidFill>
                  <a:srgbClr val="576176"/>
                </a:solidFill>
                <a:latin typeface="Pretendard"/>
              </a:rPr>
              <a:t>개 도출</a:t>
            </a:r>
            <a:r>
              <a:rPr lang="en-US" altLang="ko-KR" sz="1400" dirty="0">
                <a:solidFill>
                  <a:srgbClr val="576176"/>
                </a:solidFill>
                <a:latin typeface="Pretendard"/>
              </a:rPr>
              <a:t>. </a:t>
            </a:r>
          </a:p>
          <a:p>
            <a:pPr algn="l">
              <a:lnSpc>
                <a:spcPct val="150000"/>
              </a:lnSpc>
            </a:pPr>
            <a:endParaRPr lang="en-US" altLang="ko-KR" sz="1400" dirty="0">
              <a:solidFill>
                <a:srgbClr val="576176"/>
              </a:solidFill>
              <a:latin typeface="Pretendard"/>
            </a:endParaRPr>
          </a:p>
          <a:p>
            <a:pPr algn="l">
              <a:lnSpc>
                <a:spcPct val="150000"/>
              </a:lnSpc>
            </a:pPr>
            <a:r>
              <a:rPr lang="ko-KR" altLang="en-US" sz="1400" dirty="0">
                <a:solidFill>
                  <a:srgbClr val="576176"/>
                </a:solidFill>
                <a:latin typeface="Pretendard"/>
              </a:rPr>
              <a:t>작은 개선을 즉시 반영한다</a:t>
            </a:r>
            <a:r>
              <a:rPr lang="en-US" altLang="ko-KR" sz="1400" dirty="0">
                <a:solidFill>
                  <a:srgbClr val="576176"/>
                </a:solidFill>
                <a:latin typeface="Pretendard"/>
              </a:rPr>
              <a:t>.</a:t>
            </a:r>
            <a:endParaRPr lang="ko-KR" altLang="en-US" sz="1400" dirty="0">
              <a:solidFill>
                <a:srgbClr val="576176"/>
              </a:solidFill>
              <a:latin typeface="Pretendard"/>
            </a:endParaRP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8E9793F8-CAE4-DA47-8FDB-D2518B5263AC}"/>
              </a:ext>
            </a:extLst>
          </p:cNvPr>
          <p:cNvSpPr/>
          <p:nvPr/>
        </p:nvSpPr>
        <p:spPr>
          <a:xfrm>
            <a:off x="4724400" y="5562600"/>
            <a:ext cx="2730500" cy="457200"/>
          </a:xfrm>
          <a:prstGeom prst="roundRect">
            <a:avLst>
              <a:gd name="adj" fmla="val 5556"/>
            </a:avLst>
          </a:prstGeom>
          <a:solidFill>
            <a:srgbClr val="E4ECF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44D0B2C-96C7-7D4E-83A6-DA524CE0F907}"/>
              </a:ext>
            </a:extLst>
          </p:cNvPr>
          <p:cNvSpPr txBox="1"/>
          <p:nvPr/>
        </p:nvSpPr>
        <p:spPr>
          <a:xfrm>
            <a:off x="4724400" y="5562600"/>
            <a:ext cx="2730500" cy="457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ctr"/>
            <a:r>
              <a:rPr lang="en-US" altLang="ko-KR" sz="1400" b="1">
                <a:solidFill>
                  <a:srgbClr val="1D4E89"/>
                </a:solidFill>
                <a:latin typeface="Pretendard"/>
              </a:rPr>
              <a:t>1</a:t>
            </a:r>
            <a:r>
              <a:rPr lang="ko-KR" altLang="en-US" sz="1400" b="1">
                <a:solidFill>
                  <a:srgbClr val="1D4E89"/>
                </a:solidFill>
                <a:latin typeface="Pretendard"/>
              </a:rPr>
              <a:t>개 즉시 반영</a:t>
            </a:r>
          </a:p>
        </p:txBody>
      </p:sp>
      <p:sp>
        <p:nvSpPr>
          <p:cNvPr id="21" name="모서리가 둥근 직사각형 20">
            <a:extLst>
              <a:ext uri="{FF2B5EF4-FFF2-40B4-BE49-F238E27FC236}">
                <a16:creationId xmlns:a16="http://schemas.microsoft.com/office/drawing/2014/main" id="{E25317A9-27F3-8143-8B32-945EDB28E6C4}"/>
              </a:ext>
            </a:extLst>
          </p:cNvPr>
          <p:cNvSpPr/>
          <p:nvPr/>
        </p:nvSpPr>
        <p:spPr>
          <a:xfrm>
            <a:off x="8013700" y="1905000"/>
            <a:ext cx="3340100" cy="4381500"/>
          </a:xfrm>
          <a:prstGeom prst="roundRect">
            <a:avLst>
              <a:gd name="adj" fmla="val 760"/>
            </a:avLst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91146CA-AA2D-F548-AA3A-B432A45DE0EF}"/>
              </a:ext>
            </a:extLst>
          </p:cNvPr>
          <p:cNvSpPr/>
          <p:nvPr/>
        </p:nvSpPr>
        <p:spPr>
          <a:xfrm>
            <a:off x="8013700" y="1905000"/>
            <a:ext cx="3340100" cy="88900"/>
          </a:xfrm>
          <a:prstGeom prst="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0B5AFA45-12F2-FC45-AB22-DEFE470DB54E}"/>
              </a:ext>
            </a:extLst>
          </p:cNvPr>
          <p:cNvSpPr/>
          <p:nvPr/>
        </p:nvSpPr>
        <p:spPr>
          <a:xfrm>
            <a:off x="8318500" y="2286000"/>
            <a:ext cx="508000" cy="508000"/>
          </a:xfrm>
          <a:prstGeom prst="ellipse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  <a:latin typeface="JetBrains Mono"/>
              </a:rPr>
              <a:t>3</a:t>
            </a:r>
            <a:endParaRPr lang="ko-KR" altLang="en-US" sz="16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2E4361B-F0D8-C443-832C-3890E1746BA3}"/>
              </a:ext>
            </a:extLst>
          </p:cNvPr>
          <p:cNvSpPr txBox="1"/>
          <p:nvPr/>
        </p:nvSpPr>
        <p:spPr>
          <a:xfrm>
            <a:off x="8318500" y="2946400"/>
            <a:ext cx="2730500" cy="584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600" b="1">
                <a:solidFill>
                  <a:srgbClr val="14213D"/>
                </a:solidFill>
                <a:latin typeface="Pretendard"/>
              </a:rPr>
              <a:t>실무 적용 체크리스트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8D9F87A3-435F-1047-943C-44D5388B195A}"/>
              </a:ext>
            </a:extLst>
          </p:cNvPr>
          <p:cNvSpPr/>
          <p:nvPr/>
        </p:nvSpPr>
        <p:spPr>
          <a:xfrm>
            <a:off x="8318500" y="3632200"/>
            <a:ext cx="2730500" cy="12700"/>
          </a:xfrm>
          <a:prstGeom prst="rect">
            <a:avLst/>
          </a:prstGeom>
          <a:solidFill>
            <a:srgbClr val="D9E2E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EA73002-0F04-1546-B3B6-25A2255FC12A}"/>
              </a:ext>
            </a:extLst>
          </p:cNvPr>
          <p:cNvSpPr txBox="1"/>
          <p:nvPr/>
        </p:nvSpPr>
        <p:spPr>
          <a:xfrm>
            <a:off x="8318500" y="3784600"/>
            <a:ext cx="2730500" cy="1625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400" dirty="0">
                <a:solidFill>
                  <a:srgbClr val="576176"/>
                </a:solidFill>
                <a:latin typeface="Pretendard"/>
              </a:rPr>
              <a:t>내일부터 쓸 </a:t>
            </a:r>
            <a:r>
              <a:rPr lang="en-US" altLang="ko-KR" sz="1400" dirty="0">
                <a:solidFill>
                  <a:srgbClr val="576176"/>
                </a:solidFill>
                <a:latin typeface="Pretendard"/>
              </a:rPr>
              <a:t>1</a:t>
            </a:r>
            <a:r>
              <a:rPr lang="ko-KR" altLang="en-US" sz="1400" dirty="0">
                <a:solidFill>
                  <a:srgbClr val="576176"/>
                </a:solidFill>
                <a:latin typeface="Pretendard"/>
              </a:rPr>
              <a:t>가지를 </a:t>
            </a:r>
            <a:endParaRPr lang="en-US" altLang="ko-KR" sz="1400" dirty="0">
              <a:solidFill>
                <a:srgbClr val="576176"/>
              </a:solidFill>
              <a:latin typeface="Pretendard"/>
            </a:endParaRPr>
          </a:p>
          <a:p>
            <a:pPr algn="l">
              <a:lnSpc>
                <a:spcPct val="150000"/>
              </a:lnSpc>
            </a:pPr>
            <a:r>
              <a:rPr lang="ko-KR" altLang="en-US" sz="1400" dirty="0">
                <a:solidFill>
                  <a:srgbClr val="576176"/>
                </a:solidFill>
                <a:latin typeface="Pretendard"/>
              </a:rPr>
              <a:t>구체적 행동으로 적는다</a:t>
            </a:r>
            <a:r>
              <a:rPr lang="en-US" altLang="ko-KR" sz="1400" dirty="0">
                <a:solidFill>
                  <a:srgbClr val="576176"/>
                </a:solidFill>
                <a:latin typeface="Pretendard"/>
              </a:rPr>
              <a:t>.</a:t>
            </a:r>
            <a:endParaRPr lang="ko-KR" altLang="en-US" sz="1400" dirty="0">
              <a:solidFill>
                <a:srgbClr val="576176"/>
              </a:solidFill>
              <a:latin typeface="Pretendard"/>
            </a:endParaRPr>
          </a:p>
        </p:txBody>
      </p:sp>
      <p:sp>
        <p:nvSpPr>
          <p:cNvPr id="27" name="모서리가 둥근 직사각형 26">
            <a:extLst>
              <a:ext uri="{FF2B5EF4-FFF2-40B4-BE49-F238E27FC236}">
                <a16:creationId xmlns:a16="http://schemas.microsoft.com/office/drawing/2014/main" id="{E1C23763-921B-B746-A523-352045807E92}"/>
              </a:ext>
            </a:extLst>
          </p:cNvPr>
          <p:cNvSpPr/>
          <p:nvPr/>
        </p:nvSpPr>
        <p:spPr>
          <a:xfrm>
            <a:off x="8318500" y="5562600"/>
            <a:ext cx="2730500" cy="457200"/>
          </a:xfrm>
          <a:prstGeom prst="roundRect">
            <a:avLst>
              <a:gd name="adj" fmla="val 5556"/>
            </a:avLst>
          </a:prstGeom>
          <a:solidFill>
            <a:srgbClr val="FBEF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A617370-19A0-4B49-B379-3FE329608BB0}"/>
              </a:ext>
            </a:extLst>
          </p:cNvPr>
          <p:cNvSpPr txBox="1"/>
          <p:nvPr/>
        </p:nvSpPr>
        <p:spPr>
          <a:xfrm>
            <a:off x="8318500" y="5562600"/>
            <a:ext cx="2730500" cy="457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ctr"/>
            <a:r>
              <a:rPr lang="ko-KR" altLang="en-US" sz="1400" b="1">
                <a:solidFill>
                  <a:srgbClr val="9A6B12"/>
                </a:solidFill>
                <a:latin typeface="Pretendard"/>
              </a:rPr>
              <a:t>행동으로 적기</a:t>
            </a:r>
          </a:p>
        </p:txBody>
      </p:sp>
      <p:sp>
        <p:nvSpPr>
          <p:cNvPr id="4" name="PageNumber">
            <a:extLst>
              <a:ext uri="{FF2B5EF4-FFF2-40B4-BE49-F238E27FC236}">
                <a16:creationId xmlns:a16="http://schemas.microsoft.com/office/drawing/2014/main" id="{8BA4CF56-0C18-7B46-8EF1-3378DD8A475F}"/>
              </a:ext>
            </a:extLst>
          </p:cNvPr>
          <p:cNvSpPr txBox="1"/>
          <p:nvPr/>
        </p:nvSpPr>
        <p:spPr>
          <a:xfrm>
            <a:off x="9499600" y="6489700"/>
            <a:ext cx="23368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r"/>
            <a:r>
              <a:rPr lang="en-US" altLang="ko-KR" sz="1200">
                <a:solidFill>
                  <a:srgbClr val="576176"/>
                </a:solidFill>
                <a:latin typeface="Pretendard"/>
              </a:rPr>
              <a:t>- 135/144 -</a:t>
            </a:r>
            <a:endParaRPr lang="ko-KR" altLang="en-US" sz="1200">
              <a:solidFill>
                <a:srgbClr val="576176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1377513110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개념 깊이 보기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개념을 예시로 — 우리 케이스에 적용하면</a:t>
            </a: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ED3D64B1-4B6C-DB4D-8B4E-DC52810A7F68}"/>
              </a:ext>
            </a:extLst>
          </p:cNvPr>
          <p:cNvSpPr/>
          <p:nvPr/>
        </p:nvSpPr>
        <p:spPr>
          <a:xfrm>
            <a:off x="825500" y="1905000"/>
            <a:ext cx="5461000" cy="4381500"/>
          </a:xfrm>
          <a:prstGeom prst="roundRect">
            <a:avLst>
              <a:gd name="adj" fmla="val 580"/>
            </a:avLst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270557-4ED7-2B48-9EE7-67D5677F4BBE}"/>
              </a:ext>
            </a:extLst>
          </p:cNvPr>
          <p:cNvSpPr txBox="1"/>
          <p:nvPr/>
        </p:nvSpPr>
        <p:spPr>
          <a:xfrm>
            <a:off x="1181100" y="2159000"/>
            <a:ext cx="4749800" cy="355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b="1">
                <a:solidFill>
                  <a:srgbClr val="14213D"/>
                </a:solidFill>
                <a:latin typeface="Pretendard"/>
              </a:rPr>
              <a:t>결과물 패키지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253762-D76A-EE48-9FD2-D79A094B637B}"/>
              </a:ext>
            </a:extLst>
          </p:cNvPr>
          <p:cNvSpPr txBox="1"/>
          <p:nvPr/>
        </p:nvSpPr>
        <p:spPr>
          <a:xfrm>
            <a:off x="1181100" y="2540000"/>
            <a:ext cx="47498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400">
                <a:solidFill>
                  <a:srgbClr val="576176"/>
                </a:solidFill>
                <a:latin typeface="Pretendard"/>
              </a:rPr>
              <a:t>M2~M6 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산출물을 한 곳에</a:t>
            </a: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E5229753-7FB5-CF43-825D-9E8D3FE9CD88}"/>
              </a:ext>
            </a:extLst>
          </p:cNvPr>
          <p:cNvSpPr/>
          <p:nvPr/>
        </p:nvSpPr>
        <p:spPr>
          <a:xfrm>
            <a:off x="1181100" y="2921000"/>
            <a:ext cx="660400" cy="355600"/>
          </a:xfrm>
          <a:prstGeom prst="roundRect">
            <a:avLst>
              <a:gd name="adj" fmla="val 7143"/>
            </a:avLst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ko-KR" sz="1400" b="1">
                <a:solidFill>
                  <a:srgbClr val="FFFFFF"/>
                </a:solidFill>
                <a:latin typeface="JetBrains Mono"/>
              </a:rPr>
              <a:t>M2</a:t>
            </a:r>
            <a:endParaRPr lang="ko-KR" altLang="en-US" sz="14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CF7DD3C-A078-414D-826B-0DB6969CDCA2}"/>
              </a:ext>
            </a:extLst>
          </p:cNvPr>
          <p:cNvSpPr txBox="1"/>
          <p:nvPr/>
        </p:nvSpPr>
        <p:spPr>
          <a:xfrm>
            <a:off x="1993900" y="2921000"/>
            <a:ext cx="38100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400">
                <a:solidFill>
                  <a:srgbClr val="14213D"/>
                </a:solidFill>
                <a:latin typeface="Pretendard"/>
              </a:rPr>
              <a:t>메시지 하우스</a:t>
            </a: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5EEF59FB-58EC-7549-AC91-761B69A19C68}"/>
              </a:ext>
            </a:extLst>
          </p:cNvPr>
          <p:cNvSpPr/>
          <p:nvPr/>
        </p:nvSpPr>
        <p:spPr>
          <a:xfrm>
            <a:off x="1181100" y="3327400"/>
            <a:ext cx="660400" cy="355600"/>
          </a:xfrm>
          <a:prstGeom prst="roundRect">
            <a:avLst>
              <a:gd name="adj" fmla="val 7143"/>
            </a:avLst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ko-KR" sz="1400" b="1">
                <a:solidFill>
                  <a:srgbClr val="FFFFFF"/>
                </a:solidFill>
                <a:latin typeface="JetBrains Mono"/>
              </a:rPr>
              <a:t>M3</a:t>
            </a:r>
            <a:endParaRPr lang="ko-KR" altLang="en-US" sz="14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91F5D06-160F-3341-8CD6-C512C4FF98CE}"/>
              </a:ext>
            </a:extLst>
          </p:cNvPr>
          <p:cNvSpPr txBox="1"/>
          <p:nvPr/>
        </p:nvSpPr>
        <p:spPr>
          <a:xfrm>
            <a:off x="1993900" y="3327400"/>
            <a:ext cx="38100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400">
                <a:solidFill>
                  <a:srgbClr val="14213D"/>
                </a:solidFill>
                <a:latin typeface="Pretendard"/>
              </a:rPr>
              <a:t>홍보 콘텐츠</a:t>
            </a:r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74148FA9-1AC2-0345-8E18-CCB3CAC88E13}"/>
              </a:ext>
            </a:extLst>
          </p:cNvPr>
          <p:cNvSpPr/>
          <p:nvPr/>
        </p:nvSpPr>
        <p:spPr>
          <a:xfrm>
            <a:off x="1181100" y="3733800"/>
            <a:ext cx="660400" cy="355600"/>
          </a:xfrm>
          <a:prstGeom prst="roundRect">
            <a:avLst>
              <a:gd name="adj" fmla="val 7143"/>
            </a:avLst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ko-KR" sz="1400" b="1">
                <a:solidFill>
                  <a:srgbClr val="FFFFFF"/>
                </a:solidFill>
                <a:latin typeface="JetBrains Mono"/>
              </a:rPr>
              <a:t>M4</a:t>
            </a:r>
            <a:endParaRPr lang="ko-KR" altLang="en-US" sz="14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460D877-34F4-8A4F-A779-29E0679104AD}"/>
              </a:ext>
            </a:extLst>
          </p:cNvPr>
          <p:cNvSpPr txBox="1"/>
          <p:nvPr/>
        </p:nvSpPr>
        <p:spPr>
          <a:xfrm>
            <a:off x="1993900" y="3733800"/>
            <a:ext cx="38100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400">
                <a:solidFill>
                  <a:srgbClr val="14213D"/>
                </a:solidFill>
                <a:latin typeface="Pretendard"/>
              </a:rPr>
              <a:t>카드뉴스</a:t>
            </a:r>
          </a:p>
        </p:txBody>
      </p:sp>
      <p:sp>
        <p:nvSpPr>
          <p:cNvPr id="14" name="모서리가 둥근 직사각형 13">
            <a:extLst>
              <a:ext uri="{FF2B5EF4-FFF2-40B4-BE49-F238E27FC236}">
                <a16:creationId xmlns:a16="http://schemas.microsoft.com/office/drawing/2014/main" id="{3D5E9EC8-FC0C-9243-A03B-1280CF5B5759}"/>
              </a:ext>
            </a:extLst>
          </p:cNvPr>
          <p:cNvSpPr/>
          <p:nvPr/>
        </p:nvSpPr>
        <p:spPr>
          <a:xfrm>
            <a:off x="1181100" y="4140200"/>
            <a:ext cx="660400" cy="355600"/>
          </a:xfrm>
          <a:prstGeom prst="roundRect">
            <a:avLst>
              <a:gd name="adj" fmla="val 7143"/>
            </a:avLst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ko-KR" sz="1400" b="1">
                <a:solidFill>
                  <a:srgbClr val="FFFFFF"/>
                </a:solidFill>
                <a:latin typeface="JetBrains Mono"/>
              </a:rPr>
              <a:t>M5</a:t>
            </a:r>
            <a:endParaRPr lang="ko-KR" altLang="en-US" sz="14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92C0E69-8675-D443-8274-54ABAF32250C}"/>
              </a:ext>
            </a:extLst>
          </p:cNvPr>
          <p:cNvSpPr txBox="1"/>
          <p:nvPr/>
        </p:nvSpPr>
        <p:spPr>
          <a:xfrm>
            <a:off x="1993900" y="4140200"/>
            <a:ext cx="38100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altLang="ko-KR" sz="1400">
                <a:solidFill>
                  <a:srgbClr val="14213D"/>
                </a:solidFill>
                <a:latin typeface="Pretendard"/>
              </a:rPr>
              <a:t>UI </a:t>
            </a:r>
            <a:r>
              <a:rPr lang="ko-KR" altLang="en-US" sz="1400">
                <a:solidFill>
                  <a:srgbClr val="14213D"/>
                </a:solidFill>
                <a:latin typeface="Pretendard"/>
              </a:rPr>
              <a:t>시안</a:t>
            </a:r>
          </a:p>
        </p:txBody>
      </p:sp>
      <p:sp>
        <p:nvSpPr>
          <p:cNvPr id="16" name="모서리가 둥근 직사각형 15">
            <a:extLst>
              <a:ext uri="{FF2B5EF4-FFF2-40B4-BE49-F238E27FC236}">
                <a16:creationId xmlns:a16="http://schemas.microsoft.com/office/drawing/2014/main" id="{B885ADA7-4E07-6241-B710-803F39C3118A}"/>
              </a:ext>
            </a:extLst>
          </p:cNvPr>
          <p:cNvSpPr/>
          <p:nvPr/>
        </p:nvSpPr>
        <p:spPr>
          <a:xfrm>
            <a:off x="1181100" y="4546600"/>
            <a:ext cx="660400" cy="355600"/>
          </a:xfrm>
          <a:prstGeom prst="roundRect">
            <a:avLst>
              <a:gd name="adj" fmla="val 7143"/>
            </a:avLst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ko-KR" sz="1400" b="1">
                <a:solidFill>
                  <a:srgbClr val="FFFFFF"/>
                </a:solidFill>
                <a:latin typeface="JetBrains Mono"/>
              </a:rPr>
              <a:t>M6</a:t>
            </a:r>
            <a:endParaRPr lang="ko-KR" altLang="en-US" sz="14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5FE8745-96A0-D745-9A6F-C4BDB4C1FC4A}"/>
              </a:ext>
            </a:extLst>
          </p:cNvPr>
          <p:cNvSpPr txBox="1"/>
          <p:nvPr/>
        </p:nvSpPr>
        <p:spPr>
          <a:xfrm>
            <a:off x="1993900" y="4546600"/>
            <a:ext cx="38100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400">
                <a:solidFill>
                  <a:srgbClr val="14213D"/>
                </a:solidFill>
                <a:latin typeface="Pretendard"/>
              </a:rPr>
              <a:t>소개 페이지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05869F2-0D39-424E-A271-36F0F2CBD3A7}"/>
              </a:ext>
            </a:extLst>
          </p:cNvPr>
          <p:cNvSpPr txBox="1"/>
          <p:nvPr/>
        </p:nvSpPr>
        <p:spPr>
          <a:xfrm>
            <a:off x="1181100" y="4978400"/>
            <a:ext cx="4749800" cy="203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400" b="1">
                <a:solidFill>
                  <a:srgbClr val="E8A33D"/>
                </a:solidFill>
                <a:latin typeface="Pretendard"/>
              </a:rPr>
              <a:t>↓</a:t>
            </a: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6E1ABDAF-ECCB-E440-BF82-AEBE9394F742}"/>
              </a:ext>
            </a:extLst>
          </p:cNvPr>
          <p:cNvSpPr/>
          <p:nvPr/>
        </p:nvSpPr>
        <p:spPr>
          <a:xfrm>
            <a:off x="1130300" y="5232400"/>
            <a:ext cx="4851400" cy="660400"/>
          </a:xfrm>
          <a:prstGeom prst="roundRect">
            <a:avLst>
              <a:gd name="adj" fmla="val 3846"/>
            </a:avLst>
          </a:prstGeom>
          <a:solidFill>
            <a:srgbClr val="FBEFD8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802AD55-2018-2A41-8D19-AD70B043716C}"/>
              </a:ext>
            </a:extLst>
          </p:cNvPr>
          <p:cNvSpPr txBox="1"/>
          <p:nvPr/>
        </p:nvSpPr>
        <p:spPr>
          <a:xfrm>
            <a:off x="1282700" y="5232400"/>
            <a:ext cx="4546600" cy="660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500" b="1">
                <a:solidFill>
                  <a:srgbClr val="14213D"/>
                </a:solidFill>
                <a:latin typeface="Pretendard"/>
              </a:rPr>
              <a:t>노션 한 페이지 </a:t>
            </a:r>
            <a:r>
              <a:rPr lang="en-US" altLang="ko-KR" sz="1500" b="1">
                <a:solidFill>
                  <a:srgbClr val="14213D"/>
                </a:solidFill>
                <a:latin typeface="Pretendard"/>
              </a:rPr>
              <a:t>= </a:t>
            </a:r>
            <a:r>
              <a:rPr lang="ko-KR" altLang="en-US" sz="1500" b="1">
                <a:solidFill>
                  <a:srgbClr val="14213D"/>
                </a:solidFill>
                <a:latin typeface="Pretendard"/>
              </a:rPr>
              <a:t>나의 포트폴리오</a:t>
            </a:r>
          </a:p>
        </p:txBody>
      </p:sp>
      <p:sp>
        <p:nvSpPr>
          <p:cNvPr id="21" name="모서리가 둥근 직사각형 20">
            <a:extLst>
              <a:ext uri="{FF2B5EF4-FFF2-40B4-BE49-F238E27FC236}">
                <a16:creationId xmlns:a16="http://schemas.microsoft.com/office/drawing/2014/main" id="{47168D55-E544-6546-9E87-ABCCF83BFC9C}"/>
              </a:ext>
            </a:extLst>
          </p:cNvPr>
          <p:cNvSpPr/>
          <p:nvPr/>
        </p:nvSpPr>
        <p:spPr>
          <a:xfrm>
            <a:off x="6540500" y="1905000"/>
            <a:ext cx="4826000" cy="4381500"/>
          </a:xfrm>
          <a:prstGeom prst="roundRect">
            <a:avLst>
              <a:gd name="adj" fmla="val 580"/>
            </a:avLst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D48AB59-6F93-9A48-A89A-7BEAAF3779E0}"/>
              </a:ext>
            </a:extLst>
          </p:cNvPr>
          <p:cNvSpPr txBox="1"/>
          <p:nvPr/>
        </p:nvSpPr>
        <p:spPr>
          <a:xfrm>
            <a:off x="6845300" y="2159000"/>
            <a:ext cx="4216400" cy="355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b="1">
                <a:solidFill>
                  <a:srgbClr val="FFFFFF"/>
                </a:solidFill>
                <a:latin typeface="Pretendard"/>
              </a:rPr>
              <a:t>실무 체크리스트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BF491F6-DE32-C94F-BA87-199D5572602B}"/>
              </a:ext>
            </a:extLst>
          </p:cNvPr>
          <p:cNvSpPr txBox="1"/>
          <p:nvPr/>
        </p:nvSpPr>
        <p:spPr>
          <a:xfrm>
            <a:off x="6845300" y="2540000"/>
            <a:ext cx="42164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400">
                <a:solidFill>
                  <a:srgbClr val="E8A33D"/>
                </a:solidFill>
                <a:latin typeface="Pretendard"/>
              </a:rPr>
              <a:t>행동으로 적어야 실행된다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E9A5864-6639-5A49-815D-D65121DDA229}"/>
              </a:ext>
            </a:extLst>
          </p:cNvPr>
          <p:cNvSpPr txBox="1"/>
          <p:nvPr/>
        </p:nvSpPr>
        <p:spPr>
          <a:xfrm>
            <a:off x="6845300" y="3022600"/>
            <a:ext cx="4216400" cy="203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400" b="1">
                <a:solidFill>
                  <a:srgbClr val="9FB3CE"/>
                </a:solidFill>
                <a:latin typeface="JetBrains Mono"/>
              </a:rPr>
              <a:t>BEFORE  ✕</a:t>
            </a:r>
            <a:endParaRPr lang="ko-KR" altLang="en-US" sz="1400" b="1">
              <a:solidFill>
                <a:srgbClr val="9FB3CE"/>
              </a:solidFill>
              <a:latin typeface="JetBrains Mono"/>
            </a:endParaRPr>
          </a:p>
        </p:txBody>
      </p:sp>
      <p:sp>
        <p:nvSpPr>
          <p:cNvPr id="25" name="모서리가 둥근 직사각형 24">
            <a:extLst>
              <a:ext uri="{FF2B5EF4-FFF2-40B4-BE49-F238E27FC236}">
                <a16:creationId xmlns:a16="http://schemas.microsoft.com/office/drawing/2014/main" id="{C5129831-46F5-874E-9C12-57328AF5704F}"/>
              </a:ext>
            </a:extLst>
          </p:cNvPr>
          <p:cNvSpPr/>
          <p:nvPr/>
        </p:nvSpPr>
        <p:spPr>
          <a:xfrm>
            <a:off x="6845300" y="3340100"/>
            <a:ext cx="4216400" cy="609600"/>
          </a:xfrm>
          <a:prstGeom prst="roundRect">
            <a:avLst>
              <a:gd name="adj" fmla="val 4167"/>
            </a:avLst>
          </a:prstGeom>
          <a:solidFill>
            <a:srgbClr val="20314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0CC15A0-7B2D-7E49-9179-AA48241A8D55}"/>
              </a:ext>
            </a:extLst>
          </p:cNvPr>
          <p:cNvSpPr txBox="1"/>
          <p:nvPr/>
        </p:nvSpPr>
        <p:spPr>
          <a:xfrm>
            <a:off x="6845300" y="3340100"/>
            <a:ext cx="4216400" cy="609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600" b="1">
                <a:solidFill>
                  <a:srgbClr val="9FB3CE"/>
                </a:solidFill>
                <a:latin typeface="Pretendard"/>
              </a:rPr>
              <a:t>“언젠가 해봐야지”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AEC744B-3467-9344-8923-326819D2A852}"/>
              </a:ext>
            </a:extLst>
          </p:cNvPr>
          <p:cNvSpPr txBox="1"/>
          <p:nvPr/>
        </p:nvSpPr>
        <p:spPr>
          <a:xfrm>
            <a:off x="6845300" y="3962400"/>
            <a:ext cx="4216400" cy="330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2000" b="1">
                <a:solidFill>
                  <a:srgbClr val="E8A33D"/>
                </a:solidFill>
                <a:latin typeface="Pretendard"/>
              </a:rPr>
              <a:t>↓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CE4B118-B75D-684D-B445-CF6A3B6AD2FB}"/>
              </a:ext>
            </a:extLst>
          </p:cNvPr>
          <p:cNvSpPr txBox="1"/>
          <p:nvPr/>
        </p:nvSpPr>
        <p:spPr>
          <a:xfrm>
            <a:off x="6845300" y="4394200"/>
            <a:ext cx="4216400" cy="203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400" b="1">
                <a:solidFill>
                  <a:srgbClr val="E8A33D"/>
                </a:solidFill>
                <a:latin typeface="JetBrains Mono"/>
              </a:rPr>
              <a:t>AFTER  ✓</a:t>
            </a:r>
            <a:endParaRPr lang="ko-KR" altLang="en-US" sz="1400" b="1">
              <a:solidFill>
                <a:srgbClr val="E8A33D"/>
              </a:solidFill>
              <a:latin typeface="JetBrains Mono"/>
            </a:endParaRPr>
          </a:p>
        </p:txBody>
      </p:sp>
      <p:sp>
        <p:nvSpPr>
          <p:cNvPr id="29" name="모서리가 둥근 직사각형 28">
            <a:extLst>
              <a:ext uri="{FF2B5EF4-FFF2-40B4-BE49-F238E27FC236}">
                <a16:creationId xmlns:a16="http://schemas.microsoft.com/office/drawing/2014/main" id="{CAFAC28E-8BFB-5547-9AFF-F8A355B09B65}"/>
              </a:ext>
            </a:extLst>
          </p:cNvPr>
          <p:cNvSpPr/>
          <p:nvPr/>
        </p:nvSpPr>
        <p:spPr>
          <a:xfrm>
            <a:off x="6845300" y="4775200"/>
            <a:ext cx="4216400" cy="787400"/>
          </a:xfrm>
          <a:prstGeom prst="roundRect">
            <a:avLst>
              <a:gd name="adj" fmla="val 3226"/>
            </a:avLst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E220DD1-3F05-8E49-9E4F-2C42EF73EC93}"/>
              </a:ext>
            </a:extLst>
          </p:cNvPr>
          <p:cNvSpPr txBox="1"/>
          <p:nvPr/>
        </p:nvSpPr>
        <p:spPr>
          <a:xfrm>
            <a:off x="6997700" y="4775200"/>
            <a:ext cx="3911600" cy="787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450" b="1">
                <a:solidFill>
                  <a:srgbClr val="14213D"/>
                </a:solidFill>
                <a:latin typeface="Pretendard"/>
              </a:rPr>
              <a:t>“매주 화 </a:t>
            </a:r>
            <a:r>
              <a:rPr lang="en-US" altLang="ko-KR" sz="1450" b="1">
                <a:solidFill>
                  <a:srgbClr val="14213D"/>
                </a:solidFill>
                <a:latin typeface="Pretendard"/>
              </a:rPr>
              <a:t>10</a:t>
            </a:r>
            <a:r>
              <a:rPr lang="ko-KR" altLang="en-US" sz="1450" b="1">
                <a:solidFill>
                  <a:srgbClr val="14213D"/>
                </a:solidFill>
                <a:latin typeface="Pretendard"/>
              </a:rPr>
              <a:t>시</a:t>
            </a:r>
            <a:r>
              <a:rPr lang="en-US" altLang="ko-KR" sz="1450" b="1">
                <a:solidFill>
                  <a:srgbClr val="14213D"/>
                </a:solidFill>
                <a:latin typeface="Pretendard"/>
              </a:rPr>
              <a:t>, </a:t>
            </a:r>
            <a:r>
              <a:rPr lang="ko-KR" altLang="en-US" sz="1450" b="1">
                <a:solidFill>
                  <a:srgbClr val="14213D"/>
                </a:solidFill>
                <a:latin typeface="Pretendard"/>
              </a:rPr>
              <a:t>카드뉴스 템플릿으로 발행”</a:t>
            </a:r>
          </a:p>
        </p:txBody>
      </p:sp>
      <p:sp>
        <p:nvSpPr>
          <p:cNvPr id="31" name="PageNumber">
            <a:extLst>
              <a:ext uri="{FF2B5EF4-FFF2-40B4-BE49-F238E27FC236}">
                <a16:creationId xmlns:a16="http://schemas.microsoft.com/office/drawing/2014/main" id="{AA35F7D6-A13C-B94E-950B-646A51523B1A}"/>
              </a:ext>
            </a:extLst>
          </p:cNvPr>
          <p:cNvSpPr txBox="1"/>
          <p:nvPr/>
        </p:nvSpPr>
        <p:spPr>
          <a:xfrm>
            <a:off x="9499600" y="6489700"/>
            <a:ext cx="23368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r"/>
            <a:r>
              <a:rPr lang="en-US" altLang="ko-KR" sz="1200">
                <a:solidFill>
                  <a:srgbClr val="576176"/>
                </a:solidFill>
                <a:latin typeface="Pretendard"/>
              </a:rPr>
              <a:t>- 136/144 -</a:t>
            </a:r>
            <a:endParaRPr lang="ko-KR" altLang="en-US" sz="1200">
              <a:solidFill>
                <a:srgbClr val="576176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1916745104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실습 절차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실습 절차 — 직접 해봅니다</a:t>
            </a: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D605BEE7-0FC9-D844-B530-790FC3AAF637}"/>
              </a:ext>
            </a:extLst>
          </p:cNvPr>
          <p:cNvSpPr/>
          <p:nvPr/>
        </p:nvSpPr>
        <p:spPr>
          <a:xfrm>
            <a:off x="825500" y="1930400"/>
            <a:ext cx="10541000" cy="939800"/>
          </a:xfrm>
          <a:prstGeom prst="roundRect">
            <a:avLst>
              <a:gd name="adj" fmla="val 2703"/>
            </a:avLst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ED7B309-D70C-254F-B3C8-39F504888D8B}"/>
              </a:ext>
            </a:extLst>
          </p:cNvPr>
          <p:cNvSpPr/>
          <p:nvPr/>
        </p:nvSpPr>
        <p:spPr>
          <a:xfrm>
            <a:off x="825500" y="1930400"/>
            <a:ext cx="76200" cy="939800"/>
          </a:xfrm>
          <a:prstGeom prst="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339080F0-85EA-5E4A-97D0-58F035E07B1A}"/>
              </a:ext>
            </a:extLst>
          </p:cNvPr>
          <p:cNvSpPr/>
          <p:nvPr/>
        </p:nvSpPr>
        <p:spPr>
          <a:xfrm>
            <a:off x="1143000" y="2159000"/>
            <a:ext cx="482600" cy="482600"/>
          </a:xfrm>
          <a:prstGeom prst="ellipse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  <a:latin typeface="JetBrains Mono"/>
              </a:rPr>
              <a:t>1</a:t>
            </a:r>
            <a:endParaRPr lang="ko-KR" altLang="en-US" sz="16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5193BB-09A6-D04B-AEC2-4835C0306421}"/>
              </a:ext>
            </a:extLst>
          </p:cNvPr>
          <p:cNvSpPr txBox="1"/>
          <p:nvPr/>
        </p:nvSpPr>
        <p:spPr>
          <a:xfrm>
            <a:off x="1905000" y="2222500"/>
            <a:ext cx="2540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600" b="1">
                <a:solidFill>
                  <a:srgbClr val="14213D"/>
                </a:solidFill>
                <a:latin typeface="Pretendard"/>
              </a:rPr>
              <a:t>결과물 모으기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4DF75B-68F1-7E44-8D40-76EF4DD2E898}"/>
              </a:ext>
            </a:extLst>
          </p:cNvPr>
          <p:cNvSpPr txBox="1"/>
          <p:nvPr/>
        </p:nvSpPr>
        <p:spPr>
          <a:xfrm>
            <a:off x="4546600" y="2057400"/>
            <a:ext cx="6629400" cy="685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400">
                <a:solidFill>
                  <a:srgbClr val="576176"/>
                </a:solidFill>
                <a:latin typeface="Pretendard"/>
              </a:rPr>
              <a:t>오늘 만든 결과물을 한 문서로 모은다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.</a:t>
            </a:r>
            <a:endParaRPr lang="ko-KR" altLang="en-US" sz="1400">
              <a:solidFill>
                <a:srgbClr val="576176"/>
              </a:solidFill>
              <a:latin typeface="Pretendard"/>
            </a:endParaRP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96F38DA7-309C-E748-8DA0-856270ECA0B7}"/>
              </a:ext>
            </a:extLst>
          </p:cNvPr>
          <p:cNvSpPr/>
          <p:nvPr/>
        </p:nvSpPr>
        <p:spPr>
          <a:xfrm>
            <a:off x="825500" y="2971800"/>
            <a:ext cx="10541000" cy="939800"/>
          </a:xfrm>
          <a:prstGeom prst="roundRect">
            <a:avLst>
              <a:gd name="adj" fmla="val 2703"/>
            </a:avLst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4C5A0EA-F1CA-C446-A33D-E569C4A8C4F7}"/>
              </a:ext>
            </a:extLst>
          </p:cNvPr>
          <p:cNvSpPr/>
          <p:nvPr/>
        </p:nvSpPr>
        <p:spPr>
          <a:xfrm>
            <a:off x="825500" y="2971800"/>
            <a:ext cx="76200" cy="939800"/>
          </a:xfrm>
          <a:prstGeom prst="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FAED98E4-B255-A641-BD29-7CDCD926C079}"/>
              </a:ext>
            </a:extLst>
          </p:cNvPr>
          <p:cNvSpPr/>
          <p:nvPr/>
        </p:nvSpPr>
        <p:spPr>
          <a:xfrm>
            <a:off x="1143000" y="3200400"/>
            <a:ext cx="482600" cy="482600"/>
          </a:xfrm>
          <a:prstGeom prst="ellipse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  <a:latin typeface="JetBrains Mono"/>
              </a:rPr>
              <a:t>2</a:t>
            </a:r>
            <a:endParaRPr lang="ko-KR" altLang="en-US" sz="16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E192750-706F-9A42-8C40-7FDDB801BC15}"/>
              </a:ext>
            </a:extLst>
          </p:cNvPr>
          <p:cNvSpPr txBox="1"/>
          <p:nvPr/>
        </p:nvSpPr>
        <p:spPr>
          <a:xfrm>
            <a:off x="1905000" y="3263900"/>
            <a:ext cx="2540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14213D"/>
                </a:solidFill>
                <a:latin typeface="Pretendard"/>
              </a:rPr>
              <a:t>2</a:t>
            </a:r>
            <a:r>
              <a:rPr lang="ko-KR" altLang="en-US" sz="1600" b="1">
                <a:solidFill>
                  <a:srgbClr val="14213D"/>
                </a:solidFill>
                <a:latin typeface="Pretendard"/>
              </a:rPr>
              <a:t>분 발표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9DD58E5-F6D8-AE46-8040-0B8C3B373E98}"/>
              </a:ext>
            </a:extLst>
          </p:cNvPr>
          <p:cNvSpPr txBox="1"/>
          <p:nvPr/>
        </p:nvSpPr>
        <p:spPr>
          <a:xfrm>
            <a:off x="4546600" y="3098800"/>
            <a:ext cx="6629400" cy="685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400">
                <a:solidFill>
                  <a:srgbClr val="576176"/>
                </a:solidFill>
                <a:latin typeface="Pretendard"/>
              </a:rPr>
              <a:t>현업 적용 계획을 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2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분으로 발표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·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공유한다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.</a:t>
            </a:r>
            <a:endParaRPr lang="ko-KR" altLang="en-US" sz="1400">
              <a:solidFill>
                <a:srgbClr val="576176"/>
              </a:solidFill>
              <a:latin typeface="Pretendard"/>
            </a:endParaRPr>
          </a:p>
        </p:txBody>
      </p:sp>
      <p:sp>
        <p:nvSpPr>
          <p:cNvPr id="15" name="모서리가 둥근 직사각형 14">
            <a:extLst>
              <a:ext uri="{FF2B5EF4-FFF2-40B4-BE49-F238E27FC236}">
                <a16:creationId xmlns:a16="http://schemas.microsoft.com/office/drawing/2014/main" id="{239309F5-5C40-164C-A4DB-E3B00B7CB485}"/>
              </a:ext>
            </a:extLst>
          </p:cNvPr>
          <p:cNvSpPr/>
          <p:nvPr/>
        </p:nvSpPr>
        <p:spPr>
          <a:xfrm>
            <a:off x="825500" y="4013200"/>
            <a:ext cx="10541000" cy="939800"/>
          </a:xfrm>
          <a:prstGeom prst="roundRect">
            <a:avLst>
              <a:gd name="adj" fmla="val 2703"/>
            </a:avLst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3827085-95E7-D04F-A78F-55500E86DB33}"/>
              </a:ext>
            </a:extLst>
          </p:cNvPr>
          <p:cNvSpPr/>
          <p:nvPr/>
        </p:nvSpPr>
        <p:spPr>
          <a:xfrm>
            <a:off x="825500" y="4013200"/>
            <a:ext cx="76200" cy="939800"/>
          </a:xfrm>
          <a:prstGeom prst="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DB94F27C-B6DA-9A44-B893-1F711B58F12E}"/>
              </a:ext>
            </a:extLst>
          </p:cNvPr>
          <p:cNvSpPr/>
          <p:nvPr/>
        </p:nvSpPr>
        <p:spPr>
          <a:xfrm>
            <a:off x="1143000" y="4241800"/>
            <a:ext cx="482600" cy="482600"/>
          </a:xfrm>
          <a:prstGeom prst="ellipse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  <a:latin typeface="JetBrains Mono"/>
              </a:rPr>
              <a:t>3</a:t>
            </a:r>
            <a:endParaRPr lang="ko-KR" altLang="en-US" sz="16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3889611-9E16-DD41-9DA2-261F813F1CD5}"/>
              </a:ext>
            </a:extLst>
          </p:cNvPr>
          <p:cNvSpPr txBox="1"/>
          <p:nvPr/>
        </p:nvSpPr>
        <p:spPr>
          <a:xfrm>
            <a:off x="1905000" y="4305300"/>
            <a:ext cx="2540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600" b="1">
                <a:solidFill>
                  <a:srgbClr val="14213D"/>
                </a:solidFill>
                <a:latin typeface="Pretendard"/>
              </a:rPr>
              <a:t>피드백 반영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C5D9702-7C6C-5D4E-BEAE-1680C0A8A617}"/>
              </a:ext>
            </a:extLst>
          </p:cNvPr>
          <p:cNvSpPr txBox="1"/>
          <p:nvPr/>
        </p:nvSpPr>
        <p:spPr>
          <a:xfrm>
            <a:off x="4546600" y="4140200"/>
            <a:ext cx="6629400" cy="685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400">
                <a:solidFill>
                  <a:srgbClr val="576176"/>
                </a:solidFill>
                <a:latin typeface="Pretendard"/>
              </a:rPr>
              <a:t>받은 피드백 중 개선점 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1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개를 즉시 반영한다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.</a:t>
            </a:r>
            <a:endParaRPr lang="ko-KR" altLang="en-US" sz="1400">
              <a:solidFill>
                <a:srgbClr val="576176"/>
              </a:solidFill>
              <a:latin typeface="Pretendard"/>
            </a:endParaRPr>
          </a:p>
        </p:txBody>
      </p:sp>
      <p:sp>
        <p:nvSpPr>
          <p:cNvPr id="20" name="모서리가 둥근 직사각형 19">
            <a:extLst>
              <a:ext uri="{FF2B5EF4-FFF2-40B4-BE49-F238E27FC236}">
                <a16:creationId xmlns:a16="http://schemas.microsoft.com/office/drawing/2014/main" id="{A16F9F1E-8E8A-5D4C-A988-5429E1AC5336}"/>
              </a:ext>
            </a:extLst>
          </p:cNvPr>
          <p:cNvSpPr/>
          <p:nvPr/>
        </p:nvSpPr>
        <p:spPr>
          <a:xfrm>
            <a:off x="825500" y="5054600"/>
            <a:ext cx="10541000" cy="939800"/>
          </a:xfrm>
          <a:prstGeom prst="roundRect">
            <a:avLst>
              <a:gd name="adj" fmla="val 2703"/>
            </a:avLst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E43421A0-2655-AC4B-815C-188AA36E8E85}"/>
              </a:ext>
            </a:extLst>
          </p:cNvPr>
          <p:cNvSpPr/>
          <p:nvPr/>
        </p:nvSpPr>
        <p:spPr>
          <a:xfrm>
            <a:off x="825500" y="5054600"/>
            <a:ext cx="76200" cy="939800"/>
          </a:xfrm>
          <a:prstGeom prst="rect">
            <a:avLst/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2D333796-7CCB-F24E-AF23-91BA206B5347}"/>
              </a:ext>
            </a:extLst>
          </p:cNvPr>
          <p:cNvSpPr/>
          <p:nvPr/>
        </p:nvSpPr>
        <p:spPr>
          <a:xfrm>
            <a:off x="1143000" y="5283200"/>
            <a:ext cx="482600" cy="482600"/>
          </a:xfrm>
          <a:prstGeom prst="ellipse">
            <a:avLst/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600" b="1">
                <a:solidFill>
                  <a:srgbClr val="FFFFFF"/>
                </a:solidFill>
                <a:latin typeface="JetBrains Mono"/>
              </a:rPr>
              <a:t>4</a:t>
            </a:r>
            <a:endParaRPr lang="ko-KR" altLang="en-US" sz="1600" b="1">
              <a:solidFill>
                <a:srgbClr val="FFFFFF"/>
              </a:solidFill>
              <a:latin typeface="JetBrains Mono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8DF53E6-F73B-EE48-B15E-93A8029C6B53}"/>
              </a:ext>
            </a:extLst>
          </p:cNvPr>
          <p:cNvSpPr txBox="1"/>
          <p:nvPr/>
        </p:nvSpPr>
        <p:spPr>
          <a:xfrm>
            <a:off x="1905000" y="5346700"/>
            <a:ext cx="2540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600" b="1" dirty="0">
                <a:solidFill>
                  <a:srgbClr val="14213D"/>
                </a:solidFill>
                <a:latin typeface="Pretendard"/>
              </a:rPr>
              <a:t>실행 </a:t>
            </a:r>
            <a:r>
              <a:rPr lang="en-US" altLang="ko-KR" sz="1600" b="1" dirty="0">
                <a:solidFill>
                  <a:srgbClr val="14213D"/>
                </a:solidFill>
                <a:latin typeface="Pretendard"/>
              </a:rPr>
              <a:t>1</a:t>
            </a:r>
            <a:r>
              <a:rPr lang="ko-KR" altLang="en-US" sz="1600" b="1" dirty="0">
                <a:solidFill>
                  <a:srgbClr val="14213D"/>
                </a:solidFill>
                <a:latin typeface="Pretendard"/>
              </a:rPr>
              <a:t>가지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588AC18-03EA-CA40-94BB-CB3F006B67BC}"/>
              </a:ext>
            </a:extLst>
          </p:cNvPr>
          <p:cNvSpPr txBox="1"/>
          <p:nvPr/>
        </p:nvSpPr>
        <p:spPr>
          <a:xfrm>
            <a:off x="4546600" y="5181600"/>
            <a:ext cx="6629400" cy="685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1400">
                <a:solidFill>
                  <a:srgbClr val="576176"/>
                </a:solidFill>
                <a:latin typeface="Pretendard"/>
              </a:rPr>
              <a:t>다음 주 실행할 구체 행동 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1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가지를 적는다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.</a:t>
            </a:r>
            <a:endParaRPr lang="ko-KR" altLang="en-US" sz="1400">
              <a:solidFill>
                <a:srgbClr val="576176"/>
              </a:solidFill>
              <a:latin typeface="Pretendard"/>
            </a:endParaRPr>
          </a:p>
        </p:txBody>
      </p:sp>
      <p:sp>
        <p:nvSpPr>
          <p:cNvPr id="4" name="PageNumber">
            <a:extLst>
              <a:ext uri="{FF2B5EF4-FFF2-40B4-BE49-F238E27FC236}">
                <a16:creationId xmlns:a16="http://schemas.microsoft.com/office/drawing/2014/main" id="{9760BE86-F73C-924F-B807-038AD5FC76AC}"/>
              </a:ext>
            </a:extLst>
          </p:cNvPr>
          <p:cNvSpPr txBox="1"/>
          <p:nvPr/>
        </p:nvSpPr>
        <p:spPr>
          <a:xfrm>
            <a:off x="9499600" y="6489700"/>
            <a:ext cx="23368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r"/>
            <a:r>
              <a:rPr lang="en-US" altLang="ko-KR" sz="1200">
                <a:solidFill>
                  <a:srgbClr val="576176"/>
                </a:solidFill>
                <a:latin typeface="Pretendard"/>
              </a:rPr>
              <a:t>- 137/144 -</a:t>
            </a:r>
            <a:endParaRPr lang="ko-KR" altLang="en-US" sz="1200">
              <a:solidFill>
                <a:srgbClr val="576176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2836847646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실습 프롬프트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회고·체크리스트 프롬프트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874519"/>
            <a:ext cx="10332720" cy="4434840"/>
          </a:xfrm>
          <a:prstGeom prst="rect">
            <a:avLst/>
          </a:prstGeom>
          <a:solidFill>
            <a:srgbClr val="101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11480" tIns="502920" rIns="365760" bIns="320040" rtlCol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오늘</a:t>
            </a:r>
            <a:r>
              <a:rPr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만든</a:t>
            </a:r>
            <a:r>
              <a:rPr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결과물</a:t>
            </a:r>
            <a:r>
              <a:rPr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목록을</a:t>
            </a:r>
            <a:r>
              <a:rPr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줄게</a:t>
            </a:r>
            <a:r>
              <a:rPr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. </a:t>
            </a:r>
            <a:r>
              <a:rPr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이걸</a:t>
            </a:r>
            <a:r>
              <a:rPr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바탕으로</a:t>
            </a:r>
            <a:endParaRPr dirty="0">
              <a:solidFill>
                <a:srgbClr val="E8EEFA"/>
              </a:solidFill>
              <a:latin typeface="JetBrains Mono"/>
              <a:ea typeface="JetBrains Mono"/>
              <a:cs typeface="JetBrains Mono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(1) </a:t>
            </a:r>
            <a:r>
              <a:rPr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한</a:t>
            </a:r>
            <a:r>
              <a:rPr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문단</a:t>
            </a:r>
            <a:r>
              <a:rPr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발표</a:t>
            </a:r>
            <a:r>
              <a:rPr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스크립트</a:t>
            </a:r>
            <a:r>
              <a:rPr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endParaRPr lang="en-US" dirty="0">
              <a:solidFill>
                <a:srgbClr val="E8EEFA"/>
              </a:solidFill>
              <a:latin typeface="JetBrains Mono"/>
              <a:ea typeface="JetBrains Mono"/>
              <a:cs typeface="JetBrains Mono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(2) </a:t>
            </a:r>
            <a:r>
              <a:rPr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현업</a:t>
            </a:r>
            <a:r>
              <a:rPr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적용</a:t>
            </a:r>
            <a:r>
              <a:rPr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체크리스트</a:t>
            </a:r>
            <a:r>
              <a:rPr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5개를 </a:t>
            </a:r>
            <a:r>
              <a:rPr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만들어줘</a:t>
            </a:r>
            <a:r>
              <a:rPr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결과물</a:t>
            </a:r>
            <a:r>
              <a:rPr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: </a:t>
            </a:r>
            <a:r>
              <a:rPr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메시지</a:t>
            </a:r>
            <a:r>
              <a:rPr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하우스</a:t>
            </a:r>
            <a:r>
              <a:rPr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소개문</a:t>
            </a:r>
            <a:r>
              <a:rPr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카드뉴스</a:t>
            </a:r>
            <a:r>
              <a:rPr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, UI </a:t>
            </a:r>
            <a:r>
              <a:rPr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시안</a:t>
            </a:r>
            <a:r>
              <a:rPr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랜딩페이지</a:t>
            </a:r>
            <a:endParaRPr lang="en-US" dirty="0">
              <a:solidFill>
                <a:srgbClr val="E8EEFA"/>
              </a:solidFill>
              <a:latin typeface="JetBrains Mono"/>
              <a:ea typeface="JetBrains Mono"/>
              <a:cs typeface="JetBrains Mono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endParaRPr dirty="0">
              <a:solidFill>
                <a:srgbClr val="E8EEFA"/>
              </a:solidFill>
              <a:latin typeface="JetBrains Mono"/>
              <a:ea typeface="JetBrains Mono"/>
              <a:cs typeface="JetBrains Mono"/>
            </a:endParaRP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</a:pPr>
            <a:r>
              <a:rPr dirty="0">
                <a:solidFill>
                  <a:srgbClr val="8893A8"/>
                </a:solidFill>
                <a:latin typeface="JetBrains Mono"/>
                <a:ea typeface="JetBrains Mono"/>
                <a:cs typeface="JetBrains Mono"/>
              </a:rPr>
              <a:t># </a:t>
            </a:r>
            <a:r>
              <a:rPr dirty="0" err="1">
                <a:solidFill>
                  <a:srgbClr val="8893A8"/>
                </a:solidFill>
                <a:latin typeface="JetBrains Mono"/>
                <a:ea typeface="JetBrains Mono"/>
                <a:cs typeface="JetBrains Mono"/>
              </a:rPr>
              <a:t>변형</a:t>
            </a:r>
            <a:r>
              <a:rPr dirty="0">
                <a:solidFill>
                  <a:srgbClr val="8893A8"/>
                </a:solidFill>
                <a:latin typeface="JetBrains Mono"/>
                <a:ea typeface="JetBrains Mono"/>
                <a:cs typeface="JetBrains Mono"/>
              </a:rPr>
              <a:t> — </a:t>
            </a:r>
            <a:r>
              <a:rPr dirty="0" err="1">
                <a:solidFill>
                  <a:srgbClr val="8893A8"/>
                </a:solidFill>
                <a:latin typeface="JetBrains Mono"/>
                <a:ea typeface="JetBrains Mono"/>
                <a:cs typeface="JetBrains Mono"/>
              </a:rPr>
              <a:t>팀</a:t>
            </a:r>
            <a:r>
              <a:rPr dirty="0">
                <a:solidFill>
                  <a:srgbClr val="8893A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dirty="0" err="1">
                <a:solidFill>
                  <a:srgbClr val="8893A8"/>
                </a:solidFill>
                <a:latin typeface="JetBrains Mono"/>
                <a:ea typeface="JetBrains Mono"/>
                <a:cs typeface="JetBrains Mono"/>
              </a:rPr>
              <a:t>공유용</a:t>
            </a:r>
            <a:r>
              <a:rPr dirty="0">
                <a:solidFill>
                  <a:srgbClr val="8893A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dirty="0" err="1">
                <a:solidFill>
                  <a:srgbClr val="8893A8"/>
                </a:solidFill>
                <a:latin typeface="JetBrains Mono"/>
                <a:ea typeface="JetBrains Mono"/>
                <a:cs typeface="JetBrains Mono"/>
              </a:rPr>
              <a:t>요약</a:t>
            </a:r>
            <a:endParaRPr dirty="0">
              <a:solidFill>
                <a:srgbClr val="8893A8"/>
              </a:solidFill>
              <a:latin typeface="JetBrains Mono"/>
              <a:ea typeface="JetBrains Mono"/>
              <a:cs typeface="JetBrains Mono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오늘</a:t>
            </a:r>
            <a:r>
              <a:rPr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만든</a:t>
            </a:r>
            <a:r>
              <a:rPr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결과물</a:t>
            </a:r>
            <a:r>
              <a:rPr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목록을</a:t>
            </a:r>
            <a:r>
              <a:rPr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줄게</a:t>
            </a:r>
            <a:r>
              <a:rPr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. </a:t>
            </a:r>
            <a:r>
              <a:rPr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이걸</a:t>
            </a:r>
            <a:r>
              <a:rPr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바탕으로</a:t>
            </a:r>
            <a:endParaRPr dirty="0">
              <a:solidFill>
                <a:srgbClr val="E8EEFA"/>
              </a:solidFill>
              <a:latin typeface="JetBrains Mono"/>
              <a:ea typeface="JetBrains Mono"/>
              <a:cs typeface="JetBrains Mono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(1) </a:t>
            </a:r>
            <a:r>
              <a:rPr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팀</a:t>
            </a:r>
            <a:r>
              <a:rPr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공유용</a:t>
            </a:r>
            <a:r>
              <a:rPr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3줄 </a:t>
            </a:r>
            <a:r>
              <a:rPr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요약</a:t>
            </a:r>
            <a:r>
              <a:rPr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endParaRPr lang="en-US" dirty="0">
              <a:solidFill>
                <a:srgbClr val="E8EEFA"/>
              </a:solidFill>
              <a:latin typeface="JetBrains Mono"/>
              <a:ea typeface="JetBrains Mono"/>
              <a:cs typeface="JetBrains Mono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(2) </a:t>
            </a:r>
            <a:r>
              <a:rPr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다음</a:t>
            </a:r>
            <a:r>
              <a:rPr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분기</a:t>
            </a:r>
            <a:r>
              <a:rPr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적용</a:t>
            </a:r>
            <a:r>
              <a:rPr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로드맵</a:t>
            </a:r>
            <a:r>
              <a:rPr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3단계를 </a:t>
            </a:r>
            <a:r>
              <a:rPr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만들어줘</a:t>
            </a:r>
            <a:r>
              <a:rPr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결과물</a:t>
            </a:r>
            <a:r>
              <a:rPr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: </a:t>
            </a:r>
            <a:r>
              <a:rPr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메시지</a:t>
            </a:r>
            <a:r>
              <a:rPr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하우스</a:t>
            </a:r>
            <a:r>
              <a:rPr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소개문</a:t>
            </a:r>
            <a:r>
              <a:rPr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카드뉴스</a:t>
            </a:r>
            <a:r>
              <a:rPr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, UI </a:t>
            </a:r>
            <a:r>
              <a:rPr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시안</a:t>
            </a:r>
            <a:r>
              <a:rPr dirty="0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, </a:t>
            </a:r>
            <a:r>
              <a:rPr dirty="0" err="1">
                <a:solidFill>
                  <a:srgbClr val="E8EEFA"/>
                </a:solidFill>
                <a:latin typeface="JetBrains Mono"/>
                <a:ea typeface="JetBrains Mono"/>
                <a:cs typeface="JetBrains Mono"/>
              </a:rPr>
              <a:t>랜딩페이지</a:t>
            </a:r>
            <a:endParaRPr dirty="0">
              <a:solidFill>
                <a:srgbClr val="E8EEFA"/>
              </a:solidFill>
              <a:latin typeface="JetBrains Mono"/>
              <a:ea typeface="JetBrains Mono"/>
              <a:cs typeface="JetBrains Mono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143000" y="2103120"/>
            <a:ext cx="109728" cy="10972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47CB7C64-5B77-ABBE-0A50-53EAE2A9F02F}"/>
              </a:ext>
            </a:extLst>
          </p:cNvPr>
          <p:cNvGrpSpPr/>
          <p:nvPr/>
        </p:nvGrpSpPr>
        <p:grpSpPr>
          <a:xfrm>
            <a:off x="8399107" y="3846905"/>
            <a:ext cx="2493450" cy="2285159"/>
            <a:chOff x="17449800" y="7213600"/>
            <a:chExt cx="6146800" cy="5486400"/>
          </a:xfrm>
        </p:grpSpPr>
        <p:pic>
          <p:nvPicPr>
            <p:cNvPr id="7" name="Picture 9">
              <a:extLst>
                <a:ext uri="{FF2B5EF4-FFF2-40B4-BE49-F238E27FC236}">
                  <a16:creationId xmlns:a16="http://schemas.microsoft.com/office/drawing/2014/main" id="{9404D4C5-8BFF-FD23-B011-194EE185AEB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653000" y="8851900"/>
              <a:ext cx="1739900" cy="774700"/>
            </a:xfrm>
            <a:prstGeom prst="rect">
              <a:avLst/>
            </a:prstGeom>
          </p:spPr>
        </p:pic>
        <p:sp>
          <p:nvSpPr>
            <p:cNvPr id="8" name="TextBox 10">
              <a:extLst>
                <a:ext uri="{FF2B5EF4-FFF2-40B4-BE49-F238E27FC236}">
                  <a16:creationId xmlns:a16="http://schemas.microsoft.com/office/drawing/2014/main" id="{56D8E0FD-09DA-833C-85AF-0293F2CF0E01}"/>
                </a:ext>
              </a:extLst>
            </p:cNvPr>
            <p:cNvSpPr txBox="1"/>
            <p:nvPr/>
          </p:nvSpPr>
          <p:spPr>
            <a:xfrm>
              <a:off x="17449800" y="8991600"/>
              <a:ext cx="1930400" cy="571500"/>
            </a:xfrm>
            <a:prstGeom prst="rect">
              <a:avLst/>
            </a:prstGeom>
          </p:spPr>
          <p:txBody>
            <a:bodyPr lIns="0" tIns="40640" rIns="0" bIns="40640" rtlCol="0" anchor="ctr"/>
            <a:lstStyle/>
            <a:p>
              <a:pPr lvl="0" algn="ctr">
                <a:lnSpc>
                  <a:spcPct val="99600"/>
                </a:lnSpc>
              </a:pPr>
              <a:r>
                <a:rPr lang="en-US" sz="2400" b="0" i="0" u="none" strike="noStrike" spc="-100" dirty="0">
                  <a:solidFill>
                    <a:srgbClr val="000000"/>
                  </a:solidFill>
                  <a:latin typeface="SB AggroOTF Bold"/>
                  <a:ea typeface="SB AggroOTF Bold"/>
                  <a:cs typeface="SB AggroOTF Bold"/>
                </a:rPr>
                <a:t>oh!</a:t>
              </a:r>
            </a:p>
          </p:txBody>
        </p:sp>
        <p:pic>
          <p:nvPicPr>
            <p:cNvPr id="9" name="Picture 27">
              <a:extLst>
                <a:ext uri="{FF2B5EF4-FFF2-40B4-BE49-F238E27FC236}">
                  <a16:creationId xmlns:a16="http://schemas.microsoft.com/office/drawing/2014/main" id="{7B4207C9-1951-5556-8074-CBAE6D90717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834100" y="7213600"/>
              <a:ext cx="4762500" cy="5486400"/>
            </a:xfrm>
            <a:prstGeom prst="rect">
              <a:avLst/>
            </a:prstGeom>
          </p:spPr>
        </p:pic>
      </p:grpSp>
      <p:sp>
        <p:nvSpPr>
          <p:cNvPr id="10" name="PageNumber">
            <a:extLst>
              <a:ext uri="{FF2B5EF4-FFF2-40B4-BE49-F238E27FC236}">
                <a16:creationId xmlns:a16="http://schemas.microsoft.com/office/drawing/2014/main" id="{638FF1C9-FEA6-9C49-97CE-1E558B4D6106}"/>
              </a:ext>
            </a:extLst>
          </p:cNvPr>
          <p:cNvSpPr txBox="1"/>
          <p:nvPr/>
        </p:nvSpPr>
        <p:spPr>
          <a:xfrm>
            <a:off x="9499600" y="6489700"/>
            <a:ext cx="23368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r"/>
            <a:r>
              <a:rPr lang="en-US" altLang="ko-KR" sz="1200">
                <a:solidFill>
                  <a:srgbClr val="576176"/>
                </a:solidFill>
                <a:latin typeface="Pretendard"/>
              </a:rPr>
              <a:t>- 138/144 -</a:t>
            </a:r>
            <a:endParaRPr lang="ko-KR" altLang="en-US" sz="1200">
              <a:solidFill>
                <a:srgbClr val="576176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3258634239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좋은예 VS 나쁜예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비교 — 워크숍이 끝난 뒤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920240"/>
            <a:ext cx="5029200" cy="4114800"/>
          </a:xfrm>
          <a:prstGeom prst="rect">
            <a:avLst/>
          </a:prstGeom>
          <a:solidFill>
            <a:srgbClr val="F7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20040" rIns="320040" rtlCol="0" anchor="t"/>
          <a:lstStyle/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1000"/>
              </a:spcAft>
            </a:pPr>
            <a:r>
              <a:rPr sz="1700" b="1">
                <a:solidFill>
                  <a:srgbClr val="A63333"/>
                </a:solidFill>
                <a:latin typeface="Noto Serif KR"/>
                <a:ea typeface="Noto Serif KR"/>
                <a:cs typeface="Noto Serif KR"/>
              </a:rPr>
              <a:t>🚫 흔한 끝</a:t>
            </a:r>
          </a:p>
          <a:p>
            <a:pPr algn="l">
              <a:lnSpc>
                <a:spcPct val="13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>
                <a:solidFill>
                  <a:srgbClr val="A63333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sz="14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"좋았다"로 끝, 자료는 흩어짐</a:t>
            </a:r>
          </a:p>
          <a:p>
            <a:pPr algn="l">
              <a:lnSpc>
                <a:spcPct val="13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>
                <a:solidFill>
                  <a:srgbClr val="A63333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sz="14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"언젠가 적용해봐야지"</a:t>
            </a:r>
          </a:p>
          <a:p>
            <a:pPr algn="l">
              <a:lnSpc>
                <a:spcPct val="13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>
                <a:solidFill>
                  <a:srgbClr val="A63333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sz="14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한 달 뒤 0에서 다시 시작</a:t>
            </a:r>
          </a:p>
        </p:txBody>
      </p:sp>
      <p:sp>
        <p:nvSpPr>
          <p:cNvPr id="5" name="Rectangle 4"/>
          <p:cNvSpPr/>
          <p:nvPr/>
        </p:nvSpPr>
        <p:spPr>
          <a:xfrm>
            <a:off x="6245352" y="1920240"/>
            <a:ext cx="5029200" cy="4114800"/>
          </a:xfrm>
          <a:prstGeom prst="rect">
            <a:avLst/>
          </a:prstGeom>
          <a:solidFill>
            <a:srgbClr val="E7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20040" rIns="320040" rtlCol="0" anchor="t"/>
          <a:lstStyle/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1000"/>
              </a:spcAft>
            </a:pPr>
            <a:r>
              <a:rPr sz="1700" b="1">
                <a:solidFill>
                  <a:srgbClr val="2C6B44"/>
                </a:solidFill>
                <a:latin typeface="Noto Serif KR"/>
                <a:ea typeface="Noto Serif KR"/>
                <a:cs typeface="Noto Serif KR"/>
              </a:rPr>
              <a:t>✅ 자산으로 남기기</a:t>
            </a:r>
          </a:p>
          <a:p>
            <a:pPr algn="l">
              <a:lnSpc>
                <a:spcPct val="13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>
                <a:solidFill>
                  <a:srgbClr val="2C6B44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sz="14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결과물·프롬프트를 한 곳에 패키지</a:t>
            </a:r>
          </a:p>
          <a:p>
            <a:pPr algn="l">
              <a:lnSpc>
                <a:spcPct val="13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>
                <a:solidFill>
                  <a:srgbClr val="2C6B44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sz="14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다음 주 실행 1가지를 날짜까지 확정</a:t>
            </a:r>
          </a:p>
          <a:p>
            <a:pPr algn="l">
              <a:lnSpc>
                <a:spcPct val="13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>
                <a:solidFill>
                  <a:srgbClr val="2C6B44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sz="14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템플릿 재사용으로 매번 시간 절약</a:t>
            </a:r>
          </a:p>
        </p:txBody>
      </p:sp>
      <p:pic>
        <p:nvPicPr>
          <p:cNvPr id="6" name="Picture 16">
            <a:extLst>
              <a:ext uri="{FF2B5EF4-FFF2-40B4-BE49-F238E27FC236}">
                <a16:creationId xmlns:a16="http://schemas.microsoft.com/office/drawing/2014/main" id="{8E5D49AE-183F-D4C6-55F7-26BF6BD95D9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9385403" y="4161453"/>
            <a:ext cx="1758520" cy="1742958"/>
          </a:xfrm>
          <a:prstGeom prst="rect">
            <a:avLst/>
          </a:prstGeom>
        </p:spPr>
      </p:pic>
      <p:sp>
        <p:nvSpPr>
          <p:cNvPr id="7" name="PageNumber">
            <a:extLst>
              <a:ext uri="{FF2B5EF4-FFF2-40B4-BE49-F238E27FC236}">
                <a16:creationId xmlns:a16="http://schemas.microsoft.com/office/drawing/2014/main" id="{ED76657E-1A19-FE4C-9126-6391C2C49338}"/>
              </a:ext>
            </a:extLst>
          </p:cNvPr>
          <p:cNvSpPr txBox="1"/>
          <p:nvPr/>
        </p:nvSpPr>
        <p:spPr>
          <a:xfrm>
            <a:off x="9499600" y="6489700"/>
            <a:ext cx="23368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r"/>
            <a:r>
              <a:rPr lang="en-US" altLang="ko-KR" sz="1200">
                <a:solidFill>
                  <a:srgbClr val="576176"/>
                </a:solidFill>
                <a:latin typeface="Pretendard"/>
              </a:rPr>
              <a:t>- 139/144 -</a:t>
            </a:r>
            <a:endParaRPr lang="ko-KR" altLang="en-US" sz="1200">
              <a:solidFill>
                <a:srgbClr val="576176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2989768513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정리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결과물 완성 및 피드백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920240"/>
            <a:ext cx="10332720" cy="1501648"/>
          </a:xfrm>
          <a:prstGeom prst="rect">
            <a:avLst/>
          </a:prstGeom>
          <a:solidFill>
            <a:srgbClr val="FB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228600" rIns="365760" bIns="182880" rtlCol="0" anchor="t"/>
          <a:lstStyle/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600"/>
              </a:spcAft>
            </a:pPr>
            <a:r>
              <a:rPr sz="1500" b="1">
                <a:solidFill>
                  <a:srgbClr val="B57A1A"/>
                </a:solidFill>
                <a:latin typeface="JetBrains Mono"/>
                <a:ea typeface="JetBrains Mono"/>
                <a:cs typeface="JetBrains Mono"/>
              </a:rPr>
              <a:t>⚠  흔한 실수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1">
                <a:solidFill>
                  <a:srgbClr val="E8A33D"/>
                </a:solidFill>
                <a:latin typeface="Pretendard"/>
                <a:ea typeface="Pretendard"/>
                <a:cs typeface="Pretendard"/>
              </a:rPr>
              <a:t>·  </a:t>
            </a:r>
            <a:r>
              <a:rPr sz="14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"언젠가 해보겠다"는 적용 실패의 신호 → 요일·시간까지 구체화.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sz="1400" b="1">
                <a:solidFill>
                  <a:srgbClr val="E8A33D"/>
                </a:solidFill>
                <a:latin typeface="Pretendard"/>
                <a:ea typeface="Pretendard"/>
                <a:cs typeface="Pretendard"/>
              </a:rPr>
              <a:t>·  </a:t>
            </a:r>
            <a:r>
              <a:rPr sz="1400" b="0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발표만 하고 피드백을 안 남기면 개선이 없다 → 개선점 1개를 즉시 반영.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625088"/>
            <a:ext cx="10332720" cy="1005840"/>
          </a:xfrm>
          <a:prstGeom prst="rect">
            <a:avLst/>
          </a:prstGeom>
          <a:solidFill>
            <a:srgbClr val="DCE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201168" rIns="365760" bIns="182880" rtlCol="0" anchor="t"/>
          <a:lstStyle/>
          <a:p>
            <a:pPr algn="l">
              <a:lnSpc>
                <a:spcPct val="125000"/>
              </a:lnSpc>
              <a:spcBef>
                <a:spcPts val="600"/>
              </a:spcBef>
              <a:spcAft>
                <a:spcPts val="400"/>
              </a:spcAft>
            </a:pPr>
            <a:r>
              <a:rPr sz="1500" b="1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📦  결과물   </a:t>
            </a:r>
            <a:r>
              <a:rPr sz="1600" b="1">
                <a:solidFill>
                  <a:srgbClr val="14213D"/>
                </a:solidFill>
                <a:latin typeface="Pretendard"/>
                <a:ea typeface="Pretendard"/>
                <a:cs typeface="Pretendard"/>
              </a:rPr>
              <a:t>결과물 패키지 + 발표 + 실무 활용 체크리스트.</a:t>
            </a:r>
          </a:p>
        </p:txBody>
      </p:sp>
      <p:sp>
        <p:nvSpPr>
          <p:cNvPr id="6" name="PageNumber">
            <a:extLst>
              <a:ext uri="{FF2B5EF4-FFF2-40B4-BE49-F238E27FC236}">
                <a16:creationId xmlns:a16="http://schemas.microsoft.com/office/drawing/2014/main" id="{DF6607A4-7F56-3243-8316-9A32B3496276}"/>
              </a:ext>
            </a:extLst>
          </p:cNvPr>
          <p:cNvSpPr txBox="1"/>
          <p:nvPr/>
        </p:nvSpPr>
        <p:spPr>
          <a:xfrm>
            <a:off x="9499600" y="6489700"/>
            <a:ext cx="23368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r"/>
            <a:r>
              <a:rPr lang="en-US" altLang="ko-KR" sz="1200">
                <a:solidFill>
                  <a:srgbClr val="576176"/>
                </a:solidFill>
                <a:latin typeface="Pretendard"/>
              </a:rPr>
              <a:t>- 140/144 -</a:t>
            </a:r>
            <a:endParaRPr lang="ko-KR" altLang="en-US" sz="1200">
              <a:solidFill>
                <a:srgbClr val="576176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3581441242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도구 가이드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이 모듈에서 쓰는 도구</a:t>
            </a: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BF548C4D-5C45-1843-B0C5-7DDFD16CB288}"/>
              </a:ext>
            </a:extLst>
          </p:cNvPr>
          <p:cNvSpPr/>
          <p:nvPr/>
        </p:nvSpPr>
        <p:spPr>
          <a:xfrm>
            <a:off x="825500" y="1905000"/>
            <a:ext cx="5080000" cy="4381500"/>
          </a:xfrm>
          <a:prstGeom prst="roundRect">
            <a:avLst>
              <a:gd name="adj" fmla="val 580"/>
            </a:avLst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637E8B44-7AD1-E342-B9FD-DB08F95D1752}"/>
              </a:ext>
            </a:extLst>
          </p:cNvPr>
          <p:cNvSpPr/>
          <p:nvPr/>
        </p:nvSpPr>
        <p:spPr>
          <a:xfrm>
            <a:off x="1130300" y="2209800"/>
            <a:ext cx="4470400" cy="736600"/>
          </a:xfrm>
          <a:prstGeom prst="roundRect">
            <a:avLst>
              <a:gd name="adj" fmla="val 3448"/>
            </a:avLst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DAE66C-4164-394C-A35A-A87129B951DB}"/>
              </a:ext>
            </a:extLst>
          </p:cNvPr>
          <p:cNvSpPr txBox="1"/>
          <p:nvPr/>
        </p:nvSpPr>
        <p:spPr>
          <a:xfrm>
            <a:off x="1130300" y="2209800"/>
            <a:ext cx="4470400" cy="736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en-US" altLang="ko-KR" sz="2100" b="1">
                <a:solidFill>
                  <a:srgbClr val="FFFFFF"/>
                </a:solidFill>
                <a:latin typeface="Pretendard"/>
              </a:rPr>
              <a:t>Make / Zapier</a:t>
            </a:r>
            <a:endParaRPr lang="ko-KR" altLang="en-US" sz="2100" b="1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F0ACCE-9096-5044-9C08-939BE37F7385}"/>
              </a:ext>
            </a:extLst>
          </p:cNvPr>
          <p:cNvSpPr txBox="1"/>
          <p:nvPr/>
        </p:nvSpPr>
        <p:spPr>
          <a:xfrm>
            <a:off x="1181100" y="3200400"/>
            <a:ext cx="43688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400" b="1">
                <a:solidFill>
                  <a:srgbClr val="576176"/>
                </a:solidFill>
                <a:latin typeface="JetBrains Mono"/>
              </a:rPr>
              <a:t>STRENGTH · </a:t>
            </a:r>
            <a:r>
              <a:rPr lang="ko-KR" altLang="en-US" sz="1400" b="1">
                <a:solidFill>
                  <a:srgbClr val="576176"/>
                </a:solidFill>
                <a:latin typeface="JetBrains Mono"/>
              </a:rPr>
              <a:t>강점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476D31-85E1-484B-A978-8096088648BC}"/>
              </a:ext>
            </a:extLst>
          </p:cNvPr>
          <p:cNvSpPr txBox="1"/>
          <p:nvPr/>
        </p:nvSpPr>
        <p:spPr>
          <a:xfrm>
            <a:off x="1181100" y="3530600"/>
            <a:ext cx="4368800" cy="1397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500" dirty="0">
                <a:solidFill>
                  <a:srgbClr val="2A3B57"/>
                </a:solidFill>
                <a:latin typeface="Pretendard"/>
              </a:rPr>
              <a:t>트리거</a:t>
            </a:r>
            <a:r>
              <a:rPr lang="en-US" altLang="ko-KR" sz="1500" dirty="0">
                <a:solidFill>
                  <a:srgbClr val="2A3B57"/>
                </a:solidFill>
                <a:latin typeface="Pretendard"/>
              </a:rPr>
              <a:t>-</a:t>
            </a:r>
            <a:r>
              <a:rPr lang="ko-KR" altLang="en-US" sz="1500" dirty="0">
                <a:solidFill>
                  <a:srgbClr val="2A3B57"/>
                </a:solidFill>
                <a:latin typeface="Pretendard"/>
              </a:rPr>
              <a:t>액션으로 단계를 연결한다</a:t>
            </a:r>
            <a:r>
              <a:rPr lang="en-US" altLang="ko-KR" sz="1500" dirty="0">
                <a:solidFill>
                  <a:srgbClr val="2A3B57"/>
                </a:solidFill>
                <a:latin typeface="Pretendard"/>
              </a:rPr>
              <a:t>. </a:t>
            </a:r>
          </a:p>
          <a:p>
            <a:pPr algn="l">
              <a:lnSpc>
                <a:spcPct val="150000"/>
              </a:lnSpc>
            </a:pPr>
            <a:r>
              <a:rPr lang="ko-KR" altLang="en-US" sz="1500" dirty="0">
                <a:solidFill>
                  <a:srgbClr val="2A3B57"/>
                </a:solidFill>
                <a:latin typeface="Pretendard"/>
              </a:rPr>
              <a:t>무료 한도로 간단한 자동화부터 시작한다</a:t>
            </a:r>
            <a:r>
              <a:rPr lang="en-US" altLang="ko-KR" sz="1500" dirty="0">
                <a:solidFill>
                  <a:srgbClr val="2A3B57"/>
                </a:solidFill>
                <a:latin typeface="Pretendard"/>
              </a:rPr>
              <a:t>.</a:t>
            </a:r>
            <a:endParaRPr lang="ko-KR" altLang="en-US" sz="1500" dirty="0">
              <a:solidFill>
                <a:srgbClr val="2A3B57"/>
              </a:solidFill>
              <a:latin typeface="Pretendard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F15F3B8-9E37-2F42-9EC4-2243F0FAB955}"/>
              </a:ext>
            </a:extLst>
          </p:cNvPr>
          <p:cNvSpPr txBox="1"/>
          <p:nvPr/>
        </p:nvSpPr>
        <p:spPr>
          <a:xfrm>
            <a:off x="1181100" y="5054600"/>
            <a:ext cx="43688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400" b="1">
                <a:solidFill>
                  <a:srgbClr val="14213D"/>
                </a:solidFill>
                <a:latin typeface="JetBrains Mono"/>
              </a:rPr>
              <a:t>이렇게 쓰세요</a:t>
            </a: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337A9ECA-0340-7148-B02A-3B744BB64A01}"/>
              </a:ext>
            </a:extLst>
          </p:cNvPr>
          <p:cNvSpPr/>
          <p:nvPr/>
        </p:nvSpPr>
        <p:spPr>
          <a:xfrm>
            <a:off x="1181100" y="5334000"/>
            <a:ext cx="4368800" cy="685800"/>
          </a:xfrm>
          <a:prstGeom prst="roundRect">
            <a:avLst>
              <a:gd name="adj" fmla="val 3704"/>
            </a:avLst>
          </a:prstGeom>
          <a:solidFill>
            <a:srgbClr val="E7ECF4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50B7560-7C9D-CE4D-8A65-A42A5E2D9347}"/>
              </a:ext>
            </a:extLst>
          </p:cNvPr>
          <p:cNvSpPr txBox="1"/>
          <p:nvPr/>
        </p:nvSpPr>
        <p:spPr>
          <a:xfrm>
            <a:off x="1181100" y="5334000"/>
            <a:ext cx="4368800" cy="685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ko-KR" altLang="en-US" sz="1450" b="1">
                <a:solidFill>
                  <a:srgbClr val="14213D"/>
                </a:solidFill>
                <a:latin typeface="Pretendard"/>
              </a:rPr>
              <a:t>단계 연결 자동화</a:t>
            </a: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79C426D2-1247-6242-BEBD-188EEF1F8FC2}"/>
              </a:ext>
            </a:extLst>
          </p:cNvPr>
          <p:cNvSpPr/>
          <p:nvPr/>
        </p:nvSpPr>
        <p:spPr>
          <a:xfrm>
            <a:off x="6286500" y="1905000"/>
            <a:ext cx="5080000" cy="4381500"/>
          </a:xfrm>
          <a:prstGeom prst="roundRect">
            <a:avLst>
              <a:gd name="adj" fmla="val 580"/>
            </a:avLst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4" name="모서리가 둥근 직사각형 13">
            <a:extLst>
              <a:ext uri="{FF2B5EF4-FFF2-40B4-BE49-F238E27FC236}">
                <a16:creationId xmlns:a16="http://schemas.microsoft.com/office/drawing/2014/main" id="{822CB0D2-9DB5-5C40-AC90-4977704A9D42}"/>
              </a:ext>
            </a:extLst>
          </p:cNvPr>
          <p:cNvSpPr/>
          <p:nvPr/>
        </p:nvSpPr>
        <p:spPr>
          <a:xfrm>
            <a:off x="6591300" y="2209800"/>
            <a:ext cx="4470400" cy="736600"/>
          </a:xfrm>
          <a:prstGeom prst="roundRect">
            <a:avLst>
              <a:gd name="adj" fmla="val 3448"/>
            </a:avLst>
          </a:prstGeom>
          <a:solidFill>
            <a:srgbClr val="1D4E89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179F926-F29C-D047-A525-031FA09030EA}"/>
              </a:ext>
            </a:extLst>
          </p:cNvPr>
          <p:cNvSpPr txBox="1"/>
          <p:nvPr/>
        </p:nvSpPr>
        <p:spPr>
          <a:xfrm>
            <a:off x="6591300" y="2209800"/>
            <a:ext cx="4470400" cy="736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ko-KR" altLang="en-US" sz="2100" b="1">
                <a:solidFill>
                  <a:srgbClr val="FFFFFF"/>
                </a:solidFill>
                <a:latin typeface="Pretendard"/>
              </a:rPr>
              <a:t>노션 </a:t>
            </a:r>
            <a:r>
              <a:rPr lang="en-US" altLang="ko-KR" sz="2100" b="1">
                <a:solidFill>
                  <a:srgbClr val="FFFFFF"/>
                </a:solidFill>
                <a:latin typeface="Pretendard"/>
              </a:rPr>
              <a:t>/ </a:t>
            </a:r>
            <a:r>
              <a:rPr lang="ko-KR" altLang="en-US" sz="2100" b="1">
                <a:solidFill>
                  <a:srgbClr val="FFFFFF"/>
                </a:solidFill>
                <a:latin typeface="Pretendard"/>
              </a:rPr>
              <a:t>구글 문서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E8137B5-36C3-924E-9402-D272EB7DAE89}"/>
              </a:ext>
            </a:extLst>
          </p:cNvPr>
          <p:cNvSpPr txBox="1"/>
          <p:nvPr/>
        </p:nvSpPr>
        <p:spPr>
          <a:xfrm>
            <a:off x="6642100" y="3200400"/>
            <a:ext cx="43688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400" b="1">
                <a:solidFill>
                  <a:srgbClr val="576176"/>
                </a:solidFill>
                <a:latin typeface="JetBrains Mono"/>
              </a:rPr>
              <a:t>STRENGTH · </a:t>
            </a:r>
            <a:r>
              <a:rPr lang="ko-KR" altLang="en-US" sz="1400" b="1">
                <a:solidFill>
                  <a:srgbClr val="576176"/>
                </a:solidFill>
                <a:latin typeface="JetBrains Mono"/>
              </a:rPr>
              <a:t>강점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561333A-E32F-6243-86EF-969E1C678544}"/>
              </a:ext>
            </a:extLst>
          </p:cNvPr>
          <p:cNvSpPr txBox="1"/>
          <p:nvPr/>
        </p:nvSpPr>
        <p:spPr>
          <a:xfrm>
            <a:off x="6642100" y="3530600"/>
            <a:ext cx="4368800" cy="1397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500" dirty="0">
                <a:solidFill>
                  <a:srgbClr val="2A3B57"/>
                </a:solidFill>
                <a:latin typeface="Pretendard"/>
              </a:rPr>
              <a:t>프롬프트 라이브러리</a:t>
            </a:r>
            <a:r>
              <a:rPr lang="en-US" altLang="ko-KR" sz="1500" dirty="0">
                <a:solidFill>
                  <a:srgbClr val="2A3B57"/>
                </a:solidFill>
                <a:latin typeface="Pretendard"/>
              </a:rPr>
              <a:t>·</a:t>
            </a:r>
            <a:r>
              <a:rPr lang="ko-KR" altLang="en-US" sz="1500" dirty="0">
                <a:solidFill>
                  <a:srgbClr val="2A3B57"/>
                </a:solidFill>
                <a:latin typeface="Pretendard"/>
              </a:rPr>
              <a:t>결과물 패키지</a:t>
            </a:r>
            <a:endParaRPr lang="en-US" altLang="ko-KR" sz="1500" dirty="0">
              <a:solidFill>
                <a:srgbClr val="2A3B57"/>
              </a:solidFill>
              <a:latin typeface="Pretendard"/>
            </a:endParaRPr>
          </a:p>
          <a:p>
            <a:pPr algn="l">
              <a:lnSpc>
                <a:spcPct val="150000"/>
              </a:lnSpc>
            </a:pPr>
            <a:r>
              <a:rPr lang="en-US" altLang="ko-KR" sz="1500" dirty="0">
                <a:solidFill>
                  <a:srgbClr val="2A3B57"/>
                </a:solidFill>
                <a:latin typeface="Pretendard"/>
              </a:rPr>
              <a:t>·</a:t>
            </a:r>
            <a:r>
              <a:rPr lang="ko-KR" altLang="en-US" sz="1500" dirty="0">
                <a:solidFill>
                  <a:srgbClr val="2A3B57"/>
                </a:solidFill>
                <a:latin typeface="Pretendard"/>
              </a:rPr>
              <a:t>체크리스트를 보관하는 허브</a:t>
            </a:r>
            <a:r>
              <a:rPr lang="en-US" altLang="ko-KR" sz="1500" dirty="0">
                <a:solidFill>
                  <a:srgbClr val="2A3B57"/>
                </a:solidFill>
                <a:latin typeface="Pretendard"/>
              </a:rPr>
              <a:t>.</a:t>
            </a:r>
            <a:endParaRPr lang="ko-KR" altLang="en-US" sz="1500" dirty="0">
              <a:solidFill>
                <a:srgbClr val="2A3B57"/>
              </a:solidFill>
              <a:latin typeface="Pretendard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D3B4D45-5C11-1C48-A442-75879343C5EA}"/>
              </a:ext>
            </a:extLst>
          </p:cNvPr>
          <p:cNvSpPr txBox="1"/>
          <p:nvPr/>
        </p:nvSpPr>
        <p:spPr>
          <a:xfrm>
            <a:off x="6642100" y="5054600"/>
            <a:ext cx="43688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400" b="1">
                <a:solidFill>
                  <a:srgbClr val="1D4E89"/>
                </a:solidFill>
                <a:latin typeface="JetBrains Mono"/>
              </a:rPr>
              <a:t>이렇게 쓰세요</a:t>
            </a: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0A894CC9-BB4F-8E40-9441-88501DCAC868}"/>
              </a:ext>
            </a:extLst>
          </p:cNvPr>
          <p:cNvSpPr/>
          <p:nvPr/>
        </p:nvSpPr>
        <p:spPr>
          <a:xfrm>
            <a:off x="6642100" y="5334000"/>
            <a:ext cx="4368800" cy="685800"/>
          </a:xfrm>
          <a:prstGeom prst="roundRect">
            <a:avLst>
              <a:gd name="adj" fmla="val 3704"/>
            </a:avLst>
          </a:prstGeom>
          <a:solidFill>
            <a:srgbClr val="E4ECF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D4D82F0-688E-E340-AA5F-E7A2767D0C4F}"/>
              </a:ext>
            </a:extLst>
          </p:cNvPr>
          <p:cNvSpPr txBox="1"/>
          <p:nvPr/>
        </p:nvSpPr>
        <p:spPr>
          <a:xfrm>
            <a:off x="6642100" y="5334000"/>
            <a:ext cx="4368800" cy="685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/>
            <a:r>
              <a:rPr lang="ko-KR" altLang="en-US" sz="1450" b="1">
                <a:solidFill>
                  <a:srgbClr val="1D4E89"/>
                </a:solidFill>
                <a:latin typeface="Pretendard"/>
              </a:rPr>
              <a:t>자산 보관 허브</a:t>
            </a:r>
          </a:p>
        </p:txBody>
      </p:sp>
      <p:sp>
        <p:nvSpPr>
          <p:cNvPr id="4" name="PageNumber">
            <a:extLst>
              <a:ext uri="{FF2B5EF4-FFF2-40B4-BE49-F238E27FC236}">
                <a16:creationId xmlns:a16="http://schemas.microsoft.com/office/drawing/2014/main" id="{90A744E5-ED12-654D-BF2A-70BA8CEC9C3C}"/>
              </a:ext>
            </a:extLst>
          </p:cNvPr>
          <p:cNvSpPr txBox="1"/>
          <p:nvPr/>
        </p:nvSpPr>
        <p:spPr>
          <a:xfrm>
            <a:off x="9499600" y="6489700"/>
            <a:ext cx="23368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r"/>
            <a:r>
              <a:rPr lang="en-US" altLang="ko-KR" sz="1200">
                <a:solidFill>
                  <a:srgbClr val="576176"/>
                </a:solidFill>
                <a:latin typeface="Pretendard"/>
              </a:rPr>
              <a:t>- 141/144 -</a:t>
            </a:r>
            <a:endParaRPr lang="ko-KR" altLang="en-US" sz="1200">
              <a:solidFill>
                <a:srgbClr val="576176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329781265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21208"/>
            <a:ext cx="164592" cy="3840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D4E89"/>
                </a:solidFill>
                <a:latin typeface="JetBrains Mono"/>
                <a:ea typeface="JetBrains Mono"/>
                <a:cs typeface="JetBrains Mono"/>
              </a:rPr>
              <a:t>CHECKLIST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13D"/>
                </a:solidFill>
                <a:latin typeface="Noto Serif KR"/>
                <a:ea typeface="Noto Serif KR"/>
                <a:cs typeface="Noto Serif KR"/>
              </a:rPr>
              <a:t>모듈 체크리스트</a:t>
            </a: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0A80BBB1-E9E1-D24F-BB88-170826CB8BEF}"/>
              </a:ext>
            </a:extLst>
          </p:cNvPr>
          <p:cNvSpPr/>
          <p:nvPr/>
        </p:nvSpPr>
        <p:spPr>
          <a:xfrm>
            <a:off x="825500" y="2006600"/>
            <a:ext cx="10541000" cy="1219200"/>
          </a:xfrm>
          <a:prstGeom prst="roundRect">
            <a:avLst>
              <a:gd name="adj" fmla="val 2083"/>
            </a:avLst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4EC540B0-4C8A-9D43-B2C4-0464787929F6}"/>
              </a:ext>
            </a:extLst>
          </p:cNvPr>
          <p:cNvSpPr/>
          <p:nvPr/>
        </p:nvSpPr>
        <p:spPr>
          <a:xfrm>
            <a:off x="825500" y="2006600"/>
            <a:ext cx="76200" cy="1219200"/>
          </a:xfrm>
          <a:prstGeom prst="roundRect">
            <a:avLst>
              <a:gd name="adj" fmla="val 33333"/>
            </a:avLst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633A76BF-D1CC-2441-B967-27B0EA57A01E}"/>
              </a:ext>
            </a:extLst>
          </p:cNvPr>
          <p:cNvSpPr/>
          <p:nvPr/>
        </p:nvSpPr>
        <p:spPr>
          <a:xfrm>
            <a:off x="1270000" y="2362200"/>
            <a:ext cx="508000" cy="508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2225" cap="flat" cmpd="sng" algn="ctr">
            <a:solidFill>
              <a:srgbClr val="14213D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2200" b="1">
                <a:solidFill>
                  <a:srgbClr val="E8A33D"/>
                </a:solidFill>
              </a:rPr>
              <a:t>✓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0893A4-9533-EF49-A50B-7ABD7F0ACD21}"/>
              </a:ext>
            </a:extLst>
          </p:cNvPr>
          <p:cNvSpPr txBox="1"/>
          <p:nvPr/>
        </p:nvSpPr>
        <p:spPr>
          <a:xfrm>
            <a:off x="2082800" y="2286000"/>
            <a:ext cx="8890000" cy="355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b="1">
                <a:solidFill>
                  <a:srgbClr val="14213D"/>
                </a:solidFill>
                <a:latin typeface="Pretendard"/>
              </a:rPr>
              <a:t>프롬프트 라이브러리 만들기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F1E268D-71CA-CA4E-A75C-BA0039BCB419}"/>
              </a:ext>
            </a:extLst>
          </p:cNvPr>
          <p:cNvSpPr txBox="1"/>
          <p:nvPr/>
        </p:nvSpPr>
        <p:spPr>
          <a:xfrm>
            <a:off x="2082800" y="2667000"/>
            <a:ext cx="8890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400">
                <a:solidFill>
                  <a:srgbClr val="576176"/>
                </a:solidFill>
                <a:latin typeface="Pretendard"/>
              </a:rPr>
              <a:t>용도별로 재사용 프롬프트 정리</a:t>
            </a: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F0BA4724-01EA-334B-98C3-E6D73BFF2762}"/>
              </a:ext>
            </a:extLst>
          </p:cNvPr>
          <p:cNvSpPr/>
          <p:nvPr/>
        </p:nvSpPr>
        <p:spPr>
          <a:xfrm>
            <a:off x="825500" y="3403600"/>
            <a:ext cx="10541000" cy="1219200"/>
          </a:xfrm>
          <a:prstGeom prst="roundRect">
            <a:avLst>
              <a:gd name="adj" fmla="val 2083"/>
            </a:avLst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DFEA1D2A-0933-2842-9C8E-72CC41C21649}"/>
              </a:ext>
            </a:extLst>
          </p:cNvPr>
          <p:cNvSpPr/>
          <p:nvPr/>
        </p:nvSpPr>
        <p:spPr>
          <a:xfrm>
            <a:off x="825500" y="3403600"/>
            <a:ext cx="76200" cy="1219200"/>
          </a:xfrm>
          <a:prstGeom prst="roundRect">
            <a:avLst>
              <a:gd name="adj" fmla="val 33333"/>
            </a:avLst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5475A8E2-6AB0-A04D-B01A-C320A3B931C1}"/>
              </a:ext>
            </a:extLst>
          </p:cNvPr>
          <p:cNvSpPr/>
          <p:nvPr/>
        </p:nvSpPr>
        <p:spPr>
          <a:xfrm>
            <a:off x="1270000" y="3759200"/>
            <a:ext cx="508000" cy="508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2225" cap="flat" cmpd="sng" algn="ctr">
            <a:solidFill>
              <a:srgbClr val="14213D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2200" b="1">
                <a:solidFill>
                  <a:srgbClr val="E8A33D"/>
                </a:solidFill>
              </a:rPr>
              <a:t>✓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086FB68-FCD7-2249-9B03-3A0E365FE76F}"/>
              </a:ext>
            </a:extLst>
          </p:cNvPr>
          <p:cNvSpPr txBox="1"/>
          <p:nvPr/>
        </p:nvSpPr>
        <p:spPr>
          <a:xfrm>
            <a:off x="2082800" y="3683000"/>
            <a:ext cx="8890000" cy="355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b="1">
                <a:solidFill>
                  <a:srgbClr val="14213D"/>
                </a:solidFill>
                <a:latin typeface="Pretendard"/>
              </a:rPr>
              <a:t>자동화 워크플로 </a:t>
            </a:r>
            <a:r>
              <a:rPr lang="en-US" altLang="ko-KR" b="1">
                <a:solidFill>
                  <a:srgbClr val="14213D"/>
                </a:solidFill>
                <a:latin typeface="Pretendard"/>
              </a:rPr>
              <a:t>1</a:t>
            </a:r>
            <a:r>
              <a:rPr lang="ko-KR" altLang="en-US" b="1">
                <a:solidFill>
                  <a:srgbClr val="14213D"/>
                </a:solidFill>
                <a:latin typeface="Pretendard"/>
              </a:rPr>
              <a:t>건 설계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A0B67AE-027D-7F48-9817-1055C5075D48}"/>
              </a:ext>
            </a:extLst>
          </p:cNvPr>
          <p:cNvSpPr txBox="1"/>
          <p:nvPr/>
        </p:nvSpPr>
        <p:spPr>
          <a:xfrm>
            <a:off x="2082800" y="4064000"/>
            <a:ext cx="8890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400">
                <a:solidFill>
                  <a:srgbClr val="576176"/>
                </a:solidFill>
                <a:latin typeface="Pretendard"/>
              </a:rPr>
              <a:t>트리거 → 생성 → 검수 → 발행</a:t>
            </a:r>
          </a:p>
        </p:txBody>
      </p:sp>
      <p:sp>
        <p:nvSpPr>
          <p:cNvPr id="15" name="모서리가 둥근 직사각형 14">
            <a:extLst>
              <a:ext uri="{FF2B5EF4-FFF2-40B4-BE49-F238E27FC236}">
                <a16:creationId xmlns:a16="http://schemas.microsoft.com/office/drawing/2014/main" id="{D45B9179-C5E2-BE46-BD02-B3880FBFF247}"/>
              </a:ext>
            </a:extLst>
          </p:cNvPr>
          <p:cNvSpPr/>
          <p:nvPr/>
        </p:nvSpPr>
        <p:spPr>
          <a:xfrm>
            <a:off x="825500" y="4800600"/>
            <a:ext cx="10541000" cy="1219200"/>
          </a:xfrm>
          <a:prstGeom prst="roundRect">
            <a:avLst>
              <a:gd name="adj" fmla="val 2083"/>
            </a:avLst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6" name="모서리가 둥근 직사각형 15">
            <a:extLst>
              <a:ext uri="{FF2B5EF4-FFF2-40B4-BE49-F238E27FC236}">
                <a16:creationId xmlns:a16="http://schemas.microsoft.com/office/drawing/2014/main" id="{440D82B7-BE88-8E45-9F55-5657A63E2BB6}"/>
              </a:ext>
            </a:extLst>
          </p:cNvPr>
          <p:cNvSpPr/>
          <p:nvPr/>
        </p:nvSpPr>
        <p:spPr>
          <a:xfrm>
            <a:off x="825500" y="4800600"/>
            <a:ext cx="76200" cy="1219200"/>
          </a:xfrm>
          <a:prstGeom prst="roundRect">
            <a:avLst>
              <a:gd name="adj" fmla="val 33333"/>
            </a:avLst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7" name="모서리가 둥근 직사각형 16">
            <a:extLst>
              <a:ext uri="{FF2B5EF4-FFF2-40B4-BE49-F238E27FC236}">
                <a16:creationId xmlns:a16="http://schemas.microsoft.com/office/drawing/2014/main" id="{BFD007CB-1C00-A540-9996-81B7B4D3A8BA}"/>
              </a:ext>
            </a:extLst>
          </p:cNvPr>
          <p:cNvSpPr/>
          <p:nvPr/>
        </p:nvSpPr>
        <p:spPr>
          <a:xfrm>
            <a:off x="1270000" y="5156200"/>
            <a:ext cx="508000" cy="508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2225" cap="flat" cmpd="sng" algn="ctr">
            <a:solidFill>
              <a:srgbClr val="14213D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2200" b="1">
                <a:solidFill>
                  <a:srgbClr val="E8A33D"/>
                </a:solidFill>
              </a:rPr>
              <a:t>✓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4A8E5E3-473A-DE4B-AB7E-606198FBCEB7}"/>
              </a:ext>
            </a:extLst>
          </p:cNvPr>
          <p:cNvSpPr txBox="1"/>
          <p:nvPr/>
        </p:nvSpPr>
        <p:spPr>
          <a:xfrm>
            <a:off x="2082800" y="5080000"/>
            <a:ext cx="8890000" cy="355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b="1">
                <a:solidFill>
                  <a:srgbClr val="14213D"/>
                </a:solidFill>
                <a:latin typeface="Pretendard"/>
              </a:rPr>
              <a:t>결과물 발표 </a:t>
            </a:r>
            <a:r>
              <a:rPr lang="en-US" altLang="ko-KR" b="1">
                <a:solidFill>
                  <a:srgbClr val="14213D"/>
                </a:solidFill>
                <a:latin typeface="Pretendard"/>
              </a:rPr>
              <a:t>· </a:t>
            </a:r>
            <a:r>
              <a:rPr lang="ko-KR" altLang="en-US" b="1">
                <a:solidFill>
                  <a:srgbClr val="14213D"/>
                </a:solidFill>
                <a:latin typeface="Pretendard"/>
              </a:rPr>
              <a:t>적용 체크리스트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766066C-6967-C142-9699-94990477B254}"/>
              </a:ext>
            </a:extLst>
          </p:cNvPr>
          <p:cNvSpPr txBox="1"/>
          <p:nvPr/>
        </p:nvSpPr>
        <p:spPr>
          <a:xfrm>
            <a:off x="2082800" y="5461000"/>
            <a:ext cx="8890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400">
                <a:solidFill>
                  <a:srgbClr val="576176"/>
                </a:solidFill>
                <a:latin typeface="Pretendard"/>
              </a:rPr>
              <a:t>내일부터 쓸 </a:t>
            </a:r>
            <a:r>
              <a:rPr lang="en-US" altLang="ko-KR" sz="1400">
                <a:solidFill>
                  <a:srgbClr val="576176"/>
                </a:solidFill>
                <a:latin typeface="Pretendard"/>
              </a:rPr>
              <a:t>1</a:t>
            </a:r>
            <a:r>
              <a:rPr lang="ko-KR" altLang="en-US" sz="1400">
                <a:solidFill>
                  <a:srgbClr val="576176"/>
                </a:solidFill>
                <a:latin typeface="Pretendard"/>
              </a:rPr>
              <a:t>가지 행동</a:t>
            </a:r>
          </a:p>
        </p:txBody>
      </p:sp>
      <p:sp>
        <p:nvSpPr>
          <p:cNvPr id="20" name="PageNumber">
            <a:extLst>
              <a:ext uri="{FF2B5EF4-FFF2-40B4-BE49-F238E27FC236}">
                <a16:creationId xmlns:a16="http://schemas.microsoft.com/office/drawing/2014/main" id="{C4C352B5-D1E1-894A-A1D4-B35E3938A8BA}"/>
              </a:ext>
            </a:extLst>
          </p:cNvPr>
          <p:cNvSpPr txBox="1"/>
          <p:nvPr/>
        </p:nvSpPr>
        <p:spPr>
          <a:xfrm>
            <a:off x="9499600" y="6489700"/>
            <a:ext cx="23368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r"/>
            <a:r>
              <a:rPr lang="en-US" altLang="ko-KR" sz="1200">
                <a:solidFill>
                  <a:srgbClr val="576176"/>
                </a:solidFill>
                <a:latin typeface="Pretendard"/>
              </a:rPr>
              <a:t>- 142/144 -</a:t>
            </a:r>
            <a:endParaRPr lang="ko-KR" altLang="en-US" sz="1200">
              <a:solidFill>
                <a:srgbClr val="576176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4014307138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2B0EB170-4D10-D04B-92DE-83C708144246}"/>
              </a:ext>
            </a:extLst>
          </p:cNvPr>
          <p:cNvSpPr/>
          <p:nvPr/>
        </p:nvSpPr>
        <p:spPr>
          <a:xfrm>
            <a:off x="825500" y="1905000"/>
            <a:ext cx="10541000" cy="3175000"/>
          </a:xfrm>
          <a:prstGeom prst="roundRect">
            <a:avLst>
              <a:gd name="adj" fmla="val 800"/>
            </a:avLst>
          </a:prstGeom>
          <a:solidFill>
            <a:srgbClr val="1421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EE648FE4-CA08-FF43-B193-A7A50CA92A36}"/>
              </a:ext>
            </a:extLst>
          </p:cNvPr>
          <p:cNvSpPr/>
          <p:nvPr/>
        </p:nvSpPr>
        <p:spPr>
          <a:xfrm>
            <a:off x="825500" y="1905000"/>
            <a:ext cx="101600" cy="3175000"/>
          </a:xfrm>
          <a:prstGeom prst="roundRect">
            <a:avLst>
              <a:gd name="adj" fmla="val 25000"/>
            </a:avLst>
          </a:prstGeom>
          <a:solidFill>
            <a:srgbClr val="E8A33D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69A019-1A14-0C46-8DFC-53B13235D5AA}"/>
              </a:ext>
            </a:extLst>
          </p:cNvPr>
          <p:cNvSpPr txBox="1"/>
          <p:nvPr/>
        </p:nvSpPr>
        <p:spPr>
          <a:xfrm>
            <a:off x="1333500" y="2286000"/>
            <a:ext cx="8890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500" b="1">
                <a:solidFill>
                  <a:srgbClr val="E8A33D"/>
                </a:solidFill>
                <a:latin typeface="JetBrains Mono"/>
              </a:rPr>
              <a:t>MISSION 07 · </a:t>
            </a:r>
            <a:r>
              <a:rPr lang="ko-KR" altLang="en-US" sz="1500" b="1">
                <a:solidFill>
                  <a:srgbClr val="E8A33D"/>
                </a:solidFill>
                <a:latin typeface="JetBrains Mono"/>
              </a:rPr>
              <a:t>도장깨기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ACA37B-D276-1A42-B5DD-53EEB82B7C89}"/>
              </a:ext>
            </a:extLst>
          </p:cNvPr>
          <p:cNvSpPr txBox="1"/>
          <p:nvPr/>
        </p:nvSpPr>
        <p:spPr>
          <a:xfrm>
            <a:off x="1333500" y="2641600"/>
            <a:ext cx="8890000" cy="584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3000" b="1">
                <a:solidFill>
                  <a:srgbClr val="FFFFFF"/>
                </a:solidFill>
                <a:latin typeface="Noto Serif KR"/>
              </a:rPr>
              <a:t>자동화 루틴 완성</a:t>
            </a: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417FAF36-920D-CC42-AF88-D9B67C334675}"/>
              </a:ext>
            </a:extLst>
          </p:cNvPr>
          <p:cNvSpPr/>
          <p:nvPr/>
        </p:nvSpPr>
        <p:spPr>
          <a:xfrm>
            <a:off x="1333500" y="3454400"/>
            <a:ext cx="9525000" cy="1320800"/>
          </a:xfrm>
          <a:prstGeom prst="roundRect">
            <a:avLst>
              <a:gd name="adj" fmla="val 1923"/>
            </a:avLst>
          </a:prstGeom>
          <a:solidFill>
            <a:srgbClr val="20314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3771C53-000F-034B-8AA2-13224225ACE5}"/>
              </a:ext>
            </a:extLst>
          </p:cNvPr>
          <p:cNvSpPr txBox="1"/>
          <p:nvPr/>
        </p:nvSpPr>
        <p:spPr>
          <a:xfrm>
            <a:off x="1587500" y="3657600"/>
            <a:ext cx="9017000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b="1">
                <a:solidFill>
                  <a:srgbClr val="FFFFFF"/>
                </a:solidFill>
                <a:latin typeface="Pretendard"/>
              </a:rPr>
              <a:t>오늘 만든 결과물을 재사용 가능한 템플릿으로 묶는다</a:t>
            </a:r>
            <a:r>
              <a:rPr lang="en-US" altLang="ko-KR" b="1">
                <a:solidFill>
                  <a:srgbClr val="FFFFFF"/>
                </a:solidFill>
                <a:latin typeface="Pretendard"/>
              </a:rPr>
              <a:t>.</a:t>
            </a:r>
            <a:endParaRPr lang="ko-KR" altLang="en-US" b="1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207F5F-1F0B-FE45-BE0A-FBF82298A61A}"/>
              </a:ext>
            </a:extLst>
          </p:cNvPr>
          <p:cNvSpPr txBox="1"/>
          <p:nvPr/>
        </p:nvSpPr>
        <p:spPr>
          <a:xfrm>
            <a:off x="1587500" y="4140200"/>
            <a:ext cx="9017000" cy="355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ko-KR" altLang="en-US" sz="1450">
                <a:solidFill>
                  <a:srgbClr val="E8A33D"/>
                </a:solidFill>
                <a:latin typeface="Pretendard"/>
              </a:rPr>
              <a:t>→ 내일 같은 업무를 </a:t>
            </a:r>
            <a:r>
              <a:rPr lang="en-US" altLang="ko-KR" sz="1450">
                <a:solidFill>
                  <a:srgbClr val="E8A33D"/>
                </a:solidFill>
                <a:latin typeface="Pretendard"/>
              </a:rPr>
              <a:t>0</a:t>
            </a:r>
            <a:r>
              <a:rPr lang="ko-KR" altLang="en-US" sz="1450">
                <a:solidFill>
                  <a:srgbClr val="E8A33D"/>
                </a:solidFill>
                <a:latin typeface="Pretendard"/>
              </a:rPr>
              <a:t>에서 시작하지 않게 만든다</a:t>
            </a:r>
            <a:r>
              <a:rPr lang="en-US" altLang="ko-KR" sz="1450">
                <a:solidFill>
                  <a:srgbClr val="E8A33D"/>
                </a:solidFill>
                <a:latin typeface="Pretendard"/>
              </a:rPr>
              <a:t>.</a:t>
            </a:r>
            <a:endParaRPr lang="ko-KR" altLang="en-US" sz="1450">
              <a:solidFill>
                <a:srgbClr val="E8A33D"/>
              </a:solidFill>
              <a:latin typeface="Pretendard"/>
            </a:endParaRP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8964F430-84B6-7146-B836-DB17113B8B92}"/>
              </a:ext>
            </a:extLst>
          </p:cNvPr>
          <p:cNvSpPr/>
          <p:nvPr/>
        </p:nvSpPr>
        <p:spPr>
          <a:xfrm>
            <a:off x="825500" y="5283200"/>
            <a:ext cx="10541000" cy="939800"/>
          </a:xfrm>
          <a:prstGeom prst="roundRect">
            <a:avLst>
              <a:gd name="adj" fmla="val 2703"/>
            </a:avLst>
          </a:prstGeom>
          <a:solidFill>
            <a:srgbClr val="F1F5FA"/>
          </a:solidFill>
          <a:ln w="12700" cap="flat" cmpd="sng" algn="ctr">
            <a:solidFill>
              <a:srgbClr val="D9E2E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6CD49BD-21F3-DE43-A303-CB124AE5EB12}"/>
              </a:ext>
            </a:extLst>
          </p:cNvPr>
          <p:cNvSpPr txBox="1"/>
          <p:nvPr/>
        </p:nvSpPr>
        <p:spPr>
          <a:xfrm>
            <a:off x="1206500" y="5486400"/>
            <a:ext cx="2032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400" b="1">
                <a:solidFill>
                  <a:srgbClr val="E8A33D"/>
                </a:solidFill>
                <a:latin typeface="JetBrains Mono"/>
              </a:rPr>
              <a:t>▶  FINISH</a:t>
            </a:r>
            <a:endParaRPr lang="ko-KR" altLang="en-US" sz="1400" b="1">
              <a:solidFill>
                <a:srgbClr val="E8A33D"/>
              </a:solidFill>
              <a:latin typeface="JetBrains Mono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DDD60A4-7E32-C546-84B1-D1659648EFC6}"/>
              </a:ext>
            </a:extLst>
          </p:cNvPr>
          <p:cNvSpPr txBox="1"/>
          <p:nvPr/>
        </p:nvSpPr>
        <p:spPr>
          <a:xfrm>
            <a:off x="1206500" y="5740400"/>
            <a:ext cx="9652000" cy="330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b="1">
                <a:solidFill>
                  <a:srgbClr val="14213D"/>
                </a:solidFill>
                <a:latin typeface="Pretendard"/>
              </a:rPr>
              <a:t>7</a:t>
            </a:r>
            <a:r>
              <a:rPr lang="ko-KR" altLang="en-US" b="1">
                <a:solidFill>
                  <a:srgbClr val="14213D"/>
                </a:solidFill>
                <a:latin typeface="Pretendard"/>
              </a:rPr>
              <a:t>개 모듈 완주 </a:t>
            </a:r>
            <a:r>
              <a:rPr lang="en-US" altLang="ko-KR" b="1">
                <a:solidFill>
                  <a:srgbClr val="14213D"/>
                </a:solidFill>
                <a:latin typeface="Pretendard"/>
              </a:rPr>
              <a:t>· </a:t>
            </a:r>
            <a:r>
              <a:rPr lang="ko-KR" altLang="en-US" b="1">
                <a:solidFill>
                  <a:srgbClr val="14213D"/>
                </a:solidFill>
                <a:latin typeface="Pretendard"/>
              </a:rPr>
              <a:t>내일부터 현업에 적용하기</a:t>
            </a:r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4B02E706-254E-FE47-A239-7E5FD1557C0A}"/>
              </a:ext>
            </a:extLst>
          </p:cNvPr>
          <p:cNvGrpSpPr/>
          <p:nvPr/>
        </p:nvGrpSpPr>
        <p:grpSpPr>
          <a:xfrm>
            <a:off x="7846785" y="100001"/>
            <a:ext cx="4345215" cy="4040199"/>
            <a:chOff x="13449300" y="2921000"/>
            <a:chExt cx="11036300" cy="10261600"/>
          </a:xfrm>
        </p:grpSpPr>
        <p:pic>
          <p:nvPicPr>
            <p:cNvPr id="43" name="Picture 2">
              <a:extLst>
                <a:ext uri="{FF2B5EF4-FFF2-40B4-BE49-F238E27FC236}">
                  <a16:creationId xmlns:a16="http://schemas.microsoft.com/office/drawing/2014/main" id="{8401BF8C-FD81-AF15-FA8B-37C03A52202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50000"/>
            </a:blip>
            <a:stretch>
              <a:fillRect/>
            </a:stretch>
          </p:blipFill>
          <p:spPr>
            <a:xfrm>
              <a:off x="21920200" y="8051800"/>
              <a:ext cx="2565400" cy="5130800"/>
            </a:xfrm>
            <a:prstGeom prst="rect">
              <a:avLst/>
            </a:prstGeom>
          </p:spPr>
        </p:pic>
        <p:pic>
          <p:nvPicPr>
            <p:cNvPr id="44" name="Picture 3">
              <a:extLst>
                <a:ext uri="{FF2B5EF4-FFF2-40B4-BE49-F238E27FC236}">
                  <a16:creationId xmlns:a16="http://schemas.microsoft.com/office/drawing/2014/main" id="{0165438E-E7FA-538D-5EF6-62A66D88A13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70000"/>
            </a:blip>
            <a:stretch>
              <a:fillRect/>
            </a:stretch>
          </p:blipFill>
          <p:spPr>
            <a:xfrm>
              <a:off x="14185900" y="8686800"/>
              <a:ext cx="4495800" cy="4495800"/>
            </a:xfrm>
            <a:prstGeom prst="rect">
              <a:avLst/>
            </a:prstGeom>
          </p:spPr>
        </p:pic>
        <p:pic>
          <p:nvPicPr>
            <p:cNvPr id="45" name="Picture 4">
              <a:extLst>
                <a:ext uri="{FF2B5EF4-FFF2-40B4-BE49-F238E27FC236}">
                  <a16:creationId xmlns:a16="http://schemas.microsoft.com/office/drawing/2014/main" id="{8A426A11-6F2D-351F-963A-2C6FA83C896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70000"/>
            </a:blip>
            <a:stretch>
              <a:fillRect/>
            </a:stretch>
          </p:blipFill>
          <p:spPr>
            <a:xfrm>
              <a:off x="16433800" y="6007100"/>
              <a:ext cx="6172200" cy="6172200"/>
            </a:xfrm>
            <a:prstGeom prst="rect">
              <a:avLst/>
            </a:prstGeom>
          </p:spPr>
        </p:pic>
        <p:pic>
          <p:nvPicPr>
            <p:cNvPr id="46" name="Picture 5">
              <a:extLst>
                <a:ext uri="{FF2B5EF4-FFF2-40B4-BE49-F238E27FC236}">
                  <a16:creationId xmlns:a16="http://schemas.microsoft.com/office/drawing/2014/main" id="{498BBC88-CE3E-1220-0E9C-063ADB0B4FB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alphaModFix amt="70000"/>
            </a:blip>
            <a:stretch>
              <a:fillRect/>
            </a:stretch>
          </p:blipFill>
          <p:spPr>
            <a:xfrm>
              <a:off x="20688300" y="2921000"/>
              <a:ext cx="1244600" cy="1244600"/>
            </a:xfrm>
            <a:prstGeom prst="rect">
              <a:avLst/>
            </a:prstGeom>
          </p:spPr>
        </p:pic>
        <p:pic>
          <p:nvPicPr>
            <p:cNvPr id="47" name="Picture 7">
              <a:extLst>
                <a:ext uri="{FF2B5EF4-FFF2-40B4-BE49-F238E27FC236}">
                  <a16:creationId xmlns:a16="http://schemas.microsoft.com/office/drawing/2014/main" id="{FA46724D-BE0E-D22A-F419-DF9C41B9E64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alphaModFix amt="70000"/>
            </a:blip>
            <a:stretch>
              <a:fillRect/>
            </a:stretch>
          </p:blipFill>
          <p:spPr>
            <a:xfrm>
              <a:off x="13449300" y="11684000"/>
              <a:ext cx="1485900" cy="1485900"/>
            </a:xfrm>
            <a:prstGeom prst="rect">
              <a:avLst/>
            </a:prstGeom>
          </p:spPr>
        </p:pic>
        <p:pic>
          <p:nvPicPr>
            <p:cNvPr id="48" name="Picture 8">
              <a:extLst>
                <a:ext uri="{FF2B5EF4-FFF2-40B4-BE49-F238E27FC236}">
                  <a16:creationId xmlns:a16="http://schemas.microsoft.com/office/drawing/2014/main" id="{E2983DB3-D4DC-1BBE-42ED-8C12EFE518E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alphaModFix amt="41000"/>
            </a:blip>
            <a:stretch>
              <a:fillRect/>
            </a:stretch>
          </p:blipFill>
          <p:spPr>
            <a:xfrm rot="5400000">
              <a:off x="21869400" y="6515100"/>
              <a:ext cx="3670300" cy="1562100"/>
            </a:xfrm>
            <a:prstGeom prst="rect">
              <a:avLst/>
            </a:prstGeom>
          </p:spPr>
        </p:pic>
      </p:grpSp>
      <p:sp>
        <p:nvSpPr>
          <p:cNvPr id="50" name="PageNumber">
            <a:extLst>
              <a:ext uri="{FF2B5EF4-FFF2-40B4-BE49-F238E27FC236}">
                <a16:creationId xmlns:a16="http://schemas.microsoft.com/office/drawing/2014/main" id="{BB78B3A5-C1DF-B043-A1CA-B9F030E6C0A7}"/>
              </a:ext>
            </a:extLst>
          </p:cNvPr>
          <p:cNvSpPr txBox="1"/>
          <p:nvPr/>
        </p:nvSpPr>
        <p:spPr>
          <a:xfrm>
            <a:off x="9499600" y="6489700"/>
            <a:ext cx="23368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r"/>
            <a:r>
              <a:rPr lang="en-US" altLang="ko-KR" sz="1200">
                <a:solidFill>
                  <a:schemeClr val="bg1"/>
                </a:solidFill>
                <a:latin typeface="Pretendard"/>
              </a:rPr>
              <a:t>- 143/144 -</a:t>
            </a:r>
            <a:endParaRPr lang="ko-KR" altLang="en-US" sz="1200">
              <a:solidFill>
                <a:schemeClr val="bg1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1142377293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2960" y="1371600"/>
            <a:ext cx="1005840" cy="128016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389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1000"/>
              </a:spcAft>
            </a:pPr>
            <a:r>
              <a:rPr sz="1400" b="0">
                <a:solidFill>
                  <a:srgbClr val="E8A33D"/>
                </a:solidFill>
                <a:latin typeface="JetBrains Mono"/>
                <a:ea typeface="JetBrains Mono"/>
                <a:cs typeface="JetBrains Mono"/>
              </a:rPr>
              <a:t>WRAP-UP</a:t>
            </a:r>
          </a:p>
          <a:p>
            <a:pPr algn="l">
              <a:lnSpc>
                <a:spcPct val="110000"/>
              </a:lnSpc>
              <a:spcBef>
                <a:spcPts val="600"/>
              </a:spcBef>
              <a:spcAft>
                <a:spcPts val="1600"/>
              </a:spcAft>
            </a:pPr>
            <a:r>
              <a:rPr sz="3400" b="1">
                <a:solidFill>
                  <a:srgbClr val="FFFFFF"/>
                </a:solidFill>
                <a:latin typeface="Noto Serif KR"/>
                <a:ea typeface="Noto Serif KR"/>
                <a:cs typeface="Noto Serif KR"/>
              </a:rPr>
              <a:t>하루의 결과물이, 내일의 자산으로</a:t>
            </a:r>
          </a:p>
          <a:p>
            <a:pPr algn="l">
              <a:lnSpc>
                <a:spcPct val="140000"/>
              </a:lnSpc>
              <a:spcBef>
                <a:spcPts val="600"/>
              </a:spcBef>
              <a:spcAft>
                <a:spcPts val="800"/>
              </a:spcAft>
            </a:pPr>
            <a:r>
              <a:rPr sz="1600" b="0">
                <a:solidFill>
                  <a:srgbClr val="C7D2E6"/>
                </a:solidFill>
                <a:latin typeface="Pretendard"/>
                <a:ea typeface="Pretendard"/>
                <a:cs typeface="Pretendard"/>
              </a:rPr>
              <a:t>오늘 'Night Off' 캠페인을 처음부터 끝까지 만들었습니다 —</a:t>
            </a:r>
          </a:p>
          <a:p>
            <a:pPr algn="l">
              <a:lnSpc>
                <a:spcPct val="140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메시지 하우스(M2) → 콘텐츠 세트(M3) → 시각자료(M4)</a:t>
            </a:r>
          </a:p>
          <a:p>
            <a:pPr algn="l">
              <a:lnSpc>
                <a:spcPct val="140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→ UI 시안(M5) → 홍보 페이지(M6) → 자동화 루틴(M7)</a:t>
            </a:r>
          </a:p>
          <a:p>
            <a:pPr algn="l">
              <a:lnSpc>
                <a:spcPct val="118000"/>
              </a:lnSpc>
              <a:spcBef>
                <a:spcPts val="1600"/>
              </a:spcBef>
              <a:spcAft>
                <a:spcPts val="400"/>
              </a:spcAft>
            </a:pPr>
            <a:r>
              <a:rPr sz="1500" b="0">
                <a:solidFill>
                  <a:srgbClr val="9FAEC8"/>
                </a:solidFill>
                <a:latin typeface="Pretendard"/>
                <a:ea typeface="Pretendard"/>
                <a:cs typeface="Pretendard"/>
              </a:rPr>
              <a:t>이제 제품명만 바꾸면, 다음 캠페인은 처음부터 시작하지 않습니다.</a:t>
            </a:r>
          </a:p>
        </p:txBody>
      </p:sp>
      <p:pic>
        <p:nvPicPr>
          <p:cNvPr id="5" name="Picture 11">
            <a:extLst>
              <a:ext uri="{FF2B5EF4-FFF2-40B4-BE49-F238E27FC236}">
                <a16:creationId xmlns:a16="http://schemas.microsoft.com/office/drawing/2014/main" id="{61820C19-3FFA-8FB3-E544-F76A1D4129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3055" y="3352800"/>
            <a:ext cx="1168400" cy="387350"/>
          </a:xfrm>
          <a:prstGeom prst="rect">
            <a:avLst/>
          </a:prstGeom>
        </p:spPr>
      </p:pic>
      <p:sp>
        <p:nvSpPr>
          <p:cNvPr id="6" name="TextBox 12">
            <a:extLst>
              <a:ext uri="{FF2B5EF4-FFF2-40B4-BE49-F238E27FC236}">
                <a16:creationId xmlns:a16="http://schemas.microsoft.com/office/drawing/2014/main" id="{63058322-8893-7A23-B67D-2ACE33D81E66}"/>
              </a:ext>
            </a:extLst>
          </p:cNvPr>
          <p:cNvSpPr txBox="1"/>
          <p:nvPr/>
        </p:nvSpPr>
        <p:spPr>
          <a:xfrm>
            <a:off x="7977505" y="3422650"/>
            <a:ext cx="965200" cy="285750"/>
          </a:xfrm>
          <a:prstGeom prst="rect">
            <a:avLst/>
          </a:prstGeom>
        </p:spPr>
        <p:txBody>
          <a:bodyPr lIns="0" tIns="20320" rIns="0" bIns="20320" rtlCol="0" anchor="ctr"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4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430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716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002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28800" algn="l" defTabSz="4572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lnSpc>
                <a:spcPct val="99600"/>
              </a:lnSpc>
            </a:pPr>
            <a:r>
              <a:rPr lang="en-US" sz="1600" b="0" i="0" u="none" strike="noStrike" spc="-50">
                <a:solidFill>
                  <a:srgbClr val="000000"/>
                </a:solidFill>
                <a:latin typeface="SB AggroOTF Bold"/>
                <a:ea typeface="SB AggroOTF Bold"/>
                <a:cs typeface="SB AggroOTF Bold"/>
              </a:rPr>
              <a:t>Hello!</a:t>
            </a:r>
          </a:p>
        </p:txBody>
      </p:sp>
      <p:pic>
        <p:nvPicPr>
          <p:cNvPr id="7" name="Picture 17">
            <a:extLst>
              <a:ext uri="{FF2B5EF4-FFF2-40B4-BE49-F238E27FC236}">
                <a16:creationId xmlns:a16="http://schemas.microsoft.com/office/drawing/2014/main" id="{F1BBF3F7-1781-DDFE-0490-404D95D553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5105" y="2825750"/>
            <a:ext cx="2089150" cy="2743200"/>
          </a:xfrm>
          <a:prstGeom prst="rect">
            <a:avLst/>
          </a:prstGeom>
        </p:spPr>
      </p:pic>
      <p:sp>
        <p:nvSpPr>
          <p:cNvPr id="10" name="PageNumber">
            <a:extLst>
              <a:ext uri="{FF2B5EF4-FFF2-40B4-BE49-F238E27FC236}">
                <a16:creationId xmlns:a16="http://schemas.microsoft.com/office/drawing/2014/main" id="{52763561-D47B-C14E-AB04-38CE129E0F7A}"/>
              </a:ext>
            </a:extLst>
          </p:cNvPr>
          <p:cNvSpPr txBox="1"/>
          <p:nvPr/>
        </p:nvSpPr>
        <p:spPr>
          <a:xfrm>
            <a:off x="9499600" y="6489700"/>
            <a:ext cx="23368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r"/>
            <a:r>
              <a:rPr lang="en-US" altLang="ko-KR" sz="1200" dirty="0">
                <a:solidFill>
                  <a:schemeClr val="bg1"/>
                </a:solidFill>
                <a:latin typeface="Pretendard"/>
              </a:rPr>
              <a:t>- 144/144 -</a:t>
            </a:r>
            <a:endParaRPr lang="ko-KR" altLang="en-US" sz="1200" dirty="0">
              <a:solidFill>
                <a:schemeClr val="bg1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21204134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F66171F-6E79-6048-A967-BBDDA22D2CFC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c55cad18-3976-4386-b932-71acc619f3e9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621</TotalTime>
  <Words>9613</Words>
  <Application>Microsoft Macintosh PowerPoint</Application>
  <PresentationFormat>와이드스크린</PresentationFormat>
  <Paragraphs>1882</Paragraphs>
  <Slides>144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144</vt:i4>
      </vt:variant>
    </vt:vector>
  </HeadingPairs>
  <TitlesOfParts>
    <vt:vector size="152" baseType="lpstr">
      <vt:lpstr>맑은 고딕</vt:lpstr>
      <vt:lpstr>JetBrains Mono</vt:lpstr>
      <vt:lpstr>Noto Serif KR</vt:lpstr>
      <vt:lpstr>Pretendard</vt:lpstr>
      <vt:lpstr>SB AggroOTF Bold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이애본</cp:lastModifiedBy>
  <cp:revision>23</cp:revision>
  <dcterms:created xsi:type="dcterms:W3CDTF">2013-01-27T09:14:16Z</dcterms:created>
  <dcterms:modified xsi:type="dcterms:W3CDTF">2026-06-13T20:43:16Z</dcterms:modified>
  <cp:category/>
</cp:coreProperties>
</file>