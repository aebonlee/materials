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7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8EBF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5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DEFF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EE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8EBF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2부 · 4교시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9187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300" b="1" spc="-235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내 목소리로 쓰는 자기소개서</a:t>
            </a:r>
          </a:p>
          <a:p>
            <a:pPr algn="l">
              <a:lnSpc>
                <a:spcPct val="105000"/>
              </a:lnSpc>
            </a:pPr>
            <a:r>
              <a:rPr sz="6300" b="1" spc="-235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공고 맞춤 수정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6033516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2026. 11. 6.(금) 16:25~17:20 · 강사 이애본 · 정동엽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경산시취업지원센터 · 경산고용복지+센터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2026년 제1차 취업특강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9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자기소개서 한 문항을 끝까지 씁니다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이력서 초안으로 자기소개서 한 문항의 초안을 받습니다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「AI 티」 나는 표현을 찾아 내 말투와 사실로 바꿉니다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같은 글을 다른 공고에 맞춰 강조점만 바꿔 봅니다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사실 확인 체크리스트로 제출 전 마지막 점검을 합니다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6F4EE"/>
          </a:solidFill>
          <a:ln w="9525">
            <a:solidFill>
              <a:srgbClr val="C3E6D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남는 것: 자기소개서 한 문항 완성본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4교시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9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이 시간의 재료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같은 대화창에 이미 다 있습니다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619500"/>
            <a:ext cx="5080000" cy="3524250"/>
          </a:xfrm>
          <a:prstGeom prst="roundRect">
            <a:avLst>
              <a:gd name="adj" fmla="val 1351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619500"/>
            <a:ext cx="5080000" cy="47625"/>
          </a:xfrm>
          <a:prstGeom prst="rect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5365750" y="38290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943350"/>
            <a:ext cx="4432300" cy="2876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2교시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공고 해독표 · 키워드 10개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매칭표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0" y="3619500"/>
            <a:ext cx="5080000" cy="3524250"/>
          </a:xfrm>
          <a:prstGeom prst="roundRect">
            <a:avLst>
              <a:gd name="adj" fmla="val 1351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4000" y="3619500"/>
            <a:ext cx="5080000" cy="47625"/>
          </a:xfrm>
          <a:prstGeom prst="rect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0826750" y="38290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7850" y="3943350"/>
            <a:ext cx="4432300" cy="2876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3교시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이력서 초안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경험 문장 · 설명 문장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65000" y="3619500"/>
            <a:ext cx="5080000" cy="3524250"/>
          </a:xfrm>
          <a:prstGeom prst="roundRect">
            <a:avLst>
              <a:gd name="adj" fmla="val 1351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65000" y="3619500"/>
            <a:ext cx="5080000" cy="47625"/>
          </a:xfrm>
          <a:prstGeom prst="rect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6287750" y="38290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8850" y="3943350"/>
            <a:ext cx="4432300" cy="2876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공고 문항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자기소개서 문항과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글자 수 제한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4교시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8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4교시 ① · 문항 초안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읽는 사람의 순서로 씁니다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서류를 읽는 사람은 첫 문장 · 근거 경험 · 직무 적합성 · 입사 후 모습 순서로 봅니다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4교시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9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서류 심사의 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한 문항은 네 칸으로 짓습니다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①~④를 프롬프트의 [과업]에 그대로 적으면 AI도 이 순서로 씁니다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3714750" cy="914400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첫 문장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지원 직무 +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나의 핵심 강점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3875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38750" y="3924300"/>
            <a:ext cx="3714750" cy="914400"/>
          </a:xfrm>
          <a:prstGeom prst="rect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3875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근거 경험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830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상황 → 행동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→ 결과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3450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334500" y="3924300"/>
            <a:ext cx="3714750" cy="914400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3450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직무 적합성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4405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공고 키워드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3개 이상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43025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3430250" y="3924300"/>
            <a:ext cx="3714750" cy="914400"/>
          </a:xfrm>
          <a:prstGeom prst="rect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43025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입사 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63980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이 회사에서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할 일로 끝맺기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4교시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9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2744450" y="1181100"/>
            <a:ext cx="4400550" cy="590550"/>
          </a:xfrm>
          <a:prstGeom prst="roundRect">
            <a:avLst>
              <a:gd name="adj" fmla="val 50000"/>
            </a:avLst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0683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258800" y="1295400"/>
            <a:ext cx="36576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전문은 학습사이트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12204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실습 프롬프트 4-1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12204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자기소개서 초안 — 지원동기 · 직무역량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핵심 — 서류 심사 담당자의 눈으로, 글자 수 안에서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[역할] 서류 심사 채용 담당자 [자료] 해독표 · 매칭표 · 이력서 초안 + 문항 + 글자 수 [과업] ① 첫 문장에 직무와 강점 ② 경험 하나를 상황 → 행동 → 결과 ③ 공고 키워드 3개 이상 ④ 입사 후 할 일 [형식] 문단 3개 + 글자 수 [조건] 이력서에 없는 경험 만들지 않기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확인할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글자 수는 한글 · 워드에서 직접 다시 셉니다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4교시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8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4교시 ② · 「AI 티」 찾기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누구나 쓰는 문장은 나를 보여 주지 못합니다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서류를 많이 읽는 사람에게 「열정 · 성실 · 최선」은 모든 지원서에 있는 낱말입니다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4교시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9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「AI 티」 찾기 게임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AI 티가 가장 덜 나는 문장은?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57500"/>
            <a:ext cx="16002000" cy="1416368"/>
          </a:xfrm>
          <a:prstGeom prst="roundRect">
            <a:avLst>
              <a:gd name="adj" fmla="val 4034"/>
            </a:avLst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38300" y="3295650"/>
            <a:ext cx="15011400" cy="8448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다음 네 문장 가운데 쓴 사람이 누구인지 가장 잘 보이는 문장은 무엇일까요?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712018"/>
            <a:ext cx="7810500" cy="118110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9050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28750" y="5054918"/>
            <a:ext cx="495300" cy="495300"/>
          </a:xfrm>
          <a:prstGeom prst="ellipse">
            <a:avLst/>
          </a:prstGeom>
          <a:solidFill>
            <a:srgbClr val="E6F4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28750" y="5169218"/>
            <a:ext cx="49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14550" y="4712018"/>
            <a:ext cx="6515100" cy="118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55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끊임없는 도전 정신을 지닌 인재입니다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34500" y="4712018"/>
            <a:ext cx="7810500" cy="118110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9050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620250" y="5054918"/>
            <a:ext cx="495300" cy="495300"/>
          </a:xfrm>
          <a:prstGeom prst="ellipse">
            <a:avLst/>
          </a:prstGeom>
          <a:solidFill>
            <a:srgbClr val="E6F4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20250" y="5169218"/>
            <a:ext cx="49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06050" y="4712018"/>
            <a:ext cx="6515100" cy="118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55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회사 발전에 기여하는 인재가 되겠습니다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6140768"/>
            <a:ext cx="7810500" cy="118110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9050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28750" y="6483668"/>
            <a:ext cx="495300" cy="495300"/>
          </a:xfrm>
          <a:prstGeom prst="ellipse">
            <a:avLst/>
          </a:prstGeom>
          <a:solidFill>
            <a:srgbClr val="E6F4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28750" y="6597968"/>
            <a:ext cx="49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14550" y="6140768"/>
            <a:ext cx="6515100" cy="118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55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라인에서 불량품을 먼저 찾아 보고했습니다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34500" y="6140768"/>
            <a:ext cx="7810500" cy="118110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9050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20250" y="6483668"/>
            <a:ext cx="495300" cy="495300"/>
          </a:xfrm>
          <a:prstGeom prst="ellipse">
            <a:avLst/>
          </a:prstGeom>
          <a:solidFill>
            <a:srgbClr val="E6F4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20250" y="6597968"/>
            <a:ext cx="49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06050" y="6140768"/>
            <a:ext cx="6515100" cy="118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55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다양한 경험으로 소통 능력을 길렀습니다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4교시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9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「AI 티」 찾기 게임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정답과 해설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048000"/>
            <a:ext cx="16002000" cy="1428750"/>
          </a:xfrm>
          <a:prstGeom prst="roundRect">
            <a:avLst>
              <a:gd name="adj" fmla="val 4000"/>
            </a:avLst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38300" y="3333750"/>
            <a:ext cx="2095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80">
                <a:solidFill>
                  <a:srgbClr val="C3E6D8"/>
                </a:solidFill>
                <a:latin typeface="Pretendard"/>
                <a:ea typeface="Pretendard"/>
                <a:cs typeface="Pretendard"/>
              </a:rPr>
              <a:t>정답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38300" y="3676650"/>
            <a:ext cx="15011400" cy="666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 라인에서 불량품을 먼저 찾아 보고했습니다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43000" y="4953000"/>
            <a:ext cx="16002000" cy="2857500"/>
          </a:xfrm>
          <a:prstGeom prst="roundRect">
            <a:avLst>
              <a:gd name="adj" fmla="val 1666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4953000"/>
            <a:ext cx="57150" cy="2857500"/>
          </a:xfrm>
          <a:prstGeom prst="rect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81150" y="5314950"/>
            <a:ext cx="28575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60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해설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81150" y="5772150"/>
            <a:ext cx="15125700" cy="1809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55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누가 · 어디서 · 무엇을 했는지 보이는 문장은 그 사람만 쓸 수 있습니다. 나머지 셋은 어느 지원서에 넣어도 말이 되는 문장이라 기억에 남지 않습니다.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4교시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9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AI 티 사전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자주 보이는 표현과 바꾸는 법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4442460" cy="590550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44424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원래 표현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23560" y="2781300"/>
            <a:ext cx="5082540" cy="590550"/>
          </a:xfrm>
          <a:prstGeom prst="rect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23560" y="2781300"/>
            <a:ext cx="50825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왜 약한가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744200" y="2781300"/>
            <a:ext cx="6400800" cy="590550"/>
          </a:xfrm>
          <a:prstGeom prst="rect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44200" y="2781300"/>
            <a:ext cx="64008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이렇게 바꿉니다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4442460" cy="647700"/>
          </a:xfrm>
          <a:prstGeom prst="roundRect">
            <a:avLst>
              <a:gd name="adj" fmla="val 5882"/>
            </a:avLst>
          </a:prstGeom>
          <a:solidFill>
            <a:srgbClr val="E6F4EE"/>
          </a:solidFill>
          <a:ln w="9525">
            <a:solidFill>
              <a:srgbClr val="C3E6D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42519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열정 · 최선을 다하는 인재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23560" y="34480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18810" y="34480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모든 지원서에 있다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744200" y="3448050"/>
            <a:ext cx="6400800" cy="647700"/>
          </a:xfrm>
          <a:prstGeom prst="roundRect">
            <a:avLst>
              <a:gd name="adj" fmla="val 5882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839450" y="3448050"/>
            <a:ext cx="6210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실제로 한 행동 한 가지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4442460" cy="647700"/>
          </a:xfrm>
          <a:prstGeom prst="roundRect">
            <a:avLst>
              <a:gd name="adj" fmla="val 5882"/>
            </a:avLst>
          </a:prstGeom>
          <a:solidFill>
            <a:srgbClr val="E6F4EE"/>
          </a:solidFill>
          <a:ln w="9525">
            <a:solidFill>
              <a:srgbClr val="C3E6D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42519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끊임없는 도전 정신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23560" y="41719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18810" y="41719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무엇에 도전했는지 없다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744200" y="4171950"/>
            <a:ext cx="6400800" cy="647700"/>
          </a:xfrm>
          <a:prstGeom prst="roundRect">
            <a:avLst>
              <a:gd name="adj" fmla="val 5882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839450" y="4171950"/>
            <a:ext cx="6210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해 본 일의 이름과 기간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4442460" cy="647700"/>
          </a:xfrm>
          <a:prstGeom prst="roundRect">
            <a:avLst>
              <a:gd name="adj" fmla="val 5882"/>
            </a:avLst>
          </a:prstGeom>
          <a:solidFill>
            <a:srgbClr val="E6F4EE"/>
          </a:solidFill>
          <a:ln w="9525">
            <a:solidFill>
              <a:srgbClr val="C3E6D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42519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소통 능력을 길렀습니다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23560" y="48958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18810" y="48958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누구와 어떻게인지 없다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744200" y="4895850"/>
            <a:ext cx="6400800" cy="647700"/>
          </a:xfrm>
          <a:prstGeom prst="roundRect">
            <a:avLst>
              <a:gd name="adj" fmla="val 5882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839450" y="4895850"/>
            <a:ext cx="6210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「신입에게 일을 가르쳤습니다」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4442460" cy="647700"/>
          </a:xfrm>
          <a:prstGeom prst="roundRect">
            <a:avLst>
              <a:gd name="adj" fmla="val 5882"/>
            </a:avLst>
          </a:prstGeom>
          <a:solidFill>
            <a:srgbClr val="E6F4EE"/>
          </a:solidFill>
          <a:ln w="9525">
            <a:solidFill>
              <a:srgbClr val="C3E6D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42519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어릴 때부터 꿈꿔 온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23560" y="56197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718810" y="56197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직무와 멀고 흔하다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744200" y="5619750"/>
            <a:ext cx="6400800" cy="647700"/>
          </a:xfrm>
          <a:prstGeom prst="roundRect">
            <a:avLst>
              <a:gd name="adj" fmla="val 5882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839450" y="5619750"/>
            <a:ext cx="6210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지원 직무와 닿는 최근 경험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6343650"/>
            <a:ext cx="4442460" cy="647700"/>
          </a:xfrm>
          <a:prstGeom prst="roundRect">
            <a:avLst>
              <a:gd name="adj" fmla="val 5882"/>
            </a:avLst>
          </a:prstGeom>
          <a:solidFill>
            <a:srgbClr val="E6F4EE"/>
          </a:solidFill>
          <a:ln w="9525">
            <a:solidFill>
              <a:srgbClr val="C3E6D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6343650"/>
            <a:ext cx="42519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회사 발전에 기여하겠습니다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623560" y="63436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718810" y="63436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어느 회사에나 맞는다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744200" y="6343650"/>
            <a:ext cx="6400800" cy="647700"/>
          </a:xfrm>
          <a:prstGeom prst="roundRect">
            <a:avLst>
              <a:gd name="adj" fmla="val 5882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839450" y="6343650"/>
            <a:ext cx="6210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공고의 업무로 입사 후 할 일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바꾼 자리에는 새 경험을 만들지 않고, 이미 있는 사실만 넣습니다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4교시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9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2744450" y="1181100"/>
            <a:ext cx="4400550" cy="590550"/>
          </a:xfrm>
          <a:prstGeom prst="roundRect">
            <a:avLst>
              <a:gd name="adj" fmla="val 50000"/>
            </a:avLst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0683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258800" y="1295400"/>
            <a:ext cx="36576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전문은 학습사이트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12204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실습 프롬프트 4-2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12204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「AI 티」 빼고 내 말투로 다듬기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핵심 — 약한 표현을 표로 보고, 사실로 바꾼 수정본을 받는다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[역할] 자기소개서 첨삭 담당자 [자료] 초안 + 내가 평소 말하는 방식(예: 짧고 솔직하게) [과업] ① 과장 · 상투 표현을 찾아 표로 ② 구체적인 행동 · 사실로 바꾼 수정본 ③ 직접 확인할 사실 목록 [형식] ①은 표(원래 표현 / 왜 약한가 / 바꾼 표현), ②는 글자 수 유지 [조건] 새 경험 덧붙이지 않기, 쉬운 말로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확인할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수정본의 모든 문장을 면접에서 소리 내어 설명할 수 있는지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4교시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9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비포 · 애프터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같은 경험, 내 목소리로 다시 쓰기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AI 초안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매끈하지만 누구의 글인지 모름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47800" y="5016817"/>
            <a:ext cx="97155" cy="97155"/>
          </a:xfrm>
          <a:prstGeom prst="ellipse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353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책임감과 성실함을 바탕으로</a:t>
            </a:r>
          </a:p>
        </p:txBody>
      </p:sp>
      <p:sp>
        <p:nvSpPr>
          <p:cNvPr id="13" name="Oval 12"/>
          <p:cNvSpPr/>
          <p:nvPr/>
        </p:nvSpPr>
        <p:spPr>
          <a:xfrm>
            <a:off x="1447800" y="5527358"/>
            <a:ext cx="97155" cy="97155"/>
          </a:xfrm>
          <a:prstGeom prst="ellipse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3353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고객 만족을 위해 최선을 다했으며</a:t>
            </a:r>
          </a:p>
        </p:txBody>
      </p:sp>
      <p:sp>
        <p:nvSpPr>
          <p:cNvPr id="15" name="Oval 14"/>
          <p:cNvSpPr/>
          <p:nvPr/>
        </p:nvSpPr>
        <p:spPr>
          <a:xfrm>
            <a:off x="1447800" y="6037898"/>
            <a:ext cx="97155" cy="97155"/>
          </a:xfrm>
          <a:prstGeom prst="ellipse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3353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소통 능력을 길렀습니다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내 목소리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박하늘(가명)의 사실로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77450" y="5016817"/>
            <a:ext cx="97155" cy="97155"/>
          </a:xfrm>
          <a:prstGeom prst="ellipse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6318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편의점 야간 2년 동안</a:t>
            </a:r>
          </a:p>
        </p:txBody>
      </p:sp>
      <p:sp>
        <p:nvSpPr>
          <p:cNvPr id="22" name="Oval 21"/>
          <p:cNvSpPr/>
          <p:nvPr/>
        </p:nvSpPr>
        <p:spPr>
          <a:xfrm>
            <a:off x="10077450" y="5527358"/>
            <a:ext cx="97155" cy="97155"/>
          </a:xfrm>
          <a:prstGeom prst="ellipse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6318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재고 정리와 발주를 맡았고</a:t>
            </a:r>
          </a:p>
        </p:txBody>
      </p:sp>
      <p:sp>
        <p:nvSpPr>
          <p:cNvPr id="24" name="Oval 23"/>
          <p:cNvSpPr/>
          <p:nvPr/>
        </p:nvSpPr>
        <p:spPr>
          <a:xfrm>
            <a:off x="10077450" y="6037898"/>
            <a:ext cx="97155" cy="97155"/>
          </a:xfrm>
          <a:prstGeom prst="ellipse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6318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신입에게 일을 가르쳤습니다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4교시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8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4교시 ③ · 맞춤형 수정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같은 경험이 공고마다 다르게 읽힙니다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경험은 그대로, 강조점만 바꿉니다 — 복사해서 돌려쓰기가 아니라 공고마다 맞춘 지원입니다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4교시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9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한 사람, 두 공고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박하늘(가명)의 경험을 두 공고에 비추면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4762500" cy="590550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47625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같은 경험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2781300"/>
            <a:ext cx="5562600" cy="590550"/>
          </a:xfrm>
          <a:prstGeom prst="rect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0" y="2781300"/>
            <a:ext cx="55626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품질관리 공고에서는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544300" y="2781300"/>
            <a:ext cx="5600700" cy="590550"/>
          </a:xfrm>
          <a:prstGeom prst="rect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544300" y="2781300"/>
            <a:ext cx="56007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물류관리 공고에서는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6F4EE"/>
          </a:solidFill>
          <a:ln w="9525">
            <a:solidFill>
              <a:srgbClr val="C3E6D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편의점 야간 2년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0" y="3448050"/>
            <a:ext cx="5562600" cy="647700"/>
          </a:xfrm>
          <a:prstGeom prst="roundRect">
            <a:avLst>
              <a:gd name="adj" fmla="val 5882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8850" y="3448050"/>
            <a:ext cx="5372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꼼꼼한 재고 점검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544300" y="3448050"/>
            <a:ext cx="5600700" cy="647700"/>
          </a:xfrm>
          <a:prstGeom prst="roundRect">
            <a:avLst>
              <a:gd name="adj" fmla="val 5882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639550" y="3448050"/>
            <a:ext cx="5410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발주 · 입출고 관리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6F4EE"/>
          </a:solidFill>
          <a:ln w="9525">
            <a:solidFill>
              <a:srgbClr val="C3E6D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불량품을 먼저 발견해 보고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0" y="4171950"/>
            <a:ext cx="5562600" cy="647700"/>
          </a:xfrm>
          <a:prstGeom prst="roundRect">
            <a:avLst>
              <a:gd name="adj" fmla="val 5882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8850" y="4171950"/>
            <a:ext cx="5372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불량 원인 확인 · 보고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544300" y="4171950"/>
            <a:ext cx="5600700" cy="647700"/>
          </a:xfrm>
          <a:prstGeom prst="roundRect">
            <a:avLst>
              <a:gd name="adj" fmla="val 5882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639550" y="4171950"/>
            <a:ext cx="5410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문제를 바로 알리는 습관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6F4EE"/>
          </a:solidFill>
          <a:ln w="9525">
            <a:solidFill>
              <a:srgbClr val="C3E6D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엑셀로 근무표 작성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0" y="4895850"/>
            <a:ext cx="5562600" cy="647700"/>
          </a:xfrm>
          <a:prstGeom prst="roundRect">
            <a:avLst>
              <a:gd name="adj" fmla="val 5882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38850" y="4895850"/>
            <a:ext cx="5372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검사 데이터 엑셀 정리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544300" y="4895850"/>
            <a:ext cx="5600700" cy="647700"/>
          </a:xfrm>
          <a:prstGeom prst="roundRect">
            <a:avLst>
              <a:gd name="adj" fmla="val 5882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639550" y="4895850"/>
            <a:ext cx="5410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전산 입력 · 재고 현황 정리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6F4EE"/>
          </a:solidFill>
          <a:ln w="9525">
            <a:solidFill>
              <a:srgbClr val="C3E6D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신입 아르바이트생 교육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43600" y="5619750"/>
            <a:ext cx="5562600" cy="647700"/>
          </a:xfrm>
          <a:prstGeom prst="roundRect">
            <a:avLst>
              <a:gd name="adj" fmla="val 5882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38850" y="5619750"/>
            <a:ext cx="5372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협력사 품질 문제 소통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544300" y="5619750"/>
            <a:ext cx="5600700" cy="647700"/>
          </a:xfrm>
          <a:prstGeom prst="roundRect">
            <a:avLst>
              <a:gd name="adj" fmla="val 5882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639550" y="5619750"/>
            <a:ext cx="5410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현장 작업자와 일정 소통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(가상) 한빛오토텍 품질관리 · (가상) 대경로지스 물류관리 — 연습용 가상 공고입니다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4교시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9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2744450" y="1181100"/>
            <a:ext cx="4400550" cy="590550"/>
          </a:xfrm>
          <a:prstGeom prst="roundRect">
            <a:avLst>
              <a:gd name="adj" fmla="val 50000"/>
            </a:avLst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0683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258800" y="1295400"/>
            <a:ext cx="36576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전문은 학습사이트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12204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실습 프롬프트 4-3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12204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맞춤형 수정 — 다른 공고에 맞춰 고치기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핵심 — 유지 · 수정을 표로 가르고, 바뀐 곳을 굵게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[역할] 채용 담당자이자 첨삭 담당자 [자료] --- 내 자기소개서 --- 와 --- 새 공고 --- [과업] ① 새 공고 핵심 키워드 5개 ② 그대로 둘 문장과 바꿀 문장 구분 ③ 새 공고에 맞춘 수정본 [형식] ②는 표(문장 / 유지 · 수정 / 이유), ③은 바뀐 곳 굵게, 원래 글자 수 안 [조건] 회사 · 직무 이름 남김 확인, 경험은 그대로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확인할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원래 회사 이름이 남았는지 Ctrl+F로 직접 찾습니다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4교시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9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사실 확인 체크리스트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내기 전에 마지막으로 봅니다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57500"/>
            <a:ext cx="7810500" cy="1066800"/>
          </a:xfrm>
          <a:prstGeom prst="roundRect">
            <a:avLst>
              <a:gd name="adj" fmla="val 5357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466850" y="3190875"/>
            <a:ext cx="400050" cy="4000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28575">
            <a:solidFill>
              <a:srgbClr val="1E3E69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33600" y="2952750"/>
            <a:ext cx="6534150" cy="876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원래 회사 이름 · 직무 이름이 남아 있지 않다(Ctrl+F)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43000" y="4076700"/>
            <a:ext cx="7810500" cy="1066800"/>
          </a:xfrm>
          <a:prstGeom prst="roundRect">
            <a:avLst>
              <a:gd name="adj" fmla="val 5357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466850" y="4410075"/>
            <a:ext cx="400050" cy="4000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28575">
            <a:solidFill>
              <a:srgbClr val="1E3E69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33600" y="4171950"/>
            <a:ext cx="6534150" cy="876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글자 수를 한글 · 워드 · 메모장에서 직접 다시 셌다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5295900"/>
            <a:ext cx="7810500" cy="1066800"/>
          </a:xfrm>
          <a:prstGeom prst="roundRect">
            <a:avLst>
              <a:gd name="adj" fmla="val 5357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466850" y="5629275"/>
            <a:ext cx="400050" cy="4000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28575">
            <a:solidFill>
              <a:srgbClr val="1E3E69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33600" y="5391150"/>
            <a:ext cx="6534150" cy="876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모든 경험이 이력서에 있는 사실이다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43000" y="6515100"/>
            <a:ext cx="7810500" cy="1066800"/>
          </a:xfrm>
          <a:prstGeom prst="roundRect">
            <a:avLst>
              <a:gd name="adj" fmla="val 5357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466850" y="6848475"/>
            <a:ext cx="400050" cy="4000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28575">
            <a:solidFill>
              <a:srgbClr val="1E3E69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33600" y="6610350"/>
            <a:ext cx="6534150" cy="876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「확인 필요」 숫자는 기록으로 채웠거나 지웠다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34500" y="2857500"/>
            <a:ext cx="7810500" cy="1066800"/>
          </a:xfrm>
          <a:prstGeom prst="roundRect">
            <a:avLst>
              <a:gd name="adj" fmla="val 5357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658350" y="3190875"/>
            <a:ext cx="400050" cy="4000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28575">
            <a:solidFill>
              <a:srgbClr val="1E3E69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325100" y="2952750"/>
            <a:ext cx="6534150" cy="876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모든 문장을 면접에서 내 말로 설명할 수 있다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334500" y="4076700"/>
            <a:ext cx="7810500" cy="1066800"/>
          </a:xfrm>
          <a:prstGeom prst="roundRect">
            <a:avLst>
              <a:gd name="adj" fmla="val 5357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658350" y="4410075"/>
            <a:ext cx="400050" cy="4000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28575">
            <a:solidFill>
              <a:srgbClr val="1E3E69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25100" y="4171950"/>
            <a:ext cx="6534150" cy="876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굵게 바뀐 부분이 새 공고 키워드와 이어진다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334500" y="5295900"/>
            <a:ext cx="7810500" cy="1066800"/>
          </a:xfrm>
          <a:prstGeom prst="roundRect">
            <a:avLst>
              <a:gd name="adj" fmla="val 5357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658350" y="5629275"/>
            <a:ext cx="400050" cy="4000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28575">
            <a:solidFill>
              <a:srgbClr val="1E3E69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325100" y="5391150"/>
            <a:ext cx="6534150" cy="876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이름 · 연락처 · 사진은 AI 밖에서 직접 넣었다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4교시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9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2744450" y="1181100"/>
            <a:ext cx="4400550" cy="590550"/>
          </a:xfrm>
          <a:prstGeom prst="roundRect">
            <a:avLst>
              <a:gd name="adj" fmla="val 50000"/>
            </a:avLst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0683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258800" y="1295400"/>
            <a:ext cx="36576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전문은 학습사이트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12204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실습 프롬프트 4-4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12204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(더 해 보기) 예상 면접 질문과 답변 뼈대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핵심 — 서류에 쓴 문장이 그대로 면접 질문이 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[역할] 이 회사의 1차 면접관 [자료] 같은 대화창의 공고 · 이력서 초안 · 자기소개서 [과업] ① 꼭 물어볼 질문 3개 ② 질문마다 면접관이 확인하려는 것 ③ 답변 뼈대(상황 · 행동 · 결과 3줄) [형식] 질문마다 ①②③을 묶어 번호, 한 줄 30자 이내 [조건] 서류에 없는 경험으로 답을 만들지 않기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해 보기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답변 뼈대를 소리 내어 한 번 말해 봅니다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4교시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9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자주 묻는 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자기소개서를 쓰며 많이 묻는 네 가지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476500"/>
            <a:ext cx="6286500" cy="1219200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2476500"/>
            <a:ext cx="533400" cy="121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C3E6D8"/>
                </a:solidFill>
                <a:latin typeface="Pretendard"/>
                <a:ea typeface="Pretendard"/>
                <a:cs typeface="Pretendard"/>
              </a:rPr>
              <a:t>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33600" y="2476500"/>
            <a:ext cx="5029200" cy="121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AI로 쓴 티가 나면 불리한가요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29500" y="2476500"/>
            <a:ext cx="9715500" cy="1219200"/>
          </a:xfrm>
          <a:prstGeom prst="rect">
            <a:avLst/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15250" y="2476500"/>
            <a:ext cx="533400" cy="121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20100" y="2476500"/>
            <a:ext cx="8458200" cy="121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내 경험과 내 말로 고쳤다면 그 글은 내 글입니다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43000" y="3867150"/>
            <a:ext cx="6286500" cy="1219200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3867150"/>
            <a:ext cx="533400" cy="121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C3E6D8"/>
                </a:solidFill>
                <a:latin typeface="Pretendard"/>
                <a:ea typeface="Pretendard"/>
                <a:cs typeface="Pretendard"/>
              </a:rPr>
              <a:t>Q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33600" y="3867150"/>
            <a:ext cx="5029200" cy="121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AI가 센 글자 수를 믿어도 되나요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29500" y="3867150"/>
            <a:ext cx="9715500" cy="1219200"/>
          </a:xfrm>
          <a:prstGeom prst="rect">
            <a:avLst/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15250" y="3867150"/>
            <a:ext cx="533400" cy="121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20100" y="3867150"/>
            <a:ext cx="8458200" cy="121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틀릴 때가 많습니다 — 한글 · 워드에서 직접 셉니다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5257800"/>
            <a:ext cx="6286500" cy="1219200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5257800"/>
            <a:ext cx="533400" cy="121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C3E6D8"/>
                </a:solidFill>
                <a:latin typeface="Pretendard"/>
                <a:ea typeface="Pretendard"/>
                <a:cs typeface="Pretendard"/>
              </a:rPr>
              <a:t>Q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33600" y="5257800"/>
            <a:ext cx="5029200" cy="121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공고마다 처음부터 다시 써야 하나요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29500" y="5257800"/>
            <a:ext cx="9715500" cy="1219200"/>
          </a:xfrm>
          <a:prstGeom prst="rect">
            <a:avLst/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15250" y="5257800"/>
            <a:ext cx="533400" cy="121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20100" y="5257800"/>
            <a:ext cx="8458200" cy="121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기본판을 두고 강조점만 바꿉니다(4-3)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6648450"/>
            <a:ext cx="6286500" cy="1219200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28750" y="6648450"/>
            <a:ext cx="533400" cy="121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C3E6D8"/>
                </a:solidFill>
                <a:latin typeface="Pretendard"/>
                <a:ea typeface="Pretendard"/>
                <a:cs typeface="Pretendard"/>
              </a:rPr>
              <a:t>Q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33600" y="6648450"/>
            <a:ext cx="5029200" cy="121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오늘 뒤에도 계속하려면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29500" y="6648450"/>
            <a:ext cx="9715500" cy="1219200"/>
          </a:xfrm>
          <a:prstGeom prst="rect">
            <a:avLst/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15250" y="6648450"/>
            <a:ext cx="533400" cy="121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20100" y="6648450"/>
            <a:ext cx="8458200" cy="121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학습사이트 프롬프트 그대로 · 센터 취업상담 연계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4교시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9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4001750" y="1181100"/>
            <a:ext cx="3143250" cy="590550"/>
          </a:xfrm>
          <a:prstGeom prst="roundRect">
            <a:avLst>
              <a:gd name="adj" fmla="val 50000"/>
            </a:avLst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43256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516100" y="1295400"/>
            <a:ext cx="24003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오늘의 다짐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24777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오늘의 다짐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24777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오늘 만든 것을 이번 주에 씁니다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476500"/>
            <a:ext cx="4000500" cy="914400"/>
          </a:xfrm>
          <a:prstGeom prst="roundRect">
            <a:avLst>
              <a:gd name="adj" fmla="val 6250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2476500"/>
            <a:ext cx="57150" cy="914400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09700" y="2590800"/>
            <a:ext cx="34671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42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이번 주에 지원할 공고 하나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650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고용24에서 고른 공고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43500" y="2476500"/>
            <a:ext cx="120015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143000" y="3524250"/>
            <a:ext cx="4000500" cy="914400"/>
          </a:xfrm>
          <a:prstGeom prst="roundRect">
            <a:avLst>
              <a:gd name="adj" fmla="val 6250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43000" y="3524250"/>
            <a:ext cx="57150" cy="914400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3638550"/>
            <a:ext cx="34671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42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오늘 고친 문장 가운데 가장 마음에 드는 한 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43500" y="3524250"/>
            <a:ext cx="120015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143000" y="4572000"/>
            <a:ext cx="4000500" cy="914400"/>
          </a:xfrm>
          <a:prstGeom prst="roundRect">
            <a:avLst>
              <a:gd name="adj" fmla="val 6250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43000" y="4572000"/>
            <a:ext cx="57150" cy="914400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4686300"/>
            <a:ext cx="34671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42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지원 전까지 채울 보완 한 가지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650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2교시 매칭표의 「보완 필요」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143500" y="4572000"/>
            <a:ext cx="120015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143000" y="5619750"/>
            <a:ext cx="4000500" cy="914400"/>
          </a:xfrm>
          <a:prstGeom prst="roundRect">
            <a:avLst>
              <a:gd name="adj" fmla="val 6250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5619750"/>
            <a:ext cx="57150" cy="914400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09700" y="5734050"/>
            <a:ext cx="34671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42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취업상담 받을 날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650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경산시취업지원센터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143500" y="5619750"/>
            <a:ext cx="120015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C3E6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적어 둔 한 줄이 다음 한 걸음이 됩니다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4교시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9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오늘 만든 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4시간 동안 지나온 길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971800"/>
            <a:ext cx="16002000" cy="38100"/>
          </a:xfrm>
          <a:prstGeom prst="rect">
            <a:avLst/>
          </a:prstGeom>
          <a:solidFill>
            <a:srgbClr val="C3E6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381250"/>
            <a:ext cx="3800475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950" b="1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1교시</a:t>
            </a:r>
          </a:p>
        </p:txBody>
      </p:sp>
      <p:sp>
        <p:nvSpPr>
          <p:cNvPr id="10" name="Oval 9"/>
          <p:cNvSpPr/>
          <p:nvPr/>
        </p:nvSpPr>
        <p:spPr>
          <a:xfrm>
            <a:off x="2947988" y="2895600"/>
            <a:ext cx="190500" cy="190500"/>
          </a:xfrm>
          <a:prstGeom prst="ellipse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3371850"/>
            <a:ext cx="3800475" cy="4057650"/>
          </a:xfrm>
          <a:prstGeom prst="roundRect">
            <a:avLst>
              <a:gd name="adj" fmla="val 1503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3600450"/>
            <a:ext cx="3343275" cy="2381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5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AI 첫걸음 · 다섯 칸 · 강점 찾기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6210300"/>
            <a:ext cx="3343275" cy="19050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6343650"/>
            <a:ext cx="3343275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spc="120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결과물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6667500"/>
            <a:ext cx="334327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75" b="1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강점 키워드 3개 · 목표 한 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0175" y="2381250"/>
            <a:ext cx="3800475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950" b="1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2교시</a:t>
            </a:r>
          </a:p>
        </p:txBody>
      </p:sp>
      <p:sp>
        <p:nvSpPr>
          <p:cNvPr id="17" name="Oval 16"/>
          <p:cNvSpPr/>
          <p:nvPr/>
        </p:nvSpPr>
        <p:spPr>
          <a:xfrm>
            <a:off x="7015162" y="2895600"/>
            <a:ext cx="190500" cy="190500"/>
          </a:xfrm>
          <a:prstGeom prst="ellipse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210175" y="3371850"/>
            <a:ext cx="3800475" cy="4057650"/>
          </a:xfrm>
          <a:prstGeom prst="roundRect">
            <a:avLst>
              <a:gd name="adj" fmla="val 1503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38775" y="3600450"/>
            <a:ext cx="3343275" cy="2381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5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채용공고 해독 · 나와 공고 맞춰 보기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38775" y="6210300"/>
            <a:ext cx="3343275" cy="19050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38775" y="6343650"/>
            <a:ext cx="3343275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spc="120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결과물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38775" y="6667500"/>
            <a:ext cx="334327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75" b="1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공고 분석표 · 매칭표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77350" y="2381250"/>
            <a:ext cx="3800475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950" b="1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3교시</a:t>
            </a:r>
          </a:p>
        </p:txBody>
      </p:sp>
      <p:sp>
        <p:nvSpPr>
          <p:cNvPr id="24" name="Oval 23"/>
          <p:cNvSpPr/>
          <p:nvPr/>
        </p:nvSpPr>
        <p:spPr>
          <a:xfrm>
            <a:off x="11082338" y="2895600"/>
            <a:ext cx="190500" cy="190500"/>
          </a:xfrm>
          <a:prstGeom prst="ellipse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277350" y="3371850"/>
            <a:ext cx="3800475" cy="4057650"/>
          </a:xfrm>
          <a:prstGeom prst="roundRect">
            <a:avLst>
              <a:gd name="adj" fmla="val 1503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05950" y="3600450"/>
            <a:ext cx="3343275" cy="2381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5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경험 캐내기 · 공백 설명 · 이력서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505950" y="6210300"/>
            <a:ext cx="3343275" cy="19050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05950" y="6343650"/>
            <a:ext cx="3343275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spc="120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결과물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5950" y="6667500"/>
            <a:ext cx="334327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75" b="1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이력서 초안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344525" y="2381250"/>
            <a:ext cx="3800475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95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4교시</a:t>
            </a:r>
          </a:p>
        </p:txBody>
      </p:sp>
      <p:sp>
        <p:nvSpPr>
          <p:cNvPr id="31" name="Oval 30"/>
          <p:cNvSpPr/>
          <p:nvPr/>
        </p:nvSpPr>
        <p:spPr>
          <a:xfrm>
            <a:off x="15120938" y="2867025"/>
            <a:ext cx="247650" cy="247650"/>
          </a:xfrm>
          <a:prstGeom prst="ellipse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3344525" y="3371850"/>
            <a:ext cx="3800475" cy="4057650"/>
          </a:xfrm>
          <a:prstGeom prst="roundRect">
            <a:avLst>
              <a:gd name="adj" fmla="val 1503"/>
            </a:avLst>
          </a:prstGeom>
          <a:solidFill>
            <a:srgbClr val="E6F4EE"/>
          </a:solidFill>
          <a:ln w="19050">
            <a:solidFill>
              <a:srgbClr val="1E3E69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3573125" y="3600450"/>
            <a:ext cx="3343275" cy="2381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5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자기소개서 · AI 티 빼기 · 맞춤 수정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3573125" y="6210300"/>
            <a:ext cx="3343275" cy="19050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3573125" y="6343650"/>
            <a:ext cx="3343275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spc="120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결과물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573125" y="6667500"/>
            <a:ext cx="334327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75" b="1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자기소개서 한 문항 완성본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C3E6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모든 프롬프트는 학습사이트에 그대로 있습니다 — 다음 공고에 값만 바꿔 다시 씁니다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4교시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9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산출물 저장 · 다음 순서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저장하고, 설문과 상담으로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완성본과 맞춤 수정본을 한 문서에 붙입니다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파일 이름 예: 자기소개서_한빛오토텍_20261106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프롬프트는 gyeongsan.jobability.co.kr 에 그대로 있습니다 — 다음 지원 때 다시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17:20~17:30 만족도 설문 · 센터 취업상담 안내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6F4EE"/>
          </a:solidFill>
          <a:ln w="9525">
            <a:solidFill>
              <a:srgbClr val="C3E6D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AI가 만든 것은 초안 — 마지막으로 읽고 고친 내가 지은이입니다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4교시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8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4교시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오늘의 마무리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AI는 정리와 표현을 돕고, 경험과 사실과 목소리는 내가 맡습니다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768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768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다섯 칸으로 부탁하고, 결과는 내가 확인합니다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768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768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공고의 숨은 뜻을 읽고 그 낱말로 씁니다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055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055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평범한 경험도 캐내면 이력서 한 줄이 됩니다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055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055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공고마다 강조점을 바꾸고 회사 이름을 확인합니다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이어서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설문 작성 · 경산시취업지원센터 취업상담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