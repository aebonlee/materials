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4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C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1462653" cy="571500"/>
          </a:xfrm>
          <a:prstGeom prst="rect">
            <a:avLst/>
          </a:prstGeom>
        </p:spPr>
      </p:pic>
      <p:pic>
        <p:nvPicPr>
          <p:cNvPr id="12" name="Picture 11" descr="re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3540" y="1028700"/>
            <a:ext cx="3941460" cy="4191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영업·마케팅 과정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905250"/>
            <a:ext cx="16002000" cy="2247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0" b="1" spc="-280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활용</a:t>
            </a:r>
          </a:p>
          <a:p>
            <a:pPr algn="l">
              <a:lnSpc>
                <a:spcPct val="105000"/>
              </a:lnSpc>
            </a:pPr>
            <a:r>
              <a:rPr sz="7500" b="1" spc="-280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B2B 영업·고객관리 자동화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6362700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1일차 · 11/6(금) · 모듈 1·2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동양에이케이코리아 × 한국표준협회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2026 산업·일자리 전환 교육 · ReBuild 아카데미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과정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3일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영업 프로세스마다 AI 가 맡을 자리를 찾고 영업 프롬프트를 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매출·고객 데이터로 고객 패턴과 이탈 위험을 읽고 실적 보고를 자동화한다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 유형별 이메일·제안 메시지·클레임 응대와 견적·제안서를 AI 로 만든다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영업 KPI 대시보드와 견적→수주→사후관리 자동화 흐름을 설계한다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 발굴 → 상담 → 견적 → 제안 → 수주 → 사후관리, B2B 영업 흐름 전체에 AI 를 붙입니다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과정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3일 · 22시간 · 6개 모듈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781300"/>
            <a:ext cx="1116330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781300"/>
            <a:ext cx="11163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584680" y="2781300"/>
            <a:ext cx="256032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584680" y="2781300"/>
            <a:ext cx="25603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1일차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448050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8530" y="3448050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영업환경 변화 및 생성형 AI 기초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584680" y="3448050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79930" y="3448050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1일차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4143375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8530" y="4143375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영업 데이터 분석 및 CRM 활용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584680" y="4143375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79930" y="4143375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2일차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4838700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8530" y="4838700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커뮤니케이션 자동화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584680" y="4838700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79930" y="4838700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2일차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5534025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8530" y="5534025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견적·제안서 자동화 및 영업 고도화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584680" y="5534025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679930" y="5534025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3일차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6229350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8530" y="6229350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영업 자동화 및 데이터 대시보드 구축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584680" y="6229350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679930" y="6229350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3일차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383280" y="6924675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8530" y="6924675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영업 AI 자동화 실행체계 구축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4584680" y="6924675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679930" y="6924675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11/6(금) ~ 11/8(일) · 집합 · 강의 + 실습 — 모든 프롬프트는 학습사이트에서 복사할 수 있습니다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과정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대상 · 방법 · 준비물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대상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영업소·특수영업·해외영업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영업관리·마케팅 담당자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방법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짧은 개념 설명 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바로 따라 하는 실습 중심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준비물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ChatGPT 팀 플랜 계정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엑셀 · 학습사이트 접속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실습 데이터의 고객사·단가·수량은 전부 가상의 값입니다 — 회사 실제 거래 정보는 가져오지 않습니다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시작하기 전에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에 입력하지 않는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 줄로 기억하기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기술·공정 비밀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4480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8770" y="34480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도면·배합비·공정 조건·설비 파라미터·원가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고객·거래 정보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41719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8770" y="41719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고객사 이름·단가·계약 조건·클레임 원문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개인·인사 정보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8958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8958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이름·연락처·사번·평가·급여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공시·재무 정보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56197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8770" y="56197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공시 전 실적·미확정 재무 수치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IT 보안 정보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63436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8770" y="63436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비밀번호·서버 주소·계정·내부 URL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오늘 화면의 제품명·수치·이름은 전부 가상의 값이거나 [빈칸]입니다 — 회사가 허용한 AI 서비스만 씁니다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진행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모든 실습은 다섯 단계로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화면을 보며 따라 하고, 잘된 프롬프트는 빈칸째 저장합니다 — 첫 답은 초안, 두 번째 요청에서 쓸 만해집니다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학습사이트의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 복사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채우기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[빈칸]에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가상의 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 표로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 점검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고치기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이어서 던질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저장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빈칸째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팀 폴더에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1일차 · 모듈 1 · 3시간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영업환경 변화 및 생성형 AI 기초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알루미늄 시장과 고객이 어떻게 바뀌고 있는지 짚고, 영업 프로세스마다 AI 가 맡을 자리를 찾아 첫 영업 프롬프트를 씁니다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알루미늄 시장 변화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고객이 묻는 것이 달라지고 있습니다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경량화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자동차·전기차·전자 부품의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무게 줄이기 요구가 커진다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가격 변동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LME 알루미늄 시세와 환율이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견적 단가를 수시로 흔든다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탄소·ESG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탄소 배출량·재활용 비율 자료를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요구하는 고객이 늘어난다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800725"/>
            <a:ext cx="47625" cy="7239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5857875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영업 담당자가 답해야 할 질문이 「얼마에?」에서 「얼마에 · 언제까지 · 어떤 근거로?」로 넓어졌습니다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영업 프로세스와 AI 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발굴 → 상담 → 견적 → 제안 → 수주 → 사후관리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4125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발굴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조사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접근 메시지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686175" y="3028950"/>
            <a:ext cx="1333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38575" y="2781300"/>
            <a:ext cx="2524125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857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3857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192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미팅 준비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상담 기록 정리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381750" y="3028950"/>
            <a:ext cx="1333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34150" y="2781300"/>
            <a:ext cx="2524125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415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견적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415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750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원가 구조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견적서 초안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077325" y="3028950"/>
            <a:ext cx="1333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29725" y="2781300"/>
            <a:ext cx="2524125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2972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2972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6307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제안서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비교표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1772900" y="3028950"/>
            <a:ext cx="1333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925300" y="2781300"/>
            <a:ext cx="2524125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92530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92530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05865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계약 조건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 목록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4468475" y="3028950"/>
            <a:ext cx="1333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620875" y="2781300"/>
            <a:ext cx="2524125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62087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사후관리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62087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75422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클레임 응대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재구매 관리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문서·정리·초안이 많은 단계일수록 AI 효과가 큽니다 — 가격 결정과 약속은 사람이 합니다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고객사 조사와 첫 미팅 준비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확인된 사실과 추정을 나누기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알루미늄 부품을 납품하는 B2B 영업 담당자로서, 아래 [고객사 공개 정보] 를 바탕으로 첫 미팅 준비 자료를 만들어줘. 고객사 개요, 우리 제품과 맞닿을 만한 지점 세 가지, 미팅에서 물어볼 질문 다섯 개를 표로 주고, 공개 정보에 없는 내용은 '추정'이라고 표시해줘.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'추정' 표시가 붙은 내용을 미팅 전에 확인했는지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고객사 조사와 첫 미팅 준비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공개 정보만 넣기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홈페이지·기사·공시 같은 공개 자료만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질문을 받아 가기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답보다 좋은 질문이 첫 미팅을 살린다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사실과 추정을 나누기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추정을 사실처럼 말하면 신뢰를 잃는다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미팅 준비는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질문 다섯 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먼저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영업 상황별 프롬프트 다섯 요소로 쓰기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역할·맥락·과업·형식·조건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영업 상황 [기존 고객에게 단가 인상 안내] 에 쓸 프롬프트를 다섯 요소(역할·맥락·과업·형식·조건)로 나눠 써줘. 요소마다 한 줄씩 표로 주고, 그 다섯 줄을 이어 붙인 완성 프롬프트도 함께 보여줘. 빠진 정보는 [빈칸] 으로 남겨줘.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같은 틀로 '신규 고객 첫 연락' 상황도 만들어 비교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영업 상황별 프롬프트 다섯 요소로 쓰기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다섯 요소를 표로 먼저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어느 요소가 약한지 한눈에 보인다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빈칸을 일부러 남기기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다음 상황에도 그대로 다시 쓴다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상황 이름을 붙여 저장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「단가 인상 안내 v1」처럼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좋은 프롬프트는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다섯 요소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+ [빈칸]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영업 업무 목록에서 자동화 영역 찾기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시간과 반복도로 점수 매기기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내 한 주 영업 업무 목록 [붙여 넣기] 을 보고, 업무마다 걸리는 시간·반복도·AI 적용 가능성(상·중·하)을 표로 매겨줘. AI 를 먼저 붙일 업무 세 개를 고르고 이유를 한 줄씩 적어줘. 사람이 꼭 해야 하는 업무는 따로 표시해줘.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고른 세 업무가 실제로 매주 반복되는 일인지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3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영업 업무 목록에서 자동화 영역 찾기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한 주 업무를 그대로 적기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기억이 아니라 달력·메일함을 보고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반복도가 핵심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번 30분보다 매주 열 번 5분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사람의 일을 지키기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가격 결정·약속·관계는 사람이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자동화 후보는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반복 많고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문서 많은 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1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시장 변화 세 가지를 우리 고객 질문으로 바꾼 메모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고객사 조사·첫 미팅 질문 다섯 개 준비 자료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다섯 요소로 나눈 영업 상황별 프롬프트 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를 먼저 붙일 내 영업 업무 세 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영업 흐름 위에 AI 자리를 표시한 지도가 생겼습니다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1일차 · 모듈 2 · 3시간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영업 데이터 분석 및 CRM 활용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매출·고객·제품 데이터를 정리해 고객 패턴과 이탈 위험을 읽고, 실적 보고를 숫자로 자동화합니다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영업 데이터 세 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매출 · 고객 · 제품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2781300"/>
            <a:ext cx="700278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781300"/>
            <a:ext cx="70027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주요 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여기서 보는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매출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34480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8570" y="34480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월·고객 코드·품번·수량·금액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추이·계절성·고객별 비중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03320" y="41719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8570" y="41719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코드·업종·지역·담당자·첫 거래일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고객군 나누기·담당 배분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제품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03320" y="48958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98570" y="48958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품번·합금·형상·표준 단가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제품군별 마진·주력 품목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상담 기록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56197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8570" y="56197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날짜·고객·내용·다음 할 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6197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6197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기회 단계·후속 조치 누락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세 데이터를 고객 코드와 품번으로 이어야 분석이 됩니다 — ERP 에서 내려받은 표 그대로 시작합니다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고객을 읽는 세 지표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RFM · 증감률 · 이탈 신호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RFM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최근 주문 · 주문 빈도 · 주문 금액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 점수로 고객을 나눈다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증감률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전년 같은 기간 대비 · 3개월 이동평균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달 숫자로 판단하지 않는다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이탈 신호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간격이 길어짐 · 품목 수 감소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문의 감소 · 견적만 받고 미발주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800725"/>
            <a:ext cx="47625" cy="7239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5857875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AI 에는 계산 기준을 문장으로 정해 주고, 숫자는 엑셀 수식으로 다시 확인합니다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매출 데이터 정리와 고객·제품별 요약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계산 기준을 먼저 밝히기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월별 매출 표 [붙여 넣기] 를 고객별·제품군별로 요약해줘. 고객별 연간 합계와 비중, 제품군별 합계, 전년 대비 증감률을 표로 주고, 계산에 쓴 기준(기간·합계 방식)을 먼저 밝혀줘. 비어 있는 칸은 0 으로 채우지 말고 표시만 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요약표 합계가 원본 합계와 같은지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4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매출 데이터 정리와 고객·제품별 요약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기간을 먼저 고정하기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「1~9월 누계, 전년 같은 기간 대비」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빈칸은 0 이 아니다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누락인지 무거래인지 사람이 판단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합계 대조는 필수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엑셀 SUM 으로 한 번 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요약은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기준 먼저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합계 대조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RFM 으로 고객 나누기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점수 구간을 정해 주기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고객별 최근 주문일·주문 횟수·주문 금액 표로 RFM 분석을 해줘. 세 항목을 각각 1~3점으로 나누는 구간을 먼저 제안하고, 고객마다 점수와 고객군(핵심·성장·관리·휴면)을 표로 줘. 고객군마다 영업 담당자가 할 일을 한 줄씩 적어줘.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'휴면' 고객만 모아 재접촉 메시지 초안으로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5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RFM 으로 고객 나누기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구간을 먼저 합의하기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구간이 바뀌면 고객군이 바뀐다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고객군 이름은 우리 말로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핵심·성장·관리·휴면처럼 팀이 쓰는 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할 일까지 받기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분류만 하면 보고서로 끝난다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RFM 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구간 합의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+ 할 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이탈 위험 고객 찾기와 실적 보고 요약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신호 기준을 숫자로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고객별 월 주문 표로 이탈 위험 고객을 찾아줘. 기준은 [최근 3개월 주문이 직전 3개월보다 30% 이상 줄었거나, 평소 주문 간격의 두 배가 지난 고객] 이야. 위험 고객을 근거 숫자와 함께 표로 주고, 이번 달 영업 실적 보고용 요약을 다섯 줄로 써줘.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위험 고객의 근거 숫자가 원본과 맞는지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6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이탈 위험 고객 찾기와 실적 보고 요약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신호를 숫자로 정하기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'줄어든 고객'이 아니라 「30% 이상」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근거 열을 요구하기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직전·최근 수치를 나란히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보고는 다섯 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실적·증감·위험 고객·원인 후보·다음 조치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이탈 신호는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기준을 숫자로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근거를 나란히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2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계산 기준이 밝혀진 고객별·제품군별 매출 요약표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RFM 점수와 고객군, 고객군별 할 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근거 숫자가 붙은 이탈 위험 고객 목록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실적 보고 다섯 줄 요약 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감이 아니라 숫자로 고객을 말할 수 있게 됐습니다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오늘 배운 것 한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416368"/>
          </a:xfrm>
          <a:prstGeom prst="roundRect">
            <a:avLst>
              <a:gd name="adj" fmla="val 4034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844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가 이탈 위험 고객 목록을 만들어 주었습니다. 보고 전에 가장 먼저 할 일은?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05491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① 목록을 그대로 팀장에게 보고한다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05491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② 근거 숫자를 원본 표와 대조한다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48366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③ 위험 고객에게 바로 할인을 제안한다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48366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④ AI 에 원인을 단정해 달라고 한다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정답과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BD5F3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가 계산한 숫자는 원본과 대조해야 사실이 됩니다. 원인은 데이터만으로 단정할 수 없으니 '원인 후보'로 두고 고객과 통화해 확인합니다.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