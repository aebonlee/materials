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· 2026. 10. 12. (월) · 09:00~18:00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120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교시별 강의 슬라이드</a:t>
            </a:r>
          </a:p>
          <a:p>
            <a:pPr algn="l">
              <a:lnSpc>
                <a:spcPct val="110000"/>
              </a:lnSpc>
            </a:pPr>
            <a:r>
              <a:rPr sz="66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 이해 · AI 와 데이터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2058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과목 개요 · 1~8교시 차시 슬라이드 · 50분 수업 + 10분 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교육 목적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78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3000" y="301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3000" y="301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3000" y="278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생성형 AI 를 활용한 데이터 분석 및 문제 해결 방법론을 이해합니다.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96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3000" y="419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3000" y="419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3000" y="396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데이터·AI 기반 분석 실무를 이해하고 현업 적용 역량을 강화합니다.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14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43000" y="537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3000" y="537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3000" y="514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 업무 전반에서 데이터 기반 의사결정 및 문제 해결 능력을 확보합니다.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500000"/>
            <a:ext cx="16002000" cy="900000"/>
          </a:xfrm>
          <a:prstGeom prst="roundRect">
            <a:avLst>
              <a:gd name="adj" fmla="val 666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3000" y="650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대상 · 생산·품질 기술직 재직자 9명 · 2026. 10. 12.(월)~15.(목) · 4일 32시간 · 하루 8교시(50분 수업 + 10분 휴식)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과정의 특장점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42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2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3000" y="242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01  하나의 문제를 4일 동안 끝까지 (PBL)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3000" y="242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기업 「새벽정밀」의 문제 하나를 문제 정의부터 보고까지 4일 동안 이어서 풉니다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15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15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3000" y="315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02  제조 현장 지표 중심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3000" y="315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6공정 12설비 62일 데이터로 OEE · Cpk · 불량률 · 상관 · 파레토를 다룹니다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89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389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3000" y="389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03  실습 중심 32시간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3000" y="389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32차시 가운데 24차시가 실습 — 차시마다 단계별 실습과 결과물이 있습니다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62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62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3000" y="462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04  AI 는 초안, 검증은 사람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3000" y="462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낸 숫자는 Excel 로 다시 계산하고, 결론은 사실과 추정으로 나눕니다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36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536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3000" y="536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05  무료 계정·보안 전제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3000" y="536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유료 계정 없이도 진행 · 실습은 가상 데이터 · 회사 실제 데이터는 올리지 않습니다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609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609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43000" y="609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06  성과를 숫자로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3000" y="609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문항의 사전 · 사후 평가와 팀 개선 보고서 · 발표로 성과를 확인합니다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683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" y="683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43000" y="683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07  교육 뒤에도 쓰는 자료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3000" y="683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 사이트 · 슬라이드 · 실습 파일 8종을 교육 뒤에도 복습에 씁니다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~ 4일차 과목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550000"/>
            <a:ext cx="2650000" cy="5900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50000"/>
            <a:ext cx="265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3000" y="2550000"/>
            <a:ext cx="4300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3000" y="2550000"/>
            <a:ext cx="430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00" y="2550000"/>
            <a:ext cx="4450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00" y="2550000"/>
            <a:ext cx="445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오전 과목 (1~4교시)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93000" y="2550000"/>
            <a:ext cx="4452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93000" y="2550000"/>
            <a:ext cx="4452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오후 과목 (5~8교시)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23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3000" y="323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 10. 12. (월)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3000" y="323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3000" y="323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 이해 · AI 와 데이터 준비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00" y="323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3000" y="323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학습개요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693000" y="323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33000" y="323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 엔지니어링 및 제조 데이터 이해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426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3000" y="426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2일차  10. 13. (화)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3000" y="426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83000" y="426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로 문제 공정 찾기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00" y="426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3000" y="426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분석 기초와 공정별 분석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693000" y="426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33000" y="426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KPI 분석과 문제 공정 선정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529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3000" y="529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3일차  10. 14. (수)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3000" y="529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83000" y="529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분석과 가설 검증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93000" y="529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3000" y="529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기반 원인분석 프레임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693000" y="529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33000" y="529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분류와 검증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" y="632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3000" y="632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4일차  10. 15. (목)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3000" y="632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83000" y="632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· 실행계획 · 보고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93000" y="632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3000" y="632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도출과 우선순위 평가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693000" y="632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33000" y="632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실행계획과 최종 보고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748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▶ 이 묶음 = 1일차 · 과목명과 세부내용은 위탁기관 커리큘럼 그대로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개요 · 2026. 10. 12. (월)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 이해 · AI 와 데이터 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50000"/>
            <a:ext cx="16002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과정의 출발점입니다. 오전에는 제조업의 생성형 AI 활용 흐름과 PBL 문제 상황을 이해해 팀 문제정의서를 쓰고, 오후에는 프롬프트 설계와 제조 데이터 정제를 익혀 둘째 날 KPI 분석에 쓸 깨끗한 데이터를 만듭니다.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100000"/>
            <a:ext cx="1500000" cy="4550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100000"/>
            <a:ext cx="15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3000" y="3100000"/>
            <a:ext cx="20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3000" y="3100000"/>
            <a:ext cx="20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3000" y="3100000"/>
            <a:ext cx="42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3000" y="3100000"/>
            <a:ext cx="42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3000" y="3100000"/>
            <a:ext cx="66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3000" y="3100000"/>
            <a:ext cx="66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643000" y="3100000"/>
            <a:ext cx="1502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643000" y="3100000"/>
            <a:ext cx="1502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360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3000" y="360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3000" y="360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3000" y="360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09:00~09:50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43000" y="360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3000" y="360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학습개요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3000" y="360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3000" y="360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과정 안내 · 사전평가 · 실습 환경 준비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643000" y="360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33000" y="360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07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3000" y="407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3000" y="407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3000" y="407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10:00~10:50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3000" y="407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33000" y="407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학습개요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3000" y="407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83000" y="407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제조업 생성형 AI 트렌드와 혁신 활용 사례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643000" y="407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733000" y="407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54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3000" y="454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3000" y="454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3000" y="454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11:00~11:50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43000" y="454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33000" y="454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학습개요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93000" y="454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83000" y="454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PBL 시나리오 — 새벽정밀(가상) 소결 부품 라인의 문제 상황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643000" y="454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733000" y="454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이론+실습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43000" y="5010000"/>
            <a:ext cx="16002000" cy="3000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9525">
            <a:solidFill>
              <a:srgbClr val="F2D3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5010000"/>
            <a:ext cx="1600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D9822B"/>
                </a:solidFill>
                <a:latin typeface="Pretendard"/>
                <a:ea typeface="Pretendard"/>
                <a:cs typeface="Pretendard"/>
              </a:rPr>
              <a:t>12:00~13:00  점심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43000" y="532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33000" y="532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93000" y="532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83000" y="532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13:00~13:50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43000" y="532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33000" y="532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학습개요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93000" y="532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83000" y="532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핵심 과제 정의 — 팀 문제정의서 작성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643000" y="532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733000" y="532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579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3000" y="579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5교시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693000" y="579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83000" y="579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14:00~14:50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43000" y="579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33000" y="579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엔지니어링 및 제조 데이터 이해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93000" y="579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83000" y="579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프롬프트의 구조 — 역할·맥락·과업·형식·검증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643000" y="579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733000" y="579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이론+실습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43000" y="626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33000" y="626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6교시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93000" y="626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83000" y="626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15:00~15:50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43000" y="626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33000" y="626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엔지니어링 및 제조 데이터 이해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93000" y="626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83000" y="626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제조 도메인 페르소나 설정과 프롬프트 실습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5643000" y="626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733000" y="626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43000" y="673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33000" y="673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7교시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693000" y="673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83000" y="673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16:00~16:50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43000" y="673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33000" y="673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엔지니어링 및 제조 데이터 이해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993000" y="673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83000" y="673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제조 데이터 스키마 분석 — 데이터 사전 만들기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5643000" y="673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5733000" y="673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43000" y="720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33000" y="720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8교시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693000" y="720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83000" y="720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17:00~17:50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43000" y="720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33000" y="720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엔지니어링 및 제조 데이터 이해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993000" y="720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83000" y="720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를 활용한 데이터 정제 — 오류 8종 찾고 고치기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5643000" y="720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5733000" y="720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개요 · 2026. 10. 12. (월)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학습목표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50000"/>
            <a:ext cx="160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오전 · 1~4교시  </a:t>
            </a:r>
            <a:r>
              <a:rPr sz="2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학습개요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97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3000" y="308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3000" y="308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3000" y="297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 과정의 흐름·매일의 결과물과 외부 AI 보안 원칙(올려도 되는 것·안 되는 것)을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58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63000" y="369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63000" y="369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3000" y="358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제조업 생성형 AI 활용 유형과 한계(환각·최신성·계산 실수·보안)를 사례로 구분하고 내 업무에 적용할 일을 고른다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9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3000" y="430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3000" y="430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3000" y="419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PBL 문제 상황을 데이터와 함께 읽고 5W1H·SMART 로 팀 문제정의서를 작성한다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50000"/>
            <a:ext cx="160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오후 · 5~8교시  </a:t>
            </a:r>
            <a:r>
              <a:rPr sz="2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 엔지니어링 및 제조 데이터 이해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47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63000" y="558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3000" y="558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3000" y="547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역할·맥락·과업·형식·검증 다섯 요소로 프롬프트를 쓰고 SCORE 점수로 약한 축을 고친다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608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63000" y="619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3000" y="619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3000" y="608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제조 현장 페르소나를 설정해 용어·단위·안전·출력 형식이 맞는 답을 받고 후속 질문으로 좁힌다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" y="669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63000" y="680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63000" y="680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3000" y="669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생산일지의 데이터 사전을 만들고 AI 점검 규칙과 Excel 로 오류 8종을 찾아 정제·기록한다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오전 과목 · 1~4교시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학습개요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0000"/>
            <a:ext cx="16002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 과정의 목적·흐름·보안 원칙을 확인하고 사전평가로 출발점을 잽니다. 생성형 AI 가 제조 현장에서 어떻게 쓰이는지 본 뒤, 가상 기업 「새벽정밀」의 문제 상황을 받아 팀별 핵심 과제를 정의합니다.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0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50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3000" y="368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1  ·  제조업 생성형 AI 트렌드 및 혁신 활용 사례 공유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3000" y="422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문서·보고 작성, 데이터 해석 보조, 기술 지식 검색 등 제조업의 생성형 AI 활용 사례를 살펴보고, 내 업무 가운데 AI 를 붙일 수 있는 일과 AI 의 한계(틀린 숫자·없는 근거)를 구분합니다.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5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35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3000" y="553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2  ·  가상 공정 시나리오 기반의 PBL(Problem Based Learning) 문제 상황 이해 및 핵심 과제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3000" y="607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세라믹 소결 부품 라인(6공정 12설비 · 62일)의 상황 설명과 데이터를 읽고, 현상·영향·범위·목표를 담은 팀 문제정의서를 작성합니다. 이후 3일 동안 이 문제 하나를 끝까지 풉니다.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330000"/>
            <a:ext cx="1600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차시  </a:t>
            </a:r>
            <a:r>
              <a:rPr sz="135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1교시 과정 안내 · 사전평가 · 실습 환경 준비  ·  2교시 제조업 생성형 AI 트렌드와 혁신 활용 사례  ·  3교시 PBL 시나리오  ·  4교시 핵심 과제 정의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오후 과목 · 5~8교시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 엔지니어링 및 제조 데이터 이해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0000"/>
            <a:ext cx="16002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역할·맥락·과업·형식·검증 다섯 요소로 프롬프트를 설계하고, 제조 도메인 페르소나를 입혀 현장 용어·단위에 맞는 답을 받습니다. 이어서 생산일지의 구조를 데이터 사전으로 정리하고 AI 와 함께 오류를 찾아 정제합니다.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0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50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3000" y="368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1  ·  제조 도메인 특성을 반영한 페르소나 설정 및 프롬프트 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3000" y="422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공정기술자·품질 담당자 등 페르소나를 설정해 답의 용어·단위·안전 기준·출력 형식을 현장에 맞추고, 같은 대화 안에서 후속 질문으로 답을 좁혀 가는 방법을 실습합니다.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5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35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3000" y="553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2  ·  제조 데이터 스키마 분석 및 AI를 활용한 데이터 정제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3000" y="607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생산일지의 열 이름·단위·값 범위를 데이터 사전으로 정리하고, 표기 불일치·형식 오류·논리 오류·빈 값·중복 등 오류 8종을 AI 와 함께 찾아 Excel 로 고칩니다. 고친 결과는 행 수·합계로 검증합니다.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330000"/>
            <a:ext cx="1600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차시  </a:t>
            </a:r>
            <a:r>
              <a:rPr sz="135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5교시 프롬프트의 구조  ·  6교시 제조 도메인 페르소나 설정과 프롬프트 실습  ·  7교시 제조 데이터 스키마 분석  ·  8교시 AI 를 활용한 데이터 정제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1교시 · 학습개요 ·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과정 안내 · 사전평가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실습 환경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 동안 하나의 문제를 끝까지 풉니다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 과정의 흐름과 매일 만드는 결과물을 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사전평가를 응시하고 AI·Excel·실습 파일을 준비한다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외부 AI 에 올려도 되는 것과 안 되는 것을 구별한다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보안 원칙은 이 시간에 가장 분명하게 짚고 시작합니다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과정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 — 하나의 문제를 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그날의 결과물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10. 12.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이해 · AI 와 데이터 준비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문제정의서 · 정제된 생산일지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2일차 10. 13.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로 문제 공정 찾기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KPI 표 · 중점관리공정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3일차 10. 14.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분석과 가설 검증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MECE 표 · 검증 계획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4일차 10. 15.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· 실행계획 · 보고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대안 평가표 · 관리자 보고서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하루의 결과물이 다음 날의 출발점이 된다 · 1교시 = 50분 수업 + 10분 휴식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과정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과정의 세 가지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숫자는 Excel 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AI 가 낸 숫자는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반드시 다시 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가상 데이터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실습은 전부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새벽정밀(가상) 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실제 정보 금지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실제 정보는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외부 AI 에 올리지 않는다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ChatGPT 기본 · Gemini·Claude·Copilot 도 같은 프롬프트로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보안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올려도 되는 것 · 올리지 않는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올려도 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가상·일반 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과정의 가상 실습 파일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공개된 일반 지식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「작업자 A」처럼 가린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올리지 않는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보안정책을 먼저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생산·품질 기록, 설비 로그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도면·공정 조건·내부 보고서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이름·사번·연락처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사전평가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[사전·사후 평가] 메뉴에서 응시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메뉴 /assessment 로 들어간다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 없음 — 이름만 적고 4일 같은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약 15분 동안 응시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생성형 AI · OEE·Cpk · 데이터 분석 · 문제 해결 문항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모르는 문항은 모른다고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짐작으로 채우지 않아야 4일 뒤 비교가 정확하다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점수는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성적이 아니라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출발점 확인용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단계로 준비합니다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막히는 단계가 있으면 손을 들어 바로 알려 주세요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사이트 접속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메뉴 둘러보기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사전평가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15분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AI·Excel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로그인·피벗 메뉴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파일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/materials 7종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 구성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3명 × 3팀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첫 인사 — 내 업무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역할 소개 → 업무 → 요청 3가지 → 표 형식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저는 제조 기업 {{부서}}의 기술직 직원입니다. 주로 하는 일은 {{주요업무}}입니다. AI 가 도울 수 있는 일 5가지, 사람이 확인할 부분, AI 에 넣지 말아야 할 정보 3가지를 표로 알려 주세요.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주요업무는 회사명·실제 조건 없이 일반 표현으로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팀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3명씩 3개 팀 · 자기소개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섞어서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생산·안전·품질이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팀에 고르게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고민 하나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4일차 적용계획에서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돌아온다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 돌아가며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진행·기록·발표를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바꿔 맡는다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 파일 확인: 02 clean 의 CLEAN 시트 1,488행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1교시 ·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1교시 · 평가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제조업 생성형 AI 활용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제조 현장에서 생성형 AI 가 쓰이는 업무 유형과 한계를 보고, 내 업무를 나눠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활용 유형 여섯 가지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환각·최신성·계산 실수·보안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 A·B·C 분류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활용 아이디어 하나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로그인된 AI 와 팀원 현업 고민 메모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2교시 · 학습개요 · 이론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제조업 생성형 AI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트렌드와 활용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초안, 사람은 검증과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제조업 생성형 AI 활용 유형 6가지를 예와 함께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한계 4가지(환각·최신성·계산 실수·보안)와 대처법을 고른다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업무를 「맡길 일·함께 할 일·사람이 할 일」로 나눈다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특정 회사의 성공담보다 여러 현장에 공통인 「활용 유형」을 익힙니다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활용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 현장의 생성형 AI 활용 유형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업무 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0426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돕는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사람이 꼭 할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문서·보고서 작성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메모를 보고서 틀로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사실·수치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분석 보조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433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433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순서·수식·차트 초안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4337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4337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로 숫자 재검증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품질 이상 원인 탐색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3870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3870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4M1E 로 후보 펼치기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3870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3870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사실과 추정 구분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매뉴얼·표준 문서 검색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53402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53402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문서를 찾아 근거와 함께 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53402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53402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원문·최신판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교육 자료 작성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2293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2293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목차·설명·퀴즈 초안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22935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22935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 기준과 대조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코드·수식 생성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69246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8850" y="69246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말로 쓴 규칙을 수식으로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024360" y="692467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19610" y="692467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데이터로 시험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어느 유형이든 마지막 확인은 사람이 한다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활용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RAG — 교과서를 펴 놓고 답하는 오픈북 시험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4749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spc="31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38500"/>
            <a:ext cx="4749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48100"/>
            <a:ext cx="4749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알람 E-17 조치 방법은?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5029200"/>
            <a:ext cx="4749800" cy="2552700"/>
          </a:xfrm>
          <a:prstGeom prst="roundRect">
            <a:avLst>
              <a:gd name="adj" fmla="val 186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545496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3538" y="5276850"/>
            <a:ext cx="40116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현장의 질문 한 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64250" y="6324600"/>
            <a:ext cx="533400" cy="2476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9100" y="2857500"/>
            <a:ext cx="4749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spc="31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STEP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9100" y="3238500"/>
            <a:ext cx="4749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9100" y="3848100"/>
            <a:ext cx="4749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매뉴얼에서 관련 쪽 찾기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9100" y="5029200"/>
            <a:ext cx="4749800" cy="2552700"/>
          </a:xfrm>
          <a:prstGeom prst="roundRect">
            <a:avLst>
              <a:gd name="adj" fmla="val 186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73900" y="545496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9638" y="5276850"/>
            <a:ext cx="40116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기억이 아니라 문서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1690350" y="6324600"/>
            <a:ext cx="533400" cy="2476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95200" y="2857500"/>
            <a:ext cx="4749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spc="31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STEP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95200" y="3238500"/>
            <a:ext cx="4749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근거와 함께 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95200" y="3848100"/>
            <a:ext cx="4749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찾은 문장을 보고 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95200" y="5029200"/>
            <a:ext cx="4749800" cy="2552700"/>
          </a:xfrm>
          <a:prstGeom prst="roundRect">
            <a:avLst>
              <a:gd name="adj" fmla="val 186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700000" y="545496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85738" y="5276850"/>
            <a:ext cx="40116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근거를 같이 보여 준다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활용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분석 기능 — AI 가 파이썬으로 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파일을 올리면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파이썬으로 집계하고 차트를 그려 준다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말로 계산보다 정확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그래도 범위·조건을 잘못 잡을 수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요금제에 따라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분석 횟수에 제한이 있을 수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과정의 원칙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낸 숫자는 Excel 로 다시 검증한다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생성형 AI 가 틀리기 쉬운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무슨 일이 생기나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대처법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환각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규격·수치를 지어낸다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출처를 묻고 원문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최신성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 이후 기준을 모른다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최신 문서·공식 출처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 실수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합계·비율이 틀린다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로 다시 계산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입력이 회사 밖으로 나간다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데이터는 넣지 않음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넷 모두 「사람이 검증한다」로 대처한다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는 초안, 사람은 검증과 결정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맡길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글을 만들고 정리하고 바꾸는 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보고서·회의록 초안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넓게 펼치기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수식·분석 순서 제안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사람이 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확인과 책임 있는 판단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숫자를 Excel 로 재검증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출처를 원문으로 확인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안전·재가동 같은 최종 판단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직접 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 단계로 내 업무에 옮겨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 A·B·C 분류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맡길 일·함께 할 일·맡기면 안 되는 일로 표를 받는다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한계 직접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 출처를 검색하고, AI 합계·평균을 Excel 과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활용 아이디어 하나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매주 반복되는 A·B 업무 하나와 검증 방법 한 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업무 목록은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회사명 없이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일반 표현으로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직접 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틀리기 쉬운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바로잡는 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A·B·C 분류를 그대로 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C(안전·보안)부터 내 판단으로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확신도 「상」을 그대로 믿음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제목으로 직접 검색해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합계를 그대로 옮김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=SUM()·=AVERAGE() 로 대조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업무 목록에 회사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 표현으로 바꿔 쓴다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검증을 건너뛰면 이번 시간의 절반을 놓친다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생성형 AI 는 글을 만들고 정리하고 바꾸는 일에 강하다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RAG 는 문서를 찾아 근거와 함께 답하는 오픈북 방식이다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환각·최신성·계산 실수·보안 — 넷 다 사람이 검증한다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사례는 회사 이름이 아니라 「활용 유형」으로 옮긴다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2교시 · 이론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PBL 시나리오 — 새벽정밀(가상)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 동안 함께 풀 가상 공장의 공정과 문제 상황, 데이터 7종을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6공정 12설비의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8월의 문제 상황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실습 데이터 7종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 기술자의 확인 질문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내려받은 실습 파일 7종과 팀 아이디어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3교시 · 학습개요 · 이론+실습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PBL 시나리오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새벽정밀(가상) 소결 부품 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답을 찾지 않습니다 — 질문부터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6공정 12설비 흐름과 8월의 문제 상황을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실습 데이터 7종의 내용과 쓰는 시점을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확인 질문 중 데이터로 답할 수 있는 것을 고른다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PBL — 처음부터 문제 하나를 받아 들고, 필요한 도구를 그때그때 익힙니다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새벽정밀(가상)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6공정 12설비 · 62일 · 2교대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P1 원료혼합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MX-01·02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P2 성형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PR-01·02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P3 소결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SF-01·02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P4 연삭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GR-01·02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P5 검사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IN-01·02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P6 포장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PK-01·02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소결은 오븐에 굽기 — 오븐 온도가 고르지 않으면 덜 익거나 갈라진다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2026. 7. 1. ~ 8. 31. · 주간·야간 2교대 · 교대당 계획 480분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문제 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8월, 불량 클레임과 납기 지연 증가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공정이 문제인가? 원인은 무엇인가? 무엇부터 고칠 것인가?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실습 데이터 7종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파일마다 담긴 것과 쓰는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73228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담긴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01 생산일지 dirty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8종이 섞인 원본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84480" y="3448050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9730" y="3448050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1,502행 × 12열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02 생산일지 clean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044043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044043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정제본 + 데이터 사전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984480" y="4044043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79730" y="4044043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1,488행 × 12열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03 품질 측정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640036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640036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밀도·외경, 연삭 외경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640036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640036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2,480건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04 불량 기록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236029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236029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유형·수량·로트·온도편차·습도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984480" y="5236029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079730" y="5236029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3,224건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05 알람 로그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5832021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5832021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알람 텍스트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984480" y="5832021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079730" y="5832021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597건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06 KPI 워크북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23560" y="6428014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8810" y="6428014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OEE·Cpk 모범 답안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984480" y="6428014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079730" y="6428014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대조용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07 개선 워크북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23560" y="7024007"/>
            <a:ext cx="73228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8810" y="7024007"/>
            <a:ext cx="71323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원인·검증·대안·실행 양식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984480" y="7024007"/>
            <a:ext cx="4160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079730" y="7024007"/>
            <a:ext cx="3970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4개 시트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생산일지 1,488행 = 62일 × 2교대 × 12설비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실습 데이터 7종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핵심 파일 세 개의 열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생산일지 12열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일자·교대·설비·비가동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생산·양품·원료로트 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기록 10열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불량유형·수량·로트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온도편차·습도·비고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알람 로그 5열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시각·설비·등급·코드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message(사람이 쓴 문장)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글로 된 기록(알람 message)은 생성형 AI 가 특히 잘 돕는 자료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PBL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4일, 다섯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결론부터 정하지 않는다 — 짐작은 「확인할 질문」으로 바꿔 적는다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문제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1일차 오전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4일차 오전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4일차 오후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질문을 받고, 팀이 고른다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세 개를 열어 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분석하지 않고 열 이름과 값의 모양만 — DATA_DICT 부터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확인 질문 10개 받기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20년 경력 생산기술 엔지니어 역할 · 원인 추측 금지 · 표로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팀이 질문 5개 고르기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데이터로 답할 수 있는가 · 범위를 좁혀 주는가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고른 질문마다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답을 찾을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파일을 적는다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틀리기 쉬운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바로잡는 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바로 원인을 정해 버린다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확인할 질문으로 바꿔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든 근거 데이터를 믿음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열 이름과 대조한다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없는 데이터(작업자 숙련도)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「현장 확인 필요」로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CSV 가 한 열로 붙어 열림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→ 텍스트/CSV 에서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데이터가 없는 원인은 틀린 것이 아니라 「아직 확인할 수 없는 것」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6공정 12설비의 순서와 설비 이름을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1,488행 = 62일 × 2교대 × 12설비를 이해했다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데이터로 답할 수 없는 질문을 골라 표시했다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팀이 고른 질문 5개마다 답을 찾을 파일을 적었다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3교시 · 이론+실습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3교시 · 이론+실습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핵심 과제 정의 — 문제정의서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고른 질문을 바탕으로 팀 문제정의서 1장을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 = 목표와 현상의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5W1H 로 현상 적기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SMART 목표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 → 팀이 고치기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팀이 고른 질문 5개와 파일 목록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4교시 · 학습개요 · 실습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핵심 과제 정의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문제정의서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불만을 다룰 수 있는 문제로 바꿉니다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「문제 = 목표와 현상의 차이」로 문제를 한 문장에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5W1H 로 현상을, SMART 기준으로 목표를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초안에서 지어낸 사실과 원인 단정을 찾아 고친다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팀 문제정의서 1장 — 2일차 KPI 분석의 출발점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문제 = 목표 − 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불만과 문제는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조사하고 언제 끝날지 정할 수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「불량이 많다」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「납기가 늦다」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목표와 현상의 차이가 숫자로 드러난다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 클레임이 7월보다 늘었다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클레임을 7월 수준 이하로 되돌린다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5W1H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현상은 5W1H 로 — 빈 칸이 곧 확인할 데이터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5W1H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5082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묻는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새벽정밀에서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When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언제부터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 들어 (시작일은 데이터로)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Where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공정·설비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43375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43375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모름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What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일어났나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38700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38700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클레임·납기 지연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Who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영향을 받나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534025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534025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고객사·출하·생산 계획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Why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중요한가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6229350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6229350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 비용·고객 신뢰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How much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2336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861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얼마나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6924675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9250" y="6924675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7월과 비교해 숫자로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Where 는 아직 모른다 — 2일차 KPI 로 좁힌다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목표는 SMART 로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54025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나쁜 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좋은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 구체적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품질을 높인다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불량률을 낮춘다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 측정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많이 줄인다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7월 평균 수준 이하로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 달성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0 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7월 수준 회복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 관련성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포장 속도 향상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클레임·납기 직결 지표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 기한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3436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3436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앞으로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3436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3436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착수 후 4주 안에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4일 뒤 이 목표를 이뤘는지 숫자로 말할 수 있어야 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문제정의서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여섯 칸 — 원인 칸은 없다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 · 영향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5W1H 사실만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고객·납기·비용 영향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범위 · 목표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다루지 않을 것까지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SMART 목표 한두 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제약 · 데이터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시간·인력·보안 조건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→ 파일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원인은 3일차에 데이터로 찾는다 — 지금은 질문으로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 → 팀이 고친다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「모르는 것은 모른다고 적어 달라」를 빼면 AI 가 빈칸을 숫자로 채운다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재료 모으기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5개·제약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초안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여섯 칸·원인 금지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팀이 고치기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관점 나눠 맡기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점검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목표만 따로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1장 공유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한 문장 30초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틀리기 쉬운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바로잡는 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계산하지 않은 숫자가 현상에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지우고 「(데이터로 확인)」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특정 공정을 원인으로 단정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「확인할 데이터」에 질문으로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목표에 숫자·기한이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기준값 출처와 기한을 넣는다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범위가 라인 전체·모든 문제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「다루지 않을 것」을 적는다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고칠 때는 세 명이 사실 · 원인 단정 · SMART 를 하나씩 맡는다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문제를 「목표와 현상의 차이」로 한 문장에 썼다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 칸에 확인하지 않은 숫자나 지어낸 사실이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어디에도 원인을 단정한 문장이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목표가 SMART 다섯 기준을 모두 충족한다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확인할 데이터의 질문마다 파일 이름이 붙어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4교시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프롬프트의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오후에는 프롬프트 엔지니어링과 제조 데이터 정제를 실습합니다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역할·맥락·과업·형식·검증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 도메인 페르소나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사전 만들기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오류 8종 정제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문제정의서 1장(팀명_문제정의서_1012)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5교시 · 프롬프트·제조 데이터 이해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프롬프트의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역할·맥락·과업·형식·검증 다섯 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요소(역할·맥락·과업·형식·검증)를 구분해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막연한 질문 한 줄을 다섯 요소 프롬프트로 고쳐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「프롬프트 평가」 SCORE 점수로 약한 축을 찾아 고친다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프롬프트는 AI 에게 주는 작업지시서입니다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좋은 프롬프트의 다섯 요소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54025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작업지시서로 치면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제조 현장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누구에게 맡기나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34480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9290" y="34480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20년 경력 소결 공정 기술자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맥락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라인, 어떤 상황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1719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9290" y="41719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소결 라인, 8월 불량 증가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 내용과 수량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48958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9290" y="48958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확인할 데이터 항목 10개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 양식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56197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56197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— 항목·이유·확인 방법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기준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4040" y="63436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9290" y="63436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확실한 것과 추정을 구분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대괄호 표지([역할] [맥락] …)를 붙이면 빠뜨린 요소가 한눈에 보입니다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나쁜 예 → 좋은 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줄 질문에서 빠진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나쁜 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4762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빠진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고치는 방향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 줄이는 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역할·맥락·형식·검증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요소를 모두 채움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데이터 분석해줘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무엇을, 어느 범위로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7월·8월 공정별 불량률 비교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보고서 써줘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읽는 사람·분량·구조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공장장용 한 장, 현황·원인·조치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원인이 뭐야?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방법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원인마다 확인 데이터와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좋은 예가 길어 보여도 다시 묻고 고치는 대화 서너 번을 줄여 줍니다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「프롬프트 평가」의 다섯 축 — 각 20점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82829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82829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묻는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연결 요소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 구체성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82829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80924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파일·열·기간·조건이 분명한가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04520" y="34480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99770" y="34480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 맥락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82829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80924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배경·자료·용도·제약이 있는가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304520" y="41719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99770" y="41719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맥락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 출력지정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82829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80924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표·순서·분량까지 지정했나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04520" y="48958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99770" y="48958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 역할부여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82829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80924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역할에 전문성·관점까지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304520" y="56197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99770" y="56197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 효과성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343650"/>
            <a:ext cx="82829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343650"/>
            <a:ext cx="80924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검증·예시로 한 번에 쓸 결과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304520" y="63436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399770" y="63436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 + 균형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등급 S 90 · A 80 · B 70 · C 60 · 그 아래 D — 자동 채점은 키워드·구조 기반 추정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한 줄에서 다섯 요소로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ChatGPT 기본, Gemini · Claude · Copilot 도 같은 순서로 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한 줄 보내기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불량이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늘었어, 원인은?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다시 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요소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표지 붙여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기준으로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나란히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채점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/prompt-eval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전·후 점수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한 축 고치기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낮은 축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요소 프롬프트 — 뼈대만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16186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16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[역할]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9186" y="2781300"/>
            <a:ext cx="150858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1586" y="2781300"/>
            <a:ext cx="14781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20년 경력 공정 기술자 겸 품질 데이터 분석가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916186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916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[맥락]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9186" y="3429000"/>
            <a:ext cx="150858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1586" y="3429000"/>
            <a:ext cx="14781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소결 라인, 6공정·2교대, 8월 클레임 증가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916186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916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[과업]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9186" y="4076700"/>
            <a:ext cx="150858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1586" y="4076700"/>
            <a:ext cx="14781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데이터에서 먼저 확인할 항목 10개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916186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916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[형식]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9186" y="4724400"/>
            <a:ext cx="150858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1586" y="4724400"/>
            <a:ext cx="14781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— 번호·항목·이유·볼 데이터·확인 방법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916186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916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[검증]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9186" y="5372100"/>
            <a:ext cx="150858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11586" y="5372100"/>
            <a:ext cx="14781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한 문장씩, 확인 불가는 「추가 데이터 필요」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원인을 바로 묻지 않고 「무엇을 확인해야 하는가」를 묻습니다 — 전문은 사이트 본문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두 답을 네 기준으로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다섯 요소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라인 이야기인가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일반론 나열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6공정·2교대 기준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바로 쓸 수 있는가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무엇부터 할지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볼 3개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문단·글머리표 섞임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지정한 열 순서의 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믿을 수 있는가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근거·추정 구분 없음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+ 추가 데이터 표시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점수를 올리려다 놓치는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여러 축을 한 번에 고친다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효과였는지 모른다 — 가장 낮은 축 하나만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과업에 일을 여러 개 넣는다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각각이 얕아진다 — 「~해 주세요」 하나로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점수가 높으면 끝이라고 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채점은 추정 — 실제 답을 받아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맥락에 실제 회사 정보를 넣는다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실명·공정 조건은 가명·가상으로 바꿔 적기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프롬프트에 다섯 요소가 모두 들어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과업에 수량과 대상이 분명하다(항목 10개 등)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형식에 표의 열 이름과 순서까지 적었다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고치기 전·후 SCORE 점수를 기록했고 낮던 축이 올랐다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회사 실제 이름·공정 조건 같은 민감 정보가 없다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5교시 · 이론+실습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제조 도메인 페르소나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[역할] 칸만 바꿔 끼우며 같은 질문의 답이 어떻게 달라지는지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기술자·품질보증·설비보전·생산관리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질문, 네 개의 답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용어·단위·안전·형식 지정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페르소나 카드 만들기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요소 프롬프트와 전·후 점수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6교시 · 프롬프트·제조 데이터 이해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 도메인 페르소나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질문, 누구의 눈으로 답하게 할까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경력·분야·관점·용어를 넣어 페르소나를 설정한다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질문을 네 페르소나에 던져 비교표로 정리한다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용어·단위·안전·형식을 지정하고 후속 질문으로 좁힌다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역할을 주는 것은 회의 참석자를 한 명씩 앉히는 일입니다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페르소나에 채울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경력·분야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얼마나, 어느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분야에서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2924175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무엇을 가장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중요하게 보나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2924175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용어·단위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°C · 분 · 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비가동 · 양품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2924175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하지 말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조작 대신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항목만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「전문가」 한 단어보다 「20년 경력, 기록으로 확인하는 것이 원칙」이 잘 듣습니다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페르소나 카드 네 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보는 자리가 다르면 첫 질문이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페르소나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먼저 보는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좋아하는 형식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공정 기술자 20년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승온 조건·온도 균일성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조건 점검표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품질보증(SPC)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추이·관리도·Cpk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추이 그래프 + 판정 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설비보전 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이력·계측기·보전 기록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 체크리스트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생산관리 팀장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납기 영향·손실·우선순위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장 요약 + 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인물이 아니라 업계에서 흔한 직무를 일반화한 설정입니다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[역할] 칸만 바꿔 끼우기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팀원 셋이 페르소나를 나눠 맡고, 페르소나마다 새 대화를 엽니다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기준 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 없이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세 줄 메모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네 페르소나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질문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비교표 채우기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말투 입히기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용어·단위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안전·형식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좁히기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대화에서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후속 질문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팀 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 동안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쓸 페르소나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네 답을 한 표에 — 칸은 한두 낱말로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9225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922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페르소나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3620" y="2781300"/>
            <a:ext cx="3642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3620" y="2781300"/>
            <a:ext cx="3642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1순위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3642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3642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64540" y="2781300"/>
            <a:ext cx="36804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64540" y="2781300"/>
            <a:ext cx="3680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요청 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공정 기술자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3620" y="34480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8870" y="34480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4480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9330" y="34480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464540" y="34480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59790" y="34480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품질보증 엔지니어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3620" y="41719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8870" y="41719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1719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9330" y="41719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464540" y="41719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59790" y="41719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설비보전 담당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3620" y="48958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8870" y="48958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48958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48958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464540" y="48958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559790" y="48958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생산관리 팀장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03620" y="56197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8870" y="56197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56197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9330" y="56197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464540" y="56197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559790" y="56197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공통 항목은 우선 확인 후보, 한 사람만 꼽은 항목은 놓치기 쉬운 자리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현장의 말투를 입히는 네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97650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650" y="27813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3050" y="27813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비가동 · 양품 · 불량률(불량 ÷ 생산 × 100)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97650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0650" y="34290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3050" y="34290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°C · 시간 분 · 수량 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97650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안전·보안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40650" y="40767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3050" y="40767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조작 방법 대신 확인 항목, 실명 쓰지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97650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40650" y="47244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3050" y="47244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 — 항목 · 기록 · 판단 기준, 8개 이내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판단 기준에 근거 없는 숫자가 필요하면 「사내 기준 확인 필요」로 적게 합니다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처음부터 다시 쓰지 말고 같은 대화에서 좁힌다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범위 좁히기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「생산일지 데이터만으로 확인할 수 있는 항목만 남겨 주세요」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순서·부담 더하기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「확인 순서로 번호를 매기고 걸리는 시간을 표시해 주세요」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다른 독자에게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「생산관리 팀장에게 보고할 세 줄 요약으로 바꿔 주세요」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열로 좁히기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12개 열 이름만 주고 확인 가능·불가능 항목을 두 표로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6D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열 이름만 보내고 실제 값은 보내지 않습니다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페르소나 실습에서 자주 막히는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대화에서 역할만 바꾼다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답의 관점이 섞인다 — 페르소나마다 새 대화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「전문가」 한 단어로 끝낸다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경력·관점·용어가 없으면 평균적인 답이 나온다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안전 조치를 AI 답으로 정한다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사내 안전 규정·작업 표준이 우선이다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판단 기준 숫자를 그대로 믿는다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없는 숫자는 「사내 기준 확인 필요」로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네 페르소나의 답을 새 대화에서 따로 받아 비교표를 채웠다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네 답의 1순위 확인 항목이 서로 다르다는 것을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지정한 용어(비가동·양품·불량률)와 단위를 지켰다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근거 없는 숫자가 판단 기준에 들어가지 않았다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페르소나 카드 여섯 칸이 모두 채워졌다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6교시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데이터 사전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생산일지 12개 열의 이름과 샘플 몇 행만 AI 에 보내 데이터의 사양서를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 이름 + 샘플 5행만 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행 = 일자 × 교대 × 설비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계산의 재료 열 찾기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정답 데이터 사전과 대조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페르소나 카드 1장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7교시 · 프롬프트·제조 데이터 이해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사전 만들기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생산일지 12개 열의 사양서를 AI 와 함께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 이름과 샘플 몇 행만으로 데이터 사전 초안을 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행 = 일자 × 교대 × 설비 한 칸임을 행 수로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재료 열을 골라내고 정답 사전과 대조한다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새 설비를 돌리기 전에 사양서를 보듯, 분석 전에 데이터 사전을 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스키마·자료형·허용 값·키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0426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쉬운 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데이터에서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스키마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열이 어떤 순서로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12개 열, A 일자 ~ L 원료로트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자료형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들어갈 값의 종류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· 글자 · 정수 · 실수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허용 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들어가도 되는 범위·목록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교대 주간/야간, 비가동 0~480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사전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열마다 이름·형·허용 값·설명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clean 파일 DATA_DICT 시트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행을 구분하는 열 조합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3436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3436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 + 교대 + 설비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한 행의 의미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62일 × 2교대 × 12설비 = 1,488행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 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962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범위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2026-07-01 ~ 08-31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62일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주간 · 야간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2교대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MX·PR·SF·GR·IN·PK 01/02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 × 교대 × 설비 한 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1,488행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파일은 1,502행 — 차이 14 가 무엇인지는 8교시에 밝힙니다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보안 습관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 무엇을 얼마나 보내나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70027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보내도 되는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이름, 단위, 샘플 3~5행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바꿔서 보낼 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설비·로트·제품 번호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가명으로 바꿔서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보내지 않을 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도면·공정 조건·고객사·이름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외부 AI 에 올리지 않음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오늘은 가상 데이터지만 습관은 지금부터 — 현업은 보안정책 확인이 먼저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사본에서 정답 대조까지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원본은 그대로 두고 01_production_log_work.xlsx 사본에서 작업합니다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구조 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 1,502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12개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사전 초안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머리글 +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샘플 5행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한 행·키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기대 1,488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차이 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KPI 재료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계획·비가동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CT·생산·양품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정답 대조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DATA_DICT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칸 표시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계산의 재료 열 — 단위가 맞물려야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재료 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계획가동_분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교대당 480분 계획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비가동_분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빼면 운전시간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이론CT_초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초/개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이론상 생산 가능 수의 기준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생산수량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 + 불량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양품수량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63436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63436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생산수량을 넘을 수 없음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운전시간 = 계획가동 − 비가동 · 불량수량 = 생산 − 양품 · 나머지 열은 나눠 보는 기준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초안이 주로 갈리는 세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비가동_분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허용 값 0~480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계획이 480분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양품수량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생산수량 이하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두 열 사이 규칙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원료로트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그날 투입 로트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하루에 하나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초안 → 정본과 대조 → 고침 — 이 과정 내내 반복할 검증 습관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사전 실습에서 자주 막히는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원본 파일에서 바로 작업한다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이름으로 저장해 사본부터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행 수를 머리글까지 센다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상태 표시줄 개수 1503 − 머리글 1 = 1,502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샘플 5행으로 본 것을 확정한다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추정은 「(추정)」 표시, 정답 사전과 대조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 하나의 범위만 적는다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 ≤ 생산처럼 열 사이 규칙도 허용 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원본은 그대로, 사본에서 작업했다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에게는 머리글과 샘플 5행만 보냈다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키는 일자 + 교대 + 설비, 기대 행 수 1,488 을 확인했다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실제 1,502 와의 차이 14 를 메모했다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MY_DICT 를 DATA_DICT 와 대조해 고쳤다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7교시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데이터 정제 — 오류 8종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에게 점검 규칙 표를 받고, Excel 로 찾고 고쳐 1,488행을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점검 규칙 표 받기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표기 통일 · 날짜·숫자 형식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논리 오류·빈 값 — 고치기·보류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 제거와 결과 대조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사본 파일과 MY_DICT 시트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8교시 · 프롬프트·제조 데이터 이해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정제 — 오류 8종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로 규칙을 정하고 Excel 로 고친다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사전을 주고 AI 에게 점검 규칙 표를 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Excel 로 오류 8종을 찾고 고친다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고치기·지우기·보류를 판단하고 정제 기록을 남긴다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영점을 안 맞춘 계측기의 값은 믿을 수 없습니다 — 데이터도 같습니다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생산일지에 섞인 오류 8종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찾는 방법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공정명 표기 불일치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SINTER · 소 결 · 포장(공백)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 값 목록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날짜 형식 혼재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969544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3969544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2026.08.15 · 8월 13일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3969544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3969544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 · MID 검사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숫자에 단위 문자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491038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491038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35분 · 4321개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491038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491038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ISTEXT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 표기 불일치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012531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012531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Day · A조 · 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012531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012531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 값 목록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빈 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534025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5534025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비가동·양품·로트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664440" y="5534025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59690" y="5534025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COUNTBLANK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양품수량 &gt; 생산수량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6055519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90" y="6055519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 3518 · 양품 3565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664440" y="6055519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759690" y="6055519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열 비교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비가동 범위 밖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6577012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8890" y="6577012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-30 · 999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664440" y="6577012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759690" y="6577012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미만, 480 초과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 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7098506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8890" y="7098506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키가 두 번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664440" y="7098506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759690" y="7098506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COUNTIFS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판단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고치기 · 지우기 · 보류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고치기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올바른 값을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확실히 알 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지우기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기록이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번일 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값을 모를 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비우고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빈 값을 평균이나 앞 행 값으로 채우지 않습니다 — 진짜 기록처럼 KPI 에 섞입니다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순서가 반 — 표기 → 형식 → 논리 → 중복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WORK 시트에서만 고치고, 정제메모 열과 LOG 시트에 기록합니다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1·2. 준비·규칙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WORK · LOG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점검 규칙 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표기 통일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CHOOSE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교대 Ctrl+H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형식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수식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단위 글자 제거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논리·빈 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교환 · 로트 채움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나머지 보류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중복·대조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제거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1,488 · 합계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핵심 수식과 메뉴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827" y="27813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227" y="27813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=CHOOSE(VALUE(RIGHT(C2,1)),"원료혼합",…,"포장")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8827" y="34290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1227" y="34290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Ctrl+H · 전체 셀 내용 일치 켜고 6번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날짜 검사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8827" y="40767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1227" y="40767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=IF(AND(LEN(A2)=10,MID(A2,5,1)="-"),…)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단위 글자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8827" y="47244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1227" y="47244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 열만 골라 Ctrl+H 「분」 → 빈칸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중복 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8827" y="53721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1227" y="53721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=COUNTIFS(A:A,A2,B:B,B2,E:E,E2)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수식으로 만든 열은 값으로 붙여 넣은 뒤 도움 열을 지웁니다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빈 값과 논리 오류 — 열마다 판단이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 &gt; 생산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칸이 뒤바뀜 — 교환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빈 원료로트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그날 로트는 하나 — 같은 날 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빈 비가동·양품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 수 없음 — 비우고 메모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비가동 -30·999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원래 값을 메모에 남김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보류한 행도 지우지 않습니다 — 그 행의 생산수량은 멀쩡한 기록입니다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정제에서 자주 일어나는 사고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「주」를 바꿨더니 「주간간」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찾기 및 바꾸기 — 전체 셀 내용 일치를 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「분」을 지웠더니 「말 공급 지연」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단위 글자는 대상 열만 골라서 지운다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 제거에 정제메모까지 체크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메모가 달라 중복으로 안 잡힌다 — A~L 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합계가 작게 나온다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글자로 남은 숫자 — ISTEXT 가 0 인지 다시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6단계 — 결과 대조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오류 건수와 두 숫자로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대조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나와야 하는 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공정명 · 날짜 · 단위 문자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4100" y="34480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9350" y="34480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36 · 30 · 24건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703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703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 · 빈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40703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40703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 · 18건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926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926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양품&gt;생산 · 범위 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44100" y="46926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9350" y="46926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 · 8건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3149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3149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 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44100" y="53149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9350" y="53149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9372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9372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정제 후 행 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59372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59372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1,502 → 1,488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5595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5595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생산수량 합계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44100" y="65595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39350" y="65595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6,613,595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정답 파일 02_production_log_clean.xlsx 의 CLEAN 시트와 행 수·합계가 같아야 합니다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원본과 RAW_DIRTY 는 그대로, 수정은 WORK 에서만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6개 · 교대 2개 · 글자 숫자 0 · 다른 형식 일자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1,488행, 생산수량 합계 6,613,595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양품&gt;생산은 교환, 범위 밖·빈 비가동·양품은 보류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LOG 시트에 8종의 건수·처리·근거가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8교시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내일은 OEE — 2일차 1교시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정제된 생산일지로 설비종합효율(OEE)의 세 요소를 계산합니다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가동률 · 성능 · 양품률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계획가동·비가동·이론CT의 쓰임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를 Excel 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숫자는 Excel 로 검증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정제된 WORK 시트와 LOG 시트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