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8288000" cy="10287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4192250" y="-2381250"/>
            <a:ext cx="7429500" cy="7429500"/>
          </a:xfrm>
          <a:prstGeom prst="ellipse">
            <a:avLst/>
          </a:prstGeom>
          <a:solidFill>
            <a:srgbClr val="F1F5FB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5430500" y="-1143000"/>
            <a:ext cx="4953000" cy="49530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15906750" y="5905500"/>
            <a:ext cx="4953000" cy="4953000"/>
          </a:xfrm>
          <a:prstGeom prst="ellipse">
            <a:avLst/>
          </a:prstGeom>
          <a:solidFill>
            <a:srgbClr val="F5F6F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deckgen:decor"/>
          <p:cNvSpPr/>
          <p:nvPr/>
        </p:nvSpPr>
        <p:spPr>
          <a:xfrm>
            <a:off x="-1714500" y="2857500"/>
            <a:ext cx="2857500" cy="28575"/>
          </a:xfrm>
          <a:prstGeom prst="rect">
            <a:avLst/>
          </a:prstGeom>
          <a:solidFill>
            <a:srgbClr val="E6E9E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6" name="deckgen:decor"/>
          <p:cNvSpPr/>
          <p:nvPr/>
        </p:nvSpPr>
        <p:spPr>
          <a:xfrm>
            <a:off x="-2857500" y="6953250"/>
            <a:ext cx="6953250" cy="6953250"/>
          </a:xfrm>
          <a:prstGeom prst="ellipse">
            <a:avLst/>
          </a:prstGeom>
          <a:solidFill>
            <a:srgbClr val="EEF2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7" name="deckgen:decor"/>
          <p:cNvSpPr/>
          <p:nvPr/>
        </p:nvSpPr>
        <p:spPr>
          <a:xfrm>
            <a:off x="-1581150" y="8229600"/>
            <a:ext cx="4400550" cy="440055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deckgen:decor"/>
          <p:cNvSpPr/>
          <p:nvPr/>
        </p:nvSpPr>
        <p:spPr>
          <a:xfrm>
            <a:off x="3390900" y="8953500"/>
            <a:ext cx="742950" cy="742950"/>
          </a:xfrm>
          <a:prstGeom prst="ellipse">
            <a:avLst/>
          </a:prstGeom>
          <a:solidFill>
            <a:srgbClr val="EBEEF2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deckgen:decor"/>
          <p:cNvSpPr/>
          <p:nvPr/>
        </p:nvSpPr>
        <p:spPr>
          <a:xfrm>
            <a:off x="4457700" y="9563100"/>
            <a:ext cx="342900" cy="342900"/>
          </a:xfrm>
          <a:prstGeom prst="ellipse">
            <a:avLst/>
          </a:prstGeom>
          <a:solidFill>
            <a:srgbClr val="E1E9F7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deckgen:decor"/>
          <p:cNvSpPr/>
          <p:nvPr/>
        </p:nvSpPr>
        <p:spPr>
          <a:xfrm>
            <a:off x="1143000" y="9639300"/>
            <a:ext cx="1619250" cy="28575"/>
          </a:xfrm>
          <a:prstGeom prst="rect">
            <a:avLst/>
          </a:prstGeom>
          <a:solidFill>
            <a:srgbClr val="E6E9E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143000" y="2857500"/>
            <a:ext cx="16002000" cy="28575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43000" y="3486150"/>
            <a:ext cx="85725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 spc="12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2-5 · Python 기반의 크롤러 · 실습 1H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43000" y="3905250"/>
            <a:ext cx="16002000" cy="1219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7500" b="1" spc="-280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requests·BeautifulSoup 기초 실습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43000" y="5334000"/>
            <a:ext cx="16002000" cy="571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3300" b="1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robots.txt 확인부터 한 페이지 파싱까지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72500" y="7677150"/>
            <a:ext cx="8572500" cy="857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50000"/>
              </a:lnSpc>
            </a:pPr>
            <a:r>
              <a:rPr sz="1950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수도권ICT 이노베이션스퀘어</a:t>
            </a:r>
          </a:p>
          <a:p>
            <a:pPr algn="r">
              <a:lnSpc>
                <a:spcPct val="150000"/>
              </a:lnSpc>
            </a:pPr>
            <a:r>
              <a:rPr sz="1950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데이터 엔지니어링 &amp; RAG 파이프라인 160H · 3기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이 시간의 목표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1시간 뒤에는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2895600"/>
            <a:ext cx="16002000" cy="819150"/>
          </a:xfrm>
          <a:prstGeom prst="roundRect">
            <a:avLst>
              <a:gd name="adj" fmla="val 581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390650" y="3038475"/>
            <a:ext cx="533400" cy="53340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90650" y="3162300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①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190750" y="2895600"/>
            <a:ext cx="1457325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가상환경에 requests·bs4·pymysql 을 설치하고 ok 를 확인한다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143000" y="3886200"/>
            <a:ext cx="16002000" cy="819150"/>
          </a:xfrm>
          <a:prstGeom prst="roundRect">
            <a:avLst>
              <a:gd name="adj" fmla="val 581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390650" y="4029075"/>
            <a:ext cx="533400" cy="53340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390650" y="4152900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②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190750" y="3886200"/>
            <a:ext cx="1457325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robots.txt 확인을 코드의 첫 단계로 넣는다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143000" y="4876800"/>
            <a:ext cx="16002000" cy="819150"/>
          </a:xfrm>
          <a:prstGeom prst="roundRect">
            <a:avLst>
              <a:gd name="adj" fmla="val 581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1390650" y="5019675"/>
            <a:ext cx="533400" cy="53340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390650" y="5143500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③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190750" y="4876800"/>
            <a:ext cx="1457325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requests 로 받고 BeautifulSoup 으로 명언 10건을 뽑는다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143000" y="5867400"/>
            <a:ext cx="16002000" cy="819150"/>
          </a:xfrm>
          <a:prstGeom prst="roundRect">
            <a:avLst>
              <a:gd name="adj" fmla="val 581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1390650" y="6010275"/>
            <a:ext cx="533400" cy="53340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390650" y="6134100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④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190750" y="5867400"/>
            <a:ext cx="1457325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없는 선택자의 NoneType 오류를 겪고 방어 코드를 쓴다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143000" y="6953250"/>
            <a:ext cx="16002000" cy="876300"/>
          </a:xfrm>
          <a:prstGeom prst="roundRect">
            <a:avLst>
              <a:gd name="adj" fmla="val 5434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143000" y="7200900"/>
            <a:ext cx="16002000" cy="4381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4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다음 페이지 링크(li.next a)의 None 이 다음 1.5H 파이프라인의 종료 조건이 됩니다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데이터 엔지니어링 &amp; RAG 파이프라인 160H · 2-5 · 실습 1H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실습 흐름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여섯 단계 — 받는 것과 해석하는 것을 나눠서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43000" y="3067050"/>
            <a:ext cx="16002000" cy="4381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550" b="1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실습점검을 마친 (.venv) 터미널에서 — 파일은 전부 ~/data-eng/week2 에 저장합니다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143000" y="3924300"/>
            <a:ext cx="2895600" cy="3143250"/>
          </a:xfrm>
          <a:prstGeom prst="roundRect">
            <a:avLst>
              <a:gd name="adj" fmla="val 1644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143000" y="3924300"/>
            <a:ext cx="2895600" cy="914400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43000" y="4171950"/>
            <a:ext cx="28956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4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1. 환경 준비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52550" y="5143500"/>
            <a:ext cx="24765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46000"/>
              </a:lnSpc>
            </a:pPr>
            <a:r>
              <a:rPr sz="21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pip install</a:t>
            </a:r>
          </a:p>
          <a:p>
            <a:pPr algn="ctr">
              <a:lnSpc>
                <a:spcPct val="146000"/>
              </a:lnSpc>
            </a:pPr>
            <a:r>
              <a:rPr sz="21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docker start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419600" y="3924300"/>
            <a:ext cx="2895600" cy="3143250"/>
          </a:xfrm>
          <a:prstGeom prst="roundRect">
            <a:avLst>
              <a:gd name="adj" fmla="val 1644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419600" y="3924300"/>
            <a:ext cx="2895600" cy="914400"/>
          </a:xfrm>
          <a:prstGeom prst="rect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419600" y="4171950"/>
            <a:ext cx="28956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4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2. robots.txt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29150" y="5143500"/>
            <a:ext cx="24765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46000"/>
              </a:lnSpc>
            </a:pPr>
            <a:r>
              <a:rPr sz="21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check_robots.py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696200" y="3924300"/>
            <a:ext cx="2895600" cy="3143250"/>
          </a:xfrm>
          <a:prstGeom prst="roundRect">
            <a:avLst>
              <a:gd name="adj" fmla="val 1644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696200" y="3924300"/>
            <a:ext cx="2895600" cy="914400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96200" y="4171950"/>
            <a:ext cx="28956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4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3·4. 받기·뽑기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905750" y="5143500"/>
            <a:ext cx="24765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46000"/>
              </a:lnSpc>
            </a:pPr>
            <a:r>
              <a:rPr sz="21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fetch_raw.py</a:t>
            </a:r>
          </a:p>
          <a:p>
            <a:pPr algn="ctr">
              <a:lnSpc>
                <a:spcPct val="146000"/>
              </a:lnSpc>
            </a:pPr>
            <a:r>
              <a:rPr sz="21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fetch_one.py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0972800" y="3924300"/>
            <a:ext cx="2895600" cy="3143250"/>
          </a:xfrm>
          <a:prstGeom prst="roundRect">
            <a:avLst>
              <a:gd name="adj" fmla="val 1644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10972800" y="3924300"/>
            <a:ext cx="2895600" cy="914400"/>
          </a:xfrm>
          <a:prstGeom prst="rect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972800" y="4171950"/>
            <a:ext cx="28956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4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5. 일부러 실패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182350" y="5143500"/>
            <a:ext cx="24765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46000"/>
              </a:lnSpc>
            </a:pPr>
            <a:r>
              <a:rPr sz="21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없는 선택자</a:t>
            </a:r>
          </a:p>
          <a:p>
            <a:pPr algn="ctr">
              <a:lnSpc>
                <a:spcPct val="146000"/>
              </a:lnSpc>
            </a:pPr>
            <a:r>
              <a:rPr sz="21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→ NoneType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14249400" y="3924300"/>
            <a:ext cx="2895600" cy="3143250"/>
          </a:xfrm>
          <a:prstGeom prst="roundRect">
            <a:avLst>
              <a:gd name="adj" fmla="val 1644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14249400" y="3924300"/>
            <a:ext cx="2895600" cy="914400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4249400" y="4171950"/>
            <a:ext cx="28956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4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6. 다음 페이지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4458950" y="5143500"/>
            <a:ext cx="24765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46000"/>
              </a:lnSpc>
            </a:pPr>
            <a:r>
              <a:rPr sz="21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li.next a</a:t>
            </a:r>
          </a:p>
          <a:p>
            <a:pPr algn="ctr">
              <a:lnSpc>
                <a:spcPct val="146000"/>
              </a:lnSpc>
            </a:pPr>
            <a:r>
              <a:rPr sz="21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None 이면 끝</a:t>
            </a:r>
          </a:p>
        </p:txBody>
      </p:sp>
      <p:sp>
        <p:nvSpPr>
          <p:cNvPr id="29" name="Rectangle 28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데이터 엔지니어링 &amp; RAG 파이프라인 160H · 2-5 · 실습 1H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1단계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핵심 명령 — 설치 · 확인 · MySQL 기동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143000" y="2781300"/>
            <a:ext cx="1185827" cy="571500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43000" y="2781300"/>
            <a:ext cx="1185827" cy="5715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가상환경</a:t>
            </a:r>
          </a:p>
        </p:txBody>
      </p:sp>
      <p:sp>
        <p:nvSpPr>
          <p:cNvPr id="10" name="Rectangle 9"/>
          <p:cNvSpPr/>
          <p:nvPr/>
        </p:nvSpPr>
        <p:spPr>
          <a:xfrm>
            <a:off x="2328827" y="2781300"/>
            <a:ext cx="14816173" cy="571500"/>
          </a:xfrm>
          <a:prstGeom prst="rect">
            <a:avLst/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481227" y="2781300"/>
            <a:ext cx="14511373" cy="5715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source .venv/bin/activate — OS 셋 같다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143000" y="3429000"/>
            <a:ext cx="1185827" cy="571500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43000" y="3429000"/>
            <a:ext cx="1185827" cy="5715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설치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328827" y="3429000"/>
            <a:ext cx="14816173" cy="571500"/>
          </a:xfrm>
          <a:prstGeom prst="rect">
            <a:avLst/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481227" y="3429000"/>
            <a:ext cx="14511373" cy="5715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pip install requests beautifulsoup4 pymysql (점검에서 했으면 건너뜀)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143000" y="4076700"/>
            <a:ext cx="1185827" cy="571500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143000" y="4076700"/>
            <a:ext cx="1185827" cy="5715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확인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328827" y="4076700"/>
            <a:ext cx="14816173" cy="571500"/>
          </a:xfrm>
          <a:prstGeom prst="rect">
            <a:avLst/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481227" y="4076700"/>
            <a:ext cx="14511373" cy="5715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import requests, bs4, pymysql → ok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143000" y="4724400"/>
            <a:ext cx="1185827" cy="571500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143000" y="4724400"/>
            <a:ext cx="1185827" cy="5715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MySQL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328827" y="4724400"/>
            <a:ext cx="14816173" cy="571500"/>
          </a:xfrm>
          <a:prstGeom prst="rect">
            <a:avLst/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481227" y="4724400"/>
            <a:ext cx="14511373" cy="5715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docker start de-mysql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143000" y="5372100"/>
            <a:ext cx="1185827" cy="571500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143000" y="5372100"/>
            <a:ext cx="1185827" cy="5715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파일 저장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328827" y="5372100"/>
            <a:ext cx="14816173" cy="571500"/>
          </a:xfrm>
          <a:prstGeom prst="rect">
            <a:avLst/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2481227" y="5372100"/>
            <a:ext cx="14511373" cy="5715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code 파일.py 또는 nano 파일.py → python3 파일.py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43000" y="76200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75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확인 포인트: ok 가 출력되고 de-mysql 이 기동되면 준비 완료</a:t>
            </a:r>
          </a:p>
        </p:txBody>
      </p:sp>
      <p:sp>
        <p:nvSpPr>
          <p:cNvPr id="29" name="Rectangle 28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데이터 엔지니어링 &amp; RAG 파이프라인 160H · 2-5 · 실습 1H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2단계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수집 가능 여부: True — 파일이 없어서 나온 값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2933700"/>
            <a:ext cx="11430000" cy="1095375"/>
          </a:xfrm>
          <a:prstGeom prst="roundRect">
            <a:avLst>
              <a:gd name="adj" fmla="val 4347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447800" y="3181350"/>
            <a:ext cx="590550" cy="59055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447800" y="3333750"/>
            <a:ext cx="59055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324100" y="3143250"/>
            <a:ext cx="99060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4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출력: 수집 가능 여부: True · 권고 간격: None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324100" y="3543300"/>
            <a:ext cx="990600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RobotFileParser 가 robots.txt 를 읽어 can_fetch 로 판정한다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143000" y="4200525"/>
            <a:ext cx="11430000" cy="1095375"/>
          </a:xfrm>
          <a:prstGeom prst="roundRect">
            <a:avLst>
              <a:gd name="adj" fmla="val 4347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447800" y="4448175"/>
            <a:ext cx="590550" cy="59055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447800" y="4600575"/>
            <a:ext cx="59055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324100" y="4410075"/>
            <a:ext cx="99060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4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그런데 브라우저로 열면 404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324100" y="4810125"/>
            <a:ext cx="990600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파일이 없으면 「막는 규칙이 없다」로 보고 전부 허용 — 401·403 이면 반대로 전부 금지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143000" y="5467350"/>
            <a:ext cx="11430000" cy="1095375"/>
          </a:xfrm>
          <a:prstGeom prst="roundRect">
            <a:avLst>
              <a:gd name="adj" fmla="val 4347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447800" y="5715000"/>
            <a:ext cx="590550" cy="59055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447800" y="5867400"/>
            <a:ext cx="59055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324100" y="5676900"/>
            <a:ext cx="99060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4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권고 간격이 None 이어도 1초를 둔다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324100" y="6076950"/>
            <a:ext cx="990600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파일이 없는 것과 허용한다고 적힌 것은 다르다 — 다른 사이트는 약관까지 확인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13144500" y="2933700"/>
            <a:ext cx="4000500" cy="3629025"/>
          </a:xfrm>
          <a:prstGeom prst="roundRect">
            <a:avLst>
              <a:gd name="adj" fmla="val 1312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3487400" y="3929062"/>
            <a:ext cx="33147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spc="19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상태 코드에 따라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3487400" y="4329112"/>
            <a:ext cx="3314700" cy="1238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8000"/>
              </a:lnSpc>
            </a:pPr>
            <a:r>
              <a:rPr sz="27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결론이</a:t>
            </a:r>
          </a:p>
          <a:p>
            <a:pPr algn="l">
              <a:lnSpc>
                <a:spcPct val="138000"/>
              </a:lnSpc>
            </a:pPr>
            <a:r>
              <a:rPr sz="27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뒤집힌다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데이터 엔지니어링 &amp; RAG 파이프라인 160H · 2-5 · 실습 1H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3·4단계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fetch_raw.py → fetch_one.py — 받기와 해석을 나눈다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143000" y="2781300"/>
            <a:ext cx="8763000" cy="590550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43000" y="2781300"/>
            <a:ext cx="876300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줄</a:t>
            </a:r>
          </a:p>
        </p:txBody>
      </p:sp>
      <p:sp>
        <p:nvSpPr>
          <p:cNvPr id="10" name="Rectangle 9"/>
          <p:cNvSpPr/>
          <p:nvPr/>
        </p:nvSpPr>
        <p:spPr>
          <a:xfrm>
            <a:off x="9944100" y="2781300"/>
            <a:ext cx="7200900" cy="590550"/>
          </a:xfrm>
          <a:prstGeom prst="rect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944100" y="2781300"/>
            <a:ext cx="720090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뜻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143000" y="3448050"/>
            <a:ext cx="8763000" cy="457200"/>
          </a:xfrm>
          <a:prstGeom prst="roundRect">
            <a:avLst>
              <a:gd name="adj" fmla="val 8333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238250" y="3448050"/>
            <a:ext cx="85725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headers = {'User-Agent': …}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944100" y="3448050"/>
            <a:ext cx="7200900" cy="457200"/>
          </a:xfrm>
          <a:prstGeom prst="roundRect">
            <a:avLst>
              <a:gd name="adj" fmla="val 833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039350" y="3448050"/>
            <a:ext cx="70104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정체와 목적을 밝힌다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143000" y="3981450"/>
            <a:ext cx="8763000" cy="457200"/>
          </a:xfrm>
          <a:prstGeom prst="roundRect">
            <a:avLst>
              <a:gd name="adj" fmla="val 8333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238250" y="3981450"/>
            <a:ext cx="85725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requests.get(…, timeout=10)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944100" y="3981450"/>
            <a:ext cx="7200900" cy="457200"/>
          </a:xfrm>
          <a:prstGeom prst="roundRect">
            <a:avLst>
              <a:gd name="adj" fmla="val 833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039350" y="3981450"/>
            <a:ext cx="70104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받기만 — 파싱은 아직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143000" y="4514850"/>
            <a:ext cx="8763000" cy="457200"/>
          </a:xfrm>
          <a:prstGeom prst="roundRect">
            <a:avLst>
              <a:gd name="adj" fmla="val 8333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238250" y="4514850"/>
            <a:ext cx="85725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res.status_code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944100" y="4514850"/>
            <a:ext cx="7200900" cy="457200"/>
          </a:xfrm>
          <a:prstGeom prst="roundRect">
            <a:avLst>
              <a:gd name="adj" fmla="val 833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039350" y="4514850"/>
            <a:ext cx="70104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200 이면 성공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143000" y="5048250"/>
            <a:ext cx="8763000" cy="457200"/>
          </a:xfrm>
          <a:prstGeom prst="roundRect">
            <a:avLst>
              <a:gd name="adj" fmla="val 8333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238250" y="5048250"/>
            <a:ext cx="85725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BeautifulSoup(res.text, …)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9944100" y="5048250"/>
            <a:ext cx="7200900" cy="457200"/>
          </a:xfrm>
          <a:prstGeom prst="roundRect">
            <a:avLst>
              <a:gd name="adj" fmla="val 833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0039350" y="5048250"/>
            <a:ext cx="70104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문자열을 태그 트리로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1143000" y="5581650"/>
            <a:ext cx="8763000" cy="457200"/>
          </a:xfrm>
          <a:prstGeom prst="roundRect">
            <a:avLst>
              <a:gd name="adj" fmla="val 8333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238250" y="5581650"/>
            <a:ext cx="85725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soup.select('div.quote')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9944100" y="5581650"/>
            <a:ext cx="7200900" cy="457200"/>
          </a:xfrm>
          <a:prstGeom prst="roundRect">
            <a:avLst>
              <a:gd name="adj" fmla="val 833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0039350" y="5581650"/>
            <a:ext cx="70104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명언 덩어리 10개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1143000" y="6115050"/>
            <a:ext cx="8763000" cy="457200"/>
          </a:xfrm>
          <a:prstGeom prst="roundRect">
            <a:avLst>
              <a:gd name="adj" fmla="val 8333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238250" y="6115050"/>
            <a:ext cx="85725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q.select_one('span.text')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9944100" y="6115050"/>
            <a:ext cx="7200900" cy="457200"/>
          </a:xfrm>
          <a:prstGeom prst="roundRect">
            <a:avLst>
              <a:gd name="adj" fmla="val 833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10039350" y="6115050"/>
            <a:ext cx="70104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본문 하나 — get_text()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1143000" y="6648450"/>
            <a:ext cx="8763000" cy="457200"/>
          </a:xfrm>
          <a:prstGeom prst="roundRect">
            <a:avLst>
              <a:gd name="adj" fmla="val 8333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238250" y="6648450"/>
            <a:ext cx="85725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[… for t in q.select('a.tag')]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9944100" y="6648450"/>
            <a:ext cx="7200900" cy="457200"/>
          </a:xfrm>
          <a:prstGeom prst="roundRect">
            <a:avLst>
              <a:gd name="adj" fmla="val 833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0039350" y="6648450"/>
            <a:ext cx="70104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태그 목록을 한 줄로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143000" y="7200900"/>
            <a:ext cx="16002000" cy="4381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75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[… for t in …] 리스트 컴프리헨션 = 빈 목록에 for 로 append 한 것과 같은 결과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143000" y="76200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75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확인 포인트: status: 200 뒤에 「저자 | 본문 앞부분 | 태그 목록」 10건이 찍힌다</a:t>
            </a:r>
          </a:p>
        </p:txBody>
      </p:sp>
      <p:sp>
        <p:nvSpPr>
          <p:cNvPr id="42" name="Rectangle 41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데이터 엔지니어링 &amp; RAG 파이프라인 160H · 2-5 · 실습 1H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5단계 — 일부러 실패시키기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없는 선택자를 써 본다 — NoneType 오류를 미리 겪는다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43000" y="3067050"/>
            <a:ext cx="16002000" cy="4381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550" b="1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selector_test.py 는 터지는 것이 목적 — 방어 코드는 safe_pick.py 로 따로, 6단계는 next_page.py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143000" y="3924300"/>
            <a:ext cx="3714750" cy="3143250"/>
          </a:xfrm>
          <a:prstGeom prst="roundRect">
            <a:avLst>
              <a:gd name="adj" fmla="val 1515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143000" y="3924300"/>
            <a:ext cx="3714750" cy="914400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43000" y="4171950"/>
            <a:ext cx="371475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4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select 오타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52550" y="5143500"/>
            <a:ext cx="329565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46000"/>
              </a:lnSpc>
            </a:pPr>
            <a:r>
              <a:rPr sz="21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'div.quotes' 없음</a:t>
            </a:r>
          </a:p>
          <a:p>
            <a:pPr algn="ctr">
              <a:lnSpc>
                <a:spcPct val="146000"/>
              </a:lnSpc>
            </a:pPr>
            <a:r>
              <a:rPr sz="21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→ 빈 리스트 []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238750" y="3924300"/>
            <a:ext cx="3714750" cy="3143250"/>
          </a:xfrm>
          <a:prstGeom prst="roundRect">
            <a:avLst>
              <a:gd name="adj" fmla="val 1515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238750" y="3924300"/>
            <a:ext cx="3714750" cy="914400"/>
          </a:xfrm>
          <a:prstGeom prst="rect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238750" y="4171950"/>
            <a:ext cx="371475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4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select_one 오타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48300" y="5143500"/>
            <a:ext cx="329565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46000"/>
              </a:lnSpc>
            </a:pPr>
            <a:r>
              <a:rPr sz="21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'span.txt' 없음</a:t>
            </a:r>
          </a:p>
          <a:p>
            <a:pPr algn="ctr">
              <a:lnSpc>
                <a:spcPct val="146000"/>
              </a:lnSpc>
            </a:pPr>
            <a:r>
              <a:rPr sz="21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→ None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334500" y="3924300"/>
            <a:ext cx="3714750" cy="3143250"/>
          </a:xfrm>
          <a:prstGeom prst="roundRect">
            <a:avLst>
              <a:gd name="adj" fmla="val 1515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9334500" y="3924300"/>
            <a:ext cx="3714750" cy="914400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334500" y="4171950"/>
            <a:ext cx="371475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4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.get_text()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544050" y="5143500"/>
            <a:ext cx="329565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46000"/>
              </a:lnSpc>
            </a:pPr>
            <a:r>
              <a:rPr sz="21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None 에 호출</a:t>
            </a:r>
          </a:p>
          <a:p>
            <a:pPr algn="ctr">
              <a:lnSpc>
                <a:spcPct val="146000"/>
              </a:lnSpc>
            </a:pPr>
            <a:r>
              <a:rPr sz="21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→ AttributeError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3430250" y="3924300"/>
            <a:ext cx="3714750" cy="3143250"/>
          </a:xfrm>
          <a:prstGeom prst="roundRect">
            <a:avLst>
              <a:gd name="adj" fmla="val 1515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13430250" y="3924300"/>
            <a:ext cx="3714750" cy="914400"/>
          </a:xfrm>
          <a:prstGeom prst="rect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3430250" y="4171950"/>
            <a:ext cx="371475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4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safe_pick.py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639800" y="5143500"/>
            <a:ext cx="329565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46000"/>
              </a:lnSpc>
            </a:pPr>
            <a:r>
              <a:rPr sz="21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새 파일 — found</a:t>
            </a:r>
          </a:p>
          <a:p>
            <a:pPr algn="ctr">
              <a:lnSpc>
                <a:spcPct val="146000"/>
              </a:lnSpc>
            </a:pPr>
            <a:r>
              <a:rPr sz="21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검사 후 (없음)</a:t>
            </a:r>
          </a:p>
        </p:txBody>
      </p:sp>
      <p:sp>
        <p:nvSpPr>
          <p:cNvPr id="25" name="Rectangle 24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데이터 엔지니어링 &amp; RAG 파이프라인 160H · 2-5 · 실습 1H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5단계 — 일부러 실패시키기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터지는 코드와 방어하는 코드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43000" y="2857500"/>
            <a:ext cx="7372350" cy="533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315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터지는 쪽 — .get_text() 바로 호출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3467100"/>
            <a:ext cx="7372350" cy="876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6000"/>
              </a:lnSpc>
            </a:pPr>
            <a:r>
              <a:rPr sz="225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None 에 .get_text() 를 부르는 순간 터진다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143000" y="4610100"/>
            <a:ext cx="7372350" cy="2857500"/>
          </a:xfrm>
          <a:prstGeom prst="roundRect">
            <a:avLst>
              <a:gd name="adj" fmla="val 166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447800" y="5016817"/>
            <a:ext cx="97155" cy="97155"/>
          </a:xfrm>
          <a:prstGeom prst="ellipse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633538" y="4838700"/>
            <a:ext cx="6634162" cy="45339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5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select → 빈 리스트 []</a:t>
            </a:r>
          </a:p>
        </p:txBody>
      </p:sp>
      <p:sp>
        <p:nvSpPr>
          <p:cNvPr id="13" name="Oval 12"/>
          <p:cNvSpPr/>
          <p:nvPr/>
        </p:nvSpPr>
        <p:spPr>
          <a:xfrm>
            <a:off x="1447800" y="5527358"/>
            <a:ext cx="97155" cy="97155"/>
          </a:xfrm>
          <a:prstGeom prst="ellipse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633538" y="5349240"/>
            <a:ext cx="6634162" cy="45339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5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select_one → None</a:t>
            </a:r>
          </a:p>
        </p:txBody>
      </p:sp>
      <p:sp>
        <p:nvSpPr>
          <p:cNvPr id="15" name="Oval 14"/>
          <p:cNvSpPr/>
          <p:nvPr/>
        </p:nvSpPr>
        <p:spPr>
          <a:xfrm>
            <a:off x="1447800" y="6037898"/>
            <a:ext cx="97155" cy="97155"/>
          </a:xfrm>
          <a:prstGeom prst="ellipse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633538" y="5859780"/>
            <a:ext cx="6634162" cy="45339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5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AttributeError: 'NoneType' object …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772650" y="2857500"/>
            <a:ext cx="7372350" cy="533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315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방어하는 쪽 — pick() 헬퍼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772650" y="3467100"/>
            <a:ext cx="7372350" cy="876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6000"/>
              </a:lnSpc>
            </a:pPr>
            <a:r>
              <a:rPr sz="225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없을 수 있는 값은 검사하고 넘어간다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772650" y="4610100"/>
            <a:ext cx="7372350" cy="2857500"/>
          </a:xfrm>
          <a:prstGeom prst="roundRect">
            <a:avLst>
              <a:gd name="adj" fmla="val 166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10077450" y="5016817"/>
            <a:ext cx="97155" cy="97155"/>
          </a:xfrm>
          <a:prstGeom prst="ellipse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263188" y="4838700"/>
            <a:ext cx="6634162" cy="45339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5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found = el.select_one(selector)</a:t>
            </a:r>
          </a:p>
        </p:txBody>
      </p:sp>
      <p:sp>
        <p:nvSpPr>
          <p:cNvPr id="22" name="Oval 21"/>
          <p:cNvSpPr/>
          <p:nvPr/>
        </p:nvSpPr>
        <p:spPr>
          <a:xfrm>
            <a:off x="10077450" y="5527358"/>
            <a:ext cx="97155" cy="97155"/>
          </a:xfrm>
          <a:prstGeom prst="ellipse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263188" y="5349240"/>
            <a:ext cx="6634162" cy="45339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5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있으면 get_text(strip=True)</a:t>
            </a:r>
          </a:p>
        </p:txBody>
      </p:sp>
      <p:sp>
        <p:nvSpPr>
          <p:cNvPr id="24" name="Oval 23"/>
          <p:cNvSpPr/>
          <p:nvPr/>
        </p:nvSpPr>
        <p:spPr>
          <a:xfrm>
            <a:off x="10077450" y="6037898"/>
            <a:ext cx="97155" cy="97155"/>
          </a:xfrm>
          <a:prstGeom prst="ellipse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263188" y="5859780"/>
            <a:ext cx="6634162" cy="45339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5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없으면 default — (없음), 멈추지 않음</a:t>
            </a:r>
          </a:p>
        </p:txBody>
      </p:sp>
      <p:sp>
        <p:nvSpPr>
          <p:cNvPr id="26" name="Oval 25"/>
          <p:cNvSpPr/>
          <p:nvPr/>
        </p:nvSpPr>
        <p:spPr>
          <a:xfrm>
            <a:off x="8686800" y="3771900"/>
            <a:ext cx="914400" cy="91440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686800" y="4057650"/>
            <a:ext cx="9144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VS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데이터 엔지니어링 &amp; RAG 파이프라인 160H · 2-5 · 실습 1H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6단계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li.next a — 다음 페이지 링크, None 이면 끝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2933700"/>
            <a:ext cx="11430000" cy="1095375"/>
          </a:xfrm>
          <a:prstGeom prst="roundRect">
            <a:avLst>
              <a:gd name="adj" fmla="val 4347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447800" y="3181350"/>
            <a:ext cx="590550" cy="59055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447800" y="3333750"/>
            <a:ext cx="59055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324100" y="3143250"/>
            <a:ext cx="99060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4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첫 페이지: next href 가 /page/2/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324100" y="3543300"/>
            <a:ext cx="990600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soup.select_one('li.next a') 의 href 를 읽는다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143000" y="4200525"/>
            <a:ext cx="11430000" cy="1095375"/>
          </a:xfrm>
          <a:prstGeom prst="roundRect">
            <a:avLst>
              <a:gd name="adj" fmla="val 4347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447800" y="4448175"/>
            <a:ext cx="590550" cy="59055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447800" y="4600575"/>
            <a:ext cx="59055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324100" y="4410075"/>
            <a:ext cx="99060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4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마지막 페이지(/page/10/): None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324100" y="4810125"/>
            <a:ext cx="990600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select_one 이 None 을 돌려준다 — 이것이 순회를 멈추는 신호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143000" y="5467350"/>
            <a:ext cx="11430000" cy="1095375"/>
          </a:xfrm>
          <a:prstGeom prst="roundRect">
            <a:avLst>
              <a:gd name="adj" fmla="val 4347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447800" y="5715000"/>
            <a:ext cx="590550" cy="59055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447800" y="5867400"/>
            <a:ext cx="59055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324100" y="5676900"/>
            <a:ext cx="99060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4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다음 1.5H 에서 반복 종료 조건으로 쓴다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324100" y="6076950"/>
            <a:ext cx="990600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next_url 이 없으면 break — 있으면 그 주소로 계속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13144500" y="2933700"/>
            <a:ext cx="4000500" cy="3629025"/>
          </a:xfrm>
          <a:prstGeom prst="roundRect">
            <a:avLst>
              <a:gd name="adj" fmla="val 1312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3487400" y="3929062"/>
            <a:ext cx="33147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spc="19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확인 포인트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3487400" y="4329112"/>
            <a:ext cx="3314700" cy="1238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8000"/>
              </a:lnSpc>
            </a:pPr>
            <a:r>
              <a:rPr sz="27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/page/2/</a:t>
            </a:r>
          </a:p>
          <a:p>
            <a:pPr algn="l">
              <a:lnSpc>
                <a:spcPct val="138000"/>
              </a:lnSpc>
            </a:pPr>
            <a:r>
              <a:rPr sz="27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그리고 None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데이터 엔지니어링 &amp; RAG 파이프라인 160H · 2-5 · 실습 1H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확인 포인트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이 1시간이 끝날 때 확인할 것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2990850"/>
            <a:ext cx="16002000" cy="819150"/>
          </a:xfrm>
          <a:prstGeom prst="roundRect">
            <a:avLst>
              <a:gd name="adj" fmla="val 581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390650" y="3133725"/>
            <a:ext cx="533400" cy="53340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90650" y="3257550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190750" y="2990850"/>
            <a:ext cx="1457325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import 확인이 ok 를 찍고 de-mysql 이 떠 있다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143000" y="3981450"/>
            <a:ext cx="16002000" cy="819150"/>
          </a:xfrm>
          <a:prstGeom prst="roundRect">
            <a:avLst>
              <a:gd name="adj" fmla="val 581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390650" y="4124325"/>
            <a:ext cx="533400" cy="53340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390650" y="4248150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190750" y="3981450"/>
            <a:ext cx="1457325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check_robots.py 가 True · None 을 찍는다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143000" y="4972050"/>
            <a:ext cx="16002000" cy="819150"/>
          </a:xfrm>
          <a:prstGeom prst="roundRect">
            <a:avLst>
              <a:gd name="adj" fmla="val 581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1390650" y="5114925"/>
            <a:ext cx="533400" cy="53340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390650" y="5238750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190750" y="4972050"/>
            <a:ext cx="1457325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fetch_raw.py 가 status: 200 과 HTML 앞부분을 보여 준다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143000" y="5962650"/>
            <a:ext cx="16002000" cy="819150"/>
          </a:xfrm>
          <a:prstGeom prst="roundRect">
            <a:avLst>
              <a:gd name="adj" fmla="val 581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1390650" y="6105525"/>
            <a:ext cx="533400" cy="53340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390650" y="6229350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190750" y="5962650"/>
            <a:ext cx="1457325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fetch_one.py 가 명언 10건을 저자 | 본문 | 태그로 찍는다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143000" y="6953250"/>
            <a:ext cx="16002000" cy="819150"/>
          </a:xfrm>
          <a:prstGeom prst="roundRect">
            <a:avLst>
              <a:gd name="adj" fmla="val 581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1390650" y="7096125"/>
            <a:ext cx="533400" cy="53340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390650" y="7219950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190750" y="6953250"/>
            <a:ext cx="1457325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없는 선택자는 (없음)으로 넘어가고 li.next a 는 None 을 만난다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데이터 엔지니어링 &amp; RAG 파이프라인 160H · 2-5 · 실습 1H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4859000" y="6667500"/>
            <a:ext cx="5905500" cy="5905500"/>
          </a:xfrm>
          <a:prstGeom prst="ellipse">
            <a:avLst/>
          </a:prstGeom>
          <a:solidFill>
            <a:srgbClr val="F3F6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-2095500" y="-2095500"/>
            <a:ext cx="4381500" cy="4381500"/>
          </a:xfrm>
          <a:prstGeom prst="ellipse">
            <a:avLst/>
          </a:prstGeom>
          <a:solidFill>
            <a:srgbClr val="F5F6F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143000" y="2857500"/>
            <a:ext cx="16002000" cy="28575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3352800"/>
            <a:ext cx="85725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2-5 · 실습 1H 마무리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3771900"/>
            <a:ext cx="16002000" cy="800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다음은 수집 파이프라인 구축 (1.5H)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" y="4724400"/>
            <a:ext cx="16002000" cy="4381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4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fetch·parse·load 세 함수로 나눈 크롤러를 완성하고, 재실행해도 중복이 안 쌓이는지 확인합니다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143000" y="5257800"/>
            <a:ext cx="7772400" cy="819150"/>
          </a:xfrm>
          <a:prstGeom prst="roundRect">
            <a:avLst>
              <a:gd name="adj" fmla="val 697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428750" y="5486400"/>
            <a:ext cx="4191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✓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905000" y="5486400"/>
            <a:ext cx="672465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quotes 표 + UNIQUE 제약 만들기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372600" y="5257800"/>
            <a:ext cx="7772400" cy="819150"/>
          </a:xfrm>
          <a:prstGeom prst="roundRect">
            <a:avLst>
              <a:gd name="adj" fmla="val 697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658350" y="5486400"/>
            <a:ext cx="4191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✓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134600" y="5486400"/>
            <a:ext cx="672465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crawler_pipeline.py 로 3페이지 수집·적재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143000" y="6286500"/>
            <a:ext cx="7772400" cy="819150"/>
          </a:xfrm>
          <a:prstGeom prst="roundRect">
            <a:avLst>
              <a:gd name="adj" fmla="val 697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428750" y="6515100"/>
            <a:ext cx="4191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✓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905000" y="6515100"/>
            <a:ext cx="672465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한 번 더 실행해 saved 0 확인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372600" y="6286500"/>
            <a:ext cx="7772400" cy="819150"/>
          </a:xfrm>
          <a:prstGeom prst="roundRect">
            <a:avLst>
              <a:gd name="adj" fmla="val 697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658350" y="6515100"/>
            <a:ext cx="4191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✓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134600" y="6515100"/>
            <a:ext cx="672465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재시도·백오프 안전장치 붙이기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143000" y="7715250"/>
            <a:ext cx="47625" cy="819150"/>
          </a:xfrm>
          <a:prstGeom prst="rect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409700" y="7734300"/>
            <a:ext cx="85725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spc="14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가져갈 것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09700" y="8077200"/>
            <a:ext cx="85725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fetch_one.py 의 선택자와 헤더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