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4주차 · 9/24(목)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이미지 삽입 및 테이블 작성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[온라인 : 녹화영상] &lt;img&gt;, &lt;table&gt; 태그의 속성 및 활용 — 추석 연휴 주간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4주차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이미지를 넣고 alt를 왜 반드시 써야 하는지 설명할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상황에 맞는 이미지 형식(JPG·PNG·SVG·WebP)을 고를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표를 자료 구조에 맞게 만들고 배치용으로 쓰면 안 되는 이유를 설명할 수 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scope로 머리글이 무엇을 설명하는지 표시할 수 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좁은 화면에서 표가 넘치지 않게 처리할 수 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4주차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4주차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63220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220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img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70451" y="2781300"/>
            <a:ext cx="51495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0451" y="2781300"/>
            <a:ext cx="51495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alt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80652" y="2781300"/>
            <a:ext cx="122048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80652" y="2781300"/>
            <a:ext cx="122048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이미지 형식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6382" y="2781300"/>
            <a:ext cx="763399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6382" y="2781300"/>
            <a:ext cx="763399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55031" y="2781300"/>
            <a:ext cx="100935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55031" y="2781300"/>
            <a:ext cx="100935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caption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59640" y="2781300"/>
            <a:ext cx="75462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59640" y="2781300"/>
            <a:ext cx="75462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th/td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09514" y="2781300"/>
            <a:ext cx="869156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9514" y="2781300"/>
            <a:ext cx="869156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scope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73920" y="2781300"/>
            <a:ext cx="104475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73920" y="2781300"/>
            <a:ext cx="104475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colspan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4주차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4주차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들어가며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주차는 추석 연휴에 걸쳐 [온라인 : LMS]로 진행합니다.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실시간 수업이 아니므로 편한 시간에 수강하고, 실습은 이 사이트에서 바로 실행해 확인하세요.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4주차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4주차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이미지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4주차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4주차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img 태그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&lt;img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src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"photo.jpg"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alt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"캠퍼스 잔디밭에서 찍은 단체 사진"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width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"400"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src : 이미지 파일의 위치 (필수)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  alt : 이미지를 볼 수 없을 때 대신 읽히는 글 (필수)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  width/height : 크기. 지정해 두면 로딩 중 화면이 덜컹거리지 않는다 --&gt;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4주차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4주차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1.1 alt는 선택이 아닙니다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alt 는 이미지가 안 보일 때 그 자리를 대신하는 글입니다.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화면을 볼 수 없는 사람에게는 alt가 그 이미지의 전부이고, 인터넷이 느려 이미지가 안 뜬 사람에게도 마찬가지이며, 검색엔진도 alt로 이미지를 이해합니다.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4주차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4주차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1.1 alt는 선택이 아닙니다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80757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8075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61857" y="2781300"/>
            <a:ext cx="4207329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61857" y="2781300"/>
            <a:ext cx="4207329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어떻게 쓰는가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07286" y="2781300"/>
            <a:ext cx="7837714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07286" y="2781300"/>
            <a:ext cx="7837714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80757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9025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내용을 전달하는 이미지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61857" y="3448050"/>
            <a:ext cx="42073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7107" y="3448050"/>
            <a:ext cx="40168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그림이 말하는 것을 글로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07286" y="3448050"/>
            <a:ext cx="783771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2536" y="3448050"/>
            <a:ext cx="764721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alt="2026년 월별 매출 추이 그래프"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880757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69025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링크 안의 이미지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61857" y="4171950"/>
            <a:ext cx="42073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7107" y="4171950"/>
            <a:ext cx="40168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어디로 가는지를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07286" y="4171950"/>
            <a:ext cx="783771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02536" y="4171950"/>
            <a:ext cx="764721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alt="한신대학교 홈페이지"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880757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69025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순수 장식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61857" y="4895850"/>
            <a:ext cx="42073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57107" y="4895850"/>
            <a:ext cx="40168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 문자열로 둔다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07286" y="4895850"/>
            <a:ext cx="783771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02536" y="4895850"/>
            <a:ext cx="764721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alt="" (읽지 말라는 뜻)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880757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69025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나쁜 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61857" y="5619750"/>
            <a:ext cx="42073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57107" y="5619750"/>
            <a:ext cx="40168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파일명이나 "이미지"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07286" y="5619750"/>
            <a:ext cx="783771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02536" y="5619750"/>
            <a:ext cx="764721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alt="img_001.jpg"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4주차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4주차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1.1 alt는 선택이 아닙니다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alt=""(빈 값)와 alt를 아예 안 쓰는 것은 다릅니다.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빈 값은 "장식이니 읽지 마세요"라는 분명한 지시이고, 없는 것은 "실수로 빠뜨렸다"로 취급되어 화면낭독기가 파일 이름을 읽어 버립니다.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4주차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4주차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1.2 이미지 형식 고르기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7399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739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1000" y="2781300"/>
            <a:ext cx="52959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1000" y="2781300"/>
            <a:ext cx="5295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언제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55000" y="2781300"/>
            <a:ext cx="88900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5000" y="2781300"/>
            <a:ext cx="8890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특징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739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549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JPG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1000" y="3448050"/>
            <a:ext cx="5295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6250" y="3448050"/>
            <a:ext cx="5105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55000" y="3448050"/>
            <a:ext cx="8890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0250" y="3448050"/>
            <a:ext cx="8699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용량 작음, 투명 불가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1739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1549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1000" y="4171950"/>
            <a:ext cx="5295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6250" y="4171950"/>
            <a:ext cx="5105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로고·아이콘·투명 필요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55000" y="4171950"/>
            <a:ext cx="8890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0250" y="4171950"/>
            <a:ext cx="8699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선명함, 용량 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1739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1549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SVG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21000" y="4895850"/>
            <a:ext cx="5295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16250" y="4895850"/>
            <a:ext cx="5105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아이콘·도형·로고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55000" y="4895850"/>
            <a:ext cx="8890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50250" y="4895850"/>
            <a:ext cx="8699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아무리 키워도 안 깨짐, 텍스트 파일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1739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1549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WebP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21000" y="5619750"/>
            <a:ext cx="5295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16250" y="5619750"/>
            <a:ext cx="5105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요즘 사진 표준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55000" y="5619750"/>
            <a:ext cx="8890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50250" y="5619750"/>
            <a:ext cx="8699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JPG보다 작으면서 화질 비슷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4주차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4주차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표(table) — 행과 열이 있는 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표는 행과 열로 정리되는 자료에만 씁니다.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4주차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4주차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표(table) — 행과 열이 있는 자료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시간표, 성적표, 가격표, 사양 비교표 같은 것들입니다.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1990년대에는 화면을 배치하는 용도로 표를 썼지만, 지금은 그렇게 하지 않습니다 — 그건 5~6주차에 배울 CSS의 일입니다.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4주차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4주차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표의 전체 구조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&lt;table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&lt;caption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2026학년도 2학기 시간표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&lt;/caption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&lt;thead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&lt;tr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scope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"col"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교시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&lt;/th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scope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"col"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월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&lt;/th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scope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"col"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목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&lt;/th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&lt;/tr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&lt;/thead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&lt;tbody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4주차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4주차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표의 전체 구조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30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&lt;tr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scope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"row"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7~8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&lt;/th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웹프로그래밍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&lt;/tr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&lt;tr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scope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"row"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9~10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&lt;/th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자료구조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&lt;/tr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&lt;/tbody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&lt;/table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4주차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4주차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표(table) — 행과 열이 있는 자료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199968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19996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태그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81068" y="2781300"/>
            <a:ext cx="4301425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81068" y="2781300"/>
            <a:ext cx="430142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20593" y="2781300"/>
            <a:ext cx="5424407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20593" y="2781300"/>
            <a:ext cx="542440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필수인가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199968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009468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&lt;table&gt;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81068" y="3448050"/>
            <a:ext cx="4301425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6318" y="3448050"/>
            <a:ext cx="4110925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 전체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20593" y="3448050"/>
            <a:ext cx="5424407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15843" y="3448050"/>
            <a:ext cx="523390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6199968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6009468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&lt;caption&gt;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81068" y="4143375"/>
            <a:ext cx="4301425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6318" y="4143375"/>
            <a:ext cx="4110925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표의 제목 — 표 안 첫 줄에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20593" y="4143375"/>
            <a:ext cx="5424407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15843" y="4143375"/>
            <a:ext cx="523390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권장 (화면낭독기가 먼저 읽어 준다)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6199968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6009468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&lt;tr&gt;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81068" y="4838700"/>
            <a:ext cx="4301425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76318" y="4838700"/>
            <a:ext cx="4110925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행(table row)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20593" y="4838700"/>
            <a:ext cx="5424407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15843" y="4838700"/>
            <a:ext cx="523390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6199968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6009468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&lt;th&gt;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81068" y="5534025"/>
            <a:ext cx="4301425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76318" y="5534025"/>
            <a:ext cx="4110925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머리글 칸(header)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20593" y="5534025"/>
            <a:ext cx="5424407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815843" y="5534025"/>
            <a:ext cx="523390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자료를 설명하는 칸이면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6199968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6009468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&lt;td&gt;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81068" y="6229350"/>
            <a:ext cx="4301425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76318" y="6229350"/>
            <a:ext cx="4110925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자료 칸(data)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720593" y="6229350"/>
            <a:ext cx="5424407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815843" y="6229350"/>
            <a:ext cx="523390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6199968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6009468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&lt;thead&gt; &lt;tbody&gt; &lt;tfoot&gt;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81068" y="6924675"/>
            <a:ext cx="4301425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76318" y="6924675"/>
            <a:ext cx="4110925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머리·몸통·바닥 묶음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720593" y="6924675"/>
            <a:ext cx="5424407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815843" y="6924675"/>
            <a:ext cx="523390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권장 (길면 유용)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4주차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4주차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2.1 scope — 이 머리글이 무엇을 설명하는가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&lt;th scope="col"&gt; 은 "이 아래 세로줄 전체의 머리글", &lt;th scope="row"&gt; 은 "이 오른쪽 가로줄 전체의 머리글"이라는 뜻입니다.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눈으로 보는 사람은 위치로 짐작하지만, 화면낭독기는 이 표시가 있어야 "화요일 3교시는 자료구조"라고 짝지어 읽어 줄 수 있습니다.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4주차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4주차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colspan · rowspan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&lt;table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&lt;tr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&lt;th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과목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&lt;/th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colspan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"2"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평가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&lt;/th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가로로 2칸 차지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&lt;/tr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&lt;tr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웹프로그래밍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중간 20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기말 20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&lt;/tr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&lt;/table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4주차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4주차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2.2 칸 합치기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표는 좁은 화면에서 넘칩니다.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6주차에 배우겠지만, 표는 overflow-x: auto 를 준 상자로 감싸 두는 것이 실무 표준입니다.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그러지 않으면 휴대폰에서 페이지 전체에 가로 스크롤이 생깁니다.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4주차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4주차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시간의 실습 2개 — 학습사이트의 코드 실습장에서 직접 치고 실행합니다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4주차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4주차 · 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1 · 기본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HTML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자기소개 페이지를 만드세요. 이름(h1), 소개 문단(p), 관심사 3가지(ul), 프로필 이미지(img — alt 필수), 이메일 링크(a)가 모두 들어가야 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이미지 주소가 없으면 https://picsum.photos/200 을 쓰세요. alt는 절대 비워 두지 마세요.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4주차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4주차 · 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1 모범답안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&lt;h1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김한신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&lt;/h1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&lt;img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src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"https://picsum.photos/seed/me/200/200"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alt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"김한신의 프로필 사진"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width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"200"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한신대학교 AI·SW계열 1학년입니다. 웹으로 무언가 만드는 법을 배우고 있습니다.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&lt;h2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관심사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&lt;/h2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&lt;ul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웹 프론트엔드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게임 개발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AI 활용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&lt;/ul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href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"mailto:hello@example.com"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이메일 보내기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&lt;/a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4주차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4주차 · 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 · 기본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HTML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이번 학기 시간표를 표로 만드세요. caption으로 표 제목을 달고, 요일 머리글에는 scope="col"을, 교시 머리글에는 scope="row"를 쓰세요.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caption은 table 안 첫 줄에 옵니다. 세로줄의 머리글이 col, 가로줄의 머리글이 row입니다.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4주차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4주차 · 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 모범답안 (1/2)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&lt;table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border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"1"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&lt;caption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2026학년도 2학기 시간표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&lt;/caption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&lt;thead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&lt;tr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scope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"col"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교시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&lt;/th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scope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"col"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월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&lt;/th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scope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"col"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목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&lt;/th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&lt;/tr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&lt;/thead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&lt;tbody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&lt;tr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4주차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4주차 · 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 모범답안 (2/2)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29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scope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"row"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7~8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&lt;/th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웹프로그래밍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&lt;/tr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&lt;tr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scope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"row"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9~10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&lt;/th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자료구조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&lt;/tr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&lt;/tbody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&lt;/table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4주차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4주차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이미지 삽입 및 테이블 작성 — 이 시간에 다룬 것을 학습사이트에서 다시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334000"/>
            <a:ext cx="672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 주차 페이지의 절마다 「이해했어요 · 실습했어요 · 어려워요」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2개를 실습장에서 「확인」 까지 — 「실습했어요」 체크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362700"/>
            <a:ext cx="672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퀴즈 3 「퀴즈 3 — 이미지 삽입과 테이블 작성」 응시 (성적 미반영 · 학습 확인용)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또는 패들릿에 — 30분 넘게 혼자 막혀 있지 않기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다음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5주차 · HTML5 문서 구조화 및 웹 폼 작성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