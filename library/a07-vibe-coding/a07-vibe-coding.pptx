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6"/>
  </p:notesMasterIdLst>
  <p:sldIdLst>
    <p:sldId id="380" r:id="rId131"/>
    <p:sldId id="381" r:id="rId132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78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379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82" r:id="rId1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446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notesMaster" Target="notesMasters/notesMaster1.xml"/><Relationship Id="rId127" Type="http://schemas.openxmlformats.org/officeDocument/2006/relationships/presProps" Target="presProps.xml"/><Relationship Id="rId128" Type="http://schemas.openxmlformats.org/officeDocument/2006/relationships/viewProps" Target="viewProps.xml"/><Relationship Id="rId129" Type="http://schemas.openxmlformats.org/officeDocument/2006/relationships/theme" Target="theme/theme1.xml"/><Relationship Id="rId130" Type="http://schemas.openxmlformats.org/officeDocument/2006/relationships/tableStyles" Target="tableStyles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7582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18687-4AE0-6610-15D8-2743D746C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B6096F-2CDF-8D71-9AA4-9AE3948B7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F1AF3-ACFA-5691-CAB0-FBB854D157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9086BA-4907-E647-92A7-A1FFD657B0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3333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9719C-F6AA-8CCC-39C2-A7B2BA5CB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36523B-E2D6-E88B-E18C-27EBA1820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16B37-24AE-BBFA-98DD-32A3795F8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B2D9A-44CA-D7B0-9BF4-CAE087EE1B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18983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hs.ac.kr" TargetMode="External"/><Relationship Id="rId5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jpg"/><Relationship Id="rId4" Type="http://schemas.openxmlformats.org/officeDocument/2006/relationships/image" Target="../media/image12.png"/><Relationship Id="rId5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5.png"/><Relationship Id="rId5" Type="http://schemas.openxmlformats.org/officeDocument/2006/relationships/image" Target="../media/image15.jpg"/><Relationship Id="rId6" Type="http://schemas.openxmlformats.org/officeDocument/2006/relationships/image" Target="../media/image1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jp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7.jp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3.png"/><Relationship Id="rId4" Type="http://schemas.openxmlformats.org/officeDocument/2006/relationships/image" Target="../media/image4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jpg"/><Relationship Id="rId6" Type="http://schemas.openxmlformats.org/officeDocument/2006/relationships/image" Target="../media/image4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6.jpg"/><Relationship Id="rId4" Type="http://schemas.openxmlformats.org/officeDocument/2006/relationships/image" Target="../media/image47.pn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Relationship Id="rId4" Type="http://schemas.openxmlformats.org/officeDocument/2006/relationships/image" Target="../media/image4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jpg"/><Relationship Id="rId8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2.png"/><Relationship Id="rId4" Type="http://schemas.openxmlformats.org/officeDocument/2006/relationships/image" Target="../media/image53.jp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6.png"/><Relationship Id="rId4" Type="http://schemas.openxmlformats.org/officeDocument/2006/relationships/image" Target="../media/image56.png"/><Relationship Id="rId5" Type="http://schemas.openxmlformats.org/officeDocument/2006/relationships/image" Target="../media/image28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9.png"/><Relationship Id="rId4" Type="http://schemas.openxmlformats.org/officeDocument/2006/relationships/image" Target="../media/image32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3.png"/><Relationship Id="rId4" Type="http://schemas.openxmlformats.org/officeDocument/2006/relationships/image" Target="../media/image6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23.png"/><Relationship Id="rId8" Type="http://schemas.openxmlformats.org/officeDocument/2006/relationships/image" Target="../media/image35.png"/><Relationship Id="rId9" Type="http://schemas.openxmlformats.org/officeDocument/2006/relationships/image" Target="../media/image6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68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69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69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0.jp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74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35.png"/><Relationship Id="rId8" Type="http://schemas.openxmlformats.org/officeDocument/2006/relationships/image" Target="../media/image7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8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79.png"/><Relationship Id="rId7" Type="http://schemas.openxmlformats.org/officeDocument/2006/relationships/image" Target="../media/image35.png"/><Relationship Id="rId8" Type="http://schemas.openxmlformats.org/officeDocument/2006/relationships/image" Target="../media/image8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1.png"/><Relationship Id="rId4" Type="http://schemas.openxmlformats.org/officeDocument/2006/relationships/image" Target="../media/image32.png"/><Relationship Id="rId5" Type="http://schemas.openxmlformats.org/officeDocument/2006/relationships/image" Target="../media/image82.png"/><Relationship Id="rId6" Type="http://schemas.openxmlformats.org/officeDocument/2006/relationships/image" Target="../media/image79.png"/><Relationship Id="rId7" Type="http://schemas.openxmlformats.org/officeDocument/2006/relationships/image" Target="../media/image35.png"/><Relationship Id="rId8" Type="http://schemas.openxmlformats.org/officeDocument/2006/relationships/image" Target="../media/image8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84.png"/><Relationship Id="rId4" Type="http://schemas.openxmlformats.org/officeDocument/2006/relationships/image" Target="../media/image32.png"/><Relationship Id="rId5" Type="http://schemas.openxmlformats.org/officeDocument/2006/relationships/image" Target="../media/image85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86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87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88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jpg"/><Relationship Id="rId4" Type="http://schemas.openxmlformats.org/officeDocument/2006/relationships/hyperlink" Target="mailto:aebon@hs.ac.kr" TargetMode="External"/><Relationship Id="rId5" Type="http://schemas.openxmlformats.org/officeDocument/2006/relationships/image" Target="../media/image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9.png"/><Relationship Id="rId4" Type="http://schemas.openxmlformats.org/officeDocument/2006/relationships/image" Target="../media/image90.jpg"/><Relationship Id="rId5" Type="http://schemas.openxmlformats.org/officeDocument/2006/relationships/image" Target="../media/image91.png"/><Relationship Id="rId6" Type="http://schemas.openxmlformats.org/officeDocument/2006/relationships/image" Target="../media/image92.png"/><Relationship Id="rId7" Type="http://schemas.openxmlformats.org/officeDocument/2006/relationships/image" Target="../media/image93.png"/><Relationship Id="rId8" Type="http://schemas.openxmlformats.org/officeDocument/2006/relationships/image" Target="../media/image94.png"/><Relationship Id="rId9" Type="http://schemas.openxmlformats.org/officeDocument/2006/relationships/image" Target="../media/image9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96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97.jp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image" Target="../media/image101.png"/><Relationship Id="rId8" Type="http://schemas.openxmlformats.org/officeDocument/2006/relationships/image" Target="../media/image102.png"/><Relationship Id="rId9" Type="http://schemas.openxmlformats.org/officeDocument/2006/relationships/image" Target="../media/image103.png"/><Relationship Id="rId10" Type="http://schemas.openxmlformats.org/officeDocument/2006/relationships/image" Target="../media/image104.png"/><Relationship Id="rId11" Type="http://schemas.openxmlformats.org/officeDocument/2006/relationships/image" Target="../media/image105.png"/><Relationship Id="rId12" Type="http://schemas.openxmlformats.org/officeDocument/2006/relationships/image" Target="../media/image106.png"/><Relationship Id="rId13" Type="http://schemas.openxmlformats.org/officeDocument/2006/relationships/image" Target="../media/image10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Relationship Id="rId7" Type="http://schemas.openxmlformats.org/officeDocument/2006/relationships/image" Target="../media/image11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68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97.jpg"/><Relationship Id="rId4" Type="http://schemas.openxmlformats.org/officeDocument/2006/relationships/image" Target="../media/image119.png"/><Relationship Id="rId5" Type="http://schemas.openxmlformats.org/officeDocument/2006/relationships/image" Target="../media/image120.png"/><Relationship Id="rId6" Type="http://schemas.openxmlformats.org/officeDocument/2006/relationships/image" Target="../media/image100.png"/><Relationship Id="rId7" Type="http://schemas.openxmlformats.org/officeDocument/2006/relationships/image" Target="../media/image121.png"/><Relationship Id="rId8" Type="http://schemas.openxmlformats.org/officeDocument/2006/relationships/image" Target="../media/image102.png"/><Relationship Id="rId9" Type="http://schemas.openxmlformats.org/officeDocument/2006/relationships/image" Target="../media/image122.png"/><Relationship Id="rId10" Type="http://schemas.openxmlformats.org/officeDocument/2006/relationships/image" Target="../media/image123.png"/><Relationship Id="rId11" Type="http://schemas.openxmlformats.org/officeDocument/2006/relationships/image" Target="../media/image124.png"/><Relationship Id="rId12" Type="http://schemas.openxmlformats.org/officeDocument/2006/relationships/image" Target="../media/image125.png"/><Relationship Id="rId13" Type="http://schemas.openxmlformats.org/officeDocument/2006/relationships/image" Target="../media/image98.png"/><Relationship Id="rId14" Type="http://schemas.openxmlformats.org/officeDocument/2006/relationships/image" Target="../media/image1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97.jpg"/><Relationship Id="rId4" Type="http://schemas.openxmlformats.org/officeDocument/2006/relationships/image" Target="../media/image98.png"/><Relationship Id="rId5" Type="http://schemas.openxmlformats.org/officeDocument/2006/relationships/image" Target="../media/image127.png"/><Relationship Id="rId6" Type="http://schemas.openxmlformats.org/officeDocument/2006/relationships/image" Target="../media/image100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87.png"/><Relationship Id="rId6" Type="http://schemas.openxmlformats.org/officeDocument/2006/relationships/image" Target="../media/image132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33.jp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36.png"/><Relationship Id="rId7" Type="http://schemas.openxmlformats.org/officeDocument/2006/relationships/image" Target="../media/image137.png"/><Relationship Id="rId8" Type="http://schemas.openxmlformats.org/officeDocument/2006/relationships/image" Target="../media/image1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44.png"/><Relationship Id="rId4" Type="http://schemas.openxmlformats.org/officeDocument/2006/relationships/image" Target="../media/image145.png"/><Relationship Id="rId5" Type="http://schemas.openxmlformats.org/officeDocument/2006/relationships/image" Target="../media/image146.png"/><Relationship Id="rId6" Type="http://schemas.openxmlformats.org/officeDocument/2006/relationships/image" Target="../media/image141.png"/><Relationship Id="rId7" Type="http://schemas.openxmlformats.org/officeDocument/2006/relationships/image" Target="../media/image142.png"/><Relationship Id="rId8" Type="http://schemas.openxmlformats.org/officeDocument/2006/relationships/image" Target="../media/image14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Relationship Id="rId7" Type="http://schemas.openxmlformats.org/officeDocument/2006/relationships/image" Target="../media/image9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43.png"/><Relationship Id="rId4" Type="http://schemas.openxmlformats.org/officeDocument/2006/relationships/image" Target="../media/image2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97.jpg"/><Relationship Id="rId4" Type="http://schemas.openxmlformats.org/officeDocument/2006/relationships/image" Target="../media/image119.png"/><Relationship Id="rId5" Type="http://schemas.openxmlformats.org/officeDocument/2006/relationships/image" Target="../media/image151.png"/><Relationship Id="rId6" Type="http://schemas.openxmlformats.org/officeDocument/2006/relationships/image" Target="../media/image100.png"/><Relationship Id="rId7" Type="http://schemas.openxmlformats.org/officeDocument/2006/relationships/image" Target="../media/image128.png"/><Relationship Id="rId8" Type="http://schemas.openxmlformats.org/officeDocument/2006/relationships/image" Target="../media/image98.png"/><Relationship Id="rId9" Type="http://schemas.openxmlformats.org/officeDocument/2006/relationships/image" Target="../media/image152.png"/><Relationship Id="rId10" Type="http://schemas.openxmlformats.org/officeDocument/2006/relationships/image" Target="../media/image153.png"/><Relationship Id="rId11" Type="http://schemas.openxmlformats.org/officeDocument/2006/relationships/image" Target="../media/image15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55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97.jpg"/><Relationship Id="rId4" Type="http://schemas.openxmlformats.org/officeDocument/2006/relationships/image" Target="../media/image119.png"/><Relationship Id="rId5" Type="http://schemas.openxmlformats.org/officeDocument/2006/relationships/image" Target="../media/image156.png"/><Relationship Id="rId6" Type="http://schemas.openxmlformats.org/officeDocument/2006/relationships/image" Target="../media/image100.png"/><Relationship Id="rId7" Type="http://schemas.openxmlformats.org/officeDocument/2006/relationships/image" Target="../media/image128.png"/><Relationship Id="rId8" Type="http://schemas.openxmlformats.org/officeDocument/2006/relationships/image" Target="../media/image157.png"/><Relationship Id="rId9" Type="http://schemas.openxmlformats.org/officeDocument/2006/relationships/image" Target="../media/image126.png"/><Relationship Id="rId10" Type="http://schemas.openxmlformats.org/officeDocument/2006/relationships/image" Target="../media/image10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97.jp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00.png"/><Relationship Id="rId7" Type="http://schemas.openxmlformats.org/officeDocument/2006/relationships/image" Target="../media/image128.png"/><Relationship Id="rId8" Type="http://schemas.openxmlformats.org/officeDocument/2006/relationships/image" Target="../media/image160.png"/><Relationship Id="rId9" Type="http://schemas.openxmlformats.org/officeDocument/2006/relationships/image" Target="../media/image161.png"/><Relationship Id="rId10" Type="http://schemas.openxmlformats.org/officeDocument/2006/relationships/image" Target="../media/image162.png"/><Relationship Id="rId11" Type="http://schemas.openxmlformats.org/officeDocument/2006/relationships/image" Target="../media/image16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97.jpg"/><Relationship Id="rId4" Type="http://schemas.openxmlformats.org/officeDocument/2006/relationships/image" Target="../media/image119.png"/><Relationship Id="rId5" Type="http://schemas.openxmlformats.org/officeDocument/2006/relationships/image" Target="../media/image164.png"/><Relationship Id="rId6" Type="http://schemas.openxmlformats.org/officeDocument/2006/relationships/image" Target="../media/image100.png"/><Relationship Id="rId7" Type="http://schemas.openxmlformats.org/officeDocument/2006/relationships/image" Target="../media/image128.png"/><Relationship Id="rId8" Type="http://schemas.openxmlformats.org/officeDocument/2006/relationships/image" Target="../media/image151.png"/><Relationship Id="rId9" Type="http://schemas.openxmlformats.org/officeDocument/2006/relationships/image" Target="../media/image105.png"/><Relationship Id="rId10" Type="http://schemas.openxmlformats.org/officeDocument/2006/relationships/image" Target="../media/image16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66.jpg"/><Relationship Id="rId4" Type="http://schemas.openxmlformats.org/officeDocument/2006/relationships/image" Target="../media/image167.png"/><Relationship Id="rId5" Type="http://schemas.openxmlformats.org/officeDocument/2006/relationships/image" Target="../media/image168.png"/><Relationship Id="rId6" Type="http://schemas.openxmlformats.org/officeDocument/2006/relationships/image" Target="../media/image169.png"/><Relationship Id="rId7" Type="http://schemas.openxmlformats.org/officeDocument/2006/relationships/image" Target="../media/image170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.png"/><Relationship Id="rId4" Type="http://schemas.openxmlformats.org/officeDocument/2006/relationships/image" Target="../media/image171.png"/><Relationship Id="rId5" Type="http://schemas.openxmlformats.org/officeDocument/2006/relationships/image" Target="../media/image172.png"/><Relationship Id="rId6" Type="http://schemas.openxmlformats.org/officeDocument/2006/relationships/image" Target="../media/image41.png"/><Relationship Id="rId7" Type="http://schemas.openxmlformats.org/officeDocument/2006/relationships/image" Target="../media/image173.jpg"/><Relationship Id="rId8" Type="http://schemas.openxmlformats.org/officeDocument/2006/relationships/image" Target="../media/image13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174.png"/><Relationship Id="rId7" Type="http://schemas.openxmlformats.org/officeDocument/2006/relationships/image" Target="../media/image175.png"/><Relationship Id="rId8" Type="http://schemas.openxmlformats.org/officeDocument/2006/relationships/image" Target="../media/image17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97.jpg"/><Relationship Id="rId4" Type="http://schemas.openxmlformats.org/officeDocument/2006/relationships/image" Target="../media/image119.png"/><Relationship Id="rId5" Type="http://schemas.openxmlformats.org/officeDocument/2006/relationships/image" Target="../media/image177.png"/><Relationship Id="rId6" Type="http://schemas.openxmlformats.org/officeDocument/2006/relationships/image" Target="../media/image100.png"/><Relationship Id="rId7" Type="http://schemas.openxmlformats.org/officeDocument/2006/relationships/image" Target="../media/image128.png"/><Relationship Id="rId8" Type="http://schemas.openxmlformats.org/officeDocument/2006/relationships/image" Target="../media/image178.png"/><Relationship Id="rId9" Type="http://schemas.openxmlformats.org/officeDocument/2006/relationships/image" Target="../media/image124.png"/><Relationship Id="rId10" Type="http://schemas.openxmlformats.org/officeDocument/2006/relationships/image" Target="../media/image10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79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80.png"/><Relationship Id="rId4" Type="http://schemas.openxmlformats.org/officeDocument/2006/relationships/image" Target="../media/image34.png"/><Relationship Id="rId5" Type="http://schemas.openxmlformats.org/officeDocument/2006/relationships/image" Target="../media/image31.png"/><Relationship Id="rId6" Type="http://schemas.openxmlformats.org/officeDocument/2006/relationships/image" Target="../media/image18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2.png"/><Relationship Id="rId4" Type="http://schemas.openxmlformats.org/officeDocument/2006/relationships/image" Target="../media/image2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182.png"/><Relationship Id="rId4" Type="http://schemas.openxmlformats.org/officeDocument/2006/relationships/image" Target="../media/image5.png"/><Relationship Id="rId5" Type="http://schemas.openxmlformats.org/officeDocument/2006/relationships/image" Target="../media/image183.jpg"/><Relationship Id="rId6" Type="http://schemas.openxmlformats.org/officeDocument/2006/relationships/image" Target="../media/image184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184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6.png"/><Relationship Id="rId4" Type="http://schemas.openxmlformats.org/officeDocument/2006/relationships/image" Target="../media/image185.png"/><Relationship Id="rId5" Type="http://schemas.openxmlformats.org/officeDocument/2006/relationships/image" Target="../media/image28.png"/><Relationship Id="rId6" Type="http://schemas.openxmlformats.org/officeDocument/2006/relationships/image" Target="../media/image186.png"/><Relationship Id="rId7" Type="http://schemas.openxmlformats.org/officeDocument/2006/relationships/image" Target="../media/image187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6.png"/><Relationship Id="rId4" Type="http://schemas.openxmlformats.org/officeDocument/2006/relationships/image" Target="../media/image188.png"/><Relationship Id="rId5" Type="http://schemas.openxmlformats.org/officeDocument/2006/relationships/image" Target="../media/image28.png"/><Relationship Id="rId6" Type="http://schemas.openxmlformats.org/officeDocument/2006/relationships/image" Target="../media/image189.png"/><Relationship Id="rId7" Type="http://schemas.openxmlformats.org/officeDocument/2006/relationships/image" Target="../media/image19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6.png"/><Relationship Id="rId4" Type="http://schemas.openxmlformats.org/officeDocument/2006/relationships/image" Target="../media/image191.png"/><Relationship Id="rId5" Type="http://schemas.openxmlformats.org/officeDocument/2006/relationships/image" Target="../media/image28.png"/><Relationship Id="rId6" Type="http://schemas.openxmlformats.org/officeDocument/2006/relationships/image" Target="../media/image189.png"/><Relationship Id="rId7" Type="http://schemas.openxmlformats.org/officeDocument/2006/relationships/image" Target="../media/image19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78.png"/><Relationship Id="rId4" Type="http://schemas.openxmlformats.org/officeDocument/2006/relationships/image" Target="../media/image32.png"/><Relationship Id="rId5" Type="http://schemas.openxmlformats.org/officeDocument/2006/relationships/image" Target="../media/image193.png"/><Relationship Id="rId6" Type="http://schemas.openxmlformats.org/officeDocument/2006/relationships/image" Target="../media/image34.png"/><Relationship Id="rId7" Type="http://schemas.openxmlformats.org/officeDocument/2006/relationships/image" Target="../media/image175.png"/><Relationship Id="rId8" Type="http://schemas.openxmlformats.org/officeDocument/2006/relationships/image" Target="../media/image19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195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19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197.png"/><Relationship Id="rId4" Type="http://schemas.openxmlformats.org/officeDocument/2006/relationships/image" Target="../media/image198.png"/><Relationship Id="rId5" Type="http://schemas.openxmlformats.org/officeDocument/2006/relationships/image" Target="../media/image199.png"/><Relationship Id="rId6" Type="http://schemas.openxmlformats.org/officeDocument/2006/relationships/image" Target="../media/image108.png"/><Relationship Id="rId7" Type="http://schemas.openxmlformats.org/officeDocument/2006/relationships/image" Target="../media/image20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171.png"/><Relationship Id="rId4" Type="http://schemas.openxmlformats.org/officeDocument/2006/relationships/image" Target="../media/image201.png"/><Relationship Id="rId5" Type="http://schemas.openxmlformats.org/officeDocument/2006/relationships/image" Target="../media/image202.png"/><Relationship Id="rId6" Type="http://schemas.openxmlformats.org/officeDocument/2006/relationships/image" Target="../media/image203.png"/><Relationship Id="rId7" Type="http://schemas.openxmlformats.org/officeDocument/2006/relationships/image" Target="../media/image204.png"/><Relationship Id="rId8" Type="http://schemas.openxmlformats.org/officeDocument/2006/relationships/image" Target="../media/image205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12.png"/><Relationship Id="rId4" Type="http://schemas.openxmlformats.org/officeDocument/2006/relationships/image" Target="../media/image206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4.png"/><Relationship Id="rId4" Type="http://schemas.openxmlformats.org/officeDocument/2006/relationships/image" Target="../media/image207.png"/><Relationship Id="rId5" Type="http://schemas.openxmlformats.org/officeDocument/2006/relationships/image" Target="../media/image208.png"/><Relationship Id="rId6" Type="http://schemas.openxmlformats.org/officeDocument/2006/relationships/image" Target="../media/image209.png"/><Relationship Id="rId7" Type="http://schemas.openxmlformats.org/officeDocument/2006/relationships/image" Target="../media/image210.png"/><Relationship Id="rId8" Type="http://schemas.openxmlformats.org/officeDocument/2006/relationships/image" Target="../media/image211.png"/><Relationship Id="rId9" Type="http://schemas.openxmlformats.org/officeDocument/2006/relationships/image" Target="../media/image212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21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214.png"/><Relationship Id="rId6" Type="http://schemas.openxmlformats.org/officeDocument/2006/relationships/image" Target="../media/image215.png"/><Relationship Id="rId7" Type="http://schemas.openxmlformats.org/officeDocument/2006/relationships/image" Target="../media/image79.png"/><Relationship Id="rId8" Type="http://schemas.openxmlformats.org/officeDocument/2006/relationships/image" Target="../media/image35.png"/><Relationship Id="rId9" Type="http://schemas.openxmlformats.org/officeDocument/2006/relationships/image" Target="../media/image21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81.png"/><Relationship Id="rId4" Type="http://schemas.openxmlformats.org/officeDocument/2006/relationships/image" Target="../media/image217.png"/><Relationship Id="rId5" Type="http://schemas.openxmlformats.org/officeDocument/2006/relationships/image" Target="../media/image88.png"/><Relationship Id="rId6" Type="http://schemas.openxmlformats.org/officeDocument/2006/relationships/image" Target="../media/image218.png"/><Relationship Id="rId7" Type="http://schemas.openxmlformats.org/officeDocument/2006/relationships/image" Target="../media/image219.png"/><Relationship Id="rId8" Type="http://schemas.openxmlformats.org/officeDocument/2006/relationships/image" Target="../media/image79.png"/><Relationship Id="rId9" Type="http://schemas.openxmlformats.org/officeDocument/2006/relationships/image" Target="../media/image35.png"/><Relationship Id="rId10" Type="http://schemas.openxmlformats.org/officeDocument/2006/relationships/image" Target="../media/image22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221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87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222.png"/><Relationship Id="rId4" Type="http://schemas.openxmlformats.org/officeDocument/2006/relationships/image" Target="../media/image223.png"/><Relationship Id="rId5" Type="http://schemas.openxmlformats.org/officeDocument/2006/relationships/image" Target="../media/image224.png"/><Relationship Id="rId6" Type="http://schemas.openxmlformats.org/officeDocument/2006/relationships/image" Target="../media/image225.png"/><Relationship Id="rId7" Type="http://schemas.openxmlformats.org/officeDocument/2006/relationships/image" Target="../media/image22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87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68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87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87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227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87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68.png"/><Relationship Id="rId6" Type="http://schemas.openxmlformats.org/officeDocument/2006/relationships/image" Target="../media/image79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228.jpg"/><Relationship Id="rId4" Type="http://schemas.openxmlformats.org/officeDocument/2006/relationships/image" Target="../media/image4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228.jpg"/><Relationship Id="rId4" Type="http://schemas.openxmlformats.org/officeDocument/2006/relationships/image" Target="../media/image4.png"/><Relationship Id="rId5" Type="http://schemas.openxmlformats.org/officeDocument/2006/relationships/image" Target="../media/image229.png"/><Relationship Id="rId6" Type="http://schemas.openxmlformats.org/officeDocument/2006/relationships/image" Target="../media/image230.png"/><Relationship Id="rId7" Type="http://schemas.openxmlformats.org/officeDocument/2006/relationships/image" Target="../media/image23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232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97.jpg"/><Relationship Id="rId4" Type="http://schemas.openxmlformats.org/officeDocument/2006/relationships/image" Target="../media/image119.png"/><Relationship Id="rId5" Type="http://schemas.openxmlformats.org/officeDocument/2006/relationships/image" Target="../media/image233.png"/><Relationship Id="rId6" Type="http://schemas.openxmlformats.org/officeDocument/2006/relationships/image" Target="../media/image100.png"/><Relationship Id="rId7" Type="http://schemas.openxmlformats.org/officeDocument/2006/relationships/image" Target="../media/image128.png"/><Relationship Id="rId8" Type="http://schemas.openxmlformats.org/officeDocument/2006/relationships/image" Target="../media/image234.png"/><Relationship Id="rId9" Type="http://schemas.openxmlformats.org/officeDocument/2006/relationships/image" Target="../media/image235.png"/><Relationship Id="rId10" Type="http://schemas.openxmlformats.org/officeDocument/2006/relationships/image" Target="../media/image12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132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236.png"/><Relationship Id="rId4" Type="http://schemas.openxmlformats.org/officeDocument/2006/relationships/image" Target="../media/image237.png"/><Relationship Id="rId5" Type="http://schemas.openxmlformats.org/officeDocument/2006/relationships/image" Target="../media/image88.png"/><Relationship Id="rId6" Type="http://schemas.openxmlformats.org/officeDocument/2006/relationships/image" Target="../media/image238.png"/><Relationship Id="rId7" Type="http://schemas.openxmlformats.org/officeDocument/2006/relationships/image" Target="../media/image31.png"/><Relationship Id="rId8" Type="http://schemas.openxmlformats.org/officeDocument/2006/relationships/image" Target="../media/image36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239.jpg"/><Relationship Id="rId4" Type="http://schemas.openxmlformats.org/officeDocument/2006/relationships/image" Target="../media/image240.png"/><Relationship Id="rId5" Type="http://schemas.openxmlformats.org/officeDocument/2006/relationships/image" Target="../media/image5.png"/><Relationship Id="rId6" Type="http://schemas.openxmlformats.org/officeDocument/2006/relationships/image" Target="../media/image39.png"/><Relationship Id="rId7" Type="http://schemas.openxmlformats.org/officeDocument/2006/relationships/image" Target="../media/image241.png"/><Relationship Id="rId8" Type="http://schemas.openxmlformats.org/officeDocument/2006/relationships/image" Target="../media/image242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97.jpg"/><Relationship Id="rId4" Type="http://schemas.openxmlformats.org/officeDocument/2006/relationships/image" Target="../media/image98.png"/><Relationship Id="rId5" Type="http://schemas.openxmlformats.org/officeDocument/2006/relationships/image" Target="../media/image243.png"/><Relationship Id="rId6" Type="http://schemas.openxmlformats.org/officeDocument/2006/relationships/image" Target="../media/image100.png"/><Relationship Id="rId7" Type="http://schemas.openxmlformats.org/officeDocument/2006/relationships/image" Target="../media/image128.png"/><Relationship Id="rId8" Type="http://schemas.openxmlformats.org/officeDocument/2006/relationships/image" Target="../media/image244.png"/><Relationship Id="rId9" Type="http://schemas.openxmlformats.org/officeDocument/2006/relationships/image" Target="../media/image245.png"/><Relationship Id="rId10" Type="http://schemas.openxmlformats.org/officeDocument/2006/relationships/image" Target="../media/image246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6.jpg"/><Relationship Id="rId4" Type="http://schemas.openxmlformats.org/officeDocument/2006/relationships/image" Target="../media/image232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12.png"/><Relationship Id="rId4" Type="http://schemas.openxmlformats.org/officeDocument/2006/relationships/image" Target="../media/image247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248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24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250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251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252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19.jpg"/><Relationship Id="rId4" Type="http://schemas.openxmlformats.org/officeDocument/2006/relationships/image" Target="../media/image253.png"/><Relationship Id="rId5" Type="http://schemas.openxmlformats.org/officeDocument/2006/relationships/image" Target="../media/image254.png"/><Relationship Id="rId6" Type="http://schemas.openxmlformats.org/officeDocument/2006/relationships/image" Target="../media/image255.png"/><Relationship Id="rId7" Type="http://schemas.openxmlformats.org/officeDocument/2006/relationships/image" Target="../media/image256.png"/><Relationship Id="rId8" Type="http://schemas.openxmlformats.org/officeDocument/2006/relationships/image" Target="../media/image13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9.png"/><Relationship Id="rId4" Type="http://schemas.openxmlformats.org/officeDocument/2006/relationships/image" Target="../media/image257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.png"/><Relationship Id="rId4" Type="http://schemas.openxmlformats.org/officeDocument/2006/relationships/image" Target="../media/image258.png"/><Relationship Id="rId5" Type="http://schemas.openxmlformats.org/officeDocument/2006/relationships/image" Target="../media/image230.png"/><Relationship Id="rId6" Type="http://schemas.openxmlformats.org/officeDocument/2006/relationships/image" Target="../media/image259.png"/><Relationship Id="rId7" Type="http://schemas.openxmlformats.org/officeDocument/2006/relationships/image" Target="../media/image260.jpg"/><Relationship Id="rId8" Type="http://schemas.openxmlformats.org/officeDocument/2006/relationships/image" Target="../media/image26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262.jpg"/><Relationship Id="rId4" Type="http://schemas.openxmlformats.org/officeDocument/2006/relationships/image" Target="../media/image254.png"/><Relationship Id="rId5" Type="http://schemas.openxmlformats.org/officeDocument/2006/relationships/image" Target="../media/image230.png"/><Relationship Id="rId6" Type="http://schemas.openxmlformats.org/officeDocument/2006/relationships/image" Target="../media/image263.png"/><Relationship Id="rId7" Type="http://schemas.openxmlformats.org/officeDocument/2006/relationships/image" Target="../media/image255.png"/><Relationship Id="rId8" Type="http://schemas.openxmlformats.org/officeDocument/2006/relationships/image" Target="../media/image264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265.jpg"/><Relationship Id="rId4" Type="http://schemas.openxmlformats.org/officeDocument/2006/relationships/image" Target="../media/image266.png"/><Relationship Id="rId5" Type="http://schemas.openxmlformats.org/officeDocument/2006/relationships/image" Target="../media/image267.png"/><Relationship Id="rId6" Type="http://schemas.openxmlformats.org/officeDocument/2006/relationships/image" Target="../media/image268.png"/><Relationship Id="rId7" Type="http://schemas.openxmlformats.org/officeDocument/2006/relationships/image" Target="../media/image26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270.jpg"/><Relationship Id="rId4" Type="http://schemas.openxmlformats.org/officeDocument/2006/relationships/image" Target="../media/image271.png"/><Relationship Id="rId5" Type="http://schemas.openxmlformats.org/officeDocument/2006/relationships/image" Target="../media/image272.png"/><Relationship Id="rId6" Type="http://schemas.openxmlformats.org/officeDocument/2006/relationships/image" Target="../media/image273.png"/><Relationship Id="rId7" Type="http://schemas.openxmlformats.org/officeDocument/2006/relationships/image" Target="../media/image274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2.jpg"/><Relationship Id="rId4" Type="http://schemas.openxmlformats.org/officeDocument/2006/relationships/image" Target="../media/image280.png"/><Relationship Id="rId5" Type="http://schemas.openxmlformats.org/officeDocument/2006/relationships/image" Target="../media/image281.png"/><Relationship Id="rId6" Type="http://schemas.openxmlformats.org/officeDocument/2006/relationships/image" Target="../media/image282.png"/><Relationship Id="rId7" Type="http://schemas.openxmlformats.org/officeDocument/2006/relationships/image" Target="../media/image283.png"/><Relationship Id="rId8" Type="http://schemas.openxmlformats.org/officeDocument/2006/relationships/image" Target="../media/image240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284.jpg"/><Relationship Id="rId4" Type="http://schemas.openxmlformats.org/officeDocument/2006/relationships/image" Target="../media/image285.png"/><Relationship Id="rId5" Type="http://schemas.openxmlformats.org/officeDocument/2006/relationships/image" Target="../media/image286.png"/><Relationship Id="rId6" Type="http://schemas.openxmlformats.org/officeDocument/2006/relationships/image" Target="../media/image255.png"/><Relationship Id="rId7" Type="http://schemas.openxmlformats.org/officeDocument/2006/relationships/image" Target="../media/image287.png"/><Relationship Id="rId8" Type="http://schemas.openxmlformats.org/officeDocument/2006/relationships/image" Target="../media/image288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289.jpg"/><Relationship Id="rId4" Type="http://schemas.openxmlformats.org/officeDocument/2006/relationships/image" Target="../media/image290.png"/><Relationship Id="rId5" Type="http://schemas.openxmlformats.org/officeDocument/2006/relationships/image" Target="../media/image291.png"/><Relationship Id="rId6" Type="http://schemas.openxmlformats.org/officeDocument/2006/relationships/image" Target="../media/image240.png"/><Relationship Id="rId7" Type="http://schemas.openxmlformats.org/officeDocument/2006/relationships/image" Target="../media/image288.png"/><Relationship Id="rId8" Type="http://schemas.openxmlformats.org/officeDocument/2006/relationships/image" Target="../media/image292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26.png"/><Relationship Id="rId4" Type="http://schemas.openxmlformats.org/officeDocument/2006/relationships/image" Target="../media/image186.png"/><Relationship Id="rId5" Type="http://schemas.openxmlformats.org/officeDocument/2006/relationships/image" Target="../media/image28.png"/><Relationship Id="rId6" Type="http://schemas.openxmlformats.org/officeDocument/2006/relationships/image" Target="../media/image191.png"/><Relationship Id="rId7" Type="http://schemas.openxmlformats.org/officeDocument/2006/relationships/image" Target="../media/image29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294.png"/><Relationship Id="rId4" Type="http://schemas.openxmlformats.org/officeDocument/2006/relationships/image" Target="../media/image32.png"/><Relationship Id="rId5" Type="http://schemas.openxmlformats.org/officeDocument/2006/relationships/image" Target="../media/image295.png"/><Relationship Id="rId6" Type="http://schemas.openxmlformats.org/officeDocument/2006/relationships/image" Target="../media/image79.png"/><Relationship Id="rId7" Type="http://schemas.openxmlformats.org/officeDocument/2006/relationships/image" Target="../media/image296.png"/><Relationship Id="rId8" Type="http://schemas.openxmlformats.org/officeDocument/2006/relationships/image" Target="../media/image18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image" Target="../media/image46.jpg"/><Relationship Id="rId4" Type="http://schemas.openxmlformats.org/officeDocument/2006/relationships/image" Target="../media/image297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289.jpg"/><Relationship Id="rId4" Type="http://schemas.openxmlformats.org/officeDocument/2006/relationships/image" Target="../media/image298.png"/><Relationship Id="rId5" Type="http://schemas.openxmlformats.org/officeDocument/2006/relationships/image" Target="../media/image299.png"/><Relationship Id="rId6" Type="http://schemas.openxmlformats.org/officeDocument/2006/relationships/image" Target="../media/image255.png"/><Relationship Id="rId7" Type="http://schemas.openxmlformats.org/officeDocument/2006/relationships/image" Target="../media/image300.png"/><Relationship Id="rId8" Type="http://schemas.openxmlformats.org/officeDocument/2006/relationships/image" Target="../media/image292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301.jp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26.png"/><Relationship Id="rId4" Type="http://schemas.openxmlformats.org/officeDocument/2006/relationships/image" Target="../media/image58.png"/><Relationship Id="rId5" Type="http://schemas.openxmlformats.org/officeDocument/2006/relationships/image" Target="../media/image28.png"/><Relationship Id="rId6" Type="http://schemas.openxmlformats.org/officeDocument/2006/relationships/image" Target="../media/image307.png"/><Relationship Id="rId7" Type="http://schemas.openxmlformats.org/officeDocument/2006/relationships/image" Target="../media/image18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308.png"/><Relationship Id="rId4" Type="http://schemas.openxmlformats.org/officeDocument/2006/relationships/image" Target="../media/image309.png"/><Relationship Id="rId5" Type="http://schemas.openxmlformats.org/officeDocument/2006/relationships/image" Target="../media/image310.png"/><Relationship Id="rId6" Type="http://schemas.openxmlformats.org/officeDocument/2006/relationships/image" Target="../media/image311.png"/><Relationship Id="rId7" Type="http://schemas.openxmlformats.org/officeDocument/2006/relationships/image" Target="../media/image34.png"/><Relationship Id="rId8" Type="http://schemas.openxmlformats.org/officeDocument/2006/relationships/image" Target="../media/image297.jpg"/><Relationship Id="rId9" Type="http://schemas.openxmlformats.org/officeDocument/2006/relationships/image" Target="../media/image30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609905" y="1419149"/>
            <a:ext cx="571500" cy="3840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09905" y="1686154"/>
            <a:ext cx="11144707" cy="1886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클로드코드와 제미나이를</a:t>
            </a:r>
            <a:endParaRPr lang="en-US" sz="4500" dirty="0"/>
          </a:p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이용한 바이브코딩</a:t>
            </a:r>
            <a:endParaRPr lang="en-US" sz="4500" dirty="0"/>
          </a:p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포트폴리오 배포 </a:t>
            </a:r>
            <a:endParaRPr lang="en-US" sz="4500" dirty="0"/>
          </a:p>
        </p:txBody>
      </p:sp>
      <p:sp>
        <p:nvSpPr>
          <p:cNvPr id="6" name="Text 3"/>
          <p:cNvSpPr txBox="1"/>
          <p:nvPr/>
        </p:nvSpPr>
        <p:spPr>
          <a:xfrm>
            <a:off x="727772" y="4491500"/>
            <a:ext cx="368663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AI와 함께하는 초고속 웹 개발 마스터 클래스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환경 설정부터 GitHub Pages 실전 배포까지 </a:t>
            </a:r>
            <a:endParaRPr lang="en-US" sz="1500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9B67982A-D7B5-887B-2DAD-72F3F7F4EDD3}"/>
              </a:ext>
            </a:extLst>
          </p:cNvPr>
          <p:cNvGrpSpPr/>
          <p:nvPr/>
        </p:nvGrpSpPr>
        <p:grpSpPr>
          <a:xfrm>
            <a:off x="4778653" y="5283206"/>
            <a:ext cx="2968317" cy="631851"/>
            <a:chOff x="609905" y="5558463"/>
            <a:chExt cx="2968317" cy="631851"/>
          </a:xfrm>
        </p:grpSpPr>
        <p:sp>
          <p:nvSpPr>
            <p:cNvPr id="10" name="Text 9">
              <a:extLst>
                <a:ext uri="{FF2B5EF4-FFF2-40B4-BE49-F238E27FC236}">
                  <a16:creationId xmlns:a16="http://schemas.microsoft.com/office/drawing/2014/main" id="{35356C3C-9D4D-0538-3193-C1C24A0DB54D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1" name="Shape 10">
              <a:extLst>
                <a:ext uri="{FF2B5EF4-FFF2-40B4-BE49-F238E27FC236}">
                  <a16:creationId xmlns:a16="http://schemas.microsoft.com/office/drawing/2014/main" id="{AF9C7BDE-732A-EE4A-C058-10DE12FB9D4A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1595B788-3093-0783-B06C-04ED4F7EF3A6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애 본 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aebon@hs.ac.kr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한신대학교 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AI.SW</a:t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13" name="Shape 12">
            <a:extLst>
              <a:ext uri="{FF2B5EF4-FFF2-40B4-BE49-F238E27FC236}">
                <a16:creationId xmlns:a16="http://schemas.microsoft.com/office/drawing/2014/main" id="{0BB69AED-ED73-30F7-EE42-F3FA887714D2}"/>
              </a:ext>
            </a:extLst>
          </p:cNvPr>
          <p:cNvSpPr/>
          <p:nvPr/>
        </p:nvSpPr>
        <p:spPr>
          <a:xfrm>
            <a:off x="9114137" y="469479"/>
            <a:ext cx="2609698" cy="457200"/>
          </a:xfrm>
          <a:prstGeom prst="roundRect">
            <a:avLst>
              <a:gd name="adj" fmla="val 125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7531E5DB-712E-41C8-7E05-79CD3A2865AF}"/>
              </a:ext>
            </a:extLst>
          </p:cNvPr>
          <p:cNvSpPr txBox="1"/>
          <p:nvPr/>
        </p:nvSpPr>
        <p:spPr>
          <a:xfrm>
            <a:off x="9399430" y="592923"/>
            <a:ext cx="22549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UNIVERSITY STUDENTS</a:t>
            </a:r>
            <a:endParaRPr lang="en-US" sz="1200" dirty="0"/>
          </a:p>
        </p:txBody>
      </p:sp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78C6274A-AC11-5480-AD8F-212CC3F36A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061" r="24061"/>
          <a:stretch/>
        </p:blipFill>
        <p:spPr>
          <a:xfrm>
            <a:off x="8111216" y="1500013"/>
            <a:ext cx="3612619" cy="4639530"/>
          </a:xfrm>
          <a:prstGeom prst="rect">
            <a:avLst/>
          </a:prstGeom>
        </p:spPr>
      </p:pic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14807" y="457200"/>
            <a:ext cx="1116391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OF CONTENTS</a:t>
            </a:r>
            <a:endParaRPr lang="en-US" sz="4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22966" b="53587"/>
          <a:stretch/>
        </p:blipFill>
        <p:spPr>
          <a:xfrm>
            <a:off x="609905" y="1447495"/>
            <a:ext cx="10972800" cy="17145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09905" y="3514954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333195" y="3581705"/>
            <a:ext cx="198607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및 준비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33195" y="3905402"/>
            <a:ext cx="21799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바이브코딩 마인드셋과 수업 목표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369003" y="3514954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5092294" y="3581705"/>
            <a:ext cx="205099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 이해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92294" y="3905402"/>
            <a:ext cx="23463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 &amp; Gemini 활용 전략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128102" y="3514954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852306" y="3581705"/>
            <a:ext cx="172821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환경 설정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852306" y="3905402"/>
            <a:ext cx="190469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 Code, Git, Node.js 셋업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09905" y="4292194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1333195" y="4358945"/>
            <a:ext cx="185166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바이브코딩 기초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33195" y="4682642"/>
            <a:ext cx="204185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 엔지니어링 핵심 기법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369003" y="4292194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3600" dirty="0"/>
          </a:p>
        </p:txBody>
      </p:sp>
      <p:sp>
        <p:nvSpPr>
          <p:cNvPr id="19" name="Text 16"/>
          <p:cNvSpPr txBox="1"/>
          <p:nvPr/>
        </p:nvSpPr>
        <p:spPr>
          <a:xfrm>
            <a:off x="5092294" y="4358945"/>
            <a:ext cx="208391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구조 설계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092294" y="4682642"/>
            <a:ext cx="197784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HTML/CSS 및 반응형 레이아웃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128102" y="4292194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3600" dirty="0"/>
          </a:p>
        </p:txBody>
      </p:sp>
      <p:sp>
        <p:nvSpPr>
          <p:cNvPr id="22" name="Text 19"/>
          <p:cNvSpPr txBox="1"/>
          <p:nvPr/>
        </p:nvSpPr>
        <p:spPr>
          <a:xfrm>
            <a:off x="8852306" y="4358945"/>
            <a:ext cx="15435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구현 실습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852306" y="4682642"/>
            <a:ext cx="16824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인터랙티브 웹사이트 완성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09905" y="5069434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3600" dirty="0"/>
          </a:p>
        </p:txBody>
      </p:sp>
      <p:sp>
        <p:nvSpPr>
          <p:cNvPr id="25" name="Text 22"/>
          <p:cNvSpPr txBox="1"/>
          <p:nvPr/>
        </p:nvSpPr>
        <p:spPr>
          <a:xfrm>
            <a:off x="1333195" y="5136185"/>
            <a:ext cx="15910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배포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333195" y="5459882"/>
            <a:ext cx="1802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 명령어와 Pages 호스팅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369003" y="5069434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3600" dirty="0"/>
          </a:p>
        </p:txBody>
      </p:sp>
      <p:sp>
        <p:nvSpPr>
          <p:cNvPr id="28" name="Text 25"/>
          <p:cNvSpPr txBox="1"/>
          <p:nvPr/>
        </p:nvSpPr>
        <p:spPr>
          <a:xfrm>
            <a:off x="5092294" y="5136185"/>
            <a:ext cx="16770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 최적화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2294" y="5459882"/>
            <a:ext cx="1916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개선, SEO, 애니메이션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128102" y="5069434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3600" dirty="0"/>
          </a:p>
        </p:txBody>
      </p:sp>
      <p:sp>
        <p:nvSpPr>
          <p:cNvPr id="31" name="Text 28"/>
          <p:cNvSpPr txBox="1"/>
          <p:nvPr/>
        </p:nvSpPr>
        <p:spPr>
          <a:xfrm>
            <a:off x="8852306" y="5136185"/>
            <a:ext cx="138897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마무리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8852306" y="5459882"/>
            <a:ext cx="150784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 및 Q&amp;A 세션</a:t>
            </a:r>
            <a:endParaRPr lang="en-US" sz="10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76402" y="32369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1438351"/>
            <a:ext cx="4734763" cy="119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강의 소개: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왜 바이브코딩인가? </a:t>
            </a:r>
            <a:endParaRPr lang="en-US" sz="3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26" b="-26"/>
          <a:stretch/>
        </p:blipFill>
        <p:spPr>
          <a:xfrm>
            <a:off x="609905" y="2855671"/>
            <a:ext cx="4556455" cy="97200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75995" y="3084271"/>
            <a:ext cx="41440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"코딩의 장벽을 AI와 함께 넘어,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아이디어를 즉시 현실로 만듭니다." 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09905" y="4132174"/>
            <a:ext cx="4638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바이브코딩(Vibe Coding)은 AI와 개발자가 리듬을 타듯 대화를 주고받으며 결과물을 만들어내는 새로운 개발 방식입니다.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4800600"/>
            <a:ext cx="171907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143500"/>
            <a:ext cx="171907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486400"/>
            <a:ext cx="171907" cy="17190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95198" y="4772254"/>
            <a:ext cx="33732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대화형 개발로 속도와 품질 동시 향상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95198" y="5115154"/>
            <a:ext cx="3172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페어 프로그래밍으로 학습 곡선 단축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895198" y="5458054"/>
            <a:ext cx="34097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목표: 완성도 있는 포트폴리오를 '오늘' 배포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10369296" y="629107"/>
            <a:ext cx="12198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INTRODUCTION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8153705" y="800100"/>
            <a:ext cx="3238805" cy="4381805"/>
          </a:xfrm>
          <a:prstGeom prst="roundRect">
            <a:avLst>
              <a:gd name="adj" fmla="val 1993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l="25517" r="25517"/>
          <a:stretch/>
        </p:blipFill>
        <p:spPr>
          <a:xfrm>
            <a:off x="8191195" y="838505"/>
            <a:ext cx="3161995" cy="4304995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9977933" y="4304995"/>
            <a:ext cx="1571854" cy="457200"/>
          </a:xfrm>
          <a:prstGeom prst="roundRect">
            <a:avLst>
              <a:gd name="adj" fmla="val 125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2"/>
          <p:cNvSpPr txBox="1"/>
          <p:nvPr/>
        </p:nvSpPr>
        <p:spPr>
          <a:xfrm>
            <a:off x="10206533" y="4448556"/>
            <a:ext cx="132679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 &amp; Efficient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5737860" y="2247595"/>
            <a:ext cx="2857500" cy="3619195"/>
          </a:xfrm>
          <a:prstGeom prst="roundRect">
            <a:avLst>
              <a:gd name="adj" fmla="val 2560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6"/>
          <a:srcRect l="23832" r="23832"/>
          <a:stretch/>
        </p:blipFill>
        <p:spPr>
          <a:xfrm>
            <a:off x="5776265" y="2286000"/>
            <a:ext cx="2781605" cy="3543300"/>
          </a:xfrm>
          <a:prstGeom prst="rect">
            <a:avLst/>
          </a:prstGeom>
        </p:spPr>
      </p:pic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58698" y="254203"/>
            <a:ext cx="6305702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LEARNING OBJECTIVES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45159" y="1765706"/>
            <a:ext cx="5829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코딩 도구의 완벽한 이해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45159" y="2074774"/>
            <a:ext cx="6324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Code와 Gemini Code Assist의 장단점과 최적의 사용 시나리오를 파악합니다.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50469" y="1823314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2533" y="2662733"/>
            <a:ext cx="5829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프롬프트 작성 기법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62533" y="2970886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명확하게 지시하고, 원하는 코드 품질을 얻어내는 바이브코딩 핵심 패턴을 익힙니다.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719426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70762" y="3702406"/>
            <a:ext cx="5829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포트폴리오 제작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70762" y="4010558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HTML/CSS/JS를 활용하여 모바일과 데스크톱 모두에서 완벽하게 작동하는 웹사이트를 구축합니다.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75158" y="3759098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96366" y="4733849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Pages 배포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6366" y="5042002"/>
            <a:ext cx="58603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 기본 명령어를 익히고, 자신의 포트폴리오를 전 세계에 무료로 배포합니다.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00761" y="4790542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54303" y="5638190"/>
            <a:ext cx="5829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 기능 적용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54303" y="5947258"/>
            <a:ext cx="59518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다크모드, SEO 최적화, 애니메이션 등 완성도를 높이는 고급 기술을 적용합니다.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58698" y="5695798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8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3"/>
          <a:srcRect l="24061" r="24061"/>
          <a:stretch/>
        </p:blipFill>
        <p:spPr>
          <a:xfrm>
            <a:off x="7426887" y="1525100"/>
            <a:ext cx="3870656" cy="4970915"/>
          </a:xfrm>
          <a:prstGeom prst="rect">
            <a:avLst/>
          </a:prstGeom>
        </p:spPr>
      </p:pic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365760"/>
            <a:ext cx="6305702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CLASS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PREPARATION 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1976933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04595" y="1920240"/>
            <a:ext cx="5829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소프트웨어 설치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04595" y="2205533"/>
            <a:ext cx="57150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개발을 위해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 Code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(코드 에디터),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(버전 관리),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Node.js LTS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(자바스크립트 런타임)를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사전에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설치해야 합니다.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905" y="3186684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04595" y="3129991"/>
            <a:ext cx="5753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및 API 준비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04595" y="3415284"/>
            <a:ext cx="57150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배포를 위한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계정과, AI 코딩을 위한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Claude.ai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Gemini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계정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필요합니다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4396435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04595" y="4339742"/>
            <a:ext cx="5829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브라우저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04595" y="4625035"/>
            <a:ext cx="57150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웹 표준 기술과 강력한 개발자 도구(DevTools)를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지원하는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Chrome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브라우저 사용을 권장합니다.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9905" y="5606186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04595" y="5549494"/>
            <a:ext cx="5829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선수 지식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04595" y="5834786"/>
            <a:ext cx="57150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코드를 작성해주지만, 구조 이해를 위해 HTML 태그, CSS 선택자,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JavaScript 기초 문법에 대한 지식이 있으면 유리합니다.</a:t>
            </a:r>
            <a:endParaRPr lang="en-US" sz="12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 t="-2" b="-2"/>
          <a:stretch/>
        </p:blipFill>
        <p:spPr>
          <a:xfrm>
            <a:off x="7193585" y="609905"/>
            <a:ext cx="4389120" cy="563910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24061" r="24061"/>
          <a:stretch/>
        </p:blipFill>
        <p:spPr>
          <a:xfrm>
            <a:off x="7193585" y="609905"/>
            <a:ext cx="4390949" cy="5639105"/>
          </a:xfrm>
          <a:prstGeom prst="rect">
            <a:avLst/>
          </a:prstGeom>
        </p:spPr>
      </p:pic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523951" y="357792"/>
            <a:ext cx="45628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3-HOUR</a:t>
            </a:r>
            <a:endParaRPr lang="en-US" sz="6000" dirty="0"/>
          </a:p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ROADMAP </a:t>
            </a:r>
            <a:endParaRPr lang="en-US" sz="6000" dirty="0"/>
          </a:p>
        </p:txBody>
      </p:sp>
      <p:sp>
        <p:nvSpPr>
          <p:cNvPr id="28" name="Text 25"/>
          <p:cNvSpPr txBox="1"/>
          <p:nvPr/>
        </p:nvSpPr>
        <p:spPr>
          <a:xfrm>
            <a:off x="5923788" y="781355"/>
            <a:ext cx="17099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진행 순서</a:t>
            </a:r>
            <a:endParaRPr lang="en-US" sz="18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3A036625-391E-83FD-DFF6-2346AD26BC6C}"/>
              </a:ext>
            </a:extLst>
          </p:cNvPr>
          <p:cNvGrpSpPr/>
          <p:nvPr/>
        </p:nvGrpSpPr>
        <p:grpSpPr>
          <a:xfrm>
            <a:off x="5923788" y="1408415"/>
            <a:ext cx="5658307" cy="4963581"/>
            <a:chOff x="5379415" y="2533802"/>
            <a:chExt cx="5658307" cy="3714293"/>
          </a:xfrm>
        </p:grpSpPr>
        <p:sp>
          <p:nvSpPr>
            <p:cNvPr id="7" name="Shape 4"/>
            <p:cNvSpPr/>
            <p:nvPr/>
          </p:nvSpPr>
          <p:spPr>
            <a:xfrm>
              <a:off x="5379415" y="2533802"/>
              <a:ext cx="5658307" cy="409651"/>
            </a:xfrm>
            <a:prstGeom prst="roundRect">
              <a:avLst>
                <a:gd name="adj" fmla="val 6229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Shape 5"/>
            <p:cNvSpPr/>
            <p:nvPr/>
          </p:nvSpPr>
          <p:spPr>
            <a:xfrm>
              <a:off x="5379415" y="2533802"/>
              <a:ext cx="57607" cy="409651"/>
            </a:xfrm>
            <a:prstGeom prst="roundRect">
              <a:avLst>
                <a:gd name="adj" fmla="val 442969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Text 6"/>
            <p:cNvSpPr txBox="1"/>
            <p:nvPr/>
          </p:nvSpPr>
          <p:spPr>
            <a:xfrm>
              <a:off x="6627571" y="2624328"/>
              <a:ext cx="36868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소개 및 준비</a:t>
              </a:r>
              <a:endParaRPr lang="en-US" sz="14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5379415" y="3084271"/>
              <a:ext cx="5658307" cy="409651"/>
            </a:xfrm>
            <a:prstGeom prst="roundRect">
              <a:avLst>
                <a:gd name="adj" fmla="val 6229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1" name="Shape 8"/>
            <p:cNvSpPr/>
            <p:nvPr/>
          </p:nvSpPr>
          <p:spPr>
            <a:xfrm>
              <a:off x="5379415" y="3084271"/>
              <a:ext cx="57607" cy="409651"/>
            </a:xfrm>
            <a:prstGeom prst="roundRect">
              <a:avLst>
                <a:gd name="adj" fmla="val 442969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6627571" y="3174797"/>
              <a:ext cx="38679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AI 도구 이해 (Claude &amp; Gemini)</a:t>
              </a:r>
              <a:endParaRPr lang="en-US" sz="1400" dirty="0"/>
            </a:p>
          </p:txBody>
        </p:sp>
        <p:sp>
          <p:nvSpPr>
            <p:cNvPr id="13" name="Shape 10"/>
            <p:cNvSpPr/>
            <p:nvPr/>
          </p:nvSpPr>
          <p:spPr>
            <a:xfrm>
              <a:off x="5379415" y="3635654"/>
              <a:ext cx="5658307" cy="409651"/>
            </a:xfrm>
            <a:prstGeom prst="roundRect">
              <a:avLst>
                <a:gd name="adj" fmla="val 6229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4" name="Shape 11"/>
            <p:cNvSpPr/>
            <p:nvPr/>
          </p:nvSpPr>
          <p:spPr>
            <a:xfrm>
              <a:off x="5379415" y="3635654"/>
              <a:ext cx="57607" cy="409651"/>
            </a:xfrm>
            <a:prstGeom prst="roundRect">
              <a:avLst>
                <a:gd name="adj" fmla="val 442969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6627571" y="3726180"/>
              <a:ext cx="381030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개발 환경 설정 및 체크포인트</a:t>
              </a:r>
              <a:endParaRPr lang="en-US" sz="1400" dirty="0"/>
            </a:p>
          </p:txBody>
        </p:sp>
        <p:sp>
          <p:nvSpPr>
            <p:cNvPr id="16" name="Shape 13"/>
            <p:cNvSpPr/>
            <p:nvPr/>
          </p:nvSpPr>
          <p:spPr>
            <a:xfrm>
              <a:off x="5379415" y="4186123"/>
              <a:ext cx="5658307" cy="409651"/>
            </a:xfrm>
            <a:prstGeom prst="roundRect">
              <a:avLst>
                <a:gd name="adj" fmla="val 6229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7" name="Shape 14"/>
            <p:cNvSpPr/>
            <p:nvPr/>
          </p:nvSpPr>
          <p:spPr>
            <a:xfrm>
              <a:off x="5379415" y="4186123"/>
              <a:ext cx="57607" cy="409651"/>
            </a:xfrm>
            <a:prstGeom prst="roundRect">
              <a:avLst>
                <a:gd name="adj" fmla="val 442969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6627571" y="4276649"/>
              <a:ext cx="403890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바이브코딩 기초 및 프롬프트 전략</a:t>
              </a:r>
              <a:endParaRPr lang="en-US" sz="14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5379415" y="4736592"/>
              <a:ext cx="5658307" cy="409651"/>
            </a:xfrm>
            <a:prstGeom prst="roundRect">
              <a:avLst>
                <a:gd name="adj" fmla="val 6229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0" name="Shape 17"/>
            <p:cNvSpPr/>
            <p:nvPr/>
          </p:nvSpPr>
          <p:spPr>
            <a:xfrm>
              <a:off x="5379415" y="4736592"/>
              <a:ext cx="57607" cy="409651"/>
            </a:xfrm>
            <a:prstGeom prst="roundRect">
              <a:avLst>
                <a:gd name="adj" fmla="val 442969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1" name="Text 18"/>
            <p:cNvSpPr txBox="1"/>
            <p:nvPr/>
          </p:nvSpPr>
          <p:spPr>
            <a:xfrm>
              <a:off x="6627571" y="4827118"/>
              <a:ext cx="35533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포트폴리오 실전 제작</a:t>
              </a:r>
              <a:endParaRPr lang="en-US" sz="1400" dirty="0"/>
            </a:p>
          </p:txBody>
        </p:sp>
        <p:sp>
          <p:nvSpPr>
            <p:cNvPr id="22" name="Shape 19"/>
            <p:cNvSpPr/>
            <p:nvPr/>
          </p:nvSpPr>
          <p:spPr>
            <a:xfrm>
              <a:off x="5379415" y="5287975"/>
              <a:ext cx="5658307" cy="409651"/>
            </a:xfrm>
            <a:prstGeom prst="roundRect">
              <a:avLst>
                <a:gd name="adj" fmla="val 6229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3" name="Shape 20"/>
            <p:cNvSpPr/>
            <p:nvPr/>
          </p:nvSpPr>
          <p:spPr>
            <a:xfrm>
              <a:off x="5379415" y="5287975"/>
              <a:ext cx="57607" cy="409651"/>
            </a:xfrm>
            <a:prstGeom prst="roundRect">
              <a:avLst>
                <a:gd name="adj" fmla="val 442969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6627571" y="5378501"/>
              <a:ext cx="36868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배포 및 고급 기능 구현</a:t>
              </a:r>
              <a:endParaRPr lang="en-US" sz="1400" dirty="0"/>
            </a:p>
          </p:txBody>
        </p:sp>
        <p:sp>
          <p:nvSpPr>
            <p:cNvPr id="25" name="Shape 22"/>
            <p:cNvSpPr/>
            <p:nvPr/>
          </p:nvSpPr>
          <p:spPr>
            <a:xfrm>
              <a:off x="5379415" y="5838444"/>
              <a:ext cx="5658307" cy="409651"/>
            </a:xfrm>
            <a:prstGeom prst="roundRect">
              <a:avLst>
                <a:gd name="adj" fmla="val 6229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6" name="Shape 23"/>
            <p:cNvSpPr/>
            <p:nvPr/>
          </p:nvSpPr>
          <p:spPr>
            <a:xfrm>
              <a:off x="5379415" y="5838444"/>
              <a:ext cx="57607" cy="409651"/>
            </a:xfrm>
            <a:prstGeom prst="roundRect">
              <a:avLst>
                <a:gd name="adj" fmla="val 442969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7" name="Text 24"/>
            <p:cNvSpPr txBox="1"/>
            <p:nvPr/>
          </p:nvSpPr>
          <p:spPr>
            <a:xfrm>
              <a:off x="6627571" y="5928970"/>
              <a:ext cx="38295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마무리 및 Q&amp;A</a:t>
              </a:r>
              <a:endParaRPr lang="en-US" sz="1400" dirty="0"/>
            </a:p>
          </p:txBody>
        </p:sp>
        <p:sp>
          <p:nvSpPr>
            <p:cNvPr id="29" name="Text 26"/>
            <p:cNvSpPr txBox="1"/>
            <p:nvPr/>
          </p:nvSpPr>
          <p:spPr>
            <a:xfrm>
              <a:off x="5769864" y="2638044"/>
              <a:ext cx="5815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0-20m</a:t>
              </a:r>
              <a:endParaRPr lang="en-US" sz="1400" dirty="0"/>
            </a:p>
          </p:txBody>
        </p:sp>
        <p:sp>
          <p:nvSpPr>
            <p:cNvPr id="30" name="Text 27"/>
            <p:cNvSpPr txBox="1"/>
            <p:nvPr/>
          </p:nvSpPr>
          <p:spPr>
            <a:xfrm>
              <a:off x="10119665" y="2645359"/>
              <a:ext cx="862279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Intro &amp; Prep</a:t>
              </a:r>
              <a:endParaRPr lang="en-US" sz="1000" dirty="0"/>
            </a:p>
          </p:txBody>
        </p:sp>
        <p:sp>
          <p:nvSpPr>
            <p:cNvPr id="31" name="Text 28"/>
            <p:cNvSpPr txBox="1"/>
            <p:nvPr/>
          </p:nvSpPr>
          <p:spPr>
            <a:xfrm>
              <a:off x="5722315" y="3189427"/>
              <a:ext cx="67665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20-50m</a:t>
              </a:r>
              <a:endParaRPr lang="en-US" sz="1400" dirty="0"/>
            </a:p>
          </p:txBody>
        </p:sp>
        <p:sp>
          <p:nvSpPr>
            <p:cNvPr id="32" name="Text 29"/>
            <p:cNvSpPr txBox="1"/>
            <p:nvPr/>
          </p:nvSpPr>
          <p:spPr>
            <a:xfrm>
              <a:off x="10379354" y="3196742"/>
              <a:ext cx="555955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 Tools</a:t>
              </a:r>
              <a:endParaRPr lang="en-US" sz="1000" dirty="0"/>
            </a:p>
          </p:txBody>
        </p:sp>
        <p:sp>
          <p:nvSpPr>
            <p:cNvPr id="33" name="Text 30"/>
            <p:cNvSpPr txBox="1"/>
            <p:nvPr/>
          </p:nvSpPr>
          <p:spPr>
            <a:xfrm>
              <a:off x="5722315" y="3739896"/>
              <a:ext cx="67665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50-75m</a:t>
              </a:r>
              <a:endParaRPr lang="en-US" sz="1400" dirty="0"/>
            </a:p>
          </p:txBody>
        </p:sp>
        <p:sp>
          <p:nvSpPr>
            <p:cNvPr id="34" name="Text 31"/>
            <p:cNvSpPr txBox="1"/>
            <p:nvPr/>
          </p:nvSpPr>
          <p:spPr>
            <a:xfrm>
              <a:off x="10242194" y="3747211"/>
              <a:ext cx="693115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Env Setup</a:t>
              </a:r>
              <a:endParaRPr lang="en-US" sz="1000" dirty="0"/>
            </a:p>
          </p:txBody>
        </p:sp>
        <p:sp>
          <p:nvSpPr>
            <p:cNvPr id="35" name="Text 32"/>
            <p:cNvSpPr txBox="1"/>
            <p:nvPr/>
          </p:nvSpPr>
          <p:spPr>
            <a:xfrm>
              <a:off x="5674766" y="4291279"/>
              <a:ext cx="77266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80-105m</a:t>
              </a:r>
              <a:endParaRPr lang="en-US" sz="1400" dirty="0"/>
            </a:p>
          </p:txBody>
        </p:sp>
        <p:sp>
          <p:nvSpPr>
            <p:cNvPr id="36" name="Text 33"/>
            <p:cNvSpPr txBox="1"/>
            <p:nvPr/>
          </p:nvSpPr>
          <p:spPr>
            <a:xfrm>
              <a:off x="10470794" y="4297680"/>
              <a:ext cx="457200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Basics</a:t>
              </a:r>
              <a:endParaRPr lang="en-US" sz="1000" dirty="0"/>
            </a:p>
          </p:txBody>
        </p:sp>
        <p:sp>
          <p:nvSpPr>
            <p:cNvPr id="37" name="Text 34"/>
            <p:cNvSpPr txBox="1"/>
            <p:nvPr/>
          </p:nvSpPr>
          <p:spPr>
            <a:xfrm>
              <a:off x="5618988" y="4841748"/>
              <a:ext cx="88239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105-140m</a:t>
              </a:r>
              <a:endParaRPr lang="en-US" sz="1400" dirty="0"/>
            </a:p>
          </p:txBody>
        </p:sp>
        <p:sp>
          <p:nvSpPr>
            <p:cNvPr id="38" name="Text 35"/>
            <p:cNvSpPr txBox="1"/>
            <p:nvPr/>
          </p:nvSpPr>
          <p:spPr>
            <a:xfrm>
              <a:off x="9980676" y="4849063"/>
              <a:ext cx="1032358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Portfolio Build</a:t>
              </a:r>
              <a:endParaRPr lang="en-US" sz="1000" dirty="0"/>
            </a:p>
          </p:txBody>
        </p:sp>
        <p:sp>
          <p:nvSpPr>
            <p:cNvPr id="39" name="Text 36"/>
            <p:cNvSpPr txBox="1"/>
            <p:nvPr/>
          </p:nvSpPr>
          <p:spPr>
            <a:xfrm>
              <a:off x="5618988" y="5392217"/>
              <a:ext cx="88239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145-175m</a:t>
              </a:r>
              <a:endParaRPr lang="en-US" sz="1400" dirty="0"/>
            </a:p>
          </p:txBody>
        </p:sp>
        <p:sp>
          <p:nvSpPr>
            <p:cNvPr id="40" name="Text 37"/>
            <p:cNvSpPr txBox="1"/>
            <p:nvPr/>
          </p:nvSpPr>
          <p:spPr>
            <a:xfrm>
              <a:off x="10116007" y="5399532"/>
              <a:ext cx="810158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Deployment</a:t>
              </a:r>
              <a:endParaRPr lang="en-US" sz="1000" dirty="0"/>
            </a:p>
          </p:txBody>
        </p:sp>
        <p:sp>
          <p:nvSpPr>
            <p:cNvPr id="41" name="Text 38"/>
            <p:cNvSpPr txBox="1"/>
            <p:nvPr/>
          </p:nvSpPr>
          <p:spPr>
            <a:xfrm>
              <a:off x="5618988" y="5943600"/>
              <a:ext cx="88239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175-180m</a:t>
              </a:r>
              <a:endParaRPr lang="en-US" sz="1400" dirty="0"/>
            </a:p>
          </p:txBody>
        </p:sp>
        <p:sp>
          <p:nvSpPr>
            <p:cNvPr id="42" name="Text 39"/>
            <p:cNvSpPr txBox="1"/>
            <p:nvPr/>
          </p:nvSpPr>
          <p:spPr>
            <a:xfrm>
              <a:off x="10337292" y="5950001"/>
              <a:ext cx="590702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Wrap-up</a:t>
              </a:r>
              <a:endParaRPr lang="en-US" sz="1000" dirty="0"/>
            </a:p>
          </p:txBody>
        </p:sp>
      </p:grpSp>
      <p:pic>
        <p:nvPicPr>
          <p:cNvPr id="43" name="Image 1" descr="preencoded.png"/>
          <p:cNvPicPr>
            <a:picLocks noChangeAspect="1"/>
          </p:cNvPicPr>
          <p:nvPr/>
        </p:nvPicPr>
        <p:blipFill>
          <a:blip r:embed="rId3"/>
          <a:srcRect l="21676" r="21676"/>
          <a:stretch/>
        </p:blipFill>
        <p:spPr>
          <a:xfrm>
            <a:off x="767029" y="2372648"/>
            <a:ext cx="4390949" cy="3981297"/>
          </a:xfrm>
          <a:prstGeom prst="rect">
            <a:avLst/>
          </a:prstGeom>
        </p:spPr>
      </p:pic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609905"/>
            <a:ext cx="1133856" cy="286207"/>
          </a:xfrm>
          <a:prstGeom prst="roundRect">
            <a:avLst>
              <a:gd name="adj" fmla="val 319489"/>
            </a:avLst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" name="Text 3"/>
          <p:cNvSpPr txBox="1"/>
          <p:nvPr/>
        </p:nvSpPr>
        <p:spPr>
          <a:xfrm>
            <a:off x="771754" y="676656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123798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</a:t>
            </a:r>
            <a:endParaRPr lang="en-US" sz="82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3354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</a:t>
            </a:r>
            <a:endParaRPr lang="en-US" sz="8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27141" b="27141"/>
          <a:stretch/>
        </p:blipFill>
        <p:spPr>
          <a:xfrm>
            <a:off x="609905" y="3390595"/>
            <a:ext cx="2667305" cy="1524305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242255"/>
            <a:ext cx="5524805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5995" y="5470855"/>
            <a:ext cx="5045834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대화형 코드 생성, 리뷰, 리팩토링을 돕는 </a:t>
            </a: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Anthropic의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차세대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압도적인 컨텍스트 이해력과 안전성을 경험하세요. 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057900" y="5305349"/>
            <a:ext cx="5524805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</a:t>
            </a:r>
            <a:endParaRPr lang="en-US" sz="8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t="5532" b="5532"/>
          <a:stretch/>
        </p:blipFill>
        <p:spPr>
          <a:xfrm>
            <a:off x="6438595" y="1905152"/>
            <a:ext cx="5143500" cy="3047695"/>
          </a:xfrm>
          <a:prstGeom prst="rect">
            <a:avLst/>
          </a:prstGeom>
        </p:spPr>
      </p:pic>
      <p:sp>
        <p:nvSpPr>
          <p:cNvPr id="1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95858" y="390449"/>
            <a:ext cx="1519733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FF6908">
                    <a:alpha val="1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1498701"/>
            <a:ext cx="5589509" cy="1638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Claude란?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900" b="1" kern="0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Anthropic의</a:t>
            </a:r>
            <a:r>
              <a:rPr lang="en-US" sz="3900" b="1" kern="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900" b="1" kern="0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차세대</a:t>
            </a:r>
            <a:r>
              <a:rPr lang="en-US" sz="3900" b="1" kern="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AI </a:t>
            </a:r>
            <a:endParaRPr lang="en-US" sz="3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6" r="-6"/>
          <a:stretch/>
        </p:blipFill>
        <p:spPr>
          <a:xfrm>
            <a:off x="609905" y="2947111"/>
            <a:ext cx="4556455" cy="8951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75995" y="3137306"/>
            <a:ext cx="41440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"안전하고 유능하며 신뢰할 수 있는 AI,</a:t>
            </a:r>
            <a:endParaRPr lang="en-US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긴 문맥 이해와 코딩 보조에 최적화되었습니다." 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09905" y="4109314"/>
            <a:ext cx="4638751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Claude는 Anthropic이 개발한 대규모 언어 모델(LLM)로, 방대한 컨텍스트 창을 통해 복잡한 프로젝트 코드를 한 번에 이해하고 분석할 수 있는 능력을 갖추고 있습니다.</a:t>
            </a:r>
            <a:endParaRPr lang="en-US" sz="1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059375"/>
            <a:ext cx="171907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402275"/>
            <a:ext cx="171907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745175"/>
            <a:ext cx="171907" cy="17190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95198" y="5031029"/>
            <a:ext cx="34884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200K 토큰의 방대한 문맥(Context) 처리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95198" y="5373929"/>
            <a:ext cx="36640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Constitutional AI 기술로 안전성과 신뢰성 강화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895198" y="5716829"/>
            <a:ext cx="3556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설명, 디버깅, 문서화에 탁월한 성능 발휘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10053828" y="629107"/>
            <a:ext cx="15343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OVERVIEW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8153705" y="990295"/>
            <a:ext cx="3238805" cy="4190695"/>
          </a:xfrm>
          <a:prstGeom prst="roundRect">
            <a:avLst>
              <a:gd name="adj" fmla="val 1993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l="28387" r="28388"/>
          <a:stretch/>
        </p:blipFill>
        <p:spPr>
          <a:xfrm>
            <a:off x="8191195" y="1028700"/>
            <a:ext cx="3161995" cy="41148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737860" y="2628900"/>
            <a:ext cx="2667305" cy="3238805"/>
          </a:xfrm>
          <a:prstGeom prst="roundRect">
            <a:avLst>
              <a:gd name="adj" fmla="val 2938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/>
          <a:srcRect l="22708" r="22708"/>
          <a:stretch/>
        </p:blipFill>
        <p:spPr>
          <a:xfrm>
            <a:off x="5776265" y="2667305"/>
            <a:ext cx="2590495" cy="3161995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6988759" y="5043830"/>
            <a:ext cx="1476756" cy="409651"/>
          </a:xfrm>
          <a:prstGeom prst="roundRect">
            <a:avLst>
              <a:gd name="adj" fmla="val 15573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3"/>
          <p:cNvSpPr txBox="1"/>
          <p:nvPr/>
        </p:nvSpPr>
        <p:spPr>
          <a:xfrm>
            <a:off x="7217359" y="5158130"/>
            <a:ext cx="121340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Context Expert</a:t>
            </a:r>
            <a:endParaRPr lang="en-US" sz="1100" dirty="0"/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67512" y="572245"/>
            <a:ext cx="6305702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CLAUDE CODE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FEATURES </a:t>
            </a:r>
            <a:endParaRPr lang="en-US" sz="42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EBBF5DE6-FF41-4542-0530-5B9B8CADE177}"/>
              </a:ext>
            </a:extLst>
          </p:cNvPr>
          <p:cNvGrpSpPr/>
          <p:nvPr/>
        </p:nvGrpSpPr>
        <p:grpSpPr>
          <a:xfrm>
            <a:off x="667512" y="2103919"/>
            <a:ext cx="6248095" cy="4042867"/>
            <a:chOff x="609905" y="1816913"/>
            <a:chExt cx="6248095" cy="4550054"/>
          </a:xfrm>
        </p:grpSpPr>
        <p:sp>
          <p:nvSpPr>
            <p:cNvPr id="5" name="Text 3"/>
            <p:cNvSpPr txBox="1"/>
            <p:nvPr/>
          </p:nvSpPr>
          <p:spPr>
            <a:xfrm>
              <a:off x="609905" y="1874520"/>
              <a:ext cx="33375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1800" dirty="0"/>
            </a:p>
          </p:txBody>
        </p:sp>
        <p:sp>
          <p:nvSpPr>
            <p:cNvPr id="6" name="Text 4"/>
            <p:cNvSpPr txBox="1"/>
            <p:nvPr/>
          </p:nvSpPr>
          <p:spPr>
            <a:xfrm>
              <a:off x="1104595" y="1816913"/>
              <a:ext cx="5753405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지능형 코드 생성 (Code Generation)</a:t>
              </a:r>
              <a:endParaRPr lang="en-US" sz="1600" dirty="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1104595" y="2125980"/>
              <a:ext cx="57150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2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자연어 요구사항을 분석하여 시맨틱한 HTML 구조와 모던 CSS 스타일링을 </a:t>
              </a: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포함한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ts val="2200"/>
                </a:lnSpc>
                <a:buNone/>
              </a:pP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완성된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코드 블록을 즉시 생성합니다.</a:t>
              </a:r>
              <a:endParaRPr lang="en-US" sz="1200" dirty="0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609905" y="3135478"/>
              <a:ext cx="33375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1800" dirty="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1104595" y="3078785"/>
              <a:ext cx="5753405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스마트 리팩토링 (Refactoring)</a:t>
              </a:r>
              <a:endParaRPr lang="en-US" sz="16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1104595" y="3386938"/>
              <a:ext cx="57150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2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복잡한 로직을 단순화하고, 변수 명명 규칙(Convention)을 통일하며, </a:t>
              </a:r>
            </a:p>
            <a:p>
              <a:pPr marL="0" indent="0" algn="l">
                <a:lnSpc>
                  <a:spcPts val="2200"/>
                </a:lnSpc>
                <a:buNone/>
              </a:pP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코드의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가독성과 유지보수성을 높이는 개선안을 제안합니다.</a:t>
              </a:r>
              <a:endParaRPr lang="en-US" sz="1200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609905" y="4396435"/>
              <a:ext cx="33375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1800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1104595" y="4339742"/>
              <a:ext cx="5753405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테스트 케이스 자동화 (Test Cases)</a:t>
              </a:r>
              <a:endParaRPr lang="en-US" sz="16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1104595" y="4647895"/>
              <a:ext cx="57150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2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엣지 케이스를 포함한 유닛 테스트 코드를 자동으로 작성하여, </a:t>
              </a:r>
            </a:p>
            <a:p>
              <a:pPr marL="0" indent="0" algn="l">
                <a:lnSpc>
                  <a:spcPts val="2200"/>
                </a:lnSpc>
                <a:buNone/>
              </a:pP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배포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전 잠재적인 버그를 사전에 차단하고 안정성을 확보합니다.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609905" y="5658307"/>
              <a:ext cx="33375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04</a:t>
              </a:r>
              <a:endParaRPr lang="en-US" sz="1800" dirty="0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1104595" y="5600700"/>
              <a:ext cx="5753405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00000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코드 설명 및 문서화 (Documentation)</a:t>
              </a:r>
              <a:endParaRPr lang="en-US" sz="1600" dirty="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1104595" y="5909767"/>
              <a:ext cx="57150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200"/>
                </a:lnSpc>
                <a:buNone/>
              </a:pP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작성된 코드의 작동 원리를 단계별로 설명하고, </a:t>
              </a:r>
            </a:p>
            <a:p>
              <a:pPr marL="0" indent="0" algn="l">
                <a:lnSpc>
                  <a:spcPts val="2200"/>
                </a:lnSpc>
                <a:buNone/>
              </a:pPr>
              <a:r>
                <a:rPr lang="en-US" sz="1200" dirty="0" err="1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프로젝트의</a:t>
              </a:r>
              <a:r>
                <a:rPr lang="en-US" sz="1200" dirty="0">
                  <a:solidFill>
                    <a:srgbClr val="555555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README.md 문서를 자동으로 구성하여 협업 효율을 높입니다.</a:t>
              </a:r>
              <a:endParaRPr lang="en-US" sz="1200" dirty="0"/>
            </a:p>
          </p:txBody>
        </p:sp>
      </p:grp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 t="-2" b="-2"/>
          <a:stretch/>
        </p:blipFill>
        <p:spPr>
          <a:xfrm>
            <a:off x="7193585" y="609905"/>
            <a:ext cx="4389120" cy="563910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24061" r="24061"/>
          <a:stretch/>
        </p:blipFill>
        <p:spPr>
          <a:xfrm>
            <a:off x="7193585" y="609905"/>
            <a:ext cx="4390949" cy="5639105"/>
          </a:xfrm>
          <a:prstGeom prst="rect">
            <a:avLst/>
          </a:prstGeom>
        </p:spPr>
      </p:pic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60762" y="981552"/>
            <a:ext cx="45628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PROS &amp;</a:t>
            </a:r>
            <a:endParaRPr lang="en-US" sz="6000" dirty="0"/>
          </a:p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CONS </a:t>
            </a:r>
            <a:endParaRPr lang="en-US" sz="6000" dirty="0"/>
          </a:p>
        </p:txBody>
      </p:sp>
      <p:sp>
        <p:nvSpPr>
          <p:cNvPr id="21" name="Text 19"/>
          <p:cNvSpPr txBox="1"/>
          <p:nvPr/>
        </p:nvSpPr>
        <p:spPr>
          <a:xfrm>
            <a:off x="5709165" y="1176683"/>
            <a:ext cx="300929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장점 및 한계 분석</a:t>
            </a:r>
            <a:endParaRPr lang="en-US" sz="1800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660FA76C-918F-FB2E-3D9D-A430ABFDBE75}"/>
              </a:ext>
            </a:extLst>
          </p:cNvPr>
          <p:cNvGrpSpPr/>
          <p:nvPr/>
        </p:nvGrpSpPr>
        <p:grpSpPr>
          <a:xfrm>
            <a:off x="5709165" y="1758348"/>
            <a:ext cx="5658307" cy="4266590"/>
            <a:chOff x="5379415" y="1123798"/>
            <a:chExt cx="5658307" cy="5124297"/>
          </a:xfrm>
        </p:grpSpPr>
        <p:sp>
          <p:nvSpPr>
            <p:cNvPr id="6" name="Shape 4"/>
            <p:cNvSpPr/>
            <p:nvPr/>
          </p:nvSpPr>
          <p:spPr>
            <a:xfrm>
              <a:off x="5379415" y="1701698"/>
              <a:ext cx="5658307" cy="514807"/>
            </a:xfrm>
            <a:prstGeom prst="roundRect">
              <a:avLst>
                <a:gd name="adj" fmla="val 52628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7" name="Shape 5"/>
            <p:cNvSpPr/>
            <p:nvPr/>
          </p:nvSpPr>
          <p:spPr>
            <a:xfrm>
              <a:off x="5379415" y="1701698"/>
              <a:ext cx="57607" cy="514807"/>
            </a:xfrm>
            <a:prstGeom prst="roundRect">
              <a:avLst>
                <a:gd name="adj" fmla="val 47031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6532474" y="1844345"/>
              <a:ext cx="40105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200K+ 토큰의 긴 컨텍스트 윈도우 이해</a:t>
              </a:r>
              <a:endParaRPr lang="en-US" sz="12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379415" y="2536546"/>
              <a:ext cx="5658307" cy="514807"/>
            </a:xfrm>
            <a:prstGeom prst="roundRect">
              <a:avLst>
                <a:gd name="adj" fmla="val 52628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0" name="Shape 8"/>
            <p:cNvSpPr/>
            <p:nvPr/>
          </p:nvSpPr>
          <p:spPr>
            <a:xfrm>
              <a:off x="5379415" y="2536546"/>
              <a:ext cx="57607" cy="514807"/>
            </a:xfrm>
            <a:prstGeom prst="roundRect">
              <a:avLst>
                <a:gd name="adj" fmla="val 47031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6532474" y="2656333"/>
              <a:ext cx="41724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명확한 설명과 논리적인 코드 리팩토링 능력</a:t>
              </a:r>
              <a:endParaRPr lang="en-US" sz="12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379415" y="3371393"/>
              <a:ext cx="5658307" cy="514807"/>
            </a:xfrm>
            <a:prstGeom prst="roundRect">
              <a:avLst>
                <a:gd name="adj" fmla="val 52628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79415" y="3371393"/>
              <a:ext cx="57607" cy="514807"/>
            </a:xfrm>
            <a:prstGeom prst="roundRect">
              <a:avLst>
                <a:gd name="adj" fmla="val 47031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6532474" y="3491180"/>
              <a:ext cx="40297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Constitutional AI 기반의 높은 안전성과 신뢰도</a:t>
              </a:r>
              <a:endParaRPr lang="en-US" sz="12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379415" y="4898441"/>
              <a:ext cx="5658307" cy="514807"/>
            </a:xfrm>
            <a:prstGeom prst="roundRect">
              <a:avLst>
                <a:gd name="adj" fmla="val 52628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6" name="Shape 14"/>
            <p:cNvSpPr/>
            <p:nvPr/>
          </p:nvSpPr>
          <p:spPr>
            <a:xfrm>
              <a:off x="5379415" y="4898441"/>
              <a:ext cx="57607" cy="514807"/>
            </a:xfrm>
            <a:prstGeom prst="roundRect">
              <a:avLst>
                <a:gd name="adj" fmla="val 470313"/>
              </a:avLst>
            </a:prstGeom>
            <a:solidFill>
              <a:srgbClr val="666666"/>
            </a:solidFill>
            <a:ln w="12700">
              <a:solidFill>
                <a:srgbClr val="6666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532474" y="5018228"/>
              <a:ext cx="38578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실시간 웹 검색 기능의 제한 (Code 도구 기준)</a:t>
              </a:r>
              <a:endParaRPr lang="en-US" sz="12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379415" y="5733288"/>
              <a:ext cx="5658307" cy="514807"/>
            </a:xfrm>
            <a:prstGeom prst="roundRect">
              <a:avLst>
                <a:gd name="adj" fmla="val 52628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79415" y="5733288"/>
              <a:ext cx="57607" cy="514807"/>
            </a:xfrm>
            <a:prstGeom prst="roundRect">
              <a:avLst>
                <a:gd name="adj" fmla="val 470313"/>
              </a:avLst>
            </a:prstGeom>
            <a:solidFill>
              <a:srgbClr val="666666"/>
            </a:solidFill>
            <a:ln w="12700">
              <a:solidFill>
                <a:srgbClr val="6666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6532474" y="5853075"/>
              <a:ext cx="41056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때로는 과도하게 엄격한 안전 필터 작동</a:t>
              </a:r>
              <a:endParaRPr lang="en-US" sz="120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5379415" y="1123798"/>
              <a:ext cx="2138122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kern="0" spc="75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STRENGTHS (장점)</a:t>
              </a:r>
              <a:endParaRPr lang="en-US" sz="1400" dirty="0"/>
            </a:p>
          </p:txBody>
        </p:sp>
        <p:pic>
          <p:nvPicPr>
            <p:cNvPr id="23" name="Image 0" descr="preencoded.png"/>
            <p:cNvPicPr>
              <a:picLocks noChangeAspect="1"/>
            </p:cNvPicPr>
            <p:nvPr/>
          </p:nvPicPr>
          <p:blipFill>
            <a:blip r:embed="rId3"/>
            <a:srcRect l="-1648" r="-1648"/>
            <a:stretch/>
          </p:blipFill>
          <p:spPr>
            <a:xfrm>
              <a:off x="5922569" y="1858975"/>
              <a:ext cx="171907" cy="190195"/>
            </a:xfrm>
            <a:prstGeom prst="rect">
              <a:avLst/>
            </a:prstGeom>
          </p:spPr>
        </p:pic>
        <p:sp>
          <p:nvSpPr>
            <p:cNvPr id="24" name="Text 21"/>
            <p:cNvSpPr txBox="1"/>
            <p:nvPr/>
          </p:nvSpPr>
          <p:spPr>
            <a:xfrm>
              <a:off x="10350094" y="1858975"/>
              <a:ext cx="580644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Context</a:t>
              </a:r>
              <a:endParaRPr lang="en-US" sz="1050" dirty="0"/>
            </a:p>
          </p:txBody>
        </p:sp>
        <p:pic>
          <p:nvPicPr>
            <p:cNvPr id="25" name="Image 1" descr="preencoded.png"/>
            <p:cNvPicPr>
              <a:picLocks noChangeAspect="1"/>
            </p:cNvPicPr>
            <p:nvPr/>
          </p:nvPicPr>
          <p:blipFill>
            <a:blip r:embed="rId3"/>
            <a:srcRect l="-1648" r="-1648"/>
            <a:stretch/>
          </p:blipFill>
          <p:spPr>
            <a:xfrm>
              <a:off x="5922569" y="2693822"/>
              <a:ext cx="171907" cy="190195"/>
            </a:xfrm>
            <a:prstGeom prst="rect">
              <a:avLst/>
            </a:prstGeom>
          </p:spPr>
        </p:pic>
        <p:sp>
          <p:nvSpPr>
            <p:cNvPr id="26" name="Text 22"/>
            <p:cNvSpPr txBox="1"/>
            <p:nvPr/>
          </p:nvSpPr>
          <p:spPr>
            <a:xfrm>
              <a:off x="10504627" y="2693822"/>
              <a:ext cx="41971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Logic</a:t>
              </a:r>
              <a:endParaRPr lang="en-US" sz="1050" dirty="0"/>
            </a:p>
          </p:txBody>
        </p:sp>
        <p:pic>
          <p:nvPicPr>
            <p:cNvPr id="27" name="Image 2" descr="preencoded.png"/>
            <p:cNvPicPr>
              <a:picLocks noChangeAspect="1"/>
            </p:cNvPicPr>
            <p:nvPr/>
          </p:nvPicPr>
          <p:blipFill>
            <a:blip r:embed="rId3"/>
            <a:srcRect l="-1648" r="-1648"/>
            <a:stretch/>
          </p:blipFill>
          <p:spPr>
            <a:xfrm>
              <a:off x="5922569" y="3528670"/>
              <a:ext cx="171907" cy="190195"/>
            </a:xfrm>
            <a:prstGeom prst="rect">
              <a:avLst/>
            </a:prstGeom>
          </p:spPr>
        </p:pic>
        <p:sp>
          <p:nvSpPr>
            <p:cNvPr id="28" name="Text 23"/>
            <p:cNvSpPr txBox="1"/>
            <p:nvPr/>
          </p:nvSpPr>
          <p:spPr>
            <a:xfrm>
              <a:off x="10442448" y="3528670"/>
              <a:ext cx="48829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Safety</a:t>
              </a:r>
              <a:endParaRPr lang="en-US" sz="1050" dirty="0"/>
            </a:p>
          </p:txBody>
        </p:sp>
        <p:sp>
          <p:nvSpPr>
            <p:cNvPr id="29" name="Text 24"/>
            <p:cNvSpPr txBox="1"/>
            <p:nvPr/>
          </p:nvSpPr>
          <p:spPr>
            <a:xfrm>
              <a:off x="5379415" y="4320540"/>
              <a:ext cx="241475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kern="0" spc="75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LIMITATIONS (한계)</a:t>
              </a:r>
              <a:endParaRPr lang="en-US" sz="1400" dirty="0"/>
            </a:p>
          </p:txBody>
        </p:sp>
        <p:pic>
          <p:nvPicPr>
            <p:cNvPr id="30" name="Image 3" descr="preencoded.png"/>
            <p:cNvPicPr>
              <a:picLocks noChangeAspect="1"/>
            </p:cNvPicPr>
            <p:nvPr/>
          </p:nvPicPr>
          <p:blipFill>
            <a:blip r:embed="rId4"/>
            <a:srcRect l="-9615" r="-9615"/>
            <a:stretch/>
          </p:blipFill>
          <p:spPr>
            <a:xfrm>
              <a:off x="5993892" y="5055718"/>
              <a:ext cx="28346" cy="190195"/>
            </a:xfrm>
            <a:prstGeom prst="rect">
              <a:avLst/>
            </a:prstGeom>
          </p:spPr>
        </p:pic>
        <p:sp>
          <p:nvSpPr>
            <p:cNvPr id="31" name="Text 25"/>
            <p:cNvSpPr txBox="1"/>
            <p:nvPr/>
          </p:nvSpPr>
          <p:spPr>
            <a:xfrm>
              <a:off x="10190988" y="5055718"/>
              <a:ext cx="74706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No Search</a:t>
              </a:r>
              <a:endParaRPr lang="en-US" sz="1050" dirty="0"/>
            </a:p>
          </p:txBody>
        </p:sp>
        <p:pic>
          <p:nvPicPr>
            <p:cNvPr id="32" name="Image 4" descr="preencoded.png"/>
            <p:cNvPicPr>
              <a:picLocks noChangeAspect="1"/>
            </p:cNvPicPr>
            <p:nvPr/>
          </p:nvPicPr>
          <p:blipFill>
            <a:blip r:embed="rId4"/>
            <a:srcRect l="-9615" r="-9615"/>
            <a:stretch/>
          </p:blipFill>
          <p:spPr>
            <a:xfrm>
              <a:off x="5993892" y="5890565"/>
              <a:ext cx="28346" cy="190195"/>
            </a:xfrm>
            <a:prstGeom prst="rect">
              <a:avLst/>
            </a:prstGeom>
          </p:spPr>
        </p:pic>
        <p:sp>
          <p:nvSpPr>
            <p:cNvPr id="33" name="Text 26"/>
            <p:cNvSpPr txBox="1"/>
            <p:nvPr/>
          </p:nvSpPr>
          <p:spPr>
            <a:xfrm>
              <a:off x="10447020" y="5890565"/>
              <a:ext cx="476402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Filters</a:t>
              </a:r>
              <a:endParaRPr lang="en-US" sz="1050" dirty="0"/>
            </a:p>
          </p:txBody>
        </p:sp>
      </p:grp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5"/>
          <a:srcRect l="6332" t="16100" r="7475"/>
          <a:stretch>
            <a:fillRect/>
          </a:stretch>
        </p:blipFill>
        <p:spPr>
          <a:xfrm>
            <a:off x="753271" y="3366429"/>
            <a:ext cx="4036357" cy="2617710"/>
          </a:xfrm>
          <a:prstGeom prst="rect">
            <a:avLst/>
          </a:prstGeom>
        </p:spPr>
      </p:pic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3" r="-3"/>
          <a:stretch/>
        </p:blipFill>
        <p:spPr>
          <a:xfrm>
            <a:off x="7440386" y="1304849"/>
            <a:ext cx="3886810" cy="2010308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t="11228" b="11228"/>
          <a:stretch/>
        </p:blipFill>
        <p:spPr>
          <a:xfrm>
            <a:off x="6836229" y="1134379"/>
            <a:ext cx="4490967" cy="232278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725912" y="629107"/>
            <a:ext cx="9336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CASES</a:t>
            </a:r>
            <a:endParaRPr lang="en-US" sz="1000" dirty="0"/>
          </a:p>
        </p:txBody>
      </p:sp>
      <p:sp>
        <p:nvSpPr>
          <p:cNvPr id="9" name="Shape 3"/>
          <p:cNvSpPr/>
          <p:nvPr/>
        </p:nvSpPr>
        <p:spPr>
          <a:xfrm>
            <a:off x="989989" y="819825"/>
            <a:ext cx="2657246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4"/>
          <p:cNvSpPr txBox="1"/>
          <p:nvPr/>
        </p:nvSpPr>
        <p:spPr>
          <a:xfrm>
            <a:off x="1193900" y="943269"/>
            <a:ext cx="224942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REAL-WORLD EXAMPLES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864804" y="1391325"/>
            <a:ext cx="5353812" cy="1448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CLAUDE</a:t>
            </a:r>
            <a:endParaRPr lang="en-US" sz="6000" dirty="0"/>
          </a:p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SCENARIOS </a:t>
            </a:r>
            <a:endParaRPr lang="en-US" sz="6000" dirty="0"/>
          </a:p>
        </p:txBody>
      </p:sp>
      <p:sp>
        <p:nvSpPr>
          <p:cNvPr id="12" name="Text 6"/>
          <p:cNvSpPr txBox="1"/>
          <p:nvPr/>
        </p:nvSpPr>
        <p:spPr>
          <a:xfrm>
            <a:off x="1039586" y="3962095"/>
            <a:ext cx="1061901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Claude는 단순한 코드 완성을 넘어, 복잡한 로직 설계부터 기존 코드 개선까지 개발 전 과정에서 강력한 파트너가 됩니다.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989989" y="4609948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1066799" y="4694987"/>
            <a:ext cx="152705" cy="13350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409699" y="4640123"/>
            <a:ext cx="45802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컴포넌트 설계: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요구사항을 바탕으로 모듈화된 구조 제안</a:t>
            </a:r>
            <a:endParaRPr lang="en-US" sz="1400" dirty="0"/>
          </a:p>
        </p:txBody>
      </p:sp>
      <p:sp>
        <p:nvSpPr>
          <p:cNvPr id="16" name="Shape 9"/>
          <p:cNvSpPr/>
          <p:nvPr/>
        </p:nvSpPr>
        <p:spPr>
          <a:xfrm>
            <a:off x="989989" y="5067148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5943" y="5152187"/>
            <a:ext cx="133502" cy="13350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409699" y="5097323"/>
            <a:ext cx="408645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레거시 코드 리팩토링: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가독성 향상 및 최신 문법 적용</a:t>
            </a:r>
            <a:endParaRPr lang="en-US" sz="1400" dirty="0"/>
          </a:p>
        </p:txBody>
      </p:sp>
      <p:sp>
        <p:nvSpPr>
          <p:cNvPr id="19" name="Shape 11"/>
          <p:cNvSpPr/>
          <p:nvPr/>
        </p:nvSpPr>
        <p:spPr>
          <a:xfrm>
            <a:off x="989989" y="5524348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5943" y="5609387"/>
            <a:ext cx="133502" cy="13350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409699" y="5554523"/>
            <a:ext cx="485455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지능형 디버깅: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에러 로그 분석을 통한 원인 파악 및 해결책 제시</a:t>
            </a:r>
            <a:endParaRPr lang="en-US" sz="1400" dirty="0"/>
          </a:p>
        </p:txBody>
      </p:sp>
      <p:sp>
        <p:nvSpPr>
          <p:cNvPr id="22" name="Shape 13"/>
          <p:cNvSpPr/>
          <p:nvPr/>
        </p:nvSpPr>
        <p:spPr>
          <a:xfrm>
            <a:off x="989989" y="5981548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8"/>
          <a:srcRect l="-2512" r="-2512"/>
          <a:stretch/>
        </p:blipFill>
        <p:spPr>
          <a:xfrm>
            <a:off x="1090573" y="6066587"/>
            <a:ext cx="105156" cy="13350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409699" y="6011723"/>
            <a:ext cx="472653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자동화: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복잡한 로직에 대한 명확한 주석 및 README 작성</a:t>
            </a:r>
            <a:endParaRPr lang="en-US" sz="1400" dirty="0"/>
          </a:p>
        </p:txBody>
      </p:sp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7266737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Patterns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495958"/>
            <a:ext cx="60579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효과적인 프롬프트 작성을 위한 3가지 핵심 전략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905" y="2053742"/>
            <a:ext cx="3454603" cy="419526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9905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923544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881" r="-881"/>
          <a:stretch/>
        </p:blipFill>
        <p:spPr>
          <a:xfrm>
            <a:off x="1110082" y="2539289"/>
            <a:ext cx="237744" cy="2670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544" y="3205886"/>
            <a:ext cx="294253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부여 (Persona)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663086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구체적인 전문가 페르소나를 부여하여 답변의 품질, 깊이, 톤앤매너를 설정합니다.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923544" y="4800600"/>
            <a:ext cx="2829154" cy="1133856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23544" y="4800600"/>
            <a:ext cx="28346" cy="1133856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104595" y="4953305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04595" y="5181905"/>
            <a:ext cx="2487169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당신은 10년차 시니어 프론트엔드 개발자입니다.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클린 코드 원칙과 최신 웹 표준을 준수하여 답변해주세요." </a:t>
            </a:r>
            <a:endParaRPr lang="en-US" sz="12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369003" y="2053742"/>
            <a:ext cx="3454603" cy="4195267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69003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682642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54550" y="2539289"/>
            <a:ext cx="267005" cy="2670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682642" y="3205886"/>
            <a:ext cx="33668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명확한 제약 (Constraints)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682642" y="3663086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사용할 기술 스택, 라이브러리 제한, 코드 스타일 등 기술적 제약 조건을 명확히 나열합니다.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682641" y="4800600"/>
            <a:ext cx="2905963" cy="1133856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682642" y="4800600"/>
            <a:ext cx="28346" cy="1133856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4863694" y="4953305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863694" y="5181905"/>
            <a:ext cx="2724911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"외부 라이브러리 없이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 CSS와 Vanilla JS만 사용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하세요. 모바일 우선(Mobile-first) 반응형으로 작성해주세요." </a:t>
            </a:r>
            <a:endParaRPr lang="en-US" sz="12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102" y="2053742"/>
            <a:ext cx="3454603" cy="4195267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8128102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8442655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47481" y="2539289"/>
            <a:ext cx="200254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42655" y="3205886"/>
            <a:ext cx="294253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형식 (Format)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42655" y="3663086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원하는 결과물의 형태를 구체적으로 지시하여 불필요한 서론이나 설명을 줄이고 핵심만 얻습니다.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8442655" y="4800600"/>
            <a:ext cx="2942538" cy="1133856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8442655" y="4800600"/>
            <a:ext cx="28346" cy="1133856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7"/>
          <p:cNvSpPr txBox="1"/>
          <p:nvPr/>
        </p:nvSpPr>
        <p:spPr>
          <a:xfrm>
            <a:off x="8623706" y="4953305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8623706" y="5181905"/>
            <a:ext cx="2724912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"설명은 생략하고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HTML/CSS 코드 블록만 출력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해주세요.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주요 섹션에는 주석을 달아주세요." </a:t>
            </a:r>
            <a:endParaRPr lang="en-US" sz="1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17812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DEMO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589788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설명형 코드 생성 예시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390595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7649" y="2617013"/>
            <a:ext cx="3230575" cy="186263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8867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"프론트엔드 멘토로서, 시맨틱 태그를 사용한 간단한 포트폴리오의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57046" y="3447473"/>
            <a:ext cx="2563063" cy="202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'About Me' 섹션 HTML 코드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987378" y="3434443"/>
            <a:ext cx="978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작성해줘.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3771558"/>
            <a:ext cx="2867558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접근성(ARIA) 속성을 반드시 포함하고,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주요 태그에 대한 주석 설명을 덧붙여줘."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09905" y="5298034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609905" y="5298034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476342"/>
            <a:ext cx="105156" cy="1335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81151" y="5469026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38505" y="5679338"/>
            <a:ext cx="336316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원하는 폴더 구조(예: components/)나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가이드(예: Tailwind Class)를 함께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제공하면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정확한 결과를 얻을 수 있습니다.</a:t>
            </a:r>
            <a:endParaRPr lang="en-US" sz="12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945075" y="1684325"/>
            <a:ext cx="2449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(INDEX.HTML)</a:t>
            </a:r>
            <a:endParaRPr lang="en-US" sz="10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0"/>
          <p:cNvSpPr txBox="1"/>
          <p:nvPr/>
        </p:nvSpPr>
        <p:spPr>
          <a:xfrm>
            <a:off x="5535778" y="2141525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4925873" y="2679192"/>
            <a:ext cx="2131466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About Me Section --&gt;</a:t>
            </a:r>
            <a:endParaRPr lang="en-US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4925873" y="2907792"/>
            <a:ext cx="538490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접근성을 위해 aria-labelledby 속성으로 제목과 섹션을 연결합니다 --&gt;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4925873" y="3136392"/>
            <a:ext cx="68671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&lt;section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5498287" y="3136392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id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5640934" y="31363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712257" y="3136392"/>
            <a:ext cx="6007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"about"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6212434" y="3136392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6569964" y="31363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6641287" y="3136392"/>
            <a:ext cx="128107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"about-section"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7712964" y="3136392"/>
            <a:ext cx="128107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aria-labelledby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8784641" y="31363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40" name="Text 32"/>
          <p:cNvSpPr txBox="1"/>
          <p:nvPr/>
        </p:nvSpPr>
        <p:spPr>
          <a:xfrm>
            <a:off x="8856878" y="3136392"/>
            <a:ext cx="1110996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"about-title"</a:t>
            </a:r>
            <a:endParaRPr lang="en-US" sz="1100" dirty="0"/>
          </a:p>
        </p:txBody>
      </p:sp>
      <p:sp>
        <p:nvSpPr>
          <p:cNvPr id="41" name="Text 33"/>
          <p:cNvSpPr txBox="1"/>
          <p:nvPr/>
        </p:nvSpPr>
        <p:spPr>
          <a:xfrm>
            <a:off x="9784994" y="31363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100" dirty="0"/>
          </a:p>
        </p:txBody>
      </p:sp>
      <p:sp>
        <p:nvSpPr>
          <p:cNvPr id="42" name="Text 34"/>
          <p:cNvSpPr txBox="1"/>
          <p:nvPr/>
        </p:nvSpPr>
        <p:spPr>
          <a:xfrm>
            <a:off x="5078578" y="3364992"/>
            <a:ext cx="2722169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컨테이너: 중앙 정렬 및 패딩 --&gt;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5078578" y="3593592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5364785" y="3593592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5721401" y="35935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46" name="Text 38"/>
          <p:cNvSpPr txBox="1"/>
          <p:nvPr/>
        </p:nvSpPr>
        <p:spPr>
          <a:xfrm>
            <a:off x="5793638" y="3593592"/>
            <a:ext cx="94091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"container"</a:t>
            </a:r>
            <a:endParaRPr lang="en-US" sz="1100" dirty="0"/>
          </a:p>
        </p:txBody>
      </p:sp>
      <p:sp>
        <p:nvSpPr>
          <p:cNvPr id="47" name="Text 39"/>
          <p:cNvSpPr txBox="1"/>
          <p:nvPr/>
        </p:nvSpPr>
        <p:spPr>
          <a:xfrm>
            <a:off x="6579108" y="35935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100" dirty="0"/>
          </a:p>
        </p:txBody>
      </p:sp>
      <p:sp>
        <p:nvSpPr>
          <p:cNvPr id="48" name="Text 40"/>
          <p:cNvSpPr txBox="1"/>
          <p:nvPr/>
        </p:nvSpPr>
        <p:spPr>
          <a:xfrm>
            <a:off x="5231282" y="3822192"/>
            <a:ext cx="2953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&lt;h2</a:t>
            </a:r>
            <a:endParaRPr lang="en-US" sz="1100" dirty="0"/>
          </a:p>
        </p:txBody>
      </p:sp>
      <p:sp>
        <p:nvSpPr>
          <p:cNvPr id="49" name="Text 41"/>
          <p:cNvSpPr txBox="1"/>
          <p:nvPr/>
        </p:nvSpPr>
        <p:spPr>
          <a:xfrm>
            <a:off x="5445252" y="3822192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id</a:t>
            </a:r>
            <a:endParaRPr lang="en-US" sz="1100" dirty="0"/>
          </a:p>
        </p:txBody>
      </p:sp>
      <p:sp>
        <p:nvSpPr>
          <p:cNvPr id="50" name="Text 42"/>
          <p:cNvSpPr txBox="1"/>
          <p:nvPr/>
        </p:nvSpPr>
        <p:spPr>
          <a:xfrm>
            <a:off x="5588813" y="38221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51" name="Text 43"/>
          <p:cNvSpPr txBox="1"/>
          <p:nvPr/>
        </p:nvSpPr>
        <p:spPr>
          <a:xfrm>
            <a:off x="5660136" y="3822192"/>
            <a:ext cx="1110996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"about-title"</a:t>
            </a:r>
            <a:endParaRPr lang="en-US" sz="1100" dirty="0"/>
          </a:p>
        </p:txBody>
      </p:sp>
      <p:sp>
        <p:nvSpPr>
          <p:cNvPr id="52" name="Text 44"/>
          <p:cNvSpPr txBox="1"/>
          <p:nvPr/>
        </p:nvSpPr>
        <p:spPr>
          <a:xfrm>
            <a:off x="6589166" y="3822192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100" dirty="0"/>
          </a:p>
        </p:txBody>
      </p:sp>
      <p:sp>
        <p:nvSpPr>
          <p:cNvPr id="53" name="Text 45"/>
          <p:cNvSpPr txBox="1"/>
          <p:nvPr/>
        </p:nvSpPr>
        <p:spPr>
          <a:xfrm>
            <a:off x="6946697" y="38221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54" name="Text 46"/>
          <p:cNvSpPr txBox="1"/>
          <p:nvPr/>
        </p:nvSpPr>
        <p:spPr>
          <a:xfrm>
            <a:off x="7018020" y="3822192"/>
            <a:ext cx="128107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"section-title"</a:t>
            </a:r>
            <a:endParaRPr lang="en-US" sz="1100" dirty="0"/>
          </a:p>
        </p:txBody>
      </p:sp>
      <p:sp>
        <p:nvSpPr>
          <p:cNvPr id="55" name="Text 47"/>
          <p:cNvSpPr txBox="1"/>
          <p:nvPr/>
        </p:nvSpPr>
        <p:spPr>
          <a:xfrm>
            <a:off x="8089697" y="38221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100" dirty="0"/>
          </a:p>
        </p:txBody>
      </p:sp>
      <p:sp>
        <p:nvSpPr>
          <p:cNvPr id="56" name="Text 48"/>
          <p:cNvSpPr txBox="1"/>
          <p:nvPr/>
        </p:nvSpPr>
        <p:spPr>
          <a:xfrm>
            <a:off x="8161020" y="3822192"/>
            <a:ext cx="68671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About Me</a:t>
            </a:r>
            <a:endParaRPr lang="en-US" sz="1100" dirty="0"/>
          </a:p>
        </p:txBody>
      </p:sp>
      <p:sp>
        <p:nvSpPr>
          <p:cNvPr id="57" name="Text 49"/>
          <p:cNvSpPr txBox="1"/>
          <p:nvPr/>
        </p:nvSpPr>
        <p:spPr>
          <a:xfrm>
            <a:off x="8732520" y="3822192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&lt;/h2&gt;</a:t>
            </a:r>
            <a:endParaRPr lang="en-US" sz="1100" dirty="0"/>
          </a:p>
        </p:txBody>
      </p:sp>
      <p:sp>
        <p:nvSpPr>
          <p:cNvPr id="58" name="Text 50"/>
          <p:cNvSpPr txBox="1"/>
          <p:nvPr/>
        </p:nvSpPr>
        <p:spPr>
          <a:xfrm>
            <a:off x="5231282" y="4279392"/>
            <a:ext cx="47722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프로필 이미지: 장식용 이미지가 아니므로 alt 텍스트 필수 --&gt;</a:t>
            </a:r>
            <a:endParaRPr lang="en-US" sz="1100" dirty="0"/>
          </a:p>
        </p:txBody>
      </p:sp>
      <p:sp>
        <p:nvSpPr>
          <p:cNvPr id="59" name="Text 51"/>
          <p:cNvSpPr txBox="1"/>
          <p:nvPr/>
        </p:nvSpPr>
        <p:spPr>
          <a:xfrm>
            <a:off x="5231282" y="4507992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&lt;img</a:t>
            </a:r>
            <a:endParaRPr lang="en-US" sz="1100" dirty="0"/>
          </a:p>
        </p:txBody>
      </p:sp>
      <p:sp>
        <p:nvSpPr>
          <p:cNvPr id="60" name="Text 52"/>
          <p:cNvSpPr txBox="1"/>
          <p:nvPr/>
        </p:nvSpPr>
        <p:spPr>
          <a:xfrm>
            <a:off x="5516575" y="4507992"/>
            <a:ext cx="2953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</a:t>
            </a:r>
            <a:endParaRPr lang="en-US" sz="1100" dirty="0"/>
          </a:p>
        </p:txBody>
      </p:sp>
      <p:sp>
        <p:nvSpPr>
          <p:cNvPr id="61" name="Text 53"/>
          <p:cNvSpPr txBox="1"/>
          <p:nvPr/>
        </p:nvSpPr>
        <p:spPr>
          <a:xfrm>
            <a:off x="5731459" y="45079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62" name="Text 54"/>
          <p:cNvSpPr txBox="1"/>
          <p:nvPr/>
        </p:nvSpPr>
        <p:spPr>
          <a:xfrm>
            <a:off x="5802782" y="4507992"/>
            <a:ext cx="188183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"./assets/profile.jpg"</a:t>
            </a:r>
            <a:endParaRPr lang="en-US" sz="1100" dirty="0"/>
          </a:p>
        </p:txBody>
      </p:sp>
      <p:sp>
        <p:nvSpPr>
          <p:cNvPr id="63" name="Text 55"/>
          <p:cNvSpPr txBox="1"/>
          <p:nvPr/>
        </p:nvSpPr>
        <p:spPr>
          <a:xfrm>
            <a:off x="7374636" y="4507992"/>
            <a:ext cx="2953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alt</a:t>
            </a:r>
            <a:endParaRPr lang="en-US" sz="1100" dirty="0"/>
          </a:p>
        </p:txBody>
      </p:sp>
      <p:sp>
        <p:nvSpPr>
          <p:cNvPr id="64" name="Text 56"/>
          <p:cNvSpPr txBox="1"/>
          <p:nvPr/>
        </p:nvSpPr>
        <p:spPr>
          <a:xfrm>
            <a:off x="7589520" y="45079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65" name="Text 57"/>
          <p:cNvSpPr txBox="1"/>
          <p:nvPr/>
        </p:nvSpPr>
        <p:spPr>
          <a:xfrm>
            <a:off x="7660843" y="4507992"/>
            <a:ext cx="230154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"Portrait of Developer Kim"</a:t>
            </a:r>
            <a:endParaRPr lang="en-US" sz="1100" dirty="0"/>
          </a:p>
        </p:txBody>
      </p:sp>
      <p:sp>
        <p:nvSpPr>
          <p:cNvPr id="66" name="Text 58"/>
          <p:cNvSpPr txBox="1"/>
          <p:nvPr/>
        </p:nvSpPr>
        <p:spPr>
          <a:xfrm>
            <a:off x="9589313" y="4507992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100" dirty="0"/>
          </a:p>
        </p:txBody>
      </p:sp>
      <p:sp>
        <p:nvSpPr>
          <p:cNvPr id="67" name="Text 59"/>
          <p:cNvSpPr txBox="1"/>
          <p:nvPr/>
        </p:nvSpPr>
        <p:spPr>
          <a:xfrm>
            <a:off x="9946843" y="45079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68" name="Text 60"/>
          <p:cNvSpPr txBox="1"/>
          <p:nvPr/>
        </p:nvSpPr>
        <p:spPr>
          <a:xfrm>
            <a:off x="10019081" y="4507992"/>
            <a:ext cx="1110996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"profile-img"</a:t>
            </a:r>
            <a:endParaRPr lang="en-US" sz="1100" dirty="0"/>
          </a:p>
        </p:txBody>
      </p:sp>
      <p:sp>
        <p:nvSpPr>
          <p:cNvPr id="69" name="Text 61"/>
          <p:cNvSpPr txBox="1"/>
          <p:nvPr/>
        </p:nvSpPr>
        <p:spPr>
          <a:xfrm>
            <a:off x="10947197" y="4507992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1100" dirty="0"/>
          </a:p>
        </p:txBody>
      </p:sp>
      <p:sp>
        <p:nvSpPr>
          <p:cNvPr id="70" name="Text 62"/>
          <p:cNvSpPr txBox="1"/>
          <p:nvPr/>
        </p:nvSpPr>
        <p:spPr>
          <a:xfrm>
            <a:off x="5231282" y="4965192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1100" dirty="0"/>
          </a:p>
        </p:txBody>
      </p:sp>
      <p:sp>
        <p:nvSpPr>
          <p:cNvPr id="71" name="Text 63"/>
          <p:cNvSpPr txBox="1"/>
          <p:nvPr/>
        </p:nvSpPr>
        <p:spPr>
          <a:xfrm>
            <a:off x="5516575" y="4965192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100" dirty="0"/>
          </a:p>
        </p:txBody>
      </p:sp>
      <p:sp>
        <p:nvSpPr>
          <p:cNvPr id="72" name="Text 64"/>
          <p:cNvSpPr txBox="1"/>
          <p:nvPr/>
        </p:nvSpPr>
        <p:spPr>
          <a:xfrm>
            <a:off x="5874106" y="49651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73" name="Text 65"/>
          <p:cNvSpPr txBox="1"/>
          <p:nvPr/>
        </p:nvSpPr>
        <p:spPr>
          <a:xfrm>
            <a:off x="5945429" y="4965192"/>
            <a:ext cx="8577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"bio-text"</a:t>
            </a:r>
            <a:endParaRPr lang="en-US" sz="1100" dirty="0"/>
          </a:p>
        </p:txBody>
      </p:sp>
      <p:sp>
        <p:nvSpPr>
          <p:cNvPr id="74" name="Text 66"/>
          <p:cNvSpPr txBox="1"/>
          <p:nvPr/>
        </p:nvSpPr>
        <p:spPr>
          <a:xfrm>
            <a:off x="6660490" y="49651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100" dirty="0"/>
          </a:p>
        </p:txBody>
      </p:sp>
      <p:sp>
        <p:nvSpPr>
          <p:cNvPr id="75" name="Text 67"/>
          <p:cNvSpPr txBox="1"/>
          <p:nvPr/>
        </p:nvSpPr>
        <p:spPr>
          <a:xfrm>
            <a:off x="5383073" y="5193792"/>
            <a:ext cx="2953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&lt;p&gt;</a:t>
            </a:r>
            <a:endParaRPr lang="en-US" sz="1100" dirty="0"/>
          </a:p>
        </p:txBody>
      </p:sp>
      <p:sp>
        <p:nvSpPr>
          <p:cNvPr id="76" name="Text 68"/>
          <p:cNvSpPr txBox="1"/>
          <p:nvPr/>
        </p:nvSpPr>
        <p:spPr>
          <a:xfrm>
            <a:off x="5597957" y="5193792"/>
            <a:ext cx="28392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안녕하세요, 사용자 경험을 중시하는...</a:t>
            </a:r>
            <a:endParaRPr lang="en-US" sz="1100" dirty="0"/>
          </a:p>
        </p:txBody>
      </p:sp>
      <p:sp>
        <p:nvSpPr>
          <p:cNvPr id="77" name="Text 69"/>
          <p:cNvSpPr txBox="1"/>
          <p:nvPr/>
        </p:nvSpPr>
        <p:spPr>
          <a:xfrm>
            <a:off x="8241487" y="5193792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&lt;/p&gt;</a:t>
            </a:r>
            <a:endParaRPr lang="en-US" sz="1100" dirty="0"/>
          </a:p>
        </p:txBody>
      </p:sp>
      <p:sp>
        <p:nvSpPr>
          <p:cNvPr id="78" name="Text 70"/>
          <p:cNvSpPr txBox="1"/>
          <p:nvPr/>
        </p:nvSpPr>
        <p:spPr>
          <a:xfrm>
            <a:off x="5231282" y="5422392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1100" dirty="0"/>
          </a:p>
        </p:txBody>
      </p:sp>
      <p:sp>
        <p:nvSpPr>
          <p:cNvPr id="79" name="Text 71"/>
          <p:cNvSpPr txBox="1"/>
          <p:nvPr/>
        </p:nvSpPr>
        <p:spPr>
          <a:xfrm>
            <a:off x="5078578" y="5650992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1100" dirty="0"/>
          </a:p>
        </p:txBody>
      </p:sp>
      <p:sp>
        <p:nvSpPr>
          <p:cNvPr id="80" name="Text 72"/>
          <p:cNvSpPr txBox="1"/>
          <p:nvPr/>
        </p:nvSpPr>
        <p:spPr>
          <a:xfrm>
            <a:off x="4925873" y="5879592"/>
            <a:ext cx="8577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&lt;/section&gt;</a:t>
            </a:r>
            <a:endParaRPr lang="en-US" sz="1100" dirty="0"/>
          </a:p>
        </p:txBody>
      </p:sp>
      <p:sp>
        <p:nvSpPr>
          <p:cNvPr id="8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0085" y="409651"/>
            <a:ext cx="360639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PRACTICES 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09905" y="2838298"/>
            <a:ext cx="38405" cy="571500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70509" y="2816831"/>
            <a:ext cx="3314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성공적인 AI 바이브코딩을 위한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5가지 핵심 실천 가이드입니다.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523" b="523"/>
          <a:stretch/>
        </p:blipFill>
        <p:spPr>
          <a:xfrm>
            <a:off x="609905" y="3791102"/>
            <a:ext cx="3467405" cy="2286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450385" y="514807"/>
            <a:ext cx="3457346" cy="205740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4688129" y="724205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-842" b="-842"/>
          <a:stretch/>
        </p:blipFill>
        <p:spPr>
          <a:xfrm>
            <a:off x="4688129" y="1380744"/>
            <a:ext cx="190195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938197" y="1324051"/>
            <a:ext cx="187909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컨텍스트 강화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607204" y="1689810"/>
            <a:ext cx="3219603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원하는 결과를 얻기 위해 파일 구조, 스타일 가이드, 예시 코드 등 풍부한 맥락 정보를 함께 제공하세요.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29930" y="514807"/>
            <a:ext cx="3457346" cy="205740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8368589" y="724205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68589" y="1380744"/>
            <a:ext cx="171907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99455" y="1324051"/>
            <a:ext cx="259598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단위 반복 (Iteration)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368588" y="1686154"/>
            <a:ext cx="312672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번에 완벽한 코드를 기대하기보다, 작은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단위로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생성하고 검증하며 점진적으로 완성하세요.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450385" y="2795321"/>
            <a:ext cx="3457346" cy="205740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/>
          <p:cNvSpPr txBox="1"/>
          <p:nvPr/>
        </p:nvSpPr>
        <p:spPr>
          <a:xfrm>
            <a:off x="4688129" y="3004718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6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688129" y="3662172"/>
            <a:ext cx="171907" cy="17190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18995" y="3605479"/>
            <a:ext cx="241493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우선 (Test First)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4688129" y="3927805"/>
            <a:ext cx="2604659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구현을 요청하기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전에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케이스나 명확한 검증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기준을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제시하여 품질을 확보하세요.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8129930" y="2795321"/>
            <a:ext cx="3457346" cy="205740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8368589" y="3004718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36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368589" y="3662172"/>
            <a:ext cx="171907" cy="17190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599455" y="3605479"/>
            <a:ext cx="200162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및 저작권 주의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368589" y="3967582"/>
            <a:ext cx="305775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API 키나 민감한 개인정보를 입력하지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않도록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주의하고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생성된 코드의 라이선스를 확인하세요.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4450385" y="5076749"/>
            <a:ext cx="7134149" cy="1266444"/>
          </a:xfrm>
          <a:prstGeom prst="roundRect">
            <a:avLst>
              <a:gd name="adj" fmla="val 10857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4688129" y="5367528"/>
            <a:ext cx="8110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48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 l="-1064" r="-1064"/>
          <a:stretch/>
        </p:blipFill>
        <p:spPr>
          <a:xfrm>
            <a:off x="5678424" y="5372100"/>
            <a:ext cx="219456" cy="17190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957753" y="5315407"/>
            <a:ext cx="397032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 인간 검수 (Human in the Loop)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5678424" y="5676595"/>
            <a:ext cx="574426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완벽하지 않습니다. 생성된 코드는 반드시 개발자가 직접 리뷰하고,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오류나 보안 취약점을 검토해야 합니다.</a:t>
            </a:r>
            <a:endParaRPr lang="en-US" sz="12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609905"/>
            <a:ext cx="1133856" cy="286207"/>
          </a:xfrm>
          <a:prstGeom prst="roundRect">
            <a:avLst>
              <a:gd name="adj" fmla="val 319489"/>
            </a:avLst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" name="Text 3"/>
          <p:cNvSpPr txBox="1"/>
          <p:nvPr/>
        </p:nvSpPr>
        <p:spPr>
          <a:xfrm>
            <a:off x="771754" y="676656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123798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</a:t>
            </a:r>
            <a:endParaRPr lang="en-US" sz="82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3354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GEMINI</a:t>
            </a:r>
            <a:endParaRPr lang="en-US" sz="8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696992" y="4228795"/>
            <a:ext cx="4185252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3082" y="4457395"/>
            <a:ext cx="3755876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Google 생태계와 완벽하게 통합된 멀티모달 AI.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코드 제안, 이미지 이해, 최신 정보 검색 연계로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넓은 가능성을 경험하세요. 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057900" y="5212820"/>
            <a:ext cx="5524805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GOOGLE</a:t>
            </a:r>
            <a:endParaRPr lang="en-US" sz="8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 t="26299" b="26299"/>
          <a:stretch/>
        </p:blipFill>
        <p:spPr>
          <a:xfrm>
            <a:off x="6439205" y="1009498"/>
            <a:ext cx="5143500" cy="3047695"/>
          </a:xfrm>
          <a:prstGeom prst="rect">
            <a:avLst/>
          </a:prstGeom>
        </p:spPr>
      </p:pic>
      <p:sp>
        <p:nvSpPr>
          <p:cNvPr id="1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76402" y="32369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641908" y="1291132"/>
            <a:ext cx="4734763" cy="1791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Gemini란?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Google의 멀티모달 AI </a:t>
            </a:r>
            <a:endParaRPr lang="en-US" sz="3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26" b="-26"/>
          <a:stretch/>
        </p:blipFill>
        <p:spPr>
          <a:xfrm>
            <a:off x="609905" y="2771415"/>
            <a:ext cx="4556455" cy="97200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75995" y="3000015"/>
            <a:ext cx="41440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"텍스트, 이미지, 오디오, 비디오를</a:t>
            </a:r>
            <a:endParaRPr lang="en-US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동시에 이해하고 추론하는 차세대 모델" 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09905" y="4047917"/>
            <a:ext cx="4638751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Gemini는 Google이 개발한 최신 AI 모델로,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멀티모달로 설계되었습니다. Google Workspace 및 Cloud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생태계와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강력하게 통합되어 있습니다.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152947"/>
            <a:ext cx="171907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495847"/>
            <a:ext cx="171907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905" y="5838747"/>
            <a:ext cx="171907" cy="17190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95198" y="5124601"/>
            <a:ext cx="28382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멀티모달 이해 및 고도화된 추론 능력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95198" y="5467501"/>
            <a:ext cx="35762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Workspace · Cloud · Vertex AI 연동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895198" y="5810401"/>
            <a:ext cx="34097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코드, 문서, 이미지가 혼합된 복합 과제 해결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10369296" y="629107"/>
            <a:ext cx="12198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INTRODUCTION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8138465" y="1291132"/>
            <a:ext cx="3238805" cy="4381805"/>
          </a:xfrm>
          <a:prstGeom prst="roundRect">
            <a:avLst>
              <a:gd name="adj" fmla="val 1993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l="4094" r="4094"/>
          <a:stretch/>
        </p:blipFill>
        <p:spPr>
          <a:xfrm>
            <a:off x="8175955" y="1329537"/>
            <a:ext cx="3161995" cy="4304995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9767926" y="4796027"/>
            <a:ext cx="1762049" cy="457200"/>
          </a:xfrm>
          <a:prstGeom prst="roundRect">
            <a:avLst>
              <a:gd name="adj" fmla="val 125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2"/>
          <p:cNvSpPr txBox="1"/>
          <p:nvPr/>
        </p:nvSpPr>
        <p:spPr>
          <a:xfrm>
            <a:off x="9996526" y="4939588"/>
            <a:ext cx="155356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Native Multimodal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5722620" y="2738627"/>
            <a:ext cx="2857500" cy="3619195"/>
          </a:xfrm>
          <a:prstGeom prst="roundRect">
            <a:avLst>
              <a:gd name="adj" fmla="val 2560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6"/>
          <a:srcRect l="23832" r="23832"/>
          <a:stretch/>
        </p:blipFill>
        <p:spPr>
          <a:xfrm>
            <a:off x="5761025" y="2777032"/>
            <a:ext cx="2781605" cy="3543300"/>
          </a:xfrm>
          <a:prstGeom prst="rect">
            <a:avLst/>
          </a:prstGeom>
        </p:spPr>
      </p:pic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788213"/>
            <a:ext cx="6305702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GEMINI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ASSIST 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48310" y="2715768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658161"/>
            <a:ext cx="5829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지능형 코드 자동완성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967228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작성 중인 파일의 문맥과 프로젝트 전체 구조를 파악하여 변수,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함수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그리고 전체 로직을 실시간으로 제안합니다.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648310" y="3843223"/>
            <a:ext cx="6126480" cy="91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8310" y="4062679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4005072"/>
            <a:ext cx="5829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명령 코딩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4314139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주석으로 원하는 기능을 설명하면(예: "모바일 메뉴 토글 함수"),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Gemini가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이를 이해하고 즉시 실행 가능한 코드로 변환해줍니다.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648310" y="5190134"/>
            <a:ext cx="6126480" cy="91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8310" y="5409590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143000" y="5351983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IDE 통합 채팅 지원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143000" y="56610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에디터를 벗어나지 않고 코드에 대한 질문, 리팩토링 요청,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수정 제안을 대화형 인터페이스로 바로 해결할 수 있습니다.</a:t>
            </a:r>
            <a:endParaRPr lang="en-US" sz="1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 t="-2" b="-2"/>
          <a:stretch/>
        </p:blipFill>
        <p:spPr>
          <a:xfrm>
            <a:off x="7193585" y="609905"/>
            <a:ext cx="4389120" cy="5639105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rcRect l="24061" r="24061"/>
          <a:stretch/>
        </p:blipFill>
        <p:spPr>
          <a:xfrm>
            <a:off x="7193585" y="609905"/>
            <a:ext cx="4390949" cy="5639105"/>
          </a:xfrm>
          <a:prstGeom prst="rect">
            <a:avLst/>
          </a:prstGeom>
        </p:spPr>
      </p:pic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456285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GEMINI</a:t>
            </a:r>
            <a:endParaRPr lang="en-US" sz="6000" dirty="0"/>
          </a:p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PROS &amp; CONS </a:t>
            </a:r>
            <a:endParaRPr lang="en-US" sz="6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23826" b="35740"/>
          <a:stretch/>
        </p:blipFill>
        <p:spPr>
          <a:xfrm>
            <a:off x="5379415" y="1104595"/>
            <a:ext cx="5658307" cy="152430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79415" y="2915107"/>
            <a:ext cx="5658307" cy="514807"/>
          </a:xfrm>
          <a:prstGeom prst="roundRect">
            <a:avLst>
              <a:gd name="adj" fmla="val 5262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5379415" y="2915107"/>
            <a:ext cx="57607" cy="514807"/>
          </a:xfrm>
          <a:prstGeom prst="roundRect">
            <a:avLst>
              <a:gd name="adj" fmla="val 47031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6580022" y="3043123"/>
            <a:ext cx="337962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멀티모달 네이티브 (이미지/영상 인식)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379415" y="3478378"/>
            <a:ext cx="5658307" cy="514807"/>
          </a:xfrm>
          <a:prstGeom prst="roundRect">
            <a:avLst>
              <a:gd name="adj" fmla="val 5262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379415" y="3478378"/>
            <a:ext cx="57607" cy="514807"/>
          </a:xfrm>
          <a:prstGeom prst="roundRect">
            <a:avLst>
              <a:gd name="adj" fmla="val 47031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6580022" y="3607308"/>
            <a:ext cx="364388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Google 생태계 통합 (Drive/Docs 연동)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379415" y="4042562"/>
            <a:ext cx="5658307" cy="514807"/>
          </a:xfrm>
          <a:prstGeom prst="roundRect">
            <a:avLst>
              <a:gd name="adj" fmla="val 5262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5379415" y="4042562"/>
            <a:ext cx="57607" cy="514807"/>
          </a:xfrm>
          <a:prstGeom prst="roundRect">
            <a:avLst>
              <a:gd name="adj" fmla="val 47031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6580022" y="4170578"/>
            <a:ext cx="35533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최신 정보 검색 및 반영 속도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79415" y="4605833"/>
            <a:ext cx="5658307" cy="514807"/>
          </a:xfrm>
          <a:prstGeom prst="roundRect">
            <a:avLst>
              <a:gd name="adj" fmla="val 5262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379415" y="4605833"/>
            <a:ext cx="57607" cy="514807"/>
          </a:xfrm>
          <a:prstGeom prst="roundRect">
            <a:avLst>
              <a:gd name="adj" fmla="val 470313"/>
            </a:avLst>
          </a:prstGeom>
          <a:solidFill>
            <a:srgbClr val="3333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6580022" y="4734763"/>
            <a:ext cx="35250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상대적으로 짧은 컨텍스트 (vs Claude)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379415" y="5170018"/>
            <a:ext cx="5658307" cy="514807"/>
          </a:xfrm>
          <a:prstGeom prst="roundRect">
            <a:avLst>
              <a:gd name="adj" fmla="val 5262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379415" y="5170018"/>
            <a:ext cx="57607" cy="514807"/>
          </a:xfrm>
          <a:prstGeom prst="roundRect">
            <a:avLst>
              <a:gd name="adj" fmla="val 470313"/>
            </a:avLst>
          </a:prstGeom>
          <a:solidFill>
            <a:srgbClr val="3333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6580022" y="5298034"/>
            <a:ext cx="370606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설명의 깊이와 디테일 부족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79415" y="5733288"/>
            <a:ext cx="5658307" cy="514807"/>
          </a:xfrm>
          <a:prstGeom prst="roundRect">
            <a:avLst>
              <a:gd name="adj" fmla="val 5262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5379415" y="5733288"/>
            <a:ext cx="57607" cy="514807"/>
          </a:xfrm>
          <a:prstGeom prst="roundRect">
            <a:avLst>
              <a:gd name="adj" fmla="val 470313"/>
            </a:avLst>
          </a:prstGeom>
          <a:solidFill>
            <a:srgbClr val="3333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 txBox="1"/>
          <p:nvPr/>
        </p:nvSpPr>
        <p:spPr>
          <a:xfrm>
            <a:off x="6580022" y="5862218"/>
            <a:ext cx="400507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추론 시 환각(Hallucination) 가능성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5379415" y="657454"/>
            <a:ext cx="270662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장점 및 한계 비교 분석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763463" y="3066898"/>
            <a:ext cx="4956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663379" y="3071470"/>
            <a:ext cx="140634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Native Multimodal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763463" y="3631082"/>
            <a:ext cx="4956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683496" y="3635654"/>
            <a:ext cx="13267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Ecosystem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763463" y="4194353"/>
            <a:ext cx="4956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9940442" y="4198925"/>
            <a:ext cx="10771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Real-time Info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758891" y="4758538"/>
            <a:ext cx="5056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982505" y="4763110"/>
            <a:ext cx="10323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 Limit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758891" y="5321808"/>
            <a:ext cx="5056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10093147" y="5327294"/>
            <a:ext cx="83027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Code Depth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5758891" y="5885993"/>
            <a:ext cx="5056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10078517" y="5890565"/>
            <a:ext cx="9116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Consistency</a:t>
            </a:r>
            <a:endParaRPr lang="en-US" sz="1000" dirty="0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rcRect t="19979" b="19979"/>
          <a:stretch/>
        </p:blipFill>
        <p:spPr>
          <a:xfrm>
            <a:off x="609905" y="2952598"/>
            <a:ext cx="4390949" cy="3295498"/>
          </a:xfrm>
          <a:prstGeom prst="rect">
            <a:avLst/>
          </a:prstGeom>
        </p:spPr>
      </p:pic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76402" y="32369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640385" y="1305827"/>
            <a:ext cx="4734763" cy="119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Claude vs Gemini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비교 및 선택 가이드 </a:t>
            </a:r>
            <a:endParaRPr lang="en-US" sz="3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26" b="-26"/>
          <a:stretch/>
        </p:blipFill>
        <p:spPr>
          <a:xfrm>
            <a:off x="640385" y="2688771"/>
            <a:ext cx="4556455" cy="8622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06475" y="2807599"/>
            <a:ext cx="41440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"코드 설명과 문맥 파악은 Claude,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멀티모달과 생태계 연동은 Gemini." 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385" y="3854587"/>
            <a:ext cx="4638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AI 도구는 각기 다른 강점을 가지고 있습니다.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성격과 현재 작업 단계에 맞춰 최적의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도구를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선택하는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것이 중요합니다.</a:t>
            </a:r>
            <a:endParaRPr lang="en-US" sz="1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l="-1064" r="-1064"/>
          <a:stretch/>
        </p:blipFill>
        <p:spPr>
          <a:xfrm>
            <a:off x="615697" y="5105487"/>
            <a:ext cx="219456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5697" y="5485878"/>
            <a:ext cx="171907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l="-1064" r="-1064"/>
          <a:stretch/>
        </p:blipFill>
        <p:spPr>
          <a:xfrm>
            <a:off x="615697" y="5867182"/>
            <a:ext cx="219456" cy="17190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48538" y="5076226"/>
            <a:ext cx="6848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Claude: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1520038" y="5076226"/>
            <a:ext cx="302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장문맥 처리, 상세한 설명, 안전성 우수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900990" y="5457531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Gemini: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1486206" y="5457531"/>
            <a:ext cx="31171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인식, 구글 연동, 최신 정보 검색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948538" y="5838836"/>
            <a:ext cx="6693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Hybrid: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1510894" y="5838836"/>
            <a:ext cx="302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 과제 시 두 도구의 교차 검증 권장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501884" y="629107"/>
            <a:ext cx="10863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8184185" y="1305827"/>
            <a:ext cx="3238805" cy="4381805"/>
          </a:xfrm>
          <a:prstGeom prst="roundRect">
            <a:avLst>
              <a:gd name="adj" fmla="val 1993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25517" r="25517"/>
          <a:stretch/>
        </p:blipFill>
        <p:spPr>
          <a:xfrm>
            <a:off x="8221675" y="1344232"/>
            <a:ext cx="3161995" cy="4304995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0134600" y="4810722"/>
            <a:ext cx="1447495" cy="457200"/>
          </a:xfrm>
          <a:prstGeom prst="roundRect">
            <a:avLst>
              <a:gd name="adj" fmla="val 125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5"/>
          <p:cNvSpPr txBox="1"/>
          <p:nvPr/>
        </p:nvSpPr>
        <p:spPr>
          <a:xfrm>
            <a:off x="10363200" y="4954283"/>
            <a:ext cx="117409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Choice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5768340" y="2753322"/>
            <a:ext cx="2857500" cy="3619195"/>
          </a:xfrm>
          <a:prstGeom prst="roundRect">
            <a:avLst>
              <a:gd name="adj" fmla="val 2560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 l="935" r="935"/>
          <a:stretch/>
        </p:blipFill>
        <p:spPr>
          <a:xfrm>
            <a:off x="5806745" y="2791727"/>
            <a:ext cx="2781605" cy="3543300"/>
          </a:xfrm>
          <a:prstGeom prst="rect">
            <a:avLst/>
          </a:prstGeom>
        </p:spPr>
      </p:pic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2"/>
          <p:cNvSpPr txBox="1"/>
          <p:nvPr/>
        </p:nvSpPr>
        <p:spPr>
          <a:xfrm>
            <a:off x="10216591" y="629107"/>
            <a:ext cx="14484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GUIDE</a:t>
            </a:r>
            <a:endParaRPr lang="en-US" sz="10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t="-11" b="-11"/>
          <a:stretch/>
        </p:blipFill>
        <p:spPr>
          <a:xfrm>
            <a:off x="7821081" y="1448410"/>
            <a:ext cx="3619195" cy="2095805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 t="6526" b="6525"/>
          <a:stretch/>
        </p:blipFill>
        <p:spPr>
          <a:xfrm>
            <a:off x="7678522" y="1337538"/>
            <a:ext cx="3619195" cy="2095805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94283" y="861365"/>
            <a:ext cx="2648102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4"/>
          <p:cNvSpPr txBox="1"/>
          <p:nvPr/>
        </p:nvSpPr>
        <p:spPr>
          <a:xfrm>
            <a:off x="1098194" y="985724"/>
            <a:ext cx="22393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OPTIMAL COMBINATIONS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894283" y="1766621"/>
            <a:ext cx="5353812" cy="1448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TOOL</a:t>
            </a:r>
            <a:endParaRPr lang="en-US" sz="6000" dirty="0"/>
          </a:p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SELECTION </a:t>
            </a:r>
            <a:endParaRPr lang="en-US" sz="6000" dirty="0"/>
          </a:p>
        </p:txBody>
      </p:sp>
      <p:sp>
        <p:nvSpPr>
          <p:cNvPr id="12" name="Text 6"/>
          <p:cNvSpPr txBox="1"/>
          <p:nvPr/>
        </p:nvSpPr>
        <p:spPr>
          <a:xfrm>
            <a:off x="1098194" y="3989069"/>
            <a:ext cx="1045028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AI 도구의 강점을 정확히 이해하고 상황에 맞춰 선택하거나 조합하면 개발 생산성을 극대화할 수 있습니다.</a:t>
            </a:r>
            <a:endParaRPr lang="en-US" sz="1400" dirty="0"/>
          </a:p>
        </p:txBody>
      </p:sp>
      <p:sp>
        <p:nvSpPr>
          <p:cNvPr id="13" name="Shape 7"/>
          <p:cNvSpPr/>
          <p:nvPr/>
        </p:nvSpPr>
        <p:spPr>
          <a:xfrm>
            <a:off x="1098194" y="4704131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84148" y="4790085"/>
            <a:ext cx="133502" cy="13350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517904" y="4734306"/>
            <a:ext cx="567751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 &amp; 리뷰 중심: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깊이 있는 코드 분석과 논리적 설명이 필요할 땐 </a:t>
            </a: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</a:t>
            </a:r>
            <a:endParaRPr lang="en-US" sz="1400" dirty="0"/>
          </a:p>
        </p:txBody>
      </p:sp>
      <p:sp>
        <p:nvSpPr>
          <p:cNvPr id="16" name="Shape 9"/>
          <p:cNvSpPr/>
          <p:nvPr/>
        </p:nvSpPr>
        <p:spPr>
          <a:xfrm>
            <a:off x="1098194" y="5161331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1175004" y="5247285"/>
            <a:ext cx="152705" cy="13350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517904" y="5191506"/>
            <a:ext cx="52020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&amp; 이미지 연동: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디자인 시안 분석이나 최신 문서 검색엔 </a:t>
            </a: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</a:t>
            </a:r>
            <a:endParaRPr lang="en-US" sz="1400" dirty="0"/>
          </a:p>
        </p:txBody>
      </p:sp>
      <p:sp>
        <p:nvSpPr>
          <p:cNvPr id="19" name="Shape 11"/>
          <p:cNvSpPr/>
          <p:nvPr/>
        </p:nvSpPr>
        <p:spPr>
          <a:xfrm>
            <a:off x="1098194" y="5618531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1175004" y="5704485"/>
            <a:ext cx="152705" cy="13350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517904" y="5648706"/>
            <a:ext cx="6684482" cy="223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 과제 (Hybrid):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Claude로 구조를 설계하고 Gemini로 구현 디테일 보완</a:t>
            </a:r>
            <a:endParaRPr lang="en-US" sz="1400" dirty="0"/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7266737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Gemini 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Patterns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310335"/>
            <a:ext cx="609630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멀티모달 입력을 활용한 코딩 효율 극대화 전략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905" y="2053742"/>
            <a:ext cx="3454603" cy="419526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9905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923544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95451" y="2539289"/>
            <a:ext cx="267005" cy="2670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544" y="3205886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기반 코드 생성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663086"/>
            <a:ext cx="30202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UI 디자인 시안이나 손으로 그린 스케치 이미지를 업로드하여 HTML/CSS 구조 코드를 즉시 생성합니다.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23544" y="4800600"/>
            <a:ext cx="2829154" cy="1133856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23544" y="4800600"/>
            <a:ext cx="28346" cy="1133856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104595" y="4953305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04595" y="5181905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"이 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 디자인 스크린샷</a:t>
            </a: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분석해서 반응형 HTML 구조와 Tailwind CSS 클래스로 변환해주세요." </a:t>
            </a:r>
            <a:endParaRPr lang="en-US" sz="11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369003" y="2053742"/>
            <a:ext cx="3454603" cy="4195267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69003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682642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87468" y="2539289"/>
            <a:ext cx="200254" cy="2670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682642" y="3205886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참조 코딩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682642" y="3663086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PDF 문서나 최신 API 가이드 문서를 첨부하여, 학습되지 않은 최신 정보 기반의 정확한 코드를 요청합니다.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682642" y="4800600"/>
            <a:ext cx="2829154" cy="1133856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682642" y="4800600"/>
            <a:ext cx="28346" cy="1133856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4863694" y="4953305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863694" y="5181905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"첨부된 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명세서 파일</a:t>
            </a: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참조하여 사용자 로그인 컨트롤러(Controller) 코드를 작성하세요." </a:t>
            </a:r>
            <a:endParaRPr lang="en-US" sz="11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102" y="2053742"/>
            <a:ext cx="3454603" cy="4195267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8128102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8442655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13648" y="2539289"/>
            <a:ext cx="267005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42655" y="3205886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시각적 디버깅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42655" y="3663086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에러 로그 캡처 화면이나 UI가 깨진 화면을 보여주며 문제의 원인을 시각적으로 분석하고 해결책을 찾습니다.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8442655" y="4800600"/>
            <a:ext cx="2829154" cy="1133856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8442655" y="4800600"/>
            <a:ext cx="28346" cy="1133856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7"/>
          <p:cNvSpPr txBox="1"/>
          <p:nvPr/>
        </p:nvSpPr>
        <p:spPr>
          <a:xfrm>
            <a:off x="8623706" y="4953305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8623706" y="5181905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"이 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에러 로그 캡처 화면</a:t>
            </a: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보고 어떤 모듈 충돌이 발생했는지 분석하고 해결 패치를 제안해주세요." </a:t>
            </a:r>
            <a:endParaRPr lang="en-US" sz="11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164866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GEMINI DEMO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88830" y="851797"/>
            <a:ext cx="7230161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기반 코드 생성 예시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8310" y="1598584"/>
            <a:ext cx="3715207" cy="3420213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886054" y="1870161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05510" y="1836328"/>
            <a:ext cx="16578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MULTIMODAL PROMPT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907689" y="1766833"/>
            <a:ext cx="304495" cy="304495"/>
          </a:xfrm>
          <a:prstGeom prst="ellipse">
            <a:avLst/>
          </a:prstGeom>
          <a:solidFill>
            <a:srgbClr val="4285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002329" y="1852329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3" r="-3"/>
          <a:stretch/>
        </p:blipFill>
        <p:spPr>
          <a:xfrm>
            <a:off x="919335" y="2182886"/>
            <a:ext cx="3230575" cy="264718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119588" y="2383139"/>
            <a:ext cx="2838298" cy="638251"/>
          </a:xfrm>
          <a:prstGeom prst="roundRect">
            <a:avLst>
              <a:gd name="adj" fmla="val 17106"/>
            </a:avLst>
          </a:prstGeom>
          <a:solidFill>
            <a:srgbClr val="F3F4F6"/>
          </a:solidFill>
          <a:ln w="254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253091" y="2585222"/>
            <a:ext cx="171907" cy="2286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538384" y="2516642"/>
            <a:ext cx="1593799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design_mockup_v1.png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1538384" y="2715067"/>
            <a:ext cx="4096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1.2 MB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1119588" y="3167695"/>
            <a:ext cx="29151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"업로드한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스크린샷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바탕으로 메인 컬러와 폰트 스타일을 추출해서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CSS 변수(Root)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정리해줘.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또한, 모바일 우선(Mobile-first) 접근 방식으로 미디어 쿼리 기본 골격도 함께 작성해줘." 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86715" y="5256541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2"/>
          <p:cNvSpPr/>
          <p:nvPr/>
        </p:nvSpPr>
        <p:spPr>
          <a:xfrm>
            <a:off x="686715" y="5256541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915315" y="5435764"/>
            <a:ext cx="171907" cy="13350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24712" y="5428448"/>
            <a:ext cx="8577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GEMINI TIP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915315" y="5646990"/>
            <a:ext cx="337230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내의 텍스트가 명확하거나 레이아웃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구조가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뚜렷할수록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Gemini가 더 정확한 CSS 구조를 제안합니다.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UI는 부분을 잘라서 질문하세요.</a:t>
            </a:r>
            <a:endParaRPr lang="en-US" sz="11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4697273" y="1766833"/>
            <a:ext cx="171907" cy="13350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945075" y="1733915"/>
            <a:ext cx="24505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(STYLES.CSS)</a:t>
            </a:r>
            <a:endParaRPr lang="en-US" sz="1000" dirty="0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9"/>
          <a:srcRect t="-6" b="-6"/>
          <a:stretch/>
        </p:blipFill>
        <p:spPr>
          <a:xfrm>
            <a:off x="4697273" y="2047554"/>
            <a:ext cx="6884518" cy="4402836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697273" y="204755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7"/>
          <p:cNvSpPr/>
          <p:nvPr/>
        </p:nvSpPr>
        <p:spPr>
          <a:xfrm>
            <a:off x="4849978" y="219751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8"/>
          <p:cNvSpPr/>
          <p:nvPr/>
        </p:nvSpPr>
        <p:spPr>
          <a:xfrm>
            <a:off x="5040173" y="219751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9"/>
          <p:cNvSpPr/>
          <p:nvPr/>
        </p:nvSpPr>
        <p:spPr>
          <a:xfrm>
            <a:off x="5231282" y="219751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0"/>
          <p:cNvSpPr txBox="1"/>
          <p:nvPr/>
        </p:nvSpPr>
        <p:spPr>
          <a:xfrm>
            <a:off x="5535778" y="2191115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styles.css</a:t>
            </a:r>
            <a:endParaRPr lang="en-US" sz="900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123CFEBF-8A26-55D9-EB95-1155AF34ACC5}"/>
              </a:ext>
            </a:extLst>
          </p:cNvPr>
          <p:cNvGrpSpPr/>
          <p:nvPr/>
        </p:nvGrpSpPr>
        <p:grpSpPr>
          <a:xfrm>
            <a:off x="4970068" y="2666603"/>
            <a:ext cx="5755234" cy="3606698"/>
            <a:chOff x="4925873" y="2641702"/>
            <a:chExt cx="6544361" cy="5257800"/>
          </a:xfrm>
        </p:grpSpPr>
        <p:sp>
          <p:nvSpPr>
            <p:cNvPr id="30" name="Text 21"/>
            <p:cNvSpPr txBox="1"/>
            <p:nvPr/>
          </p:nvSpPr>
          <p:spPr>
            <a:xfrm>
              <a:off x="4925873" y="2641702"/>
              <a:ext cx="65443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:root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{</a:t>
              </a:r>
              <a:endParaRPr lang="en-US" sz="1100" dirty="0"/>
            </a:p>
          </p:txBody>
        </p:sp>
        <p:sp>
          <p:nvSpPr>
            <p:cNvPr id="31" name="Text 22"/>
            <p:cNvSpPr txBox="1"/>
            <p:nvPr/>
          </p:nvSpPr>
          <p:spPr>
            <a:xfrm>
              <a:off x="5078578" y="2870302"/>
              <a:ext cx="6353251" cy="1828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이미지에서 추출한 색상 팔레트 */</a:t>
              </a:r>
              <a:endParaRPr lang="en-US" sz="1100" dirty="0"/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--primary-color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 </a:t>
              </a: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#FF6908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--text-main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 </a:t>
              </a: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#111827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--bg-light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 </a:t>
              </a: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#F9FAFB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  <a:p>
              <a:pPr marL="0" indent="0" algn="l">
                <a:buNone/>
              </a:pPr>
              <a:endParaRPr lang="en-US" sz="1100" dirty="0"/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타이포그래피 설정 */</a:t>
              </a:r>
              <a:endParaRPr lang="en-US" sz="1100" dirty="0"/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--font-base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 </a:t>
              </a: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'Pretendard', sans-serif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--spacing-md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 </a:t>
              </a: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16</a:t>
              </a: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px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 </a:t>
              </a:r>
              <a:endParaRPr lang="en-US" sz="1100" dirty="0"/>
            </a:p>
          </p:txBody>
        </p:sp>
        <p:sp>
          <p:nvSpPr>
            <p:cNvPr id="32" name="Text 23"/>
            <p:cNvSpPr txBox="1"/>
            <p:nvPr/>
          </p:nvSpPr>
          <p:spPr>
            <a:xfrm>
              <a:off x="4925873" y="4699102"/>
              <a:ext cx="65059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  <a:p>
              <a:pPr marL="0" indent="0" algn="l">
                <a:buNone/>
              </a:pPr>
              <a:endParaRPr lang="en-US" sz="1100" dirty="0"/>
            </a:p>
          </p:txBody>
        </p:sp>
        <p:sp>
          <p:nvSpPr>
            <p:cNvPr id="33" name="Text 24"/>
            <p:cNvSpPr txBox="1"/>
            <p:nvPr/>
          </p:nvSpPr>
          <p:spPr>
            <a:xfrm>
              <a:off x="4925873" y="5156302"/>
              <a:ext cx="65059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Mobile First 기본 스타일 */</a:t>
              </a:r>
              <a:endParaRPr lang="en-US" sz="1100" dirty="0"/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.container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{</a:t>
              </a:r>
              <a:endParaRPr lang="en-US" sz="1100" dirty="0"/>
            </a:p>
          </p:txBody>
        </p:sp>
        <p:sp>
          <p:nvSpPr>
            <p:cNvPr id="34" name="Text 25"/>
            <p:cNvSpPr txBox="1"/>
            <p:nvPr/>
          </p:nvSpPr>
          <p:spPr>
            <a:xfrm>
              <a:off x="5078578" y="5613502"/>
              <a:ext cx="635325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width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 </a:t>
              </a: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100%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padding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 </a:t>
              </a: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var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--spacing-md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 </a:t>
              </a:r>
              <a:endParaRPr lang="en-US" sz="1100" dirty="0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4925873" y="6070702"/>
              <a:ext cx="65059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  <a:p>
              <a:pPr marL="0" indent="0" algn="l">
                <a:buNone/>
              </a:pPr>
              <a:endParaRPr lang="en-US" sz="1100" dirty="0"/>
            </a:p>
          </p:txBody>
        </p:sp>
        <p:sp>
          <p:nvSpPr>
            <p:cNvPr id="36" name="Text 27"/>
            <p:cNvSpPr txBox="1"/>
            <p:nvPr/>
          </p:nvSpPr>
          <p:spPr>
            <a:xfrm>
              <a:off x="4925873" y="6527902"/>
              <a:ext cx="65059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태블릿 및 데스크탑 확장 (768px 이상) */</a:t>
              </a:r>
              <a:endParaRPr lang="en-US" sz="1100" dirty="0"/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@media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(</a:t>
              </a: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min-width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 </a:t>
              </a: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768</a:t>
              </a: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px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 {</a:t>
              </a:r>
              <a:endParaRPr lang="en-US" sz="1100" dirty="0"/>
            </a:p>
          </p:txBody>
        </p:sp>
        <p:sp>
          <p:nvSpPr>
            <p:cNvPr id="37" name="Text 28"/>
            <p:cNvSpPr txBox="1"/>
            <p:nvPr/>
          </p:nvSpPr>
          <p:spPr>
            <a:xfrm>
              <a:off x="5078578" y="6985102"/>
              <a:ext cx="63916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.container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{</a:t>
              </a:r>
              <a:endParaRPr lang="en-US" sz="1100" dirty="0"/>
            </a:p>
          </p:txBody>
        </p:sp>
        <p:sp>
          <p:nvSpPr>
            <p:cNvPr id="38" name="Text 29"/>
            <p:cNvSpPr txBox="1"/>
            <p:nvPr/>
          </p:nvSpPr>
          <p:spPr>
            <a:xfrm>
              <a:off x="5231282" y="7213702"/>
              <a:ext cx="62014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max-width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 </a:t>
              </a: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720</a:t>
              </a: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px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margin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 </a:t>
              </a: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 auto</a:t>
              </a: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 </a:t>
              </a:r>
              <a:endParaRPr lang="en-US" sz="1100" dirty="0"/>
            </a:p>
          </p:txBody>
        </p:sp>
        <p:sp>
          <p:nvSpPr>
            <p:cNvPr id="39" name="Text 30"/>
            <p:cNvSpPr txBox="1"/>
            <p:nvPr/>
          </p:nvSpPr>
          <p:spPr>
            <a:xfrm>
              <a:off x="5078578" y="7670902"/>
              <a:ext cx="63916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</p:grpSp>
      <p:sp>
        <p:nvSpPr>
          <p:cNvPr id="40" name="Text 31"/>
          <p:cNvSpPr txBox="1"/>
          <p:nvPr/>
        </p:nvSpPr>
        <p:spPr>
          <a:xfrm>
            <a:off x="4945075" y="6201173"/>
            <a:ext cx="65443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100" dirty="0"/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609905"/>
            <a:ext cx="1209751" cy="286207"/>
          </a:xfrm>
          <a:prstGeom prst="roundRect">
            <a:avLst>
              <a:gd name="adj" fmla="val 319489"/>
            </a:avLst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" name="Text 3"/>
          <p:cNvSpPr txBox="1"/>
          <p:nvPr/>
        </p:nvSpPr>
        <p:spPr>
          <a:xfrm>
            <a:off x="771754" y="676656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PRACTICE 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123798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TOOL</a:t>
            </a:r>
            <a:endParaRPr lang="en-US" sz="82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3354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</a:t>
            </a:r>
            <a:endParaRPr lang="en-US" sz="8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0" r="-10"/>
          <a:stretch/>
        </p:blipFill>
        <p:spPr>
          <a:xfrm>
            <a:off x="555477" y="4168292"/>
            <a:ext cx="5181905" cy="195041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75995" y="4443810"/>
            <a:ext cx="48006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 (Evaluation Criteria)</a:t>
            </a:r>
            <a:endParaRPr lang="en-US" sz="1300" b="1" dirty="0"/>
          </a:p>
        </p:txBody>
      </p:sp>
      <p:sp>
        <p:nvSpPr>
          <p:cNvPr id="10" name="Text 7"/>
          <p:cNvSpPr txBox="1"/>
          <p:nvPr/>
        </p:nvSpPr>
        <p:spPr>
          <a:xfrm>
            <a:off x="875995" y="4914900"/>
            <a:ext cx="181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94537" y="4876495"/>
            <a:ext cx="3464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정확성: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요청한 기능이 오류 없이 동작하는가?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75995" y="5296205"/>
            <a:ext cx="181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94537" y="5257800"/>
            <a:ext cx="39035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가독성: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코드가 깔끔하고 시맨틱 태그를 사용하는가?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75995" y="5676595"/>
            <a:ext cx="181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94537" y="5639105"/>
            <a:ext cx="39483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접근성: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웹 접근성 표준(WAI-ARIA 등)을 준수하는가?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057900" y="4179788"/>
            <a:ext cx="5524805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</a:t>
            </a:r>
            <a:endParaRPr lang="en-US" sz="8200" dirty="0"/>
          </a:p>
        </p:txBody>
      </p:sp>
      <p:sp>
        <p:nvSpPr>
          <p:cNvPr id="17" name="Text 14"/>
          <p:cNvSpPr txBox="1"/>
          <p:nvPr/>
        </p:nvSpPr>
        <p:spPr>
          <a:xfrm>
            <a:off x="6133795" y="5275239"/>
            <a:ext cx="53721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vs Gemini 실습 과제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5579734"/>
            <a:ext cx="5334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동일한 프롬프트로 HTML 골격과</a:t>
            </a:r>
            <a:endParaRPr lang="en-US" sz="1400" dirty="0"/>
          </a:p>
          <a:p>
            <a:pPr marL="0" indent="0" algn="r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CSS 카드 레이아웃을 생성하여 결과를 비교합니다.</a:t>
            </a:r>
            <a:endParaRPr lang="en-US" sz="14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l="2495" r="2495"/>
          <a:stretch/>
        </p:blipFill>
        <p:spPr>
          <a:xfrm>
            <a:off x="6439205" y="609905"/>
            <a:ext cx="5143500" cy="3047695"/>
          </a:xfrm>
          <a:prstGeom prst="rect">
            <a:avLst/>
          </a:prstGeom>
        </p:spPr>
      </p:pic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52648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PRACTICE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19302"/>
            <a:ext cx="5046574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골격 생성 및 검증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00761" y="1457554"/>
            <a:ext cx="4028846" cy="2776989"/>
          </a:xfrm>
          <a:prstGeom prst="roundRect">
            <a:avLst>
              <a:gd name="adj" fmla="val 1731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39419" y="1729130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8019" y="1695298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108856" y="1619403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203954" y="1705357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10" b="-10"/>
          <a:stretch/>
        </p:blipFill>
        <p:spPr>
          <a:xfrm>
            <a:off x="827076" y="2064716"/>
            <a:ext cx="3548786" cy="200070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27330" y="2264970"/>
            <a:ext cx="3229661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"웹 표준을 준수하는 포트폴리오 </a:t>
            </a:r>
            <a:r>
              <a:rPr lang="en-US" sz="11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사이트의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시맨틱</a:t>
            </a: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HTML 골격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작성해줘.</a:t>
            </a:r>
            <a:endParaRPr lang="en-US" sz="1100" dirty="0"/>
          </a:p>
          <a:p>
            <a:pPr marL="0" indent="0" algn="l">
              <a:lnSpc>
                <a:spcPct val="150000"/>
              </a:lnSpc>
              <a:buNone/>
            </a:pPr>
            <a:endParaRPr lang="en-US" sz="1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필수 포함 요소:</a:t>
            </a:r>
            <a:endParaRPr lang="en-US" sz="1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1. </a:t>
            </a: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header, nav, main, footer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시맨틱 태그</a:t>
            </a:r>
            <a:endParaRPr lang="en-US" sz="1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2. 웹 접근성을 위한 </a:t>
            </a: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WAI-ARIA 랜드마크</a:t>
            </a: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역할</a:t>
            </a:r>
            <a:endParaRPr lang="en-US" sz="1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3. 모바일 대응을 위한 meta viewport 설정"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00761" y="4466363"/>
            <a:ext cx="4028846" cy="1809251"/>
          </a:xfrm>
          <a:prstGeom prst="roundRect">
            <a:avLst>
              <a:gd name="adj" fmla="val 1758"/>
            </a:avLst>
          </a:prstGeom>
          <a:solidFill>
            <a:srgbClr val="F0F9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0761" y="4466363"/>
            <a:ext cx="45719" cy="1771151"/>
          </a:xfrm>
          <a:prstGeom prst="roundRect">
            <a:avLst>
              <a:gd name="adj" fmla="val 91136"/>
            </a:avLst>
          </a:prstGeom>
          <a:solidFill>
            <a:srgbClr val="0EA5E9"/>
          </a:solidFill>
          <a:ln w="12700">
            <a:solidFill>
              <a:srgbClr val="0EA5E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9361" y="4692220"/>
            <a:ext cx="142646" cy="14264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47902" y="4656559"/>
            <a:ext cx="1870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369A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포인트 (Validation)</a:t>
            </a:r>
            <a:endParaRPr lang="en-US" sz="1100" dirty="0"/>
          </a:p>
        </p:txBody>
      </p:sp>
      <p:sp>
        <p:nvSpPr>
          <p:cNvPr id="17" name="Text 11"/>
          <p:cNvSpPr txBox="1"/>
          <p:nvPr/>
        </p:nvSpPr>
        <p:spPr>
          <a:xfrm>
            <a:off x="1019556" y="4994887"/>
            <a:ext cx="1270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Server 확인: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5185997"/>
            <a:ext cx="3419856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브라우저에서 구조가 깨지지 않고 렌더링되는지 확인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019556" y="5478604"/>
            <a:ext cx="77083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WAI-ARIA: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677923" y="5517010"/>
            <a:ext cx="938567" cy="135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role="banner"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2435440" y="5496171"/>
            <a:ext cx="1527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2538766" y="5499494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role="main"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1654607" y="5743832"/>
            <a:ext cx="3410712" cy="1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 랜드마크 역할 적용 여부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1019556" y="5982439"/>
            <a:ext cx="8823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시맨틱 구조: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1753819" y="5991103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&lt;div&gt;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2114093" y="5982439"/>
            <a:ext cx="24313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남용 대신 의미 있는 태그 사용 여부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5316713" y="5444467"/>
            <a:ext cx="6523329" cy="914750"/>
          </a:xfrm>
          <a:prstGeom prst="roundRect">
            <a:avLst>
              <a:gd name="adj" fmla="val 5516"/>
            </a:avLst>
          </a:prstGeom>
          <a:solidFill>
            <a:srgbClr val="FFF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5283403" y="5455633"/>
            <a:ext cx="38405" cy="860495"/>
          </a:xfrm>
          <a:prstGeom prst="roundRect">
            <a:avLst>
              <a:gd name="adj" fmla="val 16142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467657" y="5605271"/>
            <a:ext cx="133502" cy="1335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5657852" y="5572352"/>
            <a:ext cx="170078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개선 (Refinement)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5676138" y="5816039"/>
            <a:ext cx="6229351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접근성을 높이기 위해 로고에 대체 텍스트(alt)를 구체적으로 작성하고, 키보드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사용자를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위한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'본문 바로가기(Skip Link)'를 </a:t>
            </a:r>
            <a:r>
              <a:rPr lang="en-US" sz="105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&lt;nav&gt;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내부에 추가하도록 요청하세요.</a:t>
            </a:r>
            <a:endParaRPr lang="en-US" sz="105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5282489" y="532616"/>
            <a:ext cx="171907" cy="133502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530291" y="498783"/>
            <a:ext cx="2449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(INDEX.HTML)</a:t>
            </a:r>
            <a:endParaRPr lang="en-US" sz="100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rcRect l="-1" r="-1"/>
          <a:stretch/>
        </p:blipFill>
        <p:spPr>
          <a:xfrm>
            <a:off x="5282489" y="813337"/>
            <a:ext cx="6567221" cy="4501591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5282489" y="813337"/>
            <a:ext cx="6572707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7"/>
          <p:cNvSpPr/>
          <p:nvPr/>
        </p:nvSpPr>
        <p:spPr>
          <a:xfrm>
            <a:off x="5435194" y="963298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8"/>
          <p:cNvSpPr/>
          <p:nvPr/>
        </p:nvSpPr>
        <p:spPr>
          <a:xfrm>
            <a:off x="5625389" y="963298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9"/>
          <p:cNvSpPr/>
          <p:nvPr/>
        </p:nvSpPr>
        <p:spPr>
          <a:xfrm>
            <a:off x="5815584" y="963298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0"/>
          <p:cNvSpPr txBox="1"/>
          <p:nvPr/>
        </p:nvSpPr>
        <p:spPr>
          <a:xfrm>
            <a:off x="6120994" y="955983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sp>
        <p:nvSpPr>
          <p:cNvPr id="40" name="Text 31"/>
          <p:cNvSpPr txBox="1"/>
          <p:nvPr/>
        </p:nvSpPr>
        <p:spPr>
          <a:xfrm>
            <a:off x="5485486" y="1313514"/>
            <a:ext cx="770839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&lt;!DOCTYPE html&gt;</a:t>
            </a:r>
            <a:endParaRPr lang="en-US" sz="800" dirty="0"/>
          </a:p>
        </p:txBody>
      </p:sp>
      <p:sp>
        <p:nvSpPr>
          <p:cNvPr id="41" name="Text 32"/>
          <p:cNvSpPr txBox="1"/>
          <p:nvPr/>
        </p:nvSpPr>
        <p:spPr>
          <a:xfrm>
            <a:off x="6128309" y="1313514"/>
            <a:ext cx="29535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&lt;html</a:t>
            </a:r>
            <a:endParaRPr lang="en-US" sz="800" dirty="0"/>
          </a:p>
        </p:txBody>
      </p:sp>
      <p:sp>
        <p:nvSpPr>
          <p:cNvPr id="42" name="Text 33"/>
          <p:cNvSpPr txBox="1"/>
          <p:nvPr/>
        </p:nvSpPr>
        <p:spPr>
          <a:xfrm>
            <a:off x="6343193" y="1313514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lang</a:t>
            </a:r>
            <a:endParaRPr lang="en-US" sz="800" dirty="0"/>
          </a:p>
        </p:txBody>
      </p:sp>
      <p:sp>
        <p:nvSpPr>
          <p:cNvPr id="43" name="Text 34"/>
          <p:cNvSpPr txBox="1"/>
          <p:nvPr/>
        </p:nvSpPr>
        <p:spPr>
          <a:xfrm>
            <a:off x="6515100" y="1313514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44" name="Text 35"/>
          <p:cNvSpPr txBox="1"/>
          <p:nvPr/>
        </p:nvSpPr>
        <p:spPr>
          <a:xfrm>
            <a:off x="6558077" y="1313514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"ko"</a:t>
            </a:r>
            <a:endParaRPr lang="en-US" sz="800" dirty="0"/>
          </a:p>
        </p:txBody>
      </p:sp>
      <p:sp>
        <p:nvSpPr>
          <p:cNvPr id="45" name="Text 36"/>
          <p:cNvSpPr txBox="1"/>
          <p:nvPr/>
        </p:nvSpPr>
        <p:spPr>
          <a:xfrm>
            <a:off x="6729070" y="1313514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46" name="Text 37"/>
          <p:cNvSpPr txBox="1"/>
          <p:nvPr/>
        </p:nvSpPr>
        <p:spPr>
          <a:xfrm>
            <a:off x="6772047" y="1313514"/>
            <a:ext cx="342900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&lt;head&gt;</a:t>
            </a:r>
            <a:endParaRPr lang="en-US" sz="800" dirty="0"/>
          </a:p>
        </p:txBody>
      </p:sp>
      <p:sp>
        <p:nvSpPr>
          <p:cNvPr id="47" name="Text 38"/>
          <p:cNvSpPr txBox="1"/>
          <p:nvPr/>
        </p:nvSpPr>
        <p:spPr>
          <a:xfrm>
            <a:off x="5638191" y="1451588"/>
            <a:ext cx="29535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&lt;meta</a:t>
            </a:r>
            <a:endParaRPr lang="en-US" sz="800" dirty="0"/>
          </a:p>
        </p:txBody>
      </p:sp>
      <p:sp>
        <p:nvSpPr>
          <p:cNvPr id="48" name="Text 39"/>
          <p:cNvSpPr txBox="1"/>
          <p:nvPr/>
        </p:nvSpPr>
        <p:spPr>
          <a:xfrm>
            <a:off x="5852160" y="1451588"/>
            <a:ext cx="38130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charset</a:t>
            </a:r>
            <a:endParaRPr lang="en-US" sz="800" dirty="0"/>
          </a:p>
        </p:txBody>
      </p:sp>
      <p:sp>
        <p:nvSpPr>
          <p:cNvPr id="49" name="Text 40"/>
          <p:cNvSpPr txBox="1"/>
          <p:nvPr/>
        </p:nvSpPr>
        <p:spPr>
          <a:xfrm>
            <a:off x="6152998" y="145158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50" name="Text 41"/>
          <p:cNvSpPr txBox="1"/>
          <p:nvPr/>
        </p:nvSpPr>
        <p:spPr>
          <a:xfrm>
            <a:off x="6195975" y="1451588"/>
            <a:ext cx="38130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"UTF-8"</a:t>
            </a:r>
            <a:endParaRPr lang="en-US" sz="800" dirty="0"/>
          </a:p>
        </p:txBody>
      </p:sp>
      <p:sp>
        <p:nvSpPr>
          <p:cNvPr id="51" name="Text 42"/>
          <p:cNvSpPr txBox="1"/>
          <p:nvPr/>
        </p:nvSpPr>
        <p:spPr>
          <a:xfrm>
            <a:off x="6495898" y="1451588"/>
            <a:ext cx="171907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800" dirty="0"/>
          </a:p>
        </p:txBody>
      </p:sp>
      <p:sp>
        <p:nvSpPr>
          <p:cNvPr id="52" name="Text 43"/>
          <p:cNvSpPr txBox="1"/>
          <p:nvPr/>
        </p:nvSpPr>
        <p:spPr>
          <a:xfrm>
            <a:off x="5638191" y="1588748"/>
            <a:ext cx="29535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&lt;meta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5852160" y="158874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name</a:t>
            </a:r>
            <a:endParaRPr lang="en-US" sz="800" dirty="0"/>
          </a:p>
        </p:txBody>
      </p:sp>
      <p:sp>
        <p:nvSpPr>
          <p:cNvPr id="54" name="Text 45"/>
          <p:cNvSpPr txBox="1"/>
          <p:nvPr/>
        </p:nvSpPr>
        <p:spPr>
          <a:xfrm>
            <a:off x="6024067" y="158874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55" name="Text 46"/>
          <p:cNvSpPr txBox="1"/>
          <p:nvPr/>
        </p:nvSpPr>
        <p:spPr>
          <a:xfrm>
            <a:off x="6067044" y="1588748"/>
            <a:ext cx="522122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"viewport"</a:t>
            </a:r>
            <a:endParaRPr lang="en-US" sz="800" dirty="0"/>
          </a:p>
        </p:txBody>
      </p:sp>
      <p:sp>
        <p:nvSpPr>
          <p:cNvPr id="56" name="Text 47"/>
          <p:cNvSpPr txBox="1"/>
          <p:nvPr/>
        </p:nvSpPr>
        <p:spPr>
          <a:xfrm>
            <a:off x="6495898" y="1588748"/>
            <a:ext cx="38130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content</a:t>
            </a:r>
            <a:endParaRPr lang="en-US" sz="800" dirty="0"/>
          </a:p>
        </p:txBody>
      </p:sp>
      <p:sp>
        <p:nvSpPr>
          <p:cNvPr id="57" name="Text 48"/>
          <p:cNvSpPr txBox="1"/>
          <p:nvPr/>
        </p:nvSpPr>
        <p:spPr>
          <a:xfrm>
            <a:off x="6795821" y="158874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58" name="Text 49"/>
          <p:cNvSpPr txBox="1"/>
          <p:nvPr/>
        </p:nvSpPr>
        <p:spPr>
          <a:xfrm>
            <a:off x="6838798" y="1588748"/>
            <a:ext cx="199522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"width=device-width, initial-scale=1.0"</a:t>
            </a:r>
            <a:endParaRPr lang="en-US" sz="800" dirty="0"/>
          </a:p>
        </p:txBody>
      </p:sp>
      <p:sp>
        <p:nvSpPr>
          <p:cNvPr id="59" name="Text 50"/>
          <p:cNvSpPr txBox="1"/>
          <p:nvPr/>
        </p:nvSpPr>
        <p:spPr>
          <a:xfrm>
            <a:off x="8511235" y="1588748"/>
            <a:ext cx="171907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800" dirty="0"/>
          </a:p>
        </p:txBody>
      </p:sp>
      <p:sp>
        <p:nvSpPr>
          <p:cNvPr id="60" name="Text 51"/>
          <p:cNvSpPr txBox="1"/>
          <p:nvPr/>
        </p:nvSpPr>
        <p:spPr>
          <a:xfrm>
            <a:off x="5638191" y="1725908"/>
            <a:ext cx="38130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&lt;title&gt;</a:t>
            </a:r>
            <a:endParaRPr lang="en-US" sz="800" dirty="0"/>
          </a:p>
        </p:txBody>
      </p:sp>
      <p:sp>
        <p:nvSpPr>
          <p:cNvPr id="61" name="Text 52"/>
          <p:cNvSpPr txBox="1"/>
          <p:nvPr/>
        </p:nvSpPr>
        <p:spPr>
          <a:xfrm>
            <a:off x="5938114" y="1725908"/>
            <a:ext cx="62362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My Portfolio</a:t>
            </a:r>
            <a:endParaRPr lang="en-US" sz="800" dirty="0"/>
          </a:p>
        </p:txBody>
      </p:sp>
      <p:sp>
        <p:nvSpPr>
          <p:cNvPr id="62" name="Text 53"/>
          <p:cNvSpPr txBox="1"/>
          <p:nvPr/>
        </p:nvSpPr>
        <p:spPr>
          <a:xfrm>
            <a:off x="6452921" y="1725908"/>
            <a:ext cx="428854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&lt;/title&gt;</a:t>
            </a:r>
            <a:endParaRPr lang="en-US" sz="800" dirty="0"/>
          </a:p>
        </p:txBody>
      </p:sp>
      <p:sp>
        <p:nvSpPr>
          <p:cNvPr id="63" name="Text 54"/>
          <p:cNvSpPr txBox="1"/>
          <p:nvPr/>
        </p:nvSpPr>
        <p:spPr>
          <a:xfrm>
            <a:off x="5485486" y="1863068"/>
            <a:ext cx="38130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&lt;/head&gt;</a:t>
            </a:r>
            <a:endParaRPr lang="en-US" sz="800" dirty="0"/>
          </a:p>
        </p:txBody>
      </p:sp>
      <p:sp>
        <p:nvSpPr>
          <p:cNvPr id="64" name="Text 55"/>
          <p:cNvSpPr txBox="1"/>
          <p:nvPr/>
        </p:nvSpPr>
        <p:spPr>
          <a:xfrm>
            <a:off x="5785409" y="1863068"/>
            <a:ext cx="342900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&lt;body&gt;</a:t>
            </a:r>
            <a:endParaRPr lang="en-US" sz="800" dirty="0"/>
          </a:p>
        </p:txBody>
      </p:sp>
      <p:sp>
        <p:nvSpPr>
          <p:cNvPr id="65" name="Text 56"/>
          <p:cNvSpPr txBox="1"/>
          <p:nvPr/>
        </p:nvSpPr>
        <p:spPr>
          <a:xfrm>
            <a:off x="5638191" y="2000228"/>
            <a:ext cx="1634947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접근성: 본문 바로가기 링크 --&gt;</a:t>
            </a:r>
            <a:endParaRPr lang="en-US" sz="800" dirty="0"/>
          </a:p>
        </p:txBody>
      </p:sp>
      <p:sp>
        <p:nvSpPr>
          <p:cNvPr id="66" name="Text 57"/>
          <p:cNvSpPr txBox="1"/>
          <p:nvPr/>
        </p:nvSpPr>
        <p:spPr>
          <a:xfrm>
            <a:off x="5638191" y="2137388"/>
            <a:ext cx="171907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800" dirty="0"/>
          </a:p>
        </p:txBody>
      </p:sp>
      <p:sp>
        <p:nvSpPr>
          <p:cNvPr id="67" name="Text 58"/>
          <p:cNvSpPr txBox="1"/>
          <p:nvPr/>
        </p:nvSpPr>
        <p:spPr>
          <a:xfrm>
            <a:off x="5724144" y="213738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800" dirty="0"/>
          </a:p>
        </p:txBody>
      </p:sp>
      <p:sp>
        <p:nvSpPr>
          <p:cNvPr id="68" name="Text 59"/>
          <p:cNvSpPr txBox="1"/>
          <p:nvPr/>
        </p:nvSpPr>
        <p:spPr>
          <a:xfrm>
            <a:off x="5895137" y="213738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69" name="Text 60"/>
          <p:cNvSpPr txBox="1"/>
          <p:nvPr/>
        </p:nvSpPr>
        <p:spPr>
          <a:xfrm>
            <a:off x="5938114" y="2137388"/>
            <a:ext cx="770839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"#main-content"</a:t>
            </a:r>
            <a:endParaRPr lang="en-US" sz="800" dirty="0"/>
          </a:p>
        </p:txBody>
      </p:sp>
      <p:sp>
        <p:nvSpPr>
          <p:cNvPr id="70" name="Text 61"/>
          <p:cNvSpPr txBox="1"/>
          <p:nvPr/>
        </p:nvSpPr>
        <p:spPr>
          <a:xfrm>
            <a:off x="6581851" y="2137388"/>
            <a:ext cx="29535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800" dirty="0"/>
          </a:p>
        </p:txBody>
      </p:sp>
      <p:sp>
        <p:nvSpPr>
          <p:cNvPr id="71" name="Text 62"/>
          <p:cNvSpPr txBox="1"/>
          <p:nvPr/>
        </p:nvSpPr>
        <p:spPr>
          <a:xfrm>
            <a:off x="6795821" y="213738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72" name="Text 63"/>
          <p:cNvSpPr txBox="1"/>
          <p:nvPr/>
        </p:nvSpPr>
        <p:spPr>
          <a:xfrm>
            <a:off x="6838798" y="2137388"/>
            <a:ext cx="56692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"skip-link"</a:t>
            </a:r>
            <a:endParaRPr lang="en-US" sz="800" dirty="0"/>
          </a:p>
        </p:txBody>
      </p:sp>
      <p:sp>
        <p:nvSpPr>
          <p:cNvPr id="73" name="Text 64"/>
          <p:cNvSpPr txBox="1"/>
          <p:nvPr/>
        </p:nvSpPr>
        <p:spPr>
          <a:xfrm>
            <a:off x="7310628" y="213738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74" name="Text 65"/>
          <p:cNvSpPr txBox="1"/>
          <p:nvPr/>
        </p:nvSpPr>
        <p:spPr>
          <a:xfrm>
            <a:off x="7353604" y="2137388"/>
            <a:ext cx="89062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본문으로 건너뛰기</a:t>
            </a:r>
            <a:endParaRPr lang="en-US" sz="750" dirty="0"/>
          </a:p>
        </p:txBody>
      </p:sp>
      <p:sp>
        <p:nvSpPr>
          <p:cNvPr id="75" name="Text 66"/>
          <p:cNvSpPr txBox="1"/>
          <p:nvPr/>
        </p:nvSpPr>
        <p:spPr>
          <a:xfrm>
            <a:off x="8206740" y="2132836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800" dirty="0"/>
          </a:p>
        </p:txBody>
      </p:sp>
      <p:sp>
        <p:nvSpPr>
          <p:cNvPr id="76" name="Text 67"/>
          <p:cNvSpPr txBox="1"/>
          <p:nvPr/>
        </p:nvSpPr>
        <p:spPr>
          <a:xfrm>
            <a:off x="5638191" y="2411708"/>
            <a:ext cx="87508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헤더 영역 --&gt;</a:t>
            </a:r>
            <a:endParaRPr lang="en-US" sz="800" dirty="0"/>
          </a:p>
        </p:txBody>
      </p:sp>
      <p:sp>
        <p:nvSpPr>
          <p:cNvPr id="77" name="Text 68"/>
          <p:cNvSpPr txBox="1"/>
          <p:nvPr/>
        </p:nvSpPr>
        <p:spPr>
          <a:xfrm>
            <a:off x="5638191" y="2548868"/>
            <a:ext cx="38130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&lt;header</a:t>
            </a:r>
            <a:endParaRPr lang="en-US" sz="800" dirty="0"/>
          </a:p>
        </p:txBody>
      </p:sp>
      <p:sp>
        <p:nvSpPr>
          <p:cNvPr id="78" name="Text 69"/>
          <p:cNvSpPr txBox="1"/>
          <p:nvPr/>
        </p:nvSpPr>
        <p:spPr>
          <a:xfrm>
            <a:off x="5938114" y="254886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role</a:t>
            </a:r>
            <a:endParaRPr lang="en-US" sz="800" dirty="0"/>
          </a:p>
        </p:txBody>
      </p:sp>
      <p:sp>
        <p:nvSpPr>
          <p:cNvPr id="79" name="Text 70"/>
          <p:cNvSpPr txBox="1"/>
          <p:nvPr/>
        </p:nvSpPr>
        <p:spPr>
          <a:xfrm>
            <a:off x="6110021" y="254886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80" name="Text 71"/>
          <p:cNvSpPr txBox="1"/>
          <p:nvPr/>
        </p:nvSpPr>
        <p:spPr>
          <a:xfrm>
            <a:off x="6152998" y="2548868"/>
            <a:ext cx="428854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"banner"</a:t>
            </a:r>
            <a:endParaRPr lang="en-US" sz="800" dirty="0"/>
          </a:p>
        </p:txBody>
      </p:sp>
      <p:sp>
        <p:nvSpPr>
          <p:cNvPr id="81" name="Text 72"/>
          <p:cNvSpPr txBox="1"/>
          <p:nvPr/>
        </p:nvSpPr>
        <p:spPr>
          <a:xfrm>
            <a:off x="6495898" y="254886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82" name="Text 73"/>
          <p:cNvSpPr txBox="1"/>
          <p:nvPr/>
        </p:nvSpPr>
        <p:spPr>
          <a:xfrm>
            <a:off x="5789981" y="268602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800" dirty="0"/>
          </a:p>
        </p:txBody>
      </p:sp>
      <p:sp>
        <p:nvSpPr>
          <p:cNvPr id="83" name="Text 74"/>
          <p:cNvSpPr txBox="1"/>
          <p:nvPr/>
        </p:nvSpPr>
        <p:spPr>
          <a:xfrm>
            <a:off x="5961888" y="2686028"/>
            <a:ext cx="29535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800" dirty="0"/>
          </a:p>
        </p:txBody>
      </p:sp>
      <p:sp>
        <p:nvSpPr>
          <p:cNvPr id="84" name="Text 75"/>
          <p:cNvSpPr txBox="1"/>
          <p:nvPr/>
        </p:nvSpPr>
        <p:spPr>
          <a:xfrm>
            <a:off x="6176772" y="268602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85" name="Text 76"/>
          <p:cNvSpPr txBox="1"/>
          <p:nvPr/>
        </p:nvSpPr>
        <p:spPr>
          <a:xfrm>
            <a:off x="6219749" y="2686028"/>
            <a:ext cx="342900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"logo"</a:t>
            </a:r>
            <a:endParaRPr lang="en-US" sz="800" dirty="0"/>
          </a:p>
        </p:txBody>
      </p:sp>
      <p:sp>
        <p:nvSpPr>
          <p:cNvPr id="86" name="Text 77"/>
          <p:cNvSpPr txBox="1"/>
          <p:nvPr/>
        </p:nvSpPr>
        <p:spPr>
          <a:xfrm>
            <a:off x="6476695" y="268602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87" name="Text 78"/>
          <p:cNvSpPr txBox="1"/>
          <p:nvPr/>
        </p:nvSpPr>
        <p:spPr>
          <a:xfrm>
            <a:off x="6519672" y="268602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&lt;img</a:t>
            </a:r>
            <a:endParaRPr lang="en-US" sz="800" dirty="0"/>
          </a:p>
        </p:txBody>
      </p:sp>
      <p:sp>
        <p:nvSpPr>
          <p:cNvPr id="88" name="Text 79"/>
          <p:cNvSpPr txBox="1"/>
          <p:nvPr/>
        </p:nvSpPr>
        <p:spPr>
          <a:xfrm>
            <a:off x="6691579" y="2686028"/>
            <a:ext cx="210312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</a:t>
            </a:r>
            <a:endParaRPr lang="en-US" sz="800" dirty="0"/>
          </a:p>
        </p:txBody>
      </p:sp>
      <p:sp>
        <p:nvSpPr>
          <p:cNvPr id="89" name="Text 80"/>
          <p:cNvSpPr txBox="1"/>
          <p:nvPr/>
        </p:nvSpPr>
        <p:spPr>
          <a:xfrm>
            <a:off x="6820510" y="268602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90" name="Text 81"/>
          <p:cNvSpPr txBox="1"/>
          <p:nvPr/>
        </p:nvSpPr>
        <p:spPr>
          <a:xfrm>
            <a:off x="6863487" y="2686028"/>
            <a:ext cx="522122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"logo.svg"</a:t>
            </a:r>
            <a:endParaRPr lang="en-US" sz="800" dirty="0"/>
          </a:p>
        </p:txBody>
      </p:sp>
      <p:sp>
        <p:nvSpPr>
          <p:cNvPr id="91" name="Text 82"/>
          <p:cNvSpPr txBox="1"/>
          <p:nvPr/>
        </p:nvSpPr>
        <p:spPr>
          <a:xfrm>
            <a:off x="7292340" y="2686028"/>
            <a:ext cx="210312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alt</a:t>
            </a:r>
            <a:endParaRPr lang="en-US" sz="800" dirty="0"/>
          </a:p>
        </p:txBody>
      </p:sp>
      <p:sp>
        <p:nvSpPr>
          <p:cNvPr id="92" name="Text 83"/>
          <p:cNvSpPr txBox="1"/>
          <p:nvPr/>
        </p:nvSpPr>
        <p:spPr>
          <a:xfrm>
            <a:off x="7420356" y="268602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93" name="Text 84"/>
          <p:cNvSpPr txBox="1"/>
          <p:nvPr/>
        </p:nvSpPr>
        <p:spPr>
          <a:xfrm>
            <a:off x="7463333" y="2686028"/>
            <a:ext cx="1133856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"Developer Kim's Logo"</a:t>
            </a:r>
            <a:endParaRPr lang="en-US" sz="800" dirty="0"/>
          </a:p>
        </p:txBody>
      </p:sp>
      <p:sp>
        <p:nvSpPr>
          <p:cNvPr id="94" name="Text 85"/>
          <p:cNvSpPr txBox="1"/>
          <p:nvPr/>
        </p:nvSpPr>
        <p:spPr>
          <a:xfrm>
            <a:off x="8406994" y="2686028"/>
            <a:ext cx="171907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800" dirty="0"/>
          </a:p>
        </p:txBody>
      </p:sp>
      <p:sp>
        <p:nvSpPr>
          <p:cNvPr id="95" name="Text 86"/>
          <p:cNvSpPr txBox="1"/>
          <p:nvPr/>
        </p:nvSpPr>
        <p:spPr>
          <a:xfrm>
            <a:off x="8492947" y="2686028"/>
            <a:ext cx="342900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800" dirty="0"/>
          </a:p>
        </p:txBody>
      </p:sp>
      <p:sp>
        <p:nvSpPr>
          <p:cNvPr id="96" name="Text 87"/>
          <p:cNvSpPr txBox="1"/>
          <p:nvPr/>
        </p:nvSpPr>
        <p:spPr>
          <a:xfrm>
            <a:off x="5789981" y="282318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&lt;nav</a:t>
            </a:r>
            <a:endParaRPr lang="en-US" sz="800" dirty="0"/>
          </a:p>
        </p:txBody>
      </p:sp>
      <p:sp>
        <p:nvSpPr>
          <p:cNvPr id="97" name="Text 88"/>
          <p:cNvSpPr txBox="1"/>
          <p:nvPr/>
        </p:nvSpPr>
        <p:spPr>
          <a:xfrm>
            <a:off x="5961888" y="282318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role</a:t>
            </a:r>
            <a:endParaRPr lang="en-US" sz="800" dirty="0"/>
          </a:p>
        </p:txBody>
      </p:sp>
      <p:sp>
        <p:nvSpPr>
          <p:cNvPr id="98" name="Text 89"/>
          <p:cNvSpPr txBox="1"/>
          <p:nvPr/>
        </p:nvSpPr>
        <p:spPr>
          <a:xfrm>
            <a:off x="6133795" y="282318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99" name="Text 90"/>
          <p:cNvSpPr txBox="1"/>
          <p:nvPr/>
        </p:nvSpPr>
        <p:spPr>
          <a:xfrm>
            <a:off x="6176772" y="2823188"/>
            <a:ext cx="62362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"navigation"</a:t>
            </a:r>
            <a:endParaRPr lang="en-US" sz="800" dirty="0"/>
          </a:p>
        </p:txBody>
      </p:sp>
      <p:sp>
        <p:nvSpPr>
          <p:cNvPr id="100" name="Text 91"/>
          <p:cNvSpPr txBox="1"/>
          <p:nvPr/>
        </p:nvSpPr>
        <p:spPr>
          <a:xfrm>
            <a:off x="6690665" y="2823188"/>
            <a:ext cx="522122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aria-label</a:t>
            </a:r>
            <a:endParaRPr lang="en-US" sz="800" dirty="0"/>
          </a:p>
        </p:txBody>
      </p:sp>
      <p:sp>
        <p:nvSpPr>
          <p:cNvPr id="101" name="Text 92"/>
          <p:cNvSpPr txBox="1"/>
          <p:nvPr/>
        </p:nvSpPr>
        <p:spPr>
          <a:xfrm>
            <a:off x="7119519" y="282318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102" name="Text 93"/>
          <p:cNvSpPr txBox="1"/>
          <p:nvPr/>
        </p:nvSpPr>
        <p:spPr>
          <a:xfrm>
            <a:off x="7162495" y="2823188"/>
            <a:ext cx="553212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"메인 메뉴"</a:t>
            </a:r>
            <a:endParaRPr lang="en-US" sz="800" dirty="0"/>
          </a:p>
        </p:txBody>
      </p:sp>
      <p:sp>
        <p:nvSpPr>
          <p:cNvPr id="103" name="Text 94"/>
          <p:cNvSpPr txBox="1"/>
          <p:nvPr/>
        </p:nvSpPr>
        <p:spPr>
          <a:xfrm>
            <a:off x="7634326" y="282318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104" name="Text 95"/>
          <p:cNvSpPr txBox="1"/>
          <p:nvPr/>
        </p:nvSpPr>
        <p:spPr>
          <a:xfrm>
            <a:off x="5942686" y="296034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&lt;ul&gt;</a:t>
            </a:r>
            <a:endParaRPr lang="en-US" sz="800" dirty="0"/>
          </a:p>
        </p:txBody>
      </p:sp>
      <p:sp>
        <p:nvSpPr>
          <p:cNvPr id="105" name="Text 96"/>
          <p:cNvSpPr txBox="1"/>
          <p:nvPr/>
        </p:nvSpPr>
        <p:spPr>
          <a:xfrm>
            <a:off x="6095391" y="309750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&lt;li&gt;</a:t>
            </a:r>
            <a:endParaRPr lang="en-US" sz="800" dirty="0"/>
          </a:p>
        </p:txBody>
      </p:sp>
      <p:sp>
        <p:nvSpPr>
          <p:cNvPr id="106" name="Text 97"/>
          <p:cNvSpPr txBox="1"/>
          <p:nvPr/>
        </p:nvSpPr>
        <p:spPr>
          <a:xfrm>
            <a:off x="6266383" y="3097508"/>
            <a:ext cx="171907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800" dirty="0"/>
          </a:p>
        </p:txBody>
      </p:sp>
      <p:sp>
        <p:nvSpPr>
          <p:cNvPr id="107" name="Text 98"/>
          <p:cNvSpPr txBox="1"/>
          <p:nvPr/>
        </p:nvSpPr>
        <p:spPr>
          <a:xfrm>
            <a:off x="6352337" y="309750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800" dirty="0"/>
          </a:p>
        </p:txBody>
      </p:sp>
      <p:sp>
        <p:nvSpPr>
          <p:cNvPr id="108" name="Text 99"/>
          <p:cNvSpPr txBox="1"/>
          <p:nvPr/>
        </p:nvSpPr>
        <p:spPr>
          <a:xfrm>
            <a:off x="6524244" y="309750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109" name="Text 100"/>
          <p:cNvSpPr txBox="1"/>
          <p:nvPr/>
        </p:nvSpPr>
        <p:spPr>
          <a:xfrm>
            <a:off x="6567221" y="3097508"/>
            <a:ext cx="428854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"#about"</a:t>
            </a:r>
            <a:endParaRPr lang="en-US" sz="800" dirty="0"/>
          </a:p>
        </p:txBody>
      </p:sp>
      <p:sp>
        <p:nvSpPr>
          <p:cNvPr id="110" name="Text 101"/>
          <p:cNvSpPr txBox="1"/>
          <p:nvPr/>
        </p:nvSpPr>
        <p:spPr>
          <a:xfrm>
            <a:off x="6910121" y="309750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111" name="Text 102"/>
          <p:cNvSpPr txBox="1"/>
          <p:nvPr/>
        </p:nvSpPr>
        <p:spPr>
          <a:xfrm>
            <a:off x="6953098" y="309750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소개</a:t>
            </a:r>
            <a:endParaRPr lang="en-US" sz="750" dirty="0"/>
          </a:p>
        </p:txBody>
      </p:sp>
      <p:sp>
        <p:nvSpPr>
          <p:cNvPr id="112" name="Text 103"/>
          <p:cNvSpPr txBox="1"/>
          <p:nvPr/>
        </p:nvSpPr>
        <p:spPr>
          <a:xfrm>
            <a:off x="7125005" y="309750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800" dirty="0"/>
          </a:p>
        </p:txBody>
      </p:sp>
      <p:sp>
        <p:nvSpPr>
          <p:cNvPr id="113" name="Text 104"/>
          <p:cNvSpPr txBox="1"/>
          <p:nvPr/>
        </p:nvSpPr>
        <p:spPr>
          <a:xfrm>
            <a:off x="7296912" y="3097508"/>
            <a:ext cx="29535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&lt;/li&gt;</a:t>
            </a:r>
            <a:endParaRPr lang="en-US" sz="800" dirty="0"/>
          </a:p>
        </p:txBody>
      </p:sp>
      <p:sp>
        <p:nvSpPr>
          <p:cNvPr id="114" name="Text 105"/>
          <p:cNvSpPr txBox="1"/>
          <p:nvPr/>
        </p:nvSpPr>
        <p:spPr>
          <a:xfrm>
            <a:off x="6095391" y="323466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&lt;li&gt;</a:t>
            </a:r>
            <a:endParaRPr lang="en-US" sz="800" dirty="0"/>
          </a:p>
        </p:txBody>
      </p:sp>
      <p:sp>
        <p:nvSpPr>
          <p:cNvPr id="115" name="Text 106"/>
          <p:cNvSpPr txBox="1"/>
          <p:nvPr/>
        </p:nvSpPr>
        <p:spPr>
          <a:xfrm>
            <a:off x="6266383" y="3234668"/>
            <a:ext cx="171907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800" dirty="0"/>
          </a:p>
        </p:txBody>
      </p:sp>
      <p:sp>
        <p:nvSpPr>
          <p:cNvPr id="116" name="Text 107"/>
          <p:cNvSpPr txBox="1"/>
          <p:nvPr/>
        </p:nvSpPr>
        <p:spPr>
          <a:xfrm>
            <a:off x="6352337" y="323466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800" dirty="0"/>
          </a:p>
        </p:txBody>
      </p:sp>
      <p:sp>
        <p:nvSpPr>
          <p:cNvPr id="117" name="Text 108"/>
          <p:cNvSpPr txBox="1"/>
          <p:nvPr/>
        </p:nvSpPr>
        <p:spPr>
          <a:xfrm>
            <a:off x="6524244" y="323466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118" name="Text 109"/>
          <p:cNvSpPr txBox="1"/>
          <p:nvPr/>
        </p:nvSpPr>
        <p:spPr>
          <a:xfrm>
            <a:off x="6567221" y="3234668"/>
            <a:ext cx="56692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"#projects"</a:t>
            </a:r>
            <a:endParaRPr lang="en-US" sz="800" dirty="0"/>
          </a:p>
        </p:txBody>
      </p:sp>
      <p:sp>
        <p:nvSpPr>
          <p:cNvPr id="119" name="Text 110"/>
          <p:cNvSpPr txBox="1"/>
          <p:nvPr/>
        </p:nvSpPr>
        <p:spPr>
          <a:xfrm>
            <a:off x="7039051" y="323466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120" name="Text 111"/>
          <p:cNvSpPr txBox="1"/>
          <p:nvPr/>
        </p:nvSpPr>
        <p:spPr>
          <a:xfrm>
            <a:off x="7082028" y="3234668"/>
            <a:ext cx="428854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프로젝트</a:t>
            </a:r>
            <a:endParaRPr lang="en-US" sz="750" dirty="0"/>
          </a:p>
        </p:txBody>
      </p:sp>
      <p:sp>
        <p:nvSpPr>
          <p:cNvPr id="121" name="Text 112"/>
          <p:cNvSpPr txBox="1"/>
          <p:nvPr/>
        </p:nvSpPr>
        <p:spPr>
          <a:xfrm>
            <a:off x="7424928" y="323466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800" dirty="0"/>
          </a:p>
        </p:txBody>
      </p:sp>
      <p:sp>
        <p:nvSpPr>
          <p:cNvPr id="122" name="Text 113"/>
          <p:cNvSpPr txBox="1"/>
          <p:nvPr/>
        </p:nvSpPr>
        <p:spPr>
          <a:xfrm>
            <a:off x="7596835" y="3234668"/>
            <a:ext cx="29535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&lt;/li&gt;</a:t>
            </a:r>
            <a:endParaRPr lang="en-US" sz="800" dirty="0"/>
          </a:p>
        </p:txBody>
      </p:sp>
      <p:sp>
        <p:nvSpPr>
          <p:cNvPr id="123" name="Text 114"/>
          <p:cNvSpPr txBox="1"/>
          <p:nvPr/>
        </p:nvSpPr>
        <p:spPr>
          <a:xfrm>
            <a:off x="6095391" y="337182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&lt;li&gt;</a:t>
            </a:r>
            <a:endParaRPr lang="en-US" sz="800" dirty="0"/>
          </a:p>
        </p:txBody>
      </p:sp>
      <p:sp>
        <p:nvSpPr>
          <p:cNvPr id="124" name="Text 115"/>
          <p:cNvSpPr txBox="1"/>
          <p:nvPr/>
        </p:nvSpPr>
        <p:spPr>
          <a:xfrm>
            <a:off x="6266383" y="3371828"/>
            <a:ext cx="171907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800" dirty="0"/>
          </a:p>
        </p:txBody>
      </p:sp>
      <p:sp>
        <p:nvSpPr>
          <p:cNvPr id="125" name="Text 116"/>
          <p:cNvSpPr txBox="1"/>
          <p:nvPr/>
        </p:nvSpPr>
        <p:spPr>
          <a:xfrm>
            <a:off x="6352337" y="337182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800" dirty="0"/>
          </a:p>
        </p:txBody>
      </p:sp>
      <p:sp>
        <p:nvSpPr>
          <p:cNvPr id="126" name="Text 117"/>
          <p:cNvSpPr txBox="1"/>
          <p:nvPr/>
        </p:nvSpPr>
        <p:spPr>
          <a:xfrm>
            <a:off x="6524244" y="337182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127" name="Text 118"/>
          <p:cNvSpPr txBox="1"/>
          <p:nvPr/>
        </p:nvSpPr>
        <p:spPr>
          <a:xfrm>
            <a:off x="6567221" y="3371828"/>
            <a:ext cx="522122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"#contact"</a:t>
            </a:r>
            <a:endParaRPr lang="en-US" sz="800" dirty="0"/>
          </a:p>
        </p:txBody>
      </p:sp>
      <p:sp>
        <p:nvSpPr>
          <p:cNvPr id="128" name="Text 119"/>
          <p:cNvSpPr txBox="1"/>
          <p:nvPr/>
        </p:nvSpPr>
        <p:spPr>
          <a:xfrm>
            <a:off x="6996075" y="3371828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129" name="Text 120"/>
          <p:cNvSpPr txBox="1"/>
          <p:nvPr/>
        </p:nvSpPr>
        <p:spPr>
          <a:xfrm>
            <a:off x="7039051" y="3371828"/>
            <a:ext cx="342900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연락처</a:t>
            </a:r>
            <a:endParaRPr lang="en-US" sz="750" dirty="0"/>
          </a:p>
        </p:txBody>
      </p:sp>
      <p:sp>
        <p:nvSpPr>
          <p:cNvPr id="130" name="Text 121"/>
          <p:cNvSpPr txBox="1"/>
          <p:nvPr/>
        </p:nvSpPr>
        <p:spPr>
          <a:xfrm>
            <a:off x="7295998" y="3371828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800" dirty="0"/>
          </a:p>
        </p:txBody>
      </p:sp>
      <p:sp>
        <p:nvSpPr>
          <p:cNvPr id="131" name="Text 122"/>
          <p:cNvSpPr txBox="1"/>
          <p:nvPr/>
        </p:nvSpPr>
        <p:spPr>
          <a:xfrm>
            <a:off x="7467905" y="3371828"/>
            <a:ext cx="29535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&lt;/li&gt;</a:t>
            </a:r>
            <a:endParaRPr lang="en-US" sz="800" dirty="0"/>
          </a:p>
        </p:txBody>
      </p:sp>
      <p:sp>
        <p:nvSpPr>
          <p:cNvPr id="132" name="Text 123"/>
          <p:cNvSpPr txBox="1"/>
          <p:nvPr/>
        </p:nvSpPr>
        <p:spPr>
          <a:xfrm>
            <a:off x="5942686" y="3508988"/>
            <a:ext cx="29535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&lt;/ul&gt;</a:t>
            </a:r>
            <a:endParaRPr lang="en-US" sz="800" dirty="0"/>
          </a:p>
        </p:txBody>
      </p:sp>
      <p:sp>
        <p:nvSpPr>
          <p:cNvPr id="133" name="Text 124"/>
          <p:cNvSpPr txBox="1"/>
          <p:nvPr/>
        </p:nvSpPr>
        <p:spPr>
          <a:xfrm>
            <a:off x="5789981" y="3646148"/>
            <a:ext cx="342900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&lt;/nav&gt;</a:t>
            </a:r>
            <a:endParaRPr lang="en-US" sz="800" dirty="0"/>
          </a:p>
        </p:txBody>
      </p:sp>
      <p:sp>
        <p:nvSpPr>
          <p:cNvPr id="134" name="Text 125"/>
          <p:cNvSpPr txBox="1"/>
          <p:nvPr/>
        </p:nvSpPr>
        <p:spPr>
          <a:xfrm>
            <a:off x="5638191" y="3784222"/>
            <a:ext cx="467258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&lt;/header&gt;</a:t>
            </a:r>
            <a:endParaRPr lang="en-US" sz="800" dirty="0"/>
          </a:p>
        </p:txBody>
      </p:sp>
      <p:sp>
        <p:nvSpPr>
          <p:cNvPr id="135" name="Text 126"/>
          <p:cNvSpPr txBox="1"/>
          <p:nvPr/>
        </p:nvSpPr>
        <p:spPr>
          <a:xfrm>
            <a:off x="5638191" y="4057628"/>
            <a:ext cx="1185062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메인 콘텐츠 영역 --&gt;</a:t>
            </a:r>
            <a:endParaRPr lang="en-US" sz="800" dirty="0"/>
          </a:p>
        </p:txBody>
      </p:sp>
      <p:sp>
        <p:nvSpPr>
          <p:cNvPr id="136" name="Text 127"/>
          <p:cNvSpPr txBox="1"/>
          <p:nvPr/>
        </p:nvSpPr>
        <p:spPr>
          <a:xfrm>
            <a:off x="5638191" y="4195702"/>
            <a:ext cx="29535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&lt;main</a:t>
            </a:r>
            <a:endParaRPr lang="en-US" sz="800" dirty="0"/>
          </a:p>
        </p:txBody>
      </p:sp>
      <p:sp>
        <p:nvSpPr>
          <p:cNvPr id="137" name="Text 128"/>
          <p:cNvSpPr txBox="1"/>
          <p:nvPr/>
        </p:nvSpPr>
        <p:spPr>
          <a:xfrm>
            <a:off x="5852160" y="4195702"/>
            <a:ext cx="171907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id</a:t>
            </a:r>
            <a:endParaRPr lang="en-US" sz="800" dirty="0"/>
          </a:p>
        </p:txBody>
      </p:sp>
      <p:sp>
        <p:nvSpPr>
          <p:cNvPr id="138" name="Text 129"/>
          <p:cNvSpPr txBox="1"/>
          <p:nvPr/>
        </p:nvSpPr>
        <p:spPr>
          <a:xfrm>
            <a:off x="5938114" y="4195702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139" name="Text 130"/>
          <p:cNvSpPr txBox="1"/>
          <p:nvPr/>
        </p:nvSpPr>
        <p:spPr>
          <a:xfrm>
            <a:off x="5981091" y="4195702"/>
            <a:ext cx="726034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"main-content"</a:t>
            </a:r>
            <a:endParaRPr lang="en-US" sz="800" dirty="0"/>
          </a:p>
        </p:txBody>
      </p:sp>
      <p:sp>
        <p:nvSpPr>
          <p:cNvPr id="140" name="Text 131"/>
          <p:cNvSpPr txBox="1"/>
          <p:nvPr/>
        </p:nvSpPr>
        <p:spPr>
          <a:xfrm>
            <a:off x="6581851" y="4195702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role</a:t>
            </a:r>
            <a:endParaRPr lang="en-US" sz="800" dirty="0"/>
          </a:p>
        </p:txBody>
      </p:sp>
      <p:sp>
        <p:nvSpPr>
          <p:cNvPr id="141" name="Text 132"/>
          <p:cNvSpPr txBox="1"/>
          <p:nvPr/>
        </p:nvSpPr>
        <p:spPr>
          <a:xfrm>
            <a:off x="6752844" y="4195702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142" name="Text 133"/>
          <p:cNvSpPr txBox="1"/>
          <p:nvPr/>
        </p:nvSpPr>
        <p:spPr>
          <a:xfrm>
            <a:off x="6795821" y="4195702"/>
            <a:ext cx="342900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"main"</a:t>
            </a:r>
            <a:endParaRPr lang="en-US" sz="800" dirty="0"/>
          </a:p>
        </p:txBody>
      </p:sp>
      <p:sp>
        <p:nvSpPr>
          <p:cNvPr id="143" name="Text 134"/>
          <p:cNvSpPr txBox="1"/>
          <p:nvPr/>
        </p:nvSpPr>
        <p:spPr>
          <a:xfrm>
            <a:off x="7053682" y="4195702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144" name="Text 135"/>
          <p:cNvSpPr txBox="1"/>
          <p:nvPr/>
        </p:nvSpPr>
        <p:spPr>
          <a:xfrm>
            <a:off x="5789981" y="4332862"/>
            <a:ext cx="1674266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섹션들이 여기에 들어갑니다 --&gt;</a:t>
            </a:r>
            <a:endParaRPr lang="en-US" sz="800" dirty="0"/>
          </a:p>
        </p:txBody>
      </p:sp>
      <p:sp>
        <p:nvSpPr>
          <p:cNvPr id="145" name="Text 136"/>
          <p:cNvSpPr txBox="1"/>
          <p:nvPr/>
        </p:nvSpPr>
        <p:spPr>
          <a:xfrm>
            <a:off x="5638191" y="4470022"/>
            <a:ext cx="38130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&lt;/main&gt;</a:t>
            </a:r>
            <a:endParaRPr lang="en-US" sz="800" dirty="0"/>
          </a:p>
        </p:txBody>
      </p:sp>
      <p:sp>
        <p:nvSpPr>
          <p:cNvPr id="146" name="Text 137"/>
          <p:cNvSpPr txBox="1"/>
          <p:nvPr/>
        </p:nvSpPr>
        <p:spPr>
          <a:xfrm>
            <a:off x="5638191" y="4744342"/>
            <a:ext cx="38130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&lt;footer</a:t>
            </a:r>
            <a:endParaRPr lang="en-US" sz="800" dirty="0"/>
          </a:p>
        </p:txBody>
      </p:sp>
      <p:sp>
        <p:nvSpPr>
          <p:cNvPr id="147" name="Text 138"/>
          <p:cNvSpPr txBox="1"/>
          <p:nvPr/>
        </p:nvSpPr>
        <p:spPr>
          <a:xfrm>
            <a:off x="5938114" y="4744342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role</a:t>
            </a:r>
            <a:endParaRPr lang="en-US" sz="800" dirty="0"/>
          </a:p>
        </p:txBody>
      </p:sp>
      <p:sp>
        <p:nvSpPr>
          <p:cNvPr id="148" name="Text 139"/>
          <p:cNvSpPr txBox="1"/>
          <p:nvPr/>
        </p:nvSpPr>
        <p:spPr>
          <a:xfrm>
            <a:off x="6110021" y="4744342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149" name="Text 140"/>
          <p:cNvSpPr txBox="1"/>
          <p:nvPr/>
        </p:nvSpPr>
        <p:spPr>
          <a:xfrm>
            <a:off x="6152998" y="4744342"/>
            <a:ext cx="66934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"contentinfo"</a:t>
            </a:r>
            <a:endParaRPr lang="en-US" sz="800" dirty="0"/>
          </a:p>
        </p:txBody>
      </p:sp>
      <p:sp>
        <p:nvSpPr>
          <p:cNvPr id="150" name="Text 141"/>
          <p:cNvSpPr txBox="1"/>
          <p:nvPr/>
        </p:nvSpPr>
        <p:spPr>
          <a:xfrm>
            <a:off x="6709867" y="4744342"/>
            <a:ext cx="1243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151" name="Text 142"/>
          <p:cNvSpPr txBox="1"/>
          <p:nvPr/>
        </p:nvSpPr>
        <p:spPr>
          <a:xfrm>
            <a:off x="5789981" y="4881502"/>
            <a:ext cx="210312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&lt;p&gt;</a:t>
            </a:r>
            <a:endParaRPr lang="en-US" sz="800" dirty="0"/>
          </a:p>
        </p:txBody>
      </p:sp>
      <p:sp>
        <p:nvSpPr>
          <p:cNvPr id="152" name="Text 143"/>
          <p:cNvSpPr txBox="1"/>
          <p:nvPr/>
        </p:nvSpPr>
        <p:spPr>
          <a:xfrm>
            <a:off x="5918911" y="4881502"/>
            <a:ext cx="2199132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© 2026 Developer Kim. All rights reserved.</a:t>
            </a:r>
            <a:endParaRPr lang="en-US" sz="800" dirty="0"/>
          </a:p>
        </p:txBody>
      </p:sp>
      <p:sp>
        <p:nvSpPr>
          <p:cNvPr id="153" name="Text 144"/>
          <p:cNvSpPr txBox="1"/>
          <p:nvPr/>
        </p:nvSpPr>
        <p:spPr>
          <a:xfrm>
            <a:off x="7762342" y="4881502"/>
            <a:ext cx="257861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&lt;/p&gt;</a:t>
            </a:r>
            <a:endParaRPr lang="en-US" sz="800" dirty="0"/>
          </a:p>
        </p:txBody>
      </p:sp>
      <p:sp>
        <p:nvSpPr>
          <p:cNvPr id="154" name="Text 145"/>
          <p:cNvSpPr txBox="1"/>
          <p:nvPr/>
        </p:nvSpPr>
        <p:spPr>
          <a:xfrm>
            <a:off x="5638191" y="5018662"/>
            <a:ext cx="467258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&lt;/footer&gt;</a:t>
            </a:r>
            <a:endParaRPr lang="en-US" sz="800" dirty="0"/>
          </a:p>
        </p:txBody>
      </p:sp>
      <p:sp>
        <p:nvSpPr>
          <p:cNvPr id="155" name="Text 146"/>
          <p:cNvSpPr txBox="1"/>
          <p:nvPr/>
        </p:nvSpPr>
        <p:spPr>
          <a:xfrm>
            <a:off x="5485486" y="5155822"/>
            <a:ext cx="38130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&lt;/body&gt;</a:t>
            </a:r>
            <a:endParaRPr lang="en-US" sz="800" dirty="0"/>
          </a:p>
        </p:txBody>
      </p:sp>
      <p:sp>
        <p:nvSpPr>
          <p:cNvPr id="156" name="Text 147"/>
          <p:cNvSpPr txBox="1"/>
          <p:nvPr/>
        </p:nvSpPr>
        <p:spPr>
          <a:xfrm>
            <a:off x="5785409" y="5155822"/>
            <a:ext cx="381305" cy="8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&lt;/html&gt;</a:t>
            </a:r>
            <a:endParaRPr lang="en-US" sz="800" dirty="0"/>
          </a:p>
        </p:txBody>
      </p:sp>
      <p:sp>
        <p:nvSpPr>
          <p:cNvPr id="1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20827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GEMINI PRACTICE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6190488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CSS 카드 레이아웃 실습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8077" y="1504187"/>
            <a:ext cx="3715207" cy="3771900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5821" y="1775764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4421" y="1741931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5821" y="2056484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0918" y="2142438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45821" y="2436875"/>
            <a:ext cx="3230575" cy="259415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6074" y="2637128"/>
            <a:ext cx="2753258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"반응형 웹 디자인 전문가로서, 포트폴리오 프로젝트 섹션에 사용할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55218" y="3103855"/>
            <a:ext cx="290596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CSS Grid 카드 레이아웃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641245" y="3084509"/>
            <a:ext cx="12966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코드를 작성해줘.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6074" y="3612793"/>
            <a:ext cx="249631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데스크탑 3열, 모바일 1열 자동 조정 (auto-fit 사용)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046074" y="4100168"/>
            <a:ext cx="25722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카드 Hover 시 부드러운 떠오름 효과(transform)와 그림자 추가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1046074" y="4587544"/>
            <a:ext cx="29708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접근성을 위한 포커스 스타일 포함"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08077" y="5498286"/>
            <a:ext cx="3715207" cy="1007670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608077" y="5498287"/>
            <a:ext cx="45719" cy="951890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6677" y="5676594"/>
            <a:ext cx="105156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79323" y="5669279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36677" y="5878676"/>
            <a:ext cx="334396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Gemini는 CSS Grid의 최신 스펙인 repeat(auto-fit, minmax(...)) 패턴을 잘 이해합니다. 미디어 쿼리 없이도 반응형을 구현하는 것이 핵심입니다.</a:t>
            </a:r>
            <a:endParaRPr lang="en-US" sz="10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5445" y="1537105"/>
            <a:ext cx="171907" cy="1335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43247" y="1504187"/>
            <a:ext cx="235915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(STYLE.CSS)</a:t>
            </a:r>
            <a:endParaRPr lang="en-US" sz="10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5445" y="1817826"/>
            <a:ext cx="6884518" cy="440283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695445" y="1817826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4848150" y="1967788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038345" y="1967788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229454" y="1967788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5533950" y="1961387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style.css</a:t>
            </a:r>
            <a:endParaRPr lang="en-US" sz="900" dirty="0"/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D7517CE5-104C-6215-DDD9-B16350D1E334}"/>
              </a:ext>
            </a:extLst>
          </p:cNvPr>
          <p:cNvGrpSpPr/>
          <p:nvPr/>
        </p:nvGrpSpPr>
        <p:grpSpPr>
          <a:xfrm>
            <a:off x="5038345" y="2499054"/>
            <a:ext cx="4407408" cy="3572561"/>
            <a:chOff x="4925873" y="2679192"/>
            <a:chExt cx="4521708" cy="5401361"/>
          </a:xfrm>
        </p:grpSpPr>
        <p:sp>
          <p:nvSpPr>
            <p:cNvPr id="31" name="Text 23"/>
            <p:cNvSpPr txBox="1"/>
            <p:nvPr/>
          </p:nvSpPr>
          <p:spPr>
            <a:xfrm>
              <a:off x="4925873" y="2679192"/>
              <a:ext cx="222199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Projects Grid Layout */</a:t>
              </a:r>
              <a:endParaRPr lang="en-US" sz="11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4925873" y="2907792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.projects-grid</a:t>
              </a:r>
              <a:endParaRPr lang="en-US" sz="11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926226" y="29077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5078578" y="3136392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display</a:t>
              </a:r>
              <a:endParaRPr lang="en-US" sz="110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5578754" y="31363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721401" y="3136392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grid</a:t>
              </a:r>
              <a:endParaRPr lang="en-US" sz="11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6007608" y="31363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5078578" y="3364992"/>
              <a:ext cx="429127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300px 이상 공간이 있으면 자동으로 열을 채움 (반응형) */</a:t>
              </a:r>
              <a:endParaRPr lang="en-US" sz="11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5078578" y="3593592"/>
              <a:ext cx="179131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grid-template-columns</a:t>
              </a:r>
              <a:endParaRPr lang="en-US" sz="11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6579108" y="35935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6721754" y="3593592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repeat</a:t>
              </a:r>
              <a:endParaRPr lang="en-US" sz="11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7150608" y="35935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7221931" y="3593592"/>
              <a:ext cx="68671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auto-fit</a:t>
              </a:r>
              <a:endParaRPr lang="en-US" sz="11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7794346" y="35935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11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7936992" y="3593592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minmax</a:t>
              </a:r>
              <a:endParaRPr lang="en-US" sz="11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8365846" y="35935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8437169" y="3593592"/>
              <a:ext cx="4389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300px</a:t>
              </a:r>
              <a:endParaRPr lang="en-US" sz="11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8794699" y="35935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11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8937346" y="3593592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1fr</a:t>
              </a:r>
              <a:endParaRPr lang="en-US" sz="11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9152230" y="3593592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));</a:t>
              </a:r>
              <a:endParaRPr lang="en-US" sz="11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5078578" y="3822192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gap</a:t>
              </a:r>
              <a:endParaRPr lang="en-US" sz="11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5293462" y="38221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5436108" y="3822192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2rem</a:t>
              </a:r>
              <a:endParaRPr lang="en-US" sz="11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5722315" y="38221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5078578" y="4050792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padding</a:t>
              </a:r>
              <a:endParaRPr lang="en-US" sz="11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5578754" y="40507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5721401" y="4050792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2rem 0</a:t>
              </a:r>
              <a:endParaRPr lang="en-US" sz="11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6150254" y="40507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4925873" y="42793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4925873" y="4736592"/>
              <a:ext cx="205191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Project Card Style */</a:t>
              </a:r>
              <a:endParaRPr lang="en-US" sz="11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4925873" y="4965192"/>
              <a:ext cx="111099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.project-card</a:t>
              </a:r>
              <a:endParaRPr lang="en-US" sz="11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5854903" y="49651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5078578" y="5193792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background</a:t>
              </a:r>
              <a:endParaRPr lang="en-US" sz="11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5792724" y="51937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5936285" y="5193792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var(--bg-card)</a:t>
              </a:r>
              <a:endParaRPr lang="en-US" sz="110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6936638" y="51937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5078578" y="5422392"/>
              <a:ext cx="111099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border-radius</a:t>
              </a:r>
              <a:endParaRPr lang="en-US" sz="110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6007608" y="54223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6150254" y="5422392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12px</a:t>
              </a:r>
              <a:endParaRPr lang="en-US" sz="110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6436462" y="54223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5078578" y="5650992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box-shadow</a:t>
              </a:r>
              <a:endParaRPr lang="en-US" sz="11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5792724" y="56509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5936285" y="5650992"/>
              <a:ext cx="222199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 4px 6px rgba(0,0,0,0.05)</a:t>
              </a:r>
              <a:endParaRPr lang="en-US" sz="110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7793431" y="56509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5078578" y="5879592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transition</a:t>
              </a:r>
              <a:endParaRPr lang="en-US" sz="110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5792724" y="58795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5936285" y="5879592"/>
              <a:ext cx="348843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transform 0.3s ease, box-shadow 0.3s ease</a:t>
              </a:r>
              <a:endParaRPr lang="en-US" sz="110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8865108" y="58795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4925873" y="61081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4925873" y="6565392"/>
              <a:ext cx="230154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Hover &amp; Focus Effects */</a:t>
              </a:r>
              <a:endParaRPr lang="en-US" sz="1100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4925873" y="6793992"/>
              <a:ext cx="162123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.project-card:hover</a:t>
              </a:r>
              <a:endParaRPr lang="en-US" sz="1100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6283757" y="67939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1100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4925873" y="7022592"/>
              <a:ext cx="230154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.project-card:focus-visible</a:t>
              </a:r>
              <a:endParaRPr lang="en-US" sz="1100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6855257" y="70225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5078578" y="7251192"/>
              <a:ext cx="77083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transform</a:t>
              </a:r>
              <a:endParaRPr lang="en-US" sz="1100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5721401" y="72511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5864962" y="7251192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translateY</a:t>
              </a:r>
              <a:endParaRPr lang="en-US" sz="1100" dirty="0"/>
            </a:p>
          </p:txBody>
        </p:sp>
        <p:sp>
          <p:nvSpPr>
            <p:cNvPr id="88" name="Text 80"/>
            <p:cNvSpPr txBox="1"/>
            <p:nvPr/>
          </p:nvSpPr>
          <p:spPr>
            <a:xfrm>
              <a:off x="6579108" y="72511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89" name="Text 81"/>
            <p:cNvSpPr txBox="1"/>
            <p:nvPr/>
          </p:nvSpPr>
          <p:spPr>
            <a:xfrm>
              <a:off x="6650431" y="7251192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-8px</a:t>
              </a:r>
              <a:endParaRPr lang="en-US" sz="1100" dirty="0"/>
            </a:p>
          </p:txBody>
        </p:sp>
        <p:sp>
          <p:nvSpPr>
            <p:cNvPr id="90" name="Text 82"/>
            <p:cNvSpPr txBox="1"/>
            <p:nvPr/>
          </p:nvSpPr>
          <p:spPr>
            <a:xfrm>
              <a:off x="6936638" y="72511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91" name="Text 83"/>
            <p:cNvSpPr txBox="1"/>
            <p:nvPr/>
          </p:nvSpPr>
          <p:spPr>
            <a:xfrm>
              <a:off x="5078578" y="7479792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box-shadow</a:t>
              </a:r>
              <a:endParaRPr lang="en-US" sz="1100" dirty="0"/>
            </a:p>
          </p:txBody>
        </p:sp>
        <p:sp>
          <p:nvSpPr>
            <p:cNvPr id="92" name="Text 84"/>
            <p:cNvSpPr txBox="1"/>
            <p:nvPr/>
          </p:nvSpPr>
          <p:spPr>
            <a:xfrm>
              <a:off x="5792724" y="74797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93" name="Text 85"/>
            <p:cNvSpPr txBox="1"/>
            <p:nvPr/>
          </p:nvSpPr>
          <p:spPr>
            <a:xfrm>
              <a:off x="5936285" y="7479792"/>
              <a:ext cx="230154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 12px 20px rgba(0,0,0,0.1)</a:t>
              </a:r>
              <a:endParaRPr lang="en-US" sz="1100" dirty="0"/>
            </a:p>
          </p:txBody>
        </p:sp>
        <p:sp>
          <p:nvSpPr>
            <p:cNvPr id="94" name="Text 86"/>
            <p:cNvSpPr txBox="1"/>
            <p:nvPr/>
          </p:nvSpPr>
          <p:spPr>
            <a:xfrm>
              <a:off x="7864754" y="74797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95" name="Text 87"/>
            <p:cNvSpPr txBox="1"/>
            <p:nvPr/>
          </p:nvSpPr>
          <p:spPr>
            <a:xfrm>
              <a:off x="5078578" y="7708392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outline</a:t>
              </a:r>
              <a:endParaRPr lang="en-US" sz="1100" dirty="0"/>
            </a:p>
          </p:txBody>
        </p:sp>
        <p:sp>
          <p:nvSpPr>
            <p:cNvPr id="96" name="Text 88"/>
            <p:cNvSpPr txBox="1"/>
            <p:nvPr/>
          </p:nvSpPr>
          <p:spPr>
            <a:xfrm>
              <a:off x="5578754" y="77083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97" name="Text 89"/>
            <p:cNvSpPr txBox="1"/>
            <p:nvPr/>
          </p:nvSpPr>
          <p:spPr>
            <a:xfrm>
              <a:off x="5721401" y="7708392"/>
              <a:ext cx="1451153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2px solid #FF6908</a:t>
              </a:r>
              <a:endParaRPr lang="en-US" sz="1100" dirty="0"/>
            </a:p>
          </p:txBody>
        </p:sp>
        <p:sp>
          <p:nvSpPr>
            <p:cNvPr id="98" name="Text 90"/>
            <p:cNvSpPr txBox="1"/>
            <p:nvPr/>
          </p:nvSpPr>
          <p:spPr>
            <a:xfrm>
              <a:off x="6936638" y="77083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99" name="Text 91"/>
            <p:cNvSpPr txBox="1"/>
            <p:nvPr/>
          </p:nvSpPr>
          <p:spPr>
            <a:xfrm>
              <a:off x="7079285" y="7708392"/>
              <a:ext cx="1657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접근성 포커스 링 */</a:t>
              </a:r>
              <a:endParaRPr lang="en-US" sz="1100" dirty="0"/>
            </a:p>
          </p:txBody>
        </p:sp>
        <p:sp>
          <p:nvSpPr>
            <p:cNvPr id="100" name="Text 92"/>
            <p:cNvSpPr txBox="1"/>
            <p:nvPr/>
          </p:nvSpPr>
          <p:spPr>
            <a:xfrm>
              <a:off x="4925873" y="79369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</p:grpSp>
      <p:sp>
        <p:nvSpPr>
          <p:cNvPr id="10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56573-A677-FC3C-19EA-53FFF9090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97D05CE-6885-1E58-1DEE-2FD03EAB8405}"/>
              </a:ext>
            </a:extLst>
          </p:cNvPr>
          <p:cNvSpPr txBox="1"/>
          <p:nvPr/>
        </p:nvSpPr>
        <p:spPr>
          <a:xfrm>
            <a:off x="609905" y="495605"/>
            <a:ext cx="279989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EXAMPLE 01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8D0855-2898-48B2-CDE3-3DE17B8F6340}"/>
              </a:ext>
            </a:extLst>
          </p:cNvPr>
          <p:cNvSpPr txBox="1"/>
          <p:nvPr/>
        </p:nvSpPr>
        <p:spPr>
          <a:xfrm>
            <a:off x="609904" y="875995"/>
            <a:ext cx="638015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Sticky Navbar </a:t>
            </a:r>
            <a:r>
              <a:rPr lang="en-US" sz="36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</a:t>
            </a: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– part</a:t>
            </a:r>
            <a:r>
              <a:rPr lang="ko-KR" alt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D119A6C-808F-C794-E5D4-B7B5BBC1F5C1}"/>
              </a:ext>
            </a:extLst>
          </p:cNvPr>
          <p:cNvSpPr/>
          <p:nvPr/>
        </p:nvSpPr>
        <p:spPr>
          <a:xfrm>
            <a:off x="609905" y="1684325"/>
            <a:ext cx="3715207" cy="3552444"/>
          </a:xfrm>
          <a:prstGeom prst="roundRect">
            <a:avLst>
              <a:gd name="adj" fmla="val 138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FD8CDF28-3D3F-4093-B817-E88FDFA4E2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6B47289F-8736-2AC0-371B-108D2E44C040}"/>
              </a:ext>
            </a:extLst>
          </p:cNvPr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9F28987-8650-5A60-1B0C-370781271775}"/>
              </a:ext>
            </a:extLst>
          </p:cNvPr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CC614A31-A5EA-4806-CBC6-1195C19FBA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B39412D7-CF63-F87A-99D9-902C289542A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11" b="-11"/>
          <a:stretch/>
        </p:blipFill>
        <p:spPr>
          <a:xfrm>
            <a:off x="847649" y="2617013"/>
            <a:ext cx="3230575" cy="2378354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30F16262-338F-4590-6E23-A24504F11A8F}"/>
              </a:ext>
            </a:extLst>
          </p:cNvPr>
          <p:cNvSpPr txBox="1"/>
          <p:nvPr/>
        </p:nvSpPr>
        <p:spPr>
          <a:xfrm>
            <a:off x="1047902" y="2817266"/>
            <a:ext cx="2931568" cy="1981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"스크롤 시 상단에 고정되는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Sticky Navbar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구현해줘. CSS는 </a:t>
            </a:r>
            <a:r>
              <a:rPr lang="en-US" sz="1000" dirty="0">
                <a:solidFill>
                  <a:srgbClr val="D9770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position: sticky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사용하고,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자바스크립트로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IntersectionObserver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활용하여 현재 보고 있는 섹션에 해당하는 메뉴가 자동으로 하이라이트(active 클래스 </a:t>
            </a: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되도록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해줘."</a:t>
            </a:r>
            <a:endParaRPr lang="en-US" sz="12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613FE209-9A66-A0AE-9B47-E913D18D8202}"/>
              </a:ext>
            </a:extLst>
          </p:cNvPr>
          <p:cNvSpPr/>
          <p:nvPr/>
        </p:nvSpPr>
        <p:spPr>
          <a:xfrm>
            <a:off x="609905" y="5461711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4544E71F-BA43-4F84-CA42-B09FDE6C5536}"/>
              </a:ext>
            </a:extLst>
          </p:cNvPr>
          <p:cNvSpPr/>
          <p:nvPr/>
        </p:nvSpPr>
        <p:spPr>
          <a:xfrm>
            <a:off x="609905" y="5461711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>
            <a:extLst>
              <a:ext uri="{FF2B5EF4-FFF2-40B4-BE49-F238E27FC236}">
                <a16:creationId xmlns:a16="http://schemas.microsoft.com/office/drawing/2014/main" id="{60816EBF-49F2-97FC-B830-B99847A2522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640934"/>
            <a:ext cx="105156" cy="133502"/>
          </a:xfrm>
          <a:prstGeom prst="rect">
            <a:avLst/>
          </a:prstGeom>
        </p:spPr>
      </p:pic>
      <p:sp>
        <p:nvSpPr>
          <p:cNvPr id="16" name="Text 10">
            <a:extLst>
              <a:ext uri="{FF2B5EF4-FFF2-40B4-BE49-F238E27FC236}">
                <a16:creationId xmlns:a16="http://schemas.microsoft.com/office/drawing/2014/main" id="{78B5CACF-35C8-F485-0EA9-D24E8FE91074}"/>
              </a:ext>
            </a:extLst>
          </p:cNvPr>
          <p:cNvSpPr txBox="1"/>
          <p:nvPr/>
        </p:nvSpPr>
        <p:spPr>
          <a:xfrm>
            <a:off x="981151" y="5633618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B505056B-AD80-65C3-5E59-3DE011734F85}"/>
              </a:ext>
            </a:extLst>
          </p:cNvPr>
          <p:cNvSpPr txBox="1"/>
          <p:nvPr/>
        </p:nvSpPr>
        <p:spPr>
          <a:xfrm>
            <a:off x="838505" y="5853074"/>
            <a:ext cx="337230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기존의 scroll 이벤트 리스너 대신 </a:t>
            </a: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IntersectionObserver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사용하면 메인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스레드의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부하를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줄여 렌더링 성능을 크게 최적화할 수 있습니다.</a:t>
            </a:r>
            <a:endParaRPr lang="en-US" sz="1100" dirty="0"/>
          </a:p>
        </p:txBody>
      </p:sp>
      <p:pic>
        <p:nvPicPr>
          <p:cNvPr id="18" name="Image 4" descr="preencoded.png">
            <a:extLst>
              <a:ext uri="{FF2B5EF4-FFF2-40B4-BE49-F238E27FC236}">
                <a16:creationId xmlns:a16="http://schemas.microsoft.com/office/drawing/2014/main" id="{61FDE171-1328-09D0-00BA-BA00ED2E3FE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19" name="Text 12">
            <a:extLst>
              <a:ext uri="{FF2B5EF4-FFF2-40B4-BE49-F238E27FC236}">
                <a16:creationId xmlns:a16="http://schemas.microsoft.com/office/drawing/2014/main" id="{D8AF5814-37A9-EB1A-9F35-C9D28B7D857B}"/>
              </a:ext>
            </a:extLst>
          </p:cNvPr>
          <p:cNvSpPr txBox="1"/>
          <p:nvPr/>
        </p:nvSpPr>
        <p:spPr>
          <a:xfrm>
            <a:off x="4945075" y="1684325"/>
            <a:ext cx="23564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(SCRIPT.JS)</a:t>
            </a:r>
            <a:endParaRPr lang="en-US" sz="1000" dirty="0"/>
          </a:p>
        </p:txBody>
      </p:sp>
      <p:pic>
        <p:nvPicPr>
          <p:cNvPr id="20" name="Image 5" descr="preencoded.png">
            <a:extLst>
              <a:ext uri="{FF2B5EF4-FFF2-40B4-BE49-F238E27FC236}">
                <a16:creationId xmlns:a16="http://schemas.microsoft.com/office/drawing/2014/main" id="{0F36A328-1595-0517-F334-4990126F3A8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1" name="Shape 13">
            <a:extLst>
              <a:ext uri="{FF2B5EF4-FFF2-40B4-BE49-F238E27FC236}">
                <a16:creationId xmlns:a16="http://schemas.microsoft.com/office/drawing/2014/main" id="{AF2E4872-F047-DB92-142D-60C8A86FD340}"/>
              </a:ext>
            </a:extLst>
          </p:cNvPr>
          <p:cNvSpPr/>
          <p:nvPr/>
        </p:nvSpPr>
        <p:spPr>
          <a:xfrm>
            <a:off x="4697273" y="1997964"/>
            <a:ext cx="6886346" cy="371246"/>
          </a:xfrm>
          <a:prstGeom prst="roundRect">
            <a:avLst>
              <a:gd name="adj" fmla="val 101048"/>
            </a:avLst>
          </a:prstGeom>
          <a:solidFill>
            <a:srgbClr val="2D2D2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06FBA772-3D2C-532D-FB39-388010C325FF}"/>
              </a:ext>
            </a:extLst>
          </p:cNvPr>
          <p:cNvSpPr/>
          <p:nvPr/>
        </p:nvSpPr>
        <p:spPr>
          <a:xfrm>
            <a:off x="4849978" y="2122322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>
            <a:extLst>
              <a:ext uri="{FF2B5EF4-FFF2-40B4-BE49-F238E27FC236}">
                <a16:creationId xmlns:a16="http://schemas.microsoft.com/office/drawing/2014/main" id="{9820BAA9-6501-18F0-EA8C-5F612BDFC0F0}"/>
              </a:ext>
            </a:extLst>
          </p:cNvPr>
          <p:cNvSpPr/>
          <p:nvPr/>
        </p:nvSpPr>
        <p:spPr>
          <a:xfrm>
            <a:off x="5040173" y="2122322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EF187631-573C-590A-4F54-A57CED5BF9FC}"/>
              </a:ext>
            </a:extLst>
          </p:cNvPr>
          <p:cNvSpPr/>
          <p:nvPr/>
        </p:nvSpPr>
        <p:spPr>
          <a:xfrm>
            <a:off x="5231282" y="2122322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39CE2702-E96E-B325-66C5-E01F280E3169}"/>
              </a:ext>
            </a:extLst>
          </p:cNvPr>
          <p:cNvSpPr txBox="1"/>
          <p:nvPr/>
        </p:nvSpPr>
        <p:spPr>
          <a:xfrm>
            <a:off x="5535778" y="2112264"/>
            <a:ext cx="4672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script.js</a:t>
            </a:r>
            <a:endParaRPr lang="en-US" sz="9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D07994E-7C7E-4950-1730-370E5FC7A0E6}"/>
              </a:ext>
            </a:extLst>
          </p:cNvPr>
          <p:cNvGrpSpPr/>
          <p:nvPr/>
        </p:nvGrpSpPr>
        <p:grpSpPr>
          <a:xfrm>
            <a:off x="4697273" y="2360066"/>
            <a:ext cx="7004870" cy="3991748"/>
            <a:chOff x="4697273" y="2360066"/>
            <a:chExt cx="6886346" cy="3811219"/>
          </a:xfrm>
        </p:grpSpPr>
        <p:sp>
          <p:nvSpPr>
            <p:cNvPr id="22" name="Shape 14">
              <a:extLst>
                <a:ext uri="{FF2B5EF4-FFF2-40B4-BE49-F238E27FC236}">
                  <a16:creationId xmlns:a16="http://schemas.microsoft.com/office/drawing/2014/main" id="{BA2C2493-8AD8-0EF3-E504-C448C006E25A}"/>
                </a:ext>
              </a:extLst>
            </p:cNvPr>
            <p:cNvSpPr/>
            <p:nvPr/>
          </p:nvSpPr>
          <p:spPr>
            <a:xfrm>
              <a:off x="4697273" y="2360066"/>
              <a:ext cx="6886346" cy="9144"/>
            </a:xfrm>
            <a:prstGeom prst="roundRect">
              <a:avLst>
                <a:gd name="adj" fmla="val 4102564"/>
              </a:avLst>
            </a:prstGeom>
            <a:solidFill>
              <a:srgbClr val="333333"/>
            </a:solidFill>
            <a:ln w="12700">
              <a:solidFill>
                <a:srgbClr val="333333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27" name="Text 19">
              <a:extLst>
                <a:ext uri="{FF2B5EF4-FFF2-40B4-BE49-F238E27FC236}">
                  <a16:creationId xmlns:a16="http://schemas.microsoft.com/office/drawing/2014/main" id="{845F9FAE-F4C7-0471-A4E7-08B9E918D2D8}"/>
                </a:ext>
              </a:extLst>
            </p:cNvPr>
            <p:cNvSpPr txBox="1"/>
            <p:nvPr/>
          </p:nvSpPr>
          <p:spPr>
            <a:xfrm>
              <a:off x="4888382" y="2579522"/>
              <a:ext cx="2734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1. 성능 및 접근성을 고려한 관찰자 설정</a:t>
              </a:r>
              <a:endParaRPr lang="en-US" sz="1100" dirty="0"/>
            </a:p>
          </p:txBody>
        </p:sp>
        <p:sp>
          <p:nvSpPr>
            <p:cNvPr id="28" name="Text 20">
              <a:extLst>
                <a:ext uri="{FF2B5EF4-FFF2-40B4-BE49-F238E27FC236}">
                  <a16:creationId xmlns:a16="http://schemas.microsoft.com/office/drawing/2014/main" id="{E41184EE-18EC-8930-6CDB-C084C795D29A}"/>
                </a:ext>
              </a:extLst>
            </p:cNvPr>
            <p:cNvSpPr txBox="1"/>
            <p:nvPr/>
          </p:nvSpPr>
          <p:spPr>
            <a:xfrm>
              <a:off x="4888382" y="2752344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1100" dirty="0"/>
            </a:p>
          </p:txBody>
        </p:sp>
        <p:sp>
          <p:nvSpPr>
            <p:cNvPr id="29" name="Text 21">
              <a:extLst>
                <a:ext uri="{FF2B5EF4-FFF2-40B4-BE49-F238E27FC236}">
                  <a16:creationId xmlns:a16="http://schemas.microsoft.com/office/drawing/2014/main" id="{537DA5D9-E8E2-C478-34B8-4F89395BD3F7}"/>
                </a:ext>
              </a:extLst>
            </p:cNvPr>
            <p:cNvSpPr txBox="1"/>
            <p:nvPr/>
          </p:nvSpPr>
          <p:spPr>
            <a:xfrm>
              <a:off x="5197450" y="2752344"/>
              <a:ext cx="111099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observerOptions</a:t>
              </a:r>
              <a:endParaRPr lang="en-US" sz="1100" dirty="0"/>
            </a:p>
          </p:txBody>
        </p:sp>
        <p:sp>
          <p:nvSpPr>
            <p:cNvPr id="30" name="Text 22">
              <a:extLst>
                <a:ext uri="{FF2B5EF4-FFF2-40B4-BE49-F238E27FC236}">
                  <a16:creationId xmlns:a16="http://schemas.microsoft.com/office/drawing/2014/main" id="{445785A4-13A4-9CA7-31CC-CCF6A87E3314}"/>
                </a:ext>
              </a:extLst>
            </p:cNvPr>
            <p:cNvSpPr txBox="1"/>
            <p:nvPr/>
          </p:nvSpPr>
          <p:spPr>
            <a:xfrm>
              <a:off x="6126480" y="275234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31" name="Text 23">
              <a:extLst>
                <a:ext uri="{FF2B5EF4-FFF2-40B4-BE49-F238E27FC236}">
                  <a16:creationId xmlns:a16="http://schemas.microsoft.com/office/drawing/2014/main" id="{B4180778-9A8B-A332-6A47-347074413518}"/>
                </a:ext>
              </a:extLst>
            </p:cNvPr>
            <p:cNvSpPr txBox="1"/>
            <p:nvPr/>
          </p:nvSpPr>
          <p:spPr>
            <a:xfrm>
              <a:off x="6188659" y="275234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32" name="Text 24">
              <a:extLst>
                <a:ext uri="{FF2B5EF4-FFF2-40B4-BE49-F238E27FC236}">
                  <a16:creationId xmlns:a16="http://schemas.microsoft.com/office/drawing/2014/main" id="{560035CB-B113-0A8F-99EA-652E597C8DDD}"/>
                </a:ext>
              </a:extLst>
            </p:cNvPr>
            <p:cNvSpPr txBox="1"/>
            <p:nvPr/>
          </p:nvSpPr>
          <p:spPr>
            <a:xfrm>
              <a:off x="4888382" y="2926080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root:</a:t>
              </a:r>
              <a:endParaRPr lang="en-US" sz="1100" dirty="0"/>
            </a:p>
          </p:txBody>
        </p:sp>
        <p:sp>
          <p:nvSpPr>
            <p:cNvPr id="33" name="Text 25">
              <a:extLst>
                <a:ext uri="{FF2B5EF4-FFF2-40B4-BE49-F238E27FC236}">
                  <a16:creationId xmlns:a16="http://schemas.microsoft.com/office/drawing/2014/main" id="{8D4524B2-8BEC-4D9F-9B4B-96E74BDFCE1E}"/>
                </a:ext>
              </a:extLst>
            </p:cNvPr>
            <p:cNvSpPr txBox="1"/>
            <p:nvPr/>
          </p:nvSpPr>
          <p:spPr>
            <a:xfrm>
              <a:off x="5259629" y="2926080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null</a:t>
              </a:r>
              <a:endParaRPr lang="en-US" sz="1100" dirty="0"/>
            </a:p>
          </p:txBody>
        </p:sp>
        <p:sp>
          <p:nvSpPr>
            <p:cNvPr id="34" name="Text 26">
              <a:extLst>
                <a:ext uri="{FF2B5EF4-FFF2-40B4-BE49-F238E27FC236}">
                  <a16:creationId xmlns:a16="http://schemas.microsoft.com/office/drawing/2014/main" id="{7CA056C8-F10D-274B-9424-6F57AF518C6B}"/>
                </a:ext>
              </a:extLst>
            </p:cNvPr>
            <p:cNvSpPr txBox="1"/>
            <p:nvPr/>
          </p:nvSpPr>
          <p:spPr>
            <a:xfrm>
              <a:off x="5507431" y="292608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1100" dirty="0"/>
            </a:p>
          </p:txBody>
        </p:sp>
        <p:sp>
          <p:nvSpPr>
            <p:cNvPr id="35" name="Text 27">
              <a:extLst>
                <a:ext uri="{FF2B5EF4-FFF2-40B4-BE49-F238E27FC236}">
                  <a16:creationId xmlns:a16="http://schemas.microsoft.com/office/drawing/2014/main" id="{A95C119C-3A59-2B4C-7B04-AAD9385DF27B}"/>
                </a:ext>
              </a:extLst>
            </p:cNvPr>
            <p:cNvSpPr txBox="1"/>
            <p:nvPr/>
          </p:nvSpPr>
          <p:spPr>
            <a:xfrm>
              <a:off x="4888382" y="3099816"/>
              <a:ext cx="820217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rootMargin:</a:t>
              </a:r>
              <a:endParaRPr lang="en-US" sz="1100" dirty="0"/>
            </a:p>
          </p:txBody>
        </p:sp>
        <p:sp>
          <p:nvSpPr>
            <p:cNvPr id="36" name="Text 28">
              <a:extLst>
                <a:ext uri="{FF2B5EF4-FFF2-40B4-BE49-F238E27FC236}">
                  <a16:creationId xmlns:a16="http://schemas.microsoft.com/office/drawing/2014/main" id="{08657FF6-56E2-06E9-6A73-E02B23BB08FE}"/>
                </a:ext>
              </a:extLst>
            </p:cNvPr>
            <p:cNvSpPr txBox="1"/>
            <p:nvPr/>
          </p:nvSpPr>
          <p:spPr>
            <a:xfrm>
              <a:off x="5630875" y="3099816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'0px'</a:t>
              </a:r>
              <a:endParaRPr lang="en-US" sz="1100" dirty="0"/>
            </a:p>
          </p:txBody>
        </p:sp>
        <p:sp>
          <p:nvSpPr>
            <p:cNvPr id="37" name="Text 29">
              <a:extLst>
                <a:ext uri="{FF2B5EF4-FFF2-40B4-BE49-F238E27FC236}">
                  <a16:creationId xmlns:a16="http://schemas.microsoft.com/office/drawing/2014/main" id="{7390384F-2829-0C6A-9149-3DDE51761BEC}"/>
                </a:ext>
              </a:extLst>
            </p:cNvPr>
            <p:cNvSpPr txBox="1"/>
            <p:nvPr/>
          </p:nvSpPr>
          <p:spPr>
            <a:xfrm>
              <a:off x="5940857" y="309981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1100" dirty="0"/>
            </a:p>
          </p:txBody>
        </p:sp>
        <p:sp>
          <p:nvSpPr>
            <p:cNvPr id="38" name="Text 30">
              <a:extLst>
                <a:ext uri="{FF2B5EF4-FFF2-40B4-BE49-F238E27FC236}">
                  <a16:creationId xmlns:a16="http://schemas.microsoft.com/office/drawing/2014/main" id="{7B13BD1D-C315-6774-35B0-026BE1AAF326}"/>
                </a:ext>
              </a:extLst>
            </p:cNvPr>
            <p:cNvSpPr txBox="1"/>
            <p:nvPr/>
          </p:nvSpPr>
          <p:spPr>
            <a:xfrm>
              <a:off x="4888382" y="3272638"/>
              <a:ext cx="762610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threshold:</a:t>
              </a:r>
              <a:endParaRPr lang="en-US" sz="1100" dirty="0"/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0E7D6310-423B-D8E1-992B-5DD9C41C60CA}"/>
                </a:ext>
              </a:extLst>
            </p:cNvPr>
            <p:cNvSpPr txBox="1"/>
            <p:nvPr/>
          </p:nvSpPr>
          <p:spPr>
            <a:xfrm>
              <a:off x="5568696" y="3272638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0.5</a:t>
              </a:r>
              <a:endParaRPr lang="en-US" sz="1100" dirty="0"/>
            </a:p>
          </p:txBody>
        </p:sp>
        <p:sp>
          <p:nvSpPr>
            <p:cNvPr id="40" name="Text 32">
              <a:extLst>
                <a:ext uri="{FF2B5EF4-FFF2-40B4-BE49-F238E27FC236}">
                  <a16:creationId xmlns:a16="http://schemas.microsoft.com/office/drawing/2014/main" id="{108867C3-75CA-BF96-FB6A-E7607ECD4769}"/>
                </a:ext>
              </a:extLst>
            </p:cNvPr>
            <p:cNvSpPr txBox="1"/>
            <p:nvPr/>
          </p:nvSpPr>
          <p:spPr>
            <a:xfrm>
              <a:off x="4888382" y="344637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};</a:t>
              </a:r>
              <a:endParaRPr lang="en-US" sz="1100" dirty="0"/>
            </a:p>
          </p:txBody>
        </p:sp>
        <p:sp>
          <p:nvSpPr>
            <p:cNvPr id="41" name="Text 33">
              <a:extLst>
                <a:ext uri="{FF2B5EF4-FFF2-40B4-BE49-F238E27FC236}">
                  <a16:creationId xmlns:a16="http://schemas.microsoft.com/office/drawing/2014/main" id="{7D69B0C5-625B-FA80-35DF-927697268DDA}"/>
                </a:ext>
              </a:extLst>
            </p:cNvPr>
            <p:cNvSpPr txBox="1"/>
            <p:nvPr/>
          </p:nvSpPr>
          <p:spPr>
            <a:xfrm>
              <a:off x="4888382" y="3792931"/>
              <a:ext cx="2873959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2. IntersectionObserver 콜백 함수 정의</a:t>
              </a:r>
              <a:endParaRPr lang="en-US" sz="1100" dirty="0"/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C1E442D7-C9E7-1623-2DCA-7DFF515EEE4C}"/>
                </a:ext>
              </a:extLst>
            </p:cNvPr>
            <p:cNvSpPr txBox="1"/>
            <p:nvPr/>
          </p:nvSpPr>
          <p:spPr>
            <a:xfrm>
              <a:off x="4888382" y="3966667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1100" dirty="0"/>
            </a:p>
          </p:txBody>
        </p:sp>
        <p:sp>
          <p:nvSpPr>
            <p:cNvPr id="43" name="Text 35">
              <a:extLst>
                <a:ext uri="{FF2B5EF4-FFF2-40B4-BE49-F238E27FC236}">
                  <a16:creationId xmlns:a16="http://schemas.microsoft.com/office/drawing/2014/main" id="{494EE711-879F-D292-BA56-41734C04964D}"/>
                </a:ext>
              </a:extLst>
            </p:cNvPr>
            <p:cNvSpPr txBox="1"/>
            <p:nvPr/>
          </p:nvSpPr>
          <p:spPr>
            <a:xfrm>
              <a:off x="5197450" y="3966667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observer</a:t>
              </a:r>
              <a:endParaRPr lang="en-US" sz="1100" dirty="0"/>
            </a:p>
          </p:txBody>
        </p:sp>
        <p:sp>
          <p:nvSpPr>
            <p:cNvPr id="44" name="Text 36">
              <a:extLst>
                <a:ext uri="{FF2B5EF4-FFF2-40B4-BE49-F238E27FC236}">
                  <a16:creationId xmlns:a16="http://schemas.microsoft.com/office/drawing/2014/main" id="{AE724AC5-040F-3123-03C8-FB19B1023E5B}"/>
                </a:ext>
              </a:extLst>
            </p:cNvPr>
            <p:cNvSpPr txBox="1"/>
            <p:nvPr/>
          </p:nvSpPr>
          <p:spPr>
            <a:xfrm>
              <a:off x="5693054" y="3966667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45" name="Text 37">
              <a:extLst>
                <a:ext uri="{FF2B5EF4-FFF2-40B4-BE49-F238E27FC236}">
                  <a16:creationId xmlns:a16="http://schemas.microsoft.com/office/drawing/2014/main" id="{A237BD3A-644B-4B57-483C-FE8ECFBA9EEE}"/>
                </a:ext>
              </a:extLst>
            </p:cNvPr>
            <p:cNvSpPr txBox="1"/>
            <p:nvPr/>
          </p:nvSpPr>
          <p:spPr>
            <a:xfrm>
              <a:off x="5755234" y="3966667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new</a:t>
              </a:r>
              <a:endParaRPr lang="en-US" sz="1100" dirty="0"/>
            </a:p>
          </p:txBody>
        </p:sp>
        <p:sp>
          <p:nvSpPr>
            <p:cNvPr id="46" name="Text 38">
              <a:extLst>
                <a:ext uri="{FF2B5EF4-FFF2-40B4-BE49-F238E27FC236}">
                  <a16:creationId xmlns:a16="http://schemas.microsoft.com/office/drawing/2014/main" id="{0F0DBFCB-2CCF-7C6C-DCEC-D6681AF70D4F}"/>
                </a:ext>
              </a:extLst>
            </p:cNvPr>
            <p:cNvSpPr txBox="1"/>
            <p:nvPr/>
          </p:nvSpPr>
          <p:spPr>
            <a:xfrm>
              <a:off x="5940857" y="3966667"/>
              <a:ext cx="147401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IntersectionObserver</a:t>
              </a:r>
              <a:endParaRPr lang="en-US" sz="1100" dirty="0"/>
            </a:p>
          </p:txBody>
        </p:sp>
        <p:sp>
          <p:nvSpPr>
            <p:cNvPr id="47" name="Text 39">
              <a:extLst>
                <a:ext uri="{FF2B5EF4-FFF2-40B4-BE49-F238E27FC236}">
                  <a16:creationId xmlns:a16="http://schemas.microsoft.com/office/drawing/2014/main" id="{9F0FB12D-13F6-D0BC-1441-7F30C9C75493}"/>
                </a:ext>
              </a:extLst>
            </p:cNvPr>
            <p:cNvSpPr txBox="1"/>
            <p:nvPr/>
          </p:nvSpPr>
          <p:spPr>
            <a:xfrm>
              <a:off x="7178954" y="3966667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((</a:t>
              </a:r>
              <a:endParaRPr lang="en-US" sz="1100" dirty="0"/>
            </a:p>
          </p:txBody>
        </p:sp>
        <p:sp>
          <p:nvSpPr>
            <p:cNvPr id="48" name="Text 40">
              <a:extLst>
                <a:ext uri="{FF2B5EF4-FFF2-40B4-BE49-F238E27FC236}">
                  <a16:creationId xmlns:a16="http://schemas.microsoft.com/office/drawing/2014/main" id="{1F117C5F-9173-FE72-1A21-C39D21D0AAA9}"/>
                </a:ext>
              </a:extLst>
            </p:cNvPr>
            <p:cNvSpPr txBox="1"/>
            <p:nvPr/>
          </p:nvSpPr>
          <p:spPr>
            <a:xfrm>
              <a:off x="7302398" y="3966667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entries</a:t>
              </a:r>
              <a:endParaRPr lang="en-US" sz="1100" dirty="0"/>
            </a:p>
          </p:txBody>
        </p:sp>
        <p:sp>
          <p:nvSpPr>
            <p:cNvPr id="49" name="Text 41">
              <a:extLst>
                <a:ext uri="{FF2B5EF4-FFF2-40B4-BE49-F238E27FC236}">
                  <a16:creationId xmlns:a16="http://schemas.microsoft.com/office/drawing/2014/main" id="{8C0F977D-5831-E923-56D3-E7C64449DEC8}"/>
                </a:ext>
              </a:extLst>
            </p:cNvPr>
            <p:cNvSpPr txBox="1"/>
            <p:nvPr/>
          </p:nvSpPr>
          <p:spPr>
            <a:xfrm>
              <a:off x="7735824" y="3966667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1100" dirty="0"/>
            </a:p>
          </p:txBody>
        </p:sp>
        <p:sp>
          <p:nvSpPr>
            <p:cNvPr id="50" name="Text 42">
              <a:extLst>
                <a:ext uri="{FF2B5EF4-FFF2-40B4-BE49-F238E27FC236}">
                  <a16:creationId xmlns:a16="http://schemas.microsoft.com/office/drawing/2014/main" id="{9E64B8F7-83E3-E2ED-E63E-71EEB0EB90DD}"/>
                </a:ext>
              </a:extLst>
            </p:cNvPr>
            <p:cNvSpPr txBox="1"/>
            <p:nvPr/>
          </p:nvSpPr>
          <p:spPr>
            <a:xfrm>
              <a:off x="7860182" y="3966667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endParaRPr lang="en-US" sz="1100" dirty="0"/>
            </a:p>
          </p:txBody>
        </p:sp>
        <p:sp>
          <p:nvSpPr>
            <p:cNvPr id="51" name="Text 43">
              <a:extLst>
                <a:ext uri="{FF2B5EF4-FFF2-40B4-BE49-F238E27FC236}">
                  <a16:creationId xmlns:a16="http://schemas.microsoft.com/office/drawing/2014/main" id="{0C3B8E66-184B-2048-8913-5AF8F7E1BB09}"/>
                </a:ext>
              </a:extLst>
            </p:cNvPr>
            <p:cNvSpPr txBox="1"/>
            <p:nvPr/>
          </p:nvSpPr>
          <p:spPr>
            <a:xfrm>
              <a:off x="7983626" y="3966667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52" name="Text 44">
              <a:extLst>
                <a:ext uri="{FF2B5EF4-FFF2-40B4-BE49-F238E27FC236}">
                  <a16:creationId xmlns:a16="http://schemas.microsoft.com/office/drawing/2014/main" id="{74353F7D-CA21-2097-94EF-FA179E69A148}"/>
                </a:ext>
              </a:extLst>
            </p:cNvPr>
            <p:cNvSpPr txBox="1"/>
            <p:nvPr/>
          </p:nvSpPr>
          <p:spPr>
            <a:xfrm>
              <a:off x="5011826" y="4139489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entries</a:t>
              </a:r>
              <a:endParaRPr lang="en-US" sz="1100" dirty="0"/>
            </a:p>
          </p:txBody>
        </p:sp>
        <p:sp>
          <p:nvSpPr>
            <p:cNvPr id="53" name="Text 45">
              <a:extLst>
                <a:ext uri="{FF2B5EF4-FFF2-40B4-BE49-F238E27FC236}">
                  <a16:creationId xmlns:a16="http://schemas.microsoft.com/office/drawing/2014/main" id="{2DD08644-9FE1-A43C-241E-99FC3328E00F}"/>
                </a:ext>
              </a:extLst>
            </p:cNvPr>
            <p:cNvSpPr txBox="1"/>
            <p:nvPr/>
          </p:nvSpPr>
          <p:spPr>
            <a:xfrm>
              <a:off x="5445252" y="4139489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54" name="Text 46">
              <a:extLst>
                <a:ext uri="{FF2B5EF4-FFF2-40B4-BE49-F238E27FC236}">
                  <a16:creationId xmlns:a16="http://schemas.microsoft.com/office/drawing/2014/main" id="{FBF19452-93A2-CBC8-6175-87A4EE23D1F1}"/>
                </a:ext>
              </a:extLst>
            </p:cNvPr>
            <p:cNvSpPr txBox="1"/>
            <p:nvPr/>
          </p:nvSpPr>
          <p:spPr>
            <a:xfrm>
              <a:off x="5507431" y="4139489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forEach</a:t>
              </a:r>
              <a:endParaRPr lang="en-US" sz="1100" dirty="0"/>
            </a:p>
          </p:txBody>
        </p:sp>
        <p:sp>
          <p:nvSpPr>
            <p:cNvPr id="55" name="Text 47">
              <a:extLst>
                <a:ext uri="{FF2B5EF4-FFF2-40B4-BE49-F238E27FC236}">
                  <a16:creationId xmlns:a16="http://schemas.microsoft.com/office/drawing/2014/main" id="{116392BD-AB7B-374A-415C-550FB705859F}"/>
                </a:ext>
              </a:extLst>
            </p:cNvPr>
            <p:cNvSpPr txBox="1"/>
            <p:nvPr/>
          </p:nvSpPr>
          <p:spPr>
            <a:xfrm>
              <a:off x="5940857" y="4139489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56" name="Text 48">
              <a:extLst>
                <a:ext uri="{FF2B5EF4-FFF2-40B4-BE49-F238E27FC236}">
                  <a16:creationId xmlns:a16="http://schemas.microsoft.com/office/drawing/2014/main" id="{9D8BBC15-2828-C53D-B452-4DC64CDAA814}"/>
                </a:ext>
              </a:extLst>
            </p:cNvPr>
            <p:cNvSpPr txBox="1"/>
            <p:nvPr/>
          </p:nvSpPr>
          <p:spPr>
            <a:xfrm>
              <a:off x="6002122" y="4139489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entry</a:t>
              </a:r>
              <a:endParaRPr lang="en-US" sz="1100" dirty="0"/>
            </a:p>
          </p:txBody>
        </p:sp>
        <p:sp>
          <p:nvSpPr>
            <p:cNvPr id="57" name="Text 49">
              <a:extLst>
                <a:ext uri="{FF2B5EF4-FFF2-40B4-BE49-F238E27FC236}">
                  <a16:creationId xmlns:a16="http://schemas.microsoft.com/office/drawing/2014/main" id="{ACBF8D0B-2C2B-4FEC-E5AC-59DEE6E209AC}"/>
                </a:ext>
              </a:extLst>
            </p:cNvPr>
            <p:cNvSpPr txBox="1"/>
            <p:nvPr/>
          </p:nvSpPr>
          <p:spPr>
            <a:xfrm>
              <a:off x="6312103" y="4139489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endParaRPr lang="en-US" sz="1100" dirty="0"/>
            </a:p>
          </p:txBody>
        </p:sp>
        <p:sp>
          <p:nvSpPr>
            <p:cNvPr id="58" name="Text 50">
              <a:extLst>
                <a:ext uri="{FF2B5EF4-FFF2-40B4-BE49-F238E27FC236}">
                  <a16:creationId xmlns:a16="http://schemas.microsoft.com/office/drawing/2014/main" id="{C62DC9BF-A1B7-9A9E-E8D9-F1C23DAC6956}"/>
                </a:ext>
              </a:extLst>
            </p:cNvPr>
            <p:cNvSpPr txBox="1"/>
            <p:nvPr/>
          </p:nvSpPr>
          <p:spPr>
            <a:xfrm>
              <a:off x="6435547" y="4139489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59" name="Text 51">
              <a:extLst>
                <a:ext uri="{FF2B5EF4-FFF2-40B4-BE49-F238E27FC236}">
                  <a16:creationId xmlns:a16="http://schemas.microsoft.com/office/drawing/2014/main" id="{C498CE12-84B4-4EEF-2E98-C2445C2771ED}"/>
                </a:ext>
              </a:extLst>
            </p:cNvPr>
            <p:cNvSpPr txBox="1"/>
            <p:nvPr/>
          </p:nvSpPr>
          <p:spPr>
            <a:xfrm>
              <a:off x="5136185" y="4313225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if</a:t>
              </a:r>
              <a:endParaRPr lang="en-US" sz="1100" dirty="0"/>
            </a:p>
          </p:txBody>
        </p:sp>
        <p:sp>
          <p:nvSpPr>
            <p:cNvPr id="60" name="Text 52">
              <a:extLst>
                <a:ext uri="{FF2B5EF4-FFF2-40B4-BE49-F238E27FC236}">
                  <a16:creationId xmlns:a16="http://schemas.microsoft.com/office/drawing/2014/main" id="{DA7270A9-B76F-D5ED-DDF2-863BF7678BC3}"/>
                </a:ext>
              </a:extLst>
            </p:cNvPr>
            <p:cNvSpPr txBox="1"/>
            <p:nvPr/>
          </p:nvSpPr>
          <p:spPr>
            <a:xfrm>
              <a:off x="5259629" y="4313225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61" name="Text 53">
              <a:extLst>
                <a:ext uri="{FF2B5EF4-FFF2-40B4-BE49-F238E27FC236}">
                  <a16:creationId xmlns:a16="http://schemas.microsoft.com/office/drawing/2014/main" id="{973CBB4F-3970-331E-4902-AD955B20F433}"/>
                </a:ext>
              </a:extLst>
            </p:cNvPr>
            <p:cNvSpPr txBox="1"/>
            <p:nvPr/>
          </p:nvSpPr>
          <p:spPr>
            <a:xfrm>
              <a:off x="5321808" y="4313225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entry</a:t>
              </a:r>
              <a:endParaRPr lang="en-US" sz="1100" dirty="0"/>
            </a:p>
          </p:txBody>
        </p:sp>
        <p:sp>
          <p:nvSpPr>
            <p:cNvPr id="62" name="Text 54">
              <a:extLst>
                <a:ext uri="{FF2B5EF4-FFF2-40B4-BE49-F238E27FC236}">
                  <a16:creationId xmlns:a16="http://schemas.microsoft.com/office/drawing/2014/main" id="{E6502894-831C-C908-51E8-C7CC31440291}"/>
                </a:ext>
              </a:extLst>
            </p:cNvPr>
            <p:cNvSpPr txBox="1"/>
            <p:nvPr/>
          </p:nvSpPr>
          <p:spPr>
            <a:xfrm>
              <a:off x="5630875" y="4313225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63" name="Text 55">
              <a:extLst>
                <a:ext uri="{FF2B5EF4-FFF2-40B4-BE49-F238E27FC236}">
                  <a16:creationId xmlns:a16="http://schemas.microsoft.com/office/drawing/2014/main" id="{24725A42-FF11-CC4B-8D6A-707791FF718D}"/>
                </a:ext>
              </a:extLst>
            </p:cNvPr>
            <p:cNvSpPr txBox="1"/>
            <p:nvPr/>
          </p:nvSpPr>
          <p:spPr>
            <a:xfrm>
              <a:off x="5693054" y="4313225"/>
              <a:ext cx="103235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isIntersecting</a:t>
              </a:r>
              <a:endParaRPr lang="en-US" sz="1100" dirty="0"/>
            </a:p>
          </p:txBody>
        </p:sp>
        <p:sp>
          <p:nvSpPr>
            <p:cNvPr id="64" name="Text 56">
              <a:extLst>
                <a:ext uri="{FF2B5EF4-FFF2-40B4-BE49-F238E27FC236}">
                  <a16:creationId xmlns:a16="http://schemas.microsoft.com/office/drawing/2014/main" id="{01FC5B22-3FE7-633F-E0B3-1ED4D01F8E72}"/>
                </a:ext>
              </a:extLst>
            </p:cNvPr>
            <p:cNvSpPr txBox="1"/>
            <p:nvPr/>
          </p:nvSpPr>
          <p:spPr>
            <a:xfrm>
              <a:off x="6559906" y="4313225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 {</a:t>
              </a:r>
              <a:endParaRPr lang="en-US" sz="1100" dirty="0"/>
            </a:p>
          </p:txBody>
        </p:sp>
        <p:sp>
          <p:nvSpPr>
            <p:cNvPr id="65" name="Text 57">
              <a:extLst>
                <a:ext uri="{FF2B5EF4-FFF2-40B4-BE49-F238E27FC236}">
                  <a16:creationId xmlns:a16="http://schemas.microsoft.com/office/drawing/2014/main" id="{A2A373ED-56D8-B541-708B-1C233CD77F1F}"/>
                </a:ext>
              </a:extLst>
            </p:cNvPr>
            <p:cNvSpPr txBox="1"/>
            <p:nvPr/>
          </p:nvSpPr>
          <p:spPr>
            <a:xfrm>
              <a:off x="5259629" y="4486046"/>
              <a:ext cx="2677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현재 화면에 보이는 섹션의 ID 가져오기</a:t>
              </a:r>
              <a:endParaRPr lang="en-US" sz="1100" dirty="0"/>
            </a:p>
          </p:txBody>
        </p:sp>
        <p:sp>
          <p:nvSpPr>
            <p:cNvPr id="66" name="Text 58">
              <a:extLst>
                <a:ext uri="{FF2B5EF4-FFF2-40B4-BE49-F238E27FC236}">
                  <a16:creationId xmlns:a16="http://schemas.microsoft.com/office/drawing/2014/main" id="{088E361A-C238-47A9-4C95-B692331D6FB8}"/>
                </a:ext>
              </a:extLst>
            </p:cNvPr>
            <p:cNvSpPr txBox="1"/>
            <p:nvPr/>
          </p:nvSpPr>
          <p:spPr>
            <a:xfrm>
              <a:off x="5259629" y="4659782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1100" dirty="0"/>
            </a:p>
          </p:txBody>
        </p:sp>
        <p:sp>
          <p:nvSpPr>
            <p:cNvPr id="67" name="Text 59">
              <a:extLst>
                <a:ext uri="{FF2B5EF4-FFF2-40B4-BE49-F238E27FC236}">
                  <a16:creationId xmlns:a16="http://schemas.microsoft.com/office/drawing/2014/main" id="{7859E7B7-49BA-AE7E-C705-1C78C63FD8E5}"/>
                </a:ext>
              </a:extLst>
            </p:cNvPr>
            <p:cNvSpPr txBox="1"/>
            <p:nvPr/>
          </p:nvSpPr>
          <p:spPr>
            <a:xfrm>
              <a:off x="5568696" y="4659782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100" dirty="0"/>
            </a:p>
          </p:txBody>
        </p:sp>
        <p:sp>
          <p:nvSpPr>
            <p:cNvPr id="68" name="Text 60">
              <a:extLst>
                <a:ext uri="{FF2B5EF4-FFF2-40B4-BE49-F238E27FC236}">
                  <a16:creationId xmlns:a16="http://schemas.microsoft.com/office/drawing/2014/main" id="{55B1BC0E-C575-9B8E-1469-993E4DB72B3E}"/>
                </a:ext>
              </a:extLst>
            </p:cNvPr>
            <p:cNvSpPr txBox="1"/>
            <p:nvPr/>
          </p:nvSpPr>
          <p:spPr>
            <a:xfrm>
              <a:off x="5693054" y="4659782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69" name="Text 61">
              <a:extLst>
                <a:ext uri="{FF2B5EF4-FFF2-40B4-BE49-F238E27FC236}">
                  <a16:creationId xmlns:a16="http://schemas.microsoft.com/office/drawing/2014/main" id="{DAADC933-7F76-082E-2AE4-CD8B52D0E669}"/>
                </a:ext>
              </a:extLst>
            </p:cNvPr>
            <p:cNvSpPr txBox="1"/>
            <p:nvPr/>
          </p:nvSpPr>
          <p:spPr>
            <a:xfrm>
              <a:off x="5755234" y="4659782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entry</a:t>
              </a:r>
              <a:endParaRPr lang="en-US" sz="1100" dirty="0"/>
            </a:p>
          </p:txBody>
        </p:sp>
        <p:sp>
          <p:nvSpPr>
            <p:cNvPr id="70" name="Text 62">
              <a:extLst>
                <a:ext uri="{FF2B5EF4-FFF2-40B4-BE49-F238E27FC236}">
                  <a16:creationId xmlns:a16="http://schemas.microsoft.com/office/drawing/2014/main" id="{4B0BBE71-5D2F-EE35-0F4F-415C7E66A3C1}"/>
                </a:ext>
              </a:extLst>
            </p:cNvPr>
            <p:cNvSpPr txBox="1"/>
            <p:nvPr/>
          </p:nvSpPr>
          <p:spPr>
            <a:xfrm>
              <a:off x="6064301" y="4659782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71" name="Text 63">
              <a:extLst>
                <a:ext uri="{FF2B5EF4-FFF2-40B4-BE49-F238E27FC236}">
                  <a16:creationId xmlns:a16="http://schemas.microsoft.com/office/drawing/2014/main" id="{25FBDA17-EB40-BC82-E708-FC06788028D4}"/>
                </a:ext>
              </a:extLst>
            </p:cNvPr>
            <p:cNvSpPr txBox="1"/>
            <p:nvPr/>
          </p:nvSpPr>
          <p:spPr>
            <a:xfrm>
              <a:off x="6126480" y="4659782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target</a:t>
              </a:r>
              <a:endParaRPr lang="en-US" sz="1100" dirty="0"/>
            </a:p>
          </p:txBody>
        </p:sp>
        <p:sp>
          <p:nvSpPr>
            <p:cNvPr id="72" name="Text 64">
              <a:extLst>
                <a:ext uri="{FF2B5EF4-FFF2-40B4-BE49-F238E27FC236}">
                  <a16:creationId xmlns:a16="http://schemas.microsoft.com/office/drawing/2014/main" id="{F667D7AE-D015-5A0A-49A9-08627AE16D0B}"/>
                </a:ext>
              </a:extLst>
            </p:cNvPr>
            <p:cNvSpPr txBox="1"/>
            <p:nvPr/>
          </p:nvSpPr>
          <p:spPr>
            <a:xfrm>
              <a:off x="6497726" y="4659782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73" name="Text 65">
              <a:extLst>
                <a:ext uri="{FF2B5EF4-FFF2-40B4-BE49-F238E27FC236}">
                  <a16:creationId xmlns:a16="http://schemas.microsoft.com/office/drawing/2014/main" id="{C5983997-F2FF-7414-1B69-AB4D322C4A09}"/>
                </a:ext>
              </a:extLst>
            </p:cNvPr>
            <p:cNvSpPr txBox="1"/>
            <p:nvPr/>
          </p:nvSpPr>
          <p:spPr>
            <a:xfrm>
              <a:off x="6559906" y="4659782"/>
              <a:ext cx="88422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getAttribute</a:t>
              </a:r>
              <a:endParaRPr lang="en-US" sz="1100" dirty="0"/>
            </a:p>
          </p:txBody>
        </p:sp>
        <p:sp>
          <p:nvSpPr>
            <p:cNvPr id="74" name="Text 66">
              <a:extLst>
                <a:ext uri="{FF2B5EF4-FFF2-40B4-BE49-F238E27FC236}">
                  <a16:creationId xmlns:a16="http://schemas.microsoft.com/office/drawing/2014/main" id="{CF58489F-CE46-45C9-2BBC-06EC4A024DEA}"/>
                </a:ext>
              </a:extLst>
            </p:cNvPr>
            <p:cNvSpPr txBox="1"/>
            <p:nvPr/>
          </p:nvSpPr>
          <p:spPr>
            <a:xfrm>
              <a:off x="7302398" y="4659782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75" name="Text 67">
              <a:extLst>
                <a:ext uri="{FF2B5EF4-FFF2-40B4-BE49-F238E27FC236}">
                  <a16:creationId xmlns:a16="http://schemas.microsoft.com/office/drawing/2014/main" id="{4AC49DBB-07F6-563A-7464-A1556A7381D2}"/>
                </a:ext>
              </a:extLst>
            </p:cNvPr>
            <p:cNvSpPr txBox="1"/>
            <p:nvPr/>
          </p:nvSpPr>
          <p:spPr>
            <a:xfrm>
              <a:off x="7364578" y="4659782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'id'</a:t>
              </a:r>
              <a:endParaRPr lang="en-US" sz="1100" dirty="0"/>
            </a:p>
          </p:txBody>
        </p:sp>
        <p:sp>
          <p:nvSpPr>
            <p:cNvPr id="76" name="Text 68">
              <a:extLst>
                <a:ext uri="{FF2B5EF4-FFF2-40B4-BE49-F238E27FC236}">
                  <a16:creationId xmlns:a16="http://schemas.microsoft.com/office/drawing/2014/main" id="{5B8A999E-2358-9ABC-E1A1-63E81EB2CD37}"/>
                </a:ext>
              </a:extLst>
            </p:cNvPr>
            <p:cNvSpPr txBox="1"/>
            <p:nvPr/>
          </p:nvSpPr>
          <p:spPr>
            <a:xfrm>
              <a:off x="7612380" y="4659782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77" name="Text 69">
              <a:extLst>
                <a:ext uri="{FF2B5EF4-FFF2-40B4-BE49-F238E27FC236}">
                  <a16:creationId xmlns:a16="http://schemas.microsoft.com/office/drawing/2014/main" id="{9AE1E38B-74B1-955C-5C3D-03DC02AE28FA}"/>
                </a:ext>
              </a:extLst>
            </p:cNvPr>
            <p:cNvSpPr txBox="1"/>
            <p:nvPr/>
          </p:nvSpPr>
          <p:spPr>
            <a:xfrm>
              <a:off x="5259629" y="5006340"/>
              <a:ext cx="2610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네비게이션 링크 활성화 상태 업데이트</a:t>
              </a:r>
              <a:endParaRPr lang="en-US" sz="1100" dirty="0"/>
            </a:p>
          </p:txBody>
        </p:sp>
        <p:sp>
          <p:nvSpPr>
            <p:cNvPr id="78" name="Text 70">
              <a:extLst>
                <a:ext uri="{FF2B5EF4-FFF2-40B4-BE49-F238E27FC236}">
                  <a16:creationId xmlns:a16="http://schemas.microsoft.com/office/drawing/2014/main" id="{CA131175-3CA5-7BFB-B833-79CC6FAE48C9}"/>
                </a:ext>
              </a:extLst>
            </p:cNvPr>
            <p:cNvSpPr txBox="1"/>
            <p:nvPr/>
          </p:nvSpPr>
          <p:spPr>
            <a:xfrm>
              <a:off x="5259629" y="5180076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</a:t>
              </a:r>
              <a:endParaRPr lang="en-US" sz="1100" dirty="0"/>
            </a:p>
          </p:txBody>
        </p:sp>
        <p:sp>
          <p:nvSpPr>
            <p:cNvPr id="79" name="Text 71">
              <a:extLst>
                <a:ext uri="{FF2B5EF4-FFF2-40B4-BE49-F238E27FC236}">
                  <a16:creationId xmlns:a16="http://schemas.microsoft.com/office/drawing/2014/main" id="{BA52CCE2-FEC5-66E9-5CFB-14386D47DE3B}"/>
                </a:ext>
              </a:extLst>
            </p:cNvPr>
            <p:cNvSpPr txBox="1"/>
            <p:nvPr/>
          </p:nvSpPr>
          <p:spPr>
            <a:xfrm>
              <a:off x="5755234" y="518007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80" name="Text 72">
              <a:extLst>
                <a:ext uri="{FF2B5EF4-FFF2-40B4-BE49-F238E27FC236}">
                  <a16:creationId xmlns:a16="http://schemas.microsoft.com/office/drawing/2014/main" id="{9AE435A7-2375-1151-5F83-07698832888F}"/>
                </a:ext>
              </a:extLst>
            </p:cNvPr>
            <p:cNvSpPr txBox="1"/>
            <p:nvPr/>
          </p:nvSpPr>
          <p:spPr>
            <a:xfrm>
              <a:off x="5816498" y="5180076"/>
              <a:ext cx="117957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querySelectorAll</a:t>
              </a:r>
              <a:endParaRPr lang="en-US" sz="1100" dirty="0"/>
            </a:p>
          </p:txBody>
        </p:sp>
        <p:sp>
          <p:nvSpPr>
            <p:cNvPr id="81" name="Text 73">
              <a:extLst>
                <a:ext uri="{FF2B5EF4-FFF2-40B4-BE49-F238E27FC236}">
                  <a16:creationId xmlns:a16="http://schemas.microsoft.com/office/drawing/2014/main" id="{A2D90D7A-D016-AC57-A9E3-DF40B2087FD0}"/>
                </a:ext>
              </a:extLst>
            </p:cNvPr>
            <p:cNvSpPr txBox="1"/>
            <p:nvPr/>
          </p:nvSpPr>
          <p:spPr>
            <a:xfrm>
              <a:off x="6807708" y="518007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82" name="Text 74">
              <a:extLst>
                <a:ext uri="{FF2B5EF4-FFF2-40B4-BE49-F238E27FC236}">
                  <a16:creationId xmlns:a16="http://schemas.microsoft.com/office/drawing/2014/main" id="{B39B4490-ADC7-0B5B-B1C0-3D8CAC07AF4F}"/>
                </a:ext>
              </a:extLst>
            </p:cNvPr>
            <p:cNvSpPr txBox="1"/>
            <p:nvPr/>
          </p:nvSpPr>
          <p:spPr>
            <a:xfrm>
              <a:off x="6868973" y="5180076"/>
              <a:ext cx="816559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'.nav-link'</a:t>
              </a:r>
              <a:endParaRPr lang="en-US" sz="1100" dirty="0"/>
            </a:p>
          </p:txBody>
        </p:sp>
        <p:sp>
          <p:nvSpPr>
            <p:cNvPr id="83" name="Text 75">
              <a:extLst>
                <a:ext uri="{FF2B5EF4-FFF2-40B4-BE49-F238E27FC236}">
                  <a16:creationId xmlns:a16="http://schemas.microsoft.com/office/drawing/2014/main" id="{D0517F7B-C883-DEFD-BAD6-9830043B12B2}"/>
                </a:ext>
              </a:extLst>
            </p:cNvPr>
            <p:cNvSpPr txBox="1"/>
            <p:nvPr/>
          </p:nvSpPr>
          <p:spPr>
            <a:xfrm>
              <a:off x="7550201" y="5180076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).</a:t>
              </a:r>
              <a:endParaRPr lang="en-US" sz="1100" dirty="0"/>
            </a:p>
          </p:txBody>
        </p:sp>
        <p:sp>
          <p:nvSpPr>
            <p:cNvPr id="84" name="Text 76">
              <a:extLst>
                <a:ext uri="{FF2B5EF4-FFF2-40B4-BE49-F238E27FC236}">
                  <a16:creationId xmlns:a16="http://schemas.microsoft.com/office/drawing/2014/main" id="{6462FBD4-E4FF-69FA-79A9-CBD15A821C5B}"/>
                </a:ext>
              </a:extLst>
            </p:cNvPr>
            <p:cNvSpPr txBox="1"/>
            <p:nvPr/>
          </p:nvSpPr>
          <p:spPr>
            <a:xfrm>
              <a:off x="7674559" y="5180076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forEach</a:t>
              </a:r>
              <a:endParaRPr lang="en-US" sz="1100" dirty="0"/>
            </a:p>
          </p:txBody>
        </p:sp>
        <p:sp>
          <p:nvSpPr>
            <p:cNvPr id="85" name="Text 77">
              <a:extLst>
                <a:ext uri="{FF2B5EF4-FFF2-40B4-BE49-F238E27FC236}">
                  <a16:creationId xmlns:a16="http://schemas.microsoft.com/office/drawing/2014/main" id="{88B39962-4B16-1CC4-50A3-4519104054C8}"/>
                </a:ext>
              </a:extLst>
            </p:cNvPr>
            <p:cNvSpPr txBox="1"/>
            <p:nvPr/>
          </p:nvSpPr>
          <p:spPr>
            <a:xfrm>
              <a:off x="8107985" y="518007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86" name="Text 78">
              <a:extLst>
                <a:ext uri="{FF2B5EF4-FFF2-40B4-BE49-F238E27FC236}">
                  <a16:creationId xmlns:a16="http://schemas.microsoft.com/office/drawing/2014/main" id="{E0AF720B-A877-A2F2-031F-F3EBFA49921D}"/>
                </a:ext>
              </a:extLst>
            </p:cNvPr>
            <p:cNvSpPr txBox="1"/>
            <p:nvPr/>
          </p:nvSpPr>
          <p:spPr>
            <a:xfrm>
              <a:off x="8169250" y="5180076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link</a:t>
              </a:r>
              <a:endParaRPr lang="en-US" sz="1100" dirty="0"/>
            </a:p>
          </p:txBody>
        </p:sp>
        <p:sp>
          <p:nvSpPr>
            <p:cNvPr id="87" name="Text 79">
              <a:extLst>
                <a:ext uri="{FF2B5EF4-FFF2-40B4-BE49-F238E27FC236}">
                  <a16:creationId xmlns:a16="http://schemas.microsoft.com/office/drawing/2014/main" id="{9A3A9C24-B41C-116F-1006-F86CDC09B4AF}"/>
                </a:ext>
              </a:extLst>
            </p:cNvPr>
            <p:cNvSpPr txBox="1"/>
            <p:nvPr/>
          </p:nvSpPr>
          <p:spPr>
            <a:xfrm>
              <a:off x="8417052" y="5180076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endParaRPr lang="en-US" sz="1100" dirty="0"/>
            </a:p>
          </p:txBody>
        </p:sp>
        <p:sp>
          <p:nvSpPr>
            <p:cNvPr id="88" name="Text 80">
              <a:extLst>
                <a:ext uri="{FF2B5EF4-FFF2-40B4-BE49-F238E27FC236}">
                  <a16:creationId xmlns:a16="http://schemas.microsoft.com/office/drawing/2014/main" id="{BD64AF1E-E7B4-FBFC-11FD-3AB1E6D7896F}"/>
                </a:ext>
              </a:extLst>
            </p:cNvPr>
            <p:cNvSpPr txBox="1"/>
            <p:nvPr/>
          </p:nvSpPr>
          <p:spPr>
            <a:xfrm>
              <a:off x="8540496" y="518007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89" name="Text 81">
              <a:extLst>
                <a:ext uri="{FF2B5EF4-FFF2-40B4-BE49-F238E27FC236}">
                  <a16:creationId xmlns:a16="http://schemas.microsoft.com/office/drawing/2014/main" id="{E23082EC-BE5C-4BB1-2A41-EF794B2CB2AF}"/>
                </a:ext>
              </a:extLst>
            </p:cNvPr>
            <p:cNvSpPr txBox="1"/>
            <p:nvPr/>
          </p:nvSpPr>
          <p:spPr>
            <a:xfrm>
              <a:off x="5383073" y="5352898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link</a:t>
              </a:r>
              <a:endParaRPr lang="en-US" sz="1100" dirty="0"/>
            </a:p>
          </p:txBody>
        </p:sp>
        <p:sp>
          <p:nvSpPr>
            <p:cNvPr id="90" name="Text 82">
              <a:extLst>
                <a:ext uri="{FF2B5EF4-FFF2-40B4-BE49-F238E27FC236}">
                  <a16:creationId xmlns:a16="http://schemas.microsoft.com/office/drawing/2014/main" id="{DBDABCED-669C-F964-FFE4-06C67FE1CB9F}"/>
                </a:ext>
              </a:extLst>
            </p:cNvPr>
            <p:cNvSpPr txBox="1"/>
            <p:nvPr/>
          </p:nvSpPr>
          <p:spPr>
            <a:xfrm>
              <a:off x="5630875" y="5352898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91" name="Text 83">
              <a:extLst>
                <a:ext uri="{FF2B5EF4-FFF2-40B4-BE49-F238E27FC236}">
                  <a16:creationId xmlns:a16="http://schemas.microsoft.com/office/drawing/2014/main" id="{6C7F0681-6731-9AD4-8301-6D6B743552C8}"/>
                </a:ext>
              </a:extLst>
            </p:cNvPr>
            <p:cNvSpPr txBox="1"/>
            <p:nvPr/>
          </p:nvSpPr>
          <p:spPr>
            <a:xfrm>
              <a:off x="5693054" y="5352898"/>
              <a:ext cx="66934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classList</a:t>
              </a:r>
              <a:endParaRPr lang="en-US" sz="1100" dirty="0"/>
            </a:p>
          </p:txBody>
        </p:sp>
        <p:sp>
          <p:nvSpPr>
            <p:cNvPr id="92" name="Text 84">
              <a:extLst>
                <a:ext uri="{FF2B5EF4-FFF2-40B4-BE49-F238E27FC236}">
                  <a16:creationId xmlns:a16="http://schemas.microsoft.com/office/drawing/2014/main" id="{63CB1C06-0FB1-8CAA-2191-C9028120106C}"/>
                </a:ext>
              </a:extLst>
            </p:cNvPr>
            <p:cNvSpPr txBox="1"/>
            <p:nvPr/>
          </p:nvSpPr>
          <p:spPr>
            <a:xfrm>
              <a:off x="6249924" y="5352898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93" name="Text 85">
              <a:extLst>
                <a:ext uri="{FF2B5EF4-FFF2-40B4-BE49-F238E27FC236}">
                  <a16:creationId xmlns:a16="http://schemas.microsoft.com/office/drawing/2014/main" id="{4C531C20-5CD6-98B3-2765-2EF2DD9DB526}"/>
                </a:ext>
              </a:extLst>
            </p:cNvPr>
            <p:cNvSpPr txBox="1"/>
            <p:nvPr/>
          </p:nvSpPr>
          <p:spPr>
            <a:xfrm>
              <a:off x="6312103" y="5352898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remove</a:t>
              </a:r>
              <a:endParaRPr lang="en-US" sz="1100" dirty="0"/>
            </a:p>
          </p:txBody>
        </p:sp>
        <p:sp>
          <p:nvSpPr>
            <p:cNvPr id="94" name="Text 86">
              <a:extLst>
                <a:ext uri="{FF2B5EF4-FFF2-40B4-BE49-F238E27FC236}">
                  <a16:creationId xmlns:a16="http://schemas.microsoft.com/office/drawing/2014/main" id="{C7E86A3E-BFB9-35EE-9AF8-7D14654554CD}"/>
                </a:ext>
              </a:extLst>
            </p:cNvPr>
            <p:cNvSpPr txBox="1"/>
            <p:nvPr/>
          </p:nvSpPr>
          <p:spPr>
            <a:xfrm>
              <a:off x="6683350" y="5352898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95" name="Text 87">
              <a:extLst>
                <a:ext uri="{FF2B5EF4-FFF2-40B4-BE49-F238E27FC236}">
                  <a16:creationId xmlns:a16="http://schemas.microsoft.com/office/drawing/2014/main" id="{78B75998-78A2-2D96-052D-3A0FBBE51671}"/>
                </a:ext>
              </a:extLst>
            </p:cNvPr>
            <p:cNvSpPr txBox="1"/>
            <p:nvPr/>
          </p:nvSpPr>
          <p:spPr>
            <a:xfrm>
              <a:off x="6745529" y="5352898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'active'</a:t>
              </a:r>
              <a:endParaRPr lang="en-US" sz="1100" dirty="0"/>
            </a:p>
          </p:txBody>
        </p:sp>
        <p:sp>
          <p:nvSpPr>
            <p:cNvPr id="96" name="Text 88">
              <a:extLst>
                <a:ext uri="{FF2B5EF4-FFF2-40B4-BE49-F238E27FC236}">
                  <a16:creationId xmlns:a16="http://schemas.microsoft.com/office/drawing/2014/main" id="{F2622210-093A-0E6D-74B0-041720D6A05C}"/>
                </a:ext>
              </a:extLst>
            </p:cNvPr>
            <p:cNvSpPr txBox="1"/>
            <p:nvPr/>
          </p:nvSpPr>
          <p:spPr>
            <a:xfrm>
              <a:off x="7241134" y="5352898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97" name="Text 89">
              <a:extLst>
                <a:ext uri="{FF2B5EF4-FFF2-40B4-BE49-F238E27FC236}">
                  <a16:creationId xmlns:a16="http://schemas.microsoft.com/office/drawing/2014/main" id="{5E019F18-3DD6-CF33-28B8-09ABC8920C10}"/>
                </a:ext>
              </a:extLst>
            </p:cNvPr>
            <p:cNvSpPr txBox="1"/>
            <p:nvPr/>
          </p:nvSpPr>
          <p:spPr>
            <a:xfrm>
              <a:off x="5383073" y="552663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if</a:t>
              </a:r>
              <a:endParaRPr lang="en-US" sz="1100" dirty="0"/>
            </a:p>
          </p:txBody>
        </p:sp>
        <p:sp>
          <p:nvSpPr>
            <p:cNvPr id="98" name="Text 90">
              <a:extLst>
                <a:ext uri="{FF2B5EF4-FFF2-40B4-BE49-F238E27FC236}">
                  <a16:creationId xmlns:a16="http://schemas.microsoft.com/office/drawing/2014/main" id="{760EF8E6-1852-EA5B-2223-07F7AB17AAD1}"/>
                </a:ext>
              </a:extLst>
            </p:cNvPr>
            <p:cNvSpPr txBox="1"/>
            <p:nvPr/>
          </p:nvSpPr>
          <p:spPr>
            <a:xfrm>
              <a:off x="5507431" y="552663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99" name="Text 91">
              <a:extLst>
                <a:ext uri="{FF2B5EF4-FFF2-40B4-BE49-F238E27FC236}">
                  <a16:creationId xmlns:a16="http://schemas.microsoft.com/office/drawing/2014/main" id="{EE1B1A7D-F2D1-74F3-D054-5F1DF466E267}"/>
                </a:ext>
              </a:extLst>
            </p:cNvPr>
            <p:cNvSpPr txBox="1"/>
            <p:nvPr/>
          </p:nvSpPr>
          <p:spPr>
            <a:xfrm>
              <a:off x="5568696" y="5526634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link</a:t>
              </a:r>
              <a:endParaRPr lang="en-US" sz="1100" dirty="0"/>
            </a:p>
          </p:txBody>
        </p:sp>
        <p:sp>
          <p:nvSpPr>
            <p:cNvPr id="100" name="Text 92">
              <a:extLst>
                <a:ext uri="{FF2B5EF4-FFF2-40B4-BE49-F238E27FC236}">
                  <a16:creationId xmlns:a16="http://schemas.microsoft.com/office/drawing/2014/main" id="{06C79A7F-D8F8-15E9-CA14-243A06ED694E}"/>
                </a:ext>
              </a:extLst>
            </p:cNvPr>
            <p:cNvSpPr txBox="1"/>
            <p:nvPr/>
          </p:nvSpPr>
          <p:spPr>
            <a:xfrm>
              <a:off x="5816498" y="552663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101" name="Text 93">
              <a:extLst>
                <a:ext uri="{FF2B5EF4-FFF2-40B4-BE49-F238E27FC236}">
                  <a16:creationId xmlns:a16="http://schemas.microsoft.com/office/drawing/2014/main" id="{5673A927-121A-BA3E-03DE-00458F1BABBB}"/>
                </a:ext>
              </a:extLst>
            </p:cNvPr>
            <p:cNvSpPr txBox="1"/>
            <p:nvPr/>
          </p:nvSpPr>
          <p:spPr>
            <a:xfrm>
              <a:off x="5878678" y="5526634"/>
              <a:ext cx="88422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getAttribute</a:t>
              </a:r>
              <a:endParaRPr lang="en-US" sz="1100" dirty="0"/>
            </a:p>
          </p:txBody>
        </p:sp>
        <p:sp>
          <p:nvSpPr>
            <p:cNvPr id="102" name="Text 94">
              <a:extLst>
                <a:ext uri="{FF2B5EF4-FFF2-40B4-BE49-F238E27FC236}">
                  <a16:creationId xmlns:a16="http://schemas.microsoft.com/office/drawing/2014/main" id="{2D4CFA24-DA48-FA8A-D32C-9F87126F6D13}"/>
                </a:ext>
              </a:extLst>
            </p:cNvPr>
            <p:cNvSpPr txBox="1"/>
            <p:nvPr/>
          </p:nvSpPr>
          <p:spPr>
            <a:xfrm>
              <a:off x="6622085" y="552663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103" name="Text 95">
              <a:extLst>
                <a:ext uri="{FF2B5EF4-FFF2-40B4-BE49-F238E27FC236}">
                  <a16:creationId xmlns:a16="http://schemas.microsoft.com/office/drawing/2014/main" id="{CCE2F238-2387-4CFF-E79C-2BCA71790020}"/>
                </a:ext>
              </a:extLst>
            </p:cNvPr>
            <p:cNvSpPr txBox="1"/>
            <p:nvPr/>
          </p:nvSpPr>
          <p:spPr>
            <a:xfrm>
              <a:off x="6683350" y="5526634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'href'</a:t>
              </a:r>
              <a:endParaRPr lang="en-US" sz="1100" dirty="0"/>
            </a:p>
          </p:txBody>
        </p:sp>
        <p:sp>
          <p:nvSpPr>
            <p:cNvPr id="104" name="Text 96">
              <a:extLst>
                <a:ext uri="{FF2B5EF4-FFF2-40B4-BE49-F238E27FC236}">
                  <a16:creationId xmlns:a16="http://schemas.microsoft.com/office/drawing/2014/main" id="{527F154C-3019-3AF5-7B8B-4C6BE47A21C3}"/>
                </a:ext>
              </a:extLst>
            </p:cNvPr>
            <p:cNvSpPr txBox="1"/>
            <p:nvPr/>
          </p:nvSpPr>
          <p:spPr>
            <a:xfrm>
              <a:off x="7054596" y="552663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1100" dirty="0"/>
            </a:p>
          </p:txBody>
        </p:sp>
        <p:sp>
          <p:nvSpPr>
            <p:cNvPr id="105" name="Text 97">
              <a:extLst>
                <a:ext uri="{FF2B5EF4-FFF2-40B4-BE49-F238E27FC236}">
                  <a16:creationId xmlns:a16="http://schemas.microsoft.com/office/drawing/2014/main" id="{27818A88-2046-6B1D-9DFB-1528A7615258}"/>
                </a:ext>
              </a:extLst>
            </p:cNvPr>
            <p:cNvSpPr txBox="1"/>
            <p:nvPr/>
          </p:nvSpPr>
          <p:spPr>
            <a:xfrm>
              <a:off x="7178954" y="5526634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===</a:t>
              </a:r>
              <a:endParaRPr lang="en-US" sz="1100" dirty="0"/>
            </a:p>
          </p:txBody>
        </p:sp>
        <p:sp>
          <p:nvSpPr>
            <p:cNvPr id="106" name="Text 98">
              <a:extLst>
                <a:ext uri="{FF2B5EF4-FFF2-40B4-BE49-F238E27FC236}">
                  <a16:creationId xmlns:a16="http://schemas.microsoft.com/office/drawing/2014/main" id="{0D1325E9-02A6-0CE7-0F6C-B7CB86E3CE06}"/>
                </a:ext>
              </a:extLst>
            </p:cNvPr>
            <p:cNvSpPr txBox="1"/>
            <p:nvPr/>
          </p:nvSpPr>
          <p:spPr>
            <a:xfrm>
              <a:off x="7364578" y="5526634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`#${id}`</a:t>
              </a:r>
              <a:endParaRPr lang="en-US" sz="1100" dirty="0"/>
            </a:p>
          </p:txBody>
        </p:sp>
        <p:sp>
          <p:nvSpPr>
            <p:cNvPr id="107" name="Text 99">
              <a:extLst>
                <a:ext uri="{FF2B5EF4-FFF2-40B4-BE49-F238E27FC236}">
                  <a16:creationId xmlns:a16="http://schemas.microsoft.com/office/drawing/2014/main" id="{F9917DEA-C2B7-88D7-7750-2617BCAC6CA6}"/>
                </a:ext>
              </a:extLst>
            </p:cNvPr>
            <p:cNvSpPr txBox="1"/>
            <p:nvPr/>
          </p:nvSpPr>
          <p:spPr>
            <a:xfrm>
              <a:off x="7860182" y="5526634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 {</a:t>
              </a:r>
              <a:endParaRPr lang="en-US" sz="1100" dirty="0"/>
            </a:p>
          </p:txBody>
        </p:sp>
        <p:sp>
          <p:nvSpPr>
            <p:cNvPr id="108" name="Text 100">
              <a:extLst>
                <a:ext uri="{FF2B5EF4-FFF2-40B4-BE49-F238E27FC236}">
                  <a16:creationId xmlns:a16="http://schemas.microsoft.com/office/drawing/2014/main" id="{D919BD6B-6C90-48F4-A7CE-A666F565C663}"/>
                </a:ext>
              </a:extLst>
            </p:cNvPr>
            <p:cNvSpPr txBox="1"/>
            <p:nvPr/>
          </p:nvSpPr>
          <p:spPr>
            <a:xfrm>
              <a:off x="5507431" y="5700370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link</a:t>
              </a:r>
              <a:endParaRPr lang="en-US" sz="1100" dirty="0"/>
            </a:p>
          </p:txBody>
        </p:sp>
        <p:sp>
          <p:nvSpPr>
            <p:cNvPr id="109" name="Text 101">
              <a:extLst>
                <a:ext uri="{FF2B5EF4-FFF2-40B4-BE49-F238E27FC236}">
                  <a16:creationId xmlns:a16="http://schemas.microsoft.com/office/drawing/2014/main" id="{BDB40C31-0544-CFCE-F08D-F2E96CA2101C}"/>
                </a:ext>
              </a:extLst>
            </p:cNvPr>
            <p:cNvSpPr txBox="1"/>
            <p:nvPr/>
          </p:nvSpPr>
          <p:spPr>
            <a:xfrm>
              <a:off x="5755234" y="570037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110" name="Text 102">
              <a:extLst>
                <a:ext uri="{FF2B5EF4-FFF2-40B4-BE49-F238E27FC236}">
                  <a16:creationId xmlns:a16="http://schemas.microsoft.com/office/drawing/2014/main" id="{4242A266-7376-6B75-4D2E-E5B02C3DA554}"/>
                </a:ext>
              </a:extLst>
            </p:cNvPr>
            <p:cNvSpPr txBox="1"/>
            <p:nvPr/>
          </p:nvSpPr>
          <p:spPr>
            <a:xfrm>
              <a:off x="5816498" y="5700370"/>
              <a:ext cx="66934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classList</a:t>
              </a:r>
              <a:endParaRPr lang="en-US" sz="1100" dirty="0"/>
            </a:p>
          </p:txBody>
        </p:sp>
        <p:sp>
          <p:nvSpPr>
            <p:cNvPr id="111" name="Text 103">
              <a:extLst>
                <a:ext uri="{FF2B5EF4-FFF2-40B4-BE49-F238E27FC236}">
                  <a16:creationId xmlns:a16="http://schemas.microsoft.com/office/drawing/2014/main" id="{9ECD1C1E-7533-5747-7C7C-E7537A007E9B}"/>
                </a:ext>
              </a:extLst>
            </p:cNvPr>
            <p:cNvSpPr txBox="1"/>
            <p:nvPr/>
          </p:nvSpPr>
          <p:spPr>
            <a:xfrm>
              <a:off x="6374282" y="570037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112" name="Text 104">
              <a:extLst>
                <a:ext uri="{FF2B5EF4-FFF2-40B4-BE49-F238E27FC236}">
                  <a16:creationId xmlns:a16="http://schemas.microsoft.com/office/drawing/2014/main" id="{25A42F30-CF35-E05A-0D55-2F98D47EBA45}"/>
                </a:ext>
              </a:extLst>
            </p:cNvPr>
            <p:cNvSpPr txBox="1"/>
            <p:nvPr/>
          </p:nvSpPr>
          <p:spPr>
            <a:xfrm>
              <a:off x="6435547" y="5700370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add</a:t>
              </a:r>
              <a:endParaRPr lang="en-US" sz="1100" dirty="0"/>
            </a:p>
          </p:txBody>
        </p:sp>
        <p:sp>
          <p:nvSpPr>
            <p:cNvPr id="113" name="Text 105">
              <a:extLst>
                <a:ext uri="{FF2B5EF4-FFF2-40B4-BE49-F238E27FC236}">
                  <a16:creationId xmlns:a16="http://schemas.microsoft.com/office/drawing/2014/main" id="{03F0BE0C-0A47-BFA0-3F64-2BFF9CFE03DF}"/>
                </a:ext>
              </a:extLst>
            </p:cNvPr>
            <p:cNvSpPr txBox="1"/>
            <p:nvPr/>
          </p:nvSpPr>
          <p:spPr>
            <a:xfrm>
              <a:off x="6622085" y="570037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114" name="Text 106">
              <a:extLst>
                <a:ext uri="{FF2B5EF4-FFF2-40B4-BE49-F238E27FC236}">
                  <a16:creationId xmlns:a16="http://schemas.microsoft.com/office/drawing/2014/main" id="{87027E3C-5485-6FB2-6CF3-65E4F3C9FAE6}"/>
                </a:ext>
              </a:extLst>
            </p:cNvPr>
            <p:cNvSpPr txBox="1"/>
            <p:nvPr/>
          </p:nvSpPr>
          <p:spPr>
            <a:xfrm>
              <a:off x="6683350" y="5700370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'active'</a:t>
              </a:r>
              <a:endParaRPr lang="en-US" sz="1100" dirty="0"/>
            </a:p>
          </p:txBody>
        </p:sp>
        <p:sp>
          <p:nvSpPr>
            <p:cNvPr id="115" name="Text 107">
              <a:extLst>
                <a:ext uri="{FF2B5EF4-FFF2-40B4-BE49-F238E27FC236}">
                  <a16:creationId xmlns:a16="http://schemas.microsoft.com/office/drawing/2014/main" id="{F53C151C-E3D7-012B-B560-8265256E60B5}"/>
                </a:ext>
              </a:extLst>
            </p:cNvPr>
            <p:cNvSpPr txBox="1"/>
            <p:nvPr/>
          </p:nvSpPr>
          <p:spPr>
            <a:xfrm>
              <a:off x="7178954" y="5700370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116" name="Text 108">
              <a:extLst>
                <a:ext uri="{FF2B5EF4-FFF2-40B4-BE49-F238E27FC236}">
                  <a16:creationId xmlns:a16="http://schemas.microsoft.com/office/drawing/2014/main" id="{6F5647F0-7964-139C-004D-83C7A64DCBC3}"/>
                </a:ext>
              </a:extLst>
            </p:cNvPr>
            <p:cNvSpPr txBox="1"/>
            <p:nvPr/>
          </p:nvSpPr>
          <p:spPr>
            <a:xfrm>
              <a:off x="4888382" y="5873191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  <p:sp>
          <p:nvSpPr>
            <p:cNvPr id="117" name="Text 109">
              <a:extLst>
                <a:ext uri="{FF2B5EF4-FFF2-40B4-BE49-F238E27FC236}">
                  <a16:creationId xmlns:a16="http://schemas.microsoft.com/office/drawing/2014/main" id="{27604B7C-21E4-1EB3-163A-8D8A4DA00418}"/>
                </a:ext>
              </a:extLst>
            </p:cNvPr>
            <p:cNvSpPr txBox="1"/>
            <p:nvPr/>
          </p:nvSpPr>
          <p:spPr>
            <a:xfrm>
              <a:off x="4888382" y="6046927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});</a:t>
              </a:r>
              <a:endParaRPr lang="en-US" sz="1100" dirty="0"/>
            </a:p>
          </p:txBody>
        </p:sp>
      </p:grpSp>
      <p:sp>
        <p:nvSpPr>
          <p:cNvPr id="1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35821496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79989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EXAMPLE 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4" y="875995"/>
            <a:ext cx="5900061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Sticky Navbar </a:t>
            </a:r>
            <a:r>
              <a:rPr lang="en-US" sz="36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</a:t>
            </a: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– part 2 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552444"/>
          </a:xfrm>
          <a:prstGeom prst="roundRect">
            <a:avLst>
              <a:gd name="adj" fmla="val 138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11" b="-11"/>
          <a:stretch/>
        </p:blipFill>
        <p:spPr>
          <a:xfrm>
            <a:off x="847649" y="2617013"/>
            <a:ext cx="3230575" cy="23783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931568" cy="1981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"스크롤 시 상단에 고정되는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Sticky Navbar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구현해줘. CSS는 </a:t>
            </a:r>
            <a:r>
              <a:rPr lang="en-US" sz="1000" dirty="0">
                <a:solidFill>
                  <a:srgbClr val="D9770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position: sticky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사용하고,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자바스크립트로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IntersectionObserver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활용하여 현재 보고 있는 섹션에 해당하는 메뉴가 자동으로 하이라이트(active 클래스 </a:t>
            </a: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되도록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해줘."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09905" y="5461711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9905" y="5461711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640934"/>
            <a:ext cx="105156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1151" y="5633618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38505" y="5853074"/>
            <a:ext cx="337230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기존의 scroll 이벤트 리스너 대신 </a:t>
            </a: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IntersectionObserver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사용하면 메인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스레드의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부하를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줄여 렌더링 성능을 크게 최적화할 수 있습니다.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45075" y="1684325"/>
            <a:ext cx="23564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(SCRIPT.JS)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997964"/>
            <a:ext cx="6886346" cy="371246"/>
          </a:xfrm>
          <a:prstGeom prst="roundRect">
            <a:avLst>
              <a:gd name="adj" fmla="val 101048"/>
            </a:avLst>
          </a:prstGeom>
          <a:solidFill>
            <a:srgbClr val="2D2D2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697273" y="2360066"/>
            <a:ext cx="6886346" cy="9144"/>
          </a:xfrm>
          <a:prstGeom prst="roundRect">
            <a:avLst>
              <a:gd name="adj" fmla="val 4102564"/>
            </a:avLst>
          </a:prstGeom>
          <a:solidFill>
            <a:srgbClr val="3333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4849978" y="2122322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040173" y="2122322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5231282" y="2122322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5535778" y="2112264"/>
            <a:ext cx="4672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script.js</a:t>
            </a:r>
            <a:endParaRPr lang="en-US" sz="9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AAA4D2F-0009-28DB-517D-D55AAE02235B}"/>
              </a:ext>
            </a:extLst>
          </p:cNvPr>
          <p:cNvGrpSpPr/>
          <p:nvPr/>
        </p:nvGrpSpPr>
        <p:grpSpPr>
          <a:xfrm>
            <a:off x="4948341" y="2516429"/>
            <a:ext cx="5735987" cy="2351008"/>
            <a:chOff x="4948342" y="2516429"/>
            <a:chExt cx="5229454" cy="2204618"/>
          </a:xfrm>
        </p:grpSpPr>
        <p:sp>
          <p:nvSpPr>
            <p:cNvPr id="119" name="Text 111"/>
            <p:cNvSpPr txBox="1"/>
            <p:nvPr/>
          </p:nvSpPr>
          <p:spPr>
            <a:xfrm>
              <a:off x="4948342" y="2516429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});</a:t>
              </a:r>
              <a:endParaRPr lang="en-US" sz="1100" dirty="0"/>
            </a:p>
          </p:txBody>
        </p:sp>
        <p:sp>
          <p:nvSpPr>
            <p:cNvPr id="120" name="Text 112"/>
            <p:cNvSpPr txBox="1"/>
            <p:nvPr/>
          </p:nvSpPr>
          <p:spPr>
            <a:xfrm>
              <a:off x="4948342" y="2690165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},</a:t>
              </a:r>
              <a:endParaRPr lang="en-US" sz="1100" dirty="0"/>
            </a:p>
          </p:txBody>
        </p:sp>
        <p:sp>
          <p:nvSpPr>
            <p:cNvPr id="121" name="Text 113"/>
            <p:cNvSpPr txBox="1"/>
            <p:nvPr/>
          </p:nvSpPr>
          <p:spPr>
            <a:xfrm>
              <a:off x="5133966" y="2690165"/>
              <a:ext cx="111099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observerOptions</a:t>
              </a:r>
              <a:endParaRPr lang="en-US" sz="1100" dirty="0"/>
            </a:p>
          </p:txBody>
        </p:sp>
        <p:sp>
          <p:nvSpPr>
            <p:cNvPr id="122" name="Text 114"/>
            <p:cNvSpPr txBox="1"/>
            <p:nvPr/>
          </p:nvSpPr>
          <p:spPr>
            <a:xfrm>
              <a:off x="6062082" y="2690165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123" name="Text 115"/>
            <p:cNvSpPr txBox="1"/>
            <p:nvPr/>
          </p:nvSpPr>
          <p:spPr>
            <a:xfrm>
              <a:off x="4948342" y="3036722"/>
              <a:ext cx="16294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3. 모든 섹션 관찰 시작</a:t>
              </a:r>
              <a:endParaRPr lang="en-US" sz="1100" dirty="0"/>
            </a:p>
          </p:txBody>
        </p:sp>
        <p:sp>
          <p:nvSpPr>
            <p:cNvPr id="124" name="Text 116"/>
            <p:cNvSpPr txBox="1"/>
            <p:nvPr/>
          </p:nvSpPr>
          <p:spPr>
            <a:xfrm>
              <a:off x="4948342" y="3209544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</a:t>
              </a:r>
              <a:endParaRPr lang="en-US" sz="1100" dirty="0"/>
            </a:p>
          </p:txBody>
        </p:sp>
        <p:sp>
          <p:nvSpPr>
            <p:cNvPr id="125" name="Text 117"/>
            <p:cNvSpPr txBox="1"/>
            <p:nvPr/>
          </p:nvSpPr>
          <p:spPr>
            <a:xfrm>
              <a:off x="5443033" y="320954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126" name="Text 118"/>
            <p:cNvSpPr txBox="1"/>
            <p:nvPr/>
          </p:nvSpPr>
          <p:spPr>
            <a:xfrm>
              <a:off x="5505212" y="3209544"/>
              <a:ext cx="117957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querySelectorAll</a:t>
              </a:r>
              <a:endParaRPr lang="en-US" sz="1100" dirty="0"/>
            </a:p>
          </p:txBody>
        </p:sp>
        <p:sp>
          <p:nvSpPr>
            <p:cNvPr id="127" name="Text 119"/>
            <p:cNvSpPr txBox="1"/>
            <p:nvPr/>
          </p:nvSpPr>
          <p:spPr>
            <a:xfrm>
              <a:off x="6495507" y="320954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128" name="Text 120"/>
            <p:cNvSpPr txBox="1"/>
            <p:nvPr/>
          </p:nvSpPr>
          <p:spPr>
            <a:xfrm>
              <a:off x="6557686" y="3209544"/>
              <a:ext cx="66934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'section'</a:t>
              </a:r>
              <a:endParaRPr lang="en-US" sz="1100" dirty="0"/>
            </a:p>
          </p:txBody>
        </p:sp>
        <p:sp>
          <p:nvSpPr>
            <p:cNvPr id="129" name="Text 121"/>
            <p:cNvSpPr txBox="1"/>
            <p:nvPr/>
          </p:nvSpPr>
          <p:spPr>
            <a:xfrm>
              <a:off x="7114556" y="320954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).</a:t>
              </a:r>
              <a:endParaRPr lang="en-US" sz="1100" dirty="0"/>
            </a:p>
          </p:txBody>
        </p:sp>
        <p:sp>
          <p:nvSpPr>
            <p:cNvPr id="130" name="Text 122"/>
            <p:cNvSpPr txBox="1"/>
            <p:nvPr/>
          </p:nvSpPr>
          <p:spPr>
            <a:xfrm>
              <a:off x="7238914" y="3209544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forEach</a:t>
              </a:r>
              <a:endParaRPr lang="en-US" sz="1100" dirty="0"/>
            </a:p>
          </p:txBody>
        </p:sp>
        <p:sp>
          <p:nvSpPr>
            <p:cNvPr id="131" name="Text 123"/>
            <p:cNvSpPr txBox="1"/>
            <p:nvPr/>
          </p:nvSpPr>
          <p:spPr>
            <a:xfrm>
              <a:off x="7672340" y="320954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132" name="Text 124"/>
            <p:cNvSpPr txBox="1"/>
            <p:nvPr/>
          </p:nvSpPr>
          <p:spPr>
            <a:xfrm>
              <a:off x="7734519" y="3209544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section</a:t>
              </a:r>
              <a:endParaRPr lang="en-US" sz="1100" dirty="0"/>
            </a:p>
          </p:txBody>
        </p:sp>
        <p:sp>
          <p:nvSpPr>
            <p:cNvPr id="133" name="Text 125"/>
            <p:cNvSpPr txBox="1"/>
            <p:nvPr/>
          </p:nvSpPr>
          <p:spPr>
            <a:xfrm>
              <a:off x="8167945" y="320954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endParaRPr lang="en-US" sz="1100" dirty="0"/>
            </a:p>
          </p:txBody>
        </p:sp>
        <p:sp>
          <p:nvSpPr>
            <p:cNvPr id="134" name="Text 126"/>
            <p:cNvSpPr txBox="1"/>
            <p:nvPr/>
          </p:nvSpPr>
          <p:spPr>
            <a:xfrm>
              <a:off x="8291389" y="320954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135" name="Text 127"/>
            <p:cNvSpPr txBox="1"/>
            <p:nvPr/>
          </p:nvSpPr>
          <p:spPr>
            <a:xfrm>
              <a:off x="5071786" y="3383280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observer</a:t>
              </a:r>
              <a:endParaRPr lang="en-US" sz="1100" dirty="0"/>
            </a:p>
          </p:txBody>
        </p:sp>
        <p:sp>
          <p:nvSpPr>
            <p:cNvPr id="136" name="Text 128"/>
            <p:cNvSpPr txBox="1"/>
            <p:nvPr/>
          </p:nvSpPr>
          <p:spPr>
            <a:xfrm>
              <a:off x="5567391" y="338328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137" name="Text 129"/>
            <p:cNvSpPr txBox="1"/>
            <p:nvPr/>
          </p:nvSpPr>
          <p:spPr>
            <a:xfrm>
              <a:off x="5628656" y="3383280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</a:t>
              </a:r>
              <a:endParaRPr lang="en-US" sz="1100" dirty="0"/>
            </a:p>
          </p:txBody>
        </p:sp>
        <p:sp>
          <p:nvSpPr>
            <p:cNvPr id="138" name="Text 130"/>
            <p:cNvSpPr txBox="1"/>
            <p:nvPr/>
          </p:nvSpPr>
          <p:spPr>
            <a:xfrm>
              <a:off x="6062082" y="338328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139" name="Text 131"/>
            <p:cNvSpPr txBox="1"/>
            <p:nvPr/>
          </p:nvSpPr>
          <p:spPr>
            <a:xfrm>
              <a:off x="6124261" y="3383280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section</a:t>
              </a:r>
              <a:endParaRPr lang="en-US" sz="1100" dirty="0"/>
            </a:p>
          </p:txBody>
        </p:sp>
        <p:sp>
          <p:nvSpPr>
            <p:cNvPr id="140" name="Text 132"/>
            <p:cNvSpPr txBox="1"/>
            <p:nvPr/>
          </p:nvSpPr>
          <p:spPr>
            <a:xfrm>
              <a:off x="6557686" y="3383280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141" name="Text 133"/>
            <p:cNvSpPr txBox="1"/>
            <p:nvPr/>
          </p:nvSpPr>
          <p:spPr>
            <a:xfrm>
              <a:off x="4948342" y="3557016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});</a:t>
              </a:r>
              <a:endParaRPr lang="en-US" sz="1100" dirty="0"/>
            </a:p>
          </p:txBody>
        </p:sp>
        <p:sp>
          <p:nvSpPr>
            <p:cNvPr id="142" name="Text 134"/>
            <p:cNvSpPr txBox="1"/>
            <p:nvPr/>
          </p:nvSpPr>
          <p:spPr>
            <a:xfrm>
              <a:off x="4948342" y="3903574"/>
              <a:ext cx="3848710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4. 접근성 고려: 사용자가 '동작 줄이기'를 선호하는지 확인</a:t>
              </a:r>
              <a:endParaRPr lang="en-US" sz="1100" dirty="0"/>
            </a:p>
          </p:txBody>
        </p:sp>
        <p:sp>
          <p:nvSpPr>
            <p:cNvPr id="143" name="Text 135"/>
            <p:cNvSpPr txBox="1"/>
            <p:nvPr/>
          </p:nvSpPr>
          <p:spPr>
            <a:xfrm>
              <a:off x="4948342" y="4076395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1100" dirty="0"/>
            </a:p>
          </p:txBody>
        </p:sp>
        <p:sp>
          <p:nvSpPr>
            <p:cNvPr id="144" name="Text 136"/>
            <p:cNvSpPr txBox="1"/>
            <p:nvPr/>
          </p:nvSpPr>
          <p:spPr>
            <a:xfrm>
              <a:off x="5257410" y="4076395"/>
              <a:ext cx="147401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prefersReducedMotion</a:t>
              </a:r>
              <a:endParaRPr lang="en-US" sz="1100" dirty="0"/>
            </a:p>
          </p:txBody>
        </p:sp>
        <p:sp>
          <p:nvSpPr>
            <p:cNvPr id="145" name="Text 137"/>
            <p:cNvSpPr txBox="1"/>
            <p:nvPr/>
          </p:nvSpPr>
          <p:spPr>
            <a:xfrm>
              <a:off x="6495507" y="4076395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146" name="Text 138"/>
            <p:cNvSpPr txBox="1"/>
            <p:nvPr/>
          </p:nvSpPr>
          <p:spPr>
            <a:xfrm>
              <a:off x="6557686" y="4076395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window</a:t>
              </a:r>
              <a:endParaRPr lang="en-US" sz="1100" dirty="0"/>
            </a:p>
          </p:txBody>
        </p:sp>
        <p:sp>
          <p:nvSpPr>
            <p:cNvPr id="147" name="Text 139"/>
            <p:cNvSpPr txBox="1"/>
            <p:nvPr/>
          </p:nvSpPr>
          <p:spPr>
            <a:xfrm>
              <a:off x="6928933" y="4076395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148" name="Text 140"/>
            <p:cNvSpPr txBox="1"/>
            <p:nvPr/>
          </p:nvSpPr>
          <p:spPr>
            <a:xfrm>
              <a:off x="6991112" y="4076395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matchMedia</a:t>
              </a:r>
              <a:endParaRPr lang="en-US" sz="1100" dirty="0"/>
            </a:p>
          </p:txBody>
        </p:sp>
        <p:sp>
          <p:nvSpPr>
            <p:cNvPr id="149" name="Text 141"/>
            <p:cNvSpPr txBox="1"/>
            <p:nvPr/>
          </p:nvSpPr>
          <p:spPr>
            <a:xfrm>
              <a:off x="7610161" y="4076395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150" name="Text 142"/>
            <p:cNvSpPr txBox="1"/>
            <p:nvPr/>
          </p:nvSpPr>
          <p:spPr>
            <a:xfrm>
              <a:off x="7672340" y="4076395"/>
              <a:ext cx="25054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'(prefers-reduced-motion: reduce)'</a:t>
              </a:r>
              <a:endParaRPr lang="en-US" sz="1100" dirty="0"/>
            </a:p>
          </p:txBody>
        </p:sp>
        <p:sp>
          <p:nvSpPr>
            <p:cNvPr id="151" name="Text 143"/>
            <p:cNvSpPr txBox="1"/>
            <p:nvPr/>
          </p:nvSpPr>
          <p:spPr>
            <a:xfrm>
              <a:off x="9777289" y="4076395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152" name="Text 144"/>
            <p:cNvSpPr txBox="1"/>
            <p:nvPr/>
          </p:nvSpPr>
          <p:spPr>
            <a:xfrm>
              <a:off x="4948342" y="4250131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if</a:t>
              </a:r>
              <a:endParaRPr lang="en-US" sz="1100" dirty="0"/>
            </a:p>
          </p:txBody>
        </p:sp>
        <p:sp>
          <p:nvSpPr>
            <p:cNvPr id="153" name="Text 145"/>
            <p:cNvSpPr txBox="1"/>
            <p:nvPr/>
          </p:nvSpPr>
          <p:spPr>
            <a:xfrm>
              <a:off x="5071786" y="4250131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154" name="Text 146"/>
            <p:cNvSpPr txBox="1"/>
            <p:nvPr/>
          </p:nvSpPr>
          <p:spPr>
            <a:xfrm>
              <a:off x="5133966" y="4250131"/>
              <a:ext cx="147401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prefersReducedMotion</a:t>
              </a:r>
              <a:endParaRPr lang="en-US" sz="1100" dirty="0"/>
            </a:p>
          </p:txBody>
        </p:sp>
        <p:sp>
          <p:nvSpPr>
            <p:cNvPr id="155" name="Text 147"/>
            <p:cNvSpPr txBox="1"/>
            <p:nvPr/>
          </p:nvSpPr>
          <p:spPr>
            <a:xfrm>
              <a:off x="6372063" y="4250131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156" name="Text 148"/>
            <p:cNvSpPr txBox="1"/>
            <p:nvPr/>
          </p:nvSpPr>
          <p:spPr>
            <a:xfrm>
              <a:off x="6434242" y="4250131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matches</a:t>
              </a:r>
              <a:endParaRPr lang="en-US" sz="1100" dirty="0"/>
            </a:p>
          </p:txBody>
        </p:sp>
        <p:sp>
          <p:nvSpPr>
            <p:cNvPr id="157" name="Text 149"/>
            <p:cNvSpPr txBox="1"/>
            <p:nvPr/>
          </p:nvSpPr>
          <p:spPr>
            <a:xfrm>
              <a:off x="6867668" y="4250131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 {</a:t>
              </a:r>
              <a:endParaRPr lang="en-US" sz="1100" dirty="0"/>
            </a:p>
          </p:txBody>
        </p:sp>
        <p:sp>
          <p:nvSpPr>
            <p:cNvPr id="158" name="Text 150"/>
            <p:cNvSpPr txBox="1"/>
            <p:nvPr/>
          </p:nvSpPr>
          <p:spPr>
            <a:xfrm>
              <a:off x="5071786" y="4422953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</a:t>
              </a:r>
              <a:endParaRPr lang="en-US" sz="1100" dirty="0"/>
            </a:p>
          </p:txBody>
        </p:sp>
        <p:sp>
          <p:nvSpPr>
            <p:cNvPr id="159" name="Text 151"/>
            <p:cNvSpPr txBox="1"/>
            <p:nvPr/>
          </p:nvSpPr>
          <p:spPr>
            <a:xfrm>
              <a:off x="5567391" y="4422953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160" name="Text 152"/>
            <p:cNvSpPr txBox="1"/>
            <p:nvPr/>
          </p:nvSpPr>
          <p:spPr>
            <a:xfrm>
              <a:off x="5628656" y="4422953"/>
              <a:ext cx="111099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documentElement</a:t>
              </a:r>
              <a:endParaRPr lang="en-US" sz="1100" dirty="0"/>
            </a:p>
          </p:txBody>
        </p:sp>
        <p:sp>
          <p:nvSpPr>
            <p:cNvPr id="161" name="Text 153"/>
            <p:cNvSpPr txBox="1"/>
            <p:nvPr/>
          </p:nvSpPr>
          <p:spPr>
            <a:xfrm>
              <a:off x="6557686" y="4422953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162" name="Text 154"/>
            <p:cNvSpPr txBox="1"/>
            <p:nvPr/>
          </p:nvSpPr>
          <p:spPr>
            <a:xfrm>
              <a:off x="6619866" y="4422953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style</a:t>
              </a:r>
              <a:endParaRPr lang="en-US" sz="1100" dirty="0"/>
            </a:p>
          </p:txBody>
        </p:sp>
        <p:sp>
          <p:nvSpPr>
            <p:cNvPr id="163" name="Text 155"/>
            <p:cNvSpPr txBox="1"/>
            <p:nvPr/>
          </p:nvSpPr>
          <p:spPr>
            <a:xfrm>
              <a:off x="6928933" y="4422953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dirty="0"/>
            </a:p>
          </p:txBody>
        </p:sp>
        <p:sp>
          <p:nvSpPr>
            <p:cNvPr id="164" name="Text 156"/>
            <p:cNvSpPr txBox="1"/>
            <p:nvPr/>
          </p:nvSpPr>
          <p:spPr>
            <a:xfrm>
              <a:off x="6991112" y="4422953"/>
              <a:ext cx="103235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scrollBehavior</a:t>
              </a:r>
              <a:endParaRPr lang="en-US" sz="1100" dirty="0"/>
            </a:p>
          </p:txBody>
        </p:sp>
        <p:sp>
          <p:nvSpPr>
            <p:cNvPr id="165" name="Text 157"/>
            <p:cNvSpPr txBox="1"/>
            <p:nvPr/>
          </p:nvSpPr>
          <p:spPr>
            <a:xfrm>
              <a:off x="7857963" y="4422953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166" name="Text 158"/>
            <p:cNvSpPr txBox="1"/>
            <p:nvPr/>
          </p:nvSpPr>
          <p:spPr>
            <a:xfrm>
              <a:off x="7920142" y="4422953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'auto'</a:t>
              </a:r>
              <a:endParaRPr lang="en-US" sz="1100" dirty="0"/>
            </a:p>
          </p:txBody>
        </p:sp>
        <p:sp>
          <p:nvSpPr>
            <p:cNvPr id="167" name="Text 159"/>
            <p:cNvSpPr txBox="1"/>
            <p:nvPr/>
          </p:nvSpPr>
          <p:spPr>
            <a:xfrm>
              <a:off x="8291389" y="4422953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168" name="Text 160"/>
            <p:cNvSpPr txBox="1"/>
            <p:nvPr/>
          </p:nvSpPr>
          <p:spPr>
            <a:xfrm>
              <a:off x="8414833" y="4422953"/>
              <a:ext cx="1677010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스무스 스크롤 비활성화</a:t>
              </a:r>
              <a:endParaRPr lang="en-US" sz="1100" dirty="0"/>
            </a:p>
          </p:txBody>
        </p:sp>
        <p:sp>
          <p:nvSpPr>
            <p:cNvPr id="169" name="Text 161"/>
            <p:cNvSpPr txBox="1"/>
            <p:nvPr/>
          </p:nvSpPr>
          <p:spPr>
            <a:xfrm>
              <a:off x="4948342" y="4596689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</p:grpSp>
      <p:sp>
        <p:nvSpPr>
          <p:cNvPr id="17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2813" y="320039"/>
            <a:ext cx="1876349" cy="314554"/>
          </a:xfrm>
          <a:prstGeom prst="roundRect">
            <a:avLst>
              <a:gd name="adj" fmla="val 52854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77113" y="395934"/>
            <a:ext cx="17245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EXAMPLE 02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2813" y="748893"/>
            <a:ext cx="6087161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Hero 그라데이션 배경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4880610" y="953718"/>
            <a:ext cx="69119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단색 배경을 conic-gradient와 혼합 모드로 개선하여 시각적 깊이감 추가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53669" y="1374342"/>
            <a:ext cx="5333695" cy="5143500"/>
          </a:xfrm>
          <a:prstGeom prst="roundRect">
            <a:avLst>
              <a:gd name="adj" fmla="val 658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2413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63727" y="1383486"/>
            <a:ext cx="5315407" cy="543154"/>
          </a:xfrm>
          <a:prstGeom prst="roundRect">
            <a:avLst>
              <a:gd name="adj" fmla="val 5907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63727" y="1917496"/>
            <a:ext cx="5315407" cy="9144"/>
          </a:xfrm>
          <a:prstGeom prst="roundRect">
            <a:avLst>
              <a:gd name="adj" fmla="val 3508772"/>
            </a:avLst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172303" y="1552650"/>
            <a:ext cx="485546" cy="200254"/>
          </a:xfrm>
          <a:prstGeom prst="roundRect">
            <a:avLst>
              <a:gd name="adj" fmla="val 869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192774" y="1374342"/>
            <a:ext cx="5333695" cy="5143500"/>
          </a:xfrm>
          <a:prstGeom prst="roundRect">
            <a:avLst>
              <a:gd name="adj" fmla="val 658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2413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201918" y="1383486"/>
            <a:ext cx="5315407" cy="543154"/>
          </a:xfrm>
          <a:prstGeom prst="roundRect">
            <a:avLst>
              <a:gd name="adj" fmla="val 59070"/>
            </a:avLst>
          </a:prstGeom>
          <a:solidFill>
            <a:srgbClr val="FFF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201918" y="1917496"/>
            <a:ext cx="5315407" cy="9144"/>
          </a:xfrm>
          <a:prstGeom prst="roundRect">
            <a:avLst>
              <a:gd name="adj" fmla="val 3508772"/>
            </a:avLst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0615726" y="1552650"/>
            <a:ext cx="676656" cy="200254"/>
          </a:xfrm>
          <a:prstGeom prst="roundRect">
            <a:avLst>
              <a:gd name="adj" fmla="val 86975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792327" y="1564537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29910" y="1591055"/>
            <a:ext cx="4480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STATIC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6430518" y="1564537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672419" y="1591055"/>
            <a:ext cx="63825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63727" y="1926640"/>
            <a:ext cx="5315407" cy="1225295"/>
          </a:xfrm>
          <a:prstGeom prst="rect">
            <a:avLst/>
          </a:prstGeom>
          <a:solidFill>
            <a:srgbClr val="1A1A1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58825" y="2021737"/>
            <a:ext cx="857707" cy="219456"/>
          </a:xfrm>
          <a:prstGeom prst="roundRect">
            <a:avLst>
              <a:gd name="adj" fmla="val 72464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734720" y="2078430"/>
            <a:ext cx="83941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Original Design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63727" y="2906876"/>
            <a:ext cx="5315407" cy="3057754"/>
          </a:xfrm>
          <a:prstGeom prst="roundRect">
            <a:avLst>
              <a:gd name="adj" fmla="val 1863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792327" y="3173881"/>
            <a:ext cx="104058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.hero-section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659178" y="317388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44118" y="3387851"/>
            <a:ext cx="167701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단조로운 단색 배경 */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44118" y="3639311"/>
            <a:ext cx="128107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background-color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2011222" y="363931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077974" y="3639311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#111827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2544318" y="363931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44118" y="3852366"/>
            <a:ext cx="64099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position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478127" y="385236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544878" y="3852366"/>
            <a:ext cx="63550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relative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2077974" y="385236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44118" y="4065421"/>
            <a:ext cx="64099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overflow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478127" y="406542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544878" y="4065421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hidden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944471" y="406542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44118" y="4279391"/>
            <a:ext cx="41971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color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277874" y="427939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344625" y="4279391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#ffffff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810969" y="427939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792327" y="449244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92327" y="4919471"/>
            <a:ext cx="104058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.hero-content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659178" y="491947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944118" y="5132526"/>
            <a:ext cx="56052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z-index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411376" y="513252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1478127" y="5132526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10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611630" y="513252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44118" y="5346495"/>
            <a:ext cx="64099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position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1478127" y="534649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1544878" y="5346495"/>
            <a:ext cx="63550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relative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2077974" y="534649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92327" y="555955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pic>
        <p:nvPicPr>
          <p:cNvPr id="55" name="Image 0" descr="preencoded.png"/>
          <p:cNvPicPr>
            <a:picLocks noChangeAspect="1"/>
          </p:cNvPicPr>
          <p:nvPr/>
        </p:nvPicPr>
        <p:blipFill>
          <a:blip r:embed="rId3"/>
          <a:srcRect t="29516" b="29516"/>
          <a:stretch/>
        </p:blipFill>
        <p:spPr>
          <a:xfrm>
            <a:off x="6201918" y="1926640"/>
            <a:ext cx="5315407" cy="1225295"/>
          </a:xfrm>
          <a:prstGeom prst="rect">
            <a:avLst/>
          </a:prstGeom>
        </p:spPr>
      </p:pic>
      <p:sp>
        <p:nvSpPr>
          <p:cNvPr id="56" name="Shape 53"/>
          <p:cNvSpPr/>
          <p:nvPr/>
        </p:nvSpPr>
        <p:spPr>
          <a:xfrm>
            <a:off x="6297930" y="2021737"/>
            <a:ext cx="914400" cy="219456"/>
          </a:xfrm>
          <a:prstGeom prst="roundRect">
            <a:avLst>
              <a:gd name="adj" fmla="val 72464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6373825" y="2078430"/>
            <a:ext cx="907085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Enhanced Visual</a:t>
            </a:r>
            <a:endParaRPr lang="en-US" sz="800" dirty="0"/>
          </a:p>
        </p:txBody>
      </p:sp>
      <p:sp>
        <p:nvSpPr>
          <p:cNvPr id="58" name="Shape 55"/>
          <p:cNvSpPr/>
          <p:nvPr/>
        </p:nvSpPr>
        <p:spPr>
          <a:xfrm>
            <a:off x="6201918" y="2906876"/>
            <a:ext cx="5315407" cy="3057754"/>
          </a:xfrm>
          <a:prstGeom prst="roundRect">
            <a:avLst>
              <a:gd name="adj" fmla="val 1863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6"/>
          <p:cNvSpPr txBox="1"/>
          <p:nvPr/>
        </p:nvSpPr>
        <p:spPr>
          <a:xfrm>
            <a:off x="6430518" y="3173881"/>
            <a:ext cx="10323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.hero-section</a:t>
            </a:r>
            <a:endParaRPr lang="en-US" sz="1000" dirty="0"/>
          </a:p>
        </p:txBody>
      </p:sp>
      <p:sp>
        <p:nvSpPr>
          <p:cNvPr id="60" name="Text 57"/>
          <p:cNvSpPr txBox="1"/>
          <p:nvPr/>
        </p:nvSpPr>
        <p:spPr>
          <a:xfrm>
            <a:off x="7297369" y="317388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6583222" y="3387851"/>
            <a:ext cx="12701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background-color</a:t>
            </a:r>
            <a:endParaRPr lang="en-US" sz="1000" dirty="0"/>
          </a:p>
        </p:txBody>
      </p:sp>
      <p:sp>
        <p:nvSpPr>
          <p:cNvPr id="62" name="Text 59"/>
          <p:cNvSpPr txBox="1"/>
          <p:nvPr/>
        </p:nvSpPr>
        <p:spPr>
          <a:xfrm>
            <a:off x="7650327" y="338785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7717078" y="3387851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#111827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8183422" y="338785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6354622" y="3600906"/>
            <a:ext cx="5162702" cy="1399946"/>
          </a:xfrm>
          <a:prstGeom prst="rect">
            <a:avLst/>
          </a:prstGeom>
          <a:solidFill>
            <a:srgbClr val="FF690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3"/>
          <p:cNvSpPr/>
          <p:nvPr/>
        </p:nvSpPr>
        <p:spPr>
          <a:xfrm>
            <a:off x="6354622" y="3600906"/>
            <a:ext cx="19202" cy="139994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6602425" y="3676801"/>
            <a:ext cx="261518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Conic Gradient로 빛 효과 추가 */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6602425" y="3928261"/>
            <a:ext cx="12701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background-image</a:t>
            </a:r>
            <a:endParaRPr lang="en-US" sz="1000" dirty="0"/>
          </a:p>
        </p:txBody>
      </p:sp>
      <p:sp>
        <p:nvSpPr>
          <p:cNvPr id="69" name="Text 66"/>
          <p:cNvSpPr txBox="1"/>
          <p:nvPr/>
        </p:nvSpPr>
        <p:spPr>
          <a:xfrm>
            <a:off x="7669530" y="392826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70" name="Text 67"/>
          <p:cNvSpPr txBox="1"/>
          <p:nvPr/>
        </p:nvSpPr>
        <p:spPr>
          <a:xfrm>
            <a:off x="7736281" y="3928261"/>
            <a:ext cx="111099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conic-gradient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8668969" y="392826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6755130" y="4142231"/>
            <a:ext cx="158739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from 0deg at 50% 50%</a:t>
            </a:r>
            <a:endParaRPr lang="en-US" sz="1000" dirty="0"/>
          </a:p>
        </p:txBody>
      </p:sp>
      <p:sp>
        <p:nvSpPr>
          <p:cNvPr id="73" name="Text 70"/>
          <p:cNvSpPr txBox="1"/>
          <p:nvPr/>
        </p:nvSpPr>
        <p:spPr>
          <a:xfrm>
            <a:off x="8088325" y="414223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,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755130" y="4355286"/>
            <a:ext cx="9528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#FF6908 0deg</a:t>
            </a:r>
            <a:endParaRPr lang="en-US" sz="1000" dirty="0"/>
          </a:p>
        </p:txBody>
      </p:sp>
      <p:sp>
        <p:nvSpPr>
          <p:cNvPr id="75" name="Text 72"/>
          <p:cNvSpPr txBox="1"/>
          <p:nvPr/>
        </p:nvSpPr>
        <p:spPr>
          <a:xfrm>
            <a:off x="7555230" y="435528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,</a:t>
            </a:r>
            <a:endParaRPr lang="en-US" sz="1000" dirty="0"/>
          </a:p>
        </p:txBody>
      </p:sp>
      <p:sp>
        <p:nvSpPr>
          <p:cNvPr id="76" name="Text 73"/>
          <p:cNvSpPr txBox="1"/>
          <p:nvPr/>
        </p:nvSpPr>
        <p:spPr>
          <a:xfrm>
            <a:off x="6755130" y="4569255"/>
            <a:ext cx="13496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transparent 60deg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602425" y="4782311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1000" dirty="0"/>
          </a:p>
        </p:txBody>
      </p:sp>
      <p:sp>
        <p:nvSpPr>
          <p:cNvPr id="78" name="Text 75"/>
          <p:cNvSpPr txBox="1"/>
          <p:nvPr/>
        </p:nvSpPr>
        <p:spPr>
          <a:xfrm>
            <a:off x="6583222" y="5072175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filter</a:t>
            </a:r>
            <a:endParaRPr lang="en-US" sz="1000" dirty="0"/>
          </a:p>
        </p:txBody>
      </p:sp>
      <p:sp>
        <p:nvSpPr>
          <p:cNvPr id="79" name="Text 76"/>
          <p:cNvSpPr txBox="1"/>
          <p:nvPr/>
        </p:nvSpPr>
        <p:spPr>
          <a:xfrm>
            <a:off x="6983730" y="507217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7050481" y="5072175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blur</a:t>
            </a:r>
            <a:endParaRPr lang="en-US" sz="1000" dirty="0"/>
          </a:p>
        </p:txBody>
      </p:sp>
      <p:sp>
        <p:nvSpPr>
          <p:cNvPr id="81" name="Text 78"/>
          <p:cNvSpPr txBox="1"/>
          <p:nvPr/>
        </p:nvSpPr>
        <p:spPr>
          <a:xfrm>
            <a:off x="7316571" y="507217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1000" dirty="0"/>
          </a:p>
        </p:txBody>
      </p:sp>
      <p:sp>
        <p:nvSpPr>
          <p:cNvPr id="82" name="Text 79"/>
          <p:cNvSpPr txBox="1"/>
          <p:nvPr/>
        </p:nvSpPr>
        <p:spPr>
          <a:xfrm>
            <a:off x="7383322" y="5072175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100px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7717078" y="507217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1000" dirty="0"/>
          </a:p>
        </p:txBody>
      </p:sp>
      <p:sp>
        <p:nvSpPr>
          <p:cNvPr id="84" name="Text 81"/>
          <p:cNvSpPr txBox="1"/>
          <p:nvPr/>
        </p:nvSpPr>
        <p:spPr>
          <a:xfrm>
            <a:off x="6583222" y="5285231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opacity</a:t>
            </a:r>
            <a:endParaRPr lang="en-US" sz="1000" dirty="0"/>
          </a:p>
        </p:txBody>
      </p:sp>
      <p:sp>
        <p:nvSpPr>
          <p:cNvPr id="85" name="Text 82"/>
          <p:cNvSpPr txBox="1"/>
          <p:nvPr/>
        </p:nvSpPr>
        <p:spPr>
          <a:xfrm>
            <a:off x="7050481" y="528523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86" name="Text 83"/>
          <p:cNvSpPr txBox="1"/>
          <p:nvPr/>
        </p:nvSpPr>
        <p:spPr>
          <a:xfrm>
            <a:off x="7116318" y="5285231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0.6</a:t>
            </a:r>
            <a:endParaRPr lang="en-US" sz="1000" dirty="0"/>
          </a:p>
        </p:txBody>
      </p:sp>
      <p:sp>
        <p:nvSpPr>
          <p:cNvPr id="87" name="Text 84"/>
          <p:cNvSpPr txBox="1"/>
          <p:nvPr/>
        </p:nvSpPr>
        <p:spPr>
          <a:xfrm>
            <a:off x="7316571" y="528523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88" name="Text 85"/>
          <p:cNvSpPr txBox="1"/>
          <p:nvPr/>
        </p:nvSpPr>
        <p:spPr>
          <a:xfrm>
            <a:off x="6430518" y="549828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pic>
        <p:nvPicPr>
          <p:cNvPr id="8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811469" y="3172967"/>
            <a:ext cx="457200" cy="457200"/>
          </a:xfrm>
          <a:prstGeom prst="rect">
            <a:avLst/>
          </a:prstGeom>
        </p:spPr>
      </p:pic>
      <p:pic>
        <p:nvPicPr>
          <p:cNvPr id="90" name="Image 2" descr="preencoded.png"/>
          <p:cNvPicPr>
            <a:picLocks noChangeAspect="1"/>
          </p:cNvPicPr>
          <p:nvPr/>
        </p:nvPicPr>
        <p:blipFill>
          <a:blip r:embed="rId5"/>
          <a:srcRect l="-1648" r="-1648"/>
          <a:stretch/>
        </p:blipFill>
        <p:spPr>
          <a:xfrm>
            <a:off x="5955030" y="3306469"/>
            <a:ext cx="171907" cy="190195"/>
          </a:xfrm>
          <a:prstGeom prst="rect">
            <a:avLst/>
          </a:prstGeom>
        </p:spPr>
      </p:pic>
      <p:sp>
        <p:nvSpPr>
          <p:cNvPr id="91" name="Text 86"/>
          <p:cNvSpPr txBox="1"/>
          <p:nvPr/>
        </p:nvSpPr>
        <p:spPr>
          <a:xfrm>
            <a:off x="2063343" y="2391548"/>
            <a:ext cx="2324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Background</a:t>
            </a:r>
            <a:endParaRPr lang="en-US" sz="1800" dirty="0"/>
          </a:p>
        </p:txBody>
      </p:sp>
      <p:sp>
        <p:nvSpPr>
          <p:cNvPr id="92" name="Text 87"/>
          <p:cNvSpPr txBox="1"/>
          <p:nvPr/>
        </p:nvSpPr>
        <p:spPr>
          <a:xfrm>
            <a:off x="7914589" y="2391548"/>
            <a:ext cx="189372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Mesh</a:t>
            </a:r>
            <a:endParaRPr lang="en-US" sz="1800" dirty="0"/>
          </a:p>
        </p:txBody>
      </p:sp>
      <p:sp>
        <p:nvSpPr>
          <p:cNvPr id="93" name="Shape 88"/>
          <p:cNvSpPr/>
          <p:nvPr/>
        </p:nvSpPr>
        <p:spPr>
          <a:xfrm>
            <a:off x="553669" y="6079845"/>
            <a:ext cx="10972800" cy="575158"/>
          </a:xfrm>
          <a:prstGeom prst="roundRect">
            <a:avLst>
              <a:gd name="adj" fmla="val 1845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4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715518" y="6292442"/>
            <a:ext cx="114300" cy="152705"/>
          </a:xfrm>
          <a:prstGeom prst="rect">
            <a:avLst/>
          </a:prstGeom>
        </p:spPr>
      </p:pic>
      <p:sp>
        <p:nvSpPr>
          <p:cNvPr id="95" name="Text 89"/>
          <p:cNvSpPr txBox="1"/>
          <p:nvPr/>
        </p:nvSpPr>
        <p:spPr>
          <a:xfrm>
            <a:off x="944118" y="6206489"/>
            <a:ext cx="9411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TIP: 성능 최적화</a:t>
            </a:r>
            <a:endParaRPr lang="en-US" sz="1000" dirty="0"/>
          </a:p>
        </p:txBody>
      </p:sp>
      <p:sp>
        <p:nvSpPr>
          <p:cNvPr id="96" name="Text 90"/>
          <p:cNvSpPr txBox="1"/>
          <p:nvPr/>
        </p:nvSpPr>
        <p:spPr>
          <a:xfrm>
            <a:off x="944118" y="6435089"/>
            <a:ext cx="99825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그라데이션과 blur 효과는 렌더링 비용이 높으므로, </a:t>
            </a:r>
            <a:r>
              <a:rPr lang="en-US" sz="9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will-change: transform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사용하거나 가상 요소(::before)에 적용하여 본문 리플로우를 방지하는 것이 좋습니다.</a:t>
            </a:r>
            <a:endParaRPr lang="en-US" sz="1000" dirty="0"/>
          </a:p>
        </p:txBody>
      </p:sp>
      <p:sp>
        <p:nvSpPr>
          <p:cNvPr id="9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96631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접근성(A11y) &amp; 인터랙션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805220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</a:t>
            </a:r>
            <a:r>
              <a:rPr lang="en-US" sz="36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예제</a:t>
            </a: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 : 접근성 버튼 상태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388418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835037" y="1869948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930134" y="1955902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3" r="-3"/>
          <a:stretch/>
        </p:blipFill>
        <p:spPr>
          <a:xfrm>
            <a:off x="879654" y="2303027"/>
            <a:ext cx="3230575" cy="257860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79907" y="2503280"/>
            <a:ext cx="29151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"모든 사용자가 접근 가능한 버튼 컴포넌트의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CSS 스타일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작성해줘.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79907" y="3104956"/>
            <a:ext cx="2915107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마우스 오버(Hover), 키보드 포커스(:focus-visible), 비활성화(:disabled), 그리고 토글 상태(aria-pressed)에 대한 스타일을 명확히 구분해야 해.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079907" y="4361079"/>
            <a:ext cx="2974369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고대비 모드와 스크린 리더 사용자도 고려해줘."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09905" y="5242299"/>
            <a:ext cx="3715207" cy="1278244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09905" y="5242299"/>
            <a:ext cx="45719" cy="1278244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421522"/>
            <a:ext cx="105156" cy="1335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81151" y="5414206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838505" y="5632748"/>
            <a:ext cx="337230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:focus 대신 </a:t>
            </a: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:focus-visible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사용하면 마우스 클릭 시 발생하는 불필요한 아웃라인은 숨기고, 키보드 탐색 시에만 명확한 포커스링을 제공하여 UX를 향상시킬 수 있습니다.</a:t>
            </a:r>
            <a:endParaRPr lang="en-US" sz="105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945075" y="1684325"/>
            <a:ext cx="235915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(STYLE.CSS)</a:t>
            </a:r>
            <a:endParaRPr lang="en-US" sz="10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535778" y="214152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style.css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4869180" y="2603297"/>
            <a:ext cx="206380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1. Base Button Style */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602882" y="2603297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.btn</a:t>
            </a:r>
            <a:endParaRPr lang="en-US" sz="1000" dirty="0"/>
          </a:p>
        </p:txBody>
      </p:sp>
      <p:sp>
        <p:nvSpPr>
          <p:cNvPr id="30" name="Text 22"/>
          <p:cNvSpPr txBox="1"/>
          <p:nvPr/>
        </p:nvSpPr>
        <p:spPr>
          <a:xfrm>
            <a:off x="6868973" y="260329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5021885" y="2789834"/>
            <a:ext cx="12701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background-color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6088075" y="2789834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6221578" y="2789834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#FF6908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6687922" y="2789834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5021885" y="2976372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color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5354726" y="2976372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5488229" y="2976372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white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5821985" y="297637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5021885" y="3162910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border</a:t>
            </a:r>
            <a:endParaRPr lang="en-US" sz="1000" dirty="0"/>
          </a:p>
        </p:txBody>
      </p:sp>
      <p:sp>
        <p:nvSpPr>
          <p:cNvPr id="40" name="Text 32"/>
          <p:cNvSpPr txBox="1"/>
          <p:nvPr/>
        </p:nvSpPr>
        <p:spPr>
          <a:xfrm>
            <a:off x="5421478" y="3162910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5554980" y="3162910"/>
            <a:ext cx="16669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2px solid transparent</a:t>
            </a:r>
            <a:endParaRPr lang="en-US" sz="1000" dirty="0"/>
          </a:p>
        </p:txBody>
      </p:sp>
      <p:sp>
        <p:nvSpPr>
          <p:cNvPr id="42" name="Text 34"/>
          <p:cNvSpPr txBox="1"/>
          <p:nvPr/>
        </p:nvSpPr>
        <p:spPr>
          <a:xfrm>
            <a:off x="6954926" y="316291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5021885" y="3349447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cursor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5421478" y="3349447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5554980" y="3349447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pointer</a:t>
            </a:r>
            <a:endParaRPr lang="en-US" sz="1000" dirty="0"/>
          </a:p>
        </p:txBody>
      </p:sp>
      <p:sp>
        <p:nvSpPr>
          <p:cNvPr id="46" name="Text 38"/>
          <p:cNvSpPr txBox="1"/>
          <p:nvPr/>
        </p:nvSpPr>
        <p:spPr>
          <a:xfrm>
            <a:off x="6021324" y="334944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5021885" y="3535985"/>
            <a:ext cx="79369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transition</a:t>
            </a:r>
            <a:endParaRPr lang="en-US" sz="1000" dirty="0"/>
          </a:p>
        </p:txBody>
      </p:sp>
      <p:sp>
        <p:nvSpPr>
          <p:cNvPr id="48" name="Text 40"/>
          <p:cNvSpPr txBox="1"/>
          <p:nvPr/>
        </p:nvSpPr>
        <p:spPr>
          <a:xfrm>
            <a:off x="5688482" y="353598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9" name="Text 41"/>
          <p:cNvSpPr txBox="1"/>
          <p:nvPr/>
        </p:nvSpPr>
        <p:spPr>
          <a:xfrm>
            <a:off x="5821985" y="3535985"/>
            <a:ext cx="10323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all 0.2s ease</a:t>
            </a:r>
            <a:endParaRPr lang="en-US" sz="1000" dirty="0"/>
          </a:p>
        </p:txBody>
      </p:sp>
      <p:sp>
        <p:nvSpPr>
          <p:cNvPr id="50" name="Text 42"/>
          <p:cNvSpPr txBox="1"/>
          <p:nvPr/>
        </p:nvSpPr>
        <p:spPr>
          <a:xfrm>
            <a:off x="6687922" y="353598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51" name="Text 43"/>
          <p:cNvSpPr txBox="1"/>
          <p:nvPr/>
        </p:nvSpPr>
        <p:spPr>
          <a:xfrm>
            <a:off x="4869180" y="372252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4935931" y="3722522"/>
            <a:ext cx="277703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2. Interaction States (Mouse) */</a:t>
            </a:r>
            <a:endParaRPr lang="en-US" sz="1000" dirty="0"/>
          </a:p>
        </p:txBody>
      </p:sp>
      <p:sp>
        <p:nvSpPr>
          <p:cNvPr id="53" name="Text 45"/>
          <p:cNvSpPr txBox="1"/>
          <p:nvPr/>
        </p:nvSpPr>
        <p:spPr>
          <a:xfrm>
            <a:off x="4869180" y="3909974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.btn</a:t>
            </a:r>
            <a:endParaRPr lang="en-US" sz="1000" dirty="0"/>
          </a:p>
        </p:txBody>
      </p:sp>
      <p:sp>
        <p:nvSpPr>
          <p:cNvPr id="54" name="Text 46"/>
          <p:cNvSpPr txBox="1"/>
          <p:nvPr/>
        </p:nvSpPr>
        <p:spPr>
          <a:xfrm>
            <a:off x="5136185" y="3909974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:hover</a:t>
            </a:r>
            <a:endParaRPr lang="en-US" sz="1000" dirty="0"/>
          </a:p>
        </p:txBody>
      </p:sp>
      <p:sp>
        <p:nvSpPr>
          <p:cNvPr id="55" name="Text 47"/>
          <p:cNvSpPr txBox="1"/>
          <p:nvPr/>
        </p:nvSpPr>
        <p:spPr>
          <a:xfrm>
            <a:off x="5535778" y="3909974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56" name="Text 48"/>
          <p:cNvSpPr txBox="1"/>
          <p:nvPr/>
        </p:nvSpPr>
        <p:spPr>
          <a:xfrm>
            <a:off x="5669280" y="3909974"/>
            <a:ext cx="12701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background-color</a:t>
            </a:r>
            <a:endParaRPr lang="en-US" sz="1000" dirty="0"/>
          </a:p>
        </p:txBody>
      </p:sp>
      <p:sp>
        <p:nvSpPr>
          <p:cNvPr id="57" name="Text 49"/>
          <p:cNvSpPr txBox="1"/>
          <p:nvPr/>
        </p:nvSpPr>
        <p:spPr>
          <a:xfrm>
            <a:off x="6736385" y="3909974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58" name="Text 50"/>
          <p:cNvSpPr txBox="1"/>
          <p:nvPr/>
        </p:nvSpPr>
        <p:spPr>
          <a:xfrm>
            <a:off x="6868973" y="3909974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#E65100</a:t>
            </a:r>
            <a:endParaRPr lang="en-US" sz="1000" dirty="0"/>
          </a:p>
        </p:txBody>
      </p:sp>
      <p:sp>
        <p:nvSpPr>
          <p:cNvPr id="59" name="Text 51"/>
          <p:cNvSpPr txBox="1"/>
          <p:nvPr/>
        </p:nvSpPr>
        <p:spPr>
          <a:xfrm>
            <a:off x="7336231" y="3909974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 }</a:t>
            </a:r>
            <a:endParaRPr lang="en-US" sz="1000" dirty="0"/>
          </a:p>
        </p:txBody>
      </p:sp>
      <p:sp>
        <p:nvSpPr>
          <p:cNvPr id="60" name="Text 52"/>
          <p:cNvSpPr txBox="1"/>
          <p:nvPr/>
        </p:nvSpPr>
        <p:spPr>
          <a:xfrm>
            <a:off x="4869180" y="4096512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.btn</a:t>
            </a:r>
            <a:endParaRPr lang="en-US" sz="1000" dirty="0"/>
          </a:p>
        </p:txBody>
      </p:sp>
      <p:sp>
        <p:nvSpPr>
          <p:cNvPr id="61" name="Text 53"/>
          <p:cNvSpPr txBox="1"/>
          <p:nvPr/>
        </p:nvSpPr>
        <p:spPr>
          <a:xfrm>
            <a:off x="5136185" y="4096512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:active</a:t>
            </a:r>
            <a:endParaRPr lang="en-US" sz="1000" dirty="0"/>
          </a:p>
        </p:txBody>
      </p:sp>
      <p:sp>
        <p:nvSpPr>
          <p:cNvPr id="62" name="Text 54"/>
          <p:cNvSpPr txBox="1"/>
          <p:nvPr/>
        </p:nvSpPr>
        <p:spPr>
          <a:xfrm>
            <a:off x="5602529" y="4096512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63" name="Text 55"/>
          <p:cNvSpPr txBox="1"/>
          <p:nvPr/>
        </p:nvSpPr>
        <p:spPr>
          <a:xfrm>
            <a:off x="5736031" y="4096512"/>
            <a:ext cx="71414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transform</a:t>
            </a:r>
            <a:endParaRPr lang="en-US" sz="1000" dirty="0"/>
          </a:p>
        </p:txBody>
      </p:sp>
      <p:sp>
        <p:nvSpPr>
          <p:cNvPr id="64" name="Text 56"/>
          <p:cNvSpPr txBox="1"/>
          <p:nvPr/>
        </p:nvSpPr>
        <p:spPr>
          <a:xfrm>
            <a:off x="6335878" y="4096512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65" name="Text 57"/>
          <p:cNvSpPr txBox="1"/>
          <p:nvPr/>
        </p:nvSpPr>
        <p:spPr>
          <a:xfrm>
            <a:off x="6469380" y="4096512"/>
            <a:ext cx="119054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translateY(1px)</a:t>
            </a:r>
            <a:endParaRPr lang="en-US" sz="1000" dirty="0"/>
          </a:p>
        </p:txBody>
      </p:sp>
      <p:sp>
        <p:nvSpPr>
          <p:cNvPr id="66" name="Text 58"/>
          <p:cNvSpPr txBox="1"/>
          <p:nvPr/>
        </p:nvSpPr>
        <p:spPr>
          <a:xfrm>
            <a:off x="7469734" y="4096512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 }</a:t>
            </a:r>
            <a:endParaRPr lang="en-US" sz="1000" dirty="0"/>
          </a:p>
        </p:txBody>
      </p:sp>
      <p:sp>
        <p:nvSpPr>
          <p:cNvPr id="67" name="Text 59"/>
          <p:cNvSpPr txBox="1"/>
          <p:nvPr/>
        </p:nvSpPr>
        <p:spPr>
          <a:xfrm>
            <a:off x="7669073" y="4096512"/>
            <a:ext cx="341162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3. Accessibility: Keyboard Focus Only */</a:t>
            </a:r>
            <a:endParaRPr lang="en-US" sz="1000" dirty="0"/>
          </a:p>
        </p:txBody>
      </p:sp>
      <p:sp>
        <p:nvSpPr>
          <p:cNvPr id="68" name="Text 60"/>
          <p:cNvSpPr txBox="1"/>
          <p:nvPr/>
        </p:nvSpPr>
        <p:spPr>
          <a:xfrm>
            <a:off x="10536631" y="4096512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.btn</a:t>
            </a:r>
            <a:endParaRPr lang="en-US" sz="1000" dirty="0"/>
          </a:p>
        </p:txBody>
      </p:sp>
      <p:sp>
        <p:nvSpPr>
          <p:cNvPr id="69" name="Text 61"/>
          <p:cNvSpPr txBox="1"/>
          <p:nvPr/>
        </p:nvSpPr>
        <p:spPr>
          <a:xfrm>
            <a:off x="4869180" y="4096512"/>
            <a:ext cx="647761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:focus-visible</a:t>
            </a:r>
            <a:endParaRPr lang="en-US" sz="1000" dirty="0"/>
          </a:p>
        </p:txBody>
      </p:sp>
      <p:sp>
        <p:nvSpPr>
          <p:cNvPr id="70" name="Text 62"/>
          <p:cNvSpPr txBox="1"/>
          <p:nvPr/>
        </p:nvSpPr>
        <p:spPr>
          <a:xfrm>
            <a:off x="5335524" y="428305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5021885" y="4469587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outline</a:t>
            </a:r>
            <a:endParaRPr lang="en-US" sz="1000" dirty="0"/>
          </a:p>
        </p:txBody>
      </p:sp>
      <p:sp>
        <p:nvSpPr>
          <p:cNvPr id="72" name="Text 64"/>
          <p:cNvSpPr txBox="1"/>
          <p:nvPr/>
        </p:nvSpPr>
        <p:spPr>
          <a:xfrm>
            <a:off x="5488229" y="4469587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73" name="Text 65"/>
          <p:cNvSpPr txBox="1"/>
          <p:nvPr/>
        </p:nvSpPr>
        <p:spPr>
          <a:xfrm>
            <a:off x="5621731" y="4469587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none</a:t>
            </a:r>
            <a:endParaRPr lang="en-US" sz="1000" dirty="0"/>
          </a:p>
        </p:txBody>
      </p:sp>
      <p:sp>
        <p:nvSpPr>
          <p:cNvPr id="74" name="Text 66"/>
          <p:cNvSpPr txBox="1"/>
          <p:nvPr/>
        </p:nvSpPr>
        <p:spPr>
          <a:xfrm>
            <a:off x="5887822" y="446958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75" name="Text 67"/>
          <p:cNvSpPr txBox="1"/>
          <p:nvPr/>
        </p:nvSpPr>
        <p:spPr>
          <a:xfrm>
            <a:off x="5021885" y="4656125"/>
            <a:ext cx="79369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box-shadow</a:t>
            </a:r>
            <a:endParaRPr lang="en-US" sz="1000" dirty="0"/>
          </a:p>
        </p:txBody>
      </p:sp>
      <p:sp>
        <p:nvSpPr>
          <p:cNvPr id="76" name="Text 68"/>
          <p:cNvSpPr txBox="1"/>
          <p:nvPr/>
        </p:nvSpPr>
        <p:spPr>
          <a:xfrm>
            <a:off x="5688482" y="465612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77" name="Text 69"/>
          <p:cNvSpPr txBox="1"/>
          <p:nvPr/>
        </p:nvSpPr>
        <p:spPr>
          <a:xfrm>
            <a:off x="5821985" y="4656125"/>
            <a:ext cx="253928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0 0 0 3px rgba(255, 105, 8, 0.4)</a:t>
            </a:r>
            <a:endParaRPr lang="en-US" sz="1000" dirty="0"/>
          </a:p>
        </p:txBody>
      </p:sp>
      <p:sp>
        <p:nvSpPr>
          <p:cNvPr id="78" name="Text 70"/>
          <p:cNvSpPr txBox="1"/>
          <p:nvPr/>
        </p:nvSpPr>
        <p:spPr>
          <a:xfrm>
            <a:off x="7955280" y="465612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79" name="Text 71"/>
          <p:cNvSpPr txBox="1"/>
          <p:nvPr/>
        </p:nvSpPr>
        <p:spPr>
          <a:xfrm>
            <a:off x="5021885" y="4842662"/>
            <a:ext cx="9528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border-color</a:t>
            </a:r>
            <a:endParaRPr lang="en-US" sz="1000" dirty="0"/>
          </a:p>
        </p:txBody>
      </p:sp>
      <p:sp>
        <p:nvSpPr>
          <p:cNvPr id="80" name="Text 72"/>
          <p:cNvSpPr txBox="1"/>
          <p:nvPr/>
        </p:nvSpPr>
        <p:spPr>
          <a:xfrm>
            <a:off x="5821985" y="4842662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81" name="Text 73"/>
          <p:cNvSpPr txBox="1"/>
          <p:nvPr/>
        </p:nvSpPr>
        <p:spPr>
          <a:xfrm>
            <a:off x="5954573" y="4842662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white</a:t>
            </a:r>
            <a:endParaRPr lang="en-US" sz="1000" dirty="0"/>
          </a:p>
        </p:txBody>
      </p:sp>
      <p:sp>
        <p:nvSpPr>
          <p:cNvPr id="82" name="Text 74"/>
          <p:cNvSpPr txBox="1"/>
          <p:nvPr/>
        </p:nvSpPr>
        <p:spPr>
          <a:xfrm>
            <a:off x="6288329" y="4842662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83" name="Text 75"/>
          <p:cNvSpPr txBox="1"/>
          <p:nvPr/>
        </p:nvSpPr>
        <p:spPr>
          <a:xfrm>
            <a:off x="6421831" y="4842662"/>
            <a:ext cx="154442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고대비 모드 지원 */</a:t>
            </a:r>
            <a:endParaRPr lang="en-US" sz="1000" dirty="0"/>
          </a:p>
        </p:txBody>
      </p:sp>
      <p:sp>
        <p:nvSpPr>
          <p:cNvPr id="84" name="Text 76"/>
          <p:cNvSpPr txBox="1"/>
          <p:nvPr/>
        </p:nvSpPr>
        <p:spPr>
          <a:xfrm>
            <a:off x="4869180" y="502920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85" name="Text 77"/>
          <p:cNvSpPr txBox="1"/>
          <p:nvPr/>
        </p:nvSpPr>
        <p:spPr>
          <a:xfrm>
            <a:off x="4935931" y="5029200"/>
            <a:ext cx="301569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4. Toggle State (Aria Attribute) */</a:t>
            </a:r>
            <a:endParaRPr lang="en-US" sz="1000" dirty="0"/>
          </a:p>
        </p:txBody>
      </p:sp>
      <p:sp>
        <p:nvSpPr>
          <p:cNvPr id="86" name="Text 78"/>
          <p:cNvSpPr txBox="1"/>
          <p:nvPr/>
        </p:nvSpPr>
        <p:spPr>
          <a:xfrm>
            <a:off x="7469734" y="5029200"/>
            <a:ext cx="198424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.btn[aria-pressed="true"]</a:t>
            </a:r>
            <a:endParaRPr lang="en-US" sz="1000" dirty="0"/>
          </a:p>
        </p:txBody>
      </p:sp>
      <p:sp>
        <p:nvSpPr>
          <p:cNvPr id="87" name="Text 79"/>
          <p:cNvSpPr txBox="1"/>
          <p:nvPr/>
        </p:nvSpPr>
        <p:spPr>
          <a:xfrm>
            <a:off x="9136685" y="502920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88" name="Text 80"/>
          <p:cNvSpPr txBox="1"/>
          <p:nvPr/>
        </p:nvSpPr>
        <p:spPr>
          <a:xfrm>
            <a:off x="5021885" y="5215738"/>
            <a:ext cx="12701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background-color</a:t>
            </a:r>
            <a:endParaRPr lang="en-US" sz="1000" dirty="0"/>
          </a:p>
        </p:txBody>
      </p:sp>
      <p:sp>
        <p:nvSpPr>
          <p:cNvPr id="89" name="Text 81"/>
          <p:cNvSpPr txBox="1"/>
          <p:nvPr/>
        </p:nvSpPr>
        <p:spPr>
          <a:xfrm>
            <a:off x="6088075" y="5215738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90" name="Text 82"/>
          <p:cNvSpPr txBox="1"/>
          <p:nvPr/>
        </p:nvSpPr>
        <p:spPr>
          <a:xfrm>
            <a:off x="6221578" y="5215738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#1F2937</a:t>
            </a:r>
            <a:endParaRPr lang="en-US" sz="1000" dirty="0"/>
          </a:p>
        </p:txBody>
      </p:sp>
      <p:sp>
        <p:nvSpPr>
          <p:cNvPr id="91" name="Text 83"/>
          <p:cNvSpPr txBox="1"/>
          <p:nvPr/>
        </p:nvSpPr>
        <p:spPr>
          <a:xfrm>
            <a:off x="6687922" y="521573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92" name="Text 84"/>
          <p:cNvSpPr txBox="1"/>
          <p:nvPr/>
        </p:nvSpPr>
        <p:spPr>
          <a:xfrm>
            <a:off x="5021885" y="5402275"/>
            <a:ext cx="79369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box-shadow</a:t>
            </a:r>
            <a:endParaRPr lang="en-US" sz="1000" dirty="0"/>
          </a:p>
        </p:txBody>
      </p:sp>
      <p:sp>
        <p:nvSpPr>
          <p:cNvPr id="93" name="Text 85"/>
          <p:cNvSpPr txBox="1"/>
          <p:nvPr/>
        </p:nvSpPr>
        <p:spPr>
          <a:xfrm>
            <a:off x="5688482" y="540227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94" name="Text 86"/>
          <p:cNvSpPr txBox="1"/>
          <p:nvPr/>
        </p:nvSpPr>
        <p:spPr>
          <a:xfrm>
            <a:off x="5821985" y="5402275"/>
            <a:ext cx="245973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inset 0 2px 4px rgba(0,0,0,0.2)</a:t>
            </a:r>
            <a:endParaRPr lang="en-US" sz="1000" dirty="0"/>
          </a:p>
        </p:txBody>
      </p:sp>
      <p:sp>
        <p:nvSpPr>
          <p:cNvPr id="95" name="Text 87"/>
          <p:cNvSpPr txBox="1"/>
          <p:nvPr/>
        </p:nvSpPr>
        <p:spPr>
          <a:xfrm>
            <a:off x="7888529" y="540227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96" name="Text 88"/>
          <p:cNvSpPr txBox="1"/>
          <p:nvPr/>
        </p:nvSpPr>
        <p:spPr>
          <a:xfrm>
            <a:off x="4869180" y="558881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97" name="Text 89"/>
          <p:cNvSpPr txBox="1"/>
          <p:nvPr/>
        </p:nvSpPr>
        <p:spPr>
          <a:xfrm>
            <a:off x="4935931" y="5588813"/>
            <a:ext cx="182514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5. Disabled State */</a:t>
            </a:r>
            <a:endParaRPr lang="en-US" sz="1000" dirty="0"/>
          </a:p>
        </p:txBody>
      </p:sp>
      <p:sp>
        <p:nvSpPr>
          <p:cNvPr id="98" name="Text 90"/>
          <p:cNvSpPr txBox="1"/>
          <p:nvPr/>
        </p:nvSpPr>
        <p:spPr>
          <a:xfrm>
            <a:off x="6469380" y="5588813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.btn</a:t>
            </a:r>
            <a:endParaRPr lang="en-US" sz="1000" dirty="0"/>
          </a:p>
        </p:txBody>
      </p:sp>
      <p:sp>
        <p:nvSpPr>
          <p:cNvPr id="99" name="Text 91"/>
          <p:cNvSpPr txBox="1"/>
          <p:nvPr/>
        </p:nvSpPr>
        <p:spPr>
          <a:xfrm>
            <a:off x="6736385" y="5588813"/>
            <a:ext cx="71414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:disabled</a:t>
            </a:r>
            <a:endParaRPr lang="en-US" sz="1000" dirty="0"/>
          </a:p>
        </p:txBody>
      </p:sp>
      <p:sp>
        <p:nvSpPr>
          <p:cNvPr id="100" name="Text 92"/>
          <p:cNvSpPr txBox="1"/>
          <p:nvPr/>
        </p:nvSpPr>
        <p:spPr>
          <a:xfrm>
            <a:off x="7336231" y="558881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101" name="Text 93"/>
          <p:cNvSpPr txBox="1"/>
          <p:nvPr/>
        </p:nvSpPr>
        <p:spPr>
          <a:xfrm>
            <a:off x="5021885" y="5776265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opacity</a:t>
            </a:r>
            <a:endParaRPr lang="en-US" sz="1000" dirty="0"/>
          </a:p>
        </p:txBody>
      </p:sp>
      <p:sp>
        <p:nvSpPr>
          <p:cNvPr id="102" name="Text 94"/>
          <p:cNvSpPr txBox="1"/>
          <p:nvPr/>
        </p:nvSpPr>
        <p:spPr>
          <a:xfrm>
            <a:off x="5488229" y="577626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103" name="Text 95"/>
          <p:cNvSpPr txBox="1"/>
          <p:nvPr/>
        </p:nvSpPr>
        <p:spPr>
          <a:xfrm>
            <a:off x="5621731" y="5776265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0.6</a:t>
            </a:r>
            <a:endParaRPr lang="en-US" sz="1000" dirty="0"/>
          </a:p>
        </p:txBody>
      </p:sp>
      <p:sp>
        <p:nvSpPr>
          <p:cNvPr id="104" name="Text 96"/>
          <p:cNvSpPr txBox="1"/>
          <p:nvPr/>
        </p:nvSpPr>
        <p:spPr>
          <a:xfrm>
            <a:off x="5821985" y="577626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105" name="Text 97"/>
          <p:cNvSpPr txBox="1"/>
          <p:nvPr/>
        </p:nvSpPr>
        <p:spPr>
          <a:xfrm>
            <a:off x="5021885" y="5962802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cursor</a:t>
            </a:r>
            <a:endParaRPr lang="en-US" sz="1000" dirty="0"/>
          </a:p>
        </p:txBody>
      </p:sp>
      <p:sp>
        <p:nvSpPr>
          <p:cNvPr id="106" name="Text 98"/>
          <p:cNvSpPr txBox="1"/>
          <p:nvPr/>
        </p:nvSpPr>
        <p:spPr>
          <a:xfrm>
            <a:off x="5421478" y="5962802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107" name="Text 99"/>
          <p:cNvSpPr txBox="1"/>
          <p:nvPr/>
        </p:nvSpPr>
        <p:spPr>
          <a:xfrm>
            <a:off x="5554980" y="5962802"/>
            <a:ext cx="87325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not-allowed</a:t>
            </a:r>
            <a:endParaRPr lang="en-US" sz="1000" dirty="0"/>
          </a:p>
        </p:txBody>
      </p:sp>
      <p:sp>
        <p:nvSpPr>
          <p:cNvPr id="108" name="Text 100"/>
          <p:cNvSpPr txBox="1"/>
          <p:nvPr/>
        </p:nvSpPr>
        <p:spPr>
          <a:xfrm>
            <a:off x="6288329" y="596280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109" name="Text 101"/>
          <p:cNvSpPr txBox="1"/>
          <p:nvPr/>
        </p:nvSpPr>
        <p:spPr>
          <a:xfrm>
            <a:off x="4869180" y="614934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11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50911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8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ACCESSIBILITY &amp; UX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47649"/>
            <a:ext cx="109728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[P4] 실전 예제4 : 모달 컴포넌트 (Focus Trap) - Part 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09905" y="1571854"/>
            <a:ext cx="4028846" cy="3457346"/>
          </a:xfrm>
          <a:prstGeom prst="roundRect">
            <a:avLst>
              <a:gd name="adj" fmla="val 145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843430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809598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124151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210105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47649" y="2505455"/>
            <a:ext cx="3548786" cy="230058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704795"/>
            <a:ext cx="32296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"웹 접근성 지침(WCAG)을 준수하는 </a:t>
            </a: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모달(Modal) 창 컴포넌트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구현해줘.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47902" y="3436315"/>
            <a:ext cx="3229661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모달이 열릴 때 배경 스크롤은 잠겨야 하고, </a:t>
            </a: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ESC 키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누르거나 배경을 클릭하면 닫혀야 해. 특히 키보드 포커스가 모달 밖으로 나가지 않도록 </a:t>
            </a: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'Focus Trap'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기능을 반드시 포함해줘."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09905" y="5257800"/>
            <a:ext cx="4028846" cy="1246414"/>
          </a:xfrm>
          <a:prstGeom prst="roundRect">
            <a:avLst>
              <a:gd name="adj" fmla="val 5333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0"/>
          <p:cNvSpPr/>
          <p:nvPr/>
        </p:nvSpPr>
        <p:spPr>
          <a:xfrm>
            <a:off x="609905" y="5257800"/>
            <a:ext cx="38405" cy="1246414"/>
          </a:xfrm>
          <a:prstGeom prst="roundRect">
            <a:avLst>
              <a:gd name="adj" fmla="val 158729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38505" y="5436107"/>
            <a:ext cx="133502" cy="14558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09498" y="5429707"/>
            <a:ext cx="857707" cy="166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838505" y="5648249"/>
            <a:ext cx="3686861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코드는 </a:t>
            </a: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선택과 Tab 키(순방향) 처리를 다루며, </a:t>
            </a:r>
            <a:r>
              <a:rPr lang="en-US" sz="11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 Shift+Tab(역방향) 이동과 ESC 키 처리를 이어서 다룹니다.</a:t>
            </a:r>
            <a:endParaRPr lang="en-US" sz="11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5015484" y="1604772"/>
            <a:ext cx="171907" cy="13350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263286" y="1571854"/>
            <a:ext cx="477956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(MODAL.JS) - PART 1: 요소 선택 &amp; TAB 처리</a:t>
            </a:r>
            <a:endParaRPr lang="en-US" sz="10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rcRect t="-3" b="-3"/>
          <a:stretch/>
        </p:blipFill>
        <p:spPr>
          <a:xfrm>
            <a:off x="5015484" y="1886407"/>
            <a:ext cx="6567221" cy="4515307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015484" y="1886407"/>
            <a:ext cx="6572707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168189" y="2036369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358384" y="2036369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5548579" y="2036369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5853989" y="2029054"/>
            <a:ext cx="58978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modal.js</a:t>
            </a:r>
            <a:endParaRPr lang="en-US" sz="900" dirty="0"/>
          </a:p>
        </p:txBody>
      </p:sp>
      <p:sp>
        <p:nvSpPr>
          <p:cNvPr id="27" name="Shape 19"/>
          <p:cNvSpPr/>
          <p:nvPr/>
        </p:nvSpPr>
        <p:spPr>
          <a:xfrm>
            <a:off x="5015484" y="2300630"/>
            <a:ext cx="6572707" cy="4028846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0"/>
          <p:cNvSpPr txBox="1"/>
          <p:nvPr/>
        </p:nvSpPr>
        <p:spPr>
          <a:xfrm>
            <a:off x="5187391" y="2490826"/>
            <a:ext cx="21095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1. 포커스 트랩을 위한 요소 선택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5187391" y="2650846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5472684" y="2650846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modal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5758891" y="265084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5816498" y="2650846"/>
            <a:ext cx="6181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document.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6330391" y="2650846"/>
            <a:ext cx="9610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getElementById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7130491" y="265084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7188098" y="2650846"/>
            <a:ext cx="4864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'modal'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7588606" y="2650846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900" dirty="0"/>
          </a:p>
        </p:txBody>
      </p:sp>
      <p:sp>
        <p:nvSpPr>
          <p:cNvPr id="37" name="Text 29"/>
          <p:cNvSpPr txBox="1"/>
          <p:nvPr/>
        </p:nvSpPr>
        <p:spPr>
          <a:xfrm>
            <a:off x="5187391" y="2810866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5472684" y="2810866"/>
            <a:ext cx="11667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focusableElements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6444691" y="281086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6502298" y="2810866"/>
            <a:ext cx="4288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modal.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6845198" y="2810866"/>
            <a:ext cx="10981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querySelectorAll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7759598" y="281086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5187391" y="2810866"/>
            <a:ext cx="50584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'button, [href], input, select, textarea, [tabindex]:not([tabindex="-1"])'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7016191" y="2970886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5187391" y="3130906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900" dirty="0"/>
          </a:p>
        </p:txBody>
      </p:sp>
      <p:sp>
        <p:nvSpPr>
          <p:cNvPr id="46" name="Text 38"/>
          <p:cNvSpPr txBox="1"/>
          <p:nvPr/>
        </p:nvSpPr>
        <p:spPr>
          <a:xfrm>
            <a:off x="5472684" y="3130906"/>
            <a:ext cx="8238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firstElement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6158484" y="313090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48" name="Text 40"/>
          <p:cNvSpPr txBox="1"/>
          <p:nvPr/>
        </p:nvSpPr>
        <p:spPr>
          <a:xfrm>
            <a:off x="6216091" y="3130906"/>
            <a:ext cx="12353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focusableElements[</a:t>
            </a:r>
            <a:endParaRPr lang="en-US" sz="900" dirty="0"/>
          </a:p>
        </p:txBody>
      </p:sp>
      <p:sp>
        <p:nvSpPr>
          <p:cNvPr id="49" name="Text 41"/>
          <p:cNvSpPr txBox="1"/>
          <p:nvPr/>
        </p:nvSpPr>
        <p:spPr>
          <a:xfrm>
            <a:off x="7244791" y="313090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5CEA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0</a:t>
            </a:r>
            <a:endParaRPr lang="en-US" sz="900" dirty="0"/>
          </a:p>
        </p:txBody>
      </p:sp>
      <p:sp>
        <p:nvSpPr>
          <p:cNvPr id="50" name="Text 42"/>
          <p:cNvSpPr txBox="1"/>
          <p:nvPr/>
        </p:nvSpPr>
        <p:spPr>
          <a:xfrm>
            <a:off x="7302398" y="3130906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];</a:t>
            </a:r>
            <a:endParaRPr lang="en-US" sz="900" dirty="0"/>
          </a:p>
        </p:txBody>
      </p:sp>
      <p:sp>
        <p:nvSpPr>
          <p:cNvPr id="51" name="Text 43"/>
          <p:cNvSpPr txBox="1"/>
          <p:nvPr/>
        </p:nvSpPr>
        <p:spPr>
          <a:xfrm>
            <a:off x="5187391" y="3290926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900" dirty="0"/>
          </a:p>
        </p:txBody>
      </p:sp>
      <p:sp>
        <p:nvSpPr>
          <p:cNvPr id="52" name="Text 44"/>
          <p:cNvSpPr txBox="1"/>
          <p:nvPr/>
        </p:nvSpPr>
        <p:spPr>
          <a:xfrm>
            <a:off x="5472684" y="3290926"/>
            <a:ext cx="7552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lastElement</a:t>
            </a:r>
            <a:endParaRPr lang="en-US" sz="900" dirty="0"/>
          </a:p>
        </p:txBody>
      </p:sp>
      <p:sp>
        <p:nvSpPr>
          <p:cNvPr id="53" name="Text 45"/>
          <p:cNvSpPr txBox="1"/>
          <p:nvPr/>
        </p:nvSpPr>
        <p:spPr>
          <a:xfrm>
            <a:off x="6101791" y="329092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54" name="Text 46"/>
          <p:cNvSpPr txBox="1"/>
          <p:nvPr/>
        </p:nvSpPr>
        <p:spPr>
          <a:xfrm>
            <a:off x="6159398" y="3290926"/>
            <a:ext cx="24597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focusableElements[focusableElements.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8216798" y="3290926"/>
            <a:ext cx="4288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length</a:t>
            </a:r>
            <a:endParaRPr lang="en-US" sz="900" dirty="0"/>
          </a:p>
        </p:txBody>
      </p:sp>
      <p:sp>
        <p:nvSpPr>
          <p:cNvPr id="56" name="Text 48"/>
          <p:cNvSpPr txBox="1"/>
          <p:nvPr/>
        </p:nvSpPr>
        <p:spPr>
          <a:xfrm>
            <a:off x="8559698" y="329092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</a:t>
            </a:r>
            <a:endParaRPr lang="en-US" sz="900" dirty="0"/>
          </a:p>
        </p:txBody>
      </p:sp>
      <p:sp>
        <p:nvSpPr>
          <p:cNvPr id="57" name="Text 49"/>
          <p:cNvSpPr txBox="1"/>
          <p:nvPr/>
        </p:nvSpPr>
        <p:spPr>
          <a:xfrm>
            <a:off x="8617306" y="329092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5CEA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</a:t>
            </a:r>
            <a:endParaRPr lang="en-US" sz="900" dirty="0"/>
          </a:p>
        </p:txBody>
      </p:sp>
      <p:sp>
        <p:nvSpPr>
          <p:cNvPr id="58" name="Text 50"/>
          <p:cNvSpPr txBox="1"/>
          <p:nvPr/>
        </p:nvSpPr>
        <p:spPr>
          <a:xfrm>
            <a:off x="8673998" y="3290926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];</a:t>
            </a:r>
            <a:endParaRPr lang="en-US" sz="900" dirty="0"/>
          </a:p>
        </p:txBody>
      </p:sp>
      <p:sp>
        <p:nvSpPr>
          <p:cNvPr id="59" name="Text 51"/>
          <p:cNvSpPr txBox="1"/>
          <p:nvPr/>
        </p:nvSpPr>
        <p:spPr>
          <a:xfrm>
            <a:off x="5187391" y="345094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</a:t>
            </a:r>
            <a:endParaRPr lang="en-US" sz="900" dirty="0"/>
          </a:p>
        </p:txBody>
      </p:sp>
      <p:sp>
        <p:nvSpPr>
          <p:cNvPr id="60" name="Text 52"/>
          <p:cNvSpPr txBox="1"/>
          <p:nvPr/>
        </p:nvSpPr>
        <p:spPr>
          <a:xfrm>
            <a:off x="5358384" y="3450946"/>
            <a:ext cx="17391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2. 키보드 이벤트 리스너 시작</a:t>
            </a:r>
            <a:endParaRPr lang="en-US" sz="900" dirty="0"/>
          </a:p>
        </p:txBody>
      </p:sp>
      <p:sp>
        <p:nvSpPr>
          <p:cNvPr id="61" name="Text 53"/>
          <p:cNvSpPr txBox="1"/>
          <p:nvPr/>
        </p:nvSpPr>
        <p:spPr>
          <a:xfrm>
            <a:off x="6958584" y="3450946"/>
            <a:ext cx="4288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modal.</a:t>
            </a:r>
            <a:endParaRPr lang="en-US" sz="900" dirty="0"/>
          </a:p>
        </p:txBody>
      </p:sp>
      <p:sp>
        <p:nvSpPr>
          <p:cNvPr id="62" name="Text 54"/>
          <p:cNvSpPr txBox="1"/>
          <p:nvPr/>
        </p:nvSpPr>
        <p:spPr>
          <a:xfrm>
            <a:off x="7302398" y="3450946"/>
            <a:ext cx="10981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addEventListener</a:t>
            </a:r>
            <a:endParaRPr lang="en-US" sz="900" dirty="0"/>
          </a:p>
        </p:txBody>
      </p:sp>
      <p:sp>
        <p:nvSpPr>
          <p:cNvPr id="63" name="Text 55"/>
          <p:cNvSpPr txBox="1"/>
          <p:nvPr/>
        </p:nvSpPr>
        <p:spPr>
          <a:xfrm>
            <a:off x="8216798" y="345094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8273491" y="3450946"/>
            <a:ext cx="6181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'keydown'</a:t>
            </a:r>
            <a:endParaRPr lang="en-US" sz="900" dirty="0"/>
          </a:p>
        </p:txBody>
      </p:sp>
      <p:sp>
        <p:nvSpPr>
          <p:cNvPr id="65" name="Text 57"/>
          <p:cNvSpPr txBox="1"/>
          <p:nvPr/>
        </p:nvSpPr>
        <p:spPr>
          <a:xfrm>
            <a:off x="8788298" y="3450946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,</a:t>
            </a:r>
            <a:endParaRPr lang="en-US" sz="900" dirty="0"/>
          </a:p>
        </p:txBody>
      </p:sp>
      <p:sp>
        <p:nvSpPr>
          <p:cNvPr id="66" name="Text 58"/>
          <p:cNvSpPr txBox="1"/>
          <p:nvPr/>
        </p:nvSpPr>
        <p:spPr>
          <a:xfrm>
            <a:off x="8902598" y="3450946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function</a:t>
            </a:r>
            <a:endParaRPr lang="en-US" sz="900" dirty="0"/>
          </a:p>
        </p:txBody>
      </p:sp>
      <p:sp>
        <p:nvSpPr>
          <p:cNvPr id="67" name="Text 59"/>
          <p:cNvSpPr txBox="1"/>
          <p:nvPr/>
        </p:nvSpPr>
        <p:spPr>
          <a:xfrm>
            <a:off x="9359798" y="345094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68" name="Text 60"/>
          <p:cNvSpPr txBox="1"/>
          <p:nvPr/>
        </p:nvSpPr>
        <p:spPr>
          <a:xfrm>
            <a:off x="9417406" y="345094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</a:t>
            </a:r>
            <a:endParaRPr lang="en-US" sz="900" dirty="0"/>
          </a:p>
        </p:txBody>
      </p:sp>
      <p:sp>
        <p:nvSpPr>
          <p:cNvPr id="69" name="Text 61"/>
          <p:cNvSpPr txBox="1"/>
          <p:nvPr/>
        </p:nvSpPr>
        <p:spPr>
          <a:xfrm>
            <a:off x="9475013" y="345094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 {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5015484" y="3591763"/>
            <a:ext cx="6572707" cy="2562149"/>
          </a:xfrm>
          <a:prstGeom prst="rect">
            <a:avLst/>
          </a:prstGeom>
          <a:solidFill>
            <a:srgbClr val="00000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3"/>
          <p:cNvSpPr txBox="1"/>
          <p:nvPr/>
        </p:nvSpPr>
        <p:spPr>
          <a:xfrm>
            <a:off x="5187391" y="3610966"/>
            <a:ext cx="11722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Tab 키 누름 감지</a:t>
            </a:r>
            <a:endParaRPr lang="en-US" sz="900" dirty="0"/>
          </a:p>
        </p:txBody>
      </p:sp>
      <p:sp>
        <p:nvSpPr>
          <p:cNvPr id="72" name="Text 64"/>
          <p:cNvSpPr txBox="1"/>
          <p:nvPr/>
        </p:nvSpPr>
        <p:spPr>
          <a:xfrm>
            <a:off x="6272784" y="3610966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</a:t>
            </a:r>
            <a:endParaRPr lang="en-US" sz="900" dirty="0"/>
          </a:p>
        </p:txBody>
      </p:sp>
      <p:sp>
        <p:nvSpPr>
          <p:cNvPr id="73" name="Text 65"/>
          <p:cNvSpPr txBox="1"/>
          <p:nvPr/>
        </p:nvSpPr>
        <p:spPr>
          <a:xfrm>
            <a:off x="6387084" y="361096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(e.</a:t>
            </a:r>
            <a:endParaRPr lang="en-US" sz="900" dirty="0"/>
          </a:p>
        </p:txBody>
      </p:sp>
      <p:sp>
        <p:nvSpPr>
          <p:cNvPr id="74" name="Text 66"/>
          <p:cNvSpPr txBox="1"/>
          <p:nvPr/>
        </p:nvSpPr>
        <p:spPr>
          <a:xfrm>
            <a:off x="6558991" y="361096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key</a:t>
            </a:r>
            <a:endParaRPr lang="en-US" sz="900" dirty="0"/>
          </a:p>
        </p:txBody>
      </p:sp>
      <p:sp>
        <p:nvSpPr>
          <p:cNvPr id="75" name="Text 67"/>
          <p:cNvSpPr txBox="1"/>
          <p:nvPr/>
        </p:nvSpPr>
        <p:spPr>
          <a:xfrm>
            <a:off x="6730898" y="361096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===</a:t>
            </a:r>
            <a:endParaRPr lang="en-US" sz="900" dirty="0"/>
          </a:p>
        </p:txBody>
      </p:sp>
      <p:sp>
        <p:nvSpPr>
          <p:cNvPr id="76" name="Text 68"/>
          <p:cNvSpPr txBox="1"/>
          <p:nvPr/>
        </p:nvSpPr>
        <p:spPr>
          <a:xfrm>
            <a:off x="6901891" y="3610966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'Tab'</a:t>
            </a:r>
            <a:endParaRPr lang="en-US" sz="900" dirty="0"/>
          </a:p>
        </p:txBody>
      </p:sp>
      <p:sp>
        <p:nvSpPr>
          <p:cNvPr id="77" name="Text 69"/>
          <p:cNvSpPr txBox="1"/>
          <p:nvPr/>
        </p:nvSpPr>
        <p:spPr>
          <a:xfrm>
            <a:off x="7188098" y="361096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 {</a:t>
            </a:r>
            <a:endParaRPr lang="en-US" sz="900" dirty="0"/>
          </a:p>
        </p:txBody>
      </p:sp>
      <p:sp>
        <p:nvSpPr>
          <p:cNvPr id="78" name="Text 70"/>
          <p:cNvSpPr txBox="1"/>
          <p:nvPr/>
        </p:nvSpPr>
        <p:spPr>
          <a:xfrm>
            <a:off x="5339182" y="3770986"/>
            <a:ext cx="32168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Shift + Tab: 역방향 이동 (첫 요소 -&gt; 마지막 요소)</a:t>
            </a:r>
            <a:endParaRPr lang="en-US" sz="900" dirty="0"/>
          </a:p>
        </p:txBody>
      </p:sp>
      <p:sp>
        <p:nvSpPr>
          <p:cNvPr id="79" name="Text 71"/>
          <p:cNvSpPr txBox="1"/>
          <p:nvPr/>
        </p:nvSpPr>
        <p:spPr>
          <a:xfrm>
            <a:off x="5339182" y="3931006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</a:t>
            </a:r>
            <a:endParaRPr lang="en-US" sz="900" dirty="0"/>
          </a:p>
        </p:txBody>
      </p:sp>
      <p:sp>
        <p:nvSpPr>
          <p:cNvPr id="80" name="Text 72"/>
          <p:cNvSpPr txBox="1"/>
          <p:nvPr/>
        </p:nvSpPr>
        <p:spPr>
          <a:xfrm>
            <a:off x="5453482" y="393100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(e.</a:t>
            </a:r>
            <a:endParaRPr lang="en-US" sz="900" dirty="0"/>
          </a:p>
        </p:txBody>
      </p:sp>
      <p:sp>
        <p:nvSpPr>
          <p:cNvPr id="81" name="Text 73"/>
          <p:cNvSpPr txBox="1"/>
          <p:nvPr/>
        </p:nvSpPr>
        <p:spPr>
          <a:xfrm>
            <a:off x="5625389" y="3931006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shiftKey</a:t>
            </a:r>
            <a:endParaRPr lang="en-US" sz="900" dirty="0"/>
          </a:p>
        </p:txBody>
      </p:sp>
      <p:sp>
        <p:nvSpPr>
          <p:cNvPr id="82" name="Text 74"/>
          <p:cNvSpPr txBox="1"/>
          <p:nvPr/>
        </p:nvSpPr>
        <p:spPr>
          <a:xfrm>
            <a:off x="6082589" y="393100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 {</a:t>
            </a:r>
            <a:endParaRPr lang="en-US" sz="900" dirty="0"/>
          </a:p>
        </p:txBody>
      </p:sp>
      <p:sp>
        <p:nvSpPr>
          <p:cNvPr id="83" name="Text 75"/>
          <p:cNvSpPr txBox="1"/>
          <p:nvPr/>
        </p:nvSpPr>
        <p:spPr>
          <a:xfrm>
            <a:off x="5491886" y="4091026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</a:t>
            </a:r>
            <a:endParaRPr lang="en-US" sz="900" dirty="0"/>
          </a:p>
        </p:txBody>
      </p:sp>
      <p:sp>
        <p:nvSpPr>
          <p:cNvPr id="84" name="Text 76"/>
          <p:cNvSpPr txBox="1"/>
          <p:nvPr/>
        </p:nvSpPr>
        <p:spPr>
          <a:xfrm>
            <a:off x="5606186" y="4091026"/>
            <a:ext cx="686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(document.</a:t>
            </a:r>
            <a:endParaRPr lang="en-US" sz="900" dirty="0"/>
          </a:p>
        </p:txBody>
      </p:sp>
      <p:sp>
        <p:nvSpPr>
          <p:cNvPr id="85" name="Text 77"/>
          <p:cNvSpPr txBox="1"/>
          <p:nvPr/>
        </p:nvSpPr>
        <p:spPr>
          <a:xfrm>
            <a:off x="6177686" y="4091026"/>
            <a:ext cx="8924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activeElement</a:t>
            </a:r>
            <a:endParaRPr lang="en-US" sz="900" dirty="0"/>
          </a:p>
        </p:txBody>
      </p:sp>
      <p:sp>
        <p:nvSpPr>
          <p:cNvPr id="86" name="Text 78"/>
          <p:cNvSpPr txBox="1"/>
          <p:nvPr/>
        </p:nvSpPr>
        <p:spPr>
          <a:xfrm>
            <a:off x="6921094" y="409102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===</a:t>
            </a:r>
            <a:endParaRPr lang="en-US" sz="900" dirty="0"/>
          </a:p>
        </p:txBody>
      </p:sp>
      <p:sp>
        <p:nvSpPr>
          <p:cNvPr id="87" name="Text 79"/>
          <p:cNvSpPr txBox="1"/>
          <p:nvPr/>
        </p:nvSpPr>
        <p:spPr>
          <a:xfrm>
            <a:off x="7093001" y="4091026"/>
            <a:ext cx="10296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firstElement) {</a:t>
            </a:r>
            <a:endParaRPr lang="en-US" sz="900" dirty="0"/>
          </a:p>
        </p:txBody>
      </p:sp>
      <p:sp>
        <p:nvSpPr>
          <p:cNvPr id="88" name="Text 80"/>
          <p:cNvSpPr txBox="1"/>
          <p:nvPr/>
        </p:nvSpPr>
        <p:spPr>
          <a:xfrm>
            <a:off x="5491886" y="4251046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e.</a:t>
            </a:r>
            <a:endParaRPr lang="en-US" sz="900" dirty="0"/>
          </a:p>
        </p:txBody>
      </p:sp>
      <p:sp>
        <p:nvSpPr>
          <p:cNvPr id="89" name="Text 81"/>
          <p:cNvSpPr txBox="1"/>
          <p:nvPr/>
        </p:nvSpPr>
        <p:spPr>
          <a:xfrm>
            <a:off x="5606186" y="4251046"/>
            <a:ext cx="9610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preventDefault</a:t>
            </a:r>
            <a:endParaRPr lang="en-US" sz="900" dirty="0"/>
          </a:p>
        </p:txBody>
      </p:sp>
      <p:sp>
        <p:nvSpPr>
          <p:cNvPr id="90" name="Text 82"/>
          <p:cNvSpPr txBox="1"/>
          <p:nvPr/>
        </p:nvSpPr>
        <p:spPr>
          <a:xfrm>
            <a:off x="6406286" y="425104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();</a:t>
            </a:r>
            <a:endParaRPr lang="en-US" sz="900" dirty="0"/>
          </a:p>
        </p:txBody>
      </p:sp>
      <p:sp>
        <p:nvSpPr>
          <p:cNvPr id="91" name="Text 83"/>
          <p:cNvSpPr txBox="1"/>
          <p:nvPr/>
        </p:nvSpPr>
        <p:spPr>
          <a:xfrm>
            <a:off x="5491886" y="4411066"/>
            <a:ext cx="8238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lastElement.</a:t>
            </a:r>
            <a:endParaRPr lang="en-US" sz="900" dirty="0"/>
          </a:p>
        </p:txBody>
      </p:sp>
      <p:sp>
        <p:nvSpPr>
          <p:cNvPr id="92" name="Text 84"/>
          <p:cNvSpPr txBox="1"/>
          <p:nvPr/>
        </p:nvSpPr>
        <p:spPr>
          <a:xfrm>
            <a:off x="6177686" y="4411066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focus</a:t>
            </a:r>
            <a:endParaRPr lang="en-US" sz="900" dirty="0"/>
          </a:p>
        </p:txBody>
      </p:sp>
      <p:sp>
        <p:nvSpPr>
          <p:cNvPr id="93" name="Text 85"/>
          <p:cNvSpPr txBox="1"/>
          <p:nvPr/>
        </p:nvSpPr>
        <p:spPr>
          <a:xfrm>
            <a:off x="6463894" y="4411066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();</a:t>
            </a:r>
            <a:endParaRPr lang="en-US" sz="900" dirty="0"/>
          </a:p>
        </p:txBody>
      </p:sp>
      <p:sp>
        <p:nvSpPr>
          <p:cNvPr id="94" name="Text 86"/>
          <p:cNvSpPr txBox="1"/>
          <p:nvPr/>
        </p:nvSpPr>
        <p:spPr>
          <a:xfrm>
            <a:off x="5491886" y="457108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95" name="Text 87"/>
          <p:cNvSpPr txBox="1"/>
          <p:nvPr/>
        </p:nvSpPr>
        <p:spPr>
          <a:xfrm>
            <a:off x="5339182" y="4731106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96" name="Text 88"/>
          <p:cNvSpPr txBox="1"/>
          <p:nvPr/>
        </p:nvSpPr>
        <p:spPr>
          <a:xfrm>
            <a:off x="5339182" y="4890211"/>
            <a:ext cx="267370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Tab: 순방향 이동 (마지막 요소 -&gt; 첫 요소)</a:t>
            </a:r>
            <a:endParaRPr lang="en-US" sz="900" dirty="0"/>
          </a:p>
        </p:txBody>
      </p:sp>
      <p:sp>
        <p:nvSpPr>
          <p:cNvPr id="97" name="Text 89"/>
          <p:cNvSpPr txBox="1"/>
          <p:nvPr/>
        </p:nvSpPr>
        <p:spPr>
          <a:xfrm>
            <a:off x="5339182" y="5050231"/>
            <a:ext cx="314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else</a:t>
            </a:r>
            <a:endParaRPr lang="en-US" sz="900" dirty="0"/>
          </a:p>
        </p:txBody>
      </p:sp>
      <p:sp>
        <p:nvSpPr>
          <p:cNvPr id="98" name="Text 90"/>
          <p:cNvSpPr txBox="1"/>
          <p:nvPr/>
        </p:nvSpPr>
        <p:spPr>
          <a:xfrm>
            <a:off x="5567782" y="5050231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99" name="Text 91"/>
          <p:cNvSpPr txBox="1"/>
          <p:nvPr/>
        </p:nvSpPr>
        <p:spPr>
          <a:xfrm>
            <a:off x="5491886" y="5210251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</a:t>
            </a:r>
            <a:endParaRPr lang="en-US" sz="900" dirty="0"/>
          </a:p>
        </p:txBody>
      </p:sp>
      <p:sp>
        <p:nvSpPr>
          <p:cNvPr id="100" name="Text 92"/>
          <p:cNvSpPr txBox="1"/>
          <p:nvPr/>
        </p:nvSpPr>
        <p:spPr>
          <a:xfrm>
            <a:off x="5606186" y="5210251"/>
            <a:ext cx="686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(document.</a:t>
            </a:r>
            <a:endParaRPr lang="en-US" sz="900" dirty="0"/>
          </a:p>
        </p:txBody>
      </p:sp>
      <p:sp>
        <p:nvSpPr>
          <p:cNvPr id="101" name="Text 93"/>
          <p:cNvSpPr txBox="1"/>
          <p:nvPr/>
        </p:nvSpPr>
        <p:spPr>
          <a:xfrm>
            <a:off x="6177686" y="5210251"/>
            <a:ext cx="8924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activeElement</a:t>
            </a:r>
            <a:endParaRPr lang="en-US" sz="900" dirty="0"/>
          </a:p>
        </p:txBody>
      </p:sp>
      <p:sp>
        <p:nvSpPr>
          <p:cNvPr id="102" name="Text 94"/>
          <p:cNvSpPr txBox="1"/>
          <p:nvPr/>
        </p:nvSpPr>
        <p:spPr>
          <a:xfrm>
            <a:off x="6921094" y="5210251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===</a:t>
            </a:r>
            <a:endParaRPr lang="en-US" sz="900" dirty="0"/>
          </a:p>
        </p:txBody>
      </p:sp>
      <p:sp>
        <p:nvSpPr>
          <p:cNvPr id="103" name="Text 95"/>
          <p:cNvSpPr txBox="1"/>
          <p:nvPr/>
        </p:nvSpPr>
        <p:spPr>
          <a:xfrm>
            <a:off x="7093001" y="5210251"/>
            <a:ext cx="9610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lastElement) {</a:t>
            </a:r>
            <a:endParaRPr lang="en-US" sz="900" dirty="0"/>
          </a:p>
        </p:txBody>
      </p:sp>
      <p:sp>
        <p:nvSpPr>
          <p:cNvPr id="104" name="Text 96"/>
          <p:cNvSpPr txBox="1"/>
          <p:nvPr/>
        </p:nvSpPr>
        <p:spPr>
          <a:xfrm>
            <a:off x="5491886" y="5370271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e.</a:t>
            </a:r>
            <a:endParaRPr lang="en-US" sz="900" dirty="0"/>
          </a:p>
        </p:txBody>
      </p:sp>
      <p:sp>
        <p:nvSpPr>
          <p:cNvPr id="105" name="Text 97"/>
          <p:cNvSpPr txBox="1"/>
          <p:nvPr/>
        </p:nvSpPr>
        <p:spPr>
          <a:xfrm>
            <a:off x="5606186" y="5370271"/>
            <a:ext cx="9610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preventDefault</a:t>
            </a:r>
            <a:endParaRPr lang="en-US" sz="900" dirty="0"/>
          </a:p>
        </p:txBody>
      </p:sp>
      <p:sp>
        <p:nvSpPr>
          <p:cNvPr id="106" name="Text 98"/>
          <p:cNvSpPr txBox="1"/>
          <p:nvPr/>
        </p:nvSpPr>
        <p:spPr>
          <a:xfrm>
            <a:off x="6406286" y="5370271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();</a:t>
            </a:r>
            <a:endParaRPr lang="en-US" sz="900" dirty="0"/>
          </a:p>
        </p:txBody>
      </p:sp>
      <p:sp>
        <p:nvSpPr>
          <p:cNvPr id="107" name="Text 99"/>
          <p:cNvSpPr txBox="1"/>
          <p:nvPr/>
        </p:nvSpPr>
        <p:spPr>
          <a:xfrm>
            <a:off x="5491886" y="5530291"/>
            <a:ext cx="8924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firstElement.</a:t>
            </a:r>
            <a:endParaRPr lang="en-US" sz="900" dirty="0"/>
          </a:p>
        </p:txBody>
      </p:sp>
      <p:sp>
        <p:nvSpPr>
          <p:cNvPr id="108" name="Text 100"/>
          <p:cNvSpPr txBox="1"/>
          <p:nvPr/>
        </p:nvSpPr>
        <p:spPr>
          <a:xfrm>
            <a:off x="6235294" y="5530291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focus</a:t>
            </a:r>
            <a:endParaRPr lang="en-US" sz="900" dirty="0"/>
          </a:p>
        </p:txBody>
      </p:sp>
      <p:sp>
        <p:nvSpPr>
          <p:cNvPr id="109" name="Text 101"/>
          <p:cNvSpPr txBox="1"/>
          <p:nvPr/>
        </p:nvSpPr>
        <p:spPr>
          <a:xfrm>
            <a:off x="6520586" y="5530291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();</a:t>
            </a:r>
            <a:endParaRPr lang="en-US" sz="900" dirty="0"/>
          </a:p>
        </p:txBody>
      </p:sp>
      <p:sp>
        <p:nvSpPr>
          <p:cNvPr id="110" name="Text 102"/>
          <p:cNvSpPr txBox="1"/>
          <p:nvPr/>
        </p:nvSpPr>
        <p:spPr>
          <a:xfrm>
            <a:off x="5491886" y="5690311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111" name="Text 103"/>
          <p:cNvSpPr txBox="1"/>
          <p:nvPr/>
        </p:nvSpPr>
        <p:spPr>
          <a:xfrm>
            <a:off x="5339182" y="5850331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112" name="Text 104"/>
          <p:cNvSpPr txBox="1"/>
          <p:nvPr/>
        </p:nvSpPr>
        <p:spPr>
          <a:xfrm>
            <a:off x="5187391" y="6010351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113" name="Shape 105"/>
          <p:cNvSpPr/>
          <p:nvPr/>
        </p:nvSpPr>
        <p:spPr>
          <a:xfrm>
            <a:off x="5301691" y="6010351"/>
            <a:ext cx="3209544" cy="114300"/>
          </a:xfrm>
          <a:prstGeom prst="rect">
            <a:avLst/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06"/>
          <p:cNvSpPr txBox="1"/>
          <p:nvPr/>
        </p:nvSpPr>
        <p:spPr>
          <a:xfrm>
            <a:off x="5301691" y="6010351"/>
            <a:ext cx="34820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... (Part 2에서 계속: ESC 키 처리 및 리스너 종료) ...</a:t>
            </a:r>
            <a:endParaRPr lang="en-US" sz="900" dirty="0"/>
          </a:p>
        </p:txBody>
      </p:sp>
      <p:sp>
        <p:nvSpPr>
          <p:cNvPr id="1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64535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ACCESSIBILITY &amp; UX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1104961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[P4] 모달 Focus Trap - Part 2 : Shift+Tab &amp; ESC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09905" y="1642262"/>
            <a:ext cx="3715207" cy="3429000"/>
          </a:xfrm>
          <a:prstGeom prst="roundRect">
            <a:avLst>
              <a:gd name="adj" fmla="val 1481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847649" y="1913839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7105" y="1880006"/>
            <a:ext cx="75255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CONTEXT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194560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280514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7649" y="2575865"/>
            <a:ext cx="3230575" cy="218724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775204"/>
            <a:ext cx="29151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"Part 1에서 Tab 순방향 처리를 다뤘고, Part 2에서는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Shift+Tab 역방향 처리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ESC 키로 모달 닫기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로직을 완성합니다.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이를 통해 키보드 사용자가 모달 갇힘(Trap) 없이 자유롭게 탐색할 수 있도록 합니다."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09905" y="5298034"/>
            <a:ext cx="3715207" cy="11952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9905" y="5298034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38505" y="5476342"/>
            <a:ext cx="133502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09498" y="5469026"/>
            <a:ext cx="13533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A11Y CHECKPOINT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38505" y="5688482"/>
            <a:ext cx="337230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ESC 키로 모달을 닫는 기능은 WCAG 2.1 Success Criterion 1.4.13 및 키보드 접근성의 필수 요소입니다. 사용자가 언제든 현재 작업을 취소할 수 있어야 합니다.</a:t>
            </a:r>
            <a:endParaRPr lang="en-US" sz="105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675181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45075" y="1642262"/>
            <a:ext cx="308061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(MODAL.JS - PART 2)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l="-2" r="-2"/>
          <a:stretch/>
        </p:blipFill>
        <p:spPr>
          <a:xfrm>
            <a:off x="4697273" y="1956816"/>
            <a:ext cx="6884518" cy="4443984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956816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49978" y="2106778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0173" y="2106778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1282" y="2106778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5778" y="2099462"/>
            <a:ext cx="58978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modal.js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4830775" y="2522830"/>
            <a:ext cx="2638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... (이전 코드: if (e.key === 'Tab'))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4830775" y="2682850"/>
            <a:ext cx="33101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1. Shift + Tab: 뒤로 가기 (첫 요소 -&gt; 마지막 요소)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4830775" y="2842870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4945075" y="2842870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5060290" y="284287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5116982" y="284287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5174590" y="2842870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shiftKey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5631790" y="2842870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 {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4830775" y="3002890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4945075" y="3002890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5060290" y="3002890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document</a:t>
            </a:r>
            <a:endParaRPr lang="en-US" sz="900" dirty="0"/>
          </a:p>
        </p:txBody>
      </p:sp>
      <p:sp>
        <p:nvSpPr>
          <p:cNvPr id="37" name="Text 29"/>
          <p:cNvSpPr txBox="1"/>
          <p:nvPr/>
        </p:nvSpPr>
        <p:spPr>
          <a:xfrm>
            <a:off x="5517490" y="300289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5574182" y="3002890"/>
            <a:ext cx="8924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activeElement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6317590" y="3002890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===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6603797" y="3002890"/>
            <a:ext cx="8238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firstElement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7289597" y="3002890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 {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4830775" y="316291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4888382" y="316291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4945990" y="3162910"/>
            <a:ext cx="9610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preventDefault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5746090" y="3162910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();</a:t>
            </a:r>
            <a:endParaRPr lang="en-US" sz="900" dirty="0"/>
          </a:p>
        </p:txBody>
      </p:sp>
      <p:sp>
        <p:nvSpPr>
          <p:cNvPr id="46" name="Text 38"/>
          <p:cNvSpPr txBox="1"/>
          <p:nvPr/>
        </p:nvSpPr>
        <p:spPr>
          <a:xfrm>
            <a:off x="4830775" y="3322930"/>
            <a:ext cx="7552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lastElement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5459882" y="332293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48" name="Text 40"/>
          <p:cNvSpPr txBox="1"/>
          <p:nvPr/>
        </p:nvSpPr>
        <p:spPr>
          <a:xfrm>
            <a:off x="5517490" y="3322930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focus</a:t>
            </a:r>
            <a:endParaRPr lang="en-US" sz="900" dirty="0"/>
          </a:p>
        </p:txBody>
      </p:sp>
      <p:sp>
        <p:nvSpPr>
          <p:cNvPr id="49" name="Text 41"/>
          <p:cNvSpPr txBox="1"/>
          <p:nvPr/>
        </p:nvSpPr>
        <p:spPr>
          <a:xfrm>
            <a:off x="5802782" y="3322930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();</a:t>
            </a:r>
            <a:endParaRPr lang="en-US" sz="900" dirty="0"/>
          </a:p>
        </p:txBody>
      </p:sp>
      <p:sp>
        <p:nvSpPr>
          <p:cNvPr id="50" name="Text 42"/>
          <p:cNvSpPr txBox="1"/>
          <p:nvPr/>
        </p:nvSpPr>
        <p:spPr>
          <a:xfrm>
            <a:off x="4830775" y="348295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51" name="Text 43"/>
          <p:cNvSpPr txBox="1"/>
          <p:nvPr/>
        </p:nvSpPr>
        <p:spPr>
          <a:xfrm>
            <a:off x="4830775" y="364297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52" name="Text 44"/>
          <p:cNvSpPr txBox="1"/>
          <p:nvPr/>
        </p:nvSpPr>
        <p:spPr>
          <a:xfrm>
            <a:off x="4830775" y="3802990"/>
            <a:ext cx="28794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2. Tab: 앞으로 가기 (마지막 요소 -&gt; 첫 요소)</a:t>
            </a:r>
            <a:endParaRPr lang="en-US" sz="900" dirty="0"/>
          </a:p>
        </p:txBody>
      </p:sp>
      <p:sp>
        <p:nvSpPr>
          <p:cNvPr id="53" name="Text 45"/>
          <p:cNvSpPr txBox="1"/>
          <p:nvPr/>
        </p:nvSpPr>
        <p:spPr>
          <a:xfrm>
            <a:off x="4830775" y="3963010"/>
            <a:ext cx="314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else</a:t>
            </a:r>
            <a:endParaRPr lang="en-US" sz="900" dirty="0"/>
          </a:p>
        </p:txBody>
      </p:sp>
      <p:sp>
        <p:nvSpPr>
          <p:cNvPr id="54" name="Text 46"/>
          <p:cNvSpPr txBox="1"/>
          <p:nvPr/>
        </p:nvSpPr>
        <p:spPr>
          <a:xfrm>
            <a:off x="5059375" y="3963010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4830775" y="4123030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</a:t>
            </a:r>
            <a:endParaRPr lang="en-US" sz="900" dirty="0"/>
          </a:p>
        </p:txBody>
      </p:sp>
      <p:sp>
        <p:nvSpPr>
          <p:cNvPr id="56" name="Text 48"/>
          <p:cNvSpPr txBox="1"/>
          <p:nvPr/>
        </p:nvSpPr>
        <p:spPr>
          <a:xfrm>
            <a:off x="4945075" y="4123030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57" name="Text 49"/>
          <p:cNvSpPr txBox="1"/>
          <p:nvPr/>
        </p:nvSpPr>
        <p:spPr>
          <a:xfrm>
            <a:off x="5060290" y="4123030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document</a:t>
            </a:r>
            <a:endParaRPr lang="en-US" sz="900" dirty="0"/>
          </a:p>
        </p:txBody>
      </p:sp>
      <p:sp>
        <p:nvSpPr>
          <p:cNvPr id="58" name="Text 50"/>
          <p:cNvSpPr txBox="1"/>
          <p:nvPr/>
        </p:nvSpPr>
        <p:spPr>
          <a:xfrm>
            <a:off x="5517490" y="412303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59" name="Text 51"/>
          <p:cNvSpPr txBox="1"/>
          <p:nvPr/>
        </p:nvSpPr>
        <p:spPr>
          <a:xfrm>
            <a:off x="5574182" y="4123030"/>
            <a:ext cx="8924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activeElement</a:t>
            </a:r>
            <a:endParaRPr lang="en-US" sz="900" dirty="0"/>
          </a:p>
        </p:txBody>
      </p:sp>
      <p:sp>
        <p:nvSpPr>
          <p:cNvPr id="60" name="Text 52"/>
          <p:cNvSpPr txBox="1"/>
          <p:nvPr/>
        </p:nvSpPr>
        <p:spPr>
          <a:xfrm>
            <a:off x="6317590" y="4123030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===</a:t>
            </a:r>
            <a:endParaRPr lang="en-US" sz="900" dirty="0"/>
          </a:p>
        </p:txBody>
      </p:sp>
      <p:sp>
        <p:nvSpPr>
          <p:cNvPr id="61" name="Text 53"/>
          <p:cNvSpPr txBox="1"/>
          <p:nvPr/>
        </p:nvSpPr>
        <p:spPr>
          <a:xfrm>
            <a:off x="6603797" y="4123030"/>
            <a:ext cx="7552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lastElement</a:t>
            </a:r>
            <a:endParaRPr lang="en-US" sz="900" dirty="0"/>
          </a:p>
        </p:txBody>
      </p:sp>
      <p:sp>
        <p:nvSpPr>
          <p:cNvPr id="62" name="Text 54"/>
          <p:cNvSpPr txBox="1"/>
          <p:nvPr/>
        </p:nvSpPr>
        <p:spPr>
          <a:xfrm>
            <a:off x="7231990" y="4123030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 {</a:t>
            </a:r>
            <a:endParaRPr lang="en-US" sz="900" dirty="0"/>
          </a:p>
        </p:txBody>
      </p:sp>
      <p:sp>
        <p:nvSpPr>
          <p:cNvPr id="63" name="Text 55"/>
          <p:cNvSpPr txBox="1"/>
          <p:nvPr/>
        </p:nvSpPr>
        <p:spPr>
          <a:xfrm>
            <a:off x="4830775" y="428305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4888382" y="428305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65" name="Text 57"/>
          <p:cNvSpPr txBox="1"/>
          <p:nvPr/>
        </p:nvSpPr>
        <p:spPr>
          <a:xfrm>
            <a:off x="4945990" y="4283050"/>
            <a:ext cx="9610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preventDefault</a:t>
            </a:r>
            <a:endParaRPr lang="en-US" sz="900" dirty="0"/>
          </a:p>
        </p:txBody>
      </p:sp>
      <p:sp>
        <p:nvSpPr>
          <p:cNvPr id="66" name="Text 58"/>
          <p:cNvSpPr txBox="1"/>
          <p:nvPr/>
        </p:nvSpPr>
        <p:spPr>
          <a:xfrm>
            <a:off x="5746090" y="4283050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();</a:t>
            </a:r>
            <a:endParaRPr lang="en-US" sz="900" dirty="0"/>
          </a:p>
        </p:txBody>
      </p:sp>
      <p:sp>
        <p:nvSpPr>
          <p:cNvPr id="67" name="Text 59"/>
          <p:cNvSpPr txBox="1"/>
          <p:nvPr/>
        </p:nvSpPr>
        <p:spPr>
          <a:xfrm>
            <a:off x="4830775" y="4443070"/>
            <a:ext cx="8238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firstElement</a:t>
            </a:r>
            <a:endParaRPr lang="en-US" sz="900" dirty="0"/>
          </a:p>
        </p:txBody>
      </p:sp>
      <p:sp>
        <p:nvSpPr>
          <p:cNvPr id="68" name="Text 60"/>
          <p:cNvSpPr txBox="1"/>
          <p:nvPr/>
        </p:nvSpPr>
        <p:spPr>
          <a:xfrm>
            <a:off x="5516575" y="444307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69" name="Text 61"/>
          <p:cNvSpPr txBox="1"/>
          <p:nvPr/>
        </p:nvSpPr>
        <p:spPr>
          <a:xfrm>
            <a:off x="5574182" y="4443070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focus</a:t>
            </a:r>
            <a:endParaRPr lang="en-US" sz="900" dirty="0"/>
          </a:p>
        </p:txBody>
      </p:sp>
      <p:sp>
        <p:nvSpPr>
          <p:cNvPr id="70" name="Text 62"/>
          <p:cNvSpPr txBox="1"/>
          <p:nvPr/>
        </p:nvSpPr>
        <p:spPr>
          <a:xfrm>
            <a:off x="5860390" y="4443070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();</a:t>
            </a:r>
            <a:endParaRPr lang="en-US" sz="900" dirty="0"/>
          </a:p>
        </p:txBody>
      </p:sp>
      <p:sp>
        <p:nvSpPr>
          <p:cNvPr id="71" name="Text 63"/>
          <p:cNvSpPr txBox="1"/>
          <p:nvPr/>
        </p:nvSpPr>
        <p:spPr>
          <a:xfrm>
            <a:off x="4830775" y="460309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72" name="Text 64"/>
          <p:cNvSpPr txBox="1"/>
          <p:nvPr/>
        </p:nvSpPr>
        <p:spPr>
          <a:xfrm>
            <a:off x="4830775" y="476311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73" name="Text 65"/>
          <p:cNvSpPr txBox="1"/>
          <p:nvPr/>
        </p:nvSpPr>
        <p:spPr>
          <a:xfrm>
            <a:off x="4830775" y="492313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74" name="Text 66"/>
          <p:cNvSpPr txBox="1"/>
          <p:nvPr/>
        </p:nvSpPr>
        <p:spPr>
          <a:xfrm>
            <a:off x="4888382" y="4923130"/>
            <a:ext cx="12289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Tab 키 처리 종료</a:t>
            </a:r>
            <a:endParaRPr lang="en-US" sz="900" dirty="0"/>
          </a:p>
        </p:txBody>
      </p:sp>
      <p:sp>
        <p:nvSpPr>
          <p:cNvPr id="75" name="Text 67"/>
          <p:cNvSpPr txBox="1"/>
          <p:nvPr/>
        </p:nvSpPr>
        <p:spPr>
          <a:xfrm>
            <a:off x="4830775" y="5243170"/>
            <a:ext cx="144566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3. ESC 키: 모달 닫기</a:t>
            </a:r>
            <a:endParaRPr lang="en-US" sz="900" dirty="0"/>
          </a:p>
        </p:txBody>
      </p:sp>
      <p:sp>
        <p:nvSpPr>
          <p:cNvPr id="76" name="Text 68"/>
          <p:cNvSpPr txBox="1"/>
          <p:nvPr/>
        </p:nvSpPr>
        <p:spPr>
          <a:xfrm>
            <a:off x="4830775" y="5403190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</a:t>
            </a:r>
            <a:endParaRPr lang="en-US" sz="900" dirty="0"/>
          </a:p>
        </p:txBody>
      </p:sp>
      <p:sp>
        <p:nvSpPr>
          <p:cNvPr id="77" name="Text 69"/>
          <p:cNvSpPr txBox="1"/>
          <p:nvPr/>
        </p:nvSpPr>
        <p:spPr>
          <a:xfrm>
            <a:off x="4945075" y="5403190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78" name="Text 70"/>
          <p:cNvSpPr txBox="1"/>
          <p:nvPr/>
        </p:nvSpPr>
        <p:spPr>
          <a:xfrm>
            <a:off x="5060290" y="540319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</a:t>
            </a:r>
            <a:endParaRPr lang="en-US" sz="900" dirty="0"/>
          </a:p>
        </p:txBody>
      </p:sp>
      <p:sp>
        <p:nvSpPr>
          <p:cNvPr id="79" name="Text 71"/>
          <p:cNvSpPr txBox="1"/>
          <p:nvPr/>
        </p:nvSpPr>
        <p:spPr>
          <a:xfrm>
            <a:off x="5116982" y="540319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80" name="Text 72"/>
          <p:cNvSpPr txBox="1"/>
          <p:nvPr/>
        </p:nvSpPr>
        <p:spPr>
          <a:xfrm>
            <a:off x="5174590" y="5403190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key</a:t>
            </a:r>
            <a:endParaRPr lang="en-US" sz="900" dirty="0"/>
          </a:p>
        </p:txBody>
      </p:sp>
      <p:sp>
        <p:nvSpPr>
          <p:cNvPr id="81" name="Text 73"/>
          <p:cNvSpPr txBox="1"/>
          <p:nvPr/>
        </p:nvSpPr>
        <p:spPr>
          <a:xfrm>
            <a:off x="5346497" y="5403190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===</a:t>
            </a:r>
            <a:endParaRPr lang="en-US" sz="900" dirty="0"/>
          </a:p>
        </p:txBody>
      </p:sp>
      <p:sp>
        <p:nvSpPr>
          <p:cNvPr id="82" name="Text 74"/>
          <p:cNvSpPr txBox="1"/>
          <p:nvPr/>
        </p:nvSpPr>
        <p:spPr>
          <a:xfrm>
            <a:off x="5631790" y="5403190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'Escape'</a:t>
            </a:r>
            <a:endParaRPr lang="en-US" sz="900" dirty="0"/>
          </a:p>
        </p:txBody>
      </p:sp>
      <p:sp>
        <p:nvSpPr>
          <p:cNvPr id="83" name="Text 75"/>
          <p:cNvSpPr txBox="1"/>
          <p:nvPr/>
        </p:nvSpPr>
        <p:spPr>
          <a:xfrm>
            <a:off x="6088990" y="5403190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 {</a:t>
            </a:r>
            <a:endParaRPr lang="en-US" sz="900" dirty="0"/>
          </a:p>
        </p:txBody>
      </p:sp>
      <p:sp>
        <p:nvSpPr>
          <p:cNvPr id="84" name="Text 76"/>
          <p:cNvSpPr txBox="1"/>
          <p:nvPr/>
        </p:nvSpPr>
        <p:spPr>
          <a:xfrm>
            <a:off x="4830775" y="5563210"/>
            <a:ext cx="686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closeModal</a:t>
            </a:r>
            <a:endParaRPr lang="en-US" sz="900" dirty="0"/>
          </a:p>
        </p:txBody>
      </p:sp>
      <p:sp>
        <p:nvSpPr>
          <p:cNvPr id="85" name="Text 77"/>
          <p:cNvSpPr txBox="1"/>
          <p:nvPr/>
        </p:nvSpPr>
        <p:spPr>
          <a:xfrm>
            <a:off x="5402275" y="5563210"/>
            <a:ext cx="314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();</a:t>
            </a:r>
            <a:endParaRPr lang="en-US" sz="900" dirty="0"/>
          </a:p>
        </p:txBody>
      </p:sp>
      <p:sp>
        <p:nvSpPr>
          <p:cNvPr id="86" name="Text 78"/>
          <p:cNvSpPr txBox="1"/>
          <p:nvPr/>
        </p:nvSpPr>
        <p:spPr>
          <a:xfrm>
            <a:off x="5631790" y="5563210"/>
            <a:ext cx="136885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모달 닫기 함수 호출</a:t>
            </a:r>
            <a:endParaRPr lang="en-US" sz="900" dirty="0"/>
          </a:p>
        </p:txBody>
      </p:sp>
      <p:sp>
        <p:nvSpPr>
          <p:cNvPr id="87" name="Text 79"/>
          <p:cNvSpPr txBox="1"/>
          <p:nvPr/>
        </p:nvSpPr>
        <p:spPr>
          <a:xfrm>
            <a:off x="4830775" y="572323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88" name="Text 80"/>
          <p:cNvSpPr txBox="1"/>
          <p:nvPr/>
        </p:nvSpPr>
        <p:spPr>
          <a:xfrm>
            <a:off x="4830775" y="5883250"/>
            <a:ext cx="314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});</a:t>
            </a:r>
            <a:endParaRPr lang="en-US" sz="900" dirty="0"/>
          </a:p>
        </p:txBody>
      </p:sp>
      <p:sp>
        <p:nvSpPr>
          <p:cNvPr id="89" name="Text 81"/>
          <p:cNvSpPr txBox="1"/>
          <p:nvPr/>
        </p:nvSpPr>
        <p:spPr>
          <a:xfrm>
            <a:off x="5059375" y="5883250"/>
            <a:ext cx="13066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이벤트 리스너 종료</a:t>
            </a:r>
            <a:endParaRPr lang="en-US" sz="900" dirty="0"/>
          </a:p>
        </p:txBody>
      </p:sp>
      <p:sp>
        <p:nvSpPr>
          <p:cNvPr id="9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9077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2: HTML STRUCTURE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19302"/>
            <a:ext cx="1012515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index.html 골격 - Part 2 : Footer &amp; Closing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09905" y="1584655"/>
            <a:ext cx="3715207" cy="3543300"/>
          </a:xfrm>
          <a:prstGeom prst="roundRect">
            <a:avLst>
              <a:gd name="adj" fmla="val 138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847649" y="1856232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7105" y="1823314"/>
            <a:ext cx="1524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PREVIOUS CONTEXT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137867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22290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2" r="-2"/>
          <a:stretch/>
        </p:blipFill>
        <p:spPr>
          <a:xfrm>
            <a:off x="847649" y="2518258"/>
            <a:ext cx="3230575" cy="236555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718511"/>
            <a:ext cx="2915107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"Part 1에서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HEAD + HEADER + MAIN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구조를 다뤘고, Part 2에서는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Footer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문서 닫기 태그를 완성합니다."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47902" y="3601822"/>
            <a:ext cx="30294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구성: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238098" y="3921862"/>
            <a:ext cx="10268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Main 영역 종료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1238098" y="4112971"/>
            <a:ext cx="25822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및 소셜 링크가 포함된 Footer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238098" y="4303166"/>
            <a:ext cx="145115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JavaScript 파일 연결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238098" y="4493362"/>
            <a:ext cx="102961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HTML 문서 종료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09905" y="5351069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609905" y="5351069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38505" y="5529377"/>
            <a:ext cx="133502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09498" y="5522062"/>
            <a:ext cx="10387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38505" y="5732374"/>
            <a:ext cx="327721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&lt;footer&gt; 태그 안에 저작권 정보(©)와 소셜 링크를 포함하여 페이지의 마무리를 명확히 합니다. 스크립트 태그는 body 닫기 직전에 배치하여 로딩 성능을 최적화하세요.</a:t>
            </a:r>
            <a:endParaRPr lang="en-US" sz="10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618488"/>
            <a:ext cx="171907" cy="1335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45075" y="1584655"/>
            <a:ext cx="36073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SKELETON (INDEX.HTML) - PART 2</a:t>
            </a:r>
            <a:endParaRPr lang="en-US" sz="10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3" b="-3"/>
          <a:stretch/>
        </p:blipFill>
        <p:spPr>
          <a:xfrm>
            <a:off x="4697273" y="1899209"/>
            <a:ext cx="6884518" cy="4501591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697273" y="1899209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4849978" y="2049170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040173" y="2049170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231282" y="2049170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5535778" y="2041855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4869180" y="2504542"/>
            <a:ext cx="392094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...Part 1 (Header, Main Content)에서 이어짐... --&gt;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869180" y="2851099"/>
            <a:ext cx="2416759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Main: 주요 콘텐츠 영역 종료 --&gt;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4869180" y="3023921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&lt;/main&gt;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4869180" y="3370478"/>
            <a:ext cx="25658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Footer: 저작권 및 연락처 정보 --&gt;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4869180" y="3544214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&lt;footer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5302606" y="3544214"/>
            <a:ext cx="39136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900" dirty="0"/>
          </a:p>
        </p:txBody>
      </p:sp>
      <p:sp>
        <p:nvSpPr>
          <p:cNvPr id="37" name="Text 29"/>
          <p:cNvSpPr txBox="1"/>
          <p:nvPr/>
        </p:nvSpPr>
        <p:spPr>
          <a:xfrm>
            <a:off x="5611673" y="3544214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5673852" y="3544214"/>
            <a:ext cx="96377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"site-footer"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6478524" y="3544214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role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6726326" y="3544214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6788506" y="3544214"/>
            <a:ext cx="96377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"contentinfo"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7593178" y="3544214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5021885" y="3717950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5268773" y="3717950"/>
            <a:ext cx="39136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5578754" y="3717950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46" name="Text 38"/>
          <p:cNvSpPr txBox="1"/>
          <p:nvPr/>
        </p:nvSpPr>
        <p:spPr>
          <a:xfrm>
            <a:off x="5640934" y="3717950"/>
            <a:ext cx="816559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"container"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6321247" y="3717950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900" dirty="0"/>
          </a:p>
        </p:txBody>
      </p:sp>
      <p:sp>
        <p:nvSpPr>
          <p:cNvPr id="48" name="Text 40"/>
          <p:cNvSpPr txBox="1"/>
          <p:nvPr/>
        </p:nvSpPr>
        <p:spPr>
          <a:xfrm>
            <a:off x="5173675" y="3890772"/>
            <a:ext cx="26700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&lt;p&gt;</a:t>
            </a:r>
            <a:endParaRPr lang="en-US" sz="900" dirty="0"/>
          </a:p>
        </p:txBody>
      </p:sp>
      <p:sp>
        <p:nvSpPr>
          <p:cNvPr id="49" name="Text 41"/>
          <p:cNvSpPr txBox="1"/>
          <p:nvPr/>
        </p:nvSpPr>
        <p:spPr>
          <a:xfrm>
            <a:off x="5359298" y="3890772"/>
            <a:ext cx="360913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&amp;copy; 2026 My AI Portfolio. All rights reserved.</a:t>
            </a:r>
            <a:endParaRPr lang="en-US" sz="900" dirty="0"/>
          </a:p>
        </p:txBody>
      </p:sp>
      <p:sp>
        <p:nvSpPr>
          <p:cNvPr id="50" name="Text 42"/>
          <p:cNvSpPr txBox="1"/>
          <p:nvPr/>
        </p:nvSpPr>
        <p:spPr>
          <a:xfrm>
            <a:off x="8393278" y="3890772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&lt;/p&gt;</a:t>
            </a:r>
            <a:endParaRPr lang="en-US" sz="900" dirty="0"/>
          </a:p>
        </p:txBody>
      </p:sp>
      <p:sp>
        <p:nvSpPr>
          <p:cNvPr id="51" name="Text 43"/>
          <p:cNvSpPr txBox="1"/>
          <p:nvPr/>
        </p:nvSpPr>
        <p:spPr>
          <a:xfrm>
            <a:off x="5173675" y="4064508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900" dirty="0"/>
          </a:p>
        </p:txBody>
      </p:sp>
      <p:sp>
        <p:nvSpPr>
          <p:cNvPr id="52" name="Text 44"/>
          <p:cNvSpPr txBox="1"/>
          <p:nvPr/>
        </p:nvSpPr>
        <p:spPr>
          <a:xfrm>
            <a:off x="5421478" y="4064508"/>
            <a:ext cx="39136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900" dirty="0"/>
          </a:p>
        </p:txBody>
      </p:sp>
      <p:sp>
        <p:nvSpPr>
          <p:cNvPr id="53" name="Text 45"/>
          <p:cNvSpPr txBox="1"/>
          <p:nvPr/>
        </p:nvSpPr>
        <p:spPr>
          <a:xfrm>
            <a:off x="5731459" y="4064508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54" name="Text 46"/>
          <p:cNvSpPr txBox="1"/>
          <p:nvPr/>
        </p:nvSpPr>
        <p:spPr>
          <a:xfrm>
            <a:off x="5792724" y="4064508"/>
            <a:ext cx="103235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"social-links"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6659575" y="4064508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900" dirty="0"/>
          </a:p>
        </p:txBody>
      </p:sp>
      <p:sp>
        <p:nvSpPr>
          <p:cNvPr id="56" name="Text 48"/>
          <p:cNvSpPr txBox="1"/>
          <p:nvPr/>
        </p:nvSpPr>
        <p:spPr>
          <a:xfrm>
            <a:off x="5326380" y="4237330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900" dirty="0"/>
          </a:p>
        </p:txBody>
      </p:sp>
      <p:sp>
        <p:nvSpPr>
          <p:cNvPr id="57" name="Text 49"/>
          <p:cNvSpPr txBox="1"/>
          <p:nvPr/>
        </p:nvSpPr>
        <p:spPr>
          <a:xfrm>
            <a:off x="5449824" y="4237330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900" dirty="0"/>
          </a:p>
        </p:txBody>
      </p:sp>
      <p:sp>
        <p:nvSpPr>
          <p:cNvPr id="58" name="Text 50"/>
          <p:cNvSpPr txBox="1"/>
          <p:nvPr/>
        </p:nvSpPr>
        <p:spPr>
          <a:xfrm>
            <a:off x="5697626" y="4237330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59" name="Text 51"/>
          <p:cNvSpPr txBox="1"/>
          <p:nvPr/>
        </p:nvSpPr>
        <p:spPr>
          <a:xfrm>
            <a:off x="5759806" y="4237330"/>
            <a:ext cx="26700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"#"</a:t>
            </a:r>
            <a:endParaRPr lang="en-US" sz="900" dirty="0"/>
          </a:p>
        </p:txBody>
      </p:sp>
      <p:sp>
        <p:nvSpPr>
          <p:cNvPr id="60" name="Text 52"/>
          <p:cNvSpPr txBox="1"/>
          <p:nvPr/>
        </p:nvSpPr>
        <p:spPr>
          <a:xfrm>
            <a:off x="5945429" y="4237330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aria-label</a:t>
            </a:r>
            <a:endParaRPr lang="en-US" sz="900" dirty="0"/>
          </a:p>
        </p:txBody>
      </p:sp>
      <p:sp>
        <p:nvSpPr>
          <p:cNvPr id="61" name="Text 53"/>
          <p:cNvSpPr txBox="1"/>
          <p:nvPr/>
        </p:nvSpPr>
        <p:spPr>
          <a:xfrm>
            <a:off x="6564478" y="4237330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62" name="Text 54"/>
          <p:cNvSpPr txBox="1"/>
          <p:nvPr/>
        </p:nvSpPr>
        <p:spPr>
          <a:xfrm>
            <a:off x="6626657" y="4237330"/>
            <a:ext cx="117957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"GitHub Profile"</a:t>
            </a:r>
            <a:endParaRPr lang="en-US" sz="900" dirty="0"/>
          </a:p>
        </p:txBody>
      </p:sp>
      <p:sp>
        <p:nvSpPr>
          <p:cNvPr id="63" name="Text 55"/>
          <p:cNvSpPr txBox="1"/>
          <p:nvPr/>
        </p:nvSpPr>
        <p:spPr>
          <a:xfrm>
            <a:off x="7616952" y="4237330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7679131" y="4237330"/>
            <a:ext cx="44805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GitHub</a:t>
            </a:r>
            <a:endParaRPr lang="en-US" sz="900" dirty="0"/>
          </a:p>
        </p:txBody>
      </p:sp>
      <p:sp>
        <p:nvSpPr>
          <p:cNvPr id="65" name="Text 57"/>
          <p:cNvSpPr txBox="1"/>
          <p:nvPr/>
        </p:nvSpPr>
        <p:spPr>
          <a:xfrm>
            <a:off x="8050378" y="4237330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900" dirty="0"/>
          </a:p>
        </p:txBody>
      </p:sp>
      <p:sp>
        <p:nvSpPr>
          <p:cNvPr id="66" name="Text 58"/>
          <p:cNvSpPr txBox="1"/>
          <p:nvPr/>
        </p:nvSpPr>
        <p:spPr>
          <a:xfrm>
            <a:off x="5326380" y="4411066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900" dirty="0"/>
          </a:p>
        </p:txBody>
      </p:sp>
      <p:sp>
        <p:nvSpPr>
          <p:cNvPr id="67" name="Text 59"/>
          <p:cNvSpPr txBox="1"/>
          <p:nvPr/>
        </p:nvSpPr>
        <p:spPr>
          <a:xfrm>
            <a:off x="5449824" y="4411066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900" dirty="0"/>
          </a:p>
        </p:txBody>
      </p:sp>
      <p:sp>
        <p:nvSpPr>
          <p:cNvPr id="68" name="Text 60"/>
          <p:cNvSpPr txBox="1"/>
          <p:nvPr/>
        </p:nvSpPr>
        <p:spPr>
          <a:xfrm>
            <a:off x="5697626" y="4411066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69" name="Text 61"/>
          <p:cNvSpPr txBox="1"/>
          <p:nvPr/>
        </p:nvSpPr>
        <p:spPr>
          <a:xfrm>
            <a:off x="5759806" y="4411066"/>
            <a:ext cx="26700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"#"</a:t>
            </a:r>
            <a:endParaRPr lang="en-US" sz="900" dirty="0"/>
          </a:p>
        </p:txBody>
      </p:sp>
      <p:sp>
        <p:nvSpPr>
          <p:cNvPr id="70" name="Text 62"/>
          <p:cNvSpPr txBox="1"/>
          <p:nvPr/>
        </p:nvSpPr>
        <p:spPr>
          <a:xfrm>
            <a:off x="5945429" y="4411066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aria-label</a:t>
            </a:r>
            <a:endParaRPr lang="en-US" sz="900" dirty="0"/>
          </a:p>
        </p:txBody>
      </p:sp>
      <p:sp>
        <p:nvSpPr>
          <p:cNvPr id="71" name="Text 63"/>
          <p:cNvSpPr txBox="1"/>
          <p:nvPr/>
        </p:nvSpPr>
        <p:spPr>
          <a:xfrm>
            <a:off x="6564478" y="4411066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72" name="Text 64"/>
          <p:cNvSpPr txBox="1"/>
          <p:nvPr/>
        </p:nvSpPr>
        <p:spPr>
          <a:xfrm>
            <a:off x="6626657" y="4411066"/>
            <a:ext cx="13267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"LinkedIn Profile"</a:t>
            </a:r>
            <a:endParaRPr lang="en-US" sz="900" dirty="0"/>
          </a:p>
        </p:txBody>
      </p:sp>
      <p:sp>
        <p:nvSpPr>
          <p:cNvPr id="73" name="Text 65"/>
          <p:cNvSpPr txBox="1"/>
          <p:nvPr/>
        </p:nvSpPr>
        <p:spPr>
          <a:xfrm>
            <a:off x="7740396" y="4411066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900" dirty="0"/>
          </a:p>
        </p:txBody>
      </p:sp>
      <p:sp>
        <p:nvSpPr>
          <p:cNvPr id="74" name="Text 66"/>
          <p:cNvSpPr txBox="1"/>
          <p:nvPr/>
        </p:nvSpPr>
        <p:spPr>
          <a:xfrm>
            <a:off x="7802575" y="4411066"/>
            <a:ext cx="58978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LinkedIn</a:t>
            </a:r>
            <a:endParaRPr lang="en-US" sz="900" dirty="0"/>
          </a:p>
        </p:txBody>
      </p:sp>
      <p:sp>
        <p:nvSpPr>
          <p:cNvPr id="75" name="Text 67"/>
          <p:cNvSpPr txBox="1"/>
          <p:nvPr/>
        </p:nvSpPr>
        <p:spPr>
          <a:xfrm>
            <a:off x="8298180" y="4411066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900" dirty="0"/>
          </a:p>
        </p:txBody>
      </p:sp>
      <p:sp>
        <p:nvSpPr>
          <p:cNvPr id="76" name="Text 68"/>
          <p:cNvSpPr txBox="1"/>
          <p:nvPr/>
        </p:nvSpPr>
        <p:spPr>
          <a:xfrm>
            <a:off x="5173675" y="4584802"/>
            <a:ext cx="44805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900" dirty="0"/>
          </a:p>
        </p:txBody>
      </p:sp>
      <p:sp>
        <p:nvSpPr>
          <p:cNvPr id="77" name="Text 69"/>
          <p:cNvSpPr txBox="1"/>
          <p:nvPr/>
        </p:nvSpPr>
        <p:spPr>
          <a:xfrm>
            <a:off x="5021885" y="4757623"/>
            <a:ext cx="44805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900" dirty="0"/>
          </a:p>
        </p:txBody>
      </p:sp>
      <p:sp>
        <p:nvSpPr>
          <p:cNvPr id="78" name="Text 70"/>
          <p:cNvSpPr txBox="1"/>
          <p:nvPr/>
        </p:nvSpPr>
        <p:spPr>
          <a:xfrm>
            <a:off x="4869180" y="4931359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&lt;/footer&gt;</a:t>
            </a:r>
            <a:endParaRPr lang="en-US" sz="900" dirty="0"/>
          </a:p>
        </p:txBody>
      </p:sp>
      <p:sp>
        <p:nvSpPr>
          <p:cNvPr id="79" name="Text 71"/>
          <p:cNvSpPr txBox="1"/>
          <p:nvPr/>
        </p:nvSpPr>
        <p:spPr>
          <a:xfrm>
            <a:off x="4869180" y="5277917"/>
            <a:ext cx="337505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Scripts: 페이지 로드 성능을 위해 하단 배치 --&gt;</a:t>
            </a:r>
            <a:endParaRPr lang="en-US" sz="900" dirty="0"/>
          </a:p>
        </p:txBody>
      </p:sp>
      <p:sp>
        <p:nvSpPr>
          <p:cNvPr id="80" name="Text 72"/>
          <p:cNvSpPr txBox="1"/>
          <p:nvPr/>
        </p:nvSpPr>
        <p:spPr>
          <a:xfrm>
            <a:off x="4869180" y="5451653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&lt;script</a:t>
            </a:r>
            <a:endParaRPr lang="en-US" sz="900" dirty="0"/>
          </a:p>
        </p:txBody>
      </p:sp>
      <p:sp>
        <p:nvSpPr>
          <p:cNvPr id="81" name="Text 73"/>
          <p:cNvSpPr txBox="1"/>
          <p:nvPr/>
        </p:nvSpPr>
        <p:spPr>
          <a:xfrm>
            <a:off x="5302606" y="5451653"/>
            <a:ext cx="26700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</a:t>
            </a:r>
            <a:endParaRPr lang="en-US" sz="900" dirty="0"/>
          </a:p>
        </p:txBody>
      </p:sp>
      <p:sp>
        <p:nvSpPr>
          <p:cNvPr id="82" name="Text 74"/>
          <p:cNvSpPr txBox="1"/>
          <p:nvPr/>
        </p:nvSpPr>
        <p:spPr>
          <a:xfrm>
            <a:off x="5488229" y="5451653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83" name="Text 75"/>
          <p:cNvSpPr txBox="1"/>
          <p:nvPr/>
        </p:nvSpPr>
        <p:spPr>
          <a:xfrm>
            <a:off x="5550408" y="5451653"/>
            <a:ext cx="103235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"./js/main.js"</a:t>
            </a:r>
            <a:endParaRPr lang="en-US" sz="900" dirty="0"/>
          </a:p>
        </p:txBody>
      </p:sp>
      <p:sp>
        <p:nvSpPr>
          <p:cNvPr id="84" name="Text 76"/>
          <p:cNvSpPr txBox="1"/>
          <p:nvPr/>
        </p:nvSpPr>
        <p:spPr>
          <a:xfrm>
            <a:off x="6417259" y="5451653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&gt;&lt;/script&gt;</a:t>
            </a:r>
            <a:endParaRPr lang="en-US" sz="900" dirty="0"/>
          </a:p>
        </p:txBody>
      </p:sp>
      <p:sp>
        <p:nvSpPr>
          <p:cNvPr id="85" name="Text 77"/>
          <p:cNvSpPr txBox="1"/>
          <p:nvPr/>
        </p:nvSpPr>
        <p:spPr>
          <a:xfrm>
            <a:off x="4869180" y="5798210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&lt;/body&gt;</a:t>
            </a:r>
            <a:endParaRPr lang="en-US" sz="900" dirty="0"/>
          </a:p>
        </p:txBody>
      </p:sp>
      <p:sp>
        <p:nvSpPr>
          <p:cNvPr id="86" name="Text 78"/>
          <p:cNvSpPr txBox="1"/>
          <p:nvPr/>
        </p:nvSpPr>
        <p:spPr>
          <a:xfrm>
            <a:off x="4869180" y="5971032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&lt;/html&gt;</a:t>
            </a:r>
            <a:endParaRPr lang="en-US" sz="900" dirty="0"/>
          </a:p>
        </p:txBody>
      </p:sp>
      <p:sp>
        <p:nvSpPr>
          <p:cNvPr id="8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35640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JAVASCRIPT LOGIC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9439351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다크모드 토글 - Part 2 : Toggle Event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390595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2838" r="-2838"/>
          <a:stretch/>
        </p:blipFill>
        <p:spPr>
          <a:xfrm>
            <a:off x="847649" y="1955902"/>
            <a:ext cx="123444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47902" y="1922069"/>
            <a:ext cx="98115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LOGIC FLOW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47649" y="2617012"/>
            <a:ext cx="3230575" cy="22393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915107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1에서 요소 선택과 초기 테마 설정을 다뤘고, Part 2에서는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토글 버튼 클릭 이벤트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localStorage 저장 로직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완성합니다.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47902" y="3701491"/>
            <a:ext cx="291510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버튼을 클릭할 때마다 data-theme 속성을 변경하고, 이를 로컬 스토리지에 즉시 동기화하여 설정을 유지합니다.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09905" y="5298034"/>
            <a:ext cx="3715207" cy="1200737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0"/>
          <p:cNvSpPr/>
          <p:nvPr/>
        </p:nvSpPr>
        <p:spPr>
          <a:xfrm>
            <a:off x="609905" y="5298034"/>
            <a:ext cx="38405" cy="1200737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476342"/>
            <a:ext cx="105156" cy="13350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81151" y="5469026"/>
            <a:ext cx="1305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PERSISTENCE TIP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838505" y="5688482"/>
            <a:ext cx="337230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localStorage.setItem()은 페이지를 새로고침하거나 브라우저를 닫았다 열어도 설정이 유지되도록 합니다. UX 측면에서 개인화 설정 저장에 필수적입니다.</a:t>
            </a:r>
            <a:endParaRPr lang="en-US" sz="105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4945075" y="1684325"/>
            <a:ext cx="23564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(SCRIPT.JS)</a:t>
            </a:r>
            <a:endParaRPr lang="en-US" sz="100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5535778" y="214152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script.js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4869180" y="2603297"/>
            <a:ext cx="354787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... (Part 1: 요소 선택 및 초기 테마 설정 코드) ...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4869180" y="2949854"/>
            <a:ext cx="1944929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3. 토글 이벤트 리스너 추가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4869180" y="3123590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toggleBtn.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5488229" y="3123590"/>
            <a:ext cx="117957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addEventListener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6478524" y="3123590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6540703" y="3123590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'click'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6974129" y="3123590"/>
            <a:ext cx="39136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, ()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7283196" y="3123590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=&gt;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7407554" y="3123590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5021885" y="3296412"/>
            <a:ext cx="3719779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3-1. 현재 테마 값 확인 (html 태그의 data-theme 속성)</a:t>
            </a:r>
            <a:endParaRPr lang="en-US" sz="900" dirty="0"/>
          </a:p>
        </p:txBody>
      </p:sp>
      <p:sp>
        <p:nvSpPr>
          <p:cNvPr id="37" name="Text 29"/>
          <p:cNvSpPr txBox="1"/>
          <p:nvPr/>
        </p:nvSpPr>
        <p:spPr>
          <a:xfrm>
            <a:off x="5021885" y="3470148"/>
            <a:ext cx="39136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5330952" y="3470148"/>
            <a:ext cx="88422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currentTheme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6074359" y="3470148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6135624" y="3470148"/>
            <a:ext cx="39136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root.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6445606" y="3470148"/>
            <a:ext cx="88422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getAttribute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7188098" y="3470148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7250278" y="3470148"/>
            <a:ext cx="88422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'data-theme'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7993685" y="3470148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5021885" y="3816706"/>
            <a:ext cx="407913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3-2. 새 테마 결정 (dark이면 light로, light면 dark로 전환)</a:t>
            </a:r>
            <a:endParaRPr lang="en-US" sz="900" dirty="0"/>
          </a:p>
        </p:txBody>
      </p:sp>
      <p:sp>
        <p:nvSpPr>
          <p:cNvPr id="46" name="Text 38"/>
          <p:cNvSpPr txBox="1"/>
          <p:nvPr/>
        </p:nvSpPr>
        <p:spPr>
          <a:xfrm>
            <a:off x="5021885" y="3989527"/>
            <a:ext cx="39136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5330952" y="3989527"/>
            <a:ext cx="58978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newTheme</a:t>
            </a:r>
            <a:endParaRPr lang="en-US" sz="900" dirty="0"/>
          </a:p>
        </p:txBody>
      </p:sp>
      <p:sp>
        <p:nvSpPr>
          <p:cNvPr id="48" name="Text 40"/>
          <p:cNvSpPr txBox="1"/>
          <p:nvPr/>
        </p:nvSpPr>
        <p:spPr>
          <a:xfrm>
            <a:off x="5826557" y="3989527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49" name="Text 41"/>
          <p:cNvSpPr txBox="1"/>
          <p:nvPr/>
        </p:nvSpPr>
        <p:spPr>
          <a:xfrm>
            <a:off x="5887822" y="3989527"/>
            <a:ext cx="88422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currentTheme</a:t>
            </a:r>
            <a:endParaRPr lang="en-US" sz="900" dirty="0"/>
          </a:p>
        </p:txBody>
      </p:sp>
      <p:sp>
        <p:nvSpPr>
          <p:cNvPr id="50" name="Text 42"/>
          <p:cNvSpPr txBox="1"/>
          <p:nvPr/>
        </p:nvSpPr>
        <p:spPr>
          <a:xfrm>
            <a:off x="6631229" y="3989527"/>
            <a:ext cx="26700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===</a:t>
            </a:r>
            <a:endParaRPr lang="en-US" sz="900" dirty="0"/>
          </a:p>
        </p:txBody>
      </p:sp>
      <p:sp>
        <p:nvSpPr>
          <p:cNvPr id="51" name="Text 43"/>
          <p:cNvSpPr txBox="1"/>
          <p:nvPr/>
        </p:nvSpPr>
        <p:spPr>
          <a:xfrm>
            <a:off x="6816852" y="3989527"/>
            <a:ext cx="44805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'dark'</a:t>
            </a:r>
            <a:endParaRPr lang="en-US" sz="900" dirty="0"/>
          </a:p>
        </p:txBody>
      </p:sp>
      <p:sp>
        <p:nvSpPr>
          <p:cNvPr id="52" name="Text 44"/>
          <p:cNvSpPr txBox="1"/>
          <p:nvPr/>
        </p:nvSpPr>
        <p:spPr>
          <a:xfrm>
            <a:off x="7188098" y="3989527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?</a:t>
            </a:r>
            <a:endParaRPr lang="en-US" sz="900" dirty="0"/>
          </a:p>
        </p:txBody>
      </p:sp>
      <p:sp>
        <p:nvSpPr>
          <p:cNvPr id="53" name="Text 45"/>
          <p:cNvSpPr txBox="1"/>
          <p:nvPr/>
        </p:nvSpPr>
        <p:spPr>
          <a:xfrm>
            <a:off x="7250278" y="3989527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'light'</a:t>
            </a:r>
            <a:endParaRPr lang="en-US" sz="900" dirty="0"/>
          </a:p>
        </p:txBody>
      </p:sp>
      <p:sp>
        <p:nvSpPr>
          <p:cNvPr id="54" name="Text 46"/>
          <p:cNvSpPr txBox="1"/>
          <p:nvPr/>
        </p:nvSpPr>
        <p:spPr>
          <a:xfrm>
            <a:off x="7683703" y="3989527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7745882" y="3989527"/>
            <a:ext cx="44805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'dark'</a:t>
            </a:r>
            <a:endParaRPr lang="en-US" sz="900" dirty="0"/>
          </a:p>
        </p:txBody>
      </p:sp>
      <p:sp>
        <p:nvSpPr>
          <p:cNvPr id="56" name="Text 48"/>
          <p:cNvSpPr txBox="1"/>
          <p:nvPr/>
        </p:nvSpPr>
        <p:spPr>
          <a:xfrm>
            <a:off x="8117129" y="3989527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57" name="Text 49"/>
          <p:cNvSpPr txBox="1"/>
          <p:nvPr/>
        </p:nvSpPr>
        <p:spPr>
          <a:xfrm>
            <a:off x="5021885" y="4336999"/>
            <a:ext cx="176022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3-3. DOM에 새 테마 적용</a:t>
            </a:r>
            <a:endParaRPr lang="en-US" sz="900" dirty="0"/>
          </a:p>
        </p:txBody>
      </p:sp>
      <p:sp>
        <p:nvSpPr>
          <p:cNvPr id="58" name="Text 50"/>
          <p:cNvSpPr txBox="1"/>
          <p:nvPr/>
        </p:nvSpPr>
        <p:spPr>
          <a:xfrm>
            <a:off x="5021885" y="4509821"/>
            <a:ext cx="39136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root.</a:t>
            </a:r>
            <a:endParaRPr lang="en-US" sz="900" dirty="0"/>
          </a:p>
        </p:txBody>
      </p:sp>
      <p:sp>
        <p:nvSpPr>
          <p:cNvPr id="59" name="Text 51"/>
          <p:cNvSpPr txBox="1"/>
          <p:nvPr/>
        </p:nvSpPr>
        <p:spPr>
          <a:xfrm>
            <a:off x="5330952" y="4509821"/>
            <a:ext cx="88422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setAttribute</a:t>
            </a:r>
            <a:endParaRPr lang="en-US" sz="900" dirty="0"/>
          </a:p>
        </p:txBody>
      </p:sp>
      <p:sp>
        <p:nvSpPr>
          <p:cNvPr id="60" name="Text 52"/>
          <p:cNvSpPr txBox="1"/>
          <p:nvPr/>
        </p:nvSpPr>
        <p:spPr>
          <a:xfrm>
            <a:off x="6074359" y="4509821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61" name="Text 53"/>
          <p:cNvSpPr txBox="1"/>
          <p:nvPr/>
        </p:nvSpPr>
        <p:spPr>
          <a:xfrm>
            <a:off x="6135624" y="4509821"/>
            <a:ext cx="88422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'data-theme'</a:t>
            </a:r>
            <a:endParaRPr lang="en-US" sz="900" dirty="0"/>
          </a:p>
        </p:txBody>
      </p:sp>
      <p:sp>
        <p:nvSpPr>
          <p:cNvPr id="62" name="Text 54"/>
          <p:cNvSpPr txBox="1"/>
          <p:nvPr/>
        </p:nvSpPr>
        <p:spPr>
          <a:xfrm>
            <a:off x="6879031" y="4509821"/>
            <a:ext cx="88422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, newTheme);</a:t>
            </a:r>
            <a:endParaRPr lang="en-US" sz="900" dirty="0"/>
          </a:p>
        </p:txBody>
      </p:sp>
      <p:sp>
        <p:nvSpPr>
          <p:cNvPr id="63" name="Text 55"/>
          <p:cNvSpPr txBox="1"/>
          <p:nvPr/>
        </p:nvSpPr>
        <p:spPr>
          <a:xfrm>
            <a:off x="5021885" y="4856378"/>
            <a:ext cx="259872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3-4. 로컬 스토리지에 저장 (영구 보존)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5021885" y="5030114"/>
            <a:ext cx="96377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localStorage.</a:t>
            </a:r>
            <a:endParaRPr lang="en-US" sz="900" dirty="0"/>
          </a:p>
        </p:txBody>
      </p:sp>
      <p:sp>
        <p:nvSpPr>
          <p:cNvPr id="65" name="Text 57"/>
          <p:cNvSpPr txBox="1"/>
          <p:nvPr/>
        </p:nvSpPr>
        <p:spPr>
          <a:xfrm>
            <a:off x="5826557" y="5030114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setItem</a:t>
            </a:r>
            <a:endParaRPr lang="en-US" sz="900" dirty="0"/>
          </a:p>
        </p:txBody>
      </p:sp>
      <p:sp>
        <p:nvSpPr>
          <p:cNvPr id="66" name="Text 58"/>
          <p:cNvSpPr txBox="1"/>
          <p:nvPr/>
        </p:nvSpPr>
        <p:spPr>
          <a:xfrm>
            <a:off x="6259982" y="5030114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67" name="Text 59"/>
          <p:cNvSpPr txBox="1"/>
          <p:nvPr/>
        </p:nvSpPr>
        <p:spPr>
          <a:xfrm>
            <a:off x="6321247" y="5030114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'theme'</a:t>
            </a:r>
            <a:endParaRPr lang="en-US" sz="900" dirty="0"/>
          </a:p>
        </p:txBody>
      </p:sp>
      <p:sp>
        <p:nvSpPr>
          <p:cNvPr id="68" name="Text 60"/>
          <p:cNvSpPr txBox="1"/>
          <p:nvPr/>
        </p:nvSpPr>
        <p:spPr>
          <a:xfrm>
            <a:off x="6754673" y="5030114"/>
            <a:ext cx="88422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, newTheme);</a:t>
            </a:r>
            <a:endParaRPr lang="en-US" sz="900" dirty="0"/>
          </a:p>
        </p:txBody>
      </p:sp>
      <p:sp>
        <p:nvSpPr>
          <p:cNvPr id="69" name="Text 61"/>
          <p:cNvSpPr txBox="1"/>
          <p:nvPr/>
        </p:nvSpPr>
        <p:spPr>
          <a:xfrm>
            <a:off x="5021885" y="5376672"/>
            <a:ext cx="46579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(옵션) 아이콘 변경 등의 UI 업데이트 로직을 여기에 추가할 수 있습니다.</a:t>
            </a:r>
            <a:endParaRPr lang="en-US" sz="900" dirty="0"/>
          </a:p>
        </p:txBody>
      </p:sp>
      <p:sp>
        <p:nvSpPr>
          <p:cNvPr id="70" name="Text 62"/>
          <p:cNvSpPr txBox="1"/>
          <p:nvPr/>
        </p:nvSpPr>
        <p:spPr>
          <a:xfrm>
            <a:off x="5021885" y="5549494"/>
            <a:ext cx="58978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console.</a:t>
            </a:r>
            <a:endParaRPr lang="en-US" sz="900" dirty="0"/>
          </a:p>
        </p:txBody>
      </p:sp>
      <p:sp>
        <p:nvSpPr>
          <p:cNvPr id="71" name="Text 63"/>
          <p:cNvSpPr txBox="1"/>
          <p:nvPr/>
        </p:nvSpPr>
        <p:spPr>
          <a:xfrm>
            <a:off x="5516575" y="5549494"/>
            <a:ext cx="26700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log</a:t>
            </a:r>
            <a:endParaRPr lang="en-US" sz="900" dirty="0"/>
          </a:p>
        </p:txBody>
      </p:sp>
      <p:sp>
        <p:nvSpPr>
          <p:cNvPr id="72" name="Text 64"/>
          <p:cNvSpPr txBox="1"/>
          <p:nvPr/>
        </p:nvSpPr>
        <p:spPr>
          <a:xfrm>
            <a:off x="5702198" y="5549494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73" name="Text 65"/>
          <p:cNvSpPr txBox="1"/>
          <p:nvPr/>
        </p:nvSpPr>
        <p:spPr>
          <a:xfrm>
            <a:off x="5764378" y="5549494"/>
            <a:ext cx="235823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`Theme switched to: ${newTheme}`</a:t>
            </a:r>
            <a:endParaRPr lang="en-US" sz="900" dirty="0"/>
          </a:p>
        </p:txBody>
      </p:sp>
      <p:sp>
        <p:nvSpPr>
          <p:cNvPr id="74" name="Text 66"/>
          <p:cNvSpPr txBox="1"/>
          <p:nvPr/>
        </p:nvSpPr>
        <p:spPr>
          <a:xfrm>
            <a:off x="7745882" y="5549494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900" dirty="0"/>
          </a:p>
        </p:txBody>
      </p:sp>
      <p:sp>
        <p:nvSpPr>
          <p:cNvPr id="75" name="Text 67"/>
          <p:cNvSpPr txBox="1"/>
          <p:nvPr/>
        </p:nvSpPr>
        <p:spPr>
          <a:xfrm>
            <a:off x="4869180" y="5723230"/>
            <a:ext cx="26700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});</a:t>
            </a:r>
            <a:endParaRPr lang="en-US" sz="900" dirty="0"/>
          </a:p>
        </p:txBody>
      </p:sp>
      <p:sp>
        <p:nvSpPr>
          <p:cNvPr id="76" name="Text 68"/>
          <p:cNvSpPr txBox="1"/>
          <p:nvPr/>
        </p:nvSpPr>
        <p:spPr>
          <a:xfrm>
            <a:off x="4869180" y="6069787"/>
            <a:ext cx="140634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End of script.js</a:t>
            </a:r>
            <a:endParaRPr lang="en-US" sz="900" dirty="0"/>
          </a:p>
        </p:txBody>
      </p:sp>
      <p:sp>
        <p:nvSpPr>
          <p:cNvPr id="7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 기능 추가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9744761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필터링 - Part 2 : Filter Logic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2430475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9" r="-9"/>
          <a:stretch/>
        </p:blipFill>
        <p:spPr>
          <a:xfrm>
            <a:off x="847649" y="2617013"/>
            <a:ext cx="3230575" cy="137342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8867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"Part 1에서 버튼 이벤트와 활성화 상태 업데이트를 다뤘고, Part 2에서는 실제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79905" y="3429000"/>
            <a:ext cx="282001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카드 표시/숨김 필터링 로직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076249" y="3618281"/>
            <a:ext cx="12326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완성합니다."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94360" y="4352544"/>
            <a:ext cx="3715207" cy="1322222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594360" y="4352544"/>
            <a:ext cx="38405" cy="1322222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22960" y="4530852"/>
            <a:ext cx="105156" cy="1335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65606" y="4523536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733848"/>
            <a:ext cx="336316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DOM 조작을 최소화하기 위해 CSS 클래스(.hide)를 토글하는 방식을 사용하면 성능이 더 좋고, 페이드 애니메이션을 추가하기도 쉽습니다.</a:t>
            </a:r>
            <a:endParaRPr lang="en-US" sz="11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945075" y="1684325"/>
            <a:ext cx="23564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(SCRIPT.JS)</a:t>
            </a:r>
            <a:endParaRPr lang="en-US" sz="10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535778" y="214152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script.js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4869180" y="2603297"/>
            <a:ext cx="311719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...Part 1 코드(버튼 이벤트 시작)에 이어서...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4869180" y="2949854"/>
            <a:ext cx="174924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3. 프로젝트 필터링 로직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4869180" y="3123590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projects.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5426050" y="3123590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forEach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5859475" y="3123590"/>
            <a:ext cx="44805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(card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6230722" y="3123590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=&gt;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6355080" y="3123590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5021885" y="3296412"/>
            <a:ext cx="349026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카드의 data-category 속성 값과 선택된 필터 값 비교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5021885" y="3470148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</a:t>
            </a:r>
            <a:endParaRPr lang="en-US" sz="900" dirty="0"/>
          </a:p>
        </p:txBody>
      </p:sp>
      <p:sp>
        <p:nvSpPr>
          <p:cNvPr id="37" name="Text 29"/>
          <p:cNvSpPr txBox="1"/>
          <p:nvPr/>
        </p:nvSpPr>
        <p:spPr>
          <a:xfrm>
            <a:off x="5145329" y="3470148"/>
            <a:ext cx="9436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(filterValue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6012180" y="3470148"/>
            <a:ext cx="26700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===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6197803" y="3470148"/>
            <a:ext cx="39136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'all'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6507785" y="3470148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||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6631229" y="3470148"/>
            <a:ext cx="156545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card.dataset.category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8054950" y="3470148"/>
            <a:ext cx="26700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===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8240573" y="3470148"/>
            <a:ext cx="104333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filterValue) {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5173675" y="3642970"/>
            <a:ext cx="174924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조건에 맞으면 카드 표시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5173675" y="3816706"/>
            <a:ext cx="134051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card.style.display</a:t>
            </a:r>
            <a:endParaRPr lang="en-US" sz="900" dirty="0"/>
          </a:p>
        </p:txBody>
      </p:sp>
      <p:sp>
        <p:nvSpPr>
          <p:cNvPr id="46" name="Text 38"/>
          <p:cNvSpPr txBox="1"/>
          <p:nvPr/>
        </p:nvSpPr>
        <p:spPr>
          <a:xfrm>
            <a:off x="6350508" y="3816706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6411773" y="3816706"/>
            <a:ext cx="52029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'block'</a:t>
            </a:r>
            <a:endParaRPr lang="en-US" sz="900" dirty="0"/>
          </a:p>
        </p:txBody>
      </p:sp>
      <p:sp>
        <p:nvSpPr>
          <p:cNvPr id="48" name="Text 40"/>
          <p:cNvSpPr txBox="1"/>
          <p:nvPr/>
        </p:nvSpPr>
        <p:spPr>
          <a:xfrm>
            <a:off x="6845198" y="3816706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49" name="Text 41"/>
          <p:cNvSpPr txBox="1"/>
          <p:nvPr/>
        </p:nvSpPr>
        <p:spPr>
          <a:xfrm>
            <a:off x="5173675" y="3990442"/>
            <a:ext cx="285750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애니메이션을 위한 클래스 추가 (선택사항)</a:t>
            </a:r>
            <a:endParaRPr lang="en-US" sz="900" dirty="0"/>
          </a:p>
        </p:txBody>
      </p:sp>
      <p:sp>
        <p:nvSpPr>
          <p:cNvPr id="50" name="Text 42"/>
          <p:cNvSpPr txBox="1"/>
          <p:nvPr/>
        </p:nvSpPr>
        <p:spPr>
          <a:xfrm>
            <a:off x="5173675" y="4163263"/>
            <a:ext cx="111099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card.classList.</a:t>
            </a:r>
            <a:endParaRPr lang="en-US" sz="900" dirty="0"/>
          </a:p>
        </p:txBody>
      </p:sp>
      <p:sp>
        <p:nvSpPr>
          <p:cNvPr id="51" name="Text 43"/>
          <p:cNvSpPr txBox="1"/>
          <p:nvPr/>
        </p:nvSpPr>
        <p:spPr>
          <a:xfrm>
            <a:off x="6102706" y="4163263"/>
            <a:ext cx="26700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add</a:t>
            </a:r>
            <a:endParaRPr lang="en-US" sz="900" dirty="0"/>
          </a:p>
        </p:txBody>
      </p:sp>
      <p:sp>
        <p:nvSpPr>
          <p:cNvPr id="52" name="Text 44"/>
          <p:cNvSpPr txBox="1"/>
          <p:nvPr/>
        </p:nvSpPr>
        <p:spPr>
          <a:xfrm>
            <a:off x="6288329" y="4163263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53" name="Text 45"/>
          <p:cNvSpPr txBox="1"/>
          <p:nvPr/>
        </p:nvSpPr>
        <p:spPr>
          <a:xfrm>
            <a:off x="6350508" y="4163263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'fade-in'</a:t>
            </a:r>
            <a:endParaRPr lang="en-US" sz="900" dirty="0"/>
          </a:p>
        </p:txBody>
      </p:sp>
      <p:sp>
        <p:nvSpPr>
          <p:cNvPr id="54" name="Text 46"/>
          <p:cNvSpPr txBox="1"/>
          <p:nvPr/>
        </p:nvSpPr>
        <p:spPr>
          <a:xfrm>
            <a:off x="6907378" y="4163263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5021885" y="4336999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56" name="Text 48"/>
          <p:cNvSpPr txBox="1"/>
          <p:nvPr/>
        </p:nvSpPr>
        <p:spPr>
          <a:xfrm>
            <a:off x="5145329" y="4336999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else</a:t>
            </a:r>
            <a:endParaRPr lang="en-US" sz="900" dirty="0"/>
          </a:p>
        </p:txBody>
      </p:sp>
      <p:sp>
        <p:nvSpPr>
          <p:cNvPr id="57" name="Text 49"/>
          <p:cNvSpPr txBox="1"/>
          <p:nvPr/>
        </p:nvSpPr>
        <p:spPr>
          <a:xfrm>
            <a:off x="5393131" y="4336999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58" name="Text 50"/>
          <p:cNvSpPr txBox="1"/>
          <p:nvPr/>
        </p:nvSpPr>
        <p:spPr>
          <a:xfrm>
            <a:off x="5173675" y="4509821"/>
            <a:ext cx="207843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조건에 맞지 않으면 카드 숨김</a:t>
            </a:r>
            <a:endParaRPr lang="en-US" sz="900" dirty="0"/>
          </a:p>
        </p:txBody>
      </p:sp>
      <p:sp>
        <p:nvSpPr>
          <p:cNvPr id="59" name="Text 51"/>
          <p:cNvSpPr txBox="1"/>
          <p:nvPr/>
        </p:nvSpPr>
        <p:spPr>
          <a:xfrm>
            <a:off x="5173675" y="4683557"/>
            <a:ext cx="134051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card.style.display</a:t>
            </a:r>
            <a:endParaRPr lang="en-US" sz="900" dirty="0"/>
          </a:p>
        </p:txBody>
      </p:sp>
      <p:sp>
        <p:nvSpPr>
          <p:cNvPr id="60" name="Text 52"/>
          <p:cNvSpPr txBox="1"/>
          <p:nvPr/>
        </p:nvSpPr>
        <p:spPr>
          <a:xfrm>
            <a:off x="6350508" y="4683557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61" name="Text 53"/>
          <p:cNvSpPr txBox="1"/>
          <p:nvPr/>
        </p:nvSpPr>
        <p:spPr>
          <a:xfrm>
            <a:off x="6411773" y="4683557"/>
            <a:ext cx="44805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'none'</a:t>
            </a:r>
            <a:endParaRPr lang="en-US" sz="900" dirty="0"/>
          </a:p>
        </p:txBody>
      </p:sp>
      <p:sp>
        <p:nvSpPr>
          <p:cNvPr id="62" name="Text 54"/>
          <p:cNvSpPr txBox="1"/>
          <p:nvPr/>
        </p:nvSpPr>
        <p:spPr>
          <a:xfrm>
            <a:off x="6783934" y="4683557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63" name="Text 55"/>
          <p:cNvSpPr txBox="1"/>
          <p:nvPr/>
        </p:nvSpPr>
        <p:spPr>
          <a:xfrm>
            <a:off x="5173675" y="4857293"/>
            <a:ext cx="111099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card.classList.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6102706" y="4857293"/>
            <a:ext cx="44805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remove</a:t>
            </a:r>
            <a:endParaRPr lang="en-US" sz="900" dirty="0"/>
          </a:p>
        </p:txBody>
      </p:sp>
      <p:sp>
        <p:nvSpPr>
          <p:cNvPr id="65" name="Text 57"/>
          <p:cNvSpPr txBox="1"/>
          <p:nvPr/>
        </p:nvSpPr>
        <p:spPr>
          <a:xfrm>
            <a:off x="6473952" y="4857293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66" name="Text 58"/>
          <p:cNvSpPr txBox="1"/>
          <p:nvPr/>
        </p:nvSpPr>
        <p:spPr>
          <a:xfrm>
            <a:off x="6536131" y="4857293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'fade-in'</a:t>
            </a:r>
            <a:endParaRPr lang="en-US" sz="900" dirty="0"/>
          </a:p>
        </p:txBody>
      </p:sp>
      <p:sp>
        <p:nvSpPr>
          <p:cNvPr id="67" name="Text 59"/>
          <p:cNvSpPr txBox="1"/>
          <p:nvPr/>
        </p:nvSpPr>
        <p:spPr>
          <a:xfrm>
            <a:off x="7093001" y="4857293"/>
            <a:ext cx="20025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900" dirty="0"/>
          </a:p>
        </p:txBody>
      </p:sp>
      <p:sp>
        <p:nvSpPr>
          <p:cNvPr id="68" name="Text 60"/>
          <p:cNvSpPr txBox="1"/>
          <p:nvPr/>
        </p:nvSpPr>
        <p:spPr>
          <a:xfrm>
            <a:off x="5021885" y="5030114"/>
            <a:ext cx="14356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69" name="Text 61"/>
          <p:cNvSpPr txBox="1"/>
          <p:nvPr/>
        </p:nvSpPr>
        <p:spPr>
          <a:xfrm>
            <a:off x="4869180" y="5203850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});</a:t>
            </a:r>
            <a:endParaRPr lang="en-US" sz="900" dirty="0"/>
          </a:p>
        </p:txBody>
      </p:sp>
      <p:sp>
        <p:nvSpPr>
          <p:cNvPr id="70" name="Text 62"/>
          <p:cNvSpPr txBox="1"/>
          <p:nvPr/>
        </p:nvSpPr>
        <p:spPr>
          <a:xfrm>
            <a:off x="5116982" y="5203850"/>
            <a:ext cx="172638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projects.forEach 종료</a:t>
            </a:r>
            <a:endParaRPr lang="en-US" sz="900" dirty="0"/>
          </a:p>
        </p:txBody>
      </p:sp>
      <p:sp>
        <p:nvSpPr>
          <p:cNvPr id="71" name="Text 63"/>
          <p:cNvSpPr txBox="1"/>
          <p:nvPr/>
        </p:nvSpPr>
        <p:spPr>
          <a:xfrm>
            <a:off x="4869180" y="5377586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});</a:t>
            </a:r>
            <a:endParaRPr lang="en-US" sz="900" dirty="0"/>
          </a:p>
        </p:txBody>
      </p:sp>
      <p:sp>
        <p:nvSpPr>
          <p:cNvPr id="72" name="Text 64"/>
          <p:cNvSpPr txBox="1"/>
          <p:nvPr/>
        </p:nvSpPr>
        <p:spPr>
          <a:xfrm>
            <a:off x="5116982" y="5377586"/>
            <a:ext cx="202356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btn.addEventListener 종료</a:t>
            </a:r>
            <a:endParaRPr lang="en-US" sz="900" dirty="0"/>
          </a:p>
        </p:txBody>
      </p:sp>
      <p:sp>
        <p:nvSpPr>
          <p:cNvPr id="73" name="Text 65"/>
          <p:cNvSpPr txBox="1"/>
          <p:nvPr/>
        </p:nvSpPr>
        <p:spPr>
          <a:xfrm>
            <a:off x="4869180" y="5550408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});</a:t>
            </a:r>
            <a:endParaRPr lang="en-US" sz="900" dirty="0"/>
          </a:p>
        </p:txBody>
      </p:sp>
      <p:sp>
        <p:nvSpPr>
          <p:cNvPr id="74" name="Text 66"/>
          <p:cNvSpPr txBox="1"/>
          <p:nvPr/>
        </p:nvSpPr>
        <p:spPr>
          <a:xfrm>
            <a:off x="5116982" y="5550408"/>
            <a:ext cx="187543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filterBtns.forEach 종료</a:t>
            </a:r>
            <a:endParaRPr lang="en-US" sz="900" dirty="0"/>
          </a:p>
        </p:txBody>
      </p:sp>
      <p:sp>
        <p:nvSpPr>
          <p:cNvPr id="7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94711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PRACTICAL EXAMPLE 05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1131570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Fetch 모킹 &amp; 상태 관리 - Part 1: Try 블록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390595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9" b="-9"/>
          <a:stretch/>
        </p:blipFill>
        <p:spPr>
          <a:xfrm>
            <a:off x="847649" y="2617013"/>
            <a:ext cx="3230575" cy="210677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915107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JSONPlaceholder API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(/users)를 사용하여 사용자 데이터를 가져오는 JavaScript 비동기 함수를 작성해줘.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데이터를 가져오는 동안의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로딩(Loading) 상태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실패 시의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에러(Error) 처리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로직을 반드시 포함해줘."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09905" y="5298034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9905" y="5298034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476342"/>
            <a:ext cx="105156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1151" y="5469026"/>
            <a:ext cx="10387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GUIDE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38505" y="5688482"/>
            <a:ext cx="337230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슬라이드는 </a:t>
            </a:r>
            <a:r>
              <a:rPr lang="en-US" sz="10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으로, 상태 초기화부터 성공적인 데이터 페칭(Try 블록)까지를 다룹니다. 에러 처리(Catch)와 상태 정리(Finally)는 다음 슬라이드(Part 2)에서 이어집니다.</a:t>
            </a:r>
            <a:endParaRPr lang="en-US" sz="10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45075" y="1684325"/>
            <a:ext cx="28949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(API.JS) - PART 1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5778" y="2141525"/>
            <a:ext cx="44805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api.js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4830775" y="2555748"/>
            <a:ext cx="11832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상태 변수 초기화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4830775" y="2698394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let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5002682" y="2698394"/>
            <a:ext cx="6181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isLoading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5517490" y="2698394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5574182" y="2698394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false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5860390" y="2698394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830775" y="2841041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let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5002682" y="2841041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error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5288890" y="2841041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5345582" y="2841041"/>
            <a:ext cx="314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null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5574182" y="2841041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37" name="Text 29"/>
          <p:cNvSpPr txBox="1"/>
          <p:nvPr/>
        </p:nvSpPr>
        <p:spPr>
          <a:xfrm>
            <a:off x="4830775" y="2984602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let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5002682" y="2984602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users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5288890" y="29846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5345582" y="29846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[</a:t>
            </a:r>
            <a:endParaRPr lang="en-US" sz="900" dirty="0"/>
          </a:p>
        </p:txBody>
      </p:sp>
      <p:sp>
        <p:nvSpPr>
          <p:cNvPr id="41" name="Text 33"/>
          <p:cNvSpPr txBox="1"/>
          <p:nvPr/>
        </p:nvSpPr>
        <p:spPr>
          <a:xfrm>
            <a:off x="5403190" y="29846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]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5460797" y="29846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4830775" y="3269894"/>
            <a:ext cx="18626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사용자 데이터 가져오기 함수</a:t>
            </a:r>
            <a:endParaRPr lang="en-US" sz="900" dirty="0"/>
          </a:p>
        </p:txBody>
      </p:sp>
      <p:sp>
        <p:nvSpPr>
          <p:cNvPr id="44" name="Text 36"/>
          <p:cNvSpPr txBox="1"/>
          <p:nvPr/>
        </p:nvSpPr>
        <p:spPr>
          <a:xfrm>
            <a:off x="4830775" y="3412541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async</a:t>
            </a:r>
            <a:endParaRPr lang="en-US" sz="900" dirty="0"/>
          </a:p>
        </p:txBody>
      </p:sp>
      <p:sp>
        <p:nvSpPr>
          <p:cNvPr id="45" name="Text 37"/>
          <p:cNvSpPr txBox="1"/>
          <p:nvPr/>
        </p:nvSpPr>
        <p:spPr>
          <a:xfrm>
            <a:off x="5116982" y="3412541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function</a:t>
            </a:r>
            <a:endParaRPr lang="en-US" sz="900" dirty="0"/>
          </a:p>
        </p:txBody>
      </p:sp>
      <p:sp>
        <p:nvSpPr>
          <p:cNvPr id="46" name="Text 38"/>
          <p:cNvSpPr txBox="1"/>
          <p:nvPr/>
        </p:nvSpPr>
        <p:spPr>
          <a:xfrm>
            <a:off x="5574182" y="3412541"/>
            <a:ext cx="686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fetchUsers</a:t>
            </a:r>
            <a:endParaRPr lang="en-US" sz="900" dirty="0"/>
          </a:p>
        </p:txBody>
      </p:sp>
      <p:sp>
        <p:nvSpPr>
          <p:cNvPr id="47" name="Text 39"/>
          <p:cNvSpPr txBox="1"/>
          <p:nvPr/>
        </p:nvSpPr>
        <p:spPr>
          <a:xfrm>
            <a:off x="6145682" y="3412541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48" name="Text 40"/>
          <p:cNvSpPr txBox="1"/>
          <p:nvPr/>
        </p:nvSpPr>
        <p:spPr>
          <a:xfrm>
            <a:off x="6203290" y="3412541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900" dirty="0"/>
          </a:p>
        </p:txBody>
      </p:sp>
      <p:sp>
        <p:nvSpPr>
          <p:cNvPr id="49" name="Text 41"/>
          <p:cNvSpPr txBox="1"/>
          <p:nvPr/>
        </p:nvSpPr>
        <p:spPr>
          <a:xfrm>
            <a:off x="6260897" y="3412541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50" name="Text 42"/>
          <p:cNvSpPr txBox="1"/>
          <p:nvPr/>
        </p:nvSpPr>
        <p:spPr>
          <a:xfrm>
            <a:off x="4983480" y="3556102"/>
            <a:ext cx="6181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isLoading</a:t>
            </a:r>
            <a:endParaRPr lang="en-US" sz="900" dirty="0"/>
          </a:p>
        </p:txBody>
      </p:sp>
      <p:sp>
        <p:nvSpPr>
          <p:cNvPr id="51" name="Text 43"/>
          <p:cNvSpPr txBox="1"/>
          <p:nvPr/>
        </p:nvSpPr>
        <p:spPr>
          <a:xfrm>
            <a:off x="5498287" y="35561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52" name="Text 44"/>
          <p:cNvSpPr txBox="1"/>
          <p:nvPr/>
        </p:nvSpPr>
        <p:spPr>
          <a:xfrm>
            <a:off x="5554980" y="3556102"/>
            <a:ext cx="314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true</a:t>
            </a:r>
            <a:endParaRPr lang="en-US" sz="900" dirty="0"/>
          </a:p>
        </p:txBody>
      </p:sp>
      <p:sp>
        <p:nvSpPr>
          <p:cNvPr id="53" name="Text 45"/>
          <p:cNvSpPr txBox="1"/>
          <p:nvPr/>
        </p:nvSpPr>
        <p:spPr>
          <a:xfrm>
            <a:off x="5783580" y="35561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54" name="Text 46"/>
          <p:cNvSpPr txBox="1"/>
          <p:nvPr/>
        </p:nvSpPr>
        <p:spPr>
          <a:xfrm>
            <a:off x="4983480" y="3698748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error</a:t>
            </a:r>
            <a:endParaRPr lang="en-US" sz="900" dirty="0"/>
          </a:p>
        </p:txBody>
      </p:sp>
      <p:sp>
        <p:nvSpPr>
          <p:cNvPr id="55" name="Text 47"/>
          <p:cNvSpPr txBox="1"/>
          <p:nvPr/>
        </p:nvSpPr>
        <p:spPr>
          <a:xfrm>
            <a:off x="5269687" y="36987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56" name="Text 48"/>
          <p:cNvSpPr txBox="1"/>
          <p:nvPr/>
        </p:nvSpPr>
        <p:spPr>
          <a:xfrm>
            <a:off x="5326380" y="3698748"/>
            <a:ext cx="314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null</a:t>
            </a:r>
            <a:endParaRPr lang="en-US" sz="900" dirty="0"/>
          </a:p>
        </p:txBody>
      </p:sp>
      <p:sp>
        <p:nvSpPr>
          <p:cNvPr id="57" name="Text 49"/>
          <p:cNvSpPr txBox="1"/>
          <p:nvPr/>
        </p:nvSpPr>
        <p:spPr>
          <a:xfrm>
            <a:off x="5554980" y="36987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58" name="Text 50"/>
          <p:cNvSpPr txBox="1"/>
          <p:nvPr/>
        </p:nvSpPr>
        <p:spPr>
          <a:xfrm>
            <a:off x="4983480" y="3984041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try</a:t>
            </a:r>
            <a:endParaRPr lang="en-US" sz="900" dirty="0"/>
          </a:p>
        </p:txBody>
      </p:sp>
      <p:sp>
        <p:nvSpPr>
          <p:cNvPr id="59" name="Text 51"/>
          <p:cNvSpPr txBox="1"/>
          <p:nvPr/>
        </p:nvSpPr>
        <p:spPr>
          <a:xfrm>
            <a:off x="5155387" y="3984041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60" name="Text 52"/>
          <p:cNvSpPr txBox="1"/>
          <p:nvPr/>
        </p:nvSpPr>
        <p:spPr>
          <a:xfrm>
            <a:off x="5136185" y="4127602"/>
            <a:ext cx="21424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JSONPlaceholder Mock API 호출</a:t>
            </a:r>
            <a:endParaRPr lang="en-US" sz="900" dirty="0"/>
          </a:p>
        </p:txBody>
      </p:sp>
      <p:sp>
        <p:nvSpPr>
          <p:cNvPr id="61" name="Text 53"/>
          <p:cNvSpPr txBox="1"/>
          <p:nvPr/>
        </p:nvSpPr>
        <p:spPr>
          <a:xfrm>
            <a:off x="5136185" y="4270248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900" dirty="0"/>
          </a:p>
        </p:txBody>
      </p:sp>
      <p:sp>
        <p:nvSpPr>
          <p:cNvPr id="62" name="Text 54"/>
          <p:cNvSpPr txBox="1"/>
          <p:nvPr/>
        </p:nvSpPr>
        <p:spPr>
          <a:xfrm>
            <a:off x="5421478" y="4270248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response</a:t>
            </a:r>
            <a:endParaRPr lang="en-US" sz="900" dirty="0"/>
          </a:p>
        </p:txBody>
      </p:sp>
      <p:sp>
        <p:nvSpPr>
          <p:cNvPr id="63" name="Text 55"/>
          <p:cNvSpPr txBox="1"/>
          <p:nvPr/>
        </p:nvSpPr>
        <p:spPr>
          <a:xfrm>
            <a:off x="5878678" y="42702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5936285" y="4270248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await</a:t>
            </a:r>
            <a:endParaRPr lang="en-US" sz="900" dirty="0"/>
          </a:p>
        </p:txBody>
      </p:sp>
      <p:sp>
        <p:nvSpPr>
          <p:cNvPr id="65" name="Text 57"/>
          <p:cNvSpPr txBox="1"/>
          <p:nvPr/>
        </p:nvSpPr>
        <p:spPr>
          <a:xfrm>
            <a:off x="6222492" y="4270248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fetch</a:t>
            </a:r>
            <a:endParaRPr lang="en-US" sz="900" dirty="0"/>
          </a:p>
        </p:txBody>
      </p:sp>
      <p:sp>
        <p:nvSpPr>
          <p:cNvPr id="66" name="Text 58"/>
          <p:cNvSpPr txBox="1"/>
          <p:nvPr/>
        </p:nvSpPr>
        <p:spPr>
          <a:xfrm>
            <a:off x="6507785" y="42702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67" name="Text 59"/>
          <p:cNvSpPr txBox="1"/>
          <p:nvPr/>
        </p:nvSpPr>
        <p:spPr>
          <a:xfrm>
            <a:off x="6565392" y="4270248"/>
            <a:ext cx="3003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'https://jsonplaceholder.typicode.com/users'</a:t>
            </a:r>
            <a:endParaRPr lang="en-US" sz="900" dirty="0"/>
          </a:p>
        </p:txBody>
      </p:sp>
      <p:sp>
        <p:nvSpPr>
          <p:cNvPr id="68" name="Text 60"/>
          <p:cNvSpPr txBox="1"/>
          <p:nvPr/>
        </p:nvSpPr>
        <p:spPr>
          <a:xfrm>
            <a:off x="9079992" y="42702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900" dirty="0"/>
          </a:p>
        </p:txBody>
      </p:sp>
      <p:sp>
        <p:nvSpPr>
          <p:cNvPr id="69" name="Text 61"/>
          <p:cNvSpPr txBox="1"/>
          <p:nvPr/>
        </p:nvSpPr>
        <p:spPr>
          <a:xfrm>
            <a:off x="9137599" y="42702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70" name="Text 62"/>
          <p:cNvSpPr txBox="1"/>
          <p:nvPr/>
        </p:nvSpPr>
        <p:spPr>
          <a:xfrm>
            <a:off x="5136185" y="4555541"/>
            <a:ext cx="2784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응답 상태 확인 (200-299 범위가 아니면 에러)</a:t>
            </a:r>
            <a:endParaRPr lang="en-US" sz="900" dirty="0"/>
          </a:p>
        </p:txBody>
      </p:sp>
      <p:sp>
        <p:nvSpPr>
          <p:cNvPr id="71" name="Text 63"/>
          <p:cNvSpPr txBox="1"/>
          <p:nvPr/>
        </p:nvSpPr>
        <p:spPr>
          <a:xfrm>
            <a:off x="5136185" y="4699102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</a:t>
            </a:r>
            <a:endParaRPr lang="en-US" sz="900" dirty="0"/>
          </a:p>
        </p:txBody>
      </p:sp>
      <p:sp>
        <p:nvSpPr>
          <p:cNvPr id="72" name="Text 64"/>
          <p:cNvSpPr txBox="1"/>
          <p:nvPr/>
        </p:nvSpPr>
        <p:spPr>
          <a:xfrm>
            <a:off x="5250485" y="46991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73" name="Text 65"/>
          <p:cNvSpPr txBox="1"/>
          <p:nvPr/>
        </p:nvSpPr>
        <p:spPr>
          <a:xfrm>
            <a:off x="5307178" y="46991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!</a:t>
            </a:r>
            <a:endParaRPr lang="en-US" sz="900" dirty="0"/>
          </a:p>
        </p:txBody>
      </p:sp>
      <p:sp>
        <p:nvSpPr>
          <p:cNvPr id="74" name="Text 66"/>
          <p:cNvSpPr txBox="1"/>
          <p:nvPr/>
        </p:nvSpPr>
        <p:spPr>
          <a:xfrm>
            <a:off x="5364785" y="4699102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response</a:t>
            </a:r>
            <a:endParaRPr lang="en-US" sz="900" dirty="0"/>
          </a:p>
        </p:txBody>
      </p:sp>
      <p:sp>
        <p:nvSpPr>
          <p:cNvPr id="75" name="Text 67"/>
          <p:cNvSpPr txBox="1"/>
          <p:nvPr/>
        </p:nvSpPr>
        <p:spPr>
          <a:xfrm>
            <a:off x="5821985" y="46991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76" name="Text 68"/>
          <p:cNvSpPr txBox="1"/>
          <p:nvPr/>
        </p:nvSpPr>
        <p:spPr>
          <a:xfrm>
            <a:off x="5879592" y="4699102"/>
            <a:ext cx="2002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ok</a:t>
            </a:r>
            <a:endParaRPr lang="en-US" sz="900" dirty="0"/>
          </a:p>
        </p:txBody>
      </p:sp>
      <p:sp>
        <p:nvSpPr>
          <p:cNvPr id="77" name="Text 69"/>
          <p:cNvSpPr txBox="1"/>
          <p:nvPr/>
        </p:nvSpPr>
        <p:spPr>
          <a:xfrm>
            <a:off x="5993892" y="46991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900" dirty="0"/>
          </a:p>
        </p:txBody>
      </p:sp>
      <p:sp>
        <p:nvSpPr>
          <p:cNvPr id="78" name="Text 70"/>
          <p:cNvSpPr txBox="1"/>
          <p:nvPr/>
        </p:nvSpPr>
        <p:spPr>
          <a:xfrm>
            <a:off x="6051499" y="46991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79" name="Text 71"/>
          <p:cNvSpPr txBox="1"/>
          <p:nvPr/>
        </p:nvSpPr>
        <p:spPr>
          <a:xfrm>
            <a:off x="5287975" y="4841748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throw</a:t>
            </a:r>
            <a:endParaRPr lang="en-US" sz="900" dirty="0"/>
          </a:p>
        </p:txBody>
      </p:sp>
      <p:sp>
        <p:nvSpPr>
          <p:cNvPr id="80" name="Text 72"/>
          <p:cNvSpPr txBox="1"/>
          <p:nvPr/>
        </p:nvSpPr>
        <p:spPr>
          <a:xfrm>
            <a:off x="5574182" y="4841748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new</a:t>
            </a:r>
            <a:endParaRPr lang="en-US" sz="900" dirty="0"/>
          </a:p>
        </p:txBody>
      </p:sp>
      <p:sp>
        <p:nvSpPr>
          <p:cNvPr id="81" name="Text 73"/>
          <p:cNvSpPr txBox="1"/>
          <p:nvPr/>
        </p:nvSpPr>
        <p:spPr>
          <a:xfrm>
            <a:off x="5746090" y="4841748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Error</a:t>
            </a:r>
            <a:endParaRPr lang="en-US" sz="900" dirty="0"/>
          </a:p>
        </p:txBody>
      </p:sp>
      <p:sp>
        <p:nvSpPr>
          <p:cNvPr id="82" name="Text 74"/>
          <p:cNvSpPr txBox="1"/>
          <p:nvPr/>
        </p:nvSpPr>
        <p:spPr>
          <a:xfrm>
            <a:off x="6031382" y="48417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83" name="Text 75"/>
          <p:cNvSpPr txBox="1"/>
          <p:nvPr/>
        </p:nvSpPr>
        <p:spPr>
          <a:xfrm>
            <a:off x="6088990" y="4841748"/>
            <a:ext cx="273222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`HTTP error! status: ${response.status}`</a:t>
            </a:r>
            <a:endParaRPr lang="en-US" sz="900" dirty="0"/>
          </a:p>
        </p:txBody>
      </p:sp>
      <p:sp>
        <p:nvSpPr>
          <p:cNvPr id="84" name="Text 76"/>
          <p:cNvSpPr txBox="1"/>
          <p:nvPr/>
        </p:nvSpPr>
        <p:spPr>
          <a:xfrm>
            <a:off x="8374990" y="48417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900" dirty="0"/>
          </a:p>
        </p:txBody>
      </p:sp>
      <p:sp>
        <p:nvSpPr>
          <p:cNvPr id="85" name="Text 77"/>
          <p:cNvSpPr txBox="1"/>
          <p:nvPr/>
        </p:nvSpPr>
        <p:spPr>
          <a:xfrm>
            <a:off x="8432597" y="48417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86" name="Text 78"/>
          <p:cNvSpPr txBox="1"/>
          <p:nvPr/>
        </p:nvSpPr>
        <p:spPr>
          <a:xfrm>
            <a:off x="5136185" y="4984394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87" name="Text 79"/>
          <p:cNvSpPr txBox="1"/>
          <p:nvPr/>
        </p:nvSpPr>
        <p:spPr>
          <a:xfrm>
            <a:off x="5136185" y="5270602"/>
            <a:ext cx="136885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데이터 파싱 및 할당</a:t>
            </a:r>
            <a:endParaRPr lang="en-US" sz="900" dirty="0"/>
          </a:p>
        </p:txBody>
      </p:sp>
      <p:sp>
        <p:nvSpPr>
          <p:cNvPr id="88" name="Text 80"/>
          <p:cNvSpPr txBox="1"/>
          <p:nvPr/>
        </p:nvSpPr>
        <p:spPr>
          <a:xfrm>
            <a:off x="5136185" y="5413248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users</a:t>
            </a:r>
            <a:endParaRPr lang="en-US" sz="900" dirty="0"/>
          </a:p>
        </p:txBody>
      </p:sp>
      <p:sp>
        <p:nvSpPr>
          <p:cNvPr id="89" name="Text 81"/>
          <p:cNvSpPr txBox="1"/>
          <p:nvPr/>
        </p:nvSpPr>
        <p:spPr>
          <a:xfrm>
            <a:off x="5421478" y="54132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900" dirty="0"/>
          </a:p>
        </p:txBody>
      </p:sp>
      <p:sp>
        <p:nvSpPr>
          <p:cNvPr id="90" name="Text 82"/>
          <p:cNvSpPr txBox="1"/>
          <p:nvPr/>
        </p:nvSpPr>
        <p:spPr>
          <a:xfrm>
            <a:off x="5479085" y="5413248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await</a:t>
            </a:r>
            <a:endParaRPr lang="en-US" sz="900" dirty="0"/>
          </a:p>
        </p:txBody>
      </p:sp>
      <p:sp>
        <p:nvSpPr>
          <p:cNvPr id="91" name="Text 83"/>
          <p:cNvSpPr txBox="1"/>
          <p:nvPr/>
        </p:nvSpPr>
        <p:spPr>
          <a:xfrm>
            <a:off x="5765292" y="5413248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response</a:t>
            </a:r>
            <a:endParaRPr lang="en-US" sz="900" dirty="0"/>
          </a:p>
        </p:txBody>
      </p:sp>
      <p:sp>
        <p:nvSpPr>
          <p:cNvPr id="92" name="Text 84"/>
          <p:cNvSpPr txBox="1"/>
          <p:nvPr/>
        </p:nvSpPr>
        <p:spPr>
          <a:xfrm>
            <a:off x="6222492" y="54132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93" name="Text 85"/>
          <p:cNvSpPr txBox="1"/>
          <p:nvPr/>
        </p:nvSpPr>
        <p:spPr>
          <a:xfrm>
            <a:off x="6279185" y="5413248"/>
            <a:ext cx="314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json</a:t>
            </a:r>
            <a:endParaRPr lang="en-US" sz="900" dirty="0"/>
          </a:p>
        </p:txBody>
      </p:sp>
      <p:sp>
        <p:nvSpPr>
          <p:cNvPr id="94" name="Text 86"/>
          <p:cNvSpPr txBox="1"/>
          <p:nvPr/>
        </p:nvSpPr>
        <p:spPr>
          <a:xfrm>
            <a:off x="6508699" y="54132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95" name="Text 87"/>
          <p:cNvSpPr txBox="1"/>
          <p:nvPr/>
        </p:nvSpPr>
        <p:spPr>
          <a:xfrm>
            <a:off x="6565392" y="54132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900" dirty="0"/>
          </a:p>
        </p:txBody>
      </p:sp>
      <p:sp>
        <p:nvSpPr>
          <p:cNvPr id="96" name="Text 88"/>
          <p:cNvSpPr txBox="1"/>
          <p:nvPr/>
        </p:nvSpPr>
        <p:spPr>
          <a:xfrm>
            <a:off x="6622999" y="541324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97" name="Text 89"/>
          <p:cNvSpPr txBox="1"/>
          <p:nvPr/>
        </p:nvSpPr>
        <p:spPr>
          <a:xfrm>
            <a:off x="5136185" y="5555894"/>
            <a:ext cx="4864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console</a:t>
            </a:r>
            <a:endParaRPr lang="en-US" sz="900" dirty="0"/>
          </a:p>
        </p:txBody>
      </p:sp>
      <p:sp>
        <p:nvSpPr>
          <p:cNvPr id="98" name="Text 90"/>
          <p:cNvSpPr txBox="1"/>
          <p:nvPr/>
        </p:nvSpPr>
        <p:spPr>
          <a:xfrm>
            <a:off x="5535778" y="5555894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900" dirty="0"/>
          </a:p>
        </p:txBody>
      </p:sp>
      <p:sp>
        <p:nvSpPr>
          <p:cNvPr id="99" name="Text 91"/>
          <p:cNvSpPr txBox="1"/>
          <p:nvPr/>
        </p:nvSpPr>
        <p:spPr>
          <a:xfrm>
            <a:off x="5593385" y="5555894"/>
            <a:ext cx="2578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log</a:t>
            </a:r>
            <a:endParaRPr lang="en-US" sz="900" dirty="0"/>
          </a:p>
        </p:txBody>
      </p:sp>
      <p:sp>
        <p:nvSpPr>
          <p:cNvPr id="100" name="Text 92"/>
          <p:cNvSpPr txBox="1"/>
          <p:nvPr/>
        </p:nvSpPr>
        <p:spPr>
          <a:xfrm>
            <a:off x="5765292" y="5555894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101" name="Text 93"/>
          <p:cNvSpPr txBox="1"/>
          <p:nvPr/>
        </p:nvSpPr>
        <p:spPr>
          <a:xfrm>
            <a:off x="5821985" y="5555894"/>
            <a:ext cx="191566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'Data fetched successfully:'</a:t>
            </a:r>
            <a:endParaRPr lang="en-US" sz="900" dirty="0"/>
          </a:p>
        </p:txBody>
      </p:sp>
      <p:sp>
        <p:nvSpPr>
          <p:cNvPr id="102" name="Text 94"/>
          <p:cNvSpPr txBox="1"/>
          <p:nvPr/>
        </p:nvSpPr>
        <p:spPr>
          <a:xfrm>
            <a:off x="7422185" y="5555894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,</a:t>
            </a:r>
            <a:endParaRPr lang="en-US" sz="900" dirty="0"/>
          </a:p>
        </p:txBody>
      </p:sp>
      <p:sp>
        <p:nvSpPr>
          <p:cNvPr id="103" name="Text 95"/>
          <p:cNvSpPr txBox="1"/>
          <p:nvPr/>
        </p:nvSpPr>
        <p:spPr>
          <a:xfrm>
            <a:off x="7479792" y="5555894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users</a:t>
            </a:r>
            <a:endParaRPr lang="en-US" sz="900" dirty="0"/>
          </a:p>
        </p:txBody>
      </p:sp>
      <p:sp>
        <p:nvSpPr>
          <p:cNvPr id="104" name="Text 96"/>
          <p:cNvSpPr txBox="1"/>
          <p:nvPr/>
        </p:nvSpPr>
        <p:spPr>
          <a:xfrm>
            <a:off x="7765999" y="5555894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900" dirty="0"/>
          </a:p>
        </p:txBody>
      </p:sp>
      <p:sp>
        <p:nvSpPr>
          <p:cNvPr id="105" name="Text 97"/>
          <p:cNvSpPr txBox="1"/>
          <p:nvPr/>
        </p:nvSpPr>
        <p:spPr>
          <a:xfrm>
            <a:off x="7822692" y="5555894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106" name="Text 98"/>
          <p:cNvSpPr txBox="1"/>
          <p:nvPr/>
        </p:nvSpPr>
        <p:spPr>
          <a:xfrm>
            <a:off x="4983480" y="5698541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107" name="Text 99"/>
          <p:cNvSpPr txBox="1"/>
          <p:nvPr/>
        </p:nvSpPr>
        <p:spPr>
          <a:xfrm>
            <a:off x="5041087" y="5698541"/>
            <a:ext cx="33631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catch &amp; finally 블록은 Part 2에서 이어집니다... */</a:t>
            </a:r>
            <a:endParaRPr lang="en-US" sz="900" dirty="0"/>
          </a:p>
        </p:txBody>
      </p:sp>
      <p:sp>
        <p:nvSpPr>
          <p:cNvPr id="108" name="Text 100"/>
          <p:cNvSpPr txBox="1"/>
          <p:nvPr/>
        </p:nvSpPr>
        <p:spPr>
          <a:xfrm>
            <a:off x="4830775" y="5842102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10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94711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PRACTICAL EXAMPLE 05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1270650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Fetch 모킹 &amp; 상태 관리 - Part 2: Error Handling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25450" y="1906220"/>
            <a:ext cx="3715207" cy="3078174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63194" y="2177796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1794" y="2143963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63194" y="2458516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58291" y="2544470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17" b="-17"/>
          <a:stretch/>
        </p:blipFill>
        <p:spPr>
          <a:xfrm>
            <a:off x="863194" y="2838906"/>
            <a:ext cx="3230575" cy="179588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63448" y="3039160"/>
            <a:ext cx="2841042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"이전 Part 1의 try 블록에 이어서, 에러가 발생했을 때(catch) 사용자에게 메시지를 보여주는 처리 로직과, 요청 성공/실패 여부와 상관없이 로딩 상태를 종료하는(finally) 코드를 작성해줘."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09905" y="5169102"/>
            <a:ext cx="3715207" cy="1276937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9905" y="5169102"/>
            <a:ext cx="38405" cy="1276937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347410"/>
            <a:ext cx="105156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1151" y="5340094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38505" y="5559550"/>
            <a:ext cx="337230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프로덕션 환경에서는 사용자 친화적인 에러 메시지를 표시하고, 필요한 경우 에러 로깅 서비스(Sentry 등)로 전송하는 것이 좋습니다.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45075" y="1684325"/>
            <a:ext cx="28949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(API.JS) - PART 2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5778" y="2141525"/>
            <a:ext cx="44805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api.js</a:t>
            </a:r>
            <a:endParaRPr lang="en-US" sz="900" dirty="0"/>
          </a:p>
        </p:txBody>
      </p: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5946A534-29B3-463E-2FB2-28B41794142A}"/>
              </a:ext>
            </a:extLst>
          </p:cNvPr>
          <p:cNvGrpSpPr/>
          <p:nvPr/>
        </p:nvGrpSpPr>
        <p:grpSpPr>
          <a:xfrm>
            <a:off x="4830774" y="2555747"/>
            <a:ext cx="6297777" cy="3621895"/>
            <a:chOff x="4830775" y="2555748"/>
            <a:chExt cx="6144768" cy="3400654"/>
          </a:xfrm>
        </p:grpSpPr>
        <p:sp>
          <p:nvSpPr>
            <p:cNvPr id="26" name="Text 18"/>
            <p:cNvSpPr txBox="1"/>
            <p:nvPr/>
          </p:nvSpPr>
          <p:spPr>
            <a:xfrm>
              <a:off x="4830775" y="2555748"/>
              <a:ext cx="195224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... (Part 1: try 블록 이후)</a:t>
              </a:r>
              <a:endParaRPr lang="en-US" sz="900" dirty="0"/>
            </a:p>
          </p:txBody>
        </p:sp>
        <p:sp>
          <p:nvSpPr>
            <p:cNvPr id="27" name="Text 19"/>
            <p:cNvSpPr txBox="1"/>
            <p:nvPr/>
          </p:nvSpPr>
          <p:spPr>
            <a:xfrm>
              <a:off x="4830775" y="2841041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catch</a:t>
              </a:r>
              <a:endParaRPr lang="en-US" sz="900" dirty="0"/>
            </a:p>
          </p:txBody>
        </p:sp>
        <p:sp>
          <p:nvSpPr>
            <p:cNvPr id="28" name="Text 20"/>
            <p:cNvSpPr txBox="1"/>
            <p:nvPr/>
          </p:nvSpPr>
          <p:spPr>
            <a:xfrm>
              <a:off x="5116982" y="2841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900" dirty="0"/>
            </a:p>
          </p:txBody>
        </p:sp>
        <p:sp>
          <p:nvSpPr>
            <p:cNvPr id="29" name="Text 21"/>
            <p:cNvSpPr txBox="1"/>
            <p:nvPr/>
          </p:nvSpPr>
          <p:spPr>
            <a:xfrm>
              <a:off x="5174590" y="2841041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err</a:t>
              </a:r>
              <a:endParaRPr lang="en-US" sz="900" dirty="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5345582" y="2841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90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5403190" y="2841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9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4983480" y="2984602"/>
              <a:ext cx="12289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4. 에러 처리 로직</a:t>
              </a:r>
              <a:endParaRPr lang="en-US" sz="9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4983480" y="3127248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console</a:t>
              </a:r>
              <a:endParaRPr lang="en-US" sz="90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5383987" y="3127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90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5440680" y="3127248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error</a:t>
              </a:r>
              <a:endParaRPr lang="en-US" sz="90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726887" y="3127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9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784494" y="3127248"/>
              <a:ext cx="164409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'Failed to fetch users:'</a:t>
              </a:r>
              <a:endParaRPr lang="en-US" sz="9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7156094" y="3127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9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7212787" y="3127248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err</a:t>
              </a:r>
              <a:endParaRPr lang="en-US" sz="9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7384694" y="3127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9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7442302" y="3127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9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4983480" y="3269894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error</a:t>
              </a:r>
              <a:endParaRPr lang="en-US" sz="9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269687" y="32698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9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326380" y="3269894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err</a:t>
              </a:r>
              <a:endParaRPr lang="en-US" sz="9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498287" y="32698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9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5555894" y="3269894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message</a:t>
              </a:r>
              <a:endParaRPr lang="en-US" sz="9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955487" y="32698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9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4983480" y="3556102"/>
              <a:ext cx="28291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사용자에게 에러 메시지 표시 (DOM 조작 예시)</a:t>
              </a:r>
              <a:endParaRPr lang="en-US" sz="9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4983480" y="3698748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9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5269687" y="3698748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userList</a:t>
              </a:r>
              <a:endParaRPr lang="en-US" sz="9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5726887" y="36987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9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5783580" y="3698748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</a:t>
              </a:r>
              <a:endParaRPr lang="en-US" sz="9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6241694" y="36987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9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6298387" y="3698748"/>
              <a:ext cx="9610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getElementById</a:t>
              </a:r>
              <a:endParaRPr lang="en-US" sz="9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7098487" y="36987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9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7156094" y="3698748"/>
              <a:ext cx="75529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'user-list'</a:t>
              </a:r>
              <a:endParaRPr lang="en-US" sz="9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7785202" y="36987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9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7841894" y="36987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9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4983480" y="3841394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if</a:t>
              </a:r>
              <a:endParaRPr lang="en-US" sz="9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5097780" y="38413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9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5155387" y="3841394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userList</a:t>
              </a:r>
              <a:endParaRPr lang="en-US" sz="9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5612587" y="38413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9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5670194" y="38413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9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5136185" y="3984041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userList</a:t>
              </a:r>
              <a:endParaRPr lang="en-US" sz="90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5593385" y="3984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90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5650078" y="3984041"/>
              <a:ext cx="6181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innerHTML</a:t>
              </a:r>
              <a:endParaRPr lang="en-US" sz="9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6164885" y="3984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90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6222492" y="3984041"/>
              <a:ext cx="475305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`&lt;div class="error-msg"&gt;Error: ${error}. Please try again later.&lt;/div&gt;`</a:t>
              </a:r>
              <a:endParaRPr lang="en-US" sz="90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10279685" y="3984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90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4983480" y="41276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9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4830775" y="4270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9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4888382" y="4270248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finally</a:t>
              </a:r>
              <a:endParaRPr lang="en-US" sz="90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5288890" y="4270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90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4983480" y="4412894"/>
              <a:ext cx="28291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5. 로딩 상태 종료 (성공/실패 무관하게 실행)</a:t>
              </a:r>
              <a:endParaRPr lang="en-US" sz="90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4983480" y="4555541"/>
              <a:ext cx="6181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isLoading</a:t>
              </a:r>
              <a:endParaRPr lang="en-US" sz="90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5498287" y="45555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90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5554980" y="4555541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false</a:t>
              </a:r>
              <a:endParaRPr lang="en-US" sz="90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5841187" y="45555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90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4983480" y="4699102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console</a:t>
              </a:r>
              <a:endParaRPr lang="en-US" sz="90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5383987" y="46991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900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5440680" y="4699102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log</a:t>
              </a:r>
              <a:endParaRPr lang="en-US" sz="900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5612587" y="46991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900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5670194" y="4699102"/>
              <a:ext cx="2936138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'Fetch operation completed. Loading state:'</a:t>
              </a:r>
              <a:endParaRPr lang="en-US" sz="900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8127187" y="46991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900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8184794" y="4699102"/>
              <a:ext cx="6181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isLoading</a:t>
              </a:r>
              <a:endParaRPr lang="en-US" sz="900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8699602" y="46991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900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8756294" y="46991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900" dirty="0"/>
            </a:p>
          </p:txBody>
        </p:sp>
        <p:sp>
          <p:nvSpPr>
            <p:cNvPr id="88" name="Text 80"/>
            <p:cNvSpPr txBox="1"/>
            <p:nvPr/>
          </p:nvSpPr>
          <p:spPr>
            <a:xfrm>
              <a:off x="4983480" y="4984394"/>
              <a:ext cx="1306678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로딩 스피너 숨기기</a:t>
              </a:r>
              <a:endParaRPr lang="en-US" sz="900" dirty="0"/>
            </a:p>
          </p:txBody>
        </p:sp>
        <p:sp>
          <p:nvSpPr>
            <p:cNvPr id="89" name="Text 81"/>
            <p:cNvSpPr txBox="1"/>
            <p:nvPr/>
          </p:nvSpPr>
          <p:spPr>
            <a:xfrm>
              <a:off x="4983480" y="5127041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900" dirty="0"/>
            </a:p>
          </p:txBody>
        </p:sp>
        <p:sp>
          <p:nvSpPr>
            <p:cNvPr id="90" name="Text 82"/>
            <p:cNvSpPr txBox="1"/>
            <p:nvPr/>
          </p:nvSpPr>
          <p:spPr>
            <a:xfrm>
              <a:off x="5269687" y="5127041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spinner</a:t>
              </a:r>
              <a:endParaRPr lang="en-US" sz="900" dirty="0"/>
            </a:p>
          </p:txBody>
        </p:sp>
        <p:sp>
          <p:nvSpPr>
            <p:cNvPr id="91" name="Text 83"/>
            <p:cNvSpPr txBox="1"/>
            <p:nvPr/>
          </p:nvSpPr>
          <p:spPr>
            <a:xfrm>
              <a:off x="5669280" y="5127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900" dirty="0"/>
            </a:p>
          </p:txBody>
        </p:sp>
        <p:sp>
          <p:nvSpPr>
            <p:cNvPr id="92" name="Text 84"/>
            <p:cNvSpPr txBox="1"/>
            <p:nvPr/>
          </p:nvSpPr>
          <p:spPr>
            <a:xfrm>
              <a:off x="5726887" y="5127041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</a:t>
              </a:r>
              <a:endParaRPr lang="en-US" sz="900" dirty="0"/>
            </a:p>
          </p:txBody>
        </p:sp>
        <p:sp>
          <p:nvSpPr>
            <p:cNvPr id="93" name="Text 85"/>
            <p:cNvSpPr txBox="1"/>
            <p:nvPr/>
          </p:nvSpPr>
          <p:spPr>
            <a:xfrm>
              <a:off x="6184087" y="5127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900" dirty="0"/>
            </a:p>
          </p:txBody>
        </p:sp>
        <p:sp>
          <p:nvSpPr>
            <p:cNvPr id="94" name="Text 86"/>
            <p:cNvSpPr txBox="1"/>
            <p:nvPr/>
          </p:nvSpPr>
          <p:spPr>
            <a:xfrm>
              <a:off x="6241694" y="5127041"/>
              <a:ext cx="8924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querySelector</a:t>
              </a:r>
              <a:endParaRPr lang="en-US" sz="900" dirty="0"/>
            </a:p>
          </p:txBody>
        </p:sp>
        <p:sp>
          <p:nvSpPr>
            <p:cNvPr id="95" name="Text 87"/>
            <p:cNvSpPr txBox="1"/>
            <p:nvPr/>
          </p:nvSpPr>
          <p:spPr>
            <a:xfrm>
              <a:off x="6984187" y="5127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900" dirty="0"/>
            </a:p>
          </p:txBody>
        </p:sp>
        <p:sp>
          <p:nvSpPr>
            <p:cNvPr id="96" name="Text 88"/>
            <p:cNvSpPr txBox="1"/>
            <p:nvPr/>
          </p:nvSpPr>
          <p:spPr>
            <a:xfrm>
              <a:off x="7041794" y="5127041"/>
              <a:ext cx="12353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'.loading-spinner'</a:t>
              </a:r>
              <a:endParaRPr lang="en-US" sz="900" dirty="0"/>
            </a:p>
          </p:txBody>
        </p:sp>
        <p:sp>
          <p:nvSpPr>
            <p:cNvPr id="97" name="Text 89"/>
            <p:cNvSpPr txBox="1"/>
            <p:nvPr/>
          </p:nvSpPr>
          <p:spPr>
            <a:xfrm>
              <a:off x="8070494" y="5127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900" dirty="0"/>
            </a:p>
          </p:txBody>
        </p:sp>
        <p:sp>
          <p:nvSpPr>
            <p:cNvPr id="98" name="Text 90"/>
            <p:cNvSpPr txBox="1"/>
            <p:nvPr/>
          </p:nvSpPr>
          <p:spPr>
            <a:xfrm>
              <a:off x="8128102" y="51270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900" dirty="0"/>
            </a:p>
          </p:txBody>
        </p:sp>
        <p:sp>
          <p:nvSpPr>
            <p:cNvPr id="99" name="Text 91"/>
            <p:cNvSpPr txBox="1"/>
            <p:nvPr/>
          </p:nvSpPr>
          <p:spPr>
            <a:xfrm>
              <a:off x="4983480" y="5270602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if</a:t>
              </a:r>
              <a:endParaRPr lang="en-US" sz="900" dirty="0"/>
            </a:p>
          </p:txBody>
        </p:sp>
        <p:sp>
          <p:nvSpPr>
            <p:cNvPr id="100" name="Text 92"/>
            <p:cNvSpPr txBox="1"/>
            <p:nvPr/>
          </p:nvSpPr>
          <p:spPr>
            <a:xfrm>
              <a:off x="5097780" y="52706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900" dirty="0"/>
            </a:p>
          </p:txBody>
        </p:sp>
        <p:sp>
          <p:nvSpPr>
            <p:cNvPr id="101" name="Text 93"/>
            <p:cNvSpPr txBox="1"/>
            <p:nvPr/>
          </p:nvSpPr>
          <p:spPr>
            <a:xfrm>
              <a:off x="5155387" y="5270602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spinner</a:t>
              </a:r>
              <a:endParaRPr lang="en-US" sz="900" dirty="0"/>
            </a:p>
          </p:txBody>
        </p:sp>
        <p:sp>
          <p:nvSpPr>
            <p:cNvPr id="102" name="Text 94"/>
            <p:cNvSpPr txBox="1"/>
            <p:nvPr/>
          </p:nvSpPr>
          <p:spPr>
            <a:xfrm>
              <a:off x="5554980" y="52706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900" dirty="0"/>
            </a:p>
          </p:txBody>
        </p:sp>
        <p:sp>
          <p:nvSpPr>
            <p:cNvPr id="103" name="Text 95"/>
            <p:cNvSpPr txBox="1"/>
            <p:nvPr/>
          </p:nvSpPr>
          <p:spPr>
            <a:xfrm>
              <a:off x="5612587" y="52706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900" dirty="0"/>
            </a:p>
          </p:txBody>
        </p:sp>
        <p:sp>
          <p:nvSpPr>
            <p:cNvPr id="104" name="Text 96"/>
            <p:cNvSpPr txBox="1"/>
            <p:nvPr/>
          </p:nvSpPr>
          <p:spPr>
            <a:xfrm>
              <a:off x="5136185" y="5413248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spinner</a:t>
              </a:r>
              <a:endParaRPr lang="en-US" sz="900" dirty="0"/>
            </a:p>
          </p:txBody>
        </p:sp>
        <p:sp>
          <p:nvSpPr>
            <p:cNvPr id="105" name="Text 97"/>
            <p:cNvSpPr txBox="1"/>
            <p:nvPr/>
          </p:nvSpPr>
          <p:spPr>
            <a:xfrm>
              <a:off x="5535778" y="5413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900" dirty="0"/>
            </a:p>
          </p:txBody>
        </p:sp>
        <p:sp>
          <p:nvSpPr>
            <p:cNvPr id="106" name="Text 98"/>
            <p:cNvSpPr txBox="1"/>
            <p:nvPr/>
          </p:nvSpPr>
          <p:spPr>
            <a:xfrm>
              <a:off x="5593385" y="5413248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style</a:t>
              </a:r>
              <a:endParaRPr lang="en-US" sz="900" dirty="0"/>
            </a:p>
          </p:txBody>
        </p:sp>
        <p:sp>
          <p:nvSpPr>
            <p:cNvPr id="107" name="Text 99"/>
            <p:cNvSpPr txBox="1"/>
            <p:nvPr/>
          </p:nvSpPr>
          <p:spPr>
            <a:xfrm>
              <a:off x="5879592" y="5413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900" dirty="0"/>
            </a:p>
          </p:txBody>
        </p:sp>
        <p:sp>
          <p:nvSpPr>
            <p:cNvPr id="108" name="Text 100"/>
            <p:cNvSpPr txBox="1"/>
            <p:nvPr/>
          </p:nvSpPr>
          <p:spPr>
            <a:xfrm>
              <a:off x="5936285" y="5413248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display</a:t>
              </a:r>
              <a:endParaRPr lang="en-US" sz="900" dirty="0"/>
            </a:p>
          </p:txBody>
        </p:sp>
        <p:sp>
          <p:nvSpPr>
            <p:cNvPr id="109" name="Text 101"/>
            <p:cNvSpPr txBox="1"/>
            <p:nvPr/>
          </p:nvSpPr>
          <p:spPr>
            <a:xfrm>
              <a:off x="6336792" y="5413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900" dirty="0"/>
            </a:p>
          </p:txBody>
        </p:sp>
        <p:sp>
          <p:nvSpPr>
            <p:cNvPr id="110" name="Text 102"/>
            <p:cNvSpPr txBox="1"/>
            <p:nvPr/>
          </p:nvSpPr>
          <p:spPr>
            <a:xfrm>
              <a:off x="6394399" y="5413248"/>
              <a:ext cx="4288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'none'</a:t>
              </a:r>
              <a:endParaRPr lang="en-US" sz="900" dirty="0"/>
            </a:p>
          </p:txBody>
        </p:sp>
        <p:sp>
          <p:nvSpPr>
            <p:cNvPr id="111" name="Text 103"/>
            <p:cNvSpPr txBox="1"/>
            <p:nvPr/>
          </p:nvSpPr>
          <p:spPr>
            <a:xfrm>
              <a:off x="6737299" y="5413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900" dirty="0"/>
            </a:p>
          </p:txBody>
        </p:sp>
        <p:sp>
          <p:nvSpPr>
            <p:cNvPr id="112" name="Text 104"/>
            <p:cNvSpPr txBox="1"/>
            <p:nvPr/>
          </p:nvSpPr>
          <p:spPr>
            <a:xfrm>
              <a:off x="4983480" y="55558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900" dirty="0"/>
            </a:p>
          </p:txBody>
        </p:sp>
        <p:sp>
          <p:nvSpPr>
            <p:cNvPr id="113" name="Text 105"/>
            <p:cNvSpPr txBox="1"/>
            <p:nvPr/>
          </p:nvSpPr>
          <p:spPr>
            <a:xfrm>
              <a:off x="4830775" y="569854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900" dirty="0"/>
            </a:p>
          </p:txBody>
        </p:sp>
        <p:sp>
          <p:nvSpPr>
            <p:cNvPr id="114" name="Text 106"/>
            <p:cNvSpPr txBox="1"/>
            <p:nvPr/>
          </p:nvSpPr>
          <p:spPr>
            <a:xfrm>
              <a:off x="4830775" y="58421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900" dirty="0"/>
            </a:p>
          </p:txBody>
        </p:sp>
        <p:sp>
          <p:nvSpPr>
            <p:cNvPr id="115" name="Text 107"/>
            <p:cNvSpPr txBox="1"/>
            <p:nvPr/>
          </p:nvSpPr>
          <p:spPr>
            <a:xfrm>
              <a:off x="4888382" y="5842102"/>
              <a:ext cx="1984248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End of fetchUsers function</a:t>
              </a:r>
              <a:endParaRPr lang="en-US" sz="900" dirty="0"/>
            </a:p>
          </p:txBody>
        </p:sp>
      </p:grpSp>
      <p:sp>
        <p:nvSpPr>
          <p:cNvPr id="1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2101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CSS GRID LAYOUT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676564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</a:t>
            </a:r>
            <a:r>
              <a:rPr lang="en-US" sz="36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</a:t>
            </a: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1 : About 타임라인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6"/>
            <a:ext cx="3715207" cy="2986430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7649" y="2617013"/>
            <a:ext cx="3230575" cy="186263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7468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"About Me 섹션에 내 경력을 보여줄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60704" y="3121762"/>
            <a:ext cx="273405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수직 타임라인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951157" y="3107741"/>
            <a:ext cx="18937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CSS Grid로 만들어줘.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3548786"/>
            <a:ext cx="543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구조는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511503" y="3548786"/>
            <a:ext cx="2255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[연도] - [구분선] - [상세내용]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1047902" y="3799245"/>
            <a:ext cx="2895905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형태의 3열 그리드여야 하고, 모바일에서는 1열로 변경되어야 해."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05333" y="4954088"/>
            <a:ext cx="3715207" cy="1298709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605333" y="4954088"/>
            <a:ext cx="38405" cy="1298709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3933" y="5132396"/>
            <a:ext cx="105156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76579" y="5125080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33933" y="5335392"/>
            <a:ext cx="325800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grid-template-columns: 1fr auto 4fr; 패턴을 사용하면 타임라인의 중심축(auto)을 기준으로 양쪽 콘텐츠 비율을 쉽게 제어할 수 있습니다.</a:t>
            </a:r>
            <a:endParaRPr lang="en-US" sz="11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45075" y="1684325"/>
            <a:ext cx="235915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(STYLE.CSS)</a:t>
            </a:r>
            <a:endParaRPr lang="en-US" sz="10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5535778" y="214152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style.css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4925873" y="2617927"/>
            <a:ext cx="216072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타임라인 그리드 레이아웃 */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6926580" y="2617927"/>
            <a:ext cx="150784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.timeline-container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8193024" y="261792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078578" y="2804465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display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5544922" y="280446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5678424" y="2804465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grid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5945429" y="280446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5078578" y="2991002"/>
            <a:ext cx="308244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연도(1fr) - 구분선(자동) - 내용(3fr) */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5078578" y="3177540"/>
            <a:ext cx="16669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grid-template-columns</a:t>
            </a:r>
            <a:endParaRPr lang="en-US" sz="1000" dirty="0"/>
          </a:p>
        </p:txBody>
      </p:sp>
      <p:sp>
        <p:nvSpPr>
          <p:cNvPr id="40" name="Text 32"/>
          <p:cNvSpPr txBox="1"/>
          <p:nvPr/>
        </p:nvSpPr>
        <p:spPr>
          <a:xfrm>
            <a:off x="6478524" y="3177540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6612026" y="3177540"/>
            <a:ext cx="9528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1fr auto 3fr</a:t>
            </a:r>
            <a:endParaRPr lang="en-US" sz="1000" dirty="0"/>
          </a:p>
        </p:txBody>
      </p:sp>
      <p:sp>
        <p:nvSpPr>
          <p:cNvPr id="42" name="Text 34"/>
          <p:cNvSpPr txBox="1"/>
          <p:nvPr/>
        </p:nvSpPr>
        <p:spPr>
          <a:xfrm>
            <a:off x="7412126" y="317754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5078578" y="3364078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gap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5278831" y="3364078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5412334" y="3364078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2rem</a:t>
            </a:r>
            <a:endParaRPr lang="en-US" sz="1000" dirty="0"/>
          </a:p>
        </p:txBody>
      </p:sp>
      <p:sp>
        <p:nvSpPr>
          <p:cNvPr id="46" name="Text 38"/>
          <p:cNvSpPr txBox="1"/>
          <p:nvPr/>
        </p:nvSpPr>
        <p:spPr>
          <a:xfrm>
            <a:off x="5678424" y="336407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5078578" y="3550615"/>
            <a:ext cx="87325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align-items</a:t>
            </a:r>
            <a:endParaRPr lang="en-US" sz="1000" dirty="0"/>
          </a:p>
        </p:txBody>
      </p:sp>
      <p:sp>
        <p:nvSpPr>
          <p:cNvPr id="48" name="Text 40"/>
          <p:cNvSpPr txBox="1"/>
          <p:nvPr/>
        </p:nvSpPr>
        <p:spPr>
          <a:xfrm>
            <a:off x="5811926" y="355061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9" name="Text 41"/>
          <p:cNvSpPr txBox="1"/>
          <p:nvPr/>
        </p:nvSpPr>
        <p:spPr>
          <a:xfrm>
            <a:off x="5945429" y="3550615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start</a:t>
            </a:r>
            <a:endParaRPr lang="en-US" sz="1000" dirty="0"/>
          </a:p>
        </p:txBody>
      </p:sp>
      <p:sp>
        <p:nvSpPr>
          <p:cNvPr id="50" name="Text 42"/>
          <p:cNvSpPr txBox="1"/>
          <p:nvPr/>
        </p:nvSpPr>
        <p:spPr>
          <a:xfrm>
            <a:off x="6279185" y="355061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51" name="Text 43"/>
          <p:cNvSpPr txBox="1"/>
          <p:nvPr/>
        </p:nvSpPr>
        <p:spPr>
          <a:xfrm>
            <a:off x="4925873" y="373715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4992624" y="3737153"/>
            <a:ext cx="214792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구분선 (Timeline Line) */</a:t>
            </a:r>
            <a:endParaRPr lang="en-US" sz="1000" dirty="0"/>
          </a:p>
        </p:txBody>
      </p:sp>
      <p:sp>
        <p:nvSpPr>
          <p:cNvPr id="53" name="Text 45"/>
          <p:cNvSpPr txBox="1"/>
          <p:nvPr/>
        </p:nvSpPr>
        <p:spPr>
          <a:xfrm>
            <a:off x="6859829" y="3737153"/>
            <a:ext cx="13496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.timeline-divider</a:t>
            </a:r>
            <a:endParaRPr lang="en-US" sz="1000" dirty="0"/>
          </a:p>
        </p:txBody>
      </p:sp>
      <p:sp>
        <p:nvSpPr>
          <p:cNvPr id="54" name="Text 46"/>
          <p:cNvSpPr txBox="1"/>
          <p:nvPr/>
        </p:nvSpPr>
        <p:spPr>
          <a:xfrm>
            <a:off x="7993685" y="373715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55" name="Text 47"/>
          <p:cNvSpPr txBox="1"/>
          <p:nvPr/>
        </p:nvSpPr>
        <p:spPr>
          <a:xfrm>
            <a:off x="5078578" y="3924605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width</a:t>
            </a:r>
            <a:endParaRPr lang="en-US" sz="1000" dirty="0"/>
          </a:p>
        </p:txBody>
      </p:sp>
      <p:sp>
        <p:nvSpPr>
          <p:cNvPr id="56" name="Text 48"/>
          <p:cNvSpPr txBox="1"/>
          <p:nvPr/>
        </p:nvSpPr>
        <p:spPr>
          <a:xfrm>
            <a:off x="5412334" y="392460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57" name="Text 49"/>
          <p:cNvSpPr txBox="1"/>
          <p:nvPr/>
        </p:nvSpPr>
        <p:spPr>
          <a:xfrm>
            <a:off x="5544922" y="3924605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2px</a:t>
            </a:r>
            <a:endParaRPr lang="en-US" sz="1000" dirty="0"/>
          </a:p>
        </p:txBody>
      </p:sp>
      <p:sp>
        <p:nvSpPr>
          <p:cNvPr id="58" name="Text 50"/>
          <p:cNvSpPr txBox="1"/>
          <p:nvPr/>
        </p:nvSpPr>
        <p:spPr>
          <a:xfrm>
            <a:off x="5745175" y="392460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59" name="Text 51"/>
          <p:cNvSpPr txBox="1"/>
          <p:nvPr/>
        </p:nvSpPr>
        <p:spPr>
          <a:xfrm>
            <a:off x="5078578" y="4111142"/>
            <a:ext cx="12701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background-color</a:t>
            </a:r>
            <a:endParaRPr lang="en-US" sz="1000" dirty="0"/>
          </a:p>
        </p:txBody>
      </p:sp>
      <p:sp>
        <p:nvSpPr>
          <p:cNvPr id="60" name="Text 52"/>
          <p:cNvSpPr txBox="1"/>
          <p:nvPr/>
        </p:nvSpPr>
        <p:spPr>
          <a:xfrm>
            <a:off x="6145682" y="4111142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61" name="Text 53"/>
          <p:cNvSpPr txBox="1"/>
          <p:nvPr/>
        </p:nvSpPr>
        <p:spPr>
          <a:xfrm>
            <a:off x="6279185" y="4111142"/>
            <a:ext cx="158739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var(--primary-color)</a:t>
            </a:r>
            <a:endParaRPr lang="en-US" sz="1000" dirty="0"/>
          </a:p>
        </p:txBody>
      </p:sp>
      <p:sp>
        <p:nvSpPr>
          <p:cNvPr id="62" name="Text 54"/>
          <p:cNvSpPr txBox="1"/>
          <p:nvPr/>
        </p:nvSpPr>
        <p:spPr>
          <a:xfrm>
            <a:off x="7612380" y="411114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63" name="Text 55"/>
          <p:cNvSpPr txBox="1"/>
          <p:nvPr/>
        </p:nvSpPr>
        <p:spPr>
          <a:xfrm>
            <a:off x="5078578" y="4297680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height</a:t>
            </a:r>
            <a:endParaRPr lang="en-US" sz="1000" dirty="0"/>
          </a:p>
        </p:txBody>
      </p:sp>
      <p:sp>
        <p:nvSpPr>
          <p:cNvPr id="64" name="Text 56"/>
          <p:cNvSpPr txBox="1"/>
          <p:nvPr/>
        </p:nvSpPr>
        <p:spPr>
          <a:xfrm>
            <a:off x="5479085" y="4297680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65" name="Text 57"/>
          <p:cNvSpPr txBox="1"/>
          <p:nvPr/>
        </p:nvSpPr>
        <p:spPr>
          <a:xfrm>
            <a:off x="5611673" y="4297680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100%</a:t>
            </a:r>
            <a:endParaRPr lang="en-US" sz="1000" dirty="0"/>
          </a:p>
        </p:txBody>
      </p:sp>
      <p:sp>
        <p:nvSpPr>
          <p:cNvPr id="66" name="Text 58"/>
          <p:cNvSpPr txBox="1"/>
          <p:nvPr/>
        </p:nvSpPr>
        <p:spPr>
          <a:xfrm>
            <a:off x="5878678" y="429768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67" name="Text 59"/>
          <p:cNvSpPr txBox="1"/>
          <p:nvPr/>
        </p:nvSpPr>
        <p:spPr>
          <a:xfrm>
            <a:off x="5078578" y="4484218"/>
            <a:ext cx="63550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position</a:t>
            </a:r>
            <a:endParaRPr lang="en-US" sz="1000" dirty="0"/>
          </a:p>
        </p:txBody>
      </p:sp>
      <p:sp>
        <p:nvSpPr>
          <p:cNvPr id="68" name="Text 60"/>
          <p:cNvSpPr txBox="1"/>
          <p:nvPr/>
        </p:nvSpPr>
        <p:spPr>
          <a:xfrm>
            <a:off x="5611673" y="4484218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69" name="Text 61"/>
          <p:cNvSpPr txBox="1"/>
          <p:nvPr/>
        </p:nvSpPr>
        <p:spPr>
          <a:xfrm>
            <a:off x="5745175" y="4484218"/>
            <a:ext cx="63550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relative</a:t>
            </a:r>
            <a:endParaRPr lang="en-US" sz="1000" dirty="0"/>
          </a:p>
        </p:txBody>
      </p:sp>
      <p:sp>
        <p:nvSpPr>
          <p:cNvPr id="70" name="Text 62"/>
          <p:cNvSpPr txBox="1"/>
          <p:nvPr/>
        </p:nvSpPr>
        <p:spPr>
          <a:xfrm>
            <a:off x="6279185" y="448421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4925873" y="467075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72" name="Text 64"/>
          <p:cNvSpPr txBox="1"/>
          <p:nvPr/>
        </p:nvSpPr>
        <p:spPr>
          <a:xfrm>
            <a:off x="4992624" y="4670755"/>
            <a:ext cx="26581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반응형: 모바일에서는 1열로 변경 */</a:t>
            </a:r>
            <a:endParaRPr lang="en-US" sz="1000" dirty="0"/>
          </a:p>
        </p:txBody>
      </p:sp>
      <p:sp>
        <p:nvSpPr>
          <p:cNvPr id="73" name="Text 65"/>
          <p:cNvSpPr txBox="1"/>
          <p:nvPr/>
        </p:nvSpPr>
        <p:spPr>
          <a:xfrm>
            <a:off x="7459675" y="4670755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@media</a:t>
            </a:r>
            <a:endParaRPr lang="en-US" sz="1000" dirty="0"/>
          </a:p>
        </p:txBody>
      </p:sp>
      <p:sp>
        <p:nvSpPr>
          <p:cNvPr id="74" name="Text 66"/>
          <p:cNvSpPr txBox="1"/>
          <p:nvPr/>
        </p:nvSpPr>
        <p:spPr>
          <a:xfrm>
            <a:off x="7860182" y="467075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1000" dirty="0"/>
          </a:p>
        </p:txBody>
      </p:sp>
      <p:sp>
        <p:nvSpPr>
          <p:cNvPr id="75" name="Text 67"/>
          <p:cNvSpPr txBox="1"/>
          <p:nvPr/>
        </p:nvSpPr>
        <p:spPr>
          <a:xfrm>
            <a:off x="7926934" y="4670755"/>
            <a:ext cx="71414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max-width</a:t>
            </a:r>
            <a:endParaRPr lang="en-US" sz="1000" dirty="0"/>
          </a:p>
        </p:txBody>
      </p:sp>
      <p:sp>
        <p:nvSpPr>
          <p:cNvPr id="76" name="Text 68"/>
          <p:cNvSpPr txBox="1"/>
          <p:nvPr/>
        </p:nvSpPr>
        <p:spPr>
          <a:xfrm>
            <a:off x="8526780" y="467075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77" name="Text 69"/>
          <p:cNvSpPr txBox="1"/>
          <p:nvPr/>
        </p:nvSpPr>
        <p:spPr>
          <a:xfrm>
            <a:off x="8660282" y="4670755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768px</a:t>
            </a:r>
            <a:endParaRPr lang="en-US" sz="1000" dirty="0"/>
          </a:p>
        </p:txBody>
      </p:sp>
      <p:sp>
        <p:nvSpPr>
          <p:cNvPr id="78" name="Text 70"/>
          <p:cNvSpPr txBox="1"/>
          <p:nvPr/>
        </p:nvSpPr>
        <p:spPr>
          <a:xfrm>
            <a:off x="8993124" y="4670755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 {</a:t>
            </a:r>
            <a:endParaRPr lang="en-US" sz="1000" dirty="0"/>
          </a:p>
        </p:txBody>
      </p:sp>
      <p:sp>
        <p:nvSpPr>
          <p:cNvPr id="79" name="Text 71"/>
          <p:cNvSpPr txBox="1"/>
          <p:nvPr/>
        </p:nvSpPr>
        <p:spPr>
          <a:xfrm>
            <a:off x="5078578" y="4857293"/>
            <a:ext cx="150784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.timeline-container</a:t>
            </a:r>
            <a:endParaRPr lang="en-US" sz="1000" dirty="0"/>
          </a:p>
        </p:txBody>
      </p:sp>
      <p:sp>
        <p:nvSpPr>
          <p:cNvPr id="80" name="Text 72"/>
          <p:cNvSpPr txBox="1"/>
          <p:nvPr/>
        </p:nvSpPr>
        <p:spPr>
          <a:xfrm>
            <a:off x="6345022" y="485729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81" name="Text 73"/>
          <p:cNvSpPr txBox="1"/>
          <p:nvPr/>
        </p:nvSpPr>
        <p:spPr>
          <a:xfrm>
            <a:off x="5231282" y="5043830"/>
            <a:ext cx="16669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grid-template-columns</a:t>
            </a:r>
            <a:endParaRPr lang="en-US" sz="1000" dirty="0"/>
          </a:p>
        </p:txBody>
      </p:sp>
      <p:sp>
        <p:nvSpPr>
          <p:cNvPr id="82" name="Text 74"/>
          <p:cNvSpPr txBox="1"/>
          <p:nvPr/>
        </p:nvSpPr>
        <p:spPr>
          <a:xfrm>
            <a:off x="6631229" y="5043830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83" name="Text 75"/>
          <p:cNvSpPr txBox="1"/>
          <p:nvPr/>
        </p:nvSpPr>
        <p:spPr>
          <a:xfrm>
            <a:off x="6764731" y="5043830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1fr</a:t>
            </a:r>
            <a:endParaRPr lang="en-US" sz="1000" dirty="0"/>
          </a:p>
        </p:txBody>
      </p:sp>
      <p:sp>
        <p:nvSpPr>
          <p:cNvPr id="84" name="Text 76"/>
          <p:cNvSpPr txBox="1"/>
          <p:nvPr/>
        </p:nvSpPr>
        <p:spPr>
          <a:xfrm>
            <a:off x="6964985" y="504383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85" name="Text 77"/>
          <p:cNvSpPr txBox="1"/>
          <p:nvPr/>
        </p:nvSpPr>
        <p:spPr>
          <a:xfrm>
            <a:off x="5231282" y="5230368"/>
            <a:ext cx="9528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padding-left</a:t>
            </a:r>
            <a:endParaRPr lang="en-US" sz="1000" dirty="0"/>
          </a:p>
        </p:txBody>
      </p:sp>
      <p:sp>
        <p:nvSpPr>
          <p:cNvPr id="86" name="Text 78"/>
          <p:cNvSpPr txBox="1"/>
          <p:nvPr/>
        </p:nvSpPr>
        <p:spPr>
          <a:xfrm>
            <a:off x="6031382" y="5230368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87" name="Text 79"/>
          <p:cNvSpPr txBox="1"/>
          <p:nvPr/>
        </p:nvSpPr>
        <p:spPr>
          <a:xfrm>
            <a:off x="6164885" y="5230368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1.5rem</a:t>
            </a:r>
            <a:endParaRPr lang="en-US" sz="1000" dirty="0"/>
          </a:p>
        </p:txBody>
      </p:sp>
      <p:sp>
        <p:nvSpPr>
          <p:cNvPr id="88" name="Text 80"/>
          <p:cNvSpPr txBox="1"/>
          <p:nvPr/>
        </p:nvSpPr>
        <p:spPr>
          <a:xfrm>
            <a:off x="6564478" y="523036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89" name="Text 81"/>
          <p:cNvSpPr txBox="1"/>
          <p:nvPr/>
        </p:nvSpPr>
        <p:spPr>
          <a:xfrm>
            <a:off x="5231282" y="5416906"/>
            <a:ext cx="87325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border-left</a:t>
            </a:r>
            <a:endParaRPr lang="en-US" sz="1000" dirty="0"/>
          </a:p>
        </p:txBody>
      </p:sp>
      <p:sp>
        <p:nvSpPr>
          <p:cNvPr id="90" name="Text 82"/>
          <p:cNvSpPr txBox="1"/>
          <p:nvPr/>
        </p:nvSpPr>
        <p:spPr>
          <a:xfrm>
            <a:off x="5964631" y="5416906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91" name="Text 83"/>
          <p:cNvSpPr txBox="1"/>
          <p:nvPr/>
        </p:nvSpPr>
        <p:spPr>
          <a:xfrm>
            <a:off x="6098134" y="5416906"/>
            <a:ext cx="238109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2px solid var(--primary-color)</a:t>
            </a:r>
            <a:endParaRPr lang="en-US" sz="1000" dirty="0"/>
          </a:p>
        </p:txBody>
      </p:sp>
      <p:sp>
        <p:nvSpPr>
          <p:cNvPr id="92" name="Text 84"/>
          <p:cNvSpPr txBox="1"/>
          <p:nvPr/>
        </p:nvSpPr>
        <p:spPr>
          <a:xfrm>
            <a:off x="8097926" y="541690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93" name="Text 85"/>
          <p:cNvSpPr txBox="1"/>
          <p:nvPr/>
        </p:nvSpPr>
        <p:spPr>
          <a:xfrm>
            <a:off x="5078578" y="560344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94" name="Text 86"/>
          <p:cNvSpPr txBox="1"/>
          <p:nvPr/>
        </p:nvSpPr>
        <p:spPr>
          <a:xfrm>
            <a:off x="5078578" y="5790895"/>
            <a:ext cx="13496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.timeline-divider</a:t>
            </a:r>
            <a:endParaRPr lang="en-US" sz="1000" dirty="0"/>
          </a:p>
        </p:txBody>
      </p:sp>
      <p:sp>
        <p:nvSpPr>
          <p:cNvPr id="95" name="Text 87"/>
          <p:cNvSpPr txBox="1"/>
          <p:nvPr/>
        </p:nvSpPr>
        <p:spPr>
          <a:xfrm>
            <a:off x="6212434" y="579089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96" name="Text 88"/>
          <p:cNvSpPr txBox="1"/>
          <p:nvPr/>
        </p:nvSpPr>
        <p:spPr>
          <a:xfrm>
            <a:off x="6279185" y="5790895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display</a:t>
            </a:r>
            <a:endParaRPr lang="en-US" sz="1000" dirty="0"/>
          </a:p>
        </p:txBody>
      </p:sp>
      <p:sp>
        <p:nvSpPr>
          <p:cNvPr id="97" name="Text 89"/>
          <p:cNvSpPr txBox="1"/>
          <p:nvPr/>
        </p:nvSpPr>
        <p:spPr>
          <a:xfrm>
            <a:off x="6745529" y="579089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98" name="Text 90"/>
          <p:cNvSpPr txBox="1"/>
          <p:nvPr/>
        </p:nvSpPr>
        <p:spPr>
          <a:xfrm>
            <a:off x="6879031" y="5790895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none</a:t>
            </a:r>
            <a:endParaRPr lang="en-US" sz="1000" dirty="0"/>
          </a:p>
        </p:txBody>
      </p:sp>
      <p:sp>
        <p:nvSpPr>
          <p:cNvPr id="99" name="Text 91"/>
          <p:cNvSpPr txBox="1"/>
          <p:nvPr/>
        </p:nvSpPr>
        <p:spPr>
          <a:xfrm>
            <a:off x="7145122" y="5790895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 }</a:t>
            </a:r>
            <a:endParaRPr lang="en-US" sz="1000" dirty="0"/>
          </a:p>
        </p:txBody>
      </p:sp>
      <p:sp>
        <p:nvSpPr>
          <p:cNvPr id="100" name="Text 92"/>
          <p:cNvSpPr txBox="1"/>
          <p:nvPr/>
        </p:nvSpPr>
        <p:spPr>
          <a:xfrm>
            <a:off x="4925873" y="597743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10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951B2-FB7D-E9C3-E6B1-4946BE581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8CC7289D-E2AB-9B26-7A75-EF20E831B1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609905" y="1419149"/>
            <a:ext cx="571500" cy="38405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558F22E2-342A-467B-FE7E-6752DF331985}"/>
              </a:ext>
            </a:extLst>
          </p:cNvPr>
          <p:cNvSpPr txBox="1"/>
          <p:nvPr/>
        </p:nvSpPr>
        <p:spPr>
          <a:xfrm>
            <a:off x="609905" y="1686154"/>
            <a:ext cx="11144707" cy="1886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클로드코드와 제미나이를</a:t>
            </a:r>
            <a:endParaRPr lang="en-US" sz="4500" dirty="0"/>
          </a:p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이용한 바이브코딩</a:t>
            </a:r>
            <a:endParaRPr lang="en-US" sz="4500" dirty="0"/>
          </a:p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포트폴리오 배포 </a:t>
            </a:r>
            <a:endParaRPr lang="en-US" sz="4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49DFDBD-CF22-D13A-9745-4FCA169E1BAC}"/>
              </a:ext>
            </a:extLst>
          </p:cNvPr>
          <p:cNvSpPr txBox="1"/>
          <p:nvPr/>
        </p:nvSpPr>
        <p:spPr>
          <a:xfrm>
            <a:off x="727772" y="4491500"/>
            <a:ext cx="368663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AI와 함께하는 초고속 웹 개발 마스터 클래스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환경 설정부터 GitHub Pages 실전 배포까지 </a:t>
            </a:r>
            <a:endParaRPr lang="en-US" sz="1500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96EEAB76-DBDA-D63A-9DD0-207FEB2A15FB}"/>
              </a:ext>
            </a:extLst>
          </p:cNvPr>
          <p:cNvGrpSpPr/>
          <p:nvPr/>
        </p:nvGrpSpPr>
        <p:grpSpPr>
          <a:xfrm>
            <a:off x="4778653" y="5283206"/>
            <a:ext cx="2968317" cy="631851"/>
            <a:chOff x="609905" y="5558463"/>
            <a:chExt cx="2968317" cy="631851"/>
          </a:xfrm>
        </p:grpSpPr>
        <p:sp>
          <p:nvSpPr>
            <p:cNvPr id="10" name="Text 9">
              <a:extLst>
                <a:ext uri="{FF2B5EF4-FFF2-40B4-BE49-F238E27FC236}">
                  <a16:creationId xmlns:a16="http://schemas.microsoft.com/office/drawing/2014/main" id="{9D65B069-D5C1-87AD-0659-226C54D57E94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1" name="Shape 10">
              <a:extLst>
                <a:ext uri="{FF2B5EF4-FFF2-40B4-BE49-F238E27FC236}">
                  <a16:creationId xmlns:a16="http://schemas.microsoft.com/office/drawing/2014/main" id="{53F1D3D2-4DDD-2D8F-6DAE-CD9BC76FDCE1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F67B6CB2-FA5A-D2AE-7F04-C5CDFAE5D12A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애 본 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aebon@hs.ac.kr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한신대학교 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AI.SW</a:t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13" name="Shape 12">
            <a:extLst>
              <a:ext uri="{FF2B5EF4-FFF2-40B4-BE49-F238E27FC236}">
                <a16:creationId xmlns:a16="http://schemas.microsoft.com/office/drawing/2014/main" id="{5588A472-F0E3-12D1-E7FE-4B0FEB74FD94}"/>
              </a:ext>
            </a:extLst>
          </p:cNvPr>
          <p:cNvSpPr/>
          <p:nvPr/>
        </p:nvSpPr>
        <p:spPr>
          <a:xfrm>
            <a:off x="9114137" y="469479"/>
            <a:ext cx="2609698" cy="457200"/>
          </a:xfrm>
          <a:prstGeom prst="roundRect">
            <a:avLst>
              <a:gd name="adj" fmla="val 1250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6835A04B-6446-8E92-EBBF-EC674B933F08}"/>
              </a:ext>
            </a:extLst>
          </p:cNvPr>
          <p:cNvSpPr txBox="1"/>
          <p:nvPr/>
        </p:nvSpPr>
        <p:spPr>
          <a:xfrm>
            <a:off x="9399430" y="592923"/>
            <a:ext cx="22549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UNIVERSITY STUDENTS</a:t>
            </a:r>
            <a:endParaRPr lang="en-US" sz="1200" dirty="0"/>
          </a:p>
        </p:txBody>
      </p:sp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F6960DA7-CFB4-4A32-487D-AAEEB490A9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061" r="24061"/>
          <a:stretch/>
        </p:blipFill>
        <p:spPr>
          <a:xfrm>
            <a:off x="8111216" y="1500013"/>
            <a:ext cx="3612619" cy="4639530"/>
          </a:xfrm>
          <a:prstGeom prst="rect">
            <a:avLst/>
          </a:prstGeom>
        </p:spPr>
      </p:pic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16620420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2419502" cy="314554"/>
          </a:xfrm>
          <a:prstGeom prst="roundRect">
            <a:avLst>
              <a:gd name="adj" fmla="val 52854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24205" y="533095"/>
            <a:ext cx="235640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DETAILED IMPLEMENTATION 02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86054"/>
            <a:ext cx="566745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Hover 모션 최적화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422806"/>
            <a:ext cx="61630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Reflow를 유발하는 속성 대신 Composite 레이어 속성 활용으로 60fps 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905" y="1985162"/>
            <a:ext cx="5333695" cy="3476549"/>
          </a:xfrm>
          <a:prstGeom prst="roundRect">
            <a:avLst>
              <a:gd name="adj" fmla="val 14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2413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19049" y="1994306"/>
            <a:ext cx="5315407" cy="466344"/>
          </a:xfrm>
          <a:prstGeom prst="roundRect">
            <a:avLst>
              <a:gd name="adj" fmla="val 80032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19049" y="2451506"/>
            <a:ext cx="5315407" cy="9144"/>
          </a:xfrm>
          <a:prstGeom prst="roundRect">
            <a:avLst>
              <a:gd name="adj" fmla="val 4081633"/>
            </a:avLst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847649" y="2137867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57216" y="2132381"/>
            <a:ext cx="552298" cy="181051"/>
          </a:xfrm>
          <a:prstGeom prst="roundRect">
            <a:avLst>
              <a:gd name="adj" fmla="val 106327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5213909" y="2170786"/>
            <a:ext cx="5148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LOW FPS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9049" y="2461565"/>
            <a:ext cx="5315407" cy="1333195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19049" y="3785616"/>
            <a:ext cx="53154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704795" y="2694737"/>
            <a:ext cx="1143000" cy="761695"/>
          </a:xfrm>
          <a:prstGeom prst="roundRect">
            <a:avLst>
              <a:gd name="adj" fmla="val 12005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61995" y="2923337"/>
            <a:ext cx="228600" cy="228600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-226" r="-226"/>
          <a:stretch/>
        </p:blipFill>
        <p:spPr>
          <a:xfrm>
            <a:off x="2971800" y="3151937"/>
            <a:ext cx="609905" cy="7589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14146" y="2556662"/>
            <a:ext cx="914400" cy="200254"/>
          </a:xfrm>
          <a:prstGeom prst="roundRect">
            <a:avLst>
              <a:gd name="adj" fmla="val 86975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771754" y="2604211"/>
            <a:ext cx="952805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Thrashing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619049" y="3794760"/>
            <a:ext cx="5315407" cy="1657807"/>
          </a:xfrm>
          <a:prstGeom prst="roundRect">
            <a:avLst>
              <a:gd name="adj" fmla="val 6340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847649" y="3984955"/>
            <a:ext cx="8924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.project-card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1591056" y="398495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1000354" y="4099255"/>
            <a:ext cx="686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transition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571854" y="409925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1629461" y="4099255"/>
            <a:ext cx="549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all 0.2s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2086661" y="409925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847649" y="421355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847649" y="4442155"/>
            <a:ext cx="13039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.project-card:hover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1933956" y="444215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1000354" y="4556455"/>
            <a:ext cx="217810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Bad: 주변 요소 레이아웃에 영향 */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1000354" y="4689958"/>
            <a:ext cx="686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margin-top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1571854" y="468995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1629461" y="4689958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-10px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1914754" y="468995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1000354" y="4804258"/>
            <a:ext cx="3721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width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1285646" y="480425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1343254" y="4804258"/>
            <a:ext cx="314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102%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1571854" y="480425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40" name="Text 36"/>
          <p:cNvSpPr txBox="1"/>
          <p:nvPr/>
        </p:nvSpPr>
        <p:spPr>
          <a:xfrm>
            <a:off x="1000354" y="4918558"/>
            <a:ext cx="166695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Bad: 비용이 높은 속성 */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1000354" y="5052060"/>
            <a:ext cx="686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box-shadow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1571854" y="505206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900" dirty="0"/>
          </a:p>
        </p:txBody>
      </p:sp>
      <p:sp>
        <p:nvSpPr>
          <p:cNvPr id="43" name="Text 39"/>
          <p:cNvSpPr txBox="1"/>
          <p:nvPr/>
        </p:nvSpPr>
        <p:spPr>
          <a:xfrm>
            <a:off x="1629461" y="5052060"/>
            <a:ext cx="178033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0 5px 15px rgba(0,0,0,0.2)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3115361" y="505206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847649" y="5166360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6248095" y="1985162"/>
            <a:ext cx="5333695" cy="3476549"/>
          </a:xfrm>
          <a:prstGeom prst="roundRect">
            <a:avLst>
              <a:gd name="adj" fmla="val 14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2413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3"/>
          <p:cNvSpPr/>
          <p:nvPr/>
        </p:nvSpPr>
        <p:spPr>
          <a:xfrm>
            <a:off x="6258154" y="1994306"/>
            <a:ext cx="5315407" cy="466344"/>
          </a:xfrm>
          <a:prstGeom prst="roundRect">
            <a:avLst>
              <a:gd name="adj" fmla="val 80032"/>
            </a:avLst>
          </a:prstGeom>
          <a:solidFill>
            <a:srgbClr val="FFF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4"/>
          <p:cNvSpPr/>
          <p:nvPr/>
        </p:nvSpPr>
        <p:spPr>
          <a:xfrm>
            <a:off x="6258154" y="2451506"/>
            <a:ext cx="5315407" cy="9144"/>
          </a:xfrm>
          <a:prstGeom prst="roundRect">
            <a:avLst>
              <a:gd name="adj" fmla="val 4081633"/>
            </a:avLst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5"/>
          <p:cNvSpPr txBox="1"/>
          <p:nvPr/>
        </p:nvSpPr>
        <p:spPr>
          <a:xfrm>
            <a:off x="6486754" y="2137867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10287914" y="2132381"/>
            <a:ext cx="1057046" cy="181051"/>
          </a:xfrm>
          <a:prstGeom prst="roundRect">
            <a:avLst>
              <a:gd name="adj" fmla="val 106327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7"/>
          <p:cNvSpPr txBox="1"/>
          <p:nvPr/>
        </p:nvSpPr>
        <p:spPr>
          <a:xfrm>
            <a:off x="10344607" y="2170786"/>
            <a:ext cx="10195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GPU ACCELERATED</a:t>
            </a:r>
            <a:endParaRPr lang="en-US" sz="800" dirty="0"/>
          </a:p>
        </p:txBody>
      </p:sp>
      <p:sp>
        <p:nvSpPr>
          <p:cNvPr id="52" name="Shape 48"/>
          <p:cNvSpPr/>
          <p:nvPr/>
        </p:nvSpPr>
        <p:spPr>
          <a:xfrm>
            <a:off x="6258154" y="2461565"/>
            <a:ext cx="5315407" cy="1333195"/>
          </a:xfrm>
          <a:prstGeom prst="rect">
            <a:avLst/>
          </a:prstGeom>
          <a:solidFill>
            <a:srgbClr val="FAFA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9"/>
          <p:cNvSpPr/>
          <p:nvPr/>
        </p:nvSpPr>
        <p:spPr>
          <a:xfrm>
            <a:off x="6258154" y="3785616"/>
            <a:ext cx="53154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4" name="Image 2" descr="preencoded.png"/>
          <p:cNvPicPr>
            <a:picLocks noChangeAspect="1"/>
          </p:cNvPicPr>
          <p:nvPr/>
        </p:nvPicPr>
        <p:blipFill>
          <a:blip r:embed="rId5"/>
          <a:srcRect l="-20" r="-20"/>
          <a:stretch/>
        </p:blipFill>
        <p:spPr>
          <a:xfrm>
            <a:off x="8343900" y="2666390"/>
            <a:ext cx="1143000" cy="761695"/>
          </a:xfrm>
          <a:prstGeom prst="rect">
            <a:avLst/>
          </a:prstGeom>
        </p:spPr>
      </p:pic>
      <p:pic>
        <p:nvPicPr>
          <p:cNvPr id="5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801100" y="2894990"/>
            <a:ext cx="228600" cy="228600"/>
          </a:xfrm>
          <a:prstGeom prst="rect">
            <a:avLst/>
          </a:prstGeom>
        </p:spPr>
      </p:pic>
      <p:pic>
        <p:nvPicPr>
          <p:cNvPr id="56" name="Image 4" descr="preencoded.png"/>
          <p:cNvPicPr>
            <a:picLocks noChangeAspect="1"/>
          </p:cNvPicPr>
          <p:nvPr/>
        </p:nvPicPr>
        <p:blipFill>
          <a:blip r:embed="rId4"/>
          <a:srcRect l="-226" r="-226"/>
          <a:stretch/>
        </p:blipFill>
        <p:spPr>
          <a:xfrm>
            <a:off x="8610905" y="3123590"/>
            <a:ext cx="609905" cy="75895"/>
          </a:xfrm>
          <a:prstGeom prst="rect">
            <a:avLst/>
          </a:prstGeom>
        </p:spPr>
      </p:pic>
      <p:sp>
        <p:nvSpPr>
          <p:cNvPr id="57" name="Shape 50"/>
          <p:cNvSpPr/>
          <p:nvPr/>
        </p:nvSpPr>
        <p:spPr>
          <a:xfrm>
            <a:off x="6353251" y="2556662"/>
            <a:ext cx="847649" cy="200254"/>
          </a:xfrm>
          <a:prstGeom prst="roundRect">
            <a:avLst>
              <a:gd name="adj" fmla="val 86975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1"/>
          <p:cNvSpPr txBox="1"/>
          <p:nvPr/>
        </p:nvSpPr>
        <p:spPr>
          <a:xfrm>
            <a:off x="6409944" y="2604211"/>
            <a:ext cx="85679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Composite Only</a:t>
            </a:r>
            <a:endParaRPr lang="en-US" sz="800" dirty="0"/>
          </a:p>
        </p:txBody>
      </p:sp>
      <p:sp>
        <p:nvSpPr>
          <p:cNvPr id="59" name="Shape 52"/>
          <p:cNvSpPr/>
          <p:nvPr/>
        </p:nvSpPr>
        <p:spPr>
          <a:xfrm>
            <a:off x="6258154" y="3794760"/>
            <a:ext cx="5315407" cy="1657807"/>
          </a:xfrm>
          <a:prstGeom prst="roundRect">
            <a:avLst>
              <a:gd name="adj" fmla="val 6340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3"/>
          <p:cNvSpPr txBox="1"/>
          <p:nvPr/>
        </p:nvSpPr>
        <p:spPr>
          <a:xfrm>
            <a:off x="6486754" y="3984955"/>
            <a:ext cx="8924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.project-card</a:t>
            </a:r>
            <a:endParaRPr lang="en-US" sz="900" dirty="0"/>
          </a:p>
        </p:txBody>
      </p:sp>
      <p:sp>
        <p:nvSpPr>
          <p:cNvPr id="61" name="Text 54"/>
          <p:cNvSpPr txBox="1"/>
          <p:nvPr/>
        </p:nvSpPr>
        <p:spPr>
          <a:xfrm>
            <a:off x="7229246" y="398495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62" name="Text 55"/>
          <p:cNvSpPr txBox="1"/>
          <p:nvPr/>
        </p:nvSpPr>
        <p:spPr>
          <a:xfrm>
            <a:off x="6638544" y="4099255"/>
            <a:ext cx="12289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성능 힌트 제공 */</a:t>
            </a:r>
            <a:endParaRPr lang="en-US" sz="900" dirty="0"/>
          </a:p>
        </p:txBody>
      </p:sp>
      <p:sp>
        <p:nvSpPr>
          <p:cNvPr id="63" name="Text 56"/>
          <p:cNvSpPr txBox="1"/>
          <p:nvPr/>
        </p:nvSpPr>
        <p:spPr>
          <a:xfrm>
            <a:off x="6638544" y="4232758"/>
            <a:ext cx="7552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will-change</a:t>
            </a:r>
            <a:endParaRPr lang="en-US" sz="900" dirty="0"/>
          </a:p>
        </p:txBody>
      </p:sp>
      <p:sp>
        <p:nvSpPr>
          <p:cNvPr id="64" name="Text 57"/>
          <p:cNvSpPr txBox="1"/>
          <p:nvPr/>
        </p:nvSpPr>
        <p:spPr>
          <a:xfrm>
            <a:off x="7267651" y="423275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900" dirty="0"/>
          </a:p>
        </p:txBody>
      </p:sp>
      <p:sp>
        <p:nvSpPr>
          <p:cNvPr id="65" name="Text 58"/>
          <p:cNvSpPr txBox="1"/>
          <p:nvPr/>
        </p:nvSpPr>
        <p:spPr>
          <a:xfrm>
            <a:off x="7325258" y="4232758"/>
            <a:ext cx="6181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transform</a:t>
            </a:r>
            <a:endParaRPr lang="en-US" sz="900" dirty="0"/>
          </a:p>
        </p:txBody>
      </p:sp>
      <p:sp>
        <p:nvSpPr>
          <p:cNvPr id="66" name="Text 59"/>
          <p:cNvSpPr txBox="1"/>
          <p:nvPr/>
        </p:nvSpPr>
        <p:spPr>
          <a:xfrm>
            <a:off x="7839151" y="423275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67" name="Text 60"/>
          <p:cNvSpPr txBox="1"/>
          <p:nvPr/>
        </p:nvSpPr>
        <p:spPr>
          <a:xfrm>
            <a:off x="6638544" y="4347058"/>
            <a:ext cx="686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transition</a:t>
            </a:r>
            <a:endParaRPr lang="en-US" sz="900" dirty="0"/>
          </a:p>
        </p:txBody>
      </p:sp>
      <p:sp>
        <p:nvSpPr>
          <p:cNvPr id="68" name="Text 61"/>
          <p:cNvSpPr txBox="1"/>
          <p:nvPr/>
        </p:nvSpPr>
        <p:spPr>
          <a:xfrm>
            <a:off x="7210958" y="434705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900" dirty="0"/>
          </a:p>
        </p:txBody>
      </p:sp>
      <p:sp>
        <p:nvSpPr>
          <p:cNvPr id="69" name="Text 62"/>
          <p:cNvSpPr txBox="1"/>
          <p:nvPr/>
        </p:nvSpPr>
        <p:spPr>
          <a:xfrm>
            <a:off x="7267651" y="4347058"/>
            <a:ext cx="15764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transform 0.3s ease-out</a:t>
            </a:r>
            <a:endParaRPr lang="en-US" sz="900" dirty="0"/>
          </a:p>
        </p:txBody>
      </p:sp>
      <p:sp>
        <p:nvSpPr>
          <p:cNvPr id="70" name="Text 63"/>
          <p:cNvSpPr txBox="1"/>
          <p:nvPr/>
        </p:nvSpPr>
        <p:spPr>
          <a:xfrm>
            <a:off x="8582558" y="434705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71" name="Text 64"/>
          <p:cNvSpPr txBox="1"/>
          <p:nvPr/>
        </p:nvSpPr>
        <p:spPr>
          <a:xfrm>
            <a:off x="6486754" y="446135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72" name="Text 65"/>
          <p:cNvSpPr txBox="1"/>
          <p:nvPr/>
        </p:nvSpPr>
        <p:spPr>
          <a:xfrm>
            <a:off x="6486754" y="4689958"/>
            <a:ext cx="13039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.project-card:hover</a:t>
            </a:r>
            <a:endParaRPr lang="en-US" sz="900" dirty="0"/>
          </a:p>
        </p:txBody>
      </p:sp>
      <p:sp>
        <p:nvSpPr>
          <p:cNvPr id="73" name="Text 66"/>
          <p:cNvSpPr txBox="1"/>
          <p:nvPr/>
        </p:nvSpPr>
        <p:spPr>
          <a:xfrm>
            <a:off x="7572146" y="4689958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900" dirty="0"/>
          </a:p>
        </p:txBody>
      </p:sp>
      <p:sp>
        <p:nvSpPr>
          <p:cNvPr id="74" name="Shape 67"/>
          <p:cNvSpPr/>
          <p:nvPr/>
        </p:nvSpPr>
        <p:spPr>
          <a:xfrm>
            <a:off x="6409944" y="4804258"/>
            <a:ext cx="5162702" cy="323698"/>
          </a:xfrm>
          <a:prstGeom prst="rect">
            <a:avLst/>
          </a:prstGeom>
          <a:solidFill>
            <a:srgbClr val="FF690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68"/>
          <p:cNvSpPr/>
          <p:nvPr/>
        </p:nvSpPr>
        <p:spPr>
          <a:xfrm>
            <a:off x="6409944" y="4804258"/>
            <a:ext cx="19202" cy="323698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69"/>
          <p:cNvSpPr txBox="1"/>
          <p:nvPr/>
        </p:nvSpPr>
        <p:spPr>
          <a:xfrm>
            <a:off x="6657746" y="4842662"/>
            <a:ext cx="242590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GPU 가속 활용 (레이아웃 영향 없음) */</a:t>
            </a:r>
            <a:endParaRPr lang="en-US" sz="900" dirty="0"/>
          </a:p>
        </p:txBody>
      </p:sp>
      <p:sp>
        <p:nvSpPr>
          <p:cNvPr id="77" name="Text 70"/>
          <p:cNvSpPr txBox="1"/>
          <p:nvPr/>
        </p:nvSpPr>
        <p:spPr>
          <a:xfrm>
            <a:off x="6657746" y="4976165"/>
            <a:ext cx="6181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transform</a:t>
            </a:r>
            <a:endParaRPr lang="en-US" sz="900" dirty="0"/>
          </a:p>
        </p:txBody>
      </p:sp>
      <p:sp>
        <p:nvSpPr>
          <p:cNvPr id="78" name="Text 71"/>
          <p:cNvSpPr txBox="1"/>
          <p:nvPr/>
        </p:nvSpPr>
        <p:spPr>
          <a:xfrm>
            <a:off x="7172554" y="497616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900" dirty="0"/>
          </a:p>
        </p:txBody>
      </p:sp>
      <p:sp>
        <p:nvSpPr>
          <p:cNvPr id="79" name="Text 72"/>
          <p:cNvSpPr txBox="1"/>
          <p:nvPr/>
        </p:nvSpPr>
        <p:spPr>
          <a:xfrm>
            <a:off x="7230161" y="4976165"/>
            <a:ext cx="686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translateY</a:t>
            </a:r>
            <a:endParaRPr lang="en-US" sz="900" dirty="0"/>
          </a:p>
        </p:txBody>
      </p:sp>
      <p:sp>
        <p:nvSpPr>
          <p:cNvPr id="80" name="Text 73"/>
          <p:cNvSpPr txBox="1"/>
          <p:nvPr/>
        </p:nvSpPr>
        <p:spPr>
          <a:xfrm>
            <a:off x="7801661" y="497616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900" dirty="0"/>
          </a:p>
        </p:txBody>
      </p:sp>
      <p:sp>
        <p:nvSpPr>
          <p:cNvPr id="81" name="Text 74"/>
          <p:cNvSpPr txBox="1"/>
          <p:nvPr/>
        </p:nvSpPr>
        <p:spPr>
          <a:xfrm>
            <a:off x="7858354" y="4976165"/>
            <a:ext cx="3145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-8px</a:t>
            </a:r>
            <a:endParaRPr lang="en-US" sz="900" dirty="0"/>
          </a:p>
        </p:txBody>
      </p:sp>
      <p:sp>
        <p:nvSpPr>
          <p:cNvPr id="82" name="Text 75"/>
          <p:cNvSpPr txBox="1"/>
          <p:nvPr/>
        </p:nvSpPr>
        <p:spPr>
          <a:xfrm>
            <a:off x="8087868" y="497616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900" dirty="0"/>
          </a:p>
        </p:txBody>
      </p:sp>
      <p:sp>
        <p:nvSpPr>
          <p:cNvPr id="83" name="Text 76"/>
          <p:cNvSpPr txBox="1"/>
          <p:nvPr/>
        </p:nvSpPr>
        <p:spPr>
          <a:xfrm>
            <a:off x="8144561" y="497616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84" name="Text 77"/>
          <p:cNvSpPr txBox="1"/>
          <p:nvPr/>
        </p:nvSpPr>
        <p:spPr>
          <a:xfrm>
            <a:off x="6638544" y="5127955"/>
            <a:ext cx="686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box-shadow</a:t>
            </a:r>
            <a:endParaRPr lang="en-US" sz="900" dirty="0"/>
          </a:p>
        </p:txBody>
      </p:sp>
      <p:sp>
        <p:nvSpPr>
          <p:cNvPr id="85" name="Text 78"/>
          <p:cNvSpPr txBox="1"/>
          <p:nvPr/>
        </p:nvSpPr>
        <p:spPr>
          <a:xfrm>
            <a:off x="7210958" y="512795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900" dirty="0"/>
          </a:p>
        </p:txBody>
      </p:sp>
      <p:sp>
        <p:nvSpPr>
          <p:cNvPr id="86" name="Text 79"/>
          <p:cNvSpPr txBox="1"/>
          <p:nvPr/>
        </p:nvSpPr>
        <p:spPr>
          <a:xfrm>
            <a:off x="7267651" y="5127955"/>
            <a:ext cx="191566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0 12px 24px rgba(0,0,0,0.15)</a:t>
            </a:r>
            <a:endParaRPr lang="en-US" sz="900" dirty="0"/>
          </a:p>
        </p:txBody>
      </p:sp>
      <p:sp>
        <p:nvSpPr>
          <p:cNvPr id="87" name="Text 80"/>
          <p:cNvSpPr txBox="1"/>
          <p:nvPr/>
        </p:nvSpPr>
        <p:spPr>
          <a:xfrm>
            <a:off x="8867851" y="512795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900" dirty="0"/>
          </a:p>
        </p:txBody>
      </p:sp>
      <p:sp>
        <p:nvSpPr>
          <p:cNvPr id="88" name="Text 81"/>
          <p:cNvSpPr txBox="1"/>
          <p:nvPr/>
        </p:nvSpPr>
        <p:spPr>
          <a:xfrm>
            <a:off x="6486754" y="5242255"/>
            <a:ext cx="1435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900" dirty="0"/>
          </a:p>
        </p:txBody>
      </p:sp>
      <p:sp>
        <p:nvSpPr>
          <p:cNvPr id="89" name="Shape 82"/>
          <p:cNvSpPr/>
          <p:nvPr/>
        </p:nvSpPr>
        <p:spPr>
          <a:xfrm>
            <a:off x="609905" y="5648249"/>
            <a:ext cx="10972800" cy="752551"/>
          </a:xfrm>
          <a:prstGeom prst="roundRect">
            <a:avLst>
              <a:gd name="adj" fmla="val 1845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0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71754" y="5896051"/>
            <a:ext cx="152705" cy="152705"/>
          </a:xfrm>
          <a:prstGeom prst="rect">
            <a:avLst/>
          </a:prstGeom>
        </p:spPr>
      </p:pic>
      <p:sp>
        <p:nvSpPr>
          <p:cNvPr id="91" name="Text 83"/>
          <p:cNvSpPr txBox="1"/>
          <p:nvPr/>
        </p:nvSpPr>
        <p:spPr>
          <a:xfrm>
            <a:off x="1037844" y="5810098"/>
            <a:ext cx="101352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TIP: will-change 사용 시 주의사항</a:t>
            </a:r>
            <a:endParaRPr lang="en-US" sz="1100" dirty="0"/>
          </a:p>
        </p:txBody>
      </p:sp>
      <p:sp>
        <p:nvSpPr>
          <p:cNvPr id="92" name="Text 84"/>
          <p:cNvSpPr txBox="1"/>
          <p:nvPr/>
        </p:nvSpPr>
        <p:spPr>
          <a:xfrm>
            <a:off x="1037844" y="6038698"/>
            <a:ext cx="11600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F4444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will-change: all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같이 남용하면 메모리 사용량이 급증할 수 있습니다. 애니메이션이 적용되는 요소에만 제한적으로 사용하고, 애니메이션이 끝나면 제거하는 것이 이상적입니다.</a:t>
            </a:r>
            <a:endParaRPr lang="en-US" sz="1100" dirty="0"/>
          </a:p>
        </p:txBody>
      </p:sp>
      <p:pic>
        <p:nvPicPr>
          <p:cNvPr id="9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05195" y="3530498"/>
            <a:ext cx="381305" cy="381305"/>
          </a:xfrm>
          <a:prstGeom prst="rect">
            <a:avLst/>
          </a:prstGeom>
        </p:spPr>
      </p:pic>
      <p:pic>
        <p:nvPicPr>
          <p:cNvPr id="94" name="Image 7" descr="preencoded.png"/>
          <p:cNvPicPr>
            <a:picLocks noChangeAspect="1"/>
          </p:cNvPicPr>
          <p:nvPr/>
        </p:nvPicPr>
        <p:blipFill>
          <a:blip r:embed="rId9"/>
          <a:srcRect l="-760" r="-760"/>
          <a:stretch/>
        </p:blipFill>
        <p:spPr>
          <a:xfrm>
            <a:off x="6019495" y="3635654"/>
            <a:ext cx="152705" cy="171907"/>
          </a:xfrm>
          <a:prstGeom prst="rect">
            <a:avLst/>
          </a:prstGeom>
        </p:spPr>
      </p:pic>
      <p:sp>
        <p:nvSpPr>
          <p:cNvPr id="9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32863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IMPLEMENTATION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671992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구현3 : 태그 필터 칩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724210"/>
            <a:ext cx="3715207" cy="3390029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744012" y="1876348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39109" y="1962302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6" r="-6"/>
          <a:stretch/>
        </p:blipFill>
        <p:spPr>
          <a:xfrm>
            <a:off x="870509" y="2346807"/>
            <a:ext cx="3230575" cy="255940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70762" y="2547060"/>
            <a:ext cx="29151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"프로젝트 섹션에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선택이 가능한 태그 필터링 기능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JavaScript로 구현해줘.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70762" y="3187140"/>
            <a:ext cx="2915107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HTML: 각 필터 버튼에 접근성을 위해 </a:t>
            </a:r>
            <a:r>
              <a:rPr lang="en-US" sz="12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role="checkbox"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</a:t>
            </a:r>
            <a:r>
              <a:rPr lang="en-US" sz="12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aria-checked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속성을 사용해줘.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070762" y="3947007"/>
            <a:ext cx="2915107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JS: </a:t>
            </a:r>
            <a:r>
              <a:rPr lang="en-US" sz="12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data-tags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속성을 기반으로 선택된 태그가 모두 포함된(AND 조건) 프로젝트만 보이도록 로직을 작성해줘."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48310" y="5262677"/>
            <a:ext cx="3715207" cy="1123798"/>
          </a:xfrm>
          <a:prstGeom prst="roundRect">
            <a:avLst>
              <a:gd name="adj" fmla="val 551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48310" y="5262677"/>
            <a:ext cx="38405" cy="1123798"/>
          </a:xfrm>
          <a:prstGeom prst="roundRect">
            <a:avLst>
              <a:gd name="adj" fmla="val 16142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76910" y="5441899"/>
            <a:ext cx="105156" cy="1335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19556" y="5434584"/>
            <a:ext cx="7818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LOGIC TIP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876910" y="5653126"/>
            <a:ext cx="3372307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필터링이 아닌 '다중 조건' 필터링 시에는 Array 메서드인 </a:t>
            </a:r>
            <a:r>
              <a:rPr lang="en-US" sz="11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every()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(AND 조건) 또는 </a:t>
            </a:r>
            <a:r>
              <a:rPr lang="en-US" sz="11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some()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(OR 조건)을 활용하면 코드가 훨씬 간결해집니다.</a:t>
            </a:r>
            <a:endParaRPr lang="en-US" sz="11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945075" y="1684325"/>
            <a:ext cx="2175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(MAIN.JS)</a:t>
            </a:r>
            <a:endParaRPr lang="en-US" sz="10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535778" y="2141525"/>
            <a:ext cx="176845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main.js &amp; html structure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4869180" y="2593238"/>
            <a:ext cx="17455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Filter UI Structure --&gt;</a:t>
            </a:r>
            <a:endParaRPr lang="en-US" sz="800" dirty="0"/>
          </a:p>
        </p:txBody>
      </p:sp>
      <p:sp>
        <p:nvSpPr>
          <p:cNvPr id="29" name="Text 21"/>
          <p:cNvSpPr txBox="1"/>
          <p:nvPr/>
        </p:nvSpPr>
        <p:spPr>
          <a:xfrm>
            <a:off x="6335878" y="2593238"/>
            <a:ext cx="4480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&lt;button</a:t>
            </a:r>
            <a:endParaRPr lang="en-US" sz="800" dirty="0"/>
          </a:p>
        </p:txBody>
      </p:sp>
      <p:sp>
        <p:nvSpPr>
          <p:cNvPr id="30" name="Text 22"/>
          <p:cNvSpPr txBox="1"/>
          <p:nvPr/>
        </p:nvSpPr>
        <p:spPr>
          <a:xfrm>
            <a:off x="6702552" y="2593238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800" dirty="0"/>
          </a:p>
        </p:txBody>
      </p:sp>
      <p:sp>
        <p:nvSpPr>
          <p:cNvPr id="31" name="Text 23"/>
          <p:cNvSpPr txBox="1"/>
          <p:nvPr/>
        </p:nvSpPr>
        <p:spPr>
          <a:xfrm>
            <a:off x="6964985" y="2593238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32" name="Text 24"/>
          <p:cNvSpPr txBox="1"/>
          <p:nvPr/>
        </p:nvSpPr>
        <p:spPr>
          <a:xfrm>
            <a:off x="7017106" y="2593238"/>
            <a:ext cx="81655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"filter-chip"</a:t>
            </a:r>
            <a:endParaRPr lang="en-US" sz="800" dirty="0"/>
          </a:p>
        </p:txBody>
      </p:sp>
      <p:sp>
        <p:nvSpPr>
          <p:cNvPr id="33" name="Text 25"/>
          <p:cNvSpPr txBox="1"/>
          <p:nvPr/>
        </p:nvSpPr>
        <p:spPr>
          <a:xfrm>
            <a:off x="7698334" y="2593238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role</a:t>
            </a:r>
            <a:endParaRPr lang="en-US" sz="800" dirty="0"/>
          </a:p>
        </p:txBody>
      </p:sp>
      <p:sp>
        <p:nvSpPr>
          <p:cNvPr id="34" name="Text 26"/>
          <p:cNvSpPr txBox="1"/>
          <p:nvPr/>
        </p:nvSpPr>
        <p:spPr>
          <a:xfrm>
            <a:off x="7907731" y="2593238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35" name="Text 27"/>
          <p:cNvSpPr txBox="1"/>
          <p:nvPr/>
        </p:nvSpPr>
        <p:spPr>
          <a:xfrm>
            <a:off x="7959852" y="2593238"/>
            <a:ext cx="62362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"checkbox"</a:t>
            </a:r>
            <a:endParaRPr lang="en-US" sz="800" dirty="0"/>
          </a:p>
        </p:txBody>
      </p:sp>
      <p:sp>
        <p:nvSpPr>
          <p:cNvPr id="36" name="Text 28"/>
          <p:cNvSpPr txBox="1"/>
          <p:nvPr/>
        </p:nvSpPr>
        <p:spPr>
          <a:xfrm>
            <a:off x="8483803" y="2593238"/>
            <a:ext cx="74889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aria-checked</a:t>
            </a:r>
            <a:endParaRPr lang="en-US" sz="800" dirty="0"/>
          </a:p>
        </p:txBody>
      </p:sp>
      <p:sp>
        <p:nvSpPr>
          <p:cNvPr id="37" name="Text 29"/>
          <p:cNvSpPr txBox="1"/>
          <p:nvPr/>
        </p:nvSpPr>
        <p:spPr>
          <a:xfrm>
            <a:off x="9111996" y="2593238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38" name="Text 30"/>
          <p:cNvSpPr txBox="1"/>
          <p:nvPr/>
        </p:nvSpPr>
        <p:spPr>
          <a:xfrm>
            <a:off x="9165031" y="2593238"/>
            <a:ext cx="4480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"false"</a:t>
            </a:r>
            <a:endParaRPr lang="en-US" sz="800" dirty="0"/>
          </a:p>
        </p:txBody>
      </p:sp>
      <p:sp>
        <p:nvSpPr>
          <p:cNvPr id="39" name="Text 31"/>
          <p:cNvSpPr txBox="1"/>
          <p:nvPr/>
        </p:nvSpPr>
        <p:spPr>
          <a:xfrm>
            <a:off x="9531706" y="2593238"/>
            <a:ext cx="69220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data-filter</a:t>
            </a:r>
            <a:endParaRPr lang="en-US" sz="800" dirty="0"/>
          </a:p>
        </p:txBody>
      </p:sp>
      <p:sp>
        <p:nvSpPr>
          <p:cNvPr id="40" name="Text 32"/>
          <p:cNvSpPr txBox="1"/>
          <p:nvPr/>
        </p:nvSpPr>
        <p:spPr>
          <a:xfrm>
            <a:off x="10107778" y="2593238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41" name="Text 33"/>
          <p:cNvSpPr txBox="1"/>
          <p:nvPr/>
        </p:nvSpPr>
        <p:spPr>
          <a:xfrm>
            <a:off x="10159898" y="2593238"/>
            <a:ext cx="4480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"react"</a:t>
            </a:r>
            <a:endParaRPr lang="en-US" sz="800" dirty="0"/>
          </a:p>
        </p:txBody>
      </p:sp>
      <p:sp>
        <p:nvSpPr>
          <p:cNvPr id="42" name="Text 34"/>
          <p:cNvSpPr txBox="1"/>
          <p:nvPr/>
        </p:nvSpPr>
        <p:spPr>
          <a:xfrm>
            <a:off x="10526573" y="2593238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43" name="Text 35"/>
          <p:cNvSpPr txBox="1"/>
          <p:nvPr/>
        </p:nvSpPr>
        <p:spPr>
          <a:xfrm>
            <a:off x="10579608" y="2593238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React</a:t>
            </a:r>
            <a:endParaRPr lang="en-US" sz="800" dirty="0"/>
          </a:p>
        </p:txBody>
      </p:sp>
      <p:sp>
        <p:nvSpPr>
          <p:cNvPr id="44" name="Text 36"/>
          <p:cNvSpPr txBox="1"/>
          <p:nvPr/>
        </p:nvSpPr>
        <p:spPr>
          <a:xfrm>
            <a:off x="10841126" y="2593238"/>
            <a:ext cx="56601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&lt;/button&gt;</a:t>
            </a:r>
            <a:endParaRPr lang="en-US" sz="800" dirty="0"/>
          </a:p>
        </p:txBody>
      </p:sp>
      <p:sp>
        <p:nvSpPr>
          <p:cNvPr id="45" name="Text 37"/>
          <p:cNvSpPr txBox="1"/>
          <p:nvPr/>
        </p:nvSpPr>
        <p:spPr>
          <a:xfrm>
            <a:off x="4869180" y="2719426"/>
            <a:ext cx="181417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Project Card Example --&gt;</a:t>
            </a:r>
            <a:endParaRPr lang="en-US" sz="800" dirty="0"/>
          </a:p>
        </p:txBody>
      </p:sp>
      <p:sp>
        <p:nvSpPr>
          <p:cNvPr id="46" name="Text 38"/>
          <p:cNvSpPr txBox="1"/>
          <p:nvPr/>
        </p:nvSpPr>
        <p:spPr>
          <a:xfrm>
            <a:off x="6387998" y="2719426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800" dirty="0"/>
          </a:p>
        </p:txBody>
      </p:sp>
      <p:sp>
        <p:nvSpPr>
          <p:cNvPr id="47" name="Text 39"/>
          <p:cNvSpPr txBox="1"/>
          <p:nvPr/>
        </p:nvSpPr>
        <p:spPr>
          <a:xfrm>
            <a:off x="6597396" y="2719426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800" dirty="0"/>
          </a:p>
        </p:txBody>
      </p:sp>
      <p:sp>
        <p:nvSpPr>
          <p:cNvPr id="48" name="Text 40"/>
          <p:cNvSpPr txBox="1"/>
          <p:nvPr/>
        </p:nvSpPr>
        <p:spPr>
          <a:xfrm>
            <a:off x="6859829" y="2719426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49" name="Text 41"/>
          <p:cNvSpPr txBox="1"/>
          <p:nvPr/>
        </p:nvSpPr>
        <p:spPr>
          <a:xfrm>
            <a:off x="6911950" y="2719426"/>
            <a:ext cx="87325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"project-card"</a:t>
            </a:r>
            <a:endParaRPr lang="en-US" sz="800" dirty="0"/>
          </a:p>
        </p:txBody>
      </p:sp>
      <p:sp>
        <p:nvSpPr>
          <p:cNvPr id="50" name="Text 42"/>
          <p:cNvSpPr txBox="1"/>
          <p:nvPr/>
        </p:nvSpPr>
        <p:spPr>
          <a:xfrm>
            <a:off x="7645298" y="2719426"/>
            <a:ext cx="56601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data-tags</a:t>
            </a:r>
            <a:endParaRPr lang="en-US" sz="800" dirty="0"/>
          </a:p>
        </p:txBody>
      </p:sp>
      <p:sp>
        <p:nvSpPr>
          <p:cNvPr id="51" name="Text 43"/>
          <p:cNvSpPr txBox="1"/>
          <p:nvPr/>
        </p:nvSpPr>
        <p:spPr>
          <a:xfrm>
            <a:off x="8117129" y="2719426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52" name="Text 44"/>
          <p:cNvSpPr txBox="1"/>
          <p:nvPr/>
        </p:nvSpPr>
        <p:spPr>
          <a:xfrm>
            <a:off x="8169250" y="2719426"/>
            <a:ext cx="69220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"react css"</a:t>
            </a:r>
            <a:endParaRPr lang="en-US" sz="800" dirty="0"/>
          </a:p>
        </p:txBody>
      </p:sp>
      <p:sp>
        <p:nvSpPr>
          <p:cNvPr id="53" name="Text 45"/>
          <p:cNvSpPr txBox="1"/>
          <p:nvPr/>
        </p:nvSpPr>
        <p:spPr>
          <a:xfrm>
            <a:off x="8745322" y="2719426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54" name="Text 46"/>
          <p:cNvSpPr txBox="1"/>
          <p:nvPr/>
        </p:nvSpPr>
        <p:spPr>
          <a:xfrm>
            <a:off x="8798357" y="2719426"/>
            <a:ext cx="2386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...</a:t>
            </a:r>
            <a:endParaRPr lang="en-US" sz="800" dirty="0"/>
          </a:p>
        </p:txBody>
      </p:sp>
      <p:sp>
        <p:nvSpPr>
          <p:cNvPr id="55" name="Text 47"/>
          <p:cNvSpPr txBox="1"/>
          <p:nvPr/>
        </p:nvSpPr>
        <p:spPr>
          <a:xfrm>
            <a:off x="8955634" y="2719426"/>
            <a:ext cx="39136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800" dirty="0"/>
          </a:p>
        </p:txBody>
      </p:sp>
      <p:sp>
        <p:nvSpPr>
          <p:cNvPr id="56" name="Text 48"/>
          <p:cNvSpPr txBox="1"/>
          <p:nvPr/>
        </p:nvSpPr>
        <p:spPr>
          <a:xfrm>
            <a:off x="4869180" y="2997403"/>
            <a:ext cx="94091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Filter Logic</a:t>
            </a:r>
            <a:endParaRPr lang="en-US" sz="800" dirty="0"/>
          </a:p>
        </p:txBody>
      </p:sp>
      <p:sp>
        <p:nvSpPr>
          <p:cNvPr id="57" name="Text 49"/>
          <p:cNvSpPr txBox="1"/>
          <p:nvPr/>
        </p:nvSpPr>
        <p:spPr>
          <a:xfrm>
            <a:off x="4869180" y="3123590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800" dirty="0"/>
          </a:p>
        </p:txBody>
      </p:sp>
      <p:sp>
        <p:nvSpPr>
          <p:cNvPr id="58" name="Text 50"/>
          <p:cNvSpPr txBox="1"/>
          <p:nvPr/>
        </p:nvSpPr>
        <p:spPr>
          <a:xfrm>
            <a:off x="5130698" y="3123590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chips</a:t>
            </a:r>
            <a:endParaRPr lang="en-US" sz="800" dirty="0"/>
          </a:p>
        </p:txBody>
      </p:sp>
      <p:sp>
        <p:nvSpPr>
          <p:cNvPr id="59" name="Text 51"/>
          <p:cNvSpPr txBox="1"/>
          <p:nvPr/>
        </p:nvSpPr>
        <p:spPr>
          <a:xfrm>
            <a:off x="5393131" y="312359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60" name="Text 52"/>
          <p:cNvSpPr txBox="1"/>
          <p:nvPr/>
        </p:nvSpPr>
        <p:spPr>
          <a:xfrm>
            <a:off x="5445252" y="3123590"/>
            <a:ext cx="56601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document.</a:t>
            </a:r>
            <a:endParaRPr lang="en-US" sz="800" dirty="0"/>
          </a:p>
        </p:txBody>
      </p:sp>
      <p:sp>
        <p:nvSpPr>
          <p:cNvPr id="61" name="Text 53"/>
          <p:cNvSpPr txBox="1"/>
          <p:nvPr/>
        </p:nvSpPr>
        <p:spPr>
          <a:xfrm>
            <a:off x="5917082" y="3123590"/>
            <a:ext cx="99761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querySelectorAll</a:t>
            </a:r>
            <a:endParaRPr lang="en-US" sz="800" dirty="0"/>
          </a:p>
        </p:txBody>
      </p:sp>
      <p:sp>
        <p:nvSpPr>
          <p:cNvPr id="62" name="Text 54"/>
          <p:cNvSpPr txBox="1"/>
          <p:nvPr/>
        </p:nvSpPr>
        <p:spPr>
          <a:xfrm>
            <a:off x="6754673" y="312359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63" name="Text 55"/>
          <p:cNvSpPr txBox="1"/>
          <p:nvPr/>
        </p:nvSpPr>
        <p:spPr>
          <a:xfrm>
            <a:off x="6807708" y="3123590"/>
            <a:ext cx="87325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'.filter-chip'</a:t>
            </a:r>
            <a:endParaRPr lang="en-US" sz="800" dirty="0"/>
          </a:p>
        </p:txBody>
      </p:sp>
      <p:sp>
        <p:nvSpPr>
          <p:cNvPr id="64" name="Text 56"/>
          <p:cNvSpPr txBox="1"/>
          <p:nvPr/>
        </p:nvSpPr>
        <p:spPr>
          <a:xfrm>
            <a:off x="7541057" y="3123590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800" dirty="0"/>
          </a:p>
        </p:txBody>
      </p:sp>
      <p:sp>
        <p:nvSpPr>
          <p:cNvPr id="65" name="Text 57"/>
          <p:cNvSpPr txBox="1"/>
          <p:nvPr/>
        </p:nvSpPr>
        <p:spPr>
          <a:xfrm>
            <a:off x="4869180" y="3248863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800" dirty="0"/>
          </a:p>
        </p:txBody>
      </p:sp>
      <p:sp>
        <p:nvSpPr>
          <p:cNvPr id="66" name="Text 58"/>
          <p:cNvSpPr txBox="1"/>
          <p:nvPr/>
        </p:nvSpPr>
        <p:spPr>
          <a:xfrm>
            <a:off x="5130698" y="3248863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cards</a:t>
            </a:r>
            <a:endParaRPr lang="en-US" sz="800" dirty="0"/>
          </a:p>
        </p:txBody>
      </p:sp>
      <p:sp>
        <p:nvSpPr>
          <p:cNvPr id="67" name="Text 59"/>
          <p:cNvSpPr txBox="1"/>
          <p:nvPr/>
        </p:nvSpPr>
        <p:spPr>
          <a:xfrm>
            <a:off x="5393131" y="324886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68" name="Text 60"/>
          <p:cNvSpPr txBox="1"/>
          <p:nvPr/>
        </p:nvSpPr>
        <p:spPr>
          <a:xfrm>
            <a:off x="5445252" y="3248863"/>
            <a:ext cx="56601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document.</a:t>
            </a:r>
            <a:endParaRPr lang="en-US" sz="800" dirty="0"/>
          </a:p>
        </p:txBody>
      </p:sp>
      <p:sp>
        <p:nvSpPr>
          <p:cNvPr id="69" name="Text 61"/>
          <p:cNvSpPr txBox="1"/>
          <p:nvPr/>
        </p:nvSpPr>
        <p:spPr>
          <a:xfrm>
            <a:off x="5917082" y="3248863"/>
            <a:ext cx="99761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querySelectorAll</a:t>
            </a:r>
            <a:endParaRPr lang="en-US" sz="800" dirty="0"/>
          </a:p>
        </p:txBody>
      </p:sp>
      <p:sp>
        <p:nvSpPr>
          <p:cNvPr id="70" name="Text 62"/>
          <p:cNvSpPr txBox="1"/>
          <p:nvPr/>
        </p:nvSpPr>
        <p:spPr>
          <a:xfrm>
            <a:off x="6754673" y="324886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71" name="Text 63"/>
          <p:cNvSpPr txBox="1"/>
          <p:nvPr/>
        </p:nvSpPr>
        <p:spPr>
          <a:xfrm>
            <a:off x="6807708" y="3248863"/>
            <a:ext cx="94091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'.project-card'</a:t>
            </a:r>
            <a:endParaRPr lang="en-US" sz="800" dirty="0"/>
          </a:p>
        </p:txBody>
      </p:sp>
      <p:sp>
        <p:nvSpPr>
          <p:cNvPr id="72" name="Text 64"/>
          <p:cNvSpPr txBox="1"/>
          <p:nvPr/>
        </p:nvSpPr>
        <p:spPr>
          <a:xfrm>
            <a:off x="7593178" y="3248863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800" dirty="0"/>
          </a:p>
        </p:txBody>
      </p:sp>
      <p:sp>
        <p:nvSpPr>
          <p:cNvPr id="73" name="Text 65"/>
          <p:cNvSpPr txBox="1"/>
          <p:nvPr/>
        </p:nvSpPr>
        <p:spPr>
          <a:xfrm>
            <a:off x="4869180" y="3500323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chips</a:t>
            </a:r>
            <a:endParaRPr lang="en-US" sz="800" dirty="0"/>
          </a:p>
        </p:txBody>
      </p:sp>
      <p:sp>
        <p:nvSpPr>
          <p:cNvPr id="74" name="Text 66"/>
          <p:cNvSpPr txBox="1"/>
          <p:nvPr/>
        </p:nvSpPr>
        <p:spPr>
          <a:xfrm>
            <a:off x="5130698" y="350032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800" dirty="0"/>
          </a:p>
        </p:txBody>
      </p:sp>
      <p:sp>
        <p:nvSpPr>
          <p:cNvPr id="75" name="Text 67"/>
          <p:cNvSpPr txBox="1"/>
          <p:nvPr/>
        </p:nvSpPr>
        <p:spPr>
          <a:xfrm>
            <a:off x="5183734" y="3500323"/>
            <a:ext cx="4480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forEach</a:t>
            </a:r>
            <a:endParaRPr lang="en-US" sz="800" dirty="0"/>
          </a:p>
        </p:txBody>
      </p:sp>
      <p:sp>
        <p:nvSpPr>
          <p:cNvPr id="76" name="Text 68"/>
          <p:cNvSpPr txBox="1"/>
          <p:nvPr/>
        </p:nvSpPr>
        <p:spPr>
          <a:xfrm>
            <a:off x="5550408" y="350032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77" name="Text 69"/>
          <p:cNvSpPr txBox="1"/>
          <p:nvPr/>
        </p:nvSpPr>
        <p:spPr>
          <a:xfrm>
            <a:off x="5602529" y="3500323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chip</a:t>
            </a:r>
            <a:endParaRPr lang="en-US" sz="800" dirty="0"/>
          </a:p>
        </p:txBody>
      </p:sp>
      <p:sp>
        <p:nvSpPr>
          <p:cNvPr id="78" name="Text 70"/>
          <p:cNvSpPr txBox="1"/>
          <p:nvPr/>
        </p:nvSpPr>
        <p:spPr>
          <a:xfrm>
            <a:off x="5811926" y="3500323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=&gt;</a:t>
            </a:r>
            <a:endParaRPr lang="en-US" sz="800" dirty="0"/>
          </a:p>
        </p:txBody>
      </p:sp>
      <p:sp>
        <p:nvSpPr>
          <p:cNvPr id="79" name="Text 71"/>
          <p:cNvSpPr txBox="1"/>
          <p:nvPr/>
        </p:nvSpPr>
        <p:spPr>
          <a:xfrm>
            <a:off x="5917082" y="350032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800" dirty="0"/>
          </a:p>
        </p:txBody>
      </p:sp>
      <p:sp>
        <p:nvSpPr>
          <p:cNvPr id="80" name="Text 72"/>
          <p:cNvSpPr txBox="1"/>
          <p:nvPr/>
        </p:nvSpPr>
        <p:spPr>
          <a:xfrm>
            <a:off x="5059375" y="3626510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chip</a:t>
            </a:r>
            <a:endParaRPr lang="en-US" sz="800" dirty="0"/>
          </a:p>
        </p:txBody>
      </p:sp>
      <p:sp>
        <p:nvSpPr>
          <p:cNvPr id="81" name="Text 73"/>
          <p:cNvSpPr txBox="1"/>
          <p:nvPr/>
        </p:nvSpPr>
        <p:spPr>
          <a:xfrm>
            <a:off x="5268773" y="362651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800" dirty="0"/>
          </a:p>
        </p:txBody>
      </p:sp>
      <p:sp>
        <p:nvSpPr>
          <p:cNvPr id="82" name="Text 74"/>
          <p:cNvSpPr txBox="1"/>
          <p:nvPr/>
        </p:nvSpPr>
        <p:spPr>
          <a:xfrm>
            <a:off x="5321808" y="3626510"/>
            <a:ext cx="99761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addEventListener</a:t>
            </a:r>
            <a:endParaRPr lang="en-US" sz="800" dirty="0"/>
          </a:p>
        </p:txBody>
      </p:sp>
      <p:sp>
        <p:nvSpPr>
          <p:cNvPr id="83" name="Text 75"/>
          <p:cNvSpPr txBox="1"/>
          <p:nvPr/>
        </p:nvSpPr>
        <p:spPr>
          <a:xfrm>
            <a:off x="6159398" y="362651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84" name="Text 76"/>
          <p:cNvSpPr txBox="1"/>
          <p:nvPr/>
        </p:nvSpPr>
        <p:spPr>
          <a:xfrm>
            <a:off x="6212434" y="3626510"/>
            <a:ext cx="4480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'click'</a:t>
            </a:r>
            <a:endParaRPr lang="en-US" sz="800" dirty="0"/>
          </a:p>
        </p:txBody>
      </p:sp>
      <p:sp>
        <p:nvSpPr>
          <p:cNvPr id="85" name="Text 77"/>
          <p:cNvSpPr txBox="1"/>
          <p:nvPr/>
        </p:nvSpPr>
        <p:spPr>
          <a:xfrm>
            <a:off x="6579108" y="3626510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, ()</a:t>
            </a:r>
            <a:endParaRPr lang="en-US" sz="800" dirty="0"/>
          </a:p>
        </p:txBody>
      </p:sp>
      <p:sp>
        <p:nvSpPr>
          <p:cNvPr id="86" name="Text 78"/>
          <p:cNvSpPr txBox="1"/>
          <p:nvPr/>
        </p:nvSpPr>
        <p:spPr>
          <a:xfrm>
            <a:off x="6840626" y="3626510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=&gt;</a:t>
            </a:r>
            <a:endParaRPr lang="en-US" sz="800" dirty="0"/>
          </a:p>
        </p:txBody>
      </p:sp>
      <p:sp>
        <p:nvSpPr>
          <p:cNvPr id="87" name="Text 79"/>
          <p:cNvSpPr txBox="1"/>
          <p:nvPr/>
        </p:nvSpPr>
        <p:spPr>
          <a:xfrm>
            <a:off x="6945782" y="362651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800" dirty="0"/>
          </a:p>
        </p:txBody>
      </p:sp>
      <p:sp>
        <p:nvSpPr>
          <p:cNvPr id="88" name="Text 80"/>
          <p:cNvSpPr txBox="1"/>
          <p:nvPr/>
        </p:nvSpPr>
        <p:spPr>
          <a:xfrm>
            <a:off x="5250485" y="3751783"/>
            <a:ext cx="212049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1. Toggle State &amp; Accessibility</a:t>
            </a:r>
            <a:endParaRPr lang="en-US" sz="800" dirty="0"/>
          </a:p>
        </p:txBody>
      </p:sp>
      <p:sp>
        <p:nvSpPr>
          <p:cNvPr id="89" name="Text 81"/>
          <p:cNvSpPr txBox="1"/>
          <p:nvPr/>
        </p:nvSpPr>
        <p:spPr>
          <a:xfrm>
            <a:off x="5250485" y="3877970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800" dirty="0"/>
          </a:p>
        </p:txBody>
      </p:sp>
      <p:sp>
        <p:nvSpPr>
          <p:cNvPr id="90" name="Text 82"/>
          <p:cNvSpPr txBox="1"/>
          <p:nvPr/>
        </p:nvSpPr>
        <p:spPr>
          <a:xfrm>
            <a:off x="5512003" y="3877970"/>
            <a:ext cx="56601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isChecked</a:t>
            </a:r>
            <a:endParaRPr lang="en-US" sz="800" dirty="0"/>
          </a:p>
        </p:txBody>
      </p:sp>
      <p:sp>
        <p:nvSpPr>
          <p:cNvPr id="91" name="Text 83"/>
          <p:cNvSpPr txBox="1"/>
          <p:nvPr/>
        </p:nvSpPr>
        <p:spPr>
          <a:xfrm>
            <a:off x="5983834" y="387797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92" name="Text 84"/>
          <p:cNvSpPr txBox="1"/>
          <p:nvPr/>
        </p:nvSpPr>
        <p:spPr>
          <a:xfrm>
            <a:off x="6035954" y="3877970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chip</a:t>
            </a:r>
            <a:endParaRPr lang="en-US" sz="800" dirty="0"/>
          </a:p>
        </p:txBody>
      </p:sp>
      <p:sp>
        <p:nvSpPr>
          <p:cNvPr id="93" name="Text 85"/>
          <p:cNvSpPr txBox="1"/>
          <p:nvPr/>
        </p:nvSpPr>
        <p:spPr>
          <a:xfrm>
            <a:off x="6245352" y="387797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800" dirty="0"/>
          </a:p>
        </p:txBody>
      </p:sp>
      <p:sp>
        <p:nvSpPr>
          <p:cNvPr id="94" name="Text 86"/>
          <p:cNvSpPr txBox="1"/>
          <p:nvPr/>
        </p:nvSpPr>
        <p:spPr>
          <a:xfrm>
            <a:off x="6297473" y="3877970"/>
            <a:ext cx="74889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getAttribute</a:t>
            </a:r>
            <a:endParaRPr lang="en-US" sz="800" dirty="0"/>
          </a:p>
        </p:txBody>
      </p:sp>
      <p:sp>
        <p:nvSpPr>
          <p:cNvPr id="95" name="Text 87"/>
          <p:cNvSpPr txBox="1"/>
          <p:nvPr/>
        </p:nvSpPr>
        <p:spPr>
          <a:xfrm>
            <a:off x="6926580" y="387797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96" name="Text 88"/>
          <p:cNvSpPr txBox="1"/>
          <p:nvPr/>
        </p:nvSpPr>
        <p:spPr>
          <a:xfrm>
            <a:off x="6978701" y="3877970"/>
            <a:ext cx="87325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'aria-checked'</a:t>
            </a:r>
            <a:endParaRPr lang="en-US" sz="800" dirty="0"/>
          </a:p>
        </p:txBody>
      </p:sp>
      <p:sp>
        <p:nvSpPr>
          <p:cNvPr id="97" name="Text 89"/>
          <p:cNvSpPr txBox="1"/>
          <p:nvPr/>
        </p:nvSpPr>
        <p:spPr>
          <a:xfrm>
            <a:off x="7712050" y="3877970"/>
            <a:ext cx="39136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 ===</a:t>
            </a:r>
            <a:endParaRPr lang="en-US" sz="800" dirty="0"/>
          </a:p>
        </p:txBody>
      </p:sp>
      <p:sp>
        <p:nvSpPr>
          <p:cNvPr id="98" name="Text 90"/>
          <p:cNvSpPr txBox="1"/>
          <p:nvPr/>
        </p:nvSpPr>
        <p:spPr>
          <a:xfrm>
            <a:off x="8026603" y="3877970"/>
            <a:ext cx="39136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'true'</a:t>
            </a:r>
            <a:endParaRPr lang="en-US" sz="800" dirty="0"/>
          </a:p>
        </p:txBody>
      </p:sp>
      <p:sp>
        <p:nvSpPr>
          <p:cNvPr id="99" name="Text 91"/>
          <p:cNvSpPr txBox="1"/>
          <p:nvPr/>
        </p:nvSpPr>
        <p:spPr>
          <a:xfrm>
            <a:off x="8341157" y="387797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800" dirty="0"/>
          </a:p>
        </p:txBody>
      </p:sp>
      <p:sp>
        <p:nvSpPr>
          <p:cNvPr id="100" name="Text 92"/>
          <p:cNvSpPr txBox="1"/>
          <p:nvPr/>
        </p:nvSpPr>
        <p:spPr>
          <a:xfrm>
            <a:off x="5250485" y="4003243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chip</a:t>
            </a:r>
            <a:endParaRPr lang="en-US" sz="800" dirty="0"/>
          </a:p>
        </p:txBody>
      </p:sp>
      <p:sp>
        <p:nvSpPr>
          <p:cNvPr id="101" name="Text 93"/>
          <p:cNvSpPr txBox="1"/>
          <p:nvPr/>
        </p:nvSpPr>
        <p:spPr>
          <a:xfrm>
            <a:off x="5459882" y="400324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800" dirty="0"/>
          </a:p>
        </p:txBody>
      </p:sp>
      <p:sp>
        <p:nvSpPr>
          <p:cNvPr id="102" name="Text 94"/>
          <p:cNvSpPr txBox="1"/>
          <p:nvPr/>
        </p:nvSpPr>
        <p:spPr>
          <a:xfrm>
            <a:off x="5512003" y="4003243"/>
            <a:ext cx="74889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setAttribute</a:t>
            </a:r>
            <a:endParaRPr lang="en-US" sz="800" dirty="0"/>
          </a:p>
        </p:txBody>
      </p:sp>
      <p:sp>
        <p:nvSpPr>
          <p:cNvPr id="103" name="Text 95"/>
          <p:cNvSpPr txBox="1"/>
          <p:nvPr/>
        </p:nvSpPr>
        <p:spPr>
          <a:xfrm>
            <a:off x="6140196" y="400324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104" name="Text 96"/>
          <p:cNvSpPr txBox="1"/>
          <p:nvPr/>
        </p:nvSpPr>
        <p:spPr>
          <a:xfrm>
            <a:off x="6193231" y="4003243"/>
            <a:ext cx="87325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'aria-checked'</a:t>
            </a:r>
            <a:endParaRPr lang="en-US" sz="800" dirty="0"/>
          </a:p>
        </p:txBody>
      </p:sp>
      <p:sp>
        <p:nvSpPr>
          <p:cNvPr id="105" name="Text 97"/>
          <p:cNvSpPr txBox="1"/>
          <p:nvPr/>
        </p:nvSpPr>
        <p:spPr>
          <a:xfrm>
            <a:off x="6926580" y="4003243"/>
            <a:ext cx="2386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, !</a:t>
            </a:r>
            <a:endParaRPr lang="en-US" sz="800" dirty="0"/>
          </a:p>
        </p:txBody>
      </p:sp>
      <p:sp>
        <p:nvSpPr>
          <p:cNvPr id="106" name="Text 98"/>
          <p:cNvSpPr txBox="1"/>
          <p:nvPr/>
        </p:nvSpPr>
        <p:spPr>
          <a:xfrm>
            <a:off x="7083857" y="4003243"/>
            <a:ext cx="56601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isChecked</a:t>
            </a:r>
            <a:endParaRPr lang="en-US" sz="800" dirty="0"/>
          </a:p>
        </p:txBody>
      </p:sp>
      <p:sp>
        <p:nvSpPr>
          <p:cNvPr id="107" name="Text 99"/>
          <p:cNvSpPr txBox="1"/>
          <p:nvPr/>
        </p:nvSpPr>
        <p:spPr>
          <a:xfrm>
            <a:off x="7554773" y="4003243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800" dirty="0"/>
          </a:p>
        </p:txBody>
      </p:sp>
      <p:sp>
        <p:nvSpPr>
          <p:cNvPr id="108" name="Text 100"/>
          <p:cNvSpPr txBox="1"/>
          <p:nvPr/>
        </p:nvSpPr>
        <p:spPr>
          <a:xfrm>
            <a:off x="5250485" y="4129430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chip</a:t>
            </a:r>
            <a:endParaRPr lang="en-US" sz="800" dirty="0"/>
          </a:p>
        </p:txBody>
      </p:sp>
      <p:sp>
        <p:nvSpPr>
          <p:cNvPr id="109" name="Text 101"/>
          <p:cNvSpPr txBox="1"/>
          <p:nvPr/>
        </p:nvSpPr>
        <p:spPr>
          <a:xfrm>
            <a:off x="5459882" y="412943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800" dirty="0"/>
          </a:p>
        </p:txBody>
      </p:sp>
      <p:sp>
        <p:nvSpPr>
          <p:cNvPr id="110" name="Text 102"/>
          <p:cNvSpPr txBox="1"/>
          <p:nvPr/>
        </p:nvSpPr>
        <p:spPr>
          <a:xfrm>
            <a:off x="5512003" y="4129430"/>
            <a:ext cx="62362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classList.</a:t>
            </a:r>
            <a:endParaRPr lang="en-US" sz="800" dirty="0"/>
          </a:p>
        </p:txBody>
      </p:sp>
      <p:sp>
        <p:nvSpPr>
          <p:cNvPr id="111" name="Text 103"/>
          <p:cNvSpPr txBox="1"/>
          <p:nvPr/>
        </p:nvSpPr>
        <p:spPr>
          <a:xfrm>
            <a:off x="6035954" y="4129430"/>
            <a:ext cx="39136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toggle</a:t>
            </a:r>
            <a:endParaRPr lang="en-US" sz="800" dirty="0"/>
          </a:p>
        </p:txBody>
      </p:sp>
      <p:sp>
        <p:nvSpPr>
          <p:cNvPr id="112" name="Text 104"/>
          <p:cNvSpPr txBox="1"/>
          <p:nvPr/>
        </p:nvSpPr>
        <p:spPr>
          <a:xfrm>
            <a:off x="6350508" y="412943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113" name="Text 105"/>
          <p:cNvSpPr txBox="1"/>
          <p:nvPr/>
        </p:nvSpPr>
        <p:spPr>
          <a:xfrm>
            <a:off x="6402629" y="4129430"/>
            <a:ext cx="49926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'active'</a:t>
            </a:r>
            <a:endParaRPr lang="en-US" sz="800" dirty="0"/>
          </a:p>
        </p:txBody>
      </p:sp>
      <p:sp>
        <p:nvSpPr>
          <p:cNvPr id="114" name="Text 106"/>
          <p:cNvSpPr txBox="1"/>
          <p:nvPr/>
        </p:nvSpPr>
        <p:spPr>
          <a:xfrm>
            <a:off x="6821424" y="4129430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800" dirty="0"/>
          </a:p>
        </p:txBody>
      </p:sp>
      <p:sp>
        <p:nvSpPr>
          <p:cNvPr id="115" name="Text 107"/>
          <p:cNvSpPr txBox="1"/>
          <p:nvPr/>
        </p:nvSpPr>
        <p:spPr>
          <a:xfrm>
            <a:off x="5250485" y="4254703"/>
            <a:ext cx="81655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updateGallery</a:t>
            </a:r>
            <a:endParaRPr lang="en-US" sz="800" dirty="0"/>
          </a:p>
        </p:txBody>
      </p:sp>
      <p:sp>
        <p:nvSpPr>
          <p:cNvPr id="116" name="Text 108"/>
          <p:cNvSpPr txBox="1"/>
          <p:nvPr/>
        </p:nvSpPr>
        <p:spPr>
          <a:xfrm>
            <a:off x="5930798" y="4254703"/>
            <a:ext cx="2386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();</a:t>
            </a:r>
            <a:endParaRPr lang="en-US" sz="800" dirty="0"/>
          </a:p>
        </p:txBody>
      </p:sp>
      <p:sp>
        <p:nvSpPr>
          <p:cNvPr id="117" name="Text 109"/>
          <p:cNvSpPr txBox="1"/>
          <p:nvPr/>
        </p:nvSpPr>
        <p:spPr>
          <a:xfrm>
            <a:off x="5059375" y="4380890"/>
            <a:ext cx="2386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});</a:t>
            </a:r>
            <a:endParaRPr lang="en-US" sz="800" dirty="0"/>
          </a:p>
        </p:txBody>
      </p:sp>
      <p:sp>
        <p:nvSpPr>
          <p:cNvPr id="118" name="Text 110"/>
          <p:cNvSpPr txBox="1"/>
          <p:nvPr/>
        </p:nvSpPr>
        <p:spPr>
          <a:xfrm>
            <a:off x="4869180" y="4506163"/>
            <a:ext cx="2386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});</a:t>
            </a:r>
            <a:endParaRPr lang="en-US" sz="800" dirty="0"/>
          </a:p>
        </p:txBody>
      </p:sp>
      <p:sp>
        <p:nvSpPr>
          <p:cNvPr id="119" name="Text 111"/>
          <p:cNvSpPr txBox="1"/>
          <p:nvPr/>
        </p:nvSpPr>
        <p:spPr>
          <a:xfrm>
            <a:off x="4869180" y="4757623"/>
            <a:ext cx="49926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function</a:t>
            </a:r>
            <a:endParaRPr lang="en-US" sz="800" dirty="0"/>
          </a:p>
        </p:txBody>
      </p:sp>
      <p:sp>
        <p:nvSpPr>
          <p:cNvPr id="120" name="Text 112"/>
          <p:cNvSpPr txBox="1"/>
          <p:nvPr/>
        </p:nvSpPr>
        <p:spPr>
          <a:xfrm>
            <a:off x="5287975" y="4757623"/>
            <a:ext cx="81655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updateGallery</a:t>
            </a:r>
            <a:endParaRPr lang="en-US" sz="800" dirty="0"/>
          </a:p>
        </p:txBody>
      </p:sp>
      <p:sp>
        <p:nvSpPr>
          <p:cNvPr id="121" name="Text 113"/>
          <p:cNvSpPr txBox="1"/>
          <p:nvPr/>
        </p:nvSpPr>
        <p:spPr>
          <a:xfrm>
            <a:off x="5969203" y="4757623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 {</a:t>
            </a:r>
            <a:endParaRPr lang="en-US" sz="800" dirty="0"/>
          </a:p>
        </p:txBody>
      </p:sp>
      <p:sp>
        <p:nvSpPr>
          <p:cNvPr id="122" name="Text 114"/>
          <p:cNvSpPr txBox="1"/>
          <p:nvPr/>
        </p:nvSpPr>
        <p:spPr>
          <a:xfrm>
            <a:off x="5059375" y="4883810"/>
            <a:ext cx="149687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2. Get Active Filters</a:t>
            </a:r>
            <a:endParaRPr lang="en-US" sz="800" dirty="0"/>
          </a:p>
        </p:txBody>
      </p:sp>
      <p:sp>
        <p:nvSpPr>
          <p:cNvPr id="123" name="Text 115"/>
          <p:cNvSpPr txBox="1"/>
          <p:nvPr/>
        </p:nvSpPr>
        <p:spPr>
          <a:xfrm>
            <a:off x="5059375" y="5009083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800" dirty="0"/>
          </a:p>
        </p:txBody>
      </p:sp>
      <p:sp>
        <p:nvSpPr>
          <p:cNvPr id="124" name="Text 116"/>
          <p:cNvSpPr txBox="1"/>
          <p:nvPr/>
        </p:nvSpPr>
        <p:spPr>
          <a:xfrm>
            <a:off x="5321808" y="5009083"/>
            <a:ext cx="81655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activeFilters</a:t>
            </a:r>
            <a:endParaRPr lang="en-US" sz="800" dirty="0"/>
          </a:p>
        </p:txBody>
      </p:sp>
      <p:sp>
        <p:nvSpPr>
          <p:cNvPr id="125" name="Text 117"/>
          <p:cNvSpPr txBox="1"/>
          <p:nvPr/>
        </p:nvSpPr>
        <p:spPr>
          <a:xfrm>
            <a:off x="6002122" y="5009083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126" name="Text 118"/>
          <p:cNvSpPr txBox="1"/>
          <p:nvPr/>
        </p:nvSpPr>
        <p:spPr>
          <a:xfrm>
            <a:off x="6107278" y="5009083"/>
            <a:ext cx="39136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Array.</a:t>
            </a:r>
            <a:endParaRPr lang="en-US" sz="800" dirty="0"/>
          </a:p>
        </p:txBody>
      </p:sp>
      <p:sp>
        <p:nvSpPr>
          <p:cNvPr id="127" name="Text 119"/>
          <p:cNvSpPr txBox="1"/>
          <p:nvPr/>
        </p:nvSpPr>
        <p:spPr>
          <a:xfrm>
            <a:off x="6421831" y="5009083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from</a:t>
            </a:r>
            <a:endParaRPr lang="en-US" sz="800" dirty="0"/>
          </a:p>
        </p:txBody>
      </p:sp>
      <p:sp>
        <p:nvSpPr>
          <p:cNvPr id="128" name="Text 120"/>
          <p:cNvSpPr txBox="1"/>
          <p:nvPr/>
        </p:nvSpPr>
        <p:spPr>
          <a:xfrm>
            <a:off x="6631229" y="500908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129" name="Text 121"/>
          <p:cNvSpPr txBox="1"/>
          <p:nvPr/>
        </p:nvSpPr>
        <p:spPr>
          <a:xfrm>
            <a:off x="6683350" y="5009083"/>
            <a:ext cx="56601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document.</a:t>
            </a:r>
            <a:endParaRPr lang="en-US" sz="800" dirty="0"/>
          </a:p>
        </p:txBody>
      </p:sp>
      <p:sp>
        <p:nvSpPr>
          <p:cNvPr id="130" name="Text 122"/>
          <p:cNvSpPr txBox="1"/>
          <p:nvPr/>
        </p:nvSpPr>
        <p:spPr>
          <a:xfrm>
            <a:off x="7155180" y="5009083"/>
            <a:ext cx="99761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querySelectorAll</a:t>
            </a:r>
            <a:endParaRPr lang="en-US" sz="800" dirty="0"/>
          </a:p>
        </p:txBody>
      </p:sp>
      <p:sp>
        <p:nvSpPr>
          <p:cNvPr id="131" name="Text 123"/>
          <p:cNvSpPr txBox="1"/>
          <p:nvPr/>
        </p:nvSpPr>
        <p:spPr>
          <a:xfrm>
            <a:off x="7993685" y="500908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132" name="Text 124"/>
          <p:cNvSpPr txBox="1"/>
          <p:nvPr/>
        </p:nvSpPr>
        <p:spPr>
          <a:xfrm>
            <a:off x="8045806" y="5009083"/>
            <a:ext cx="218815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'.filter-chip[aria-checked="true"]'</a:t>
            </a:r>
            <a:endParaRPr lang="en-US" sz="800" dirty="0"/>
          </a:p>
        </p:txBody>
      </p:sp>
      <p:sp>
        <p:nvSpPr>
          <p:cNvPr id="133" name="Text 125"/>
          <p:cNvSpPr txBox="1"/>
          <p:nvPr/>
        </p:nvSpPr>
        <p:spPr>
          <a:xfrm>
            <a:off x="9879178" y="5009083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))</a:t>
            </a:r>
            <a:endParaRPr lang="en-US" sz="800" dirty="0"/>
          </a:p>
        </p:txBody>
      </p:sp>
      <p:sp>
        <p:nvSpPr>
          <p:cNvPr id="134" name="Text 126"/>
          <p:cNvSpPr txBox="1"/>
          <p:nvPr/>
        </p:nvSpPr>
        <p:spPr>
          <a:xfrm>
            <a:off x="5440680" y="513527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800" dirty="0"/>
          </a:p>
        </p:txBody>
      </p:sp>
      <p:sp>
        <p:nvSpPr>
          <p:cNvPr id="135" name="Text 127"/>
          <p:cNvSpPr txBox="1"/>
          <p:nvPr/>
        </p:nvSpPr>
        <p:spPr>
          <a:xfrm>
            <a:off x="5492801" y="5135270"/>
            <a:ext cx="2386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map</a:t>
            </a:r>
            <a:endParaRPr lang="en-US" sz="800" dirty="0"/>
          </a:p>
        </p:txBody>
      </p:sp>
      <p:sp>
        <p:nvSpPr>
          <p:cNvPr id="136" name="Text 128"/>
          <p:cNvSpPr txBox="1"/>
          <p:nvPr/>
        </p:nvSpPr>
        <p:spPr>
          <a:xfrm>
            <a:off x="5650078" y="513527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137" name="Text 129"/>
          <p:cNvSpPr txBox="1"/>
          <p:nvPr/>
        </p:nvSpPr>
        <p:spPr>
          <a:xfrm>
            <a:off x="5702198" y="513527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</a:t>
            </a:r>
            <a:endParaRPr lang="en-US" sz="800" dirty="0"/>
          </a:p>
        </p:txBody>
      </p:sp>
      <p:sp>
        <p:nvSpPr>
          <p:cNvPr id="138" name="Text 130"/>
          <p:cNvSpPr txBox="1"/>
          <p:nvPr/>
        </p:nvSpPr>
        <p:spPr>
          <a:xfrm>
            <a:off x="5755234" y="5135270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=&gt;</a:t>
            </a:r>
            <a:endParaRPr lang="en-US" sz="800" dirty="0"/>
          </a:p>
        </p:txBody>
      </p:sp>
      <p:sp>
        <p:nvSpPr>
          <p:cNvPr id="139" name="Text 131"/>
          <p:cNvSpPr txBox="1"/>
          <p:nvPr/>
        </p:nvSpPr>
        <p:spPr>
          <a:xfrm>
            <a:off x="5859475" y="513527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</a:t>
            </a:r>
            <a:endParaRPr lang="en-US" sz="800" dirty="0"/>
          </a:p>
        </p:txBody>
      </p:sp>
      <p:sp>
        <p:nvSpPr>
          <p:cNvPr id="140" name="Text 132"/>
          <p:cNvSpPr txBox="1"/>
          <p:nvPr/>
        </p:nvSpPr>
        <p:spPr>
          <a:xfrm>
            <a:off x="5911596" y="5135270"/>
            <a:ext cx="10661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.dataset.filter);</a:t>
            </a:r>
            <a:endParaRPr lang="en-US" sz="800" dirty="0"/>
          </a:p>
        </p:txBody>
      </p:sp>
      <p:sp>
        <p:nvSpPr>
          <p:cNvPr id="141" name="Text 133"/>
          <p:cNvSpPr txBox="1"/>
          <p:nvPr/>
        </p:nvSpPr>
        <p:spPr>
          <a:xfrm>
            <a:off x="5059375" y="5386730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cards</a:t>
            </a:r>
            <a:endParaRPr lang="en-US" sz="800" dirty="0"/>
          </a:p>
        </p:txBody>
      </p:sp>
      <p:sp>
        <p:nvSpPr>
          <p:cNvPr id="142" name="Text 134"/>
          <p:cNvSpPr txBox="1"/>
          <p:nvPr/>
        </p:nvSpPr>
        <p:spPr>
          <a:xfrm>
            <a:off x="5321808" y="538673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800" dirty="0"/>
          </a:p>
        </p:txBody>
      </p:sp>
      <p:sp>
        <p:nvSpPr>
          <p:cNvPr id="143" name="Text 135"/>
          <p:cNvSpPr txBox="1"/>
          <p:nvPr/>
        </p:nvSpPr>
        <p:spPr>
          <a:xfrm>
            <a:off x="5373929" y="5386730"/>
            <a:ext cx="4480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forEach</a:t>
            </a:r>
            <a:endParaRPr lang="en-US" sz="800" dirty="0"/>
          </a:p>
        </p:txBody>
      </p:sp>
      <p:sp>
        <p:nvSpPr>
          <p:cNvPr id="144" name="Text 136"/>
          <p:cNvSpPr txBox="1"/>
          <p:nvPr/>
        </p:nvSpPr>
        <p:spPr>
          <a:xfrm>
            <a:off x="5740603" y="538673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145" name="Text 137"/>
          <p:cNvSpPr txBox="1"/>
          <p:nvPr/>
        </p:nvSpPr>
        <p:spPr>
          <a:xfrm>
            <a:off x="5792724" y="5386730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card</a:t>
            </a:r>
            <a:endParaRPr lang="en-US" sz="800" dirty="0"/>
          </a:p>
        </p:txBody>
      </p:sp>
      <p:sp>
        <p:nvSpPr>
          <p:cNvPr id="146" name="Text 138"/>
          <p:cNvSpPr txBox="1"/>
          <p:nvPr/>
        </p:nvSpPr>
        <p:spPr>
          <a:xfrm>
            <a:off x="6002122" y="5386730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=&gt;</a:t>
            </a:r>
            <a:endParaRPr lang="en-US" sz="800" dirty="0"/>
          </a:p>
        </p:txBody>
      </p:sp>
      <p:sp>
        <p:nvSpPr>
          <p:cNvPr id="147" name="Text 139"/>
          <p:cNvSpPr txBox="1"/>
          <p:nvPr/>
        </p:nvSpPr>
        <p:spPr>
          <a:xfrm>
            <a:off x="6107278" y="538673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800" dirty="0"/>
          </a:p>
        </p:txBody>
      </p:sp>
      <p:sp>
        <p:nvSpPr>
          <p:cNvPr id="148" name="Text 140"/>
          <p:cNvSpPr txBox="1"/>
          <p:nvPr/>
        </p:nvSpPr>
        <p:spPr>
          <a:xfrm>
            <a:off x="5250485" y="5512003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800" dirty="0"/>
          </a:p>
        </p:txBody>
      </p:sp>
      <p:sp>
        <p:nvSpPr>
          <p:cNvPr id="149" name="Text 141"/>
          <p:cNvSpPr txBox="1"/>
          <p:nvPr/>
        </p:nvSpPr>
        <p:spPr>
          <a:xfrm>
            <a:off x="5512003" y="5512003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tags</a:t>
            </a:r>
            <a:endParaRPr lang="en-US" sz="800" dirty="0"/>
          </a:p>
        </p:txBody>
      </p:sp>
      <p:sp>
        <p:nvSpPr>
          <p:cNvPr id="150" name="Text 142"/>
          <p:cNvSpPr txBox="1"/>
          <p:nvPr/>
        </p:nvSpPr>
        <p:spPr>
          <a:xfrm>
            <a:off x="5721401" y="5512003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151" name="Text 143"/>
          <p:cNvSpPr txBox="1"/>
          <p:nvPr/>
        </p:nvSpPr>
        <p:spPr>
          <a:xfrm>
            <a:off x="5826557" y="5512003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card</a:t>
            </a:r>
            <a:endParaRPr lang="en-US" sz="800" dirty="0"/>
          </a:p>
        </p:txBody>
      </p:sp>
      <p:sp>
        <p:nvSpPr>
          <p:cNvPr id="152" name="Text 144"/>
          <p:cNvSpPr txBox="1"/>
          <p:nvPr/>
        </p:nvSpPr>
        <p:spPr>
          <a:xfrm>
            <a:off x="6035954" y="5512003"/>
            <a:ext cx="87325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.dataset.tags.</a:t>
            </a:r>
            <a:endParaRPr lang="en-US" sz="800" dirty="0"/>
          </a:p>
        </p:txBody>
      </p:sp>
      <p:sp>
        <p:nvSpPr>
          <p:cNvPr id="153" name="Text 145"/>
          <p:cNvSpPr txBox="1"/>
          <p:nvPr/>
        </p:nvSpPr>
        <p:spPr>
          <a:xfrm>
            <a:off x="6769303" y="5512003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split</a:t>
            </a:r>
            <a:endParaRPr lang="en-US" sz="800" dirty="0"/>
          </a:p>
        </p:txBody>
      </p:sp>
      <p:sp>
        <p:nvSpPr>
          <p:cNvPr id="154" name="Text 146"/>
          <p:cNvSpPr txBox="1"/>
          <p:nvPr/>
        </p:nvSpPr>
        <p:spPr>
          <a:xfrm>
            <a:off x="7030822" y="551200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155" name="Text 147"/>
          <p:cNvSpPr txBox="1"/>
          <p:nvPr/>
        </p:nvSpPr>
        <p:spPr>
          <a:xfrm>
            <a:off x="7083857" y="5512003"/>
            <a:ext cx="2386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 '</a:t>
            </a:r>
            <a:endParaRPr lang="en-US" sz="800" dirty="0"/>
          </a:p>
        </p:txBody>
      </p:sp>
      <p:sp>
        <p:nvSpPr>
          <p:cNvPr id="156" name="Text 148"/>
          <p:cNvSpPr txBox="1"/>
          <p:nvPr/>
        </p:nvSpPr>
        <p:spPr>
          <a:xfrm>
            <a:off x="7241134" y="5512003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);</a:t>
            </a:r>
            <a:endParaRPr lang="en-US" sz="800" dirty="0"/>
          </a:p>
        </p:txBody>
      </p:sp>
      <p:sp>
        <p:nvSpPr>
          <p:cNvPr id="157" name="Text 149"/>
          <p:cNvSpPr txBox="1"/>
          <p:nvPr/>
        </p:nvSpPr>
        <p:spPr>
          <a:xfrm>
            <a:off x="5250485" y="5638190"/>
            <a:ext cx="286847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// AND Condition: Must have ALL active filters</a:t>
            </a:r>
            <a:endParaRPr lang="en-US" sz="800" dirty="0"/>
          </a:p>
        </p:txBody>
      </p:sp>
      <p:sp>
        <p:nvSpPr>
          <p:cNvPr id="158" name="Text 150"/>
          <p:cNvSpPr txBox="1"/>
          <p:nvPr/>
        </p:nvSpPr>
        <p:spPr>
          <a:xfrm>
            <a:off x="5250485" y="5763463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</a:t>
            </a:r>
            <a:endParaRPr lang="en-US" sz="800" dirty="0"/>
          </a:p>
        </p:txBody>
      </p:sp>
      <p:sp>
        <p:nvSpPr>
          <p:cNvPr id="159" name="Text 151"/>
          <p:cNvSpPr txBox="1"/>
          <p:nvPr/>
        </p:nvSpPr>
        <p:spPr>
          <a:xfrm>
            <a:off x="5512003" y="5763463"/>
            <a:ext cx="56601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isVisible</a:t>
            </a:r>
            <a:endParaRPr lang="en-US" sz="800" dirty="0"/>
          </a:p>
        </p:txBody>
      </p:sp>
      <p:sp>
        <p:nvSpPr>
          <p:cNvPr id="160" name="Text 152"/>
          <p:cNvSpPr txBox="1"/>
          <p:nvPr/>
        </p:nvSpPr>
        <p:spPr>
          <a:xfrm>
            <a:off x="5983834" y="5763463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161" name="Text 153"/>
          <p:cNvSpPr txBox="1"/>
          <p:nvPr/>
        </p:nvSpPr>
        <p:spPr>
          <a:xfrm>
            <a:off x="6088075" y="5763463"/>
            <a:ext cx="81655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activeFilters</a:t>
            </a:r>
            <a:endParaRPr lang="en-US" sz="800" dirty="0"/>
          </a:p>
        </p:txBody>
      </p:sp>
      <p:sp>
        <p:nvSpPr>
          <p:cNvPr id="162" name="Text 154"/>
          <p:cNvSpPr txBox="1"/>
          <p:nvPr/>
        </p:nvSpPr>
        <p:spPr>
          <a:xfrm>
            <a:off x="6769303" y="576346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800" dirty="0"/>
          </a:p>
        </p:txBody>
      </p:sp>
      <p:sp>
        <p:nvSpPr>
          <p:cNvPr id="163" name="Text 155"/>
          <p:cNvSpPr txBox="1"/>
          <p:nvPr/>
        </p:nvSpPr>
        <p:spPr>
          <a:xfrm>
            <a:off x="6821424" y="5763463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every</a:t>
            </a:r>
            <a:endParaRPr lang="en-US" sz="800" dirty="0"/>
          </a:p>
        </p:txBody>
      </p:sp>
      <p:sp>
        <p:nvSpPr>
          <p:cNvPr id="164" name="Text 156"/>
          <p:cNvSpPr txBox="1"/>
          <p:nvPr/>
        </p:nvSpPr>
        <p:spPr>
          <a:xfrm>
            <a:off x="7083857" y="576346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165" name="Text 157"/>
          <p:cNvSpPr txBox="1"/>
          <p:nvPr/>
        </p:nvSpPr>
        <p:spPr>
          <a:xfrm>
            <a:off x="7135978" y="576346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</a:t>
            </a:r>
            <a:endParaRPr lang="en-US" sz="800" dirty="0"/>
          </a:p>
        </p:txBody>
      </p:sp>
      <p:sp>
        <p:nvSpPr>
          <p:cNvPr id="166" name="Text 158"/>
          <p:cNvSpPr txBox="1"/>
          <p:nvPr/>
        </p:nvSpPr>
        <p:spPr>
          <a:xfrm>
            <a:off x="7188098" y="5763463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586C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=&gt;</a:t>
            </a:r>
            <a:endParaRPr lang="en-US" sz="800" dirty="0"/>
          </a:p>
        </p:txBody>
      </p:sp>
      <p:sp>
        <p:nvSpPr>
          <p:cNvPr id="167" name="Text 159"/>
          <p:cNvSpPr txBox="1"/>
          <p:nvPr/>
        </p:nvSpPr>
        <p:spPr>
          <a:xfrm>
            <a:off x="7293254" y="5763463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tags</a:t>
            </a:r>
            <a:endParaRPr lang="en-US" sz="800" dirty="0"/>
          </a:p>
        </p:txBody>
      </p:sp>
      <p:sp>
        <p:nvSpPr>
          <p:cNvPr id="168" name="Text 160"/>
          <p:cNvSpPr txBox="1"/>
          <p:nvPr/>
        </p:nvSpPr>
        <p:spPr>
          <a:xfrm>
            <a:off x="7502652" y="576346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</a:t>
            </a:r>
            <a:endParaRPr lang="en-US" sz="800" dirty="0"/>
          </a:p>
        </p:txBody>
      </p:sp>
      <p:sp>
        <p:nvSpPr>
          <p:cNvPr id="169" name="Text 161"/>
          <p:cNvSpPr txBox="1"/>
          <p:nvPr/>
        </p:nvSpPr>
        <p:spPr>
          <a:xfrm>
            <a:off x="7554773" y="5763463"/>
            <a:ext cx="49926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includes</a:t>
            </a:r>
            <a:endParaRPr lang="en-US" sz="800" dirty="0"/>
          </a:p>
        </p:txBody>
      </p:sp>
      <p:sp>
        <p:nvSpPr>
          <p:cNvPr id="170" name="Text 162"/>
          <p:cNvSpPr txBox="1"/>
          <p:nvPr/>
        </p:nvSpPr>
        <p:spPr>
          <a:xfrm>
            <a:off x="7974482" y="576346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800" dirty="0"/>
          </a:p>
        </p:txBody>
      </p:sp>
      <p:sp>
        <p:nvSpPr>
          <p:cNvPr id="171" name="Text 163"/>
          <p:cNvSpPr txBox="1"/>
          <p:nvPr/>
        </p:nvSpPr>
        <p:spPr>
          <a:xfrm>
            <a:off x="8026603" y="576346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</a:t>
            </a:r>
            <a:endParaRPr lang="en-US" sz="800" dirty="0"/>
          </a:p>
        </p:txBody>
      </p:sp>
      <p:sp>
        <p:nvSpPr>
          <p:cNvPr id="172" name="Text 164"/>
          <p:cNvSpPr txBox="1"/>
          <p:nvPr/>
        </p:nvSpPr>
        <p:spPr>
          <a:xfrm>
            <a:off x="8078724" y="5763463"/>
            <a:ext cx="2386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));</a:t>
            </a:r>
            <a:endParaRPr lang="en-US" sz="800" dirty="0"/>
          </a:p>
        </p:txBody>
      </p:sp>
      <p:sp>
        <p:nvSpPr>
          <p:cNvPr id="173" name="Text 165"/>
          <p:cNvSpPr txBox="1"/>
          <p:nvPr/>
        </p:nvSpPr>
        <p:spPr>
          <a:xfrm>
            <a:off x="5250485" y="5889650"/>
            <a:ext cx="2862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card</a:t>
            </a:r>
            <a:endParaRPr lang="en-US" sz="800" dirty="0"/>
          </a:p>
        </p:txBody>
      </p:sp>
      <p:sp>
        <p:nvSpPr>
          <p:cNvPr id="174" name="Text 166"/>
          <p:cNvSpPr txBox="1"/>
          <p:nvPr/>
        </p:nvSpPr>
        <p:spPr>
          <a:xfrm>
            <a:off x="5459882" y="5889650"/>
            <a:ext cx="100858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.style.display =</a:t>
            </a:r>
            <a:endParaRPr lang="en-US" sz="800" dirty="0"/>
          </a:p>
        </p:txBody>
      </p:sp>
      <p:sp>
        <p:nvSpPr>
          <p:cNvPr id="175" name="Text 167"/>
          <p:cNvSpPr txBox="1"/>
          <p:nvPr/>
        </p:nvSpPr>
        <p:spPr>
          <a:xfrm>
            <a:off x="6350508" y="5889650"/>
            <a:ext cx="56601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isVisible</a:t>
            </a:r>
            <a:endParaRPr lang="en-US" sz="800" dirty="0"/>
          </a:p>
        </p:txBody>
      </p:sp>
      <p:sp>
        <p:nvSpPr>
          <p:cNvPr id="176" name="Text 168"/>
          <p:cNvSpPr txBox="1"/>
          <p:nvPr/>
        </p:nvSpPr>
        <p:spPr>
          <a:xfrm>
            <a:off x="6821424" y="5889650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?</a:t>
            </a:r>
            <a:endParaRPr lang="en-US" sz="800" dirty="0"/>
          </a:p>
        </p:txBody>
      </p:sp>
      <p:sp>
        <p:nvSpPr>
          <p:cNvPr id="177" name="Text 169"/>
          <p:cNvSpPr txBox="1"/>
          <p:nvPr/>
        </p:nvSpPr>
        <p:spPr>
          <a:xfrm>
            <a:off x="6926580" y="5889650"/>
            <a:ext cx="4480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'block'</a:t>
            </a:r>
            <a:endParaRPr lang="en-US" sz="800" dirty="0"/>
          </a:p>
        </p:txBody>
      </p:sp>
      <p:sp>
        <p:nvSpPr>
          <p:cNvPr id="178" name="Text 170"/>
          <p:cNvSpPr txBox="1"/>
          <p:nvPr/>
        </p:nvSpPr>
        <p:spPr>
          <a:xfrm>
            <a:off x="7293254" y="5889650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800" dirty="0"/>
          </a:p>
        </p:txBody>
      </p:sp>
      <p:sp>
        <p:nvSpPr>
          <p:cNvPr id="179" name="Text 171"/>
          <p:cNvSpPr txBox="1"/>
          <p:nvPr/>
        </p:nvSpPr>
        <p:spPr>
          <a:xfrm>
            <a:off x="7397496" y="5889650"/>
            <a:ext cx="39136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'none'</a:t>
            </a:r>
            <a:endParaRPr lang="en-US" sz="800" dirty="0"/>
          </a:p>
        </p:txBody>
      </p:sp>
      <p:sp>
        <p:nvSpPr>
          <p:cNvPr id="180" name="Text 172"/>
          <p:cNvSpPr txBox="1"/>
          <p:nvPr/>
        </p:nvSpPr>
        <p:spPr>
          <a:xfrm>
            <a:off x="7712050" y="588965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800" dirty="0"/>
          </a:p>
        </p:txBody>
      </p:sp>
      <p:sp>
        <p:nvSpPr>
          <p:cNvPr id="181" name="Text 173"/>
          <p:cNvSpPr txBox="1"/>
          <p:nvPr/>
        </p:nvSpPr>
        <p:spPr>
          <a:xfrm>
            <a:off x="5059375" y="6014923"/>
            <a:ext cx="2386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});</a:t>
            </a:r>
            <a:endParaRPr lang="en-US" sz="800" dirty="0"/>
          </a:p>
        </p:txBody>
      </p:sp>
      <p:sp>
        <p:nvSpPr>
          <p:cNvPr id="182" name="Text 174"/>
          <p:cNvSpPr txBox="1"/>
          <p:nvPr/>
        </p:nvSpPr>
        <p:spPr>
          <a:xfrm>
            <a:off x="4869180" y="614111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800" dirty="0"/>
          </a:p>
        </p:txBody>
      </p:sp>
      <p:sp>
        <p:nvSpPr>
          <p:cNvPr id="18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684977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 Submission 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Logic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09905" y="1310335"/>
            <a:ext cx="381305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086307" y="1310335"/>
            <a:ext cx="52395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Formspree 설정, curl 테스트, 성공/실패 토스트 UI 구현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02" b="-402"/>
          <a:stretch/>
        </p:blipFill>
        <p:spPr>
          <a:xfrm>
            <a:off x="1086307" y="3721608"/>
            <a:ext cx="10019995" cy="19202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800100" y="3280867"/>
            <a:ext cx="2476195" cy="2540203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09244" y="4861865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08914" y="3995014"/>
            <a:ext cx="22585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Formspree 설정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4290365"/>
            <a:ext cx="22485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생성 및 New Project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엔드포인트(URL) 획득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09244" y="4863694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61949" y="5016398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1095451" y="5016398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1228954" y="5016398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904695" y="3561588"/>
            <a:ext cx="267005" cy="2670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61949" y="5206594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18" name="Text 13"/>
          <p:cNvSpPr txBox="1"/>
          <p:nvPr/>
        </p:nvSpPr>
        <p:spPr>
          <a:xfrm>
            <a:off x="1082650" y="5206594"/>
            <a:ext cx="11338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Login formspree.io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961949" y="5363870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1082650" y="5363870"/>
            <a:ext cx="9454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Create New Form</a:t>
            </a:r>
            <a:endParaRPr lang="en-US" sz="800" dirty="0"/>
          </a:p>
        </p:txBody>
      </p:sp>
      <p:sp>
        <p:nvSpPr>
          <p:cNvPr id="21" name="Text 16"/>
          <p:cNvSpPr txBox="1"/>
          <p:nvPr/>
        </p:nvSpPr>
        <p:spPr>
          <a:xfrm>
            <a:off x="961949" y="5521147"/>
            <a:ext cx="168889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https://formspree.io/f/x...</a:t>
            </a:r>
            <a:endParaRPr lang="en-US" sz="8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752905" y="2480767"/>
            <a:ext cx="571500" cy="5715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975104" y="2595067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3328416" y="3919118"/>
            <a:ext cx="123444" cy="190195"/>
          </a:xfrm>
          <a:prstGeom prst="rect">
            <a:avLst/>
          </a:prstGeom>
        </p:spPr>
      </p:pic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8" b="-8"/>
          <a:stretch/>
        </p:blipFill>
        <p:spPr>
          <a:xfrm>
            <a:off x="3504895" y="3202229"/>
            <a:ext cx="2476195" cy="26974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3514954" y="4784141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3614623" y="3916375"/>
            <a:ext cx="22585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Form 연결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3619195" y="4211726"/>
            <a:ext cx="22485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Method="POST" 설정 및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Honeypot(스팸방지) 추가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3514954" y="4785055"/>
            <a:ext cx="2457907" cy="1104595"/>
          </a:xfrm>
          <a:prstGeom prst="roundRect">
            <a:avLst>
              <a:gd name="adj" fmla="val 11418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3666744" y="4937760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3800246" y="4937760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3933749" y="4937760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576572" y="3482950"/>
            <a:ext cx="333756" cy="2670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3666744" y="5127955"/>
            <a:ext cx="124724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&lt;form action="{URL}"</a:t>
            </a:r>
            <a:endParaRPr lang="en-US" sz="800" dirty="0"/>
          </a:p>
        </p:txBody>
      </p:sp>
      <p:sp>
        <p:nvSpPr>
          <p:cNvPr id="35" name="Text 26"/>
          <p:cNvSpPr txBox="1"/>
          <p:nvPr/>
        </p:nvSpPr>
        <p:spPr>
          <a:xfrm>
            <a:off x="3666744" y="5285232"/>
            <a:ext cx="87325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method="POST"&gt;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3666744" y="5442509"/>
            <a:ext cx="149687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Spam Protection --&gt;</a:t>
            </a:r>
            <a:endParaRPr lang="en-US" sz="800" dirty="0"/>
          </a:p>
        </p:txBody>
      </p:sp>
      <p:sp>
        <p:nvSpPr>
          <p:cNvPr id="37" name="Text 28"/>
          <p:cNvSpPr txBox="1"/>
          <p:nvPr/>
        </p:nvSpPr>
        <p:spPr>
          <a:xfrm>
            <a:off x="3666744" y="5599786"/>
            <a:ext cx="156453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&lt;input name="_gotcha"...&gt;</a:t>
            </a:r>
            <a:endParaRPr lang="en-US" sz="800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57700" y="2402129"/>
            <a:ext cx="571500" cy="57150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4679899" y="2516429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10"/>
          <a:srcRect l="-1923" r="-1923"/>
          <a:stretch/>
        </p:blipFill>
        <p:spPr>
          <a:xfrm>
            <a:off x="6033211" y="3953866"/>
            <a:ext cx="123444" cy="190195"/>
          </a:xfrm>
          <a:prstGeom prst="rect">
            <a:avLst/>
          </a:prstGeom>
        </p:spPr>
      </p:pic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6210605" y="3280867"/>
            <a:ext cx="2476195" cy="2540203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6219749" y="4861865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6319418" y="3995014"/>
            <a:ext cx="22585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CURL 테스트</a:t>
            </a:r>
            <a:endParaRPr lang="en-US" sz="1400" dirty="0"/>
          </a:p>
        </p:txBody>
      </p:sp>
      <p:sp>
        <p:nvSpPr>
          <p:cNvPr id="44" name="Text 32"/>
          <p:cNvSpPr txBox="1"/>
          <p:nvPr/>
        </p:nvSpPr>
        <p:spPr>
          <a:xfrm>
            <a:off x="6324905" y="4290365"/>
            <a:ext cx="22485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터미널에서 직접 요청하여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 동작 검증</a:t>
            </a:r>
            <a:endParaRPr lang="en-US" sz="1100" dirty="0"/>
          </a:p>
        </p:txBody>
      </p:sp>
      <p:sp>
        <p:nvSpPr>
          <p:cNvPr id="45" name="Shape 33"/>
          <p:cNvSpPr/>
          <p:nvPr/>
        </p:nvSpPr>
        <p:spPr>
          <a:xfrm>
            <a:off x="6219749" y="4863694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6372454" y="5016398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5"/>
          <p:cNvSpPr/>
          <p:nvPr/>
        </p:nvSpPr>
        <p:spPr>
          <a:xfrm>
            <a:off x="6505956" y="5016398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6"/>
          <p:cNvSpPr/>
          <p:nvPr/>
        </p:nvSpPr>
        <p:spPr>
          <a:xfrm>
            <a:off x="6638544" y="5016398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0" descr="preencoded.png"/>
          <p:cNvPicPr>
            <a:picLocks noChangeAspect="1"/>
          </p:cNvPicPr>
          <p:nvPr/>
        </p:nvPicPr>
        <p:blipFill>
          <a:blip r:embed="rId11"/>
          <a:srcRect l="-685" r="-685"/>
          <a:stretch/>
        </p:blipFill>
        <p:spPr>
          <a:xfrm>
            <a:off x="7295998" y="3561588"/>
            <a:ext cx="304495" cy="267005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6372454" y="5206594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$</a:t>
            </a:r>
            <a:endParaRPr lang="en-US" sz="800" dirty="0"/>
          </a:p>
        </p:txBody>
      </p:sp>
      <p:sp>
        <p:nvSpPr>
          <p:cNvPr id="51" name="Text 38"/>
          <p:cNvSpPr txBox="1"/>
          <p:nvPr/>
        </p:nvSpPr>
        <p:spPr>
          <a:xfrm>
            <a:off x="6482182" y="5206594"/>
            <a:ext cx="76261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curl -X POST</a:t>
            </a:r>
            <a:endParaRPr lang="en-US" sz="800" dirty="0"/>
          </a:p>
        </p:txBody>
      </p:sp>
      <p:sp>
        <p:nvSpPr>
          <p:cNvPr id="52" name="Text 39"/>
          <p:cNvSpPr txBox="1"/>
          <p:nvPr/>
        </p:nvSpPr>
        <p:spPr>
          <a:xfrm>
            <a:off x="6372454" y="5363870"/>
            <a:ext cx="13149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-d "email=test@a.com"</a:t>
            </a:r>
            <a:endParaRPr lang="en-US" sz="800" dirty="0"/>
          </a:p>
        </p:txBody>
      </p:sp>
      <p:sp>
        <p:nvSpPr>
          <p:cNvPr id="53" name="Text 40"/>
          <p:cNvSpPr txBox="1"/>
          <p:nvPr/>
        </p:nvSpPr>
        <p:spPr>
          <a:xfrm>
            <a:off x="6372454" y="5521147"/>
            <a:ext cx="162123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https://formspree.io/f/x..</a:t>
            </a:r>
            <a:endParaRPr lang="en-US" sz="800" dirty="0"/>
          </a:p>
        </p:txBody>
      </p:sp>
      <p:pic>
        <p:nvPicPr>
          <p:cNvPr id="54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62495" y="2480767"/>
            <a:ext cx="571500" cy="571500"/>
          </a:xfrm>
          <a:prstGeom prst="rect">
            <a:avLst/>
          </a:prstGeom>
        </p:spPr>
      </p:pic>
      <p:sp>
        <p:nvSpPr>
          <p:cNvPr id="55" name="Text 41"/>
          <p:cNvSpPr txBox="1"/>
          <p:nvPr/>
        </p:nvSpPr>
        <p:spPr>
          <a:xfrm>
            <a:off x="7384694" y="2595067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pic>
        <p:nvPicPr>
          <p:cNvPr id="56" name="Image 12" descr="preencoded.png"/>
          <p:cNvPicPr>
            <a:picLocks noChangeAspect="1"/>
          </p:cNvPicPr>
          <p:nvPr/>
        </p:nvPicPr>
        <p:blipFill>
          <a:blip r:embed="rId12"/>
          <a:srcRect l="-1923" r="-1923"/>
          <a:stretch/>
        </p:blipFill>
        <p:spPr>
          <a:xfrm>
            <a:off x="8729777" y="3935578"/>
            <a:ext cx="123444" cy="190195"/>
          </a:xfrm>
          <a:prstGeom prst="rect">
            <a:avLst/>
          </a:prstGeom>
        </p:spPr>
      </p:pic>
      <p:pic>
        <p:nvPicPr>
          <p:cNvPr id="57" name="Image 13" descr="preencoded.png"/>
          <p:cNvPicPr>
            <a:picLocks noChangeAspect="1"/>
          </p:cNvPicPr>
          <p:nvPr/>
        </p:nvPicPr>
        <p:blipFill>
          <a:blip r:embed="rId8"/>
          <a:srcRect t="-8" b="-8"/>
          <a:stretch/>
        </p:blipFill>
        <p:spPr>
          <a:xfrm>
            <a:off x="8915400" y="3202229"/>
            <a:ext cx="2476195" cy="2697480"/>
          </a:xfrm>
          <a:prstGeom prst="rect">
            <a:avLst/>
          </a:prstGeom>
        </p:spPr>
      </p:pic>
      <p:sp>
        <p:nvSpPr>
          <p:cNvPr id="58" name="Shape 42"/>
          <p:cNvSpPr/>
          <p:nvPr/>
        </p:nvSpPr>
        <p:spPr>
          <a:xfrm>
            <a:off x="8924544" y="4784141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3"/>
          <p:cNvSpPr txBox="1"/>
          <p:nvPr/>
        </p:nvSpPr>
        <p:spPr>
          <a:xfrm>
            <a:off x="8981237" y="3916375"/>
            <a:ext cx="234543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UI 구현</a:t>
            </a:r>
            <a:endParaRPr lang="en-US" sz="1400" dirty="0"/>
          </a:p>
        </p:txBody>
      </p:sp>
      <p:sp>
        <p:nvSpPr>
          <p:cNvPr id="60" name="Text 44"/>
          <p:cNvSpPr txBox="1"/>
          <p:nvPr/>
        </p:nvSpPr>
        <p:spPr>
          <a:xfrm>
            <a:off x="9029700" y="4211726"/>
            <a:ext cx="22485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Fetch API 응답에 따라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성공/실패 토스트 표시</a:t>
            </a:r>
            <a:endParaRPr lang="en-US" sz="1100" dirty="0"/>
          </a:p>
        </p:txBody>
      </p:sp>
      <p:sp>
        <p:nvSpPr>
          <p:cNvPr id="61" name="Shape 45"/>
          <p:cNvSpPr/>
          <p:nvPr/>
        </p:nvSpPr>
        <p:spPr>
          <a:xfrm>
            <a:off x="8924544" y="4785055"/>
            <a:ext cx="2457907" cy="1104595"/>
          </a:xfrm>
          <a:prstGeom prst="roundRect">
            <a:avLst>
              <a:gd name="adj" fmla="val 11418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46"/>
          <p:cNvSpPr/>
          <p:nvPr/>
        </p:nvSpPr>
        <p:spPr>
          <a:xfrm>
            <a:off x="9077249" y="4937760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47"/>
          <p:cNvSpPr/>
          <p:nvPr/>
        </p:nvSpPr>
        <p:spPr>
          <a:xfrm>
            <a:off x="9210751" y="4937760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48"/>
          <p:cNvSpPr/>
          <p:nvPr/>
        </p:nvSpPr>
        <p:spPr>
          <a:xfrm>
            <a:off x="9344254" y="4937760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4" descr="preencoded.png"/>
          <p:cNvPicPr>
            <a:picLocks noChangeAspect="1"/>
          </p:cNvPicPr>
          <p:nvPr/>
        </p:nvPicPr>
        <p:blipFill>
          <a:blip r:embed="rId13"/>
          <a:srcRect l="-881" r="-881"/>
          <a:stretch/>
        </p:blipFill>
        <p:spPr>
          <a:xfrm>
            <a:off x="10034626" y="3482950"/>
            <a:ext cx="237744" cy="267005"/>
          </a:xfrm>
          <a:prstGeom prst="rect">
            <a:avLst/>
          </a:prstGeom>
        </p:spPr>
      </p:pic>
      <p:sp>
        <p:nvSpPr>
          <p:cNvPr id="66" name="Text 49"/>
          <p:cNvSpPr txBox="1"/>
          <p:nvPr/>
        </p:nvSpPr>
        <p:spPr>
          <a:xfrm>
            <a:off x="9077249" y="5127955"/>
            <a:ext cx="156453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const res = await fetch()</a:t>
            </a:r>
            <a:endParaRPr lang="en-US" sz="800" dirty="0"/>
          </a:p>
        </p:txBody>
      </p:sp>
      <p:sp>
        <p:nvSpPr>
          <p:cNvPr id="67" name="Text 50"/>
          <p:cNvSpPr txBox="1"/>
          <p:nvPr/>
        </p:nvSpPr>
        <p:spPr>
          <a:xfrm>
            <a:off x="9077249" y="5285232"/>
            <a:ext cx="81655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if (res.ok) {</a:t>
            </a:r>
            <a:endParaRPr lang="en-US" sz="800" dirty="0"/>
          </a:p>
        </p:txBody>
      </p:sp>
      <p:sp>
        <p:nvSpPr>
          <p:cNvPr id="68" name="Text 51"/>
          <p:cNvSpPr txBox="1"/>
          <p:nvPr/>
        </p:nvSpPr>
        <p:spPr>
          <a:xfrm>
            <a:off x="9077249" y="5442509"/>
            <a:ext cx="13149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59E0B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showToast("Success!")</a:t>
            </a:r>
            <a:endParaRPr lang="en-US" sz="800" dirty="0"/>
          </a:p>
        </p:txBody>
      </p:sp>
      <p:sp>
        <p:nvSpPr>
          <p:cNvPr id="69" name="Text 52"/>
          <p:cNvSpPr txBox="1"/>
          <p:nvPr/>
        </p:nvSpPr>
        <p:spPr>
          <a:xfrm>
            <a:off x="9077249" y="5599786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800" dirty="0"/>
          </a:p>
        </p:txBody>
      </p:sp>
      <p:pic>
        <p:nvPicPr>
          <p:cNvPr id="70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868205" y="2402129"/>
            <a:ext cx="571500" cy="571500"/>
          </a:xfrm>
          <a:prstGeom prst="rect">
            <a:avLst/>
          </a:prstGeom>
        </p:spPr>
      </p:pic>
      <p:sp>
        <p:nvSpPr>
          <p:cNvPr id="71" name="Text 53"/>
          <p:cNvSpPr txBox="1"/>
          <p:nvPr/>
        </p:nvSpPr>
        <p:spPr>
          <a:xfrm>
            <a:off x="10090404" y="2516429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7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1545" y="1035274"/>
            <a:ext cx="3716121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LIGHTHOUSE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90+ SCORE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STRATEGY 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582343" y="3591763"/>
            <a:ext cx="38405" cy="8577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754250" y="3533241"/>
            <a:ext cx="33147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 품질의 4가지 핵심 지표를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최적화하여 사용자 경험과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엔진 순위를 극대화하세요.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50385" y="990295"/>
            <a:ext cx="3476549" cy="1790395"/>
          </a:xfrm>
          <a:prstGeom prst="roundRect">
            <a:avLst>
              <a:gd name="adj" fmla="val 5433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4649724" y="1162202"/>
            <a:ext cx="532181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66613" y="1334436"/>
            <a:ext cx="152705" cy="15270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95520" y="1265986"/>
            <a:ext cx="185897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성능 (Performance)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690264" y="1649294"/>
            <a:ext cx="3152851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포맷(AVIF/WebP) 최적화, 불필요한 JS 제거, 브라우저 캐싱 정책을 적용하여 로딩 속도를 개선하세요.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11642" y="990295"/>
            <a:ext cx="3476549" cy="1790395"/>
          </a:xfrm>
          <a:prstGeom prst="roundRect">
            <a:avLst>
              <a:gd name="adj" fmla="val 5433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8310982" y="1162202"/>
            <a:ext cx="532181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1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027871" y="1334436"/>
            <a:ext cx="152705" cy="1527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56777" y="1265986"/>
            <a:ext cx="206380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 (Accessibility)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351522" y="1649294"/>
            <a:ext cx="3152851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시맨틱 HTML 구조 사용, 이미지 대체 텍스트 제공, 적절한 명도 대비를 준수하여 모든 사용자를 포용하세요.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450385" y="2971800"/>
            <a:ext cx="3476549" cy="1591056"/>
          </a:xfrm>
          <a:prstGeom prst="roundRect">
            <a:avLst>
              <a:gd name="adj" fmla="val 6883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/>
          <p:cNvSpPr txBox="1"/>
          <p:nvPr/>
        </p:nvSpPr>
        <p:spPr>
          <a:xfrm>
            <a:off x="4649724" y="3143707"/>
            <a:ext cx="532181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1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5366613" y="3315941"/>
            <a:ext cx="133502" cy="15270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76317" y="3247491"/>
            <a:ext cx="139811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베스트 프랙티스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690264" y="3629884"/>
            <a:ext cx="315285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사용, 보안 취약점 라이브러리 제거, 올바른 이미지 비율 설정을 통해 웹 표준 안전성을 확보하세요.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8111642" y="2971800"/>
            <a:ext cx="3476549" cy="1591056"/>
          </a:xfrm>
          <a:prstGeom prst="roundRect">
            <a:avLst>
              <a:gd name="adj" fmla="val 6883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8310982" y="3143707"/>
            <a:ext cx="532181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31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027871" y="3315941"/>
            <a:ext cx="152705" cy="15270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56777" y="3247491"/>
            <a:ext cx="21150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엔진 최적화 (SEO)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8351522" y="3629884"/>
            <a:ext cx="315285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 태그(Title, Description) 최적화, sitemap.xml 제출, robots.txt 설정으로 검색 가시성을 높이세요.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4450385" y="4753050"/>
            <a:ext cx="7134149" cy="1315735"/>
          </a:xfrm>
          <a:prstGeom prst="roundRect">
            <a:avLst>
              <a:gd name="adj" fmla="val 14023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4649724" y="4967021"/>
            <a:ext cx="8110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48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640934" y="5005426"/>
            <a:ext cx="152705" cy="15270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868926" y="4936976"/>
            <a:ext cx="248259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Web Vitals 집중 관리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640934" y="5266944"/>
            <a:ext cx="5820156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LCP(최대 콘텐츠 렌더링), FID(최초 입력 지연), CLS(누적 레이아웃 이동) 3대 지표를 중점적으로 모니터링하고 개선하여 사용자 경험을 완성하세요.</a:t>
            </a:r>
            <a:endParaRPr lang="en-US" sz="12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1876349" cy="314554"/>
          </a:xfrm>
          <a:prstGeom prst="roundRect">
            <a:avLst>
              <a:gd name="adj" fmla="val 52854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24205" y="533095"/>
            <a:ext cx="17245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EXAMPLE 06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86054"/>
            <a:ext cx="61539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점검 체크포인트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464869"/>
            <a:ext cx="68205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디바이스 환경에서 완벽한 사용자 경험을 제공하기 위한 4단계 검증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09905" y="2131466"/>
            <a:ext cx="2572207" cy="3323844"/>
          </a:xfrm>
          <a:prstGeom prst="roundRect">
            <a:avLst>
              <a:gd name="adj" fmla="val 263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847649" y="2370125"/>
            <a:ext cx="533095" cy="533095"/>
          </a:xfrm>
          <a:prstGeom prst="roundRect">
            <a:avLst>
              <a:gd name="adj" fmla="val 490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133" r="-133"/>
          <a:stretch/>
        </p:blipFill>
        <p:spPr>
          <a:xfrm>
            <a:off x="1028700" y="2521915"/>
            <a:ext cx="171907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7171" y="2973062"/>
            <a:ext cx="76674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320px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2069287" y="3004152"/>
            <a:ext cx="685800" cy="22860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Text 10"/>
          <p:cNvSpPr txBox="1"/>
          <p:nvPr/>
        </p:nvSpPr>
        <p:spPr>
          <a:xfrm>
            <a:off x="2146096" y="3051701"/>
            <a:ext cx="670255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MOBILE 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47649" y="3455518"/>
            <a:ext cx="2171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아이폰 SE 등 소형 모바일 기기 기준의 최소 너비 검증.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3409798" y="2131466"/>
            <a:ext cx="2572207" cy="3323844"/>
          </a:xfrm>
          <a:prstGeom prst="roundRect">
            <a:avLst>
              <a:gd name="adj" fmla="val 263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3648456" y="2370125"/>
            <a:ext cx="533095" cy="533095"/>
          </a:xfrm>
          <a:prstGeom prst="roundRect">
            <a:avLst>
              <a:gd name="adj" fmla="val 490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3829507" y="2521915"/>
            <a:ext cx="171907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276648" y="2973062"/>
            <a:ext cx="66934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480px</a:t>
            </a:r>
            <a:endParaRPr lang="en-US" dirty="0"/>
          </a:p>
        </p:txBody>
      </p:sp>
      <p:sp>
        <p:nvSpPr>
          <p:cNvPr id="25" name="Shape 18"/>
          <p:cNvSpPr/>
          <p:nvPr/>
        </p:nvSpPr>
        <p:spPr>
          <a:xfrm>
            <a:off x="4870095" y="3004152"/>
            <a:ext cx="552298" cy="22860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Text 19"/>
          <p:cNvSpPr txBox="1"/>
          <p:nvPr/>
        </p:nvSpPr>
        <p:spPr>
          <a:xfrm>
            <a:off x="4945990" y="3051700"/>
            <a:ext cx="56692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MOBILE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3648456" y="3455518"/>
            <a:ext cx="2171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대부분의 최신 스마트폰 세로 모드 기준.</a:t>
            </a:r>
            <a:endParaRPr lang="en-US" sz="1400" dirty="0"/>
          </a:p>
        </p:txBody>
      </p:sp>
      <p:sp>
        <p:nvSpPr>
          <p:cNvPr id="34" name="Shape 24"/>
          <p:cNvSpPr/>
          <p:nvPr/>
        </p:nvSpPr>
        <p:spPr>
          <a:xfrm>
            <a:off x="6210605" y="2131466"/>
            <a:ext cx="2572207" cy="3323844"/>
          </a:xfrm>
          <a:prstGeom prst="roundRect">
            <a:avLst>
              <a:gd name="adj" fmla="val 263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5"/>
          <p:cNvSpPr/>
          <p:nvPr/>
        </p:nvSpPr>
        <p:spPr>
          <a:xfrm>
            <a:off x="6448349" y="2370125"/>
            <a:ext cx="533095" cy="533095"/>
          </a:xfrm>
          <a:prstGeom prst="roundRect">
            <a:avLst>
              <a:gd name="adj" fmla="val 490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6614770" y="2521915"/>
            <a:ext cx="200254" cy="22860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972300" y="2973062"/>
            <a:ext cx="71231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768px</a:t>
            </a:r>
            <a:endParaRPr lang="en-US" dirty="0"/>
          </a:p>
        </p:txBody>
      </p:sp>
      <p:sp>
        <p:nvSpPr>
          <p:cNvPr id="38" name="Shape 27"/>
          <p:cNvSpPr/>
          <p:nvPr/>
        </p:nvSpPr>
        <p:spPr>
          <a:xfrm>
            <a:off x="7669987" y="3004152"/>
            <a:ext cx="552298" cy="22860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9" name="Text 28"/>
          <p:cNvSpPr txBox="1"/>
          <p:nvPr/>
        </p:nvSpPr>
        <p:spPr>
          <a:xfrm>
            <a:off x="7746796" y="3066897"/>
            <a:ext cx="551384" cy="1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TABLET</a:t>
            </a:r>
            <a:endParaRPr lang="en-US" sz="1050" dirty="0"/>
          </a:p>
        </p:txBody>
      </p:sp>
      <p:sp>
        <p:nvSpPr>
          <p:cNvPr id="40" name="Text 29"/>
          <p:cNvSpPr txBox="1"/>
          <p:nvPr/>
        </p:nvSpPr>
        <p:spPr>
          <a:xfrm>
            <a:off x="6448349" y="3455518"/>
            <a:ext cx="21717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아이패드 등 태블릿 세로 모드 및 대형 폰 가로 모드.</a:t>
            </a:r>
            <a:endParaRPr lang="en-US" sz="1400" dirty="0"/>
          </a:p>
        </p:txBody>
      </p:sp>
      <p:sp>
        <p:nvSpPr>
          <p:cNvPr id="47" name="Shape 33"/>
          <p:cNvSpPr/>
          <p:nvPr/>
        </p:nvSpPr>
        <p:spPr>
          <a:xfrm>
            <a:off x="9010498" y="2131466"/>
            <a:ext cx="2572207" cy="3323844"/>
          </a:xfrm>
          <a:prstGeom prst="roundRect">
            <a:avLst>
              <a:gd name="adj" fmla="val 263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4"/>
          <p:cNvSpPr/>
          <p:nvPr/>
        </p:nvSpPr>
        <p:spPr>
          <a:xfrm>
            <a:off x="9249156" y="2370125"/>
            <a:ext cx="533095" cy="533095"/>
          </a:xfrm>
          <a:prstGeom prst="roundRect">
            <a:avLst>
              <a:gd name="adj" fmla="val 490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2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9372600" y="2521915"/>
            <a:ext cx="286207" cy="228600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782251" y="2973062"/>
            <a:ext cx="109257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1024px+</a:t>
            </a:r>
            <a:endParaRPr lang="en-US" dirty="0"/>
          </a:p>
        </p:txBody>
      </p:sp>
      <p:sp>
        <p:nvSpPr>
          <p:cNvPr id="51" name="Shape 36"/>
          <p:cNvSpPr/>
          <p:nvPr/>
        </p:nvSpPr>
        <p:spPr>
          <a:xfrm>
            <a:off x="10660990" y="3004152"/>
            <a:ext cx="619049" cy="22860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2" name="Text 37"/>
          <p:cNvSpPr txBox="1"/>
          <p:nvPr/>
        </p:nvSpPr>
        <p:spPr>
          <a:xfrm>
            <a:off x="10736885" y="3051701"/>
            <a:ext cx="64556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DESKTOP</a:t>
            </a:r>
            <a:endParaRPr lang="en-US" sz="1050" dirty="0"/>
          </a:p>
        </p:txBody>
      </p:sp>
      <p:sp>
        <p:nvSpPr>
          <p:cNvPr id="53" name="Text 38"/>
          <p:cNvSpPr txBox="1"/>
          <p:nvPr/>
        </p:nvSpPr>
        <p:spPr>
          <a:xfrm>
            <a:off x="9249156" y="3455518"/>
            <a:ext cx="217170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노트북 및 데스크탑 모니터 환경.</a:t>
            </a:r>
            <a:endParaRPr lang="en-US" sz="1400" dirty="0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66C3CD30-C7EC-9491-568C-08257E0ABF01}"/>
              </a:ext>
            </a:extLst>
          </p:cNvPr>
          <p:cNvGrpSpPr/>
          <p:nvPr/>
        </p:nvGrpSpPr>
        <p:grpSpPr>
          <a:xfrm>
            <a:off x="609905" y="4104742"/>
            <a:ext cx="10972800" cy="2296058"/>
            <a:chOff x="609905" y="4104742"/>
            <a:chExt cx="10972800" cy="2296058"/>
          </a:xfrm>
        </p:grpSpPr>
        <p:pic>
          <p:nvPicPr>
            <p:cNvPr id="15" name="Image 1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847649" y="4316882"/>
              <a:ext cx="105156" cy="114300"/>
            </a:xfrm>
            <a:prstGeom prst="rect">
              <a:avLst/>
            </a:prstGeom>
          </p:spPr>
        </p:pic>
        <p:sp>
          <p:nvSpPr>
            <p:cNvPr id="16" name="Text 12"/>
            <p:cNvSpPr txBox="1"/>
            <p:nvPr/>
          </p:nvSpPr>
          <p:spPr>
            <a:xfrm>
              <a:off x="1028700" y="4278478"/>
              <a:ext cx="1717243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가로 스크롤 발생 여부 확인</a:t>
              </a:r>
              <a:endParaRPr lang="en-US" sz="1200" dirty="0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847649" y="4566514"/>
              <a:ext cx="105156" cy="114300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1028700" y="4528109"/>
              <a:ext cx="1862633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긴 단어/URL 줄바꿈(word-break) 처리</a:t>
              </a:r>
              <a:endParaRPr lang="en-US" sz="1200" dirty="0"/>
            </a:p>
          </p:txBody>
        </p:sp>
        <p:pic>
          <p:nvPicPr>
            <p:cNvPr id="19" name="Image 3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847649" y="4988966"/>
              <a:ext cx="105156" cy="114300"/>
            </a:xfrm>
            <a:prstGeom prst="rect">
              <a:avLst/>
            </a:prstGeom>
          </p:spPr>
        </p:pic>
        <p:sp>
          <p:nvSpPr>
            <p:cNvPr id="20" name="Text 14"/>
            <p:cNvSpPr txBox="1"/>
            <p:nvPr/>
          </p:nvSpPr>
          <p:spPr>
            <a:xfrm>
              <a:off x="1028700" y="4951476"/>
              <a:ext cx="1973275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패딩 최소화로 콘텐츠 공간 확보</a:t>
              </a:r>
              <a:endParaRPr lang="en-US" sz="1200" dirty="0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3648456" y="4316882"/>
              <a:ext cx="105156" cy="11430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3829507" y="4278478"/>
              <a:ext cx="1961388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햄버거 메뉴 및 모바일 네비게이션 작동</a:t>
              </a:r>
              <a:endParaRPr lang="en-US" sz="120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3648456" y="4739335"/>
              <a:ext cx="105156" cy="1143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3829507" y="4701845"/>
              <a:ext cx="2188159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터치 타겟 크기(최소 44x44px) 확보</a:t>
              </a:r>
              <a:endParaRPr lang="en-US" sz="120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3648456" y="4988966"/>
              <a:ext cx="105156" cy="1143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3829507" y="4951476"/>
              <a:ext cx="2190902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폰트 가독성(본문 16px 이상) 확인</a:t>
              </a:r>
              <a:endParaRPr lang="en-US" sz="1200" dirty="0"/>
            </a:p>
          </p:txBody>
        </p:sp>
        <p:pic>
          <p:nvPicPr>
            <p:cNvPr id="41" name="Image 9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6448349" y="4489704"/>
              <a:ext cx="105156" cy="114300"/>
            </a:xfrm>
            <a:prstGeom prst="rect">
              <a:avLst/>
            </a:prstGeom>
          </p:spPr>
        </p:pic>
        <p:sp>
          <p:nvSpPr>
            <p:cNvPr id="42" name="Text 30"/>
            <p:cNvSpPr txBox="1"/>
            <p:nvPr/>
          </p:nvSpPr>
          <p:spPr>
            <a:xfrm>
              <a:off x="6629400" y="4452214"/>
              <a:ext cx="2115922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그리드 레이아웃 전환(1열 → 2열)</a:t>
              </a:r>
              <a:endParaRPr lang="en-US" sz="1200" dirty="0"/>
            </a:p>
          </p:txBody>
        </p:sp>
        <p:pic>
          <p:nvPicPr>
            <p:cNvPr id="43" name="Image 10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6448349" y="4739335"/>
              <a:ext cx="105156" cy="114300"/>
            </a:xfrm>
            <a:prstGeom prst="rect">
              <a:avLst/>
            </a:prstGeom>
          </p:spPr>
        </p:pic>
        <p:sp>
          <p:nvSpPr>
            <p:cNvPr id="44" name="Text 31"/>
            <p:cNvSpPr txBox="1"/>
            <p:nvPr/>
          </p:nvSpPr>
          <p:spPr>
            <a:xfrm>
              <a:off x="6629400" y="4701845"/>
              <a:ext cx="1845259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이미지 비율 및 해상도 최적화</a:t>
              </a:r>
              <a:endParaRPr lang="en-US" sz="1200" dirty="0"/>
            </a:p>
          </p:txBody>
        </p:sp>
        <p:pic>
          <p:nvPicPr>
            <p:cNvPr id="45" name="Image 11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6448349" y="4988966"/>
              <a:ext cx="105156" cy="114300"/>
            </a:xfrm>
            <a:prstGeom prst="rect">
              <a:avLst/>
            </a:prstGeom>
          </p:spPr>
        </p:pic>
        <p:sp>
          <p:nvSpPr>
            <p:cNvPr id="46" name="Text 32"/>
            <p:cNvSpPr txBox="1"/>
            <p:nvPr/>
          </p:nvSpPr>
          <p:spPr>
            <a:xfrm>
              <a:off x="6629400" y="4951476"/>
              <a:ext cx="1858975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섹션 간 여백(Spacing) 적절성</a:t>
              </a:r>
              <a:endParaRPr lang="en-US" sz="1200" dirty="0"/>
            </a:p>
          </p:txBody>
        </p:sp>
        <p:pic>
          <p:nvPicPr>
            <p:cNvPr id="54" name="Image 13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9249156" y="4143146"/>
              <a:ext cx="105156" cy="114300"/>
            </a:xfrm>
            <a:prstGeom prst="rect">
              <a:avLst/>
            </a:prstGeom>
          </p:spPr>
        </p:pic>
        <p:sp>
          <p:nvSpPr>
            <p:cNvPr id="55" name="Text 39"/>
            <p:cNvSpPr txBox="1"/>
            <p:nvPr/>
          </p:nvSpPr>
          <p:spPr>
            <a:xfrm>
              <a:off x="9430207" y="4104742"/>
              <a:ext cx="1862633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네비게이션 메뉴 확장(햄버거 → 링크)</a:t>
              </a:r>
              <a:endParaRPr lang="en-US" sz="1200" dirty="0"/>
            </a:p>
          </p:txBody>
        </p:sp>
        <p:pic>
          <p:nvPicPr>
            <p:cNvPr id="56" name="Image 14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9249156" y="4566514"/>
              <a:ext cx="105156" cy="114300"/>
            </a:xfrm>
            <a:prstGeom prst="rect">
              <a:avLst/>
            </a:prstGeom>
          </p:spPr>
        </p:pic>
        <p:sp>
          <p:nvSpPr>
            <p:cNvPr id="57" name="Text 40"/>
            <p:cNvSpPr txBox="1"/>
            <p:nvPr/>
          </p:nvSpPr>
          <p:spPr>
            <a:xfrm>
              <a:off x="9430207" y="4528109"/>
              <a:ext cx="1987906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Hover 효과 및 마우스 인터랙션</a:t>
              </a:r>
              <a:endParaRPr lang="en-US" sz="1200" dirty="0"/>
            </a:p>
          </p:txBody>
        </p:sp>
        <p:pic>
          <p:nvPicPr>
            <p:cNvPr id="58" name="Image 15" descr="preencoded.png"/>
            <p:cNvPicPr>
              <a:picLocks noChangeAspect="1"/>
            </p:cNvPicPr>
            <p:nvPr/>
          </p:nvPicPr>
          <p:blipFill>
            <a:blip r:embed="rId7"/>
            <a:srcRect l="-2571" r="-2571"/>
            <a:stretch/>
          </p:blipFill>
          <p:spPr>
            <a:xfrm>
              <a:off x="9249156" y="4816145"/>
              <a:ext cx="105156" cy="114300"/>
            </a:xfrm>
            <a:prstGeom prst="rect">
              <a:avLst/>
            </a:prstGeom>
          </p:spPr>
        </p:pic>
        <p:sp>
          <p:nvSpPr>
            <p:cNvPr id="59" name="Text 41"/>
            <p:cNvSpPr txBox="1"/>
            <p:nvPr/>
          </p:nvSpPr>
          <p:spPr>
            <a:xfrm>
              <a:off x="9430207" y="4777740"/>
              <a:ext cx="1952244" cy="3621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최대 너비(max-width) 제한 및 중앙 정렬</a:t>
              </a:r>
              <a:endParaRPr lang="en-US" sz="1200" dirty="0"/>
            </a:p>
          </p:txBody>
        </p:sp>
        <p:sp>
          <p:nvSpPr>
            <p:cNvPr id="60" name="Shape 42"/>
            <p:cNvSpPr/>
            <p:nvPr/>
          </p:nvSpPr>
          <p:spPr>
            <a:xfrm>
              <a:off x="609905" y="5676595"/>
              <a:ext cx="10972800" cy="724205"/>
            </a:xfrm>
            <a:prstGeom prst="roundRect">
              <a:avLst>
                <a:gd name="adj" fmla="val 13291"/>
              </a:avLst>
            </a:prstGeom>
            <a:solidFill>
              <a:srgbClr val="FFF8F3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61" name="Shape 43"/>
            <p:cNvSpPr/>
            <p:nvPr/>
          </p:nvSpPr>
          <p:spPr>
            <a:xfrm>
              <a:off x="609905" y="5676595"/>
              <a:ext cx="38405" cy="724205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pic>
          <p:nvPicPr>
            <p:cNvPr id="62" name="Image 16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875995" y="5898794"/>
              <a:ext cx="171907" cy="171907"/>
            </a:xfrm>
            <a:prstGeom prst="rect">
              <a:avLst/>
            </a:prstGeom>
          </p:spPr>
        </p:pic>
        <p:sp>
          <p:nvSpPr>
            <p:cNvPr id="63" name="Text 44"/>
            <p:cNvSpPr txBox="1"/>
            <p:nvPr/>
          </p:nvSpPr>
          <p:spPr>
            <a:xfrm>
              <a:off x="1162202" y="5829300"/>
              <a:ext cx="10268712" cy="419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DPR(Device Pixel Ratio) </a:t>
              </a:r>
              <a:r>
                <a:rPr lang="en-US" sz="1400" b="1" dirty="0" err="1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고려</a:t>
              </a:r>
              <a:r>
                <a:rPr lang="en-US" sz="1400" b="1" dirty="0">
                  <a:solidFill>
                    <a:srgbClr val="1F293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레티나 디스플레이 등 고해상도 화면에서는 이미지가 흐릿하게 보일 수 있으므로, </a:t>
              </a:r>
              <a:r>
                <a:rPr lang="en-US" sz="1400" dirty="0">
                  <a:solidFill>
                    <a:srgbClr val="4B5563"/>
                  </a:solidFill>
                  <a:latin typeface="ui-monospace" pitchFamily="34" charset="0"/>
                  <a:ea typeface="ui-monospace" pitchFamily="34" charset="-122"/>
                  <a:cs typeface="ui-monospace" pitchFamily="34" charset="-120"/>
                </a:rPr>
                <a:t>srcset</a:t>
              </a: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을 사용하여 2x, 3x 이미지를 제공하는 것이 좋습니다. 또한 Chrome 개발자 도구의 'Device Mode'를 활용하여 다양한 기기 환경을 시뮬레이션해보세요. </a:t>
              </a:r>
              <a:endParaRPr lang="en-US" sz="1400" dirty="0"/>
            </a:p>
          </p:txBody>
        </p:sp>
      </p:grp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359176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PERFORMANCE OPTIMIZATION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911016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6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</a:t>
            </a: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차세대 포맷 &amp; 반응형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343046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763212" y="1871820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58309" y="1957774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58710" y="2293316"/>
            <a:ext cx="3230575" cy="259415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8963" y="2493569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"Lighthouse 성능 점수를 개선하기 위해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125714" y="2775661"/>
            <a:ext cx="283921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최적화 태그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329065" y="2749144"/>
            <a:ext cx="978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작성해줘.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58963" y="3225089"/>
            <a:ext cx="2867558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AVIF와 WebP 포맷을 우선 지원하고 JPG를 폴백으로 사용.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058963" y="3712465"/>
            <a:ext cx="224851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화면 크기에 따른 반응형 이미지(srcset/sizes) 적용.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1058963" y="4199840"/>
            <a:ext cx="24295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레이아웃 시프트(CLS) 방지를 위한 width/height 속성 명시."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82473" y="5140758"/>
            <a:ext cx="3715207" cy="1295705"/>
          </a:xfrm>
          <a:prstGeom prst="roundRect">
            <a:avLst>
              <a:gd name="adj" fmla="val 4151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582473" y="5140758"/>
            <a:ext cx="38405" cy="1295705"/>
          </a:xfrm>
          <a:prstGeom prst="roundRect">
            <a:avLst>
              <a:gd name="adj" fmla="val 140055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11073" y="5319066"/>
            <a:ext cx="105156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53719" y="5311751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11073" y="5521148"/>
            <a:ext cx="3305556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loading="lazy" 속성은 뷰포트 아래에 있는 이미지에만 </a:t>
            </a: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적용하세요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LCP(Largest Contentful Paint) 요소인 히어로 이미지에는 loading="eager"나 fetchpriority="high"를 사용하는 것이 좋습니다.</a:t>
            </a:r>
            <a:endParaRPr lang="en-US" sz="11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45075" y="1684325"/>
            <a:ext cx="19248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(HTML)</a:t>
            </a:r>
            <a:endParaRPr lang="en-US" sz="10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5535778" y="2141525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4925873" y="2670048"/>
            <a:ext cx="427482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Picture 태그를 활용한 아트 디렉션 및 포맷 최적화 --&gt;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8998610" y="2670048"/>
            <a:ext cx="770839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&lt;picture&gt;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5078578" y="2884018"/>
            <a:ext cx="339608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&lt;!-- 1순위: AVIF 포맷 (가장 높은 압축률) --&gt;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078578" y="3098902"/>
            <a:ext cx="6007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&lt;source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5578754" y="3098902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srcset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6007608" y="309890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6078931" y="3098902"/>
            <a:ext cx="128107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"img/hero.avif"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7150608" y="3098902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type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7436815" y="309890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40" name="Text 32"/>
          <p:cNvSpPr txBox="1"/>
          <p:nvPr/>
        </p:nvSpPr>
        <p:spPr>
          <a:xfrm>
            <a:off x="7508138" y="3098902"/>
            <a:ext cx="102961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"image/avif"</a:t>
            </a:r>
            <a:endParaRPr lang="en-US" sz="1100" dirty="0"/>
          </a:p>
        </p:txBody>
      </p:sp>
      <p:sp>
        <p:nvSpPr>
          <p:cNvPr id="41" name="Text 33"/>
          <p:cNvSpPr txBox="1"/>
          <p:nvPr/>
        </p:nvSpPr>
        <p:spPr>
          <a:xfrm>
            <a:off x="8365846" y="3098902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1100" dirty="0"/>
          </a:p>
        </p:txBody>
      </p:sp>
      <p:sp>
        <p:nvSpPr>
          <p:cNvPr id="42" name="Text 34"/>
          <p:cNvSpPr txBox="1"/>
          <p:nvPr/>
        </p:nvSpPr>
        <p:spPr>
          <a:xfrm>
            <a:off x="5078578" y="3526841"/>
            <a:ext cx="414223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&lt;!-- 2순위: WebP 포맷 (대부분의 모던 브라우저 지원) --&gt;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5078578" y="3741725"/>
            <a:ext cx="6007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&lt;source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5578754" y="3741725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srcset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6007608" y="3741725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46" name="Text 38"/>
          <p:cNvSpPr txBox="1"/>
          <p:nvPr/>
        </p:nvSpPr>
        <p:spPr>
          <a:xfrm>
            <a:off x="6078931" y="3741725"/>
            <a:ext cx="128107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"img/hero.webp"</a:t>
            </a:r>
            <a:endParaRPr lang="en-US" sz="1100" dirty="0"/>
          </a:p>
        </p:txBody>
      </p:sp>
      <p:sp>
        <p:nvSpPr>
          <p:cNvPr id="47" name="Text 39"/>
          <p:cNvSpPr txBox="1"/>
          <p:nvPr/>
        </p:nvSpPr>
        <p:spPr>
          <a:xfrm>
            <a:off x="7150608" y="3741725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type</a:t>
            </a:r>
            <a:endParaRPr lang="en-US" sz="1100" dirty="0"/>
          </a:p>
        </p:txBody>
      </p:sp>
      <p:sp>
        <p:nvSpPr>
          <p:cNvPr id="48" name="Text 40"/>
          <p:cNvSpPr txBox="1"/>
          <p:nvPr/>
        </p:nvSpPr>
        <p:spPr>
          <a:xfrm>
            <a:off x="7436815" y="3741725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49" name="Text 41"/>
          <p:cNvSpPr txBox="1"/>
          <p:nvPr/>
        </p:nvSpPr>
        <p:spPr>
          <a:xfrm>
            <a:off x="7508138" y="3741725"/>
            <a:ext cx="102961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"image/webp"</a:t>
            </a:r>
            <a:endParaRPr lang="en-US" sz="1100" dirty="0"/>
          </a:p>
        </p:txBody>
      </p:sp>
      <p:sp>
        <p:nvSpPr>
          <p:cNvPr id="50" name="Text 42"/>
          <p:cNvSpPr txBox="1"/>
          <p:nvPr/>
        </p:nvSpPr>
        <p:spPr>
          <a:xfrm>
            <a:off x="8365846" y="3741725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1100" dirty="0"/>
          </a:p>
        </p:txBody>
      </p:sp>
      <p:sp>
        <p:nvSpPr>
          <p:cNvPr id="51" name="Text 43"/>
          <p:cNvSpPr txBox="1"/>
          <p:nvPr/>
        </p:nvSpPr>
        <p:spPr>
          <a:xfrm>
            <a:off x="5078578" y="4169664"/>
            <a:ext cx="472196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폴백 &amp; 반응형 설정 (width/height 필수 for CLS 방지) --&gt;</a:t>
            </a:r>
            <a:endParaRPr lang="en-US" sz="1100" dirty="0"/>
          </a:p>
        </p:txBody>
      </p:sp>
      <p:sp>
        <p:nvSpPr>
          <p:cNvPr id="52" name="Text 44"/>
          <p:cNvSpPr txBox="1"/>
          <p:nvPr/>
        </p:nvSpPr>
        <p:spPr>
          <a:xfrm>
            <a:off x="5078578" y="4384548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&lt;img</a:t>
            </a:r>
            <a:endParaRPr lang="en-US" sz="1100" dirty="0"/>
          </a:p>
        </p:txBody>
      </p:sp>
      <p:sp>
        <p:nvSpPr>
          <p:cNvPr id="53" name="Text 45"/>
          <p:cNvSpPr txBox="1"/>
          <p:nvPr/>
        </p:nvSpPr>
        <p:spPr>
          <a:xfrm>
            <a:off x="5078578" y="4598518"/>
            <a:ext cx="2953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</a:t>
            </a:r>
            <a:endParaRPr lang="en-US" sz="1100" dirty="0"/>
          </a:p>
        </p:txBody>
      </p:sp>
      <p:sp>
        <p:nvSpPr>
          <p:cNvPr id="54" name="Text 46"/>
          <p:cNvSpPr txBox="1"/>
          <p:nvPr/>
        </p:nvSpPr>
        <p:spPr>
          <a:xfrm>
            <a:off x="5293462" y="4598518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55" name="Text 47"/>
          <p:cNvSpPr txBox="1"/>
          <p:nvPr/>
        </p:nvSpPr>
        <p:spPr>
          <a:xfrm>
            <a:off x="5364785" y="4598518"/>
            <a:ext cx="12006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"img/hero.jpg"</a:t>
            </a:r>
            <a:endParaRPr lang="en-US" sz="1100" dirty="0"/>
          </a:p>
        </p:txBody>
      </p:sp>
      <p:sp>
        <p:nvSpPr>
          <p:cNvPr id="56" name="Text 48"/>
          <p:cNvSpPr txBox="1"/>
          <p:nvPr/>
        </p:nvSpPr>
        <p:spPr>
          <a:xfrm>
            <a:off x="5078578" y="4813402"/>
            <a:ext cx="2953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alt</a:t>
            </a:r>
            <a:endParaRPr lang="en-US" sz="1100" dirty="0"/>
          </a:p>
        </p:txBody>
      </p:sp>
      <p:sp>
        <p:nvSpPr>
          <p:cNvPr id="57" name="Text 49"/>
          <p:cNvSpPr txBox="1"/>
          <p:nvPr/>
        </p:nvSpPr>
        <p:spPr>
          <a:xfrm>
            <a:off x="5293462" y="481340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58" name="Text 50"/>
          <p:cNvSpPr txBox="1"/>
          <p:nvPr/>
        </p:nvSpPr>
        <p:spPr>
          <a:xfrm>
            <a:off x="5364785" y="4813402"/>
            <a:ext cx="205191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"Modern workspace setup"</a:t>
            </a:r>
            <a:endParaRPr lang="en-US" sz="1100" dirty="0"/>
          </a:p>
        </p:txBody>
      </p:sp>
      <p:sp>
        <p:nvSpPr>
          <p:cNvPr id="59" name="Text 51"/>
          <p:cNvSpPr txBox="1"/>
          <p:nvPr/>
        </p:nvSpPr>
        <p:spPr>
          <a:xfrm>
            <a:off x="5078578" y="5027371"/>
            <a:ext cx="191201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반응형 소스 세트 --&gt;</a:t>
            </a:r>
            <a:endParaRPr lang="en-US" sz="1100" dirty="0"/>
          </a:p>
        </p:txBody>
      </p:sp>
      <p:sp>
        <p:nvSpPr>
          <p:cNvPr id="60" name="Text 52"/>
          <p:cNvSpPr txBox="1"/>
          <p:nvPr/>
        </p:nvSpPr>
        <p:spPr>
          <a:xfrm>
            <a:off x="5078578" y="5241341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srcset</a:t>
            </a:r>
            <a:endParaRPr lang="en-US" sz="1100" dirty="0"/>
          </a:p>
        </p:txBody>
      </p:sp>
      <p:sp>
        <p:nvSpPr>
          <p:cNvPr id="61" name="Text 53"/>
          <p:cNvSpPr txBox="1"/>
          <p:nvPr/>
        </p:nvSpPr>
        <p:spPr>
          <a:xfrm>
            <a:off x="5507431" y="5241341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62" name="Text 54"/>
          <p:cNvSpPr txBox="1"/>
          <p:nvPr/>
        </p:nvSpPr>
        <p:spPr>
          <a:xfrm>
            <a:off x="5578754" y="5241341"/>
            <a:ext cx="5763463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"img/hero-480.jpg 480w, img/hero-800.jpg 800w, img/hero-1200.jpg 1200w"</a:t>
            </a:r>
            <a:endParaRPr lang="en-US" sz="1100" dirty="0"/>
          </a:p>
        </p:txBody>
      </p:sp>
      <p:sp>
        <p:nvSpPr>
          <p:cNvPr id="63" name="Text 55"/>
          <p:cNvSpPr txBox="1"/>
          <p:nvPr/>
        </p:nvSpPr>
        <p:spPr>
          <a:xfrm>
            <a:off x="5078578" y="5456225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sizes</a:t>
            </a:r>
            <a:endParaRPr lang="en-US" sz="1100" dirty="0"/>
          </a:p>
        </p:txBody>
      </p:sp>
      <p:sp>
        <p:nvSpPr>
          <p:cNvPr id="64" name="Text 56"/>
          <p:cNvSpPr txBox="1"/>
          <p:nvPr/>
        </p:nvSpPr>
        <p:spPr>
          <a:xfrm>
            <a:off x="5436108" y="5456225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65" name="Text 57"/>
          <p:cNvSpPr txBox="1"/>
          <p:nvPr/>
        </p:nvSpPr>
        <p:spPr>
          <a:xfrm>
            <a:off x="5507431" y="5456225"/>
            <a:ext cx="49816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"(max-width: 600px) 480px, (max-width: 900px) 800px, 1200px"</a:t>
            </a:r>
            <a:endParaRPr lang="en-US" sz="1100" dirty="0"/>
          </a:p>
        </p:txBody>
      </p:sp>
      <p:sp>
        <p:nvSpPr>
          <p:cNvPr id="66" name="Text 58"/>
          <p:cNvSpPr txBox="1"/>
          <p:nvPr/>
        </p:nvSpPr>
        <p:spPr>
          <a:xfrm>
            <a:off x="5078578" y="5670194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width</a:t>
            </a:r>
            <a:endParaRPr lang="en-US" sz="1100" dirty="0"/>
          </a:p>
        </p:txBody>
      </p:sp>
      <p:sp>
        <p:nvSpPr>
          <p:cNvPr id="67" name="Text 59"/>
          <p:cNvSpPr txBox="1"/>
          <p:nvPr/>
        </p:nvSpPr>
        <p:spPr>
          <a:xfrm>
            <a:off x="5436108" y="5670194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68" name="Text 60"/>
          <p:cNvSpPr txBox="1"/>
          <p:nvPr/>
        </p:nvSpPr>
        <p:spPr>
          <a:xfrm>
            <a:off x="5507431" y="5670194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"1200"</a:t>
            </a:r>
            <a:endParaRPr lang="en-US" sz="1100" dirty="0"/>
          </a:p>
        </p:txBody>
      </p:sp>
      <p:sp>
        <p:nvSpPr>
          <p:cNvPr id="69" name="Text 61"/>
          <p:cNvSpPr txBox="1"/>
          <p:nvPr/>
        </p:nvSpPr>
        <p:spPr>
          <a:xfrm>
            <a:off x="5936285" y="5670194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height</a:t>
            </a:r>
            <a:endParaRPr lang="en-US" sz="1100" dirty="0"/>
          </a:p>
        </p:txBody>
      </p:sp>
      <p:sp>
        <p:nvSpPr>
          <p:cNvPr id="70" name="Text 62"/>
          <p:cNvSpPr txBox="1"/>
          <p:nvPr/>
        </p:nvSpPr>
        <p:spPr>
          <a:xfrm>
            <a:off x="6365138" y="5670194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71" name="Text 63"/>
          <p:cNvSpPr txBox="1"/>
          <p:nvPr/>
        </p:nvSpPr>
        <p:spPr>
          <a:xfrm>
            <a:off x="6436462" y="5670194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"675"</a:t>
            </a:r>
            <a:endParaRPr lang="en-US" sz="1100" dirty="0"/>
          </a:p>
        </p:txBody>
      </p:sp>
      <p:sp>
        <p:nvSpPr>
          <p:cNvPr id="72" name="Text 64"/>
          <p:cNvSpPr txBox="1"/>
          <p:nvPr/>
        </p:nvSpPr>
        <p:spPr>
          <a:xfrm>
            <a:off x="5078578" y="5884164"/>
            <a:ext cx="6007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loading</a:t>
            </a:r>
            <a:endParaRPr lang="en-US" sz="1100" dirty="0"/>
          </a:p>
        </p:txBody>
      </p:sp>
      <p:sp>
        <p:nvSpPr>
          <p:cNvPr id="73" name="Text 65"/>
          <p:cNvSpPr txBox="1"/>
          <p:nvPr/>
        </p:nvSpPr>
        <p:spPr>
          <a:xfrm>
            <a:off x="5578754" y="5884164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74" name="Text 66"/>
          <p:cNvSpPr txBox="1"/>
          <p:nvPr/>
        </p:nvSpPr>
        <p:spPr>
          <a:xfrm>
            <a:off x="5650078" y="5884164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"lazy"</a:t>
            </a:r>
            <a:endParaRPr lang="en-US" sz="1100" dirty="0"/>
          </a:p>
        </p:txBody>
      </p:sp>
      <p:sp>
        <p:nvSpPr>
          <p:cNvPr id="75" name="Text 67"/>
          <p:cNvSpPr txBox="1"/>
          <p:nvPr/>
        </p:nvSpPr>
        <p:spPr>
          <a:xfrm>
            <a:off x="6078931" y="5884164"/>
            <a:ext cx="68671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decoding</a:t>
            </a:r>
            <a:endParaRPr lang="en-US" sz="1100" dirty="0"/>
          </a:p>
        </p:txBody>
      </p:sp>
      <p:sp>
        <p:nvSpPr>
          <p:cNvPr id="76" name="Text 68"/>
          <p:cNvSpPr txBox="1"/>
          <p:nvPr/>
        </p:nvSpPr>
        <p:spPr>
          <a:xfrm>
            <a:off x="6650431" y="5884164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77" name="Text 69"/>
          <p:cNvSpPr txBox="1"/>
          <p:nvPr/>
        </p:nvSpPr>
        <p:spPr>
          <a:xfrm>
            <a:off x="6722669" y="5884164"/>
            <a:ext cx="6007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"async"</a:t>
            </a:r>
            <a:endParaRPr lang="en-US" sz="1100" dirty="0"/>
          </a:p>
        </p:txBody>
      </p:sp>
      <p:sp>
        <p:nvSpPr>
          <p:cNvPr id="78" name="Text 70"/>
          <p:cNvSpPr txBox="1"/>
          <p:nvPr/>
        </p:nvSpPr>
        <p:spPr>
          <a:xfrm>
            <a:off x="7222846" y="5884164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1100" dirty="0"/>
          </a:p>
        </p:txBody>
      </p:sp>
      <p:sp>
        <p:nvSpPr>
          <p:cNvPr id="79" name="Text 71"/>
          <p:cNvSpPr txBox="1"/>
          <p:nvPr/>
        </p:nvSpPr>
        <p:spPr>
          <a:xfrm>
            <a:off x="4925873" y="6099048"/>
            <a:ext cx="8577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&lt;/picture&gt;</a:t>
            </a:r>
            <a:endParaRPr lang="en-US" sz="1100" dirty="0"/>
          </a:p>
        </p:txBody>
      </p:sp>
      <p:sp>
        <p:nvSpPr>
          <p:cNvPr id="8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5900623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CSS 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Minify &amp; Purge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09905" y="1310335"/>
            <a:ext cx="381305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086307" y="1310335"/>
            <a:ext cx="48006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[P6] 최적화 2단계: 불필요한 CSS 제거 및 파일 압축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02" b="-402"/>
          <a:stretch/>
        </p:blipFill>
        <p:spPr>
          <a:xfrm>
            <a:off x="1086307" y="3721608"/>
            <a:ext cx="10019995" cy="19202"/>
          </a:xfrm>
          <a:prstGeom prst="rect">
            <a:avLst/>
          </a:prstGeom>
        </p:spPr>
      </p:pic>
      <p:grpSp>
        <p:nvGrpSpPr>
          <p:cNvPr id="77" name="그룹 76">
            <a:extLst>
              <a:ext uri="{FF2B5EF4-FFF2-40B4-BE49-F238E27FC236}">
                <a16:creationId xmlns:a16="http://schemas.microsoft.com/office/drawing/2014/main" id="{2882FDA4-3E8F-E617-38B5-F81EB00F599F}"/>
              </a:ext>
            </a:extLst>
          </p:cNvPr>
          <p:cNvGrpSpPr/>
          <p:nvPr/>
        </p:nvGrpSpPr>
        <p:grpSpPr>
          <a:xfrm>
            <a:off x="800100" y="2402129"/>
            <a:ext cx="2476195" cy="3183026"/>
            <a:chOff x="800100" y="2559406"/>
            <a:chExt cx="2476195" cy="3183026"/>
          </a:xfrm>
        </p:grpSpPr>
        <p:pic>
          <p:nvPicPr>
            <p:cNvPr id="8" name="Image 1" descr="preencoded.png"/>
            <p:cNvPicPr>
              <a:picLocks noChangeAspect="1"/>
            </p:cNvPicPr>
            <p:nvPr/>
          </p:nvPicPr>
          <p:blipFill>
            <a:blip r:embed="rId4"/>
            <a:srcRect t="-4" b="-4"/>
            <a:stretch/>
          </p:blipFill>
          <p:spPr>
            <a:xfrm>
              <a:off x="800100" y="3359506"/>
              <a:ext cx="2476195" cy="2382926"/>
            </a:xfrm>
            <a:prstGeom prst="rect">
              <a:avLst/>
            </a:prstGeom>
          </p:spPr>
        </p:pic>
        <p:sp>
          <p:nvSpPr>
            <p:cNvPr id="9" name="Shape 5"/>
            <p:cNvSpPr/>
            <p:nvPr/>
          </p:nvSpPr>
          <p:spPr>
            <a:xfrm>
              <a:off x="809244" y="4940503"/>
              <a:ext cx="2457907" cy="9144"/>
            </a:xfrm>
            <a:prstGeom prst="roundRect">
              <a:avLst>
                <a:gd name="adj" fmla="val 963855"/>
              </a:avLst>
            </a:prstGeom>
            <a:solidFill>
              <a:srgbClr val="F3F4F6"/>
            </a:solidFill>
            <a:ln w="12700">
              <a:solidFill>
                <a:srgbClr val="F3F4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6"/>
            <p:cNvSpPr txBox="1"/>
            <p:nvPr/>
          </p:nvSpPr>
          <p:spPr>
            <a:xfrm>
              <a:off x="917143" y="4073652"/>
              <a:ext cx="2243023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도구 설치</a:t>
              </a:r>
              <a:endParaRPr lang="en-US" sz="14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961949" y="4369003"/>
              <a:ext cx="2153412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PurgeCSS 및 CLI 설치</a:t>
              </a:r>
              <a:endParaRPr lang="en-US" sz="1050" dirty="0"/>
            </a:p>
            <a:p>
              <a:pPr marL="0" indent="0" algn="ctr">
                <a:buNone/>
              </a:pPr>
              <a:r>
                <a:rPr lang="en-US" sz="10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개발 의존성으로 추가</a:t>
              </a:r>
              <a:endParaRPr lang="en-US" sz="1050" dirty="0"/>
            </a:p>
          </p:txBody>
        </p:sp>
        <p:sp>
          <p:nvSpPr>
            <p:cNvPr id="12" name="Shape 8"/>
            <p:cNvSpPr/>
            <p:nvPr/>
          </p:nvSpPr>
          <p:spPr>
            <a:xfrm>
              <a:off x="809244" y="4942332"/>
              <a:ext cx="2457907" cy="790956"/>
            </a:xfrm>
            <a:prstGeom prst="roundRect">
              <a:avLst>
                <a:gd name="adj" fmla="val 22286"/>
              </a:avLst>
            </a:prstGeom>
            <a:solidFill>
              <a:srgbClr val="1E1E1E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9"/>
            <p:cNvSpPr/>
            <p:nvPr/>
          </p:nvSpPr>
          <p:spPr>
            <a:xfrm>
              <a:off x="961949" y="5095037"/>
              <a:ext cx="75895" cy="75895"/>
            </a:xfrm>
            <a:prstGeom prst="ellipse">
              <a:avLst/>
            </a:prstGeom>
            <a:solidFill>
              <a:srgbClr val="FF5F5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0"/>
            <p:cNvSpPr/>
            <p:nvPr/>
          </p:nvSpPr>
          <p:spPr>
            <a:xfrm>
              <a:off x="1095451" y="5095037"/>
              <a:ext cx="75895" cy="75895"/>
            </a:xfrm>
            <a:prstGeom prst="ellipse">
              <a:avLst/>
            </a:prstGeom>
            <a:solidFill>
              <a:srgbClr val="FFBD2E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1"/>
            <p:cNvSpPr/>
            <p:nvPr/>
          </p:nvSpPr>
          <p:spPr>
            <a:xfrm>
              <a:off x="1228954" y="5095037"/>
              <a:ext cx="75895" cy="75895"/>
            </a:xfrm>
            <a:prstGeom prst="ellipse">
              <a:avLst/>
            </a:prstGeom>
            <a:solidFill>
              <a:srgbClr val="27C93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6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1904695" y="3640226"/>
              <a:ext cx="267005" cy="267005"/>
            </a:xfrm>
            <a:prstGeom prst="rect">
              <a:avLst/>
            </a:prstGeom>
          </p:spPr>
        </p:pic>
        <p:sp>
          <p:nvSpPr>
            <p:cNvPr id="17" name="Text 12"/>
            <p:cNvSpPr txBox="1"/>
            <p:nvPr/>
          </p:nvSpPr>
          <p:spPr>
            <a:xfrm>
              <a:off x="961949" y="5285232"/>
              <a:ext cx="14356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27C93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➜</a:t>
              </a:r>
              <a:endParaRPr lang="en-US" sz="8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1082650" y="5285232"/>
              <a:ext cx="882396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npm install -D</a:t>
              </a:r>
              <a:endParaRPr lang="en-US" sz="8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961949" y="5442509"/>
              <a:ext cx="49926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purgecss</a:t>
              </a:r>
              <a:endParaRPr lang="en-US" sz="800" dirty="0"/>
            </a:p>
          </p:txBody>
        </p:sp>
        <p:pic>
          <p:nvPicPr>
            <p:cNvPr id="20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752905" y="2559406"/>
              <a:ext cx="571500" cy="571500"/>
            </a:xfrm>
            <a:prstGeom prst="rect">
              <a:avLst/>
            </a:prstGeom>
          </p:spPr>
        </p:pic>
        <p:sp>
          <p:nvSpPr>
            <p:cNvPr id="21" name="Text 15"/>
            <p:cNvSpPr txBox="1"/>
            <p:nvPr/>
          </p:nvSpPr>
          <p:spPr>
            <a:xfrm>
              <a:off x="1975104" y="2673706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1800" dirty="0"/>
            </a:p>
          </p:txBody>
        </p:sp>
      </p:grp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3319272" y="4087368"/>
            <a:ext cx="123444" cy="190195"/>
          </a:xfrm>
          <a:prstGeom prst="rect">
            <a:avLst/>
          </a:prstGeom>
        </p:spPr>
      </p:pic>
      <p:grpSp>
        <p:nvGrpSpPr>
          <p:cNvPr id="74" name="그룹 73">
            <a:extLst>
              <a:ext uri="{FF2B5EF4-FFF2-40B4-BE49-F238E27FC236}">
                <a16:creationId xmlns:a16="http://schemas.microsoft.com/office/drawing/2014/main" id="{D0A8E698-297F-BC29-4444-E11CDE2CB632}"/>
              </a:ext>
            </a:extLst>
          </p:cNvPr>
          <p:cNvGrpSpPr/>
          <p:nvPr/>
        </p:nvGrpSpPr>
        <p:grpSpPr>
          <a:xfrm>
            <a:off x="3504895" y="2402129"/>
            <a:ext cx="2476195" cy="3497580"/>
            <a:chOff x="3504895" y="2402129"/>
            <a:chExt cx="2476195" cy="3497580"/>
          </a:xfrm>
        </p:grpSpPr>
        <p:pic>
          <p:nvPicPr>
            <p:cNvPr id="23" name="Image 5" descr="preencoded.png"/>
            <p:cNvPicPr>
              <a:picLocks noChangeAspect="1"/>
            </p:cNvPicPr>
            <p:nvPr/>
          </p:nvPicPr>
          <p:blipFill>
            <a:blip r:embed="rId8"/>
            <a:srcRect t="-8" b="-8"/>
            <a:stretch/>
          </p:blipFill>
          <p:spPr>
            <a:xfrm>
              <a:off x="3504895" y="3202229"/>
              <a:ext cx="2476195" cy="2697480"/>
            </a:xfrm>
            <a:prstGeom prst="rect">
              <a:avLst/>
            </a:prstGeom>
          </p:spPr>
        </p:pic>
        <p:sp>
          <p:nvSpPr>
            <p:cNvPr id="24" name="Shape 16"/>
            <p:cNvSpPr/>
            <p:nvPr/>
          </p:nvSpPr>
          <p:spPr>
            <a:xfrm>
              <a:off x="3514954" y="4784141"/>
              <a:ext cx="2457907" cy="9144"/>
            </a:xfrm>
            <a:prstGeom prst="roundRect">
              <a:avLst>
                <a:gd name="adj" fmla="val 963855"/>
              </a:avLst>
            </a:prstGeom>
            <a:solidFill>
              <a:srgbClr val="F3F4F6"/>
            </a:solidFill>
            <a:ln w="12700">
              <a:solidFill>
                <a:srgbClr val="F3F4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17"/>
            <p:cNvSpPr txBox="1"/>
            <p:nvPr/>
          </p:nvSpPr>
          <p:spPr>
            <a:xfrm>
              <a:off x="3664001" y="3916375"/>
              <a:ext cx="2159813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Purge 실행</a:t>
              </a:r>
              <a:endParaRPr lang="en-US" sz="1400" dirty="0"/>
            </a:p>
          </p:txBody>
        </p:sp>
        <p:sp>
          <p:nvSpPr>
            <p:cNvPr id="26" name="Text 18"/>
            <p:cNvSpPr txBox="1"/>
            <p:nvPr/>
          </p:nvSpPr>
          <p:spPr>
            <a:xfrm>
              <a:off x="3666744" y="4211726"/>
              <a:ext cx="2153412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사용하지 않는 CSS 제거</a:t>
              </a:r>
              <a:endParaRPr lang="en-US" sz="1050" dirty="0"/>
            </a:p>
            <a:p>
              <a:pPr marL="0" indent="0" algn="ctr">
                <a:buNone/>
              </a:pPr>
              <a:r>
                <a:rPr lang="en-US" sz="10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 파일 스캔</a:t>
              </a:r>
              <a:endParaRPr lang="en-US" sz="1050" dirty="0"/>
            </a:p>
          </p:txBody>
        </p:sp>
        <p:sp>
          <p:nvSpPr>
            <p:cNvPr id="27" name="Shape 19"/>
            <p:cNvSpPr/>
            <p:nvPr/>
          </p:nvSpPr>
          <p:spPr>
            <a:xfrm>
              <a:off x="3514954" y="4785055"/>
              <a:ext cx="2457907" cy="1104595"/>
            </a:xfrm>
            <a:prstGeom prst="roundRect">
              <a:avLst>
                <a:gd name="adj" fmla="val 11418"/>
              </a:avLst>
            </a:prstGeom>
            <a:solidFill>
              <a:srgbClr val="1E1E1E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0"/>
            <p:cNvSpPr/>
            <p:nvPr/>
          </p:nvSpPr>
          <p:spPr>
            <a:xfrm>
              <a:off x="3666744" y="4937760"/>
              <a:ext cx="75895" cy="75895"/>
            </a:xfrm>
            <a:prstGeom prst="ellipse">
              <a:avLst/>
            </a:prstGeom>
            <a:solidFill>
              <a:srgbClr val="FF5F5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1"/>
            <p:cNvSpPr/>
            <p:nvPr/>
          </p:nvSpPr>
          <p:spPr>
            <a:xfrm>
              <a:off x="3800246" y="4937760"/>
              <a:ext cx="75895" cy="75895"/>
            </a:xfrm>
            <a:prstGeom prst="ellipse">
              <a:avLst/>
            </a:prstGeom>
            <a:solidFill>
              <a:srgbClr val="FFBD2E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2"/>
            <p:cNvSpPr/>
            <p:nvPr/>
          </p:nvSpPr>
          <p:spPr>
            <a:xfrm>
              <a:off x="3933749" y="4937760"/>
              <a:ext cx="75895" cy="75895"/>
            </a:xfrm>
            <a:prstGeom prst="ellipse">
              <a:avLst/>
            </a:prstGeom>
            <a:solidFill>
              <a:srgbClr val="27C93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1" name="Image 6" descr="preencoded.png"/>
            <p:cNvPicPr>
              <a:picLocks noChangeAspect="1"/>
            </p:cNvPicPr>
            <p:nvPr/>
          </p:nvPicPr>
          <p:blipFill>
            <a:blip r:embed="rId9"/>
            <a:srcRect l="-685" r="-685"/>
            <a:stretch/>
          </p:blipFill>
          <p:spPr>
            <a:xfrm>
              <a:off x="4591202" y="3482950"/>
              <a:ext cx="304495" cy="267005"/>
            </a:xfrm>
            <a:prstGeom prst="rect">
              <a:avLst/>
            </a:prstGeom>
          </p:spPr>
        </p:pic>
        <p:sp>
          <p:nvSpPr>
            <p:cNvPr id="32" name="Text 23"/>
            <p:cNvSpPr txBox="1"/>
            <p:nvPr/>
          </p:nvSpPr>
          <p:spPr>
            <a:xfrm>
              <a:off x="3666744" y="5127955"/>
              <a:ext cx="14356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27C93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➜</a:t>
              </a:r>
              <a:endParaRPr lang="en-US" sz="800" dirty="0"/>
            </a:p>
          </p:txBody>
        </p:sp>
        <p:sp>
          <p:nvSpPr>
            <p:cNvPr id="33" name="Text 24"/>
            <p:cNvSpPr txBox="1"/>
            <p:nvPr/>
          </p:nvSpPr>
          <p:spPr>
            <a:xfrm>
              <a:off x="3787445" y="5127955"/>
              <a:ext cx="76261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npx purgecss</a:t>
              </a:r>
              <a:endParaRPr lang="en-US" sz="800" dirty="0"/>
            </a:p>
          </p:txBody>
        </p:sp>
        <p:sp>
          <p:nvSpPr>
            <p:cNvPr id="34" name="Text 25"/>
            <p:cNvSpPr txBox="1"/>
            <p:nvPr/>
          </p:nvSpPr>
          <p:spPr>
            <a:xfrm>
              <a:off x="3666744" y="5285232"/>
              <a:ext cx="94091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--css style.css</a:t>
              </a:r>
              <a:endParaRPr lang="en-US" sz="800" dirty="0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3666744" y="5442509"/>
              <a:ext cx="124724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--content index.html</a:t>
              </a:r>
              <a:endParaRPr lang="en-US" sz="800" dirty="0"/>
            </a:p>
          </p:txBody>
        </p:sp>
        <p:sp>
          <p:nvSpPr>
            <p:cNvPr id="36" name="Text 27"/>
            <p:cNvSpPr txBox="1"/>
            <p:nvPr/>
          </p:nvSpPr>
          <p:spPr>
            <a:xfrm>
              <a:off x="3666744" y="5599786"/>
              <a:ext cx="87325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--output dist/</a:t>
              </a:r>
              <a:endParaRPr lang="en-US" sz="800" dirty="0"/>
            </a:p>
          </p:txBody>
        </p:sp>
        <p:pic>
          <p:nvPicPr>
            <p:cNvPr id="37" name="Image 7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4457700" y="2402129"/>
              <a:ext cx="571500" cy="571500"/>
            </a:xfrm>
            <a:prstGeom prst="rect">
              <a:avLst/>
            </a:prstGeom>
          </p:spPr>
        </p:pic>
        <p:sp>
          <p:nvSpPr>
            <p:cNvPr id="38" name="Text 28"/>
            <p:cNvSpPr txBox="1"/>
            <p:nvPr/>
          </p:nvSpPr>
          <p:spPr>
            <a:xfrm>
              <a:off x="4679899" y="2516429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1800" dirty="0"/>
            </a:p>
          </p:txBody>
        </p:sp>
      </p:grp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10"/>
          <a:srcRect l="-1923" r="-1923"/>
          <a:stretch/>
        </p:blipFill>
        <p:spPr>
          <a:xfrm>
            <a:off x="6024982" y="4038905"/>
            <a:ext cx="123444" cy="190195"/>
          </a:xfrm>
          <a:prstGeom prst="rect">
            <a:avLst/>
          </a:prstGeom>
        </p:spPr>
      </p:pic>
      <p:grpSp>
        <p:nvGrpSpPr>
          <p:cNvPr id="75" name="그룹 74">
            <a:extLst>
              <a:ext uri="{FF2B5EF4-FFF2-40B4-BE49-F238E27FC236}">
                <a16:creationId xmlns:a16="http://schemas.microsoft.com/office/drawing/2014/main" id="{F27E9DDB-5597-A54E-CDED-E2F283D0B21A}"/>
              </a:ext>
            </a:extLst>
          </p:cNvPr>
          <p:cNvGrpSpPr/>
          <p:nvPr/>
        </p:nvGrpSpPr>
        <p:grpSpPr>
          <a:xfrm>
            <a:off x="6210605" y="2402129"/>
            <a:ext cx="2476195" cy="3183026"/>
            <a:chOff x="6210605" y="2559406"/>
            <a:chExt cx="2476195" cy="3183026"/>
          </a:xfrm>
        </p:grpSpPr>
        <p:pic>
          <p:nvPicPr>
            <p:cNvPr id="40" name="Image 9" descr="preencoded.png"/>
            <p:cNvPicPr>
              <a:picLocks noChangeAspect="1"/>
            </p:cNvPicPr>
            <p:nvPr/>
          </p:nvPicPr>
          <p:blipFill>
            <a:blip r:embed="rId4"/>
            <a:srcRect t="-4" b="-4"/>
            <a:stretch/>
          </p:blipFill>
          <p:spPr>
            <a:xfrm>
              <a:off x="6210605" y="3359506"/>
              <a:ext cx="2476195" cy="2382926"/>
            </a:xfrm>
            <a:prstGeom prst="rect">
              <a:avLst/>
            </a:prstGeom>
          </p:spPr>
        </p:pic>
        <p:sp>
          <p:nvSpPr>
            <p:cNvPr id="41" name="Shape 29"/>
            <p:cNvSpPr/>
            <p:nvPr/>
          </p:nvSpPr>
          <p:spPr>
            <a:xfrm>
              <a:off x="6219749" y="4940503"/>
              <a:ext cx="2457907" cy="9144"/>
            </a:xfrm>
            <a:prstGeom prst="roundRect">
              <a:avLst>
                <a:gd name="adj" fmla="val 963855"/>
              </a:avLst>
            </a:prstGeom>
            <a:solidFill>
              <a:srgbClr val="F3F4F6"/>
            </a:solidFill>
            <a:ln w="12700">
              <a:solidFill>
                <a:srgbClr val="F3F4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30"/>
            <p:cNvSpPr txBox="1"/>
            <p:nvPr/>
          </p:nvSpPr>
          <p:spPr>
            <a:xfrm>
              <a:off x="6368796" y="4073652"/>
              <a:ext cx="2159813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Minify (압축)</a:t>
              </a:r>
              <a:endParaRPr lang="en-US" sz="1400" dirty="0"/>
            </a:p>
          </p:txBody>
        </p:sp>
        <p:sp>
          <p:nvSpPr>
            <p:cNvPr id="43" name="Text 31"/>
            <p:cNvSpPr txBox="1"/>
            <p:nvPr/>
          </p:nvSpPr>
          <p:spPr>
            <a:xfrm>
              <a:off x="6372454" y="4369003"/>
              <a:ext cx="2153412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공백/주석 제거로</a:t>
              </a:r>
              <a:endParaRPr lang="en-US" sz="1050" dirty="0"/>
            </a:p>
            <a:p>
              <a:pPr marL="0" indent="0" algn="ctr">
                <a:buNone/>
              </a:pPr>
              <a:r>
                <a:rPr lang="en-US" sz="10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파일 크기 최소화</a:t>
              </a:r>
              <a:endParaRPr lang="en-US" sz="1050" dirty="0"/>
            </a:p>
          </p:txBody>
        </p:sp>
        <p:sp>
          <p:nvSpPr>
            <p:cNvPr id="44" name="Shape 32"/>
            <p:cNvSpPr/>
            <p:nvPr/>
          </p:nvSpPr>
          <p:spPr>
            <a:xfrm>
              <a:off x="6219749" y="4942332"/>
              <a:ext cx="2457907" cy="790956"/>
            </a:xfrm>
            <a:prstGeom prst="roundRect">
              <a:avLst>
                <a:gd name="adj" fmla="val 22286"/>
              </a:avLst>
            </a:prstGeom>
            <a:solidFill>
              <a:srgbClr val="1E1E1E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Shape 33"/>
            <p:cNvSpPr/>
            <p:nvPr/>
          </p:nvSpPr>
          <p:spPr>
            <a:xfrm>
              <a:off x="6372454" y="5095037"/>
              <a:ext cx="75895" cy="75895"/>
            </a:xfrm>
            <a:prstGeom prst="ellipse">
              <a:avLst/>
            </a:prstGeom>
            <a:solidFill>
              <a:srgbClr val="FF5F5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Shape 34"/>
            <p:cNvSpPr/>
            <p:nvPr/>
          </p:nvSpPr>
          <p:spPr>
            <a:xfrm>
              <a:off x="6505956" y="5095037"/>
              <a:ext cx="75895" cy="75895"/>
            </a:xfrm>
            <a:prstGeom prst="ellipse">
              <a:avLst/>
            </a:prstGeom>
            <a:solidFill>
              <a:srgbClr val="FFBD2E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Shape 35"/>
            <p:cNvSpPr/>
            <p:nvPr/>
          </p:nvSpPr>
          <p:spPr>
            <a:xfrm>
              <a:off x="6638544" y="5095037"/>
              <a:ext cx="75895" cy="75895"/>
            </a:xfrm>
            <a:prstGeom prst="ellipse">
              <a:avLst/>
            </a:prstGeom>
            <a:solidFill>
              <a:srgbClr val="27C93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8" name="Image 10" descr="preencoded.png"/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7348118" y="3640226"/>
              <a:ext cx="200254" cy="267005"/>
            </a:xfrm>
            <a:prstGeom prst="rect">
              <a:avLst/>
            </a:prstGeom>
          </p:spPr>
        </p:pic>
        <p:sp>
          <p:nvSpPr>
            <p:cNvPr id="49" name="Text 36"/>
            <p:cNvSpPr txBox="1"/>
            <p:nvPr/>
          </p:nvSpPr>
          <p:spPr>
            <a:xfrm>
              <a:off x="6372454" y="5285232"/>
              <a:ext cx="14356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27C93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➜</a:t>
              </a:r>
              <a:endParaRPr lang="en-US" sz="800" dirty="0"/>
            </a:p>
          </p:txBody>
        </p:sp>
        <p:sp>
          <p:nvSpPr>
            <p:cNvPr id="50" name="Text 37"/>
            <p:cNvSpPr txBox="1"/>
            <p:nvPr/>
          </p:nvSpPr>
          <p:spPr>
            <a:xfrm>
              <a:off x="6372454" y="5285232"/>
              <a:ext cx="2190902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npx esbuild dist/style.css --minify --outfile=dist/style.min.css</a:t>
              </a:r>
              <a:endParaRPr lang="en-US" sz="800" dirty="0"/>
            </a:p>
          </p:txBody>
        </p:sp>
        <p:pic>
          <p:nvPicPr>
            <p:cNvPr id="51" name="Image 11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7162495" y="2559406"/>
              <a:ext cx="571500" cy="571500"/>
            </a:xfrm>
            <a:prstGeom prst="rect">
              <a:avLst/>
            </a:prstGeom>
          </p:spPr>
        </p:pic>
        <p:sp>
          <p:nvSpPr>
            <p:cNvPr id="52" name="Text 38"/>
            <p:cNvSpPr txBox="1"/>
            <p:nvPr/>
          </p:nvSpPr>
          <p:spPr>
            <a:xfrm>
              <a:off x="7384694" y="2673706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1800" dirty="0"/>
            </a:p>
          </p:txBody>
        </p:sp>
      </p:grp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12"/>
          <a:srcRect l="-1923" r="-1923"/>
          <a:stretch/>
        </p:blipFill>
        <p:spPr>
          <a:xfrm>
            <a:off x="8738006" y="3952037"/>
            <a:ext cx="123444" cy="190195"/>
          </a:xfrm>
          <a:prstGeom prst="rect">
            <a:avLst/>
          </a:prstGeom>
        </p:spPr>
      </p:pic>
      <p:grpSp>
        <p:nvGrpSpPr>
          <p:cNvPr id="76" name="그룹 75">
            <a:extLst>
              <a:ext uri="{FF2B5EF4-FFF2-40B4-BE49-F238E27FC236}">
                <a16:creationId xmlns:a16="http://schemas.microsoft.com/office/drawing/2014/main" id="{16676AED-2127-AD73-C309-06ADDF041D3F}"/>
              </a:ext>
            </a:extLst>
          </p:cNvPr>
          <p:cNvGrpSpPr/>
          <p:nvPr/>
        </p:nvGrpSpPr>
        <p:grpSpPr>
          <a:xfrm>
            <a:off x="8915400" y="2402129"/>
            <a:ext cx="2476195" cy="3340303"/>
            <a:chOff x="8915400" y="2480767"/>
            <a:chExt cx="2476195" cy="3340303"/>
          </a:xfrm>
        </p:grpSpPr>
        <p:pic>
          <p:nvPicPr>
            <p:cNvPr id="54" name="Image 13" descr="preencoded.png"/>
            <p:cNvPicPr>
              <a:picLocks noChangeAspect="1"/>
            </p:cNvPicPr>
            <p:nvPr/>
          </p:nvPicPr>
          <p:blipFill>
            <a:blip r:embed="rId13"/>
            <a:srcRect t="-6" b="-6"/>
            <a:stretch/>
          </p:blipFill>
          <p:spPr>
            <a:xfrm>
              <a:off x="8915400" y="3280867"/>
              <a:ext cx="2476195" cy="2540203"/>
            </a:xfrm>
            <a:prstGeom prst="rect">
              <a:avLst/>
            </a:prstGeom>
          </p:spPr>
        </p:pic>
        <p:sp>
          <p:nvSpPr>
            <p:cNvPr id="55" name="Shape 39"/>
            <p:cNvSpPr/>
            <p:nvPr/>
          </p:nvSpPr>
          <p:spPr>
            <a:xfrm>
              <a:off x="8924544" y="4861865"/>
              <a:ext cx="2457907" cy="9144"/>
            </a:xfrm>
            <a:prstGeom prst="roundRect">
              <a:avLst>
                <a:gd name="adj" fmla="val 963855"/>
              </a:avLst>
            </a:prstGeom>
            <a:solidFill>
              <a:srgbClr val="F3F4F6"/>
            </a:solidFill>
            <a:ln w="12700">
              <a:solidFill>
                <a:srgbClr val="F3F4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6" name="Text 40"/>
            <p:cNvSpPr txBox="1"/>
            <p:nvPr/>
          </p:nvSpPr>
          <p:spPr>
            <a:xfrm>
              <a:off x="9032443" y="3995014"/>
              <a:ext cx="2243023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검증 및 예외처리</a:t>
              </a:r>
              <a:endParaRPr lang="en-US" sz="1400" dirty="0"/>
            </a:p>
          </p:txBody>
        </p:sp>
        <p:sp>
          <p:nvSpPr>
            <p:cNvPr id="57" name="Text 41"/>
            <p:cNvSpPr txBox="1"/>
            <p:nvPr/>
          </p:nvSpPr>
          <p:spPr>
            <a:xfrm>
              <a:off x="9077249" y="4290365"/>
              <a:ext cx="2153412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동적 클래스 유지 (safelist)</a:t>
              </a:r>
              <a:endParaRPr lang="en-US" sz="1050" dirty="0"/>
            </a:p>
            <a:p>
              <a:pPr marL="0" indent="0" algn="ctr">
                <a:buNone/>
              </a:pPr>
              <a:r>
                <a:rPr lang="en-US" sz="105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최종 크기 확인</a:t>
              </a:r>
              <a:endParaRPr lang="en-US" sz="1050" dirty="0"/>
            </a:p>
          </p:txBody>
        </p:sp>
        <p:sp>
          <p:nvSpPr>
            <p:cNvPr id="58" name="Shape 42"/>
            <p:cNvSpPr/>
            <p:nvPr/>
          </p:nvSpPr>
          <p:spPr>
            <a:xfrm>
              <a:off x="8924544" y="4863694"/>
              <a:ext cx="2457907" cy="952805"/>
            </a:xfrm>
            <a:prstGeom prst="roundRect">
              <a:avLst>
                <a:gd name="adj" fmla="val 15355"/>
              </a:avLst>
            </a:prstGeom>
            <a:solidFill>
              <a:srgbClr val="1E1E1E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9" name="Shape 43"/>
            <p:cNvSpPr/>
            <p:nvPr/>
          </p:nvSpPr>
          <p:spPr>
            <a:xfrm>
              <a:off x="9077249" y="5016398"/>
              <a:ext cx="75895" cy="75895"/>
            </a:xfrm>
            <a:prstGeom prst="ellipse">
              <a:avLst/>
            </a:prstGeom>
            <a:solidFill>
              <a:srgbClr val="FF5F5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Shape 44"/>
            <p:cNvSpPr/>
            <p:nvPr/>
          </p:nvSpPr>
          <p:spPr>
            <a:xfrm>
              <a:off x="9210751" y="5016398"/>
              <a:ext cx="75895" cy="75895"/>
            </a:xfrm>
            <a:prstGeom prst="ellipse">
              <a:avLst/>
            </a:prstGeom>
            <a:solidFill>
              <a:srgbClr val="FFBD2E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1" name="Shape 45"/>
            <p:cNvSpPr/>
            <p:nvPr/>
          </p:nvSpPr>
          <p:spPr>
            <a:xfrm>
              <a:off x="9344254" y="5016398"/>
              <a:ext cx="75895" cy="75895"/>
            </a:xfrm>
            <a:prstGeom prst="ellipse">
              <a:avLst/>
            </a:prstGeom>
            <a:solidFill>
              <a:srgbClr val="27C93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62" name="Image 14" descr="preencoded.png"/>
            <p:cNvPicPr>
              <a:picLocks noChangeAspect="1"/>
            </p:cNvPicPr>
            <p:nvPr/>
          </p:nvPicPr>
          <p:blipFill>
            <a:blip r:embed="rId14"/>
            <a:srcRect/>
            <a:stretch/>
          </p:blipFill>
          <p:spPr>
            <a:xfrm>
              <a:off x="10019995" y="3561588"/>
              <a:ext cx="267005" cy="267005"/>
            </a:xfrm>
            <a:prstGeom prst="rect">
              <a:avLst/>
            </a:prstGeom>
          </p:spPr>
        </p:pic>
        <p:sp>
          <p:nvSpPr>
            <p:cNvPr id="63" name="Text 46"/>
            <p:cNvSpPr txBox="1"/>
            <p:nvPr/>
          </p:nvSpPr>
          <p:spPr>
            <a:xfrm>
              <a:off x="9077249" y="5206594"/>
              <a:ext cx="14356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27C93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➜</a:t>
              </a:r>
              <a:endParaRPr lang="en-US" sz="800" dirty="0"/>
            </a:p>
          </p:txBody>
        </p:sp>
        <p:sp>
          <p:nvSpPr>
            <p:cNvPr id="64" name="Text 47"/>
            <p:cNvSpPr txBox="1"/>
            <p:nvPr/>
          </p:nvSpPr>
          <p:spPr>
            <a:xfrm>
              <a:off x="9197950" y="5206594"/>
              <a:ext cx="76261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ls -lh dist/</a:t>
              </a:r>
              <a:endParaRPr lang="en-US" sz="800" dirty="0"/>
            </a:p>
          </p:txBody>
        </p:sp>
        <p:sp>
          <p:nvSpPr>
            <p:cNvPr id="65" name="Text 48"/>
            <p:cNvSpPr txBox="1"/>
            <p:nvPr/>
          </p:nvSpPr>
          <p:spPr>
            <a:xfrm>
              <a:off x="9077249" y="5363870"/>
              <a:ext cx="1190549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b="1" dirty="0">
                  <a:solidFill>
                    <a:srgbClr val="FF690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style.min.css (4KB)</a:t>
              </a:r>
              <a:endParaRPr lang="en-US" sz="800" dirty="0"/>
            </a:p>
          </p:txBody>
        </p:sp>
        <p:sp>
          <p:nvSpPr>
            <p:cNvPr id="66" name="Text 49"/>
            <p:cNvSpPr txBox="1"/>
            <p:nvPr/>
          </p:nvSpPr>
          <p:spPr>
            <a:xfrm>
              <a:off x="9077249" y="5521147"/>
              <a:ext cx="149687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800" dirty="0">
                  <a:solidFill>
                    <a:srgbClr val="6B728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 safelist: active, show</a:t>
              </a:r>
              <a:endParaRPr lang="en-US" sz="800" dirty="0"/>
            </a:p>
          </p:txBody>
        </p:sp>
        <p:pic>
          <p:nvPicPr>
            <p:cNvPr id="67" name="Image 15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9868205" y="2480767"/>
              <a:ext cx="571500" cy="571500"/>
            </a:xfrm>
            <a:prstGeom prst="rect">
              <a:avLst/>
            </a:prstGeom>
          </p:spPr>
        </p:pic>
        <p:sp>
          <p:nvSpPr>
            <p:cNvPr id="68" name="Text 50"/>
            <p:cNvSpPr txBox="1"/>
            <p:nvPr/>
          </p:nvSpPr>
          <p:spPr>
            <a:xfrm>
              <a:off x="10090404" y="2595067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800" dirty="0"/>
            </a:p>
          </p:txBody>
        </p:sp>
      </p:grpSp>
      <p:sp>
        <p:nvSpPr>
          <p:cNvPr id="7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6533388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esbuild 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Optimization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09905" y="1310335"/>
            <a:ext cx="381305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086307" y="1310335"/>
            <a:ext cx="32543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번들링, 압축, 코드 분할 프로세스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02" b="-402"/>
          <a:stretch/>
        </p:blipFill>
        <p:spPr>
          <a:xfrm>
            <a:off x="1086307" y="3721608"/>
            <a:ext cx="10019995" cy="19202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800100" y="3280867"/>
            <a:ext cx="2476195" cy="2540203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09244" y="4861865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17143" y="3995014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번들링 &amp; 압축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61949" y="429036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파일 병합 및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공백/주석 제거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09244" y="4863694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61949" y="5016398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1095451" y="5016398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1228954" y="5016398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871777" y="3561588"/>
            <a:ext cx="333756" cy="2670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61949" y="5206594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18" name="Text 13"/>
          <p:cNvSpPr txBox="1"/>
          <p:nvPr/>
        </p:nvSpPr>
        <p:spPr>
          <a:xfrm>
            <a:off x="1082650" y="5206594"/>
            <a:ext cx="119695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npx esbuild main.js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961949" y="5363870"/>
            <a:ext cx="10661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--bundle --minify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961949" y="5521147"/>
            <a:ext cx="13149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--outfile=dist/app.js</a:t>
            </a:r>
            <a:endParaRPr lang="en-US" sz="8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752905" y="2480767"/>
            <a:ext cx="571500" cy="5715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975104" y="2595067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3340760" y="3626511"/>
            <a:ext cx="123444" cy="190195"/>
          </a:xfrm>
          <a:prstGeom prst="rect">
            <a:avLst/>
          </a:prstGeom>
        </p:spPr>
      </p:pic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3504895" y="3280867"/>
            <a:ext cx="2476195" cy="2540203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3514954" y="4861865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3621938" y="3995014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분할</a:t>
            </a:r>
            <a:endParaRPr lang="en-US" sz="1600" dirty="0"/>
          </a:p>
        </p:txBody>
      </p:sp>
      <p:sp>
        <p:nvSpPr>
          <p:cNvPr id="27" name="Text 19"/>
          <p:cNvSpPr txBox="1"/>
          <p:nvPr/>
        </p:nvSpPr>
        <p:spPr>
          <a:xfrm>
            <a:off x="3666744" y="429036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비동기 로딩을 위한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청크(Chunk) 파일 생성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3514954" y="4863694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3666744" y="5016398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3800246" y="5016398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3933749" y="5016398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8"/>
          <a:srcRect l="-685" r="-685"/>
          <a:stretch/>
        </p:blipFill>
        <p:spPr>
          <a:xfrm>
            <a:off x="4591202" y="3561588"/>
            <a:ext cx="304495" cy="26700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3666744" y="5206594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34" name="Text 25"/>
          <p:cNvSpPr txBox="1"/>
          <p:nvPr/>
        </p:nvSpPr>
        <p:spPr>
          <a:xfrm>
            <a:off x="3787445" y="5206594"/>
            <a:ext cx="7050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--splitting</a:t>
            </a:r>
            <a:endParaRPr lang="en-US" sz="800" dirty="0"/>
          </a:p>
        </p:txBody>
      </p:sp>
      <p:sp>
        <p:nvSpPr>
          <p:cNvPr id="35" name="Text 26"/>
          <p:cNvSpPr txBox="1"/>
          <p:nvPr/>
        </p:nvSpPr>
        <p:spPr>
          <a:xfrm>
            <a:off x="3666744" y="5363870"/>
            <a:ext cx="74889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--format=esm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3666744" y="5521147"/>
            <a:ext cx="124724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--outdir=dist/chunks</a:t>
            </a:r>
            <a:endParaRPr lang="en-US" sz="8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57700" y="2480767"/>
            <a:ext cx="571500" cy="571500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4679899" y="2595067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6046470" y="3626511"/>
            <a:ext cx="123444" cy="190195"/>
          </a:xfrm>
          <a:prstGeom prst="rect">
            <a:avLst/>
          </a:prstGeom>
        </p:spPr>
      </p:pic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6210605" y="3280867"/>
            <a:ext cx="2476195" cy="2540203"/>
          </a:xfrm>
          <a:prstGeom prst="rect">
            <a:avLst/>
          </a:prstGeom>
        </p:spPr>
      </p:pic>
      <p:sp>
        <p:nvSpPr>
          <p:cNvPr id="41" name="Shape 29"/>
          <p:cNvSpPr/>
          <p:nvPr/>
        </p:nvSpPr>
        <p:spPr>
          <a:xfrm>
            <a:off x="6219749" y="4861865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0"/>
          <p:cNvSpPr txBox="1"/>
          <p:nvPr/>
        </p:nvSpPr>
        <p:spPr>
          <a:xfrm>
            <a:off x="6368796" y="3995014"/>
            <a:ext cx="21598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Tree Shaking</a:t>
            </a:r>
            <a:endParaRPr lang="en-US" sz="1600" dirty="0"/>
          </a:p>
        </p:txBody>
      </p:sp>
      <p:sp>
        <p:nvSpPr>
          <p:cNvPr id="43" name="Text 31"/>
          <p:cNvSpPr txBox="1"/>
          <p:nvPr/>
        </p:nvSpPr>
        <p:spPr>
          <a:xfrm>
            <a:off x="6372454" y="429036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사용하지 않는 코드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제거 (기본 활성)</a:t>
            </a:r>
            <a:endParaRPr lang="en-US" sz="1100" dirty="0"/>
          </a:p>
        </p:txBody>
      </p:sp>
      <p:sp>
        <p:nvSpPr>
          <p:cNvPr id="44" name="Shape 32"/>
          <p:cNvSpPr/>
          <p:nvPr/>
        </p:nvSpPr>
        <p:spPr>
          <a:xfrm>
            <a:off x="6219749" y="4863694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3"/>
          <p:cNvSpPr/>
          <p:nvPr/>
        </p:nvSpPr>
        <p:spPr>
          <a:xfrm>
            <a:off x="6372454" y="5016398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6505956" y="5016398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5"/>
          <p:cNvSpPr/>
          <p:nvPr/>
        </p:nvSpPr>
        <p:spPr>
          <a:xfrm>
            <a:off x="6638544" y="5016398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315200" y="3561588"/>
            <a:ext cx="267005" cy="267005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6372454" y="5206594"/>
            <a:ext cx="10661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Tree-shaking is</a:t>
            </a:r>
            <a:endParaRPr lang="en-US" sz="800" dirty="0"/>
          </a:p>
        </p:txBody>
      </p:sp>
      <p:sp>
        <p:nvSpPr>
          <p:cNvPr id="50" name="Text 37"/>
          <p:cNvSpPr txBox="1"/>
          <p:nvPr/>
        </p:nvSpPr>
        <p:spPr>
          <a:xfrm>
            <a:off x="6372454" y="5363870"/>
            <a:ext cx="124724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enabled by default</a:t>
            </a:r>
            <a:endParaRPr lang="en-US" sz="800" dirty="0"/>
          </a:p>
        </p:txBody>
      </p:sp>
      <p:sp>
        <p:nvSpPr>
          <p:cNvPr id="51" name="Text 38"/>
          <p:cNvSpPr txBox="1"/>
          <p:nvPr/>
        </p:nvSpPr>
        <p:spPr>
          <a:xfrm>
            <a:off x="6372454" y="5521147"/>
            <a:ext cx="94091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when bundling</a:t>
            </a:r>
            <a:endParaRPr lang="en-US" sz="800" dirty="0"/>
          </a:p>
        </p:txBody>
      </p:sp>
      <p:pic>
        <p:nvPicPr>
          <p:cNvPr id="52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62495" y="2480767"/>
            <a:ext cx="571500" cy="571500"/>
          </a:xfrm>
          <a:prstGeom prst="rect">
            <a:avLst/>
          </a:prstGeom>
        </p:spPr>
      </p:pic>
      <p:sp>
        <p:nvSpPr>
          <p:cNvPr id="53" name="Text 39"/>
          <p:cNvSpPr txBox="1"/>
          <p:nvPr/>
        </p:nvSpPr>
        <p:spPr>
          <a:xfrm>
            <a:off x="7384694" y="2595067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8751265" y="3626511"/>
            <a:ext cx="123444" cy="190195"/>
          </a:xfrm>
          <a:prstGeom prst="rect">
            <a:avLst/>
          </a:prstGeom>
        </p:spPr>
      </p:pic>
      <p:pic>
        <p:nvPicPr>
          <p:cNvPr id="55" name="Image 13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8915400" y="3280867"/>
            <a:ext cx="2476195" cy="2540203"/>
          </a:xfrm>
          <a:prstGeom prst="rect">
            <a:avLst/>
          </a:prstGeom>
        </p:spPr>
      </p:pic>
      <p:sp>
        <p:nvSpPr>
          <p:cNvPr id="56" name="Shape 40"/>
          <p:cNvSpPr/>
          <p:nvPr/>
        </p:nvSpPr>
        <p:spPr>
          <a:xfrm>
            <a:off x="8924544" y="4861865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1"/>
          <p:cNvSpPr txBox="1"/>
          <p:nvPr/>
        </p:nvSpPr>
        <p:spPr>
          <a:xfrm>
            <a:off x="9032443" y="3995014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소스맵 생성</a:t>
            </a:r>
            <a:endParaRPr lang="en-US" sz="1600" dirty="0"/>
          </a:p>
        </p:txBody>
      </p:sp>
      <p:sp>
        <p:nvSpPr>
          <p:cNvPr id="58" name="Text 42"/>
          <p:cNvSpPr txBox="1"/>
          <p:nvPr/>
        </p:nvSpPr>
        <p:spPr>
          <a:xfrm>
            <a:off x="9077249" y="429036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디버깅을 위한 원본 코드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매핑 파일 생성</a:t>
            </a:r>
            <a:endParaRPr lang="en-US" sz="1100" dirty="0"/>
          </a:p>
        </p:txBody>
      </p:sp>
      <p:sp>
        <p:nvSpPr>
          <p:cNvPr id="59" name="Shape 43"/>
          <p:cNvSpPr/>
          <p:nvPr/>
        </p:nvSpPr>
        <p:spPr>
          <a:xfrm>
            <a:off x="8924544" y="4863694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44"/>
          <p:cNvSpPr/>
          <p:nvPr/>
        </p:nvSpPr>
        <p:spPr>
          <a:xfrm>
            <a:off x="9077249" y="5016398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45"/>
          <p:cNvSpPr/>
          <p:nvPr/>
        </p:nvSpPr>
        <p:spPr>
          <a:xfrm>
            <a:off x="9210751" y="5016398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46"/>
          <p:cNvSpPr/>
          <p:nvPr/>
        </p:nvSpPr>
        <p:spPr>
          <a:xfrm>
            <a:off x="9344254" y="5016398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3" name="Image 14" descr="preencoded.png"/>
          <p:cNvPicPr>
            <a:picLocks noChangeAspect="1"/>
          </p:cNvPicPr>
          <p:nvPr/>
        </p:nvPicPr>
        <p:blipFill>
          <a:blip r:embed="rId10"/>
          <a:srcRect l="-685" r="-685"/>
          <a:stretch/>
        </p:blipFill>
        <p:spPr>
          <a:xfrm>
            <a:off x="10001707" y="3561588"/>
            <a:ext cx="304495" cy="267005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9077249" y="5206594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65" name="Text 48"/>
          <p:cNvSpPr txBox="1"/>
          <p:nvPr/>
        </p:nvSpPr>
        <p:spPr>
          <a:xfrm>
            <a:off x="9197950" y="5206594"/>
            <a:ext cx="7050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--sourcemap</a:t>
            </a:r>
            <a:endParaRPr lang="en-US" sz="800" dirty="0"/>
          </a:p>
        </p:txBody>
      </p:sp>
      <p:sp>
        <p:nvSpPr>
          <p:cNvPr id="66" name="Text 49"/>
          <p:cNvSpPr txBox="1"/>
          <p:nvPr/>
        </p:nvSpPr>
        <p:spPr>
          <a:xfrm>
            <a:off x="9077249" y="5363870"/>
            <a:ext cx="124724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Creates app.js.map</a:t>
            </a:r>
            <a:endParaRPr lang="en-US" sz="800" dirty="0"/>
          </a:p>
        </p:txBody>
      </p:sp>
      <p:sp>
        <p:nvSpPr>
          <p:cNvPr id="67" name="Text 50"/>
          <p:cNvSpPr txBox="1"/>
          <p:nvPr/>
        </p:nvSpPr>
        <p:spPr>
          <a:xfrm>
            <a:off x="9077249" y="5521147"/>
            <a:ext cx="112288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linked in output</a:t>
            </a:r>
            <a:endParaRPr lang="en-US" sz="800" dirty="0"/>
          </a:p>
        </p:txBody>
      </p:sp>
      <p:pic>
        <p:nvPicPr>
          <p:cNvPr id="68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868205" y="2480767"/>
            <a:ext cx="571500" cy="571500"/>
          </a:xfrm>
          <a:prstGeom prst="rect">
            <a:avLst/>
          </a:prstGeom>
        </p:spPr>
      </p:pic>
      <p:sp>
        <p:nvSpPr>
          <p:cNvPr id="69" name="Text 51"/>
          <p:cNvSpPr txBox="1"/>
          <p:nvPr/>
        </p:nvSpPr>
        <p:spPr>
          <a:xfrm>
            <a:off x="10090404" y="2595067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7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309067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OPTIMIZATION STRATEGY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810707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[P6] 최적화4: Preload/Prefetch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2878532"/>
          </a:xfrm>
          <a:prstGeom prst="roundRect">
            <a:avLst>
              <a:gd name="adj" fmla="val 161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832816" y="1832893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927913" y="1918847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9" b="-9"/>
          <a:stretch/>
        </p:blipFill>
        <p:spPr>
          <a:xfrm>
            <a:off x="858623" y="2272503"/>
            <a:ext cx="3230575" cy="210677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8876" y="2472756"/>
            <a:ext cx="3007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"초기 로딩 속도(LCP)를 개선하기 위해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49732" y="2739304"/>
            <a:ext cx="2848356" cy="182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리소스(폰트, 히어로 이미지)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056133" y="2989850"/>
            <a:ext cx="28008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높은 우선순위로 로드하는 HTML 태그를 작성해줘.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58876" y="3448421"/>
            <a:ext cx="285750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추가로, 사용자가 다음에 방문할 확률이 높은 페이지의 스크립트는 미리 받아오도록(Prefetch) 설정해줘."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59283" y="4857705"/>
            <a:ext cx="3715207" cy="1427465"/>
          </a:xfrm>
          <a:prstGeom prst="roundRect">
            <a:avLst>
              <a:gd name="adj" fmla="val 4151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659283" y="4857705"/>
            <a:ext cx="38405" cy="1427465"/>
          </a:xfrm>
          <a:prstGeom prst="roundRect">
            <a:avLst>
              <a:gd name="adj" fmla="val 140055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87883" y="5036013"/>
            <a:ext cx="133502" cy="1335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58876" y="5028698"/>
            <a:ext cx="7242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CAUTION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87884" y="5238094"/>
            <a:ext cx="3262578" cy="750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Preload는 브라우저에게 "이건 당장 필요해!"라고 강제하는 것입니다. 너무 많이 사용하면 오히려 다른 중요한 리소스의 로딩을 방해할 수 있으니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2268627" y="5721427"/>
            <a:ext cx="1144297" cy="250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Above-the-fold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901189" y="5996733"/>
            <a:ext cx="3151696" cy="500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리소스에만 신중하게 사용하세요.</a:t>
            </a:r>
            <a:endParaRPr lang="en-US" sz="105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45075" y="1684325"/>
            <a:ext cx="29041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(INDEX.HTML HEAD)</a:t>
            </a:r>
            <a:endParaRPr lang="en-US" sz="10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5535778" y="2141525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4925873" y="2679192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&lt;head&gt;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5078578" y="2907792"/>
            <a:ext cx="4689043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&lt;!-- 1. Preload: 현재 페이지의 핵심 리소스 (높은 우선순위) --&gt;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5078578" y="3136392"/>
            <a:ext cx="4456786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폰트: 텍스트가 늦게 뜨거나 깜빡이는 현상(FOIT) 방지 --&gt;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078578" y="3364992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&lt;link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5436108" y="3364992"/>
            <a:ext cx="2953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rel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5650078" y="33649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5722315" y="3364992"/>
            <a:ext cx="770839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"preload"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6365138" y="3364992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6651346" y="33649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40" name="Text 32"/>
          <p:cNvSpPr txBox="1"/>
          <p:nvPr/>
        </p:nvSpPr>
        <p:spPr>
          <a:xfrm>
            <a:off x="5078578" y="3364992"/>
            <a:ext cx="30861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"/fonts/pretendard-bold.woff2"</a:t>
            </a:r>
            <a:endParaRPr lang="en-US" sz="1100" dirty="0"/>
          </a:p>
        </p:txBody>
      </p:sp>
      <p:sp>
        <p:nvSpPr>
          <p:cNvPr id="41" name="Text 33"/>
          <p:cNvSpPr txBox="1"/>
          <p:nvPr/>
        </p:nvSpPr>
        <p:spPr>
          <a:xfrm>
            <a:off x="5864962" y="3593592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as</a:t>
            </a:r>
            <a:endParaRPr lang="en-US" sz="1100" dirty="0"/>
          </a:p>
        </p:txBody>
      </p:sp>
      <p:sp>
        <p:nvSpPr>
          <p:cNvPr id="42" name="Text 34"/>
          <p:cNvSpPr txBox="1"/>
          <p:nvPr/>
        </p:nvSpPr>
        <p:spPr>
          <a:xfrm>
            <a:off x="6007608" y="35935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6078931" y="3593592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"font"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6507785" y="3593592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type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6793992" y="35935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46" name="Text 38"/>
          <p:cNvSpPr txBox="1"/>
          <p:nvPr/>
        </p:nvSpPr>
        <p:spPr>
          <a:xfrm>
            <a:off x="6865315" y="3593592"/>
            <a:ext cx="102961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"font/woff2"</a:t>
            </a:r>
            <a:endParaRPr lang="en-US" sz="1100" dirty="0"/>
          </a:p>
        </p:txBody>
      </p:sp>
      <p:sp>
        <p:nvSpPr>
          <p:cNvPr id="47" name="Text 39"/>
          <p:cNvSpPr txBox="1"/>
          <p:nvPr/>
        </p:nvSpPr>
        <p:spPr>
          <a:xfrm>
            <a:off x="7723022" y="3593592"/>
            <a:ext cx="94091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crossorigin</a:t>
            </a:r>
            <a:endParaRPr lang="en-US" sz="1100" dirty="0"/>
          </a:p>
        </p:txBody>
      </p:sp>
      <p:sp>
        <p:nvSpPr>
          <p:cNvPr id="48" name="Text 40"/>
          <p:cNvSpPr txBox="1"/>
          <p:nvPr/>
        </p:nvSpPr>
        <p:spPr>
          <a:xfrm>
            <a:off x="8508492" y="35935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100" dirty="0"/>
          </a:p>
        </p:txBody>
      </p:sp>
      <p:sp>
        <p:nvSpPr>
          <p:cNvPr id="49" name="Text 41"/>
          <p:cNvSpPr txBox="1"/>
          <p:nvPr/>
        </p:nvSpPr>
        <p:spPr>
          <a:xfrm>
            <a:off x="5078578" y="4050792"/>
            <a:ext cx="465612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히어로 이미지: LCP(Largest Contentful Paint) 개선 --&gt;</a:t>
            </a:r>
            <a:endParaRPr lang="en-US" sz="1100" dirty="0"/>
          </a:p>
        </p:txBody>
      </p:sp>
      <p:sp>
        <p:nvSpPr>
          <p:cNvPr id="50" name="Text 42"/>
          <p:cNvSpPr txBox="1"/>
          <p:nvPr/>
        </p:nvSpPr>
        <p:spPr>
          <a:xfrm>
            <a:off x="5078578" y="4279392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&lt;link</a:t>
            </a:r>
            <a:endParaRPr lang="en-US" sz="1100" dirty="0"/>
          </a:p>
        </p:txBody>
      </p:sp>
      <p:sp>
        <p:nvSpPr>
          <p:cNvPr id="51" name="Text 43"/>
          <p:cNvSpPr txBox="1"/>
          <p:nvPr/>
        </p:nvSpPr>
        <p:spPr>
          <a:xfrm>
            <a:off x="5436108" y="4279392"/>
            <a:ext cx="2953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rel</a:t>
            </a:r>
            <a:endParaRPr lang="en-US" sz="1100" dirty="0"/>
          </a:p>
        </p:txBody>
      </p:sp>
      <p:sp>
        <p:nvSpPr>
          <p:cNvPr id="52" name="Text 44"/>
          <p:cNvSpPr txBox="1"/>
          <p:nvPr/>
        </p:nvSpPr>
        <p:spPr>
          <a:xfrm>
            <a:off x="5650078" y="42793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53" name="Text 45"/>
          <p:cNvSpPr txBox="1"/>
          <p:nvPr/>
        </p:nvSpPr>
        <p:spPr>
          <a:xfrm>
            <a:off x="5722315" y="4279392"/>
            <a:ext cx="770839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"preload"</a:t>
            </a:r>
            <a:endParaRPr lang="en-US" sz="1100" dirty="0"/>
          </a:p>
        </p:txBody>
      </p:sp>
      <p:sp>
        <p:nvSpPr>
          <p:cNvPr id="54" name="Text 46"/>
          <p:cNvSpPr txBox="1"/>
          <p:nvPr/>
        </p:nvSpPr>
        <p:spPr>
          <a:xfrm>
            <a:off x="6365138" y="4279392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1100" dirty="0"/>
          </a:p>
        </p:txBody>
      </p:sp>
      <p:sp>
        <p:nvSpPr>
          <p:cNvPr id="55" name="Text 47"/>
          <p:cNvSpPr txBox="1"/>
          <p:nvPr/>
        </p:nvSpPr>
        <p:spPr>
          <a:xfrm>
            <a:off x="6651346" y="42793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56" name="Text 48"/>
          <p:cNvSpPr txBox="1"/>
          <p:nvPr/>
        </p:nvSpPr>
        <p:spPr>
          <a:xfrm>
            <a:off x="6722669" y="4279392"/>
            <a:ext cx="222199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"/images/hero-banner.avif"</a:t>
            </a:r>
            <a:endParaRPr lang="en-US" sz="1100" dirty="0"/>
          </a:p>
        </p:txBody>
      </p:sp>
      <p:sp>
        <p:nvSpPr>
          <p:cNvPr id="57" name="Text 49"/>
          <p:cNvSpPr txBox="1"/>
          <p:nvPr/>
        </p:nvSpPr>
        <p:spPr>
          <a:xfrm>
            <a:off x="8579815" y="4279392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as</a:t>
            </a:r>
            <a:endParaRPr lang="en-US" sz="1100" dirty="0"/>
          </a:p>
        </p:txBody>
      </p:sp>
      <p:sp>
        <p:nvSpPr>
          <p:cNvPr id="58" name="Text 50"/>
          <p:cNvSpPr txBox="1"/>
          <p:nvPr/>
        </p:nvSpPr>
        <p:spPr>
          <a:xfrm>
            <a:off x="8723376" y="42793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59" name="Text 51"/>
          <p:cNvSpPr txBox="1"/>
          <p:nvPr/>
        </p:nvSpPr>
        <p:spPr>
          <a:xfrm>
            <a:off x="8794699" y="4279392"/>
            <a:ext cx="6007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"image"</a:t>
            </a:r>
            <a:endParaRPr lang="en-US" sz="1100" dirty="0"/>
          </a:p>
        </p:txBody>
      </p:sp>
      <p:sp>
        <p:nvSpPr>
          <p:cNvPr id="60" name="Text 52"/>
          <p:cNvSpPr txBox="1"/>
          <p:nvPr/>
        </p:nvSpPr>
        <p:spPr>
          <a:xfrm>
            <a:off x="9294876" y="42793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100" dirty="0"/>
          </a:p>
        </p:txBody>
      </p:sp>
      <p:sp>
        <p:nvSpPr>
          <p:cNvPr id="61" name="Text 53"/>
          <p:cNvSpPr txBox="1"/>
          <p:nvPr/>
        </p:nvSpPr>
        <p:spPr>
          <a:xfrm>
            <a:off x="5078578" y="4736592"/>
            <a:ext cx="54681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&lt;!-- 2. Prefetch: 향후 네비게이션용 리소스 (낮은 우선순위, 유휴 시간) --&gt;</a:t>
            </a:r>
            <a:endParaRPr lang="en-US" sz="1100" dirty="0"/>
          </a:p>
        </p:txBody>
      </p:sp>
      <p:sp>
        <p:nvSpPr>
          <p:cNvPr id="62" name="Text 54"/>
          <p:cNvSpPr txBox="1"/>
          <p:nvPr/>
        </p:nvSpPr>
        <p:spPr>
          <a:xfrm>
            <a:off x="5078578" y="4965192"/>
            <a:ext cx="44101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사용자가 다음에 클릭할 가능성이 높은 페이지의 자원 --&gt;</a:t>
            </a:r>
            <a:endParaRPr lang="en-US" sz="1100" dirty="0"/>
          </a:p>
        </p:txBody>
      </p:sp>
      <p:sp>
        <p:nvSpPr>
          <p:cNvPr id="63" name="Text 55"/>
          <p:cNvSpPr txBox="1"/>
          <p:nvPr/>
        </p:nvSpPr>
        <p:spPr>
          <a:xfrm>
            <a:off x="5078578" y="5193792"/>
            <a:ext cx="4389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&lt;link</a:t>
            </a:r>
            <a:endParaRPr lang="en-US" sz="1100" dirty="0"/>
          </a:p>
        </p:txBody>
      </p:sp>
      <p:sp>
        <p:nvSpPr>
          <p:cNvPr id="64" name="Text 56"/>
          <p:cNvSpPr txBox="1"/>
          <p:nvPr/>
        </p:nvSpPr>
        <p:spPr>
          <a:xfrm>
            <a:off x="5436108" y="5193792"/>
            <a:ext cx="2953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rel</a:t>
            </a:r>
            <a:endParaRPr lang="en-US" sz="1100" dirty="0"/>
          </a:p>
        </p:txBody>
      </p:sp>
      <p:sp>
        <p:nvSpPr>
          <p:cNvPr id="65" name="Text 57"/>
          <p:cNvSpPr txBox="1"/>
          <p:nvPr/>
        </p:nvSpPr>
        <p:spPr>
          <a:xfrm>
            <a:off x="5650078" y="51937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66" name="Text 58"/>
          <p:cNvSpPr txBox="1"/>
          <p:nvPr/>
        </p:nvSpPr>
        <p:spPr>
          <a:xfrm>
            <a:off x="5722315" y="5193792"/>
            <a:ext cx="8577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"prefetch"</a:t>
            </a:r>
            <a:endParaRPr lang="en-US" sz="1100" dirty="0"/>
          </a:p>
        </p:txBody>
      </p:sp>
      <p:sp>
        <p:nvSpPr>
          <p:cNvPr id="67" name="Text 59"/>
          <p:cNvSpPr txBox="1"/>
          <p:nvPr/>
        </p:nvSpPr>
        <p:spPr>
          <a:xfrm>
            <a:off x="6436462" y="5193792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1100" dirty="0"/>
          </a:p>
        </p:txBody>
      </p:sp>
      <p:sp>
        <p:nvSpPr>
          <p:cNvPr id="68" name="Text 60"/>
          <p:cNvSpPr txBox="1"/>
          <p:nvPr/>
        </p:nvSpPr>
        <p:spPr>
          <a:xfrm>
            <a:off x="6722669" y="51937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100" dirty="0"/>
          </a:p>
        </p:txBody>
      </p:sp>
      <p:sp>
        <p:nvSpPr>
          <p:cNvPr id="69" name="Text 61"/>
          <p:cNvSpPr txBox="1"/>
          <p:nvPr/>
        </p:nvSpPr>
        <p:spPr>
          <a:xfrm>
            <a:off x="6793992" y="5193792"/>
            <a:ext cx="2562149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"/js/project-detail.bundle.js"</a:t>
            </a:r>
            <a:endParaRPr lang="en-US" sz="1100" dirty="0"/>
          </a:p>
        </p:txBody>
      </p:sp>
      <p:sp>
        <p:nvSpPr>
          <p:cNvPr id="70" name="Text 62"/>
          <p:cNvSpPr txBox="1"/>
          <p:nvPr/>
        </p:nvSpPr>
        <p:spPr>
          <a:xfrm>
            <a:off x="8937346" y="5193792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100" dirty="0"/>
          </a:p>
        </p:txBody>
      </p:sp>
      <p:sp>
        <p:nvSpPr>
          <p:cNvPr id="71" name="Text 63"/>
          <p:cNvSpPr txBox="1"/>
          <p:nvPr/>
        </p:nvSpPr>
        <p:spPr>
          <a:xfrm>
            <a:off x="4925873" y="5422392"/>
            <a:ext cx="6007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&lt;/head&gt;</a:t>
            </a:r>
            <a:endParaRPr lang="en-US" sz="1100" dirty="0"/>
          </a:p>
        </p:txBody>
      </p:sp>
      <p:sp>
        <p:nvSpPr>
          <p:cNvPr id="7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1352398"/>
            <a:ext cx="3916376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ACCESSIBILITY</a:t>
            </a:r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QUICK</a:t>
            </a: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WINS 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09905" y="2648102"/>
            <a:ext cx="38405" cy="571500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38505" y="2718968"/>
            <a:ext cx="3314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최소한의 노력으로 최대 효과를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내는 5가지 접근성 개선 전략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8853" b="8853"/>
          <a:stretch/>
        </p:blipFill>
        <p:spPr>
          <a:xfrm>
            <a:off x="609905" y="3600907"/>
            <a:ext cx="3467405" cy="190469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450385" y="514807"/>
            <a:ext cx="3457346" cy="205740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4688129" y="724205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59539" y="1272846"/>
            <a:ext cx="171907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33949" y="1216153"/>
            <a:ext cx="223296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대체 텍스트 (Alt Text)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688129" y="1612089"/>
            <a:ext cx="305775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의미 있는 이미지에 alt 속성을 제공하고, 장식용 이미지는 빈 값(alt="")으로 설정하여 스크린 리더 경험을 개선하세요.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29930" y="514807"/>
            <a:ext cx="3457346" cy="205740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8368589" y="724205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8939999" y="1272846"/>
            <a:ext cx="190195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33611" y="1216153"/>
            <a:ext cx="253928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폼 레이블 (Form Labels)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368589" y="1612089"/>
            <a:ext cx="305775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입력 필드(input)에 label 태그를 연결(for-id)하여 사용자가 입력 목적을 명확히 알 수 있도록 합니다.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450385" y="2795321"/>
            <a:ext cx="3457346" cy="205740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/>
          <p:cNvSpPr txBox="1"/>
          <p:nvPr/>
        </p:nvSpPr>
        <p:spPr>
          <a:xfrm>
            <a:off x="4688129" y="3004718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6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259539" y="3554274"/>
            <a:ext cx="171907" cy="17190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33949" y="3497581"/>
            <a:ext cx="212049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색상 대비 (Contrast)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4688129" y="3893517"/>
            <a:ext cx="305775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텍스트와 배경 간의 명도 대비를 4.5:1 이상(WCAG AA 기준)으로 유지하여 저시력자도 쉽게 읽을 수 있게 하세요.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8129930" y="2795321"/>
            <a:ext cx="3457346" cy="205740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8368589" y="3004718"/>
            <a:ext cx="608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36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939999" y="3554274"/>
            <a:ext cx="171907" cy="17190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14409" y="3497581"/>
            <a:ext cx="276606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포커스 순서 (Focus Order)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368589" y="3893517"/>
            <a:ext cx="305775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키보드 탭(Tab) 이동 순서가 시각적 흐름과 일치하는지 확인하고, tabindex 오남용을 피하세요.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4450385" y="5076749"/>
            <a:ext cx="7134149" cy="1266444"/>
          </a:xfrm>
          <a:prstGeom prst="roundRect">
            <a:avLst>
              <a:gd name="adj" fmla="val 10857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4688129" y="5367528"/>
            <a:ext cx="8110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48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678424" y="5372100"/>
            <a:ext cx="171907" cy="17190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953748" y="5315407"/>
            <a:ext cx="341162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 도구 활용 (Axe DevTools)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5678424" y="5676595"/>
            <a:ext cx="574426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Axe 또는 Lighthouse A11y 검사를 통해 자동으로 감지되는 오류(전체의 약 30%)를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해결하고, 경고 항목을 순차적으로 개선하세요.</a:t>
            </a:r>
            <a:endParaRPr lang="en-US" sz="12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88401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 보안 강화 전략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693572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[P6] 최적화6: 보안 헤더 기본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2985517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764585" y="1932127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59682" y="2018081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8505" y="2589973"/>
            <a:ext cx="3230575" cy="186263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1633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"Netlify 배포를 위해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2413102" y="2817266"/>
            <a:ext cx="11932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_headers 파일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022299" y="3121542"/>
            <a:ext cx="2781605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적용할 기본 보안 헤더 설정을 작성해줘.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31008" y="3446765"/>
            <a:ext cx="2792099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CSP(Content Security Policy), 클릭재킹 방지, MIME 스니핑 방지 등을 포함해서 보안 등급을 A+로 높이고 싶어."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9049" y="5174939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619049" y="5174939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47649" y="5353247"/>
            <a:ext cx="105156" cy="1335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0295" y="5345931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47649" y="5556243"/>
            <a:ext cx="32488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CSP 설정 시 Google Fonts, Unsplash 등 외부 리소스를 사용하는 경우 해당 도메인을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2690164" y="5758413"/>
            <a:ext cx="6693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style-src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3311042" y="5778900"/>
            <a:ext cx="2386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3492441" y="5768014"/>
            <a:ext cx="5897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img-src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847649" y="5977390"/>
            <a:ext cx="33147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명시적으로 허용해야 차단되지 않습니다.</a:t>
            </a:r>
            <a:endParaRPr lang="en-US" sz="10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945075" y="1684325"/>
            <a:ext cx="36950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CONFIGURATION (PUBLIC/_HEADERS)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5535778" y="2141525"/>
            <a:ext cx="58978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_headers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4925873" y="2650846"/>
            <a:ext cx="28392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모든 경로(/*)에 대해 다음 헤더 적용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7569403" y="2650846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5078578" y="2821838"/>
            <a:ext cx="297911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1. 클릭재킹 방지 (iframe 임베딩 차단)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5078578" y="2993746"/>
            <a:ext cx="1371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X-Frame-Options: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6221578" y="2993746"/>
            <a:ext cx="3721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DENY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5078578" y="3336646"/>
            <a:ext cx="277429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2. 브라우저의 MIME 타입 스니핑 차단</a:t>
            </a:r>
            <a:endParaRPr lang="en-US" sz="1100" dirty="0"/>
          </a:p>
        </p:txBody>
      </p:sp>
      <p:sp>
        <p:nvSpPr>
          <p:cNvPr id="39" name="Text 31"/>
          <p:cNvSpPr txBox="1"/>
          <p:nvPr/>
        </p:nvSpPr>
        <p:spPr>
          <a:xfrm>
            <a:off x="5078578" y="3507638"/>
            <a:ext cx="196138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X-Content-Type-Options:</a:t>
            </a:r>
            <a:endParaRPr lang="en-US" sz="1100" dirty="0"/>
          </a:p>
        </p:txBody>
      </p:sp>
      <p:sp>
        <p:nvSpPr>
          <p:cNvPr id="40" name="Text 32"/>
          <p:cNvSpPr txBox="1"/>
          <p:nvPr/>
        </p:nvSpPr>
        <p:spPr>
          <a:xfrm>
            <a:off x="6721754" y="3507638"/>
            <a:ext cx="6007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nosniff</a:t>
            </a:r>
            <a:endParaRPr lang="en-US" sz="1100" dirty="0"/>
          </a:p>
        </p:txBody>
      </p:sp>
      <p:sp>
        <p:nvSpPr>
          <p:cNvPr id="41" name="Text 33"/>
          <p:cNvSpPr txBox="1"/>
          <p:nvPr/>
        </p:nvSpPr>
        <p:spPr>
          <a:xfrm>
            <a:off x="5078578" y="3850538"/>
            <a:ext cx="258409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3. XSS 보호 (구형 브라우저 지원)</a:t>
            </a:r>
            <a:endParaRPr lang="en-US" sz="1100" dirty="0"/>
          </a:p>
        </p:txBody>
      </p:sp>
      <p:sp>
        <p:nvSpPr>
          <p:cNvPr id="42" name="Text 34"/>
          <p:cNvSpPr txBox="1"/>
          <p:nvPr/>
        </p:nvSpPr>
        <p:spPr>
          <a:xfrm>
            <a:off x="5078578" y="4022446"/>
            <a:ext cx="1451153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X-XSS-Protection: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6292901" y="4022446"/>
            <a:ext cx="1110996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1; mode=block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5078578" y="4365346"/>
            <a:ext cx="283921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4. 리퍼러 정책 (개인정보 보호 강화)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5078578" y="4536338"/>
            <a:ext cx="1371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Referrer-Policy:</a:t>
            </a:r>
            <a:endParaRPr lang="en-US" sz="1100" dirty="0"/>
          </a:p>
        </p:txBody>
      </p:sp>
      <p:sp>
        <p:nvSpPr>
          <p:cNvPr id="46" name="Text 38"/>
          <p:cNvSpPr txBox="1"/>
          <p:nvPr/>
        </p:nvSpPr>
        <p:spPr>
          <a:xfrm>
            <a:off x="6221578" y="4536338"/>
            <a:ext cx="2641702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strict-origin-when-cross-origin</a:t>
            </a:r>
            <a:endParaRPr lang="en-US" sz="1100" dirty="0"/>
          </a:p>
        </p:txBody>
      </p:sp>
      <p:sp>
        <p:nvSpPr>
          <p:cNvPr id="47" name="Text 39"/>
          <p:cNvSpPr txBox="1"/>
          <p:nvPr/>
        </p:nvSpPr>
        <p:spPr>
          <a:xfrm>
            <a:off x="5078578" y="4879238"/>
            <a:ext cx="412485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5. 권한 정책 (카메라, 마이크 등 민감한 기능 비활성화)</a:t>
            </a:r>
            <a:endParaRPr lang="en-US" sz="1100" dirty="0"/>
          </a:p>
        </p:txBody>
      </p:sp>
      <p:sp>
        <p:nvSpPr>
          <p:cNvPr id="48" name="Text 40"/>
          <p:cNvSpPr txBox="1"/>
          <p:nvPr/>
        </p:nvSpPr>
        <p:spPr>
          <a:xfrm>
            <a:off x="5078578" y="5051146"/>
            <a:ext cx="162123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Permissions-Policy:</a:t>
            </a:r>
            <a:endParaRPr lang="en-US" sz="1100" dirty="0"/>
          </a:p>
        </p:txBody>
      </p:sp>
      <p:sp>
        <p:nvSpPr>
          <p:cNvPr id="49" name="Text 41"/>
          <p:cNvSpPr txBox="1"/>
          <p:nvPr/>
        </p:nvSpPr>
        <p:spPr>
          <a:xfrm>
            <a:off x="6436462" y="5051146"/>
            <a:ext cx="3411626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geolocation=(), camera=(), microphone=()</a:t>
            </a:r>
            <a:endParaRPr lang="en-US" sz="1100" dirty="0"/>
          </a:p>
        </p:txBody>
      </p:sp>
      <p:sp>
        <p:nvSpPr>
          <p:cNvPr id="50" name="Text 42"/>
          <p:cNvSpPr txBox="1"/>
          <p:nvPr/>
        </p:nvSpPr>
        <p:spPr>
          <a:xfrm>
            <a:off x="5078578" y="5394046"/>
            <a:ext cx="333024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6. 콘텐츠 보안 정책 (CSP) - 핵심 보안 설정</a:t>
            </a:r>
            <a:endParaRPr lang="en-US" sz="1100" dirty="0"/>
          </a:p>
        </p:txBody>
      </p:sp>
      <p:sp>
        <p:nvSpPr>
          <p:cNvPr id="51" name="Text 43"/>
          <p:cNvSpPr txBox="1"/>
          <p:nvPr/>
        </p:nvSpPr>
        <p:spPr>
          <a:xfrm>
            <a:off x="5078578" y="5565038"/>
            <a:ext cx="205191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Content-Security-Policy:</a:t>
            </a:r>
            <a:endParaRPr lang="en-US" sz="1100" dirty="0"/>
          </a:p>
        </p:txBody>
      </p:sp>
      <p:sp>
        <p:nvSpPr>
          <p:cNvPr id="52" name="Text 44"/>
          <p:cNvSpPr txBox="1"/>
          <p:nvPr/>
        </p:nvSpPr>
        <p:spPr>
          <a:xfrm>
            <a:off x="5078578" y="5565038"/>
            <a:ext cx="6229807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default-src 'self'; img-src 'self' https: data:; script-src 'self' 'unsafe-inline'; style-src 'self' 'unsafe-inline' https://fonts.googleapis.com; font-src 'self' https://fonts.gstatic.com;</a:t>
            </a:r>
            <a:endParaRPr lang="en-US" sz="1100" dirty="0"/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6" y="457200"/>
            <a:ext cx="1224338" cy="314554"/>
          </a:xfrm>
          <a:prstGeom prst="roundRect">
            <a:avLst>
              <a:gd name="adj" fmla="val 52854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24206" y="533095"/>
            <a:ext cx="103383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STUDY 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86054"/>
            <a:ext cx="1127821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 err="1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빌드</a:t>
            </a:r>
            <a:r>
              <a:rPr lang="en-US" sz="33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300" b="1" kern="0" spc="-75" dirty="0" err="1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</a:t>
            </a:r>
            <a:r>
              <a:rPr lang="en-US" sz="33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경로 및 대소문자 이슈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464869"/>
            <a:ext cx="110871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로컬 환경(Windows/Mac)에서는 잘 되는데 배포(Linux) 후 에러가 발생하는 대표적 원인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905" y="2103120"/>
            <a:ext cx="3258007" cy="3638398"/>
          </a:xfrm>
          <a:prstGeom prst="roundRect">
            <a:avLst>
              <a:gd name="adj" fmla="val 16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09905" y="2103120"/>
            <a:ext cx="3258007" cy="57607"/>
          </a:xfrm>
          <a:prstGeom prst="roundRect">
            <a:avLst>
              <a:gd name="adj" fmla="val 92825"/>
            </a:avLst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19049" y="2845613"/>
            <a:ext cx="32388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47649" y="235092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3544" y="2426818"/>
            <a:ext cx="152705" cy="152705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04850" y="2403043"/>
            <a:ext cx="14548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 (Symptom)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9049" y="2855671"/>
            <a:ext cx="3238805" cy="2876702"/>
          </a:xfrm>
          <a:prstGeom prst="roundRect">
            <a:avLst>
              <a:gd name="adj" fmla="val 2105"/>
            </a:avLst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47649" y="3084271"/>
            <a:ext cx="2857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배포된 사이트에서 이미지가 엑박으로 뜨거나, 콘솔에 404 에러가 발생하며 페이지가 로드되지 않음.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47649" y="4643016"/>
            <a:ext cx="2781605" cy="809244"/>
          </a:xfrm>
          <a:prstGeom prst="roundRect">
            <a:avLst>
              <a:gd name="adj" fmla="val 10635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158545" y="4800142"/>
            <a:ext cx="243504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F444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GET /assets/Logo.png 404</a:t>
            </a:r>
            <a:endParaRPr lang="en-US" sz="105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72007" y="4836262"/>
            <a:ext cx="123444" cy="1234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58545" y="4985765"/>
            <a:ext cx="24103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F444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Module not found: Error: Can't resolve './Header'</a:t>
            </a:r>
            <a:endParaRPr lang="en-US" sz="10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72007" y="5021885"/>
            <a:ext cx="123444" cy="123444"/>
          </a:xfrm>
          <a:prstGeom prst="rect">
            <a:avLst/>
          </a:prstGeom>
        </p:spPr>
      </p:pic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rcRect t="-80" b="-80"/>
          <a:stretch/>
        </p:blipFill>
        <p:spPr>
          <a:xfrm>
            <a:off x="4095598" y="3807562"/>
            <a:ext cx="142646" cy="22860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4466844" y="2103120"/>
            <a:ext cx="3258007" cy="3638398"/>
          </a:xfrm>
          <a:prstGeom prst="roundRect">
            <a:avLst>
              <a:gd name="adj" fmla="val 16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4466844" y="2103120"/>
            <a:ext cx="3258007" cy="57607"/>
          </a:xfrm>
          <a:prstGeom prst="roundRect">
            <a:avLst>
              <a:gd name="adj" fmla="val 92825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476902" y="2845613"/>
            <a:ext cx="32388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4705502" y="235092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F3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81398" y="2426818"/>
            <a:ext cx="152705" cy="15270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62704" y="2403043"/>
            <a:ext cx="173461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(Root Cause)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4476902" y="2855671"/>
            <a:ext cx="3238805" cy="2876702"/>
          </a:xfrm>
          <a:prstGeom prst="roundRect">
            <a:avLst>
              <a:gd name="adj" fmla="val 2105"/>
            </a:avLst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4705502" y="3084271"/>
            <a:ext cx="2857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OS의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Windows와 macOS는 파일명의 대소문자를 구분하지 않지만, 배포 서버(Linux)는 이를 엄격히 구분함. 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4705502" y="4063594"/>
            <a:ext cx="2781605" cy="1543507"/>
          </a:xfrm>
          <a:prstGeom prst="roundRect">
            <a:avLst>
              <a:gd name="adj" fmla="val 438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4867351" y="4225443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Filesystem: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4867351" y="4416553"/>
            <a:ext cx="25557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/src/assets/</a:t>
            </a:r>
            <a:r>
              <a:rPr lang="en-US" sz="1100" b="1" dirty="0">
                <a:solidFill>
                  <a:srgbClr val="D9770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logo.png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4867351" y="4715562"/>
            <a:ext cx="24579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7"/>
          <p:cNvSpPr txBox="1"/>
          <p:nvPr/>
        </p:nvSpPr>
        <p:spPr>
          <a:xfrm>
            <a:off x="4867351" y="4801515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Code Import: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4867351" y="4991710"/>
            <a:ext cx="25557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import img from '</a:t>
            </a:r>
            <a:r>
              <a:rPr lang="en-US" sz="1100" b="1" dirty="0">
                <a:solidFill>
                  <a:srgbClr val="D9770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./Logo.png</a:t>
            </a:r>
            <a:r>
              <a:rPr lang="en-US" sz="1100" dirty="0">
                <a:solidFill>
                  <a:srgbClr val="1F2937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4867351" y="5290719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F444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↳ Windows: OK / Linux: Fail</a:t>
            </a:r>
            <a:endParaRPr lang="en-US" sz="11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5"/>
          <a:srcRect t="-80" b="-80"/>
          <a:stretch/>
        </p:blipFill>
        <p:spPr>
          <a:xfrm>
            <a:off x="7953451" y="3807562"/>
            <a:ext cx="142646" cy="22860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324698" y="2103120"/>
            <a:ext cx="3258007" cy="3638398"/>
          </a:xfrm>
          <a:prstGeom prst="roundRect">
            <a:avLst>
              <a:gd name="adj" fmla="val 16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1"/>
          <p:cNvSpPr/>
          <p:nvPr/>
        </p:nvSpPr>
        <p:spPr>
          <a:xfrm>
            <a:off x="8324698" y="2103120"/>
            <a:ext cx="3258007" cy="57607"/>
          </a:xfrm>
          <a:prstGeom prst="roundRect">
            <a:avLst>
              <a:gd name="adj" fmla="val 92825"/>
            </a:avLst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2"/>
          <p:cNvSpPr/>
          <p:nvPr/>
        </p:nvSpPr>
        <p:spPr>
          <a:xfrm>
            <a:off x="8334756" y="2845613"/>
            <a:ext cx="32388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3"/>
          <p:cNvSpPr/>
          <p:nvPr/>
        </p:nvSpPr>
        <p:spPr>
          <a:xfrm>
            <a:off x="8563356" y="235092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8648395" y="2426818"/>
            <a:ext cx="133502" cy="15270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9020557" y="2403043"/>
            <a:ext cx="141732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 (Solution)</a:t>
            </a:r>
            <a:endParaRPr lang="en-US" sz="1400" dirty="0"/>
          </a:p>
        </p:txBody>
      </p:sp>
      <p:sp>
        <p:nvSpPr>
          <p:cNvPr id="44" name="Shape 35"/>
          <p:cNvSpPr/>
          <p:nvPr/>
        </p:nvSpPr>
        <p:spPr>
          <a:xfrm>
            <a:off x="8334756" y="2855671"/>
            <a:ext cx="3238805" cy="2876702"/>
          </a:xfrm>
          <a:prstGeom prst="roundRect">
            <a:avLst>
              <a:gd name="adj" fmla="val 2105"/>
            </a:avLst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6"/>
          <p:cNvSpPr txBox="1"/>
          <p:nvPr/>
        </p:nvSpPr>
        <p:spPr>
          <a:xfrm>
            <a:off x="8563356" y="3084271"/>
            <a:ext cx="285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파일명 규칙을 통일하고, Git이 대소문자 변경을 인식하도록 설정을 변경해야 함.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8563356" y="4087368"/>
            <a:ext cx="2781605" cy="1419149"/>
          </a:xfrm>
          <a:prstGeom prst="roundRect">
            <a:avLst>
              <a:gd name="adj" fmla="val 51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8"/>
          <p:cNvSpPr txBox="1"/>
          <p:nvPr/>
        </p:nvSpPr>
        <p:spPr>
          <a:xfrm>
            <a:off x="8725205" y="4249217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1. Git 설정 변경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8725205" y="4477817"/>
            <a:ext cx="255574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4D399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$ git config core.ignorecase false</a:t>
            </a:r>
            <a:endParaRPr lang="en-US" sz="1100" dirty="0"/>
          </a:p>
        </p:txBody>
      </p:sp>
      <p:sp>
        <p:nvSpPr>
          <p:cNvPr id="49" name="Text 40"/>
          <p:cNvSpPr txBox="1"/>
          <p:nvPr/>
        </p:nvSpPr>
        <p:spPr>
          <a:xfrm>
            <a:off x="8725205" y="4739335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2. 파일명 변경 (임시 이름 경유)</a:t>
            </a:r>
            <a:endParaRPr lang="en-US" sz="1100" dirty="0"/>
          </a:p>
        </p:txBody>
      </p:sp>
      <p:sp>
        <p:nvSpPr>
          <p:cNvPr id="50" name="Text 41"/>
          <p:cNvSpPr txBox="1"/>
          <p:nvPr/>
        </p:nvSpPr>
        <p:spPr>
          <a:xfrm>
            <a:off x="8725205" y="4967935"/>
            <a:ext cx="255574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$ mv Logo.png temp.png</a:t>
            </a:r>
            <a:endParaRPr lang="en-US" sz="900" dirty="0"/>
          </a:p>
        </p:txBody>
      </p:sp>
      <p:sp>
        <p:nvSpPr>
          <p:cNvPr id="51" name="Text 42"/>
          <p:cNvSpPr txBox="1"/>
          <p:nvPr/>
        </p:nvSpPr>
        <p:spPr>
          <a:xfrm>
            <a:off x="8725205" y="5154473"/>
            <a:ext cx="255574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$ mv temp.png logo.png</a:t>
            </a:r>
            <a:endParaRPr lang="en-US" sz="900" dirty="0"/>
          </a:p>
        </p:txBody>
      </p:sp>
      <p:sp>
        <p:nvSpPr>
          <p:cNvPr id="52" name="Shape 43"/>
          <p:cNvSpPr/>
          <p:nvPr/>
        </p:nvSpPr>
        <p:spPr>
          <a:xfrm>
            <a:off x="609905" y="6045098"/>
            <a:ext cx="10972800" cy="523951"/>
          </a:xfrm>
          <a:prstGeom prst="roundRect">
            <a:avLst>
              <a:gd name="adj" fmla="val 38077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4"/>
          <p:cNvSpPr txBox="1"/>
          <p:nvPr/>
        </p:nvSpPr>
        <p:spPr>
          <a:xfrm>
            <a:off x="838505" y="6204204"/>
            <a:ext cx="6858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1593799" y="6196889"/>
            <a:ext cx="86264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프로젝트 시작 시 파일명은 모두 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소문자(kebab-case)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통일하는 규칙을 정하면 이러한 문제를 사전에 예방할 수 있습니다. </a:t>
            </a:r>
            <a:endParaRPr lang="en-US" sz="12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1333195" cy="314554"/>
          </a:xfrm>
          <a:prstGeom prst="roundRect">
            <a:avLst>
              <a:gd name="adj" fmla="val 52854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24205" y="533095"/>
            <a:ext cx="11814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STUDY 02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86054"/>
            <a:ext cx="1116391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요청 실패: CORS 에러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464869"/>
            <a:ext cx="110871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API(날씨, 뉴스 등)를 JavaScript로 직접 호출할 때 발생하는 보안 정책 위반 이슈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103120"/>
            <a:ext cx="3258007" cy="3638398"/>
          </a:xfrm>
          <a:prstGeom prst="roundRect">
            <a:avLst>
              <a:gd name="adj" fmla="val 16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09905" y="2103120"/>
            <a:ext cx="3258007" cy="57607"/>
          </a:xfrm>
          <a:prstGeom prst="roundRect">
            <a:avLst>
              <a:gd name="adj" fmla="val 92825"/>
            </a:avLst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19049" y="2845613"/>
            <a:ext cx="32388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47649" y="235092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3544" y="2426818"/>
            <a:ext cx="152705" cy="152705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66444" y="2403043"/>
            <a:ext cx="14548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 (Symptom)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9049" y="2855671"/>
            <a:ext cx="3238805" cy="2876702"/>
          </a:xfrm>
          <a:prstGeom prst="roundRect">
            <a:avLst>
              <a:gd name="adj" fmla="val 2105"/>
            </a:avLst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47649" y="3084271"/>
            <a:ext cx="285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Fetch 요청이 실패하고, 개발자 도구 콘솔에 빨간색으로 CORS 관련 에러 메시지가 출력됨.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47649" y="4420210"/>
            <a:ext cx="2781605" cy="1086307"/>
          </a:xfrm>
          <a:prstGeom prst="roundRect">
            <a:avLst>
              <a:gd name="adj" fmla="val 590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172261" y="4544568"/>
            <a:ext cx="243504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F444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Access to fetch at '...'</a:t>
            </a:r>
            <a:endParaRPr lang="en-US" sz="105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72007" y="4560113"/>
            <a:ext cx="123444" cy="1234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72007" y="4768596"/>
            <a:ext cx="26106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EF444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from origin 'http://localhost:5500' has been blocked by CORS policy: No 'Access-Control-Allow-Origin' header is present on the requested resource.</a:t>
            </a:r>
            <a:endParaRPr lang="en-US" sz="10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t="-80" b="-80"/>
          <a:stretch/>
        </p:blipFill>
        <p:spPr>
          <a:xfrm>
            <a:off x="4095598" y="3807562"/>
            <a:ext cx="142646" cy="22860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466844" y="2103120"/>
            <a:ext cx="3258007" cy="3638398"/>
          </a:xfrm>
          <a:prstGeom prst="roundRect">
            <a:avLst>
              <a:gd name="adj" fmla="val 16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466844" y="2103120"/>
            <a:ext cx="3258007" cy="57607"/>
          </a:xfrm>
          <a:prstGeom prst="roundRect">
            <a:avLst>
              <a:gd name="adj" fmla="val 92825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4476902" y="2845613"/>
            <a:ext cx="32388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4705502" y="235092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F3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81398" y="2426818"/>
            <a:ext cx="152705" cy="15270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124298" y="2403043"/>
            <a:ext cx="173461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(Root Cause)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4476902" y="2855671"/>
            <a:ext cx="3238805" cy="2876702"/>
          </a:xfrm>
          <a:prstGeom prst="roundRect">
            <a:avLst>
              <a:gd name="adj" fmla="val 2105"/>
            </a:avLst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2"/>
          <p:cNvSpPr txBox="1"/>
          <p:nvPr/>
        </p:nvSpPr>
        <p:spPr>
          <a:xfrm>
            <a:off x="4705502" y="3084271"/>
            <a:ext cx="2857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정책 위반: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브라우저는 보안상 스크립트가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출처(Origin)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리소스에 접근하는 것을 기본적으로 제한함. 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4705502" y="3960266"/>
            <a:ext cx="2781605" cy="1543507"/>
          </a:xfrm>
          <a:prstGeom prst="roundRect">
            <a:avLst>
              <a:gd name="adj" fmla="val 438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4"/>
          <p:cNvSpPr txBox="1"/>
          <p:nvPr/>
        </p:nvSpPr>
        <p:spPr>
          <a:xfrm>
            <a:off x="4867351" y="4122115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Origin 1 (My Site):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4867351" y="4313225"/>
            <a:ext cx="25557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http://localhost:5500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4867351" y="4612234"/>
            <a:ext cx="24579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4867351" y="4698187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Origin 2 (API Server):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4867351" y="4888382"/>
            <a:ext cx="25557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2937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https://api.weather.com</a:t>
            </a:r>
            <a:endParaRPr lang="en-US" sz="1000" dirty="0"/>
          </a:p>
        </p:txBody>
      </p:sp>
      <p:sp>
        <p:nvSpPr>
          <p:cNvPr id="35" name="Text 29"/>
          <p:cNvSpPr txBox="1"/>
          <p:nvPr/>
        </p:nvSpPr>
        <p:spPr>
          <a:xfrm>
            <a:off x="4867351" y="5187391"/>
            <a:ext cx="2648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F444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↳ 서버가 허용 헤더를 안 보내면 차단!</a:t>
            </a:r>
            <a:endParaRPr lang="en-US" sz="100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5"/>
          <a:srcRect t="-80" b="-80"/>
          <a:stretch/>
        </p:blipFill>
        <p:spPr>
          <a:xfrm>
            <a:off x="7953451" y="3807562"/>
            <a:ext cx="142646" cy="22860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8324698" y="2103120"/>
            <a:ext cx="3258007" cy="3638398"/>
          </a:xfrm>
          <a:prstGeom prst="roundRect">
            <a:avLst>
              <a:gd name="adj" fmla="val 16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8324698" y="2103120"/>
            <a:ext cx="3258007" cy="57607"/>
          </a:xfrm>
          <a:prstGeom prst="roundRect">
            <a:avLst>
              <a:gd name="adj" fmla="val 92825"/>
            </a:avLst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2"/>
          <p:cNvSpPr/>
          <p:nvPr/>
        </p:nvSpPr>
        <p:spPr>
          <a:xfrm>
            <a:off x="8334756" y="2845613"/>
            <a:ext cx="32388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3"/>
          <p:cNvSpPr/>
          <p:nvPr/>
        </p:nvSpPr>
        <p:spPr>
          <a:xfrm>
            <a:off x="8563356" y="235092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8648395" y="2426818"/>
            <a:ext cx="133502" cy="152705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982151" y="2403043"/>
            <a:ext cx="141732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 (Solution)</a:t>
            </a:r>
            <a:endParaRPr lang="en-US" sz="1300" dirty="0"/>
          </a:p>
        </p:txBody>
      </p:sp>
      <p:sp>
        <p:nvSpPr>
          <p:cNvPr id="43" name="Shape 35"/>
          <p:cNvSpPr/>
          <p:nvPr/>
        </p:nvSpPr>
        <p:spPr>
          <a:xfrm>
            <a:off x="8334756" y="2855671"/>
            <a:ext cx="3238805" cy="2876702"/>
          </a:xfrm>
          <a:prstGeom prst="roundRect">
            <a:avLst>
              <a:gd name="adj" fmla="val 2105"/>
            </a:avLst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6"/>
          <p:cNvSpPr txBox="1"/>
          <p:nvPr/>
        </p:nvSpPr>
        <p:spPr>
          <a:xfrm>
            <a:off x="8563356" y="3084271"/>
            <a:ext cx="285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중에는 프록시 서버를 경유하거나, 백엔드 서버에서 헤더를 추가하도록 설정해야 함.</a:t>
            </a:r>
            <a:endParaRPr lang="en-US" sz="1200" dirty="0"/>
          </a:p>
        </p:txBody>
      </p:sp>
      <p:sp>
        <p:nvSpPr>
          <p:cNvPr id="45" name="Shape 37"/>
          <p:cNvSpPr/>
          <p:nvPr/>
        </p:nvSpPr>
        <p:spPr>
          <a:xfrm>
            <a:off x="8563356" y="3901745"/>
            <a:ext cx="2781605" cy="160020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8"/>
          <p:cNvSpPr txBox="1"/>
          <p:nvPr/>
        </p:nvSpPr>
        <p:spPr>
          <a:xfrm>
            <a:off x="8725205" y="4063594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1. 서버 측 해결 (Node.js)</a:t>
            </a:r>
            <a:endParaRPr lang="en-US" sz="1050" dirty="0"/>
          </a:p>
        </p:txBody>
      </p:sp>
      <p:sp>
        <p:nvSpPr>
          <p:cNvPr id="47" name="Text 39"/>
          <p:cNvSpPr txBox="1"/>
          <p:nvPr/>
        </p:nvSpPr>
        <p:spPr>
          <a:xfrm>
            <a:off x="8725205" y="4292194"/>
            <a:ext cx="2533802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34D399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res.setHeader('Access-Control-Allow-Origin', '*');</a:t>
            </a:r>
            <a:endParaRPr lang="en-US" sz="1050" dirty="0"/>
          </a:p>
        </p:txBody>
      </p:sp>
      <p:sp>
        <p:nvSpPr>
          <p:cNvPr id="48" name="Text 40"/>
          <p:cNvSpPr txBox="1"/>
          <p:nvPr/>
        </p:nvSpPr>
        <p:spPr>
          <a:xfrm>
            <a:off x="8725205" y="4739335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2. 클라이언트 측 우회 (Proxy)</a:t>
            </a:r>
            <a:endParaRPr lang="en-US" sz="1050" dirty="0"/>
          </a:p>
        </p:txBody>
      </p:sp>
      <p:sp>
        <p:nvSpPr>
          <p:cNvPr id="49" name="Text 41"/>
          <p:cNvSpPr txBox="1"/>
          <p:nvPr/>
        </p:nvSpPr>
        <p:spPr>
          <a:xfrm>
            <a:off x="8725205" y="4967935"/>
            <a:ext cx="2533802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93C5F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fetch('https://cors-anywhere.herokuapp.com/https://api.xyz')</a:t>
            </a:r>
            <a:endParaRPr lang="en-US" sz="1050" dirty="0"/>
          </a:p>
        </p:txBody>
      </p:sp>
      <p:sp>
        <p:nvSpPr>
          <p:cNvPr id="50" name="Shape 42"/>
          <p:cNvSpPr/>
          <p:nvPr/>
        </p:nvSpPr>
        <p:spPr>
          <a:xfrm>
            <a:off x="609905" y="6045098"/>
            <a:ext cx="10972800" cy="523951"/>
          </a:xfrm>
          <a:prstGeom prst="roundRect">
            <a:avLst>
              <a:gd name="adj" fmla="val 38077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3"/>
          <p:cNvSpPr txBox="1"/>
          <p:nvPr/>
        </p:nvSpPr>
        <p:spPr>
          <a:xfrm>
            <a:off x="838505" y="6204204"/>
            <a:ext cx="6858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200" dirty="0"/>
          </a:p>
        </p:txBody>
      </p:sp>
      <p:sp>
        <p:nvSpPr>
          <p:cNvPr id="52" name="Text 44"/>
          <p:cNvSpPr txBox="1"/>
          <p:nvPr/>
        </p:nvSpPr>
        <p:spPr>
          <a:xfrm>
            <a:off x="1593799" y="6196889"/>
            <a:ext cx="90589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포트폴리오용 프론트엔드 프로젝트라면 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CORS Anywhere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같은 공개 프록시를 임시로 사용하거나, Next.js/Vite의 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Proxy 설정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활용하세요. </a:t>
            </a:r>
            <a:endParaRPr lang="en-US" sz="1200" dirty="0"/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1333195" cy="314554"/>
          </a:xfrm>
          <a:prstGeom prst="roundRect">
            <a:avLst>
              <a:gd name="adj" fmla="val 52854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24205" y="533095"/>
            <a:ext cx="11814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STUDY 03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86054"/>
            <a:ext cx="1127821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CLS(레이아웃 시프트) 높음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464869"/>
            <a:ext cx="111639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로딩 중 요소들이 덜컥거리며 위치가 이동하는 현상 해결하기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103120"/>
            <a:ext cx="3258007" cy="3600907"/>
          </a:xfrm>
          <a:prstGeom prst="roundRect">
            <a:avLst>
              <a:gd name="adj" fmla="val 16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09905" y="2103120"/>
            <a:ext cx="3258007" cy="57607"/>
          </a:xfrm>
          <a:prstGeom prst="roundRect">
            <a:avLst>
              <a:gd name="adj" fmla="val 92825"/>
            </a:avLst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19049" y="2845613"/>
            <a:ext cx="32388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47649" y="235092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t="-301" b="-301"/>
          <a:stretch/>
        </p:blipFill>
        <p:spPr>
          <a:xfrm>
            <a:off x="961949" y="2426818"/>
            <a:ext cx="75895" cy="152705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66444" y="2403043"/>
            <a:ext cx="14548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 (Symptom)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9049" y="2855671"/>
            <a:ext cx="3238805" cy="2838298"/>
          </a:xfrm>
          <a:prstGeom prst="roundRect">
            <a:avLst>
              <a:gd name="adj" fmla="val 2162"/>
            </a:avLst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47649" y="3084271"/>
            <a:ext cx="2857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이미지나 웹폰트가 늦게 로드되면서, 이미 있던 텍스트가 아래로 밀려나거나 레이아웃이 깨지는 현상.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47649" y="3960266"/>
            <a:ext cx="2781605" cy="1505102"/>
          </a:xfrm>
          <a:prstGeom prst="roundRect">
            <a:avLst>
              <a:gd name="adj" fmla="val 46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009498" y="4122115"/>
            <a:ext cx="2457907" cy="952805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643177" y="4536338"/>
            <a:ext cx="123444" cy="1234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843430" y="4122115"/>
            <a:ext cx="10479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F444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Image Loading...</a:t>
            </a:r>
            <a:endParaRPr lang="en-US" sz="12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l="-1358" r="-1358"/>
          <a:stretch/>
        </p:blipFill>
        <p:spPr>
          <a:xfrm>
            <a:off x="2190902" y="3814396"/>
            <a:ext cx="95098" cy="1234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60120" y="5150815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Lighthouse CLS Score: </a:t>
            </a:r>
            <a:r>
              <a:rPr lang="en-US" sz="1200" b="1" dirty="0">
                <a:solidFill>
                  <a:srgbClr val="EF444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0.25 (Poor)</a:t>
            </a:r>
            <a:endParaRPr lang="en-US" sz="12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rcRect t="-80" b="-80"/>
          <a:stretch/>
        </p:blipFill>
        <p:spPr>
          <a:xfrm>
            <a:off x="4095598" y="3789274"/>
            <a:ext cx="142646" cy="2286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4466844" y="2103120"/>
            <a:ext cx="3258007" cy="3600907"/>
          </a:xfrm>
          <a:prstGeom prst="roundRect">
            <a:avLst>
              <a:gd name="adj" fmla="val 16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466844" y="2103120"/>
            <a:ext cx="3258007" cy="57607"/>
          </a:xfrm>
          <a:prstGeom prst="roundRect">
            <a:avLst>
              <a:gd name="adj" fmla="val 92825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4476902" y="2845613"/>
            <a:ext cx="32388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0"/>
          <p:cNvSpPr/>
          <p:nvPr/>
        </p:nvSpPr>
        <p:spPr>
          <a:xfrm>
            <a:off x="4705502" y="235092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EF3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781398" y="2426818"/>
            <a:ext cx="152705" cy="15270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124298" y="2403043"/>
            <a:ext cx="173461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(Root Cause)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4476902" y="2855671"/>
            <a:ext cx="3238805" cy="2838298"/>
          </a:xfrm>
          <a:prstGeom prst="roundRect">
            <a:avLst>
              <a:gd name="adj" fmla="val 2162"/>
            </a:avLst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4705502" y="3084271"/>
            <a:ext cx="2857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브라우저가 리소스 로드 전까지 크기를 몰라 공간을 확보하지 않음 (이미지) 또는 폰트 교체 시 깜빡임 (FOIT).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705502" y="4153205"/>
            <a:ext cx="2781605" cy="1314907"/>
          </a:xfrm>
          <a:prstGeom prst="roundRect">
            <a:avLst>
              <a:gd name="adj" fmla="val 604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 txBox="1"/>
          <p:nvPr/>
        </p:nvSpPr>
        <p:spPr>
          <a:xfrm>
            <a:off x="4867351" y="4315054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Missing Dimensions: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4867351" y="4505249"/>
            <a:ext cx="25557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F444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&lt;img src="hero.jpg" /&gt;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4867351" y="4804258"/>
            <a:ext cx="24579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 txBox="1"/>
          <p:nvPr/>
        </p:nvSpPr>
        <p:spPr>
          <a:xfrm>
            <a:off x="4867351" y="4890211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Font Loading: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4867351" y="5080406"/>
            <a:ext cx="25557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F444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font-display: block; /* Default */</a:t>
            </a:r>
            <a:endParaRPr lang="en-US" sz="1200" dirty="0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6"/>
          <a:srcRect t="-80" b="-80"/>
          <a:stretch/>
        </p:blipFill>
        <p:spPr>
          <a:xfrm>
            <a:off x="7953451" y="3789274"/>
            <a:ext cx="142646" cy="22860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324698" y="2103120"/>
            <a:ext cx="3258007" cy="3600907"/>
          </a:xfrm>
          <a:prstGeom prst="roundRect">
            <a:avLst>
              <a:gd name="adj" fmla="val 164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1"/>
          <p:cNvSpPr/>
          <p:nvPr/>
        </p:nvSpPr>
        <p:spPr>
          <a:xfrm>
            <a:off x="8324698" y="2103120"/>
            <a:ext cx="3258007" cy="57607"/>
          </a:xfrm>
          <a:prstGeom prst="roundRect">
            <a:avLst>
              <a:gd name="adj" fmla="val 92825"/>
            </a:avLst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2"/>
          <p:cNvSpPr/>
          <p:nvPr/>
        </p:nvSpPr>
        <p:spPr>
          <a:xfrm>
            <a:off x="8334756" y="2845613"/>
            <a:ext cx="32388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3"/>
          <p:cNvSpPr/>
          <p:nvPr/>
        </p:nvSpPr>
        <p:spPr>
          <a:xfrm>
            <a:off x="8563356" y="235092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8"/>
          <a:srcRect t="-43" b="-43"/>
          <a:stretch/>
        </p:blipFill>
        <p:spPr>
          <a:xfrm>
            <a:off x="8648395" y="2426818"/>
            <a:ext cx="133502" cy="15270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8982151" y="2403043"/>
            <a:ext cx="141732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 (Solution)</a:t>
            </a:r>
            <a:endParaRPr lang="en-US" sz="1300" dirty="0"/>
          </a:p>
        </p:txBody>
      </p:sp>
      <p:sp>
        <p:nvSpPr>
          <p:cNvPr id="44" name="Shape 35"/>
          <p:cNvSpPr/>
          <p:nvPr/>
        </p:nvSpPr>
        <p:spPr>
          <a:xfrm>
            <a:off x="8334756" y="2855671"/>
            <a:ext cx="3238805" cy="2838298"/>
          </a:xfrm>
          <a:prstGeom prst="roundRect">
            <a:avLst>
              <a:gd name="adj" fmla="val 2162"/>
            </a:avLst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6"/>
          <p:cNvSpPr txBox="1"/>
          <p:nvPr/>
        </p:nvSpPr>
        <p:spPr>
          <a:xfrm>
            <a:off x="8563356" y="3084271"/>
            <a:ext cx="285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이미지/비디오의 width, height를 명시하여 공간을 예약하고, 폰트는 swap 옵션을 사용.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8563356" y="4050792"/>
            <a:ext cx="2781605" cy="1419149"/>
          </a:xfrm>
          <a:prstGeom prst="roundRect">
            <a:avLst>
              <a:gd name="adj" fmla="val 51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8"/>
          <p:cNvSpPr txBox="1"/>
          <p:nvPr/>
        </p:nvSpPr>
        <p:spPr>
          <a:xfrm>
            <a:off x="8725205" y="4212641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1. 이미지 공간 예약 */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8725205" y="4441241"/>
            <a:ext cx="2533802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4D399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&lt;img src="..." </a:t>
            </a:r>
            <a:r>
              <a:rPr lang="en-US" sz="1200" dirty="0">
                <a:solidFill>
                  <a:srgbClr val="FCD34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width="800" height="600"</a:t>
            </a:r>
            <a:r>
              <a:rPr lang="en-US" sz="1200" dirty="0">
                <a:solidFill>
                  <a:srgbClr val="34D399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 /&gt;</a:t>
            </a:r>
            <a:endParaRPr lang="en-US" sz="1200" dirty="0"/>
          </a:p>
        </p:txBody>
      </p:sp>
      <p:sp>
        <p:nvSpPr>
          <p:cNvPr id="49" name="Text 40"/>
          <p:cNvSpPr txBox="1"/>
          <p:nvPr/>
        </p:nvSpPr>
        <p:spPr>
          <a:xfrm>
            <a:off x="8725205" y="4889297"/>
            <a:ext cx="25557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2. 폰트 로딩 최적화 */</a:t>
            </a:r>
            <a:endParaRPr lang="en-US" sz="1200" dirty="0"/>
          </a:p>
        </p:txBody>
      </p:sp>
      <p:sp>
        <p:nvSpPr>
          <p:cNvPr id="50" name="Text 41"/>
          <p:cNvSpPr txBox="1"/>
          <p:nvPr/>
        </p:nvSpPr>
        <p:spPr>
          <a:xfrm>
            <a:off x="8725205" y="5117897"/>
            <a:ext cx="255574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4D399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font-display: </a:t>
            </a:r>
            <a:r>
              <a:rPr lang="en-US" sz="1200" dirty="0">
                <a:solidFill>
                  <a:srgbClr val="FCD34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swap</a:t>
            </a:r>
            <a:r>
              <a:rPr lang="en-US" sz="1200" dirty="0">
                <a:solidFill>
                  <a:srgbClr val="34D399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200" dirty="0"/>
          </a:p>
        </p:txBody>
      </p:sp>
      <p:sp>
        <p:nvSpPr>
          <p:cNvPr id="51" name="Shape 42"/>
          <p:cNvSpPr/>
          <p:nvPr/>
        </p:nvSpPr>
        <p:spPr>
          <a:xfrm>
            <a:off x="609905" y="6008522"/>
            <a:ext cx="10972800" cy="523951"/>
          </a:xfrm>
          <a:prstGeom prst="roundRect">
            <a:avLst>
              <a:gd name="adj" fmla="val 38077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3"/>
          <p:cNvSpPr txBox="1"/>
          <p:nvPr/>
        </p:nvSpPr>
        <p:spPr>
          <a:xfrm>
            <a:off x="838505" y="6167628"/>
            <a:ext cx="6858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200" dirty="0"/>
          </a:p>
        </p:txBody>
      </p:sp>
      <p:sp>
        <p:nvSpPr>
          <p:cNvPr id="53" name="Text 44"/>
          <p:cNvSpPr txBox="1"/>
          <p:nvPr/>
        </p:nvSpPr>
        <p:spPr>
          <a:xfrm>
            <a:off x="1593799" y="6160313"/>
            <a:ext cx="8468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반응형 이미지의 경우 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aspect-ratio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CSS 속성을 사용하면 width/height 속성 없이도 비율에 맞춰 공간을 미리 확보할 수 있습니다. </a:t>
            </a:r>
            <a:endParaRPr lang="en-US" sz="12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457200"/>
            <a:ext cx="1333195" cy="314554"/>
          </a:xfrm>
          <a:prstGeom prst="roundRect">
            <a:avLst>
              <a:gd name="adj" fmla="val 52854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24205" y="533095"/>
            <a:ext cx="11814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STUDY 04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886054"/>
            <a:ext cx="588599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최적화 전/후 비교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1401775"/>
            <a:ext cx="646572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 JPG를 차세대 포맷(AVIF)과 우선순위 힌트로 최적화하여 LCP 성능 개선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1944929"/>
            <a:ext cx="5372100" cy="3323844"/>
          </a:xfrm>
          <a:prstGeom prst="roundRect">
            <a:avLst>
              <a:gd name="adj" fmla="val 126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2413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19049" y="1954987"/>
            <a:ext cx="5352898" cy="457200"/>
          </a:xfrm>
          <a:prstGeom prst="roundRect">
            <a:avLst>
              <a:gd name="adj" fmla="val 666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19049" y="2403043"/>
            <a:ext cx="5352898" cy="9144"/>
          </a:xfrm>
          <a:prstGeom prst="roundRect">
            <a:avLst>
              <a:gd name="adj" fmla="val 3333333"/>
            </a:avLst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809244" y="2087575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92878" y="2078431"/>
            <a:ext cx="590702" cy="200254"/>
          </a:xfrm>
          <a:prstGeom prst="roundRect">
            <a:avLst>
              <a:gd name="adj" fmla="val 86975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5268773" y="2116836"/>
            <a:ext cx="5148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LEGACY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9049" y="2406701"/>
            <a:ext cx="5352898" cy="1333195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19049" y="3730752"/>
            <a:ext cx="5352898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557577" y="2392985"/>
            <a:ext cx="1476756" cy="1352398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 l="-247260" r="-247260"/>
          <a:stretch/>
        </p:blipFill>
        <p:spPr>
          <a:xfrm>
            <a:off x="2700223" y="2535631"/>
            <a:ext cx="1190549" cy="26700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2931566" y="2916936"/>
            <a:ext cx="7342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F44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 MB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2589581" y="3202229"/>
            <a:ext cx="141732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Format: JPG (Legacy)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2756916" y="3440887"/>
            <a:ext cx="10771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LCP: 4.5s (Slow)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19049" y="3740810"/>
            <a:ext cx="5352898" cy="1524305"/>
          </a:xfrm>
          <a:prstGeom prst="roundRect">
            <a:avLst>
              <a:gd name="adj" fmla="val 5999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 txBox="1"/>
          <p:nvPr/>
        </p:nvSpPr>
        <p:spPr>
          <a:xfrm>
            <a:off x="771754" y="3962095"/>
            <a:ext cx="17437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기본 이미지 로딩 방식 --&gt;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771754" y="418612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826618" y="4186123"/>
            <a:ext cx="2478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img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923544" y="4334256"/>
            <a:ext cx="2478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1088136" y="4334256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334256"/>
            <a:ext cx="104333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"hero-large.jpg"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" y="4482389"/>
            <a:ext cx="2478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alt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088136" y="4482389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" y="4482389"/>
            <a:ext cx="78272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"Hero Image"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923544" y="4630522"/>
            <a:ext cx="3529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width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197864" y="4630522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1252728" y="4630522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"1920"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923544" y="4777740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height</a:t>
            </a:r>
            <a:endParaRPr lang="en-US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1252728" y="477774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1307592" y="4777740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"1080"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771754" y="492587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6210605" y="1944929"/>
            <a:ext cx="5372100" cy="3323844"/>
          </a:xfrm>
          <a:prstGeom prst="roundRect">
            <a:avLst>
              <a:gd name="adj" fmla="val 1261"/>
            </a:avLst>
          </a:prstGeom>
          <a:noFill/>
          <a:ln w="12700">
            <a:solidFill>
              <a:srgbClr val="E5E7EB"/>
            </a:solidFill>
            <a:prstDash val="solid"/>
          </a:ln>
          <a:effectLst>
            <a:outerShdw blurRad="2413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6219749" y="1954987"/>
            <a:ext cx="5352898" cy="457200"/>
          </a:xfrm>
          <a:prstGeom prst="roundRect">
            <a:avLst>
              <a:gd name="adj" fmla="val 66667"/>
            </a:avLst>
          </a:prstGeom>
          <a:solidFill>
            <a:srgbClr val="FFF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6219749" y="2403043"/>
            <a:ext cx="5352898" cy="9144"/>
          </a:xfrm>
          <a:prstGeom prst="roundRect">
            <a:avLst>
              <a:gd name="adj" fmla="val 3333333"/>
            </a:avLst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6409944" y="2087575"/>
            <a:ext cx="5532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10659161" y="2078431"/>
            <a:ext cx="724205" cy="200254"/>
          </a:xfrm>
          <a:prstGeom prst="roundRect">
            <a:avLst>
              <a:gd name="adj" fmla="val 86975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0"/>
          <p:cNvSpPr txBox="1"/>
          <p:nvPr/>
        </p:nvSpPr>
        <p:spPr>
          <a:xfrm>
            <a:off x="10735970" y="2116836"/>
            <a:ext cx="6483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OPTIMIZED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6219749" y="2406701"/>
            <a:ext cx="5352898" cy="1333195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2"/>
          <p:cNvSpPr/>
          <p:nvPr/>
        </p:nvSpPr>
        <p:spPr>
          <a:xfrm>
            <a:off x="6219749" y="3730752"/>
            <a:ext cx="5352898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8124444" y="2392985"/>
            <a:ext cx="1543507" cy="1352398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" descr="preencoded.png"/>
          <p:cNvPicPr>
            <a:picLocks noChangeAspect="1"/>
          </p:cNvPicPr>
          <p:nvPr/>
        </p:nvPicPr>
        <p:blipFill>
          <a:blip r:embed="rId4"/>
          <a:srcRect l="-219080" r="-219080"/>
          <a:stretch/>
        </p:blipFill>
        <p:spPr>
          <a:xfrm>
            <a:off x="8268005" y="2535631"/>
            <a:ext cx="1257300" cy="267005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8529523" y="2916936"/>
            <a:ext cx="73517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 KB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8150047" y="3202229"/>
            <a:ext cx="149687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Format: AVIF (Modern)</a:t>
            </a:r>
            <a:endParaRPr lang="en-US" sz="900" dirty="0"/>
          </a:p>
        </p:txBody>
      </p:sp>
      <p:sp>
        <p:nvSpPr>
          <p:cNvPr id="50" name="Text 46"/>
          <p:cNvSpPr txBox="1"/>
          <p:nvPr/>
        </p:nvSpPr>
        <p:spPr>
          <a:xfrm>
            <a:off x="8384134" y="3440887"/>
            <a:ext cx="10323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LCP: 2.1s (Fast)</a:t>
            </a:r>
            <a:endParaRPr lang="en-US" sz="900" dirty="0"/>
          </a:p>
        </p:txBody>
      </p:sp>
      <p:sp>
        <p:nvSpPr>
          <p:cNvPr id="51" name="Shape 47"/>
          <p:cNvSpPr/>
          <p:nvPr/>
        </p:nvSpPr>
        <p:spPr>
          <a:xfrm>
            <a:off x="6219749" y="3740810"/>
            <a:ext cx="5352898" cy="1524305"/>
          </a:xfrm>
          <a:prstGeom prst="roundRect">
            <a:avLst>
              <a:gd name="adj" fmla="val 5999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8"/>
          <p:cNvSpPr txBox="1"/>
          <p:nvPr/>
        </p:nvSpPr>
        <p:spPr>
          <a:xfrm>
            <a:off x="6372454" y="3831336"/>
            <a:ext cx="1981505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반응형 &amp; 차세대 포맷 적용 --&gt;</a:t>
            </a:r>
            <a:endParaRPr lang="en-US" sz="800" dirty="0"/>
          </a:p>
        </p:txBody>
      </p:sp>
      <p:sp>
        <p:nvSpPr>
          <p:cNvPr id="53" name="Text 49"/>
          <p:cNvSpPr txBox="1"/>
          <p:nvPr/>
        </p:nvSpPr>
        <p:spPr>
          <a:xfrm>
            <a:off x="6372454" y="4016959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</a:t>
            </a:r>
            <a:endParaRPr lang="en-US" sz="800" dirty="0"/>
          </a:p>
        </p:txBody>
      </p:sp>
      <p:sp>
        <p:nvSpPr>
          <p:cNvPr id="54" name="Text 50"/>
          <p:cNvSpPr txBox="1"/>
          <p:nvPr/>
        </p:nvSpPr>
        <p:spPr>
          <a:xfrm>
            <a:off x="6427318" y="4016959"/>
            <a:ext cx="4672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picture</a:t>
            </a:r>
            <a:endParaRPr lang="en-US" sz="800" dirty="0"/>
          </a:p>
        </p:txBody>
      </p:sp>
      <p:sp>
        <p:nvSpPr>
          <p:cNvPr id="55" name="Text 51"/>
          <p:cNvSpPr txBox="1"/>
          <p:nvPr/>
        </p:nvSpPr>
        <p:spPr>
          <a:xfrm>
            <a:off x="6810451" y="4016959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56" name="Shape 52"/>
          <p:cNvSpPr/>
          <p:nvPr/>
        </p:nvSpPr>
        <p:spPr>
          <a:xfrm>
            <a:off x="6219749" y="4145890"/>
            <a:ext cx="5352898" cy="342900"/>
          </a:xfrm>
          <a:prstGeom prst="rect">
            <a:avLst/>
          </a:prstGeom>
          <a:solidFill>
            <a:srgbClr val="FF690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3"/>
          <p:cNvSpPr/>
          <p:nvPr/>
        </p:nvSpPr>
        <p:spPr>
          <a:xfrm>
            <a:off x="6219749" y="4145890"/>
            <a:ext cx="19202" cy="342900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4"/>
          <p:cNvSpPr txBox="1"/>
          <p:nvPr/>
        </p:nvSpPr>
        <p:spPr>
          <a:xfrm>
            <a:off x="6543446" y="4184294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</a:t>
            </a:r>
            <a:endParaRPr lang="en-US" sz="800" dirty="0"/>
          </a:p>
        </p:txBody>
      </p:sp>
      <p:sp>
        <p:nvSpPr>
          <p:cNvPr id="59" name="Text 55"/>
          <p:cNvSpPr txBox="1"/>
          <p:nvPr/>
        </p:nvSpPr>
        <p:spPr>
          <a:xfrm>
            <a:off x="6598310" y="4184294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source</a:t>
            </a:r>
            <a:endParaRPr lang="en-US" sz="800" dirty="0"/>
          </a:p>
        </p:txBody>
      </p:sp>
      <p:sp>
        <p:nvSpPr>
          <p:cNvPr id="60" name="Text 56"/>
          <p:cNvSpPr txBox="1"/>
          <p:nvPr/>
        </p:nvSpPr>
        <p:spPr>
          <a:xfrm>
            <a:off x="6981444" y="4184294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srcset</a:t>
            </a:r>
            <a:endParaRPr lang="en-US" sz="800" dirty="0"/>
          </a:p>
        </p:txBody>
      </p:sp>
      <p:sp>
        <p:nvSpPr>
          <p:cNvPr id="61" name="Text 57"/>
          <p:cNvSpPr txBox="1"/>
          <p:nvPr/>
        </p:nvSpPr>
        <p:spPr>
          <a:xfrm>
            <a:off x="7310628" y="4184294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62" name="Text 58"/>
          <p:cNvSpPr txBox="1"/>
          <p:nvPr/>
        </p:nvSpPr>
        <p:spPr>
          <a:xfrm>
            <a:off x="7365492" y="4184294"/>
            <a:ext cx="7232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"hero.avif"</a:t>
            </a:r>
            <a:endParaRPr lang="en-US" sz="800" dirty="0"/>
          </a:p>
        </p:txBody>
      </p:sp>
      <p:sp>
        <p:nvSpPr>
          <p:cNvPr id="63" name="Text 59"/>
          <p:cNvSpPr txBox="1"/>
          <p:nvPr/>
        </p:nvSpPr>
        <p:spPr>
          <a:xfrm>
            <a:off x="8022031" y="4184294"/>
            <a:ext cx="2953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type</a:t>
            </a:r>
            <a:endParaRPr lang="en-US" sz="800" dirty="0"/>
          </a:p>
        </p:txBody>
      </p:sp>
      <p:sp>
        <p:nvSpPr>
          <p:cNvPr id="64" name="Text 60"/>
          <p:cNvSpPr txBox="1"/>
          <p:nvPr/>
        </p:nvSpPr>
        <p:spPr>
          <a:xfrm>
            <a:off x="8241487" y="4184294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65" name="Text 61"/>
          <p:cNvSpPr txBox="1"/>
          <p:nvPr/>
        </p:nvSpPr>
        <p:spPr>
          <a:xfrm>
            <a:off x="8296351" y="4184294"/>
            <a:ext cx="78272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"image/avif"</a:t>
            </a:r>
            <a:endParaRPr lang="en-US" sz="800" dirty="0"/>
          </a:p>
        </p:txBody>
      </p:sp>
      <p:sp>
        <p:nvSpPr>
          <p:cNvPr id="66" name="Text 62"/>
          <p:cNvSpPr txBox="1"/>
          <p:nvPr/>
        </p:nvSpPr>
        <p:spPr>
          <a:xfrm>
            <a:off x="8953805" y="4184294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67" name="Text 63"/>
          <p:cNvSpPr txBox="1"/>
          <p:nvPr/>
        </p:nvSpPr>
        <p:spPr>
          <a:xfrm>
            <a:off x="6543446" y="4332427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</a:t>
            </a:r>
            <a:endParaRPr lang="en-US" sz="800" dirty="0"/>
          </a:p>
        </p:txBody>
      </p:sp>
      <p:sp>
        <p:nvSpPr>
          <p:cNvPr id="68" name="Text 64"/>
          <p:cNvSpPr txBox="1"/>
          <p:nvPr/>
        </p:nvSpPr>
        <p:spPr>
          <a:xfrm>
            <a:off x="6598310" y="4332427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source</a:t>
            </a:r>
            <a:endParaRPr lang="en-US" sz="800" dirty="0"/>
          </a:p>
        </p:txBody>
      </p:sp>
      <p:sp>
        <p:nvSpPr>
          <p:cNvPr id="69" name="Text 65"/>
          <p:cNvSpPr txBox="1"/>
          <p:nvPr/>
        </p:nvSpPr>
        <p:spPr>
          <a:xfrm>
            <a:off x="6981444" y="4332427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srcset</a:t>
            </a:r>
            <a:endParaRPr lang="en-US" sz="800" dirty="0"/>
          </a:p>
        </p:txBody>
      </p:sp>
      <p:sp>
        <p:nvSpPr>
          <p:cNvPr id="70" name="Text 66"/>
          <p:cNvSpPr txBox="1"/>
          <p:nvPr/>
        </p:nvSpPr>
        <p:spPr>
          <a:xfrm>
            <a:off x="7310628" y="4332427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71" name="Text 67"/>
          <p:cNvSpPr txBox="1"/>
          <p:nvPr/>
        </p:nvSpPr>
        <p:spPr>
          <a:xfrm>
            <a:off x="7365492" y="4332427"/>
            <a:ext cx="7232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"hero.webp"</a:t>
            </a:r>
            <a:endParaRPr lang="en-US" sz="800" dirty="0"/>
          </a:p>
        </p:txBody>
      </p:sp>
      <p:sp>
        <p:nvSpPr>
          <p:cNvPr id="72" name="Text 68"/>
          <p:cNvSpPr txBox="1"/>
          <p:nvPr/>
        </p:nvSpPr>
        <p:spPr>
          <a:xfrm>
            <a:off x="8022031" y="4332427"/>
            <a:ext cx="2953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type</a:t>
            </a:r>
            <a:endParaRPr lang="en-US" sz="800" dirty="0"/>
          </a:p>
        </p:txBody>
      </p:sp>
      <p:sp>
        <p:nvSpPr>
          <p:cNvPr id="73" name="Text 69"/>
          <p:cNvSpPr txBox="1"/>
          <p:nvPr/>
        </p:nvSpPr>
        <p:spPr>
          <a:xfrm>
            <a:off x="8241487" y="4332427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74" name="Text 70"/>
          <p:cNvSpPr txBox="1"/>
          <p:nvPr/>
        </p:nvSpPr>
        <p:spPr>
          <a:xfrm>
            <a:off x="8296351" y="4332427"/>
            <a:ext cx="78272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"image/webp"</a:t>
            </a:r>
            <a:endParaRPr lang="en-US" sz="800" dirty="0"/>
          </a:p>
        </p:txBody>
      </p:sp>
      <p:sp>
        <p:nvSpPr>
          <p:cNvPr id="75" name="Text 71"/>
          <p:cNvSpPr txBox="1"/>
          <p:nvPr/>
        </p:nvSpPr>
        <p:spPr>
          <a:xfrm>
            <a:off x="8953805" y="4332427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76" name="Text 72"/>
          <p:cNvSpPr txBox="1"/>
          <p:nvPr/>
        </p:nvSpPr>
        <p:spPr>
          <a:xfrm>
            <a:off x="6524244" y="453725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</a:t>
            </a:r>
            <a:endParaRPr lang="en-US" sz="800" dirty="0"/>
          </a:p>
        </p:txBody>
      </p:sp>
      <p:sp>
        <p:nvSpPr>
          <p:cNvPr id="77" name="Text 73"/>
          <p:cNvSpPr txBox="1"/>
          <p:nvPr/>
        </p:nvSpPr>
        <p:spPr>
          <a:xfrm>
            <a:off x="6579108" y="4537253"/>
            <a:ext cx="2478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img</a:t>
            </a:r>
            <a:endParaRPr lang="en-US" sz="800" dirty="0"/>
          </a:p>
        </p:txBody>
      </p:sp>
      <p:sp>
        <p:nvSpPr>
          <p:cNvPr id="78" name="Text 74"/>
          <p:cNvSpPr txBox="1"/>
          <p:nvPr/>
        </p:nvSpPr>
        <p:spPr>
          <a:xfrm>
            <a:off x="6798564" y="4537253"/>
            <a:ext cx="2478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src</a:t>
            </a:r>
            <a:endParaRPr lang="en-US" sz="800" dirty="0"/>
          </a:p>
        </p:txBody>
      </p:sp>
      <p:sp>
        <p:nvSpPr>
          <p:cNvPr id="79" name="Text 75"/>
          <p:cNvSpPr txBox="1"/>
          <p:nvPr/>
        </p:nvSpPr>
        <p:spPr>
          <a:xfrm>
            <a:off x="6963156" y="453725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80" name="Text 76"/>
          <p:cNvSpPr txBox="1"/>
          <p:nvPr/>
        </p:nvSpPr>
        <p:spPr>
          <a:xfrm>
            <a:off x="7017106" y="4537253"/>
            <a:ext cx="65745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"hero.jpg"</a:t>
            </a:r>
            <a:endParaRPr lang="en-US" sz="800" dirty="0"/>
          </a:p>
        </p:txBody>
      </p:sp>
      <p:sp>
        <p:nvSpPr>
          <p:cNvPr id="81" name="Text 77"/>
          <p:cNvSpPr txBox="1"/>
          <p:nvPr/>
        </p:nvSpPr>
        <p:spPr>
          <a:xfrm>
            <a:off x="7619695" y="4537253"/>
            <a:ext cx="2478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alt</a:t>
            </a:r>
            <a:endParaRPr lang="en-US" sz="800" dirty="0"/>
          </a:p>
        </p:txBody>
      </p:sp>
      <p:sp>
        <p:nvSpPr>
          <p:cNvPr id="82" name="Text 78"/>
          <p:cNvSpPr txBox="1"/>
          <p:nvPr/>
        </p:nvSpPr>
        <p:spPr>
          <a:xfrm>
            <a:off x="7784287" y="4537253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83" name="Text 79"/>
          <p:cNvSpPr txBox="1"/>
          <p:nvPr/>
        </p:nvSpPr>
        <p:spPr>
          <a:xfrm>
            <a:off x="7839151" y="4537253"/>
            <a:ext cx="78272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"Hero Image"</a:t>
            </a:r>
            <a:endParaRPr lang="en-US" sz="800" dirty="0"/>
          </a:p>
        </p:txBody>
      </p:sp>
      <p:sp>
        <p:nvSpPr>
          <p:cNvPr id="84" name="Text 80"/>
          <p:cNvSpPr txBox="1"/>
          <p:nvPr/>
        </p:nvSpPr>
        <p:spPr>
          <a:xfrm>
            <a:off x="6676949" y="4723790"/>
            <a:ext cx="3529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width</a:t>
            </a:r>
            <a:endParaRPr lang="en-US" sz="800" dirty="0"/>
          </a:p>
        </p:txBody>
      </p:sp>
      <p:sp>
        <p:nvSpPr>
          <p:cNvPr id="85" name="Text 81"/>
          <p:cNvSpPr txBox="1"/>
          <p:nvPr/>
        </p:nvSpPr>
        <p:spPr>
          <a:xfrm>
            <a:off x="6951269" y="472379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86" name="Text 82"/>
          <p:cNvSpPr txBox="1"/>
          <p:nvPr/>
        </p:nvSpPr>
        <p:spPr>
          <a:xfrm>
            <a:off x="7005218" y="4723790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"1920"</a:t>
            </a:r>
            <a:endParaRPr lang="en-US" sz="800" dirty="0"/>
          </a:p>
        </p:txBody>
      </p:sp>
      <p:sp>
        <p:nvSpPr>
          <p:cNvPr id="87" name="Text 83"/>
          <p:cNvSpPr txBox="1"/>
          <p:nvPr/>
        </p:nvSpPr>
        <p:spPr>
          <a:xfrm>
            <a:off x="7389266" y="4723790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height</a:t>
            </a:r>
            <a:endParaRPr lang="en-US" sz="800" dirty="0"/>
          </a:p>
        </p:txBody>
      </p:sp>
      <p:sp>
        <p:nvSpPr>
          <p:cNvPr id="88" name="Text 84"/>
          <p:cNvSpPr txBox="1"/>
          <p:nvPr/>
        </p:nvSpPr>
        <p:spPr>
          <a:xfrm>
            <a:off x="7717536" y="472379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89" name="Text 85"/>
          <p:cNvSpPr txBox="1"/>
          <p:nvPr/>
        </p:nvSpPr>
        <p:spPr>
          <a:xfrm>
            <a:off x="7772400" y="4723790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"1080"</a:t>
            </a:r>
            <a:endParaRPr lang="en-US" sz="800" dirty="0"/>
          </a:p>
        </p:txBody>
      </p:sp>
      <p:sp>
        <p:nvSpPr>
          <p:cNvPr id="90" name="Shape 86"/>
          <p:cNvSpPr/>
          <p:nvPr/>
        </p:nvSpPr>
        <p:spPr>
          <a:xfrm>
            <a:off x="6219749" y="4851806"/>
            <a:ext cx="5352898" cy="190195"/>
          </a:xfrm>
          <a:prstGeom prst="rect">
            <a:avLst/>
          </a:prstGeom>
          <a:solidFill>
            <a:srgbClr val="FF690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1" name="Shape 87"/>
          <p:cNvSpPr/>
          <p:nvPr/>
        </p:nvSpPr>
        <p:spPr>
          <a:xfrm>
            <a:off x="6219749" y="4851806"/>
            <a:ext cx="19202" cy="190195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88"/>
          <p:cNvSpPr txBox="1"/>
          <p:nvPr/>
        </p:nvSpPr>
        <p:spPr>
          <a:xfrm>
            <a:off x="6696151" y="4890211"/>
            <a:ext cx="85039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fetchpriority</a:t>
            </a:r>
            <a:endParaRPr lang="en-US" sz="800" dirty="0"/>
          </a:p>
        </p:txBody>
      </p:sp>
      <p:sp>
        <p:nvSpPr>
          <p:cNvPr id="93" name="Text 89"/>
          <p:cNvSpPr txBox="1"/>
          <p:nvPr/>
        </p:nvSpPr>
        <p:spPr>
          <a:xfrm>
            <a:off x="7408469" y="4890211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800" dirty="0"/>
          </a:p>
        </p:txBody>
      </p:sp>
      <p:sp>
        <p:nvSpPr>
          <p:cNvPr id="94" name="Text 90"/>
          <p:cNvSpPr txBox="1"/>
          <p:nvPr/>
        </p:nvSpPr>
        <p:spPr>
          <a:xfrm>
            <a:off x="7462418" y="4890211"/>
            <a:ext cx="4096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"high"</a:t>
            </a:r>
            <a:endParaRPr lang="en-US" sz="800" dirty="0"/>
          </a:p>
        </p:txBody>
      </p:sp>
      <p:sp>
        <p:nvSpPr>
          <p:cNvPr id="95" name="Shape 91"/>
          <p:cNvSpPr/>
          <p:nvPr/>
        </p:nvSpPr>
        <p:spPr>
          <a:xfrm>
            <a:off x="7791602" y="4890211"/>
            <a:ext cx="114300" cy="105156"/>
          </a:xfrm>
          <a:prstGeom prst="rect">
            <a:avLst/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2"/>
          <p:cNvSpPr txBox="1"/>
          <p:nvPr/>
        </p:nvSpPr>
        <p:spPr>
          <a:xfrm>
            <a:off x="7791602" y="4890211"/>
            <a:ext cx="19111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800" dirty="0"/>
          </a:p>
        </p:txBody>
      </p:sp>
      <p:sp>
        <p:nvSpPr>
          <p:cNvPr id="97" name="Text 93"/>
          <p:cNvSpPr txBox="1"/>
          <p:nvPr/>
        </p:nvSpPr>
        <p:spPr>
          <a:xfrm>
            <a:off x="6372454" y="5057546"/>
            <a:ext cx="2478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</a:t>
            </a:r>
            <a:endParaRPr lang="en-US" sz="800" dirty="0"/>
          </a:p>
        </p:txBody>
      </p:sp>
      <p:sp>
        <p:nvSpPr>
          <p:cNvPr id="98" name="Text 94"/>
          <p:cNvSpPr txBox="1"/>
          <p:nvPr/>
        </p:nvSpPr>
        <p:spPr>
          <a:xfrm>
            <a:off x="6536131" y="5057546"/>
            <a:ext cx="4672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picture</a:t>
            </a:r>
            <a:endParaRPr lang="en-US" sz="800" dirty="0"/>
          </a:p>
        </p:txBody>
      </p:sp>
      <p:sp>
        <p:nvSpPr>
          <p:cNvPr id="99" name="Text 95"/>
          <p:cNvSpPr txBox="1"/>
          <p:nvPr/>
        </p:nvSpPr>
        <p:spPr>
          <a:xfrm>
            <a:off x="6920179" y="5057546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080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800" dirty="0"/>
          </a:p>
        </p:txBody>
      </p:sp>
      <p:sp>
        <p:nvSpPr>
          <p:cNvPr id="100" name="Shape 96"/>
          <p:cNvSpPr/>
          <p:nvPr/>
        </p:nvSpPr>
        <p:spPr>
          <a:xfrm>
            <a:off x="609905" y="5458054"/>
            <a:ext cx="10972800" cy="942746"/>
          </a:xfrm>
          <a:prstGeom prst="roundRect">
            <a:avLst>
              <a:gd name="adj" fmla="val 11757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71754" y="5700370"/>
            <a:ext cx="142646" cy="190195"/>
          </a:xfrm>
          <a:prstGeom prst="rect">
            <a:avLst/>
          </a:prstGeom>
        </p:spPr>
      </p:pic>
      <p:sp>
        <p:nvSpPr>
          <p:cNvPr id="102" name="Text 97"/>
          <p:cNvSpPr txBox="1"/>
          <p:nvPr/>
        </p:nvSpPr>
        <p:spPr>
          <a:xfrm>
            <a:off x="1067105" y="5619902"/>
            <a:ext cx="104680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TIP: LCP(Largest Contentful Paint) 최적화</a:t>
            </a:r>
            <a:endParaRPr lang="en-US" sz="1200" dirty="0"/>
          </a:p>
        </p:txBody>
      </p:sp>
      <p:sp>
        <p:nvSpPr>
          <p:cNvPr id="103" name="Text 98"/>
          <p:cNvSpPr txBox="1"/>
          <p:nvPr/>
        </p:nvSpPr>
        <p:spPr>
          <a:xfrm>
            <a:off x="1067105" y="5848502"/>
            <a:ext cx="1043056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페이지의 가장 큰 콘텐츠(LCP)가 되는 히어로 이미지는 </a:t>
            </a:r>
            <a:r>
              <a:rPr lang="en-US" sz="1200" dirty="0">
                <a:solidFill>
                  <a:srgbClr val="37415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loading="lazy"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사용하면 안 됩니다. 대신 </a:t>
            </a:r>
            <a:r>
              <a:rPr lang="en-US" sz="1200" b="1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fetchpriority="high"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추가하여 브라우저가 다른 리소스보다 우선적으로 다운로드하게 하세요.</a:t>
            </a:r>
            <a:endParaRPr lang="en-US" sz="1200" dirty="0"/>
          </a:p>
        </p:txBody>
      </p:sp>
      <p:pic>
        <p:nvPicPr>
          <p:cNvPr id="10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905195" y="3415284"/>
            <a:ext cx="381305" cy="381305"/>
          </a:xfrm>
          <a:prstGeom prst="rect">
            <a:avLst/>
          </a:prstGeom>
        </p:spPr>
      </p:pic>
      <p:pic>
        <p:nvPicPr>
          <p:cNvPr id="105" name="Image 4" descr="preencoded.png"/>
          <p:cNvPicPr>
            <a:picLocks noChangeAspect="1"/>
          </p:cNvPicPr>
          <p:nvPr/>
        </p:nvPicPr>
        <p:blipFill>
          <a:blip r:embed="rId7"/>
          <a:srcRect l="-760" r="-760"/>
          <a:stretch/>
        </p:blipFill>
        <p:spPr>
          <a:xfrm>
            <a:off x="6019495" y="3520440"/>
            <a:ext cx="152705" cy="171907"/>
          </a:xfrm>
          <a:prstGeom prst="rect">
            <a:avLst/>
          </a:prstGeom>
        </p:spPr>
      </p:pic>
      <p:sp>
        <p:nvSpPr>
          <p:cNvPr id="10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767487" y="827643"/>
            <a:ext cx="4562856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DEPLOY</a:t>
            </a:r>
            <a:endParaRPr lang="en-US" sz="5400" dirty="0"/>
          </a:p>
          <a:p>
            <a:pPr marL="0" indent="0" algn="l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PIPELINE 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5766206" y="1661119"/>
            <a:ext cx="5658307" cy="19202"/>
          </a:xfrm>
          <a:prstGeom prst="rect">
            <a:avLst/>
          </a:prstGeom>
          <a:solidFill>
            <a:srgbClr val="F0F0F0"/>
          </a:solidFill>
          <a:ln w="12700">
            <a:solidFill>
              <a:srgbClr val="F0F0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 txBox="1"/>
          <p:nvPr/>
        </p:nvSpPr>
        <p:spPr>
          <a:xfrm>
            <a:off x="5766206" y="1270671"/>
            <a:ext cx="34280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케이스 스터디 5: 배포 자동화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0299801" y="1365768"/>
            <a:ext cx="12006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STUDY 05</a:t>
            </a:r>
            <a:endParaRPr lang="en-US" sz="1200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BC547F9-70D3-103D-8D6C-2681DA7ABF91}"/>
              </a:ext>
            </a:extLst>
          </p:cNvPr>
          <p:cNvGrpSpPr/>
          <p:nvPr/>
        </p:nvGrpSpPr>
        <p:grpSpPr>
          <a:xfrm>
            <a:off x="5766206" y="1916394"/>
            <a:ext cx="5658307" cy="4187835"/>
            <a:chOff x="5379415" y="2829154"/>
            <a:chExt cx="5658307" cy="3421684"/>
          </a:xfrm>
        </p:grpSpPr>
        <p:sp>
          <p:nvSpPr>
            <p:cNvPr id="8" name="Shape 5"/>
            <p:cNvSpPr/>
            <p:nvPr/>
          </p:nvSpPr>
          <p:spPr>
            <a:xfrm>
              <a:off x="5379415" y="2829154"/>
              <a:ext cx="5658307" cy="676656"/>
            </a:xfrm>
            <a:prstGeom prst="roundRect">
              <a:avLst>
                <a:gd name="adj" fmla="val 22840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9" name="Shape 6"/>
            <p:cNvSpPr/>
            <p:nvPr/>
          </p:nvSpPr>
          <p:spPr>
            <a:xfrm>
              <a:off x="5379415" y="2829154"/>
              <a:ext cx="57607" cy="676656"/>
            </a:xfrm>
            <a:prstGeom prst="roundRect">
              <a:avLst>
                <a:gd name="adj" fmla="val 268277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0" name="Shape 7"/>
            <p:cNvSpPr/>
            <p:nvPr/>
          </p:nvSpPr>
          <p:spPr>
            <a:xfrm>
              <a:off x="5627218" y="3013862"/>
              <a:ext cx="952805" cy="304495"/>
            </a:xfrm>
            <a:prstGeom prst="roundRect">
              <a:avLst>
                <a:gd name="adj" fmla="val 56306"/>
              </a:avLst>
            </a:prstGeom>
            <a:solidFill>
              <a:srgbClr val="FFEAD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1" name="Text 8"/>
            <p:cNvSpPr txBox="1"/>
            <p:nvPr/>
          </p:nvSpPr>
          <p:spPr>
            <a:xfrm>
              <a:off x="6722669" y="2943454"/>
              <a:ext cx="270571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수동 빌드 및 배포 반복</a:t>
              </a:r>
              <a:endParaRPr lang="en-US" sz="1400" dirty="0"/>
            </a:p>
          </p:txBody>
        </p:sp>
        <p:sp>
          <p:nvSpPr>
            <p:cNvPr id="12" name="Shape 9"/>
            <p:cNvSpPr/>
            <p:nvPr/>
          </p:nvSpPr>
          <p:spPr>
            <a:xfrm>
              <a:off x="5379415" y="3743554"/>
              <a:ext cx="5658307" cy="676656"/>
            </a:xfrm>
            <a:prstGeom prst="roundRect">
              <a:avLst>
                <a:gd name="adj" fmla="val 22840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3" name="Shape 10"/>
            <p:cNvSpPr/>
            <p:nvPr/>
          </p:nvSpPr>
          <p:spPr>
            <a:xfrm>
              <a:off x="5379415" y="3743554"/>
              <a:ext cx="57607" cy="676656"/>
            </a:xfrm>
            <a:prstGeom prst="roundRect">
              <a:avLst>
                <a:gd name="adj" fmla="val 268277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4" name="Shape 11"/>
            <p:cNvSpPr/>
            <p:nvPr/>
          </p:nvSpPr>
          <p:spPr>
            <a:xfrm>
              <a:off x="5627218" y="3928262"/>
              <a:ext cx="952805" cy="304495"/>
            </a:xfrm>
            <a:prstGeom prst="roundRect">
              <a:avLst>
                <a:gd name="adj" fmla="val 56306"/>
              </a:avLst>
            </a:prstGeom>
            <a:solidFill>
              <a:srgbClr val="FFEAD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6722669" y="3857854"/>
              <a:ext cx="316291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GitHub Actions 워크플로우 도입</a:t>
              </a:r>
              <a:endParaRPr lang="en-US" sz="1400" dirty="0"/>
            </a:p>
          </p:txBody>
        </p:sp>
        <p:sp>
          <p:nvSpPr>
            <p:cNvPr id="16" name="Shape 13"/>
            <p:cNvSpPr/>
            <p:nvPr/>
          </p:nvSpPr>
          <p:spPr>
            <a:xfrm>
              <a:off x="5379415" y="4658868"/>
              <a:ext cx="5658307" cy="676656"/>
            </a:xfrm>
            <a:prstGeom prst="roundRect">
              <a:avLst>
                <a:gd name="adj" fmla="val 22840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7" name="Shape 14"/>
            <p:cNvSpPr/>
            <p:nvPr/>
          </p:nvSpPr>
          <p:spPr>
            <a:xfrm>
              <a:off x="5379415" y="4658868"/>
              <a:ext cx="57607" cy="676656"/>
            </a:xfrm>
            <a:prstGeom prst="roundRect">
              <a:avLst>
                <a:gd name="adj" fmla="val 268277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8" name="Shape 15"/>
            <p:cNvSpPr/>
            <p:nvPr/>
          </p:nvSpPr>
          <p:spPr>
            <a:xfrm>
              <a:off x="5627218" y="4843577"/>
              <a:ext cx="952805" cy="304495"/>
            </a:xfrm>
            <a:prstGeom prst="roundRect">
              <a:avLst>
                <a:gd name="adj" fmla="val 56306"/>
              </a:avLst>
            </a:prstGeom>
            <a:solidFill>
              <a:srgbClr val="FFEAD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9" name="Text 16"/>
            <p:cNvSpPr txBox="1"/>
            <p:nvPr/>
          </p:nvSpPr>
          <p:spPr>
            <a:xfrm>
              <a:off x="6722669" y="4773168"/>
              <a:ext cx="30294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반복성 및 추적성 확보</a:t>
              </a:r>
              <a:endParaRPr lang="en-US" sz="1400" dirty="0"/>
            </a:p>
          </p:txBody>
        </p:sp>
        <p:sp>
          <p:nvSpPr>
            <p:cNvPr id="20" name="Shape 17"/>
            <p:cNvSpPr/>
            <p:nvPr/>
          </p:nvSpPr>
          <p:spPr>
            <a:xfrm>
              <a:off x="5379415" y="5574182"/>
              <a:ext cx="5658307" cy="676656"/>
            </a:xfrm>
            <a:prstGeom prst="roundRect">
              <a:avLst>
                <a:gd name="adj" fmla="val 22840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1" name="Shape 18"/>
            <p:cNvSpPr/>
            <p:nvPr/>
          </p:nvSpPr>
          <p:spPr>
            <a:xfrm>
              <a:off x="5379415" y="5574182"/>
              <a:ext cx="57607" cy="676656"/>
            </a:xfrm>
            <a:prstGeom prst="roundRect">
              <a:avLst>
                <a:gd name="adj" fmla="val 268277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2" name="Shape 19"/>
            <p:cNvSpPr/>
            <p:nvPr/>
          </p:nvSpPr>
          <p:spPr>
            <a:xfrm>
              <a:off x="5627218" y="5758891"/>
              <a:ext cx="952805" cy="304495"/>
            </a:xfrm>
            <a:prstGeom prst="roundRect">
              <a:avLst>
                <a:gd name="adj" fmla="val 56306"/>
              </a:avLst>
            </a:prstGeom>
            <a:solidFill>
              <a:srgbClr val="FFEAD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6722669" y="5688482"/>
              <a:ext cx="32296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안정성 향상 및 즉시 롤백</a:t>
              </a:r>
              <a:endParaRPr lang="en-US" sz="14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5747918" y="3080614"/>
              <a:ext cx="715061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27" name="Text 24"/>
            <p:cNvSpPr txBox="1"/>
            <p:nvPr/>
          </p:nvSpPr>
          <p:spPr>
            <a:xfrm>
              <a:off x="6722669" y="3188513"/>
              <a:ext cx="313547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로컬 환경 차이로 인한 빌드 실패 및 지연 발생</a:t>
              </a:r>
              <a:endParaRPr lang="en-US" sz="1050" dirty="0"/>
            </a:p>
          </p:txBody>
        </p:sp>
        <p:sp>
          <p:nvSpPr>
            <p:cNvPr id="28" name="Text 25"/>
            <p:cNvSpPr txBox="1"/>
            <p:nvPr/>
          </p:nvSpPr>
          <p:spPr>
            <a:xfrm>
              <a:off x="5672023" y="3995014"/>
              <a:ext cx="866851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SOLUTION</a:t>
              </a:r>
              <a:endParaRPr lang="en-US" sz="1400" dirty="0"/>
            </a:p>
          </p:txBody>
        </p:sp>
        <p:sp>
          <p:nvSpPr>
            <p:cNvPr id="29" name="Text 26"/>
            <p:cNvSpPr txBox="1"/>
            <p:nvPr/>
          </p:nvSpPr>
          <p:spPr>
            <a:xfrm>
              <a:off x="6722669" y="4103827"/>
              <a:ext cx="362011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main 브랜치 push 시 자동 빌드 및 Pages 배포 트리거</a:t>
              </a:r>
              <a:endParaRPr lang="en-US" sz="1050" dirty="0"/>
            </a:p>
          </p:txBody>
        </p:sp>
        <p:sp>
          <p:nvSpPr>
            <p:cNvPr id="30" name="Text 27"/>
            <p:cNvSpPr txBox="1"/>
            <p:nvPr/>
          </p:nvSpPr>
          <p:spPr>
            <a:xfrm>
              <a:off x="5739689" y="4910328"/>
              <a:ext cx="734263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BENEFIT</a:t>
              </a:r>
              <a:endParaRPr lang="en-US" sz="1400" dirty="0"/>
            </a:p>
          </p:txBody>
        </p:sp>
        <p:sp>
          <p:nvSpPr>
            <p:cNvPr id="31" name="Text 28"/>
            <p:cNvSpPr txBox="1"/>
            <p:nvPr/>
          </p:nvSpPr>
          <p:spPr>
            <a:xfrm>
              <a:off x="6722669" y="5019142"/>
              <a:ext cx="34390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모든 배포 과정이 로그로 기록되며 일관된 환경 보장</a:t>
              </a:r>
              <a:endParaRPr lang="en-US" sz="1050" dirty="0"/>
            </a:p>
          </p:txBody>
        </p:sp>
        <p:sp>
          <p:nvSpPr>
            <p:cNvPr id="32" name="Text 29"/>
            <p:cNvSpPr txBox="1"/>
            <p:nvPr/>
          </p:nvSpPr>
          <p:spPr>
            <a:xfrm>
              <a:off x="5766206" y="5825642"/>
              <a:ext cx="676656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RESULT</a:t>
              </a:r>
              <a:endParaRPr lang="en-US" sz="1400" dirty="0"/>
            </a:p>
          </p:txBody>
        </p:sp>
        <p:sp>
          <p:nvSpPr>
            <p:cNvPr id="33" name="Text 30"/>
            <p:cNvSpPr txBox="1"/>
            <p:nvPr/>
          </p:nvSpPr>
          <p:spPr>
            <a:xfrm>
              <a:off x="6722669" y="5933542"/>
              <a:ext cx="3727094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 발생 시 이전 커밋으로 즉시 복구 가능한 체계 구축</a:t>
              </a:r>
              <a:endParaRPr lang="en-US" sz="1050" dirty="0"/>
            </a:p>
          </p:txBody>
        </p:sp>
      </p:grpSp>
      <p:pic>
        <p:nvPicPr>
          <p:cNvPr id="36" name="Image 2" descr="preencoded.png">
            <a:extLst>
              <a:ext uri="{FF2B5EF4-FFF2-40B4-BE49-F238E27FC236}">
                <a16:creationId xmlns:a16="http://schemas.microsoft.com/office/drawing/2014/main" id="{EDB1B34D-C63A-FA93-0A5D-ACE2491BE7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778" t="5532" r="18329" b="5532"/>
          <a:stretch>
            <a:fillRect/>
          </a:stretch>
        </p:blipFill>
        <p:spPr>
          <a:xfrm>
            <a:off x="916230" y="3011797"/>
            <a:ext cx="3697833" cy="3047695"/>
          </a:xfrm>
          <a:prstGeom prst="rect">
            <a:avLst/>
          </a:prstGeom>
        </p:spPr>
      </p:pic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794962" y="1156487"/>
            <a:ext cx="1133856" cy="286207"/>
          </a:xfrm>
          <a:prstGeom prst="roundRect">
            <a:avLst>
              <a:gd name="adj" fmla="val 319489"/>
            </a:avLst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6811" y="1223238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SECTION 04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94962" y="1670380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</a:t>
            </a:r>
            <a:endParaRPr lang="en-US" sz="8200" dirty="0"/>
          </a:p>
        </p:txBody>
      </p:sp>
      <p:sp>
        <p:nvSpPr>
          <p:cNvPr id="7" name="Text 5"/>
          <p:cNvSpPr txBox="1"/>
          <p:nvPr/>
        </p:nvSpPr>
        <p:spPr>
          <a:xfrm>
            <a:off x="794962" y="2689936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ENV</a:t>
            </a:r>
            <a:endParaRPr lang="en-US" sz="8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33062" y="4931534"/>
            <a:ext cx="5181905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9152" y="5160134"/>
            <a:ext cx="476311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VS Code, Git, Node.js 설치부터</a:t>
            </a:r>
            <a:endParaRPr lang="en-US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API 키 발급 및 환경 변수(.env) 설정까지.</a:t>
            </a:r>
            <a:endParaRPr lang="en-US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바이브코딩을 위한 완벽한 개발 환경 구축. 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785757" y="5193673"/>
            <a:ext cx="5524805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SETUP</a:t>
            </a:r>
            <a:endParaRPr lang="en-US" sz="8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 t="5532" b="5532"/>
          <a:stretch/>
        </p:blipFill>
        <p:spPr>
          <a:xfrm>
            <a:off x="6167062" y="1563167"/>
            <a:ext cx="5143500" cy="3047695"/>
          </a:xfrm>
          <a:prstGeom prst="rect">
            <a:avLst/>
          </a:prstGeom>
        </p:spPr>
      </p:pic>
      <p:sp>
        <p:nvSpPr>
          <p:cNvPr id="1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6533388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 Code 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Installation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09905" y="1310335"/>
            <a:ext cx="381305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086307" y="1310335"/>
            <a:ext cx="43434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환경 설정 프로세스 (Windows / macOS)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02" b="-402"/>
          <a:stretch/>
        </p:blipFill>
        <p:spPr>
          <a:xfrm>
            <a:off x="1086307" y="3721608"/>
            <a:ext cx="10019995" cy="19202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800100" y="3359506"/>
            <a:ext cx="2476195" cy="238292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09244" y="4940503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17143" y="4073652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사이트 접속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61949" y="4369003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code.visualstudio.com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파일 다운로드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" y="4942332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61949" y="5095037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1095451" y="5095037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1228954" y="5095037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904695" y="3640226"/>
            <a:ext cx="267005" cy="2670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61949" y="5285232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18" name="Text 13"/>
          <p:cNvSpPr txBox="1"/>
          <p:nvPr/>
        </p:nvSpPr>
        <p:spPr>
          <a:xfrm>
            <a:off x="1082650" y="5285232"/>
            <a:ext cx="100858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curl -O https://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961949" y="5442509"/>
            <a:ext cx="13716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code.visualstudio.com/</a:t>
            </a:r>
            <a:endParaRPr lang="en-US" sz="8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752905" y="2559406"/>
            <a:ext cx="571500" cy="5715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975104" y="2673706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3314700" y="3644800"/>
            <a:ext cx="123444" cy="190195"/>
          </a:xfrm>
          <a:prstGeom prst="rect">
            <a:avLst/>
          </a:prstGeom>
        </p:spPr>
      </p:pic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3504895" y="3280867"/>
            <a:ext cx="2476195" cy="2540203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14954" y="4861865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3621938" y="3995014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및 옵션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3666744" y="429036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설정 유지 권장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"PATH에 추가" 체크 필수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3514954" y="4863694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3666744" y="5016398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3800246" y="5016398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3933749" y="5016398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610405" y="3561588"/>
            <a:ext cx="267005" cy="267005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3666744" y="5206594"/>
            <a:ext cx="94091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[x] Add to PATH</a:t>
            </a:r>
            <a:endParaRPr lang="en-US" sz="800" dirty="0"/>
          </a:p>
        </p:txBody>
      </p:sp>
      <p:sp>
        <p:nvSpPr>
          <p:cNvPr id="33" name="Text 24"/>
          <p:cNvSpPr txBox="1"/>
          <p:nvPr/>
        </p:nvSpPr>
        <p:spPr>
          <a:xfrm>
            <a:off x="3666744" y="5363870"/>
            <a:ext cx="124724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[x] Register Code as</a:t>
            </a:r>
            <a:endParaRPr lang="en-US" sz="800" dirty="0"/>
          </a:p>
        </p:txBody>
      </p:sp>
      <p:sp>
        <p:nvSpPr>
          <p:cNvPr id="34" name="Text 25"/>
          <p:cNvSpPr txBox="1"/>
          <p:nvPr/>
        </p:nvSpPr>
        <p:spPr>
          <a:xfrm>
            <a:off x="3666744" y="5521147"/>
            <a:ext cx="56601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an editor</a:t>
            </a:r>
            <a:endParaRPr lang="en-US" sz="800" dirty="0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57700" y="2480767"/>
            <a:ext cx="571500" cy="5715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4679899" y="2595067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6020410" y="3629255"/>
            <a:ext cx="123444" cy="190195"/>
          </a:xfrm>
          <a:prstGeom prst="rect">
            <a:avLst/>
          </a:prstGeom>
        </p:spPr>
      </p:pic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6210605" y="3280867"/>
            <a:ext cx="2476195" cy="2540203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6219749" y="4861865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28"/>
          <p:cNvSpPr txBox="1"/>
          <p:nvPr/>
        </p:nvSpPr>
        <p:spPr>
          <a:xfrm>
            <a:off x="6327648" y="3995014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한국어 팩 설치</a:t>
            </a:r>
            <a:endParaRPr lang="en-US" sz="1400" dirty="0"/>
          </a:p>
        </p:txBody>
      </p:sp>
      <p:sp>
        <p:nvSpPr>
          <p:cNvPr id="41" name="Text 29"/>
          <p:cNvSpPr txBox="1"/>
          <p:nvPr/>
        </p:nvSpPr>
        <p:spPr>
          <a:xfrm>
            <a:off x="6372454" y="429036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050" dirty="0" err="1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프로그램</a:t>
            </a: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탭(Ctrl+Shift+X)에서 검색</a:t>
            </a:r>
            <a:endParaRPr lang="en-US" sz="1050" dirty="0"/>
          </a:p>
        </p:txBody>
      </p:sp>
      <p:sp>
        <p:nvSpPr>
          <p:cNvPr id="42" name="Shape 30"/>
          <p:cNvSpPr/>
          <p:nvPr/>
        </p:nvSpPr>
        <p:spPr>
          <a:xfrm>
            <a:off x="6219749" y="4863694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1"/>
          <p:cNvSpPr/>
          <p:nvPr/>
        </p:nvSpPr>
        <p:spPr>
          <a:xfrm>
            <a:off x="6372454" y="5016398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505956" y="5016398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3"/>
          <p:cNvSpPr/>
          <p:nvPr/>
        </p:nvSpPr>
        <p:spPr>
          <a:xfrm>
            <a:off x="6638544" y="5016398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282282" y="3561588"/>
            <a:ext cx="333756" cy="267005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372454" y="5206594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48" name="Text 35"/>
          <p:cNvSpPr txBox="1"/>
          <p:nvPr/>
        </p:nvSpPr>
        <p:spPr>
          <a:xfrm>
            <a:off x="6492240" y="5206594"/>
            <a:ext cx="7050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ext install</a:t>
            </a:r>
            <a:endParaRPr lang="en-US" sz="800" dirty="0"/>
          </a:p>
        </p:txBody>
      </p:sp>
      <p:sp>
        <p:nvSpPr>
          <p:cNvPr id="49" name="Text 36"/>
          <p:cNvSpPr txBox="1"/>
          <p:nvPr/>
        </p:nvSpPr>
        <p:spPr>
          <a:xfrm>
            <a:off x="6372454" y="5363870"/>
            <a:ext cx="10661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59E0B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MS-CEINTL.vscode-</a:t>
            </a:r>
            <a:endParaRPr lang="en-US" sz="800" dirty="0"/>
          </a:p>
        </p:txBody>
      </p:sp>
      <p:sp>
        <p:nvSpPr>
          <p:cNvPr id="50" name="Text 37"/>
          <p:cNvSpPr txBox="1"/>
          <p:nvPr/>
        </p:nvSpPr>
        <p:spPr>
          <a:xfrm>
            <a:off x="6372454" y="5521147"/>
            <a:ext cx="99761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59E0B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language-pack-ko</a:t>
            </a:r>
            <a:endParaRPr lang="en-US" sz="8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62495" y="2480767"/>
            <a:ext cx="571500" cy="571500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384694" y="2595067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8725205" y="3629255"/>
            <a:ext cx="123444" cy="190195"/>
          </a:xfrm>
          <a:prstGeom prst="rect">
            <a:avLst/>
          </a:prstGeom>
        </p:spPr>
      </p:pic>
      <p:pic>
        <p:nvPicPr>
          <p:cNvPr id="54" name="Image 13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8915400" y="3280867"/>
            <a:ext cx="2476195" cy="2540203"/>
          </a:xfrm>
          <a:prstGeom prst="rect">
            <a:avLst/>
          </a:prstGeom>
        </p:spPr>
      </p:pic>
      <p:sp>
        <p:nvSpPr>
          <p:cNvPr id="55" name="Shape 39"/>
          <p:cNvSpPr/>
          <p:nvPr/>
        </p:nvSpPr>
        <p:spPr>
          <a:xfrm>
            <a:off x="8924544" y="4861865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40"/>
          <p:cNvSpPr txBox="1"/>
          <p:nvPr/>
        </p:nvSpPr>
        <p:spPr>
          <a:xfrm>
            <a:off x="9032443" y="3995014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및 확인</a:t>
            </a:r>
            <a:endParaRPr lang="en-US" sz="1400" dirty="0"/>
          </a:p>
        </p:txBody>
      </p:sp>
      <p:sp>
        <p:nvSpPr>
          <p:cNvPr id="57" name="Text 41"/>
          <p:cNvSpPr txBox="1"/>
          <p:nvPr/>
        </p:nvSpPr>
        <p:spPr>
          <a:xfrm>
            <a:off x="9077249" y="429036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터미널에서 명령어로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확인</a:t>
            </a:r>
            <a:endParaRPr lang="en-US" sz="1050" dirty="0"/>
          </a:p>
        </p:txBody>
      </p:sp>
      <p:sp>
        <p:nvSpPr>
          <p:cNvPr id="58" name="Shape 42"/>
          <p:cNvSpPr/>
          <p:nvPr/>
        </p:nvSpPr>
        <p:spPr>
          <a:xfrm>
            <a:off x="8924544" y="4863694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43"/>
          <p:cNvSpPr/>
          <p:nvPr/>
        </p:nvSpPr>
        <p:spPr>
          <a:xfrm>
            <a:off x="9077249" y="5016398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44"/>
          <p:cNvSpPr/>
          <p:nvPr/>
        </p:nvSpPr>
        <p:spPr>
          <a:xfrm>
            <a:off x="9210751" y="5016398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45"/>
          <p:cNvSpPr/>
          <p:nvPr/>
        </p:nvSpPr>
        <p:spPr>
          <a:xfrm>
            <a:off x="9344254" y="5016398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2" name="Image 14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10019995" y="3561588"/>
            <a:ext cx="267005" cy="267005"/>
          </a:xfrm>
          <a:prstGeom prst="rect">
            <a:avLst/>
          </a:prstGeom>
        </p:spPr>
      </p:pic>
      <p:sp>
        <p:nvSpPr>
          <p:cNvPr id="63" name="Text 46"/>
          <p:cNvSpPr txBox="1"/>
          <p:nvPr/>
        </p:nvSpPr>
        <p:spPr>
          <a:xfrm>
            <a:off x="9077249" y="5206594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64" name="Text 47"/>
          <p:cNvSpPr txBox="1"/>
          <p:nvPr/>
        </p:nvSpPr>
        <p:spPr>
          <a:xfrm>
            <a:off x="9197950" y="5206594"/>
            <a:ext cx="39136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code .</a:t>
            </a:r>
            <a:endParaRPr lang="en-US" sz="800" dirty="0"/>
          </a:p>
        </p:txBody>
      </p:sp>
      <p:sp>
        <p:nvSpPr>
          <p:cNvPr id="65" name="Text 48"/>
          <p:cNvSpPr txBox="1"/>
          <p:nvPr/>
        </p:nvSpPr>
        <p:spPr>
          <a:xfrm>
            <a:off x="9077249" y="5363870"/>
            <a:ext cx="112288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VS Code opens in</a:t>
            </a:r>
            <a:endParaRPr lang="en-US" sz="800" dirty="0"/>
          </a:p>
        </p:txBody>
      </p:sp>
      <p:sp>
        <p:nvSpPr>
          <p:cNvPr id="66" name="Text 49"/>
          <p:cNvSpPr txBox="1"/>
          <p:nvPr/>
        </p:nvSpPr>
        <p:spPr>
          <a:xfrm>
            <a:off x="9077249" y="5521147"/>
            <a:ext cx="10661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current directory</a:t>
            </a:r>
            <a:endParaRPr lang="en-US" sz="800" dirty="0"/>
          </a:p>
        </p:txBody>
      </p:sp>
      <p:pic>
        <p:nvPicPr>
          <p:cNvPr id="67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868205" y="2480767"/>
            <a:ext cx="571500" cy="571500"/>
          </a:xfrm>
          <a:prstGeom prst="rect">
            <a:avLst/>
          </a:prstGeom>
        </p:spPr>
      </p:pic>
      <p:sp>
        <p:nvSpPr>
          <p:cNvPr id="68" name="Text 50"/>
          <p:cNvSpPr txBox="1"/>
          <p:nvPr/>
        </p:nvSpPr>
        <p:spPr>
          <a:xfrm>
            <a:off x="10090404" y="2595067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6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58414"/>
            <a:ext cx="6305702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ESSENTIAL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EXTENSIONS </a:t>
            </a:r>
            <a:endParaRPr lang="en-US" sz="4200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D945DC82-A323-6C1F-49EE-7DB624297C18}"/>
              </a:ext>
            </a:extLst>
          </p:cNvPr>
          <p:cNvGrpSpPr/>
          <p:nvPr/>
        </p:nvGrpSpPr>
        <p:grpSpPr>
          <a:xfrm>
            <a:off x="661895" y="2435403"/>
            <a:ext cx="6592824" cy="3877362"/>
            <a:chOff x="609905" y="2462349"/>
            <a:chExt cx="6592824" cy="3570384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5508C2DF-567D-0A04-CE03-886428F13A26}"/>
                </a:ext>
              </a:extLst>
            </p:cNvPr>
            <p:cNvGrpSpPr/>
            <p:nvPr/>
          </p:nvGrpSpPr>
          <p:grpSpPr>
            <a:xfrm>
              <a:off x="609905" y="2462349"/>
              <a:ext cx="6248095" cy="771754"/>
              <a:chOff x="609905" y="1874520"/>
              <a:chExt cx="6248095" cy="771754"/>
            </a:xfrm>
          </p:grpSpPr>
          <p:sp>
            <p:nvSpPr>
              <p:cNvPr id="5" name="Text 3"/>
              <p:cNvSpPr txBox="1"/>
              <p:nvPr/>
            </p:nvSpPr>
            <p:spPr>
              <a:xfrm>
                <a:off x="609905" y="1931213"/>
                <a:ext cx="333756" cy="2578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800" b="1" dirty="0">
                    <a:solidFill>
                      <a:srgbClr val="FF6908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01</a:t>
                </a:r>
                <a:endParaRPr lang="en-US" sz="1800" dirty="0"/>
              </a:p>
            </p:txBody>
          </p:sp>
          <p:sp>
            <p:nvSpPr>
              <p:cNvPr id="6" name="Text 4"/>
              <p:cNvSpPr txBox="1"/>
              <p:nvPr/>
            </p:nvSpPr>
            <p:spPr>
              <a:xfrm>
                <a:off x="1104595" y="1874520"/>
                <a:ext cx="5753405" cy="2578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Live Server</a:t>
                </a:r>
                <a:endParaRPr lang="en-US" sz="1600" dirty="0"/>
              </a:p>
            </p:txBody>
          </p:sp>
          <p:sp>
            <p:nvSpPr>
              <p:cNvPr id="7" name="Text 5"/>
              <p:cNvSpPr txBox="1"/>
              <p:nvPr/>
            </p:nvSpPr>
            <p:spPr>
              <a:xfrm>
                <a:off x="1104595" y="2189074"/>
                <a:ext cx="57150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buNone/>
                </a:pPr>
                <a:r>
                  <a:rPr lang="en-US" sz="1200" dirty="0">
                    <a:solidFill>
                      <a:srgbClr val="555555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로컬 개발 서버를 실행하여 파일 저장 시 브라우저를 자동으로 새로고침합니다. </a:t>
                </a:r>
              </a:p>
              <a:p>
                <a:pPr marL="0" indent="0" algn="l">
                  <a:buNone/>
                </a:pPr>
                <a:r>
                  <a:rPr lang="en-US" sz="1200" dirty="0">
                    <a:solidFill>
                      <a:srgbClr val="555555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(실시간 미리보기)</a:t>
                </a:r>
                <a:endParaRPr lang="en-US" sz="1200" dirty="0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5BF4954-96E0-04C7-CB4A-EA1D35A699EA}"/>
                </a:ext>
              </a:extLst>
            </p:cNvPr>
            <p:cNvGrpSpPr/>
            <p:nvPr/>
          </p:nvGrpSpPr>
          <p:grpSpPr>
            <a:xfrm>
              <a:off x="609905" y="3471426"/>
              <a:ext cx="6248095" cy="771754"/>
              <a:chOff x="609905" y="3173882"/>
              <a:chExt cx="6248095" cy="771754"/>
            </a:xfrm>
          </p:grpSpPr>
          <p:sp>
            <p:nvSpPr>
              <p:cNvPr id="8" name="Text 6"/>
              <p:cNvSpPr txBox="1"/>
              <p:nvPr/>
            </p:nvSpPr>
            <p:spPr>
              <a:xfrm>
                <a:off x="609905" y="3230575"/>
                <a:ext cx="333756" cy="2578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800" b="1" dirty="0">
                    <a:solidFill>
                      <a:srgbClr val="FF6908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02</a:t>
                </a:r>
                <a:endParaRPr lang="en-US" sz="1800" dirty="0"/>
              </a:p>
            </p:txBody>
          </p:sp>
          <p:sp>
            <p:nvSpPr>
              <p:cNvPr id="9" name="Text 7"/>
              <p:cNvSpPr txBox="1"/>
              <p:nvPr/>
            </p:nvSpPr>
            <p:spPr>
              <a:xfrm>
                <a:off x="1104595" y="3173882"/>
                <a:ext cx="5753405" cy="2578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Prettier - Code formatter</a:t>
                </a:r>
                <a:endParaRPr lang="en-US" sz="1600" dirty="0"/>
              </a:p>
            </p:txBody>
          </p:sp>
          <p:sp>
            <p:nvSpPr>
              <p:cNvPr id="10" name="Text 8"/>
              <p:cNvSpPr txBox="1"/>
              <p:nvPr/>
            </p:nvSpPr>
            <p:spPr>
              <a:xfrm>
                <a:off x="1104595" y="3488436"/>
                <a:ext cx="57150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buNone/>
                </a:pPr>
                <a:r>
                  <a:rPr lang="en-US" sz="1200" dirty="0">
                    <a:solidFill>
                      <a:srgbClr val="555555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코드를 저장할 때마다 들여쓰기, 줄바꿈 등 스타일을 자동으로 정렬하여 가독성을 높입니다.</a:t>
                </a:r>
                <a:endParaRPr lang="en-US" sz="1200" dirty="0"/>
              </a:p>
            </p:txBody>
          </p:sp>
        </p:grp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E5F68DD4-B716-6E2E-DE01-9A1E8F0A9F99}"/>
                </a:ext>
              </a:extLst>
            </p:cNvPr>
            <p:cNvGrpSpPr/>
            <p:nvPr/>
          </p:nvGrpSpPr>
          <p:grpSpPr>
            <a:xfrm>
              <a:off x="609905" y="4308595"/>
              <a:ext cx="6592824" cy="543154"/>
              <a:chOff x="609905" y="4473245"/>
              <a:chExt cx="6592824" cy="543154"/>
            </a:xfrm>
          </p:grpSpPr>
          <p:sp>
            <p:nvSpPr>
              <p:cNvPr id="11" name="Text 9"/>
              <p:cNvSpPr txBox="1"/>
              <p:nvPr/>
            </p:nvSpPr>
            <p:spPr>
              <a:xfrm>
                <a:off x="609905" y="4529938"/>
                <a:ext cx="333756" cy="2578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800" b="1" dirty="0">
                    <a:solidFill>
                      <a:srgbClr val="FF6908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03</a:t>
                </a:r>
                <a:endParaRPr lang="en-US" sz="1800" dirty="0"/>
              </a:p>
            </p:txBody>
          </p:sp>
          <p:sp>
            <p:nvSpPr>
              <p:cNvPr id="12" name="Text 10"/>
              <p:cNvSpPr txBox="1"/>
              <p:nvPr/>
            </p:nvSpPr>
            <p:spPr>
              <a:xfrm>
                <a:off x="1104595" y="4473245"/>
                <a:ext cx="5753405" cy="2578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Auto Rename Tag</a:t>
                </a:r>
                <a:endParaRPr lang="en-US" sz="1600" dirty="0"/>
              </a:p>
            </p:txBody>
          </p:sp>
          <p:sp>
            <p:nvSpPr>
              <p:cNvPr id="13" name="Text 11"/>
              <p:cNvSpPr txBox="1"/>
              <p:nvPr/>
            </p:nvSpPr>
            <p:spPr>
              <a:xfrm>
                <a:off x="1104595" y="4787799"/>
                <a:ext cx="6098134" cy="22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200" dirty="0">
                    <a:solidFill>
                      <a:srgbClr val="555555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HTML 태그의 이름을 변경하면 짝이 되는 닫는 태그도 자동으로 함께 수정해줍니다.</a:t>
                </a:r>
                <a:endParaRPr lang="en-US" sz="1200" dirty="0"/>
              </a:p>
            </p:txBody>
          </p:sp>
        </p:grp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A6E95818-B258-F6B5-695A-2B7906116FBD}"/>
                </a:ext>
              </a:extLst>
            </p:cNvPr>
            <p:cNvGrpSpPr/>
            <p:nvPr/>
          </p:nvGrpSpPr>
          <p:grpSpPr>
            <a:xfrm>
              <a:off x="609905" y="5260979"/>
              <a:ext cx="6248095" cy="771754"/>
              <a:chOff x="609905" y="5544007"/>
              <a:chExt cx="6248095" cy="771754"/>
            </a:xfrm>
          </p:grpSpPr>
          <p:sp>
            <p:nvSpPr>
              <p:cNvPr id="14" name="Text 12"/>
              <p:cNvSpPr txBox="1"/>
              <p:nvPr/>
            </p:nvSpPr>
            <p:spPr>
              <a:xfrm>
                <a:off x="609905" y="5600700"/>
                <a:ext cx="333756" cy="2578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800" b="1" dirty="0">
                    <a:solidFill>
                      <a:srgbClr val="FF6908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04</a:t>
                </a:r>
                <a:endParaRPr lang="en-US" sz="1800" dirty="0"/>
              </a:p>
            </p:txBody>
          </p:sp>
          <p:sp>
            <p:nvSpPr>
              <p:cNvPr id="15" name="Text 13"/>
              <p:cNvSpPr txBox="1"/>
              <p:nvPr/>
            </p:nvSpPr>
            <p:spPr>
              <a:xfrm>
                <a:off x="1104595" y="5544007"/>
                <a:ext cx="5753405" cy="2578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  <a:latin typeface="Pretendard" pitchFamily="34" charset="0"/>
                    <a:ea typeface="Pretendard" pitchFamily="34" charset="-122"/>
                    <a:cs typeface="Pretendard" pitchFamily="34" charset="-120"/>
                  </a:rPr>
                  <a:t>ESLint (선택)</a:t>
                </a:r>
                <a:endParaRPr lang="en-US" sz="1600" dirty="0"/>
              </a:p>
            </p:txBody>
          </p:sp>
          <p:sp>
            <p:nvSpPr>
              <p:cNvPr id="16" name="Text 14"/>
              <p:cNvSpPr txBox="1"/>
              <p:nvPr/>
            </p:nvSpPr>
            <p:spPr>
              <a:xfrm>
                <a:off x="1104595" y="5858561"/>
                <a:ext cx="571500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buNone/>
                </a:pPr>
                <a:r>
                  <a:rPr lang="en-US" sz="1200" dirty="0">
                    <a:solidFill>
                      <a:srgbClr val="555555"/>
                    </a:solidFill>
                    <a:latin typeface="Noto Sans KR" pitchFamily="34" charset="0"/>
                    <a:ea typeface="Noto Sans KR" pitchFamily="34" charset="-122"/>
                    <a:cs typeface="Noto Sans KR" pitchFamily="34" charset="-120"/>
                  </a:rPr>
                  <a:t>JavaScript 코드의 문법 오류를 사전에 감지하고 일관된 코딩 규칙을 준수하도록 돕습니다.</a:t>
                </a:r>
                <a:endParaRPr lang="en-US" sz="1200" dirty="0"/>
              </a:p>
            </p:txBody>
          </p:sp>
        </p:grpSp>
      </p:grp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rcRect l="24061" r="24061"/>
          <a:stretch/>
        </p:blipFill>
        <p:spPr>
          <a:xfrm>
            <a:off x="7254719" y="1285952"/>
            <a:ext cx="4390949" cy="4893739"/>
          </a:xfrm>
          <a:prstGeom prst="rect">
            <a:avLst/>
          </a:prstGeom>
        </p:spPr>
      </p:pic>
      <p:sp>
        <p:nvSpPr>
          <p:cNvPr id="2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5267858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Installation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09905" y="1310335"/>
            <a:ext cx="381305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14477" y="1587441"/>
            <a:ext cx="42291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운영체제별 설치 가이드 (Windows / macOS)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02" b="-402"/>
          <a:stretch/>
        </p:blipFill>
        <p:spPr>
          <a:xfrm>
            <a:off x="1094536" y="3482340"/>
            <a:ext cx="10019995" cy="19202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808329" y="3120238"/>
            <a:ext cx="2476195" cy="238292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17473" y="4951607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66520" y="3834384"/>
            <a:ext cx="21598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Windows 설치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70178" y="412973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git-scm.com 접속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파일(64-bit) 다운로드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17473" y="4953436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70178" y="5106141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1103680" y="5106141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1237183" y="5106141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1927555" y="3400958"/>
            <a:ext cx="237744" cy="2670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70178" y="5296336"/>
            <a:ext cx="49926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https://</a:t>
            </a:r>
            <a:endParaRPr lang="en-US" sz="8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" y="5453613"/>
            <a:ext cx="74889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git-scm.com/</a:t>
            </a:r>
            <a:endParaRPr lang="en-US" sz="8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761134" y="2320138"/>
            <a:ext cx="571500" cy="5715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983333" y="2434438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3356304" y="3384500"/>
            <a:ext cx="123444" cy="190195"/>
          </a:xfrm>
          <a:prstGeom prst="rect">
            <a:avLst/>
          </a:prstGeom>
        </p:spPr>
      </p:pic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3513124" y="3120238"/>
            <a:ext cx="2476195" cy="238292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3523183" y="4951607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6"/>
          <p:cNvSpPr txBox="1"/>
          <p:nvPr/>
        </p:nvSpPr>
        <p:spPr>
          <a:xfrm>
            <a:off x="3672230" y="3834384"/>
            <a:ext cx="21598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macOS 설치</a:t>
            </a:r>
            <a:endParaRPr lang="en-US" sz="1400" dirty="0"/>
          </a:p>
        </p:txBody>
      </p:sp>
      <p:sp>
        <p:nvSpPr>
          <p:cNvPr id="25" name="Text 17"/>
          <p:cNvSpPr txBox="1"/>
          <p:nvPr/>
        </p:nvSpPr>
        <p:spPr>
          <a:xfrm>
            <a:off x="3674973" y="412973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Homebrew 패키지 매니저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사용을 권장합니다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3523183" y="4953436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3674973" y="5106141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3808475" y="5106141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3941978" y="5106141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651552" y="3400958"/>
            <a:ext cx="200254" cy="267005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3674973" y="5296336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32" name="Text 23"/>
          <p:cNvSpPr txBox="1"/>
          <p:nvPr/>
        </p:nvSpPr>
        <p:spPr>
          <a:xfrm>
            <a:off x="3795674" y="5296336"/>
            <a:ext cx="99761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brew install git</a:t>
            </a:r>
            <a:endParaRPr lang="en-US" sz="800" dirty="0"/>
          </a:p>
        </p:txBody>
      </p:sp>
      <p:sp>
        <p:nvSpPr>
          <p:cNvPr id="33" name="Text 24"/>
          <p:cNvSpPr txBox="1"/>
          <p:nvPr/>
        </p:nvSpPr>
        <p:spPr>
          <a:xfrm>
            <a:off x="3674973" y="5453613"/>
            <a:ext cx="112288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or git --version</a:t>
            </a:r>
            <a:endParaRPr lang="en-US" sz="80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65929" y="2320138"/>
            <a:ext cx="571500" cy="57150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4688128" y="2434438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6062014" y="3384500"/>
            <a:ext cx="123444" cy="190195"/>
          </a:xfrm>
          <a:prstGeom prst="rect">
            <a:avLst/>
          </a:prstGeom>
        </p:spPr>
      </p:pic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6218834" y="3120238"/>
            <a:ext cx="2476195" cy="2382926"/>
          </a:xfrm>
          <a:prstGeom prst="rect">
            <a:avLst/>
          </a:prstGeom>
        </p:spPr>
      </p:pic>
      <p:sp>
        <p:nvSpPr>
          <p:cNvPr id="38" name="Shape 26"/>
          <p:cNvSpPr/>
          <p:nvPr/>
        </p:nvSpPr>
        <p:spPr>
          <a:xfrm>
            <a:off x="6227978" y="4951607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6335877" y="3834384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확인</a:t>
            </a:r>
            <a:endParaRPr lang="en-US" sz="1400" dirty="0"/>
          </a:p>
        </p:txBody>
      </p:sp>
      <p:sp>
        <p:nvSpPr>
          <p:cNvPr id="40" name="Text 28"/>
          <p:cNvSpPr txBox="1"/>
          <p:nvPr/>
        </p:nvSpPr>
        <p:spPr>
          <a:xfrm>
            <a:off x="6380683" y="412973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터미널을 열고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정보를 확인합니다</a:t>
            </a:r>
            <a:endParaRPr lang="en-US" sz="1200" dirty="0"/>
          </a:p>
        </p:txBody>
      </p:sp>
      <p:sp>
        <p:nvSpPr>
          <p:cNvPr id="41" name="Shape 29"/>
          <p:cNvSpPr/>
          <p:nvPr/>
        </p:nvSpPr>
        <p:spPr>
          <a:xfrm>
            <a:off x="6227978" y="4953436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/>
          <p:cNvSpPr/>
          <p:nvPr/>
        </p:nvSpPr>
        <p:spPr>
          <a:xfrm>
            <a:off x="6380683" y="5106141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1"/>
          <p:cNvSpPr/>
          <p:nvPr/>
        </p:nvSpPr>
        <p:spPr>
          <a:xfrm>
            <a:off x="6514185" y="5106141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646773" y="5106141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323429" y="3400958"/>
            <a:ext cx="267005" cy="267005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6380683" y="5296336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47" name="Text 34"/>
          <p:cNvSpPr txBox="1"/>
          <p:nvPr/>
        </p:nvSpPr>
        <p:spPr>
          <a:xfrm>
            <a:off x="6500469" y="5296336"/>
            <a:ext cx="81655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 --version</a:t>
            </a:r>
            <a:endParaRPr lang="en-US" sz="800" dirty="0"/>
          </a:p>
        </p:txBody>
      </p:sp>
      <p:sp>
        <p:nvSpPr>
          <p:cNvPr id="48" name="Text 35"/>
          <p:cNvSpPr txBox="1"/>
          <p:nvPr/>
        </p:nvSpPr>
        <p:spPr>
          <a:xfrm>
            <a:off x="6380683" y="5453613"/>
            <a:ext cx="112288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 version 2.43.0</a:t>
            </a:r>
            <a:endParaRPr lang="en-US" sz="800" dirty="0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70724" y="2320138"/>
            <a:ext cx="571500" cy="57150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7392923" y="2434438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pic>
        <p:nvPicPr>
          <p:cNvPr id="51" name="Image 12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8766809" y="3384500"/>
            <a:ext cx="123444" cy="190195"/>
          </a:xfrm>
          <a:prstGeom prst="rect">
            <a:avLst/>
          </a:prstGeom>
        </p:spPr>
      </p:pic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8923629" y="3120238"/>
            <a:ext cx="2476195" cy="2382926"/>
          </a:xfrm>
          <a:prstGeom prst="rect">
            <a:avLst/>
          </a:prstGeom>
        </p:spPr>
      </p:pic>
      <p:sp>
        <p:nvSpPr>
          <p:cNvPr id="53" name="Shape 37"/>
          <p:cNvSpPr/>
          <p:nvPr/>
        </p:nvSpPr>
        <p:spPr>
          <a:xfrm>
            <a:off x="8932773" y="4951607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38"/>
          <p:cNvSpPr txBox="1"/>
          <p:nvPr/>
        </p:nvSpPr>
        <p:spPr>
          <a:xfrm>
            <a:off x="9040672" y="3834384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테스트</a:t>
            </a:r>
            <a:endParaRPr lang="en-US" sz="1400" dirty="0"/>
          </a:p>
        </p:txBody>
      </p:sp>
      <p:sp>
        <p:nvSpPr>
          <p:cNvPr id="55" name="Text 39"/>
          <p:cNvSpPr txBox="1"/>
          <p:nvPr/>
        </p:nvSpPr>
        <p:spPr>
          <a:xfrm>
            <a:off x="9085478" y="4129735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도움말 명령어로</a:t>
            </a:r>
            <a:endParaRPr lang="en-US" sz="12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 동작을 확인합니다</a:t>
            </a:r>
            <a:endParaRPr lang="en-US" sz="1200" dirty="0"/>
          </a:p>
        </p:txBody>
      </p:sp>
      <p:sp>
        <p:nvSpPr>
          <p:cNvPr id="56" name="Shape 40"/>
          <p:cNvSpPr/>
          <p:nvPr/>
        </p:nvSpPr>
        <p:spPr>
          <a:xfrm>
            <a:off x="8932773" y="4953436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41"/>
          <p:cNvSpPr/>
          <p:nvPr/>
        </p:nvSpPr>
        <p:spPr>
          <a:xfrm>
            <a:off x="9085478" y="5106141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2"/>
          <p:cNvSpPr/>
          <p:nvPr/>
        </p:nvSpPr>
        <p:spPr>
          <a:xfrm>
            <a:off x="9218980" y="5106141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43"/>
          <p:cNvSpPr/>
          <p:nvPr/>
        </p:nvSpPr>
        <p:spPr>
          <a:xfrm>
            <a:off x="9352483" y="5106141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0" name="Image 14" descr="preencoded.png"/>
          <p:cNvPicPr>
            <a:picLocks noChangeAspect="1"/>
          </p:cNvPicPr>
          <p:nvPr/>
        </p:nvPicPr>
        <p:blipFill>
          <a:blip r:embed="rId10"/>
          <a:srcRect l="-685" r="-685"/>
          <a:stretch/>
        </p:blipFill>
        <p:spPr>
          <a:xfrm>
            <a:off x="10009936" y="3400958"/>
            <a:ext cx="304495" cy="267005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9085478" y="5296336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62" name="Text 45"/>
          <p:cNvSpPr txBox="1"/>
          <p:nvPr/>
        </p:nvSpPr>
        <p:spPr>
          <a:xfrm>
            <a:off x="9206179" y="5296336"/>
            <a:ext cx="657454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 --help</a:t>
            </a:r>
            <a:endParaRPr lang="en-US" sz="800" dirty="0"/>
          </a:p>
        </p:txBody>
      </p:sp>
      <p:sp>
        <p:nvSpPr>
          <p:cNvPr id="63" name="Text 46"/>
          <p:cNvSpPr txBox="1"/>
          <p:nvPr/>
        </p:nvSpPr>
        <p:spPr>
          <a:xfrm>
            <a:off x="9085478" y="5453613"/>
            <a:ext cx="119054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usage: git [-v] ...</a:t>
            </a:r>
            <a:endParaRPr lang="en-US" sz="800" dirty="0"/>
          </a:p>
        </p:txBody>
      </p:sp>
      <p:pic>
        <p:nvPicPr>
          <p:cNvPr id="64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876434" y="2320138"/>
            <a:ext cx="571500" cy="571500"/>
          </a:xfrm>
          <a:prstGeom prst="rect">
            <a:avLst/>
          </a:prstGeom>
        </p:spPr>
      </p:pic>
      <p:sp>
        <p:nvSpPr>
          <p:cNvPr id="65" name="Text 47"/>
          <p:cNvSpPr txBox="1"/>
          <p:nvPr/>
        </p:nvSpPr>
        <p:spPr>
          <a:xfrm>
            <a:off x="10098633" y="2434438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558424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Configuration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09905" y="1310335"/>
            <a:ext cx="381305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579816" y="1598722"/>
            <a:ext cx="36201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정보 등록 및 초기 설정 명령어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02" b="-402"/>
          <a:stretch/>
        </p:blipFill>
        <p:spPr>
          <a:xfrm>
            <a:off x="1005382" y="3582804"/>
            <a:ext cx="10019995" cy="19202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" b="-3"/>
          <a:stretch/>
        </p:blipFill>
        <p:spPr>
          <a:xfrm>
            <a:off x="624077" y="3347803"/>
            <a:ext cx="2476195" cy="2127809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3221" y="4918833"/>
            <a:ext cx="2457907" cy="9144"/>
          </a:xfrm>
          <a:prstGeom prst="roundRect">
            <a:avLst>
              <a:gd name="adj" fmla="val 1126761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699973" y="4000121"/>
            <a:ext cx="2325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이름 설정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747521" y="4283454"/>
            <a:ext cx="222930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커밋 기록에 표시될 이름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(GitHub 프로필과 무관)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33221" y="4922491"/>
            <a:ext cx="2457907" cy="761695"/>
          </a:xfrm>
          <a:prstGeom prst="roundRect">
            <a:avLst>
              <a:gd name="adj" fmla="val 24010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766724" y="5093484"/>
            <a:ext cx="57607" cy="57607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881024" y="5093484"/>
            <a:ext cx="57607" cy="57607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995324" y="5093484"/>
            <a:ext cx="57607" cy="57607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1762505" y="3576403"/>
            <a:ext cx="200254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66724" y="5246188"/>
            <a:ext cx="143561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18" name="Text 13"/>
          <p:cNvSpPr txBox="1"/>
          <p:nvPr/>
        </p:nvSpPr>
        <p:spPr>
          <a:xfrm>
            <a:off x="862736" y="5246188"/>
            <a:ext cx="1088136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 config --global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766724" y="5388835"/>
            <a:ext cx="510235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3C5F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user.name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1195577" y="5388835"/>
            <a:ext cx="566928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D34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"YourName"</a:t>
            </a:r>
            <a:endParaRPr lang="en-US" sz="8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76882" y="2547703"/>
            <a:ext cx="571500" cy="5715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98167" y="2662003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3214573" y="3506908"/>
            <a:ext cx="123444" cy="190195"/>
          </a:xfrm>
          <a:prstGeom prst="rect">
            <a:avLst/>
          </a:prstGeom>
        </p:spPr>
      </p:pic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rcRect t="-3" b="-3"/>
          <a:stretch/>
        </p:blipFill>
        <p:spPr>
          <a:xfrm>
            <a:off x="3392881" y="3347803"/>
            <a:ext cx="2476195" cy="2127809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3402025" y="4918833"/>
            <a:ext cx="2457907" cy="9144"/>
          </a:xfrm>
          <a:prstGeom prst="roundRect">
            <a:avLst>
              <a:gd name="adj" fmla="val 1126761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3467861" y="4000121"/>
            <a:ext cx="2325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설정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3516325" y="4283454"/>
            <a:ext cx="222930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계정과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일치하는 이메일 권장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3402025" y="4922491"/>
            <a:ext cx="2457907" cy="761695"/>
          </a:xfrm>
          <a:prstGeom prst="roundRect">
            <a:avLst>
              <a:gd name="adj" fmla="val 24010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3535527" y="5093484"/>
            <a:ext cx="57607" cy="57607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3649827" y="5093484"/>
            <a:ext cx="57607" cy="57607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3764127" y="5093484"/>
            <a:ext cx="57607" cy="57607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516678" y="3576403"/>
            <a:ext cx="228600" cy="2286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3535527" y="5246188"/>
            <a:ext cx="143561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34" name="Text 25"/>
          <p:cNvSpPr txBox="1"/>
          <p:nvPr/>
        </p:nvSpPr>
        <p:spPr>
          <a:xfrm>
            <a:off x="3630625" y="5246188"/>
            <a:ext cx="1088136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 config --global</a:t>
            </a:r>
            <a:endParaRPr lang="en-US" sz="800" dirty="0"/>
          </a:p>
        </p:txBody>
      </p:sp>
      <p:sp>
        <p:nvSpPr>
          <p:cNvPr id="35" name="Text 26"/>
          <p:cNvSpPr txBox="1"/>
          <p:nvPr/>
        </p:nvSpPr>
        <p:spPr>
          <a:xfrm>
            <a:off x="3535527" y="5388835"/>
            <a:ext cx="566928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3C5F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user.email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4011929" y="5388835"/>
            <a:ext cx="680314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D34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"you@ex.com"</a:t>
            </a:r>
            <a:endParaRPr lang="en-US" sz="8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344771" y="2547703"/>
            <a:ext cx="571500" cy="571500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4566970" y="2662003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5983376" y="3506908"/>
            <a:ext cx="123444" cy="190195"/>
          </a:xfrm>
          <a:prstGeom prst="rect">
            <a:avLst/>
          </a:prstGeom>
        </p:spPr>
      </p:pic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4"/>
          <a:srcRect t="-3" b="-3"/>
          <a:stretch/>
        </p:blipFill>
        <p:spPr>
          <a:xfrm>
            <a:off x="6160769" y="3347803"/>
            <a:ext cx="2476195" cy="2127809"/>
          </a:xfrm>
          <a:prstGeom prst="rect">
            <a:avLst/>
          </a:prstGeom>
        </p:spPr>
      </p:pic>
      <p:sp>
        <p:nvSpPr>
          <p:cNvPr id="41" name="Shape 29"/>
          <p:cNvSpPr/>
          <p:nvPr/>
        </p:nvSpPr>
        <p:spPr>
          <a:xfrm>
            <a:off x="6170828" y="4918833"/>
            <a:ext cx="2457907" cy="9144"/>
          </a:xfrm>
          <a:prstGeom prst="roundRect">
            <a:avLst>
              <a:gd name="adj" fmla="val 1126761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0"/>
          <p:cNvSpPr txBox="1"/>
          <p:nvPr/>
        </p:nvSpPr>
        <p:spPr>
          <a:xfrm>
            <a:off x="6236665" y="4000121"/>
            <a:ext cx="2325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브랜치 설정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6285128" y="4283454"/>
            <a:ext cx="222930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master 대신 main 사용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(최신 표준 준수)</a:t>
            </a:r>
            <a:endParaRPr lang="en-US" sz="1100" dirty="0"/>
          </a:p>
        </p:txBody>
      </p:sp>
      <p:sp>
        <p:nvSpPr>
          <p:cNvPr id="44" name="Shape 32"/>
          <p:cNvSpPr/>
          <p:nvPr/>
        </p:nvSpPr>
        <p:spPr>
          <a:xfrm>
            <a:off x="6170828" y="4922491"/>
            <a:ext cx="2457907" cy="761695"/>
          </a:xfrm>
          <a:prstGeom prst="roundRect">
            <a:avLst>
              <a:gd name="adj" fmla="val 24010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3"/>
          <p:cNvSpPr/>
          <p:nvPr/>
        </p:nvSpPr>
        <p:spPr>
          <a:xfrm>
            <a:off x="6303416" y="5093484"/>
            <a:ext cx="57607" cy="57607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6417716" y="5093484"/>
            <a:ext cx="57607" cy="57607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5"/>
          <p:cNvSpPr/>
          <p:nvPr/>
        </p:nvSpPr>
        <p:spPr>
          <a:xfrm>
            <a:off x="6532016" y="5093484"/>
            <a:ext cx="57607" cy="57607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7299197" y="3576403"/>
            <a:ext cx="200254" cy="228600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6303416" y="5246188"/>
            <a:ext cx="143561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50" name="Text 37"/>
          <p:cNvSpPr txBox="1"/>
          <p:nvPr/>
        </p:nvSpPr>
        <p:spPr>
          <a:xfrm>
            <a:off x="6399428" y="5246188"/>
            <a:ext cx="1088136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 config --global</a:t>
            </a:r>
            <a:endParaRPr lang="en-US" sz="800" dirty="0"/>
          </a:p>
        </p:txBody>
      </p:sp>
      <p:sp>
        <p:nvSpPr>
          <p:cNvPr id="51" name="Text 38"/>
          <p:cNvSpPr txBox="1"/>
          <p:nvPr/>
        </p:nvSpPr>
        <p:spPr>
          <a:xfrm>
            <a:off x="6303416" y="5388835"/>
            <a:ext cx="102047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3C5F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init.defaultBranch</a:t>
            </a:r>
            <a:endParaRPr lang="en-US" sz="800" dirty="0"/>
          </a:p>
        </p:txBody>
      </p:sp>
      <p:sp>
        <p:nvSpPr>
          <p:cNvPr id="52" name="Text 39"/>
          <p:cNvSpPr txBox="1"/>
          <p:nvPr/>
        </p:nvSpPr>
        <p:spPr>
          <a:xfrm>
            <a:off x="7161123" y="5388835"/>
            <a:ext cx="267005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D34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main</a:t>
            </a:r>
            <a:endParaRPr lang="en-US" sz="800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13574" y="2547703"/>
            <a:ext cx="571500" cy="57150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7335773" y="2662003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pic>
        <p:nvPicPr>
          <p:cNvPr id="55" name="Image 12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8752179" y="3506908"/>
            <a:ext cx="123444" cy="190195"/>
          </a:xfrm>
          <a:prstGeom prst="rect">
            <a:avLst/>
          </a:prstGeom>
        </p:spPr>
      </p:pic>
      <p:pic>
        <p:nvPicPr>
          <p:cNvPr id="56" name="Image 13" descr="preencoded.png"/>
          <p:cNvPicPr>
            <a:picLocks noChangeAspect="1"/>
          </p:cNvPicPr>
          <p:nvPr/>
        </p:nvPicPr>
        <p:blipFill>
          <a:blip r:embed="rId10"/>
          <a:srcRect t="-5" b="-5"/>
          <a:stretch/>
        </p:blipFill>
        <p:spPr>
          <a:xfrm>
            <a:off x="8929573" y="3314885"/>
            <a:ext cx="2476195" cy="2194560"/>
          </a:xfrm>
          <a:prstGeom prst="rect">
            <a:avLst/>
          </a:prstGeom>
        </p:spPr>
      </p:pic>
      <p:sp>
        <p:nvSpPr>
          <p:cNvPr id="57" name="Shape 41"/>
          <p:cNvSpPr/>
          <p:nvPr/>
        </p:nvSpPr>
        <p:spPr>
          <a:xfrm>
            <a:off x="8938717" y="4885000"/>
            <a:ext cx="2457907" cy="9144"/>
          </a:xfrm>
          <a:prstGeom prst="roundRect">
            <a:avLst>
              <a:gd name="adj" fmla="val 1126761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2"/>
          <p:cNvSpPr txBox="1"/>
          <p:nvPr/>
        </p:nvSpPr>
        <p:spPr>
          <a:xfrm>
            <a:off x="9005468" y="3966288"/>
            <a:ext cx="2325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확인</a:t>
            </a:r>
            <a:endParaRPr lang="en-US" sz="1200" dirty="0"/>
          </a:p>
        </p:txBody>
      </p:sp>
      <p:sp>
        <p:nvSpPr>
          <p:cNvPr id="59" name="Text 43"/>
          <p:cNvSpPr txBox="1"/>
          <p:nvPr/>
        </p:nvSpPr>
        <p:spPr>
          <a:xfrm>
            <a:off x="9053017" y="4249622"/>
            <a:ext cx="222930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등록된 모든 정보 출력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설정값 검증</a:t>
            </a:r>
            <a:endParaRPr lang="en-US" sz="1100" dirty="0"/>
          </a:p>
        </p:txBody>
      </p:sp>
      <p:sp>
        <p:nvSpPr>
          <p:cNvPr id="60" name="Shape 44"/>
          <p:cNvSpPr/>
          <p:nvPr/>
        </p:nvSpPr>
        <p:spPr>
          <a:xfrm>
            <a:off x="8938717" y="4888658"/>
            <a:ext cx="2457907" cy="828446"/>
          </a:xfrm>
          <a:prstGeom prst="roundRect">
            <a:avLst>
              <a:gd name="adj" fmla="val 20299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45"/>
          <p:cNvSpPr/>
          <p:nvPr/>
        </p:nvSpPr>
        <p:spPr>
          <a:xfrm>
            <a:off x="9072219" y="5022160"/>
            <a:ext cx="57607" cy="57607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46"/>
          <p:cNvSpPr/>
          <p:nvPr/>
        </p:nvSpPr>
        <p:spPr>
          <a:xfrm>
            <a:off x="9186519" y="5022160"/>
            <a:ext cx="57607" cy="57607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47"/>
          <p:cNvSpPr/>
          <p:nvPr/>
        </p:nvSpPr>
        <p:spPr>
          <a:xfrm>
            <a:off x="9300819" y="5022160"/>
            <a:ext cx="57607" cy="57607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4" name="Image 14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10053370" y="3543485"/>
            <a:ext cx="228600" cy="228600"/>
          </a:xfrm>
          <a:prstGeom prst="rect">
            <a:avLst/>
          </a:prstGeom>
        </p:spPr>
      </p:pic>
      <p:sp>
        <p:nvSpPr>
          <p:cNvPr id="65" name="Text 48"/>
          <p:cNvSpPr txBox="1"/>
          <p:nvPr/>
        </p:nvSpPr>
        <p:spPr>
          <a:xfrm>
            <a:off x="9072219" y="5174865"/>
            <a:ext cx="143561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66" name="Text 49"/>
          <p:cNvSpPr txBox="1"/>
          <p:nvPr/>
        </p:nvSpPr>
        <p:spPr>
          <a:xfrm>
            <a:off x="9168231" y="5174865"/>
            <a:ext cx="963778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 config --list</a:t>
            </a:r>
            <a:endParaRPr lang="en-US" sz="800" dirty="0"/>
          </a:p>
        </p:txBody>
      </p:sp>
      <p:sp>
        <p:nvSpPr>
          <p:cNvPr id="67" name="Text 50"/>
          <p:cNvSpPr txBox="1"/>
          <p:nvPr/>
        </p:nvSpPr>
        <p:spPr>
          <a:xfrm>
            <a:off x="9072219" y="5317512"/>
            <a:ext cx="850392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user.name=...</a:t>
            </a:r>
            <a:endParaRPr lang="en-US" sz="800" dirty="0"/>
          </a:p>
        </p:txBody>
      </p:sp>
      <p:sp>
        <p:nvSpPr>
          <p:cNvPr id="68" name="Text 51"/>
          <p:cNvSpPr txBox="1"/>
          <p:nvPr/>
        </p:nvSpPr>
        <p:spPr>
          <a:xfrm>
            <a:off x="9072219" y="5460158"/>
            <a:ext cx="907085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user.email=...</a:t>
            </a:r>
            <a:endParaRPr lang="en-US" sz="800" dirty="0"/>
          </a:p>
        </p:txBody>
      </p:sp>
      <p:pic>
        <p:nvPicPr>
          <p:cNvPr id="69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882377" y="2514785"/>
            <a:ext cx="571500" cy="571500"/>
          </a:xfrm>
          <a:prstGeom prst="rect">
            <a:avLst/>
          </a:prstGeom>
        </p:spPr>
      </p:pic>
      <p:sp>
        <p:nvSpPr>
          <p:cNvPr id="70" name="Text 52"/>
          <p:cNvSpPr txBox="1"/>
          <p:nvPr/>
        </p:nvSpPr>
        <p:spPr>
          <a:xfrm>
            <a:off x="10103662" y="2629085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7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558424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Node.js 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LTS Setup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09905" y="1310335"/>
            <a:ext cx="381305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09905" y="1590949"/>
            <a:ext cx="43434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안정적인 개발 환경 구축 (Windows / macOS)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02" b="-402"/>
          <a:stretch/>
        </p:blipFill>
        <p:spPr>
          <a:xfrm>
            <a:off x="1094014" y="3707242"/>
            <a:ext cx="10019995" cy="19202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807807" y="3345140"/>
            <a:ext cx="2476195" cy="238292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16951" y="5062212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24850" y="4059286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사이트 접속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69656" y="4354637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nodejs.org 접속 후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LTS 버전 다운로드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16951" y="5064041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69656" y="521674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1103158" y="521674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1236661" y="521674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1927033" y="3625860"/>
            <a:ext cx="237744" cy="2670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69656" y="5406941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18" name="Text 13"/>
          <p:cNvSpPr txBox="1"/>
          <p:nvPr/>
        </p:nvSpPr>
        <p:spPr>
          <a:xfrm>
            <a:off x="1090357" y="5406941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open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969656" y="5564218"/>
            <a:ext cx="112288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https://nodejs.org</a:t>
            </a:r>
            <a:endParaRPr lang="en-US" sz="8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760612" y="2545040"/>
            <a:ext cx="571500" cy="5715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982811" y="2659340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3372698" y="3612144"/>
            <a:ext cx="123444" cy="190195"/>
          </a:xfrm>
          <a:prstGeom prst="rect">
            <a:avLst/>
          </a:prstGeom>
        </p:spPr>
      </p:pic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3512602" y="3345140"/>
            <a:ext cx="2476195" cy="2382926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22661" y="5062212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3629645" y="4059286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진행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3674451" y="4354637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마법사 실행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설정 유지 권장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3522661" y="5064041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3674451" y="521674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3807953" y="521674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3941456" y="521674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618112" y="3625860"/>
            <a:ext cx="267005" cy="267005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3674451" y="5406941"/>
            <a:ext cx="10661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[x] Automatically</a:t>
            </a:r>
            <a:endParaRPr lang="en-US" sz="800" dirty="0"/>
          </a:p>
        </p:txBody>
      </p:sp>
      <p:sp>
        <p:nvSpPr>
          <p:cNvPr id="33" name="Text 24"/>
          <p:cNvSpPr txBox="1"/>
          <p:nvPr/>
        </p:nvSpPr>
        <p:spPr>
          <a:xfrm>
            <a:off x="3674451" y="5564218"/>
            <a:ext cx="144018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install necessary tools</a:t>
            </a:r>
            <a:endParaRPr lang="en-US" sz="80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65407" y="2545040"/>
            <a:ext cx="571500" cy="57150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4687606" y="2659340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6078408" y="3612144"/>
            <a:ext cx="123444" cy="190195"/>
          </a:xfrm>
          <a:prstGeom prst="rect">
            <a:avLst/>
          </a:prstGeom>
        </p:spPr>
      </p:pic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6218312" y="3345140"/>
            <a:ext cx="2476195" cy="2382926"/>
          </a:xfrm>
          <a:prstGeom prst="rect">
            <a:avLst/>
          </a:prstGeom>
        </p:spPr>
      </p:pic>
      <p:sp>
        <p:nvSpPr>
          <p:cNvPr id="38" name="Shape 26"/>
          <p:cNvSpPr/>
          <p:nvPr/>
        </p:nvSpPr>
        <p:spPr>
          <a:xfrm>
            <a:off x="6227456" y="5062212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6376503" y="4059286"/>
            <a:ext cx="21598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Node 버전 확인</a:t>
            </a:r>
            <a:endParaRPr lang="en-US" sz="1400" dirty="0"/>
          </a:p>
        </p:txBody>
      </p:sp>
      <p:sp>
        <p:nvSpPr>
          <p:cNvPr id="40" name="Text 28"/>
          <p:cNvSpPr txBox="1"/>
          <p:nvPr/>
        </p:nvSpPr>
        <p:spPr>
          <a:xfrm>
            <a:off x="6380161" y="4354637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터미널을 열고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설치된 버전 확인</a:t>
            </a:r>
            <a:endParaRPr lang="en-US" sz="1100" dirty="0"/>
          </a:p>
        </p:txBody>
      </p:sp>
      <p:sp>
        <p:nvSpPr>
          <p:cNvPr id="41" name="Shape 29"/>
          <p:cNvSpPr/>
          <p:nvPr/>
        </p:nvSpPr>
        <p:spPr>
          <a:xfrm>
            <a:off x="6227456" y="5064041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/>
          <p:cNvSpPr/>
          <p:nvPr/>
        </p:nvSpPr>
        <p:spPr>
          <a:xfrm>
            <a:off x="6380161" y="521674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1"/>
          <p:cNvSpPr/>
          <p:nvPr/>
        </p:nvSpPr>
        <p:spPr>
          <a:xfrm>
            <a:off x="6513663" y="521674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646251" y="521674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9"/>
          <a:srcRect l="-685" r="-685"/>
          <a:stretch/>
        </p:blipFill>
        <p:spPr>
          <a:xfrm>
            <a:off x="7303705" y="3625860"/>
            <a:ext cx="304495" cy="267005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6380161" y="5406941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47" name="Text 34"/>
          <p:cNvSpPr txBox="1"/>
          <p:nvPr/>
        </p:nvSpPr>
        <p:spPr>
          <a:xfrm>
            <a:off x="6499947" y="5406941"/>
            <a:ext cx="495605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node -v</a:t>
            </a:r>
            <a:endParaRPr lang="en-US" sz="800" dirty="0"/>
          </a:p>
        </p:txBody>
      </p:sp>
      <p:sp>
        <p:nvSpPr>
          <p:cNvPr id="48" name="Text 35"/>
          <p:cNvSpPr txBox="1"/>
          <p:nvPr/>
        </p:nvSpPr>
        <p:spPr>
          <a:xfrm>
            <a:off x="6380161" y="5564218"/>
            <a:ext cx="49926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v20.10.0</a:t>
            </a:r>
            <a:endParaRPr lang="en-US" sz="800" dirty="0"/>
          </a:p>
        </p:txBody>
      </p:sp>
      <p:sp>
        <p:nvSpPr>
          <p:cNvPr id="49" name="Text 36"/>
          <p:cNvSpPr txBox="1"/>
          <p:nvPr/>
        </p:nvSpPr>
        <p:spPr>
          <a:xfrm>
            <a:off x="6798956" y="5564218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(LTS)</a:t>
            </a:r>
            <a:endParaRPr lang="en-US" sz="800" dirty="0"/>
          </a:p>
        </p:txBody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70202" y="2545040"/>
            <a:ext cx="571500" cy="571500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392401" y="2659340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pic>
        <p:nvPicPr>
          <p:cNvPr id="52" name="Image 12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8783203" y="3612144"/>
            <a:ext cx="123444" cy="190195"/>
          </a:xfrm>
          <a:prstGeom prst="rect">
            <a:avLst/>
          </a:prstGeom>
        </p:spPr>
      </p:pic>
      <p:pic>
        <p:nvPicPr>
          <p:cNvPr id="53" name="Image 13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8923107" y="3345140"/>
            <a:ext cx="2476195" cy="2382926"/>
          </a:xfrm>
          <a:prstGeom prst="rect">
            <a:avLst/>
          </a:prstGeom>
        </p:spPr>
      </p:pic>
      <p:sp>
        <p:nvSpPr>
          <p:cNvPr id="54" name="Shape 38"/>
          <p:cNvSpPr/>
          <p:nvPr/>
        </p:nvSpPr>
        <p:spPr>
          <a:xfrm>
            <a:off x="8932251" y="5062212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39"/>
          <p:cNvSpPr txBox="1"/>
          <p:nvPr/>
        </p:nvSpPr>
        <p:spPr>
          <a:xfrm>
            <a:off x="9081298" y="4059286"/>
            <a:ext cx="21598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npm 확인</a:t>
            </a:r>
            <a:endParaRPr lang="en-US" sz="1400" dirty="0"/>
          </a:p>
        </p:txBody>
      </p:sp>
      <p:sp>
        <p:nvSpPr>
          <p:cNvPr id="56" name="Text 40"/>
          <p:cNvSpPr txBox="1"/>
          <p:nvPr/>
        </p:nvSpPr>
        <p:spPr>
          <a:xfrm>
            <a:off x="9084956" y="4354637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패키지 매니저도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설치되었는지 확인</a:t>
            </a:r>
            <a:endParaRPr lang="en-US" sz="1100" dirty="0"/>
          </a:p>
        </p:txBody>
      </p:sp>
      <p:sp>
        <p:nvSpPr>
          <p:cNvPr id="57" name="Shape 41"/>
          <p:cNvSpPr/>
          <p:nvPr/>
        </p:nvSpPr>
        <p:spPr>
          <a:xfrm>
            <a:off x="8932251" y="5064041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2"/>
          <p:cNvSpPr/>
          <p:nvPr/>
        </p:nvSpPr>
        <p:spPr>
          <a:xfrm>
            <a:off x="9084956" y="521674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43"/>
          <p:cNvSpPr/>
          <p:nvPr/>
        </p:nvSpPr>
        <p:spPr>
          <a:xfrm>
            <a:off x="9218458" y="521674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44"/>
          <p:cNvSpPr/>
          <p:nvPr/>
        </p:nvSpPr>
        <p:spPr>
          <a:xfrm>
            <a:off x="9351961" y="521674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4" descr="preencoded.png"/>
          <p:cNvPicPr>
            <a:picLocks noChangeAspect="1"/>
          </p:cNvPicPr>
          <p:nvPr/>
        </p:nvPicPr>
        <p:blipFill>
          <a:blip r:embed="rId10"/>
          <a:srcRect l="-685" r="-685"/>
          <a:stretch/>
        </p:blipFill>
        <p:spPr>
          <a:xfrm>
            <a:off x="10009414" y="3625860"/>
            <a:ext cx="304495" cy="267005"/>
          </a:xfrm>
          <a:prstGeom prst="rect">
            <a:avLst/>
          </a:prstGeom>
        </p:spPr>
      </p:pic>
      <p:sp>
        <p:nvSpPr>
          <p:cNvPr id="62" name="Text 45"/>
          <p:cNvSpPr txBox="1"/>
          <p:nvPr/>
        </p:nvSpPr>
        <p:spPr>
          <a:xfrm>
            <a:off x="9084956" y="5406941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63" name="Text 46"/>
          <p:cNvSpPr txBox="1"/>
          <p:nvPr/>
        </p:nvSpPr>
        <p:spPr>
          <a:xfrm>
            <a:off x="9205657" y="5406941"/>
            <a:ext cx="4480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npm -v</a:t>
            </a:r>
            <a:endParaRPr lang="en-US" sz="800" dirty="0"/>
          </a:p>
        </p:txBody>
      </p:sp>
      <p:sp>
        <p:nvSpPr>
          <p:cNvPr id="64" name="Text 47"/>
          <p:cNvSpPr txBox="1"/>
          <p:nvPr/>
        </p:nvSpPr>
        <p:spPr>
          <a:xfrm>
            <a:off x="9084956" y="5564218"/>
            <a:ext cx="39136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10.2.3</a:t>
            </a:r>
            <a:endParaRPr lang="en-US" sz="800" dirty="0"/>
          </a:p>
        </p:txBody>
      </p:sp>
      <p:pic>
        <p:nvPicPr>
          <p:cNvPr id="65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875912" y="2545040"/>
            <a:ext cx="571500" cy="571500"/>
          </a:xfrm>
          <a:prstGeom prst="rect">
            <a:avLst/>
          </a:prstGeom>
        </p:spPr>
      </p:pic>
      <p:sp>
        <p:nvSpPr>
          <p:cNvPr id="66" name="Text 48"/>
          <p:cNvSpPr txBox="1"/>
          <p:nvPr/>
        </p:nvSpPr>
        <p:spPr>
          <a:xfrm>
            <a:off x="10098111" y="2659340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6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45628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ACCOUNT</a:t>
            </a:r>
            <a:endParaRPr lang="en-US" sz="6000" dirty="0"/>
          </a:p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CREATION </a:t>
            </a:r>
            <a:endParaRPr lang="en-US" sz="6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37594" b="37594"/>
          <a:stretch/>
        </p:blipFill>
        <p:spPr>
          <a:xfrm>
            <a:off x="5379415" y="1104595"/>
            <a:ext cx="5658307" cy="93360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79415" y="2324405"/>
            <a:ext cx="5658307" cy="1181405"/>
          </a:xfrm>
          <a:prstGeom prst="roundRect">
            <a:avLst>
              <a:gd name="adj" fmla="val 9987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5379415" y="2324405"/>
            <a:ext cx="57607" cy="1181405"/>
          </a:xfrm>
          <a:prstGeom prst="roundRect">
            <a:avLst>
              <a:gd name="adj" fmla="val 204814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5627218" y="2514600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5722315" y="2638044"/>
            <a:ext cx="286207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93815" y="2857500"/>
            <a:ext cx="46296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계정 또는 이메일로 가입하세요. 일부 기능 사용을 위해 전화번호 인증이 필요할 수 있습니다.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379415" y="3696005"/>
            <a:ext cx="5658307" cy="1181405"/>
          </a:xfrm>
          <a:prstGeom prst="roundRect">
            <a:avLst>
              <a:gd name="adj" fmla="val 9987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5379415" y="3696005"/>
            <a:ext cx="57607" cy="1181405"/>
          </a:xfrm>
          <a:prstGeom prst="roundRect">
            <a:avLst>
              <a:gd name="adj" fmla="val 204814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5627218" y="3886200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51576" y="4009644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93815" y="4229100"/>
            <a:ext cx="46296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가입 없이 기존 Google 계정으로 즉시 로그인하여 서비스를 이용할 수 있습니다.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379415" y="5067605"/>
            <a:ext cx="5658307" cy="1181405"/>
          </a:xfrm>
          <a:prstGeom prst="roundRect">
            <a:avLst>
              <a:gd name="adj" fmla="val 9987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5379415" y="5067605"/>
            <a:ext cx="57607" cy="1181405"/>
          </a:xfrm>
          <a:prstGeom prst="roundRect">
            <a:avLst>
              <a:gd name="adj" fmla="val 204814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5627218" y="5257800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751576" y="5381244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93815" y="5600700"/>
            <a:ext cx="46296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티어와 유료(Pro/Advanced) 모델의 차이점 및 API 사용량 제한 정책을 미리 확인하세요.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379415" y="657454"/>
            <a:ext cx="328726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&amp; Gemini 계정 준비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293815" y="2553005"/>
            <a:ext cx="24597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계정 (claude.ai)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293815" y="3924605"/>
            <a:ext cx="356524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Gemini 계정 (gemini.google.com)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293815" y="5296205"/>
            <a:ext cx="20016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정책 및 요금제 확인</a:t>
            </a:r>
            <a:endParaRPr lang="en-US" sz="15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13191" r="13191"/>
          <a:stretch/>
        </p:blipFill>
        <p:spPr>
          <a:xfrm>
            <a:off x="764896" y="2866644"/>
            <a:ext cx="3590849" cy="3255843"/>
          </a:xfrm>
          <a:prstGeom prst="rect">
            <a:avLst/>
          </a:prstGeom>
        </p:spPr>
      </p:pic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76402" y="32369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149095" y="1348020"/>
            <a:ext cx="4734763" cy="119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API 키 발급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및 주의사항 </a:t>
            </a:r>
            <a:endParaRPr lang="en-US" sz="3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26" b="-26"/>
          <a:stretch/>
        </p:blipFill>
        <p:spPr>
          <a:xfrm>
            <a:off x="835152" y="2855671"/>
            <a:ext cx="4556455" cy="97200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01242" y="3084271"/>
            <a:ext cx="41440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"API 키는 AI 서비스 사용을 </a:t>
            </a:r>
            <a:r>
              <a:rPr lang="en-US" sz="1300" b="1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위한</a:t>
            </a: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            </a:t>
            </a:r>
            <a:r>
              <a:rPr lang="en-US" sz="1300" b="1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신분증이자 결제 수단입니다."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5152" y="4132174"/>
            <a:ext cx="4638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및 Gemini 개발자 콘솔에서 API 키를 발급받아야 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키는 외부에 절대 노출되어서는 안 됩니다.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99490" y="5029200"/>
            <a:ext cx="171907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99490" y="5372100"/>
            <a:ext cx="171907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99490" y="5715000"/>
            <a:ext cx="171907" cy="17190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084783" y="5000854"/>
            <a:ext cx="30952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Claude: console.anthropic.com 접속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1084783" y="5343754"/>
            <a:ext cx="28794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Gemini: aistudio.google.com 접속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1084783" y="5686654"/>
            <a:ext cx="36310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 키 노출 금지, GitHub 업로드 시 제외 필수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9879178" y="629107"/>
            <a:ext cx="17053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SETUP ENVIRONMENT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8153705" y="800100"/>
            <a:ext cx="3238805" cy="4381805"/>
          </a:xfrm>
          <a:prstGeom prst="roundRect">
            <a:avLst>
              <a:gd name="adj" fmla="val 1993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 l="25532" r="25532"/>
          <a:stretch/>
        </p:blipFill>
        <p:spPr>
          <a:xfrm>
            <a:off x="8191195" y="838505"/>
            <a:ext cx="3161995" cy="4304995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10113264" y="4304995"/>
            <a:ext cx="1438351" cy="457200"/>
          </a:xfrm>
          <a:prstGeom prst="roundRect">
            <a:avLst>
              <a:gd name="adj" fmla="val 125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2"/>
          <p:cNvSpPr txBox="1"/>
          <p:nvPr/>
        </p:nvSpPr>
        <p:spPr>
          <a:xfrm>
            <a:off x="10341864" y="4448556"/>
            <a:ext cx="1167689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Security First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5737860" y="2247595"/>
            <a:ext cx="2857500" cy="3619195"/>
          </a:xfrm>
          <a:prstGeom prst="roundRect">
            <a:avLst>
              <a:gd name="adj" fmla="val 2560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rcRect l="23849" r="23849"/>
          <a:stretch/>
        </p:blipFill>
        <p:spPr>
          <a:xfrm>
            <a:off x="5776265" y="2286000"/>
            <a:ext cx="2781605" cy="3543300"/>
          </a:xfrm>
          <a:prstGeom prst="rect">
            <a:avLst/>
          </a:prstGeom>
        </p:spPr>
      </p:pic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37998"/>
            <a:ext cx="199156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CONFIGURATION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761695"/>
            <a:ext cx="47823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.env 환경 변수 설정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570025"/>
            <a:ext cx="3715207" cy="3236017"/>
          </a:xfrm>
          <a:prstGeom prst="roundRect">
            <a:avLst>
              <a:gd name="adj" fmla="val 143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8416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8077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776298" y="1779074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71395" y="1865028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0218" y="2478111"/>
            <a:ext cx="3230575" cy="21918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04446" y="2773921"/>
            <a:ext cx="29151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"API 키를 하드코딩하지 않고 안전하게 관리하기 위해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.env 파일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생성하려고 해.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Claude API 키와 Gemini API 키를 환경 변수로 정의하는 예시 코드를 보여주고, 보안 주의사항도 함께 알려줘."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09905" y="5002423"/>
            <a:ext cx="3715207" cy="1387404"/>
          </a:xfrm>
          <a:prstGeom prst="roundRect">
            <a:avLst>
              <a:gd name="adj" fmla="val 551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9905" y="5002423"/>
            <a:ext cx="38405" cy="1387404"/>
          </a:xfrm>
          <a:prstGeom prst="roundRect">
            <a:avLst>
              <a:gd name="adj" fmla="val 16142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38505" y="5180731"/>
            <a:ext cx="133502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09498" y="5174330"/>
            <a:ext cx="12673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SECURITY ALERT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38505" y="5392872"/>
            <a:ext cx="3372307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.gitignore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파일에 반드시 </a:t>
            </a:r>
            <a:r>
              <a:rPr lang="en-US" sz="11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.env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추가하세요. 실수로 API 키가 포함된 파일을 GitHub에 커밋하면 키가 즉시 노출되어 해킹의 위험이 있습니다.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4697273" y="1602943"/>
            <a:ext cx="105156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878324" y="1570025"/>
            <a:ext cx="190012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FILE (.ENV)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883664"/>
            <a:ext cx="6884518" cy="4517136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8836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49978" y="20336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0173" y="20336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1282" y="20336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5778" y="2027225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.env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4951476" y="2365553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프로젝트 환경 변수 설정 파일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4951476" y="2578608"/>
            <a:ext cx="6620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경고: 이 파일은 절대 GitHub 저장소에 커밋하지 마세요!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4951476" y="2792578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------------------------------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4951476" y="3005633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Anthropic Claude API Configuration</a:t>
            </a:r>
            <a:endParaRPr lang="en-US" sz="1000" dirty="0"/>
          </a:p>
        </p:txBody>
      </p:sp>
      <p:sp>
        <p:nvSpPr>
          <p:cNvPr id="30" name="Text 22"/>
          <p:cNvSpPr txBox="1"/>
          <p:nvPr/>
        </p:nvSpPr>
        <p:spPr>
          <a:xfrm>
            <a:off x="4951476" y="3218688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------------------------------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951476" y="3432658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CLAUDE_API_KEY</a:t>
            </a: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sk-ant-api03-kji29sdkf...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4951476" y="3859682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------------------------------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4951476" y="4072738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Google Gemini API Configuration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4951476" y="4285793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------------------------------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4951476" y="4499762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GEMINI_API_KEY</a:t>
            </a: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AIzaSyD-283jd92...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4951476" y="4925873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------------------------------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4951476" y="5139842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Optional Settings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4951476" y="5352898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------------------------------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4951476" y="5566867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NODE_ENV</a:t>
            </a: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development</a:t>
            </a: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PORT</a:t>
            </a: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5500</a:t>
            </a:r>
            <a:endParaRPr lang="en-US" sz="1000" dirty="0"/>
          </a:p>
        </p:txBody>
      </p:sp>
      <p:sp>
        <p:nvSpPr>
          <p:cNvPr id="40" name="Text 32"/>
          <p:cNvSpPr txBox="1"/>
          <p:nvPr/>
        </p:nvSpPr>
        <p:spPr>
          <a:xfrm>
            <a:off x="4951476" y="5779922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.gitignore 파일에 아래 줄을 꼭 추가하세요: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951476" y="5992978"/>
            <a:ext cx="654436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.env</a:t>
            </a:r>
            <a:endParaRPr lang="en-US" sz="1000" dirty="0"/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8432597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Folder 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Preparation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09905" y="1310335"/>
            <a:ext cx="381305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56539" y="1562709"/>
            <a:ext cx="32772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터미널 명령어로 프로젝트 시작하기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02" b="-402"/>
          <a:stretch/>
        </p:blipFill>
        <p:spPr>
          <a:xfrm>
            <a:off x="1086307" y="3602083"/>
            <a:ext cx="10019995" cy="19202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800100" y="3239981"/>
            <a:ext cx="2476195" cy="238292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09244" y="4918952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17143" y="3954127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폴더 생성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61949" y="4249478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프로젝트를 담을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폴더를 생성합니다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09244" y="4920781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961949" y="507348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1095451" y="507348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1228954" y="507348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904695" y="3520701"/>
            <a:ext cx="267005" cy="2670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61949" y="5263681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18" name="Text 13"/>
          <p:cNvSpPr txBox="1"/>
          <p:nvPr/>
        </p:nvSpPr>
        <p:spPr>
          <a:xfrm>
            <a:off x="1082650" y="5263681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mkdir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344168" y="5263681"/>
            <a:ext cx="6007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portfolio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961949" y="5420958"/>
            <a:ext cx="99761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Make directory</a:t>
            </a:r>
            <a:endParaRPr lang="en-US" sz="8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752905" y="2439881"/>
            <a:ext cx="571500" cy="5715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975104" y="2554181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3357676" y="3504243"/>
            <a:ext cx="123444" cy="190195"/>
          </a:xfrm>
          <a:prstGeom prst="rect">
            <a:avLst/>
          </a:prstGeom>
        </p:spPr>
      </p:pic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3504895" y="3239981"/>
            <a:ext cx="2476195" cy="238292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3514954" y="4918952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3621938" y="3954127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폴더 이동</a:t>
            </a:r>
            <a:endParaRPr lang="en-US" sz="1400" dirty="0"/>
          </a:p>
        </p:txBody>
      </p:sp>
      <p:sp>
        <p:nvSpPr>
          <p:cNvPr id="27" name="Text 19"/>
          <p:cNvSpPr txBox="1"/>
          <p:nvPr/>
        </p:nvSpPr>
        <p:spPr>
          <a:xfrm>
            <a:off x="3666744" y="4249478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생성한 폴더 내부로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경로를 변경합니다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3514954" y="4920781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3666744" y="507348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3800246" y="507348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3933749" y="507348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8"/>
          <a:srcRect l="-685" r="-685"/>
          <a:stretch/>
        </p:blipFill>
        <p:spPr>
          <a:xfrm>
            <a:off x="4591202" y="3520701"/>
            <a:ext cx="304495" cy="26700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3666744" y="5263681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34" name="Text 25"/>
          <p:cNvSpPr txBox="1"/>
          <p:nvPr/>
        </p:nvSpPr>
        <p:spPr>
          <a:xfrm>
            <a:off x="3787445" y="5263681"/>
            <a:ext cx="18105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cd</a:t>
            </a:r>
            <a:endParaRPr lang="en-US" sz="800" dirty="0"/>
          </a:p>
        </p:txBody>
      </p:sp>
      <p:sp>
        <p:nvSpPr>
          <p:cNvPr id="35" name="Text 26"/>
          <p:cNvSpPr txBox="1"/>
          <p:nvPr/>
        </p:nvSpPr>
        <p:spPr>
          <a:xfrm>
            <a:off x="3892601" y="5263681"/>
            <a:ext cx="6007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portfolio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3666744" y="5420958"/>
            <a:ext cx="112288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Change directory</a:t>
            </a:r>
            <a:endParaRPr lang="en-US" sz="8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57700" y="2439881"/>
            <a:ext cx="571500" cy="571500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4679899" y="2554181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6063386" y="3504243"/>
            <a:ext cx="123444" cy="190195"/>
          </a:xfrm>
          <a:prstGeom prst="rect">
            <a:avLst/>
          </a:prstGeom>
        </p:spPr>
      </p:pic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6210605" y="3239981"/>
            <a:ext cx="2476195" cy="2382926"/>
          </a:xfrm>
          <a:prstGeom prst="rect">
            <a:avLst/>
          </a:prstGeom>
        </p:spPr>
      </p:pic>
      <p:sp>
        <p:nvSpPr>
          <p:cNvPr id="41" name="Shape 29"/>
          <p:cNvSpPr/>
          <p:nvPr/>
        </p:nvSpPr>
        <p:spPr>
          <a:xfrm>
            <a:off x="6219749" y="4918952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0"/>
          <p:cNvSpPr txBox="1"/>
          <p:nvPr/>
        </p:nvSpPr>
        <p:spPr>
          <a:xfrm>
            <a:off x="6368796" y="3954127"/>
            <a:ext cx="21598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README 생성</a:t>
            </a:r>
            <a:endParaRPr lang="en-US" sz="1400" dirty="0"/>
          </a:p>
        </p:txBody>
      </p:sp>
      <p:sp>
        <p:nvSpPr>
          <p:cNvPr id="43" name="Text 31"/>
          <p:cNvSpPr txBox="1"/>
          <p:nvPr/>
        </p:nvSpPr>
        <p:spPr>
          <a:xfrm>
            <a:off x="6372454" y="4249478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설명 파일을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생성합니다</a:t>
            </a:r>
            <a:endParaRPr lang="en-US" sz="1100" dirty="0"/>
          </a:p>
        </p:txBody>
      </p:sp>
      <p:sp>
        <p:nvSpPr>
          <p:cNvPr id="44" name="Shape 32"/>
          <p:cNvSpPr/>
          <p:nvPr/>
        </p:nvSpPr>
        <p:spPr>
          <a:xfrm>
            <a:off x="6219749" y="4920781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3"/>
          <p:cNvSpPr/>
          <p:nvPr/>
        </p:nvSpPr>
        <p:spPr>
          <a:xfrm>
            <a:off x="6372454" y="507348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6505956" y="507348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5"/>
          <p:cNvSpPr/>
          <p:nvPr/>
        </p:nvSpPr>
        <p:spPr>
          <a:xfrm>
            <a:off x="6638544" y="507348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348118" y="3520701"/>
            <a:ext cx="200254" cy="267005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6372454" y="5263681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50" name="Text 37"/>
          <p:cNvSpPr txBox="1"/>
          <p:nvPr/>
        </p:nvSpPr>
        <p:spPr>
          <a:xfrm>
            <a:off x="6492240" y="5263681"/>
            <a:ext cx="1133856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echo "# Portfolio"</a:t>
            </a:r>
            <a:endParaRPr lang="en-US" sz="800" dirty="0"/>
          </a:p>
        </p:txBody>
      </p:sp>
      <p:sp>
        <p:nvSpPr>
          <p:cNvPr id="51" name="Text 38"/>
          <p:cNvSpPr txBox="1"/>
          <p:nvPr/>
        </p:nvSpPr>
        <p:spPr>
          <a:xfrm>
            <a:off x="6372454" y="5420958"/>
            <a:ext cx="69220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 README.md</a:t>
            </a:r>
            <a:endParaRPr lang="en-US" sz="800" dirty="0"/>
          </a:p>
        </p:txBody>
      </p:sp>
      <p:pic>
        <p:nvPicPr>
          <p:cNvPr id="52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62495" y="2439881"/>
            <a:ext cx="571500" cy="571500"/>
          </a:xfrm>
          <a:prstGeom prst="rect">
            <a:avLst/>
          </a:prstGeom>
        </p:spPr>
      </p:pic>
      <p:sp>
        <p:nvSpPr>
          <p:cNvPr id="53" name="Text 39"/>
          <p:cNvSpPr txBox="1"/>
          <p:nvPr/>
        </p:nvSpPr>
        <p:spPr>
          <a:xfrm>
            <a:off x="7384694" y="2554181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8768181" y="3504243"/>
            <a:ext cx="123444" cy="190195"/>
          </a:xfrm>
          <a:prstGeom prst="rect">
            <a:avLst/>
          </a:prstGeom>
        </p:spPr>
      </p:pic>
      <p:pic>
        <p:nvPicPr>
          <p:cNvPr id="55" name="Image 13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8915400" y="3239981"/>
            <a:ext cx="2476195" cy="2382926"/>
          </a:xfrm>
          <a:prstGeom prst="rect">
            <a:avLst/>
          </a:prstGeom>
        </p:spPr>
      </p:pic>
      <p:sp>
        <p:nvSpPr>
          <p:cNvPr id="56" name="Shape 40"/>
          <p:cNvSpPr/>
          <p:nvPr/>
        </p:nvSpPr>
        <p:spPr>
          <a:xfrm>
            <a:off x="8924544" y="4918952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1"/>
          <p:cNvSpPr txBox="1"/>
          <p:nvPr/>
        </p:nvSpPr>
        <p:spPr>
          <a:xfrm>
            <a:off x="9032443" y="3954127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실행</a:t>
            </a:r>
            <a:endParaRPr lang="en-US" sz="1400" dirty="0"/>
          </a:p>
        </p:txBody>
      </p:sp>
      <p:sp>
        <p:nvSpPr>
          <p:cNvPr id="58" name="Text 42"/>
          <p:cNvSpPr txBox="1"/>
          <p:nvPr/>
        </p:nvSpPr>
        <p:spPr>
          <a:xfrm>
            <a:off x="9077249" y="4249478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폴더 위치에서</a:t>
            </a:r>
            <a:endParaRPr lang="en-US" sz="11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 Code를 엽니다</a:t>
            </a:r>
            <a:endParaRPr lang="en-US" sz="1100" dirty="0"/>
          </a:p>
        </p:txBody>
      </p:sp>
      <p:sp>
        <p:nvSpPr>
          <p:cNvPr id="59" name="Shape 43"/>
          <p:cNvSpPr/>
          <p:nvPr/>
        </p:nvSpPr>
        <p:spPr>
          <a:xfrm>
            <a:off x="8924544" y="4920781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44"/>
          <p:cNvSpPr/>
          <p:nvPr/>
        </p:nvSpPr>
        <p:spPr>
          <a:xfrm>
            <a:off x="9077249" y="507348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45"/>
          <p:cNvSpPr/>
          <p:nvPr/>
        </p:nvSpPr>
        <p:spPr>
          <a:xfrm>
            <a:off x="9210751" y="507348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46"/>
          <p:cNvSpPr/>
          <p:nvPr/>
        </p:nvSpPr>
        <p:spPr>
          <a:xfrm>
            <a:off x="9344254" y="507348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3" name="Image 14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987077" y="3520701"/>
            <a:ext cx="333756" cy="267005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9077249" y="5263681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800" dirty="0"/>
          </a:p>
        </p:txBody>
      </p:sp>
      <p:sp>
        <p:nvSpPr>
          <p:cNvPr id="65" name="Text 48"/>
          <p:cNvSpPr txBox="1"/>
          <p:nvPr/>
        </p:nvSpPr>
        <p:spPr>
          <a:xfrm>
            <a:off x="9197950" y="5263681"/>
            <a:ext cx="39136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code .</a:t>
            </a:r>
            <a:endParaRPr lang="en-US" sz="800" dirty="0"/>
          </a:p>
        </p:txBody>
      </p:sp>
      <p:sp>
        <p:nvSpPr>
          <p:cNvPr id="66" name="Text 49"/>
          <p:cNvSpPr txBox="1"/>
          <p:nvPr/>
        </p:nvSpPr>
        <p:spPr>
          <a:xfrm>
            <a:off x="9077249" y="5420958"/>
            <a:ext cx="112288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Open current dir</a:t>
            </a:r>
            <a:endParaRPr lang="en-US" sz="800" dirty="0"/>
          </a:p>
        </p:txBody>
      </p:sp>
      <p:pic>
        <p:nvPicPr>
          <p:cNvPr id="67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868205" y="2439881"/>
            <a:ext cx="571500" cy="571500"/>
          </a:xfrm>
          <a:prstGeom prst="rect">
            <a:avLst/>
          </a:prstGeom>
        </p:spPr>
      </p:pic>
      <p:sp>
        <p:nvSpPr>
          <p:cNvPr id="68" name="Text 50"/>
          <p:cNvSpPr txBox="1"/>
          <p:nvPr/>
        </p:nvSpPr>
        <p:spPr>
          <a:xfrm>
            <a:off x="10090404" y="2554181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6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43661" y="576906"/>
            <a:ext cx="6305702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SERVER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43661" y="2536422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38351" y="2479729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파일 준비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38351" y="2787882"/>
            <a:ext cx="517646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루트 폴더에 </a:t>
            </a:r>
            <a:r>
              <a:rPr lang="en-US" sz="1200" dirty="0">
                <a:solidFill>
                  <a:srgbClr val="55555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index.html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파일을 생성하고 기본 구조(</a:t>
            </a:r>
            <a:r>
              <a:rPr lang="en-US" sz="1200" dirty="0">
                <a:solidFill>
                  <a:srgbClr val="55555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! + Tab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)를 작성하여 준비합니다.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43661" y="3620119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38351" y="3562512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실행 (Go Live)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38351" y="3871579"/>
            <a:ext cx="51764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 Code 우측 하단의 'Go Live' 버튼을 클릭하거나, 파일에서 우클릭 후 'Open with Live Server'를 선택합니다.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25373" y="4767323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20063" y="4710630"/>
            <a:ext cx="5829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로컬 호스트 접속 확인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20063" y="5019698"/>
            <a:ext cx="529816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브라우저가 자동으로 열리며 </a:t>
            </a:r>
            <a:r>
              <a:rPr lang="en-US" sz="1200" dirty="0">
                <a:solidFill>
                  <a:srgbClr val="55555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http://127.0.0.1:5500/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주소로 접속되는지 확인합니다.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25373" y="5657580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20063" y="5599973"/>
            <a:ext cx="5829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리로드 테스트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20063" y="5909040"/>
            <a:ext cx="517646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수정 후 저장(</a:t>
            </a:r>
            <a:r>
              <a:rPr lang="en-US" sz="1200" dirty="0">
                <a:solidFill>
                  <a:srgbClr val="55555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Ctrl+S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시 브라우저 새로고침 없이 변경 사항이 즉시 반영되는지 검증합니다.</a:t>
            </a:r>
            <a:endParaRPr lang="en-US" sz="12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rcRect l="24061" r="24061"/>
          <a:stretch/>
        </p:blipFill>
        <p:spPr>
          <a:xfrm>
            <a:off x="7220560" y="756396"/>
            <a:ext cx="4390949" cy="5639105"/>
          </a:xfrm>
          <a:prstGeom prst="rect">
            <a:avLst/>
          </a:prstGeom>
        </p:spPr>
      </p:pic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24485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초기화 및 커밋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40370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커밋 테스트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4238244" cy="3581705"/>
          </a:xfrm>
          <a:prstGeom prst="roundRect">
            <a:avLst>
              <a:gd name="adj" fmla="val 1358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847649" y="1955902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7105" y="1922069"/>
            <a:ext cx="143835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 STEPS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47649" y="2311649"/>
            <a:ext cx="228600" cy="228600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928116" y="2339995"/>
            <a:ext cx="1527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90549" y="2292446"/>
            <a:ext cx="3534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 init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90549" y="2521046"/>
            <a:ext cx="34957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폴더를 Git 저장소로 초기화합니다. 숨겨진 .git 폴더가 생성됩니다.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47649" y="3313543"/>
            <a:ext cx="228600" cy="228600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928116" y="3342804"/>
            <a:ext cx="1527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90549" y="3294341"/>
            <a:ext cx="3534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 add 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90549" y="3522941"/>
            <a:ext cx="34957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작업 디렉토리의 모든 변경사항을 스테이징 영역(Staging Area)에 추가합니다.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47649" y="4315145"/>
            <a:ext cx="228600" cy="228600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928116" y="4343491"/>
            <a:ext cx="1527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1190549" y="4295943"/>
            <a:ext cx="3534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 commit -m "메시지"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90549" y="4524543"/>
            <a:ext cx="34957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스테이징된 파일들을 확정하여 첫 번째 버전을 기록합니다.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09905" y="5484571"/>
            <a:ext cx="4238244" cy="923544"/>
          </a:xfrm>
          <a:prstGeom prst="roundRect">
            <a:avLst>
              <a:gd name="adj" fmla="val 816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609905" y="5484571"/>
            <a:ext cx="38405" cy="923544"/>
          </a:xfrm>
          <a:prstGeom prst="roundRect">
            <a:avLst>
              <a:gd name="adj" fmla="val 1963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838505" y="5662879"/>
            <a:ext cx="105156" cy="13350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81151" y="5656478"/>
            <a:ext cx="10387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838505" y="5865876"/>
            <a:ext cx="395665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원격 저장소(GitHub)에 연결하기 전,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로컬에서 첫 커밋이 완료되어야 에러 없이 푸시할 수 있습니다.</a:t>
            </a:r>
            <a:endParaRPr lang="en-US" sz="11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5227625" y="1717243"/>
            <a:ext cx="152705" cy="13350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456225" y="1684325"/>
            <a:ext cx="14292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TERMINAL OUTPUT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t="-4" b="-4"/>
          <a:stretch/>
        </p:blipFill>
        <p:spPr>
          <a:xfrm>
            <a:off x="5227625" y="1997964"/>
            <a:ext cx="6355080" cy="440283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5227625" y="1997964"/>
            <a:ext cx="6362395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5379415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5570525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5760720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6065215" y="2131466"/>
            <a:ext cx="1077163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 — portfolio</a:t>
            </a:r>
            <a:endParaRPr lang="en-US" sz="900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339CB045-D2C0-290F-D6A1-EFD594DF998C}"/>
              </a:ext>
            </a:extLst>
          </p:cNvPr>
          <p:cNvGrpSpPr/>
          <p:nvPr/>
        </p:nvGrpSpPr>
        <p:grpSpPr>
          <a:xfrm>
            <a:off x="5360212" y="2555747"/>
            <a:ext cx="6107888" cy="3583795"/>
            <a:chOff x="5360213" y="2555748"/>
            <a:chExt cx="4266590" cy="2542946"/>
          </a:xfrm>
        </p:grpSpPr>
        <p:sp>
          <p:nvSpPr>
            <p:cNvPr id="34" name="Text 28"/>
            <p:cNvSpPr txBox="1"/>
            <p:nvPr/>
          </p:nvSpPr>
          <p:spPr>
            <a:xfrm>
              <a:off x="5360213" y="2555748"/>
              <a:ext cx="555955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7C93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user@mac</a:t>
              </a:r>
              <a:endParaRPr lang="en-US" sz="1400" dirty="0"/>
            </a:p>
          </p:txBody>
        </p:sp>
        <p:sp>
          <p:nvSpPr>
            <p:cNvPr id="35" name="Text 29"/>
            <p:cNvSpPr txBox="1"/>
            <p:nvPr/>
          </p:nvSpPr>
          <p:spPr>
            <a:xfrm>
              <a:off x="5818327" y="25557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400" dirty="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5875020" y="2555748"/>
              <a:ext cx="759866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~/portfolio</a:t>
              </a:r>
              <a:endParaRPr lang="en-US" sz="1400" dirty="0"/>
            </a:p>
          </p:txBody>
        </p:sp>
        <p:sp>
          <p:nvSpPr>
            <p:cNvPr id="37" name="Text 31"/>
            <p:cNvSpPr txBox="1"/>
            <p:nvPr/>
          </p:nvSpPr>
          <p:spPr>
            <a:xfrm>
              <a:off x="6504127" y="2555748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$</a:t>
              </a:r>
              <a:endParaRPr lang="en-US" sz="1400" dirty="0"/>
            </a:p>
          </p:txBody>
        </p:sp>
        <p:sp>
          <p:nvSpPr>
            <p:cNvPr id="38" name="Text 32"/>
            <p:cNvSpPr txBox="1"/>
            <p:nvPr/>
          </p:nvSpPr>
          <p:spPr>
            <a:xfrm>
              <a:off x="6618427" y="2555748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git init</a:t>
              </a:r>
              <a:endParaRPr lang="en-US" sz="1400" dirty="0"/>
            </a:p>
          </p:txBody>
        </p:sp>
        <p:sp>
          <p:nvSpPr>
            <p:cNvPr id="39" name="Text 33"/>
            <p:cNvSpPr txBox="1"/>
            <p:nvPr/>
          </p:nvSpPr>
          <p:spPr>
            <a:xfrm>
              <a:off x="5360213" y="2698394"/>
              <a:ext cx="4266590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Initialized empty Git repository in /Users/user/portfolio/.git/</a:t>
              </a:r>
              <a:endParaRPr lang="en-US" sz="1400" dirty="0"/>
            </a:p>
          </p:txBody>
        </p:sp>
        <p:sp>
          <p:nvSpPr>
            <p:cNvPr id="40" name="Text 34"/>
            <p:cNvSpPr txBox="1"/>
            <p:nvPr/>
          </p:nvSpPr>
          <p:spPr>
            <a:xfrm>
              <a:off x="5360213" y="2984602"/>
              <a:ext cx="555955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7C93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user@mac</a:t>
              </a:r>
              <a:endParaRPr lang="en-US" sz="1400" dirty="0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5818327" y="29846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400" dirty="0"/>
            </a:p>
          </p:txBody>
        </p:sp>
        <p:sp>
          <p:nvSpPr>
            <p:cNvPr id="42" name="Text 36"/>
            <p:cNvSpPr txBox="1"/>
            <p:nvPr/>
          </p:nvSpPr>
          <p:spPr>
            <a:xfrm>
              <a:off x="5875020" y="2984602"/>
              <a:ext cx="759866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~/portfolio</a:t>
              </a:r>
              <a:endParaRPr lang="en-US" sz="1400" dirty="0"/>
            </a:p>
          </p:txBody>
        </p:sp>
        <p:sp>
          <p:nvSpPr>
            <p:cNvPr id="43" name="Text 37"/>
            <p:cNvSpPr txBox="1"/>
            <p:nvPr/>
          </p:nvSpPr>
          <p:spPr>
            <a:xfrm>
              <a:off x="6504127" y="2984602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FFBD2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(main)</a:t>
              </a:r>
              <a:endParaRPr lang="en-US" sz="1400" dirty="0"/>
            </a:p>
          </p:txBody>
        </p:sp>
        <p:sp>
          <p:nvSpPr>
            <p:cNvPr id="44" name="Text 38"/>
            <p:cNvSpPr txBox="1"/>
            <p:nvPr/>
          </p:nvSpPr>
          <p:spPr>
            <a:xfrm>
              <a:off x="6904634" y="2984602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$</a:t>
              </a:r>
              <a:endParaRPr lang="en-US" sz="1400" dirty="0"/>
            </a:p>
          </p:txBody>
        </p:sp>
        <p:sp>
          <p:nvSpPr>
            <p:cNvPr id="45" name="Text 39"/>
            <p:cNvSpPr txBox="1"/>
            <p:nvPr/>
          </p:nvSpPr>
          <p:spPr>
            <a:xfrm>
              <a:off x="7018934" y="2984602"/>
              <a:ext cx="6181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git add .</a:t>
              </a:r>
              <a:endParaRPr lang="en-US" sz="1400" dirty="0"/>
            </a:p>
          </p:txBody>
        </p:sp>
        <p:sp>
          <p:nvSpPr>
            <p:cNvPr id="46" name="Text 40"/>
            <p:cNvSpPr txBox="1"/>
            <p:nvPr/>
          </p:nvSpPr>
          <p:spPr>
            <a:xfrm>
              <a:off x="5360213" y="3269894"/>
              <a:ext cx="555955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7C93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user@mac</a:t>
              </a:r>
              <a:endParaRPr lang="en-US" sz="1400" dirty="0"/>
            </a:p>
          </p:txBody>
        </p:sp>
        <p:sp>
          <p:nvSpPr>
            <p:cNvPr id="47" name="Text 41"/>
            <p:cNvSpPr txBox="1"/>
            <p:nvPr/>
          </p:nvSpPr>
          <p:spPr>
            <a:xfrm>
              <a:off x="5818327" y="32698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400" dirty="0"/>
            </a:p>
          </p:txBody>
        </p:sp>
        <p:sp>
          <p:nvSpPr>
            <p:cNvPr id="48" name="Text 42"/>
            <p:cNvSpPr txBox="1"/>
            <p:nvPr/>
          </p:nvSpPr>
          <p:spPr>
            <a:xfrm>
              <a:off x="5875020" y="3269894"/>
              <a:ext cx="759866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~/portfolio</a:t>
              </a:r>
              <a:endParaRPr lang="en-US" sz="1400" dirty="0"/>
            </a:p>
          </p:txBody>
        </p:sp>
        <p:sp>
          <p:nvSpPr>
            <p:cNvPr id="49" name="Text 43"/>
            <p:cNvSpPr txBox="1"/>
            <p:nvPr/>
          </p:nvSpPr>
          <p:spPr>
            <a:xfrm>
              <a:off x="6504127" y="3269894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FFBD2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(main)</a:t>
              </a:r>
              <a:endParaRPr lang="en-US" sz="1400" dirty="0"/>
            </a:p>
          </p:txBody>
        </p:sp>
        <p:sp>
          <p:nvSpPr>
            <p:cNvPr id="50" name="Text 44"/>
            <p:cNvSpPr txBox="1"/>
            <p:nvPr/>
          </p:nvSpPr>
          <p:spPr>
            <a:xfrm>
              <a:off x="6904634" y="3269894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$</a:t>
              </a:r>
              <a:endParaRPr lang="en-US" sz="1400" dirty="0"/>
            </a:p>
          </p:txBody>
        </p:sp>
        <p:sp>
          <p:nvSpPr>
            <p:cNvPr id="51" name="Text 45"/>
            <p:cNvSpPr txBox="1"/>
            <p:nvPr/>
          </p:nvSpPr>
          <p:spPr>
            <a:xfrm>
              <a:off x="7018934" y="3269894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git status</a:t>
              </a:r>
              <a:endParaRPr lang="en-US" sz="1400" dirty="0"/>
            </a:p>
          </p:txBody>
        </p:sp>
        <p:sp>
          <p:nvSpPr>
            <p:cNvPr id="52" name="Text 46"/>
            <p:cNvSpPr txBox="1"/>
            <p:nvPr/>
          </p:nvSpPr>
          <p:spPr>
            <a:xfrm>
              <a:off x="5360213" y="3412541"/>
              <a:ext cx="9610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On branch main</a:t>
              </a:r>
              <a:endParaRPr lang="en-US" sz="1400" dirty="0"/>
            </a:p>
          </p:txBody>
        </p:sp>
        <p:sp>
          <p:nvSpPr>
            <p:cNvPr id="53" name="Text 47"/>
            <p:cNvSpPr txBox="1"/>
            <p:nvPr/>
          </p:nvSpPr>
          <p:spPr>
            <a:xfrm>
              <a:off x="5360213" y="3556102"/>
              <a:ext cx="9610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No commits yet</a:t>
              </a:r>
              <a:endParaRPr lang="en-US" sz="1400" dirty="0"/>
            </a:p>
          </p:txBody>
        </p:sp>
        <p:sp>
          <p:nvSpPr>
            <p:cNvPr id="54" name="Text 48"/>
            <p:cNvSpPr txBox="1"/>
            <p:nvPr/>
          </p:nvSpPr>
          <p:spPr>
            <a:xfrm>
              <a:off x="5360213" y="3698748"/>
              <a:ext cx="164409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Changes to be committed:</a:t>
              </a:r>
              <a:endParaRPr lang="en-US" sz="1400" dirty="0"/>
            </a:p>
          </p:txBody>
        </p:sp>
        <p:sp>
          <p:nvSpPr>
            <p:cNvPr id="55" name="Text 49"/>
            <p:cNvSpPr txBox="1"/>
            <p:nvPr/>
          </p:nvSpPr>
          <p:spPr>
            <a:xfrm>
              <a:off x="5360213" y="3841394"/>
              <a:ext cx="300380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(use "git rm --cached &lt;file&gt;..." to unstage)</a:t>
              </a:r>
              <a:endParaRPr lang="en-US" sz="1400" dirty="0"/>
            </a:p>
          </p:txBody>
        </p:sp>
        <p:sp>
          <p:nvSpPr>
            <p:cNvPr id="56" name="Text 50"/>
            <p:cNvSpPr txBox="1"/>
            <p:nvPr/>
          </p:nvSpPr>
          <p:spPr>
            <a:xfrm>
              <a:off x="5360213" y="3984041"/>
              <a:ext cx="1371600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27C93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new file: index.html</a:t>
              </a:r>
              <a:endParaRPr lang="en-US" sz="1400" dirty="0"/>
            </a:p>
          </p:txBody>
        </p:sp>
        <p:sp>
          <p:nvSpPr>
            <p:cNvPr id="57" name="Text 51"/>
            <p:cNvSpPr txBox="1"/>
            <p:nvPr/>
          </p:nvSpPr>
          <p:spPr>
            <a:xfrm>
              <a:off x="5360213" y="4127602"/>
              <a:ext cx="13039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27C93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new file: style.css</a:t>
              </a:r>
              <a:endParaRPr lang="en-US" sz="1400" dirty="0"/>
            </a:p>
          </p:txBody>
        </p:sp>
        <p:sp>
          <p:nvSpPr>
            <p:cNvPr id="58" name="Text 52"/>
            <p:cNvSpPr txBox="1"/>
            <p:nvPr/>
          </p:nvSpPr>
          <p:spPr>
            <a:xfrm>
              <a:off x="5360213" y="4412894"/>
              <a:ext cx="555955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7C93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user@mac</a:t>
              </a:r>
              <a:endParaRPr lang="en-US" sz="1400" dirty="0"/>
            </a:p>
          </p:txBody>
        </p:sp>
        <p:sp>
          <p:nvSpPr>
            <p:cNvPr id="59" name="Text 53"/>
            <p:cNvSpPr txBox="1"/>
            <p:nvPr/>
          </p:nvSpPr>
          <p:spPr>
            <a:xfrm>
              <a:off x="5818327" y="44128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400" dirty="0"/>
            </a:p>
          </p:txBody>
        </p:sp>
        <p:sp>
          <p:nvSpPr>
            <p:cNvPr id="60" name="Text 54"/>
            <p:cNvSpPr txBox="1"/>
            <p:nvPr/>
          </p:nvSpPr>
          <p:spPr>
            <a:xfrm>
              <a:off x="5875020" y="4412894"/>
              <a:ext cx="759866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~/portfolio</a:t>
              </a:r>
              <a:endParaRPr lang="en-US" sz="1400" dirty="0"/>
            </a:p>
          </p:txBody>
        </p:sp>
        <p:sp>
          <p:nvSpPr>
            <p:cNvPr id="61" name="Text 55"/>
            <p:cNvSpPr txBox="1"/>
            <p:nvPr/>
          </p:nvSpPr>
          <p:spPr>
            <a:xfrm>
              <a:off x="6504127" y="4412894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FFBD2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(main)</a:t>
              </a:r>
              <a:endParaRPr lang="en-US" sz="1400" dirty="0"/>
            </a:p>
          </p:txBody>
        </p:sp>
        <p:sp>
          <p:nvSpPr>
            <p:cNvPr id="62" name="Text 56"/>
            <p:cNvSpPr txBox="1"/>
            <p:nvPr/>
          </p:nvSpPr>
          <p:spPr>
            <a:xfrm>
              <a:off x="6904634" y="4412894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$</a:t>
              </a:r>
              <a:endParaRPr lang="en-US" sz="1400" dirty="0"/>
            </a:p>
          </p:txBody>
        </p:sp>
        <p:sp>
          <p:nvSpPr>
            <p:cNvPr id="63" name="Text 57"/>
            <p:cNvSpPr txBox="1"/>
            <p:nvPr/>
          </p:nvSpPr>
          <p:spPr>
            <a:xfrm>
              <a:off x="7018934" y="4412894"/>
              <a:ext cx="2392070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git commit -m "chore: init project"</a:t>
              </a:r>
              <a:endParaRPr lang="en-US" sz="1400" dirty="0"/>
            </a:p>
          </p:txBody>
        </p:sp>
        <p:sp>
          <p:nvSpPr>
            <p:cNvPr id="64" name="Text 58"/>
            <p:cNvSpPr txBox="1"/>
            <p:nvPr/>
          </p:nvSpPr>
          <p:spPr>
            <a:xfrm>
              <a:off x="5360213" y="4555541"/>
              <a:ext cx="3276295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[main (root-commit) 8f3a1b2] chore: init project</a:t>
              </a:r>
              <a:endParaRPr lang="en-US" sz="1400" dirty="0"/>
            </a:p>
          </p:txBody>
        </p:sp>
        <p:sp>
          <p:nvSpPr>
            <p:cNvPr id="65" name="Text 59"/>
            <p:cNvSpPr txBox="1"/>
            <p:nvPr/>
          </p:nvSpPr>
          <p:spPr>
            <a:xfrm>
              <a:off x="5360213" y="4699102"/>
              <a:ext cx="2255825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2 files changed, 85 insertions(+)</a:t>
              </a:r>
              <a:endParaRPr lang="en-US" sz="1400" dirty="0"/>
            </a:p>
          </p:txBody>
        </p:sp>
        <p:sp>
          <p:nvSpPr>
            <p:cNvPr id="66" name="Text 60"/>
            <p:cNvSpPr txBox="1"/>
            <p:nvPr/>
          </p:nvSpPr>
          <p:spPr>
            <a:xfrm>
              <a:off x="5360213" y="4841748"/>
              <a:ext cx="1984248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create mode 100644 index.html</a:t>
              </a:r>
              <a:endParaRPr lang="en-US" sz="1400" dirty="0"/>
            </a:p>
          </p:txBody>
        </p:sp>
        <p:sp>
          <p:nvSpPr>
            <p:cNvPr id="67" name="Text 61"/>
            <p:cNvSpPr txBox="1"/>
            <p:nvPr/>
          </p:nvSpPr>
          <p:spPr>
            <a:xfrm>
              <a:off x="5360213" y="4984394"/>
              <a:ext cx="1915668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9CA3A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create mode 100644 style.css</a:t>
              </a:r>
              <a:endParaRPr lang="en-US" sz="1400" dirty="0"/>
            </a:p>
          </p:txBody>
        </p:sp>
      </p:grpSp>
      <p:sp>
        <p:nvSpPr>
          <p:cNvPr id="6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609905"/>
            <a:ext cx="1133856" cy="286207"/>
          </a:xfrm>
          <a:prstGeom prst="roundRect">
            <a:avLst>
              <a:gd name="adj" fmla="val 319489"/>
            </a:avLst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71754" y="676656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123798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VIBE</a:t>
            </a:r>
            <a:endParaRPr lang="en-US" sz="82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3354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CODING</a:t>
            </a:r>
            <a:endParaRPr lang="en-US" sz="8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905" y="5242255"/>
            <a:ext cx="5181905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5995" y="5470855"/>
            <a:ext cx="4763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AI와의 대화로 요구사항부터 구현, 검증까지.</a:t>
            </a:r>
            <a:endParaRPr lang="en-US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프롬프트 전략과 대화 루프를 통해 코딩의 흐름을 바꿉니다. 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057900" y="5305349"/>
            <a:ext cx="5524805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BASICS</a:t>
            </a:r>
            <a:endParaRPr lang="en-US" sz="8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 t="5532" b="5532"/>
          <a:stretch/>
        </p:blipFill>
        <p:spPr>
          <a:xfrm>
            <a:off x="6439205" y="1029005"/>
            <a:ext cx="5143500" cy="3047695"/>
          </a:xfrm>
          <a:prstGeom prst="rect">
            <a:avLst/>
          </a:prstGeom>
        </p:spPr>
      </p:pic>
      <p:sp>
        <p:nvSpPr>
          <p:cNvPr id="1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76402" y="32369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525938" y="813817"/>
            <a:ext cx="5277002" cy="119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바이브코딩이란?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대화형 개발 방식 </a:t>
            </a:r>
            <a:endParaRPr lang="en-US" sz="3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27" b="-27"/>
          <a:stretch/>
        </p:blipFill>
        <p:spPr>
          <a:xfrm>
            <a:off x="813817" y="2343650"/>
            <a:ext cx="5105095" cy="97200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79907" y="2572250"/>
            <a:ext cx="468630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"AI와의 끊임없는 티키타카로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생각의 속도만큼 빠르게 개발합니다." 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7" y="3620152"/>
            <a:ext cx="5181905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바이브코딩(Vibe Coding)은 단순히 코드를 생성하는 것을 넘어, AI를 동료 개발자로 대우하며 요구사항 정의부터 설계, 구현, 검증까지 대화로 풀어나가는 프로세스입니다.</a:t>
            </a:r>
            <a:endParaRPr lang="en-US" sz="1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9703" y="4892690"/>
            <a:ext cx="171907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9703" y="5235590"/>
            <a:ext cx="171907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9703" y="5578490"/>
            <a:ext cx="171907" cy="17190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64996" y="4864344"/>
            <a:ext cx="3391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요구사항 → 설계 → 구현 → 검증의 반복 루프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1564996" y="5207244"/>
            <a:ext cx="31738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의도와 맥락(Context) 전달이 핵심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1564996" y="5550144"/>
            <a:ext cx="35195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복사-붙여넣기가 아닌 주도적인 리뷰 과정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9800018" y="976098"/>
            <a:ext cx="17145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VIBE CODING BASICS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8193025" y="1286560"/>
            <a:ext cx="3238805" cy="4381805"/>
          </a:xfrm>
          <a:prstGeom prst="roundRect">
            <a:avLst>
              <a:gd name="adj" fmla="val 1993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l="25532" r="25532"/>
          <a:stretch/>
        </p:blipFill>
        <p:spPr>
          <a:xfrm>
            <a:off x="8230515" y="1324965"/>
            <a:ext cx="3161995" cy="4304995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10289744" y="4791455"/>
            <a:ext cx="1295705" cy="457200"/>
          </a:xfrm>
          <a:prstGeom prst="roundRect">
            <a:avLst>
              <a:gd name="adj" fmla="val 125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2"/>
          <p:cNvSpPr txBox="1"/>
          <p:nvPr/>
        </p:nvSpPr>
        <p:spPr>
          <a:xfrm>
            <a:off x="10518344" y="4935016"/>
            <a:ext cx="9784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Human + AI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325820" y="2734055"/>
            <a:ext cx="2857500" cy="3619195"/>
          </a:xfrm>
          <a:prstGeom prst="roundRect">
            <a:avLst>
              <a:gd name="adj" fmla="val 2560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6"/>
          <a:srcRect l="23800" r="23800"/>
          <a:stretch/>
        </p:blipFill>
        <p:spPr>
          <a:xfrm>
            <a:off x="6364225" y="2772460"/>
            <a:ext cx="2781605" cy="3543300"/>
          </a:xfrm>
          <a:prstGeom prst="rect">
            <a:avLst/>
          </a:prstGeom>
        </p:spPr>
      </p:pic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185361" y="783423"/>
            <a:ext cx="4827117" cy="1858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TRADITIONAL</a:t>
            </a:r>
            <a:endParaRPr lang="en-US" sz="5400" dirty="0"/>
          </a:p>
          <a:p>
            <a:pPr marL="0" indent="0" algn="ctr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VS</a:t>
            </a:r>
            <a:endParaRPr lang="en-US" sz="5400" dirty="0"/>
          </a:p>
          <a:p>
            <a:pPr marL="0" indent="0" algn="ctr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VIBE CODING </a:t>
            </a:r>
            <a:endParaRPr lang="en-US" sz="5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23857" b="35785"/>
          <a:stretch/>
        </p:blipFill>
        <p:spPr>
          <a:xfrm>
            <a:off x="5351690" y="1257691"/>
            <a:ext cx="6107794" cy="152430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51689" y="3068203"/>
            <a:ext cx="6124911" cy="733349"/>
          </a:xfrm>
          <a:prstGeom prst="roundRect">
            <a:avLst>
              <a:gd name="adj" fmla="val 25909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" name="Shape 5"/>
          <p:cNvSpPr/>
          <p:nvPr/>
        </p:nvSpPr>
        <p:spPr>
          <a:xfrm>
            <a:off x="5351689" y="3068203"/>
            <a:ext cx="62357" cy="733349"/>
          </a:xfrm>
          <a:prstGeom prst="roundRect">
            <a:avLst>
              <a:gd name="adj" fmla="val 32983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9" name="Text 6"/>
          <p:cNvSpPr txBox="1"/>
          <p:nvPr/>
        </p:nvSpPr>
        <p:spPr>
          <a:xfrm>
            <a:off x="6742492" y="3302290"/>
            <a:ext cx="333390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직렬 프로세스 vs 반복적 순환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51689" y="3936883"/>
            <a:ext cx="6124911" cy="733349"/>
          </a:xfrm>
          <a:prstGeom prst="roundRect">
            <a:avLst>
              <a:gd name="adj" fmla="val 25909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1" name="Shape 8"/>
          <p:cNvSpPr/>
          <p:nvPr/>
        </p:nvSpPr>
        <p:spPr>
          <a:xfrm>
            <a:off x="5351689" y="3936883"/>
            <a:ext cx="62357" cy="733349"/>
          </a:xfrm>
          <a:prstGeom prst="roundRect">
            <a:avLst>
              <a:gd name="adj" fmla="val 32983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2" name="Text 9"/>
          <p:cNvSpPr txBox="1"/>
          <p:nvPr/>
        </p:nvSpPr>
        <p:spPr>
          <a:xfrm>
            <a:off x="6742492" y="4171884"/>
            <a:ext cx="32863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문법과 디테일 vs 의도와 설계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351689" y="4806478"/>
            <a:ext cx="6124911" cy="733349"/>
          </a:xfrm>
          <a:prstGeom prst="roundRect">
            <a:avLst>
              <a:gd name="adj" fmla="val 25909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4" name="Shape 11"/>
          <p:cNvSpPr/>
          <p:nvPr/>
        </p:nvSpPr>
        <p:spPr>
          <a:xfrm>
            <a:off x="5351689" y="4806478"/>
            <a:ext cx="62357" cy="733349"/>
          </a:xfrm>
          <a:prstGeom prst="roundRect">
            <a:avLst>
              <a:gd name="adj" fmla="val 32983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5" name="Text 12"/>
          <p:cNvSpPr txBox="1"/>
          <p:nvPr/>
        </p:nvSpPr>
        <p:spPr>
          <a:xfrm>
            <a:off x="6742492" y="5040564"/>
            <a:ext cx="344454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작성자(Writer) vs 감독관(Director)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351689" y="5675158"/>
            <a:ext cx="6124911" cy="733349"/>
          </a:xfrm>
          <a:prstGeom prst="roundRect">
            <a:avLst>
              <a:gd name="adj" fmla="val 25909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7" name="Shape 14"/>
          <p:cNvSpPr/>
          <p:nvPr/>
        </p:nvSpPr>
        <p:spPr>
          <a:xfrm>
            <a:off x="5351689" y="5675158"/>
            <a:ext cx="62357" cy="733349"/>
          </a:xfrm>
          <a:prstGeom prst="roundRect">
            <a:avLst>
              <a:gd name="adj" fmla="val 32983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8" name="Text 15"/>
          <p:cNvSpPr txBox="1"/>
          <p:nvPr/>
        </p:nvSpPr>
        <p:spPr>
          <a:xfrm>
            <a:off x="6742492" y="5910158"/>
            <a:ext cx="3467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타이핑 속도 vs 사고의 속도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366538" y="825746"/>
            <a:ext cx="109270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602235" y="3330636"/>
            <a:ext cx="9528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9935" y="3326151"/>
            <a:ext cx="11109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Linear vs Loop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725679" y="4200230"/>
            <a:ext cx="7050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FOCUS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998670" y="4195745"/>
            <a:ext cx="117957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Syntax vs Logic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789687" y="5068910"/>
            <a:ext cx="5815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765498" y="5064425"/>
            <a:ext cx="140634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Coder vs Reviewer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734823" y="5938505"/>
            <a:ext cx="6858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8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SPEED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209897" y="5934020"/>
            <a:ext cx="9637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Manual vs AI</a:t>
            </a:r>
            <a:endParaRPr lang="en-US" sz="1200" dirty="0"/>
          </a:p>
        </p:txBody>
      </p:sp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746607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 err="1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</a:t>
            </a: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200" b="1" kern="0" spc="-75" dirty="0" err="1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작성법</a:t>
            </a: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명확성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487662"/>
            <a:ext cx="587776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의도를 정확히 파악하도록 돕는 3가지 핵심 요소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0703" y="2102729"/>
            <a:ext cx="3454603" cy="42350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0703" y="2102728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3071557" y="2437921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881" r="-881"/>
          <a:stretch/>
        </p:blipFill>
        <p:spPr>
          <a:xfrm>
            <a:off x="3258095" y="2608914"/>
            <a:ext cx="237744" cy="2670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04342" y="3038855"/>
            <a:ext cx="294253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(Role)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04342" y="3496055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수행해야 할 구체적인 전문가 페르소나를 부여하여 답변의 전문성, 깊이, 어조를 고정합니다.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904342" y="4633568"/>
            <a:ext cx="2829154" cy="1349829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04342" y="4633568"/>
            <a:ext cx="28346" cy="1349829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085393" y="4786274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085393" y="5014874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"당신은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10년차 시니어 UI 개발자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입니다. 웹 접근성(A11Y)을 최우선으로 고려해 주세요." </a:t>
            </a:r>
            <a:endParaRPr lang="en-US" sz="12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349801" y="2102729"/>
            <a:ext cx="3454603" cy="4235022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49801" y="2102728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6830655" y="2437921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02563" y="2608914"/>
            <a:ext cx="267005" cy="2670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663440" y="3038855"/>
            <a:ext cx="294253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(Goal)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663440" y="3496055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해결하려는 문제와 최종적으로 얻고자 하는 결과물이 무엇인지 모호함 없이 명확하게 정의합니다.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663440" y="4633568"/>
            <a:ext cx="2829154" cy="1349829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663440" y="4633568"/>
            <a:ext cx="28346" cy="1349829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4844492" y="4786274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844492" y="5014874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"모바일 기기에서도 레이아웃이 깨지지 않는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네비게이션 헤더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구현하는 것이 목표입니다." </a:t>
            </a:r>
            <a:endParaRPr lang="en-US" sz="12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08900" y="2102729"/>
            <a:ext cx="3454603" cy="4235022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8108900" y="2102728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10590668" y="2437921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95494" y="2608914"/>
            <a:ext cx="200254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23453" y="3038855"/>
            <a:ext cx="294253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제약 (Constraints)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23453" y="3496055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사용할 기술 스택, 파일 구조, 금지된 패턴 등 작업의 구체적인 경계 조건을 명확히 나열합니다.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8423453" y="4633568"/>
            <a:ext cx="2829154" cy="1349829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8423453" y="4633568"/>
            <a:ext cx="28346" cy="1349829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7"/>
          <p:cNvSpPr txBox="1"/>
          <p:nvPr/>
        </p:nvSpPr>
        <p:spPr>
          <a:xfrm>
            <a:off x="8604504" y="4786274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8604504" y="5014874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"Bootstrap 같은 프레임워크 없이,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 CSS(Vanilla CSS)와 BEM 명명법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만을 사용해 주세요." </a:t>
            </a:r>
            <a:endParaRPr lang="en-US" sz="1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8406079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 err="1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</a:t>
            </a: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200" b="1" kern="0" spc="-75" dirty="0" err="1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작성법</a:t>
            </a: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제공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64333" y="1461668"/>
            <a:ext cx="654436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코드 품질을 높이는 3가지 필수 컨텍스트 정보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905" y="2053742"/>
            <a:ext cx="3454603" cy="419526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9905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923544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685" r="-685"/>
          <a:stretch/>
        </p:blipFill>
        <p:spPr>
          <a:xfrm>
            <a:off x="1076249" y="2539289"/>
            <a:ext cx="304495" cy="2670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544" y="3205886"/>
            <a:ext cx="294253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구조 (Structure)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663086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프로젝트의 디렉토리 구조와 파일 위치를 명시하여 AI가 생성할 파일의 정확한 경로와 관계를 파악하게 합니다.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23544" y="4800600"/>
            <a:ext cx="2829154" cy="1224644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23544" y="4800600"/>
            <a:ext cx="28346" cy="1224644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104595" y="4953305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04595" y="5181905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"현재 루트에는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index.html과 /assets/css/style.css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있습니다. 이 구조에 맞춰 이미지 경로를 설정해주세요." </a:t>
            </a:r>
            <a:endParaRPr lang="en-US" sz="12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369003" y="2053742"/>
            <a:ext cx="3454603" cy="4195267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69003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682642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54550" y="2539289"/>
            <a:ext cx="267005" cy="2670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682642" y="3205886"/>
            <a:ext cx="294253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 가이드 (Design)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682642" y="3663086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색상 코드, 폰트, 여백 규칙 등 디자인 시스템 정보를 제공하여 일관된 룩앤필(Look &amp; Feel)을 유지합니다.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682642" y="4800600"/>
            <a:ext cx="2829154" cy="1224644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682642" y="4800600"/>
            <a:ext cx="28346" cy="1224644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4863694" y="4953305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863694" y="5181905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"메인 컬러는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#FF6908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이고, 모든 버튼은 border-radius: 30px입니다. 폰트는 Pretendard를 사용하세요." </a:t>
            </a:r>
            <a:endParaRPr lang="en-US" sz="12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102" y="2053742"/>
            <a:ext cx="3454603" cy="4195267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8128102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8442655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rcRect l="-881" r="-881"/>
          <a:stretch/>
        </p:blipFill>
        <p:spPr>
          <a:xfrm>
            <a:off x="8628278" y="2539289"/>
            <a:ext cx="237744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42655" y="3205886"/>
            <a:ext cx="294253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참조 코드 (Reference)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42655" y="3663086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기존에 작성된 코드 패턴이나 유사한 예시를 함께 전달하여 AI가 프로젝트의 코딩 컨벤션을 따르도록 유도합니다.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8442655" y="4800600"/>
            <a:ext cx="2829154" cy="1224644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8442655" y="4800600"/>
            <a:ext cx="28346" cy="1224644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7"/>
          <p:cNvSpPr txBox="1"/>
          <p:nvPr/>
        </p:nvSpPr>
        <p:spPr>
          <a:xfrm>
            <a:off x="8623706" y="4953305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8623706" y="5181905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"아래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Header 컴포넌트 코드 패턴을 참고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하여, 동일한 방식으로 Footer 영역을 마크업해주세요." </a:t>
            </a:r>
            <a:endParaRPr lang="en-US" sz="1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7295083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 </a:t>
            </a:r>
            <a:r>
              <a:rPr lang="en-US" sz="4200" b="1" kern="0" spc="-75" dirty="0" err="1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요청</a:t>
            </a: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Step-by-Step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34855" y="1453438"/>
            <a:ext cx="62682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과제를 해결하는 체계적인 바이브코딩 접근법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905" y="2129942"/>
            <a:ext cx="3454603" cy="419526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9905" y="21299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3219602" y="2525877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685" r="-685"/>
          <a:stretch/>
        </p:blipFill>
        <p:spPr>
          <a:xfrm>
            <a:off x="3372307" y="2696870"/>
            <a:ext cx="304495" cy="2670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544" y="2986278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 : 구조와 골격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443478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디자인이나 기능보다 논리적인 구조와 HTML 마크업을 먼저 정의하여 탄탄한 기초를 마련합니다.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923544" y="4580991"/>
            <a:ext cx="2829154" cy="1317171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23544" y="4580991"/>
            <a:ext cx="28346" cy="1317171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104595" y="4733697"/>
            <a:ext cx="11247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04595" y="4962297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"스타일은 나중에 적용할 예정입니다. 먼저 포트폴리오의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시맨틱한 HTML 구조만 작성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해주세요." </a:t>
            </a:r>
            <a:endParaRPr lang="en-US" sz="12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369003" y="2129942"/>
            <a:ext cx="3454603" cy="4195267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69003" y="21299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6978700" y="2525877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50608" y="2696870"/>
            <a:ext cx="267005" cy="2670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682642" y="2986278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 : 스타일링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682642" y="3443478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확정된 HTML 구조 위에 CSS 스타일, 레이아웃, 배색을 입혀 시각적인 디자인을 완성합니다.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4682642" y="4580991"/>
            <a:ext cx="2829154" cy="1317171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682642" y="4580991"/>
            <a:ext cx="28346" cy="1317171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4863694" y="4733697"/>
            <a:ext cx="11247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863694" y="4962297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"작성된 HTML을 바탕으로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모던하고 깔끔한 CSS 스타일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적용해주세요. 테마 컬러는 오렌지입니다." </a:t>
            </a:r>
            <a:endParaRPr lang="en-US" sz="12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102" y="2129942"/>
            <a:ext cx="3454603" cy="4195267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8128102" y="21299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10738713" y="2525877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909706" y="2696870"/>
            <a:ext cx="267005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42655" y="2986278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 : 기능 및 최적화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42655" y="3443478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반응형 대응, 자바스크립트 인터랙션, 웹 접근성 등 디테일한 고도화 작업을 수행합니다.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8442655" y="4580991"/>
            <a:ext cx="2829154" cy="1317171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8442655" y="4580991"/>
            <a:ext cx="28346" cy="1317171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7"/>
          <p:cNvSpPr txBox="1"/>
          <p:nvPr/>
        </p:nvSpPr>
        <p:spPr>
          <a:xfrm>
            <a:off x="8623706" y="4733697"/>
            <a:ext cx="11247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EXAMPLE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8623706" y="4962297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"모바일에서도 잘 보이도록 </a:t>
            </a: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미디어 쿼리</a:t>
            </a:r>
            <a:r>
              <a:rPr lang="en-US" sz="12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추가하고, 이미지에 alt 태그를 점검해주세요." </a:t>
            </a:r>
            <a:endParaRPr lang="en-US" sz="1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37744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COLLABORATION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7230161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리뷰 및 리팩토링 요청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6"/>
            <a:ext cx="4028846" cy="3393338"/>
          </a:xfrm>
          <a:prstGeom prst="roundRect">
            <a:avLst>
              <a:gd name="adj" fmla="val 1194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847649" y="1955902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7105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085582" y="1858974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180679" y="1944928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7" b="-7"/>
          <a:stretch/>
        </p:blipFill>
        <p:spPr>
          <a:xfrm>
            <a:off x="847649" y="2310777"/>
            <a:ext cx="3548786" cy="264810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511030"/>
            <a:ext cx="32296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"현재 작성된 HTML 코드의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성능(Performance)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접근성(Accessibility)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관점에서 리뷰해줘.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47902" y="3151110"/>
            <a:ext cx="334396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특히 다음 사항을 체크해줘: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200607" y="3471150"/>
            <a:ext cx="21250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시맨틱 태그의 적절한 사용 여부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1200607" y="3699750"/>
            <a:ext cx="18260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alt 속성 누락 확인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1200607" y="3928350"/>
            <a:ext cx="22421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불필요하게 중첩된 div 구조 개선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1047902" y="4271250"/>
            <a:ext cx="32296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수정 제안 시,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전/후 코드(Diff)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함께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수정 이유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주석으로 명시해줘."</a:t>
            </a:r>
            <a:endParaRPr lang="en-US" sz="1200" dirty="0"/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F17C8F81-0AFA-4CE6-D92B-61E7CCCAD5C9}"/>
              </a:ext>
            </a:extLst>
          </p:cNvPr>
          <p:cNvGrpSpPr/>
          <p:nvPr/>
        </p:nvGrpSpPr>
        <p:grpSpPr>
          <a:xfrm>
            <a:off x="609295" y="5299037"/>
            <a:ext cx="4440326" cy="1197864"/>
            <a:chOff x="609905" y="5731459"/>
            <a:chExt cx="4440326" cy="1197864"/>
          </a:xfrm>
        </p:grpSpPr>
        <p:sp>
          <p:nvSpPr>
            <p:cNvPr id="18" name="Shape 13"/>
            <p:cNvSpPr/>
            <p:nvPr/>
          </p:nvSpPr>
          <p:spPr>
            <a:xfrm>
              <a:off x="609905" y="5731459"/>
              <a:ext cx="4028846" cy="1104595"/>
            </a:xfrm>
            <a:prstGeom prst="roundRect">
              <a:avLst>
                <a:gd name="adj" fmla="val 5709"/>
              </a:avLst>
            </a:prstGeom>
            <a:solidFill>
              <a:srgbClr val="FFF8F3"/>
            </a:solidFill>
            <a:ln/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9" name="Shape 14"/>
            <p:cNvSpPr/>
            <p:nvPr/>
          </p:nvSpPr>
          <p:spPr>
            <a:xfrm>
              <a:off x="609905" y="5731459"/>
              <a:ext cx="38405" cy="1104595"/>
            </a:xfrm>
            <a:prstGeom prst="roundRect">
              <a:avLst>
                <a:gd name="adj" fmla="val 16420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pic>
          <p:nvPicPr>
            <p:cNvPr id="20" name="Image 3" descr="preencoded.png"/>
            <p:cNvPicPr>
              <a:picLocks noChangeAspect="1"/>
            </p:cNvPicPr>
            <p:nvPr/>
          </p:nvPicPr>
          <p:blipFill>
            <a:blip r:embed="rId6"/>
            <a:srcRect l="-2512" r="-2512"/>
            <a:stretch/>
          </p:blipFill>
          <p:spPr>
            <a:xfrm>
              <a:off x="838505" y="5910682"/>
              <a:ext cx="105156" cy="133502"/>
            </a:xfrm>
            <a:prstGeom prst="rect">
              <a:avLst/>
            </a:prstGeom>
          </p:spPr>
        </p:pic>
        <p:sp>
          <p:nvSpPr>
            <p:cNvPr id="21" name="Text 15"/>
            <p:cNvSpPr txBox="1"/>
            <p:nvPr/>
          </p:nvSpPr>
          <p:spPr>
            <a:xfrm>
              <a:off x="981151" y="5903366"/>
              <a:ext cx="648310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PRO TIP</a:t>
              </a:r>
              <a:endParaRPr lang="en-US" sz="1050" dirty="0"/>
            </a:p>
          </p:txBody>
        </p:sp>
        <p:sp>
          <p:nvSpPr>
            <p:cNvPr id="22" name="Text 16"/>
            <p:cNvSpPr txBox="1"/>
            <p:nvPr/>
          </p:nvSpPr>
          <p:spPr>
            <a:xfrm>
              <a:off x="838505" y="6112764"/>
              <a:ext cx="421172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단순히 "코드 고쳐줘"라고 하기보다 "가독성", "보안", "SEO" 등</a:t>
              </a:r>
              <a:endParaRPr lang="en-US" sz="105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828903" y="6320096"/>
              <a:ext cx="1766621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구체적인 개선 목표(관점)</a:t>
              </a:r>
              <a:endParaRPr lang="en-US" sz="105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828903" y="6548018"/>
              <a:ext cx="3629254" cy="3813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제시하면 AI가 훨씬 전문적인 피드백을 제공합니다.</a:t>
              </a:r>
              <a:endParaRPr lang="en-US" sz="1050" dirty="0"/>
            </a:p>
          </p:txBody>
        </p:sp>
      </p:grp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5015484" y="1717243"/>
            <a:ext cx="105156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196535" y="1684325"/>
            <a:ext cx="32580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RESPONSE (REFACTORING SUGGESTION)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1" b="-1"/>
          <a:stretch/>
        </p:blipFill>
        <p:spPr>
          <a:xfrm>
            <a:off x="5015484" y="1997964"/>
            <a:ext cx="6567221" cy="440283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5015484" y="1997964"/>
            <a:ext cx="6572707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168189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358384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5548579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5853989" y="2141525"/>
            <a:ext cx="1700784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 (Refactored)</a:t>
            </a:r>
            <a:endParaRPr lang="en-US" sz="900" dirty="0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EB9E5AA5-E6ED-741C-0395-C79523505D63}"/>
              </a:ext>
            </a:extLst>
          </p:cNvPr>
          <p:cNvGrpSpPr/>
          <p:nvPr/>
        </p:nvGrpSpPr>
        <p:grpSpPr>
          <a:xfrm>
            <a:off x="5148986" y="2555747"/>
            <a:ext cx="5546228" cy="3708981"/>
            <a:chOff x="5148986" y="2555748"/>
            <a:chExt cx="4423867" cy="2829154"/>
          </a:xfrm>
        </p:grpSpPr>
        <p:sp>
          <p:nvSpPr>
            <p:cNvPr id="33" name="Text 25"/>
            <p:cNvSpPr txBox="1"/>
            <p:nvPr/>
          </p:nvSpPr>
          <p:spPr>
            <a:xfrm>
              <a:off x="5148986" y="2555748"/>
              <a:ext cx="4423867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[Review] 전반적으로 양호하나, 시맨틱 구조와 접근성을 강화했습니다. --&gt;</a:t>
              </a:r>
              <a:endParaRPr lang="en-US" sz="120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5148986" y="2841041"/>
              <a:ext cx="4288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&lt;body&gt;</a:t>
              </a:r>
              <a:endParaRPr lang="en-US" sz="120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5301691" y="2984602"/>
              <a:ext cx="4026103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[Refactor] header 내부에 nav를 배치하여 구조적 의미 강화 --&gt;</a:t>
              </a:r>
              <a:endParaRPr lang="en-US" sz="120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301691" y="3127248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&lt;header</a:t>
              </a:r>
              <a:endParaRPr lang="en-US" sz="12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701284" y="3127248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2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5987491" y="3127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6045098" y="3127248"/>
              <a:ext cx="8924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"site-header"</a:t>
              </a:r>
              <a:endParaRPr lang="en-US" sz="12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6787591" y="3127248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453482" y="3269894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&lt;nav</a:t>
              </a:r>
              <a:endParaRPr lang="en-US" sz="12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5682082" y="3269894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</a:t>
              </a:r>
              <a:endParaRPr lang="en-US" sz="12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6254496" y="32698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6311189" y="3269894"/>
              <a:ext cx="116677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"Main Navigation"</a:t>
              </a:r>
              <a:endParaRPr lang="en-US" sz="12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7283196" y="32698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5606186" y="3412541"/>
              <a:ext cx="3322930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[Fix] 누락된 alt 속성 추가 (스크린 리더 지원) --&gt;</a:t>
              </a:r>
              <a:endParaRPr lang="en-US" sz="12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606186" y="3556102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&lt;img</a:t>
              </a:r>
              <a:endParaRPr lang="en-US" sz="12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5834786" y="3556102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src</a:t>
              </a:r>
              <a:endParaRPr lang="en-US" sz="12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6006694" y="35561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6063386" y="3556102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"logo.png"</a:t>
              </a:r>
              <a:endParaRPr lang="en-US" sz="12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6635801" y="3556102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alt</a:t>
              </a:r>
              <a:endParaRPr lang="en-US" sz="12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6806794" y="35561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6864401" y="3556102"/>
              <a:ext cx="1780337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"Stellaris Portfolio Logo"</a:t>
              </a:r>
              <a:endParaRPr lang="en-US" sz="12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8350301" y="3556102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/&gt;</a:t>
              </a:r>
              <a:endParaRPr lang="en-US" sz="12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5606186" y="3698748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&lt;ul&gt;</a:t>
              </a:r>
              <a:endParaRPr lang="en-US" sz="12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5834786" y="3698748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...</a:t>
              </a:r>
              <a:endParaRPr lang="en-US" sz="12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6006694" y="3698748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&lt;/ul&gt;</a:t>
              </a:r>
              <a:endParaRPr lang="en-US" sz="12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5453482" y="3841394"/>
              <a:ext cx="4288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&lt;/nav&gt;</a:t>
              </a:r>
              <a:endParaRPr lang="en-US" sz="12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5301691" y="3984041"/>
              <a:ext cx="6181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&lt;/header&gt;</a:t>
              </a:r>
              <a:endParaRPr lang="en-US" sz="12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5301691" y="4270248"/>
              <a:ext cx="357530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[Refactor] 본문 콘텐츠는 div 대신 main 태그 사용 --&gt;</a:t>
              </a:r>
              <a:endParaRPr lang="en-US" sz="12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5301691" y="4412894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&lt;main</a:t>
              </a:r>
              <a:endParaRPr lang="en-US" sz="12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5586984" y="4412894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2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5701284" y="44128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5758891" y="4412894"/>
              <a:ext cx="9610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"main-content"</a:t>
              </a:r>
              <a:endParaRPr lang="en-US" sz="120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6558991" y="441289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5453482" y="4555541"/>
              <a:ext cx="3283610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[Optimize] 불필요한 div wrapper 2단계 제거 --&gt;</a:t>
              </a:r>
              <a:endParaRPr lang="en-US" sz="12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5453482" y="4699102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&lt;section</a:t>
              </a:r>
              <a:endParaRPr lang="en-US" sz="120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5910682" y="4699102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20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6196889" y="46991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6254496" y="4699102"/>
              <a:ext cx="9610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"hero-section"</a:t>
              </a:r>
              <a:endParaRPr lang="en-US" sz="12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7054596" y="4699102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5606186" y="4841748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&lt;h1&gt;</a:t>
              </a:r>
              <a:endParaRPr lang="en-US" sz="120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5834786" y="4841748"/>
              <a:ext cx="1576426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Welcome to My Portfolio</a:t>
              </a:r>
              <a:endParaRPr lang="en-US" sz="120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7149694" y="4841748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&lt;/h1&gt;</a:t>
              </a:r>
              <a:endParaRPr lang="en-US" sz="120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5453482" y="4984394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&lt;/section&gt;</a:t>
              </a:r>
              <a:endParaRPr lang="en-US" sz="120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5301691" y="5127041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&lt;/main&gt;</a:t>
              </a:r>
              <a:endParaRPr lang="en-US" sz="120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5148986" y="5270602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&lt;/body&gt;</a:t>
              </a:r>
              <a:endParaRPr lang="en-US" sz="1200" dirty="0"/>
            </a:p>
          </p:txBody>
        </p:sp>
      </p:grpSp>
      <p:sp>
        <p:nvSpPr>
          <p:cNvPr id="8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84378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 DEBUGGING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830732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디버깅 요청 - 에러 메시지 제공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5733" y="1776549"/>
            <a:ext cx="3715207" cy="3198571"/>
          </a:xfrm>
          <a:prstGeom prst="roundRect">
            <a:avLst>
              <a:gd name="adj" fmla="val 128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83477" y="2048126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2077" y="2014293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817786" y="1942969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912883" y="2028923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11" b="-11"/>
          <a:stretch/>
        </p:blipFill>
        <p:spPr>
          <a:xfrm>
            <a:off x="889697" y="2360850"/>
            <a:ext cx="3230575" cy="250728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89950" y="2561103"/>
            <a:ext cx="29151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"모바일 메뉴 버튼을 클릭하면 브라우저 콘솔에 다음과 같은 에러가 발생해.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89950" y="3246903"/>
            <a:ext cx="2915107" cy="457200"/>
          </a:xfrm>
          <a:prstGeom prst="rect">
            <a:avLst/>
          </a:prstGeom>
          <a:solidFill>
            <a:srgbClr val="FEF2F2">
              <a:alpha val="50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87171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Uncaught TypeError: Cannot read properties of null (reading 'classList')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089950" y="3925388"/>
            <a:ext cx="291510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script.js 파일의 15번째 줄 </a:t>
            </a:r>
            <a:r>
              <a:rPr lang="en-US" sz="12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toggleMenu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함수에서 발생했어. </a:t>
            </a:r>
            <a:r>
              <a:rPr lang="en-US" sz="12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mobile-nav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ID를 가진 요소를 못 찾는 것 같은데 해결책을 알려줘."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27223" y="5235722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627223" y="5235722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55823" y="5414944"/>
            <a:ext cx="105156" cy="1335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98469" y="5407629"/>
            <a:ext cx="11814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DEBUGGING TIP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855823" y="5617026"/>
            <a:ext cx="3314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단순히 "안 돼요"라고 하기보다 에러 메시지(Stack Trace), 발생 상황(Steps to reproduce), 그리고 관련 코드 스니펫을 함께 제공하면 AI가 정확한 원인을 즉시 파악합니다.</a:t>
            </a:r>
            <a:endParaRPr lang="en-US" sz="11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713420" y="1683280"/>
            <a:ext cx="171907" cy="1335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961222" y="1650362"/>
            <a:ext cx="217261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SOLUTION &amp; FIXED CODE</a:t>
            </a:r>
            <a:endParaRPr lang="en-US" sz="10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t="-3" b="-3"/>
          <a:stretch/>
        </p:blipFill>
        <p:spPr>
          <a:xfrm>
            <a:off x="4674100" y="1942969"/>
            <a:ext cx="6884518" cy="4392777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4674100" y="1942969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4826805" y="2092930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5017000" y="2092930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208109" y="2092930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512605" y="208561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script.js</a:t>
            </a:r>
            <a:endParaRPr lang="en-US" sz="900" dirty="0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96797D67-1960-27E3-BF81-0CD0868F5655}"/>
              </a:ext>
            </a:extLst>
          </p:cNvPr>
          <p:cNvGrpSpPr/>
          <p:nvPr/>
        </p:nvGrpSpPr>
        <p:grpSpPr>
          <a:xfrm>
            <a:off x="4902700" y="2624198"/>
            <a:ext cx="5927184" cy="3438274"/>
            <a:chOff x="4925873" y="2831897"/>
            <a:chExt cx="6057900" cy="4029761"/>
          </a:xfrm>
        </p:grpSpPr>
        <p:sp>
          <p:nvSpPr>
            <p:cNvPr id="28" name="Text 20"/>
            <p:cNvSpPr txBox="1"/>
            <p:nvPr/>
          </p:nvSpPr>
          <p:spPr>
            <a:xfrm>
              <a:off x="4925873" y="2831897"/>
              <a:ext cx="60579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분석: DOM이 완전히 로드되기 전에 요소를 찾으려 하거나, ID가 오타일 수 있습니다.</a:t>
              </a:r>
              <a:endParaRPr lang="en-US" sz="1100" dirty="0"/>
            </a:p>
          </p:txBody>
        </p:sp>
        <p:sp>
          <p:nvSpPr>
            <p:cNvPr id="29" name="Text 21"/>
            <p:cNvSpPr txBox="1"/>
            <p:nvPr/>
          </p:nvSpPr>
          <p:spPr>
            <a:xfrm>
              <a:off x="4925873" y="3060497"/>
              <a:ext cx="52011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해결: Null 체크(유효성 검사)를 추가하고 옵셔널 체이닝을 사용합니다.</a:t>
              </a:r>
              <a:endParaRPr lang="en-US" sz="1100" dirty="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4925873" y="3517697"/>
              <a:ext cx="68671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function</a:t>
              </a:r>
              <a:endParaRPr lang="en-US" sz="110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5498287" y="3517697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toggleMenu</a:t>
              </a:r>
              <a:endParaRPr lang="en-US" sz="11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6212434" y="3517697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() {</a:t>
              </a:r>
              <a:endParaRPr lang="en-US" sz="11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078578" y="3746297"/>
              <a:ext cx="4389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110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5436108" y="3746297"/>
              <a:ext cx="1371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menu = document.</a:t>
              </a:r>
              <a:endParaRPr lang="en-US" sz="110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6579108" y="3746297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getElementById</a:t>
              </a:r>
              <a:endParaRPr lang="en-US" sz="110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7579462" y="374629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7650785" y="3746297"/>
              <a:ext cx="102961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'mobile-nav'</a:t>
              </a:r>
              <a:endParaRPr lang="en-US" sz="11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8508492" y="3746297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5078578" y="4203497"/>
              <a:ext cx="409194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1. 요소가 존재하는지 먼저 확인합니다 (Safety Check)</a:t>
              </a:r>
              <a:endParaRPr lang="en-US" sz="11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5078578" y="4432097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if</a:t>
              </a:r>
              <a:endParaRPr lang="en-US" sz="11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221224" y="4432097"/>
              <a:ext cx="77083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(!menu) {</a:t>
              </a:r>
              <a:endParaRPr lang="en-US" sz="11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5231282" y="4660697"/>
              <a:ext cx="68671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console.</a:t>
              </a:r>
              <a:endParaRPr lang="en-US" sz="11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802782" y="4660697"/>
              <a:ext cx="4389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error</a:t>
              </a:r>
              <a:endParaRPr lang="en-US" sz="11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6160313" y="466069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6231636" y="4660697"/>
              <a:ext cx="390448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'Menu element not found! Check your HTML IDs.'</a:t>
              </a:r>
              <a:endParaRPr lang="en-US" sz="11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9517990" y="4660697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231282" y="4889297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return</a:t>
              </a:r>
              <a:endParaRPr lang="en-US" sz="11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5660136" y="488929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5078578" y="511789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5078578" y="5575097"/>
              <a:ext cx="26289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2. 안전하게 클래스를 토글합니다</a:t>
              </a:r>
              <a:endParaRPr lang="en-US" sz="11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5078578" y="5803697"/>
              <a:ext cx="128107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menu.classList.</a:t>
              </a:r>
              <a:endParaRPr lang="en-US" sz="11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6150254" y="5803697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toggle</a:t>
              </a:r>
              <a:endParaRPr lang="en-US" sz="11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6579108" y="580369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6650431" y="5803697"/>
              <a:ext cx="68671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'active'</a:t>
              </a:r>
              <a:endParaRPr lang="en-US" sz="11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7221931" y="5803697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4925873" y="603229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4925873" y="6489497"/>
              <a:ext cx="390997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이벤트 리스너 추가 시 DOMContentLoaded 활용 권장</a:t>
              </a:r>
              <a:endParaRPr lang="en-US" sz="11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4925873" y="6718097"/>
              <a:ext cx="77083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document.</a:t>
              </a:r>
              <a:endParaRPr lang="en-US" sz="11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5569610" y="6718097"/>
              <a:ext cx="1371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addEventListener</a:t>
              </a:r>
              <a:endParaRPr lang="en-US" sz="11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6712610" y="671809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6783934" y="6718097"/>
              <a:ext cx="154167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'DOMContentLoaded'</a:t>
              </a:r>
              <a:endParaRPr lang="en-US" sz="11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8070494" y="6718097"/>
              <a:ext cx="4389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 ()</a:t>
              </a:r>
              <a:endParaRPr lang="en-US" sz="11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8427110" y="6718097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endParaRPr lang="en-US" sz="11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8570671" y="6718097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{...});</a:t>
              </a:r>
              <a:endParaRPr lang="en-US" sz="1100" dirty="0"/>
            </a:p>
          </p:txBody>
        </p:sp>
      </p:grp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950270" y="619270"/>
            <a:ext cx="8600867" cy="751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3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PERFORMANCE </a:t>
            </a:r>
            <a:r>
              <a:rPr lang="en-US" sz="43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&amp; QUALITY </a:t>
            </a:r>
            <a:r>
              <a:rPr lang="en-US" sz="43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TIPS </a:t>
            </a:r>
            <a:endParaRPr lang="en-US" sz="4300" dirty="0"/>
          </a:p>
        </p:txBody>
      </p:sp>
      <p:sp>
        <p:nvSpPr>
          <p:cNvPr id="6" name="Shape 4"/>
          <p:cNvSpPr/>
          <p:nvPr/>
        </p:nvSpPr>
        <p:spPr>
          <a:xfrm>
            <a:off x="950270" y="1385360"/>
            <a:ext cx="74582" cy="379409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178870" y="1385360"/>
            <a:ext cx="7334718" cy="379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바이브코딩 </a:t>
            </a:r>
            <a:r>
              <a:rPr lang="en-US" sz="15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결과물의</a:t>
            </a: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5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수준을</a:t>
            </a: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5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높이는</a:t>
            </a: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5가지 품질 관리 전략입니다.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55103" y="1983624"/>
            <a:ext cx="5140299" cy="1507730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Text 7"/>
          <p:cNvSpPr txBox="1"/>
          <p:nvPr/>
        </p:nvSpPr>
        <p:spPr>
          <a:xfrm>
            <a:off x="1178870" y="2131013"/>
            <a:ext cx="786863" cy="482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2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2231776" y="2363508"/>
            <a:ext cx="328577" cy="212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87613" y="2335718"/>
            <a:ext cx="4724181" cy="277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배치 (Small Batches)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198462" y="2777256"/>
            <a:ext cx="4661691" cy="41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번에 완벽한 코드를 기대하기보다, 기능 단위로 작게 나누어 생성하고 검증하는 것이 효율적입니다.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17128" y="1983623"/>
            <a:ext cx="5140299" cy="1507731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Text 11"/>
          <p:cNvSpPr txBox="1"/>
          <p:nvPr/>
        </p:nvSpPr>
        <p:spPr>
          <a:xfrm>
            <a:off x="6592273" y="2131013"/>
            <a:ext cx="786863" cy="482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2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7645179" y="2363508"/>
            <a:ext cx="328577" cy="212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01016" y="2335718"/>
            <a:ext cx="2672317" cy="277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미리보기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611865" y="2777256"/>
            <a:ext cx="4661691" cy="41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Server 등을 활용해 코드 변경 사항을 즉시 시각적으로 확인하며 피드백 루프를 단축하세요.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955104" y="3625015"/>
            <a:ext cx="5140299" cy="1507731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20" name="Text 15"/>
          <p:cNvSpPr txBox="1"/>
          <p:nvPr/>
        </p:nvSpPr>
        <p:spPr>
          <a:xfrm>
            <a:off x="1193055" y="3805118"/>
            <a:ext cx="786863" cy="482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2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rcRect t="-100" b="-100"/>
          <a:stretch/>
        </p:blipFill>
        <p:spPr>
          <a:xfrm>
            <a:off x="2226369" y="4004901"/>
            <a:ext cx="218470" cy="21246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597029" y="3978095"/>
            <a:ext cx="3327725" cy="277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 기반 QA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193055" y="4419634"/>
            <a:ext cx="4661691" cy="41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구현 전 요구사항 목록을 작성하고, 하나씩 체크하며 누락된 기능이 없는지 체계적으로 검증하세요.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311721" y="3625015"/>
            <a:ext cx="5140299" cy="1507731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Text 19"/>
          <p:cNvSpPr txBox="1"/>
          <p:nvPr/>
        </p:nvSpPr>
        <p:spPr>
          <a:xfrm>
            <a:off x="6606458" y="3805118"/>
            <a:ext cx="786863" cy="482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32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39772" y="4004901"/>
            <a:ext cx="291876" cy="21246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067215" y="3978095"/>
            <a:ext cx="3093526" cy="277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및 로그 확인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6606458" y="4419634"/>
            <a:ext cx="4661691" cy="41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측정 도구와 브라우저 콘솔 로그를 주기적으로 확인하여 잠재적인 병목 구간을 조기에 식별하세요.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976638" y="5312849"/>
            <a:ext cx="10480790" cy="1004848"/>
          </a:xfrm>
          <a:prstGeom prst="roundRect">
            <a:avLst>
              <a:gd name="adj" fmla="val 14517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3"/>
          <p:cNvSpPr txBox="1"/>
          <p:nvPr/>
        </p:nvSpPr>
        <p:spPr>
          <a:xfrm>
            <a:off x="1209282" y="5438637"/>
            <a:ext cx="756451" cy="46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32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944088" y="5603991"/>
            <a:ext cx="225784" cy="16435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2283006" y="5547894"/>
            <a:ext cx="4207420" cy="277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 (Regression Test)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1944088" y="5797287"/>
            <a:ext cx="8746079" cy="41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기능을 추가하거나 코드를 리팩토링할 때, 기존에 잘 작동하던 기능이 깨지지 않는지 지속적으로 확인해야 합니다.</a:t>
            </a:r>
            <a:endParaRPr lang="en-US" sz="14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35643" y="743407"/>
            <a:ext cx="4078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 err="1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</a:t>
            </a: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/개인정보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89900" y="2572207"/>
            <a:ext cx="38405" cy="571500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18500" y="2572207"/>
            <a:ext cx="3314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바이브코딩 시 반드시 지켜야 할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5가지 핵심 보안 수칙입니다.</a:t>
            </a:r>
            <a:endParaRPr lang="en-US" sz="1500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713C313A-7236-C04B-62AB-2C50ADD4D326}"/>
              </a:ext>
            </a:extLst>
          </p:cNvPr>
          <p:cNvGrpSpPr/>
          <p:nvPr/>
        </p:nvGrpSpPr>
        <p:grpSpPr>
          <a:xfrm>
            <a:off x="5030610" y="514807"/>
            <a:ext cx="6556666" cy="5828386"/>
            <a:chOff x="4764939" y="514807"/>
            <a:chExt cx="6822337" cy="5828386"/>
          </a:xfrm>
        </p:grpSpPr>
        <p:sp>
          <p:nvSpPr>
            <p:cNvPr id="9" name="Shape 6"/>
            <p:cNvSpPr/>
            <p:nvPr/>
          </p:nvSpPr>
          <p:spPr>
            <a:xfrm>
              <a:off x="4764939" y="514807"/>
              <a:ext cx="330496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4992205" y="724205"/>
              <a:ext cx="581275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3600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992205" y="1380744"/>
              <a:ext cx="164330" cy="171907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5226420" y="1324051"/>
              <a:ext cx="163631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API 키 관리 철저</a:t>
              </a:r>
              <a:endParaRPr lang="en-US" sz="15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4992205" y="1686154"/>
              <a:ext cx="292298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API 키는 절대 코드에 하드코딩하지 말고, .env 환경 변수로 관리하며 저장소에 업로드하지 마세요.</a:t>
              </a:r>
              <a:endParaRPr lang="en-US" sz="12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8282310" y="514807"/>
              <a:ext cx="330496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 txBox="1"/>
            <p:nvPr/>
          </p:nvSpPr>
          <p:spPr>
            <a:xfrm>
              <a:off x="8510451" y="724205"/>
              <a:ext cx="693124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3600" dirty="0"/>
            </a:p>
          </p:txBody>
        </p:sp>
        <p:pic>
          <p:nvPicPr>
            <p:cNvPr id="16" name="Image 2" descr="preencoded.png"/>
            <p:cNvPicPr>
              <a:picLocks noChangeAspect="1"/>
            </p:cNvPicPr>
            <p:nvPr/>
          </p:nvPicPr>
          <p:blipFill>
            <a:blip r:embed="rId4"/>
            <a:srcRect l="-760" r="-760"/>
            <a:stretch/>
          </p:blipFill>
          <p:spPr>
            <a:xfrm>
              <a:off x="8510451" y="1380744"/>
              <a:ext cx="145975" cy="171907"/>
            </a:xfrm>
            <a:prstGeom prst="rect">
              <a:avLst/>
            </a:prstGeom>
          </p:spPr>
        </p:pic>
        <p:sp>
          <p:nvSpPr>
            <p:cNvPr id="17" name="Text 12"/>
            <p:cNvSpPr txBox="1"/>
            <p:nvPr/>
          </p:nvSpPr>
          <p:spPr>
            <a:xfrm>
              <a:off x="8727184" y="1324051"/>
              <a:ext cx="2303249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민감 데이터 업로드 금지</a:t>
              </a:r>
              <a:endParaRPr lang="en-US" sz="15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8510451" y="1686154"/>
              <a:ext cx="292298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고객의 개인정보(PII), 비밀번호, 금융 정보 등 민감한 데이터는 AI 프롬프트에 절대 입력하지 마세요.</a:t>
              </a:r>
              <a:endParaRPr lang="en-US" sz="12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4764939" y="2795321"/>
              <a:ext cx="330496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4992205" y="3004718"/>
              <a:ext cx="581275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36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4992205" y="3662172"/>
              <a:ext cx="164330" cy="171907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5226420" y="3605479"/>
              <a:ext cx="2303249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저작권 및 라이선스 확인</a:t>
              </a:r>
              <a:endParaRPr lang="en-US" sz="15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4992205" y="3967582"/>
              <a:ext cx="292298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생성된 코드의 라이선스 정책을 확인하고, 오픈소스 사용 시 저작권 침해 가능성을 검토하세요.</a:t>
              </a:r>
              <a:endParaRPr lang="en-US" sz="1200" dirty="0"/>
            </a:p>
          </p:txBody>
        </p:sp>
        <p:sp>
          <p:nvSpPr>
            <p:cNvPr id="24" name="Shape 18"/>
            <p:cNvSpPr/>
            <p:nvPr/>
          </p:nvSpPr>
          <p:spPr>
            <a:xfrm>
              <a:off x="8282310" y="2795321"/>
              <a:ext cx="330496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8510451" y="3004718"/>
              <a:ext cx="581275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04</a:t>
              </a:r>
              <a:endParaRPr lang="en-US" sz="3600" dirty="0"/>
            </a:p>
          </p:txBody>
        </p:sp>
        <p:pic>
          <p:nvPicPr>
            <p:cNvPr id="26" name="Image 4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8510451" y="3662172"/>
              <a:ext cx="164330" cy="171907"/>
            </a:xfrm>
            <a:prstGeom prst="rect">
              <a:avLst/>
            </a:prstGeom>
          </p:spPr>
        </p:pic>
        <p:sp>
          <p:nvSpPr>
            <p:cNvPr id="27" name="Text 20"/>
            <p:cNvSpPr txBox="1"/>
            <p:nvPr/>
          </p:nvSpPr>
          <p:spPr>
            <a:xfrm>
              <a:off x="8744666" y="3605479"/>
              <a:ext cx="1601348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보안 취약점 검토</a:t>
              </a:r>
              <a:endParaRPr lang="en-US" sz="1500" dirty="0"/>
            </a:p>
          </p:txBody>
        </p:sp>
        <p:sp>
          <p:nvSpPr>
            <p:cNvPr id="28" name="Text 21"/>
            <p:cNvSpPr txBox="1"/>
            <p:nvPr/>
          </p:nvSpPr>
          <p:spPr>
            <a:xfrm>
              <a:off x="8510451" y="3967582"/>
              <a:ext cx="292298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 생성 코드에는 XSS, SQL Injection 등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취약점이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있을 수 있으므로 반드시 보안 리뷰를 수행하세요.</a:t>
              </a:r>
              <a:endParaRPr lang="en-US" sz="1200" dirty="0"/>
            </a:p>
          </p:txBody>
        </p:sp>
        <p:sp>
          <p:nvSpPr>
            <p:cNvPr id="29" name="Shape 22"/>
            <p:cNvSpPr/>
            <p:nvPr/>
          </p:nvSpPr>
          <p:spPr>
            <a:xfrm>
              <a:off x="4764939" y="5076749"/>
              <a:ext cx="6819716" cy="1266444"/>
            </a:xfrm>
            <a:prstGeom prst="roundRect">
              <a:avLst>
                <a:gd name="adj" fmla="val 10857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3"/>
            <p:cNvSpPr txBox="1"/>
            <p:nvPr/>
          </p:nvSpPr>
          <p:spPr>
            <a:xfrm>
              <a:off x="4992205" y="5367528"/>
              <a:ext cx="775325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8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05</a:t>
              </a:r>
              <a:endParaRPr lang="en-US" sz="4800" dirty="0"/>
            </a:p>
          </p:txBody>
        </p:sp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7"/>
            <a:srcRect l="-1064" r="-1064"/>
            <a:stretch/>
          </p:blipFill>
          <p:spPr>
            <a:xfrm>
              <a:off x="5938853" y="5372100"/>
              <a:ext cx="209784" cy="171907"/>
            </a:xfrm>
            <a:prstGeom prst="rect">
              <a:avLst/>
            </a:prstGeom>
          </p:spPr>
        </p:pic>
        <p:sp>
          <p:nvSpPr>
            <p:cNvPr id="32" name="Text 24"/>
            <p:cNvSpPr txBox="1"/>
            <p:nvPr/>
          </p:nvSpPr>
          <p:spPr>
            <a:xfrm>
              <a:off x="6219396" y="5315407"/>
              <a:ext cx="348153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데이터 비식별화 (De-identification)</a:t>
              </a:r>
              <a:endParaRPr lang="en-US" sz="15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938853" y="5676595"/>
              <a:ext cx="5491086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테스트 데이터를 사용할 때는 실제 데이터 대신 가상의 더미 데이터를 사용하여 정보 유출 위험을 원천 차단하세요.</a:t>
              </a:r>
              <a:endParaRPr lang="en-US" sz="1200" dirty="0"/>
            </a:p>
          </p:txBody>
        </p:sp>
      </p:grpSp>
      <p:pic>
        <p:nvPicPr>
          <p:cNvPr id="36" name="Image 0" descr="preencoded.png"/>
          <p:cNvPicPr>
            <a:picLocks noChangeAspect="1"/>
          </p:cNvPicPr>
          <p:nvPr/>
        </p:nvPicPr>
        <p:blipFill>
          <a:blip r:embed="rId8"/>
          <a:srcRect t="7096" b="7096"/>
          <a:stretch/>
        </p:blipFill>
        <p:spPr>
          <a:xfrm>
            <a:off x="689900" y="3605479"/>
            <a:ext cx="3908955" cy="2659250"/>
          </a:xfrm>
          <a:prstGeom prst="rect">
            <a:avLst/>
          </a:prstGeom>
        </p:spPr>
      </p:pic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609905"/>
            <a:ext cx="1133856" cy="286207"/>
          </a:xfrm>
          <a:prstGeom prst="roundRect">
            <a:avLst>
              <a:gd name="adj" fmla="val 319489"/>
            </a:avLst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71754" y="676656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SECTION 06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123798"/>
            <a:ext cx="53721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</a:t>
            </a:r>
            <a:endParaRPr lang="en-US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057400"/>
            <a:ext cx="53721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YOUR</a:t>
            </a:r>
            <a:endParaRPr lang="en-US" sz="75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905" y="5242255"/>
            <a:ext cx="5181905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14400" y="5543549"/>
            <a:ext cx="4763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구조 설계부터 시맨틱 HTML, 스타일링, 반응형 최적화까지.</a:t>
            </a:r>
            <a:endParaRPr lang="en-US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AI와 함께 실전 포트폴리오 사이트를 단계별로 완성합니다. 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057900" y="5391302"/>
            <a:ext cx="552480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</a:t>
            </a:r>
            <a:endParaRPr lang="en-US" sz="75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 t="26299" b="26299"/>
          <a:stretch/>
        </p:blipFill>
        <p:spPr>
          <a:xfrm>
            <a:off x="5600700" y="1290262"/>
            <a:ext cx="5981395" cy="3544176"/>
          </a:xfrm>
          <a:prstGeom prst="rect">
            <a:avLst/>
          </a:prstGeom>
        </p:spPr>
      </p:pic>
      <p:sp>
        <p:nvSpPr>
          <p:cNvPr id="1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76402" y="32369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573290" y="763981"/>
            <a:ext cx="4734763" cy="119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폴더 구조 설계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프로젝트 기본 셋업 </a:t>
            </a:r>
            <a:endParaRPr lang="en-US" sz="3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26" b="-26"/>
          <a:stretch/>
        </p:blipFill>
        <p:spPr>
          <a:xfrm>
            <a:off x="1754712" y="2333897"/>
            <a:ext cx="4556455" cy="97200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20802" y="2562497"/>
            <a:ext cx="41440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"체계적인 파일 구조는 AI가 프로젝트의</a:t>
            </a:r>
            <a:endParaRPr lang="en-US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맥락을 정확히 이해하는 첫걸음입니다." 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754712" y="3610399"/>
            <a:ext cx="4638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표준화된 웹 프로젝트 구조를 준수하면 유지보수가 쉬워지고,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도구 및 AI 어시스턴트가 코드를 분석하기 훨씬 수월해집니다.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l="-3419" r="-3419"/>
          <a:stretch/>
        </p:blipFill>
        <p:spPr>
          <a:xfrm>
            <a:off x="2111785" y="4440216"/>
            <a:ext cx="228600" cy="190195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30128" r="-30128"/>
          <a:stretch/>
        </p:blipFill>
        <p:spPr>
          <a:xfrm>
            <a:off x="2010301" y="4748369"/>
            <a:ext cx="412140" cy="342900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l="-3419" r="-3419"/>
          <a:stretch/>
        </p:blipFill>
        <p:spPr>
          <a:xfrm>
            <a:off x="2111785" y="5164420"/>
            <a:ext cx="228600" cy="190195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 l="-30128" r="-30128"/>
          <a:stretch/>
        </p:blipFill>
        <p:spPr>
          <a:xfrm>
            <a:off x="2046451" y="5475025"/>
            <a:ext cx="361188" cy="300508"/>
          </a:xfrm>
          <a:prstGeom prst="rect">
            <a:avLst/>
          </a:prstGeom>
        </p:spPr>
      </p:pic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8"/>
          <a:srcRect t="-2000" b="-2000"/>
          <a:stretch/>
        </p:blipFill>
        <p:spPr>
          <a:xfrm>
            <a:off x="2111785" y="5888625"/>
            <a:ext cx="228600" cy="190195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2492175" y="4450274"/>
            <a:ext cx="523951" cy="190195"/>
          </a:xfrm>
          <a:prstGeom prst="roundRect">
            <a:avLst>
              <a:gd name="adj" fmla="val 96154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100" b="1"/>
          </a:p>
        </p:txBody>
      </p:sp>
      <p:sp>
        <p:nvSpPr>
          <p:cNvPr id="15" name="Text 7"/>
          <p:cNvSpPr txBox="1"/>
          <p:nvPr/>
        </p:nvSpPr>
        <p:spPr>
          <a:xfrm>
            <a:off x="2549782" y="4468562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35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root/</a:t>
            </a:r>
            <a:endParaRPr lang="en-US" sz="1100" b="1" dirty="0"/>
          </a:p>
        </p:txBody>
      </p:sp>
      <p:sp>
        <p:nvSpPr>
          <p:cNvPr id="16" name="Text 8"/>
          <p:cNvSpPr txBox="1"/>
          <p:nvPr/>
        </p:nvSpPr>
        <p:spPr>
          <a:xfrm>
            <a:off x="3175712" y="4448533"/>
            <a:ext cx="270936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최상위 프로젝트 폴더 (portfolio)</a:t>
            </a:r>
            <a:endParaRPr lang="en-US" sz="1100" b="1" dirty="0"/>
          </a:p>
        </p:txBody>
      </p:sp>
      <p:sp>
        <p:nvSpPr>
          <p:cNvPr id="17" name="Shape 9"/>
          <p:cNvSpPr/>
          <p:nvPr/>
        </p:nvSpPr>
        <p:spPr>
          <a:xfrm>
            <a:off x="2492175" y="4811462"/>
            <a:ext cx="923544" cy="190195"/>
          </a:xfrm>
          <a:prstGeom prst="roundRect">
            <a:avLst>
              <a:gd name="adj" fmla="val 96154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100" b="1"/>
          </a:p>
        </p:txBody>
      </p:sp>
      <p:sp>
        <p:nvSpPr>
          <p:cNvPr id="18" name="Text 10"/>
          <p:cNvSpPr txBox="1"/>
          <p:nvPr/>
        </p:nvSpPr>
        <p:spPr>
          <a:xfrm>
            <a:off x="2549782" y="4830664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35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100" b="1" dirty="0"/>
          </a:p>
        </p:txBody>
      </p:sp>
      <p:sp>
        <p:nvSpPr>
          <p:cNvPr id="19" name="Text 11"/>
          <p:cNvSpPr txBox="1"/>
          <p:nvPr/>
        </p:nvSpPr>
        <p:spPr>
          <a:xfrm>
            <a:off x="3575305" y="4809721"/>
            <a:ext cx="149321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메인 진입 페이지</a:t>
            </a:r>
            <a:endParaRPr lang="en-US" sz="1100" b="1" dirty="0"/>
          </a:p>
        </p:txBody>
      </p:sp>
      <p:sp>
        <p:nvSpPr>
          <p:cNvPr id="20" name="Shape 12"/>
          <p:cNvSpPr/>
          <p:nvPr/>
        </p:nvSpPr>
        <p:spPr>
          <a:xfrm>
            <a:off x="2492175" y="5173564"/>
            <a:ext cx="676656" cy="190195"/>
          </a:xfrm>
          <a:prstGeom prst="roundRect">
            <a:avLst>
              <a:gd name="adj" fmla="val 96154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100" b="1"/>
          </a:p>
        </p:txBody>
      </p:sp>
      <p:sp>
        <p:nvSpPr>
          <p:cNvPr id="21" name="Text 13"/>
          <p:cNvSpPr txBox="1"/>
          <p:nvPr/>
        </p:nvSpPr>
        <p:spPr>
          <a:xfrm>
            <a:off x="2549782" y="5192767"/>
            <a:ext cx="6382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35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</a:t>
            </a:r>
            <a:endParaRPr lang="en-US" sz="1100" b="1" dirty="0"/>
          </a:p>
        </p:txBody>
      </p:sp>
      <p:sp>
        <p:nvSpPr>
          <p:cNvPr id="22" name="Text 14"/>
          <p:cNvSpPr txBox="1"/>
          <p:nvPr/>
        </p:nvSpPr>
        <p:spPr>
          <a:xfrm>
            <a:off x="3335732" y="5171823"/>
            <a:ext cx="323057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이미지(img), 스타일(css), 스크립트(js)</a:t>
            </a:r>
            <a:endParaRPr lang="en-US" sz="1100" b="1" dirty="0"/>
          </a:p>
        </p:txBody>
      </p:sp>
      <p:sp>
        <p:nvSpPr>
          <p:cNvPr id="23" name="Shape 15"/>
          <p:cNvSpPr/>
          <p:nvPr/>
        </p:nvSpPr>
        <p:spPr>
          <a:xfrm>
            <a:off x="2492175" y="5535667"/>
            <a:ext cx="838505" cy="190195"/>
          </a:xfrm>
          <a:prstGeom prst="roundRect">
            <a:avLst>
              <a:gd name="adj" fmla="val 96154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100" b="1"/>
          </a:p>
        </p:txBody>
      </p:sp>
      <p:sp>
        <p:nvSpPr>
          <p:cNvPr id="24" name="Text 16"/>
          <p:cNvSpPr txBox="1"/>
          <p:nvPr/>
        </p:nvSpPr>
        <p:spPr>
          <a:xfrm>
            <a:off x="2549782" y="5554869"/>
            <a:ext cx="8001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35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100" b="1" dirty="0"/>
          </a:p>
        </p:txBody>
      </p:sp>
      <p:sp>
        <p:nvSpPr>
          <p:cNvPr id="25" name="Text 17"/>
          <p:cNvSpPr txBox="1"/>
          <p:nvPr/>
        </p:nvSpPr>
        <p:spPr>
          <a:xfrm>
            <a:off x="3495752" y="5533926"/>
            <a:ext cx="247528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프로젝트 설명 및 배포 가이드</a:t>
            </a:r>
            <a:endParaRPr lang="en-US" sz="1100" b="1" dirty="0"/>
          </a:p>
        </p:txBody>
      </p:sp>
      <p:sp>
        <p:nvSpPr>
          <p:cNvPr id="26" name="Shape 18"/>
          <p:cNvSpPr/>
          <p:nvPr/>
        </p:nvSpPr>
        <p:spPr>
          <a:xfrm>
            <a:off x="2492175" y="5897769"/>
            <a:ext cx="923544" cy="190195"/>
          </a:xfrm>
          <a:prstGeom prst="roundRect">
            <a:avLst>
              <a:gd name="adj" fmla="val 96154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100" b="1"/>
          </a:p>
        </p:txBody>
      </p:sp>
      <p:sp>
        <p:nvSpPr>
          <p:cNvPr id="27" name="Text 19"/>
          <p:cNvSpPr txBox="1"/>
          <p:nvPr/>
        </p:nvSpPr>
        <p:spPr>
          <a:xfrm>
            <a:off x="2549782" y="5916972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35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</a:t>
            </a:r>
            <a:endParaRPr lang="en-US" sz="1100" b="1" dirty="0"/>
          </a:p>
        </p:txBody>
      </p:sp>
      <p:sp>
        <p:nvSpPr>
          <p:cNvPr id="28" name="Text 20"/>
          <p:cNvSpPr txBox="1"/>
          <p:nvPr/>
        </p:nvSpPr>
        <p:spPr>
          <a:xfrm>
            <a:off x="3575305" y="5896028"/>
            <a:ext cx="215798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버전 관리 제외 파일 설정</a:t>
            </a:r>
            <a:endParaRPr lang="en-US" sz="1100" b="1" dirty="0"/>
          </a:p>
        </p:txBody>
      </p:sp>
      <p:sp>
        <p:nvSpPr>
          <p:cNvPr id="29" name="Text 21"/>
          <p:cNvSpPr txBox="1"/>
          <p:nvPr/>
        </p:nvSpPr>
        <p:spPr>
          <a:xfrm>
            <a:off x="8822871" y="1382461"/>
            <a:ext cx="24765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STRUCTURE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8060566" y="1706159"/>
            <a:ext cx="3238805" cy="4381805"/>
          </a:xfrm>
          <a:prstGeom prst="roundRect">
            <a:avLst>
              <a:gd name="adj" fmla="val 1993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rcRect l="25486" r="25486"/>
          <a:stretch/>
        </p:blipFill>
        <p:spPr>
          <a:xfrm>
            <a:off x="7482688" y="1744564"/>
            <a:ext cx="3777363" cy="4304995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9644307" y="5020859"/>
            <a:ext cx="1809598" cy="457200"/>
          </a:xfrm>
          <a:prstGeom prst="roundRect">
            <a:avLst>
              <a:gd name="adj" fmla="val 125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9872907" y="5163505"/>
            <a:ext cx="16102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Architecture</a:t>
            </a:r>
            <a:endParaRPr lang="en-US" sz="12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3267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STRUCTURE PROMPT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47823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기본 구조 생성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6"/>
            <a:ext cx="3715207" cy="3285004"/>
          </a:xfrm>
          <a:prstGeom prst="roundRect">
            <a:avLst>
              <a:gd name="adj" fmla="val 1358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47649" y="2617013"/>
            <a:ext cx="3230575" cy="21351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915107" cy="174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"포트폴리오 웹사이트를 위한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시맨틱한 HTML5 기본 골격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생성해줘.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header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2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main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2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footer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구조를 명확히 나누고, 검색 엔진 최적화(SEO)와 접근성(Accessibility)을 고려해 필요한 메타 태그와 속성을 모두 포함해줘."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09905" y="5169582"/>
            <a:ext cx="3715207" cy="1231217"/>
          </a:xfrm>
          <a:prstGeom prst="roundRect">
            <a:avLst>
              <a:gd name="adj" fmla="val 816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9905" y="5169582"/>
            <a:ext cx="38405" cy="1231217"/>
          </a:xfrm>
          <a:prstGeom prst="roundRect">
            <a:avLst>
              <a:gd name="adj" fmla="val 1963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347891"/>
            <a:ext cx="105156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1151" y="5341490"/>
            <a:ext cx="10387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100" dirty="0"/>
          </a:p>
        </p:txBody>
      </p:sp>
      <p:sp>
        <p:nvSpPr>
          <p:cNvPr id="17" name="Text 11"/>
          <p:cNvSpPr txBox="1"/>
          <p:nvPr/>
        </p:nvSpPr>
        <p:spPr>
          <a:xfrm>
            <a:off x="847649" y="5666103"/>
            <a:ext cx="33723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DOCTYPE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선언, </a:t>
            </a: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lang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속성, 그리고 반응형을 위한 </a:t>
            </a: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viewport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메타 태그가 포함되었는지 확인하세요.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45075" y="1684325"/>
            <a:ext cx="2449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(INDEX.HTML)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5778" y="2141525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4830775" y="2545690"/>
            <a:ext cx="669615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&lt;!DOCTYPE html&gt;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&lt;html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lang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"ko"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&lt;head&gt;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4983480" y="2974543"/>
            <a:ext cx="654436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&lt;meta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charset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"UTF-8"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&lt;meta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name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"viewport"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content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"width=device-width, initial-scale=1.0"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&lt;title&gt;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My Portfolio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&lt;/title&gt;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&lt;link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rel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"stylesheet"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"./style.css"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/&gt;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4830775" y="3546043"/>
            <a:ext cx="66961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&lt;/head&gt;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&lt;body&gt;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4983480" y="3832250"/>
            <a:ext cx="654436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Header: 로고 및 내비게이션 --&gt;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&lt;header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"site-header"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900" dirty="0"/>
          </a:p>
        </p:txBody>
      </p:sp>
      <p:sp>
        <p:nvSpPr>
          <p:cNvPr id="30" name="Text 22"/>
          <p:cNvSpPr txBox="1"/>
          <p:nvPr/>
        </p:nvSpPr>
        <p:spPr>
          <a:xfrm>
            <a:off x="5136185" y="4117543"/>
            <a:ext cx="64300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&lt;nav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aria-label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"메인 내비게이션"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Nav Links --&gt;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&lt;/nav&gt;</a:t>
            </a:r>
            <a:endParaRPr lang="en-US" sz="900" dirty="0"/>
          </a:p>
        </p:txBody>
      </p:sp>
      <p:sp>
        <p:nvSpPr>
          <p:cNvPr id="31" name="Text 23"/>
          <p:cNvSpPr txBox="1"/>
          <p:nvPr/>
        </p:nvSpPr>
        <p:spPr>
          <a:xfrm>
            <a:off x="4983480" y="4260190"/>
            <a:ext cx="654436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&lt;/header&gt;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Main: 주요 콘텐츠 영역 --&gt;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&lt;main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id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"main-content"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5136185" y="4831690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&lt;section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id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"hero"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Hero Section --&gt;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&lt;/section&gt;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&lt;section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id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"projects"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Projects List --&gt;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&lt;/section&gt;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4983480" y="5117897"/>
            <a:ext cx="654436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&lt;/main&gt;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Footer: 저작권 및 소셜 링크 --&gt;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&lt;footer</a:t>
            </a:r>
            <a:r>
              <a:rPr lang="en-US" sz="9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r>
              <a:rPr lang="en-US" sz="9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"site-footer"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5136185" y="5689397"/>
            <a:ext cx="64300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&lt;p&gt;</a:t>
            </a:r>
            <a:r>
              <a:rPr lang="en-US" sz="9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© 2026 My Portfolio. All rights reserved.</a:t>
            </a: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&lt;/p&gt;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4983480" y="5832043"/>
            <a:ext cx="658185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&lt;/footer&gt;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4830775" y="5974690"/>
            <a:ext cx="66961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&lt;/body&gt;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&lt;/html&gt;</a:t>
            </a:r>
            <a:endParaRPr lang="en-US" sz="9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323240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2: HTML STRUCTURE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11144707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</a:t>
            </a:r>
            <a:r>
              <a:rPr lang="en-US" sz="3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index.html 골격 </a:t>
            </a:r>
            <a:r>
              <a:rPr lang="en-US" sz="3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</a:t>
            </a:r>
            <a:r>
              <a:rPr lang="en-US" sz="3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3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Part 1 : HEAD &amp; MAIN 구조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08077" y="2031621"/>
            <a:ext cx="3715207" cy="3271723"/>
          </a:xfrm>
          <a:prstGeom prst="roundRect">
            <a:avLst>
              <a:gd name="adj" fmla="val 132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5821" y="2302283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4421" y="2269365"/>
            <a:ext cx="1448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PREVIOUS PROMPT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767895" y="2224581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62992" y="2310535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852680" y="2669784"/>
            <a:ext cx="3230575" cy="245150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2933" y="2870037"/>
            <a:ext cx="29151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"시맨틱 태그(header, nav, main, footer 기능)를 사용하여 포트폴리오의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HTML 기본 골격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만들어줘.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웹 접근성을 고려한 ARIA 랜드마크 역할과 메타 태그 설정을 포함해야 해."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1052933" y="4333077"/>
            <a:ext cx="2838298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97068" y="4645584"/>
            <a:ext cx="133502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5522" y="4631867"/>
            <a:ext cx="8055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 안내</a:t>
            </a:r>
            <a:endParaRPr lang="en-US" sz="1000" dirty="0"/>
          </a:p>
        </p:txBody>
      </p:sp>
      <p:sp>
        <p:nvSpPr>
          <p:cNvPr id="16" name="Text 10"/>
          <p:cNvSpPr txBox="1"/>
          <p:nvPr/>
        </p:nvSpPr>
        <p:spPr>
          <a:xfrm>
            <a:off x="1020930" y="4822977"/>
            <a:ext cx="31309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2에서 FOOTER와 닫는 태그를 완성합니다.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08077" y="5410936"/>
            <a:ext cx="3715207" cy="1123798"/>
          </a:xfrm>
          <a:prstGeom prst="roundRect">
            <a:avLst>
              <a:gd name="adj" fmla="val 551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2"/>
          <p:cNvSpPr/>
          <p:nvPr/>
        </p:nvSpPr>
        <p:spPr>
          <a:xfrm>
            <a:off x="608077" y="5410936"/>
            <a:ext cx="38405" cy="1123798"/>
          </a:xfrm>
          <a:prstGeom prst="roundRect">
            <a:avLst>
              <a:gd name="adj" fmla="val 16142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36677" y="5589244"/>
            <a:ext cx="133502" cy="13350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07670" y="5581928"/>
            <a:ext cx="10387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836677" y="5747040"/>
            <a:ext cx="3372307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lang="ko"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속성과 viewport 메타 태그가 포함되었는지 확인하세요. 이는 검색엔진 최적화(SEO)와 모바일 반응형 디자인의 필수 시작점입니다.</a:t>
            </a:r>
            <a:endParaRPr lang="en-US" sz="11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4695445" y="2064539"/>
            <a:ext cx="171907" cy="13350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943247" y="2031621"/>
            <a:ext cx="36073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SKELETON (INDEX.HTML - PART 1)</a:t>
            </a:r>
            <a:endParaRPr lang="en-US" sz="1000" dirty="0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9"/>
          <a:srcRect t="-6" b="-6"/>
          <a:stretch/>
        </p:blipFill>
        <p:spPr>
          <a:xfrm>
            <a:off x="4695445" y="2345260"/>
            <a:ext cx="6884518" cy="4189474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695445" y="2345260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7"/>
          <p:cNvSpPr/>
          <p:nvPr/>
        </p:nvSpPr>
        <p:spPr>
          <a:xfrm>
            <a:off x="4848150" y="2495222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8"/>
          <p:cNvSpPr/>
          <p:nvPr/>
        </p:nvSpPr>
        <p:spPr>
          <a:xfrm>
            <a:off x="5038345" y="2495222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9"/>
          <p:cNvSpPr/>
          <p:nvPr/>
        </p:nvSpPr>
        <p:spPr>
          <a:xfrm>
            <a:off x="5229454" y="2495222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0"/>
          <p:cNvSpPr txBox="1"/>
          <p:nvPr/>
        </p:nvSpPr>
        <p:spPr>
          <a:xfrm>
            <a:off x="5533950" y="2488821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8B23EF75-1428-E812-E314-1FA2D6694A14}"/>
              </a:ext>
            </a:extLst>
          </p:cNvPr>
          <p:cNvGrpSpPr/>
          <p:nvPr/>
        </p:nvGrpSpPr>
        <p:grpSpPr>
          <a:xfrm>
            <a:off x="5076140" y="2919090"/>
            <a:ext cx="6024110" cy="3425554"/>
            <a:chOff x="4828947" y="2903044"/>
            <a:chExt cx="4456786" cy="2828239"/>
          </a:xfrm>
        </p:grpSpPr>
        <p:sp>
          <p:nvSpPr>
            <p:cNvPr id="30" name="Text 21"/>
            <p:cNvSpPr txBox="1"/>
            <p:nvPr/>
          </p:nvSpPr>
          <p:spPr>
            <a:xfrm>
              <a:off x="4828947" y="2903044"/>
              <a:ext cx="10296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80808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&lt;!DOCTYPE html&gt;</a:t>
              </a:r>
              <a:endParaRPr lang="en-US" sz="1200" dirty="0"/>
            </a:p>
          </p:txBody>
        </p:sp>
        <p:sp>
          <p:nvSpPr>
            <p:cNvPr id="31" name="Text 22"/>
            <p:cNvSpPr txBox="1"/>
            <p:nvPr/>
          </p:nvSpPr>
          <p:spPr>
            <a:xfrm>
              <a:off x="4828947" y="3045690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&lt;html</a:t>
              </a:r>
              <a:endParaRPr lang="en-US" sz="1200" dirty="0"/>
            </a:p>
          </p:txBody>
        </p:sp>
        <p:sp>
          <p:nvSpPr>
            <p:cNvPr id="32" name="Text 23"/>
            <p:cNvSpPr txBox="1"/>
            <p:nvPr/>
          </p:nvSpPr>
          <p:spPr>
            <a:xfrm>
              <a:off x="5115154" y="3045690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lang</a:t>
              </a:r>
              <a:endParaRPr lang="en-US" sz="1200" dirty="0"/>
            </a:p>
          </p:txBody>
        </p:sp>
        <p:sp>
          <p:nvSpPr>
            <p:cNvPr id="33" name="Text 24"/>
            <p:cNvSpPr txBox="1"/>
            <p:nvPr/>
          </p:nvSpPr>
          <p:spPr>
            <a:xfrm>
              <a:off x="5343754" y="3045690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34" name="Text 25"/>
            <p:cNvSpPr txBox="1"/>
            <p:nvPr/>
          </p:nvSpPr>
          <p:spPr>
            <a:xfrm>
              <a:off x="5401362" y="3045690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"ko"</a:t>
              </a:r>
              <a:endParaRPr lang="en-US" sz="1200" dirty="0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5629962" y="3045690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36" name="Text 27"/>
            <p:cNvSpPr txBox="1"/>
            <p:nvPr/>
          </p:nvSpPr>
          <p:spPr>
            <a:xfrm>
              <a:off x="4828947" y="3188337"/>
              <a:ext cx="4288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&lt;head&gt;</a:t>
              </a:r>
              <a:endParaRPr lang="en-US" sz="1200" dirty="0"/>
            </a:p>
          </p:txBody>
        </p:sp>
        <p:sp>
          <p:nvSpPr>
            <p:cNvPr id="37" name="Text 28"/>
            <p:cNvSpPr txBox="1"/>
            <p:nvPr/>
          </p:nvSpPr>
          <p:spPr>
            <a:xfrm>
              <a:off x="5020057" y="3330983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&lt;meta</a:t>
              </a:r>
              <a:endParaRPr lang="en-US" sz="1200" dirty="0"/>
            </a:p>
          </p:txBody>
        </p:sp>
        <p:sp>
          <p:nvSpPr>
            <p:cNvPr id="38" name="Text 29"/>
            <p:cNvSpPr txBox="1"/>
            <p:nvPr/>
          </p:nvSpPr>
          <p:spPr>
            <a:xfrm>
              <a:off x="5305350" y="3330983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charset</a:t>
              </a:r>
              <a:endParaRPr lang="en-US" sz="1200" dirty="0"/>
            </a:p>
          </p:txBody>
        </p:sp>
        <p:sp>
          <p:nvSpPr>
            <p:cNvPr id="39" name="Text 30"/>
            <p:cNvSpPr txBox="1"/>
            <p:nvPr/>
          </p:nvSpPr>
          <p:spPr>
            <a:xfrm>
              <a:off x="5705857" y="3330983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40" name="Text 31"/>
            <p:cNvSpPr txBox="1"/>
            <p:nvPr/>
          </p:nvSpPr>
          <p:spPr>
            <a:xfrm>
              <a:off x="5763464" y="3330983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"UTF-8"</a:t>
              </a:r>
              <a:endParaRPr lang="en-US" sz="1200" dirty="0"/>
            </a:p>
          </p:txBody>
        </p:sp>
        <p:sp>
          <p:nvSpPr>
            <p:cNvPr id="41" name="Text 32"/>
            <p:cNvSpPr txBox="1"/>
            <p:nvPr/>
          </p:nvSpPr>
          <p:spPr>
            <a:xfrm>
              <a:off x="6163057" y="3330983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/&gt;</a:t>
              </a:r>
              <a:endParaRPr lang="en-US" sz="1200" dirty="0"/>
            </a:p>
          </p:txBody>
        </p:sp>
        <p:sp>
          <p:nvSpPr>
            <p:cNvPr id="42" name="Text 33"/>
            <p:cNvSpPr txBox="1"/>
            <p:nvPr/>
          </p:nvSpPr>
          <p:spPr>
            <a:xfrm>
              <a:off x="5020057" y="3474544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&lt;meta</a:t>
              </a:r>
              <a:endParaRPr lang="en-US" sz="1200" dirty="0"/>
            </a:p>
          </p:txBody>
        </p:sp>
        <p:sp>
          <p:nvSpPr>
            <p:cNvPr id="43" name="Text 34"/>
            <p:cNvSpPr txBox="1"/>
            <p:nvPr/>
          </p:nvSpPr>
          <p:spPr>
            <a:xfrm>
              <a:off x="5305350" y="3474544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name</a:t>
              </a:r>
              <a:endParaRPr lang="en-US" sz="1200" dirty="0"/>
            </a:p>
          </p:txBody>
        </p:sp>
        <p:sp>
          <p:nvSpPr>
            <p:cNvPr id="44" name="Text 35"/>
            <p:cNvSpPr txBox="1"/>
            <p:nvPr/>
          </p:nvSpPr>
          <p:spPr>
            <a:xfrm>
              <a:off x="5533950" y="347454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45" name="Text 36"/>
            <p:cNvSpPr txBox="1"/>
            <p:nvPr/>
          </p:nvSpPr>
          <p:spPr>
            <a:xfrm>
              <a:off x="5591557" y="3474544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"viewport"</a:t>
              </a:r>
              <a:endParaRPr lang="en-US" sz="1200" dirty="0"/>
            </a:p>
          </p:txBody>
        </p:sp>
        <p:sp>
          <p:nvSpPr>
            <p:cNvPr id="46" name="Text 37"/>
            <p:cNvSpPr txBox="1"/>
            <p:nvPr/>
          </p:nvSpPr>
          <p:spPr>
            <a:xfrm>
              <a:off x="6163057" y="3474544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content</a:t>
              </a:r>
              <a:endParaRPr lang="en-US" sz="1200" dirty="0"/>
            </a:p>
          </p:txBody>
        </p:sp>
        <p:sp>
          <p:nvSpPr>
            <p:cNvPr id="47" name="Text 38"/>
            <p:cNvSpPr txBox="1"/>
            <p:nvPr/>
          </p:nvSpPr>
          <p:spPr>
            <a:xfrm>
              <a:off x="6563564" y="347454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48" name="Text 39"/>
            <p:cNvSpPr txBox="1"/>
            <p:nvPr/>
          </p:nvSpPr>
          <p:spPr>
            <a:xfrm>
              <a:off x="6621171" y="3474544"/>
              <a:ext cx="2664562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"width=device-width, initial-scale=1.0"</a:t>
              </a:r>
              <a:endParaRPr lang="en-US" sz="1200" dirty="0"/>
            </a:p>
          </p:txBody>
        </p:sp>
        <p:sp>
          <p:nvSpPr>
            <p:cNvPr id="49" name="Text 40"/>
            <p:cNvSpPr txBox="1"/>
            <p:nvPr/>
          </p:nvSpPr>
          <p:spPr>
            <a:xfrm>
              <a:off x="8849564" y="3474544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/&gt;</a:t>
              </a:r>
              <a:endParaRPr lang="en-US" sz="1200" dirty="0"/>
            </a:p>
          </p:txBody>
        </p:sp>
        <p:sp>
          <p:nvSpPr>
            <p:cNvPr id="50" name="Text 41"/>
            <p:cNvSpPr txBox="1"/>
            <p:nvPr/>
          </p:nvSpPr>
          <p:spPr>
            <a:xfrm>
              <a:off x="5020057" y="3617190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&lt;title&gt;</a:t>
              </a:r>
              <a:endParaRPr lang="en-US" sz="1200" dirty="0"/>
            </a:p>
          </p:txBody>
        </p:sp>
        <p:sp>
          <p:nvSpPr>
            <p:cNvPr id="51" name="Text 42"/>
            <p:cNvSpPr txBox="1"/>
            <p:nvPr/>
          </p:nvSpPr>
          <p:spPr>
            <a:xfrm>
              <a:off x="5419650" y="3617190"/>
              <a:ext cx="10296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My AI Portfolio</a:t>
              </a:r>
              <a:endParaRPr lang="en-US" sz="1200" dirty="0"/>
            </a:p>
          </p:txBody>
        </p:sp>
        <p:sp>
          <p:nvSpPr>
            <p:cNvPr id="52" name="Text 43"/>
            <p:cNvSpPr txBox="1"/>
            <p:nvPr/>
          </p:nvSpPr>
          <p:spPr>
            <a:xfrm>
              <a:off x="6277357" y="3617190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&lt;/title&gt;</a:t>
              </a:r>
              <a:endParaRPr lang="en-US" sz="1200" dirty="0"/>
            </a:p>
          </p:txBody>
        </p:sp>
        <p:sp>
          <p:nvSpPr>
            <p:cNvPr id="53" name="Text 44"/>
            <p:cNvSpPr txBox="1"/>
            <p:nvPr/>
          </p:nvSpPr>
          <p:spPr>
            <a:xfrm>
              <a:off x="5020057" y="3759837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&lt;link</a:t>
              </a:r>
              <a:endParaRPr lang="en-US" sz="1200" dirty="0"/>
            </a:p>
          </p:txBody>
        </p:sp>
        <p:sp>
          <p:nvSpPr>
            <p:cNvPr id="54" name="Text 45"/>
            <p:cNvSpPr txBox="1"/>
            <p:nvPr/>
          </p:nvSpPr>
          <p:spPr>
            <a:xfrm>
              <a:off x="5305350" y="3759837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rel</a:t>
              </a:r>
              <a:endParaRPr lang="en-US" sz="1200" dirty="0"/>
            </a:p>
          </p:txBody>
        </p:sp>
        <p:sp>
          <p:nvSpPr>
            <p:cNvPr id="55" name="Text 46"/>
            <p:cNvSpPr txBox="1"/>
            <p:nvPr/>
          </p:nvSpPr>
          <p:spPr>
            <a:xfrm>
              <a:off x="5477257" y="3759837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56" name="Text 47"/>
            <p:cNvSpPr txBox="1"/>
            <p:nvPr/>
          </p:nvSpPr>
          <p:spPr>
            <a:xfrm>
              <a:off x="5534864" y="3759837"/>
              <a:ext cx="82387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"stylesheet"</a:t>
              </a:r>
              <a:endParaRPr lang="en-US" sz="1200" dirty="0"/>
            </a:p>
          </p:txBody>
        </p:sp>
        <p:sp>
          <p:nvSpPr>
            <p:cNvPr id="57" name="Text 48"/>
            <p:cNvSpPr txBox="1"/>
            <p:nvPr/>
          </p:nvSpPr>
          <p:spPr>
            <a:xfrm>
              <a:off x="6220664" y="3759837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href</a:t>
              </a:r>
              <a:endParaRPr lang="en-US" sz="1200" dirty="0"/>
            </a:p>
          </p:txBody>
        </p:sp>
        <p:sp>
          <p:nvSpPr>
            <p:cNvPr id="58" name="Text 49"/>
            <p:cNvSpPr txBox="1"/>
            <p:nvPr/>
          </p:nvSpPr>
          <p:spPr>
            <a:xfrm>
              <a:off x="6449264" y="3759837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59" name="Text 50"/>
            <p:cNvSpPr txBox="1"/>
            <p:nvPr/>
          </p:nvSpPr>
          <p:spPr>
            <a:xfrm>
              <a:off x="6506871" y="3759837"/>
              <a:ext cx="8924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"./style.css"</a:t>
              </a:r>
              <a:endParaRPr lang="en-US" sz="1200" dirty="0"/>
            </a:p>
          </p:txBody>
        </p:sp>
        <p:sp>
          <p:nvSpPr>
            <p:cNvPr id="60" name="Text 51"/>
            <p:cNvSpPr txBox="1"/>
            <p:nvPr/>
          </p:nvSpPr>
          <p:spPr>
            <a:xfrm>
              <a:off x="7249364" y="3759837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/&gt;</a:t>
              </a:r>
              <a:endParaRPr lang="en-US" sz="1200" dirty="0"/>
            </a:p>
          </p:txBody>
        </p:sp>
        <p:sp>
          <p:nvSpPr>
            <p:cNvPr id="61" name="Text 52"/>
            <p:cNvSpPr txBox="1"/>
            <p:nvPr/>
          </p:nvSpPr>
          <p:spPr>
            <a:xfrm>
              <a:off x="4828947" y="3902483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&lt;/head&gt;</a:t>
              </a:r>
              <a:endParaRPr lang="en-US" sz="1200" dirty="0"/>
            </a:p>
          </p:txBody>
        </p:sp>
        <p:sp>
          <p:nvSpPr>
            <p:cNvPr id="62" name="Text 53"/>
            <p:cNvSpPr txBox="1"/>
            <p:nvPr/>
          </p:nvSpPr>
          <p:spPr>
            <a:xfrm>
              <a:off x="4828947" y="4046044"/>
              <a:ext cx="4288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&lt;body&gt;</a:t>
              </a:r>
              <a:endParaRPr lang="en-US" sz="1200" dirty="0"/>
            </a:p>
          </p:txBody>
        </p:sp>
        <p:sp>
          <p:nvSpPr>
            <p:cNvPr id="63" name="Text 54"/>
            <p:cNvSpPr txBox="1"/>
            <p:nvPr/>
          </p:nvSpPr>
          <p:spPr>
            <a:xfrm>
              <a:off x="5020057" y="4188690"/>
              <a:ext cx="200985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Header: 네비게이션 포함 --&gt;</a:t>
              </a:r>
              <a:endParaRPr lang="en-US" sz="1200" dirty="0"/>
            </a:p>
          </p:txBody>
        </p:sp>
        <p:sp>
          <p:nvSpPr>
            <p:cNvPr id="64" name="Text 55"/>
            <p:cNvSpPr txBox="1"/>
            <p:nvPr/>
          </p:nvSpPr>
          <p:spPr>
            <a:xfrm>
              <a:off x="5020057" y="4331337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&lt;header</a:t>
              </a:r>
              <a:endParaRPr lang="en-US" sz="1200" dirty="0"/>
            </a:p>
          </p:txBody>
        </p:sp>
        <p:sp>
          <p:nvSpPr>
            <p:cNvPr id="65" name="Text 56"/>
            <p:cNvSpPr txBox="1"/>
            <p:nvPr/>
          </p:nvSpPr>
          <p:spPr>
            <a:xfrm>
              <a:off x="5419650" y="4331337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200" dirty="0"/>
            </a:p>
          </p:txBody>
        </p:sp>
        <p:sp>
          <p:nvSpPr>
            <p:cNvPr id="66" name="Text 57"/>
            <p:cNvSpPr txBox="1"/>
            <p:nvPr/>
          </p:nvSpPr>
          <p:spPr>
            <a:xfrm>
              <a:off x="5705857" y="4331337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67" name="Text 58"/>
            <p:cNvSpPr txBox="1"/>
            <p:nvPr/>
          </p:nvSpPr>
          <p:spPr>
            <a:xfrm>
              <a:off x="5763464" y="4331337"/>
              <a:ext cx="8924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"site-header"</a:t>
              </a:r>
              <a:endParaRPr lang="en-US" sz="1200" dirty="0"/>
            </a:p>
          </p:txBody>
        </p:sp>
        <p:sp>
          <p:nvSpPr>
            <p:cNvPr id="68" name="Text 59"/>
            <p:cNvSpPr txBox="1"/>
            <p:nvPr/>
          </p:nvSpPr>
          <p:spPr>
            <a:xfrm>
              <a:off x="6505957" y="4331337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69" name="Text 60"/>
            <p:cNvSpPr txBox="1"/>
            <p:nvPr/>
          </p:nvSpPr>
          <p:spPr>
            <a:xfrm>
              <a:off x="5210252" y="4473983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&lt;nav</a:t>
              </a:r>
              <a:endParaRPr lang="en-US" sz="1200" dirty="0"/>
            </a:p>
          </p:txBody>
        </p:sp>
        <p:sp>
          <p:nvSpPr>
            <p:cNvPr id="70" name="Text 61"/>
            <p:cNvSpPr txBox="1"/>
            <p:nvPr/>
          </p:nvSpPr>
          <p:spPr>
            <a:xfrm>
              <a:off x="5438852" y="4473983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</a:t>
              </a:r>
              <a:endParaRPr lang="en-US" sz="1200" dirty="0"/>
            </a:p>
          </p:txBody>
        </p:sp>
        <p:sp>
          <p:nvSpPr>
            <p:cNvPr id="71" name="Text 62"/>
            <p:cNvSpPr txBox="1"/>
            <p:nvPr/>
          </p:nvSpPr>
          <p:spPr>
            <a:xfrm>
              <a:off x="6010352" y="4473983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72" name="Text 63"/>
            <p:cNvSpPr txBox="1"/>
            <p:nvPr/>
          </p:nvSpPr>
          <p:spPr>
            <a:xfrm>
              <a:off x="6067959" y="4473983"/>
              <a:ext cx="116677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"Main Navigation"</a:t>
              </a:r>
              <a:endParaRPr lang="en-US" sz="1200" dirty="0"/>
            </a:p>
          </p:txBody>
        </p:sp>
        <p:sp>
          <p:nvSpPr>
            <p:cNvPr id="73" name="Text 64"/>
            <p:cNvSpPr txBox="1"/>
            <p:nvPr/>
          </p:nvSpPr>
          <p:spPr>
            <a:xfrm>
              <a:off x="7039966" y="4473983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74" name="Text 65"/>
            <p:cNvSpPr txBox="1"/>
            <p:nvPr/>
          </p:nvSpPr>
          <p:spPr>
            <a:xfrm>
              <a:off x="7096659" y="4473983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...</a:t>
              </a:r>
              <a:endParaRPr lang="en-US" sz="1200" dirty="0"/>
            </a:p>
          </p:txBody>
        </p:sp>
        <p:sp>
          <p:nvSpPr>
            <p:cNvPr id="75" name="Text 66"/>
            <p:cNvSpPr txBox="1"/>
            <p:nvPr/>
          </p:nvSpPr>
          <p:spPr>
            <a:xfrm>
              <a:off x="7268566" y="4473983"/>
              <a:ext cx="4288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&lt;/nav&gt;</a:t>
              </a:r>
              <a:endParaRPr lang="en-US" sz="1200" dirty="0"/>
            </a:p>
          </p:txBody>
        </p:sp>
        <p:sp>
          <p:nvSpPr>
            <p:cNvPr id="76" name="Text 67"/>
            <p:cNvSpPr txBox="1"/>
            <p:nvPr/>
          </p:nvSpPr>
          <p:spPr>
            <a:xfrm>
              <a:off x="5020057" y="4617544"/>
              <a:ext cx="6181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&lt;/header&gt;</a:t>
              </a:r>
              <a:endParaRPr lang="en-US" sz="1200" dirty="0"/>
            </a:p>
          </p:txBody>
        </p:sp>
        <p:sp>
          <p:nvSpPr>
            <p:cNvPr id="77" name="Text 68"/>
            <p:cNvSpPr txBox="1"/>
            <p:nvPr/>
          </p:nvSpPr>
          <p:spPr>
            <a:xfrm>
              <a:off x="5020057" y="4902837"/>
              <a:ext cx="194127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Main: 주요 콘텐츠 영역 --&gt;</a:t>
              </a:r>
              <a:endParaRPr lang="en-US" sz="1200" dirty="0"/>
            </a:p>
          </p:txBody>
        </p:sp>
        <p:sp>
          <p:nvSpPr>
            <p:cNvPr id="78" name="Text 69"/>
            <p:cNvSpPr txBox="1"/>
            <p:nvPr/>
          </p:nvSpPr>
          <p:spPr>
            <a:xfrm>
              <a:off x="5020057" y="5045483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&lt;main</a:t>
              </a:r>
              <a:endParaRPr lang="en-US" sz="1200" dirty="0"/>
            </a:p>
          </p:txBody>
        </p:sp>
        <p:sp>
          <p:nvSpPr>
            <p:cNvPr id="79" name="Text 70"/>
            <p:cNvSpPr txBox="1"/>
            <p:nvPr/>
          </p:nvSpPr>
          <p:spPr>
            <a:xfrm>
              <a:off x="5305350" y="5045483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200" dirty="0"/>
            </a:p>
          </p:txBody>
        </p:sp>
        <p:sp>
          <p:nvSpPr>
            <p:cNvPr id="80" name="Text 71"/>
            <p:cNvSpPr txBox="1"/>
            <p:nvPr/>
          </p:nvSpPr>
          <p:spPr>
            <a:xfrm>
              <a:off x="5419650" y="5045483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81" name="Text 72"/>
            <p:cNvSpPr txBox="1"/>
            <p:nvPr/>
          </p:nvSpPr>
          <p:spPr>
            <a:xfrm>
              <a:off x="5477257" y="5045483"/>
              <a:ext cx="9610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"main-content"</a:t>
              </a:r>
              <a:endParaRPr lang="en-US" sz="1200" dirty="0"/>
            </a:p>
          </p:txBody>
        </p:sp>
        <p:sp>
          <p:nvSpPr>
            <p:cNvPr id="82" name="Text 73"/>
            <p:cNvSpPr txBox="1"/>
            <p:nvPr/>
          </p:nvSpPr>
          <p:spPr>
            <a:xfrm>
              <a:off x="6277357" y="5045483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83" name="Text 74"/>
            <p:cNvSpPr txBox="1"/>
            <p:nvPr/>
          </p:nvSpPr>
          <p:spPr>
            <a:xfrm>
              <a:off x="5210252" y="5189044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&lt;section</a:t>
              </a:r>
              <a:endParaRPr lang="en-US" sz="1200" dirty="0"/>
            </a:p>
          </p:txBody>
        </p:sp>
        <p:sp>
          <p:nvSpPr>
            <p:cNvPr id="84" name="Text 75"/>
            <p:cNvSpPr txBox="1"/>
            <p:nvPr/>
          </p:nvSpPr>
          <p:spPr>
            <a:xfrm>
              <a:off x="5667452" y="5189044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200" dirty="0"/>
            </a:p>
          </p:txBody>
        </p:sp>
        <p:sp>
          <p:nvSpPr>
            <p:cNvPr id="85" name="Text 76"/>
            <p:cNvSpPr txBox="1"/>
            <p:nvPr/>
          </p:nvSpPr>
          <p:spPr>
            <a:xfrm>
              <a:off x="5781752" y="518904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86" name="Text 77"/>
            <p:cNvSpPr txBox="1"/>
            <p:nvPr/>
          </p:nvSpPr>
          <p:spPr>
            <a:xfrm>
              <a:off x="5839359" y="5189044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"about"</a:t>
              </a:r>
              <a:endParaRPr lang="en-US" sz="1200" dirty="0"/>
            </a:p>
          </p:txBody>
        </p:sp>
        <p:sp>
          <p:nvSpPr>
            <p:cNvPr id="87" name="Text 78"/>
            <p:cNvSpPr txBox="1"/>
            <p:nvPr/>
          </p:nvSpPr>
          <p:spPr>
            <a:xfrm>
              <a:off x="6239866" y="5189044"/>
              <a:ext cx="10296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aria-labelledby</a:t>
              </a:r>
              <a:endParaRPr lang="en-US" sz="1200" dirty="0"/>
            </a:p>
          </p:txBody>
        </p:sp>
        <p:sp>
          <p:nvSpPr>
            <p:cNvPr id="88" name="Text 79"/>
            <p:cNvSpPr txBox="1"/>
            <p:nvPr/>
          </p:nvSpPr>
          <p:spPr>
            <a:xfrm>
              <a:off x="7096659" y="518904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89" name="Text 80"/>
            <p:cNvSpPr txBox="1"/>
            <p:nvPr/>
          </p:nvSpPr>
          <p:spPr>
            <a:xfrm>
              <a:off x="7154266" y="5189044"/>
              <a:ext cx="6181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"about-h"</a:t>
              </a:r>
              <a:endParaRPr lang="en-US" sz="1200" dirty="0"/>
            </a:p>
          </p:txBody>
        </p:sp>
        <p:sp>
          <p:nvSpPr>
            <p:cNvPr id="90" name="Text 81"/>
            <p:cNvSpPr txBox="1"/>
            <p:nvPr/>
          </p:nvSpPr>
          <p:spPr>
            <a:xfrm>
              <a:off x="7669074" y="518904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91" name="Text 82"/>
            <p:cNvSpPr txBox="1"/>
            <p:nvPr/>
          </p:nvSpPr>
          <p:spPr>
            <a:xfrm>
              <a:off x="7725766" y="5189044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...</a:t>
              </a:r>
              <a:endParaRPr lang="en-US" sz="1200" dirty="0"/>
            </a:p>
          </p:txBody>
        </p:sp>
        <p:sp>
          <p:nvSpPr>
            <p:cNvPr id="92" name="Text 83"/>
            <p:cNvSpPr txBox="1"/>
            <p:nvPr/>
          </p:nvSpPr>
          <p:spPr>
            <a:xfrm>
              <a:off x="7897674" y="5189044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&lt;/section&gt;</a:t>
              </a:r>
              <a:endParaRPr lang="en-US" sz="1200" dirty="0"/>
            </a:p>
          </p:txBody>
        </p:sp>
        <p:sp>
          <p:nvSpPr>
            <p:cNvPr id="93" name="Text 84"/>
            <p:cNvSpPr txBox="1"/>
            <p:nvPr/>
          </p:nvSpPr>
          <p:spPr>
            <a:xfrm>
              <a:off x="5210252" y="5331690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&lt;section</a:t>
              </a:r>
              <a:endParaRPr lang="en-US" sz="1200" dirty="0"/>
            </a:p>
          </p:txBody>
        </p:sp>
        <p:sp>
          <p:nvSpPr>
            <p:cNvPr id="94" name="Text 85"/>
            <p:cNvSpPr txBox="1"/>
            <p:nvPr/>
          </p:nvSpPr>
          <p:spPr>
            <a:xfrm>
              <a:off x="5667452" y="5331690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200" dirty="0"/>
            </a:p>
          </p:txBody>
        </p:sp>
        <p:sp>
          <p:nvSpPr>
            <p:cNvPr id="95" name="Text 86"/>
            <p:cNvSpPr txBox="1"/>
            <p:nvPr/>
          </p:nvSpPr>
          <p:spPr>
            <a:xfrm>
              <a:off x="5781752" y="5331690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96" name="Text 87"/>
            <p:cNvSpPr txBox="1"/>
            <p:nvPr/>
          </p:nvSpPr>
          <p:spPr>
            <a:xfrm>
              <a:off x="5839359" y="5331690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"projects"</a:t>
              </a:r>
              <a:endParaRPr lang="en-US" sz="1200" dirty="0"/>
            </a:p>
          </p:txBody>
        </p:sp>
        <p:sp>
          <p:nvSpPr>
            <p:cNvPr id="97" name="Text 88"/>
            <p:cNvSpPr txBox="1"/>
            <p:nvPr/>
          </p:nvSpPr>
          <p:spPr>
            <a:xfrm>
              <a:off x="6410859" y="5331690"/>
              <a:ext cx="10296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aria-labelledby</a:t>
              </a:r>
              <a:endParaRPr lang="en-US" sz="1200" dirty="0"/>
            </a:p>
          </p:txBody>
        </p:sp>
        <p:sp>
          <p:nvSpPr>
            <p:cNvPr id="98" name="Text 89"/>
            <p:cNvSpPr txBox="1"/>
            <p:nvPr/>
          </p:nvSpPr>
          <p:spPr>
            <a:xfrm>
              <a:off x="7268566" y="5331690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99" name="Text 90"/>
            <p:cNvSpPr txBox="1"/>
            <p:nvPr/>
          </p:nvSpPr>
          <p:spPr>
            <a:xfrm>
              <a:off x="7325259" y="5331690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"proj-h"</a:t>
              </a:r>
              <a:endParaRPr lang="en-US" sz="1200" dirty="0"/>
            </a:p>
          </p:txBody>
        </p:sp>
        <p:sp>
          <p:nvSpPr>
            <p:cNvPr id="100" name="Text 91"/>
            <p:cNvSpPr txBox="1"/>
            <p:nvPr/>
          </p:nvSpPr>
          <p:spPr>
            <a:xfrm>
              <a:off x="7783374" y="5331690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101" name="Text 92"/>
            <p:cNvSpPr txBox="1"/>
            <p:nvPr/>
          </p:nvSpPr>
          <p:spPr>
            <a:xfrm>
              <a:off x="7840066" y="5331690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...</a:t>
              </a:r>
              <a:endParaRPr lang="en-US" sz="1200" dirty="0"/>
            </a:p>
          </p:txBody>
        </p:sp>
        <p:sp>
          <p:nvSpPr>
            <p:cNvPr id="102" name="Text 93"/>
            <p:cNvSpPr txBox="1"/>
            <p:nvPr/>
          </p:nvSpPr>
          <p:spPr>
            <a:xfrm>
              <a:off x="8011974" y="5331690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&lt;/section&gt;</a:t>
              </a:r>
              <a:endParaRPr lang="en-US" sz="1200" dirty="0"/>
            </a:p>
          </p:txBody>
        </p:sp>
        <p:sp>
          <p:nvSpPr>
            <p:cNvPr id="103" name="Text 94"/>
            <p:cNvSpPr txBox="1"/>
            <p:nvPr/>
          </p:nvSpPr>
          <p:spPr>
            <a:xfrm>
              <a:off x="5210252" y="5474337"/>
              <a:ext cx="549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&lt;section</a:t>
              </a:r>
              <a:endParaRPr lang="en-US" sz="1200" dirty="0"/>
            </a:p>
          </p:txBody>
        </p:sp>
        <p:sp>
          <p:nvSpPr>
            <p:cNvPr id="104" name="Text 95"/>
            <p:cNvSpPr txBox="1"/>
            <p:nvPr/>
          </p:nvSpPr>
          <p:spPr>
            <a:xfrm>
              <a:off x="5667452" y="5474337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200" dirty="0"/>
            </a:p>
          </p:txBody>
        </p:sp>
        <p:sp>
          <p:nvSpPr>
            <p:cNvPr id="105" name="Text 96"/>
            <p:cNvSpPr txBox="1"/>
            <p:nvPr/>
          </p:nvSpPr>
          <p:spPr>
            <a:xfrm>
              <a:off x="5781752" y="5474337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106" name="Text 97"/>
            <p:cNvSpPr txBox="1"/>
            <p:nvPr/>
          </p:nvSpPr>
          <p:spPr>
            <a:xfrm>
              <a:off x="5839359" y="5474337"/>
              <a:ext cx="6181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"contact"</a:t>
              </a:r>
              <a:endParaRPr lang="en-US" sz="1200" dirty="0"/>
            </a:p>
          </p:txBody>
        </p:sp>
        <p:sp>
          <p:nvSpPr>
            <p:cNvPr id="107" name="Text 98"/>
            <p:cNvSpPr txBox="1"/>
            <p:nvPr/>
          </p:nvSpPr>
          <p:spPr>
            <a:xfrm>
              <a:off x="6354166" y="5474337"/>
              <a:ext cx="10296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aria-labelledby</a:t>
              </a:r>
              <a:endParaRPr lang="en-US" sz="1200" dirty="0"/>
            </a:p>
          </p:txBody>
        </p:sp>
        <p:sp>
          <p:nvSpPr>
            <p:cNvPr id="108" name="Text 99"/>
            <p:cNvSpPr txBox="1"/>
            <p:nvPr/>
          </p:nvSpPr>
          <p:spPr>
            <a:xfrm>
              <a:off x="7210959" y="5474337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200" dirty="0"/>
            </a:p>
          </p:txBody>
        </p:sp>
        <p:sp>
          <p:nvSpPr>
            <p:cNvPr id="109" name="Text 100"/>
            <p:cNvSpPr txBox="1"/>
            <p:nvPr/>
          </p:nvSpPr>
          <p:spPr>
            <a:xfrm>
              <a:off x="7268566" y="5474337"/>
              <a:ext cx="75529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"contact-h"</a:t>
              </a:r>
              <a:endParaRPr lang="en-US" sz="1200" dirty="0"/>
            </a:p>
          </p:txBody>
        </p:sp>
        <p:sp>
          <p:nvSpPr>
            <p:cNvPr id="110" name="Text 101"/>
            <p:cNvSpPr txBox="1"/>
            <p:nvPr/>
          </p:nvSpPr>
          <p:spPr>
            <a:xfrm>
              <a:off x="7897674" y="5474337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200" dirty="0"/>
            </a:p>
          </p:txBody>
        </p:sp>
        <p:sp>
          <p:nvSpPr>
            <p:cNvPr id="111" name="Text 102"/>
            <p:cNvSpPr txBox="1"/>
            <p:nvPr/>
          </p:nvSpPr>
          <p:spPr>
            <a:xfrm>
              <a:off x="7954366" y="5474337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...</a:t>
              </a:r>
              <a:endParaRPr lang="en-US" sz="1200" dirty="0"/>
            </a:p>
          </p:txBody>
        </p:sp>
        <p:sp>
          <p:nvSpPr>
            <p:cNvPr id="112" name="Text 103"/>
            <p:cNvSpPr txBox="1"/>
            <p:nvPr/>
          </p:nvSpPr>
          <p:spPr>
            <a:xfrm>
              <a:off x="8126274" y="5474337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&lt;/section&gt;</a:t>
              </a:r>
              <a:endParaRPr lang="en-US" sz="1200" dirty="0"/>
            </a:p>
          </p:txBody>
        </p:sp>
        <p:sp>
          <p:nvSpPr>
            <p:cNvPr id="113" name="Text 104"/>
            <p:cNvSpPr txBox="1"/>
            <p:nvPr/>
          </p:nvSpPr>
          <p:spPr>
            <a:xfrm>
              <a:off x="5020057" y="5616983"/>
              <a:ext cx="174650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Part 2에서 계속... --&gt;</a:t>
              </a:r>
              <a:endParaRPr lang="en-US" sz="1200" dirty="0"/>
            </a:p>
          </p:txBody>
        </p:sp>
      </p:grpSp>
      <p:sp>
        <p:nvSpPr>
          <p:cNvPr id="1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323240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2: HTML STRUCTURE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11130077" cy="924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결과물: index.html 골격 코드 - Part 2: FOOTER &amp; CLOSING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15391" y="1623974"/>
            <a:ext cx="3715207" cy="3758837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847649" y="1895551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7105" y="1862632"/>
            <a:ext cx="15243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PREVIOUS CONTEXT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818405" y="1789481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913502" y="1875434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17" b="-17"/>
          <a:stretch/>
        </p:blipFill>
        <p:spPr>
          <a:xfrm>
            <a:off x="762000" y="2258634"/>
            <a:ext cx="3350971" cy="11585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5314" y="2466659"/>
            <a:ext cx="3030322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완료 항목: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- DOCTYPE 및 html/head 선언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- Header 및 Navigation 구조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- Main 및 주요 Section(About, Projects) 골격</a:t>
            </a:r>
            <a:endParaRPr lang="en-US" sz="12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rcRect l="-2838" r="-2838"/>
          <a:stretch/>
        </p:blipFill>
        <p:spPr>
          <a:xfrm>
            <a:off x="847649" y="3569425"/>
            <a:ext cx="123444" cy="13350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47902" y="3535592"/>
            <a:ext cx="19010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TASK (PART 2)</a:t>
            </a:r>
            <a:endParaRPr lang="en-US" sz="10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rcRect t="-6" b="-6"/>
          <a:stretch/>
        </p:blipFill>
        <p:spPr>
          <a:xfrm>
            <a:off x="847649" y="3850146"/>
            <a:ext cx="3230575" cy="137525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47902" y="4050399"/>
            <a:ext cx="2915107" cy="981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 목표: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이제 Contact 섹션 이후의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Footer 영역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닫는 태그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완성하여 HTML 구조를 마무리합니다.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09905" y="5497111"/>
            <a:ext cx="3715207" cy="923544"/>
          </a:xfrm>
          <a:prstGeom prst="roundRect">
            <a:avLst>
              <a:gd name="adj" fmla="val 816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1"/>
          <p:cNvSpPr/>
          <p:nvPr/>
        </p:nvSpPr>
        <p:spPr>
          <a:xfrm>
            <a:off x="609905" y="5497111"/>
            <a:ext cx="38405" cy="923544"/>
          </a:xfrm>
          <a:prstGeom prst="roundRect">
            <a:avLst>
              <a:gd name="adj" fmla="val 1963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38505" y="5676334"/>
            <a:ext cx="133502" cy="13350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09498" y="5669019"/>
            <a:ext cx="10387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000" dirty="0"/>
          </a:p>
        </p:txBody>
      </p:sp>
      <p:sp>
        <p:nvSpPr>
          <p:cNvPr id="21" name="Text 13"/>
          <p:cNvSpPr txBox="1"/>
          <p:nvPr/>
        </p:nvSpPr>
        <p:spPr>
          <a:xfrm>
            <a:off x="838505" y="5878416"/>
            <a:ext cx="315285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섹션 태그(&lt;section&gt;)와 메인(&lt;main&gt;), 바디(&lt;body&gt;), html 태그가 올바르게 닫혔는지 확인하세요.</a:t>
            </a:r>
            <a:endParaRPr lang="en-US" sz="10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9"/>
          <a:srcRect l="-1507" r="-1507"/>
          <a:stretch/>
        </p:blipFill>
        <p:spPr>
          <a:xfrm>
            <a:off x="4697273" y="1657807"/>
            <a:ext cx="171907" cy="13350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4945075" y="1623974"/>
            <a:ext cx="32580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(INDEX.HTML - PART 2)</a:t>
            </a:r>
            <a:endParaRPr lang="en-US" sz="10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rcRect t="-1" b="-1"/>
          <a:stretch/>
        </p:blipFill>
        <p:spPr>
          <a:xfrm>
            <a:off x="4697273" y="1938527"/>
            <a:ext cx="6884518" cy="4522143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4697273" y="1938528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6"/>
          <p:cNvSpPr/>
          <p:nvPr/>
        </p:nvSpPr>
        <p:spPr>
          <a:xfrm>
            <a:off x="4849978" y="2088489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7"/>
          <p:cNvSpPr/>
          <p:nvPr/>
        </p:nvSpPr>
        <p:spPr>
          <a:xfrm>
            <a:off x="5040173" y="2088489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8"/>
          <p:cNvSpPr/>
          <p:nvPr/>
        </p:nvSpPr>
        <p:spPr>
          <a:xfrm>
            <a:off x="5231282" y="2088489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19"/>
          <p:cNvSpPr txBox="1"/>
          <p:nvPr/>
        </p:nvSpPr>
        <p:spPr>
          <a:xfrm>
            <a:off x="5535778" y="2081174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grpSp>
        <p:nvGrpSpPr>
          <p:cNvPr id="123" name="그룹 122">
            <a:extLst>
              <a:ext uri="{FF2B5EF4-FFF2-40B4-BE49-F238E27FC236}">
                <a16:creationId xmlns:a16="http://schemas.microsoft.com/office/drawing/2014/main" id="{E8F5743A-533A-2BC4-691C-069CEAB66391}"/>
              </a:ext>
            </a:extLst>
          </p:cNvPr>
          <p:cNvGrpSpPr/>
          <p:nvPr/>
        </p:nvGrpSpPr>
        <p:grpSpPr>
          <a:xfrm>
            <a:off x="4830775" y="2419501"/>
            <a:ext cx="6668719" cy="3840219"/>
            <a:chOff x="4830775" y="2419502"/>
            <a:chExt cx="6668719" cy="3183940"/>
          </a:xfrm>
        </p:grpSpPr>
        <p:sp>
          <p:nvSpPr>
            <p:cNvPr id="30" name="Text 20"/>
            <p:cNvSpPr txBox="1"/>
            <p:nvPr/>
          </p:nvSpPr>
          <p:spPr>
            <a:xfrm>
              <a:off x="4830775" y="2419502"/>
              <a:ext cx="34472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... Part 1 코드(Main 섹션들)에 이어서 ... --&gt;</a:t>
              </a:r>
              <a:endParaRPr lang="en-US" sz="1100" dirty="0"/>
            </a:p>
          </p:txBody>
        </p:sp>
        <p:sp>
          <p:nvSpPr>
            <p:cNvPr id="31" name="Text 21"/>
            <p:cNvSpPr txBox="1"/>
            <p:nvPr/>
          </p:nvSpPr>
          <p:spPr>
            <a:xfrm>
              <a:off x="5136185" y="2580436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&lt;section</a:t>
              </a:r>
              <a:endParaRPr lang="en-US" sz="1100" dirty="0"/>
            </a:p>
          </p:txBody>
        </p:sp>
        <p:sp>
          <p:nvSpPr>
            <p:cNvPr id="32" name="Text 22"/>
            <p:cNvSpPr txBox="1"/>
            <p:nvPr/>
          </p:nvSpPr>
          <p:spPr>
            <a:xfrm>
              <a:off x="5630875" y="2580436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100" dirty="0"/>
            </a:p>
          </p:txBody>
        </p:sp>
        <p:sp>
          <p:nvSpPr>
            <p:cNvPr id="33" name="Text 23"/>
            <p:cNvSpPr txBox="1"/>
            <p:nvPr/>
          </p:nvSpPr>
          <p:spPr>
            <a:xfrm>
              <a:off x="5755234" y="258043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34" name="Text 24"/>
            <p:cNvSpPr txBox="1"/>
            <p:nvPr/>
          </p:nvSpPr>
          <p:spPr>
            <a:xfrm>
              <a:off x="5816498" y="2580436"/>
              <a:ext cx="66934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"contact"</a:t>
              </a:r>
              <a:endParaRPr lang="en-US" sz="1100" dirty="0"/>
            </a:p>
          </p:txBody>
        </p:sp>
        <p:sp>
          <p:nvSpPr>
            <p:cNvPr id="35" name="Text 25"/>
            <p:cNvSpPr txBox="1"/>
            <p:nvPr/>
          </p:nvSpPr>
          <p:spPr>
            <a:xfrm>
              <a:off x="6374282" y="2580436"/>
              <a:ext cx="111099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aria-labelledby</a:t>
              </a:r>
              <a:endParaRPr lang="en-US" sz="1100" dirty="0"/>
            </a:p>
          </p:txBody>
        </p:sp>
        <p:sp>
          <p:nvSpPr>
            <p:cNvPr id="36" name="Text 26"/>
            <p:cNvSpPr txBox="1"/>
            <p:nvPr/>
          </p:nvSpPr>
          <p:spPr>
            <a:xfrm>
              <a:off x="7302398" y="258043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37" name="Text 27"/>
            <p:cNvSpPr txBox="1"/>
            <p:nvPr/>
          </p:nvSpPr>
          <p:spPr>
            <a:xfrm>
              <a:off x="7364578" y="2580436"/>
              <a:ext cx="816559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"contact-h"</a:t>
              </a:r>
              <a:endParaRPr lang="en-US" sz="1100" dirty="0"/>
            </a:p>
          </p:txBody>
        </p:sp>
        <p:sp>
          <p:nvSpPr>
            <p:cNvPr id="38" name="Text 28"/>
            <p:cNvSpPr txBox="1"/>
            <p:nvPr/>
          </p:nvSpPr>
          <p:spPr>
            <a:xfrm>
              <a:off x="8045806" y="258043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100" dirty="0"/>
            </a:p>
          </p:txBody>
        </p:sp>
        <p:sp>
          <p:nvSpPr>
            <p:cNvPr id="39" name="Text 29"/>
            <p:cNvSpPr txBox="1"/>
            <p:nvPr/>
          </p:nvSpPr>
          <p:spPr>
            <a:xfrm>
              <a:off x="5287975" y="2741371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&lt;h2</a:t>
              </a:r>
              <a:endParaRPr lang="en-US" sz="1100" dirty="0"/>
            </a:p>
          </p:txBody>
        </p:sp>
        <p:sp>
          <p:nvSpPr>
            <p:cNvPr id="40" name="Text 30"/>
            <p:cNvSpPr txBox="1"/>
            <p:nvPr/>
          </p:nvSpPr>
          <p:spPr>
            <a:xfrm>
              <a:off x="5473598" y="2741371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100" dirty="0"/>
            </a:p>
          </p:txBody>
        </p:sp>
        <p:sp>
          <p:nvSpPr>
            <p:cNvPr id="41" name="Text 31"/>
            <p:cNvSpPr txBox="1"/>
            <p:nvPr/>
          </p:nvSpPr>
          <p:spPr>
            <a:xfrm>
              <a:off x="5597957" y="2741371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42" name="Text 32"/>
            <p:cNvSpPr txBox="1"/>
            <p:nvPr/>
          </p:nvSpPr>
          <p:spPr>
            <a:xfrm>
              <a:off x="5659222" y="2741371"/>
              <a:ext cx="816559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"contact-h"</a:t>
              </a:r>
              <a:endParaRPr lang="en-US" sz="1100" dirty="0"/>
            </a:p>
          </p:txBody>
        </p:sp>
        <p:sp>
          <p:nvSpPr>
            <p:cNvPr id="43" name="Text 33"/>
            <p:cNvSpPr txBox="1"/>
            <p:nvPr/>
          </p:nvSpPr>
          <p:spPr>
            <a:xfrm>
              <a:off x="6340450" y="2741371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100" dirty="0"/>
            </a:p>
          </p:txBody>
        </p:sp>
        <p:sp>
          <p:nvSpPr>
            <p:cNvPr id="44" name="Text 34"/>
            <p:cNvSpPr txBox="1"/>
            <p:nvPr/>
          </p:nvSpPr>
          <p:spPr>
            <a:xfrm>
              <a:off x="6402629" y="2741371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Contact Me</a:t>
              </a:r>
              <a:endParaRPr lang="en-US" sz="1100" dirty="0"/>
            </a:p>
          </p:txBody>
        </p:sp>
        <p:sp>
          <p:nvSpPr>
            <p:cNvPr id="45" name="Text 35"/>
            <p:cNvSpPr txBox="1"/>
            <p:nvPr/>
          </p:nvSpPr>
          <p:spPr>
            <a:xfrm>
              <a:off x="7021678" y="2741371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&lt;/h2&gt;</a:t>
              </a:r>
              <a:endParaRPr lang="en-US" sz="1100" dirty="0"/>
            </a:p>
          </p:txBody>
        </p:sp>
        <p:sp>
          <p:nvSpPr>
            <p:cNvPr id="46" name="Text 36"/>
            <p:cNvSpPr txBox="1"/>
            <p:nvPr/>
          </p:nvSpPr>
          <p:spPr>
            <a:xfrm>
              <a:off x="5287975" y="2902305"/>
              <a:ext cx="15371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연락처 폼 영역 --&gt;</a:t>
              </a:r>
              <a:endParaRPr lang="en-US" sz="1100" dirty="0"/>
            </a:p>
          </p:txBody>
        </p:sp>
        <p:sp>
          <p:nvSpPr>
            <p:cNvPr id="47" name="Text 37"/>
            <p:cNvSpPr txBox="1"/>
            <p:nvPr/>
          </p:nvSpPr>
          <p:spPr>
            <a:xfrm>
              <a:off x="5287975" y="3063240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&lt;form</a:t>
              </a:r>
              <a:endParaRPr lang="en-US" sz="1100" dirty="0"/>
            </a:p>
          </p:txBody>
        </p:sp>
        <p:sp>
          <p:nvSpPr>
            <p:cNvPr id="48" name="Text 38"/>
            <p:cNvSpPr txBox="1"/>
            <p:nvPr/>
          </p:nvSpPr>
          <p:spPr>
            <a:xfrm>
              <a:off x="5597957" y="3063240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action</a:t>
              </a:r>
              <a:endParaRPr lang="en-US" sz="1100" dirty="0"/>
            </a:p>
          </p:txBody>
        </p:sp>
        <p:sp>
          <p:nvSpPr>
            <p:cNvPr id="49" name="Text 39"/>
            <p:cNvSpPr txBox="1"/>
            <p:nvPr/>
          </p:nvSpPr>
          <p:spPr>
            <a:xfrm>
              <a:off x="5969203" y="306324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50" name="Text 40"/>
            <p:cNvSpPr txBox="1"/>
            <p:nvPr/>
          </p:nvSpPr>
          <p:spPr>
            <a:xfrm>
              <a:off x="6031382" y="3063240"/>
              <a:ext cx="206380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"https://formspree.io/f/..."</a:t>
              </a:r>
              <a:endParaRPr lang="en-US" sz="1100" dirty="0"/>
            </a:p>
          </p:txBody>
        </p:sp>
        <p:sp>
          <p:nvSpPr>
            <p:cNvPr id="51" name="Text 41"/>
            <p:cNvSpPr txBox="1"/>
            <p:nvPr/>
          </p:nvSpPr>
          <p:spPr>
            <a:xfrm>
              <a:off x="7765085" y="3063240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method</a:t>
              </a:r>
              <a:endParaRPr lang="en-US" sz="1100" dirty="0"/>
            </a:p>
          </p:txBody>
        </p:sp>
        <p:sp>
          <p:nvSpPr>
            <p:cNvPr id="52" name="Text 42"/>
            <p:cNvSpPr txBox="1"/>
            <p:nvPr/>
          </p:nvSpPr>
          <p:spPr>
            <a:xfrm>
              <a:off x="8136331" y="306324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53" name="Text 43"/>
            <p:cNvSpPr txBox="1"/>
            <p:nvPr/>
          </p:nvSpPr>
          <p:spPr>
            <a:xfrm>
              <a:off x="8197596" y="3063240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"POST"</a:t>
              </a:r>
              <a:endParaRPr lang="en-US" sz="1100" dirty="0"/>
            </a:p>
          </p:txBody>
        </p:sp>
        <p:sp>
          <p:nvSpPr>
            <p:cNvPr id="54" name="Text 44"/>
            <p:cNvSpPr txBox="1"/>
            <p:nvPr/>
          </p:nvSpPr>
          <p:spPr>
            <a:xfrm>
              <a:off x="8569757" y="306324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100" dirty="0"/>
            </a:p>
          </p:txBody>
        </p:sp>
        <p:sp>
          <p:nvSpPr>
            <p:cNvPr id="55" name="Text 45"/>
            <p:cNvSpPr txBox="1"/>
            <p:nvPr/>
          </p:nvSpPr>
          <p:spPr>
            <a:xfrm>
              <a:off x="5287975" y="3224174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...</a:t>
              </a:r>
              <a:endParaRPr lang="en-US" sz="1100" dirty="0"/>
            </a:p>
          </p:txBody>
        </p:sp>
        <p:sp>
          <p:nvSpPr>
            <p:cNvPr id="56" name="Text 46"/>
            <p:cNvSpPr txBox="1"/>
            <p:nvPr/>
          </p:nvSpPr>
          <p:spPr>
            <a:xfrm>
              <a:off x="5287975" y="3385108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&lt;/form&gt;</a:t>
              </a:r>
              <a:endParaRPr lang="en-US" sz="1100" dirty="0"/>
            </a:p>
          </p:txBody>
        </p:sp>
        <p:sp>
          <p:nvSpPr>
            <p:cNvPr id="57" name="Text 47"/>
            <p:cNvSpPr txBox="1"/>
            <p:nvPr/>
          </p:nvSpPr>
          <p:spPr>
            <a:xfrm>
              <a:off x="5136185" y="3546043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&lt;/section&gt;</a:t>
              </a:r>
              <a:endParaRPr lang="en-US" sz="1100" dirty="0"/>
            </a:p>
          </p:txBody>
        </p:sp>
        <p:sp>
          <p:nvSpPr>
            <p:cNvPr id="58" name="Text 48"/>
            <p:cNvSpPr txBox="1"/>
            <p:nvPr/>
          </p:nvSpPr>
          <p:spPr>
            <a:xfrm>
              <a:off x="4830775" y="3706977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&lt;/main&gt;</a:t>
              </a:r>
              <a:endParaRPr lang="en-US" sz="1100" dirty="0"/>
            </a:p>
          </p:txBody>
        </p:sp>
        <p:sp>
          <p:nvSpPr>
            <p:cNvPr id="59" name="Text 49"/>
            <p:cNvSpPr txBox="1"/>
            <p:nvPr/>
          </p:nvSpPr>
          <p:spPr>
            <a:xfrm>
              <a:off x="5264201" y="3706977"/>
              <a:ext cx="2446020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Footer: 저작권 및 소셜 링크 --&gt;</a:t>
              </a:r>
              <a:endParaRPr lang="en-US" sz="1100" dirty="0"/>
            </a:p>
          </p:txBody>
        </p:sp>
        <p:sp>
          <p:nvSpPr>
            <p:cNvPr id="60" name="Text 50"/>
            <p:cNvSpPr txBox="1"/>
            <p:nvPr/>
          </p:nvSpPr>
          <p:spPr>
            <a:xfrm>
              <a:off x="4830775" y="3868826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&lt;footer</a:t>
              </a:r>
              <a:endParaRPr lang="en-US" sz="1100" dirty="0"/>
            </a:p>
          </p:txBody>
        </p:sp>
        <p:sp>
          <p:nvSpPr>
            <p:cNvPr id="61" name="Text 51"/>
            <p:cNvSpPr txBox="1"/>
            <p:nvPr/>
          </p:nvSpPr>
          <p:spPr>
            <a:xfrm>
              <a:off x="5264201" y="3868826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100" dirty="0"/>
            </a:p>
          </p:txBody>
        </p:sp>
        <p:sp>
          <p:nvSpPr>
            <p:cNvPr id="62" name="Text 52"/>
            <p:cNvSpPr txBox="1"/>
            <p:nvPr/>
          </p:nvSpPr>
          <p:spPr>
            <a:xfrm>
              <a:off x="5574182" y="386882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63" name="Text 53"/>
            <p:cNvSpPr txBox="1"/>
            <p:nvPr/>
          </p:nvSpPr>
          <p:spPr>
            <a:xfrm>
              <a:off x="5635447" y="3868826"/>
              <a:ext cx="96377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"site-footer"</a:t>
              </a:r>
              <a:endParaRPr lang="en-US" sz="1100" dirty="0"/>
            </a:p>
          </p:txBody>
        </p:sp>
        <p:sp>
          <p:nvSpPr>
            <p:cNvPr id="64" name="Text 54"/>
            <p:cNvSpPr txBox="1"/>
            <p:nvPr/>
          </p:nvSpPr>
          <p:spPr>
            <a:xfrm>
              <a:off x="6441034" y="386882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100" dirty="0"/>
            </a:p>
          </p:txBody>
        </p:sp>
        <p:sp>
          <p:nvSpPr>
            <p:cNvPr id="65" name="Text 55"/>
            <p:cNvSpPr txBox="1"/>
            <p:nvPr/>
          </p:nvSpPr>
          <p:spPr>
            <a:xfrm>
              <a:off x="4983480" y="4029760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100" dirty="0"/>
            </a:p>
          </p:txBody>
        </p:sp>
        <p:sp>
          <p:nvSpPr>
            <p:cNvPr id="66" name="Text 56"/>
            <p:cNvSpPr txBox="1"/>
            <p:nvPr/>
          </p:nvSpPr>
          <p:spPr>
            <a:xfrm>
              <a:off x="5231282" y="4029760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100" dirty="0"/>
            </a:p>
          </p:txBody>
        </p:sp>
        <p:sp>
          <p:nvSpPr>
            <p:cNvPr id="67" name="Text 57"/>
            <p:cNvSpPr txBox="1"/>
            <p:nvPr/>
          </p:nvSpPr>
          <p:spPr>
            <a:xfrm>
              <a:off x="5540350" y="402976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68" name="Text 58"/>
            <p:cNvSpPr txBox="1"/>
            <p:nvPr/>
          </p:nvSpPr>
          <p:spPr>
            <a:xfrm>
              <a:off x="5602529" y="4029760"/>
              <a:ext cx="816559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"container"</a:t>
              </a:r>
              <a:endParaRPr lang="en-US" sz="1100" dirty="0"/>
            </a:p>
          </p:txBody>
        </p:sp>
        <p:sp>
          <p:nvSpPr>
            <p:cNvPr id="69" name="Text 59"/>
            <p:cNvSpPr txBox="1"/>
            <p:nvPr/>
          </p:nvSpPr>
          <p:spPr>
            <a:xfrm>
              <a:off x="6283757" y="402976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100" dirty="0"/>
            </a:p>
          </p:txBody>
        </p:sp>
        <p:sp>
          <p:nvSpPr>
            <p:cNvPr id="70" name="Text 60"/>
            <p:cNvSpPr txBox="1"/>
            <p:nvPr/>
          </p:nvSpPr>
          <p:spPr>
            <a:xfrm>
              <a:off x="5136185" y="4190695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&lt;p&gt;</a:t>
              </a:r>
              <a:endParaRPr lang="en-US" sz="1100" dirty="0"/>
            </a:p>
          </p:txBody>
        </p:sp>
        <p:sp>
          <p:nvSpPr>
            <p:cNvPr id="71" name="Text 61"/>
            <p:cNvSpPr txBox="1"/>
            <p:nvPr/>
          </p:nvSpPr>
          <p:spPr>
            <a:xfrm>
              <a:off x="5321808" y="4190695"/>
              <a:ext cx="3048610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© 2026 My Portfolio. All rights reserved.</a:t>
              </a:r>
              <a:endParaRPr lang="en-US" sz="1100" dirty="0"/>
            </a:p>
          </p:txBody>
        </p:sp>
        <p:sp>
          <p:nvSpPr>
            <p:cNvPr id="72" name="Text 62"/>
            <p:cNvSpPr txBox="1"/>
            <p:nvPr/>
          </p:nvSpPr>
          <p:spPr>
            <a:xfrm>
              <a:off x="7921447" y="4190695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&lt;/p&gt;</a:t>
              </a:r>
              <a:endParaRPr lang="en-US" sz="1100" dirty="0"/>
            </a:p>
          </p:txBody>
        </p:sp>
        <p:sp>
          <p:nvSpPr>
            <p:cNvPr id="73" name="Text 63"/>
            <p:cNvSpPr txBox="1"/>
            <p:nvPr/>
          </p:nvSpPr>
          <p:spPr>
            <a:xfrm>
              <a:off x="5136185" y="4351629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&lt;ul</a:t>
              </a:r>
              <a:endParaRPr lang="en-US" sz="1100" dirty="0"/>
            </a:p>
          </p:txBody>
        </p:sp>
        <p:sp>
          <p:nvSpPr>
            <p:cNvPr id="74" name="Text 64"/>
            <p:cNvSpPr txBox="1"/>
            <p:nvPr/>
          </p:nvSpPr>
          <p:spPr>
            <a:xfrm>
              <a:off x="5321808" y="4351629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100" dirty="0"/>
            </a:p>
          </p:txBody>
        </p:sp>
        <p:sp>
          <p:nvSpPr>
            <p:cNvPr id="75" name="Text 65"/>
            <p:cNvSpPr txBox="1"/>
            <p:nvPr/>
          </p:nvSpPr>
          <p:spPr>
            <a:xfrm>
              <a:off x="5630875" y="4351629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76" name="Text 66"/>
            <p:cNvSpPr txBox="1"/>
            <p:nvPr/>
          </p:nvSpPr>
          <p:spPr>
            <a:xfrm>
              <a:off x="5693054" y="4351629"/>
              <a:ext cx="103235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"social-links"</a:t>
              </a:r>
              <a:endParaRPr lang="en-US" sz="1100" dirty="0"/>
            </a:p>
          </p:txBody>
        </p:sp>
        <p:sp>
          <p:nvSpPr>
            <p:cNvPr id="77" name="Text 67"/>
            <p:cNvSpPr txBox="1"/>
            <p:nvPr/>
          </p:nvSpPr>
          <p:spPr>
            <a:xfrm>
              <a:off x="6559906" y="4351629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</a:t>
              </a:r>
              <a:endParaRPr lang="en-US" sz="1100" dirty="0"/>
            </a:p>
          </p:txBody>
        </p:sp>
        <p:sp>
          <p:nvSpPr>
            <p:cNvPr id="78" name="Text 68"/>
            <p:cNvSpPr txBox="1"/>
            <p:nvPr/>
          </p:nvSpPr>
          <p:spPr>
            <a:xfrm>
              <a:off x="7178954" y="4351629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79" name="Text 69"/>
            <p:cNvSpPr txBox="1"/>
            <p:nvPr/>
          </p:nvSpPr>
          <p:spPr>
            <a:xfrm>
              <a:off x="7241134" y="4351629"/>
              <a:ext cx="147401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"Social Media Links"</a:t>
              </a:r>
              <a:endParaRPr lang="en-US" sz="1100" dirty="0"/>
            </a:p>
          </p:txBody>
        </p:sp>
        <p:sp>
          <p:nvSpPr>
            <p:cNvPr id="80" name="Text 70"/>
            <p:cNvSpPr txBox="1"/>
            <p:nvPr/>
          </p:nvSpPr>
          <p:spPr>
            <a:xfrm>
              <a:off x="8479231" y="4351629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100" dirty="0"/>
            </a:p>
          </p:txBody>
        </p:sp>
        <p:sp>
          <p:nvSpPr>
            <p:cNvPr id="81" name="Text 71"/>
            <p:cNvSpPr txBox="1"/>
            <p:nvPr/>
          </p:nvSpPr>
          <p:spPr>
            <a:xfrm>
              <a:off x="5287975" y="4512564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&lt;li&gt;</a:t>
              </a:r>
              <a:endParaRPr lang="en-US" sz="1100" dirty="0"/>
            </a:p>
          </p:txBody>
        </p:sp>
        <p:sp>
          <p:nvSpPr>
            <p:cNvPr id="82" name="Text 72"/>
            <p:cNvSpPr txBox="1"/>
            <p:nvPr/>
          </p:nvSpPr>
          <p:spPr>
            <a:xfrm>
              <a:off x="5535778" y="451256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&lt;a</a:t>
              </a:r>
              <a:endParaRPr lang="en-US" sz="1100" dirty="0"/>
            </a:p>
          </p:txBody>
        </p:sp>
        <p:sp>
          <p:nvSpPr>
            <p:cNvPr id="83" name="Text 73"/>
            <p:cNvSpPr txBox="1"/>
            <p:nvPr/>
          </p:nvSpPr>
          <p:spPr>
            <a:xfrm>
              <a:off x="5659222" y="4512564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href</a:t>
              </a:r>
              <a:endParaRPr lang="en-US" sz="1100" dirty="0"/>
            </a:p>
          </p:txBody>
        </p:sp>
        <p:sp>
          <p:nvSpPr>
            <p:cNvPr id="84" name="Text 74"/>
            <p:cNvSpPr txBox="1"/>
            <p:nvPr/>
          </p:nvSpPr>
          <p:spPr>
            <a:xfrm>
              <a:off x="5907024" y="451256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85" name="Text 75"/>
            <p:cNvSpPr txBox="1"/>
            <p:nvPr/>
          </p:nvSpPr>
          <p:spPr>
            <a:xfrm>
              <a:off x="5969203" y="4512564"/>
              <a:ext cx="1768450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"https://github.com/..."</a:t>
              </a:r>
              <a:endParaRPr lang="en-US" sz="1100" dirty="0"/>
            </a:p>
          </p:txBody>
        </p:sp>
        <p:sp>
          <p:nvSpPr>
            <p:cNvPr id="86" name="Text 76"/>
            <p:cNvSpPr txBox="1"/>
            <p:nvPr/>
          </p:nvSpPr>
          <p:spPr>
            <a:xfrm>
              <a:off x="7455103" y="4512564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target</a:t>
              </a:r>
              <a:endParaRPr lang="en-US" sz="1100" dirty="0"/>
            </a:p>
          </p:txBody>
        </p:sp>
        <p:sp>
          <p:nvSpPr>
            <p:cNvPr id="87" name="Text 77"/>
            <p:cNvSpPr txBox="1"/>
            <p:nvPr/>
          </p:nvSpPr>
          <p:spPr>
            <a:xfrm>
              <a:off x="7826350" y="451256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88" name="Text 78"/>
            <p:cNvSpPr txBox="1"/>
            <p:nvPr/>
          </p:nvSpPr>
          <p:spPr>
            <a:xfrm>
              <a:off x="7888529" y="4512564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"_blank"</a:t>
              </a:r>
              <a:endParaRPr lang="en-US" sz="1100" dirty="0"/>
            </a:p>
          </p:txBody>
        </p:sp>
        <p:sp>
          <p:nvSpPr>
            <p:cNvPr id="89" name="Text 79"/>
            <p:cNvSpPr txBox="1"/>
            <p:nvPr/>
          </p:nvSpPr>
          <p:spPr>
            <a:xfrm>
              <a:off x="8384134" y="4512564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</a:t>
              </a:r>
              <a:endParaRPr lang="en-US" sz="1100" dirty="0"/>
            </a:p>
          </p:txBody>
        </p:sp>
        <p:sp>
          <p:nvSpPr>
            <p:cNvPr id="90" name="Text 80"/>
            <p:cNvSpPr txBox="1"/>
            <p:nvPr/>
          </p:nvSpPr>
          <p:spPr>
            <a:xfrm>
              <a:off x="9003182" y="451256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91" name="Text 81"/>
            <p:cNvSpPr txBox="1"/>
            <p:nvPr/>
          </p:nvSpPr>
          <p:spPr>
            <a:xfrm>
              <a:off x="9064447" y="4512564"/>
              <a:ext cx="117957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"GitHub Profile"</a:t>
              </a:r>
              <a:endParaRPr lang="en-US" sz="1100" dirty="0"/>
            </a:p>
          </p:txBody>
        </p:sp>
        <p:sp>
          <p:nvSpPr>
            <p:cNvPr id="92" name="Text 82"/>
            <p:cNvSpPr txBox="1"/>
            <p:nvPr/>
          </p:nvSpPr>
          <p:spPr>
            <a:xfrm>
              <a:off x="10055657" y="451256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100" dirty="0"/>
            </a:p>
          </p:txBody>
        </p:sp>
        <p:sp>
          <p:nvSpPr>
            <p:cNvPr id="93" name="Text 83"/>
            <p:cNvSpPr txBox="1"/>
            <p:nvPr/>
          </p:nvSpPr>
          <p:spPr>
            <a:xfrm>
              <a:off x="10116922" y="4512564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GitHub</a:t>
              </a:r>
              <a:endParaRPr lang="en-US" sz="1100" dirty="0"/>
            </a:p>
          </p:txBody>
        </p:sp>
        <p:sp>
          <p:nvSpPr>
            <p:cNvPr id="94" name="Text 84"/>
            <p:cNvSpPr txBox="1"/>
            <p:nvPr/>
          </p:nvSpPr>
          <p:spPr>
            <a:xfrm>
              <a:off x="10489082" y="4512564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&lt;/a&gt;</a:t>
              </a:r>
              <a:endParaRPr lang="en-US" sz="1100" dirty="0"/>
            </a:p>
          </p:txBody>
        </p:sp>
        <p:sp>
          <p:nvSpPr>
            <p:cNvPr id="95" name="Text 85"/>
            <p:cNvSpPr txBox="1"/>
            <p:nvPr/>
          </p:nvSpPr>
          <p:spPr>
            <a:xfrm>
              <a:off x="10736885" y="4512564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&lt;/li&gt;</a:t>
              </a:r>
              <a:endParaRPr lang="en-US" sz="1100" dirty="0"/>
            </a:p>
          </p:txBody>
        </p:sp>
        <p:sp>
          <p:nvSpPr>
            <p:cNvPr id="96" name="Text 86"/>
            <p:cNvSpPr txBox="1"/>
            <p:nvPr/>
          </p:nvSpPr>
          <p:spPr>
            <a:xfrm>
              <a:off x="5287975" y="4673498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&lt;li&gt;</a:t>
              </a:r>
              <a:endParaRPr lang="en-US" sz="1100" dirty="0"/>
            </a:p>
          </p:txBody>
        </p:sp>
        <p:sp>
          <p:nvSpPr>
            <p:cNvPr id="97" name="Text 87"/>
            <p:cNvSpPr txBox="1"/>
            <p:nvPr/>
          </p:nvSpPr>
          <p:spPr>
            <a:xfrm>
              <a:off x="5535778" y="4673498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&lt;a</a:t>
              </a:r>
              <a:endParaRPr lang="en-US" sz="1100" dirty="0"/>
            </a:p>
          </p:txBody>
        </p:sp>
        <p:sp>
          <p:nvSpPr>
            <p:cNvPr id="98" name="Text 88"/>
            <p:cNvSpPr txBox="1"/>
            <p:nvPr/>
          </p:nvSpPr>
          <p:spPr>
            <a:xfrm>
              <a:off x="5659222" y="4673498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href</a:t>
              </a:r>
              <a:endParaRPr lang="en-US" sz="1100" dirty="0"/>
            </a:p>
          </p:txBody>
        </p:sp>
        <p:sp>
          <p:nvSpPr>
            <p:cNvPr id="99" name="Text 89"/>
            <p:cNvSpPr txBox="1"/>
            <p:nvPr/>
          </p:nvSpPr>
          <p:spPr>
            <a:xfrm>
              <a:off x="5907024" y="4673498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100" name="Text 90"/>
            <p:cNvSpPr txBox="1"/>
            <p:nvPr/>
          </p:nvSpPr>
          <p:spPr>
            <a:xfrm>
              <a:off x="5969203" y="4673498"/>
              <a:ext cx="191566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"https://linkedin.com/..."</a:t>
              </a:r>
              <a:endParaRPr lang="en-US" sz="1100" dirty="0"/>
            </a:p>
          </p:txBody>
        </p:sp>
        <p:sp>
          <p:nvSpPr>
            <p:cNvPr id="101" name="Text 91"/>
            <p:cNvSpPr txBox="1"/>
            <p:nvPr/>
          </p:nvSpPr>
          <p:spPr>
            <a:xfrm>
              <a:off x="7578547" y="4673498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target</a:t>
              </a:r>
              <a:endParaRPr lang="en-US" sz="1100" dirty="0"/>
            </a:p>
          </p:txBody>
        </p:sp>
        <p:sp>
          <p:nvSpPr>
            <p:cNvPr id="102" name="Text 92"/>
            <p:cNvSpPr txBox="1"/>
            <p:nvPr/>
          </p:nvSpPr>
          <p:spPr>
            <a:xfrm>
              <a:off x="7950708" y="4673498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103" name="Text 93"/>
            <p:cNvSpPr txBox="1"/>
            <p:nvPr/>
          </p:nvSpPr>
          <p:spPr>
            <a:xfrm>
              <a:off x="8011973" y="4673498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"_blank"</a:t>
              </a:r>
              <a:endParaRPr lang="en-US" sz="1100" dirty="0"/>
            </a:p>
          </p:txBody>
        </p:sp>
        <p:sp>
          <p:nvSpPr>
            <p:cNvPr id="104" name="Text 94"/>
            <p:cNvSpPr txBox="1"/>
            <p:nvPr/>
          </p:nvSpPr>
          <p:spPr>
            <a:xfrm>
              <a:off x="8507578" y="4673498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</a:t>
              </a:r>
              <a:endParaRPr lang="en-US" sz="1100" dirty="0"/>
            </a:p>
          </p:txBody>
        </p:sp>
        <p:sp>
          <p:nvSpPr>
            <p:cNvPr id="105" name="Text 95"/>
            <p:cNvSpPr txBox="1"/>
            <p:nvPr/>
          </p:nvSpPr>
          <p:spPr>
            <a:xfrm>
              <a:off x="9126626" y="4673498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106" name="Text 96"/>
            <p:cNvSpPr txBox="1"/>
            <p:nvPr/>
          </p:nvSpPr>
          <p:spPr>
            <a:xfrm>
              <a:off x="9188806" y="4673498"/>
              <a:ext cx="13267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"LinkedIn Profile"</a:t>
              </a:r>
              <a:endParaRPr lang="en-US" sz="1100" dirty="0"/>
            </a:p>
          </p:txBody>
        </p:sp>
        <p:sp>
          <p:nvSpPr>
            <p:cNvPr id="107" name="Text 97"/>
            <p:cNvSpPr txBox="1"/>
            <p:nvPr/>
          </p:nvSpPr>
          <p:spPr>
            <a:xfrm>
              <a:off x="10303459" y="4673498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100" dirty="0"/>
            </a:p>
          </p:txBody>
        </p:sp>
        <p:sp>
          <p:nvSpPr>
            <p:cNvPr id="108" name="Text 98"/>
            <p:cNvSpPr txBox="1"/>
            <p:nvPr/>
          </p:nvSpPr>
          <p:spPr>
            <a:xfrm>
              <a:off x="10364724" y="4673498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LinkedIn</a:t>
              </a:r>
              <a:endParaRPr lang="en-US" sz="1100" dirty="0"/>
            </a:p>
          </p:txBody>
        </p:sp>
        <p:sp>
          <p:nvSpPr>
            <p:cNvPr id="109" name="Text 99"/>
            <p:cNvSpPr txBox="1"/>
            <p:nvPr/>
          </p:nvSpPr>
          <p:spPr>
            <a:xfrm>
              <a:off x="10860329" y="4673498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&lt;/a&gt;</a:t>
              </a:r>
              <a:endParaRPr lang="en-US" sz="1100" dirty="0"/>
            </a:p>
          </p:txBody>
        </p:sp>
        <p:sp>
          <p:nvSpPr>
            <p:cNvPr id="110" name="Text 100"/>
            <p:cNvSpPr txBox="1"/>
            <p:nvPr/>
          </p:nvSpPr>
          <p:spPr>
            <a:xfrm>
              <a:off x="11108131" y="4673498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&lt;/li&gt;</a:t>
              </a:r>
              <a:endParaRPr lang="en-US" sz="1100" dirty="0"/>
            </a:p>
          </p:txBody>
        </p:sp>
        <p:sp>
          <p:nvSpPr>
            <p:cNvPr id="111" name="Text 101"/>
            <p:cNvSpPr txBox="1"/>
            <p:nvPr/>
          </p:nvSpPr>
          <p:spPr>
            <a:xfrm>
              <a:off x="5136185" y="4834432"/>
              <a:ext cx="391363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&lt;/ul&gt;</a:t>
              </a:r>
              <a:endParaRPr lang="en-US" sz="1100" dirty="0"/>
            </a:p>
          </p:txBody>
        </p:sp>
        <p:sp>
          <p:nvSpPr>
            <p:cNvPr id="112" name="Text 102"/>
            <p:cNvSpPr txBox="1"/>
            <p:nvPr/>
          </p:nvSpPr>
          <p:spPr>
            <a:xfrm>
              <a:off x="4983480" y="4995367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100" dirty="0"/>
            </a:p>
          </p:txBody>
        </p:sp>
        <p:sp>
          <p:nvSpPr>
            <p:cNvPr id="113" name="Text 103"/>
            <p:cNvSpPr txBox="1"/>
            <p:nvPr/>
          </p:nvSpPr>
          <p:spPr>
            <a:xfrm>
              <a:off x="4830775" y="5156301"/>
              <a:ext cx="66934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&lt;/footer&gt;</a:t>
              </a:r>
              <a:endParaRPr lang="en-US" sz="1100" dirty="0"/>
            </a:p>
          </p:txBody>
        </p:sp>
        <p:sp>
          <p:nvSpPr>
            <p:cNvPr id="114" name="Text 104"/>
            <p:cNvSpPr txBox="1"/>
            <p:nvPr/>
          </p:nvSpPr>
          <p:spPr>
            <a:xfrm>
              <a:off x="5388559" y="5156301"/>
              <a:ext cx="1463040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스크립트 로드 --&gt;</a:t>
              </a:r>
              <a:endParaRPr lang="en-US" sz="1100" dirty="0"/>
            </a:p>
          </p:txBody>
        </p:sp>
        <p:sp>
          <p:nvSpPr>
            <p:cNvPr id="115" name="Text 105"/>
            <p:cNvSpPr txBox="1"/>
            <p:nvPr/>
          </p:nvSpPr>
          <p:spPr>
            <a:xfrm>
              <a:off x="4830775" y="5318150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&lt;script</a:t>
              </a:r>
              <a:endParaRPr lang="en-US" sz="1100" dirty="0"/>
            </a:p>
          </p:txBody>
        </p:sp>
        <p:sp>
          <p:nvSpPr>
            <p:cNvPr id="116" name="Text 106"/>
            <p:cNvSpPr txBox="1"/>
            <p:nvPr/>
          </p:nvSpPr>
          <p:spPr>
            <a:xfrm>
              <a:off x="5264201" y="5318150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src</a:t>
              </a:r>
              <a:endParaRPr lang="en-US" sz="1100" dirty="0"/>
            </a:p>
          </p:txBody>
        </p:sp>
        <p:sp>
          <p:nvSpPr>
            <p:cNvPr id="117" name="Text 107"/>
            <p:cNvSpPr txBox="1"/>
            <p:nvPr/>
          </p:nvSpPr>
          <p:spPr>
            <a:xfrm>
              <a:off x="5449824" y="531815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118" name="Text 108"/>
            <p:cNvSpPr txBox="1"/>
            <p:nvPr/>
          </p:nvSpPr>
          <p:spPr>
            <a:xfrm>
              <a:off x="5512003" y="5318150"/>
              <a:ext cx="96377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"./script.js"</a:t>
              </a:r>
              <a:endParaRPr lang="en-US" sz="1100" dirty="0"/>
            </a:p>
          </p:txBody>
        </p:sp>
        <p:sp>
          <p:nvSpPr>
            <p:cNvPr id="119" name="Text 109"/>
            <p:cNvSpPr txBox="1"/>
            <p:nvPr/>
          </p:nvSpPr>
          <p:spPr>
            <a:xfrm>
              <a:off x="6316675" y="531815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100" dirty="0"/>
            </a:p>
          </p:txBody>
        </p:sp>
        <p:sp>
          <p:nvSpPr>
            <p:cNvPr id="120" name="Text 110"/>
            <p:cNvSpPr txBox="1"/>
            <p:nvPr/>
          </p:nvSpPr>
          <p:spPr>
            <a:xfrm>
              <a:off x="6378854" y="5318150"/>
              <a:ext cx="66934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&lt;/script&gt;</a:t>
              </a:r>
              <a:endParaRPr lang="en-US" sz="1100" dirty="0"/>
            </a:p>
          </p:txBody>
        </p:sp>
        <p:sp>
          <p:nvSpPr>
            <p:cNvPr id="121" name="Text 111"/>
            <p:cNvSpPr txBox="1"/>
            <p:nvPr/>
          </p:nvSpPr>
          <p:spPr>
            <a:xfrm>
              <a:off x="4830775" y="5479084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&lt;/body&gt;</a:t>
              </a:r>
              <a:endParaRPr lang="en-US" sz="1100" dirty="0"/>
            </a:p>
          </p:txBody>
        </p:sp>
        <p:sp>
          <p:nvSpPr>
            <p:cNvPr id="122" name="Text 112"/>
            <p:cNvSpPr txBox="1"/>
            <p:nvPr/>
          </p:nvSpPr>
          <p:spPr>
            <a:xfrm>
              <a:off x="5264201" y="5479084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&lt;/html&gt;</a:t>
              </a:r>
              <a:endParaRPr lang="en-US" sz="1100" dirty="0"/>
            </a:p>
          </p:txBody>
        </p:sp>
      </p:grpSp>
      <p:sp>
        <p:nvSpPr>
          <p:cNvPr id="12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339425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 포트폴리오 프로젝트 시작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928408" y="774588"/>
            <a:ext cx="6190488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</a:t>
            </a: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CSS 스타일링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35398" y="1084403"/>
            <a:ext cx="3715207" cy="4107486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773142" y="1355980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01742" y="1322147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89773" y="1284657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784870" y="1370611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1" b="-1"/>
          <a:stretch/>
        </p:blipFill>
        <p:spPr>
          <a:xfrm>
            <a:off x="759424" y="1664133"/>
            <a:ext cx="3230575" cy="339059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9677" y="1864387"/>
            <a:ext cx="2915107" cy="2686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"작성된 index.html 구조에 맞춰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style.css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작성해줘. 다음 디자인 시스템 요구사항을 준수해야 해: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1.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:root 변수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색상(Primary, BG, Text), 폰트, 간격 토큰을 정의할 것.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2.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BEM 네이밍 규칙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(.block__element--modifier)을 철저히 따를 것.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3. 모든 폰트 사이즈는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16px(1rem)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상대 단위(rem)를 사용할 것.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4. 모던한 Reset CSS를 포함해줘."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35398" y="5344502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535398" y="5344502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763998" y="5453446"/>
            <a:ext cx="105156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06644" y="5447045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763998" y="5665587"/>
            <a:ext cx="337230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컬러(예: #FF6908)나 선호하는 폰트(Pretendard)를 구체적인 값으로 제공하면, 추가 수정 없이 바로 사용할 수 있는 코드를 얻을 수 있습니다.</a:t>
            </a:r>
            <a:endParaRPr lang="en-US" sz="10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20938" y="1199784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868740" y="1166866"/>
            <a:ext cx="235915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(STYLE.CSS)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20938" y="1480505"/>
            <a:ext cx="6884518" cy="496859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20938" y="1480505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773643" y="1630467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4963838" y="1630467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154947" y="1630467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459443" y="1624066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style.css</a:t>
            </a:r>
            <a:endParaRPr lang="en-US" sz="900" dirty="0"/>
          </a:p>
        </p:txBody>
      </p: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BD900648-A969-F110-898A-4843F1C9EF01}"/>
              </a:ext>
            </a:extLst>
          </p:cNvPr>
          <p:cNvGrpSpPr/>
          <p:nvPr/>
        </p:nvGrpSpPr>
        <p:grpSpPr>
          <a:xfrm>
            <a:off x="4858682" y="2004456"/>
            <a:ext cx="3595768" cy="4380110"/>
            <a:chOff x="4933189" y="2200304"/>
            <a:chExt cx="2539288" cy="3761842"/>
          </a:xfrm>
        </p:grpSpPr>
        <p:sp>
          <p:nvSpPr>
            <p:cNvPr id="26" name="Text 18"/>
            <p:cNvSpPr txBox="1"/>
            <p:nvPr/>
          </p:nvSpPr>
          <p:spPr>
            <a:xfrm>
              <a:off x="4933189" y="2200304"/>
              <a:ext cx="2324405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1. Design Tokens &amp; Variables */</a:t>
              </a:r>
              <a:endParaRPr lang="en-US" sz="1300" dirty="0"/>
            </a:p>
          </p:txBody>
        </p:sp>
        <p:sp>
          <p:nvSpPr>
            <p:cNvPr id="27" name="Text 19"/>
            <p:cNvSpPr txBox="1"/>
            <p:nvPr/>
          </p:nvSpPr>
          <p:spPr>
            <a:xfrm>
              <a:off x="4933189" y="2326491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:root</a:t>
              </a:r>
              <a:endParaRPr lang="en-US" sz="1300" dirty="0"/>
            </a:p>
          </p:txBody>
        </p:sp>
        <p:sp>
          <p:nvSpPr>
            <p:cNvPr id="28" name="Text 20"/>
            <p:cNvSpPr txBox="1"/>
            <p:nvPr/>
          </p:nvSpPr>
          <p:spPr>
            <a:xfrm>
              <a:off x="5218482" y="232649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300" dirty="0"/>
            </a:p>
          </p:txBody>
        </p:sp>
        <p:sp>
          <p:nvSpPr>
            <p:cNvPr id="29" name="Text 21"/>
            <p:cNvSpPr txBox="1"/>
            <p:nvPr/>
          </p:nvSpPr>
          <p:spPr>
            <a:xfrm>
              <a:off x="5084979" y="2451764"/>
              <a:ext cx="10296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--primary-color</a:t>
              </a:r>
              <a:endParaRPr lang="en-US" sz="1300" dirty="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5942686" y="2451764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6056986" y="2451764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#FF6908</a:t>
              </a:r>
              <a:endParaRPr lang="en-US" sz="13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6457494" y="2451764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084979" y="2577951"/>
              <a:ext cx="75529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--text-dark</a:t>
              </a:r>
              <a:endParaRPr lang="en-US" sz="130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5714086" y="257795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5828386" y="2577951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#1F2937</a:t>
              </a:r>
              <a:endParaRPr lang="en-US" sz="130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6228894" y="257795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084979" y="2704139"/>
              <a:ext cx="82387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--text-light</a:t>
              </a:r>
              <a:endParaRPr lang="en-US" sz="13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5770779" y="2704139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5885994" y="2704139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#6B7280</a:t>
              </a:r>
              <a:endParaRPr lang="en-US" sz="13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6285586" y="270413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084979" y="2829411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--bg-white</a:t>
              </a:r>
              <a:endParaRPr lang="en-US" sz="13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5656479" y="282941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771694" y="2829411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#FFFFFF</a:t>
              </a:r>
              <a:endParaRPr lang="en-US" sz="13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6171286" y="282941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084979" y="2955599"/>
              <a:ext cx="75529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--font-main</a:t>
              </a:r>
              <a:endParaRPr lang="en-US" sz="13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5714086" y="2955599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828386" y="2955599"/>
              <a:ext cx="164409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'Pretendard', sans-serif</a:t>
              </a:r>
              <a:endParaRPr lang="en-US" sz="13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7199986" y="295559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5084979" y="3080871"/>
              <a:ext cx="9610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--spacing-base</a:t>
              </a:r>
              <a:endParaRPr lang="en-US" sz="13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5885079" y="308087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6000294" y="3080871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1rem</a:t>
              </a:r>
              <a:endParaRPr lang="en-US" sz="13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6228894" y="308087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6343194" y="3080871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16px */</a:t>
              </a:r>
              <a:endParaRPr lang="en-US" sz="13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4933189" y="320705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3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4933189" y="3332331"/>
              <a:ext cx="1915668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2. Reset &amp; Base Styles */</a:t>
              </a:r>
              <a:endParaRPr lang="en-US" sz="13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6533389" y="333233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*</a:t>
              </a:r>
              <a:endParaRPr lang="en-US" sz="13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6590082" y="333233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3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5084979" y="3458519"/>
              <a:ext cx="4288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margin</a:t>
              </a:r>
              <a:endParaRPr lang="en-US" sz="13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5427879" y="3458519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5543094" y="345851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</a:t>
              </a:r>
              <a:endParaRPr lang="en-US" sz="13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5599786" y="345851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5084979" y="3583791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padding</a:t>
              </a:r>
              <a:endParaRPr lang="en-US" sz="13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5485486" y="358379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5599786" y="358379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</a:t>
              </a:r>
              <a:endParaRPr lang="en-US" sz="130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5657394" y="358379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5084979" y="3709979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box-sizing</a:t>
              </a:r>
              <a:endParaRPr lang="en-US" sz="13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5656479" y="3709979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5771694" y="3709979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border-box</a:t>
              </a:r>
              <a:endParaRPr lang="en-US" sz="130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6343194" y="370997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4933189" y="383525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3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5047489" y="3835251"/>
              <a:ext cx="3145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body</a:t>
              </a:r>
              <a:endParaRPr lang="en-US" sz="13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5276089" y="383525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30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5084979" y="3961439"/>
              <a:ext cx="75529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font-family</a:t>
              </a:r>
              <a:endParaRPr lang="en-US" sz="130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5714086" y="3961439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5828386" y="3961439"/>
              <a:ext cx="109819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var(--font-main)</a:t>
              </a:r>
              <a:endParaRPr lang="en-US" sz="130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6742786" y="396143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5084979" y="4086711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color</a:t>
              </a:r>
              <a:endParaRPr lang="en-US" sz="130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5371186" y="408671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5485486" y="4086711"/>
              <a:ext cx="109819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var(--text-dark)</a:t>
              </a:r>
              <a:endParaRPr lang="en-US" sz="130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6399886" y="408671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5084979" y="4212899"/>
              <a:ext cx="75529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line-height</a:t>
              </a:r>
              <a:endParaRPr lang="en-US" sz="1300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5714086" y="4212899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5828386" y="4212899"/>
              <a:ext cx="2578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1.6</a:t>
              </a:r>
              <a:endParaRPr lang="en-US" sz="1300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6000294" y="421289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4933189" y="4338171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300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4933189" y="4464359"/>
              <a:ext cx="2459736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3. BEM Component: Project Card */</a:t>
              </a:r>
              <a:endParaRPr lang="en-US" sz="1300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4933189" y="4589631"/>
              <a:ext cx="8924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.project-card</a:t>
              </a:r>
              <a:endParaRPr lang="en-US" sz="1300" dirty="0"/>
            </a:p>
          </p:txBody>
        </p:sp>
        <p:sp>
          <p:nvSpPr>
            <p:cNvPr id="88" name="Text 80"/>
            <p:cNvSpPr txBox="1"/>
            <p:nvPr/>
          </p:nvSpPr>
          <p:spPr>
            <a:xfrm>
              <a:off x="5675682" y="4589631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300" dirty="0"/>
            </a:p>
          </p:txBody>
        </p:sp>
        <p:sp>
          <p:nvSpPr>
            <p:cNvPr id="89" name="Text 81"/>
            <p:cNvSpPr txBox="1"/>
            <p:nvPr/>
          </p:nvSpPr>
          <p:spPr>
            <a:xfrm>
              <a:off x="5084979" y="4715819"/>
              <a:ext cx="109819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background-color</a:t>
              </a:r>
              <a:endParaRPr lang="en-US" sz="1300" dirty="0"/>
            </a:p>
          </p:txBody>
        </p:sp>
        <p:sp>
          <p:nvSpPr>
            <p:cNvPr id="90" name="Text 82"/>
            <p:cNvSpPr txBox="1"/>
            <p:nvPr/>
          </p:nvSpPr>
          <p:spPr>
            <a:xfrm>
              <a:off x="5999379" y="4715819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91" name="Text 83"/>
            <p:cNvSpPr txBox="1"/>
            <p:nvPr/>
          </p:nvSpPr>
          <p:spPr>
            <a:xfrm>
              <a:off x="6114594" y="4715819"/>
              <a:ext cx="10296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var(--bg-white)</a:t>
              </a:r>
              <a:endParaRPr lang="en-US" sz="1300" dirty="0"/>
            </a:p>
          </p:txBody>
        </p:sp>
        <p:sp>
          <p:nvSpPr>
            <p:cNvPr id="92" name="Text 84"/>
            <p:cNvSpPr txBox="1"/>
            <p:nvPr/>
          </p:nvSpPr>
          <p:spPr>
            <a:xfrm>
              <a:off x="6971386" y="471581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93" name="Text 85"/>
            <p:cNvSpPr txBox="1"/>
            <p:nvPr/>
          </p:nvSpPr>
          <p:spPr>
            <a:xfrm>
              <a:off x="5084979" y="4842006"/>
              <a:ext cx="8924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border-radius</a:t>
              </a:r>
              <a:endParaRPr lang="en-US" sz="1300" dirty="0"/>
            </a:p>
          </p:txBody>
        </p:sp>
        <p:sp>
          <p:nvSpPr>
            <p:cNvPr id="94" name="Text 86"/>
            <p:cNvSpPr txBox="1"/>
            <p:nvPr/>
          </p:nvSpPr>
          <p:spPr>
            <a:xfrm>
              <a:off x="5828386" y="4842006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95" name="Text 87"/>
            <p:cNvSpPr txBox="1"/>
            <p:nvPr/>
          </p:nvSpPr>
          <p:spPr>
            <a:xfrm>
              <a:off x="5942686" y="4842006"/>
              <a:ext cx="4288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0.5rem</a:t>
              </a:r>
              <a:endParaRPr lang="en-US" sz="1300" dirty="0"/>
            </a:p>
          </p:txBody>
        </p:sp>
        <p:sp>
          <p:nvSpPr>
            <p:cNvPr id="96" name="Text 88"/>
            <p:cNvSpPr txBox="1"/>
            <p:nvPr/>
          </p:nvSpPr>
          <p:spPr>
            <a:xfrm>
              <a:off x="6285586" y="4842006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97" name="Text 89"/>
            <p:cNvSpPr txBox="1"/>
            <p:nvPr/>
          </p:nvSpPr>
          <p:spPr>
            <a:xfrm>
              <a:off x="5084979" y="4967279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padding</a:t>
              </a:r>
              <a:endParaRPr lang="en-US" sz="1300" dirty="0"/>
            </a:p>
          </p:txBody>
        </p:sp>
        <p:sp>
          <p:nvSpPr>
            <p:cNvPr id="98" name="Text 90"/>
            <p:cNvSpPr txBox="1"/>
            <p:nvPr/>
          </p:nvSpPr>
          <p:spPr>
            <a:xfrm>
              <a:off x="5485486" y="4967279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99" name="Text 91"/>
            <p:cNvSpPr txBox="1"/>
            <p:nvPr/>
          </p:nvSpPr>
          <p:spPr>
            <a:xfrm>
              <a:off x="5599786" y="4967279"/>
              <a:ext cx="13039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var(--spacing-base)</a:t>
              </a:r>
              <a:endParaRPr lang="en-US" sz="1300" dirty="0"/>
            </a:p>
          </p:txBody>
        </p:sp>
        <p:sp>
          <p:nvSpPr>
            <p:cNvPr id="100" name="Text 92"/>
            <p:cNvSpPr txBox="1"/>
            <p:nvPr/>
          </p:nvSpPr>
          <p:spPr>
            <a:xfrm>
              <a:off x="6686094" y="496727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101" name="Text 93"/>
            <p:cNvSpPr txBox="1"/>
            <p:nvPr/>
          </p:nvSpPr>
          <p:spPr>
            <a:xfrm>
              <a:off x="5084979" y="5093466"/>
              <a:ext cx="68671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transition</a:t>
              </a:r>
              <a:endParaRPr lang="en-US" sz="1300" dirty="0"/>
            </a:p>
          </p:txBody>
        </p:sp>
        <p:sp>
          <p:nvSpPr>
            <p:cNvPr id="102" name="Text 94"/>
            <p:cNvSpPr txBox="1"/>
            <p:nvPr/>
          </p:nvSpPr>
          <p:spPr>
            <a:xfrm>
              <a:off x="5656479" y="5093466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103" name="Text 95"/>
            <p:cNvSpPr txBox="1"/>
            <p:nvPr/>
          </p:nvSpPr>
          <p:spPr>
            <a:xfrm>
              <a:off x="5771694" y="5093466"/>
              <a:ext cx="13039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transform 0.2s ease</a:t>
              </a:r>
              <a:endParaRPr lang="en-US" sz="1300" dirty="0"/>
            </a:p>
          </p:txBody>
        </p:sp>
        <p:sp>
          <p:nvSpPr>
            <p:cNvPr id="104" name="Text 96"/>
            <p:cNvSpPr txBox="1"/>
            <p:nvPr/>
          </p:nvSpPr>
          <p:spPr>
            <a:xfrm>
              <a:off x="6857086" y="5093466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105" name="Text 97"/>
            <p:cNvSpPr txBox="1"/>
            <p:nvPr/>
          </p:nvSpPr>
          <p:spPr>
            <a:xfrm>
              <a:off x="4933189" y="521873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300" dirty="0"/>
            </a:p>
          </p:txBody>
        </p:sp>
        <p:sp>
          <p:nvSpPr>
            <p:cNvPr id="106" name="Text 98"/>
            <p:cNvSpPr txBox="1"/>
            <p:nvPr/>
          </p:nvSpPr>
          <p:spPr>
            <a:xfrm>
              <a:off x="4933189" y="5344926"/>
              <a:ext cx="1371600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.project-card__title</a:t>
              </a:r>
              <a:endParaRPr lang="en-US" sz="1300" dirty="0"/>
            </a:p>
          </p:txBody>
        </p:sp>
        <p:sp>
          <p:nvSpPr>
            <p:cNvPr id="107" name="Text 99"/>
            <p:cNvSpPr txBox="1"/>
            <p:nvPr/>
          </p:nvSpPr>
          <p:spPr>
            <a:xfrm>
              <a:off x="6076189" y="5344926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300" dirty="0"/>
            </a:p>
          </p:txBody>
        </p:sp>
        <p:sp>
          <p:nvSpPr>
            <p:cNvPr id="108" name="Text 100"/>
            <p:cNvSpPr txBox="1"/>
            <p:nvPr/>
          </p:nvSpPr>
          <p:spPr>
            <a:xfrm>
              <a:off x="5084979" y="5470199"/>
              <a:ext cx="61813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font-size</a:t>
              </a:r>
              <a:endParaRPr lang="en-US" sz="1300" dirty="0"/>
            </a:p>
          </p:txBody>
        </p:sp>
        <p:sp>
          <p:nvSpPr>
            <p:cNvPr id="109" name="Text 101"/>
            <p:cNvSpPr txBox="1"/>
            <p:nvPr/>
          </p:nvSpPr>
          <p:spPr>
            <a:xfrm>
              <a:off x="5599786" y="5470199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110" name="Text 102"/>
            <p:cNvSpPr txBox="1"/>
            <p:nvPr/>
          </p:nvSpPr>
          <p:spPr>
            <a:xfrm>
              <a:off x="5714086" y="5470199"/>
              <a:ext cx="4864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1.25rem</a:t>
              </a:r>
              <a:endParaRPr lang="en-US" sz="1300" dirty="0"/>
            </a:p>
          </p:txBody>
        </p:sp>
        <p:sp>
          <p:nvSpPr>
            <p:cNvPr id="111" name="Text 103"/>
            <p:cNvSpPr txBox="1"/>
            <p:nvPr/>
          </p:nvSpPr>
          <p:spPr>
            <a:xfrm>
              <a:off x="6114594" y="547019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112" name="Text 104"/>
            <p:cNvSpPr txBox="1"/>
            <p:nvPr/>
          </p:nvSpPr>
          <p:spPr>
            <a:xfrm>
              <a:off x="5084979" y="5596386"/>
              <a:ext cx="3721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color</a:t>
              </a:r>
              <a:endParaRPr lang="en-US" sz="1300" dirty="0"/>
            </a:p>
          </p:txBody>
        </p:sp>
        <p:sp>
          <p:nvSpPr>
            <p:cNvPr id="113" name="Text 105"/>
            <p:cNvSpPr txBox="1"/>
            <p:nvPr/>
          </p:nvSpPr>
          <p:spPr>
            <a:xfrm>
              <a:off x="5371186" y="5596386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114" name="Text 106"/>
            <p:cNvSpPr txBox="1"/>
            <p:nvPr/>
          </p:nvSpPr>
          <p:spPr>
            <a:xfrm>
              <a:off x="5485486" y="5596386"/>
              <a:ext cx="1371600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var(--primary-color)</a:t>
              </a:r>
              <a:endParaRPr lang="en-US" sz="1300" dirty="0"/>
            </a:p>
          </p:txBody>
        </p:sp>
        <p:sp>
          <p:nvSpPr>
            <p:cNvPr id="115" name="Text 107"/>
            <p:cNvSpPr txBox="1"/>
            <p:nvPr/>
          </p:nvSpPr>
          <p:spPr>
            <a:xfrm>
              <a:off x="6628486" y="5596386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116" name="Text 108"/>
            <p:cNvSpPr txBox="1"/>
            <p:nvPr/>
          </p:nvSpPr>
          <p:spPr>
            <a:xfrm>
              <a:off x="5084979" y="5721659"/>
              <a:ext cx="8924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margin-bottom</a:t>
              </a:r>
              <a:endParaRPr lang="en-US" sz="1300" dirty="0"/>
            </a:p>
          </p:txBody>
        </p:sp>
        <p:sp>
          <p:nvSpPr>
            <p:cNvPr id="117" name="Text 109"/>
            <p:cNvSpPr txBox="1"/>
            <p:nvPr/>
          </p:nvSpPr>
          <p:spPr>
            <a:xfrm>
              <a:off x="5828386" y="5721659"/>
              <a:ext cx="2002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300" dirty="0"/>
            </a:p>
          </p:txBody>
        </p:sp>
        <p:sp>
          <p:nvSpPr>
            <p:cNvPr id="118" name="Text 110"/>
            <p:cNvSpPr txBox="1"/>
            <p:nvPr/>
          </p:nvSpPr>
          <p:spPr>
            <a:xfrm>
              <a:off x="5942686" y="5721659"/>
              <a:ext cx="428854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0.5rem</a:t>
              </a:r>
              <a:endParaRPr lang="en-US" sz="1300" dirty="0"/>
            </a:p>
          </p:txBody>
        </p:sp>
        <p:sp>
          <p:nvSpPr>
            <p:cNvPr id="119" name="Text 111"/>
            <p:cNvSpPr txBox="1"/>
            <p:nvPr/>
          </p:nvSpPr>
          <p:spPr>
            <a:xfrm>
              <a:off x="6285586" y="5721659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300" dirty="0"/>
            </a:p>
          </p:txBody>
        </p:sp>
        <p:sp>
          <p:nvSpPr>
            <p:cNvPr id="120" name="Text 112"/>
            <p:cNvSpPr txBox="1"/>
            <p:nvPr/>
          </p:nvSpPr>
          <p:spPr>
            <a:xfrm>
              <a:off x="4933189" y="5847846"/>
              <a:ext cx="143561" cy="11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300" dirty="0"/>
            </a:p>
          </p:txBody>
        </p:sp>
      </p:grpSp>
      <p:sp>
        <p:nvSpPr>
          <p:cNvPr id="1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22747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CSS 스타일링 결과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735177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결과물: style.css - CSS 변수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390595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9" b="-9"/>
          <a:stretch/>
        </p:blipFill>
        <p:spPr>
          <a:xfrm>
            <a:off x="847649" y="2617013"/>
            <a:ext cx="3230575" cy="210677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915107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"프로젝트 전반에 사용할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유틸리티 토큰(색상, 간격, 타이포그래피)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정의하는 CSS 변수(:root)를 작성해줘.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BEM 네이밍 규칙을 고려하고, 기본 폰트 크기는 16px로 설정해서 유지보수가 쉽도록 해줘."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09905" y="5298034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9905" y="5298034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476342"/>
            <a:ext cx="105156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1151" y="5469026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38505" y="5688482"/>
            <a:ext cx="337230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CSS 변수(Custom Properties)를 활용하면 다크 모드 구현이나 브랜드 컬러 변경 시 한 곳에서 일괄 수정이 가능해 효율적입니다.</a:t>
            </a:r>
            <a:endParaRPr lang="en-US" sz="10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45075" y="1684325"/>
            <a:ext cx="235915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(STYLE.CSS)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5778" y="214152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style.css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4935017" y="2521915"/>
            <a:ext cx="301569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Global Variables &amp; Design Tokens */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7467905" y="2521915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:root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7801661" y="252191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5086807" y="2669134"/>
            <a:ext cx="150784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Color Palette */</a:t>
            </a:r>
            <a:endParaRPr lang="en-US" sz="1000" dirty="0"/>
          </a:p>
        </p:txBody>
      </p:sp>
      <p:sp>
        <p:nvSpPr>
          <p:cNvPr id="30" name="Text 22"/>
          <p:cNvSpPr txBox="1"/>
          <p:nvPr/>
        </p:nvSpPr>
        <p:spPr>
          <a:xfrm>
            <a:off x="5086807" y="2815438"/>
            <a:ext cx="119054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--color-primary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6087161" y="281543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6153912" y="2815438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#FF6908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6620256" y="281543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086807" y="2962656"/>
            <a:ext cx="13496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--color-secondary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6220663" y="296265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6287414" y="2962656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#1F2937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753758" y="296265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5086807" y="3108960"/>
            <a:ext cx="12701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--color-bg-light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6153912" y="310896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0" name="Text 32"/>
          <p:cNvSpPr txBox="1"/>
          <p:nvPr/>
        </p:nvSpPr>
        <p:spPr>
          <a:xfrm>
            <a:off x="6220663" y="3108960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#FFFFFF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6687007" y="310896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42" name="Text 34"/>
          <p:cNvSpPr txBox="1"/>
          <p:nvPr/>
        </p:nvSpPr>
        <p:spPr>
          <a:xfrm>
            <a:off x="5086807" y="3256178"/>
            <a:ext cx="13496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--color-text-main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6220663" y="325617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6287414" y="3256178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#111827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6753758" y="325617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46" name="Text 38"/>
          <p:cNvSpPr txBox="1"/>
          <p:nvPr/>
        </p:nvSpPr>
        <p:spPr>
          <a:xfrm>
            <a:off x="5086807" y="3402482"/>
            <a:ext cx="142829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--color-text-muted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6287414" y="340248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48" name="Text 40"/>
          <p:cNvSpPr txBox="1"/>
          <p:nvPr/>
        </p:nvSpPr>
        <p:spPr>
          <a:xfrm>
            <a:off x="6354166" y="3402482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#6B7280</a:t>
            </a:r>
            <a:endParaRPr lang="en-US" sz="1000" dirty="0"/>
          </a:p>
        </p:txBody>
      </p:sp>
      <p:sp>
        <p:nvSpPr>
          <p:cNvPr id="49" name="Text 41"/>
          <p:cNvSpPr txBox="1"/>
          <p:nvPr/>
        </p:nvSpPr>
        <p:spPr>
          <a:xfrm>
            <a:off x="6820510" y="340248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50" name="Text 42"/>
          <p:cNvSpPr txBox="1"/>
          <p:nvPr/>
        </p:nvSpPr>
        <p:spPr>
          <a:xfrm>
            <a:off x="5086807" y="3696005"/>
            <a:ext cx="293613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Spacing Scale (8px Grid System) */</a:t>
            </a:r>
            <a:endParaRPr lang="en-US" sz="1000" dirty="0"/>
          </a:p>
        </p:txBody>
      </p:sp>
      <p:sp>
        <p:nvSpPr>
          <p:cNvPr id="51" name="Text 43"/>
          <p:cNvSpPr txBox="1"/>
          <p:nvPr/>
        </p:nvSpPr>
        <p:spPr>
          <a:xfrm>
            <a:off x="5086807" y="3843223"/>
            <a:ext cx="9528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--spacing-sm</a:t>
            </a:r>
            <a:endParaRPr 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5886907" y="384322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53" name="Text 45"/>
          <p:cNvSpPr txBox="1"/>
          <p:nvPr/>
        </p:nvSpPr>
        <p:spPr>
          <a:xfrm>
            <a:off x="5953658" y="3843223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5CEA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8px</a:t>
            </a:r>
            <a:endParaRPr lang="en-US" sz="1000" dirty="0"/>
          </a:p>
        </p:txBody>
      </p:sp>
      <p:sp>
        <p:nvSpPr>
          <p:cNvPr id="54" name="Text 46"/>
          <p:cNvSpPr txBox="1"/>
          <p:nvPr/>
        </p:nvSpPr>
        <p:spPr>
          <a:xfrm>
            <a:off x="6153912" y="384322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55" name="Text 47"/>
          <p:cNvSpPr txBox="1"/>
          <p:nvPr/>
        </p:nvSpPr>
        <p:spPr>
          <a:xfrm>
            <a:off x="5086807" y="3989527"/>
            <a:ext cx="9528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--spacing-md</a:t>
            </a:r>
            <a:endParaRPr lang="en-US" sz="1000" dirty="0"/>
          </a:p>
        </p:txBody>
      </p:sp>
      <p:sp>
        <p:nvSpPr>
          <p:cNvPr id="56" name="Text 48"/>
          <p:cNvSpPr txBox="1"/>
          <p:nvPr/>
        </p:nvSpPr>
        <p:spPr>
          <a:xfrm>
            <a:off x="5886907" y="398952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57" name="Text 49"/>
          <p:cNvSpPr txBox="1"/>
          <p:nvPr/>
        </p:nvSpPr>
        <p:spPr>
          <a:xfrm>
            <a:off x="5953658" y="3989527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5CEA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16px</a:t>
            </a:r>
            <a:endParaRPr lang="en-US" sz="1000" dirty="0"/>
          </a:p>
        </p:txBody>
      </p:sp>
      <p:sp>
        <p:nvSpPr>
          <p:cNvPr id="58" name="Text 50"/>
          <p:cNvSpPr txBox="1"/>
          <p:nvPr/>
        </p:nvSpPr>
        <p:spPr>
          <a:xfrm>
            <a:off x="6220663" y="398952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59" name="Text 51"/>
          <p:cNvSpPr txBox="1"/>
          <p:nvPr/>
        </p:nvSpPr>
        <p:spPr>
          <a:xfrm>
            <a:off x="5086807" y="4136746"/>
            <a:ext cx="9528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--spacing-lg</a:t>
            </a:r>
            <a:endParaRPr lang="en-US" sz="1000" dirty="0"/>
          </a:p>
        </p:txBody>
      </p:sp>
      <p:sp>
        <p:nvSpPr>
          <p:cNvPr id="60" name="Text 52"/>
          <p:cNvSpPr txBox="1"/>
          <p:nvPr/>
        </p:nvSpPr>
        <p:spPr>
          <a:xfrm>
            <a:off x="5886907" y="413674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61" name="Text 53"/>
          <p:cNvSpPr txBox="1"/>
          <p:nvPr/>
        </p:nvSpPr>
        <p:spPr>
          <a:xfrm>
            <a:off x="5953658" y="4136746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5CEA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32px</a:t>
            </a:r>
            <a:endParaRPr lang="en-US" sz="1000" dirty="0"/>
          </a:p>
        </p:txBody>
      </p:sp>
      <p:sp>
        <p:nvSpPr>
          <p:cNvPr id="62" name="Text 54"/>
          <p:cNvSpPr txBox="1"/>
          <p:nvPr/>
        </p:nvSpPr>
        <p:spPr>
          <a:xfrm>
            <a:off x="6220663" y="413674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63" name="Text 55"/>
          <p:cNvSpPr txBox="1"/>
          <p:nvPr/>
        </p:nvSpPr>
        <p:spPr>
          <a:xfrm>
            <a:off x="5086807" y="4283050"/>
            <a:ext cx="9528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--spacing-xl</a:t>
            </a:r>
            <a:endParaRPr lang="en-US" sz="1000" dirty="0"/>
          </a:p>
        </p:txBody>
      </p:sp>
      <p:sp>
        <p:nvSpPr>
          <p:cNvPr id="64" name="Text 56"/>
          <p:cNvSpPr txBox="1"/>
          <p:nvPr/>
        </p:nvSpPr>
        <p:spPr>
          <a:xfrm>
            <a:off x="5886907" y="428305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65" name="Text 57"/>
          <p:cNvSpPr txBox="1"/>
          <p:nvPr/>
        </p:nvSpPr>
        <p:spPr>
          <a:xfrm>
            <a:off x="5953658" y="4283050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5CEA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64px</a:t>
            </a:r>
            <a:endParaRPr lang="en-US" sz="1000" dirty="0"/>
          </a:p>
        </p:txBody>
      </p:sp>
      <p:sp>
        <p:nvSpPr>
          <p:cNvPr id="66" name="Text 58"/>
          <p:cNvSpPr txBox="1"/>
          <p:nvPr/>
        </p:nvSpPr>
        <p:spPr>
          <a:xfrm>
            <a:off x="6220663" y="428305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67" name="Text 59"/>
          <p:cNvSpPr txBox="1"/>
          <p:nvPr/>
        </p:nvSpPr>
        <p:spPr>
          <a:xfrm>
            <a:off x="5086807" y="4576572"/>
            <a:ext cx="12701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Typography */</a:t>
            </a:r>
            <a:endParaRPr lang="en-US" sz="1000" dirty="0"/>
          </a:p>
        </p:txBody>
      </p:sp>
      <p:sp>
        <p:nvSpPr>
          <p:cNvPr id="68" name="Text 60"/>
          <p:cNvSpPr txBox="1"/>
          <p:nvPr/>
        </p:nvSpPr>
        <p:spPr>
          <a:xfrm>
            <a:off x="5086807" y="4722876"/>
            <a:ext cx="87325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--font-base</a:t>
            </a:r>
            <a:endParaRPr lang="en-US" sz="1000" dirty="0"/>
          </a:p>
        </p:txBody>
      </p:sp>
      <p:sp>
        <p:nvSpPr>
          <p:cNvPr id="69" name="Text 61"/>
          <p:cNvSpPr txBox="1"/>
          <p:nvPr/>
        </p:nvSpPr>
        <p:spPr>
          <a:xfrm>
            <a:off x="5820156" y="472287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70" name="Text 62"/>
          <p:cNvSpPr txBox="1"/>
          <p:nvPr/>
        </p:nvSpPr>
        <p:spPr>
          <a:xfrm>
            <a:off x="5886907" y="4722876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5CEA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16px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6153912" y="472287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72" name="Text 64"/>
          <p:cNvSpPr txBox="1"/>
          <p:nvPr/>
        </p:nvSpPr>
        <p:spPr>
          <a:xfrm>
            <a:off x="5086807" y="4870094"/>
            <a:ext cx="142829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--font-family-main</a:t>
            </a:r>
            <a:endParaRPr lang="en-US" sz="1000" dirty="0"/>
          </a:p>
        </p:txBody>
      </p:sp>
      <p:sp>
        <p:nvSpPr>
          <p:cNvPr id="73" name="Text 65"/>
          <p:cNvSpPr txBox="1"/>
          <p:nvPr/>
        </p:nvSpPr>
        <p:spPr>
          <a:xfrm>
            <a:off x="6287414" y="4870094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74" name="Text 66"/>
          <p:cNvSpPr txBox="1"/>
          <p:nvPr/>
        </p:nvSpPr>
        <p:spPr>
          <a:xfrm>
            <a:off x="6354166" y="4870094"/>
            <a:ext cx="190469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'Pretendard', sans-serif</a:t>
            </a:r>
            <a:endParaRPr lang="en-US" sz="1000" dirty="0"/>
          </a:p>
        </p:txBody>
      </p:sp>
      <p:sp>
        <p:nvSpPr>
          <p:cNvPr id="75" name="Text 67"/>
          <p:cNvSpPr txBox="1"/>
          <p:nvPr/>
        </p:nvSpPr>
        <p:spPr>
          <a:xfrm>
            <a:off x="7954366" y="4870094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76" name="Text 68"/>
          <p:cNvSpPr txBox="1"/>
          <p:nvPr/>
        </p:nvSpPr>
        <p:spPr>
          <a:xfrm>
            <a:off x="5086807" y="5016398"/>
            <a:ext cx="142829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--line-height-base</a:t>
            </a:r>
            <a:endParaRPr lang="en-US" sz="1000" dirty="0"/>
          </a:p>
        </p:txBody>
      </p:sp>
      <p:sp>
        <p:nvSpPr>
          <p:cNvPr id="77" name="Text 69"/>
          <p:cNvSpPr txBox="1"/>
          <p:nvPr/>
        </p:nvSpPr>
        <p:spPr>
          <a:xfrm>
            <a:off x="6287414" y="501639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78" name="Text 70"/>
          <p:cNvSpPr txBox="1"/>
          <p:nvPr/>
        </p:nvSpPr>
        <p:spPr>
          <a:xfrm>
            <a:off x="6354166" y="5016398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5CEA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1.5</a:t>
            </a:r>
            <a:endParaRPr lang="en-US" sz="1000" dirty="0"/>
          </a:p>
        </p:txBody>
      </p:sp>
      <p:sp>
        <p:nvSpPr>
          <p:cNvPr id="79" name="Text 71"/>
          <p:cNvSpPr txBox="1"/>
          <p:nvPr/>
        </p:nvSpPr>
        <p:spPr>
          <a:xfrm>
            <a:off x="6553505" y="501639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80" name="Text 72"/>
          <p:cNvSpPr txBox="1"/>
          <p:nvPr/>
        </p:nvSpPr>
        <p:spPr>
          <a:xfrm>
            <a:off x="4935017" y="516361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81" name="Text 73"/>
          <p:cNvSpPr txBox="1"/>
          <p:nvPr/>
        </p:nvSpPr>
        <p:spPr>
          <a:xfrm>
            <a:off x="5001768" y="5163617"/>
            <a:ext cx="238109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/* Basic Reset &amp; Body Style */</a:t>
            </a:r>
            <a:endParaRPr lang="en-US" sz="1000" dirty="0"/>
          </a:p>
        </p:txBody>
      </p:sp>
      <p:sp>
        <p:nvSpPr>
          <p:cNvPr id="82" name="Text 74"/>
          <p:cNvSpPr txBox="1"/>
          <p:nvPr/>
        </p:nvSpPr>
        <p:spPr>
          <a:xfrm>
            <a:off x="7001561" y="5163617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7BA7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body</a:t>
            </a:r>
            <a:endParaRPr lang="en-US" sz="1000" dirty="0"/>
          </a:p>
        </p:txBody>
      </p:sp>
      <p:sp>
        <p:nvSpPr>
          <p:cNvPr id="83" name="Text 75"/>
          <p:cNvSpPr txBox="1"/>
          <p:nvPr/>
        </p:nvSpPr>
        <p:spPr>
          <a:xfrm>
            <a:off x="7268566" y="516361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{</a:t>
            </a:r>
            <a:endParaRPr lang="en-US" sz="1000" dirty="0"/>
          </a:p>
        </p:txBody>
      </p:sp>
      <p:sp>
        <p:nvSpPr>
          <p:cNvPr id="84" name="Text 76"/>
          <p:cNvSpPr txBox="1"/>
          <p:nvPr/>
        </p:nvSpPr>
        <p:spPr>
          <a:xfrm>
            <a:off x="5086807" y="5309921"/>
            <a:ext cx="87325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font-family</a:t>
            </a:r>
            <a:endParaRPr lang="en-US" sz="1000" dirty="0"/>
          </a:p>
        </p:txBody>
      </p:sp>
      <p:sp>
        <p:nvSpPr>
          <p:cNvPr id="85" name="Text 77"/>
          <p:cNvSpPr txBox="1"/>
          <p:nvPr/>
        </p:nvSpPr>
        <p:spPr>
          <a:xfrm>
            <a:off x="5820156" y="530992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86" name="Text 78"/>
          <p:cNvSpPr txBox="1"/>
          <p:nvPr/>
        </p:nvSpPr>
        <p:spPr>
          <a:xfrm>
            <a:off x="5886907" y="5309921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var</a:t>
            </a:r>
            <a:endParaRPr lang="en-US" sz="1000" dirty="0"/>
          </a:p>
        </p:txBody>
      </p:sp>
      <p:sp>
        <p:nvSpPr>
          <p:cNvPr id="87" name="Text 79"/>
          <p:cNvSpPr txBox="1"/>
          <p:nvPr/>
        </p:nvSpPr>
        <p:spPr>
          <a:xfrm>
            <a:off x="6087161" y="530992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1000" dirty="0"/>
          </a:p>
        </p:txBody>
      </p:sp>
      <p:sp>
        <p:nvSpPr>
          <p:cNvPr id="88" name="Text 80"/>
          <p:cNvSpPr txBox="1"/>
          <p:nvPr/>
        </p:nvSpPr>
        <p:spPr>
          <a:xfrm>
            <a:off x="6153912" y="5309921"/>
            <a:ext cx="142829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--font-family-main</a:t>
            </a:r>
            <a:endParaRPr lang="en-US" sz="1000" dirty="0"/>
          </a:p>
        </p:txBody>
      </p:sp>
      <p:sp>
        <p:nvSpPr>
          <p:cNvPr id="89" name="Text 81"/>
          <p:cNvSpPr txBox="1"/>
          <p:nvPr/>
        </p:nvSpPr>
        <p:spPr>
          <a:xfrm>
            <a:off x="7353605" y="530992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1000" dirty="0"/>
          </a:p>
        </p:txBody>
      </p:sp>
      <p:sp>
        <p:nvSpPr>
          <p:cNvPr id="90" name="Text 82"/>
          <p:cNvSpPr txBox="1"/>
          <p:nvPr/>
        </p:nvSpPr>
        <p:spPr>
          <a:xfrm>
            <a:off x="7420356" y="5309921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91" name="Text 83"/>
          <p:cNvSpPr txBox="1"/>
          <p:nvPr/>
        </p:nvSpPr>
        <p:spPr>
          <a:xfrm>
            <a:off x="5086807" y="5457139"/>
            <a:ext cx="71414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font-size</a:t>
            </a:r>
            <a:endParaRPr lang="en-US" sz="1000" dirty="0"/>
          </a:p>
        </p:txBody>
      </p:sp>
      <p:sp>
        <p:nvSpPr>
          <p:cNvPr id="92" name="Text 84"/>
          <p:cNvSpPr txBox="1"/>
          <p:nvPr/>
        </p:nvSpPr>
        <p:spPr>
          <a:xfrm>
            <a:off x="5687568" y="5457139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93" name="Text 85"/>
          <p:cNvSpPr txBox="1"/>
          <p:nvPr/>
        </p:nvSpPr>
        <p:spPr>
          <a:xfrm>
            <a:off x="5753405" y="5457139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var</a:t>
            </a:r>
            <a:endParaRPr lang="en-US" sz="1000" dirty="0"/>
          </a:p>
        </p:txBody>
      </p:sp>
      <p:sp>
        <p:nvSpPr>
          <p:cNvPr id="94" name="Text 86"/>
          <p:cNvSpPr txBox="1"/>
          <p:nvPr/>
        </p:nvSpPr>
        <p:spPr>
          <a:xfrm>
            <a:off x="5953658" y="5457139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1000" dirty="0"/>
          </a:p>
        </p:txBody>
      </p:sp>
      <p:sp>
        <p:nvSpPr>
          <p:cNvPr id="95" name="Text 87"/>
          <p:cNvSpPr txBox="1"/>
          <p:nvPr/>
        </p:nvSpPr>
        <p:spPr>
          <a:xfrm>
            <a:off x="6020410" y="5457139"/>
            <a:ext cx="87325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--font-base</a:t>
            </a:r>
            <a:endParaRPr lang="en-US" sz="1000" dirty="0"/>
          </a:p>
        </p:txBody>
      </p:sp>
      <p:sp>
        <p:nvSpPr>
          <p:cNvPr id="96" name="Text 88"/>
          <p:cNvSpPr txBox="1"/>
          <p:nvPr/>
        </p:nvSpPr>
        <p:spPr>
          <a:xfrm>
            <a:off x="6753758" y="5457139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1000" dirty="0"/>
          </a:p>
        </p:txBody>
      </p:sp>
      <p:sp>
        <p:nvSpPr>
          <p:cNvPr id="97" name="Text 89"/>
          <p:cNvSpPr txBox="1"/>
          <p:nvPr/>
        </p:nvSpPr>
        <p:spPr>
          <a:xfrm>
            <a:off x="6820510" y="5457139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98" name="Text 90"/>
          <p:cNvSpPr txBox="1"/>
          <p:nvPr/>
        </p:nvSpPr>
        <p:spPr>
          <a:xfrm>
            <a:off x="5086807" y="5603443"/>
            <a:ext cx="87325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line-height</a:t>
            </a:r>
            <a:endParaRPr lang="en-US" sz="1000" dirty="0"/>
          </a:p>
        </p:txBody>
      </p:sp>
      <p:sp>
        <p:nvSpPr>
          <p:cNvPr id="99" name="Text 91"/>
          <p:cNvSpPr txBox="1"/>
          <p:nvPr/>
        </p:nvSpPr>
        <p:spPr>
          <a:xfrm>
            <a:off x="5820156" y="560344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100" name="Text 92"/>
          <p:cNvSpPr txBox="1"/>
          <p:nvPr/>
        </p:nvSpPr>
        <p:spPr>
          <a:xfrm>
            <a:off x="5886907" y="5603443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var</a:t>
            </a:r>
            <a:endParaRPr lang="en-US" sz="1000" dirty="0"/>
          </a:p>
        </p:txBody>
      </p:sp>
      <p:sp>
        <p:nvSpPr>
          <p:cNvPr id="101" name="Text 93"/>
          <p:cNvSpPr txBox="1"/>
          <p:nvPr/>
        </p:nvSpPr>
        <p:spPr>
          <a:xfrm>
            <a:off x="6087161" y="560344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1000" dirty="0"/>
          </a:p>
        </p:txBody>
      </p:sp>
      <p:sp>
        <p:nvSpPr>
          <p:cNvPr id="102" name="Text 94"/>
          <p:cNvSpPr txBox="1"/>
          <p:nvPr/>
        </p:nvSpPr>
        <p:spPr>
          <a:xfrm>
            <a:off x="6153912" y="5603443"/>
            <a:ext cx="142829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--line-height-base</a:t>
            </a:r>
            <a:endParaRPr lang="en-US" sz="1000" dirty="0"/>
          </a:p>
        </p:txBody>
      </p:sp>
      <p:sp>
        <p:nvSpPr>
          <p:cNvPr id="103" name="Text 95"/>
          <p:cNvSpPr txBox="1"/>
          <p:nvPr/>
        </p:nvSpPr>
        <p:spPr>
          <a:xfrm>
            <a:off x="7353605" y="560344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1000" dirty="0"/>
          </a:p>
        </p:txBody>
      </p:sp>
      <p:sp>
        <p:nvSpPr>
          <p:cNvPr id="104" name="Text 96"/>
          <p:cNvSpPr txBox="1"/>
          <p:nvPr/>
        </p:nvSpPr>
        <p:spPr>
          <a:xfrm>
            <a:off x="7420356" y="5603443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105" name="Text 97"/>
          <p:cNvSpPr txBox="1"/>
          <p:nvPr/>
        </p:nvSpPr>
        <p:spPr>
          <a:xfrm>
            <a:off x="5086807" y="5750662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color</a:t>
            </a:r>
            <a:endParaRPr lang="en-US" sz="1000" dirty="0"/>
          </a:p>
        </p:txBody>
      </p:sp>
      <p:sp>
        <p:nvSpPr>
          <p:cNvPr id="106" name="Text 98"/>
          <p:cNvSpPr txBox="1"/>
          <p:nvPr/>
        </p:nvSpPr>
        <p:spPr>
          <a:xfrm>
            <a:off x="5420563" y="575066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107" name="Text 99"/>
          <p:cNvSpPr txBox="1"/>
          <p:nvPr/>
        </p:nvSpPr>
        <p:spPr>
          <a:xfrm>
            <a:off x="5487314" y="5750662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var</a:t>
            </a:r>
            <a:endParaRPr lang="en-US" sz="1000" dirty="0"/>
          </a:p>
        </p:txBody>
      </p:sp>
      <p:sp>
        <p:nvSpPr>
          <p:cNvPr id="108" name="Text 100"/>
          <p:cNvSpPr txBox="1"/>
          <p:nvPr/>
        </p:nvSpPr>
        <p:spPr>
          <a:xfrm>
            <a:off x="5687568" y="575066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1000" dirty="0"/>
          </a:p>
        </p:txBody>
      </p:sp>
      <p:sp>
        <p:nvSpPr>
          <p:cNvPr id="109" name="Text 101"/>
          <p:cNvSpPr txBox="1"/>
          <p:nvPr/>
        </p:nvSpPr>
        <p:spPr>
          <a:xfrm>
            <a:off x="5753405" y="5750662"/>
            <a:ext cx="13496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--color-text-main</a:t>
            </a:r>
            <a:endParaRPr lang="en-US" sz="1000" dirty="0"/>
          </a:p>
        </p:txBody>
      </p:sp>
      <p:sp>
        <p:nvSpPr>
          <p:cNvPr id="110" name="Text 102"/>
          <p:cNvSpPr txBox="1"/>
          <p:nvPr/>
        </p:nvSpPr>
        <p:spPr>
          <a:xfrm>
            <a:off x="6887261" y="575066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1000" dirty="0"/>
          </a:p>
        </p:txBody>
      </p:sp>
      <p:sp>
        <p:nvSpPr>
          <p:cNvPr id="111" name="Text 103"/>
          <p:cNvSpPr txBox="1"/>
          <p:nvPr/>
        </p:nvSpPr>
        <p:spPr>
          <a:xfrm>
            <a:off x="6954012" y="575066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112" name="Text 104"/>
          <p:cNvSpPr txBox="1"/>
          <p:nvPr/>
        </p:nvSpPr>
        <p:spPr>
          <a:xfrm>
            <a:off x="5086807" y="5896966"/>
            <a:ext cx="12701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background-color</a:t>
            </a:r>
            <a:endParaRPr lang="en-US" sz="1000" dirty="0"/>
          </a:p>
        </p:txBody>
      </p:sp>
      <p:sp>
        <p:nvSpPr>
          <p:cNvPr id="113" name="Text 105"/>
          <p:cNvSpPr txBox="1"/>
          <p:nvPr/>
        </p:nvSpPr>
        <p:spPr>
          <a:xfrm>
            <a:off x="6153912" y="589696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114" name="Text 106"/>
          <p:cNvSpPr txBox="1"/>
          <p:nvPr/>
        </p:nvSpPr>
        <p:spPr>
          <a:xfrm>
            <a:off x="6220663" y="5896966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var</a:t>
            </a:r>
            <a:endParaRPr lang="en-US" sz="1000" dirty="0"/>
          </a:p>
        </p:txBody>
      </p:sp>
      <p:sp>
        <p:nvSpPr>
          <p:cNvPr id="115" name="Text 107"/>
          <p:cNvSpPr txBox="1"/>
          <p:nvPr/>
        </p:nvSpPr>
        <p:spPr>
          <a:xfrm>
            <a:off x="6420917" y="589696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</a:t>
            </a:r>
            <a:endParaRPr lang="en-US" sz="1000" dirty="0"/>
          </a:p>
        </p:txBody>
      </p:sp>
      <p:sp>
        <p:nvSpPr>
          <p:cNvPr id="116" name="Text 108"/>
          <p:cNvSpPr txBox="1"/>
          <p:nvPr/>
        </p:nvSpPr>
        <p:spPr>
          <a:xfrm>
            <a:off x="6487668" y="5896966"/>
            <a:ext cx="12701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--color-bg-light</a:t>
            </a:r>
            <a:endParaRPr lang="en-US" sz="1000" dirty="0"/>
          </a:p>
        </p:txBody>
      </p:sp>
      <p:sp>
        <p:nvSpPr>
          <p:cNvPr id="117" name="Text 109"/>
          <p:cNvSpPr txBox="1"/>
          <p:nvPr/>
        </p:nvSpPr>
        <p:spPr>
          <a:xfrm>
            <a:off x="7553858" y="589696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1000" dirty="0"/>
          </a:p>
        </p:txBody>
      </p:sp>
      <p:sp>
        <p:nvSpPr>
          <p:cNvPr id="118" name="Text 110"/>
          <p:cNvSpPr txBox="1"/>
          <p:nvPr/>
        </p:nvSpPr>
        <p:spPr>
          <a:xfrm>
            <a:off x="7620610" y="5896966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119" name="Text 111"/>
          <p:cNvSpPr txBox="1"/>
          <p:nvPr/>
        </p:nvSpPr>
        <p:spPr>
          <a:xfrm>
            <a:off x="5086807" y="6044184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margin</a:t>
            </a:r>
            <a:endParaRPr lang="en-US" sz="1000" dirty="0"/>
          </a:p>
        </p:txBody>
      </p:sp>
      <p:sp>
        <p:nvSpPr>
          <p:cNvPr id="120" name="Text 112"/>
          <p:cNvSpPr txBox="1"/>
          <p:nvPr/>
        </p:nvSpPr>
        <p:spPr>
          <a:xfrm>
            <a:off x="5487314" y="6044184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:</a:t>
            </a:r>
            <a:endParaRPr lang="en-US" sz="1000" dirty="0"/>
          </a:p>
        </p:txBody>
      </p:sp>
      <p:sp>
        <p:nvSpPr>
          <p:cNvPr id="121" name="Text 113"/>
          <p:cNvSpPr txBox="1"/>
          <p:nvPr/>
        </p:nvSpPr>
        <p:spPr>
          <a:xfrm>
            <a:off x="5554066" y="6044184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5CEA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0</a:t>
            </a:r>
            <a:endParaRPr lang="en-US" sz="1000" dirty="0"/>
          </a:p>
        </p:txBody>
      </p:sp>
      <p:sp>
        <p:nvSpPr>
          <p:cNvPr id="122" name="Text 114"/>
          <p:cNvSpPr txBox="1"/>
          <p:nvPr/>
        </p:nvSpPr>
        <p:spPr>
          <a:xfrm>
            <a:off x="5620817" y="6044184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;</a:t>
            </a:r>
            <a:endParaRPr lang="en-US" sz="1000" dirty="0"/>
          </a:p>
        </p:txBody>
      </p:sp>
      <p:sp>
        <p:nvSpPr>
          <p:cNvPr id="123" name="Text 115"/>
          <p:cNvSpPr txBox="1"/>
          <p:nvPr/>
        </p:nvSpPr>
        <p:spPr>
          <a:xfrm>
            <a:off x="4935017" y="619048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}</a:t>
            </a:r>
            <a:endParaRPr lang="en-US" sz="1000" dirty="0"/>
          </a:p>
        </p:txBody>
      </p:sp>
      <p:sp>
        <p:nvSpPr>
          <p:cNvPr id="12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598200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Responsive 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310335"/>
            <a:ext cx="560893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최적화 및 반응형 웹 구현을 위한 핵심 프롬프트 전략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7" r="-7"/>
          <a:stretch/>
        </p:blipFill>
        <p:spPr>
          <a:xfrm>
            <a:off x="609905" y="1871558"/>
            <a:ext cx="3454603" cy="434161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9905" y="1871558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923544" y="2186112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28370" y="2357105"/>
            <a:ext cx="200254" cy="2670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544" y="3023702"/>
            <a:ext cx="33668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우선 (Mobile First)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480902"/>
            <a:ext cx="2905963" cy="107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작은 화면을 기준으로 기본 스타일을 먼저 정의하고, 화면이 커짐에 따라 스타일을 확장하도록 요청합니다.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23544" y="4466146"/>
            <a:ext cx="2829154" cy="1543551"/>
          </a:xfrm>
          <a:prstGeom prst="roundRect">
            <a:avLst>
              <a:gd name="adj" fmla="val 5879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23544" y="4466146"/>
            <a:ext cx="28346" cy="1543551"/>
          </a:xfrm>
          <a:prstGeom prst="roundRect">
            <a:avLst>
              <a:gd name="adj" fmla="val 276502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104595" y="4618851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04595" y="4847451"/>
            <a:ext cx="2572207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"CSS는 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뷰(320px~)를 기본으로 작성</a:t>
            </a: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하고, 태블릿(768px)과 데스크탑(1024px)은 미디어 쿼리(min-width)로 추가해주세요." </a:t>
            </a:r>
            <a:endParaRPr lang="en-US" sz="11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l="-5" r="-5"/>
          <a:stretch/>
        </p:blipFill>
        <p:spPr>
          <a:xfrm>
            <a:off x="4388206" y="1871558"/>
            <a:ext cx="3454603" cy="4341615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69003" y="1871558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682642" y="2186112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54550" y="2357105"/>
            <a:ext cx="267005" cy="2670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682642" y="3023702"/>
            <a:ext cx="297637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유동적 레이아웃 (Fluid)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682642" y="3480902"/>
            <a:ext cx="2905963" cy="107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 픽셀(px) 대신 상대 단위(%, rem, vw)를 사용하여 다양한 화면 크기에 자연스럽게 대응하도록 지시합니다.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682642" y="4466146"/>
            <a:ext cx="2829154" cy="1543551"/>
          </a:xfrm>
          <a:prstGeom prst="roundRect">
            <a:avLst>
              <a:gd name="adj" fmla="val 5879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682642" y="4466146"/>
            <a:ext cx="28346" cy="1543551"/>
          </a:xfrm>
          <a:prstGeom prst="roundRect">
            <a:avLst>
              <a:gd name="adj" fmla="val 276502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4863694" y="4618851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863694" y="4847451"/>
            <a:ext cx="2572207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"컨테이너 너비는 px 대신 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%, rem 단위와 Flexbox/Grid</a:t>
            </a: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사용하여 유동적으로 구성하고, 이미지는 max-width: 100%를 적용해주세요." </a:t>
            </a:r>
            <a:endParaRPr lang="en-US" sz="11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rcRect l="-7" r="-7"/>
          <a:stretch/>
        </p:blipFill>
        <p:spPr>
          <a:xfrm>
            <a:off x="8128102" y="1871558"/>
            <a:ext cx="3454603" cy="4341615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8128102" y="1871558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8442655" y="2186112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580730" y="2357105"/>
            <a:ext cx="333756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42655" y="3023702"/>
            <a:ext cx="29151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명확한 분기점 (Breakpoints)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02421" y="3457585"/>
            <a:ext cx="290596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디바이스에 맞춰 구체적인 미디어 쿼리 분기점과 해당 구간에서의 레이아웃 변화를 명시합니다.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8442655" y="4466146"/>
            <a:ext cx="2829154" cy="1543551"/>
          </a:xfrm>
          <a:prstGeom prst="roundRect">
            <a:avLst>
              <a:gd name="adj" fmla="val 5879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8442655" y="4466146"/>
            <a:ext cx="28346" cy="1543551"/>
          </a:xfrm>
          <a:prstGeom prst="roundRect">
            <a:avLst>
              <a:gd name="adj" fmla="val 276502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7"/>
          <p:cNvSpPr txBox="1"/>
          <p:nvPr/>
        </p:nvSpPr>
        <p:spPr>
          <a:xfrm>
            <a:off x="8623706" y="4618851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EXAMPLE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8623706" y="4847451"/>
            <a:ext cx="2572207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"미디어 쿼리는 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768px과 1024px 두 가지 분기점</a:t>
            </a: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사용하고, 모바일 1열 → 태블릿 2열 → 데스크탑 3열 그리드로 변환해주세요." </a:t>
            </a:r>
            <a:endParaRPr lang="en-US" sz="11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57200"/>
            <a:ext cx="39346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CSS RESPONSIVE DESIGN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509503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최적화 코드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167482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810762" y="1891718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905859" y="1977672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9" b="-9"/>
          <a:stretch/>
        </p:blipFill>
        <p:spPr>
          <a:xfrm>
            <a:off x="838506" y="2367205"/>
            <a:ext cx="3230575" cy="231878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38759" y="2567458"/>
            <a:ext cx="2915107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"포트폴리오 사이트가 작은 화면에서도 잘 보이도록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미디어 쿼리(Media Queries)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추가하고 싶어.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특히 768px 이하 모바일 화면에서 그리드 레이아웃을 1열로 변경하고, 이미지가 화면을 벗어나지 않게 하는 CSS 코드를 작성해줘."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09905" y="5048314"/>
            <a:ext cx="3715207" cy="1315037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9905" y="5048314"/>
            <a:ext cx="38405" cy="1315037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226622"/>
            <a:ext cx="105156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1151" y="5219306"/>
            <a:ext cx="10387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38506" y="5438762"/>
            <a:ext cx="329641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meta viewport 태그가 HTML 헤더에 반드시 포함되어 있어야 미디어 쿼리가 모바일 기기에서 정상적으로 작동합니다.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45075" y="1684325"/>
            <a:ext cx="235915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(STYLE.CSS)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5778" y="214152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style.css</a:t>
            </a:r>
            <a:endParaRPr lang="en-US" sz="900" dirty="0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CDC4EE3C-622F-787E-EBDE-F998AE2A905F}"/>
              </a:ext>
            </a:extLst>
          </p:cNvPr>
          <p:cNvGrpSpPr/>
          <p:nvPr/>
        </p:nvGrpSpPr>
        <p:grpSpPr>
          <a:xfrm>
            <a:off x="4925873" y="2650846"/>
            <a:ext cx="6090470" cy="3572561"/>
            <a:chOff x="4925873" y="2650846"/>
            <a:chExt cx="5011826" cy="3572561"/>
          </a:xfrm>
        </p:grpSpPr>
        <p:sp>
          <p:nvSpPr>
            <p:cNvPr id="26" name="Text 18"/>
            <p:cNvSpPr txBox="1"/>
            <p:nvPr/>
          </p:nvSpPr>
          <p:spPr>
            <a:xfrm>
              <a:off x="4925873" y="2650846"/>
              <a:ext cx="241218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1. 이미지 반응형 기본 설정 */</a:t>
              </a:r>
              <a:endParaRPr lang="en-US" sz="1200" dirty="0"/>
            </a:p>
          </p:txBody>
        </p:sp>
        <p:sp>
          <p:nvSpPr>
            <p:cNvPr id="27" name="Text 19"/>
            <p:cNvSpPr txBox="1"/>
            <p:nvPr/>
          </p:nvSpPr>
          <p:spPr>
            <a:xfrm>
              <a:off x="7212787" y="2650846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img, video</a:t>
              </a:r>
              <a:endParaRPr lang="en-US" sz="1200" dirty="0"/>
            </a:p>
          </p:txBody>
        </p:sp>
        <p:sp>
          <p:nvSpPr>
            <p:cNvPr id="28" name="Text 20"/>
            <p:cNvSpPr txBox="1"/>
            <p:nvPr/>
          </p:nvSpPr>
          <p:spPr>
            <a:xfrm>
              <a:off x="7926934" y="26508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200" dirty="0"/>
            </a:p>
          </p:txBody>
        </p:sp>
        <p:sp>
          <p:nvSpPr>
            <p:cNvPr id="29" name="Text 21"/>
            <p:cNvSpPr txBox="1"/>
            <p:nvPr/>
          </p:nvSpPr>
          <p:spPr>
            <a:xfrm>
              <a:off x="5078578" y="2821838"/>
              <a:ext cx="77083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max-width</a:t>
              </a:r>
              <a:endParaRPr lang="en-US" sz="1200" dirty="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5721401" y="28218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5793638" y="2821838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100%</a:t>
              </a:r>
              <a:endParaRPr lang="en-US" sz="12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6078931" y="28218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078578" y="2993746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height</a:t>
              </a:r>
              <a:endParaRPr lang="en-US" sz="120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5507431" y="29937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5578754" y="2993746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auto</a:t>
              </a:r>
              <a:endParaRPr lang="en-US" sz="120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864962" y="29937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078578" y="3164738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display</a:t>
              </a:r>
              <a:endParaRPr lang="en-US" sz="12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5578754" y="31647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5650078" y="3164738"/>
              <a:ext cx="4389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block</a:t>
              </a:r>
              <a:endParaRPr lang="en-US" sz="12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6007608" y="31647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4925873" y="33366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2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4998110" y="3336646"/>
              <a:ext cx="3279953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2. 모바일 브레이크포인트 (768px 이하) */</a:t>
              </a:r>
              <a:endParaRPr lang="en-US" sz="12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8069580" y="3336646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@media</a:t>
              </a:r>
              <a:endParaRPr lang="en-US" sz="12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8498434" y="33366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2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8569757" y="3336646"/>
              <a:ext cx="77083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max-width</a:t>
              </a:r>
              <a:endParaRPr lang="en-US" sz="12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9213494" y="33366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9284818" y="3336646"/>
              <a:ext cx="4389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768px</a:t>
              </a:r>
              <a:endParaRPr lang="en-US" sz="12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9642348" y="3336646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 {</a:t>
              </a:r>
              <a:endParaRPr lang="en-US" sz="12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5078578" y="3507638"/>
              <a:ext cx="180045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컨테이너 패딩 조정 */</a:t>
              </a:r>
              <a:endParaRPr lang="en-US" sz="12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5078578" y="3679546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.container</a:t>
              </a:r>
              <a:endParaRPr lang="en-US" sz="12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5792724" y="36795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2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5231282" y="3850538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padding</a:t>
              </a:r>
              <a:endParaRPr lang="en-US" sz="12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5731459" y="38505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5802782" y="3850538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 20px</a:t>
              </a:r>
              <a:endParaRPr lang="en-US" sz="12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6231636" y="38505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5231282" y="4022446"/>
              <a:ext cx="4389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width</a:t>
              </a:r>
              <a:endParaRPr lang="en-US" sz="12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5587898" y="40224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5660136" y="4022446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100%</a:t>
              </a:r>
              <a:endParaRPr lang="en-US" sz="12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5945429" y="40224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5078578" y="41934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2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5078578" y="4536338"/>
              <a:ext cx="246522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그리드 레이아웃: 1열로 변경 */</a:t>
              </a:r>
              <a:endParaRPr lang="en-US" sz="12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5078578" y="4708246"/>
              <a:ext cx="111099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.project-grid</a:t>
              </a:r>
              <a:endParaRPr lang="en-US" sz="12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6007608" y="47082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2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5231282" y="4879238"/>
              <a:ext cx="179131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grid-template-columns</a:t>
              </a:r>
              <a:endParaRPr lang="en-US" sz="120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6730898" y="48792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6803136" y="4879238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1fr</a:t>
              </a:r>
              <a:endParaRPr lang="en-US" sz="12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7017106" y="48792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5231282" y="5051146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gap</a:t>
              </a:r>
              <a:endParaRPr lang="en-US" sz="120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5445252" y="50511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5517490" y="5051146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24px</a:t>
              </a:r>
              <a:endParaRPr lang="en-US" sz="12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5802782" y="50511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5078578" y="52221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20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5078578" y="5565038"/>
              <a:ext cx="151607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폰트 크기 조정 */</a:t>
              </a:r>
              <a:endParaRPr lang="en-US" sz="120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5078578" y="5736946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h1</a:t>
              </a:r>
              <a:endParaRPr lang="en-US" sz="120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5221224" y="57369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20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5293462" y="5736946"/>
              <a:ext cx="77083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font-size</a:t>
              </a:r>
              <a:endParaRPr lang="en-US" sz="120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5936285" y="57369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6007608" y="5736946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2.5rem</a:t>
              </a:r>
              <a:endParaRPr lang="en-US" sz="120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6436462" y="5736946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 }</a:t>
              </a:r>
              <a:endParaRPr lang="en-US" sz="120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5078578" y="5907938"/>
              <a:ext cx="77083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.nav-menu</a:t>
              </a:r>
              <a:endParaRPr lang="en-US" sz="1200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5721401" y="59079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200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5793638" y="5907938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display</a:t>
              </a:r>
              <a:endParaRPr lang="en-US" sz="1200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6293815" y="59079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6365138" y="5907938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none</a:t>
              </a:r>
              <a:endParaRPr lang="en-US" sz="1200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6651346" y="5907938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 }</a:t>
              </a:r>
              <a:endParaRPr lang="en-US" sz="1200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6936638" y="5907938"/>
              <a:ext cx="180045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모바일 메뉴로 전환 */</a:t>
              </a:r>
              <a:endParaRPr lang="en-US" sz="1200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4925873" y="60798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200" dirty="0"/>
            </a:p>
          </p:txBody>
        </p:sp>
      </p:grpSp>
      <p:sp>
        <p:nvSpPr>
          <p:cNvPr id="8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179039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04: 구현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6955841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헤더/네비게이션 구현 코드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365907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47649" y="2617013"/>
            <a:ext cx="3230575" cy="22832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1866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"반응형 웹사이트를 위한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105509" y="3098073"/>
            <a:ext cx="2886761" cy="250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 헤더와 네비게이션 HTML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3107589" y="3090497"/>
            <a:ext cx="978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작성해줘.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3548786"/>
            <a:ext cx="18992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키보드 사용자를 위한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219352" y="3766806"/>
            <a:ext cx="1888237" cy="1815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'본문 건너뛰기(Skip Link)'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040838" y="3746777"/>
            <a:ext cx="400507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047902" y="4036162"/>
            <a:ext cx="28867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현재 페이지를 나타내는 aria-current 속성 포함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047902" y="4523537"/>
            <a:ext cx="2990698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로고는 왼쪽, 메뉴는 오른쪽에 배치되는 구조"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09905" y="5220309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6"/>
          <p:cNvSpPr/>
          <p:nvPr/>
        </p:nvSpPr>
        <p:spPr>
          <a:xfrm>
            <a:off x="609905" y="5220309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398617"/>
            <a:ext cx="105156" cy="1335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81151" y="5391302"/>
            <a:ext cx="14575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ACCESSIBILITY TIP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838505" y="5600699"/>
            <a:ext cx="333390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'Skip to content' 링크는 평소에는 숨겨져 있다가 탭(Tab) 키로 포커스될 때만 보이도록 CSS로 처리해야 합니다. 이는 스크린 리더 사용자에게 매우 중요합니다.</a:t>
            </a:r>
            <a:endParaRPr lang="en-US" sz="11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945075" y="1684325"/>
            <a:ext cx="2449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(INDEX.HTML)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5535778" y="2141525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4925873" y="2659990"/>
            <a:ext cx="404347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접근성: 본문 바로가기 링크 (Tab키 포커스 시 노출) --&gt;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4925873" y="2846527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5059375" y="2846527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5326380" y="284652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5393131" y="2846527"/>
            <a:ext cx="119054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"#main-content"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6393485" y="2846527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6726326" y="284652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40" name="Text 32"/>
          <p:cNvSpPr txBox="1"/>
          <p:nvPr/>
        </p:nvSpPr>
        <p:spPr>
          <a:xfrm>
            <a:off x="6793078" y="2846527"/>
            <a:ext cx="87325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"skip-link"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7526426" y="284652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00" dirty="0"/>
          </a:p>
        </p:txBody>
      </p:sp>
      <p:sp>
        <p:nvSpPr>
          <p:cNvPr id="42" name="Text 34"/>
          <p:cNvSpPr txBox="1"/>
          <p:nvPr/>
        </p:nvSpPr>
        <p:spPr>
          <a:xfrm>
            <a:off x="7593178" y="2846527"/>
            <a:ext cx="122438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본문으로 건너뛰기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8727034" y="2846527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925873" y="3033979"/>
            <a:ext cx="241127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헤더: 스크롤 시 상단 고정 --&gt;</a:t>
            </a:r>
            <a:endParaRPr lang="en-US" sz="1000" dirty="0"/>
          </a:p>
        </p:txBody>
      </p:sp>
      <p:sp>
        <p:nvSpPr>
          <p:cNvPr id="45" name="Text 37"/>
          <p:cNvSpPr txBox="1"/>
          <p:nvPr/>
        </p:nvSpPr>
        <p:spPr>
          <a:xfrm>
            <a:off x="4925873" y="3220517"/>
            <a:ext cx="55595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&lt;header</a:t>
            </a:r>
            <a:endParaRPr lang="en-US" sz="1000" dirty="0"/>
          </a:p>
        </p:txBody>
      </p:sp>
      <p:sp>
        <p:nvSpPr>
          <p:cNvPr id="46" name="Text 38"/>
          <p:cNvSpPr txBox="1"/>
          <p:nvPr/>
        </p:nvSpPr>
        <p:spPr>
          <a:xfrm>
            <a:off x="5393131" y="3220517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00" dirty="0"/>
          </a:p>
        </p:txBody>
      </p:sp>
      <p:sp>
        <p:nvSpPr>
          <p:cNvPr id="47" name="Text 39"/>
          <p:cNvSpPr txBox="1"/>
          <p:nvPr/>
        </p:nvSpPr>
        <p:spPr>
          <a:xfrm>
            <a:off x="5725973" y="322051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48" name="Text 40"/>
          <p:cNvSpPr txBox="1"/>
          <p:nvPr/>
        </p:nvSpPr>
        <p:spPr>
          <a:xfrm>
            <a:off x="5792724" y="3220517"/>
            <a:ext cx="158739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"site-header sticky"</a:t>
            </a:r>
            <a:endParaRPr lang="en-US" sz="1000" dirty="0"/>
          </a:p>
        </p:txBody>
      </p:sp>
      <p:sp>
        <p:nvSpPr>
          <p:cNvPr id="49" name="Text 41"/>
          <p:cNvSpPr txBox="1"/>
          <p:nvPr/>
        </p:nvSpPr>
        <p:spPr>
          <a:xfrm>
            <a:off x="7126834" y="322051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00" dirty="0"/>
          </a:p>
        </p:txBody>
      </p:sp>
      <p:sp>
        <p:nvSpPr>
          <p:cNvPr id="50" name="Text 42"/>
          <p:cNvSpPr txBox="1"/>
          <p:nvPr/>
        </p:nvSpPr>
        <p:spPr>
          <a:xfrm>
            <a:off x="5078578" y="3407054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1000" dirty="0"/>
          </a:p>
        </p:txBody>
      </p:sp>
      <p:sp>
        <p:nvSpPr>
          <p:cNvPr id="51" name="Text 43"/>
          <p:cNvSpPr txBox="1"/>
          <p:nvPr/>
        </p:nvSpPr>
        <p:spPr>
          <a:xfrm>
            <a:off x="5345582" y="3407054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5678424" y="3407054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53" name="Text 45"/>
          <p:cNvSpPr txBox="1"/>
          <p:nvPr/>
        </p:nvSpPr>
        <p:spPr>
          <a:xfrm>
            <a:off x="5745175" y="3407054"/>
            <a:ext cx="87325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"container"</a:t>
            </a:r>
            <a:endParaRPr lang="en-US" sz="1000" dirty="0"/>
          </a:p>
        </p:txBody>
      </p:sp>
      <p:sp>
        <p:nvSpPr>
          <p:cNvPr id="54" name="Text 46"/>
          <p:cNvSpPr txBox="1"/>
          <p:nvPr/>
        </p:nvSpPr>
        <p:spPr>
          <a:xfrm>
            <a:off x="6478524" y="3407054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00" dirty="0"/>
          </a:p>
        </p:txBody>
      </p:sp>
      <p:sp>
        <p:nvSpPr>
          <p:cNvPr id="55" name="Text 47"/>
          <p:cNvSpPr txBox="1"/>
          <p:nvPr/>
        </p:nvSpPr>
        <p:spPr>
          <a:xfrm>
            <a:off x="5231282" y="3593592"/>
            <a:ext cx="131673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로고 영역 --&gt;</a:t>
            </a:r>
            <a:endParaRPr lang="en-US" sz="1000" dirty="0"/>
          </a:p>
        </p:txBody>
      </p:sp>
      <p:sp>
        <p:nvSpPr>
          <p:cNvPr id="56" name="Text 48"/>
          <p:cNvSpPr txBox="1"/>
          <p:nvPr/>
        </p:nvSpPr>
        <p:spPr>
          <a:xfrm>
            <a:off x="5231282" y="3780130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1000" dirty="0"/>
          </a:p>
        </p:txBody>
      </p:sp>
      <p:sp>
        <p:nvSpPr>
          <p:cNvPr id="57" name="Text 49"/>
          <p:cNvSpPr txBox="1"/>
          <p:nvPr/>
        </p:nvSpPr>
        <p:spPr>
          <a:xfrm>
            <a:off x="5364785" y="3780130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1000" dirty="0"/>
          </a:p>
        </p:txBody>
      </p:sp>
      <p:sp>
        <p:nvSpPr>
          <p:cNvPr id="58" name="Text 50"/>
          <p:cNvSpPr txBox="1"/>
          <p:nvPr/>
        </p:nvSpPr>
        <p:spPr>
          <a:xfrm>
            <a:off x="5630875" y="378013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59" name="Text 51"/>
          <p:cNvSpPr txBox="1"/>
          <p:nvPr/>
        </p:nvSpPr>
        <p:spPr>
          <a:xfrm>
            <a:off x="5697626" y="3780130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"/"</a:t>
            </a:r>
            <a:endParaRPr lang="en-US" sz="1000" dirty="0"/>
          </a:p>
        </p:txBody>
      </p:sp>
      <p:sp>
        <p:nvSpPr>
          <p:cNvPr id="60" name="Text 52"/>
          <p:cNvSpPr txBox="1"/>
          <p:nvPr/>
        </p:nvSpPr>
        <p:spPr>
          <a:xfrm>
            <a:off x="5897880" y="3780130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00" dirty="0"/>
          </a:p>
        </p:txBody>
      </p:sp>
      <p:sp>
        <p:nvSpPr>
          <p:cNvPr id="61" name="Text 53"/>
          <p:cNvSpPr txBox="1"/>
          <p:nvPr/>
        </p:nvSpPr>
        <p:spPr>
          <a:xfrm>
            <a:off x="6230722" y="378013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62" name="Text 54"/>
          <p:cNvSpPr txBox="1"/>
          <p:nvPr/>
        </p:nvSpPr>
        <p:spPr>
          <a:xfrm>
            <a:off x="6297473" y="3780130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"logo"</a:t>
            </a:r>
            <a:endParaRPr lang="en-US" sz="1000" dirty="0"/>
          </a:p>
        </p:txBody>
      </p:sp>
      <p:sp>
        <p:nvSpPr>
          <p:cNvPr id="63" name="Text 55"/>
          <p:cNvSpPr txBox="1"/>
          <p:nvPr/>
        </p:nvSpPr>
        <p:spPr>
          <a:xfrm>
            <a:off x="6697980" y="3780130"/>
            <a:ext cx="79369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aria-label</a:t>
            </a:r>
            <a:endParaRPr lang="en-US" sz="1000" dirty="0"/>
          </a:p>
        </p:txBody>
      </p:sp>
      <p:sp>
        <p:nvSpPr>
          <p:cNvPr id="64" name="Text 56"/>
          <p:cNvSpPr txBox="1"/>
          <p:nvPr/>
        </p:nvSpPr>
        <p:spPr>
          <a:xfrm>
            <a:off x="7364578" y="378013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65" name="Text 57"/>
          <p:cNvSpPr txBox="1"/>
          <p:nvPr/>
        </p:nvSpPr>
        <p:spPr>
          <a:xfrm>
            <a:off x="7431329" y="3780130"/>
            <a:ext cx="9436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"홈으로 이동"</a:t>
            </a:r>
            <a:endParaRPr lang="en-US" sz="1000" dirty="0"/>
          </a:p>
        </p:txBody>
      </p:sp>
      <p:sp>
        <p:nvSpPr>
          <p:cNvPr id="66" name="Text 58"/>
          <p:cNvSpPr txBox="1"/>
          <p:nvPr/>
        </p:nvSpPr>
        <p:spPr>
          <a:xfrm>
            <a:off x="8298180" y="378013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00" dirty="0"/>
          </a:p>
        </p:txBody>
      </p:sp>
      <p:sp>
        <p:nvSpPr>
          <p:cNvPr id="67" name="Text 59"/>
          <p:cNvSpPr txBox="1"/>
          <p:nvPr/>
        </p:nvSpPr>
        <p:spPr>
          <a:xfrm>
            <a:off x="8364931" y="3780130"/>
            <a:ext cx="10323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Dev.Portfolio</a:t>
            </a:r>
            <a:endParaRPr lang="en-US" sz="1000" dirty="0"/>
          </a:p>
        </p:txBody>
      </p:sp>
      <p:sp>
        <p:nvSpPr>
          <p:cNvPr id="68" name="Text 60"/>
          <p:cNvSpPr txBox="1"/>
          <p:nvPr/>
        </p:nvSpPr>
        <p:spPr>
          <a:xfrm>
            <a:off x="9231782" y="3780130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1000" dirty="0"/>
          </a:p>
        </p:txBody>
      </p:sp>
      <p:sp>
        <p:nvSpPr>
          <p:cNvPr id="69" name="Text 61"/>
          <p:cNvSpPr txBox="1"/>
          <p:nvPr/>
        </p:nvSpPr>
        <p:spPr>
          <a:xfrm>
            <a:off x="5231282" y="4153205"/>
            <a:ext cx="170444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메인 네비게이션 --&gt;</a:t>
            </a:r>
            <a:endParaRPr lang="en-US" sz="1000" dirty="0"/>
          </a:p>
        </p:txBody>
      </p:sp>
      <p:sp>
        <p:nvSpPr>
          <p:cNvPr id="70" name="Text 62"/>
          <p:cNvSpPr txBox="1"/>
          <p:nvPr/>
        </p:nvSpPr>
        <p:spPr>
          <a:xfrm>
            <a:off x="5231282" y="4339742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&lt;nav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5497373" y="4339742"/>
            <a:ext cx="79369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aria-label</a:t>
            </a:r>
            <a:endParaRPr lang="en-US" sz="1000" dirty="0"/>
          </a:p>
        </p:txBody>
      </p:sp>
      <p:sp>
        <p:nvSpPr>
          <p:cNvPr id="72" name="Text 64"/>
          <p:cNvSpPr txBox="1"/>
          <p:nvPr/>
        </p:nvSpPr>
        <p:spPr>
          <a:xfrm>
            <a:off x="6164885" y="433974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73" name="Text 65"/>
          <p:cNvSpPr txBox="1"/>
          <p:nvPr/>
        </p:nvSpPr>
        <p:spPr>
          <a:xfrm>
            <a:off x="6230722" y="4339742"/>
            <a:ext cx="8101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"메인 메뉴"</a:t>
            </a:r>
            <a:endParaRPr lang="en-US" sz="1000" dirty="0"/>
          </a:p>
        </p:txBody>
      </p:sp>
      <p:sp>
        <p:nvSpPr>
          <p:cNvPr id="74" name="Text 66"/>
          <p:cNvSpPr txBox="1"/>
          <p:nvPr/>
        </p:nvSpPr>
        <p:spPr>
          <a:xfrm>
            <a:off x="6964985" y="4339742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00" dirty="0"/>
          </a:p>
        </p:txBody>
      </p:sp>
      <p:sp>
        <p:nvSpPr>
          <p:cNvPr id="75" name="Text 67"/>
          <p:cNvSpPr txBox="1"/>
          <p:nvPr/>
        </p:nvSpPr>
        <p:spPr>
          <a:xfrm>
            <a:off x="5383073" y="4526280"/>
            <a:ext cx="2770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&lt;ul</a:t>
            </a:r>
            <a:endParaRPr lang="en-US" sz="1000" dirty="0"/>
          </a:p>
        </p:txBody>
      </p:sp>
      <p:sp>
        <p:nvSpPr>
          <p:cNvPr id="76" name="Text 68"/>
          <p:cNvSpPr txBox="1"/>
          <p:nvPr/>
        </p:nvSpPr>
        <p:spPr>
          <a:xfrm>
            <a:off x="5583326" y="4526280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00" dirty="0"/>
          </a:p>
        </p:txBody>
      </p:sp>
      <p:sp>
        <p:nvSpPr>
          <p:cNvPr id="77" name="Text 69"/>
          <p:cNvSpPr txBox="1"/>
          <p:nvPr/>
        </p:nvSpPr>
        <p:spPr>
          <a:xfrm>
            <a:off x="5917082" y="452628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78" name="Text 70"/>
          <p:cNvSpPr txBox="1"/>
          <p:nvPr/>
        </p:nvSpPr>
        <p:spPr>
          <a:xfrm>
            <a:off x="5983834" y="4526280"/>
            <a:ext cx="79369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"nav-list"</a:t>
            </a:r>
            <a:endParaRPr lang="en-US" sz="1000" dirty="0"/>
          </a:p>
        </p:txBody>
      </p:sp>
      <p:sp>
        <p:nvSpPr>
          <p:cNvPr id="79" name="Text 71"/>
          <p:cNvSpPr txBox="1"/>
          <p:nvPr/>
        </p:nvSpPr>
        <p:spPr>
          <a:xfrm>
            <a:off x="6650431" y="4526280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00" dirty="0"/>
          </a:p>
        </p:txBody>
      </p:sp>
      <p:sp>
        <p:nvSpPr>
          <p:cNvPr id="80" name="Text 72"/>
          <p:cNvSpPr txBox="1"/>
          <p:nvPr/>
        </p:nvSpPr>
        <p:spPr>
          <a:xfrm>
            <a:off x="5535778" y="4712818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&lt;li&gt;</a:t>
            </a:r>
            <a:endParaRPr lang="en-US" sz="1000" dirty="0"/>
          </a:p>
        </p:txBody>
      </p:sp>
      <p:sp>
        <p:nvSpPr>
          <p:cNvPr id="81" name="Text 73"/>
          <p:cNvSpPr txBox="1"/>
          <p:nvPr/>
        </p:nvSpPr>
        <p:spPr>
          <a:xfrm>
            <a:off x="5802782" y="4712818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1000" dirty="0"/>
          </a:p>
        </p:txBody>
      </p:sp>
      <p:sp>
        <p:nvSpPr>
          <p:cNvPr id="82" name="Text 74"/>
          <p:cNvSpPr txBox="1"/>
          <p:nvPr/>
        </p:nvSpPr>
        <p:spPr>
          <a:xfrm>
            <a:off x="5936285" y="4712818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1000" dirty="0"/>
          </a:p>
        </p:txBody>
      </p:sp>
      <p:sp>
        <p:nvSpPr>
          <p:cNvPr id="83" name="Text 75"/>
          <p:cNvSpPr txBox="1"/>
          <p:nvPr/>
        </p:nvSpPr>
        <p:spPr>
          <a:xfrm>
            <a:off x="6202375" y="471281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84" name="Text 76"/>
          <p:cNvSpPr txBox="1"/>
          <p:nvPr/>
        </p:nvSpPr>
        <p:spPr>
          <a:xfrm>
            <a:off x="6269126" y="4712818"/>
            <a:ext cx="63550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"#about"</a:t>
            </a:r>
            <a:endParaRPr lang="en-US" sz="1000" dirty="0"/>
          </a:p>
        </p:txBody>
      </p:sp>
      <p:sp>
        <p:nvSpPr>
          <p:cNvPr id="85" name="Text 77"/>
          <p:cNvSpPr txBox="1"/>
          <p:nvPr/>
        </p:nvSpPr>
        <p:spPr>
          <a:xfrm>
            <a:off x="6802222" y="4712818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00" dirty="0"/>
          </a:p>
        </p:txBody>
      </p:sp>
      <p:sp>
        <p:nvSpPr>
          <p:cNvPr id="86" name="Text 78"/>
          <p:cNvSpPr txBox="1"/>
          <p:nvPr/>
        </p:nvSpPr>
        <p:spPr>
          <a:xfrm>
            <a:off x="6868973" y="4712818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소개</a:t>
            </a:r>
            <a:endParaRPr lang="en-US" sz="1000" dirty="0"/>
          </a:p>
        </p:txBody>
      </p:sp>
      <p:sp>
        <p:nvSpPr>
          <p:cNvPr id="87" name="Text 79"/>
          <p:cNvSpPr txBox="1"/>
          <p:nvPr/>
        </p:nvSpPr>
        <p:spPr>
          <a:xfrm>
            <a:off x="7135978" y="4712818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1000" dirty="0"/>
          </a:p>
        </p:txBody>
      </p:sp>
      <p:sp>
        <p:nvSpPr>
          <p:cNvPr id="88" name="Text 80"/>
          <p:cNvSpPr txBox="1"/>
          <p:nvPr/>
        </p:nvSpPr>
        <p:spPr>
          <a:xfrm>
            <a:off x="7402982" y="4712818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&lt;/li&gt;</a:t>
            </a:r>
            <a:endParaRPr lang="en-US" sz="1000" dirty="0"/>
          </a:p>
        </p:txBody>
      </p:sp>
      <p:sp>
        <p:nvSpPr>
          <p:cNvPr id="89" name="Text 81"/>
          <p:cNvSpPr txBox="1"/>
          <p:nvPr/>
        </p:nvSpPr>
        <p:spPr>
          <a:xfrm>
            <a:off x="5535778" y="4900270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&lt;li&gt;</a:t>
            </a:r>
            <a:endParaRPr lang="en-US" sz="1000" dirty="0"/>
          </a:p>
        </p:txBody>
      </p:sp>
      <p:sp>
        <p:nvSpPr>
          <p:cNvPr id="90" name="Text 82"/>
          <p:cNvSpPr txBox="1"/>
          <p:nvPr/>
        </p:nvSpPr>
        <p:spPr>
          <a:xfrm>
            <a:off x="5802782" y="4900270"/>
            <a:ext cx="238018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현재 활성화된 페이지 표시 --&gt;</a:t>
            </a:r>
            <a:endParaRPr lang="en-US" sz="1000" dirty="0"/>
          </a:p>
        </p:txBody>
      </p:sp>
      <p:sp>
        <p:nvSpPr>
          <p:cNvPr id="91" name="Text 83"/>
          <p:cNvSpPr txBox="1"/>
          <p:nvPr/>
        </p:nvSpPr>
        <p:spPr>
          <a:xfrm>
            <a:off x="5535778" y="5086807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1000" dirty="0"/>
          </a:p>
        </p:txBody>
      </p:sp>
      <p:sp>
        <p:nvSpPr>
          <p:cNvPr id="92" name="Text 84"/>
          <p:cNvSpPr txBox="1"/>
          <p:nvPr/>
        </p:nvSpPr>
        <p:spPr>
          <a:xfrm>
            <a:off x="5669280" y="5086807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1000" dirty="0"/>
          </a:p>
        </p:txBody>
      </p:sp>
      <p:sp>
        <p:nvSpPr>
          <p:cNvPr id="93" name="Text 85"/>
          <p:cNvSpPr txBox="1"/>
          <p:nvPr/>
        </p:nvSpPr>
        <p:spPr>
          <a:xfrm>
            <a:off x="5936285" y="508680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94" name="Text 86"/>
          <p:cNvSpPr txBox="1"/>
          <p:nvPr/>
        </p:nvSpPr>
        <p:spPr>
          <a:xfrm>
            <a:off x="6002122" y="5086807"/>
            <a:ext cx="87325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"#projects"</a:t>
            </a:r>
            <a:endParaRPr lang="en-US" sz="1000" dirty="0"/>
          </a:p>
        </p:txBody>
      </p:sp>
      <p:sp>
        <p:nvSpPr>
          <p:cNvPr id="95" name="Text 87"/>
          <p:cNvSpPr txBox="1"/>
          <p:nvPr/>
        </p:nvSpPr>
        <p:spPr>
          <a:xfrm>
            <a:off x="6736385" y="5086807"/>
            <a:ext cx="9528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aria-current</a:t>
            </a:r>
            <a:endParaRPr lang="en-US" sz="1000" dirty="0"/>
          </a:p>
        </p:txBody>
      </p:sp>
      <p:sp>
        <p:nvSpPr>
          <p:cNvPr id="96" name="Text 88"/>
          <p:cNvSpPr txBox="1"/>
          <p:nvPr/>
        </p:nvSpPr>
        <p:spPr>
          <a:xfrm>
            <a:off x="7536485" y="508680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97" name="Text 89"/>
          <p:cNvSpPr txBox="1"/>
          <p:nvPr/>
        </p:nvSpPr>
        <p:spPr>
          <a:xfrm>
            <a:off x="7602322" y="5086807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"page"</a:t>
            </a:r>
            <a:endParaRPr lang="en-US" sz="1000" dirty="0"/>
          </a:p>
        </p:txBody>
      </p:sp>
      <p:sp>
        <p:nvSpPr>
          <p:cNvPr id="98" name="Text 90"/>
          <p:cNvSpPr txBox="1"/>
          <p:nvPr/>
        </p:nvSpPr>
        <p:spPr>
          <a:xfrm>
            <a:off x="8002829" y="5086807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00" dirty="0"/>
          </a:p>
        </p:txBody>
      </p:sp>
      <p:sp>
        <p:nvSpPr>
          <p:cNvPr id="99" name="Text 91"/>
          <p:cNvSpPr txBox="1"/>
          <p:nvPr/>
        </p:nvSpPr>
        <p:spPr>
          <a:xfrm>
            <a:off x="8336585" y="508680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100" name="Text 92"/>
          <p:cNvSpPr txBox="1"/>
          <p:nvPr/>
        </p:nvSpPr>
        <p:spPr>
          <a:xfrm>
            <a:off x="8402422" y="5086807"/>
            <a:ext cx="63550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"active"</a:t>
            </a:r>
            <a:endParaRPr lang="en-US" sz="1000" dirty="0"/>
          </a:p>
        </p:txBody>
      </p:sp>
      <p:sp>
        <p:nvSpPr>
          <p:cNvPr id="101" name="Text 93"/>
          <p:cNvSpPr txBox="1"/>
          <p:nvPr/>
        </p:nvSpPr>
        <p:spPr>
          <a:xfrm>
            <a:off x="8936431" y="5086807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00" dirty="0"/>
          </a:p>
        </p:txBody>
      </p:sp>
      <p:sp>
        <p:nvSpPr>
          <p:cNvPr id="102" name="Text 94"/>
          <p:cNvSpPr txBox="1"/>
          <p:nvPr/>
        </p:nvSpPr>
        <p:spPr>
          <a:xfrm>
            <a:off x="9003182" y="5086807"/>
            <a:ext cx="6099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프로젝트</a:t>
            </a:r>
            <a:endParaRPr lang="en-US" sz="1000" dirty="0"/>
          </a:p>
        </p:txBody>
      </p:sp>
      <p:sp>
        <p:nvSpPr>
          <p:cNvPr id="103" name="Text 95"/>
          <p:cNvSpPr txBox="1"/>
          <p:nvPr/>
        </p:nvSpPr>
        <p:spPr>
          <a:xfrm>
            <a:off x="9536278" y="5086807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1000" dirty="0"/>
          </a:p>
        </p:txBody>
      </p:sp>
      <p:sp>
        <p:nvSpPr>
          <p:cNvPr id="104" name="Text 96"/>
          <p:cNvSpPr txBox="1"/>
          <p:nvPr/>
        </p:nvSpPr>
        <p:spPr>
          <a:xfrm>
            <a:off x="9803282" y="5086807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&lt;/li&gt;</a:t>
            </a:r>
            <a:endParaRPr lang="en-US" sz="1000" dirty="0"/>
          </a:p>
        </p:txBody>
      </p:sp>
      <p:sp>
        <p:nvSpPr>
          <p:cNvPr id="105" name="Text 97"/>
          <p:cNvSpPr txBox="1"/>
          <p:nvPr/>
        </p:nvSpPr>
        <p:spPr>
          <a:xfrm>
            <a:off x="5535778" y="5273345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&lt;li&gt;</a:t>
            </a:r>
            <a:endParaRPr lang="en-US" sz="1000" dirty="0"/>
          </a:p>
        </p:txBody>
      </p:sp>
      <p:sp>
        <p:nvSpPr>
          <p:cNvPr id="106" name="Text 98"/>
          <p:cNvSpPr txBox="1"/>
          <p:nvPr/>
        </p:nvSpPr>
        <p:spPr>
          <a:xfrm>
            <a:off x="5802782" y="5273345"/>
            <a:ext cx="21031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&lt;a</a:t>
            </a:r>
            <a:endParaRPr lang="en-US" sz="1000" dirty="0"/>
          </a:p>
        </p:txBody>
      </p:sp>
      <p:sp>
        <p:nvSpPr>
          <p:cNvPr id="107" name="Text 99"/>
          <p:cNvSpPr txBox="1"/>
          <p:nvPr/>
        </p:nvSpPr>
        <p:spPr>
          <a:xfrm>
            <a:off x="5936285" y="5273345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href</a:t>
            </a:r>
            <a:endParaRPr lang="en-US" sz="1000" dirty="0"/>
          </a:p>
        </p:txBody>
      </p:sp>
      <p:sp>
        <p:nvSpPr>
          <p:cNvPr id="108" name="Text 100"/>
          <p:cNvSpPr txBox="1"/>
          <p:nvPr/>
        </p:nvSpPr>
        <p:spPr>
          <a:xfrm>
            <a:off x="6202375" y="527334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00" dirty="0"/>
          </a:p>
        </p:txBody>
      </p:sp>
      <p:sp>
        <p:nvSpPr>
          <p:cNvPr id="109" name="Text 101"/>
          <p:cNvSpPr txBox="1"/>
          <p:nvPr/>
        </p:nvSpPr>
        <p:spPr>
          <a:xfrm>
            <a:off x="6269126" y="5273345"/>
            <a:ext cx="793699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"#contact"</a:t>
            </a:r>
            <a:endParaRPr lang="en-US" sz="1000" dirty="0"/>
          </a:p>
        </p:txBody>
      </p:sp>
      <p:sp>
        <p:nvSpPr>
          <p:cNvPr id="110" name="Text 102"/>
          <p:cNvSpPr txBox="1"/>
          <p:nvPr/>
        </p:nvSpPr>
        <p:spPr>
          <a:xfrm>
            <a:off x="6935724" y="5273345"/>
            <a:ext cx="14356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00" dirty="0"/>
          </a:p>
        </p:txBody>
      </p:sp>
      <p:sp>
        <p:nvSpPr>
          <p:cNvPr id="111" name="Text 103"/>
          <p:cNvSpPr txBox="1"/>
          <p:nvPr/>
        </p:nvSpPr>
        <p:spPr>
          <a:xfrm>
            <a:off x="7002475" y="5273345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연락처</a:t>
            </a:r>
            <a:endParaRPr lang="en-US" sz="1000" dirty="0"/>
          </a:p>
        </p:txBody>
      </p:sp>
      <p:sp>
        <p:nvSpPr>
          <p:cNvPr id="112" name="Text 104"/>
          <p:cNvSpPr txBox="1"/>
          <p:nvPr/>
        </p:nvSpPr>
        <p:spPr>
          <a:xfrm>
            <a:off x="7402982" y="5273345"/>
            <a:ext cx="342900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&lt;/a&gt;</a:t>
            </a:r>
            <a:endParaRPr lang="en-US" sz="1000" dirty="0"/>
          </a:p>
        </p:txBody>
      </p:sp>
      <p:sp>
        <p:nvSpPr>
          <p:cNvPr id="113" name="Text 105"/>
          <p:cNvSpPr txBox="1"/>
          <p:nvPr/>
        </p:nvSpPr>
        <p:spPr>
          <a:xfrm>
            <a:off x="7669073" y="5273345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&lt;/li&gt;</a:t>
            </a:r>
            <a:endParaRPr lang="en-US" sz="1000" dirty="0"/>
          </a:p>
        </p:txBody>
      </p:sp>
      <p:sp>
        <p:nvSpPr>
          <p:cNvPr id="114" name="Text 106"/>
          <p:cNvSpPr txBox="1"/>
          <p:nvPr/>
        </p:nvSpPr>
        <p:spPr>
          <a:xfrm>
            <a:off x="5383073" y="5459882"/>
            <a:ext cx="409651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&lt;/ul&gt;</a:t>
            </a:r>
            <a:endParaRPr lang="en-US" sz="1000" dirty="0"/>
          </a:p>
        </p:txBody>
      </p:sp>
      <p:sp>
        <p:nvSpPr>
          <p:cNvPr id="115" name="Text 107"/>
          <p:cNvSpPr txBox="1"/>
          <p:nvPr/>
        </p:nvSpPr>
        <p:spPr>
          <a:xfrm>
            <a:off x="5231282" y="5646420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&lt;/nav&gt;</a:t>
            </a:r>
            <a:endParaRPr lang="en-US" sz="1000" dirty="0"/>
          </a:p>
        </p:txBody>
      </p:sp>
      <p:sp>
        <p:nvSpPr>
          <p:cNvPr id="116" name="Text 108"/>
          <p:cNvSpPr txBox="1"/>
          <p:nvPr/>
        </p:nvSpPr>
        <p:spPr>
          <a:xfrm>
            <a:off x="5078578" y="5832958"/>
            <a:ext cx="476402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1000" dirty="0"/>
          </a:p>
        </p:txBody>
      </p:sp>
      <p:sp>
        <p:nvSpPr>
          <p:cNvPr id="117" name="Text 109"/>
          <p:cNvSpPr txBox="1"/>
          <p:nvPr/>
        </p:nvSpPr>
        <p:spPr>
          <a:xfrm>
            <a:off x="4925873" y="6019495"/>
            <a:ext cx="71414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&lt;/header&gt;</a:t>
            </a:r>
            <a:endParaRPr lang="en-US" sz="1000" dirty="0"/>
          </a:p>
        </p:txBody>
      </p:sp>
      <p:sp>
        <p:nvSpPr>
          <p:cNvPr id="1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399775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06: 포트폴리오 프로젝트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615208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섹션(About Me) 코드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6"/>
            <a:ext cx="3715207" cy="3187598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9" b="-9"/>
          <a:stretch/>
        </p:blipFill>
        <p:spPr>
          <a:xfrm>
            <a:off x="847649" y="2617013"/>
            <a:ext cx="3230575" cy="210677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10469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"포트폴리오의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147179" y="3072384"/>
            <a:ext cx="28291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'About Me' 섹션 HTML 코드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3125876" y="3055467"/>
            <a:ext cx="978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작성해줘.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3548786"/>
            <a:ext cx="283921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프로필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이미지, 자기소개 글,</a:t>
            </a:r>
            <a:b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스택 리스트 포함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047902" y="4036162"/>
            <a:ext cx="21881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'연락하기' 버튼(CTA) 포함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1047902" y="4280306"/>
            <a:ext cx="3230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시맨틱 태그 사용 및 접근성(ARIA) 준수"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09905" y="5109667"/>
            <a:ext cx="3715207" cy="132313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609905" y="5109667"/>
            <a:ext cx="38405" cy="132313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287975"/>
            <a:ext cx="105156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81151" y="5280659"/>
            <a:ext cx="8769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TIP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38505" y="5490971"/>
            <a:ext cx="328635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이미지와 텍스트가 나란히 배치되는 구조(Grid/Flex)를 미리 생각하며 마크업 계층을 잡으세요. 모바일에서는 수직으로 쌓이는 구조(Stack)로 전환되어야 합니다.</a:t>
            </a:r>
            <a:endParaRPr lang="en-US" sz="11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945075" y="1684325"/>
            <a:ext cx="2449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(INDEX.HTML)</a:t>
            </a:r>
            <a:endParaRPr lang="en-US" sz="10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5535778" y="2141525"/>
            <a:ext cx="191566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 (About Section)</a:t>
            </a:r>
            <a:endParaRPr lang="en-US" sz="900" dirty="0"/>
          </a:p>
        </p:txBody>
      </p: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C4844579-C3FA-1FD0-4940-2F50F0EBA1B7}"/>
              </a:ext>
            </a:extLst>
          </p:cNvPr>
          <p:cNvGrpSpPr/>
          <p:nvPr/>
        </p:nvGrpSpPr>
        <p:grpSpPr>
          <a:xfrm>
            <a:off x="4951122" y="2510313"/>
            <a:ext cx="6649250" cy="3719779"/>
            <a:chOff x="4925873" y="2566721"/>
            <a:chExt cx="6091733" cy="3877056"/>
          </a:xfrm>
        </p:grpSpPr>
        <p:sp>
          <p:nvSpPr>
            <p:cNvPr id="31" name="Text 23"/>
            <p:cNvSpPr txBox="1"/>
            <p:nvPr/>
          </p:nvSpPr>
          <p:spPr>
            <a:xfrm>
              <a:off x="4925873" y="2566721"/>
              <a:ext cx="156453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About Me Section --&gt;</a:t>
              </a:r>
              <a:endParaRPr lang="en-US" sz="10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6236208" y="2566721"/>
              <a:ext cx="49926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&lt;section</a:t>
              </a:r>
              <a:endParaRPr lang="en-US" sz="10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6655003" y="2566721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6760159" y="256672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6812280" y="2566721"/>
              <a:ext cx="448056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"about"</a:t>
              </a:r>
              <a:endParaRPr lang="en-US" sz="100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7178954" y="2566721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7440473" y="256672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7493508" y="2566721"/>
              <a:ext cx="94091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 section"</a:t>
              </a:r>
              <a:endParaRPr lang="en-US" sz="10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8278978" y="2566721"/>
              <a:ext cx="94091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aria-labelledby</a:t>
              </a:r>
              <a:endParaRPr lang="en-US" sz="10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9064447" y="256672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9117482" y="2566721"/>
              <a:ext cx="94091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"about-heading"</a:t>
              </a:r>
              <a:endParaRPr lang="en-US" sz="10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9902952" y="256672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078578" y="272399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287975" y="272399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550408" y="272399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5602529" y="2723998"/>
              <a:ext cx="174559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"container about__container"</a:t>
              </a:r>
              <a:endParaRPr lang="en-US" sz="10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7069226" y="272399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5231282" y="2881274"/>
              <a:ext cx="13716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Section Title --&gt;</a:t>
              </a:r>
              <a:endParaRPr lang="en-US" sz="10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5231282" y="3038551"/>
              <a:ext cx="23865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&lt;h2</a:t>
              </a:r>
              <a:endParaRPr lang="en-US" sz="10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5388559" y="3038551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5492801" y="303855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5544922" y="3038551"/>
              <a:ext cx="94091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"about-heading"</a:t>
              </a:r>
              <a:endParaRPr lang="en-US" sz="10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6331306" y="3038551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6592824" y="303855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6645859" y="3038551"/>
              <a:ext cx="94091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"section-title"</a:t>
              </a:r>
              <a:endParaRPr lang="en-US" sz="10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7431329" y="303855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7483450" y="3038551"/>
              <a:ext cx="49926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About Me</a:t>
              </a:r>
              <a:endParaRPr lang="en-US" sz="10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7903159" y="3038551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&lt;/h2&gt;</a:t>
              </a:r>
              <a:endParaRPr lang="en-US" sz="10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5231282" y="3352190"/>
              <a:ext cx="236921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Content Wrapper for Flex/Grid --&gt;</a:t>
              </a:r>
              <a:endParaRPr lang="en-US" sz="10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5231282" y="3509467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5440680" y="3509467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5702198" y="3509467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5755234" y="3509467"/>
              <a:ext cx="99761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"about__content"</a:t>
              </a:r>
              <a:endParaRPr lang="en-US" sz="10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6592824" y="3509467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5383073" y="3666744"/>
              <a:ext cx="13716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Profile Image --&gt;</a:t>
              </a:r>
              <a:endParaRPr lang="en-US" sz="100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5383073" y="3824021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5593385" y="3824021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5854903" y="382402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5907024" y="3824021"/>
              <a:ext cx="87325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"about__image"</a:t>
              </a:r>
              <a:endParaRPr lang="en-US" sz="100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6640373" y="382402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5535778" y="398129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&lt;img</a:t>
              </a:r>
              <a:endParaRPr lang="en-US" sz="10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5745175" y="3981298"/>
              <a:ext cx="23865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src</a:t>
              </a:r>
              <a:endParaRPr lang="en-US" sz="100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5902452" y="398129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5954573" y="3981298"/>
              <a:ext cx="13716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"./assets/profile.jpg"</a:t>
              </a:r>
              <a:endParaRPr lang="en-US" sz="100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7107631" y="3981298"/>
              <a:ext cx="23865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alt</a:t>
              </a:r>
              <a:endParaRPr lang="en-US" sz="100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7264908" y="398129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7317029" y="3981298"/>
              <a:ext cx="124541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"김개발의 프로필 사진"</a:t>
              </a:r>
              <a:endParaRPr lang="en-US" sz="100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8469173" y="3981298"/>
              <a:ext cx="448056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loading</a:t>
              </a:r>
              <a:endParaRPr lang="en-US" sz="100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8835847" y="398129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8888882" y="3981298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"lazy"</a:t>
              </a:r>
              <a:endParaRPr lang="en-US" sz="1000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9202522" y="3981298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/&gt;</a:t>
              </a:r>
              <a:endParaRPr lang="en-US" sz="1000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5383073" y="4138574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5383073" y="4453128"/>
              <a:ext cx="162123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Bio Text &amp; Skills --&gt;</a:t>
              </a:r>
              <a:endParaRPr lang="en-US" sz="1000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5383073" y="4609490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5593385" y="4609490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5854903" y="4609490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5907024" y="4609490"/>
              <a:ext cx="816559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"about__text"</a:t>
              </a:r>
              <a:endParaRPr lang="en-US" sz="1000" dirty="0"/>
            </a:p>
          </p:txBody>
        </p:sp>
        <p:sp>
          <p:nvSpPr>
            <p:cNvPr id="88" name="Text 80"/>
            <p:cNvSpPr txBox="1"/>
            <p:nvPr/>
          </p:nvSpPr>
          <p:spPr>
            <a:xfrm>
              <a:off x="6588252" y="4609490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89" name="Text 81"/>
            <p:cNvSpPr txBox="1"/>
            <p:nvPr/>
          </p:nvSpPr>
          <p:spPr>
            <a:xfrm>
              <a:off x="5535778" y="4766767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&lt;p</a:t>
              </a:r>
              <a:endParaRPr lang="en-US" sz="1000" dirty="0"/>
            </a:p>
          </p:txBody>
        </p:sp>
        <p:sp>
          <p:nvSpPr>
            <p:cNvPr id="90" name="Text 82"/>
            <p:cNvSpPr txBox="1"/>
            <p:nvPr/>
          </p:nvSpPr>
          <p:spPr>
            <a:xfrm>
              <a:off x="5640934" y="4766767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91" name="Text 83"/>
            <p:cNvSpPr txBox="1"/>
            <p:nvPr/>
          </p:nvSpPr>
          <p:spPr>
            <a:xfrm>
              <a:off x="5902452" y="4766767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92" name="Text 84"/>
            <p:cNvSpPr txBox="1"/>
            <p:nvPr/>
          </p:nvSpPr>
          <p:spPr>
            <a:xfrm>
              <a:off x="5954573" y="4766767"/>
              <a:ext cx="124724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"about__description"</a:t>
              </a:r>
              <a:endParaRPr lang="en-US" sz="1000" dirty="0"/>
            </a:p>
          </p:txBody>
        </p:sp>
        <p:sp>
          <p:nvSpPr>
            <p:cNvPr id="93" name="Text 85"/>
            <p:cNvSpPr txBox="1"/>
            <p:nvPr/>
          </p:nvSpPr>
          <p:spPr>
            <a:xfrm>
              <a:off x="7002475" y="4766767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94" name="Text 86"/>
            <p:cNvSpPr txBox="1"/>
            <p:nvPr/>
          </p:nvSpPr>
          <p:spPr>
            <a:xfrm>
              <a:off x="7054596" y="4766767"/>
              <a:ext cx="396301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안녕하세요, 사용자 경험을 최우선으로 생각하는 프론트엔드 개발자입니다.</a:t>
              </a:r>
              <a:endParaRPr lang="en-US" sz="900" dirty="0"/>
            </a:p>
          </p:txBody>
        </p:sp>
        <p:sp>
          <p:nvSpPr>
            <p:cNvPr id="95" name="Text 87"/>
            <p:cNvSpPr txBox="1"/>
            <p:nvPr/>
          </p:nvSpPr>
          <p:spPr>
            <a:xfrm>
              <a:off x="10540288" y="4757590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&lt;/p&gt;</a:t>
              </a:r>
              <a:endParaRPr lang="en-US" sz="1000" dirty="0"/>
            </a:p>
          </p:txBody>
        </p:sp>
        <p:sp>
          <p:nvSpPr>
            <p:cNvPr id="96" name="Text 88"/>
            <p:cNvSpPr txBox="1"/>
            <p:nvPr/>
          </p:nvSpPr>
          <p:spPr>
            <a:xfrm>
              <a:off x="5535778" y="4924044"/>
              <a:ext cx="124724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Skills List --&gt;</a:t>
              </a:r>
              <a:endParaRPr lang="en-US" sz="1000" dirty="0"/>
            </a:p>
          </p:txBody>
        </p:sp>
        <p:sp>
          <p:nvSpPr>
            <p:cNvPr id="97" name="Text 89"/>
            <p:cNvSpPr txBox="1"/>
            <p:nvPr/>
          </p:nvSpPr>
          <p:spPr>
            <a:xfrm>
              <a:off x="5535778" y="5081321"/>
              <a:ext cx="23865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&lt;ul</a:t>
              </a:r>
              <a:endParaRPr lang="en-US" sz="1000" dirty="0"/>
            </a:p>
          </p:txBody>
        </p:sp>
        <p:sp>
          <p:nvSpPr>
            <p:cNvPr id="98" name="Text 90"/>
            <p:cNvSpPr txBox="1"/>
            <p:nvPr/>
          </p:nvSpPr>
          <p:spPr>
            <a:xfrm>
              <a:off x="5693054" y="5081321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99" name="Text 91"/>
            <p:cNvSpPr txBox="1"/>
            <p:nvPr/>
          </p:nvSpPr>
          <p:spPr>
            <a:xfrm>
              <a:off x="5954573" y="508132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00" name="Text 92"/>
            <p:cNvSpPr txBox="1"/>
            <p:nvPr/>
          </p:nvSpPr>
          <p:spPr>
            <a:xfrm>
              <a:off x="6007608" y="5081321"/>
              <a:ext cx="94091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"about__skills"</a:t>
              </a:r>
              <a:endParaRPr lang="en-US" sz="1000" dirty="0"/>
            </a:p>
          </p:txBody>
        </p:sp>
        <p:sp>
          <p:nvSpPr>
            <p:cNvPr id="101" name="Text 93"/>
            <p:cNvSpPr txBox="1"/>
            <p:nvPr/>
          </p:nvSpPr>
          <p:spPr>
            <a:xfrm>
              <a:off x="6793078" y="5081321"/>
              <a:ext cx="62362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</a:t>
              </a:r>
              <a:endParaRPr lang="en-US" sz="1000" dirty="0"/>
            </a:p>
          </p:txBody>
        </p:sp>
        <p:sp>
          <p:nvSpPr>
            <p:cNvPr id="102" name="Text 94"/>
            <p:cNvSpPr txBox="1"/>
            <p:nvPr/>
          </p:nvSpPr>
          <p:spPr>
            <a:xfrm>
              <a:off x="7317029" y="508132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03" name="Text 95"/>
            <p:cNvSpPr txBox="1"/>
            <p:nvPr/>
          </p:nvSpPr>
          <p:spPr>
            <a:xfrm>
              <a:off x="7369150" y="5081321"/>
              <a:ext cx="657454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"보유 기술"</a:t>
              </a:r>
              <a:endParaRPr lang="en-US" sz="1000" dirty="0"/>
            </a:p>
          </p:txBody>
        </p:sp>
        <p:sp>
          <p:nvSpPr>
            <p:cNvPr id="104" name="Text 96"/>
            <p:cNvSpPr txBox="1"/>
            <p:nvPr/>
          </p:nvSpPr>
          <p:spPr>
            <a:xfrm>
              <a:off x="7945222" y="5081321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105" name="Text 97"/>
            <p:cNvSpPr txBox="1"/>
            <p:nvPr/>
          </p:nvSpPr>
          <p:spPr>
            <a:xfrm>
              <a:off x="5688482" y="523859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&lt;li&gt;</a:t>
              </a:r>
              <a:endParaRPr lang="en-US" sz="1000" dirty="0"/>
            </a:p>
          </p:txBody>
        </p:sp>
        <p:sp>
          <p:nvSpPr>
            <p:cNvPr id="106" name="Text 98"/>
            <p:cNvSpPr txBox="1"/>
            <p:nvPr/>
          </p:nvSpPr>
          <p:spPr>
            <a:xfrm>
              <a:off x="5897880" y="5238598"/>
              <a:ext cx="62362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HTML5/CSS3</a:t>
              </a:r>
              <a:endParaRPr lang="en-US" sz="1000" dirty="0"/>
            </a:p>
          </p:txBody>
        </p:sp>
        <p:sp>
          <p:nvSpPr>
            <p:cNvPr id="107" name="Text 99"/>
            <p:cNvSpPr txBox="1"/>
            <p:nvPr/>
          </p:nvSpPr>
          <p:spPr>
            <a:xfrm>
              <a:off x="6421831" y="523859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&lt;/li&gt;</a:t>
              </a:r>
              <a:endParaRPr lang="en-US" sz="1000" dirty="0"/>
            </a:p>
          </p:txBody>
        </p:sp>
        <p:sp>
          <p:nvSpPr>
            <p:cNvPr id="108" name="Text 100"/>
            <p:cNvSpPr txBox="1"/>
            <p:nvPr/>
          </p:nvSpPr>
          <p:spPr>
            <a:xfrm>
              <a:off x="6683350" y="523859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&lt;li&gt;</a:t>
              </a:r>
              <a:endParaRPr lang="en-US" sz="1000" dirty="0"/>
            </a:p>
          </p:txBody>
        </p:sp>
        <p:sp>
          <p:nvSpPr>
            <p:cNvPr id="109" name="Text 101"/>
            <p:cNvSpPr txBox="1"/>
            <p:nvPr/>
          </p:nvSpPr>
          <p:spPr>
            <a:xfrm>
              <a:off x="6892747" y="5238598"/>
              <a:ext cx="106619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JavaScript (ES6+)</a:t>
              </a:r>
              <a:endParaRPr lang="en-US" sz="1000" dirty="0"/>
            </a:p>
          </p:txBody>
        </p:sp>
        <p:sp>
          <p:nvSpPr>
            <p:cNvPr id="110" name="Text 102"/>
            <p:cNvSpPr txBox="1"/>
            <p:nvPr/>
          </p:nvSpPr>
          <p:spPr>
            <a:xfrm>
              <a:off x="7783373" y="523859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&lt;/li&gt;</a:t>
              </a:r>
              <a:endParaRPr lang="en-US" sz="1000" dirty="0"/>
            </a:p>
          </p:txBody>
        </p:sp>
        <p:sp>
          <p:nvSpPr>
            <p:cNvPr id="111" name="Text 103"/>
            <p:cNvSpPr txBox="1"/>
            <p:nvPr/>
          </p:nvSpPr>
          <p:spPr>
            <a:xfrm>
              <a:off x="8045806" y="523859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&lt;li&gt;</a:t>
              </a:r>
              <a:endParaRPr lang="en-US" sz="1000" dirty="0"/>
            </a:p>
          </p:txBody>
        </p:sp>
        <p:sp>
          <p:nvSpPr>
            <p:cNvPr id="112" name="Text 104"/>
            <p:cNvSpPr txBox="1"/>
            <p:nvPr/>
          </p:nvSpPr>
          <p:spPr>
            <a:xfrm>
              <a:off x="8255203" y="523859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React</a:t>
              </a:r>
              <a:endParaRPr lang="en-US" sz="1000" dirty="0"/>
            </a:p>
          </p:txBody>
        </p:sp>
        <p:sp>
          <p:nvSpPr>
            <p:cNvPr id="113" name="Text 105"/>
            <p:cNvSpPr txBox="1"/>
            <p:nvPr/>
          </p:nvSpPr>
          <p:spPr>
            <a:xfrm>
              <a:off x="8516722" y="523859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&lt;/li&gt;</a:t>
              </a:r>
              <a:endParaRPr lang="en-US" sz="1000" dirty="0"/>
            </a:p>
          </p:txBody>
        </p:sp>
        <p:sp>
          <p:nvSpPr>
            <p:cNvPr id="114" name="Text 106"/>
            <p:cNvSpPr txBox="1"/>
            <p:nvPr/>
          </p:nvSpPr>
          <p:spPr>
            <a:xfrm>
              <a:off x="5535778" y="5395874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&lt;/ul&gt;</a:t>
              </a:r>
              <a:endParaRPr lang="en-US" sz="1000" dirty="0"/>
            </a:p>
          </p:txBody>
        </p:sp>
        <p:sp>
          <p:nvSpPr>
            <p:cNvPr id="115" name="Text 107"/>
            <p:cNvSpPr txBox="1"/>
            <p:nvPr/>
          </p:nvSpPr>
          <p:spPr>
            <a:xfrm>
              <a:off x="5535778" y="5553151"/>
              <a:ext cx="1190549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CTA Button --&gt;</a:t>
              </a:r>
              <a:endParaRPr lang="en-US" sz="1000" dirty="0"/>
            </a:p>
          </p:txBody>
        </p:sp>
        <p:sp>
          <p:nvSpPr>
            <p:cNvPr id="116" name="Text 108"/>
            <p:cNvSpPr txBox="1"/>
            <p:nvPr/>
          </p:nvSpPr>
          <p:spPr>
            <a:xfrm>
              <a:off x="5535778" y="5710428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&lt;a</a:t>
              </a:r>
              <a:endParaRPr lang="en-US" sz="1000" dirty="0"/>
            </a:p>
          </p:txBody>
        </p:sp>
        <p:sp>
          <p:nvSpPr>
            <p:cNvPr id="117" name="Text 109"/>
            <p:cNvSpPr txBox="1"/>
            <p:nvPr/>
          </p:nvSpPr>
          <p:spPr>
            <a:xfrm>
              <a:off x="5640934" y="571042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href</a:t>
              </a:r>
              <a:endParaRPr lang="en-US" sz="1000" dirty="0"/>
            </a:p>
          </p:txBody>
        </p:sp>
        <p:sp>
          <p:nvSpPr>
            <p:cNvPr id="118" name="Text 110"/>
            <p:cNvSpPr txBox="1"/>
            <p:nvPr/>
          </p:nvSpPr>
          <p:spPr>
            <a:xfrm>
              <a:off x="5850331" y="571042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19" name="Text 111"/>
            <p:cNvSpPr txBox="1"/>
            <p:nvPr/>
          </p:nvSpPr>
          <p:spPr>
            <a:xfrm>
              <a:off x="5902452" y="5710428"/>
              <a:ext cx="62362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"#contact"</a:t>
              </a:r>
              <a:endParaRPr lang="en-US" sz="1000" dirty="0"/>
            </a:p>
          </p:txBody>
        </p:sp>
        <p:sp>
          <p:nvSpPr>
            <p:cNvPr id="120" name="Text 112"/>
            <p:cNvSpPr txBox="1"/>
            <p:nvPr/>
          </p:nvSpPr>
          <p:spPr>
            <a:xfrm>
              <a:off x="6426403" y="571042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121" name="Text 113"/>
            <p:cNvSpPr txBox="1"/>
            <p:nvPr/>
          </p:nvSpPr>
          <p:spPr>
            <a:xfrm>
              <a:off x="6687922" y="571042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22" name="Text 114"/>
            <p:cNvSpPr txBox="1"/>
            <p:nvPr/>
          </p:nvSpPr>
          <p:spPr>
            <a:xfrm>
              <a:off x="6740957" y="5710428"/>
              <a:ext cx="112288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"btn btn--primary"</a:t>
              </a:r>
              <a:endParaRPr lang="en-US" sz="1000" dirty="0"/>
            </a:p>
          </p:txBody>
        </p:sp>
        <p:sp>
          <p:nvSpPr>
            <p:cNvPr id="123" name="Text 115"/>
            <p:cNvSpPr txBox="1"/>
            <p:nvPr/>
          </p:nvSpPr>
          <p:spPr>
            <a:xfrm>
              <a:off x="7683703" y="571042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124" name="Text 116"/>
            <p:cNvSpPr txBox="1"/>
            <p:nvPr/>
          </p:nvSpPr>
          <p:spPr>
            <a:xfrm>
              <a:off x="7735824" y="5710428"/>
              <a:ext cx="7050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Contact Me</a:t>
              </a:r>
              <a:endParaRPr lang="en-US" sz="1000" dirty="0"/>
            </a:p>
          </p:txBody>
        </p:sp>
        <p:sp>
          <p:nvSpPr>
            <p:cNvPr id="125" name="Text 117"/>
            <p:cNvSpPr txBox="1"/>
            <p:nvPr/>
          </p:nvSpPr>
          <p:spPr>
            <a:xfrm>
              <a:off x="8364931" y="571042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&lt;span</a:t>
              </a:r>
              <a:endParaRPr lang="en-US" sz="1000" dirty="0"/>
            </a:p>
          </p:txBody>
        </p:sp>
        <p:sp>
          <p:nvSpPr>
            <p:cNvPr id="126" name="Text 118"/>
            <p:cNvSpPr txBox="1"/>
            <p:nvPr/>
          </p:nvSpPr>
          <p:spPr>
            <a:xfrm>
              <a:off x="8626450" y="5710428"/>
              <a:ext cx="69220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aria-hidden</a:t>
              </a:r>
              <a:endParaRPr lang="en-US" sz="1000" dirty="0"/>
            </a:p>
          </p:txBody>
        </p:sp>
        <p:sp>
          <p:nvSpPr>
            <p:cNvPr id="127" name="Text 119"/>
            <p:cNvSpPr txBox="1"/>
            <p:nvPr/>
          </p:nvSpPr>
          <p:spPr>
            <a:xfrm>
              <a:off x="9202522" y="571042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28" name="Text 120"/>
            <p:cNvSpPr txBox="1"/>
            <p:nvPr/>
          </p:nvSpPr>
          <p:spPr>
            <a:xfrm>
              <a:off x="9255557" y="5710428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"true"</a:t>
              </a:r>
              <a:endParaRPr lang="en-US" sz="1000" dirty="0"/>
            </a:p>
          </p:txBody>
        </p:sp>
        <p:sp>
          <p:nvSpPr>
            <p:cNvPr id="129" name="Text 121"/>
            <p:cNvSpPr txBox="1"/>
            <p:nvPr/>
          </p:nvSpPr>
          <p:spPr>
            <a:xfrm>
              <a:off x="9569196" y="571042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130" name="Text 122"/>
            <p:cNvSpPr txBox="1"/>
            <p:nvPr/>
          </p:nvSpPr>
          <p:spPr>
            <a:xfrm>
              <a:off x="9622231" y="5710428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→</a:t>
              </a:r>
              <a:endParaRPr lang="en-US" sz="1000" dirty="0"/>
            </a:p>
          </p:txBody>
        </p:sp>
        <p:sp>
          <p:nvSpPr>
            <p:cNvPr id="131" name="Text 123"/>
            <p:cNvSpPr txBox="1"/>
            <p:nvPr/>
          </p:nvSpPr>
          <p:spPr>
            <a:xfrm>
              <a:off x="9726473" y="5710428"/>
              <a:ext cx="448056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&lt;/span&gt;</a:t>
              </a:r>
              <a:endParaRPr lang="en-US" sz="1000" dirty="0"/>
            </a:p>
          </p:txBody>
        </p:sp>
        <p:sp>
          <p:nvSpPr>
            <p:cNvPr id="132" name="Text 124"/>
            <p:cNvSpPr txBox="1"/>
            <p:nvPr/>
          </p:nvSpPr>
          <p:spPr>
            <a:xfrm>
              <a:off x="10093147" y="571042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&lt;/a&gt;</a:t>
              </a:r>
              <a:endParaRPr lang="en-US" sz="1000" dirty="0"/>
            </a:p>
          </p:txBody>
        </p:sp>
        <p:sp>
          <p:nvSpPr>
            <p:cNvPr id="133" name="Text 125"/>
            <p:cNvSpPr txBox="1"/>
            <p:nvPr/>
          </p:nvSpPr>
          <p:spPr>
            <a:xfrm>
              <a:off x="5383073" y="5866790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dirty="0"/>
            </a:p>
          </p:txBody>
        </p:sp>
        <p:sp>
          <p:nvSpPr>
            <p:cNvPr id="134" name="Text 126"/>
            <p:cNvSpPr txBox="1"/>
            <p:nvPr/>
          </p:nvSpPr>
          <p:spPr>
            <a:xfrm>
              <a:off x="5231282" y="6024067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dirty="0"/>
            </a:p>
          </p:txBody>
        </p:sp>
        <p:sp>
          <p:nvSpPr>
            <p:cNvPr id="135" name="Text 127"/>
            <p:cNvSpPr txBox="1"/>
            <p:nvPr/>
          </p:nvSpPr>
          <p:spPr>
            <a:xfrm>
              <a:off x="5078578" y="6181344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dirty="0"/>
            </a:p>
          </p:txBody>
        </p:sp>
        <p:sp>
          <p:nvSpPr>
            <p:cNvPr id="136" name="Text 128"/>
            <p:cNvSpPr txBox="1"/>
            <p:nvPr/>
          </p:nvSpPr>
          <p:spPr>
            <a:xfrm>
              <a:off x="4925873" y="6338621"/>
              <a:ext cx="62362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&lt;/section&gt;</a:t>
              </a:r>
              <a:endParaRPr lang="en-US" sz="1000" dirty="0"/>
            </a:p>
          </p:txBody>
        </p:sp>
      </p:grpSp>
      <p:sp>
        <p:nvSpPr>
          <p:cNvPr id="1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32863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IMPLEMENTATION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828812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섹션: 그리드 레이아웃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29565" y="1762963"/>
            <a:ext cx="3715207" cy="2945283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67309" y="2034540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5909" y="2000707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804231" y="1994306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99328" y="2080260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9" b="-9"/>
          <a:stretch/>
        </p:blipFill>
        <p:spPr>
          <a:xfrm>
            <a:off x="878151" y="2408528"/>
            <a:ext cx="3230575" cy="210677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78404" y="2608781"/>
            <a:ext cx="27486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"프로젝트 포트폴리오 목록을 보여줄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526460" y="2863899"/>
            <a:ext cx="270571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CSS Grid 레이아웃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797476" y="2846982"/>
            <a:ext cx="12966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코드를 작성해줘.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08581" y="3265320"/>
            <a:ext cx="2748687" cy="962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반응형(모바일 1열, 데스크탑 3열)으로 동작해야 하며, 카드에 마우스를 올렸을 때(Hover)와 키보드 포커스 접근성 스타일도 포함해줘."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67970" y="4960424"/>
            <a:ext cx="3676802" cy="1322614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629565" y="5000658"/>
            <a:ext cx="38405" cy="1322614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58165" y="5178966"/>
            <a:ext cx="105156" cy="1335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00811" y="5171650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858165" y="5381962"/>
            <a:ext cx="328635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`repeat(auto-fit, minmax(300px, 1fr))` 패턴을 사용하면 미디어 쿼리 없이도 자동으로 줄바꿈되는 유연한 그리드를 만들 수 있습니다.</a:t>
            </a:r>
            <a:endParaRPr lang="en-US" sz="11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945075" y="1684325"/>
            <a:ext cx="235915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(STYLE.CSS)</a:t>
            </a:r>
            <a:endParaRPr lang="en-US" sz="10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0"/>
          <p:cNvSpPr txBox="1"/>
          <p:nvPr/>
        </p:nvSpPr>
        <p:spPr>
          <a:xfrm>
            <a:off x="5535778" y="214152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style.css</a:t>
            </a:r>
            <a:endParaRPr lang="en-US" sz="900" dirty="0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DC0C83E9-DB92-1D94-0CFB-A96D2660D547}"/>
              </a:ext>
            </a:extLst>
          </p:cNvPr>
          <p:cNvGrpSpPr/>
          <p:nvPr/>
        </p:nvGrpSpPr>
        <p:grpSpPr>
          <a:xfrm>
            <a:off x="4945075" y="2530144"/>
            <a:ext cx="4796942" cy="3749954"/>
            <a:chOff x="4925873" y="2650846"/>
            <a:chExt cx="4796942" cy="3572561"/>
          </a:xfrm>
        </p:grpSpPr>
        <p:sp>
          <p:nvSpPr>
            <p:cNvPr id="29" name="Text 21"/>
            <p:cNvSpPr txBox="1"/>
            <p:nvPr/>
          </p:nvSpPr>
          <p:spPr>
            <a:xfrm>
              <a:off x="4925873" y="2650846"/>
              <a:ext cx="290230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Projects Section Grid Layout */</a:t>
              </a:r>
              <a:endParaRPr lang="en-US" sz="1100" dirty="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4925873" y="2821838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.projects-grid</a:t>
              </a:r>
              <a:endParaRPr lang="en-US" sz="110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5926226" y="28218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5078578" y="2993746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display</a:t>
              </a:r>
              <a:endParaRPr lang="en-US" sz="11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578754" y="29937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5650078" y="2993746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grid</a:t>
              </a:r>
              <a:endParaRPr lang="en-US" sz="110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5936285" y="29937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078578" y="3164738"/>
              <a:ext cx="4026103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반응형: 최소 300px 너비 유지, 공간 남으면 채우기 */</a:t>
              </a:r>
              <a:endParaRPr lang="en-US" sz="11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078578" y="3336646"/>
              <a:ext cx="179131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grid-template-columns</a:t>
              </a:r>
              <a:endParaRPr lang="en-US" sz="11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6579108" y="33366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6650431" y="3336646"/>
              <a:ext cx="307238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repeat(auto-fit, minmax(300px, 1fr))</a:t>
              </a:r>
              <a:endParaRPr lang="en-US" sz="11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9222638" y="33366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078578" y="3507638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gap</a:t>
              </a:r>
              <a:endParaRPr lang="en-US" sz="11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5293462" y="35076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364785" y="3507638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2rem</a:t>
              </a:r>
              <a:endParaRPr lang="en-US" sz="11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650992" y="35076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078578" y="3679546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padding</a:t>
              </a:r>
              <a:endParaRPr lang="en-US" sz="11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5578754" y="36795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650078" y="3679546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2rem 0</a:t>
              </a:r>
              <a:endParaRPr lang="en-US" sz="11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6078931" y="36795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4925873" y="38505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4998110" y="3850538"/>
              <a:ext cx="205191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Project Card Style */</a:t>
              </a:r>
              <a:endParaRPr lang="en-US" sz="11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4925873" y="4022446"/>
              <a:ext cx="111099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.project-card</a:t>
              </a:r>
              <a:endParaRPr lang="en-US" sz="11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5854903" y="40224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5078578" y="4193438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background</a:t>
              </a:r>
              <a:endParaRPr lang="en-US" sz="11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5792724" y="41934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5864962" y="4193438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var(--bg-card)</a:t>
              </a:r>
              <a:endParaRPr lang="en-US" sz="11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6865315" y="41934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5078578" y="4365346"/>
              <a:ext cx="111099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border-radius</a:t>
              </a:r>
              <a:endParaRPr lang="en-US" sz="11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6007608" y="43653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6078931" y="4365346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12px</a:t>
              </a:r>
              <a:endParaRPr lang="en-US" sz="11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6365138" y="43653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5078578" y="4536338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box-shadow</a:t>
              </a:r>
              <a:endParaRPr lang="en-US" sz="11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5792724" y="45363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5864962" y="4536338"/>
              <a:ext cx="2471623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 4px 6px rgba(0, 0, 0, 0.05)</a:t>
              </a:r>
              <a:endParaRPr lang="en-US" sz="11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7936992" y="45363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5078578" y="4708246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transition</a:t>
              </a:r>
              <a:endParaRPr lang="en-US" sz="110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5792724" y="47082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5864962" y="4708246"/>
              <a:ext cx="348843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transform 0.3s ease, box-shadow 0.3s ease</a:t>
              </a:r>
              <a:endParaRPr lang="en-US" sz="110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8793785" y="47082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4925873" y="48792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4998110" y="4879238"/>
              <a:ext cx="273222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Hover &amp; Focus Interactions */</a:t>
              </a:r>
              <a:endParaRPr lang="en-US" sz="11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4925873" y="5051146"/>
              <a:ext cx="162123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.project-card:hover</a:t>
              </a:r>
              <a:endParaRPr lang="en-US" sz="11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6283757" y="50511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110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6355080" y="5051146"/>
              <a:ext cx="222199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.project-card:focus-within</a:t>
              </a:r>
              <a:endParaRPr lang="en-US" sz="110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8213141" y="50511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5078578" y="5222138"/>
              <a:ext cx="77083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transform</a:t>
              </a:r>
              <a:endParaRPr lang="en-US" sz="110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5721401" y="52221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5793638" y="5222138"/>
              <a:ext cx="1371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translateY(-5px)</a:t>
              </a:r>
              <a:endParaRPr lang="en-US" sz="110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6936638" y="52221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5078578" y="5394046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box-shadow</a:t>
              </a:r>
              <a:endParaRPr lang="en-US" sz="110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5792724" y="53940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5864962" y="5394046"/>
              <a:ext cx="256214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 10px 15px rgba(0, 0, 0, 0.1)</a:t>
              </a:r>
              <a:endParaRPr lang="en-US" sz="1100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8008315" y="53940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5078578" y="5565038"/>
              <a:ext cx="26956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키보드 접근성을 위한 아웃라인 */</a:t>
              </a:r>
              <a:endParaRPr lang="en-US" sz="1100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5078578" y="5736946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outline</a:t>
              </a:r>
              <a:endParaRPr lang="en-US" sz="1100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5578754" y="57369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5650078" y="5736946"/>
              <a:ext cx="256214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2px solid var(--primary-color)</a:t>
              </a:r>
              <a:endParaRPr lang="en-US" sz="1100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7793431" y="57369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88" name="Text 80"/>
            <p:cNvSpPr txBox="1"/>
            <p:nvPr/>
          </p:nvSpPr>
          <p:spPr>
            <a:xfrm>
              <a:off x="5078578" y="5907938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outline-offset</a:t>
              </a:r>
              <a:endParaRPr lang="en-US" sz="1100" dirty="0"/>
            </a:p>
          </p:txBody>
        </p:sp>
        <p:sp>
          <p:nvSpPr>
            <p:cNvPr id="89" name="Text 81"/>
            <p:cNvSpPr txBox="1"/>
            <p:nvPr/>
          </p:nvSpPr>
          <p:spPr>
            <a:xfrm>
              <a:off x="6078931" y="59079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100" dirty="0"/>
            </a:p>
          </p:txBody>
        </p:sp>
        <p:sp>
          <p:nvSpPr>
            <p:cNvPr id="90" name="Text 82"/>
            <p:cNvSpPr txBox="1"/>
            <p:nvPr/>
          </p:nvSpPr>
          <p:spPr>
            <a:xfrm>
              <a:off x="6150254" y="5907938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4px</a:t>
              </a:r>
              <a:endParaRPr lang="en-US" sz="1100" dirty="0"/>
            </a:p>
          </p:txBody>
        </p:sp>
        <p:sp>
          <p:nvSpPr>
            <p:cNvPr id="91" name="Text 83"/>
            <p:cNvSpPr txBox="1"/>
            <p:nvPr/>
          </p:nvSpPr>
          <p:spPr>
            <a:xfrm>
              <a:off x="6365138" y="59079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100" dirty="0"/>
            </a:p>
          </p:txBody>
        </p:sp>
        <p:sp>
          <p:nvSpPr>
            <p:cNvPr id="92" name="Text 84"/>
            <p:cNvSpPr txBox="1"/>
            <p:nvPr/>
          </p:nvSpPr>
          <p:spPr>
            <a:xfrm>
              <a:off x="4925873" y="6079846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</p:grpSp>
      <p:sp>
        <p:nvSpPr>
          <p:cNvPr id="9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49997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섹션 구현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6955841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카드 디자인 코드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98827" y="1533060"/>
            <a:ext cx="3715207" cy="3659689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20265" y="1811689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48865" y="1778771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752659" y="1735271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47756" y="1820311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11" b="-11"/>
          <a:stretch/>
        </p:blipFill>
        <p:spPr>
          <a:xfrm>
            <a:off x="805634" y="2156680"/>
            <a:ext cx="3230575" cy="283829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82113" y="2318986"/>
            <a:ext cx="264810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"프로젝트 섹션에 들어갈 '프로젝트 카드' HTML 컴포넌트를 만들어줘.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982113" y="3050506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152192" y="3050506"/>
            <a:ext cx="10725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썸네일 이미지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35502" y="3050506"/>
            <a:ext cx="1598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(hover시 확대 효과)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82113" y="3293737"/>
            <a:ext cx="1990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프로젝트 제목 및 설명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982113" y="3537882"/>
            <a:ext cx="26078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사용 기술 태그 (HTML, CSS 등)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982113" y="3782026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152192" y="3782026"/>
            <a:ext cx="2016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데모 및 코드 링크 아이콘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982113" y="4025257"/>
            <a:ext cx="12335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(FontAwesome)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982113" y="426940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 아이콘 링크에는 반드시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2681983" y="4269402"/>
            <a:ext cx="8622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aria-label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1152192" y="4487487"/>
            <a:ext cx="28291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포함해줘."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11782" y="5346759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25" name="Shape 20"/>
          <p:cNvSpPr/>
          <p:nvPr/>
        </p:nvSpPr>
        <p:spPr>
          <a:xfrm>
            <a:off x="611782" y="5346759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40382" y="5525981"/>
            <a:ext cx="105156" cy="13350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83943" y="5518666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840382" y="5728064"/>
            <a:ext cx="329641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카드 전체를 감싸는 &lt;article&gt; 태그를 사용하면 의미론적으로 더 명확합니다. 이미지 로딩 실패를 대비해 alt 텍스트를 꼼꼼히 작성하세요.</a:t>
            </a:r>
            <a:endParaRPr lang="en-US" sz="110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69889" y="1752253"/>
            <a:ext cx="171907" cy="13350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917691" y="1719335"/>
            <a:ext cx="2449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(INDEX.HTML)</a:t>
            </a:r>
            <a:endParaRPr lang="en-US" sz="10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69888" y="2032974"/>
            <a:ext cx="7074101" cy="4402836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4669888" y="2032974"/>
            <a:ext cx="7074101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5"/>
          <p:cNvSpPr/>
          <p:nvPr/>
        </p:nvSpPr>
        <p:spPr>
          <a:xfrm>
            <a:off x="4822594" y="218293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5012789" y="218293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7"/>
          <p:cNvSpPr/>
          <p:nvPr/>
        </p:nvSpPr>
        <p:spPr>
          <a:xfrm>
            <a:off x="5203898" y="218293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8"/>
          <p:cNvSpPr txBox="1"/>
          <p:nvPr/>
        </p:nvSpPr>
        <p:spPr>
          <a:xfrm>
            <a:off x="5508394" y="2176535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CC98C772-D90D-87AF-D736-8D410058DA80}"/>
              </a:ext>
            </a:extLst>
          </p:cNvPr>
          <p:cNvGrpSpPr/>
          <p:nvPr/>
        </p:nvGrpSpPr>
        <p:grpSpPr>
          <a:xfrm>
            <a:off x="4782170" y="2678999"/>
            <a:ext cx="6961820" cy="3594506"/>
            <a:chOff x="4925873" y="2670048"/>
            <a:chExt cx="5982919" cy="3121762"/>
          </a:xfrm>
        </p:grpSpPr>
        <p:sp>
          <p:nvSpPr>
            <p:cNvPr id="37" name="Text 29"/>
            <p:cNvSpPr txBox="1"/>
            <p:nvPr/>
          </p:nvSpPr>
          <p:spPr>
            <a:xfrm>
              <a:off x="4925873" y="2670048"/>
              <a:ext cx="193852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Project Card Component --&gt;</a:t>
              </a:r>
              <a:endParaRPr lang="en-US" sz="10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6549847" y="2670048"/>
              <a:ext cx="49926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&lt;article</a:t>
              </a:r>
              <a:endParaRPr lang="en-US" sz="10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6969557" y="267004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7231075" y="267004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7283196" y="2670048"/>
              <a:ext cx="87325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"project-card"</a:t>
              </a:r>
              <a:endParaRPr lang="en-US" sz="10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8017459" y="267004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078578" y="2837383"/>
              <a:ext cx="2562149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Image Container for Hover Effect --&gt;</a:t>
              </a:r>
              <a:endParaRPr lang="en-US" sz="10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078578" y="300471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287975" y="300471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5550408" y="300471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602529" y="3004718"/>
              <a:ext cx="748894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"card-image"</a:t>
              </a:r>
              <a:endParaRPr lang="en-US" sz="10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6230722" y="300471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5231282" y="317296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&lt;img</a:t>
              </a:r>
              <a:endParaRPr lang="en-US" sz="10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5440680" y="3172968"/>
              <a:ext cx="23865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src</a:t>
              </a:r>
              <a:endParaRPr lang="en-US" sz="10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5597957" y="317296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5650078" y="3172968"/>
              <a:ext cx="144018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"./assets/project1.jpg"</a:t>
              </a:r>
              <a:endParaRPr lang="en-US" sz="10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6855257" y="3172968"/>
              <a:ext cx="23865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alt</a:t>
              </a:r>
              <a:endParaRPr lang="en-US" sz="10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7012534" y="317296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7064654" y="3172968"/>
              <a:ext cx="187269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"개인 포트폴리오 사이트 미리보기"</a:t>
              </a:r>
              <a:endParaRPr lang="en-US" sz="10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8793785" y="3172968"/>
              <a:ext cx="448056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loading</a:t>
              </a:r>
              <a:endParaRPr lang="en-US" sz="10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9160459" y="317296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9212580" y="3172968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"lazy"</a:t>
              </a:r>
              <a:endParaRPr lang="en-US" sz="10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9527134" y="3172968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/&gt;</a:t>
              </a:r>
              <a:endParaRPr lang="en-US" sz="10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5078578" y="3340303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5078578" y="350763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5287975" y="350763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5550408" y="350763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5602529" y="3507638"/>
              <a:ext cx="87325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"card-content"</a:t>
              </a:r>
              <a:endParaRPr lang="en-US" sz="100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6335878" y="350763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5231282" y="3674974"/>
              <a:ext cx="23865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&lt;h3</a:t>
              </a:r>
              <a:endParaRPr lang="en-US" sz="10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5388559" y="3674974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5650078" y="3674974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5702198" y="3674974"/>
              <a:ext cx="748894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"card-title"</a:t>
              </a:r>
              <a:endParaRPr lang="en-US" sz="100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6331306" y="3674974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6383426" y="3674974"/>
              <a:ext cx="112288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Personal Portfolio</a:t>
              </a:r>
              <a:endParaRPr lang="en-US" sz="10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7326173" y="3674974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&lt;/h3&gt;</a:t>
              </a:r>
              <a:endParaRPr lang="en-US" sz="100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5231282" y="3843223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&lt;p</a:t>
              </a:r>
              <a:endParaRPr lang="en-US" sz="100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5335524" y="3843223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5597957" y="3843223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5650078" y="3843223"/>
              <a:ext cx="69220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"card-desc"</a:t>
              </a:r>
              <a:endParaRPr lang="en-US" sz="100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6226150" y="3843223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6279185" y="3843223"/>
              <a:ext cx="248991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바이브코딩으로 제작한 반응형 웹사이트입니다.</a:t>
              </a:r>
              <a:endParaRPr lang="en-US" sz="100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8583473" y="3843223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&lt;/p&gt;</a:t>
              </a:r>
              <a:endParaRPr lang="en-US" sz="100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5231282" y="4010558"/>
              <a:ext cx="149687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Tech Stack Tags --&gt;</a:t>
              </a:r>
              <a:endParaRPr lang="en-US" sz="1000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5231282" y="4177894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5440680" y="4177894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5702198" y="4177894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5755234" y="4177894"/>
              <a:ext cx="69220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"card-tags"</a:t>
              </a:r>
              <a:endParaRPr lang="en-US" sz="1000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6331306" y="4177894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5383073" y="4345229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&lt;span</a:t>
              </a:r>
              <a:endParaRPr lang="en-US" sz="1000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5645506" y="4345229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88" name="Text 80"/>
            <p:cNvSpPr txBox="1"/>
            <p:nvPr/>
          </p:nvSpPr>
          <p:spPr>
            <a:xfrm>
              <a:off x="5907024" y="4345229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89" name="Text 81"/>
            <p:cNvSpPr txBox="1"/>
            <p:nvPr/>
          </p:nvSpPr>
          <p:spPr>
            <a:xfrm>
              <a:off x="5960059" y="4345229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"tag"</a:t>
              </a:r>
              <a:endParaRPr lang="en-US" sz="1000" dirty="0"/>
            </a:p>
          </p:txBody>
        </p:sp>
        <p:sp>
          <p:nvSpPr>
            <p:cNvPr id="90" name="Text 82"/>
            <p:cNvSpPr txBox="1"/>
            <p:nvPr/>
          </p:nvSpPr>
          <p:spPr>
            <a:xfrm>
              <a:off x="6221578" y="4345229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91" name="Text 83"/>
            <p:cNvSpPr txBox="1"/>
            <p:nvPr/>
          </p:nvSpPr>
          <p:spPr>
            <a:xfrm>
              <a:off x="6273698" y="4345229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HTML5</a:t>
              </a:r>
              <a:endParaRPr lang="en-US" sz="1000" dirty="0"/>
            </a:p>
          </p:txBody>
        </p:sp>
        <p:sp>
          <p:nvSpPr>
            <p:cNvPr id="92" name="Text 84"/>
            <p:cNvSpPr txBox="1"/>
            <p:nvPr/>
          </p:nvSpPr>
          <p:spPr>
            <a:xfrm>
              <a:off x="6536131" y="4345229"/>
              <a:ext cx="448056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&lt;/span&gt;</a:t>
              </a:r>
              <a:endParaRPr lang="en-US" sz="1000" dirty="0"/>
            </a:p>
          </p:txBody>
        </p:sp>
        <p:sp>
          <p:nvSpPr>
            <p:cNvPr id="93" name="Text 85"/>
            <p:cNvSpPr txBox="1"/>
            <p:nvPr/>
          </p:nvSpPr>
          <p:spPr>
            <a:xfrm>
              <a:off x="6902806" y="4345229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&lt;span</a:t>
              </a:r>
              <a:endParaRPr lang="en-US" sz="1000" dirty="0"/>
            </a:p>
          </p:txBody>
        </p:sp>
        <p:sp>
          <p:nvSpPr>
            <p:cNvPr id="94" name="Text 86"/>
            <p:cNvSpPr txBox="1"/>
            <p:nvPr/>
          </p:nvSpPr>
          <p:spPr>
            <a:xfrm>
              <a:off x="7164324" y="4345229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95" name="Text 87"/>
            <p:cNvSpPr txBox="1"/>
            <p:nvPr/>
          </p:nvSpPr>
          <p:spPr>
            <a:xfrm>
              <a:off x="7426757" y="4345229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96" name="Text 88"/>
            <p:cNvSpPr txBox="1"/>
            <p:nvPr/>
          </p:nvSpPr>
          <p:spPr>
            <a:xfrm>
              <a:off x="7478878" y="4345229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"tag"</a:t>
              </a:r>
              <a:endParaRPr lang="en-US" sz="1000" dirty="0"/>
            </a:p>
          </p:txBody>
        </p:sp>
        <p:sp>
          <p:nvSpPr>
            <p:cNvPr id="97" name="Text 89"/>
            <p:cNvSpPr txBox="1"/>
            <p:nvPr/>
          </p:nvSpPr>
          <p:spPr>
            <a:xfrm>
              <a:off x="7740396" y="4345229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98" name="Text 90"/>
            <p:cNvSpPr txBox="1"/>
            <p:nvPr/>
          </p:nvSpPr>
          <p:spPr>
            <a:xfrm>
              <a:off x="7793431" y="4345229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CSS3</a:t>
              </a:r>
              <a:endParaRPr lang="en-US" sz="1000" dirty="0"/>
            </a:p>
          </p:txBody>
        </p:sp>
        <p:sp>
          <p:nvSpPr>
            <p:cNvPr id="99" name="Text 91"/>
            <p:cNvSpPr txBox="1"/>
            <p:nvPr/>
          </p:nvSpPr>
          <p:spPr>
            <a:xfrm>
              <a:off x="8002829" y="4345229"/>
              <a:ext cx="448056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&lt;/span&gt;</a:t>
              </a:r>
              <a:endParaRPr lang="en-US" sz="1000" dirty="0"/>
            </a:p>
          </p:txBody>
        </p:sp>
        <p:sp>
          <p:nvSpPr>
            <p:cNvPr id="100" name="Text 92"/>
            <p:cNvSpPr txBox="1"/>
            <p:nvPr/>
          </p:nvSpPr>
          <p:spPr>
            <a:xfrm>
              <a:off x="5231282" y="4513478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dirty="0"/>
            </a:p>
          </p:txBody>
        </p:sp>
        <p:sp>
          <p:nvSpPr>
            <p:cNvPr id="101" name="Text 93"/>
            <p:cNvSpPr txBox="1"/>
            <p:nvPr/>
          </p:nvSpPr>
          <p:spPr>
            <a:xfrm>
              <a:off x="5231282" y="4680814"/>
              <a:ext cx="27432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Links with Accessibility Attributes --&gt;</a:t>
              </a:r>
              <a:endParaRPr lang="en-US" sz="1000" dirty="0"/>
            </a:p>
          </p:txBody>
        </p:sp>
        <p:sp>
          <p:nvSpPr>
            <p:cNvPr id="102" name="Text 94"/>
            <p:cNvSpPr txBox="1"/>
            <p:nvPr/>
          </p:nvSpPr>
          <p:spPr>
            <a:xfrm>
              <a:off x="5231282" y="4848149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dirty="0"/>
            </a:p>
          </p:txBody>
        </p:sp>
        <p:sp>
          <p:nvSpPr>
            <p:cNvPr id="103" name="Text 95"/>
            <p:cNvSpPr txBox="1"/>
            <p:nvPr/>
          </p:nvSpPr>
          <p:spPr>
            <a:xfrm>
              <a:off x="5440680" y="4848149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104" name="Text 96"/>
            <p:cNvSpPr txBox="1"/>
            <p:nvPr/>
          </p:nvSpPr>
          <p:spPr>
            <a:xfrm>
              <a:off x="5702198" y="4848149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05" name="Text 97"/>
            <p:cNvSpPr txBox="1"/>
            <p:nvPr/>
          </p:nvSpPr>
          <p:spPr>
            <a:xfrm>
              <a:off x="5755234" y="4848149"/>
              <a:ext cx="748894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"card-links"</a:t>
              </a:r>
              <a:endParaRPr lang="en-US" sz="1000" dirty="0"/>
            </a:p>
          </p:txBody>
        </p:sp>
        <p:sp>
          <p:nvSpPr>
            <p:cNvPr id="106" name="Text 98"/>
            <p:cNvSpPr txBox="1"/>
            <p:nvPr/>
          </p:nvSpPr>
          <p:spPr>
            <a:xfrm>
              <a:off x="6383426" y="4848149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107" name="Text 99"/>
            <p:cNvSpPr txBox="1"/>
            <p:nvPr/>
          </p:nvSpPr>
          <p:spPr>
            <a:xfrm>
              <a:off x="5383073" y="5016398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&lt;a</a:t>
              </a:r>
              <a:endParaRPr lang="en-US" sz="1000" dirty="0"/>
            </a:p>
          </p:txBody>
        </p:sp>
        <p:sp>
          <p:nvSpPr>
            <p:cNvPr id="108" name="Text 100"/>
            <p:cNvSpPr txBox="1"/>
            <p:nvPr/>
          </p:nvSpPr>
          <p:spPr>
            <a:xfrm>
              <a:off x="5488229" y="5016398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href</a:t>
              </a:r>
              <a:endParaRPr lang="en-US" sz="1000" dirty="0"/>
            </a:p>
          </p:txBody>
        </p:sp>
        <p:sp>
          <p:nvSpPr>
            <p:cNvPr id="109" name="Text 101"/>
            <p:cNvSpPr txBox="1"/>
            <p:nvPr/>
          </p:nvSpPr>
          <p:spPr>
            <a:xfrm>
              <a:off x="5697626" y="501639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10" name="Text 102"/>
            <p:cNvSpPr txBox="1"/>
            <p:nvPr/>
          </p:nvSpPr>
          <p:spPr>
            <a:xfrm>
              <a:off x="5749747" y="5016398"/>
              <a:ext cx="23865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"#"</a:t>
              </a:r>
              <a:endParaRPr lang="en-US" sz="1000" dirty="0"/>
            </a:p>
          </p:txBody>
        </p:sp>
        <p:sp>
          <p:nvSpPr>
            <p:cNvPr id="111" name="Text 103"/>
            <p:cNvSpPr txBox="1"/>
            <p:nvPr/>
          </p:nvSpPr>
          <p:spPr>
            <a:xfrm>
              <a:off x="5907024" y="5016398"/>
              <a:ext cx="62362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</a:t>
              </a:r>
              <a:endParaRPr lang="en-US" sz="1000" dirty="0"/>
            </a:p>
          </p:txBody>
        </p:sp>
        <p:sp>
          <p:nvSpPr>
            <p:cNvPr id="112" name="Text 104"/>
            <p:cNvSpPr txBox="1"/>
            <p:nvPr/>
          </p:nvSpPr>
          <p:spPr>
            <a:xfrm>
              <a:off x="6430975" y="501639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13" name="Text 105"/>
            <p:cNvSpPr txBox="1"/>
            <p:nvPr/>
          </p:nvSpPr>
          <p:spPr>
            <a:xfrm>
              <a:off x="6483096" y="5016398"/>
              <a:ext cx="164592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"포트폴리오 데모 페이지 열기"</a:t>
              </a:r>
              <a:endParaRPr lang="en-US" sz="1000" dirty="0"/>
            </a:p>
          </p:txBody>
        </p:sp>
        <p:sp>
          <p:nvSpPr>
            <p:cNvPr id="114" name="Text 106"/>
            <p:cNvSpPr txBox="1"/>
            <p:nvPr/>
          </p:nvSpPr>
          <p:spPr>
            <a:xfrm>
              <a:off x="8002829" y="5016398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target</a:t>
              </a:r>
              <a:endParaRPr lang="en-US" sz="1000" dirty="0"/>
            </a:p>
          </p:txBody>
        </p:sp>
        <p:sp>
          <p:nvSpPr>
            <p:cNvPr id="115" name="Text 107"/>
            <p:cNvSpPr txBox="1"/>
            <p:nvPr/>
          </p:nvSpPr>
          <p:spPr>
            <a:xfrm>
              <a:off x="8317382" y="501639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16" name="Text 108"/>
            <p:cNvSpPr txBox="1"/>
            <p:nvPr/>
          </p:nvSpPr>
          <p:spPr>
            <a:xfrm>
              <a:off x="8369503" y="5016398"/>
              <a:ext cx="49926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"_blank"</a:t>
              </a:r>
              <a:endParaRPr lang="en-US" sz="1000" dirty="0"/>
            </a:p>
          </p:txBody>
        </p:sp>
        <p:sp>
          <p:nvSpPr>
            <p:cNvPr id="117" name="Text 109"/>
            <p:cNvSpPr txBox="1"/>
            <p:nvPr/>
          </p:nvSpPr>
          <p:spPr>
            <a:xfrm>
              <a:off x="8788298" y="501639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118" name="Text 110"/>
            <p:cNvSpPr txBox="1"/>
            <p:nvPr/>
          </p:nvSpPr>
          <p:spPr>
            <a:xfrm>
              <a:off x="8841334" y="5016398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&lt;i</a:t>
              </a:r>
              <a:endParaRPr lang="en-US" sz="1000" dirty="0"/>
            </a:p>
          </p:txBody>
        </p:sp>
        <p:sp>
          <p:nvSpPr>
            <p:cNvPr id="119" name="Text 111"/>
            <p:cNvSpPr txBox="1"/>
            <p:nvPr/>
          </p:nvSpPr>
          <p:spPr>
            <a:xfrm>
              <a:off x="8945575" y="5016398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120" name="Text 112"/>
            <p:cNvSpPr txBox="1"/>
            <p:nvPr/>
          </p:nvSpPr>
          <p:spPr>
            <a:xfrm>
              <a:off x="9208008" y="5016398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21" name="Text 113"/>
            <p:cNvSpPr txBox="1"/>
            <p:nvPr/>
          </p:nvSpPr>
          <p:spPr>
            <a:xfrm>
              <a:off x="9260129" y="5016398"/>
              <a:ext cx="162123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"fas fa-external-link-alt"</a:t>
              </a:r>
              <a:endParaRPr lang="en-US" sz="1000" dirty="0"/>
            </a:p>
          </p:txBody>
        </p:sp>
        <p:sp>
          <p:nvSpPr>
            <p:cNvPr id="122" name="Text 114"/>
            <p:cNvSpPr txBox="1"/>
            <p:nvPr/>
          </p:nvSpPr>
          <p:spPr>
            <a:xfrm>
              <a:off x="10361066" y="5008557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&gt;&lt;/i&gt;</a:t>
              </a:r>
              <a:endParaRPr lang="en-US" sz="1000" dirty="0"/>
            </a:p>
          </p:txBody>
        </p:sp>
        <p:sp>
          <p:nvSpPr>
            <p:cNvPr id="123" name="Text 115"/>
            <p:cNvSpPr txBox="1"/>
            <p:nvPr/>
          </p:nvSpPr>
          <p:spPr>
            <a:xfrm>
              <a:off x="10622585" y="5008557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&lt;/a&gt;</a:t>
              </a:r>
              <a:endParaRPr lang="en-US" sz="1000" dirty="0"/>
            </a:p>
          </p:txBody>
        </p:sp>
        <p:sp>
          <p:nvSpPr>
            <p:cNvPr id="124" name="Text 116"/>
            <p:cNvSpPr txBox="1"/>
            <p:nvPr/>
          </p:nvSpPr>
          <p:spPr>
            <a:xfrm>
              <a:off x="5383073" y="5183734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&lt;a</a:t>
              </a:r>
              <a:endParaRPr lang="en-US" sz="1000" dirty="0"/>
            </a:p>
          </p:txBody>
        </p:sp>
        <p:sp>
          <p:nvSpPr>
            <p:cNvPr id="125" name="Text 117"/>
            <p:cNvSpPr txBox="1"/>
            <p:nvPr/>
          </p:nvSpPr>
          <p:spPr>
            <a:xfrm>
              <a:off x="5488229" y="5183734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href</a:t>
              </a:r>
              <a:endParaRPr lang="en-US" sz="1000" dirty="0"/>
            </a:p>
          </p:txBody>
        </p:sp>
        <p:sp>
          <p:nvSpPr>
            <p:cNvPr id="126" name="Text 118"/>
            <p:cNvSpPr txBox="1"/>
            <p:nvPr/>
          </p:nvSpPr>
          <p:spPr>
            <a:xfrm>
              <a:off x="5697626" y="5183734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27" name="Text 119"/>
            <p:cNvSpPr txBox="1"/>
            <p:nvPr/>
          </p:nvSpPr>
          <p:spPr>
            <a:xfrm>
              <a:off x="5749747" y="5183734"/>
              <a:ext cx="23865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"#"</a:t>
              </a:r>
              <a:endParaRPr lang="en-US" sz="1000" dirty="0"/>
            </a:p>
          </p:txBody>
        </p:sp>
        <p:sp>
          <p:nvSpPr>
            <p:cNvPr id="128" name="Text 120"/>
            <p:cNvSpPr txBox="1"/>
            <p:nvPr/>
          </p:nvSpPr>
          <p:spPr>
            <a:xfrm>
              <a:off x="5907024" y="5183734"/>
              <a:ext cx="62362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aria-label</a:t>
              </a:r>
              <a:endParaRPr lang="en-US" sz="1000" dirty="0"/>
            </a:p>
          </p:txBody>
        </p:sp>
        <p:sp>
          <p:nvSpPr>
            <p:cNvPr id="129" name="Text 121"/>
            <p:cNvSpPr txBox="1"/>
            <p:nvPr/>
          </p:nvSpPr>
          <p:spPr>
            <a:xfrm>
              <a:off x="6430975" y="5183734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30" name="Text 122"/>
            <p:cNvSpPr txBox="1"/>
            <p:nvPr/>
          </p:nvSpPr>
          <p:spPr>
            <a:xfrm>
              <a:off x="6483096" y="5183734"/>
              <a:ext cx="147127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"포트폴리오 소스코드 보기"</a:t>
              </a:r>
              <a:endParaRPr lang="en-US" sz="1000" dirty="0"/>
            </a:p>
          </p:txBody>
        </p:sp>
        <p:sp>
          <p:nvSpPr>
            <p:cNvPr id="131" name="Text 123"/>
            <p:cNvSpPr txBox="1"/>
            <p:nvPr/>
          </p:nvSpPr>
          <p:spPr>
            <a:xfrm>
              <a:off x="7845552" y="5183734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target</a:t>
              </a:r>
              <a:endParaRPr lang="en-US" sz="1000" dirty="0"/>
            </a:p>
          </p:txBody>
        </p:sp>
        <p:sp>
          <p:nvSpPr>
            <p:cNvPr id="132" name="Text 124"/>
            <p:cNvSpPr txBox="1"/>
            <p:nvPr/>
          </p:nvSpPr>
          <p:spPr>
            <a:xfrm>
              <a:off x="8160106" y="5183734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33" name="Text 125"/>
            <p:cNvSpPr txBox="1"/>
            <p:nvPr/>
          </p:nvSpPr>
          <p:spPr>
            <a:xfrm>
              <a:off x="8212226" y="5183734"/>
              <a:ext cx="49926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"_blank"</a:t>
              </a:r>
              <a:endParaRPr lang="en-US" sz="1000" dirty="0"/>
            </a:p>
          </p:txBody>
        </p:sp>
        <p:sp>
          <p:nvSpPr>
            <p:cNvPr id="134" name="Text 126"/>
            <p:cNvSpPr txBox="1"/>
            <p:nvPr/>
          </p:nvSpPr>
          <p:spPr>
            <a:xfrm>
              <a:off x="8631022" y="5183734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dirty="0"/>
            </a:p>
          </p:txBody>
        </p:sp>
        <p:sp>
          <p:nvSpPr>
            <p:cNvPr id="135" name="Text 127"/>
            <p:cNvSpPr txBox="1"/>
            <p:nvPr/>
          </p:nvSpPr>
          <p:spPr>
            <a:xfrm>
              <a:off x="8684057" y="5183734"/>
              <a:ext cx="18105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&lt;i</a:t>
              </a:r>
              <a:endParaRPr lang="en-US" sz="1000" dirty="0"/>
            </a:p>
          </p:txBody>
        </p:sp>
        <p:sp>
          <p:nvSpPr>
            <p:cNvPr id="136" name="Text 128"/>
            <p:cNvSpPr txBox="1"/>
            <p:nvPr/>
          </p:nvSpPr>
          <p:spPr>
            <a:xfrm>
              <a:off x="8788298" y="5183734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dirty="0"/>
            </a:p>
          </p:txBody>
        </p:sp>
        <p:sp>
          <p:nvSpPr>
            <p:cNvPr id="137" name="Text 129"/>
            <p:cNvSpPr txBox="1"/>
            <p:nvPr/>
          </p:nvSpPr>
          <p:spPr>
            <a:xfrm>
              <a:off x="9050731" y="5183734"/>
              <a:ext cx="133502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dirty="0"/>
            </a:p>
          </p:txBody>
        </p:sp>
        <p:sp>
          <p:nvSpPr>
            <p:cNvPr id="138" name="Text 130"/>
            <p:cNvSpPr txBox="1"/>
            <p:nvPr/>
          </p:nvSpPr>
          <p:spPr>
            <a:xfrm>
              <a:off x="9102852" y="5183734"/>
              <a:ext cx="940918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"fab fa-github"</a:t>
              </a:r>
              <a:endParaRPr lang="en-US" sz="1000" dirty="0"/>
            </a:p>
          </p:txBody>
        </p:sp>
        <p:sp>
          <p:nvSpPr>
            <p:cNvPr id="139" name="Text 131"/>
            <p:cNvSpPr txBox="1"/>
            <p:nvPr/>
          </p:nvSpPr>
          <p:spPr>
            <a:xfrm>
              <a:off x="9888322" y="5183734"/>
              <a:ext cx="342900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&gt;&lt;/i&gt;</a:t>
              </a:r>
              <a:endParaRPr lang="en-US" sz="1000" dirty="0"/>
            </a:p>
          </p:txBody>
        </p:sp>
        <p:sp>
          <p:nvSpPr>
            <p:cNvPr id="140" name="Text 132"/>
            <p:cNvSpPr txBox="1"/>
            <p:nvPr/>
          </p:nvSpPr>
          <p:spPr>
            <a:xfrm>
              <a:off x="10150754" y="5183734"/>
              <a:ext cx="286207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&lt;/a&gt;</a:t>
              </a:r>
              <a:endParaRPr lang="en-US" sz="1000" dirty="0"/>
            </a:p>
          </p:txBody>
        </p:sp>
        <p:sp>
          <p:nvSpPr>
            <p:cNvPr id="141" name="Text 133"/>
            <p:cNvSpPr txBox="1"/>
            <p:nvPr/>
          </p:nvSpPr>
          <p:spPr>
            <a:xfrm>
              <a:off x="5231282" y="5351069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dirty="0"/>
            </a:p>
          </p:txBody>
        </p:sp>
        <p:sp>
          <p:nvSpPr>
            <p:cNvPr id="142" name="Text 134"/>
            <p:cNvSpPr txBox="1"/>
            <p:nvPr/>
          </p:nvSpPr>
          <p:spPr>
            <a:xfrm>
              <a:off x="5078578" y="5518404"/>
              <a:ext cx="391363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dirty="0"/>
            </a:p>
          </p:txBody>
        </p:sp>
        <p:sp>
          <p:nvSpPr>
            <p:cNvPr id="143" name="Text 135"/>
            <p:cNvSpPr txBox="1"/>
            <p:nvPr/>
          </p:nvSpPr>
          <p:spPr>
            <a:xfrm>
              <a:off x="4925873" y="5686654"/>
              <a:ext cx="623621" cy="1051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&lt;/article&gt;</a:t>
              </a:r>
              <a:endParaRPr lang="en-US" sz="1000" dirty="0"/>
            </a:p>
          </p:txBody>
        </p:sp>
      </p:grpSp>
      <p:sp>
        <p:nvSpPr>
          <p:cNvPr id="1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79897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SKILLS SECTION DEMO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830732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섹션 - 프로그레스 바 구현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390595"/>
          </a:xfrm>
          <a:prstGeom prst="roundRect">
            <a:avLst>
              <a:gd name="adj" fmla="val 1515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9" b="-9"/>
          <a:stretch/>
        </p:blipFill>
        <p:spPr>
          <a:xfrm>
            <a:off x="847649" y="2617013"/>
            <a:ext cx="3230575" cy="210677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83921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"포트폴리오의 'Skills' 섹션을 만들어줘. 각 기술(HTML, CSS, JS)의 숙련도를 나타내는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047902" y="3403396"/>
            <a:ext cx="25850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프로그레스 바(Progress Bar) UI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3212287" y="3403396"/>
            <a:ext cx="8202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필요해.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3792931"/>
            <a:ext cx="2895905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 장애인을 위해 ARIA 속성(aria-valuenow 등)을 꼭 포함하고, 접근성을 고려한 시맨틱 마크업으로 작성해줘."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09905" y="5298034"/>
            <a:ext cx="3715207" cy="1104595"/>
          </a:xfrm>
          <a:prstGeom prst="roundRect">
            <a:avLst>
              <a:gd name="adj" fmla="val 5709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609905" y="5298034"/>
            <a:ext cx="38405" cy="1104595"/>
          </a:xfrm>
          <a:prstGeom prst="roundRect">
            <a:avLst>
              <a:gd name="adj" fmla="val 164203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476342"/>
            <a:ext cx="105156" cy="1335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81151" y="5469026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38505" y="5679338"/>
            <a:ext cx="333390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프로그레스 바의 너비(width)는 인라인 스타일이나 CSS 변수로 제어하면, 추후 JavaScript로 동적인 애니메이션(스크롤 시 차오르는 효과 등)을 추가하기 쉽습니다.</a:t>
            </a:r>
            <a:endParaRPr lang="en-US" sz="11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945075" y="1684325"/>
            <a:ext cx="2449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(INDEX.HTML)</a:t>
            </a:r>
            <a:endParaRPr lang="en-US" sz="10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7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0"/>
          <p:cNvSpPr txBox="1"/>
          <p:nvPr/>
        </p:nvSpPr>
        <p:spPr>
          <a:xfrm>
            <a:off x="5535778" y="2141525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4860952" y="2510028"/>
            <a:ext cx="14569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Skills Section --&gt;</a:t>
            </a:r>
            <a:endParaRPr lang="en-US" sz="1050" dirty="0"/>
          </a:p>
        </p:txBody>
      </p:sp>
      <p:sp>
        <p:nvSpPr>
          <p:cNvPr id="30" name="Text 22"/>
          <p:cNvSpPr txBox="1"/>
          <p:nvPr/>
        </p:nvSpPr>
        <p:spPr>
          <a:xfrm>
            <a:off x="4860952" y="2659990"/>
            <a:ext cx="507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&lt;section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5283498" y="2659990"/>
            <a:ext cx="1850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id</a:t>
            </a:r>
            <a:endParaRPr lang="en-US" sz="1050" dirty="0"/>
          </a:p>
        </p:txBody>
      </p:sp>
      <p:sp>
        <p:nvSpPr>
          <p:cNvPr id="32" name="Text 24"/>
          <p:cNvSpPr txBox="1"/>
          <p:nvPr/>
        </p:nvSpPr>
        <p:spPr>
          <a:xfrm>
            <a:off x="5389134" y="2659990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33" name="Text 25"/>
          <p:cNvSpPr txBox="1"/>
          <p:nvPr/>
        </p:nvSpPr>
        <p:spPr>
          <a:xfrm>
            <a:off x="5442376" y="2659990"/>
            <a:ext cx="507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"skills"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5864921" y="2659990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50" dirty="0"/>
          </a:p>
        </p:txBody>
      </p:sp>
      <p:sp>
        <p:nvSpPr>
          <p:cNvPr id="35" name="Text 27"/>
          <p:cNvSpPr txBox="1"/>
          <p:nvPr/>
        </p:nvSpPr>
        <p:spPr>
          <a:xfrm>
            <a:off x="6128589" y="2659990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6181831" y="2659990"/>
            <a:ext cx="10149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"skills-section"</a:t>
            </a:r>
            <a:endParaRPr lang="en-US" sz="1050" dirty="0"/>
          </a:p>
        </p:txBody>
      </p:sp>
      <p:sp>
        <p:nvSpPr>
          <p:cNvPr id="37" name="Text 29"/>
          <p:cNvSpPr txBox="1"/>
          <p:nvPr/>
        </p:nvSpPr>
        <p:spPr>
          <a:xfrm>
            <a:off x="7026922" y="2659990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50" dirty="0"/>
          </a:p>
        </p:txBody>
      </p:sp>
      <p:sp>
        <p:nvSpPr>
          <p:cNvPr id="38" name="Text 30"/>
          <p:cNvSpPr txBox="1"/>
          <p:nvPr/>
        </p:nvSpPr>
        <p:spPr>
          <a:xfrm>
            <a:off x="5001238" y="2809037"/>
            <a:ext cx="238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&lt;h2</a:t>
            </a:r>
            <a:endParaRPr lang="en-US" sz="1050" dirty="0"/>
          </a:p>
        </p:txBody>
      </p:sp>
      <p:sp>
        <p:nvSpPr>
          <p:cNvPr id="39" name="Text 31"/>
          <p:cNvSpPr txBox="1"/>
          <p:nvPr/>
        </p:nvSpPr>
        <p:spPr>
          <a:xfrm>
            <a:off x="5160115" y="2809037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424628" y="2809037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41" name="Text 33"/>
          <p:cNvSpPr txBox="1"/>
          <p:nvPr/>
        </p:nvSpPr>
        <p:spPr>
          <a:xfrm>
            <a:off x="5477024" y="2809037"/>
            <a:ext cx="9515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"section-title"</a:t>
            </a:r>
            <a:endParaRPr lang="en-US" sz="1050" dirty="0"/>
          </a:p>
        </p:txBody>
      </p:sp>
      <p:sp>
        <p:nvSpPr>
          <p:cNvPr id="42" name="Text 34"/>
          <p:cNvSpPr txBox="1"/>
          <p:nvPr/>
        </p:nvSpPr>
        <p:spPr>
          <a:xfrm>
            <a:off x="6269720" y="2809037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50" dirty="0"/>
          </a:p>
        </p:txBody>
      </p:sp>
      <p:sp>
        <p:nvSpPr>
          <p:cNvPr id="43" name="Text 35"/>
          <p:cNvSpPr txBox="1"/>
          <p:nvPr/>
        </p:nvSpPr>
        <p:spPr>
          <a:xfrm>
            <a:off x="6322960" y="2809037"/>
            <a:ext cx="10149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Technical Skills</a:t>
            </a:r>
            <a:endParaRPr lang="en-US" sz="1050" dirty="0"/>
          </a:p>
        </p:txBody>
      </p:sp>
      <p:sp>
        <p:nvSpPr>
          <p:cNvPr id="44" name="Text 36"/>
          <p:cNvSpPr txBox="1"/>
          <p:nvPr/>
        </p:nvSpPr>
        <p:spPr>
          <a:xfrm>
            <a:off x="7168052" y="2809037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&lt;/h2&gt;</a:t>
            </a:r>
            <a:endParaRPr lang="en-US" sz="1050" dirty="0"/>
          </a:p>
        </p:txBody>
      </p:sp>
      <p:sp>
        <p:nvSpPr>
          <p:cNvPr id="45" name="Text 37"/>
          <p:cNvSpPr txBox="1"/>
          <p:nvPr/>
        </p:nvSpPr>
        <p:spPr>
          <a:xfrm>
            <a:off x="5001238" y="2957170"/>
            <a:ext cx="2907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1050" dirty="0"/>
          </a:p>
        </p:txBody>
      </p:sp>
      <p:sp>
        <p:nvSpPr>
          <p:cNvPr id="46" name="Text 38"/>
          <p:cNvSpPr txBox="1"/>
          <p:nvPr/>
        </p:nvSpPr>
        <p:spPr>
          <a:xfrm>
            <a:off x="5212511" y="2957170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50" dirty="0"/>
          </a:p>
        </p:txBody>
      </p:sp>
      <p:sp>
        <p:nvSpPr>
          <p:cNvPr id="47" name="Text 39"/>
          <p:cNvSpPr txBox="1"/>
          <p:nvPr/>
        </p:nvSpPr>
        <p:spPr>
          <a:xfrm>
            <a:off x="5477024" y="2957170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48" name="Text 40"/>
          <p:cNvSpPr txBox="1"/>
          <p:nvPr/>
        </p:nvSpPr>
        <p:spPr>
          <a:xfrm>
            <a:off x="5530265" y="2957170"/>
            <a:ext cx="8248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"skills-list"</a:t>
            </a:r>
            <a:endParaRPr lang="en-US" sz="1050" dirty="0"/>
          </a:p>
        </p:txBody>
      </p:sp>
      <p:sp>
        <p:nvSpPr>
          <p:cNvPr id="49" name="Text 41"/>
          <p:cNvSpPr txBox="1"/>
          <p:nvPr/>
        </p:nvSpPr>
        <p:spPr>
          <a:xfrm>
            <a:off x="6216479" y="2957170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50" dirty="0"/>
          </a:p>
        </p:txBody>
      </p:sp>
      <p:sp>
        <p:nvSpPr>
          <p:cNvPr id="50" name="Text 42"/>
          <p:cNvSpPr txBox="1"/>
          <p:nvPr/>
        </p:nvSpPr>
        <p:spPr>
          <a:xfrm>
            <a:off x="5142368" y="3105302"/>
            <a:ext cx="15820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HTML5 Skill Item --&gt;</a:t>
            </a:r>
            <a:endParaRPr lang="en-US" sz="1050" dirty="0"/>
          </a:p>
        </p:txBody>
      </p:sp>
      <p:sp>
        <p:nvSpPr>
          <p:cNvPr id="51" name="Text 43"/>
          <p:cNvSpPr txBox="1"/>
          <p:nvPr/>
        </p:nvSpPr>
        <p:spPr>
          <a:xfrm>
            <a:off x="5142368" y="3254350"/>
            <a:ext cx="2907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1050" dirty="0"/>
          </a:p>
        </p:txBody>
      </p:sp>
      <p:sp>
        <p:nvSpPr>
          <p:cNvPr id="52" name="Text 44"/>
          <p:cNvSpPr txBox="1"/>
          <p:nvPr/>
        </p:nvSpPr>
        <p:spPr>
          <a:xfrm>
            <a:off x="5353641" y="3254350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50" dirty="0"/>
          </a:p>
        </p:txBody>
      </p:sp>
      <p:sp>
        <p:nvSpPr>
          <p:cNvPr id="53" name="Text 45"/>
          <p:cNvSpPr txBox="1"/>
          <p:nvPr/>
        </p:nvSpPr>
        <p:spPr>
          <a:xfrm>
            <a:off x="5618154" y="3254350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54" name="Text 46"/>
          <p:cNvSpPr txBox="1"/>
          <p:nvPr/>
        </p:nvSpPr>
        <p:spPr>
          <a:xfrm>
            <a:off x="5670550" y="3254350"/>
            <a:ext cx="76142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"skill-item"</a:t>
            </a:r>
            <a:endParaRPr lang="en-US" sz="1050" dirty="0"/>
          </a:p>
        </p:txBody>
      </p:sp>
      <p:sp>
        <p:nvSpPr>
          <p:cNvPr id="55" name="Text 47"/>
          <p:cNvSpPr txBox="1"/>
          <p:nvPr/>
        </p:nvSpPr>
        <p:spPr>
          <a:xfrm>
            <a:off x="6305214" y="3254350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50" dirty="0"/>
          </a:p>
        </p:txBody>
      </p:sp>
      <p:sp>
        <p:nvSpPr>
          <p:cNvPr id="56" name="Text 48"/>
          <p:cNvSpPr txBox="1"/>
          <p:nvPr/>
        </p:nvSpPr>
        <p:spPr>
          <a:xfrm>
            <a:off x="5283498" y="3402482"/>
            <a:ext cx="2907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1050" dirty="0"/>
          </a:p>
        </p:txBody>
      </p:sp>
      <p:sp>
        <p:nvSpPr>
          <p:cNvPr id="57" name="Text 49"/>
          <p:cNvSpPr txBox="1"/>
          <p:nvPr/>
        </p:nvSpPr>
        <p:spPr>
          <a:xfrm>
            <a:off x="5494771" y="3402482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50" dirty="0"/>
          </a:p>
        </p:txBody>
      </p:sp>
      <p:sp>
        <p:nvSpPr>
          <p:cNvPr id="58" name="Text 50"/>
          <p:cNvSpPr txBox="1"/>
          <p:nvPr/>
        </p:nvSpPr>
        <p:spPr>
          <a:xfrm>
            <a:off x="5758439" y="3402482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59" name="Text 51"/>
          <p:cNvSpPr txBox="1"/>
          <p:nvPr/>
        </p:nvSpPr>
        <p:spPr>
          <a:xfrm>
            <a:off x="5811680" y="3402482"/>
            <a:ext cx="76142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"skill-info"</a:t>
            </a:r>
            <a:endParaRPr lang="en-US" sz="1050" dirty="0"/>
          </a:p>
        </p:txBody>
      </p:sp>
      <p:sp>
        <p:nvSpPr>
          <p:cNvPr id="60" name="Text 52"/>
          <p:cNvSpPr txBox="1"/>
          <p:nvPr/>
        </p:nvSpPr>
        <p:spPr>
          <a:xfrm>
            <a:off x="6445498" y="3402482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50" dirty="0"/>
          </a:p>
        </p:txBody>
      </p:sp>
      <p:sp>
        <p:nvSpPr>
          <p:cNvPr id="61" name="Text 53"/>
          <p:cNvSpPr txBox="1"/>
          <p:nvPr/>
        </p:nvSpPr>
        <p:spPr>
          <a:xfrm>
            <a:off x="5423783" y="3551530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&lt;span</a:t>
            </a:r>
            <a:endParaRPr lang="en-US" sz="1050" dirty="0"/>
          </a:p>
        </p:txBody>
      </p:sp>
      <p:sp>
        <p:nvSpPr>
          <p:cNvPr id="62" name="Text 54"/>
          <p:cNvSpPr txBox="1"/>
          <p:nvPr/>
        </p:nvSpPr>
        <p:spPr>
          <a:xfrm>
            <a:off x="5688297" y="3551530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50" dirty="0"/>
          </a:p>
        </p:txBody>
      </p:sp>
      <p:sp>
        <p:nvSpPr>
          <p:cNvPr id="63" name="Text 55"/>
          <p:cNvSpPr txBox="1"/>
          <p:nvPr/>
        </p:nvSpPr>
        <p:spPr>
          <a:xfrm>
            <a:off x="5952810" y="3551530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64" name="Text 56"/>
          <p:cNvSpPr txBox="1"/>
          <p:nvPr/>
        </p:nvSpPr>
        <p:spPr>
          <a:xfrm>
            <a:off x="6005206" y="3551530"/>
            <a:ext cx="76142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"skill-name"</a:t>
            </a:r>
            <a:endParaRPr lang="en-US" sz="1050" dirty="0"/>
          </a:p>
        </p:txBody>
      </p:sp>
      <p:sp>
        <p:nvSpPr>
          <p:cNvPr id="65" name="Text 57"/>
          <p:cNvSpPr txBox="1"/>
          <p:nvPr/>
        </p:nvSpPr>
        <p:spPr>
          <a:xfrm>
            <a:off x="6639025" y="3551530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50" dirty="0"/>
          </a:p>
        </p:txBody>
      </p:sp>
      <p:sp>
        <p:nvSpPr>
          <p:cNvPr id="66" name="Text 58"/>
          <p:cNvSpPr txBox="1"/>
          <p:nvPr/>
        </p:nvSpPr>
        <p:spPr>
          <a:xfrm>
            <a:off x="6809572" y="3551530"/>
            <a:ext cx="57615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HTML5</a:t>
            </a:r>
            <a:endParaRPr lang="en-US" sz="1050" dirty="0"/>
          </a:p>
        </p:txBody>
      </p:sp>
      <p:sp>
        <p:nvSpPr>
          <p:cNvPr id="67" name="Text 59"/>
          <p:cNvSpPr txBox="1"/>
          <p:nvPr/>
        </p:nvSpPr>
        <p:spPr>
          <a:xfrm>
            <a:off x="7250347" y="3551530"/>
            <a:ext cx="4495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&lt;/span&gt;</a:t>
            </a:r>
            <a:endParaRPr lang="en-US" sz="1050" dirty="0"/>
          </a:p>
        </p:txBody>
      </p:sp>
      <p:sp>
        <p:nvSpPr>
          <p:cNvPr id="68" name="Text 60"/>
          <p:cNvSpPr txBox="1"/>
          <p:nvPr/>
        </p:nvSpPr>
        <p:spPr>
          <a:xfrm>
            <a:off x="5423783" y="3699662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&lt;span</a:t>
            </a:r>
            <a:endParaRPr lang="en-US" sz="1050" dirty="0"/>
          </a:p>
        </p:txBody>
      </p:sp>
      <p:sp>
        <p:nvSpPr>
          <p:cNvPr id="69" name="Text 61"/>
          <p:cNvSpPr txBox="1"/>
          <p:nvPr/>
        </p:nvSpPr>
        <p:spPr>
          <a:xfrm>
            <a:off x="5688297" y="3699662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50" dirty="0"/>
          </a:p>
        </p:txBody>
      </p:sp>
      <p:sp>
        <p:nvSpPr>
          <p:cNvPr id="70" name="Text 62"/>
          <p:cNvSpPr txBox="1"/>
          <p:nvPr/>
        </p:nvSpPr>
        <p:spPr>
          <a:xfrm>
            <a:off x="5952810" y="3699662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71" name="Text 63"/>
          <p:cNvSpPr txBox="1"/>
          <p:nvPr/>
        </p:nvSpPr>
        <p:spPr>
          <a:xfrm>
            <a:off x="6005206" y="3699662"/>
            <a:ext cx="9515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"skill-percent"</a:t>
            </a:r>
            <a:endParaRPr lang="en-US" sz="1050" dirty="0"/>
          </a:p>
        </p:txBody>
      </p:sp>
      <p:sp>
        <p:nvSpPr>
          <p:cNvPr id="72" name="Text 64"/>
          <p:cNvSpPr txBox="1"/>
          <p:nvPr/>
        </p:nvSpPr>
        <p:spPr>
          <a:xfrm>
            <a:off x="6797902" y="3699662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50" dirty="0"/>
          </a:p>
        </p:txBody>
      </p:sp>
      <p:sp>
        <p:nvSpPr>
          <p:cNvPr id="73" name="Text 65"/>
          <p:cNvSpPr txBox="1"/>
          <p:nvPr/>
        </p:nvSpPr>
        <p:spPr>
          <a:xfrm>
            <a:off x="6968449" y="3699662"/>
            <a:ext cx="3992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90%</a:t>
            </a:r>
            <a:endParaRPr lang="en-US" sz="1050" dirty="0"/>
          </a:p>
        </p:txBody>
      </p:sp>
      <p:sp>
        <p:nvSpPr>
          <p:cNvPr id="74" name="Text 66"/>
          <p:cNvSpPr txBox="1"/>
          <p:nvPr/>
        </p:nvSpPr>
        <p:spPr>
          <a:xfrm>
            <a:off x="7302743" y="3699662"/>
            <a:ext cx="4495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&lt;/span&gt;</a:t>
            </a:r>
            <a:endParaRPr lang="en-US" sz="1050" dirty="0"/>
          </a:p>
        </p:txBody>
      </p:sp>
      <p:sp>
        <p:nvSpPr>
          <p:cNvPr id="75" name="Text 67"/>
          <p:cNvSpPr txBox="1"/>
          <p:nvPr/>
        </p:nvSpPr>
        <p:spPr>
          <a:xfrm>
            <a:off x="5283498" y="3848710"/>
            <a:ext cx="39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1050" dirty="0"/>
          </a:p>
        </p:txBody>
      </p:sp>
      <p:sp>
        <p:nvSpPr>
          <p:cNvPr id="76" name="Text 68"/>
          <p:cNvSpPr txBox="1"/>
          <p:nvPr/>
        </p:nvSpPr>
        <p:spPr>
          <a:xfrm>
            <a:off x="5283498" y="3996842"/>
            <a:ext cx="170792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Progress Bar Track --&gt;</a:t>
            </a:r>
            <a:endParaRPr lang="en-US" sz="1050" dirty="0"/>
          </a:p>
        </p:txBody>
      </p:sp>
      <p:sp>
        <p:nvSpPr>
          <p:cNvPr id="77" name="Text 69"/>
          <p:cNvSpPr txBox="1"/>
          <p:nvPr/>
        </p:nvSpPr>
        <p:spPr>
          <a:xfrm>
            <a:off x="5283498" y="4144975"/>
            <a:ext cx="2907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1050" dirty="0"/>
          </a:p>
        </p:txBody>
      </p:sp>
      <p:sp>
        <p:nvSpPr>
          <p:cNvPr id="78" name="Text 70"/>
          <p:cNvSpPr txBox="1"/>
          <p:nvPr/>
        </p:nvSpPr>
        <p:spPr>
          <a:xfrm>
            <a:off x="5494771" y="4144975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50" dirty="0"/>
          </a:p>
        </p:txBody>
      </p:sp>
      <p:sp>
        <p:nvSpPr>
          <p:cNvPr id="79" name="Text 71"/>
          <p:cNvSpPr txBox="1"/>
          <p:nvPr/>
        </p:nvSpPr>
        <p:spPr>
          <a:xfrm>
            <a:off x="5758439" y="4144975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80" name="Text 72"/>
          <p:cNvSpPr txBox="1"/>
          <p:nvPr/>
        </p:nvSpPr>
        <p:spPr>
          <a:xfrm>
            <a:off x="5811680" y="4144975"/>
            <a:ext cx="10149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"progress-track"</a:t>
            </a:r>
            <a:endParaRPr lang="en-US" sz="1050" dirty="0"/>
          </a:p>
        </p:txBody>
      </p:sp>
      <p:sp>
        <p:nvSpPr>
          <p:cNvPr id="81" name="Text 73"/>
          <p:cNvSpPr txBox="1"/>
          <p:nvPr/>
        </p:nvSpPr>
        <p:spPr>
          <a:xfrm>
            <a:off x="6656771" y="4144975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50" dirty="0"/>
          </a:p>
        </p:txBody>
      </p:sp>
      <p:sp>
        <p:nvSpPr>
          <p:cNvPr id="82" name="Text 74"/>
          <p:cNvSpPr txBox="1"/>
          <p:nvPr/>
        </p:nvSpPr>
        <p:spPr>
          <a:xfrm>
            <a:off x="5423783" y="4294022"/>
            <a:ext cx="20848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Screen Reader Attributes --&gt;</a:t>
            </a:r>
            <a:endParaRPr lang="en-US" sz="1050" dirty="0"/>
          </a:p>
        </p:txBody>
      </p:sp>
      <p:sp>
        <p:nvSpPr>
          <p:cNvPr id="83" name="Text 75"/>
          <p:cNvSpPr txBox="1"/>
          <p:nvPr/>
        </p:nvSpPr>
        <p:spPr>
          <a:xfrm>
            <a:off x="5423783" y="4442155"/>
            <a:ext cx="2907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&lt;div</a:t>
            </a:r>
            <a:endParaRPr lang="en-US" sz="1050" dirty="0"/>
          </a:p>
        </p:txBody>
      </p:sp>
      <p:sp>
        <p:nvSpPr>
          <p:cNvPr id="84" name="Text 76"/>
          <p:cNvSpPr txBox="1"/>
          <p:nvPr/>
        </p:nvSpPr>
        <p:spPr>
          <a:xfrm>
            <a:off x="5635056" y="4442155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class</a:t>
            </a:r>
            <a:endParaRPr lang="en-US" sz="1050" dirty="0"/>
          </a:p>
        </p:txBody>
      </p:sp>
      <p:sp>
        <p:nvSpPr>
          <p:cNvPr id="85" name="Text 77"/>
          <p:cNvSpPr txBox="1"/>
          <p:nvPr/>
        </p:nvSpPr>
        <p:spPr>
          <a:xfrm>
            <a:off x="5899570" y="4442155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86" name="Text 78"/>
          <p:cNvSpPr txBox="1"/>
          <p:nvPr/>
        </p:nvSpPr>
        <p:spPr>
          <a:xfrm>
            <a:off x="5952810" y="4442155"/>
            <a:ext cx="9515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"progress-fill"</a:t>
            </a:r>
            <a:endParaRPr lang="en-US" sz="1050" dirty="0"/>
          </a:p>
        </p:txBody>
      </p:sp>
      <p:sp>
        <p:nvSpPr>
          <p:cNvPr id="87" name="Text 79"/>
          <p:cNvSpPr txBox="1"/>
          <p:nvPr/>
        </p:nvSpPr>
        <p:spPr>
          <a:xfrm>
            <a:off x="5423783" y="4591202"/>
            <a:ext cx="2907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role</a:t>
            </a:r>
            <a:endParaRPr lang="en-US" sz="1050" dirty="0"/>
          </a:p>
        </p:txBody>
      </p:sp>
      <p:sp>
        <p:nvSpPr>
          <p:cNvPr id="88" name="Text 80"/>
          <p:cNvSpPr txBox="1"/>
          <p:nvPr/>
        </p:nvSpPr>
        <p:spPr>
          <a:xfrm>
            <a:off x="5635056" y="4591202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89" name="Text 81"/>
          <p:cNvSpPr txBox="1"/>
          <p:nvPr/>
        </p:nvSpPr>
        <p:spPr>
          <a:xfrm>
            <a:off x="5688297" y="4591202"/>
            <a:ext cx="8248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"progressbar"</a:t>
            </a:r>
            <a:endParaRPr lang="en-US" sz="1050" dirty="0"/>
          </a:p>
        </p:txBody>
      </p:sp>
      <p:sp>
        <p:nvSpPr>
          <p:cNvPr id="90" name="Text 82"/>
          <p:cNvSpPr txBox="1"/>
          <p:nvPr/>
        </p:nvSpPr>
        <p:spPr>
          <a:xfrm>
            <a:off x="5423783" y="4739335"/>
            <a:ext cx="8248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aria-valuenow</a:t>
            </a:r>
            <a:endParaRPr lang="en-US" sz="1050" dirty="0"/>
          </a:p>
        </p:txBody>
      </p:sp>
      <p:sp>
        <p:nvSpPr>
          <p:cNvPr id="91" name="Text 83"/>
          <p:cNvSpPr txBox="1"/>
          <p:nvPr/>
        </p:nvSpPr>
        <p:spPr>
          <a:xfrm>
            <a:off x="6110843" y="4739335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92" name="Text 84"/>
          <p:cNvSpPr txBox="1"/>
          <p:nvPr/>
        </p:nvSpPr>
        <p:spPr>
          <a:xfrm>
            <a:off x="6164083" y="4739335"/>
            <a:ext cx="2907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"90"</a:t>
            </a:r>
            <a:endParaRPr lang="en-US" sz="1050" dirty="0"/>
          </a:p>
        </p:txBody>
      </p:sp>
      <p:sp>
        <p:nvSpPr>
          <p:cNvPr id="93" name="Text 85"/>
          <p:cNvSpPr txBox="1"/>
          <p:nvPr/>
        </p:nvSpPr>
        <p:spPr>
          <a:xfrm>
            <a:off x="5423783" y="4888382"/>
            <a:ext cx="8248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aria-valuemin</a:t>
            </a:r>
            <a:endParaRPr lang="en-US" sz="1050" dirty="0"/>
          </a:p>
        </p:txBody>
      </p:sp>
      <p:sp>
        <p:nvSpPr>
          <p:cNvPr id="94" name="Text 86"/>
          <p:cNvSpPr txBox="1"/>
          <p:nvPr/>
        </p:nvSpPr>
        <p:spPr>
          <a:xfrm>
            <a:off x="6110843" y="4888382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95" name="Text 87"/>
          <p:cNvSpPr txBox="1"/>
          <p:nvPr/>
        </p:nvSpPr>
        <p:spPr>
          <a:xfrm>
            <a:off x="6164083" y="4888382"/>
            <a:ext cx="238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"0"</a:t>
            </a:r>
            <a:endParaRPr lang="en-US" sz="1050" dirty="0"/>
          </a:p>
        </p:txBody>
      </p:sp>
      <p:sp>
        <p:nvSpPr>
          <p:cNvPr id="96" name="Text 88"/>
          <p:cNvSpPr txBox="1"/>
          <p:nvPr/>
        </p:nvSpPr>
        <p:spPr>
          <a:xfrm>
            <a:off x="5423783" y="5036515"/>
            <a:ext cx="8248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aria-valuemax</a:t>
            </a:r>
            <a:endParaRPr lang="en-US" sz="1050" dirty="0"/>
          </a:p>
        </p:txBody>
      </p:sp>
      <p:sp>
        <p:nvSpPr>
          <p:cNvPr id="97" name="Text 89"/>
          <p:cNvSpPr txBox="1"/>
          <p:nvPr/>
        </p:nvSpPr>
        <p:spPr>
          <a:xfrm>
            <a:off x="6110843" y="5036515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98" name="Text 90"/>
          <p:cNvSpPr txBox="1"/>
          <p:nvPr/>
        </p:nvSpPr>
        <p:spPr>
          <a:xfrm>
            <a:off x="6164083" y="5036515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"100"</a:t>
            </a:r>
            <a:endParaRPr lang="en-US" sz="1050" dirty="0"/>
          </a:p>
        </p:txBody>
      </p:sp>
      <p:sp>
        <p:nvSpPr>
          <p:cNvPr id="99" name="Text 91"/>
          <p:cNvSpPr txBox="1"/>
          <p:nvPr/>
        </p:nvSpPr>
        <p:spPr>
          <a:xfrm>
            <a:off x="5423783" y="5185562"/>
            <a:ext cx="6346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aria-label</a:t>
            </a:r>
            <a:endParaRPr lang="en-US" sz="1050" dirty="0"/>
          </a:p>
        </p:txBody>
      </p:sp>
      <p:sp>
        <p:nvSpPr>
          <p:cNvPr id="100" name="Text 92"/>
          <p:cNvSpPr txBox="1"/>
          <p:nvPr/>
        </p:nvSpPr>
        <p:spPr>
          <a:xfrm>
            <a:off x="5951966" y="5185562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101" name="Text 93"/>
          <p:cNvSpPr txBox="1"/>
          <p:nvPr/>
        </p:nvSpPr>
        <p:spPr>
          <a:xfrm>
            <a:off x="6005206" y="5185562"/>
            <a:ext cx="1205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"HTML5 proficiency"</a:t>
            </a:r>
            <a:endParaRPr lang="en-US" sz="1050" dirty="0"/>
          </a:p>
        </p:txBody>
      </p:sp>
      <p:sp>
        <p:nvSpPr>
          <p:cNvPr id="102" name="Text 94"/>
          <p:cNvSpPr txBox="1"/>
          <p:nvPr/>
        </p:nvSpPr>
        <p:spPr>
          <a:xfrm>
            <a:off x="5423783" y="5333695"/>
            <a:ext cx="3439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</a:t>
            </a:r>
            <a:endParaRPr lang="en-US" sz="1050" dirty="0"/>
          </a:p>
        </p:txBody>
      </p:sp>
      <p:sp>
        <p:nvSpPr>
          <p:cNvPr id="103" name="Text 95"/>
          <p:cNvSpPr txBox="1"/>
          <p:nvPr/>
        </p:nvSpPr>
        <p:spPr>
          <a:xfrm>
            <a:off x="5688297" y="5333695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=</a:t>
            </a:r>
            <a:endParaRPr lang="en-US" sz="1050" dirty="0"/>
          </a:p>
        </p:txBody>
      </p:sp>
      <p:sp>
        <p:nvSpPr>
          <p:cNvPr id="104" name="Text 96"/>
          <p:cNvSpPr txBox="1"/>
          <p:nvPr/>
        </p:nvSpPr>
        <p:spPr>
          <a:xfrm>
            <a:off x="5741537" y="5333695"/>
            <a:ext cx="8248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"width: 90%;"</a:t>
            </a:r>
            <a:endParaRPr lang="en-US" sz="1050" dirty="0"/>
          </a:p>
        </p:txBody>
      </p:sp>
      <p:sp>
        <p:nvSpPr>
          <p:cNvPr id="105" name="Text 97"/>
          <p:cNvSpPr txBox="1"/>
          <p:nvPr/>
        </p:nvSpPr>
        <p:spPr>
          <a:xfrm>
            <a:off x="6427752" y="5333695"/>
            <a:ext cx="13268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&gt;</a:t>
            </a:r>
            <a:endParaRPr lang="en-US" sz="1050" dirty="0"/>
          </a:p>
        </p:txBody>
      </p:sp>
      <p:sp>
        <p:nvSpPr>
          <p:cNvPr id="106" name="Text 98"/>
          <p:cNvSpPr txBox="1"/>
          <p:nvPr/>
        </p:nvSpPr>
        <p:spPr>
          <a:xfrm>
            <a:off x="5423783" y="5481828"/>
            <a:ext cx="39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1050" dirty="0"/>
          </a:p>
        </p:txBody>
      </p:sp>
      <p:sp>
        <p:nvSpPr>
          <p:cNvPr id="107" name="Text 99"/>
          <p:cNvSpPr txBox="1"/>
          <p:nvPr/>
        </p:nvSpPr>
        <p:spPr>
          <a:xfrm>
            <a:off x="5283498" y="5630875"/>
            <a:ext cx="39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1050" dirty="0"/>
          </a:p>
        </p:txBody>
      </p:sp>
      <p:sp>
        <p:nvSpPr>
          <p:cNvPr id="108" name="Text 100"/>
          <p:cNvSpPr txBox="1"/>
          <p:nvPr/>
        </p:nvSpPr>
        <p:spPr>
          <a:xfrm>
            <a:off x="5142368" y="5779008"/>
            <a:ext cx="39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1050" dirty="0"/>
          </a:p>
        </p:txBody>
      </p:sp>
      <p:sp>
        <p:nvSpPr>
          <p:cNvPr id="109" name="Text 101"/>
          <p:cNvSpPr txBox="1"/>
          <p:nvPr/>
        </p:nvSpPr>
        <p:spPr>
          <a:xfrm>
            <a:off x="5001238" y="5928055"/>
            <a:ext cx="39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&lt;/div&gt;</a:t>
            </a:r>
            <a:endParaRPr lang="en-US" sz="1050" dirty="0"/>
          </a:p>
        </p:txBody>
      </p:sp>
      <p:sp>
        <p:nvSpPr>
          <p:cNvPr id="110" name="Text 102"/>
          <p:cNvSpPr txBox="1"/>
          <p:nvPr/>
        </p:nvSpPr>
        <p:spPr>
          <a:xfrm>
            <a:off x="4860952" y="6076188"/>
            <a:ext cx="6346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&lt;/section&gt;</a:t>
            </a:r>
            <a:endParaRPr lang="en-US" sz="1050" dirty="0"/>
          </a:p>
        </p:txBody>
      </p:sp>
      <p:sp>
        <p:nvSpPr>
          <p:cNvPr id="11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32863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IMPLEMENTATION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617220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 폼 구현 및 검증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14019" y="1508279"/>
            <a:ext cx="3715207" cy="3638398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51763" y="178717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80363" y="175333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757726" y="1734137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52823" y="1820091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20674" y="2155718"/>
            <a:ext cx="3230575" cy="284922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20927" y="2355971"/>
            <a:ext cx="2915107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"포트폴리오의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연락처(Contact) 섹션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들어갈 폼 HTML을 작성해줘.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다음 기능적 요구사항을 반드시 포함해야 해: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1.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모든 입력 필드에 label 연결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2.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유효성 검사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이메일 형식 확인 및 필수 입력(required) 속성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3.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스팸 방지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숨겨진 허니팟(Honeypot) 필드 추가"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14019" y="5263762"/>
            <a:ext cx="3715207" cy="1186021"/>
          </a:xfrm>
          <a:prstGeom prst="roundRect">
            <a:avLst>
              <a:gd name="adj" fmla="val 551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14019" y="5263762"/>
            <a:ext cx="38405" cy="1186021"/>
          </a:xfrm>
          <a:prstGeom prst="roundRect">
            <a:avLst>
              <a:gd name="adj" fmla="val 16142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2619" y="5442071"/>
            <a:ext cx="133502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13612" y="5434756"/>
            <a:ext cx="120152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TIP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42619" y="5612107"/>
            <a:ext cx="3372307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HTML5의 </a:t>
            </a:r>
            <a:r>
              <a:rPr lang="en-US" sz="11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required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1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type="email"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1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pattern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속성을 활용하면 복잡한 JS 없이도 브라우저 자체 유효성 검사 기능을 사용할 수 있습니다.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701387" y="1548513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49189" y="1515595"/>
            <a:ext cx="2449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(INDEX.HTML)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701387" y="1829234"/>
            <a:ext cx="6884518" cy="466736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701387" y="182923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54092" y="197919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4287" y="197919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5396" y="197919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9892" y="1972795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index.html</a:t>
            </a:r>
            <a:endParaRPr lang="en-US" sz="900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C1AE0B9A-A3DE-704C-AE87-246772722289}"/>
              </a:ext>
            </a:extLst>
          </p:cNvPr>
          <p:cNvGrpSpPr/>
          <p:nvPr/>
        </p:nvGrpSpPr>
        <p:grpSpPr>
          <a:xfrm>
            <a:off x="4947360" y="2346784"/>
            <a:ext cx="5782666" cy="3900614"/>
            <a:chOff x="4943246" y="2515514"/>
            <a:chExt cx="5782666" cy="3679546"/>
          </a:xfrm>
        </p:grpSpPr>
        <p:sp>
          <p:nvSpPr>
            <p:cNvPr id="26" name="Text 18"/>
            <p:cNvSpPr txBox="1"/>
            <p:nvPr/>
          </p:nvSpPr>
          <p:spPr>
            <a:xfrm>
              <a:off x="4943246" y="2515514"/>
              <a:ext cx="230154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Contact Form Section --&gt;</a:t>
              </a:r>
              <a:endParaRPr lang="en-US" sz="1000" b="1" dirty="0"/>
            </a:p>
          </p:txBody>
        </p:sp>
        <p:sp>
          <p:nvSpPr>
            <p:cNvPr id="27" name="Text 19"/>
            <p:cNvSpPr txBox="1"/>
            <p:nvPr/>
          </p:nvSpPr>
          <p:spPr>
            <a:xfrm>
              <a:off x="4943246" y="2702052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&lt;form</a:t>
              </a:r>
              <a:endParaRPr lang="en-US" sz="1000" b="1" dirty="0"/>
            </a:p>
          </p:txBody>
        </p:sp>
        <p:sp>
          <p:nvSpPr>
            <p:cNvPr id="28" name="Text 20"/>
            <p:cNvSpPr txBox="1"/>
            <p:nvPr/>
          </p:nvSpPr>
          <p:spPr>
            <a:xfrm>
              <a:off x="5277002" y="2702052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000" b="1" dirty="0"/>
            </a:p>
          </p:txBody>
        </p:sp>
        <p:sp>
          <p:nvSpPr>
            <p:cNvPr id="29" name="Text 21"/>
            <p:cNvSpPr txBox="1"/>
            <p:nvPr/>
          </p:nvSpPr>
          <p:spPr>
            <a:xfrm>
              <a:off x="5409590" y="270205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5476342" y="2702052"/>
              <a:ext cx="111099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"contact-form"</a:t>
              </a:r>
              <a:endParaRPr lang="en-US" sz="1000" b="1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6409944" y="2702052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b="1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6743700" y="270205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6810451" y="2702052"/>
              <a:ext cx="111099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"contact-form"</a:t>
              </a:r>
              <a:endParaRPr lang="en-US" sz="1000" b="1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7743139" y="2702052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action</a:t>
              </a:r>
              <a:endParaRPr lang="en-US" sz="1000" b="1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8143646" y="270205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8210398" y="2702052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"#"</a:t>
              </a:r>
              <a:endParaRPr lang="en-US" sz="1000" b="1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8410651" y="2702052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method</a:t>
              </a:r>
              <a:endParaRPr lang="en-US" sz="1000" b="1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8810244" y="270205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8876995" y="2702052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"POST"</a:t>
              </a:r>
              <a:endParaRPr lang="en-US" sz="1000" b="1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9277502" y="270205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b="1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095951" y="2889504"/>
              <a:ext cx="387157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Spam Protection: Honeypot Field (Hidden) --&gt;</a:t>
              </a:r>
              <a:endParaRPr lang="en-US" sz="1000" b="1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5095951" y="3076042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b="1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362042" y="3076042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style</a:t>
              </a:r>
              <a:endParaRPr lang="en-US" sz="1000" b="1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695798" y="307604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762549" y="3076042"/>
              <a:ext cx="1190549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"display:none;"</a:t>
              </a:r>
              <a:endParaRPr lang="en-US" sz="1000" b="1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6762902" y="3076042"/>
              <a:ext cx="87325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aria-hidden</a:t>
              </a:r>
              <a:endParaRPr lang="en-US" sz="1000" b="1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7496251" y="307604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7563002" y="3076042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"true"</a:t>
              </a:r>
              <a:endParaRPr lang="en-US" sz="1000" b="1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7962595" y="307604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b="1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5247742" y="3262579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&lt;label</a:t>
              </a:r>
              <a:endParaRPr lang="en-US" sz="1000" b="1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5648249" y="3262579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</a:t>
              </a:r>
              <a:endParaRPr lang="en-US" sz="1000" b="1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5848502" y="3262579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5914339" y="3262579"/>
              <a:ext cx="87325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"bot-field"</a:t>
              </a:r>
              <a:endParaRPr lang="en-US" sz="1000" b="1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6648602" y="3262579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b="1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6714439" y="3262579"/>
              <a:ext cx="15078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Don't fill this out</a:t>
              </a:r>
              <a:endParaRPr lang="en-US" sz="1000" b="1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7981798" y="3262579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&lt;/label&gt;</a:t>
              </a:r>
              <a:endParaRPr lang="en-US" sz="1000" b="1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5247742" y="3449117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&lt;input</a:t>
              </a:r>
              <a:endParaRPr lang="en-US" sz="1000" b="1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5648249" y="3449117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type</a:t>
              </a:r>
              <a:endParaRPr lang="en-US" sz="1000" b="1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5914339" y="344911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5981090" y="3449117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"text"</a:t>
              </a:r>
              <a:endParaRPr lang="en-US" sz="1000" b="1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6381598" y="3449117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name</a:t>
              </a:r>
              <a:endParaRPr lang="en-US" sz="1000" b="1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6648602" y="344911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6714439" y="3449117"/>
              <a:ext cx="87325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"bot-field"</a:t>
              </a:r>
              <a:endParaRPr lang="en-US" sz="1000" b="1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7448702" y="3449117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000" b="1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7581290" y="344911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7648042" y="3449117"/>
              <a:ext cx="87325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"bot-field"</a:t>
              </a:r>
              <a:endParaRPr lang="en-US" sz="1000" b="1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8381390" y="3449117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/&gt;</a:t>
              </a:r>
              <a:endParaRPr lang="en-US" sz="1000" b="1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5095951" y="3635654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b="1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5095951" y="4008730"/>
              <a:ext cx="15078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Name Input --&gt;</a:t>
              </a:r>
              <a:endParaRPr lang="en-US" sz="1000" b="1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5095951" y="4195267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b="1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5362042" y="4195267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b="1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5695798" y="419526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5762549" y="4195267"/>
              <a:ext cx="95280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"form-group"</a:t>
              </a:r>
              <a:endParaRPr lang="en-US" sz="1000" b="1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6562649" y="419526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b="1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5247742" y="4381805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&lt;label</a:t>
              </a:r>
              <a:endParaRPr lang="en-US" sz="1000" b="1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5648249" y="4381805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</a:t>
              </a:r>
              <a:endParaRPr lang="en-US" sz="1000" b="1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5848502" y="438180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5914339" y="4381805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"name"</a:t>
              </a:r>
              <a:endParaRPr lang="en-US" sz="1000" b="1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6314846" y="438180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b="1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6381598" y="4381805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이름</a:t>
              </a:r>
              <a:endParaRPr lang="en-US" sz="1000" b="1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6648602" y="4381805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&lt;/label&gt;</a:t>
              </a:r>
              <a:endParaRPr lang="en-US" sz="1000" b="1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5247742" y="4568342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&lt;input</a:t>
              </a:r>
              <a:endParaRPr lang="en-US" sz="1000" b="1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5648249" y="4568342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type</a:t>
              </a:r>
              <a:endParaRPr lang="en-US" sz="1000" b="1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5914339" y="456834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5981090" y="4568342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"text"</a:t>
              </a:r>
              <a:endParaRPr lang="en-US" sz="1000" b="1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6381598" y="4568342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000" b="1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6515100" y="456834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88" name="Text 80"/>
            <p:cNvSpPr txBox="1"/>
            <p:nvPr/>
          </p:nvSpPr>
          <p:spPr>
            <a:xfrm>
              <a:off x="6581851" y="4568342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"name"</a:t>
              </a:r>
              <a:endParaRPr lang="en-US" sz="1000" b="1" dirty="0"/>
            </a:p>
          </p:txBody>
        </p:sp>
        <p:sp>
          <p:nvSpPr>
            <p:cNvPr id="89" name="Text 81"/>
            <p:cNvSpPr txBox="1"/>
            <p:nvPr/>
          </p:nvSpPr>
          <p:spPr>
            <a:xfrm>
              <a:off x="6981444" y="4568342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name</a:t>
              </a:r>
              <a:endParaRPr lang="en-US" sz="1000" b="1" dirty="0"/>
            </a:p>
          </p:txBody>
        </p:sp>
        <p:sp>
          <p:nvSpPr>
            <p:cNvPr id="90" name="Text 82"/>
            <p:cNvSpPr txBox="1"/>
            <p:nvPr/>
          </p:nvSpPr>
          <p:spPr>
            <a:xfrm>
              <a:off x="7248449" y="456834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91" name="Text 83"/>
            <p:cNvSpPr txBox="1"/>
            <p:nvPr/>
          </p:nvSpPr>
          <p:spPr>
            <a:xfrm>
              <a:off x="7315200" y="4568342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"name"</a:t>
              </a:r>
              <a:endParaRPr lang="en-US" sz="1000" b="1" dirty="0"/>
            </a:p>
          </p:txBody>
        </p:sp>
        <p:sp>
          <p:nvSpPr>
            <p:cNvPr id="92" name="Text 84"/>
            <p:cNvSpPr txBox="1"/>
            <p:nvPr/>
          </p:nvSpPr>
          <p:spPr>
            <a:xfrm>
              <a:off x="7714793" y="4568342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required</a:t>
              </a:r>
              <a:endParaRPr lang="en-US" sz="1000" b="1" dirty="0"/>
            </a:p>
          </p:txBody>
        </p:sp>
        <p:sp>
          <p:nvSpPr>
            <p:cNvPr id="93" name="Text 85"/>
            <p:cNvSpPr txBox="1"/>
            <p:nvPr/>
          </p:nvSpPr>
          <p:spPr>
            <a:xfrm>
              <a:off x="8248802" y="4568342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/&gt;</a:t>
              </a:r>
              <a:endParaRPr lang="en-US" sz="1000" b="1" dirty="0"/>
            </a:p>
          </p:txBody>
        </p:sp>
        <p:sp>
          <p:nvSpPr>
            <p:cNvPr id="94" name="Text 86"/>
            <p:cNvSpPr txBox="1"/>
            <p:nvPr/>
          </p:nvSpPr>
          <p:spPr>
            <a:xfrm>
              <a:off x="5095951" y="4755794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b="1" dirty="0"/>
            </a:p>
          </p:txBody>
        </p:sp>
        <p:sp>
          <p:nvSpPr>
            <p:cNvPr id="95" name="Text 87"/>
            <p:cNvSpPr txBox="1"/>
            <p:nvPr/>
          </p:nvSpPr>
          <p:spPr>
            <a:xfrm>
              <a:off x="5095951" y="4942332"/>
              <a:ext cx="285658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&lt;!-- Email Input with Validation --&gt;</a:t>
              </a:r>
              <a:endParaRPr lang="en-US" sz="1000" b="1" dirty="0"/>
            </a:p>
          </p:txBody>
        </p:sp>
        <p:sp>
          <p:nvSpPr>
            <p:cNvPr id="96" name="Text 88"/>
            <p:cNvSpPr txBox="1"/>
            <p:nvPr/>
          </p:nvSpPr>
          <p:spPr>
            <a:xfrm>
              <a:off x="5095951" y="5128870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&lt;div</a:t>
              </a:r>
              <a:endParaRPr lang="en-US" sz="1000" b="1" dirty="0"/>
            </a:p>
          </p:txBody>
        </p:sp>
        <p:sp>
          <p:nvSpPr>
            <p:cNvPr id="97" name="Text 89"/>
            <p:cNvSpPr txBox="1"/>
            <p:nvPr/>
          </p:nvSpPr>
          <p:spPr>
            <a:xfrm>
              <a:off x="5362042" y="5128870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b="1" dirty="0"/>
            </a:p>
          </p:txBody>
        </p:sp>
        <p:sp>
          <p:nvSpPr>
            <p:cNvPr id="98" name="Text 90"/>
            <p:cNvSpPr txBox="1"/>
            <p:nvPr/>
          </p:nvSpPr>
          <p:spPr>
            <a:xfrm>
              <a:off x="5695798" y="5128870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99" name="Text 91"/>
            <p:cNvSpPr txBox="1"/>
            <p:nvPr/>
          </p:nvSpPr>
          <p:spPr>
            <a:xfrm>
              <a:off x="5762549" y="5128870"/>
              <a:ext cx="95280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"form-group"</a:t>
              </a:r>
              <a:endParaRPr lang="en-US" sz="1000" b="1" dirty="0"/>
            </a:p>
          </p:txBody>
        </p:sp>
        <p:sp>
          <p:nvSpPr>
            <p:cNvPr id="100" name="Text 92"/>
            <p:cNvSpPr txBox="1"/>
            <p:nvPr/>
          </p:nvSpPr>
          <p:spPr>
            <a:xfrm>
              <a:off x="6562649" y="5128870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b="1" dirty="0"/>
            </a:p>
          </p:txBody>
        </p:sp>
        <p:sp>
          <p:nvSpPr>
            <p:cNvPr id="101" name="Text 93"/>
            <p:cNvSpPr txBox="1"/>
            <p:nvPr/>
          </p:nvSpPr>
          <p:spPr>
            <a:xfrm>
              <a:off x="5247742" y="5315407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&lt;label</a:t>
              </a:r>
              <a:endParaRPr lang="en-US" sz="1000" b="1" dirty="0"/>
            </a:p>
          </p:txBody>
        </p:sp>
        <p:sp>
          <p:nvSpPr>
            <p:cNvPr id="102" name="Text 94"/>
            <p:cNvSpPr txBox="1"/>
            <p:nvPr/>
          </p:nvSpPr>
          <p:spPr>
            <a:xfrm>
              <a:off x="5648249" y="5315407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</a:t>
              </a:r>
              <a:endParaRPr lang="en-US" sz="1000" b="1" dirty="0"/>
            </a:p>
          </p:txBody>
        </p:sp>
        <p:sp>
          <p:nvSpPr>
            <p:cNvPr id="103" name="Text 95"/>
            <p:cNvSpPr txBox="1"/>
            <p:nvPr/>
          </p:nvSpPr>
          <p:spPr>
            <a:xfrm>
              <a:off x="5848502" y="531540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104" name="Text 96"/>
            <p:cNvSpPr txBox="1"/>
            <p:nvPr/>
          </p:nvSpPr>
          <p:spPr>
            <a:xfrm>
              <a:off x="5914339" y="5315407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"email"</a:t>
              </a:r>
              <a:endParaRPr lang="en-US" sz="1000" b="1" dirty="0"/>
            </a:p>
          </p:txBody>
        </p:sp>
        <p:sp>
          <p:nvSpPr>
            <p:cNvPr id="105" name="Text 97"/>
            <p:cNvSpPr txBox="1"/>
            <p:nvPr/>
          </p:nvSpPr>
          <p:spPr>
            <a:xfrm>
              <a:off x="6381598" y="531540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b="1" dirty="0"/>
            </a:p>
          </p:txBody>
        </p:sp>
        <p:sp>
          <p:nvSpPr>
            <p:cNvPr id="106" name="Text 98"/>
            <p:cNvSpPr txBox="1"/>
            <p:nvPr/>
          </p:nvSpPr>
          <p:spPr>
            <a:xfrm>
              <a:off x="6448349" y="5315407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이메일</a:t>
              </a:r>
              <a:endParaRPr lang="en-US" sz="1000" b="1" dirty="0"/>
            </a:p>
          </p:txBody>
        </p:sp>
        <p:sp>
          <p:nvSpPr>
            <p:cNvPr id="107" name="Text 99"/>
            <p:cNvSpPr txBox="1"/>
            <p:nvPr/>
          </p:nvSpPr>
          <p:spPr>
            <a:xfrm>
              <a:off x="6847942" y="5315407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&lt;/label&gt;</a:t>
              </a:r>
              <a:endParaRPr lang="en-US" sz="1000" b="1" dirty="0"/>
            </a:p>
          </p:txBody>
        </p:sp>
        <p:sp>
          <p:nvSpPr>
            <p:cNvPr id="108" name="Text 100"/>
            <p:cNvSpPr txBox="1"/>
            <p:nvPr/>
          </p:nvSpPr>
          <p:spPr>
            <a:xfrm>
              <a:off x="5247742" y="5501945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&lt;input</a:t>
              </a:r>
              <a:endParaRPr lang="en-US" sz="1000" b="1" dirty="0"/>
            </a:p>
          </p:txBody>
        </p:sp>
        <p:sp>
          <p:nvSpPr>
            <p:cNvPr id="109" name="Text 101"/>
            <p:cNvSpPr txBox="1"/>
            <p:nvPr/>
          </p:nvSpPr>
          <p:spPr>
            <a:xfrm>
              <a:off x="5648249" y="5501945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type</a:t>
              </a:r>
              <a:endParaRPr lang="en-US" sz="1000" b="1" dirty="0"/>
            </a:p>
          </p:txBody>
        </p:sp>
        <p:sp>
          <p:nvSpPr>
            <p:cNvPr id="110" name="Text 102"/>
            <p:cNvSpPr txBox="1"/>
            <p:nvPr/>
          </p:nvSpPr>
          <p:spPr>
            <a:xfrm>
              <a:off x="5914339" y="550194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111" name="Text 103"/>
            <p:cNvSpPr txBox="1"/>
            <p:nvPr/>
          </p:nvSpPr>
          <p:spPr>
            <a:xfrm>
              <a:off x="5981090" y="5501945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"email"</a:t>
              </a:r>
              <a:endParaRPr lang="en-US" sz="1000" b="1" dirty="0"/>
            </a:p>
          </p:txBody>
        </p:sp>
        <p:sp>
          <p:nvSpPr>
            <p:cNvPr id="112" name="Text 104"/>
            <p:cNvSpPr txBox="1"/>
            <p:nvPr/>
          </p:nvSpPr>
          <p:spPr>
            <a:xfrm>
              <a:off x="6448349" y="5501945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id</a:t>
              </a:r>
              <a:endParaRPr lang="en-US" sz="1000" b="1" dirty="0"/>
            </a:p>
          </p:txBody>
        </p:sp>
        <p:sp>
          <p:nvSpPr>
            <p:cNvPr id="113" name="Text 105"/>
            <p:cNvSpPr txBox="1"/>
            <p:nvPr/>
          </p:nvSpPr>
          <p:spPr>
            <a:xfrm>
              <a:off x="6581851" y="550194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114" name="Text 106"/>
            <p:cNvSpPr txBox="1"/>
            <p:nvPr/>
          </p:nvSpPr>
          <p:spPr>
            <a:xfrm>
              <a:off x="6648602" y="5501945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"email"</a:t>
              </a:r>
              <a:endParaRPr lang="en-US" sz="1000" b="1" dirty="0"/>
            </a:p>
          </p:txBody>
        </p:sp>
        <p:sp>
          <p:nvSpPr>
            <p:cNvPr id="115" name="Text 107"/>
            <p:cNvSpPr txBox="1"/>
            <p:nvPr/>
          </p:nvSpPr>
          <p:spPr>
            <a:xfrm>
              <a:off x="7114946" y="5501945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name</a:t>
              </a:r>
              <a:endParaRPr lang="en-US" sz="1000" b="1" dirty="0"/>
            </a:p>
          </p:txBody>
        </p:sp>
        <p:sp>
          <p:nvSpPr>
            <p:cNvPr id="116" name="Text 108"/>
            <p:cNvSpPr txBox="1"/>
            <p:nvPr/>
          </p:nvSpPr>
          <p:spPr>
            <a:xfrm>
              <a:off x="7381951" y="550194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117" name="Text 109"/>
            <p:cNvSpPr txBox="1"/>
            <p:nvPr/>
          </p:nvSpPr>
          <p:spPr>
            <a:xfrm>
              <a:off x="7448702" y="5501945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"email"</a:t>
              </a:r>
              <a:endParaRPr lang="en-US" sz="1000" b="1" dirty="0"/>
            </a:p>
          </p:txBody>
        </p:sp>
        <p:sp>
          <p:nvSpPr>
            <p:cNvPr id="118" name="Text 110"/>
            <p:cNvSpPr txBox="1"/>
            <p:nvPr/>
          </p:nvSpPr>
          <p:spPr>
            <a:xfrm>
              <a:off x="7915046" y="5501945"/>
              <a:ext cx="87325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placeholder</a:t>
              </a:r>
              <a:endParaRPr lang="en-US" sz="1000" b="1" dirty="0"/>
            </a:p>
          </p:txBody>
        </p:sp>
        <p:sp>
          <p:nvSpPr>
            <p:cNvPr id="119" name="Text 111"/>
            <p:cNvSpPr txBox="1"/>
            <p:nvPr/>
          </p:nvSpPr>
          <p:spPr>
            <a:xfrm>
              <a:off x="8648395" y="550194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120" name="Text 112"/>
            <p:cNvSpPr txBox="1"/>
            <p:nvPr/>
          </p:nvSpPr>
          <p:spPr>
            <a:xfrm>
              <a:off x="8715146" y="5501945"/>
              <a:ext cx="15078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"example@email.com"</a:t>
              </a:r>
              <a:endParaRPr lang="en-US" sz="1000" b="1" dirty="0"/>
            </a:p>
          </p:txBody>
        </p:sp>
        <p:sp>
          <p:nvSpPr>
            <p:cNvPr id="121" name="Text 113"/>
            <p:cNvSpPr txBox="1"/>
            <p:nvPr/>
          </p:nvSpPr>
          <p:spPr>
            <a:xfrm>
              <a:off x="9981590" y="5501945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required</a:t>
              </a:r>
              <a:endParaRPr lang="en-US" sz="1000" b="1" dirty="0"/>
            </a:p>
          </p:txBody>
        </p:sp>
        <p:sp>
          <p:nvSpPr>
            <p:cNvPr id="122" name="Text 114"/>
            <p:cNvSpPr txBox="1"/>
            <p:nvPr/>
          </p:nvSpPr>
          <p:spPr>
            <a:xfrm>
              <a:off x="10515600" y="5501945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/&gt;</a:t>
              </a:r>
              <a:endParaRPr lang="en-US" sz="1000" b="1" dirty="0"/>
            </a:p>
          </p:txBody>
        </p:sp>
        <p:sp>
          <p:nvSpPr>
            <p:cNvPr id="123" name="Text 115"/>
            <p:cNvSpPr txBox="1"/>
            <p:nvPr/>
          </p:nvSpPr>
          <p:spPr>
            <a:xfrm>
              <a:off x="5095951" y="5688482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&lt;/div&gt;</a:t>
              </a:r>
              <a:endParaRPr lang="en-US" sz="1000" b="1" dirty="0"/>
            </a:p>
          </p:txBody>
        </p:sp>
        <p:sp>
          <p:nvSpPr>
            <p:cNvPr id="124" name="Text 116"/>
            <p:cNvSpPr txBox="1"/>
            <p:nvPr/>
          </p:nvSpPr>
          <p:spPr>
            <a:xfrm>
              <a:off x="5095951" y="5875020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&lt;button</a:t>
              </a:r>
              <a:endParaRPr lang="en-US" sz="1000" b="1" dirty="0"/>
            </a:p>
          </p:txBody>
        </p:sp>
        <p:sp>
          <p:nvSpPr>
            <p:cNvPr id="125" name="Text 117"/>
            <p:cNvSpPr txBox="1"/>
            <p:nvPr/>
          </p:nvSpPr>
          <p:spPr>
            <a:xfrm>
              <a:off x="5562295" y="5875020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type</a:t>
              </a:r>
              <a:endParaRPr lang="en-US" sz="1000" b="1" dirty="0"/>
            </a:p>
          </p:txBody>
        </p:sp>
        <p:sp>
          <p:nvSpPr>
            <p:cNvPr id="126" name="Text 118"/>
            <p:cNvSpPr txBox="1"/>
            <p:nvPr/>
          </p:nvSpPr>
          <p:spPr>
            <a:xfrm>
              <a:off x="5829300" y="5875020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127" name="Text 119"/>
            <p:cNvSpPr txBox="1"/>
            <p:nvPr/>
          </p:nvSpPr>
          <p:spPr>
            <a:xfrm>
              <a:off x="5896051" y="5875020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"submit"</a:t>
              </a:r>
              <a:endParaRPr lang="en-US" sz="1000" b="1" dirty="0"/>
            </a:p>
          </p:txBody>
        </p:sp>
        <p:sp>
          <p:nvSpPr>
            <p:cNvPr id="128" name="Text 120"/>
            <p:cNvSpPr txBox="1"/>
            <p:nvPr/>
          </p:nvSpPr>
          <p:spPr>
            <a:xfrm>
              <a:off x="6429146" y="5875020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</a:t>
              </a:r>
              <a:endParaRPr lang="en-US" sz="1000" b="1" dirty="0"/>
            </a:p>
          </p:txBody>
        </p:sp>
        <p:sp>
          <p:nvSpPr>
            <p:cNvPr id="129" name="Text 121"/>
            <p:cNvSpPr txBox="1"/>
            <p:nvPr/>
          </p:nvSpPr>
          <p:spPr>
            <a:xfrm>
              <a:off x="6762902" y="5875020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00" b="1" dirty="0"/>
            </a:p>
          </p:txBody>
        </p:sp>
        <p:sp>
          <p:nvSpPr>
            <p:cNvPr id="130" name="Text 122"/>
            <p:cNvSpPr txBox="1"/>
            <p:nvPr/>
          </p:nvSpPr>
          <p:spPr>
            <a:xfrm>
              <a:off x="6828739" y="5875020"/>
              <a:ext cx="95280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"submit-btn"</a:t>
              </a:r>
              <a:endParaRPr lang="en-US" sz="1000" b="1" dirty="0"/>
            </a:p>
          </p:txBody>
        </p:sp>
        <p:sp>
          <p:nvSpPr>
            <p:cNvPr id="131" name="Text 123"/>
            <p:cNvSpPr txBox="1"/>
            <p:nvPr/>
          </p:nvSpPr>
          <p:spPr>
            <a:xfrm>
              <a:off x="7628839" y="5875020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</a:t>
              </a:r>
              <a:endParaRPr lang="en-US" sz="1000" b="1" dirty="0"/>
            </a:p>
          </p:txBody>
        </p:sp>
        <p:sp>
          <p:nvSpPr>
            <p:cNvPr id="132" name="Text 124"/>
            <p:cNvSpPr txBox="1"/>
            <p:nvPr/>
          </p:nvSpPr>
          <p:spPr>
            <a:xfrm>
              <a:off x="7695590" y="5875020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보내기</a:t>
              </a:r>
              <a:endParaRPr lang="en-US" sz="1000" b="1" dirty="0"/>
            </a:p>
          </p:txBody>
        </p:sp>
        <p:sp>
          <p:nvSpPr>
            <p:cNvPr id="133" name="Text 125"/>
            <p:cNvSpPr txBox="1"/>
            <p:nvPr/>
          </p:nvSpPr>
          <p:spPr>
            <a:xfrm>
              <a:off x="8096098" y="5875020"/>
              <a:ext cx="7141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&lt;/button&gt;</a:t>
              </a:r>
              <a:endParaRPr lang="en-US" sz="1000" b="1" dirty="0"/>
            </a:p>
          </p:txBody>
        </p:sp>
        <p:sp>
          <p:nvSpPr>
            <p:cNvPr id="134" name="Text 126"/>
            <p:cNvSpPr txBox="1"/>
            <p:nvPr/>
          </p:nvSpPr>
          <p:spPr>
            <a:xfrm>
              <a:off x="4943246" y="6061558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&lt;/form&gt;</a:t>
              </a:r>
              <a:endParaRPr lang="en-US" sz="1000" b="1" dirty="0"/>
            </a:p>
          </p:txBody>
        </p:sp>
      </p:grpSp>
      <p:sp>
        <p:nvSpPr>
          <p:cNvPr id="1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905" y="609905"/>
            <a:ext cx="1133856" cy="286207"/>
          </a:xfrm>
          <a:prstGeom prst="roundRect">
            <a:avLst>
              <a:gd name="adj" fmla="val 319489"/>
            </a:avLst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71754" y="676656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SECTION 07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123798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</a:t>
            </a:r>
            <a:endParaRPr lang="en-US" sz="82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3354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PAGES</a:t>
            </a:r>
            <a:endParaRPr lang="en-US" sz="8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6209" b="6209"/>
          <a:stretch/>
        </p:blipFill>
        <p:spPr>
          <a:xfrm>
            <a:off x="5348974" y="753008"/>
            <a:ext cx="6233121" cy="3562089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609905" y="5219395"/>
            <a:ext cx="5181905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5995" y="5447995"/>
            <a:ext cx="476311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Git의 기본 개념부터 원격 저장소 연결, GitHub Pages 설정, 그리고 최종 배포 검증까지.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로컬 코드를 전 세계와 공유하는 방법을 배웁니다. 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057900" y="5305349"/>
            <a:ext cx="5524805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DEPLOY</a:t>
            </a:r>
            <a:endParaRPr lang="en-US" sz="8200" dirty="0"/>
          </a:p>
        </p:txBody>
      </p:sp>
      <p:sp>
        <p:nvSpPr>
          <p:cNvPr id="1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61EBC8BA-F839-67C1-CEA9-FEB733C7C6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886" t="1687" r="10694" b="24"/>
          <a:stretch>
            <a:fillRect/>
          </a:stretch>
        </p:blipFill>
        <p:spPr>
          <a:xfrm>
            <a:off x="6980835" y="1768915"/>
            <a:ext cx="4186927" cy="3924643"/>
          </a:xfrm>
          <a:prstGeom prst="rect">
            <a:avLst/>
          </a:prstGeom>
        </p:spPr>
      </p:pic>
      <p:sp>
        <p:nvSpPr>
          <p:cNvPr id="4" name="Text 2"/>
          <p:cNvSpPr txBox="1"/>
          <p:nvPr/>
        </p:nvSpPr>
        <p:spPr>
          <a:xfrm>
            <a:off x="476402" y="32369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1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361237" y="1026405"/>
            <a:ext cx="4734763" cy="109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Git </a:t>
            </a:r>
            <a:r>
              <a:rPr lang="en-US" sz="39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</a:t>
            </a: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9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</a:t>
            </a: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버전 관리 시스템 </a:t>
            </a:r>
            <a:endParaRPr lang="en-US" sz="3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rcRect t="-26" b="-26"/>
          <a:stretch/>
        </p:blipFill>
        <p:spPr>
          <a:xfrm>
            <a:off x="1315097" y="2649465"/>
            <a:ext cx="4556455" cy="97200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390" y="2878065"/>
            <a:ext cx="41440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"프로젝트의 시간을 기록하고,</a:t>
            </a:r>
            <a:endParaRPr lang="en-US" sz="13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여러 사람과 안전하게 협업하는 도구" 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315097" y="3925967"/>
            <a:ext cx="4638751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Git은 단순한 파일 저장이 아닙니다.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프로젝트의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모든 변경 내역을 스냅샷으로 기록하여,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언제든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과거로 돌아가거나 새로운 기능을 실험할 수 있게 해줍니다.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315097" y="5071766"/>
            <a:ext cx="171907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rcRect l="-760" r="-760"/>
          <a:stretch/>
        </p:blipFill>
        <p:spPr>
          <a:xfrm>
            <a:off x="1315097" y="5447584"/>
            <a:ext cx="152705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/>
          <a:srcRect l="-1064" r="-1064"/>
          <a:stretch/>
        </p:blipFill>
        <p:spPr>
          <a:xfrm>
            <a:off x="1315097" y="5824317"/>
            <a:ext cx="219456" cy="17190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600390" y="5064450"/>
            <a:ext cx="153985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스냅샷(Snapshot)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3008566" y="5076338"/>
            <a:ext cx="257952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변경된 순간의 상태를 사진처럼 기록</a:t>
            </a:r>
            <a:endParaRPr lang="en-US" sz="1000" dirty="0"/>
          </a:p>
        </p:txBody>
      </p:sp>
      <p:sp>
        <p:nvSpPr>
          <p:cNvPr id="14" name="Text 8"/>
          <p:cNvSpPr txBox="1"/>
          <p:nvPr/>
        </p:nvSpPr>
        <p:spPr>
          <a:xfrm>
            <a:off x="1581187" y="5441183"/>
            <a:ext cx="133136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브랜치(Branch)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2809226" y="5453070"/>
            <a:ext cx="216347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독립적인 평행 작업 공간 생성</a:t>
            </a:r>
            <a:endParaRPr lang="en-US" sz="1000" dirty="0"/>
          </a:p>
        </p:txBody>
      </p:sp>
      <p:sp>
        <p:nvSpPr>
          <p:cNvPr id="16" name="Text 10"/>
          <p:cNvSpPr txBox="1"/>
          <p:nvPr/>
        </p:nvSpPr>
        <p:spPr>
          <a:xfrm>
            <a:off x="1647938" y="5817002"/>
            <a:ext cx="8860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2533992" y="5828889"/>
            <a:ext cx="280263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수정 → 스테이징(Add) → 커밋(Commit)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9870034" y="629107"/>
            <a:ext cx="17145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DEPLOYMENT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9823130" y="5013085"/>
            <a:ext cx="1570996" cy="411152"/>
          </a:xfrm>
          <a:prstGeom prst="roundRect">
            <a:avLst>
              <a:gd name="adj" fmla="val 148869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5"/>
          <p:cNvSpPr txBox="1"/>
          <p:nvPr/>
        </p:nvSpPr>
        <p:spPr>
          <a:xfrm>
            <a:off x="10047354" y="5131856"/>
            <a:ext cx="1335799" cy="159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Version Control</a:t>
            </a:r>
            <a:endParaRPr lang="en-US" sz="1200" dirty="0"/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77139" y="792748"/>
            <a:ext cx="4217590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GIT COMMANDS</a:t>
            </a:r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SUMMARY 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42556" y="2493614"/>
            <a:ext cx="34697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37246" y="2447894"/>
            <a:ext cx="43073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초기화 및 상태 관리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37246" y="2763362"/>
            <a:ext cx="4222928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E651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init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프로젝트 폴더를 Git 저장소로 초기화합니다.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E651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status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변경된 파일과 스테이징 상태를 확인합니다.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E651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add .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변경된 모든 파일을 스테이징 영역에 추가합니다. 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42556" y="3913818"/>
            <a:ext cx="34697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537246" y="3857125"/>
            <a:ext cx="43073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저장 및 이력 조회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37246" y="4184480"/>
            <a:ext cx="422292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E651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commit -m "msg"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스테이징된 파일을 스냅샷으로 저장합니다.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E651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log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프로젝트의 커밋 히스토리를 조회합니다. 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04151" y="5104166"/>
            <a:ext cx="34697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98841" y="5047473"/>
            <a:ext cx="42513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원격 저장소 동기화 (GitHub)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98841" y="5374828"/>
            <a:ext cx="4222928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E651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remote add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로컬 저장소를 GitHub 원격 저장소와 연결합니다.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E651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push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로컬의 커밋 내역을 GitHub로 업로드합니다.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b="1" dirty="0">
                <a:solidFill>
                  <a:srgbClr val="E651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pull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원격 저장소의 최신 변경사항을 가져옵니다. </a:t>
            </a:r>
            <a:endParaRPr lang="en-US" sz="1200" dirty="0"/>
          </a:p>
        </p:txBody>
      </p:sp>
      <p:pic>
        <p:nvPicPr>
          <p:cNvPr id="18" name="그림 17" descr="텍스트, 스크린샷, 소프트웨어, 웹사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D614A1-2C3F-2548-0734-9800159CC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5941" y="410695"/>
            <a:ext cx="4988859" cy="6193066"/>
          </a:xfrm>
          <a:prstGeom prst="rect">
            <a:avLst/>
          </a:prstGeom>
        </p:spPr>
      </p:pic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558424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Repository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09905" y="1310335"/>
            <a:ext cx="381305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09905" y="1593799"/>
            <a:ext cx="51151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저장소 생성 단계별 가이드 (New repo → Settings)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02" b="-402"/>
          <a:stretch/>
        </p:blipFill>
        <p:spPr>
          <a:xfrm>
            <a:off x="1007668" y="3493008"/>
            <a:ext cx="10019995" cy="19202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721461" y="3130906"/>
            <a:ext cx="2476195" cy="238292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30605" y="4853421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6"/>
          <p:cNvSpPr txBox="1"/>
          <p:nvPr/>
        </p:nvSpPr>
        <p:spPr>
          <a:xfrm>
            <a:off x="838504" y="3845052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선택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27954" y="4154748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우측 상단 '+' 버튼 클릭</a:t>
            </a:r>
            <a:endParaRPr lang="en-US" sz="10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'New repository' 선택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0605" y="4855250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Shape 9"/>
          <p:cNvSpPr/>
          <p:nvPr/>
        </p:nvSpPr>
        <p:spPr>
          <a:xfrm>
            <a:off x="883310" y="5007955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Shape 10"/>
          <p:cNvSpPr/>
          <p:nvPr/>
        </p:nvSpPr>
        <p:spPr>
          <a:xfrm>
            <a:off x="1016812" y="5007955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1"/>
          <p:cNvSpPr/>
          <p:nvPr/>
        </p:nvSpPr>
        <p:spPr>
          <a:xfrm>
            <a:off x="1150315" y="5007955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1840687" y="3411626"/>
            <a:ext cx="237744" cy="2670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3310" y="5198150"/>
            <a:ext cx="39136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Click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159459" y="5198150"/>
            <a:ext cx="13350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1249984" y="5198150"/>
            <a:ext cx="34290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icon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883310" y="5355427"/>
            <a:ext cx="144018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Select "New repository"</a:t>
            </a:r>
            <a:endParaRPr lang="en-US" sz="10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674266" y="2330806"/>
            <a:ext cx="571500" cy="5715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896465" y="2445106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3236061" y="3407054"/>
            <a:ext cx="123444" cy="190195"/>
          </a:xfrm>
          <a:prstGeom prst="rect">
            <a:avLst/>
          </a:prstGeom>
        </p:spPr>
      </p:pic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3426256" y="3130906"/>
            <a:ext cx="2476195" cy="238292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3436315" y="4853421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Text 18"/>
          <p:cNvSpPr txBox="1"/>
          <p:nvPr/>
        </p:nvSpPr>
        <p:spPr>
          <a:xfrm>
            <a:off x="3543299" y="3845052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설정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3632749" y="4154748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Repository name 입력</a:t>
            </a:r>
            <a:endParaRPr lang="en-US" sz="10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(예: my-portfolio)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3436315" y="4855250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9" name="Shape 21"/>
          <p:cNvSpPr/>
          <p:nvPr/>
        </p:nvSpPr>
        <p:spPr>
          <a:xfrm>
            <a:off x="3588105" y="5007955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0" name="Shape 22"/>
          <p:cNvSpPr/>
          <p:nvPr/>
        </p:nvSpPr>
        <p:spPr>
          <a:xfrm>
            <a:off x="3721607" y="5007955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1" name="Shape 23"/>
          <p:cNvSpPr/>
          <p:nvPr/>
        </p:nvSpPr>
        <p:spPr>
          <a:xfrm>
            <a:off x="3855110" y="5007955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497933" y="3411626"/>
            <a:ext cx="333756" cy="26700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3588105" y="5198150"/>
            <a:ext cx="99761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Repository name: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3588105" y="5398618"/>
            <a:ext cx="56692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portfolio</a:t>
            </a:r>
            <a:endParaRPr lang="en-US" sz="1000" dirty="0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379061" y="2330806"/>
            <a:ext cx="571500" cy="5715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4601260" y="2445106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5941771" y="3407054"/>
            <a:ext cx="123444" cy="190195"/>
          </a:xfrm>
          <a:prstGeom prst="rect">
            <a:avLst/>
          </a:prstGeom>
        </p:spPr>
      </p:pic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6131966" y="3130906"/>
            <a:ext cx="2476195" cy="2382926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6141110" y="4853421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0" name="Text 28"/>
          <p:cNvSpPr txBox="1"/>
          <p:nvPr/>
        </p:nvSpPr>
        <p:spPr>
          <a:xfrm>
            <a:off x="6249009" y="3845052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설정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6338459" y="4205040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호스팅을 위해</a:t>
            </a:r>
            <a:endParaRPr lang="en-US" sz="10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선택 필수</a:t>
            </a:r>
            <a:endParaRPr lang="en-US" sz="1000" dirty="0"/>
          </a:p>
        </p:txBody>
      </p:sp>
      <p:sp>
        <p:nvSpPr>
          <p:cNvPr id="42" name="Shape 30"/>
          <p:cNvSpPr/>
          <p:nvPr/>
        </p:nvSpPr>
        <p:spPr>
          <a:xfrm>
            <a:off x="6141110" y="4855250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3" name="Shape 31"/>
          <p:cNvSpPr/>
          <p:nvPr/>
        </p:nvSpPr>
        <p:spPr>
          <a:xfrm>
            <a:off x="6293815" y="5007955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4" name="Shape 32"/>
          <p:cNvSpPr/>
          <p:nvPr/>
        </p:nvSpPr>
        <p:spPr>
          <a:xfrm>
            <a:off x="6427317" y="5007955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Shape 33"/>
          <p:cNvSpPr/>
          <p:nvPr/>
        </p:nvSpPr>
        <p:spPr>
          <a:xfrm>
            <a:off x="6559905" y="5007955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236561" y="3411626"/>
            <a:ext cx="267005" cy="267005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293815" y="5198150"/>
            <a:ext cx="62362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(o) Public</a:t>
            </a:r>
            <a:endParaRPr lang="en-US" sz="1000" dirty="0"/>
          </a:p>
        </p:txBody>
      </p:sp>
      <p:sp>
        <p:nvSpPr>
          <p:cNvPr id="48" name="Text 35"/>
          <p:cNvSpPr txBox="1"/>
          <p:nvPr/>
        </p:nvSpPr>
        <p:spPr>
          <a:xfrm>
            <a:off x="6293815" y="5355427"/>
            <a:ext cx="69220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 ) Private</a:t>
            </a:r>
            <a:endParaRPr lang="en-US" sz="1000" dirty="0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83856" y="2330806"/>
            <a:ext cx="571500" cy="57150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7306055" y="2445106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pic>
        <p:nvPicPr>
          <p:cNvPr id="51" name="Image 12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8646566" y="3407054"/>
            <a:ext cx="123444" cy="190195"/>
          </a:xfrm>
          <a:prstGeom prst="rect">
            <a:avLst/>
          </a:prstGeom>
        </p:spPr>
      </p:pic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4"/>
          <a:srcRect t="-4" b="-4"/>
          <a:stretch/>
        </p:blipFill>
        <p:spPr>
          <a:xfrm>
            <a:off x="8836761" y="3130906"/>
            <a:ext cx="2476195" cy="2382926"/>
          </a:xfrm>
          <a:prstGeom prst="rect">
            <a:avLst/>
          </a:prstGeom>
        </p:spPr>
      </p:pic>
      <p:sp>
        <p:nvSpPr>
          <p:cNvPr id="53" name="Shape 37"/>
          <p:cNvSpPr/>
          <p:nvPr/>
        </p:nvSpPr>
        <p:spPr>
          <a:xfrm>
            <a:off x="8845905" y="4853421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4" name="Text 38"/>
          <p:cNvSpPr txBox="1"/>
          <p:nvPr/>
        </p:nvSpPr>
        <p:spPr>
          <a:xfrm>
            <a:off x="8953804" y="3845052"/>
            <a:ext cx="224302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완료</a:t>
            </a:r>
            <a:endParaRPr lang="en-US" sz="1300" dirty="0"/>
          </a:p>
        </p:txBody>
      </p:sp>
      <p:sp>
        <p:nvSpPr>
          <p:cNvPr id="55" name="Text 39"/>
          <p:cNvSpPr txBox="1"/>
          <p:nvPr/>
        </p:nvSpPr>
        <p:spPr>
          <a:xfrm>
            <a:off x="9043254" y="4224701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하단 Create 버튼 클릭</a:t>
            </a:r>
            <a:endParaRPr lang="en-US" sz="10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설정 완료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8845905" y="4855250"/>
            <a:ext cx="2457907" cy="790956"/>
          </a:xfrm>
          <a:prstGeom prst="roundRect">
            <a:avLst>
              <a:gd name="adj" fmla="val 22286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7" name="Shape 41"/>
          <p:cNvSpPr/>
          <p:nvPr/>
        </p:nvSpPr>
        <p:spPr>
          <a:xfrm>
            <a:off x="8998610" y="5007955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8" name="Shape 42"/>
          <p:cNvSpPr/>
          <p:nvPr/>
        </p:nvSpPr>
        <p:spPr>
          <a:xfrm>
            <a:off x="9132112" y="5007955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9" name="Shape 43"/>
          <p:cNvSpPr/>
          <p:nvPr/>
        </p:nvSpPr>
        <p:spPr>
          <a:xfrm>
            <a:off x="9265615" y="5007955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60" name="Image 14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941356" y="3411626"/>
            <a:ext cx="267005" cy="267005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8998610" y="5198150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1000" dirty="0"/>
          </a:p>
        </p:txBody>
      </p:sp>
      <p:sp>
        <p:nvSpPr>
          <p:cNvPr id="62" name="Text 45"/>
          <p:cNvSpPr txBox="1"/>
          <p:nvPr/>
        </p:nvSpPr>
        <p:spPr>
          <a:xfrm>
            <a:off x="9119310" y="5198150"/>
            <a:ext cx="153280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Create repository</a:t>
            </a:r>
            <a:endParaRPr lang="en-US" sz="1000" dirty="0"/>
          </a:p>
        </p:txBody>
      </p:sp>
      <p:sp>
        <p:nvSpPr>
          <p:cNvPr id="63" name="Text 46"/>
          <p:cNvSpPr txBox="1"/>
          <p:nvPr/>
        </p:nvSpPr>
        <p:spPr>
          <a:xfrm>
            <a:off x="8998610" y="5405433"/>
            <a:ext cx="87325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Redirecting...</a:t>
            </a:r>
            <a:endParaRPr lang="en-US" sz="1000" dirty="0"/>
          </a:p>
        </p:txBody>
      </p:sp>
      <p:pic>
        <p:nvPicPr>
          <p:cNvPr id="64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789566" y="2330806"/>
            <a:ext cx="571500" cy="571500"/>
          </a:xfrm>
          <a:prstGeom prst="rect">
            <a:avLst/>
          </a:prstGeom>
        </p:spPr>
      </p:pic>
      <p:sp>
        <p:nvSpPr>
          <p:cNvPr id="65" name="Text 47"/>
          <p:cNvSpPr txBox="1"/>
          <p:nvPr/>
        </p:nvSpPr>
        <p:spPr>
          <a:xfrm>
            <a:off x="10011765" y="2445106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18955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COMMANDS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7230161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로컬 저장소 초기화 및 커밋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762962"/>
            <a:ext cx="3715207" cy="3068395"/>
          </a:xfrm>
          <a:prstGeom prst="roundRect">
            <a:avLst>
              <a:gd name="adj" fmla="val 137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32257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7649" y="2617013"/>
            <a:ext cx="3230575" cy="199981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9151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"작업 중인 포트폴리오 프로젝트 폴더를 Git으로 관리하고 싶어.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로컬 저장소를 초기화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작성한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파일을 스테이징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해서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번째 커밋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남기는 터미널 명령어를 알려줘."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09905" y="5111514"/>
            <a:ext cx="3715207" cy="1296601"/>
          </a:xfrm>
          <a:prstGeom prst="roundRect">
            <a:avLst>
              <a:gd name="adj" fmla="val 7838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9905" y="5111514"/>
            <a:ext cx="38405" cy="1296601"/>
          </a:xfrm>
          <a:prstGeom prst="roundRect">
            <a:avLst>
              <a:gd name="adj" fmla="val 192399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7649" y="5312332"/>
            <a:ext cx="133502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18642" y="5305017"/>
            <a:ext cx="10387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1047902" y="5568704"/>
            <a:ext cx="15480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명령어를 입력하기 전에</a:t>
            </a:r>
            <a:endParaRPr lang="en-US" sz="1000" dirty="0"/>
          </a:p>
        </p:txBody>
      </p:sp>
      <p:sp>
        <p:nvSpPr>
          <p:cNvPr id="18" name="Text 12"/>
          <p:cNvSpPr txBox="1"/>
          <p:nvPr/>
        </p:nvSpPr>
        <p:spPr>
          <a:xfrm>
            <a:off x="2343149" y="5568704"/>
            <a:ext cx="3246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pwd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057046" y="5812253"/>
            <a:ext cx="33147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 탐색기를 통해 현재 위치가 올바른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063878" y="6029001"/>
            <a:ext cx="145115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최상위 폴더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2219249" y="6021650"/>
            <a:ext cx="16276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인지 반드시 확인하세요.</a:t>
            </a:r>
            <a:endParaRPr lang="en-US" sz="10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45075" y="1684325"/>
            <a:ext cx="168615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TERMINAL COMMANDS</a:t>
            </a:r>
            <a:endParaRPr lang="en-US" sz="10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19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1"/>
          <p:cNvSpPr txBox="1"/>
          <p:nvPr/>
        </p:nvSpPr>
        <p:spPr>
          <a:xfrm>
            <a:off x="5535778" y="2141525"/>
            <a:ext cx="324612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bash</a:t>
            </a:r>
            <a:endParaRPr lang="en-US" sz="9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1F2F1B1F-69AE-CCDD-F0A3-58D9CBB49976}"/>
              </a:ext>
            </a:extLst>
          </p:cNvPr>
          <p:cNvGrpSpPr/>
          <p:nvPr/>
        </p:nvGrpSpPr>
        <p:grpSpPr>
          <a:xfrm>
            <a:off x="4925872" y="2679192"/>
            <a:ext cx="5840739" cy="3268890"/>
            <a:chOff x="4925873" y="2679192"/>
            <a:chExt cx="5125212" cy="2886761"/>
          </a:xfrm>
        </p:grpSpPr>
        <p:sp>
          <p:nvSpPr>
            <p:cNvPr id="30" name="Text 22"/>
            <p:cNvSpPr txBox="1"/>
            <p:nvPr/>
          </p:nvSpPr>
          <p:spPr>
            <a:xfrm>
              <a:off x="4925873" y="2679192"/>
              <a:ext cx="3486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i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 1. 현재 디렉토리를 Git 저장소로 초기화합니다</a:t>
              </a:r>
              <a:endParaRPr lang="en-US" sz="1100" b="1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4925873" y="29077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$</a:t>
              </a:r>
              <a:endParaRPr lang="en-US" sz="1100" b="1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4998110" y="2907792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git</a:t>
              </a:r>
              <a:endParaRPr lang="en-US" sz="1100" b="1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212080" y="2907792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init</a:t>
              </a:r>
              <a:endParaRPr lang="en-US" sz="1100" b="1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4925873" y="3136392"/>
              <a:ext cx="51252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80808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Initialized empty Git repository in /Users/dev/portfolio/.git/</a:t>
              </a:r>
              <a:endParaRPr lang="en-US" sz="1100" b="1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4925873" y="3593592"/>
              <a:ext cx="497067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i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 2. 모든 변경사항(파일)을 스테이징 영역(Staging Area)에 추가합니다</a:t>
              </a:r>
              <a:endParaRPr lang="en-US" sz="1100" b="1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4925873" y="38221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$</a:t>
              </a:r>
              <a:endParaRPr lang="en-US" sz="1100" b="1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4998110" y="3822192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git</a:t>
              </a:r>
              <a:endParaRPr lang="en-US" sz="1100" b="1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5212080" y="3822192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add</a:t>
              </a:r>
              <a:endParaRPr lang="en-US" sz="1100" b="1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5426964" y="38221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100" b="1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4925873" y="4279392"/>
              <a:ext cx="477225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i="1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 3. 설명 메시지와 함께 변경사항을 영구적으로 저장(Commit)합니다</a:t>
              </a:r>
              <a:endParaRPr lang="en-US" sz="1100" b="1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4925873" y="450799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$</a:t>
              </a:r>
              <a:endParaRPr lang="en-US" sz="1100" b="1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4998110" y="4507992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git</a:t>
              </a:r>
              <a:endParaRPr lang="en-US" sz="1100" b="1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212080" y="4507992"/>
              <a:ext cx="5148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commit</a:t>
              </a:r>
              <a:endParaRPr lang="en-US" sz="1100" b="1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640934" y="4507992"/>
              <a:ext cx="228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-m</a:t>
              </a:r>
              <a:endParaRPr lang="en-US" sz="1100" b="1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784494" y="4507992"/>
              <a:ext cx="298185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"feat: portfolio v1 initial commit"</a:t>
              </a:r>
              <a:endParaRPr lang="en-US" sz="1100" b="1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4925873" y="4736592"/>
              <a:ext cx="51252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80808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[main (root-commit) a1b2c3d] feat: portfolio v1 initial commit</a:t>
              </a:r>
              <a:endParaRPr lang="en-US" sz="1100" b="1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4925873" y="4965192"/>
              <a:ext cx="2902306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80808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5 files changed, 145 insertions(+)</a:t>
              </a:r>
              <a:endParaRPr lang="en-US" sz="1100" b="1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4925873" y="5193792"/>
              <a:ext cx="2471623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80808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create mode 100644 index.html</a:t>
              </a:r>
              <a:endParaRPr lang="en-US" sz="1100" b="1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4925873" y="5422392"/>
              <a:ext cx="239207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80808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create mode 100644 style.css</a:t>
              </a:r>
              <a:endParaRPr lang="en-US" sz="1100" b="1" dirty="0"/>
            </a:p>
          </p:txBody>
        </p:sp>
      </p:grp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63530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DEPLOYMENT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803300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원격 저장소 연결 및 코드 푸시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353105"/>
          </a:xfrm>
          <a:prstGeom prst="roundRect">
            <a:avLst>
              <a:gd name="adj" fmla="val 1549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847649" y="1955902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7105" y="1922069"/>
            <a:ext cx="10287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STEP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23662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947318" y="2322576"/>
            <a:ext cx="105156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17" b="-17"/>
          <a:stretch/>
        </p:blipFill>
        <p:spPr>
          <a:xfrm>
            <a:off x="847649" y="2617013"/>
            <a:ext cx="3230575" cy="161940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817266"/>
            <a:ext cx="2915107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"이제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GitHub에 생성한 빈 저장소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내 컴퓨터의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로컬 프로젝트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연결할 차례입니다.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원격 저장소 주소를 등록하고, 작성한 코드를 업로드(Push)하여 배포 준비를 마칩니다."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09905" y="5259629"/>
            <a:ext cx="3715207" cy="1143000"/>
          </a:xfrm>
          <a:prstGeom prst="roundRect">
            <a:avLst>
              <a:gd name="adj" fmla="val 5333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09905" y="5259629"/>
            <a:ext cx="38405" cy="1143000"/>
          </a:xfrm>
          <a:prstGeom prst="roundRect">
            <a:avLst>
              <a:gd name="adj" fmla="val 158729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38505" y="5438851"/>
            <a:ext cx="133502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09498" y="5431536"/>
            <a:ext cx="10387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38505" y="5650078"/>
            <a:ext cx="33723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저장소 페이지에서 </a:t>
            </a:r>
            <a:r>
              <a:rPr lang="en-US" sz="10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주소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정확히 복사했는지 확인하세요. 주소 형식은 </a:t>
            </a:r>
            <a:r>
              <a:rPr lang="en-US" sz="10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https://github.com/사용자명/레포명.git</a:t>
            </a:r>
            <a:r>
              <a:rPr lang="en-US" sz="10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입니다.</a:t>
            </a:r>
            <a:endParaRPr lang="en-US" sz="10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4697273" y="1717243"/>
            <a:ext cx="152705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25873" y="1684325"/>
            <a:ext cx="168615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TERMINAL COMMANDS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5778" y="2141525"/>
            <a:ext cx="1191463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bash — portfolio</a:t>
            </a:r>
            <a:endParaRPr lang="en-US" sz="900" dirty="0"/>
          </a:p>
        </p:txBody>
      </p:sp>
      <p:sp>
        <p:nvSpPr>
          <p:cNvPr id="26" name="Text 18"/>
          <p:cNvSpPr txBox="1"/>
          <p:nvPr/>
        </p:nvSpPr>
        <p:spPr>
          <a:xfrm>
            <a:off x="4925873" y="2812694"/>
            <a:ext cx="405719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1. 원격 저장소 주소 등록 (origin이라는 별칭 사용)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4925873" y="3125419"/>
            <a:ext cx="3145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5155387" y="3125419"/>
            <a:ext cx="91531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remote add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5917082" y="3125419"/>
            <a:ext cx="5495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origin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6374282" y="3125419"/>
            <a:ext cx="291327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https://github.com/USER/REPO.git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4925873" y="3514039"/>
            <a:ext cx="44101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2. 브랜치 이름을 main으로 변경 (GitHub 기본 브랜치명)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4925873" y="3825850"/>
            <a:ext cx="3145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5155387" y="3825850"/>
            <a:ext cx="5495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branch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5612587" y="3825850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-M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5765292" y="3825850"/>
            <a:ext cx="3913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main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4925873" y="4214470"/>
            <a:ext cx="46204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A9955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 3. 코드를 원격 저장소로 업로드 (첫 푸시 시 -u 옵션 필수)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4925873" y="4527194"/>
            <a:ext cx="3145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69CD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git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5155387" y="4527194"/>
            <a:ext cx="3913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CDCAA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push</a:t>
            </a:r>
            <a:endParaRPr lang="en-US" sz="1200" dirty="0"/>
          </a:p>
        </p:txBody>
      </p:sp>
      <p:sp>
        <p:nvSpPr>
          <p:cNvPr id="39" name="Text 31"/>
          <p:cNvSpPr txBox="1"/>
          <p:nvPr/>
        </p:nvSpPr>
        <p:spPr>
          <a:xfrm>
            <a:off x="5459882" y="4527194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DCFE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-u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5612587" y="4527194"/>
            <a:ext cx="5495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origin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6069787" y="4527194"/>
            <a:ext cx="3913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E917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main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4925873" y="5075834"/>
            <a:ext cx="273222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0A0A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Enumerating objects: 15, done.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4925873" y="5350154"/>
            <a:ext cx="336682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0A0A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Counting objects: 100% (15/15), done.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4925873" y="5624474"/>
            <a:ext cx="5191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0A0A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Writing objects: 100% (15/15), 2.41 KiB | 1.20 MiB/s, done.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4925873" y="5898794"/>
            <a:ext cx="318577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0A0A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To https://github.com/USER/REPO.git</a:t>
            </a:r>
            <a:endParaRPr lang="en-US" sz="1200" dirty="0"/>
          </a:p>
        </p:txBody>
      </p:sp>
      <p:sp>
        <p:nvSpPr>
          <p:cNvPr id="46" name="Text 38"/>
          <p:cNvSpPr txBox="1"/>
          <p:nvPr/>
        </p:nvSpPr>
        <p:spPr>
          <a:xfrm>
            <a:off x="4925873" y="6173114"/>
            <a:ext cx="245973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* [new branch] main -&gt; main</a:t>
            </a:r>
            <a:endParaRPr lang="en-US" sz="12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967472" y="904118"/>
            <a:ext cx="6322561" cy="8165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PAGES  SETUP </a:t>
            </a:r>
            <a:endParaRPr lang="en-US" sz="5400" dirty="0"/>
          </a:p>
        </p:txBody>
      </p:sp>
      <p:sp>
        <p:nvSpPr>
          <p:cNvPr id="7" name="Shape 4"/>
          <p:cNvSpPr/>
          <p:nvPr/>
        </p:nvSpPr>
        <p:spPr>
          <a:xfrm>
            <a:off x="1758619" y="2643990"/>
            <a:ext cx="8635341" cy="705002"/>
          </a:xfrm>
          <a:prstGeom prst="roundRect">
            <a:avLst>
              <a:gd name="adj" fmla="val 28044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1758619" y="2643990"/>
            <a:ext cx="57607" cy="705002"/>
          </a:xfrm>
          <a:prstGeom prst="roundRect">
            <a:avLst>
              <a:gd name="adj" fmla="val 343202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2996717" y="2868018"/>
            <a:ext cx="16770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Settings 탭 이동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14545" y="2943914"/>
            <a:ext cx="606440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저장소 상단 메뉴의 'Settings' 버튼을 클릭합니다.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758619" y="3463293"/>
            <a:ext cx="8635341" cy="905256"/>
          </a:xfrm>
          <a:prstGeom prst="roundRect">
            <a:avLst>
              <a:gd name="adj" fmla="val 17012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1758619" y="3463293"/>
            <a:ext cx="57607" cy="905256"/>
          </a:xfrm>
          <a:prstGeom prst="roundRect">
            <a:avLst>
              <a:gd name="adj" fmla="val 26733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2996717" y="3786990"/>
            <a:ext cx="16770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Pages 메뉴 선택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814546" y="3763216"/>
            <a:ext cx="567087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좌측 사이드바 메뉴 중 'Code and automation' 아래의 'Pages'를 선택합니다.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758619" y="4482849"/>
            <a:ext cx="8635341" cy="905256"/>
          </a:xfrm>
          <a:prstGeom prst="roundRect">
            <a:avLst>
              <a:gd name="adj" fmla="val 17012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758619" y="4482849"/>
            <a:ext cx="57607" cy="905256"/>
          </a:xfrm>
          <a:prstGeom prst="roundRect">
            <a:avLst>
              <a:gd name="adj" fmla="val 26733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996717" y="4806546"/>
            <a:ext cx="16770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&amp; Deploy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14546" y="4781858"/>
            <a:ext cx="567087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Source를 'Deploy from a branch'로, Branch를 'main' / '/ (root)'로 설정합니다.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758619" y="5501490"/>
            <a:ext cx="8635341" cy="705002"/>
          </a:xfrm>
          <a:prstGeom prst="roundRect">
            <a:avLst>
              <a:gd name="adj" fmla="val 28044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1758619" y="5501490"/>
            <a:ext cx="57607" cy="705002"/>
          </a:xfrm>
          <a:prstGeom prst="roundRect">
            <a:avLst>
              <a:gd name="adj" fmla="val 343202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2996717" y="5725518"/>
            <a:ext cx="16770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Save &amp; 확인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814545" y="5801414"/>
            <a:ext cx="606440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'Save' 클릭 후 상단에 생성되는 배포 URL(github.io)을 확인합니다.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787422" y="2148386"/>
            <a:ext cx="194767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설정 가이드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998192" y="2891793"/>
            <a:ext cx="857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01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998192" y="3810765"/>
            <a:ext cx="857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02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998192" y="4830321"/>
            <a:ext cx="857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03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998192" y="5749293"/>
            <a:ext cx="857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04</a:t>
            </a:r>
            <a:endParaRPr lang="en-US" sz="1500" dirty="0"/>
          </a:p>
        </p:txBody>
      </p:sp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592530" y="619963"/>
            <a:ext cx="3851682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DEPLOYMENT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VERIFICATION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30935" y="2617664"/>
            <a:ext cx="38405" cy="8577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30174" y="2738889"/>
            <a:ext cx="33147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후 성공적인 서비스를 위해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반드시 확인해야 할 체크리스트입니다.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3680" b="3680"/>
          <a:stretch/>
        </p:blipFill>
        <p:spPr>
          <a:xfrm>
            <a:off x="563270" y="4057193"/>
            <a:ext cx="3467405" cy="2286000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8F4315E5-80DB-A686-E127-E46F961DEDB5}"/>
              </a:ext>
            </a:extLst>
          </p:cNvPr>
          <p:cNvGrpSpPr/>
          <p:nvPr/>
        </p:nvGrpSpPr>
        <p:grpSpPr>
          <a:xfrm>
            <a:off x="4592881" y="1493603"/>
            <a:ext cx="7136891" cy="5030316"/>
            <a:chOff x="4450385" y="514807"/>
            <a:chExt cx="7136891" cy="5828386"/>
          </a:xfrm>
        </p:grpSpPr>
        <p:sp>
          <p:nvSpPr>
            <p:cNvPr id="9" name="Shape 6"/>
            <p:cNvSpPr/>
            <p:nvPr/>
          </p:nvSpPr>
          <p:spPr>
            <a:xfrm>
              <a:off x="4450385" y="514807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4688129" y="724205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3600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410962" y="1202894"/>
              <a:ext cx="171907" cy="171907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5682618" y="1146201"/>
              <a:ext cx="1397203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URL 접속 확인</a:t>
              </a:r>
              <a:endParaRPr lang="en-US" sz="15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4771551" y="1568653"/>
              <a:ext cx="293084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제공된 GitHub Pages URL(username.github.io/repo)로 접속하여 페이지가 정상 로드되는지 확인하세요.</a:t>
              </a:r>
              <a:endParaRPr lang="en-US" sz="12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8129930" y="514807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 txBox="1"/>
            <p:nvPr/>
          </p:nvSpPr>
          <p:spPr>
            <a:xfrm>
              <a:off x="8368589" y="724205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3600" dirty="0"/>
            </a:p>
          </p:txBody>
        </p:sp>
        <p:pic>
          <p:nvPicPr>
            <p:cNvPr id="16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091422" y="1202894"/>
              <a:ext cx="171907" cy="171907"/>
            </a:xfrm>
            <a:prstGeom prst="rect">
              <a:avLst/>
            </a:prstGeom>
          </p:spPr>
        </p:pic>
        <p:sp>
          <p:nvSpPr>
            <p:cNvPr id="17" name="Text 12"/>
            <p:cNvSpPr txBox="1"/>
            <p:nvPr/>
          </p:nvSpPr>
          <p:spPr>
            <a:xfrm>
              <a:off x="9363078" y="1146201"/>
              <a:ext cx="1471270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빌드 상태 체크</a:t>
              </a:r>
              <a:endParaRPr lang="en-US" sz="15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8452011" y="1568653"/>
              <a:ext cx="293084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GitHub Repository의 Actions 탭에서 배포 워크플로우가 초록색(Success)인지 반드시 확인해야 합니다.</a:t>
              </a:r>
              <a:endParaRPr lang="en-US" sz="12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4450385" y="2795321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4688129" y="3004718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36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5410962" y="3484322"/>
              <a:ext cx="171907" cy="171907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5682618" y="3427629"/>
              <a:ext cx="1348740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강력 새로고침</a:t>
              </a:r>
              <a:endParaRPr lang="en-US" sz="15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4771551" y="3850081"/>
              <a:ext cx="293084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이전 버전 캐시를 무시하기 위해 Windows(Ctrl+F5) 또는 Mac(Cmd+Shift+R)으로 강력 새로고침하세요.</a:t>
              </a:r>
              <a:endParaRPr lang="en-US" sz="1200" dirty="0"/>
            </a:p>
          </p:txBody>
        </p:sp>
        <p:sp>
          <p:nvSpPr>
            <p:cNvPr id="24" name="Shape 18"/>
            <p:cNvSpPr/>
            <p:nvPr/>
          </p:nvSpPr>
          <p:spPr>
            <a:xfrm>
              <a:off x="8129930" y="2795321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8368589" y="3004718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04</a:t>
              </a:r>
              <a:endParaRPr lang="en-US" sz="3600" dirty="0"/>
            </a:p>
          </p:txBody>
        </p:sp>
        <p:pic>
          <p:nvPicPr>
            <p:cNvPr id="26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9091422" y="3484322"/>
              <a:ext cx="171907" cy="171907"/>
            </a:xfrm>
            <a:prstGeom prst="rect">
              <a:avLst/>
            </a:prstGeom>
          </p:spPr>
        </p:pic>
        <p:sp>
          <p:nvSpPr>
            <p:cNvPr id="27" name="Text 20"/>
            <p:cNvSpPr txBox="1"/>
            <p:nvPr/>
          </p:nvSpPr>
          <p:spPr>
            <a:xfrm>
              <a:off x="9363078" y="3427629"/>
              <a:ext cx="1394460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404 에러 대처</a:t>
              </a:r>
              <a:endParaRPr lang="en-US" sz="1500" dirty="0"/>
            </a:p>
          </p:txBody>
        </p:sp>
        <p:sp>
          <p:nvSpPr>
            <p:cNvPr id="28" name="Text 21"/>
            <p:cNvSpPr txBox="1"/>
            <p:nvPr/>
          </p:nvSpPr>
          <p:spPr>
            <a:xfrm>
              <a:off x="8452011" y="3850081"/>
              <a:ext cx="293084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404 발생 시 Settings &gt; Pages의 브랜치 설정을 확인하거나 루트 경로의 index.html 존재 여부를 체크하세요.</a:t>
              </a:r>
              <a:endParaRPr lang="en-US" sz="1200" dirty="0"/>
            </a:p>
          </p:txBody>
        </p:sp>
        <p:sp>
          <p:nvSpPr>
            <p:cNvPr id="29" name="Shape 22"/>
            <p:cNvSpPr/>
            <p:nvPr/>
          </p:nvSpPr>
          <p:spPr>
            <a:xfrm>
              <a:off x="4450385" y="5076749"/>
              <a:ext cx="7134149" cy="1266444"/>
            </a:xfrm>
            <a:prstGeom prst="roundRect">
              <a:avLst>
                <a:gd name="adj" fmla="val 10857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3"/>
            <p:cNvSpPr txBox="1"/>
            <p:nvPr/>
          </p:nvSpPr>
          <p:spPr>
            <a:xfrm>
              <a:off x="4688129" y="5367528"/>
              <a:ext cx="811073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05</a:t>
              </a:r>
              <a:endParaRPr lang="en-US" sz="3600" dirty="0"/>
            </a:p>
          </p:txBody>
        </p:sp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5380615" y="5321422"/>
              <a:ext cx="171907" cy="171907"/>
            </a:xfrm>
            <a:prstGeom prst="rect">
              <a:avLst/>
            </a:prstGeom>
          </p:spPr>
        </p:pic>
        <p:sp>
          <p:nvSpPr>
            <p:cNvPr id="32" name="Text 24"/>
            <p:cNvSpPr txBox="1"/>
            <p:nvPr/>
          </p:nvSpPr>
          <p:spPr>
            <a:xfrm>
              <a:off x="5653185" y="5264729"/>
              <a:ext cx="3554273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캐시 지연 인지 (Delay Awareness)</a:t>
              </a:r>
              <a:endParaRPr lang="en-US" sz="15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380615" y="5625917"/>
              <a:ext cx="574426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GitHub Pages는 배포 완료 후 실제 반영까지 1~10분 정도 소요될 수 있습니다.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설정이</a:t>
              </a:r>
              <a:r>
                <a:rPr lang="en-US" sz="12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올바르다면 당황하지 말고 잠시 기다린 후 다시 접속해보세요.</a:t>
              </a:r>
              <a:endParaRPr lang="en-US" sz="1200" dirty="0"/>
            </a:p>
          </p:txBody>
        </p:sp>
      </p:grp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4318711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Custom 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Domain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09905" y="1310335"/>
            <a:ext cx="381305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616304" y="1535544"/>
            <a:ext cx="41916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 도메인 연결 및 HTTPS 설정 프로세스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02" b="-402"/>
          <a:stretch/>
        </p:blipFill>
        <p:spPr>
          <a:xfrm>
            <a:off x="1022298" y="3597817"/>
            <a:ext cx="10019995" cy="19202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736091" y="3157076"/>
            <a:ext cx="2476195" cy="2540203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45235" y="5069433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6"/>
          <p:cNvSpPr txBox="1"/>
          <p:nvPr/>
        </p:nvSpPr>
        <p:spPr>
          <a:xfrm>
            <a:off x="910423" y="3941254"/>
            <a:ext cx="21598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DNS 레코드 설정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00683" y="4385919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도메인 관리 페이지에서</a:t>
            </a: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A/CNAME 레코드 추가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745235" y="5071262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3" name="Shape 9"/>
          <p:cNvSpPr/>
          <p:nvPr/>
        </p:nvSpPr>
        <p:spPr>
          <a:xfrm>
            <a:off x="897940" y="522396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4" name="Shape 10"/>
          <p:cNvSpPr/>
          <p:nvPr/>
        </p:nvSpPr>
        <p:spPr>
          <a:xfrm>
            <a:off x="1031442" y="522396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1"/>
          <p:cNvSpPr/>
          <p:nvPr/>
        </p:nvSpPr>
        <p:spPr>
          <a:xfrm>
            <a:off x="1164945" y="522396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840686" y="3437797"/>
            <a:ext cx="267005" cy="2670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7940" y="5414162"/>
            <a:ext cx="94091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Type Name Value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897940" y="5571438"/>
            <a:ext cx="87325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9E0B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A @ 185.199...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897940" y="5728715"/>
            <a:ext cx="1496873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CNAME www user.github.io</a:t>
            </a:r>
            <a:endParaRPr lang="en-US" sz="10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688896" y="2356976"/>
            <a:ext cx="571500" cy="5715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911095" y="2471276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3292753" y="3514607"/>
            <a:ext cx="123444" cy="190195"/>
          </a:xfrm>
          <a:prstGeom prst="rect">
            <a:avLst/>
          </a:prstGeom>
        </p:spPr>
      </p:pic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3440886" y="3157076"/>
            <a:ext cx="2476195" cy="2540203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450945" y="5069433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5" name="Text 17"/>
          <p:cNvSpPr txBox="1"/>
          <p:nvPr/>
        </p:nvSpPr>
        <p:spPr>
          <a:xfrm>
            <a:off x="3616133" y="3941254"/>
            <a:ext cx="21598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Pages 설정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3605478" y="4385919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Settings &gt; Pages 메뉴</a:t>
            </a: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도메인 입력 및 저장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3450945" y="5071262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Shape 20"/>
          <p:cNvSpPr/>
          <p:nvPr/>
        </p:nvSpPr>
        <p:spPr>
          <a:xfrm>
            <a:off x="3602735" y="522396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9" name="Shape 21"/>
          <p:cNvSpPr/>
          <p:nvPr/>
        </p:nvSpPr>
        <p:spPr>
          <a:xfrm>
            <a:off x="3736237" y="522396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0" name="Shape 22"/>
          <p:cNvSpPr/>
          <p:nvPr/>
        </p:nvSpPr>
        <p:spPr>
          <a:xfrm>
            <a:off x="3869740" y="522396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8"/>
          <a:srcRect t="-334" b="-334"/>
          <a:stretch/>
        </p:blipFill>
        <p:spPr>
          <a:xfrm>
            <a:off x="4550968" y="3437797"/>
            <a:ext cx="256946" cy="267005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3602735" y="5414162"/>
            <a:ext cx="81655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Custom domain</a:t>
            </a:r>
            <a:endParaRPr lang="en-US" sz="1000" dirty="0"/>
          </a:p>
        </p:txBody>
      </p:sp>
      <p:sp>
        <p:nvSpPr>
          <p:cNvPr id="33" name="Text 24"/>
          <p:cNvSpPr txBox="1"/>
          <p:nvPr/>
        </p:nvSpPr>
        <p:spPr>
          <a:xfrm>
            <a:off x="3602735" y="5571438"/>
            <a:ext cx="1190549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[ myportfolio.com ]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3602735" y="5728715"/>
            <a:ext cx="13149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[ Save ] Button Click</a:t>
            </a:r>
            <a:endParaRPr lang="en-US" sz="1000" dirty="0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393691" y="2356976"/>
            <a:ext cx="571500" cy="5715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4615890" y="2471276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5998463" y="3514607"/>
            <a:ext cx="123444" cy="190195"/>
          </a:xfrm>
          <a:prstGeom prst="rect">
            <a:avLst/>
          </a:prstGeom>
        </p:spPr>
      </p:pic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6146596" y="3157076"/>
            <a:ext cx="2476195" cy="2540203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6155740" y="5069433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0" name="Text 28"/>
          <p:cNvSpPr txBox="1"/>
          <p:nvPr/>
        </p:nvSpPr>
        <p:spPr>
          <a:xfrm>
            <a:off x="6320928" y="3941254"/>
            <a:ext cx="21598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DNS 연결 확인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6311188" y="4385919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터미널 dig 명령어로</a:t>
            </a: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 연결 상태 확인</a:t>
            </a:r>
            <a:endParaRPr lang="en-US" sz="1050" dirty="0"/>
          </a:p>
        </p:txBody>
      </p:sp>
      <p:sp>
        <p:nvSpPr>
          <p:cNvPr id="42" name="Shape 30"/>
          <p:cNvSpPr/>
          <p:nvPr/>
        </p:nvSpPr>
        <p:spPr>
          <a:xfrm>
            <a:off x="6155740" y="5071262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3" name="Shape 31"/>
          <p:cNvSpPr/>
          <p:nvPr/>
        </p:nvSpPr>
        <p:spPr>
          <a:xfrm>
            <a:off x="6308445" y="522396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4" name="Shape 32"/>
          <p:cNvSpPr/>
          <p:nvPr/>
        </p:nvSpPr>
        <p:spPr>
          <a:xfrm>
            <a:off x="6441947" y="522396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Shape 33"/>
          <p:cNvSpPr/>
          <p:nvPr/>
        </p:nvSpPr>
        <p:spPr>
          <a:xfrm>
            <a:off x="6574535" y="522396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251191" y="3437797"/>
            <a:ext cx="267005" cy="267005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308445" y="5414162"/>
            <a:ext cx="143561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7C93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➜</a:t>
            </a:r>
            <a:endParaRPr lang="en-US" sz="1000" dirty="0"/>
          </a:p>
        </p:txBody>
      </p:sp>
      <p:sp>
        <p:nvSpPr>
          <p:cNvPr id="48" name="Text 35"/>
          <p:cNvSpPr txBox="1"/>
          <p:nvPr/>
        </p:nvSpPr>
        <p:spPr>
          <a:xfrm>
            <a:off x="6428231" y="5414162"/>
            <a:ext cx="119695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dig myportfolio.com</a:t>
            </a:r>
            <a:endParaRPr lang="en-US" sz="1000" dirty="0"/>
          </a:p>
        </p:txBody>
      </p:sp>
      <p:sp>
        <p:nvSpPr>
          <p:cNvPr id="49" name="Text 36"/>
          <p:cNvSpPr txBox="1"/>
          <p:nvPr/>
        </p:nvSpPr>
        <p:spPr>
          <a:xfrm>
            <a:off x="6308445" y="5571438"/>
            <a:ext cx="23865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...</a:t>
            </a:r>
            <a:endParaRPr lang="en-US" sz="1000" dirty="0"/>
          </a:p>
        </p:txBody>
      </p:sp>
      <p:sp>
        <p:nvSpPr>
          <p:cNvPr id="50" name="Text 37"/>
          <p:cNvSpPr txBox="1"/>
          <p:nvPr/>
        </p:nvSpPr>
        <p:spPr>
          <a:xfrm>
            <a:off x="6308445" y="5728715"/>
            <a:ext cx="940918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185.199.108.153</a:t>
            </a:r>
            <a:endParaRPr lang="en-US" sz="10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98486" y="2356976"/>
            <a:ext cx="571500" cy="571500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320685" y="2471276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7"/>
          <a:srcRect l="-1923" r="-1923"/>
          <a:stretch/>
        </p:blipFill>
        <p:spPr>
          <a:xfrm>
            <a:off x="8703258" y="3514607"/>
            <a:ext cx="123444" cy="190195"/>
          </a:xfrm>
          <a:prstGeom prst="rect">
            <a:avLst/>
          </a:prstGeom>
        </p:spPr>
      </p:pic>
      <p:pic>
        <p:nvPicPr>
          <p:cNvPr id="54" name="Image 13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8851391" y="3157076"/>
            <a:ext cx="2476195" cy="2540203"/>
          </a:xfrm>
          <a:prstGeom prst="rect">
            <a:avLst/>
          </a:prstGeom>
        </p:spPr>
      </p:pic>
      <p:sp>
        <p:nvSpPr>
          <p:cNvPr id="55" name="Shape 39"/>
          <p:cNvSpPr/>
          <p:nvPr/>
        </p:nvSpPr>
        <p:spPr>
          <a:xfrm>
            <a:off x="8860535" y="5069433"/>
            <a:ext cx="2457907" cy="9144"/>
          </a:xfrm>
          <a:prstGeom prst="roundRect">
            <a:avLst>
              <a:gd name="adj" fmla="val 963855"/>
            </a:avLst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6" name="Text 40"/>
          <p:cNvSpPr txBox="1"/>
          <p:nvPr/>
        </p:nvSpPr>
        <p:spPr>
          <a:xfrm>
            <a:off x="9025723" y="3941254"/>
            <a:ext cx="21598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 활성화</a:t>
            </a:r>
            <a:endParaRPr lang="en-US" sz="1300" dirty="0"/>
          </a:p>
        </p:txBody>
      </p:sp>
      <p:sp>
        <p:nvSpPr>
          <p:cNvPr id="57" name="Text 41"/>
          <p:cNvSpPr txBox="1"/>
          <p:nvPr/>
        </p:nvSpPr>
        <p:spPr>
          <a:xfrm>
            <a:off x="9015983" y="4385919"/>
            <a:ext cx="21534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DNS 인증 완료 후</a:t>
            </a:r>
            <a:endParaRPr lang="en-US" sz="105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접속 강제 설정</a:t>
            </a:r>
            <a:endParaRPr lang="en-US" sz="1050" dirty="0"/>
          </a:p>
        </p:txBody>
      </p:sp>
      <p:sp>
        <p:nvSpPr>
          <p:cNvPr id="58" name="Shape 42"/>
          <p:cNvSpPr/>
          <p:nvPr/>
        </p:nvSpPr>
        <p:spPr>
          <a:xfrm>
            <a:off x="8860535" y="5071262"/>
            <a:ext cx="2457907" cy="952805"/>
          </a:xfrm>
          <a:prstGeom prst="roundRect">
            <a:avLst>
              <a:gd name="adj" fmla="val 15355"/>
            </a:avLst>
          </a:prstGeom>
          <a:solidFill>
            <a:srgbClr val="1E1E1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59" name="Shape 43"/>
          <p:cNvSpPr/>
          <p:nvPr/>
        </p:nvSpPr>
        <p:spPr>
          <a:xfrm>
            <a:off x="9013240" y="5223966"/>
            <a:ext cx="75895" cy="75895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0" name="Shape 44"/>
          <p:cNvSpPr/>
          <p:nvPr/>
        </p:nvSpPr>
        <p:spPr>
          <a:xfrm>
            <a:off x="9146742" y="5223966"/>
            <a:ext cx="75895" cy="75895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1" name="Shape 45"/>
          <p:cNvSpPr/>
          <p:nvPr/>
        </p:nvSpPr>
        <p:spPr>
          <a:xfrm>
            <a:off x="9280245" y="5223966"/>
            <a:ext cx="75895" cy="75895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pic>
        <p:nvPicPr>
          <p:cNvPr id="62" name="Image 14" descr="preencoded.png"/>
          <p:cNvPicPr>
            <a:picLocks noChangeAspect="1"/>
          </p:cNvPicPr>
          <p:nvPr/>
        </p:nvPicPr>
        <p:blipFill>
          <a:blip r:embed="rId10"/>
          <a:srcRect l="-881" r="-881"/>
          <a:stretch/>
        </p:blipFill>
        <p:spPr>
          <a:xfrm>
            <a:off x="9970617" y="3437797"/>
            <a:ext cx="237744" cy="267005"/>
          </a:xfrm>
          <a:prstGeom prst="rect">
            <a:avLst/>
          </a:prstGeom>
        </p:spPr>
      </p:pic>
      <p:sp>
        <p:nvSpPr>
          <p:cNvPr id="63" name="Text 46"/>
          <p:cNvSpPr txBox="1"/>
          <p:nvPr/>
        </p:nvSpPr>
        <p:spPr>
          <a:xfrm>
            <a:off x="9013240" y="5414162"/>
            <a:ext cx="1314907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DNS check successful.</a:t>
            </a:r>
            <a:endParaRPr lang="en-US" sz="1000" dirty="0"/>
          </a:p>
        </p:txBody>
      </p:sp>
      <p:sp>
        <p:nvSpPr>
          <p:cNvPr id="64" name="Text 47"/>
          <p:cNvSpPr txBox="1"/>
          <p:nvPr/>
        </p:nvSpPr>
        <p:spPr>
          <a:xfrm>
            <a:off x="9013240" y="5571438"/>
            <a:ext cx="1066190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[x] Enforce HTTPS</a:t>
            </a:r>
            <a:endParaRPr lang="en-US" sz="1000" dirty="0"/>
          </a:p>
        </p:txBody>
      </p:sp>
      <p:sp>
        <p:nvSpPr>
          <p:cNvPr id="65" name="Text 48"/>
          <p:cNvSpPr txBox="1"/>
          <p:nvPr/>
        </p:nvSpPr>
        <p:spPr>
          <a:xfrm>
            <a:off x="9013240" y="5728715"/>
            <a:ext cx="873252" cy="105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0B981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Status: Active</a:t>
            </a:r>
            <a:endParaRPr lang="en-US" sz="1000" dirty="0"/>
          </a:p>
        </p:txBody>
      </p:sp>
      <p:pic>
        <p:nvPicPr>
          <p:cNvPr id="66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804196" y="2356976"/>
            <a:ext cx="571500" cy="571500"/>
          </a:xfrm>
          <a:prstGeom prst="rect">
            <a:avLst/>
          </a:prstGeom>
        </p:spPr>
      </p:pic>
      <p:sp>
        <p:nvSpPr>
          <p:cNvPr id="67" name="Text 49"/>
          <p:cNvSpPr txBox="1"/>
          <p:nvPr/>
        </p:nvSpPr>
        <p:spPr>
          <a:xfrm>
            <a:off x="10026395" y="2471276"/>
            <a:ext cx="2103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6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788213"/>
            <a:ext cx="6305702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AUTOMATED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DEPLOYMENT 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861575" y="2568080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56265" y="2510473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gh-pages 패키지 활용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56265" y="281954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npm 스크립트에 deploy 명령어를 추가하여,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4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터미널</a:t>
            </a: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명령어 하나로 빌드부터 gh-pages 브랜치 </a:t>
            </a:r>
            <a:r>
              <a:rPr lang="en-US" sz="14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배포까지</a:t>
            </a: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번에 처리하는 방법입니다.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861575" y="3695535"/>
            <a:ext cx="6126480" cy="91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575" y="3914991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356265" y="3857384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 워크플로우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356265" y="4166451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.github/workflows 폴더에 설정 파일을 추가하여,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4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코드를</a:t>
            </a: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푸시할 때마다 클라우드 상에서 </a:t>
            </a:r>
            <a:r>
              <a:rPr lang="en-US" sz="14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자동으로</a:t>
            </a: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4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빌드와</a:t>
            </a: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배포가 수행되도록 설정합니다.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861575" y="5042446"/>
            <a:ext cx="6126480" cy="91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61575" y="5261902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1356265" y="5204295"/>
            <a:ext cx="5829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 머지 시 자동 빌드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1356265" y="5513362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시 유용한 기능으로, Pull Request가 Main </a:t>
            </a:r>
            <a:r>
              <a:rPr lang="en-US" sz="14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브랜치에</a:t>
            </a: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700"/>
              </a:lnSpc>
              <a:buNone/>
            </a:pPr>
            <a:r>
              <a:rPr lang="en-US" sz="14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병합</a:t>
            </a:r>
            <a:r>
              <a:rPr lang="en-US" sz="14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(Merge)되는 순간 최신 버전이 라이브 서버에 즉시 반영됩니다.</a:t>
            </a:r>
            <a:endParaRPr lang="en-US" sz="1400" dirty="0"/>
          </a:p>
        </p:txBody>
      </p:sp>
      <p:pic>
        <p:nvPicPr>
          <p:cNvPr id="18" name="그림 17" descr="텍스트, 스크린샷, 소프트웨어, 웹사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E2F95C-5D6A-CA96-4290-6CA2BCC75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5565" y="746255"/>
            <a:ext cx="4571337" cy="5674763"/>
          </a:xfrm>
          <a:prstGeom prst="rect">
            <a:avLst/>
          </a:prstGeom>
        </p:spPr>
      </p:pic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1004187" y="975224"/>
            <a:ext cx="1133856" cy="286207"/>
          </a:xfrm>
          <a:prstGeom prst="roundRect">
            <a:avLst>
              <a:gd name="adj" fmla="val 319489"/>
            </a:avLst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1166036" y="1041975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SECTION 08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4187" y="1489117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LEVEL</a:t>
            </a:r>
            <a:endParaRPr lang="en-US" sz="8200" dirty="0"/>
          </a:p>
        </p:txBody>
      </p:sp>
      <p:sp>
        <p:nvSpPr>
          <p:cNvPr id="7" name="Text 5"/>
          <p:cNvSpPr txBox="1"/>
          <p:nvPr/>
        </p:nvSpPr>
        <p:spPr>
          <a:xfrm>
            <a:off x="1004187" y="2508673"/>
            <a:ext cx="5372100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UP</a:t>
            </a:r>
            <a:endParaRPr lang="en-US" sz="8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0297" y="5175143"/>
            <a:ext cx="6071926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6386" y="5403743"/>
            <a:ext cx="558120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애니메이션, 인터랙션, 다크모드, 필터링,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SEO 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최적화까지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  <a:r>
              <a:rPr lang="en-US" sz="13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포트폴리오의</a:t>
            </a:r>
            <a:r>
              <a:rPr lang="en-US" sz="13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완성도를 전문가 수준으로 높입니다. 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877537" y="5300366"/>
            <a:ext cx="5461293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0" b="1" kern="0" spc="-1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SKILLS</a:t>
            </a:r>
            <a:endParaRPr lang="en-US" sz="82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4"/>
          <a:srcRect t="33986" b="33986"/>
          <a:stretch/>
        </p:blipFill>
        <p:spPr>
          <a:xfrm>
            <a:off x="6057900" y="934732"/>
            <a:ext cx="5461293" cy="3293319"/>
          </a:xfrm>
          <a:prstGeom prst="rect">
            <a:avLst/>
          </a:prstGeom>
        </p:spPr>
      </p:pic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18955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ADVANCED CSS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741761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CSS 애니메이션 - Fade-in 효과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6"/>
            <a:ext cx="3715207" cy="2966314"/>
          </a:xfrm>
          <a:prstGeom prst="roundRect">
            <a:avLst>
              <a:gd name="adj" fmla="val 153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753155" y="1976285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48252" y="2062239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7649" y="2467242"/>
            <a:ext cx="3230575" cy="186263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667495"/>
            <a:ext cx="288676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"웹사이트 로딩 시 요소들이 부드럽게 나타나도록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370229" y="298479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Fade-in 애니메이션 CSS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996946" y="2984792"/>
            <a:ext cx="978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작성해줘.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3399015"/>
            <a:ext cx="285750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재사용 가능한 유틸리티 클래스 형태로 만들고, 자연스러운 움직임을 위해 transform 속성을 함께 사용해줘."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09905" y="4922216"/>
            <a:ext cx="3715207" cy="1251998"/>
          </a:xfrm>
          <a:prstGeom prst="roundRect">
            <a:avLst>
              <a:gd name="adj" fmla="val 551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609905" y="4922216"/>
            <a:ext cx="38405" cy="1251998"/>
          </a:xfrm>
          <a:prstGeom prst="roundRect">
            <a:avLst>
              <a:gd name="adj" fmla="val 16142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100524"/>
            <a:ext cx="105156" cy="1335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81151" y="5094123"/>
            <a:ext cx="14100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PERFORMANCE TIP</a:t>
            </a:r>
            <a:endParaRPr lang="en-US" sz="1000" dirty="0"/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A9A46B27-4CBC-3BA1-8909-6DF1F9F3D25E}"/>
              </a:ext>
            </a:extLst>
          </p:cNvPr>
          <p:cNvGrpSpPr/>
          <p:nvPr/>
        </p:nvGrpSpPr>
        <p:grpSpPr>
          <a:xfrm>
            <a:off x="838505" y="5341011"/>
            <a:ext cx="3363163" cy="758496"/>
            <a:chOff x="838505" y="5697626"/>
            <a:chExt cx="3363163" cy="758496"/>
          </a:xfrm>
        </p:grpSpPr>
        <p:sp>
          <p:nvSpPr>
            <p:cNvPr id="20" name="Text 14"/>
            <p:cNvSpPr txBox="1"/>
            <p:nvPr/>
          </p:nvSpPr>
          <p:spPr>
            <a:xfrm>
              <a:off x="838505" y="5697626"/>
              <a:ext cx="638251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4B5563"/>
                  </a:solidFill>
                  <a:latin typeface="ui-monospace" pitchFamily="34" charset="0"/>
                  <a:ea typeface="ui-monospace" pitchFamily="34" charset="-122"/>
                  <a:cs typeface="ui-monospace" pitchFamily="34" charset="-120"/>
                </a:rPr>
                <a:t>opacity</a:t>
              </a:r>
              <a:endParaRPr lang="en-US" sz="1050" dirty="0"/>
            </a:p>
          </p:txBody>
        </p:sp>
        <p:sp>
          <p:nvSpPr>
            <p:cNvPr id="21" name="Text 15"/>
            <p:cNvSpPr txBox="1"/>
            <p:nvPr/>
          </p:nvSpPr>
          <p:spPr>
            <a:xfrm>
              <a:off x="1315365" y="5697626"/>
              <a:ext cx="2386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와</a:t>
              </a:r>
              <a:endParaRPr lang="en-US" sz="1050" dirty="0"/>
            </a:p>
          </p:txBody>
        </p:sp>
        <p:sp>
          <p:nvSpPr>
            <p:cNvPr id="22" name="Text 16"/>
            <p:cNvSpPr txBox="1"/>
            <p:nvPr/>
          </p:nvSpPr>
          <p:spPr>
            <a:xfrm>
              <a:off x="1558138" y="5697626"/>
              <a:ext cx="800100" cy="1527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4B5563"/>
                  </a:solidFill>
                  <a:latin typeface="ui-monospace" pitchFamily="34" charset="0"/>
                  <a:ea typeface="ui-monospace" pitchFamily="34" charset="-122"/>
                  <a:cs typeface="ui-monospace" pitchFamily="34" charset="-120"/>
                </a:rPr>
                <a:t>transform</a:t>
              </a:r>
              <a:endParaRPr lang="en-US" sz="105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838505" y="5865420"/>
              <a:ext cx="3363163" cy="5907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속성만 애니메이션화하면 브라우저의 리플로우(Reflow)를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50" dirty="0" err="1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방지하여</a:t>
              </a:r>
              <a:r>
                <a:rPr lang="en-US" sz="105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렌더링 성능을 최적화할 수 있습니다.</a:t>
              </a:r>
              <a:endParaRPr lang="en-US" sz="1050" dirty="0"/>
            </a:p>
          </p:txBody>
        </p:sp>
      </p:grp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945075" y="1684325"/>
            <a:ext cx="235915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(STYLE.CSS)</a:t>
            </a:r>
            <a:endParaRPr lang="en-US" sz="100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402836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5535778" y="214152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style.css</a:t>
            </a:r>
            <a:endParaRPr lang="en-US" sz="900" dirty="0"/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7C14954D-72F6-6C5E-1F76-3B62DE2EAA96}"/>
              </a:ext>
            </a:extLst>
          </p:cNvPr>
          <p:cNvGrpSpPr/>
          <p:nvPr/>
        </p:nvGrpSpPr>
        <p:grpSpPr>
          <a:xfrm>
            <a:off x="5154473" y="2603298"/>
            <a:ext cx="2764686" cy="3478720"/>
            <a:chOff x="4869180" y="2603297"/>
            <a:chExt cx="2586838" cy="3591763"/>
          </a:xfrm>
        </p:grpSpPr>
        <p:sp>
          <p:nvSpPr>
            <p:cNvPr id="32" name="Text 24"/>
            <p:cNvSpPr txBox="1"/>
            <p:nvPr/>
          </p:nvSpPr>
          <p:spPr>
            <a:xfrm>
              <a:off x="4869180" y="2603297"/>
              <a:ext cx="213603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1. 애니메이션 키프레임 정의 */</a:t>
              </a:r>
              <a:endParaRPr lang="en-US" sz="105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4869180" y="2776118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@keyframes</a:t>
              </a:r>
              <a:endParaRPr lang="en-US" sz="105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5488229" y="2776118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fadeIn</a:t>
              </a:r>
              <a:endParaRPr lang="en-US" sz="105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5859475" y="2776118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021885" y="2949854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from</a:t>
              </a:r>
              <a:endParaRPr lang="en-US" sz="105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268773" y="294985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5173675" y="3123590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opacity</a:t>
              </a:r>
              <a:endParaRPr lang="en-US" sz="105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5607101" y="3123590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5731459" y="312359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</a:t>
              </a:r>
              <a:endParaRPr lang="en-US" sz="105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792724" y="312359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05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5173675" y="3296412"/>
              <a:ext cx="66934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transform</a:t>
              </a:r>
              <a:endParaRPr lang="en-US" sz="105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731459" y="3296412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854903" y="3296412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translateY</a:t>
              </a:r>
              <a:endParaRPr lang="en-US" sz="105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6473952" y="3296412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6536131" y="3296412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20px</a:t>
              </a:r>
              <a:endParaRPr lang="en-US" sz="105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6783934" y="3296412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5021885" y="3470148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05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5021885" y="364388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to</a:t>
              </a:r>
              <a:endParaRPr lang="en-US" sz="105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5145329" y="364388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5173675" y="3816706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opacity</a:t>
              </a:r>
              <a:endParaRPr lang="en-US" sz="105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5607101" y="3816706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5731459" y="381670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1</a:t>
              </a:r>
              <a:endParaRPr lang="en-US" sz="105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5792724" y="381670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05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5173675" y="3990442"/>
              <a:ext cx="66934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transform</a:t>
              </a:r>
              <a:endParaRPr lang="en-US" sz="105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5731459" y="3990442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5854903" y="3990442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translateY</a:t>
              </a:r>
              <a:endParaRPr lang="en-US" sz="105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6473952" y="3990442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6536131" y="3990442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</a:t>
              </a:r>
              <a:endParaRPr lang="en-US" sz="105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6597396" y="3990442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5021885" y="4163263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05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4869180" y="4336999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05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4869180" y="4683557"/>
              <a:ext cx="189646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2. 유틸리티 클래스 생성 */</a:t>
              </a:r>
              <a:endParaRPr lang="en-US" sz="105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4869180" y="4857293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.fade-in</a:t>
              </a:r>
              <a:endParaRPr lang="en-US" sz="105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5364785" y="4857293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5021885" y="5030114"/>
              <a:ext cx="52029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opacity</a:t>
              </a:r>
              <a:endParaRPr lang="en-US" sz="105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5454396" y="503011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5578754" y="5030114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</a:t>
              </a:r>
              <a:endParaRPr lang="en-US" sz="105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5640934" y="5030114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05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5764378" y="5030114"/>
              <a:ext cx="16294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로딩 전 깜빡임 방지 */</a:t>
              </a:r>
              <a:endParaRPr lang="en-US" sz="105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5021885" y="5203850"/>
              <a:ext cx="66934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animation</a:t>
              </a:r>
              <a:endParaRPr lang="en-US" sz="105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5578754" y="5203850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5702198" y="5203850"/>
              <a:ext cx="44805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fadeIn</a:t>
              </a:r>
              <a:endParaRPr lang="en-US" sz="105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6074359" y="5203850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0.6s</a:t>
              </a:r>
              <a:endParaRPr lang="en-US" sz="105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6321247" y="5203850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ease-out</a:t>
              </a:r>
              <a:endParaRPr lang="en-US" sz="105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6816852" y="5203850"/>
              <a:ext cx="589788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forwards</a:t>
              </a:r>
              <a:endParaRPr lang="en-US" sz="105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7312457" y="5203850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05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4869180" y="5377586"/>
              <a:ext cx="143561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05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4869180" y="5724144"/>
              <a:ext cx="2553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3. 순차적 등장 딜레이 (선택 사항) */</a:t>
              </a:r>
              <a:endParaRPr lang="en-US" sz="105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4869180" y="5896966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.delay-100</a:t>
              </a:r>
              <a:endParaRPr lang="en-US" sz="1050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5488229" y="5896966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5673852" y="5896966"/>
              <a:ext cx="111099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animation-delay</a:t>
              </a:r>
              <a:endParaRPr lang="en-US" sz="1050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6602882" y="5896966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6726326" y="5896966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0.1s</a:t>
              </a:r>
              <a:endParaRPr lang="en-US" sz="1050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6974129" y="5896966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 }</a:t>
              </a:r>
              <a:endParaRPr lang="en-US" sz="1050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4869180" y="6070702"/>
              <a:ext cx="73700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569CD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.delay-200</a:t>
              </a:r>
              <a:endParaRPr lang="en-US" sz="1050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5488229" y="6070702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88" name="Text 80"/>
            <p:cNvSpPr txBox="1"/>
            <p:nvPr/>
          </p:nvSpPr>
          <p:spPr>
            <a:xfrm>
              <a:off x="5673852" y="6070702"/>
              <a:ext cx="1110996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animation-delay</a:t>
              </a:r>
              <a:endParaRPr lang="en-US" sz="1050" dirty="0"/>
            </a:p>
          </p:txBody>
        </p:sp>
        <p:sp>
          <p:nvSpPr>
            <p:cNvPr id="89" name="Text 81"/>
            <p:cNvSpPr txBox="1"/>
            <p:nvPr/>
          </p:nvSpPr>
          <p:spPr>
            <a:xfrm>
              <a:off x="6602882" y="6070702"/>
              <a:ext cx="200254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90" name="Text 82"/>
            <p:cNvSpPr txBox="1"/>
            <p:nvPr/>
          </p:nvSpPr>
          <p:spPr>
            <a:xfrm>
              <a:off x="6726326" y="6070702"/>
              <a:ext cx="324612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0.2s</a:t>
              </a:r>
              <a:endParaRPr lang="en-US" sz="1050" dirty="0"/>
            </a:p>
          </p:txBody>
        </p:sp>
        <p:sp>
          <p:nvSpPr>
            <p:cNvPr id="91" name="Text 83"/>
            <p:cNvSpPr txBox="1"/>
            <p:nvPr/>
          </p:nvSpPr>
          <p:spPr>
            <a:xfrm>
              <a:off x="6974129" y="6070702"/>
              <a:ext cx="267005" cy="1243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 }</a:t>
              </a:r>
              <a:endParaRPr lang="en-US" sz="1050" dirty="0"/>
            </a:p>
          </p:txBody>
        </p:sp>
      </p:grpSp>
      <p:sp>
        <p:nvSpPr>
          <p:cNvPr id="9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2293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SCROLL INTERACTION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00100"/>
            <a:ext cx="9802368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 스크롤 인터랙션 - IntersectionObserver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09905" y="1489558"/>
            <a:ext cx="3715207" cy="3392835"/>
          </a:xfrm>
          <a:prstGeom prst="roundRect">
            <a:avLst>
              <a:gd name="adj" fmla="val 1316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761134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728216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7649" y="2041855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942746" y="2127809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8" b="-8"/>
          <a:stretch/>
        </p:blipFill>
        <p:spPr>
          <a:xfrm>
            <a:off x="847649" y="2423160"/>
            <a:ext cx="3230575" cy="22576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47902" y="2632558"/>
            <a:ext cx="12179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"웹사이트의 모든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2115922" y="2680106"/>
            <a:ext cx="8577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&lt;section&gt;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1047902" y="2866187"/>
            <a:ext cx="288676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요소가 화면 뷰포트에 20% 정도 진입했을 때, 부드럽게 나타나는 애니메이션 효과를 주려고 해.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3575304"/>
            <a:ext cx="227685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스크롤 이벤트 대신 성능이 좋은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1047902" y="3803904"/>
            <a:ext cx="210860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IntersectionObserver API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1019555" y="4060850"/>
            <a:ext cx="2886761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사용해서, 요소가 보일 때 'visible' 클래스를 추가하는 JavaScript 코드를 작성해줘."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09905" y="5058456"/>
            <a:ext cx="3715207" cy="1274682"/>
          </a:xfrm>
          <a:prstGeom prst="roundRect">
            <a:avLst>
              <a:gd name="adj" fmla="val 5907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609905" y="5058456"/>
            <a:ext cx="45719" cy="1245320"/>
          </a:xfrm>
          <a:prstGeom prst="roundRect">
            <a:avLst>
              <a:gd name="adj" fmla="val 167084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505" y="5236764"/>
            <a:ext cx="105156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81151" y="5229449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38505" y="5477251"/>
            <a:ext cx="247711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observer.unobserve(entry.target)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838505" y="5663695"/>
            <a:ext cx="33531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사용하면 애니메이션이 한 번만 실행되도록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‘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연산을 줄일 수 있습니다.</a:t>
            </a:r>
            <a:endParaRPr lang="en-US" sz="105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523390"/>
            <a:ext cx="171907" cy="13350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945075" y="1489558"/>
            <a:ext cx="23564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(SCRIPT.JS)</a:t>
            </a:r>
            <a:endParaRPr lang="en-US" sz="100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rcRect t="-2" b="-2"/>
          <a:stretch/>
        </p:blipFill>
        <p:spPr>
          <a:xfrm>
            <a:off x="4697273" y="1804111"/>
            <a:ext cx="6884518" cy="4596689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4697273" y="1804111"/>
            <a:ext cx="6886346" cy="381305"/>
          </a:xfrm>
          <a:prstGeom prst="roundRect">
            <a:avLst>
              <a:gd name="adj" fmla="val 95923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0"/>
          <p:cNvSpPr/>
          <p:nvPr/>
        </p:nvSpPr>
        <p:spPr>
          <a:xfrm>
            <a:off x="4849978" y="1934870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040173" y="1934870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231282" y="1934870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5535778" y="192755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script.js</a:t>
            </a:r>
            <a:endParaRPr lang="en-US" sz="900" dirty="0"/>
          </a:p>
        </p:txBody>
      </p: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5222AB12-6083-8BC4-2CD7-1EA3BA114111}"/>
              </a:ext>
            </a:extLst>
          </p:cNvPr>
          <p:cNvGrpSpPr/>
          <p:nvPr/>
        </p:nvGrpSpPr>
        <p:grpSpPr>
          <a:xfrm>
            <a:off x="4888382" y="2390242"/>
            <a:ext cx="4410152" cy="3679545"/>
            <a:chOff x="4888382" y="2390242"/>
            <a:chExt cx="4410152" cy="3679545"/>
          </a:xfrm>
        </p:grpSpPr>
        <p:sp>
          <p:nvSpPr>
            <p:cNvPr id="32" name="Text 24"/>
            <p:cNvSpPr txBox="1"/>
            <p:nvPr/>
          </p:nvSpPr>
          <p:spPr>
            <a:xfrm>
              <a:off x="4888382" y="2390242"/>
              <a:ext cx="373349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1. 옵저버 옵션 설정: 뷰포트의 20%가 보일 때 트리거</a:t>
              </a:r>
              <a:endParaRPr lang="en-US" sz="105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4888382" y="2576779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105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5221224" y="2576779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options</a:t>
              </a:r>
              <a:endParaRPr lang="en-US" sz="105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5688482" y="2576779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5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755234" y="2576779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040173" y="2763317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root</a:t>
              </a:r>
              <a:endParaRPr lang="en-US" sz="105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5307178" y="2763317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5440680" y="2763317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null</a:t>
              </a:r>
              <a:endParaRPr lang="en-US" sz="105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5707685" y="2763317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105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840273" y="2763317"/>
              <a:ext cx="1623974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null은 뷰포트를 의미</a:t>
              </a:r>
              <a:endParaRPr lang="en-US" sz="105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5040173" y="2949854"/>
              <a:ext cx="793699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rootMargin</a:t>
              </a:r>
              <a:endParaRPr lang="en-US" sz="105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707685" y="2949854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840273" y="2949854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'0px'</a:t>
              </a:r>
              <a:endParaRPr lang="en-US" sz="105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6174029" y="2949854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105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5040173" y="3136392"/>
              <a:ext cx="7141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threshold</a:t>
              </a:r>
              <a:endParaRPr lang="en-US" sz="105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5640934" y="3136392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05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5773522" y="3136392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B5CEA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0.2</a:t>
              </a:r>
              <a:endParaRPr lang="en-US" sz="105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4888382" y="3322930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};</a:t>
              </a:r>
              <a:endParaRPr lang="en-US" sz="105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5087722" y="3322930"/>
              <a:ext cx="3057754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2. 콜백 함수: 교차 상태가 변경될 때 실행</a:t>
              </a:r>
              <a:endParaRPr lang="en-US" sz="105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4888382" y="3509467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105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5221224" y="3509467"/>
              <a:ext cx="12701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observerCallback</a:t>
              </a:r>
              <a:endParaRPr lang="en-US" sz="105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6288329" y="350946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5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6355080" y="3509467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6488582" y="3509467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entries</a:t>
              </a:r>
              <a:endParaRPr lang="en-US" sz="105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6954926" y="3509467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105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7088429" y="3509467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observer</a:t>
              </a:r>
              <a:endParaRPr lang="en-US" sz="105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7621524" y="3509467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105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7755026" y="3509467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endParaRPr lang="en-US" sz="105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7888529" y="3509467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5040173" y="3696005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entries</a:t>
              </a:r>
              <a:endParaRPr lang="en-US" sz="105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5507431" y="369600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05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5574182" y="3696005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forEach</a:t>
              </a:r>
              <a:endParaRPr lang="en-US" sz="105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6040526" y="369600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6107278" y="3696005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entry</a:t>
              </a:r>
              <a:endParaRPr lang="en-US" sz="105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6441034" y="3696005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endParaRPr lang="en-US" sz="105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6573622" y="3696005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5192878" y="3882542"/>
              <a:ext cx="230428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요소가 화면에 진입했는지 확인</a:t>
              </a:r>
              <a:endParaRPr lang="en-US" sz="105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5192878" y="4069994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if</a:t>
              </a:r>
              <a:endParaRPr lang="en-US" sz="105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5326380" y="4069994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5459882" y="4069994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entry</a:t>
              </a:r>
              <a:endParaRPr lang="en-US" sz="105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5792724" y="4069994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05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5859475" y="4069994"/>
              <a:ext cx="111099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isIntersecting</a:t>
              </a:r>
              <a:endParaRPr lang="en-US" sz="105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6793078" y="4069994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 {</a:t>
              </a:r>
              <a:endParaRPr lang="en-US" sz="105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5345582" y="4256532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entry</a:t>
              </a:r>
              <a:endParaRPr lang="en-US" sz="105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5678424" y="425653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05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5745175" y="4256532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target</a:t>
              </a:r>
              <a:endParaRPr lang="en-US" sz="105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6145682" y="425653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05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6212434" y="4256532"/>
              <a:ext cx="7141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classList</a:t>
              </a:r>
              <a:endParaRPr lang="en-US" sz="105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6812280" y="425653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050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6879031" y="4256532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add</a:t>
              </a:r>
              <a:endParaRPr lang="en-US" sz="1050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7079285" y="4256532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7145122" y="4256532"/>
              <a:ext cx="7141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'visible'</a:t>
              </a:r>
              <a:endParaRPr lang="en-US" sz="1050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7745882" y="4256532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5345582" y="4443070"/>
              <a:ext cx="27916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성능 최적화: 한 번 실행 후 관찰 중단</a:t>
              </a:r>
              <a:endParaRPr lang="en-US" sz="1050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5345582" y="4629607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observer</a:t>
              </a:r>
              <a:endParaRPr lang="en-US" sz="1050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5878678" y="462960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050" dirty="0"/>
            </a:p>
          </p:txBody>
        </p:sp>
        <p:sp>
          <p:nvSpPr>
            <p:cNvPr id="88" name="Text 80"/>
            <p:cNvSpPr txBox="1"/>
            <p:nvPr/>
          </p:nvSpPr>
          <p:spPr>
            <a:xfrm>
              <a:off x="5945429" y="4629607"/>
              <a:ext cx="7141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unobserve</a:t>
              </a:r>
              <a:endParaRPr lang="en-US" sz="1050" dirty="0"/>
            </a:p>
          </p:txBody>
        </p:sp>
        <p:sp>
          <p:nvSpPr>
            <p:cNvPr id="89" name="Text 81"/>
            <p:cNvSpPr txBox="1"/>
            <p:nvPr/>
          </p:nvSpPr>
          <p:spPr>
            <a:xfrm>
              <a:off x="6545275" y="462960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90" name="Text 82"/>
            <p:cNvSpPr txBox="1"/>
            <p:nvPr/>
          </p:nvSpPr>
          <p:spPr>
            <a:xfrm>
              <a:off x="6612026" y="4629607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entry</a:t>
              </a:r>
              <a:endParaRPr lang="en-US" sz="1050" dirty="0"/>
            </a:p>
          </p:txBody>
        </p:sp>
        <p:sp>
          <p:nvSpPr>
            <p:cNvPr id="91" name="Text 83"/>
            <p:cNvSpPr txBox="1"/>
            <p:nvPr/>
          </p:nvSpPr>
          <p:spPr>
            <a:xfrm>
              <a:off x="6945782" y="4629607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050" dirty="0"/>
            </a:p>
          </p:txBody>
        </p:sp>
        <p:sp>
          <p:nvSpPr>
            <p:cNvPr id="92" name="Text 84"/>
            <p:cNvSpPr txBox="1"/>
            <p:nvPr/>
          </p:nvSpPr>
          <p:spPr>
            <a:xfrm>
              <a:off x="7012534" y="4629607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target</a:t>
              </a:r>
              <a:endParaRPr lang="en-US" sz="1050" dirty="0"/>
            </a:p>
          </p:txBody>
        </p:sp>
        <p:sp>
          <p:nvSpPr>
            <p:cNvPr id="93" name="Text 85"/>
            <p:cNvSpPr txBox="1"/>
            <p:nvPr/>
          </p:nvSpPr>
          <p:spPr>
            <a:xfrm>
              <a:off x="7412126" y="4629607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</p:txBody>
        </p:sp>
        <p:sp>
          <p:nvSpPr>
            <p:cNvPr id="94" name="Text 86"/>
            <p:cNvSpPr txBox="1"/>
            <p:nvPr/>
          </p:nvSpPr>
          <p:spPr>
            <a:xfrm>
              <a:off x="5192878" y="481614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050" dirty="0"/>
            </a:p>
          </p:txBody>
        </p:sp>
        <p:sp>
          <p:nvSpPr>
            <p:cNvPr id="95" name="Text 87"/>
            <p:cNvSpPr txBox="1"/>
            <p:nvPr/>
          </p:nvSpPr>
          <p:spPr>
            <a:xfrm>
              <a:off x="5040173" y="5002682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});</a:t>
              </a:r>
              <a:endParaRPr lang="en-US" sz="1050" dirty="0"/>
            </a:p>
          </p:txBody>
        </p:sp>
        <p:sp>
          <p:nvSpPr>
            <p:cNvPr id="96" name="Text 88"/>
            <p:cNvSpPr txBox="1"/>
            <p:nvPr/>
          </p:nvSpPr>
          <p:spPr>
            <a:xfrm>
              <a:off x="4888382" y="5189220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};</a:t>
              </a:r>
              <a:endParaRPr lang="en-US" sz="1050" dirty="0"/>
            </a:p>
          </p:txBody>
        </p:sp>
        <p:sp>
          <p:nvSpPr>
            <p:cNvPr id="97" name="Text 89"/>
            <p:cNvSpPr txBox="1"/>
            <p:nvPr/>
          </p:nvSpPr>
          <p:spPr>
            <a:xfrm>
              <a:off x="5087722" y="5189220"/>
              <a:ext cx="3269894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3. Observer 인스턴스 생성 및 타겟 관찰 시작</a:t>
              </a:r>
              <a:endParaRPr lang="en-US" sz="1050" dirty="0"/>
            </a:p>
          </p:txBody>
        </p:sp>
        <p:sp>
          <p:nvSpPr>
            <p:cNvPr id="98" name="Text 90"/>
            <p:cNvSpPr txBox="1"/>
            <p:nvPr/>
          </p:nvSpPr>
          <p:spPr>
            <a:xfrm>
              <a:off x="4888382" y="5375758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1050" dirty="0"/>
            </a:p>
          </p:txBody>
        </p:sp>
        <p:sp>
          <p:nvSpPr>
            <p:cNvPr id="99" name="Text 91"/>
            <p:cNvSpPr txBox="1"/>
            <p:nvPr/>
          </p:nvSpPr>
          <p:spPr>
            <a:xfrm>
              <a:off x="5221224" y="5375758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observer</a:t>
              </a:r>
              <a:endParaRPr lang="en-US" sz="1050" dirty="0"/>
            </a:p>
          </p:txBody>
        </p:sp>
        <p:sp>
          <p:nvSpPr>
            <p:cNvPr id="100" name="Text 92"/>
            <p:cNvSpPr txBox="1"/>
            <p:nvPr/>
          </p:nvSpPr>
          <p:spPr>
            <a:xfrm>
              <a:off x="5755234" y="5375758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050" dirty="0"/>
            </a:p>
          </p:txBody>
        </p:sp>
        <p:sp>
          <p:nvSpPr>
            <p:cNvPr id="101" name="Text 93"/>
            <p:cNvSpPr txBox="1"/>
            <p:nvPr/>
          </p:nvSpPr>
          <p:spPr>
            <a:xfrm>
              <a:off x="5821985" y="5375758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new</a:t>
              </a:r>
              <a:endParaRPr lang="en-US" sz="1050" dirty="0"/>
            </a:p>
          </p:txBody>
        </p:sp>
        <p:sp>
          <p:nvSpPr>
            <p:cNvPr id="102" name="Text 94"/>
            <p:cNvSpPr txBox="1"/>
            <p:nvPr/>
          </p:nvSpPr>
          <p:spPr>
            <a:xfrm>
              <a:off x="6021324" y="5375758"/>
              <a:ext cx="158739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IntersectionObserver</a:t>
              </a:r>
              <a:endParaRPr lang="en-US" sz="1050" dirty="0"/>
            </a:p>
          </p:txBody>
        </p:sp>
        <p:sp>
          <p:nvSpPr>
            <p:cNvPr id="103" name="Text 95"/>
            <p:cNvSpPr txBox="1"/>
            <p:nvPr/>
          </p:nvSpPr>
          <p:spPr>
            <a:xfrm>
              <a:off x="7355434" y="5375758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104" name="Text 96"/>
            <p:cNvSpPr txBox="1"/>
            <p:nvPr/>
          </p:nvSpPr>
          <p:spPr>
            <a:xfrm>
              <a:off x="7422185" y="5375758"/>
              <a:ext cx="12701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observerCallback</a:t>
              </a:r>
              <a:endParaRPr lang="en-US" sz="1050" dirty="0"/>
            </a:p>
          </p:txBody>
        </p:sp>
        <p:sp>
          <p:nvSpPr>
            <p:cNvPr id="105" name="Text 97"/>
            <p:cNvSpPr txBox="1"/>
            <p:nvPr/>
          </p:nvSpPr>
          <p:spPr>
            <a:xfrm>
              <a:off x="8488375" y="5375758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</a:t>
              </a:r>
              <a:endParaRPr lang="en-US" sz="1050" dirty="0"/>
            </a:p>
          </p:txBody>
        </p:sp>
        <p:sp>
          <p:nvSpPr>
            <p:cNvPr id="106" name="Text 98"/>
            <p:cNvSpPr txBox="1"/>
            <p:nvPr/>
          </p:nvSpPr>
          <p:spPr>
            <a:xfrm>
              <a:off x="8621878" y="5375758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options</a:t>
              </a:r>
              <a:endParaRPr lang="en-US" sz="1050" dirty="0"/>
            </a:p>
          </p:txBody>
        </p:sp>
        <p:sp>
          <p:nvSpPr>
            <p:cNvPr id="107" name="Text 99"/>
            <p:cNvSpPr txBox="1"/>
            <p:nvPr/>
          </p:nvSpPr>
          <p:spPr>
            <a:xfrm>
              <a:off x="9088222" y="5375758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</p:txBody>
        </p:sp>
        <p:sp>
          <p:nvSpPr>
            <p:cNvPr id="108" name="Text 100"/>
            <p:cNvSpPr txBox="1"/>
            <p:nvPr/>
          </p:nvSpPr>
          <p:spPr>
            <a:xfrm>
              <a:off x="4888382" y="5562295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</a:t>
              </a:r>
              <a:endParaRPr lang="en-US" sz="1050" dirty="0"/>
            </a:p>
          </p:txBody>
        </p:sp>
        <p:sp>
          <p:nvSpPr>
            <p:cNvPr id="109" name="Text 101"/>
            <p:cNvSpPr txBox="1"/>
            <p:nvPr/>
          </p:nvSpPr>
          <p:spPr>
            <a:xfrm>
              <a:off x="5421478" y="556229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050" dirty="0"/>
            </a:p>
          </p:txBody>
        </p:sp>
        <p:sp>
          <p:nvSpPr>
            <p:cNvPr id="110" name="Text 102"/>
            <p:cNvSpPr txBox="1"/>
            <p:nvPr/>
          </p:nvSpPr>
          <p:spPr>
            <a:xfrm>
              <a:off x="5488229" y="5562295"/>
              <a:ext cx="12701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querySelectorAll</a:t>
              </a:r>
              <a:endParaRPr lang="en-US" sz="1050" dirty="0"/>
            </a:p>
          </p:txBody>
        </p:sp>
        <p:sp>
          <p:nvSpPr>
            <p:cNvPr id="111" name="Text 103"/>
            <p:cNvSpPr txBox="1"/>
            <p:nvPr/>
          </p:nvSpPr>
          <p:spPr>
            <a:xfrm>
              <a:off x="6555334" y="556229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112" name="Text 104"/>
            <p:cNvSpPr txBox="1"/>
            <p:nvPr/>
          </p:nvSpPr>
          <p:spPr>
            <a:xfrm>
              <a:off x="6622085" y="5562295"/>
              <a:ext cx="142829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'.fade-in-section'</a:t>
              </a:r>
              <a:endParaRPr lang="en-US" sz="1050" dirty="0"/>
            </a:p>
          </p:txBody>
        </p:sp>
        <p:sp>
          <p:nvSpPr>
            <p:cNvPr id="113" name="Text 105"/>
            <p:cNvSpPr txBox="1"/>
            <p:nvPr/>
          </p:nvSpPr>
          <p:spPr>
            <a:xfrm>
              <a:off x="7821778" y="5562295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).</a:t>
              </a:r>
              <a:endParaRPr lang="en-US" sz="1050" dirty="0"/>
            </a:p>
          </p:txBody>
        </p:sp>
        <p:sp>
          <p:nvSpPr>
            <p:cNvPr id="114" name="Text 106"/>
            <p:cNvSpPr txBox="1"/>
            <p:nvPr/>
          </p:nvSpPr>
          <p:spPr>
            <a:xfrm>
              <a:off x="7955280" y="5562295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forEach</a:t>
              </a:r>
              <a:endParaRPr lang="en-US" sz="1050" dirty="0"/>
            </a:p>
          </p:txBody>
        </p:sp>
        <p:sp>
          <p:nvSpPr>
            <p:cNvPr id="115" name="Text 107"/>
            <p:cNvSpPr txBox="1"/>
            <p:nvPr/>
          </p:nvSpPr>
          <p:spPr>
            <a:xfrm>
              <a:off x="8421624" y="556229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116" name="Text 108"/>
            <p:cNvSpPr txBox="1"/>
            <p:nvPr/>
          </p:nvSpPr>
          <p:spPr>
            <a:xfrm>
              <a:off x="8488375" y="5562295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section</a:t>
              </a:r>
              <a:endParaRPr lang="en-US" sz="1050" dirty="0"/>
            </a:p>
          </p:txBody>
        </p:sp>
        <p:sp>
          <p:nvSpPr>
            <p:cNvPr id="117" name="Text 109"/>
            <p:cNvSpPr txBox="1"/>
            <p:nvPr/>
          </p:nvSpPr>
          <p:spPr>
            <a:xfrm>
              <a:off x="8955634" y="5562295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endParaRPr lang="en-US" sz="1050" dirty="0"/>
            </a:p>
          </p:txBody>
        </p:sp>
        <p:sp>
          <p:nvSpPr>
            <p:cNvPr id="118" name="Text 110"/>
            <p:cNvSpPr txBox="1"/>
            <p:nvPr/>
          </p:nvSpPr>
          <p:spPr>
            <a:xfrm>
              <a:off x="9088222" y="5562295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119" name="Text 111"/>
            <p:cNvSpPr txBox="1"/>
            <p:nvPr/>
          </p:nvSpPr>
          <p:spPr>
            <a:xfrm>
              <a:off x="5040173" y="5748833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observer</a:t>
              </a:r>
              <a:endParaRPr lang="en-US" sz="1050" dirty="0"/>
            </a:p>
          </p:txBody>
        </p:sp>
        <p:sp>
          <p:nvSpPr>
            <p:cNvPr id="120" name="Text 112"/>
            <p:cNvSpPr txBox="1"/>
            <p:nvPr/>
          </p:nvSpPr>
          <p:spPr>
            <a:xfrm>
              <a:off x="5574182" y="5748833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endParaRPr lang="en-US" sz="1050" dirty="0"/>
            </a:p>
          </p:txBody>
        </p:sp>
        <p:sp>
          <p:nvSpPr>
            <p:cNvPr id="121" name="Text 113"/>
            <p:cNvSpPr txBox="1"/>
            <p:nvPr/>
          </p:nvSpPr>
          <p:spPr>
            <a:xfrm>
              <a:off x="5640934" y="5748833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observe</a:t>
              </a:r>
              <a:endParaRPr lang="en-US" sz="1050" dirty="0"/>
            </a:p>
          </p:txBody>
        </p:sp>
        <p:sp>
          <p:nvSpPr>
            <p:cNvPr id="122" name="Text 114"/>
            <p:cNvSpPr txBox="1"/>
            <p:nvPr/>
          </p:nvSpPr>
          <p:spPr>
            <a:xfrm>
              <a:off x="6107278" y="5748833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050" dirty="0"/>
            </a:p>
          </p:txBody>
        </p:sp>
        <p:sp>
          <p:nvSpPr>
            <p:cNvPr id="123" name="Text 115"/>
            <p:cNvSpPr txBox="1"/>
            <p:nvPr/>
          </p:nvSpPr>
          <p:spPr>
            <a:xfrm>
              <a:off x="6174029" y="5748833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section</a:t>
              </a:r>
              <a:endParaRPr lang="en-US" sz="1050" dirty="0"/>
            </a:p>
          </p:txBody>
        </p:sp>
        <p:sp>
          <p:nvSpPr>
            <p:cNvPr id="124" name="Text 116"/>
            <p:cNvSpPr txBox="1"/>
            <p:nvPr/>
          </p:nvSpPr>
          <p:spPr>
            <a:xfrm>
              <a:off x="6640373" y="5748833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</p:txBody>
        </p:sp>
        <p:sp>
          <p:nvSpPr>
            <p:cNvPr id="125" name="Text 117"/>
            <p:cNvSpPr txBox="1"/>
            <p:nvPr/>
          </p:nvSpPr>
          <p:spPr>
            <a:xfrm>
              <a:off x="4888382" y="5936285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});</a:t>
              </a:r>
              <a:endParaRPr lang="en-US" sz="1050" dirty="0"/>
            </a:p>
          </p:txBody>
        </p:sp>
      </p:grpSp>
      <p:sp>
        <p:nvSpPr>
          <p:cNvPr id="1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 기능 구현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75520" y="867630"/>
            <a:ext cx="6464808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다크모드: CSS 변수 설정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985697" y="1660013"/>
            <a:ext cx="4383257" cy="3260985"/>
          </a:xfrm>
          <a:prstGeom prst="roundRect">
            <a:avLst>
              <a:gd name="adj" fmla="val 1358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1223441" y="1931590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52040" y="1897757"/>
            <a:ext cx="134852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21466" y="1881675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816563" y="1967629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6" b="-6"/>
          <a:stretch/>
        </p:blipFill>
        <p:spPr>
          <a:xfrm>
            <a:off x="1223441" y="2315101"/>
            <a:ext cx="3811481" cy="240761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23694" y="2515354"/>
            <a:ext cx="3439287" cy="2009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"CSS 변수(Custom Properties)를 사용하여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라이트 모드와 다크 모드 테마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관리하는 코드를 작성해줘.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:root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에는 기본값(라이트)을 정의하고,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[data-theme='dark']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속성 </a:t>
            </a: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선택자를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이용해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다크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모드 값을 재정의하는 방식으로 구현해줘."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995756" y="5083983"/>
            <a:ext cx="4383257" cy="1254100"/>
          </a:xfrm>
          <a:prstGeom prst="roundRect">
            <a:avLst>
              <a:gd name="adj" fmla="val 551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995756" y="5083983"/>
            <a:ext cx="45719" cy="1254100"/>
          </a:xfrm>
          <a:prstGeom prst="roundRect">
            <a:avLst>
              <a:gd name="adj" fmla="val 16142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1222527" y="5262291"/>
            <a:ext cx="105156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65173" y="5254976"/>
            <a:ext cx="76488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222527" y="5474432"/>
            <a:ext cx="3978698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transition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속성을 body나 주요 컨테이너에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적용하면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테마가 변경될 때 배경색과 글자색이 부드럽게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전환되어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훨씬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고급스러운 느낌을 줍니다.</a:t>
            </a:r>
            <a:endParaRPr lang="en-US" sz="105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5915684" y="1381893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163486" y="1348975"/>
            <a:ext cx="235915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(STYLE.CSS)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5916598" y="1786973"/>
            <a:ext cx="5665497" cy="4722884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5915684" y="1662614"/>
            <a:ext cx="5667001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6068389" y="181257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6258584" y="181257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6449693" y="181257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6754189" y="180617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style.css</a:t>
            </a:r>
            <a:endParaRPr lang="en-US" sz="9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55058885-6F5C-07AC-8A09-3D85FC4396BB}"/>
              </a:ext>
            </a:extLst>
          </p:cNvPr>
          <p:cNvGrpSpPr/>
          <p:nvPr/>
        </p:nvGrpSpPr>
        <p:grpSpPr>
          <a:xfrm>
            <a:off x="6131024" y="2334698"/>
            <a:ext cx="4604219" cy="4036127"/>
            <a:chOff x="4913527" y="2418588"/>
            <a:chExt cx="4604219" cy="4036127"/>
          </a:xfrm>
        </p:grpSpPr>
        <p:sp>
          <p:nvSpPr>
            <p:cNvPr id="26" name="Text 18"/>
            <p:cNvSpPr txBox="1"/>
            <p:nvPr/>
          </p:nvSpPr>
          <p:spPr>
            <a:xfrm>
              <a:off x="4926787" y="2418588"/>
              <a:ext cx="324703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1. 기본 테마 변수 정의 (Light Mode) */</a:t>
              </a:r>
              <a:endParaRPr lang="en-US" sz="1200" dirty="0"/>
            </a:p>
          </p:txBody>
        </p:sp>
        <p:sp>
          <p:nvSpPr>
            <p:cNvPr id="27" name="Text 19"/>
            <p:cNvSpPr txBox="1"/>
            <p:nvPr/>
          </p:nvSpPr>
          <p:spPr>
            <a:xfrm>
              <a:off x="4913527" y="2609960"/>
              <a:ext cx="4389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:root</a:t>
              </a:r>
              <a:endParaRPr lang="en-US" sz="1200" dirty="0"/>
            </a:p>
          </p:txBody>
        </p:sp>
        <p:sp>
          <p:nvSpPr>
            <p:cNvPr id="28" name="Text 20"/>
            <p:cNvSpPr txBox="1"/>
            <p:nvPr/>
          </p:nvSpPr>
          <p:spPr>
            <a:xfrm>
              <a:off x="5270143" y="2609960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200" dirty="0"/>
            </a:p>
          </p:txBody>
        </p:sp>
        <p:sp>
          <p:nvSpPr>
            <p:cNvPr id="29" name="Text 21"/>
            <p:cNvSpPr txBox="1"/>
            <p:nvPr/>
          </p:nvSpPr>
          <p:spPr>
            <a:xfrm>
              <a:off x="5079492" y="2815438"/>
              <a:ext cx="102961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--bg-primary</a:t>
              </a:r>
              <a:endParaRPr lang="en-US" sz="1200" dirty="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5937199" y="28154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6008522" y="2815438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#FFFFFF</a:t>
              </a:r>
              <a:endParaRPr lang="en-US" sz="120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6508699" y="28154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079492" y="3014777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--text-primary</a:t>
              </a:r>
              <a:endParaRPr lang="en-US" sz="1200" dirty="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6079845" y="301477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6151168" y="3014777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#1F2937</a:t>
              </a:r>
              <a:endParaRPr lang="en-US" sz="120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6651345" y="301477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079492" y="3215030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--accent-color</a:t>
              </a:r>
              <a:endParaRPr lang="en-US" sz="12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6079845" y="3215030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6151168" y="3215030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#FF6908</a:t>
              </a:r>
              <a:endParaRPr lang="en-US" sz="12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6651345" y="3215030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079492" y="3415284"/>
              <a:ext cx="77083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--card-bg</a:t>
              </a:r>
              <a:endParaRPr lang="en-US" sz="12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5722315" y="3415284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5794552" y="3415284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#F3F4F6</a:t>
              </a:r>
              <a:endParaRPr lang="en-US" sz="12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6294729" y="3415284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079492" y="3615538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--border-color</a:t>
              </a:r>
              <a:endParaRPr lang="en-US" sz="12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6079845" y="36155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6151168" y="3615538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#E5E7EB</a:t>
              </a:r>
              <a:endParaRPr lang="en-US" sz="12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6651345" y="361553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4926787" y="381487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2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4999024" y="3814877"/>
              <a:ext cx="357896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2. 다크 모드 재정의 (HTML 태그 속성 기준) */</a:t>
              </a:r>
              <a:endParaRPr lang="en-US" sz="12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4925629" y="4042003"/>
              <a:ext cx="162123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[data-theme="dark"]</a:t>
              </a:r>
              <a:endParaRPr lang="en-US" sz="12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6270390" y="4041393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2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5078334" y="4242257"/>
              <a:ext cx="102961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--bg-primary</a:t>
              </a:r>
              <a:endParaRPr lang="en-US" sz="12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5936041" y="424225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6007364" y="4242257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#111827</a:t>
              </a:r>
              <a:endParaRPr lang="en-US" sz="12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6507541" y="424225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5078334" y="4442511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--text-primary</a:t>
              </a:r>
              <a:endParaRPr lang="en-US" sz="12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6078687" y="4442511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6150010" y="4442511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#F9FAFB</a:t>
              </a:r>
              <a:endParaRPr lang="en-US" sz="12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6650187" y="4442511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5078334" y="4642765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--accent-color</a:t>
              </a:r>
              <a:endParaRPr lang="en-US" sz="12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6078687" y="4642765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6150010" y="4642765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#FF8A4C</a:t>
              </a:r>
              <a:endParaRPr lang="en-US" sz="12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6650187" y="4642765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6722425" y="4642765"/>
              <a:ext cx="2479853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어두운 배경 대비 명도 조절 */</a:t>
              </a:r>
              <a:endParaRPr lang="en-US" sz="120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5078334" y="4842104"/>
              <a:ext cx="770839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--card-bg</a:t>
              </a:r>
              <a:endParaRPr lang="en-US" sz="12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5721157" y="4842104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5793394" y="4842104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#1F2937</a:t>
              </a:r>
              <a:endParaRPr lang="en-US" sz="120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6293571" y="4842104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5078334" y="5042357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--border-color</a:t>
              </a:r>
              <a:endParaRPr lang="en-US" sz="12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6078687" y="504235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6150010" y="5042357"/>
              <a:ext cx="6007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#374151</a:t>
              </a:r>
              <a:endParaRPr lang="en-US" sz="120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6650187" y="504235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4925629" y="5242611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20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4997866" y="5242611"/>
              <a:ext cx="2274113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/* 3. 변수 적용 및 트랜지션 */</a:t>
              </a:r>
              <a:endParaRPr lang="en-US" sz="120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4929798" y="5511054"/>
              <a:ext cx="37216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7BA7D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body</a:t>
              </a:r>
              <a:endParaRPr lang="en-US" sz="120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5311048" y="5521612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20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5078334" y="5711308"/>
              <a:ext cx="1371600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background-color</a:t>
              </a:r>
              <a:endParaRPr lang="en-US" sz="120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6221334" y="571130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6292657" y="5711308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var</a:t>
              </a:r>
              <a:endParaRPr lang="en-US" sz="1200" dirty="0"/>
            </a:p>
          </p:txBody>
        </p:sp>
        <p:sp>
          <p:nvSpPr>
            <p:cNvPr id="81" name="Text 73"/>
            <p:cNvSpPr txBox="1"/>
            <p:nvPr/>
          </p:nvSpPr>
          <p:spPr>
            <a:xfrm>
              <a:off x="6507541" y="571130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200" dirty="0"/>
            </a:p>
          </p:txBody>
        </p:sp>
        <p:sp>
          <p:nvSpPr>
            <p:cNvPr id="82" name="Text 74"/>
            <p:cNvSpPr txBox="1"/>
            <p:nvPr/>
          </p:nvSpPr>
          <p:spPr>
            <a:xfrm>
              <a:off x="6578864" y="5711308"/>
              <a:ext cx="1029614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--bg-primary</a:t>
              </a:r>
              <a:endParaRPr lang="en-US" sz="1200" dirty="0"/>
            </a:p>
          </p:txBody>
        </p:sp>
        <p:sp>
          <p:nvSpPr>
            <p:cNvPr id="83" name="Text 75"/>
            <p:cNvSpPr txBox="1"/>
            <p:nvPr/>
          </p:nvSpPr>
          <p:spPr>
            <a:xfrm>
              <a:off x="7436571" y="571130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1200" dirty="0"/>
            </a:p>
          </p:txBody>
        </p:sp>
        <p:sp>
          <p:nvSpPr>
            <p:cNvPr id="84" name="Text 76"/>
            <p:cNvSpPr txBox="1"/>
            <p:nvPr/>
          </p:nvSpPr>
          <p:spPr>
            <a:xfrm>
              <a:off x="7507894" y="5711308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85" name="Text 77"/>
            <p:cNvSpPr txBox="1"/>
            <p:nvPr/>
          </p:nvSpPr>
          <p:spPr>
            <a:xfrm>
              <a:off x="5078334" y="5910647"/>
              <a:ext cx="438912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color</a:t>
              </a:r>
              <a:endParaRPr lang="en-US" sz="1200" dirty="0"/>
            </a:p>
          </p:txBody>
        </p:sp>
        <p:sp>
          <p:nvSpPr>
            <p:cNvPr id="86" name="Text 78"/>
            <p:cNvSpPr txBox="1"/>
            <p:nvPr/>
          </p:nvSpPr>
          <p:spPr>
            <a:xfrm>
              <a:off x="5435864" y="591064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87" name="Text 79"/>
            <p:cNvSpPr txBox="1"/>
            <p:nvPr/>
          </p:nvSpPr>
          <p:spPr>
            <a:xfrm>
              <a:off x="5507187" y="5910647"/>
              <a:ext cx="295351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var</a:t>
              </a:r>
              <a:endParaRPr lang="en-US" sz="1200" dirty="0"/>
            </a:p>
          </p:txBody>
        </p:sp>
        <p:sp>
          <p:nvSpPr>
            <p:cNvPr id="88" name="Text 80"/>
            <p:cNvSpPr txBox="1"/>
            <p:nvPr/>
          </p:nvSpPr>
          <p:spPr>
            <a:xfrm>
              <a:off x="5722071" y="591064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200" dirty="0"/>
            </a:p>
          </p:txBody>
        </p:sp>
        <p:sp>
          <p:nvSpPr>
            <p:cNvPr id="89" name="Text 81"/>
            <p:cNvSpPr txBox="1"/>
            <p:nvPr/>
          </p:nvSpPr>
          <p:spPr>
            <a:xfrm>
              <a:off x="5793394" y="5910647"/>
              <a:ext cx="12006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--text-primary</a:t>
              </a:r>
              <a:endParaRPr lang="en-US" sz="1200" dirty="0"/>
            </a:p>
          </p:txBody>
        </p:sp>
        <p:sp>
          <p:nvSpPr>
            <p:cNvPr id="90" name="Text 82"/>
            <p:cNvSpPr txBox="1"/>
            <p:nvPr/>
          </p:nvSpPr>
          <p:spPr>
            <a:xfrm>
              <a:off x="6793748" y="591064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</a:t>
              </a:r>
              <a:endParaRPr lang="en-US" sz="1200" dirty="0"/>
            </a:p>
          </p:txBody>
        </p:sp>
        <p:sp>
          <p:nvSpPr>
            <p:cNvPr id="91" name="Text 83"/>
            <p:cNvSpPr txBox="1"/>
            <p:nvPr/>
          </p:nvSpPr>
          <p:spPr>
            <a:xfrm>
              <a:off x="6865071" y="5910647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92" name="Text 84"/>
            <p:cNvSpPr txBox="1"/>
            <p:nvPr/>
          </p:nvSpPr>
          <p:spPr>
            <a:xfrm>
              <a:off x="5078334" y="6110900"/>
              <a:ext cx="857707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transition</a:t>
              </a:r>
              <a:endParaRPr lang="en-US" sz="1200" dirty="0"/>
            </a:p>
          </p:txBody>
        </p:sp>
        <p:sp>
          <p:nvSpPr>
            <p:cNvPr id="93" name="Text 85"/>
            <p:cNvSpPr txBox="1"/>
            <p:nvPr/>
          </p:nvSpPr>
          <p:spPr>
            <a:xfrm>
              <a:off x="5792480" y="6110900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:</a:t>
              </a:r>
              <a:endParaRPr lang="en-US" sz="1200" dirty="0"/>
            </a:p>
          </p:txBody>
        </p:sp>
        <p:sp>
          <p:nvSpPr>
            <p:cNvPr id="94" name="Text 86"/>
            <p:cNvSpPr txBox="1"/>
            <p:nvPr/>
          </p:nvSpPr>
          <p:spPr>
            <a:xfrm>
              <a:off x="5864718" y="6110900"/>
              <a:ext cx="3653028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background-color 0.3s ease, color 0.3s ease</a:t>
              </a:r>
              <a:endParaRPr lang="en-US" sz="1200" dirty="0"/>
            </a:p>
          </p:txBody>
        </p:sp>
        <p:sp>
          <p:nvSpPr>
            <p:cNvPr id="95" name="Text 87"/>
            <p:cNvSpPr txBox="1"/>
            <p:nvPr/>
          </p:nvSpPr>
          <p:spPr>
            <a:xfrm>
              <a:off x="8936187" y="6110900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200" dirty="0"/>
            </a:p>
          </p:txBody>
        </p:sp>
        <p:sp>
          <p:nvSpPr>
            <p:cNvPr id="96" name="Text 88"/>
            <p:cNvSpPr txBox="1"/>
            <p:nvPr/>
          </p:nvSpPr>
          <p:spPr>
            <a:xfrm>
              <a:off x="4925629" y="6311154"/>
              <a:ext cx="152705" cy="1435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200" dirty="0"/>
            </a:p>
          </p:txBody>
        </p:sp>
      </p:grpSp>
      <p:sp>
        <p:nvSpPr>
          <p:cNvPr id="9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35640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JAVASCRIPT LOGIC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509503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다크모드 토글 구현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22027" y="1598371"/>
            <a:ext cx="3715207" cy="3524098"/>
          </a:xfrm>
          <a:prstGeom prst="roundRect">
            <a:avLst>
              <a:gd name="adj" fmla="val 1403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59771" y="1869948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88371" y="1836115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793518" y="1810512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88615" y="1896466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3" r="-3"/>
          <a:stretch/>
        </p:blipFill>
        <p:spPr>
          <a:xfrm>
            <a:off x="867438" y="2229305"/>
            <a:ext cx="3230575" cy="261746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67691" y="2429559"/>
            <a:ext cx="2915107" cy="195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"사용자가 토글 버튼을 클릭하면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HTML 루트 요소의 data-theme 속성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'dark' 또는 'light'로 변경하는 자바스크립트 코드를 작성해줘.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중요한 점은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localStorage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사용하여 사용자의 선택을 저장하고, 페이지를 새로고침해도 설정이 유지되어야 해."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22027" y="5208423"/>
            <a:ext cx="3715207" cy="1264330"/>
          </a:xfrm>
          <a:prstGeom prst="roundRect">
            <a:avLst>
              <a:gd name="adj" fmla="val 551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22027" y="5208423"/>
            <a:ext cx="38405" cy="1264330"/>
          </a:xfrm>
          <a:prstGeom prst="roundRect">
            <a:avLst>
              <a:gd name="adj" fmla="val 16142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50627" y="5387646"/>
            <a:ext cx="105156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3273" y="5380330"/>
            <a:ext cx="5532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TIP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50627" y="5598872"/>
            <a:ext cx="3372307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 방문한 사용자에게는 </a:t>
            </a:r>
            <a:r>
              <a:rPr lang="en-US" sz="11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prefers-color-scheme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미디어 쿼리를 사용하여 OS 시스템 설정(다크/라이트)을 자동으로 감지해 적용하는 것이 좋습니다.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566367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45075" y="1533449"/>
            <a:ext cx="23564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(SCRIPT.JS)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3"/>
            <a:ext cx="6884518" cy="4474789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847088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49978" y="1997050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0173" y="1997050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1282" y="1997050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5778" y="1990649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script.js</a:t>
            </a:r>
            <a:endParaRPr lang="en-US" sz="900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98801FF-2B98-C0EF-ACDB-3FD9E9ACC20D}"/>
              </a:ext>
            </a:extLst>
          </p:cNvPr>
          <p:cNvGrpSpPr/>
          <p:nvPr/>
        </p:nvGrpSpPr>
        <p:grpSpPr>
          <a:xfrm>
            <a:off x="5097323" y="2409444"/>
            <a:ext cx="4021510" cy="3845942"/>
            <a:chOff x="4869180" y="2584094"/>
            <a:chExt cx="6663670" cy="3471062"/>
          </a:xfrm>
        </p:grpSpPr>
        <p:sp>
          <p:nvSpPr>
            <p:cNvPr id="26" name="Text 18"/>
            <p:cNvSpPr txBox="1"/>
            <p:nvPr/>
          </p:nvSpPr>
          <p:spPr>
            <a:xfrm>
              <a:off x="4869180" y="2584094"/>
              <a:ext cx="6620256" cy="12198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1. 요소 선택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toggleBtn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querySelector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'#theme-toggle'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root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documentElement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050" dirty="0"/>
            </a:p>
            <a:p>
              <a:pPr marL="0" indent="0" algn="l">
                <a:buNone/>
              </a:pP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2. 초기 테마 설정 (저장된 값 확인)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savedTheme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localStorage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getItem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'theme'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if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(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savedTheme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 {</a:t>
              </a:r>
              <a:endParaRPr lang="en-US" sz="1050" dirty="0"/>
            </a:p>
          </p:txBody>
        </p:sp>
        <p:sp>
          <p:nvSpPr>
            <p:cNvPr id="27" name="Text 19"/>
            <p:cNvSpPr txBox="1"/>
            <p:nvPr/>
          </p:nvSpPr>
          <p:spPr>
            <a:xfrm>
              <a:off x="5021885" y="3797503"/>
              <a:ext cx="6505956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root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setAttribute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'data-theme'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 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savedTheme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</p:txBody>
        </p:sp>
        <p:sp>
          <p:nvSpPr>
            <p:cNvPr id="28" name="Text 20"/>
            <p:cNvSpPr txBox="1"/>
            <p:nvPr/>
          </p:nvSpPr>
          <p:spPr>
            <a:xfrm>
              <a:off x="4869180" y="3971239"/>
              <a:ext cx="6620256" cy="6958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}</a:t>
              </a:r>
              <a:endParaRPr lang="en-US" sz="1050" dirty="0"/>
            </a:p>
            <a:p>
              <a:pPr marL="0" indent="0" algn="l">
                <a:buNone/>
              </a:pP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3. 토글 이벤트 리스너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toggleBtn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addEventListener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'click'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 () 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{</a:t>
              </a:r>
              <a:endParaRPr lang="en-US" sz="1050" dirty="0"/>
            </a:p>
          </p:txBody>
        </p:sp>
        <p:sp>
          <p:nvSpPr>
            <p:cNvPr id="29" name="Text 21"/>
            <p:cNvSpPr txBox="1"/>
            <p:nvPr/>
          </p:nvSpPr>
          <p:spPr>
            <a:xfrm>
              <a:off x="5021885" y="4664354"/>
              <a:ext cx="6467551" cy="1390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currentTheme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root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getAttribute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'data-theme'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4FC1FF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newTheme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currentTheme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=== 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'dark'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? 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'light'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: 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'dark'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050" dirty="0"/>
            </a:p>
            <a:p>
              <a:pPr marL="0" indent="0" algn="l">
                <a:buNone/>
              </a:pP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테마 적용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root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setAttribute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'data-theme'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 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newTheme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  <a:p>
              <a:pPr marL="0" indent="0" algn="l">
                <a:buNone/>
              </a:pP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로컬 스토리지에 저장 (영구 보존)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localStorage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.</a:t>
              </a:r>
              <a:r>
                <a:rPr lang="en-US" sz="105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setItem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'theme'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 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newTheme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4874189" y="5815127"/>
              <a:ext cx="665866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});</a:t>
              </a:r>
              <a:endParaRPr lang="en-US" sz="1050" dirty="0"/>
            </a:p>
          </p:txBody>
        </p:sp>
      </p:grpSp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 기능 추가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714329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필터링 - JavaScript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09905" y="1684325"/>
            <a:ext cx="3715207" cy="3449737"/>
          </a:xfrm>
          <a:prstGeom prst="roundRect">
            <a:avLst>
              <a:gd name="adj" fmla="val 126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47649" y="1955902"/>
            <a:ext cx="152705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6249" y="1922069"/>
            <a:ext cx="1143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INPUT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759015" y="1922069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54112" y="2008023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8" b="-8"/>
          <a:stretch/>
        </p:blipFill>
        <p:spPr>
          <a:xfrm>
            <a:off x="877010" y="2312518"/>
            <a:ext cx="3230575" cy="261352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77263" y="2512771"/>
            <a:ext cx="2776849" cy="2270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"프로젝트 섹션에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카테고리별 필터링 기능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추가하고 싶어.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'Web', 'App', 'Design' 버튼을 클릭하면,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해당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dirty="0">
                <a:solidFill>
                  <a:srgbClr val="1F293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data-category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속성을 가진 프로젝트 카드만 남기고 나머지는 숨기는 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JavaScript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</a:t>
            </a:r>
            <a:r>
              <a:rPr lang="en-US" sz="12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작성해줘.</a:t>
            </a:r>
            <a:endParaRPr lang="en-US" sz="1200" dirty="0"/>
          </a:p>
          <a:p>
            <a:pPr marL="0" indent="0" algn="l">
              <a:buNone/>
            </a:pP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현재 선택된 버튼에는 'active' 클래스를 붙여줘."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10362" y="5273395"/>
            <a:ext cx="3715207" cy="1253240"/>
          </a:xfrm>
          <a:prstGeom prst="roundRect">
            <a:avLst>
              <a:gd name="adj" fmla="val 551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10362" y="5273395"/>
            <a:ext cx="38405" cy="1253240"/>
          </a:xfrm>
          <a:prstGeom prst="roundRect">
            <a:avLst>
              <a:gd name="adj" fmla="val 16142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38962" y="5451703"/>
            <a:ext cx="105156" cy="1335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1608" y="5444388"/>
            <a:ext cx="6483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TIP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838962" y="5663844"/>
            <a:ext cx="3372307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DOM 조작을 최소화하기 위해 CSS 클래스(</a:t>
            </a:r>
            <a:r>
              <a:rPr lang="en-US" sz="11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.hide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)를 토글하는 방식을 사용하면 성능이 더 좋고, 페이드 애니메이션을 추가하기도 쉽습니다.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4697273" y="1717243"/>
            <a:ext cx="171907" cy="13350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945075" y="1684325"/>
            <a:ext cx="23564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CODE (SCRIPT.JS)</a:t>
            </a:r>
            <a:endParaRPr lang="en-US" sz="10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 t="-6" b="-6"/>
          <a:stretch/>
        </p:blipFill>
        <p:spPr>
          <a:xfrm>
            <a:off x="4697273" y="1997964"/>
            <a:ext cx="6884518" cy="4570616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97273" y="1997964"/>
            <a:ext cx="6886346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4849978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5"/>
          <p:cNvSpPr/>
          <p:nvPr/>
        </p:nvSpPr>
        <p:spPr>
          <a:xfrm>
            <a:off x="5040173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6"/>
          <p:cNvSpPr/>
          <p:nvPr/>
        </p:nvSpPr>
        <p:spPr>
          <a:xfrm>
            <a:off x="5231282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5535778" y="2141525"/>
            <a:ext cx="66934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script.js</a:t>
            </a:r>
            <a:endParaRPr lang="en-US" sz="900"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CD2FFE2A-88B6-2384-3FC0-39CB2ECEDCEE}"/>
              </a:ext>
            </a:extLst>
          </p:cNvPr>
          <p:cNvGrpSpPr/>
          <p:nvPr/>
        </p:nvGrpSpPr>
        <p:grpSpPr>
          <a:xfrm>
            <a:off x="4869180" y="2584094"/>
            <a:ext cx="6658661" cy="3821278"/>
            <a:chOff x="4869180" y="2584094"/>
            <a:chExt cx="6658661" cy="3821278"/>
          </a:xfrm>
        </p:grpSpPr>
        <p:sp>
          <p:nvSpPr>
            <p:cNvPr id="26" name="Text 18"/>
            <p:cNvSpPr txBox="1"/>
            <p:nvPr/>
          </p:nvSpPr>
          <p:spPr>
            <a:xfrm>
              <a:off x="4869180" y="2584094"/>
              <a:ext cx="6620256" cy="6958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filterBtns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document.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querySelectorAll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'.filter-btn'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projects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document.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querySelectorAll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'.project-card'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  <a:p>
              <a:pPr marL="0" indent="0" algn="l">
                <a:buNone/>
              </a:pP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filterBtns.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forEach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(btn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27" name="Text 19"/>
            <p:cNvSpPr txBox="1"/>
            <p:nvPr/>
          </p:nvSpPr>
          <p:spPr>
            <a:xfrm>
              <a:off x="5021885" y="3277210"/>
              <a:ext cx="6505956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btn.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addEventListener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'click'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 ()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28" name="Text 20"/>
            <p:cNvSpPr txBox="1"/>
            <p:nvPr/>
          </p:nvSpPr>
          <p:spPr>
            <a:xfrm>
              <a:off x="5173675" y="3450946"/>
              <a:ext cx="6315761" cy="15627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1. 버튼 활성화 상태 업데이트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document.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querySelector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'.filter-btn.active'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).classList.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remove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'active'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btn.classList.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add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'active'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  <a:p>
              <a:pPr marL="0" indent="0" algn="l">
                <a:buNone/>
              </a:pP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2. 데이터 필터 값 가져오기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filterValue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btn.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getAttribute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'data-filter'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050" dirty="0"/>
            </a:p>
            <a:p>
              <a:pPr marL="0" indent="0" algn="l">
                <a:buNone/>
              </a:pP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3. 프로젝트 필터링 로직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projects.</a:t>
              </a:r>
              <a:r>
                <a:rPr lang="en-US" sz="1050" dirty="0">
                  <a:solidFill>
                    <a:srgbClr val="9CDCFE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forEach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(card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</p:txBody>
        </p:sp>
        <p:sp>
          <p:nvSpPr>
            <p:cNvPr id="29" name="Text 21"/>
            <p:cNvSpPr txBox="1"/>
            <p:nvPr/>
          </p:nvSpPr>
          <p:spPr>
            <a:xfrm>
              <a:off x="5326380" y="5010912"/>
              <a:ext cx="6163056" cy="8769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if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(filterValue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===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'all'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||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card.dataset.category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===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filterValue) {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card.style.display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'block'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else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 card.style.display</a:t>
              </a:r>
              <a:r>
                <a:rPr lang="en-US" sz="105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r>
                <a:rPr lang="en-US" sz="105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'none'</a:t>
              </a: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;</a:t>
              </a:r>
              <a:endParaRPr lang="en-US" sz="1050" dirty="0"/>
            </a:p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050" dirty="0"/>
            </a:p>
          </p:txBody>
        </p:sp>
        <p:sp>
          <p:nvSpPr>
            <p:cNvPr id="30" name="Text 22"/>
            <p:cNvSpPr txBox="1"/>
            <p:nvPr/>
          </p:nvSpPr>
          <p:spPr>
            <a:xfrm>
              <a:off x="5173675" y="5877763"/>
              <a:ext cx="635325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});</a:t>
              </a:r>
              <a:endParaRPr lang="en-US" sz="1050" dirty="0"/>
            </a:p>
          </p:txBody>
        </p:sp>
        <p:sp>
          <p:nvSpPr>
            <p:cNvPr id="31" name="Text 23"/>
            <p:cNvSpPr txBox="1"/>
            <p:nvPr/>
          </p:nvSpPr>
          <p:spPr>
            <a:xfrm>
              <a:off x="5021885" y="6051499"/>
              <a:ext cx="6505956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});</a:t>
              </a:r>
              <a:endParaRPr lang="en-US" sz="1050" dirty="0"/>
            </a:p>
          </p:txBody>
        </p:sp>
        <p:sp>
          <p:nvSpPr>
            <p:cNvPr id="32" name="Text 24"/>
            <p:cNvSpPr txBox="1"/>
            <p:nvPr/>
          </p:nvSpPr>
          <p:spPr>
            <a:xfrm>
              <a:off x="4869180" y="6224321"/>
              <a:ext cx="6658661" cy="1810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});</a:t>
              </a:r>
              <a:endParaRPr lang="en-US" sz="1050" dirty="0"/>
            </a:p>
          </p:txBody>
        </p:sp>
      </p:grp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921352" y="891213"/>
            <a:ext cx="360639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&amp;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QUALITY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CHECKLIST 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4831156" y="1070701"/>
            <a:ext cx="45719" cy="309502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003534" y="1126392"/>
            <a:ext cx="6114215" cy="279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완성도 높은 </a:t>
            </a:r>
            <a:r>
              <a:rPr lang="en-US" sz="15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포트폴리오를</a:t>
            </a: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5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위한</a:t>
            </a: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5가지 필수 점검 사항입니다.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523" b="523"/>
          <a:stretch/>
        </p:blipFill>
        <p:spPr>
          <a:xfrm>
            <a:off x="847718" y="3963384"/>
            <a:ext cx="3467405" cy="2286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79692" y="1638902"/>
            <a:ext cx="3255175" cy="1637984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5003534" y="1805613"/>
            <a:ext cx="572518" cy="402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76052" y="2192178"/>
            <a:ext cx="161855" cy="13686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8128" y="2147042"/>
            <a:ext cx="1430865" cy="2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메타 태그 &amp; OG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150178" y="2421859"/>
            <a:ext cx="2878950" cy="516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엔진 최적화(SEO)를 위한 메타 태그와,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SNS 공유 시 보여질 오픈 그래프(OG)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정보를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올바르게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설정하세요.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244073" y="1638902"/>
            <a:ext cx="3255175" cy="1637984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8468776" y="1805613"/>
            <a:ext cx="572518" cy="402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041294" y="2192178"/>
            <a:ext cx="161855" cy="13686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73371" y="2147042"/>
            <a:ext cx="1269871" cy="2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최적화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615420" y="2421859"/>
            <a:ext cx="2878950" cy="516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용량을 압축하고 WebP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형식을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사용하여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로딩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속도를 개선하세요.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점수에 큰 영향을 줍니다.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79692" y="3454517"/>
            <a:ext cx="3255175" cy="1637984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/>
          <p:cNvSpPr txBox="1"/>
          <p:nvPr/>
        </p:nvSpPr>
        <p:spPr>
          <a:xfrm>
            <a:off x="5003534" y="3621227"/>
            <a:ext cx="572518" cy="402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6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576052" y="4008520"/>
            <a:ext cx="161855" cy="13686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808128" y="3963384"/>
            <a:ext cx="1344773" cy="2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 (A11y)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150178" y="4238202"/>
            <a:ext cx="2878950" cy="516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대체 텍스트(alt), 시맨틱 태그,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ARIA 속성을 사용하여 보조 기술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사용자도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웹사이트를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이용할 수 있게 하세요.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244073" y="3454517"/>
            <a:ext cx="3255175" cy="1637984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8468776" y="3621227"/>
            <a:ext cx="572518" cy="402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36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t="-842" b="-842"/>
          <a:stretch/>
        </p:blipFill>
        <p:spPr>
          <a:xfrm>
            <a:off x="9041294" y="4008520"/>
            <a:ext cx="179073" cy="13686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91450" y="3963384"/>
            <a:ext cx="1461859" cy="2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콘트라스트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615420" y="4238202"/>
            <a:ext cx="2878950" cy="516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텍스트와 배경색 간의 명도 대비를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확보하여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높이세요.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4.5:1 비율을 권장합니다.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779692" y="5270859"/>
            <a:ext cx="6716974" cy="1100579"/>
          </a:xfrm>
          <a:prstGeom prst="roundRect">
            <a:avLst>
              <a:gd name="adj" fmla="val 10857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5003534" y="5502361"/>
            <a:ext cx="763645" cy="545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32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 t="-842" b="-842"/>
          <a:stretch/>
        </p:blipFill>
        <p:spPr>
          <a:xfrm>
            <a:off x="5718591" y="5532937"/>
            <a:ext cx="179073" cy="13686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969608" y="5487801"/>
            <a:ext cx="1653846" cy="227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키보드 내비게이션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5699837" y="5748423"/>
            <a:ext cx="5644445" cy="341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마우스 없이 탭(Tab) 키만으로 모든 링크와 버튼에 접근하고 상호작용할 수 있는지 확인하세요.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포커스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스타일도 명확해야 합니다.</a:t>
            </a:r>
            <a:endParaRPr lang="en-US" sz="11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02852" y="448699"/>
            <a:ext cx="2879915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COURSE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SUMMARY 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821306" y="2005339"/>
            <a:ext cx="333756" cy="238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15996" y="1952063"/>
            <a:ext cx="5829300" cy="238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코딩 도구 마스터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5996" y="2237895"/>
            <a:ext cx="5715000" cy="422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Code와 Gemini의 강점을 이해하고,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상황에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따라 적절한 도구를 선택하여 활용하는 능력을 갖췄습니다.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0450" y="3150515"/>
            <a:ext cx="333756" cy="238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140" y="3098084"/>
            <a:ext cx="5829300" cy="238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바이브코딩 프롬프트 전략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140" y="3383071"/>
            <a:ext cx="5715000" cy="422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맥락과 제약 조건을 포함한 프롬프트로 AI와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협업하며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효율적으로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코드를 생성하는 방법을 익혔습니다.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9477" y="4305402"/>
            <a:ext cx="333756" cy="238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14167" y="4252971"/>
            <a:ext cx="5829300" cy="238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제작 및 배포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4167" y="4537958"/>
            <a:ext cx="5715000" cy="422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HTML/CSS로 반응형 구조를 설계하고 GitHub Pages를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세계에 결과물을 배포했습니다.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19477" y="5461204"/>
            <a:ext cx="333756" cy="238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14167" y="5407928"/>
            <a:ext cx="5829300" cy="238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 기능 확장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4167" y="5693760"/>
            <a:ext cx="5715000" cy="422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다크모드, 애니메이션, SEO 최적화 등 완성도를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높이는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기능들을 적용하여 포트폴리오를 업그레이드했습니다.</a:t>
            </a:r>
            <a:endParaRPr lang="en-US" sz="12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 t="-2" b="-2"/>
          <a:stretch/>
        </p:blipFill>
        <p:spPr>
          <a:xfrm>
            <a:off x="7193585" y="609905"/>
            <a:ext cx="4389120" cy="563910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24061" r="24061"/>
          <a:stretch/>
        </p:blipFill>
        <p:spPr>
          <a:xfrm>
            <a:off x="7488369" y="1023878"/>
            <a:ext cx="3799551" cy="4879598"/>
          </a:xfrm>
          <a:prstGeom prst="rect">
            <a:avLst/>
          </a:prstGeom>
        </p:spPr>
      </p:pic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76402" y="32369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1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465582" y="1228165"/>
            <a:ext cx="4734763" cy="119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추가 학습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리소스 &amp; 링크 </a:t>
            </a:r>
            <a:endParaRPr lang="en-US" sz="3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26" b="-26"/>
          <a:stretch/>
        </p:blipFill>
        <p:spPr>
          <a:xfrm>
            <a:off x="727283" y="2782956"/>
            <a:ext cx="4556455" cy="97200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3373" y="3011556"/>
            <a:ext cx="41440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"배움은 끝이 없습니다.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공식 문서와 커뮤니티에서 계속 성장하세요." 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12576" y="4074387"/>
            <a:ext cx="4638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이후에도 지속적인 학습을 위해 엄선한 필수 리소스 모음입니다. </a:t>
            </a:r>
          </a:p>
          <a:p>
            <a:pPr marL="0" indent="0" algn="l">
              <a:buNone/>
            </a:pPr>
            <a:endParaRPr lang="en-US" sz="1200" dirty="0">
              <a:solidFill>
                <a:srgbClr val="444444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즐겨찾기에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추가해두고 필요할 때마다 참고하세요.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l="-760" r="-760"/>
          <a:stretch/>
        </p:blipFill>
        <p:spPr>
          <a:xfrm>
            <a:off x="1012576" y="4918080"/>
            <a:ext cx="152705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760" r="-760"/>
          <a:stretch/>
        </p:blipFill>
        <p:spPr>
          <a:xfrm>
            <a:off x="1012576" y="5280182"/>
            <a:ext cx="152705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12576" y="5642285"/>
            <a:ext cx="171907" cy="17190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78666" y="4889734"/>
            <a:ext cx="3696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문서: Anthropic Docs, Google AI Studio</a:t>
            </a:r>
            <a:endParaRPr lang="en-US" sz="1200" b="1" dirty="0"/>
          </a:p>
        </p:txBody>
      </p:sp>
      <p:sp>
        <p:nvSpPr>
          <p:cNvPr id="13" name="Text 7"/>
          <p:cNvSpPr txBox="1"/>
          <p:nvPr/>
        </p:nvSpPr>
        <p:spPr>
          <a:xfrm>
            <a:off x="1278666" y="5251836"/>
            <a:ext cx="31062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레포: GitHub Portfolio Template</a:t>
            </a:r>
            <a:endParaRPr lang="en-US" sz="1200" b="1" dirty="0"/>
          </a:p>
        </p:txBody>
      </p:sp>
      <p:sp>
        <p:nvSpPr>
          <p:cNvPr id="14" name="Text 8"/>
          <p:cNvSpPr txBox="1"/>
          <p:nvPr/>
        </p:nvSpPr>
        <p:spPr>
          <a:xfrm>
            <a:off x="1297869" y="5613938"/>
            <a:ext cx="3717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가이드: MDN Web Docs, Web.dev 접근성 가이드</a:t>
            </a:r>
            <a:endParaRPr lang="en-US" sz="1200" b="1" dirty="0"/>
          </a:p>
        </p:txBody>
      </p:sp>
      <p:sp>
        <p:nvSpPr>
          <p:cNvPr id="15" name="Text 9"/>
          <p:cNvSpPr txBox="1"/>
          <p:nvPr/>
        </p:nvSpPr>
        <p:spPr>
          <a:xfrm>
            <a:off x="10334884" y="960204"/>
            <a:ext cx="10104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RESOURCES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8099176" y="1232133"/>
            <a:ext cx="3238805" cy="4381805"/>
          </a:xfrm>
          <a:prstGeom prst="roundRect">
            <a:avLst>
              <a:gd name="adj" fmla="val 1993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 l="19582" r="19582"/>
          <a:stretch/>
        </p:blipFill>
        <p:spPr>
          <a:xfrm>
            <a:off x="8136666" y="1270538"/>
            <a:ext cx="3161995" cy="4401007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10202296" y="4737028"/>
            <a:ext cx="1295705" cy="457200"/>
          </a:xfrm>
          <a:prstGeom prst="roundRect">
            <a:avLst>
              <a:gd name="adj" fmla="val 125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2"/>
          <p:cNvSpPr txBox="1"/>
          <p:nvPr/>
        </p:nvSpPr>
        <p:spPr>
          <a:xfrm>
            <a:off x="10430896" y="4880589"/>
            <a:ext cx="914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Bookmarks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5683331" y="2679628"/>
            <a:ext cx="2857500" cy="3619195"/>
          </a:xfrm>
          <a:prstGeom prst="roundRect">
            <a:avLst>
              <a:gd name="adj" fmla="val 2560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rcRect l="23832" r="23832"/>
          <a:stretch/>
        </p:blipFill>
        <p:spPr>
          <a:xfrm>
            <a:off x="5721736" y="2718033"/>
            <a:ext cx="2781605" cy="3543300"/>
          </a:xfrm>
          <a:prstGeom prst="rect">
            <a:avLst/>
          </a:prstGeom>
        </p:spPr>
      </p:pic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826820" y="619391"/>
            <a:ext cx="360639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PRACTICES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CHECKLIST 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826820" y="3012164"/>
            <a:ext cx="38405" cy="8577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058428" y="3105488"/>
            <a:ext cx="33147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성공적인 포트폴리오 배포와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유지보수를 위한 5가지 핵심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 사항입니다.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523" b="523"/>
          <a:stretch/>
        </p:blipFill>
        <p:spPr>
          <a:xfrm>
            <a:off x="826820" y="4145280"/>
            <a:ext cx="3110758" cy="2050869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93C527A1-A94E-5742-51E6-9FC4E8146463}"/>
              </a:ext>
            </a:extLst>
          </p:cNvPr>
          <p:cNvGrpSpPr/>
          <p:nvPr/>
        </p:nvGrpSpPr>
        <p:grpSpPr>
          <a:xfrm>
            <a:off x="4580382" y="1123889"/>
            <a:ext cx="6822337" cy="5000954"/>
            <a:chOff x="4450385" y="514807"/>
            <a:chExt cx="7136891" cy="5828386"/>
          </a:xfrm>
        </p:grpSpPr>
        <p:sp>
          <p:nvSpPr>
            <p:cNvPr id="9" name="Shape 6"/>
            <p:cNvSpPr/>
            <p:nvPr/>
          </p:nvSpPr>
          <p:spPr>
            <a:xfrm>
              <a:off x="4450385" y="514807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4688129" y="724205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3600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145329" y="1237640"/>
              <a:ext cx="171907" cy="171907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5400208" y="1180947"/>
              <a:ext cx="1552651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작은 이터레이션</a:t>
              </a:r>
              <a:endParaRPr lang="en-US" sz="15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4688129" y="1686154"/>
              <a:ext cx="3057754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거창한 계획보다 작은 기능 단위로 개발하고 배포하는 주기를 짧게 가져가 피드백을 빠르게 반영하세요.</a:t>
              </a:r>
              <a:endParaRPr lang="en-US" sz="11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8129930" y="514807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 txBox="1"/>
            <p:nvPr/>
          </p:nvSpPr>
          <p:spPr>
            <a:xfrm>
              <a:off x="8368589" y="724205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3600" dirty="0"/>
            </a:p>
          </p:txBody>
        </p:sp>
        <p:pic>
          <p:nvPicPr>
            <p:cNvPr id="16" name="Image 2" descr="preencoded.png"/>
            <p:cNvPicPr>
              <a:picLocks noChangeAspect="1"/>
            </p:cNvPicPr>
            <p:nvPr/>
          </p:nvPicPr>
          <p:blipFill>
            <a:blip r:embed="rId5"/>
            <a:srcRect l="-760" r="-760"/>
            <a:stretch/>
          </p:blipFill>
          <p:spPr>
            <a:xfrm>
              <a:off x="8825789" y="1237640"/>
              <a:ext cx="152705" cy="171907"/>
            </a:xfrm>
            <a:prstGeom prst="rect">
              <a:avLst/>
            </a:prstGeom>
          </p:spPr>
        </p:pic>
        <p:sp>
          <p:nvSpPr>
            <p:cNvPr id="17" name="Text 12"/>
            <p:cNvSpPr txBox="1"/>
            <p:nvPr/>
          </p:nvSpPr>
          <p:spPr>
            <a:xfrm>
              <a:off x="9062380" y="1180947"/>
              <a:ext cx="1675181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철저한 버전 관리</a:t>
              </a:r>
              <a:endParaRPr lang="en-US" sz="15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8368589" y="1686154"/>
              <a:ext cx="3057754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의미 있는 커밋 메시지를 작성하고, 기능별 브랜치 전략을 활용하여 코드를 안전하게 관리하세요.</a:t>
              </a:r>
              <a:endParaRPr lang="en-US" sz="11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4450385" y="2795321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4688129" y="3004718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36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 t="-842" b="-842"/>
            <a:stretch/>
          </p:blipFill>
          <p:spPr>
            <a:xfrm>
              <a:off x="5145329" y="3519068"/>
              <a:ext cx="190195" cy="171907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5419410" y="3462375"/>
              <a:ext cx="187909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미리보기 및 테스트</a:t>
              </a:r>
              <a:endParaRPr lang="en-US" sz="15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4688129" y="3967582"/>
              <a:ext cx="3057754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배포 전 로컬 서버와 다양한 모바일 환경에서 충분히 테스트하여 UI 깨짐이나 오류를 방지하세요.</a:t>
              </a:r>
              <a:endParaRPr lang="en-US" sz="1100" dirty="0"/>
            </a:p>
          </p:txBody>
        </p:sp>
        <p:sp>
          <p:nvSpPr>
            <p:cNvPr id="24" name="Shape 18"/>
            <p:cNvSpPr/>
            <p:nvPr/>
          </p:nvSpPr>
          <p:spPr>
            <a:xfrm>
              <a:off x="8129930" y="2795321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8368589" y="3004718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04</a:t>
              </a:r>
              <a:endParaRPr lang="en-US" sz="3600" dirty="0"/>
            </a:p>
          </p:txBody>
        </p:sp>
        <p:pic>
          <p:nvPicPr>
            <p:cNvPr id="26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825789" y="3519068"/>
              <a:ext cx="171907" cy="171907"/>
            </a:xfrm>
            <a:prstGeom prst="rect">
              <a:avLst/>
            </a:prstGeom>
          </p:spPr>
        </p:pic>
        <p:sp>
          <p:nvSpPr>
            <p:cNvPr id="27" name="Text 20"/>
            <p:cNvSpPr txBox="1"/>
            <p:nvPr/>
          </p:nvSpPr>
          <p:spPr>
            <a:xfrm>
              <a:off x="9080668" y="3462375"/>
              <a:ext cx="1471270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웹 접근성 준수</a:t>
              </a:r>
              <a:endParaRPr lang="en-US" sz="1500" dirty="0"/>
            </a:p>
          </p:txBody>
        </p:sp>
        <p:sp>
          <p:nvSpPr>
            <p:cNvPr id="28" name="Text 21"/>
            <p:cNvSpPr txBox="1"/>
            <p:nvPr/>
          </p:nvSpPr>
          <p:spPr>
            <a:xfrm>
              <a:off x="8368589" y="3967582"/>
              <a:ext cx="3057754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시맨틱 태그 사용과 이미지 대체 텍스트 제공으로 모든 사용자가 편리하게 이용할 수 있는 웹을 만드세요.</a:t>
              </a:r>
              <a:endParaRPr lang="en-US" sz="1100" dirty="0"/>
            </a:p>
          </p:txBody>
        </p:sp>
        <p:sp>
          <p:nvSpPr>
            <p:cNvPr id="29" name="Shape 22"/>
            <p:cNvSpPr/>
            <p:nvPr/>
          </p:nvSpPr>
          <p:spPr>
            <a:xfrm>
              <a:off x="4450385" y="5076749"/>
              <a:ext cx="7134149" cy="1266444"/>
            </a:xfrm>
            <a:prstGeom prst="roundRect">
              <a:avLst>
                <a:gd name="adj" fmla="val 10857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3"/>
            <p:cNvSpPr txBox="1"/>
            <p:nvPr/>
          </p:nvSpPr>
          <p:spPr>
            <a:xfrm>
              <a:off x="4688129" y="5367528"/>
              <a:ext cx="811073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05</a:t>
              </a:r>
              <a:endParaRPr lang="en-US" sz="3600" dirty="0"/>
            </a:p>
          </p:txBody>
        </p:sp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8"/>
            <a:srcRect l="-1773" r="-1773"/>
            <a:stretch/>
          </p:blipFill>
          <p:spPr>
            <a:xfrm>
              <a:off x="5489095" y="5338120"/>
              <a:ext cx="133502" cy="171907"/>
            </a:xfrm>
            <a:prstGeom prst="rect">
              <a:avLst/>
            </a:prstGeom>
          </p:spPr>
        </p:pic>
        <p:sp>
          <p:nvSpPr>
            <p:cNvPr id="32" name="Text 24"/>
            <p:cNvSpPr txBox="1"/>
            <p:nvPr/>
          </p:nvSpPr>
          <p:spPr>
            <a:xfrm>
              <a:off x="5706483" y="5281427"/>
              <a:ext cx="1675181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릴리즈 노트 작성</a:t>
              </a:r>
              <a:endParaRPr lang="en-US" sz="15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464505" y="5662275"/>
              <a:ext cx="574426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프로젝트의 변경 사항을 기록하고 문서화하여 포트폴리오의 발전 과정을 명확하게 보여주고,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방문자에게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신뢰를 줄 수 있습니다.</a:t>
              </a:r>
              <a:endParaRPr lang="en-US" sz="1100" dirty="0"/>
            </a:p>
          </p:txBody>
        </p:sp>
      </p:grp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2"/>
          <p:cNvSpPr txBox="1"/>
          <p:nvPr/>
        </p:nvSpPr>
        <p:spPr>
          <a:xfrm>
            <a:off x="10341964" y="599847"/>
            <a:ext cx="1316636" cy="2181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TROUBLESHOOTING</a:t>
            </a:r>
            <a:endParaRPr lang="en-US" sz="10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3"/>
          <a:srcRect t="6526" b="6525"/>
          <a:stretch/>
        </p:blipFill>
        <p:spPr>
          <a:xfrm>
            <a:off x="1125500" y="3799788"/>
            <a:ext cx="3619195" cy="2095805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16103" y="628193"/>
            <a:ext cx="1600200" cy="448056"/>
          </a:xfrm>
          <a:prstGeom prst="roundRect">
            <a:avLst>
              <a:gd name="adj" fmla="val 130265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4"/>
          <p:cNvSpPr txBox="1"/>
          <p:nvPr/>
        </p:nvSpPr>
        <p:spPr>
          <a:xfrm>
            <a:off x="1125500" y="751637"/>
            <a:ext cx="11814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TO ASK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916103" y="1533449"/>
            <a:ext cx="2410132" cy="1448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Q&amp;A</a:t>
            </a:r>
            <a:endParaRPr lang="en-US" sz="6000" dirty="0"/>
          </a:p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GUIDE </a:t>
            </a:r>
            <a:endParaRPr lang="en-US" sz="6000" dirty="0"/>
          </a:p>
        </p:txBody>
      </p:sp>
      <p:sp>
        <p:nvSpPr>
          <p:cNvPr id="12" name="Text 6"/>
          <p:cNvSpPr txBox="1"/>
          <p:nvPr/>
        </p:nvSpPr>
        <p:spPr>
          <a:xfrm>
            <a:off x="6328638" y="3429000"/>
            <a:ext cx="54105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문제를 마주했을 때, 정확한 질문은 빠른 해결의 열쇠입니다.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도움을 받기 위해 다음 형식을 참고하여 질문해주세요.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6328638" y="4267504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14592" y="4353458"/>
            <a:ext cx="133502" cy="13350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6748348" y="4305909"/>
            <a:ext cx="4232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 절차: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어떤 순서로 작업했을 때 문제가 발생했나요?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6328638" y="4705502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6405448" y="4791455"/>
            <a:ext cx="152705" cy="13350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48348" y="4743907"/>
            <a:ext cx="48179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에러 로그: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터미널이나 콘솔의 에러 메시지 전문을 공유해주세요.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6328638" y="5143499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14592" y="5229453"/>
            <a:ext cx="133502" cy="13350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748348" y="5181904"/>
            <a:ext cx="4470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스크린샷: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화면 깨짐이나 UI 문제는 스크린샷이 필수입니다.</a:t>
            </a:r>
            <a:endParaRPr lang="en-US" sz="1200" dirty="0"/>
          </a:p>
        </p:txBody>
      </p:sp>
      <p:sp>
        <p:nvSpPr>
          <p:cNvPr id="22" name="Shape 13"/>
          <p:cNvSpPr/>
          <p:nvPr/>
        </p:nvSpPr>
        <p:spPr>
          <a:xfrm>
            <a:off x="6328638" y="5581497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7"/>
          <a:srcRect t="-1100" b="-1100"/>
          <a:stretch/>
        </p:blipFill>
        <p:spPr>
          <a:xfrm>
            <a:off x="6424650" y="5667451"/>
            <a:ext cx="114300" cy="13350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748348" y="5619902"/>
            <a:ext cx="50557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재현 코드: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문제가 발생하는 부분만 간추린 코드를 보여주세요.</a:t>
            </a:r>
            <a:endParaRPr lang="en-US" sz="1200" dirty="0"/>
          </a:p>
        </p:txBody>
      </p:sp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23045" r="23045"/>
          <a:stretch/>
        </p:blipFill>
        <p:spPr>
          <a:xfrm>
            <a:off x="597408" y="727144"/>
            <a:ext cx="4562856" cy="563910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45504" y="461974"/>
            <a:ext cx="6275251" cy="1227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200" b="1" kern="0" spc="-22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THANK</a:t>
            </a:r>
            <a:r>
              <a:rPr lang="en-US" sz="8200" dirty="0"/>
              <a:t> </a:t>
            </a:r>
            <a:r>
              <a:rPr lang="en-US" sz="8200" b="1" kern="0" spc="-22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YOU.</a:t>
            </a:r>
            <a:endParaRPr lang="en-US" sz="8200" dirty="0"/>
          </a:p>
        </p:txBody>
      </p:sp>
      <p:sp>
        <p:nvSpPr>
          <p:cNvPr id="6" name="Shape 3"/>
          <p:cNvSpPr/>
          <p:nvPr/>
        </p:nvSpPr>
        <p:spPr>
          <a:xfrm>
            <a:off x="5737860" y="2145464"/>
            <a:ext cx="38405" cy="6291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 txBox="1"/>
          <p:nvPr/>
        </p:nvSpPr>
        <p:spPr>
          <a:xfrm>
            <a:off x="6004865" y="2145464"/>
            <a:ext cx="566105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수업이 여러분의 개발자 커리어에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성공적인 첫 걸음이 되기를 응원합니다.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746090" y="2993113"/>
            <a:ext cx="5848502" cy="1609344"/>
          </a:xfrm>
          <a:prstGeom prst="roundRect">
            <a:avLst>
              <a:gd name="adj" fmla="val 6724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74690" y="3573757"/>
            <a:ext cx="152705" cy="1527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222492" y="3535352"/>
            <a:ext cx="3318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포트폴리오 URL 커뮤니티에 공유하기</a:t>
            </a:r>
            <a:endParaRPr lang="en-US" sz="12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74690" y="3878252"/>
            <a:ext cx="152705" cy="15270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222492" y="3840762"/>
            <a:ext cx="3598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Repository 'About' 섹션에 태그 추가</a:t>
            </a:r>
            <a:endParaRPr lang="en-US" sz="12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74690" y="4183662"/>
            <a:ext cx="152705" cy="15270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222492" y="4145257"/>
            <a:ext cx="30604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LinkedIn 프로필 'Projects'에 등록하기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5974690" y="3240915"/>
            <a:ext cx="10104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STEPS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46090" y="5303081"/>
            <a:ext cx="152705" cy="152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946670" y="5250502"/>
            <a:ext cx="240876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github.io/</a:t>
            </a:r>
            <a:r>
              <a:rPr lang="en-US" sz="1300" b="1" dirty="0" err="1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aebonleee</a:t>
            </a: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/portfolio</a:t>
            </a:r>
            <a:endParaRPr lang="en-US" sz="13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rcRect l="-1613" r="-1613"/>
          <a:stretch/>
        </p:blipFill>
        <p:spPr>
          <a:xfrm>
            <a:off x="8696050" y="5308026"/>
            <a:ext cx="152705" cy="152705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896632" y="5255447"/>
            <a:ext cx="132130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@vibe-coding</a:t>
            </a:r>
            <a:endParaRPr lang="en-US" sz="13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746090" y="5935846"/>
            <a:ext cx="152705" cy="152705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5946671" y="5884181"/>
            <a:ext cx="195041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aebon@hs.ac.kr</a:t>
            </a:r>
            <a:endParaRPr lang="en-US" sz="1300" dirty="0"/>
          </a:p>
        </p:txBody>
      </p:sp>
      <p:sp>
        <p:nvSpPr>
          <p:cNvPr id="24" name="Text 14"/>
          <p:cNvSpPr txBox="1"/>
          <p:nvPr/>
        </p:nvSpPr>
        <p:spPr>
          <a:xfrm>
            <a:off x="5746090" y="5026018"/>
            <a:ext cx="10579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PORTFOLIO URL</a:t>
            </a:r>
            <a:endParaRPr lang="en-US" sz="900" dirty="0"/>
          </a:p>
        </p:txBody>
      </p:sp>
      <p:sp>
        <p:nvSpPr>
          <p:cNvPr id="25" name="Text 15"/>
          <p:cNvSpPr txBox="1"/>
          <p:nvPr/>
        </p:nvSpPr>
        <p:spPr>
          <a:xfrm>
            <a:off x="8696050" y="5030963"/>
            <a:ext cx="5532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900" dirty="0"/>
          </a:p>
        </p:txBody>
      </p:sp>
      <p:sp>
        <p:nvSpPr>
          <p:cNvPr id="26" name="Text 16"/>
          <p:cNvSpPr txBox="1"/>
          <p:nvPr/>
        </p:nvSpPr>
        <p:spPr>
          <a:xfrm>
            <a:off x="5746090" y="5659697"/>
            <a:ext cx="44805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EMAIL</a:t>
            </a:r>
            <a:endParaRPr lang="en-US" sz="900" dirty="0"/>
          </a:p>
        </p:txBody>
      </p:sp>
      <p:sp>
        <p:nvSpPr>
          <p:cNvPr id="27" name="Text 17"/>
          <p:cNvSpPr txBox="1"/>
          <p:nvPr/>
        </p:nvSpPr>
        <p:spPr>
          <a:xfrm>
            <a:off x="8696050" y="5664642"/>
            <a:ext cx="8293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9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D5A8B268-5410-694D-23DA-776CCCEB2214}"/>
              </a:ext>
            </a:extLst>
          </p:cNvPr>
          <p:cNvGrpSpPr/>
          <p:nvPr/>
        </p:nvGrpSpPr>
        <p:grpSpPr>
          <a:xfrm>
            <a:off x="8635137" y="5929856"/>
            <a:ext cx="2895532" cy="368466"/>
            <a:chOff x="5699455" y="5572888"/>
            <a:chExt cx="3696216" cy="523951"/>
          </a:xfrm>
        </p:grpSpPr>
        <p:sp>
          <p:nvSpPr>
            <p:cNvPr id="29" name="Shape 32">
              <a:extLst>
                <a:ext uri="{FF2B5EF4-FFF2-40B4-BE49-F238E27FC236}">
                  <a16:creationId xmlns:a16="http://schemas.microsoft.com/office/drawing/2014/main" id="{227CD0D5-B05E-9279-C91C-E2844E70928A}"/>
                </a:ext>
              </a:extLst>
            </p:cNvPr>
            <p:cNvSpPr/>
            <p:nvPr/>
          </p:nvSpPr>
          <p:spPr>
            <a:xfrm>
              <a:off x="5699455" y="5572888"/>
              <a:ext cx="3605262" cy="523951"/>
            </a:xfrm>
            <a:prstGeom prst="roundRect">
              <a:avLst>
                <a:gd name="adj" fmla="val 15865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143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 sz="1600"/>
            </a:p>
          </p:txBody>
        </p:sp>
        <p:sp>
          <p:nvSpPr>
            <p:cNvPr id="30" name="Text 33">
              <a:extLst>
                <a:ext uri="{FF2B5EF4-FFF2-40B4-BE49-F238E27FC236}">
                  <a16:creationId xmlns:a16="http://schemas.microsoft.com/office/drawing/2014/main" id="{C36FE728-4EA0-8DED-0A4B-1218036BAD30}"/>
                </a:ext>
              </a:extLst>
            </p:cNvPr>
            <p:cNvSpPr txBox="1"/>
            <p:nvPr/>
          </p:nvSpPr>
          <p:spPr>
            <a:xfrm>
              <a:off x="5843537" y="5686730"/>
              <a:ext cx="3552134" cy="280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https://padlet.com/aebon/vibe26</a:t>
              </a:r>
              <a:endParaRPr lang="en-US" sz="1400" dirty="0"/>
            </a:p>
          </p:txBody>
        </p:sp>
      </p:grpSp>
      <p:sp>
        <p:nvSpPr>
          <p:cNvPr id="3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4527194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해결 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Guide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64434" y="1384371"/>
            <a:ext cx="428305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발생하는 3가지 핵심 에러와 해결 솔루션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5" r="-5"/>
          <a:stretch/>
        </p:blipFill>
        <p:spPr>
          <a:xfrm>
            <a:off x="647091" y="2304134"/>
            <a:ext cx="3480206" cy="391213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8498" y="2467719"/>
            <a:ext cx="3461004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3131924" y="2794920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3298344" y="2946710"/>
            <a:ext cx="200254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04647" y="3098957"/>
            <a:ext cx="30486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 충돌 (Conflict)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904647" y="3508609"/>
            <a:ext cx="3010205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팀원과 동일한 파일의 같은 라인을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수정하여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병합할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 없는 상태입니다.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Rebase나 Merge로 수동 해결이 필요합니다.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04647" y="4670353"/>
            <a:ext cx="2933395" cy="1239721"/>
          </a:xfrm>
          <a:prstGeom prst="roundRect">
            <a:avLst>
              <a:gd name="adj" fmla="val 9700"/>
            </a:avLst>
          </a:prstGeom>
          <a:solidFill>
            <a:srgbClr val="F8F9FA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04647" y="4670353"/>
            <a:ext cx="28346" cy="1239721"/>
          </a:xfrm>
          <a:prstGeom prst="roundRect">
            <a:avLst>
              <a:gd name="adj" fmla="val 355140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066495" y="4803857"/>
            <a:ext cx="619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SOLUTION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1066495" y="4998624"/>
            <a:ext cx="271485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1. </a:t>
            </a:r>
            <a:r>
              <a:rPr lang="en-US" sz="1050" b="1" spc="-100" dirty="0">
                <a:solidFill>
                  <a:srgbClr val="FF69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 --rebase origin main</a:t>
            </a:r>
            <a:endParaRPr lang="en-US" sz="1050" spc="-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2. 충돌 파일 수동 수정 후 저장</a:t>
            </a:r>
            <a:endParaRPr lang="en-US" sz="1050" spc="-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3. </a:t>
            </a:r>
            <a:r>
              <a:rPr lang="en-US" sz="1050" b="1" spc="-100" dirty="0">
                <a:solidFill>
                  <a:srgbClr val="FF69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en-US" sz="1050" b="1" spc="-100" dirty="0">
                <a:solidFill>
                  <a:srgbClr val="FF69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rebase --continue</a:t>
            </a:r>
            <a:endParaRPr lang="en-US" sz="1050" spc="-1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rcRect l="-5" r="-5"/>
          <a:stretch/>
        </p:blipFill>
        <p:spPr>
          <a:xfrm>
            <a:off x="4393388" y="2304134"/>
            <a:ext cx="3480206" cy="391213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74795" y="2467719"/>
            <a:ext cx="3461004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6878220" y="2794920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030925" y="294671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650943" y="3098957"/>
            <a:ext cx="30486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실패 / 404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4650943" y="3508609"/>
            <a:ext cx="3010205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Pages 배포 후 사이트가 열리지 않거나 404 페이지가 표시되는 경우입니다.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650943" y="4670353"/>
            <a:ext cx="2933395" cy="1239721"/>
          </a:xfrm>
          <a:prstGeom prst="roundRect">
            <a:avLst>
              <a:gd name="adj" fmla="val 9700"/>
            </a:avLst>
          </a:prstGeom>
          <a:solidFill>
            <a:srgbClr val="F8F9FA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650943" y="4670353"/>
            <a:ext cx="28346" cy="1239721"/>
          </a:xfrm>
          <a:prstGeom prst="roundRect">
            <a:avLst>
              <a:gd name="adj" fmla="val 355140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4812792" y="4803857"/>
            <a:ext cx="6574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4812792" y="4998624"/>
            <a:ext cx="2714854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• Settings &gt; Pages 브랜치 </a:t>
            </a:r>
            <a:r>
              <a:rPr lang="en-US" sz="1050" b="1" spc="-100" dirty="0">
                <a:solidFill>
                  <a:srgbClr val="FF69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/ root</a:t>
            </a: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확인</a:t>
            </a:r>
            <a:endParaRPr lang="en-US" sz="1050" spc="-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• Actions 탭에서 빌드 에러 로그 확인</a:t>
            </a:r>
            <a:endParaRPr lang="en-US" sz="1050" spc="-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• 캐시 초기화: </a:t>
            </a:r>
            <a:r>
              <a:rPr lang="en-US" sz="1050" b="1" spc="-100" dirty="0">
                <a:solidFill>
                  <a:srgbClr val="FF69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Ctrl+Shift+R</a:t>
            </a: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(강력 새로고침) </a:t>
            </a:r>
            <a:endParaRPr lang="en-US" sz="1050" spc="-1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rcRect l="-3" r="-3"/>
          <a:stretch/>
        </p:blipFill>
        <p:spPr>
          <a:xfrm>
            <a:off x="8139684" y="2304134"/>
            <a:ext cx="3480206" cy="3912138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8121091" y="2467719"/>
            <a:ext cx="3461004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10624517" y="2794920"/>
            <a:ext cx="533095" cy="5330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777222" y="2946710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97240" y="3098957"/>
            <a:ext cx="30486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CORS 정책 오류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397240" y="3508609"/>
            <a:ext cx="3010205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클라이언트(브라우저)에서 외부 API 서버로 직접 요청 시 보안 정책으로 인해 차단되는 현상입니다.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8397240" y="4679955"/>
            <a:ext cx="2933395" cy="1218895"/>
          </a:xfrm>
          <a:prstGeom prst="roundRect">
            <a:avLst>
              <a:gd name="adj" fmla="val 7033"/>
            </a:avLst>
          </a:prstGeom>
          <a:solidFill>
            <a:srgbClr val="F8F9FA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8397240" y="4679955"/>
            <a:ext cx="28346" cy="1218895"/>
          </a:xfrm>
          <a:prstGeom prst="roundRect">
            <a:avLst>
              <a:gd name="adj" fmla="val 302424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5" name="Text 27"/>
          <p:cNvSpPr txBox="1"/>
          <p:nvPr/>
        </p:nvSpPr>
        <p:spPr>
          <a:xfrm>
            <a:off x="8559089" y="4813458"/>
            <a:ext cx="8485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WORKAROUND</a:t>
            </a:r>
            <a:endParaRPr lang="en-US" sz="800" dirty="0"/>
          </a:p>
        </p:txBody>
      </p:sp>
      <p:sp>
        <p:nvSpPr>
          <p:cNvPr id="36" name="Text 28"/>
          <p:cNvSpPr txBox="1"/>
          <p:nvPr/>
        </p:nvSpPr>
        <p:spPr>
          <a:xfrm>
            <a:off x="8559089" y="5009139"/>
            <a:ext cx="2714854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GitHub Pages는 정적 호스팅이므로 서버 설정 불가.</a:t>
            </a:r>
            <a:endParaRPr lang="en-US" sz="1050" spc="-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1. </a:t>
            </a:r>
            <a:r>
              <a:rPr lang="en-US" sz="1050" b="1" spc="-100" dirty="0">
                <a:solidFill>
                  <a:srgbClr val="FF69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CORS 허용된 공개 API</a:t>
            </a: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사용</a:t>
            </a:r>
            <a:endParaRPr lang="en-US" sz="1050" spc="-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spc="-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2. 개발 시엔 로컬 프록시 설정 사용 </a:t>
            </a:r>
            <a:endParaRPr lang="en-US" sz="1050" spc="-1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74584" y="673429"/>
            <a:ext cx="4358810" cy="146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CHECKPOINT </a:t>
            </a: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97688" y="2355896"/>
            <a:ext cx="38405" cy="8577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43422" y="2472204"/>
            <a:ext cx="4165473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설정 완료 확인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항목을 </a:t>
            </a:r>
            <a:r>
              <a:rPr lang="en-US" sz="14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</a:t>
            </a: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4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통과하면</a:t>
            </a: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4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단계로 진행합니다.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523" b="523"/>
          <a:stretch/>
        </p:blipFill>
        <p:spPr>
          <a:xfrm>
            <a:off x="716890" y="3528089"/>
            <a:ext cx="4130651" cy="2723267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57E8D086-C428-B0CD-D5DE-A1F6C1D2B540}"/>
              </a:ext>
            </a:extLst>
          </p:cNvPr>
          <p:cNvGrpSpPr/>
          <p:nvPr/>
        </p:nvGrpSpPr>
        <p:grpSpPr>
          <a:xfrm>
            <a:off x="5442602" y="1301852"/>
            <a:ext cx="6259240" cy="4949504"/>
            <a:chOff x="5363394" y="872455"/>
            <a:chExt cx="6259240" cy="5616429"/>
          </a:xfrm>
        </p:grpSpPr>
        <p:sp>
          <p:nvSpPr>
            <p:cNvPr id="9" name="Shape 6"/>
            <p:cNvSpPr/>
            <p:nvPr/>
          </p:nvSpPr>
          <p:spPr>
            <a:xfrm>
              <a:off x="5363394" y="872455"/>
              <a:ext cx="3015054" cy="1916364"/>
            </a:xfrm>
            <a:prstGeom prst="roundRect">
              <a:avLst>
                <a:gd name="adj" fmla="val 5319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7735198" y="954716"/>
              <a:ext cx="582974" cy="53549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3600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 l="-1064" r="-1064"/>
            <a:stretch/>
          </p:blipFill>
          <p:spPr>
            <a:xfrm>
              <a:off x="5859650" y="1729905"/>
              <a:ext cx="191381" cy="182050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6126528" y="1676645"/>
              <a:ext cx="1866766" cy="293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VS Code 설치/실행 OK</a:t>
              </a:r>
              <a:endParaRPr lang="en-US" sz="14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5570724" y="2098386"/>
              <a:ext cx="2666581" cy="424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b="1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Visual Studio Code가 정상적으로 설치되었고, 오류 없이 실행되는지 확인하세요.</a:t>
              </a:r>
              <a:endParaRPr lang="en-US" sz="1000" b="1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8572222" y="872455"/>
              <a:ext cx="3015054" cy="1916364"/>
            </a:xfrm>
            <a:prstGeom prst="roundRect">
              <a:avLst>
                <a:gd name="adj" fmla="val 5319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 txBox="1"/>
            <p:nvPr/>
          </p:nvSpPr>
          <p:spPr>
            <a:xfrm>
              <a:off x="10944824" y="954716"/>
              <a:ext cx="640060" cy="53549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3600" dirty="0"/>
            </a:p>
          </p:txBody>
        </p:sp>
        <p:pic>
          <p:nvPicPr>
            <p:cNvPr id="16" name="Image 2" descr="preencoded.png"/>
            <p:cNvPicPr>
              <a:picLocks noChangeAspect="1"/>
            </p:cNvPicPr>
            <p:nvPr/>
          </p:nvPicPr>
          <p:blipFill>
            <a:blip r:embed="rId5"/>
            <a:srcRect t="-842" b="-842"/>
            <a:stretch/>
          </p:blipFill>
          <p:spPr>
            <a:xfrm>
              <a:off x="9069276" y="1729905"/>
              <a:ext cx="165864" cy="182050"/>
            </a:xfrm>
            <a:prstGeom prst="rect">
              <a:avLst/>
            </a:prstGeom>
          </p:spPr>
        </p:pic>
        <p:sp>
          <p:nvSpPr>
            <p:cNvPr id="17" name="Text 12"/>
            <p:cNvSpPr txBox="1"/>
            <p:nvPr/>
          </p:nvSpPr>
          <p:spPr>
            <a:xfrm>
              <a:off x="9310636" y="1676645"/>
              <a:ext cx="1868361" cy="293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버전 확인 (Git / Node)</a:t>
              </a:r>
              <a:endParaRPr lang="en-US" sz="14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8780350" y="2098386"/>
              <a:ext cx="2666581" cy="433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b="1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터미널에서 </a:t>
              </a:r>
              <a:r>
                <a:rPr lang="en-US" sz="900" b="1" dirty="0">
                  <a:solidFill>
                    <a:srgbClr val="D3540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git --version</a:t>
              </a:r>
              <a:r>
                <a:rPr lang="en-US" sz="1000" b="1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</a:t>
              </a:r>
              <a:r>
                <a:rPr lang="en-US" sz="900" b="1" dirty="0">
                  <a:solidFill>
                    <a:srgbClr val="D3540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node -v</a:t>
              </a:r>
              <a:r>
                <a:rPr lang="en-US" sz="1000" b="1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명령어가 버전을 정상 출력해야 합니다. </a:t>
              </a:r>
              <a:endParaRPr lang="en-US" sz="1000" b="1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5363394" y="3025096"/>
              <a:ext cx="3015054" cy="1916364"/>
            </a:xfrm>
            <a:prstGeom prst="roundRect">
              <a:avLst>
                <a:gd name="adj" fmla="val 5319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7735198" y="3107358"/>
              <a:ext cx="643250" cy="53549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36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5859650" y="3882546"/>
              <a:ext cx="149915" cy="182050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6084265" y="3829286"/>
              <a:ext cx="1556569" cy="293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확장 프로그램 설치</a:t>
              </a:r>
              <a:endParaRPr lang="en-US" sz="14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5570724" y="4251027"/>
              <a:ext cx="2666581" cy="4241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b="1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Live Server, Prettier, Auto Rename Tag 확장이 설치되었고 활성화 상태인지 점검하세요.</a:t>
              </a:r>
              <a:endParaRPr lang="en-US" sz="1000" b="1" dirty="0"/>
            </a:p>
          </p:txBody>
        </p:sp>
        <p:sp>
          <p:nvSpPr>
            <p:cNvPr id="24" name="Shape 18"/>
            <p:cNvSpPr/>
            <p:nvPr/>
          </p:nvSpPr>
          <p:spPr>
            <a:xfrm>
              <a:off x="8572222" y="3025096"/>
              <a:ext cx="3015054" cy="1916364"/>
            </a:xfrm>
            <a:prstGeom prst="roundRect">
              <a:avLst>
                <a:gd name="adj" fmla="val 5319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10944823" y="3107358"/>
              <a:ext cx="640061" cy="53549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04</a:t>
              </a:r>
              <a:endParaRPr lang="en-US" sz="3600" dirty="0"/>
            </a:p>
          </p:txBody>
        </p:sp>
        <p:pic>
          <p:nvPicPr>
            <p:cNvPr id="26" name="Image 4" descr="preencoded.png"/>
            <p:cNvPicPr>
              <a:picLocks noChangeAspect="1"/>
            </p:cNvPicPr>
            <p:nvPr/>
          </p:nvPicPr>
          <p:blipFill>
            <a:blip r:embed="rId7"/>
            <a:srcRect l="-1064" r="-1064"/>
            <a:stretch/>
          </p:blipFill>
          <p:spPr>
            <a:xfrm>
              <a:off x="9069276" y="3882546"/>
              <a:ext cx="191381" cy="182050"/>
            </a:xfrm>
            <a:prstGeom prst="rect">
              <a:avLst/>
            </a:prstGeom>
          </p:spPr>
        </p:pic>
        <p:sp>
          <p:nvSpPr>
            <p:cNvPr id="27" name="Text 20"/>
            <p:cNvSpPr txBox="1"/>
            <p:nvPr/>
          </p:nvSpPr>
          <p:spPr>
            <a:xfrm>
              <a:off x="9335356" y="3829286"/>
              <a:ext cx="1305381" cy="293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Git 사용자 설정</a:t>
              </a:r>
              <a:endParaRPr lang="en-US" sz="1400" dirty="0"/>
            </a:p>
          </p:txBody>
        </p:sp>
        <p:sp>
          <p:nvSpPr>
            <p:cNvPr id="28" name="Text 21"/>
            <p:cNvSpPr txBox="1"/>
            <p:nvPr/>
          </p:nvSpPr>
          <p:spPr>
            <a:xfrm>
              <a:off x="8780350" y="4251027"/>
              <a:ext cx="2666581" cy="433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900" b="1" dirty="0">
                  <a:solidFill>
                    <a:srgbClr val="D3540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git config</a:t>
              </a:r>
              <a:r>
                <a:rPr lang="en-US" sz="1000" b="1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 user.name과 user.email이 올바르게 등록되었는지 확인하세요. </a:t>
              </a:r>
              <a:endParaRPr lang="en-US" sz="1000" b="1" dirty="0"/>
            </a:p>
          </p:txBody>
        </p:sp>
        <p:sp>
          <p:nvSpPr>
            <p:cNvPr id="29" name="Shape 22"/>
            <p:cNvSpPr/>
            <p:nvPr/>
          </p:nvSpPr>
          <p:spPr>
            <a:xfrm>
              <a:off x="5363394" y="5177738"/>
              <a:ext cx="6221491" cy="1311146"/>
            </a:xfrm>
            <a:prstGeom prst="roundRect">
              <a:avLst>
                <a:gd name="adj" fmla="val 11362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3"/>
            <p:cNvSpPr txBox="1"/>
            <p:nvPr/>
          </p:nvSpPr>
          <p:spPr>
            <a:xfrm>
              <a:off x="10915320" y="5157402"/>
              <a:ext cx="707314" cy="7262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05</a:t>
              </a:r>
              <a:endParaRPr lang="en-US" sz="3600" dirty="0"/>
            </a:p>
          </p:txBody>
        </p:sp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5615036" y="5467733"/>
              <a:ext cx="149915" cy="182050"/>
            </a:xfrm>
            <a:prstGeom prst="rect">
              <a:avLst/>
            </a:prstGeom>
          </p:spPr>
        </p:pic>
        <p:sp>
          <p:nvSpPr>
            <p:cNvPr id="32" name="Text 24"/>
            <p:cNvSpPr txBox="1"/>
            <p:nvPr/>
          </p:nvSpPr>
          <p:spPr>
            <a:xfrm>
              <a:off x="5840449" y="5414474"/>
              <a:ext cx="1878727" cy="293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Live Server 접속 확인</a:t>
              </a:r>
              <a:endParaRPr lang="en-US" sz="14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648724" y="5901095"/>
              <a:ext cx="5846996" cy="433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000" b="1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샘플</a:t>
              </a:r>
              <a:r>
                <a:rPr lang="en-US" sz="1000" b="1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index.html 파일을 만들고 </a:t>
              </a:r>
              <a:r>
                <a:rPr lang="en-US" sz="900" b="1" dirty="0">
                  <a:solidFill>
                    <a:srgbClr val="D3540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Go Live</a:t>
              </a:r>
              <a:r>
                <a:rPr lang="en-US" sz="1000" b="1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버튼을 눌러 </a:t>
              </a:r>
              <a:r>
                <a:rPr lang="en-US" sz="900" b="1" dirty="0">
                  <a:solidFill>
                    <a:srgbClr val="D3540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http://127.0.0.1:5500/</a:t>
              </a:r>
              <a:r>
                <a:rPr lang="en-US" sz="1000" b="1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접속을 확인하세요. </a:t>
              </a:r>
              <a:endParaRPr lang="en-US" sz="1000" b="1" dirty="0"/>
            </a:p>
          </p:txBody>
        </p:sp>
      </p:grp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48310" y="554703"/>
            <a:ext cx="360639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POINT 02 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09905" y="2959938"/>
            <a:ext cx="38405" cy="571500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38505" y="2916486"/>
            <a:ext cx="3314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기본 완성 단계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점검 리스트입니다.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523" b="523"/>
          <a:stretch/>
        </p:blipFill>
        <p:spPr>
          <a:xfrm>
            <a:off x="589684" y="3884778"/>
            <a:ext cx="3467405" cy="2286000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B504C782-201A-A042-09AA-8A10D3EC2520}"/>
              </a:ext>
            </a:extLst>
          </p:cNvPr>
          <p:cNvGrpSpPr/>
          <p:nvPr/>
        </p:nvGrpSpPr>
        <p:grpSpPr>
          <a:xfrm>
            <a:off x="4450385" y="1293876"/>
            <a:ext cx="7136891" cy="3446373"/>
            <a:chOff x="4450385" y="621792"/>
            <a:chExt cx="7136891" cy="4118458"/>
          </a:xfrm>
        </p:grpSpPr>
        <p:sp>
          <p:nvSpPr>
            <p:cNvPr id="9" name="Shape 6"/>
            <p:cNvSpPr/>
            <p:nvPr/>
          </p:nvSpPr>
          <p:spPr>
            <a:xfrm>
              <a:off x="4450385" y="621792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4688129" y="831190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3600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 l="-1064" r="-1064"/>
            <a:stretch/>
          </p:blipFill>
          <p:spPr>
            <a:xfrm>
              <a:off x="5280729" y="1351484"/>
              <a:ext cx="219456" cy="171907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5613433" y="1293877"/>
              <a:ext cx="1717243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시맨틱 HTML 구조</a:t>
              </a:r>
              <a:endParaRPr lang="en-US" sz="15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4765554" y="1680667"/>
              <a:ext cx="2872659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index.html 내부에 header, main, footer 등 의미론적 태그가 올바르게 배치되었는지 확인하세요.</a:t>
              </a:r>
              <a:endParaRPr lang="en-US" sz="11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8129930" y="621792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 txBox="1"/>
            <p:nvPr/>
          </p:nvSpPr>
          <p:spPr>
            <a:xfrm>
              <a:off x="8368589" y="831190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3600" dirty="0"/>
            </a:p>
          </p:txBody>
        </p:sp>
        <p:pic>
          <p:nvPicPr>
            <p:cNvPr id="16" name="Image 2" descr="preencoded.png"/>
            <p:cNvPicPr>
              <a:picLocks noChangeAspect="1"/>
            </p:cNvPicPr>
            <p:nvPr/>
          </p:nvPicPr>
          <p:blipFill>
            <a:blip r:embed="rId5"/>
            <a:srcRect l="-1064" r="-1064"/>
            <a:stretch/>
          </p:blipFill>
          <p:spPr>
            <a:xfrm>
              <a:off x="8961189" y="1351484"/>
              <a:ext cx="219456" cy="171907"/>
            </a:xfrm>
            <a:prstGeom prst="rect">
              <a:avLst/>
            </a:prstGeom>
          </p:spPr>
        </p:pic>
        <p:sp>
          <p:nvSpPr>
            <p:cNvPr id="17" name="Text 12"/>
            <p:cNvSpPr txBox="1"/>
            <p:nvPr/>
          </p:nvSpPr>
          <p:spPr>
            <a:xfrm>
              <a:off x="9292978" y="1293877"/>
              <a:ext cx="1911096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뷰포트 및 CSS 연결</a:t>
              </a:r>
              <a:endParaRPr lang="en-US" sz="15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8325448" y="1730541"/>
              <a:ext cx="3097237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meta viewport 태그가 선언되어 있고, 외부 style.css 파일이 정상적으로 로드되는지 점검하세요.</a:t>
              </a:r>
              <a:endParaRPr lang="en-US" sz="11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4450385" y="2902306"/>
              <a:ext cx="3457346" cy="1837944"/>
            </a:xfrm>
            <a:prstGeom prst="roundRect">
              <a:avLst>
                <a:gd name="adj" fmla="val 5156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4688129" y="3112618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36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5280729" y="3631998"/>
              <a:ext cx="171907" cy="171907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5564970" y="3575305"/>
              <a:ext cx="187909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이미지 대체 텍스트</a:t>
              </a:r>
              <a:endParaRPr lang="en-US" sz="15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4765554" y="3962095"/>
              <a:ext cx="2872659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모든 img 태그에 alt 속성이 작성되어 웹 접근성(Accessibility)을 준수하는지 확인하세요.</a:t>
              </a:r>
              <a:endParaRPr lang="en-US" sz="1100" dirty="0"/>
            </a:p>
          </p:txBody>
        </p:sp>
        <p:sp>
          <p:nvSpPr>
            <p:cNvPr id="24" name="Shape 18"/>
            <p:cNvSpPr/>
            <p:nvPr/>
          </p:nvSpPr>
          <p:spPr>
            <a:xfrm>
              <a:off x="8129930" y="2902306"/>
              <a:ext cx="3457346" cy="1837944"/>
            </a:xfrm>
            <a:prstGeom prst="roundRect">
              <a:avLst>
                <a:gd name="adj" fmla="val 5156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8368589" y="3112618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04</a:t>
              </a:r>
              <a:endParaRPr lang="en-US" sz="3600" dirty="0"/>
            </a:p>
          </p:txBody>
        </p:sp>
        <p:pic>
          <p:nvPicPr>
            <p:cNvPr id="26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961189" y="3631998"/>
              <a:ext cx="171907" cy="171907"/>
            </a:xfrm>
            <a:prstGeom prst="rect">
              <a:avLst/>
            </a:prstGeom>
          </p:spPr>
        </p:pic>
        <p:sp>
          <p:nvSpPr>
            <p:cNvPr id="27" name="Text 20"/>
            <p:cNvSpPr txBox="1"/>
            <p:nvPr/>
          </p:nvSpPr>
          <p:spPr>
            <a:xfrm>
              <a:off x="9245430" y="3575305"/>
              <a:ext cx="1972361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Live Server 렌더링</a:t>
              </a:r>
              <a:endParaRPr lang="en-US" sz="1500" dirty="0"/>
            </a:p>
          </p:txBody>
        </p:sp>
        <p:sp>
          <p:nvSpPr>
            <p:cNvPr id="28" name="Text 21"/>
            <p:cNvSpPr txBox="1"/>
            <p:nvPr/>
          </p:nvSpPr>
          <p:spPr>
            <a:xfrm>
              <a:off x="8446014" y="3962095"/>
              <a:ext cx="2872659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로컬 서버(127.0.0.1)를 통해 폰트와 레이아웃이 브라우저에서 의도한 대로 표시되는지 확인하세요.</a:t>
              </a:r>
              <a:endParaRPr lang="en-US" sz="1100" dirty="0"/>
            </a:p>
          </p:txBody>
        </p:sp>
      </p:grpSp>
      <p:sp>
        <p:nvSpPr>
          <p:cNvPr id="29" name="Shape 22"/>
          <p:cNvSpPr/>
          <p:nvPr/>
        </p:nvSpPr>
        <p:spPr>
          <a:xfrm>
            <a:off x="4450385" y="4969764"/>
            <a:ext cx="7134149" cy="1266444"/>
          </a:xfrm>
          <a:prstGeom prst="roundRect">
            <a:avLst>
              <a:gd name="adj" fmla="val 10857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4688129" y="5260543"/>
            <a:ext cx="8110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40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 l="-1773" r="-1773"/>
          <a:stretch/>
        </p:blipFill>
        <p:spPr>
          <a:xfrm>
            <a:off x="5678424" y="5265115"/>
            <a:ext cx="133502" cy="17190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925174" y="5207508"/>
            <a:ext cx="187909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반응형 점검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5678424" y="5569610"/>
            <a:ext cx="574426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개발자 도구의 디바이스 툴바를 사용하여 360~414px 해상도에서 레이아웃 깨짐이 </a:t>
            </a: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없는지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테스트하세요.</a:t>
            </a:r>
            <a:endParaRPr lang="en-US" sz="1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549554" y="466344"/>
            <a:ext cx="42190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DEPLOYMENT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SUCCESS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CHECKLIST 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50596" y="2828695"/>
            <a:ext cx="38405" cy="8577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19303" y="2804330"/>
            <a:ext cx="33147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</a:t>
            </a:r>
            <a:r>
              <a:rPr lang="en-US" sz="14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체크포인트</a:t>
            </a: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 :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Pages 배포 성공 여부를 </a:t>
            </a:r>
            <a:r>
              <a:rPr lang="en-US" sz="14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확인하는</a:t>
            </a: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</a:t>
            </a: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점검 리스트입니다.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3735" b="3735"/>
          <a:stretch/>
        </p:blipFill>
        <p:spPr>
          <a:xfrm>
            <a:off x="609905" y="3933749"/>
            <a:ext cx="3467405" cy="2286000"/>
          </a:xfrm>
          <a:prstGeom prst="rect">
            <a:avLst/>
          </a:prstGeom>
        </p:spPr>
      </p:pic>
      <p:grpSp>
        <p:nvGrpSpPr>
          <p:cNvPr id="36" name="그룹 35">
            <a:extLst>
              <a:ext uri="{FF2B5EF4-FFF2-40B4-BE49-F238E27FC236}">
                <a16:creationId xmlns:a16="http://schemas.microsoft.com/office/drawing/2014/main" id="{C937E99B-6A4F-D9CF-4327-8252D7283448}"/>
              </a:ext>
            </a:extLst>
          </p:cNvPr>
          <p:cNvGrpSpPr/>
          <p:nvPr/>
        </p:nvGrpSpPr>
        <p:grpSpPr>
          <a:xfrm>
            <a:off x="4576195" y="931178"/>
            <a:ext cx="7141464" cy="5412015"/>
            <a:chOff x="4450385" y="514807"/>
            <a:chExt cx="7141464" cy="5828386"/>
          </a:xfrm>
        </p:grpSpPr>
        <p:sp>
          <p:nvSpPr>
            <p:cNvPr id="9" name="Shape 6"/>
            <p:cNvSpPr/>
            <p:nvPr/>
          </p:nvSpPr>
          <p:spPr>
            <a:xfrm>
              <a:off x="4450385" y="514807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4688129" y="724205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3600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331350" y="1252272"/>
              <a:ext cx="171907" cy="171907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5577840" y="1195579"/>
              <a:ext cx="1451153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Git Push 완료</a:t>
              </a:r>
              <a:endParaRPr lang="en-US" sz="15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4597167" y="1671980"/>
              <a:ext cx="3200400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git remote add, commit, push 명령어가 오류 메시지 없이 정상적으로 실행되었는지 터미널을 확인하세요.</a:t>
              </a:r>
              <a:endParaRPr lang="en-US" sz="11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8129930" y="514807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 txBox="1"/>
            <p:nvPr/>
          </p:nvSpPr>
          <p:spPr>
            <a:xfrm>
              <a:off x="8368589" y="724205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3600" dirty="0"/>
            </a:p>
          </p:txBody>
        </p:sp>
        <p:pic>
          <p:nvPicPr>
            <p:cNvPr id="16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011810" y="1252272"/>
              <a:ext cx="171907" cy="171907"/>
            </a:xfrm>
            <a:prstGeom prst="rect">
              <a:avLst/>
            </a:prstGeom>
          </p:spPr>
        </p:pic>
        <p:sp>
          <p:nvSpPr>
            <p:cNvPr id="17" name="Text 12"/>
            <p:cNvSpPr txBox="1"/>
            <p:nvPr/>
          </p:nvSpPr>
          <p:spPr>
            <a:xfrm>
              <a:off x="9258300" y="1195579"/>
              <a:ext cx="164043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Pages 설정 확인</a:t>
              </a:r>
              <a:endParaRPr lang="en-US" sz="15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8368589" y="1686154"/>
              <a:ext cx="305071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GitHub Settings &gt; Pages 메뉴에서 Branch가 'main'으로, 폴더가 '/(root)'로 올바르게 설정되었는지 점검하세요.</a:t>
              </a:r>
              <a:endParaRPr lang="en-US" sz="11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4450385" y="2795321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4688129" y="3004718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36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5331350" y="3533700"/>
              <a:ext cx="171907" cy="171907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5577840" y="3477007"/>
              <a:ext cx="1397203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URL 접속 상태</a:t>
              </a:r>
              <a:endParaRPr lang="en-US" sz="15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4688129" y="3953408"/>
              <a:ext cx="305071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제공된 배포 URL에 접속했을 때 HTTP 200 OK 상태로 첫 화면이 깨짐 없이 정상 로드되는지 확인하세요.</a:t>
              </a:r>
              <a:endParaRPr lang="en-US" sz="1100" dirty="0"/>
            </a:p>
          </p:txBody>
        </p:sp>
        <p:sp>
          <p:nvSpPr>
            <p:cNvPr id="24" name="Shape 18"/>
            <p:cNvSpPr/>
            <p:nvPr/>
          </p:nvSpPr>
          <p:spPr>
            <a:xfrm>
              <a:off x="8129930" y="2795321"/>
              <a:ext cx="3457346" cy="2057400"/>
            </a:xfrm>
            <a:prstGeom prst="roundRect">
              <a:avLst>
                <a:gd name="adj" fmla="val 4115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8368589" y="3004718"/>
              <a:ext cx="608076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04</a:t>
              </a:r>
              <a:endParaRPr lang="en-US" sz="3600" dirty="0"/>
            </a:p>
          </p:txBody>
        </p:sp>
        <p:pic>
          <p:nvPicPr>
            <p:cNvPr id="26" name="Image 4" descr="preencoded.png"/>
            <p:cNvPicPr>
              <a:picLocks noChangeAspect="1"/>
            </p:cNvPicPr>
            <p:nvPr/>
          </p:nvPicPr>
          <p:blipFill>
            <a:blip r:embed="rId7"/>
            <a:srcRect l="-1773" r="-1773"/>
            <a:stretch/>
          </p:blipFill>
          <p:spPr>
            <a:xfrm>
              <a:off x="9011810" y="3533700"/>
              <a:ext cx="133502" cy="171907"/>
            </a:xfrm>
            <a:prstGeom prst="rect">
              <a:avLst/>
            </a:prstGeom>
          </p:spPr>
        </p:pic>
        <p:sp>
          <p:nvSpPr>
            <p:cNvPr id="27" name="Text 20"/>
            <p:cNvSpPr txBox="1"/>
            <p:nvPr/>
          </p:nvSpPr>
          <p:spPr>
            <a:xfrm>
              <a:off x="9220809" y="3477007"/>
              <a:ext cx="1675181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반응형 동작 검증</a:t>
              </a:r>
              <a:endParaRPr lang="en-US" sz="1500" dirty="0"/>
            </a:p>
          </p:txBody>
        </p:sp>
        <p:sp>
          <p:nvSpPr>
            <p:cNvPr id="28" name="Text 21"/>
            <p:cNvSpPr txBox="1"/>
            <p:nvPr/>
          </p:nvSpPr>
          <p:spPr>
            <a:xfrm>
              <a:off x="8368589" y="3953408"/>
              <a:ext cx="3050715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PC 브라우저와 모바일 기기(또는 개발자 도구) 모두에서 레이아웃이 화면 폭에 맞춰 정상적으로 표시되어야 합니다.</a:t>
              </a:r>
              <a:endParaRPr lang="en-US" sz="1100" dirty="0"/>
            </a:p>
          </p:txBody>
        </p:sp>
        <p:sp>
          <p:nvSpPr>
            <p:cNvPr id="29" name="Shape 22"/>
            <p:cNvSpPr/>
            <p:nvPr/>
          </p:nvSpPr>
          <p:spPr>
            <a:xfrm>
              <a:off x="4450385" y="5076749"/>
              <a:ext cx="7134149" cy="1266444"/>
            </a:xfrm>
            <a:prstGeom prst="roundRect">
              <a:avLst>
                <a:gd name="adj" fmla="val 10857"/>
              </a:avLst>
            </a:prstGeom>
            <a:solidFill>
              <a:srgbClr val="FFFFFF"/>
            </a:solidFill>
            <a:ln w="12700">
              <a:solidFill>
                <a:srgbClr val="EEEEEE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3"/>
            <p:cNvSpPr txBox="1"/>
            <p:nvPr/>
          </p:nvSpPr>
          <p:spPr>
            <a:xfrm>
              <a:off x="4688129" y="5367528"/>
              <a:ext cx="811073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3600" b="1" dirty="0">
                  <a:ln w="9525">
                    <a:solidFill>
                      <a:srgbClr val="FF6908"/>
                    </a:solidFill>
                  </a:ln>
                  <a:solidFill>
                    <a:srgbClr val="FFF3E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05</a:t>
              </a:r>
              <a:endParaRPr lang="en-US" sz="3600" dirty="0"/>
            </a:p>
          </p:txBody>
        </p:sp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8"/>
            <a:srcRect l="-760" r="-760"/>
            <a:stretch/>
          </p:blipFill>
          <p:spPr>
            <a:xfrm>
              <a:off x="5364784" y="5387442"/>
              <a:ext cx="152705" cy="171907"/>
            </a:xfrm>
            <a:prstGeom prst="rect">
              <a:avLst/>
            </a:prstGeom>
          </p:spPr>
        </p:pic>
        <p:sp>
          <p:nvSpPr>
            <p:cNvPr id="32" name="Text 24"/>
            <p:cNvSpPr txBox="1"/>
            <p:nvPr/>
          </p:nvSpPr>
          <p:spPr>
            <a:xfrm>
              <a:off x="5592986" y="5330748"/>
              <a:ext cx="232806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최종 에러 및 링크 검증</a:t>
              </a:r>
              <a:endParaRPr lang="en-US" sz="15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364784" y="5676595"/>
              <a:ext cx="604467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개발자 도구(F12) 콘솔에 빨간색 에러 메시지가 없고, 네비게이션과 버튼 등 페이지 내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모든</a:t>
              </a:r>
              <a:r>
                <a:rPr lang="en-US" sz="1100" dirty="0">
                  <a:solidFill>
                    <a:srgbClr val="66666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링크가 404 없이 정상 작동하는지 최종 확인하세요.</a:t>
              </a:r>
              <a:endParaRPr lang="en-US" sz="1100" dirty="0"/>
            </a:p>
          </p:txBody>
        </p:sp>
        <p:sp>
          <p:nvSpPr>
            <p:cNvPr id="34" name="Shape 26"/>
            <p:cNvSpPr/>
            <p:nvPr/>
          </p:nvSpPr>
          <p:spPr>
            <a:xfrm>
              <a:off x="10058400" y="609905"/>
              <a:ext cx="1533449" cy="381305"/>
            </a:xfrm>
            <a:prstGeom prst="roundRect">
              <a:avLst>
                <a:gd name="adj" fmla="val 119904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254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10210190" y="714146"/>
              <a:ext cx="1305763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CHECKPOINT 03</a:t>
              </a:r>
              <a:endParaRPr lang="en-US" sz="1200" dirty="0"/>
            </a:p>
          </p:txBody>
        </p:sp>
      </p:grp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6302959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Optimization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310335"/>
            <a:ext cx="5257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코딩 성능을 극대화하는 3가지 실전 전략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905" y="1782030"/>
            <a:ext cx="3454603" cy="443933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9905" y="1782030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923544" y="2096584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95451" y="2267577"/>
            <a:ext cx="267005" cy="2670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544" y="2934174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+ 목표 설정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391374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코드 요청이 아닌, 전문가 페르소나와 달성하고자 하는 구체적인 품질 목표를 함께 제시합니다.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23544" y="4528888"/>
            <a:ext cx="2829154" cy="1310780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23544" y="4528888"/>
            <a:ext cx="28346" cy="1310780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104595" y="4681593"/>
            <a:ext cx="95646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BEST PRACTICE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04595" y="4910193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"프론트엔드 멘토로서, 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접근성(WCAG)을 준수한 시맨틱 HTML</a:t>
            </a: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반응형 CSS 코드를 제안해줘." </a:t>
            </a:r>
            <a:endParaRPr lang="en-US" sz="11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369003" y="1782030"/>
            <a:ext cx="3454603" cy="4439337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69003" y="1782030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682642" y="2096584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685" r="-685"/>
          <a:stretch/>
        </p:blipFill>
        <p:spPr>
          <a:xfrm>
            <a:off x="4835347" y="2267577"/>
            <a:ext cx="304495" cy="2670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682642" y="2934174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+ 제약 조건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682642" y="3391374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프로젝트의 폴더 구조, 스타일 가이드, 해상도 등 구체적인 제약 사항을 제공하여 재수정을 방지합니다.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682642" y="4528888"/>
            <a:ext cx="2829154" cy="1310780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682642" y="4528888"/>
            <a:ext cx="28346" cy="1310780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4863694" y="4681593"/>
            <a:ext cx="95646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BEST PRACTICE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863694" y="4910193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"브레이크포인트는 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480/768/1024px</a:t>
            </a: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설정하고, 1280x720 픽셀 안전 영역을 준수해주세요." </a:t>
            </a:r>
            <a:endParaRPr lang="en-US" sz="11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102" y="1782030"/>
            <a:ext cx="3454603" cy="4439337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8128102" y="1782030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8442655" y="2096584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47481" y="2267577"/>
            <a:ext cx="200254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42655" y="2934174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명확한 출력 형식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42655" y="3391374"/>
            <a:ext cx="2905963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결과물의 포맷을 지정하여(코드만, Diff, 체크리스트 등) 검증과 적용이 쉬운 형태로 답변을 받습니다.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8442655" y="4729141"/>
            <a:ext cx="2829154" cy="1079279"/>
          </a:xfrm>
          <a:prstGeom prst="roundRect">
            <a:avLst>
              <a:gd name="adj" fmla="val 11993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8442655" y="4729141"/>
            <a:ext cx="28346" cy="1079279"/>
          </a:xfrm>
          <a:prstGeom prst="roundRect">
            <a:avLst>
              <a:gd name="adj" fmla="val 395002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7"/>
          <p:cNvSpPr txBox="1"/>
          <p:nvPr/>
        </p:nvSpPr>
        <p:spPr>
          <a:xfrm>
            <a:off x="8623706" y="4880932"/>
            <a:ext cx="95646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BEST PRACTICE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8623706" y="5109532"/>
            <a:ext cx="25722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"설명은 줄이고 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Diff 포맷</a:t>
            </a:r>
            <a:r>
              <a:rPr lang="en-US" sz="11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수정 사유를 체크리스트로 정리해서 출력해줘." </a:t>
            </a:r>
            <a:endParaRPr lang="en-US" sz="11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95605"/>
            <a:ext cx="284378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 DEBUGGING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875995"/>
            <a:ext cx="591708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팁 - 디버깅 전략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38708" y="1857751"/>
            <a:ext cx="4238244" cy="3246740"/>
          </a:xfrm>
          <a:prstGeom prst="roundRect">
            <a:avLst>
              <a:gd name="adj" fmla="val 1441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892454" y="2129327"/>
            <a:ext cx="171907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40256" y="2095494"/>
            <a:ext cx="17721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DEBUGGING PROMPT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22368" y="2085435"/>
            <a:ext cx="304495" cy="304495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4417465" y="2171389"/>
            <a:ext cx="114300" cy="1335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9" b="-9"/>
          <a:stretch/>
        </p:blipFill>
        <p:spPr>
          <a:xfrm>
            <a:off x="892454" y="2560922"/>
            <a:ext cx="3760013" cy="230520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2707" y="2761175"/>
            <a:ext cx="3553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[에러 로그]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1092707" y="2989775"/>
            <a:ext cx="3439058" cy="38130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 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   Uncaught TypeError: Cannot read properties of null...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092707" y="3446975"/>
            <a:ext cx="3553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[현재 상황]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1092707" y="3675575"/>
            <a:ext cx="3553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로드 직후 버튼 클릭 시 발생합니다.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1092707" y="3980985"/>
            <a:ext cx="3553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[요청 사항]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1092707" y="4209585"/>
            <a:ext cx="3439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 에러의 원인을 분석하고,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DOM 로딩 시점을 고려한 수정 코드를 제안해주세요.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37794" y="5233734"/>
            <a:ext cx="4238244" cy="1123798"/>
          </a:xfrm>
          <a:prstGeom prst="roundRect">
            <a:avLst>
              <a:gd name="adj" fmla="val 5516"/>
            </a:avLst>
          </a:prstGeom>
          <a:solidFill>
            <a:srgbClr val="FFF8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637794" y="5233734"/>
            <a:ext cx="38405" cy="1123798"/>
          </a:xfrm>
          <a:prstGeom prst="roundRect">
            <a:avLst>
              <a:gd name="adj" fmla="val 161420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66394" y="5412042"/>
            <a:ext cx="133502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37387" y="5404726"/>
            <a:ext cx="12390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PRE-CHECK LIST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866394" y="5624182"/>
            <a:ext cx="40105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에러 재현 단계를 명확히 정리했나요?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866394" y="5810720"/>
            <a:ext cx="40105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문제가 발생하는 최소한의 코드를 추출했나요?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866394" y="5997258"/>
            <a:ext cx="39346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</a:t>
            </a:r>
            <a:r>
              <a:rPr lang="en-US" sz="11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console.log</a:t>
            </a:r>
            <a:r>
              <a:rPr lang="en-US" sz="11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DOM 요소 존재 여부를 확인했나요?</a:t>
            </a:r>
            <a:endParaRPr lang="en-US" sz="11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l="-3425" r="-3425"/>
          <a:stretch/>
        </p:blipFill>
        <p:spPr>
          <a:xfrm>
            <a:off x="5227625" y="1717243"/>
            <a:ext cx="142646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46166" y="1684325"/>
            <a:ext cx="181051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ERROR ANALYSIS &amp; FIX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t="-4" b="-4"/>
          <a:stretch/>
        </p:blipFill>
        <p:spPr>
          <a:xfrm>
            <a:off x="5227625" y="1997964"/>
            <a:ext cx="6355080" cy="440283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5227625" y="1997964"/>
            <a:ext cx="6362395" cy="418795"/>
          </a:xfrm>
          <a:prstGeom prst="roundRect">
            <a:avLst>
              <a:gd name="adj" fmla="val 79397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5379415" y="2147926"/>
            <a:ext cx="114300" cy="114300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570525" y="2147926"/>
            <a:ext cx="114300" cy="114300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5760720" y="2147926"/>
            <a:ext cx="114300" cy="114300"/>
          </a:xfrm>
          <a:prstGeom prst="ellipse">
            <a:avLst/>
          </a:prstGeom>
          <a:solidFill>
            <a:srgbClr val="27C9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6065215" y="2141525"/>
            <a:ext cx="117957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Console &amp; app.js</a:t>
            </a:r>
            <a:endParaRPr lang="en-US" sz="900" dirty="0"/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85B2C7DF-AB3A-957C-92D8-CC905D7DD078}"/>
              </a:ext>
            </a:extLst>
          </p:cNvPr>
          <p:cNvGrpSpPr/>
          <p:nvPr/>
        </p:nvGrpSpPr>
        <p:grpSpPr>
          <a:xfrm>
            <a:off x="5456225" y="2562769"/>
            <a:ext cx="5905195" cy="3649370"/>
            <a:chOff x="5456225" y="2679192"/>
            <a:chExt cx="5905195" cy="3649370"/>
          </a:xfrm>
        </p:grpSpPr>
        <p:sp>
          <p:nvSpPr>
            <p:cNvPr id="33" name="Shape 25"/>
            <p:cNvSpPr/>
            <p:nvPr/>
          </p:nvSpPr>
          <p:spPr>
            <a:xfrm>
              <a:off x="5456225" y="3223260"/>
              <a:ext cx="5905195" cy="9144"/>
            </a:xfrm>
            <a:prstGeom prst="rect">
              <a:avLst/>
            </a:prstGeom>
            <a:solidFill>
              <a:srgbClr val="374151"/>
            </a:solidFill>
            <a:ln w="12700">
              <a:solidFill>
                <a:srgbClr val="37415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4" name="Text 26"/>
            <p:cNvSpPr txBox="1"/>
            <p:nvPr/>
          </p:nvSpPr>
          <p:spPr>
            <a:xfrm>
              <a:off x="5456225" y="2679192"/>
              <a:ext cx="5677510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100" b="1" dirty="0">
                  <a:solidFill>
                    <a:srgbClr val="FF5F56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&gt; Uncaught TypeError: Cannot read properties of null (reading 'addEventListener') at app.js:23</a:t>
              </a:r>
              <a:endParaRPr lang="en-US" sz="1100" dirty="0"/>
            </a:p>
          </p:txBody>
        </p:sp>
        <p:sp>
          <p:nvSpPr>
            <p:cNvPr id="35" name="Text 27"/>
            <p:cNvSpPr txBox="1"/>
            <p:nvPr/>
          </p:nvSpPr>
          <p:spPr>
            <a:xfrm>
              <a:off x="5456225" y="3420770"/>
              <a:ext cx="35625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❌ 문제 원인: 스크립트가 DOM 렌더링 전에 실행됨</a:t>
              </a:r>
              <a:endParaRPr lang="en-US" sz="1100" dirty="0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456225" y="3633826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11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789066" y="3633826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btn</a:t>
              </a:r>
              <a:endParaRPr lang="en-US" sz="11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5989320" y="3633826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6056071" y="3633826"/>
              <a:ext cx="7141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document.</a:t>
              </a:r>
              <a:endParaRPr lang="en-US" sz="11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6655918" y="3633826"/>
              <a:ext cx="103235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querySelector</a:t>
              </a:r>
              <a:endParaRPr lang="en-US" sz="11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7522769" y="3633826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42" name="Text 34"/>
            <p:cNvSpPr txBox="1"/>
            <p:nvPr/>
          </p:nvSpPr>
          <p:spPr>
            <a:xfrm>
              <a:off x="7589520" y="3633826"/>
              <a:ext cx="103235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'#submit-btn'</a:t>
              </a:r>
              <a:endParaRPr lang="en-US" sz="1100" dirty="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8456371" y="3633826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456225" y="3847795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btn.</a:t>
              </a:r>
              <a:endParaRPr lang="en-US" sz="11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722315" y="3847795"/>
              <a:ext cx="12701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addEventListener</a:t>
              </a:r>
              <a:endParaRPr lang="en-US" sz="11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6789420" y="384779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6856171" y="3847795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'click'</a:t>
              </a:r>
              <a:endParaRPr lang="en-US" sz="11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7322515" y="3847795"/>
              <a:ext cx="128290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 handleSubmit);</a:t>
              </a:r>
              <a:endParaRPr lang="en-US" sz="1100" dirty="0"/>
            </a:p>
          </p:txBody>
        </p:sp>
        <p:sp>
          <p:nvSpPr>
            <p:cNvPr id="49" name="Text 41"/>
            <p:cNvSpPr txBox="1"/>
            <p:nvPr/>
          </p:nvSpPr>
          <p:spPr>
            <a:xfrm>
              <a:off x="8456371" y="3847795"/>
              <a:ext cx="1190549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btn is null!</a:t>
              </a:r>
              <a:endParaRPr lang="en-US" sz="1100" dirty="0"/>
            </a:p>
          </p:txBody>
        </p:sp>
        <p:sp>
          <p:nvSpPr>
            <p:cNvPr id="50" name="Text 42"/>
            <p:cNvSpPr txBox="1"/>
            <p:nvPr/>
          </p:nvSpPr>
          <p:spPr>
            <a:xfrm>
              <a:off x="5456225" y="4273906"/>
              <a:ext cx="368777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✅ 해결 방안: DOMContentLoaded 이벤트 리스너 추가</a:t>
              </a:r>
              <a:endParaRPr lang="en-US" sz="1100" dirty="0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5456225" y="4487875"/>
              <a:ext cx="7141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document.</a:t>
              </a:r>
              <a:endParaRPr lang="en-US" sz="11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6056071" y="4487875"/>
              <a:ext cx="12701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addEventListener</a:t>
              </a:r>
              <a:endParaRPr lang="en-US" sz="11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7123176" y="448787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7189013" y="4487875"/>
              <a:ext cx="142829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'DOMContentLoaded'</a:t>
              </a:r>
              <a:endParaRPr lang="en-US" sz="11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8389620" y="4487875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 ()</a:t>
              </a:r>
              <a:endParaRPr lang="en-US" sz="1100" dirty="0"/>
            </a:p>
          </p:txBody>
        </p:sp>
        <p:sp>
          <p:nvSpPr>
            <p:cNvPr id="56" name="Text 48"/>
            <p:cNvSpPr txBox="1"/>
            <p:nvPr/>
          </p:nvSpPr>
          <p:spPr>
            <a:xfrm>
              <a:off x="8723376" y="4487875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=&gt;</a:t>
              </a:r>
              <a:endParaRPr lang="en-US" sz="1100" dirty="0"/>
            </a:p>
          </p:txBody>
        </p:sp>
        <p:sp>
          <p:nvSpPr>
            <p:cNvPr id="57" name="Text 49"/>
            <p:cNvSpPr txBox="1"/>
            <p:nvPr/>
          </p:nvSpPr>
          <p:spPr>
            <a:xfrm>
              <a:off x="8855964" y="448787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{</a:t>
              </a:r>
              <a:endParaRPr lang="en-US" sz="1100" dirty="0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5608015" y="4700930"/>
              <a:ext cx="175290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6A9955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// 안전하게 DOM 요소 선택</a:t>
              </a:r>
              <a:endParaRPr lang="en-US" sz="11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5608015" y="4913986"/>
              <a:ext cx="40965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const</a:t>
              </a:r>
              <a:endParaRPr lang="en-US" sz="11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5941771" y="4913986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btn</a:t>
              </a:r>
              <a:endParaRPr lang="en-US" sz="11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6142025" y="4913986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=</a:t>
              </a:r>
              <a:endParaRPr lang="en-US" sz="11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6208776" y="4913986"/>
              <a:ext cx="714146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document.</a:t>
              </a:r>
              <a:endParaRPr lang="en-US" sz="1100" dirty="0"/>
            </a:p>
          </p:txBody>
        </p:sp>
        <p:sp>
          <p:nvSpPr>
            <p:cNvPr id="63" name="Text 55"/>
            <p:cNvSpPr txBox="1"/>
            <p:nvPr/>
          </p:nvSpPr>
          <p:spPr>
            <a:xfrm>
              <a:off x="6808622" y="4913986"/>
              <a:ext cx="103235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querySelector</a:t>
              </a:r>
              <a:endParaRPr lang="en-US" sz="1100" dirty="0"/>
            </a:p>
          </p:txBody>
        </p:sp>
        <p:sp>
          <p:nvSpPr>
            <p:cNvPr id="64" name="Text 56"/>
            <p:cNvSpPr txBox="1"/>
            <p:nvPr/>
          </p:nvSpPr>
          <p:spPr>
            <a:xfrm>
              <a:off x="7675474" y="4913986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65" name="Text 57"/>
            <p:cNvSpPr txBox="1"/>
            <p:nvPr/>
          </p:nvSpPr>
          <p:spPr>
            <a:xfrm>
              <a:off x="7742225" y="4913986"/>
              <a:ext cx="103235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'#submit-btn'</a:t>
              </a:r>
              <a:endParaRPr lang="en-US" sz="1100" dirty="0"/>
            </a:p>
          </p:txBody>
        </p:sp>
        <p:sp>
          <p:nvSpPr>
            <p:cNvPr id="66" name="Text 58"/>
            <p:cNvSpPr txBox="1"/>
            <p:nvPr/>
          </p:nvSpPr>
          <p:spPr>
            <a:xfrm>
              <a:off x="8609076" y="4913986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67" name="Text 59"/>
            <p:cNvSpPr txBox="1"/>
            <p:nvPr/>
          </p:nvSpPr>
          <p:spPr>
            <a:xfrm>
              <a:off x="5608015" y="5341010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586C0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if</a:t>
              </a:r>
              <a:endParaRPr lang="en-US" sz="1100" dirty="0"/>
            </a:p>
          </p:txBody>
        </p:sp>
        <p:sp>
          <p:nvSpPr>
            <p:cNvPr id="68" name="Text 60"/>
            <p:cNvSpPr txBox="1"/>
            <p:nvPr/>
          </p:nvSpPr>
          <p:spPr>
            <a:xfrm>
              <a:off x="5741518" y="5341010"/>
              <a:ext cx="4764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btn) {</a:t>
              </a:r>
              <a:endParaRPr lang="en-US" sz="1100" dirty="0"/>
            </a:p>
          </p:txBody>
        </p:sp>
        <p:sp>
          <p:nvSpPr>
            <p:cNvPr id="69" name="Text 61"/>
            <p:cNvSpPr txBox="1"/>
            <p:nvPr/>
          </p:nvSpPr>
          <p:spPr>
            <a:xfrm>
              <a:off x="5760720" y="5554066"/>
              <a:ext cx="342900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btn.</a:t>
              </a:r>
              <a:endParaRPr lang="en-US" sz="1100" dirty="0"/>
            </a:p>
          </p:txBody>
        </p:sp>
        <p:sp>
          <p:nvSpPr>
            <p:cNvPr id="70" name="Text 62"/>
            <p:cNvSpPr txBox="1"/>
            <p:nvPr/>
          </p:nvSpPr>
          <p:spPr>
            <a:xfrm>
              <a:off x="6027725" y="5554066"/>
              <a:ext cx="12701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addEventListener</a:t>
              </a:r>
              <a:endParaRPr lang="en-US" sz="1100" dirty="0"/>
            </a:p>
          </p:txBody>
        </p:sp>
        <p:sp>
          <p:nvSpPr>
            <p:cNvPr id="71" name="Text 63"/>
            <p:cNvSpPr txBox="1"/>
            <p:nvPr/>
          </p:nvSpPr>
          <p:spPr>
            <a:xfrm>
              <a:off x="7093915" y="5554066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72" name="Text 64"/>
            <p:cNvSpPr txBox="1"/>
            <p:nvPr/>
          </p:nvSpPr>
          <p:spPr>
            <a:xfrm>
              <a:off x="7160666" y="5554066"/>
              <a:ext cx="555955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'click'</a:t>
              </a:r>
              <a:endParaRPr lang="en-US" sz="1100" dirty="0"/>
            </a:p>
          </p:txBody>
        </p:sp>
        <p:sp>
          <p:nvSpPr>
            <p:cNvPr id="73" name="Text 65"/>
            <p:cNvSpPr txBox="1"/>
            <p:nvPr/>
          </p:nvSpPr>
          <p:spPr>
            <a:xfrm>
              <a:off x="7627925" y="5554066"/>
              <a:ext cx="127010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, handleSubmit);</a:t>
              </a:r>
              <a:endParaRPr lang="en-US" sz="1100" dirty="0"/>
            </a:p>
          </p:txBody>
        </p:sp>
        <p:sp>
          <p:nvSpPr>
            <p:cNvPr id="74" name="Text 66"/>
            <p:cNvSpPr txBox="1"/>
            <p:nvPr/>
          </p:nvSpPr>
          <p:spPr>
            <a:xfrm>
              <a:off x="5760720" y="5768035"/>
              <a:ext cx="63550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console.</a:t>
              </a:r>
              <a:endParaRPr lang="en-US" sz="1100" dirty="0"/>
            </a:p>
          </p:txBody>
        </p:sp>
        <p:sp>
          <p:nvSpPr>
            <p:cNvPr id="75" name="Text 67"/>
            <p:cNvSpPr txBox="1"/>
            <p:nvPr/>
          </p:nvSpPr>
          <p:spPr>
            <a:xfrm>
              <a:off x="6293815" y="5768035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CDCAA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log</a:t>
              </a:r>
              <a:endParaRPr lang="en-US" sz="1100" dirty="0"/>
            </a:p>
          </p:txBody>
        </p:sp>
        <p:sp>
          <p:nvSpPr>
            <p:cNvPr id="76" name="Text 68"/>
            <p:cNvSpPr txBox="1"/>
            <p:nvPr/>
          </p:nvSpPr>
          <p:spPr>
            <a:xfrm>
              <a:off x="6494069" y="5768035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(</a:t>
              </a:r>
              <a:endParaRPr lang="en-US" sz="1100" dirty="0"/>
            </a:p>
          </p:txBody>
        </p:sp>
        <p:sp>
          <p:nvSpPr>
            <p:cNvPr id="77" name="Text 69"/>
            <p:cNvSpPr txBox="1"/>
            <p:nvPr/>
          </p:nvSpPr>
          <p:spPr>
            <a:xfrm>
              <a:off x="6560820" y="5768035"/>
              <a:ext cx="1984248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E9178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'Event listener attached'</a:t>
              </a:r>
              <a:endParaRPr lang="en-US" sz="1100" dirty="0"/>
            </a:p>
          </p:txBody>
        </p:sp>
        <p:sp>
          <p:nvSpPr>
            <p:cNvPr id="78" name="Text 70"/>
            <p:cNvSpPr txBox="1"/>
            <p:nvPr/>
          </p:nvSpPr>
          <p:spPr>
            <a:xfrm>
              <a:off x="8227771" y="5768035"/>
              <a:ext cx="210312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);</a:t>
              </a:r>
              <a:endParaRPr lang="en-US" sz="1100" dirty="0"/>
            </a:p>
          </p:txBody>
        </p:sp>
        <p:sp>
          <p:nvSpPr>
            <p:cNvPr id="79" name="Text 71"/>
            <p:cNvSpPr txBox="1"/>
            <p:nvPr/>
          </p:nvSpPr>
          <p:spPr>
            <a:xfrm>
              <a:off x="5608015" y="5981090"/>
              <a:ext cx="143561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</a:t>
              </a:r>
              <a:endParaRPr lang="en-US" sz="1100" dirty="0"/>
            </a:p>
          </p:txBody>
        </p:sp>
        <p:sp>
          <p:nvSpPr>
            <p:cNvPr id="80" name="Text 72"/>
            <p:cNvSpPr txBox="1"/>
            <p:nvPr/>
          </p:nvSpPr>
          <p:spPr>
            <a:xfrm>
              <a:off x="5456225" y="6195060"/>
              <a:ext cx="277063" cy="1335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D4D4D4"/>
                  </a:solidFill>
                  <a:latin typeface="Nanum Gothic Coding" pitchFamily="34" charset="0"/>
                  <a:ea typeface="Nanum Gothic Coding" pitchFamily="34" charset="-122"/>
                  <a:cs typeface="Nanum Gothic Coding" pitchFamily="34" charset="-120"/>
                </a:rPr>
                <a:t>});</a:t>
              </a:r>
              <a:endParaRPr lang="en-US" sz="1100" dirty="0"/>
            </a:p>
          </p:txBody>
        </p:sp>
      </p:grpSp>
      <p:sp>
        <p:nvSpPr>
          <p:cNvPr id="8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28909" y="745421"/>
            <a:ext cx="6305702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PERFORMANCE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MEASUREMENT 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293830" y="2533459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788520" y="2476766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Lighthouse (Chrome DevTools)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88520" y="2784919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Chrome 개발자 도구 내장 도구로 Performance, Accessibility, Best Practices,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 점수를 측정하며, 모든 항목 90점 이상 달성을 목표로 합니다.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93830" y="3623424"/>
            <a:ext cx="6126480" cy="91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3830" y="3842880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788520" y="3785272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PageSpeed Insights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788520" y="409434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구글의 공식 분석 도구를 활용하여 실제 사용자(Field) 데이터와 실험실(Lab)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종합적으로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분석하고 모바일/데스크톱 최적화 가이드를 확인합니다.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93830" y="4931930"/>
            <a:ext cx="6126480" cy="91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93830" y="5151386"/>
            <a:ext cx="3337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788520" y="5093779"/>
            <a:ext cx="5829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최적화 전략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788520" y="5402846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차세대 포맷(WebP/AVIF) 변환, CSS/JS 리소스 최소화 및 번들링,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렌더링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차단 리소스 제거를 통해 로딩 속도를 획기적으로 개선합니다.</a:t>
            </a:r>
            <a:endParaRPr lang="en-US" sz="1200" dirty="0"/>
          </a:p>
        </p:txBody>
      </p:sp>
      <p:pic>
        <p:nvPicPr>
          <p:cNvPr id="18" name="Image 5" descr="preencoded.png">
            <a:extLst>
              <a:ext uri="{FF2B5EF4-FFF2-40B4-BE49-F238E27FC236}">
                <a16:creationId xmlns:a16="http://schemas.microsoft.com/office/drawing/2014/main" id="{1DCB835E-A473-0464-1E25-47F59AF0CD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759" r="24759"/>
          <a:stretch/>
        </p:blipFill>
        <p:spPr>
          <a:xfrm>
            <a:off x="7778753" y="1052447"/>
            <a:ext cx="3803341" cy="5022751"/>
          </a:xfrm>
          <a:prstGeom prst="rect">
            <a:avLst/>
          </a:prstGeom>
        </p:spPr>
      </p:pic>
      <p:sp>
        <p:nvSpPr>
          <p:cNvPr id="1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60867" y="645791"/>
            <a:ext cx="360639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LAUNCH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CHECKLIST 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31607" y="3074438"/>
            <a:ext cx="38405" cy="571500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60207" y="3133161"/>
            <a:ext cx="3314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전 반드시 확인해야 할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5가지 핵심 점검 사항입니다.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3735" b="3735"/>
          <a:stretch/>
        </p:blipFill>
        <p:spPr>
          <a:xfrm>
            <a:off x="631607" y="4027242"/>
            <a:ext cx="3467405" cy="2286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472087" y="1241091"/>
            <a:ext cx="3457346" cy="176828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7346047" y="1265901"/>
            <a:ext cx="608076" cy="434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6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317907" y="1840346"/>
            <a:ext cx="171907" cy="1477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86284" y="1784936"/>
            <a:ext cx="2063801" cy="245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성능 (Performance)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709831" y="2247832"/>
            <a:ext cx="3057754" cy="55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압축(WebP), Lazy-loading 적용, 불필요한 JS/CSS 제거 및 번들 최소화를 확인하세요.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51632" y="1241091"/>
            <a:ext cx="3457346" cy="176828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1026507" y="1265901"/>
            <a:ext cx="608076" cy="434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998367" y="1840346"/>
            <a:ext cx="171907" cy="14774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66744" y="1796331"/>
            <a:ext cx="1105510" cy="245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최적화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390291" y="2247832"/>
            <a:ext cx="3057754" cy="55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title, meta description, OG 태그가 올바른지 확인하고, 시맨틱 태그 구조를 준수했는지 점검하세요.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472087" y="3189736"/>
            <a:ext cx="3457346" cy="176828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/>
          <p:cNvSpPr txBox="1"/>
          <p:nvPr/>
        </p:nvSpPr>
        <p:spPr>
          <a:xfrm>
            <a:off x="7346047" y="3225941"/>
            <a:ext cx="608076" cy="434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6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317907" y="3664813"/>
            <a:ext cx="171907" cy="14774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86284" y="3609403"/>
            <a:ext cx="1723644" cy="245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접근성 (A11y)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4709831" y="4072300"/>
            <a:ext cx="3057754" cy="55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이미지에 대체 텍스트(alt)가 있는지, 키보드만으로 내비게이션이 가능한지, 색상 대비가 충분한지 확인하세요.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151632" y="3201132"/>
            <a:ext cx="3457346" cy="1768280"/>
          </a:xfrm>
          <a:prstGeom prst="roundRect">
            <a:avLst>
              <a:gd name="adj" fmla="val 411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11026507" y="3225941"/>
            <a:ext cx="608076" cy="434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36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-760" r="-760"/>
          <a:stretch/>
        </p:blipFill>
        <p:spPr>
          <a:xfrm>
            <a:off x="8998367" y="3664813"/>
            <a:ext cx="152705" cy="147749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8456" y="3609403"/>
            <a:ext cx="1564538" cy="245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(Security)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8390291" y="4072300"/>
            <a:ext cx="3057754" cy="55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HTTPS가 활성화되었는지, 민감한 API 키나 개인정보가 코드에 노출되지 않았는지(.env 사용) 확인하세요.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472087" y="5161958"/>
            <a:ext cx="7134149" cy="1229972"/>
          </a:xfrm>
          <a:prstGeom prst="roundRect">
            <a:avLst>
              <a:gd name="adj" fmla="val 10857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10984796" y="5132807"/>
            <a:ext cx="811073" cy="589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36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 l="-760" r="-760"/>
          <a:stretch/>
        </p:blipFill>
        <p:spPr>
          <a:xfrm>
            <a:off x="4777954" y="5444883"/>
            <a:ext cx="152705" cy="147749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028043" y="5389473"/>
            <a:ext cx="2029968" cy="245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 및 호환성 (QA)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777954" y="5706588"/>
            <a:ext cx="6631803" cy="36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콘솔 에러가 0인지, 깨진 링크(404)가 없는지 확인하고, 다양한 디바이스와 브라우저에서 반응형 </a:t>
            </a: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레이아웃이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깨지지</a:t>
            </a: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않는지 최종 점검하세요.</a:t>
            </a:r>
            <a:endParaRPr lang="en-US" sz="11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751554" y="1135287"/>
            <a:ext cx="360639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CLASS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TIMELINE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GUIDE 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4648837" y="1375745"/>
            <a:ext cx="45719" cy="274035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827446" y="1431604"/>
            <a:ext cx="7122259" cy="3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수업의 효율적인 </a:t>
            </a:r>
            <a:r>
              <a:rPr lang="en-US" sz="14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진행을</a:t>
            </a: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4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위한</a:t>
            </a: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400" dirty="0" err="1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</a:t>
            </a: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배분 및 휴식 가이드입니다.</a:t>
            </a:r>
            <a:endParaRPr lang="en-US" sz="14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554" b="554"/>
          <a:stretch/>
        </p:blipFill>
        <p:spPr>
          <a:xfrm>
            <a:off x="680463" y="3776095"/>
            <a:ext cx="3467405" cy="2286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16723" y="1878237"/>
            <a:ext cx="3476549" cy="1552651"/>
          </a:xfrm>
          <a:prstGeom prst="roundRect">
            <a:avLst>
              <a:gd name="adj" fmla="val 7226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4854467" y="2058374"/>
            <a:ext cx="9811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0-40m</a:t>
            </a:r>
            <a:endParaRPr lang="en-US" sz="24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4854467" y="2511002"/>
            <a:ext cx="190195" cy="15270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95412" y="2475693"/>
            <a:ext cx="161848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및 환경 설정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854467" y="2773435"/>
            <a:ext cx="30769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개요, VS Code 및 Git 설치, Claude/Gemini </a:t>
            </a:r>
            <a:r>
              <a:rPr lang="en-US" sz="10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</a:t>
            </a: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</a:t>
            </a: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API 키 발급을 완료합니다.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277980" y="1878237"/>
            <a:ext cx="3476549" cy="1552651"/>
          </a:xfrm>
          <a:prstGeom prst="roundRect">
            <a:avLst>
              <a:gd name="adj" fmla="val 7226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8515724" y="2058374"/>
            <a:ext cx="11768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40-80m</a:t>
            </a:r>
            <a:endParaRPr lang="en-US" sz="2400" dirty="0"/>
          </a:p>
        </p:txBody>
      </p:sp>
      <p:sp>
        <p:nvSpPr>
          <p:cNvPr id="16" name="Shape 12"/>
          <p:cNvSpPr/>
          <p:nvPr/>
        </p:nvSpPr>
        <p:spPr>
          <a:xfrm>
            <a:off x="10702969" y="2077576"/>
            <a:ext cx="809244" cy="209398"/>
          </a:xfrm>
          <a:prstGeom prst="roundRect">
            <a:avLst>
              <a:gd name="adj" fmla="val 79396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10779779" y="2096779"/>
            <a:ext cx="7342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10m BREAK</a:t>
            </a:r>
            <a:endParaRPr lang="en-US" sz="9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8515724" y="2587811"/>
            <a:ext cx="190195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756670" y="2551588"/>
            <a:ext cx="114482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 실습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515724" y="2849330"/>
            <a:ext cx="30769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Claude와 Gemini 기본 사용법 실습 후, 본격적인 </a:t>
            </a:r>
            <a:r>
              <a:rPr lang="en-US" sz="10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</a:t>
            </a: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10분간 휴식합니다.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616723" y="3612854"/>
            <a:ext cx="3476549" cy="1552651"/>
          </a:xfrm>
          <a:prstGeom prst="roundRect">
            <a:avLst>
              <a:gd name="adj" fmla="val 7226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/>
          <p:cNvSpPr txBox="1"/>
          <p:nvPr/>
        </p:nvSpPr>
        <p:spPr>
          <a:xfrm>
            <a:off x="4854467" y="3793905"/>
            <a:ext cx="13725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90-130m</a:t>
            </a:r>
            <a:endParaRPr lang="en-US" sz="24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4854467" y="4246533"/>
            <a:ext cx="171907" cy="15270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076210" y="4211224"/>
            <a:ext cx="139811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제작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854467" y="4508051"/>
            <a:ext cx="30769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HTML 구조 설계, CSS 스타일링, 반응형 구현 등 핵심 코딩을 집중적으로 진행합니다.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277980" y="3612854"/>
            <a:ext cx="3476549" cy="1552651"/>
          </a:xfrm>
          <a:prstGeom prst="roundRect">
            <a:avLst>
              <a:gd name="adj" fmla="val 7226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8515724" y="3793905"/>
            <a:ext cx="15681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130-150m</a:t>
            </a:r>
            <a:endParaRPr lang="en-US" sz="2400" dirty="0"/>
          </a:p>
        </p:txBody>
      </p:sp>
      <p:sp>
        <p:nvSpPr>
          <p:cNvPr id="28" name="Shape 22"/>
          <p:cNvSpPr/>
          <p:nvPr/>
        </p:nvSpPr>
        <p:spPr>
          <a:xfrm>
            <a:off x="10770635" y="3813107"/>
            <a:ext cx="743407" cy="209398"/>
          </a:xfrm>
          <a:prstGeom prst="roundRect">
            <a:avLst>
              <a:gd name="adj" fmla="val 79396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10846530" y="3832310"/>
            <a:ext cx="667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5m BREAK</a:t>
            </a:r>
            <a:endParaRPr lang="en-US" sz="9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515724" y="4322428"/>
            <a:ext cx="152705" cy="152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719179" y="4287119"/>
            <a:ext cx="112288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배포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8515724" y="4584861"/>
            <a:ext cx="30769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 푸시 및 Pages 설정을 완료하고 배포 성공을 확인한 뒤 잠시 휴식합니다.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4616723" y="5348385"/>
            <a:ext cx="7134149" cy="905256"/>
          </a:xfrm>
          <a:prstGeom prst="roundRect">
            <a:avLst>
              <a:gd name="adj" fmla="val 21265"/>
            </a:avLst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  <a:effectLst>
            <a:outerShdw blurRad="1397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7"/>
          <p:cNvSpPr txBox="1"/>
          <p:nvPr/>
        </p:nvSpPr>
        <p:spPr>
          <a:xfrm>
            <a:off x="4854467" y="5542238"/>
            <a:ext cx="1265530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ln w="9525">
                  <a:solidFill>
                    <a:srgbClr val="FF6908"/>
                  </a:solidFill>
                </a:ln>
                <a:solidFill>
                  <a:srgbClr val="FFF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180m</a:t>
            </a:r>
            <a:endParaRPr lang="en-US" sz="360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t="-43" b="-43"/>
          <a:stretch/>
        </p:blipFill>
        <p:spPr>
          <a:xfrm>
            <a:off x="6252584" y="5600759"/>
            <a:ext cx="133502" cy="15270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436837" y="5565451"/>
            <a:ext cx="18022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 기능 및 마무리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252584" y="5863192"/>
            <a:ext cx="60313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다크모드 등 추가 기능을 구현하고, Q&amp;A 세션을 통해 학습 내용을 정리하며 수업을 마칩니다.</a:t>
            </a:r>
            <a:endParaRPr lang="en-US" sz="1000" dirty="0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609905" y="609905"/>
            <a:ext cx="72009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FAQ &amp; 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Troubleshooting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310335"/>
            <a:ext cx="72009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바이브코딩 중 자주 마주하는 문제와 해결 가이드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905" y="2053742"/>
            <a:ext cx="3454603" cy="4195267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9905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923544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95451" y="2539289"/>
            <a:ext cx="267005" cy="2670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544" y="3205886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실행 에러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663086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"AI가 짠 코드가 작동하지 않아요."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단순히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 된다고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하기보다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정보를 제공해야 합니다.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23544" y="4800600"/>
            <a:ext cx="2829154" cy="1133856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23544" y="4800600"/>
            <a:ext cx="28346" cy="1133856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104595" y="4953305"/>
            <a:ext cx="667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SOLUTION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04595" y="5212994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"터미널의 </a:t>
            </a: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에러 메시지 전체</a:t>
            </a:r>
            <a:r>
              <a:rPr lang="en-US" sz="1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 현재 작성된 관련 코드를 함께 복사해서 제공하세요." </a:t>
            </a:r>
            <a:endParaRPr lang="en-US" sz="10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369003" y="2053742"/>
            <a:ext cx="3454603" cy="4195267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369003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682642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54550" y="2539289"/>
            <a:ext cx="267005" cy="2670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682642" y="3205886"/>
            <a:ext cx="294253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후 404 에러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682642" y="3663086"/>
            <a:ext cx="29059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Pages 배포 후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찾을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 없다면 파일 위치와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확인해야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합니다.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682642" y="4800600"/>
            <a:ext cx="2829154" cy="1133856"/>
          </a:xfrm>
          <a:prstGeom prst="roundRect">
            <a:avLst>
              <a:gd name="adj" fmla="val 8132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4682642" y="4800600"/>
            <a:ext cx="28346" cy="1133856"/>
          </a:xfrm>
          <a:prstGeom prst="roundRect">
            <a:avLst>
              <a:gd name="adj" fmla="val 325296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4863694" y="4953305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CHECKPOINT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4863694" y="5212994"/>
            <a:ext cx="2572207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"저장소 최상위에 </a:t>
            </a: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index.html</a:t>
            </a:r>
            <a:r>
              <a:rPr lang="en-US" sz="1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있는지 확인하고, 배포 브랜치가 main인지 점검하세요." </a:t>
            </a:r>
            <a:endParaRPr lang="en-US" sz="10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102" y="2053742"/>
            <a:ext cx="3454603" cy="4195267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8128102" y="2053742"/>
            <a:ext cx="3435401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2"/>
          <p:cNvSpPr/>
          <p:nvPr/>
        </p:nvSpPr>
        <p:spPr>
          <a:xfrm>
            <a:off x="8442655" y="2368296"/>
            <a:ext cx="609905" cy="60990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13648" y="2539289"/>
            <a:ext cx="267005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442655" y="3205886"/>
            <a:ext cx="302026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 깨짐 현상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42655" y="3663086"/>
            <a:ext cx="2905963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로컬에서는 잘 되는데 배포 후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이미지가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 보이거나 스타일이 적용되지 않는 경우입니다.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8442655" y="5000854"/>
            <a:ext cx="2829154" cy="933602"/>
          </a:xfrm>
          <a:prstGeom prst="roundRect">
            <a:avLst>
              <a:gd name="adj" fmla="val 11993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6"/>
          <p:cNvSpPr/>
          <p:nvPr/>
        </p:nvSpPr>
        <p:spPr>
          <a:xfrm>
            <a:off x="8442655" y="5000854"/>
            <a:ext cx="28346" cy="933602"/>
          </a:xfrm>
          <a:prstGeom prst="roundRect">
            <a:avLst>
              <a:gd name="adj" fmla="val 395002"/>
            </a:avLst>
          </a:prstGeom>
          <a:solidFill>
            <a:srgbClr val="CBD5E0"/>
          </a:solidFill>
          <a:ln w="12700">
            <a:solidFill>
              <a:srgbClr val="CBD5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7"/>
          <p:cNvSpPr txBox="1"/>
          <p:nvPr/>
        </p:nvSpPr>
        <p:spPr>
          <a:xfrm>
            <a:off x="8623706" y="5152644"/>
            <a:ext cx="8193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888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CORRECTION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8623706" y="5412333"/>
            <a:ext cx="25722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"절대 경로(/css) 대신 </a:t>
            </a: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상대 경로(./css)</a:t>
            </a:r>
            <a:r>
              <a:rPr lang="en-US" sz="1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사용하여 리소스를 연결하세요." 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76402" y="314554"/>
            <a:ext cx="1519733" cy="1276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FF6908">
                    <a:alpha val="1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0" dirty="0"/>
          </a:p>
        </p:txBody>
      </p:sp>
      <p:sp>
        <p:nvSpPr>
          <p:cNvPr id="5" name="Text 3"/>
          <p:cNvSpPr txBox="1"/>
          <p:nvPr/>
        </p:nvSpPr>
        <p:spPr>
          <a:xfrm>
            <a:off x="1666918" y="848562"/>
            <a:ext cx="5277002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추가 학습 리소스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CURATED LINKS </a:t>
            </a:r>
            <a:endParaRPr lang="en-US" sz="3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17" r="-17"/>
          <a:stretch/>
        </p:blipFill>
        <p:spPr>
          <a:xfrm>
            <a:off x="609905" y="2346350"/>
            <a:ext cx="5486095" cy="7616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8505" y="2499055"/>
            <a:ext cx="5134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"배움은 끝이 없습니다. </a:t>
            </a:r>
          </a:p>
          <a:p>
            <a:pPr marL="0" indent="0" algn="l">
              <a:buNone/>
            </a:pPr>
            <a:r>
              <a:rPr lang="en-US" sz="1200" b="1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</a:t>
            </a:r>
            <a:r>
              <a:rPr lang="en-US" sz="1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문서와 활발한 커뮤니티를 통해 개발 역량을 지속적으로 확장하세요."</a:t>
            </a:r>
            <a:endParaRPr lang="en-US" sz="1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609905" y="3422599"/>
            <a:ext cx="114300" cy="13350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0217" y="3380079"/>
            <a:ext cx="752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문서</a:t>
            </a:r>
            <a:endParaRPr lang="en-US" sz="12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609905" y="4924044"/>
            <a:ext cx="171907" cy="1335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6910" y="488152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커뮤니티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2619246" y="3422599"/>
            <a:ext cx="171907" cy="1335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2886251" y="3380079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튜토리얼</a:t>
            </a:r>
            <a:endParaRPr lang="en-US" sz="12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4559450" y="3429667"/>
            <a:ext cx="105156" cy="13350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4759704" y="3387147"/>
            <a:ext cx="12426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영감</a:t>
            </a:r>
            <a:endParaRPr lang="en-US" sz="1200" dirty="0"/>
          </a:p>
        </p:txBody>
      </p:sp>
      <p:sp>
        <p:nvSpPr>
          <p:cNvPr id="16" name="Text 9"/>
          <p:cNvSpPr txBox="1"/>
          <p:nvPr/>
        </p:nvSpPr>
        <p:spPr>
          <a:xfrm>
            <a:off x="820217" y="3694633"/>
            <a:ext cx="12134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API Docs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820217" y="3946093"/>
            <a:ext cx="12472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AI Studio</a:t>
            </a:r>
            <a:endParaRPr lang="en-US" sz="1000" dirty="0"/>
          </a:p>
        </p:txBody>
      </p:sp>
      <p:sp>
        <p:nvSpPr>
          <p:cNvPr id="18" name="Text 11"/>
          <p:cNvSpPr txBox="1"/>
          <p:nvPr/>
        </p:nvSpPr>
        <p:spPr>
          <a:xfrm>
            <a:off x="820217" y="4197553"/>
            <a:ext cx="9116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Docs</a:t>
            </a:r>
            <a:endParaRPr lang="en-US" sz="1000" dirty="0"/>
          </a:p>
        </p:txBody>
      </p:sp>
      <p:sp>
        <p:nvSpPr>
          <p:cNvPr id="19" name="Text 12"/>
          <p:cNvSpPr txBox="1"/>
          <p:nvPr/>
        </p:nvSpPr>
        <p:spPr>
          <a:xfrm>
            <a:off x="820217" y="4449013"/>
            <a:ext cx="10287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MDN Web Docs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820217" y="5196078"/>
            <a:ext cx="112288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Overflow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820217" y="54475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Discussions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820217" y="5698998"/>
            <a:ext cx="12426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Reddit r/webdev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2829558" y="3694633"/>
            <a:ext cx="10104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freeCodeCamp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>
            <a:off x="2829558" y="3946093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Web.dev (Google)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2829558" y="4197553"/>
            <a:ext cx="782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CSS-Tricks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4769762" y="3701701"/>
            <a:ext cx="7525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Awwwards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4769762" y="3953161"/>
            <a:ext cx="6199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Behance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769762" y="4204621"/>
            <a:ext cx="6464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Dribbble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10533071" y="772209"/>
            <a:ext cx="10104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RESOURCES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8533278" y="1169060"/>
            <a:ext cx="3047695" cy="4000500"/>
          </a:xfrm>
          <a:prstGeom prst="roundRect">
            <a:avLst>
              <a:gd name="adj" fmla="val 2250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 l="24759" r="24759"/>
          <a:stretch/>
        </p:blipFill>
        <p:spPr>
          <a:xfrm>
            <a:off x="8571683" y="1207465"/>
            <a:ext cx="2971800" cy="3924605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7093960" y="2769260"/>
            <a:ext cx="2667305" cy="3238805"/>
          </a:xfrm>
          <a:prstGeom prst="roundRect">
            <a:avLst>
              <a:gd name="adj" fmla="val 2938"/>
            </a:avLst>
          </a:prstGeom>
          <a:noFill/>
          <a:ln w="50800">
            <a:solidFill>
              <a:srgbClr val="FFFFFF"/>
            </a:solidFill>
            <a:prstDash val="solid"/>
          </a:ln>
          <a:effectLst>
            <a:outerShdw blurRad="228600" dist="1143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 l="22691" r="22691"/>
          <a:stretch/>
        </p:blipFill>
        <p:spPr>
          <a:xfrm>
            <a:off x="7132365" y="2807665"/>
            <a:ext cx="2590495" cy="3161995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8482934" y="5293004"/>
            <a:ext cx="1390802" cy="390449"/>
          </a:xfrm>
          <a:prstGeom prst="roundRect">
            <a:avLst>
              <a:gd name="adj" fmla="val 17136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8711534" y="5407304"/>
            <a:ext cx="111099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Keep Learning</a:t>
            </a:r>
            <a:endParaRPr lang="en-US" sz="10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C21C2BB1-05D2-135E-1666-7B69A5213734}"/>
              </a:ext>
            </a:extLst>
          </p:cNvPr>
          <p:cNvGrpSpPr/>
          <p:nvPr/>
        </p:nvGrpSpPr>
        <p:grpSpPr>
          <a:xfrm>
            <a:off x="2704645" y="5376672"/>
            <a:ext cx="3391355" cy="523951"/>
            <a:chOff x="5699455" y="5572888"/>
            <a:chExt cx="3605262" cy="523951"/>
          </a:xfrm>
        </p:grpSpPr>
        <p:sp>
          <p:nvSpPr>
            <p:cNvPr id="37" name="Shape 32">
              <a:extLst>
                <a:ext uri="{FF2B5EF4-FFF2-40B4-BE49-F238E27FC236}">
                  <a16:creationId xmlns:a16="http://schemas.microsoft.com/office/drawing/2014/main" id="{0F2AFB65-DF7A-416F-3380-EEF6EA6C156B}"/>
                </a:ext>
              </a:extLst>
            </p:cNvPr>
            <p:cNvSpPr/>
            <p:nvPr/>
          </p:nvSpPr>
          <p:spPr>
            <a:xfrm>
              <a:off x="5699455" y="5572888"/>
              <a:ext cx="3605262" cy="523951"/>
            </a:xfrm>
            <a:prstGeom prst="roundRect">
              <a:avLst>
                <a:gd name="adj" fmla="val 15865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143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33">
              <a:extLst>
                <a:ext uri="{FF2B5EF4-FFF2-40B4-BE49-F238E27FC236}">
                  <a16:creationId xmlns:a16="http://schemas.microsoft.com/office/drawing/2014/main" id="{8F9840F3-84EF-A9E0-2856-68552C86BF15}"/>
                </a:ext>
              </a:extLst>
            </p:cNvPr>
            <p:cNvSpPr txBox="1"/>
            <p:nvPr/>
          </p:nvSpPr>
          <p:spPr>
            <a:xfrm>
              <a:off x="5843537" y="5686730"/>
              <a:ext cx="3461180" cy="2807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  https://padlet.com/aebon/vibe26 </a:t>
              </a:r>
              <a:endParaRPr lang="en-US" sz="1600" dirty="0"/>
            </a:p>
          </p:txBody>
        </p:sp>
      </p:grp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1155</TotalTime>
  <Words>18580</Words>
  <Application>Microsoft Office PowerPoint</Application>
  <PresentationFormat>와이드스크린</PresentationFormat>
  <Paragraphs>5073</Paragraphs>
  <Slides>124</Slides>
  <Notes>124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124</vt:i4>
      </vt:variant>
    </vt:vector>
  </HeadingPairs>
  <TitlesOfParts>
    <vt:vector size="132" baseType="lpstr">
      <vt:lpstr>Manrope</vt:lpstr>
      <vt:lpstr>Nanum Gothic Coding</vt:lpstr>
      <vt:lpstr>Noto Sans KR</vt:lpstr>
      <vt:lpstr>Pretendard</vt:lpstr>
      <vt:lpstr>ui-monospace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21</cp:revision>
  <dcterms:created xsi:type="dcterms:W3CDTF">2026-01-28T16:06:00Z</dcterms:created>
  <dcterms:modified xsi:type="dcterms:W3CDTF">2026-01-30T00:56:38Z</dcterms:modified>
</cp:coreProperties>
</file>