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4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C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1462653" cy="571500"/>
          </a:xfrm>
          <a:prstGeom prst="rect">
            <a:avLst/>
          </a:prstGeom>
        </p:spPr>
      </p:pic>
      <p:pic>
        <p:nvPicPr>
          <p:cNvPr id="12" name="Picture 11" descr="reb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3540" y="1028700"/>
            <a:ext cx="3941460" cy="4191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생산·공정 과정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905250"/>
            <a:ext cx="16002000" cy="2247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0" b="1" spc="-280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활용</a:t>
            </a:r>
          </a:p>
          <a:p>
            <a:pPr algn="l">
              <a:lnSpc>
                <a:spcPct val="105000"/>
              </a:lnSpc>
            </a:pPr>
            <a:r>
              <a:rPr sz="7500" b="1" spc="-280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작업표준·공정문서 자동화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6362700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3일 22시간 · 생산팀장·공정관리·작업반장·현장 엔지니어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동양에이케이코리아 × 한국표준협회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2026 산업·일자리 전환 교육 · ReBuild 아카데미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과정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3일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작업표준서·작업지시서·생산일지·안내문을 AI 로 초안부터 만든다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회의록·일일보고를 요약해 결정·액션·담당·기한으로 정리한다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엑셀 공정 데이터를 AI 로 정제·집계하고 코멘트까지 받는다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점검·EHS·4M 변경점 문서를 자동화하고 사내 AI 규칙을 세운다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문서는 AI 가 초안을, 판단과 확인은 사람이 — 3일 동안 이 습관을 만듭니다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과정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3일 · 22시간 · 6개 모듈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781300"/>
            <a:ext cx="1116330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781300"/>
            <a:ext cx="11163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584680" y="2781300"/>
            <a:ext cx="256032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584680" y="2781300"/>
            <a:ext cx="25603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1일차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448050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8530" y="3448050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생성형 AI 기초와 제조 현장 프롬프트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584680" y="3448050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79930" y="3448050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3시간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1일차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4143375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8530" y="4143375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작업표준서(SOP)·작업지시서 자동 작성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584680" y="4143375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79930" y="4143375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3시간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2일차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4838700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8530" y="4838700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생산일지·공정 회의록 요약 자동화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584680" y="4838700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679930" y="4838700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4시간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2일차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3280" y="5534025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8530" y="5534025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다국어 안내문·외국인 근로자 교육자료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4584680" y="5534025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679930" y="5534025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4시간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3일차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83280" y="6229350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8530" y="6229350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엑셀+AI 공정 데이터 정리·집계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4584680" y="6229350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679930" y="6229350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4시간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3일차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383280" y="6924675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8530" y="6924675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점검·EHS·4M 변경점 문서 자동화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4584680" y="6924675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679930" y="6924675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4시간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2026년 10월 16일(금) ~ 18일(일) · 집합 · 강의와 실습 · 모든 프롬프트는 학습사이트에서 복사할 수 있습니다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과정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대상 · 방법 · 준비물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대상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생산팀장·공정관리·작업반장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현장 엔지니어 등 공정문서 실무자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방법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집합 교육 · 강의 20% + 실습 80%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실습마다 프롬프트 1장 + 요령 1장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16305F"/>
          </a:solidFill>
          <a:ln w="9525">
            <a:solidFill>
              <a:srgbClr val="16305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준비물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ChatGPT 또는 Claude 계정 · 엑셀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학습사이트 접속 · 가상의 공정 자료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실제 공정 조건·도면·고객 정보는 쓰지 않습니다 — 실습 자료는 전부 가상의 값입니다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시작하기 전에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에 입력하지 않는 다섯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 줄로 기억하기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기술·공정 비밀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34480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8770" y="34480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도면·배합비·공정 조건·설비 파라미터·원가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고객·거래 정보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41719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8770" y="41719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고객사 이름·단가·계약 조건·클레임 원문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개인·인사 정보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8958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8958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이름·연락처·사번·평가·급여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공시·재무 정보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56197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8770" y="56197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공시 전 실적·미확정 재무 수치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IT 보안 정보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63436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8770" y="63436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비밀번호·서버 주소·계정·내부 URL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오늘 화면의 제품명·수치·이름은 전부 가상의 값이거나 [빈칸]입니다 — 회사가 허용한 AI 서비스만 씁니다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진행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모든 실습은 다섯 단계로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화면을 보며 따라 하고, 잘된 프롬프트는 빈칸째 저장합니다 — 첫 답은 초안, 두 번째 요청에서 쓸 만해집니다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학습사이트의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 복사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채우기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[빈칸]에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가상의 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 표로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 점검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고치기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이어서 던질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저장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빈칸째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팀 폴더에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1일차 · 모듈 1 · 3시간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생성형 AI 기초와 제조 현장 프롬프트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가 현장 문서의 어디에 쓰이는지 알고, 프롬프트 3요소와 Few-shot 으로 첫 결과를 받습니다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현장 문서의 네 가지 AI 적용 영역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작성 · 요약 · 번역 · 분석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영역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781300"/>
            <a:ext cx="684276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781300"/>
            <a:ext cx="6842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현장에서 하는 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64140" y="2781300"/>
            <a:ext cx="688086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64140" y="2781300"/>
            <a:ext cx="68808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 과정에서 만드는 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작성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448050"/>
            <a:ext cx="6842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8530" y="3448050"/>
            <a:ext cx="6652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빈 양식에 초안을 채운다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64140" y="3448050"/>
            <a:ext cx="6880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59390" y="3448050"/>
            <a:ext cx="6690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SOP · 작업지시서 · 점검표 · 안내문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요약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4171950"/>
            <a:ext cx="6842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8530" y="4171950"/>
            <a:ext cx="6652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긴 기록을 짧게 간추린다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64140" y="4171950"/>
            <a:ext cx="6880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59390" y="4171950"/>
            <a:ext cx="6690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일일보고 3줄 요약 · 회의록 정리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번역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4895850"/>
            <a:ext cx="6842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8530" y="4895850"/>
            <a:ext cx="6652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언어로 같은 뜻을 옮긴다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64140" y="4895850"/>
            <a:ext cx="6880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59390" y="4895850"/>
            <a:ext cx="6690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영어·베트남어·태국어 안내문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분석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3280" y="5619750"/>
            <a:ext cx="6842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8530" y="5619750"/>
            <a:ext cx="6652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표의 패턴을 말로 설명한다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64140" y="5619750"/>
            <a:ext cx="68808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59390" y="5619750"/>
            <a:ext cx="66903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공정 데이터 코멘트 · 비교표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는 「글을 다루는 일」을 대신합니다 — 수치 계산·공정 판단은 사람이 검증합니다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ChatGPT 와 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둘 다 써 보고 업무에 맞는 쪽을 고릅니다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ChatGPT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코드 인터프리터로 엑셀 분석·그래프까지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올려 표 분석·시각화에 강함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모델 선택 — 빠른 답과 깊은 답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대화 기록이 쌓여 맥락 유지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Claude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긴 문서를 꼼꼼히 읽고 쓰는 데 강함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긴 SOP·회의록 원문을 통째로 입력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문장이 차분하고 양식 유지가 좋음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프로젝트로 사내 용어집 고정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3. 프롬프트 3요소와 Few-shot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역할 · 맥락 · 형식, 그리고 예시 하나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역할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누구의 눈으로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쓸 것인가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76812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맥락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5412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8762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어느 공정·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누가 읽는가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39225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형식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7825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1175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표·항목·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분량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3101638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330238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463588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우리 양식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토막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역할 → 맥락 → 형식 → 예시 순서로 쓰면 되묻지 않고 바로 초안이 나옵니다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Few-shot — 원하는 결과의 짧은 예시를 하나 보여 주면 양식·말투가 그대로 따라옵니다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현장 문서 네 영역 맛보기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회사 정보 없이 가상의 공정으로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알루미늄 압출 공정 10년 차 작업반장으로서, [공정명]의 하루 작업 흐름을 신입이 읽을 수 있게 다섯 단계로 정리해줘. 단계마다 「하는 일 · 확인할 것 · 위험 요소」 세 칸짜리 표로 쓰고, 모르는 수치는 [빈칸]으로 둬.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지어낸 수치·설비명이 없는지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현장 문서 네 영역 맛보기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역할은 현장 직급으로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「작업반장으로서」가 「전문가로서」보다 구체적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읽는 사람을 정해 주기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「신입이 읽을 수 있게」 한 마디로 난이도 결정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빈칸 규칙을 먼저 걸기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「모르는 수치는 [빈칸]」 — 추측을 막는다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표로 받으면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복사해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바로 양식에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Few-shot — 우리 양식 그대로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예시 한 토막을 함께 넣기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예시는 우리 회사 작업지시서의 한 항목이야. 이 말투와 항목 구성을 그대로 지켜서 [작업명] 항목을 세 개 더 써줘. 예시: 「1. 금형 예열 — 설정값 [빈칸]℃ 도달 확인 후 작업 시작. 미달 시 반장 보고.」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예시의 말투·구성이 유지됐는지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Few-shot — 우리 양식 그대로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예시는 짧게 하나만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긴 원문보다 대표 항목 하나가 더 잘 따라온다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예시의 수치는 지우고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[빈칸]으로 바꾼 뒤 넣는다 — 보안 규칙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「그대로 지켜서」 명시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말이 없으면 AI 가 양식을 바꿔 버린다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예시 하나가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설명 열 줄을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대신한다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현장 용어·약어 사전 만들기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우리 말로 쓰게 하는 용어집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다음은 우리 현장에서 쓰는 용어와 약어야: [용어1=뜻], [용어2=뜻], [약어=풀이]. 이 용어집을 표로 정리하고, 앞으로 이 대화에서 문서를 쓸 때 반드시 이 표기를 쓰도록 해줘. 먼저 용어집 표만 보여줘.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같은 대화에서 실습 1 프롬프트 다시 실행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3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현장 용어·약어 사전 만들기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용어집은 대화 맨 앞에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뒤에 넣으면 앞 문서에는 반영되지 않는다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표기를 하나로 고정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「빌렛/billet/소재」 중 하나만 쓰게 한다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팀 용어집은 공유 파일로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Claude 프로젝트·ChatGPT 지침에 붙여 두면 매번 안 넣어도 된다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용어집은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팀의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공용 자산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1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작성·요약·번역·분석 네 영역의 쓰임을 구분한다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역할·맥락·형식 + 예시 한 토막으로 프롬프트를 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현장 용어·약어 사전을 표로 만들어 대화 맨 앞에 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회사 정보는 [빈칸]·가상값으로 바꿔 넣는 습관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다음 모듈부터는 이 프롬프트 뼈대로 실제 문서를 만듭니다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1일차 · 모듈 2 · 3시간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작업표준서(SOP)·작업지시서 자동 작성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공정 절차를 말로 입력하면 준비물·절차·검증 구조의 SOP 초안이 나옵니다 — 안전·품질 항목은 자동으로 덧붙입니다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SOP 의 세 기둥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준비물 · 절차 · 검증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207000" cy="5715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207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준비물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429000"/>
            <a:ext cx="5207000" cy="1295400"/>
          </a:xfrm>
          <a:prstGeom prst="roundRect">
            <a:avLst>
              <a:gd name="adj" fmla="val 36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8250" y="3429000"/>
            <a:ext cx="5016500" cy="1295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설비·공구·자재·</a:t>
            </a:r>
          </a:p>
          <a:p>
            <a:pPr algn="ctr">
              <a:lnSpc>
                <a:spcPct val="13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보호구·사전 조건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40500" y="2781300"/>
            <a:ext cx="5207000" cy="5715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0500" y="2781300"/>
            <a:ext cx="5207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절차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40500" y="3429000"/>
            <a:ext cx="5207000" cy="1295400"/>
          </a:xfrm>
          <a:prstGeom prst="roundRect">
            <a:avLst>
              <a:gd name="adj" fmla="val 36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35750" y="3429000"/>
            <a:ext cx="5016500" cy="1295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번호 순서·</a:t>
            </a:r>
          </a:p>
          <a:p>
            <a:pPr algn="ctr">
              <a:lnSpc>
                <a:spcPct val="13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단계별 확인 포인트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938000" y="2781300"/>
            <a:ext cx="5207000" cy="5715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938000" y="2781300"/>
            <a:ext cx="5207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938000" y="3429000"/>
            <a:ext cx="5207000" cy="1295400"/>
          </a:xfrm>
          <a:prstGeom prst="roundRect">
            <a:avLst>
              <a:gd name="adj" fmla="val 36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33250" y="3429000"/>
            <a:ext cx="5016500" cy="1295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완료 기준·</a:t>
            </a:r>
          </a:p>
          <a:p>
            <a:pPr algn="ctr">
              <a:lnSpc>
                <a:spcPct val="13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기록·이상 시 조치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953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안전·품질·환경 항목은 절차의 각 단계에 열로 붙이고, 작업자 등급별로 분기합니다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8300"/>
            <a:ext cx="3829050" cy="685800"/>
          </a:xfrm>
          <a:prstGeom prst="roundRect">
            <a:avLst>
              <a:gd name="adj" fmla="val 694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448300"/>
            <a:ext cx="382905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안전</a:t>
            </a:r>
          </a:p>
        </p:txBody>
      </p:sp>
      <p:sp>
        <p:nvSpPr>
          <p:cNvPr id="23" name="deckgen:ornament"/>
          <p:cNvSpPr txBox="1"/>
          <p:nvPr/>
        </p:nvSpPr>
        <p:spPr>
          <a:xfrm>
            <a:off x="4972050" y="5448300"/>
            <a:ext cx="228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0">
                <a:solidFill>
                  <a:srgbClr val="BBD5F3"/>
                </a:solidFill>
                <a:latin typeface="Pretendard"/>
                <a:ea typeface="Pretendard"/>
                <a:cs typeface="Pretendard"/>
              </a:rPr>
              <a:t>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00650" y="5448300"/>
            <a:ext cx="3829050" cy="685800"/>
          </a:xfrm>
          <a:prstGeom prst="roundRect">
            <a:avLst>
              <a:gd name="adj" fmla="val 694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00650" y="5448300"/>
            <a:ext cx="382905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품질</a:t>
            </a:r>
          </a:p>
        </p:txBody>
      </p:sp>
      <p:sp>
        <p:nvSpPr>
          <p:cNvPr id="26" name="deckgen:ornament"/>
          <p:cNvSpPr txBox="1"/>
          <p:nvPr/>
        </p:nvSpPr>
        <p:spPr>
          <a:xfrm>
            <a:off x="9029700" y="5448300"/>
            <a:ext cx="228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0">
                <a:solidFill>
                  <a:srgbClr val="BBD5F3"/>
                </a:solidFill>
                <a:latin typeface="Pretendard"/>
                <a:ea typeface="Pretendard"/>
                <a:cs typeface="Pretendard"/>
              </a:rPr>
              <a:t>·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58300" y="5448300"/>
            <a:ext cx="3829050" cy="685800"/>
          </a:xfrm>
          <a:prstGeom prst="roundRect">
            <a:avLst>
              <a:gd name="adj" fmla="val 694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58300" y="5448300"/>
            <a:ext cx="382905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환경</a:t>
            </a:r>
          </a:p>
        </p:txBody>
      </p:sp>
      <p:sp>
        <p:nvSpPr>
          <p:cNvPr id="29" name="deckgen:ornament"/>
          <p:cNvSpPr txBox="1"/>
          <p:nvPr/>
        </p:nvSpPr>
        <p:spPr>
          <a:xfrm>
            <a:off x="13087350" y="5448300"/>
            <a:ext cx="228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0">
                <a:solidFill>
                  <a:srgbClr val="BBD5F3"/>
                </a:solidFill>
                <a:latin typeface="Pretendard"/>
                <a:ea typeface="Pretendard"/>
                <a:cs typeface="Pretendard"/>
              </a:rPr>
              <a:t>·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315950" y="5448300"/>
            <a:ext cx="3829050" cy="685800"/>
          </a:xfrm>
          <a:prstGeom prst="roundRect">
            <a:avLst>
              <a:gd name="adj" fmla="val 694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315950" y="5448300"/>
            <a:ext cx="382905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등급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AI 에게 「이 세 부분으로 나눠 써줘」라고 하면 항목 구조가 흔들리지 않습니다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SOP 를 만드는 순서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절차 입력 → 구조화 → 항목 추가 → 분기 → 양식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번에 완성본을 요청하지 않습니다 — 단계마다 확인하고 다음 요청을 이어 갑니다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절차 입력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아는 순서를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말로 적는다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구조화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준비물·절차·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검증으로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 추가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안전·품질·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환경 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등급 분기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신입·숙련·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책임자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양식 변환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회사 양식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 이름으로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절차 입력으로 SOP 초안 만들기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세 부분 구조와 [빈칸]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공정 엔지니어로서 아래 절차를 작업표준서 초안으로 만들어줘. 「준비물 · 절차 · 검증」 세 부분으로 나누고, 절차는 번호 순서와 단계별 확인 포인트를 표로 써줘. 설정값은 전부 [빈칸]. 절차: [1단계], [2단계], [3단계], [4단계]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절차 순서가 입력대로인지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4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절차 입력으로 SOP 초안 만들기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절차는 내가 아는 순서로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는 순서를 모른다 — 번호만 붙여 적어도 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확인 포인트를 요구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「단계마다 확인할 것 한 가지」가 품질을 만든다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검증 부분은 완료 기준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「무엇이 되면 끝인가」를 쓰게 한다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설정값은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전부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[빈칸]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안전·품질·환경 항목 자동 추가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같은 대화에서 이어서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방금 만든 SOP 의 절차 표에 「안전 · 품질 · 환경」 세 열을 추가해줘. 단계마다 위험 요소와 보호구, 품질 확인 항목, 폐기물·소음 등 환경 주의점을 한 줄씩 써줘. 근거가 불확실한 항목에는 「확인 필요」라고 표시해줘.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「확인 필요」 표시가 붙은 항목 검토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5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안전·품질·환경 항목 자동 추가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새 대화가 아니라 이어서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앞 SOP 를 기억하고 있어야 열만 더한다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「확인 필요」 출구 열기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모르는 것을 지어내지 않게 하는 안전장치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보호구는 우리 규정으로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회사 규정 항목명을 [빈칸] 대신 넣어 통일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안전 항목은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EHS 담당과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최종 확인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작업자 등급별 SOP 분기와 작업지시서 양식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등급 세 개, 그림 위치 표시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같은 SOP 를 「신입 · 숙련 · 책임자」 세 등급용으로 나눠줘. 신입용은 단계를 더 잘게 쪼개고 현장 용어에 풀이를 붙여줘. 그리고 신입용을 우리 작업지시서 양식 열 이름 [열1], [열2], [열3] 으로 바꾸고, 사진이 들어갈 자리에 「[그림: 무엇]」을 표시해줘.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현장 용어 풀이가 맞는지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6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작업자 등급별 SOP 분기와 작업지시서 양식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등급 기준을 한 줄로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「신입=첫 달, 숙련=1년 이상」처럼 정해 준다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그림 자리는 글로 표시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「[그림: 금형 장착 방향]」 — 사진은 나중에 붙인다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기존 SOP 도 같은 방법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옛 문서를 붙여 넣고 「이 구조로 재구성」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기존 SOP 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붙여 넣고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재구조화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2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절차를 말로 넣어 준비물·절차·검증 구조의 SOP 초안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안전·품질·환경 열을 자동 추가 — 「확인 필요」로 검토 표시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신입·숙련·책임자 등급별 분기와 작업지시서 양식 변환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기존 SOP 를 붙여 넣어 같은 구조로 재구성하는 방법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오늘 만든 SOP 초안은 현장 검토를 거쳐야 문서가 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오늘 배운 것 한 문제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339215"/>
          </a:xfrm>
          <a:prstGeom prst="roundRect">
            <a:avLst>
              <a:gd name="adj" fmla="val 4267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7677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SOP 초안을 요청할 때 「설정값은 전부 [빈칸]」이라고 쓰는 이유로 가장 알맞은 것은?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34865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4977765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092065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4634865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① AI 가 숫자를 못 다루기 때문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4634865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4977765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092065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4634865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② 회사 정보를 넣지 않고 추측값을 막기 위해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063615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406515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520815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063615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③ 표를 더 예쁘게 만들기 위해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063615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406515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520815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063615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④ 빈칸이 있어야 저장이 되기 때문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정답과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BD5F3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실제 공정 조건은 회사 비밀이라 입력하지 않고, AI 가 그럴듯한 숫자를 지어내는 것도 막아야 합니다. 빈칸은 문서 파일에서 직접 채웁니다.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2일차 · 모듈 3 · 4시간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생산일지·공정 회의록 요약 자동화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하루치 기록을 넣으면 이상 이슈가 강조된 요약, 임원용 3줄, 결정·액션·담당·기한 표, 차주 어젠다가 나옵니다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기록이 보고가 되는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생산일지 → 요약 → 임원 3줄 → 차주 어젠다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생산일지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일일보고·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이상 기록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요약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이상 이슈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자동 강조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임원 3줄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무엇·왜·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조치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회의록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결정·액션·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담당·기한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어젠다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차주 안건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초안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44140" y="5086350"/>
            <a:ext cx="38100" cy="209550"/>
          </a:xfrm>
          <a:prstGeom prst="rect">
            <a:avLst/>
          </a:prstGeom>
          <a:solidFill>
            <a:srgbClr val="BBD5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5605760" y="5086350"/>
            <a:ext cx="38100" cy="209550"/>
          </a:xfrm>
          <a:prstGeom prst="rect">
            <a:avLst/>
          </a:prstGeom>
          <a:solidFill>
            <a:srgbClr val="BBD5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644140" y="5295900"/>
            <a:ext cx="13037820" cy="38100"/>
          </a:xfrm>
          <a:prstGeom prst="rect">
            <a:avLst/>
          </a:prstGeom>
          <a:solidFill>
            <a:srgbClr val="BBD5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2453640" y="5162550"/>
            <a:ext cx="381000" cy="26670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 주가 돌면 지난 어젠다가 다음 회의록의 입력이 됩니다 — 같은 프롬프트를 매주 다시 씁니다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요약 프롬프트의 네 가지 조건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요약은 「무엇을 남길지」를 정하는 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기준을 숫자로 — 「3줄」·「5개 이내」·「10분 안에 읽게」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강조 규칙 — 「계획 대비 미달·설비 정지·불량은 맨 위에」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출구 — 「기록에 없는 담당·기한은 '미정'으로」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읽는 사람 — 임원·팀장·작업자에 따라 다른 요약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이름은 역할로 바꿔 넣습니다 — 「김반장」 대신 「A조 반장」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생산일지 자동 요약 — 이상 이슈 강조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강조 규칙과 출구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생산관리 담당으로서 아래 가상의 생산일지를 요약해줘. 계획 대비 미달·설비 정지·불량 발생은 「이상 이슈」로 맨 위에 모으고, 나머지는 정상 항목으로 세 줄 이내. 원인이 기록에 없으면 「원인 미기재」라고 써줘. 일지: [붙여 넣기]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이상 이슈가 빠짐없이 올라왔는지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7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생산일지 자동 요약 — 이상 이슈 강조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강조 기준을 말로 정의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「미달·정지·불량」처럼 이슈의 조건을 적어 준다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일지는 가상값으로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실적은 넣지 않는다 — 구조만 같으면 된다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긴 일지는 날짜별로 나눠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하루씩 요약 → 마지막에 「주간으로 합쳐줘」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이상 이슈는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맨 위로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모은다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임원 보고용 3줄 요약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무엇 · 왜 · 조치, 한 줄씩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방금 요약을 임원이 1분 안에 판단할 수 있게 세 줄로 줄여줘. 1줄은 오늘 생산 상태, 2줄은 가장 큰 이슈와 원인, 3줄은 조치와 필요한 결정. 각 줄 40자 이내, 숫자는 [빈칸]으로 남겨줘.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같은 내용으로 팀장용 체크리스트 5개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8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임원 보고용 3줄 요약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세 줄의 역할을 정해 주기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상태·이슈·조치 — 줄마다 할 일이 다르다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「필요한 결정」을 요구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임원 보고는 결정을 받기 위한 글이다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글자 수를 숫자로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「짧게」 대신 「40자 이내」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읽는 사람이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바뀌면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요약도 바뀐다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공정 회의록 — 결정·액션·담당·기한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결정과 논의를 구분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가상의 회의 메모를 회의록으로 정리해줘. 개요 두 줄, 안건별 논의, 결정 사항, 할 일 표(할 일·담당·기한). 「하기로 함」만 결정으로 분류하고 「검토」는 논의로. 메모에 없는 담당·기한은 「미정」으로 적어줘. 메모: [붙여 넣기]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지어낸 담당·기한이 없는지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9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공정 회의록 — 결정·액션·담당·기한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이름은 역할로 바꿔 넣기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찾아 바꾸기로 「홍길동 → 공정팀 A」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결정의 기준을 주기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「하기로 함=결정, 검토=논의」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열 이름은 회사 양식대로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그대로 복사해 사내 양식에 붙인다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담당·기한은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없으면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「미정」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차주 어젠다 초안과 공유문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미결 항목에서 안건 뽑기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방금 회의록의 할 일 표에서 기한이 다음 주인 항목과 「미정」인 항목을 골라 차주 회의 어젠다 초안을 만들어줘. 안건 5개 이내, 안건마다 「보고할 사람 · 결정할 것」 한 줄. 끝에 팀 단체방에 올릴 세 문장짜리 공유문도 써줘.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미정 항목이 안건으로 올라왔는지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10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차주 어젠다 초안과 공유문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어젠다는 회의록에서 나온다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새로 쓰지 않고 할 일 표를 재료로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안건마다 결정할 것 명시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「공유」만 하는 안건은 메일로 돌린다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공유문은 길이를 정해서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「세 문장」 — 단체방은 짧아야 읽는다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매주 같은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프롬프트를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다시 쓴다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3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생산일지를 이상 이슈 우선으로 자동 요약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임원용 3줄 — 상태·이슈·조치(필요한 결정)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회의 메모 → 결정·액션·담당·기한 표, 없으면 「미정」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할 일 표에서 차주 어젠다와 공유문까지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요약 프롬프트 네 개는 빈칸째 저장해 매주 반복합니다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2일차 · 모듈 4 · 4시간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다국어 안내문·외국인 근로자 교육자료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작업지시서를 영어·베트남어·태국어로 옮기고, 그림·픽토그램을 병기한 안전 안내문과 OJT 가이드를 만듭니다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번역에서 지킬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어휘 통일 · 쉬운 문장 · 역번역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원칙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732282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73228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프롬프트에 쓰는 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어휘 통일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「용어집의 번역어를 그대로 써줘」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0" y="34480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9570" y="34480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부품이 다른 말로 나오면 사고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쉬운 문장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「초등학생도 읽을 수 있게 짧게」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0" y="41719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9570" y="41719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외국인 근로자의 한국어·영어 수준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역번역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「번역문을 다시 한국어로 옮겨줘」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04320" y="48958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99570" y="48958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뜻이 바뀐 곳을 내가 찾을 수 있다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표로 대조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6197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6197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「번호·원문·번역·비고 표로」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704320" y="56197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99570" y="56197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줄씩 대조하고 비고에 확인 요청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번역 품질은 원문에서 결정됩니다 — 한 문장에 한 가지 지시, 숫자와 단위를 분명하게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외국인 근로자 자료의 세 가지 모양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안내문 · 안전 교육 · OJT 가이드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다국어 안내문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장짜리 게시물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그림·픽토그램 자리 표시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안전 교육 자료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상황별 위험·행동 요령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퀴즈로 이해 확인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OJT 가이드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단계별 학습 목표·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평가 문항 세트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800725"/>
            <a:ext cx="47625" cy="7239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5857875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그림은 AI 가 그리지 않습니다 — 「[그림: 보호구 착용]」처럼 자리를 표시하고 사진·픽토그램은 나중에 붙입니다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작업지시서 다국어 번역 — 용어집과 함께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용어집 번역어를 그대로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작업지시서를 영어·베트남어·태국어로 번역해 표로 정리해줘(번호·원문·영어·베트남어·태국어·비고). 용어집의 번역어는 반드시 그대로 쓰고, 용어집에 없는 전문 용어는 번역어를 제안한 뒤 비고에 「용어 확인 필요」라고 적어줘. 용어집: [용어=번역]. 원문: [붙여 넣기]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비고의 「용어 확인 필요」 항목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11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작업지시서 다국어 번역 — 용어집과 함께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용어집을 먼저 넣기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부품·공정명은 회사가 정한 번역어 하나로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세 언어를 한 표에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줄 번호가 같아 대조가 쉽다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원문 문장을 먼저 손질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문장 한 지시로 쪼개면 번역이 정확해진다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역번역으로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뜻 바뀐 곳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찾기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그림·픽토그램 병기 안전 안내문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그림 자리 표시, 한 장 분량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[작업 구역]에 붙일 다국어 안전 안내문을 만들어줘. 한국어·영어·베트남어·태국어를 한 항목씩 나란히, 항목은 5개 이내, 문장은 10자 안팎. 항목마다 어떤 픽토그램이 어울리는지 「[그림: 무엇]」으로 표시하고, 맨 위 제목은 한 줄로.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문장이 짧고 뜻이 하나인지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12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그림·픽토그램 병기 안전 안내문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한 장에 다섯 항목까지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게시물은 멀리서 읽힌다 — 적을수록 좋다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픽토그램은 표준 기호로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ISO 7010 안전 표지 이름을 비고에 쓰게 한다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색·배치는 디자인 도구에서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는 글과 자리 표시까지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문장은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10자 안팎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한 가지 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다국어 안전 교육 자료 — 상황별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상황 → 위험 → 행동 → 확인 퀴즈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외국인 근로자 신입 안전 교육 자료를 만들어줘. [작업명]에서 생길 수 있는 위험 상황 4가지를 골라 「상황 · 위험 · 해야 할 행동 · 하면 안 되는 행동」 표로 쓰고, 끝에 O/X 퀴즈 5문항과 정답을 붙여줘. 한국어로 먼저 쓰고 베트남어 번역을 아래에.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행동 요령이 회사 규정과 맞는지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13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다국어 안전 교육 자료 — 상황별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상황을 내가 골라 주기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현장에서 실제로 생기는 네 가지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「하면 안 되는 행동」 요구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금지 항목이 사고를 막는다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퀴즈로 이해 확인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교육 기록에 남길 수 있다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규정과 다르면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규정이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우선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신입 OJT 단계별 가이드와 평가 문항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주차별 목표와 문항 세트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[공정명] 신입 OJT 4주 가이드를 만들어줘. 주차마다 「학습 목표 · 배울 작업 · 할 수 있어야 하는 것 · 지도자 확인 항목」을 표로 쓰고, 주차별 평가 문항 3개(객관식 2 + 실기 체크 1)와 정답을 붙여줘. 수치는 [빈칸].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4주차 문항을 베트남어로 번역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14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신입 OJT 단계별 가이드와 평가 문항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「할 수 있어야 하는 것」이 핵심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행동으로 쓰게 한다 — 「안다」 대신 「한다」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실기 체크는 지도자용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확인란이 있는 체크리스트로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기존 OJT 자료가 있으면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붙여 넣고 「이 구조로 재정리」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평가 문항은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교육 기록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증빙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4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용어집과 함께 세 언어 번역, 「용어 확인 필요」로 표시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그림 자리를 표시한 한 장짜리 다국어 안전 안내문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상황·위험·행동·퀴즈 구조의 안전 교육 자료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주차별 목표·평가 문항이 있는 신입 OJT 가이드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번역문은 반드시 역번역이나 원어민 확인을 거쳐 게시합니다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오늘 배운 것 한 문제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339215"/>
          </a:xfrm>
          <a:prstGeom prst="roundRect">
            <a:avLst>
              <a:gd name="adj" fmla="val 4267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7677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회의 메모를 회의록으로 만들 때 「메모에 없는 담당·기한은 '미정'으로」라고 쓰는 이유는?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34865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4977765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092065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4634865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① 표를 비워 두면 보기 좋아서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4634865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4977765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092065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4634865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② AI 가 담당과 기한을 지어내지 않게 하려고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063615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406515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520815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063615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③ 담당자는 나중에 투표로 정하므로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063615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406515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520815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063615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④ 기한은 AI 가 계산하지 못해서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정답과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BD5F3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는 빈칸을 그럴듯하게 채우는 성질이 있습니다. 출구를 열어 두면 없는 정보는 「미정」으로 남고, 사람이 회의에서 정합니다.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3일차 · 모듈 5 · 4시간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엑셀+AI 공정 데이터 정리·집계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결측·이상치·중복을 AI 로 정제하고, 실적·작업시간을 일별·조별로 집계한 뒤 코멘트와 그래프까지 받습니다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데이터 정리의 순서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정제 → 분류 → 집계 → 코멘트 → 시각화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결측·이상치·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중복 처리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분류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표준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카테고리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집계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일별·조별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합계·평균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코멘트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숫자를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말로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시각화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코드 인터프리터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그래프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실습 파일은 가상의 공정 데이터입니다 — 실제 실적 파일은 업로드하지 않습니다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두 가지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엑셀 안에서 vs 파일을 올려서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엑셀 + AI (수식·설명)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에게 수식·절차를 받아 내 엑셀에서 실행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데이터가 내 PC 를 떠나지 않는다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수식·피벗 설명을 받아 직접 적용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작은 표·반복 업무에 적합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ChatGPT 코드 인터프리터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가상 파일을 올리면 분석·그래프까지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업로드 → 정제·집계·그래프 자동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 엑셀로 내려받기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회사 데이터는 올리지 않는다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결측·이상치·중복 정제 절차 받기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열 구조만 알려 주고 절차를 받기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엑셀 공정 데이터를 정리하려고 해. 열은 [날짜, 조, 설비, 생산량, 작업시간, 불량수]야. 결측·이상치·중복을 찾고 처리하는 절차를 엑셀 기능 기준으로 단계별로 알려줘. 이상치 기준은 평균±3표준편차로 하고, 각 단계에 쓸 수식이나 메뉴 경로를 적어줘.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수식이 내 엑셀 버전에서 동작하는지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15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결측·이상치·중복 정제 절차 받기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데이터 대신 열 이름만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구조만 알려 줘도 절차가 나온다 — 보안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이상치 기준을 내가 정하기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기준은 현장이 안다 — AI 에게 묻지 않는다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수식은 작은 표로 먼저 시험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 줄짜리 가상 표에서 확인 후 전체 적용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데이터는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PC 를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떠나지 않는다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표준 카테고리 부여 — 불량·정지 사유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자유 기록을 표준 코드로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아래는 작업자가 자유롭게 적은 정지·불량 사유 목록이야. 이것을 「설비 · 자재 · 작업 · 품질 · 기타」 다섯 표준 카테고리로 분류하고, 원문·카테고리·분류 근거 표로 정리해줘. 애매한 것은 「검토」로 표시해줘. 목록: [붙여 넣기]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「검토」 항목을 내가 확정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16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표준 카테고리 부여 — 불량·정지 사유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카테고리는 회사 기준으로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가 만든 분류가 아니라 우리 코드표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근거 열을 요구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왜 그렇게 분류했는지 보여야 고칠 수 있다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확정 표는 다음 달 Few-shot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「이 예시처럼 분류해줘」로 반복 사용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분류 표는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달마다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재사용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일별·조별 집계와 코멘트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집계 기준과 코멘트 분량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가상의 집계표를 보고 생산관리 담당으로서 코멘트를 써줘. 일별 생산량 추세, 조별 작업시간 대비 생산량 비교, 불량률이 높은 날 세 개를 짚고, 원인은 표에 없으니 「확인 필요」로 적어줘. 전체 다섯 문장 이내. 표: [붙여 넣기]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표에 없는 원인을 지어내지 않았는지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17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일별·조별 집계와 코멘트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비교 기준을 정해 주기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「작업시간 대비」처럼 분모를 알려 준다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원인은 표에 없다고 선언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숫자만 보고 원인을 단정하지 못하게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코멘트는 보고서에 붙일 길이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「다섯 문장 이내」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숫자를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말로 바꾸는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것이 코멘트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코드 인터프리터로 자동 시각화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가상 파일 업로드, 그래프 종류 지정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첨부한 가상의 공정 데이터 파일을 읽고 ① 일별 생산량 꺾은선 ② 조별 평균 생산량 막대 ③ 날짜별 불량률 꺾은선 세 가지 그래프를 그려줘. 제목·축 이름은 한국어로, 그래프마다 한 줄 해석을 붙이고 정리한 표는 엑셀 파일로 내려받게 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축 단위와 날짜 순서가 맞는지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18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코드 인터프리터로 자동 시각화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그래프 종류를 내가 정하기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「적당히」 대신 꺾은선·막대를 지정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한국어 축 이름 요청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 하면 영어로 나온다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결과 파일은 내려받아 보관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대화가 지워져도 파일은 남는다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회사 파일은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올리지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않는다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5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열 구조만 알려 주고 결측·이상치·중복 정제 절차를 받는다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자유 기록을 표준 카테고리로 분류 — 근거 열과 「검토」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일별·조별 집계표에 다섯 문장 코멘트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코드 인터프리터로 그래프 세 개와 결과 파일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실제 실적 파일은 올리지 않습니다 — 엑셀 안에서 수식으로 처리합니다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3일차 · 모듈 6 · 4시간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점검·EHS·4M 변경점 문서 자동화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 점검표, EHS 문서·MSDS 요약·사고 보고서, 4M 변경점 보고와 영향 평가 표를 만들고 사내 AI 가이드라인 초안으로 마무리합니다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네 가지 문서와 AI 가 하는 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점검표 · EHS · 4M · AI 가이드라인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668274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가 만드는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사람이 확인하는 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설비 점검표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일일·주간·월간 항목과 주기 분리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64240" y="34480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9490" y="34480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항목이 설비 매뉴얼과 맞는지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EHS 문서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MSDS 요약·사고 보고서 초안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64240" y="41719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9490" y="41719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법정 서식·보고 기한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4M 변경점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변경 보고·영향 평가 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64240" y="48958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9490" y="48958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영향 범위·승인자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가이드라인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619750"/>
            <a:ext cx="6682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619750"/>
            <a:ext cx="6492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허용·금지 정보 분류 초안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064240" y="56197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9490" y="56197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회사 보안 정책과의 정합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안전 문서는 AI 초안 → 안전 담당 검토 → 승인 순서를 지킵니다 — 초안은 빨라지고 책임은 그대로입니다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4M 변경점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사람 · 기계 · 재료 · 방법이 바뀌면 문서가 따라간다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57625" cy="5715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57625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사람(Man)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429000"/>
            <a:ext cx="3857625" cy="1295400"/>
          </a:xfrm>
          <a:prstGeom prst="roundRect">
            <a:avLst>
              <a:gd name="adj" fmla="val 36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8250" y="3429000"/>
            <a:ext cx="3667125" cy="1295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작업자 교체·</a:t>
            </a:r>
          </a:p>
          <a:p>
            <a:pPr algn="ctr">
              <a:lnSpc>
                <a:spcPct val="13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신입 투입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91125" y="2781300"/>
            <a:ext cx="3857625" cy="5715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1125" y="2781300"/>
            <a:ext cx="3857625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기계(Machine)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91125" y="3429000"/>
            <a:ext cx="3857625" cy="1295400"/>
          </a:xfrm>
          <a:prstGeom prst="roundRect">
            <a:avLst>
              <a:gd name="adj" fmla="val 36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6375" y="3429000"/>
            <a:ext cx="3667125" cy="1295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설비·금형·</a:t>
            </a:r>
          </a:p>
          <a:p>
            <a:pPr algn="ctr">
              <a:lnSpc>
                <a:spcPct val="13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치공구 변경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9250" y="2781300"/>
            <a:ext cx="3857625" cy="5715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9250" y="2781300"/>
            <a:ext cx="3857625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재료(Material)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9250" y="3429000"/>
            <a:ext cx="3857625" cy="1295400"/>
          </a:xfrm>
          <a:prstGeom prst="roundRect">
            <a:avLst>
              <a:gd name="adj" fmla="val 36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3429000"/>
            <a:ext cx="3667125" cy="1295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소재 로트·</a:t>
            </a:r>
          </a:p>
          <a:p>
            <a:pPr algn="ctr">
              <a:lnSpc>
                <a:spcPct val="13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공급처 변경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287375" y="2781300"/>
            <a:ext cx="3857625" cy="5715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87375" y="2781300"/>
            <a:ext cx="3857625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방법(Method)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287375" y="3429000"/>
            <a:ext cx="3857625" cy="1295400"/>
          </a:xfrm>
          <a:prstGeom prst="roundRect">
            <a:avLst>
              <a:gd name="adj" fmla="val 36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382625" y="3429000"/>
            <a:ext cx="3667125" cy="1295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조건·순서·</a:t>
            </a:r>
          </a:p>
          <a:p>
            <a:pPr algn="ctr">
              <a:lnSpc>
                <a:spcPct val="13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검사 방법 변경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953000"/>
            <a:ext cx="3829050" cy="685800"/>
          </a:xfrm>
          <a:prstGeom prst="roundRect">
            <a:avLst>
              <a:gd name="adj" fmla="val 694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4953000"/>
            <a:ext cx="382905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변경 내용</a:t>
            </a:r>
          </a:p>
        </p:txBody>
      </p:sp>
      <p:sp>
        <p:nvSpPr>
          <p:cNvPr id="26" name="deckgen:ornament"/>
          <p:cNvSpPr txBox="1"/>
          <p:nvPr/>
        </p:nvSpPr>
        <p:spPr>
          <a:xfrm>
            <a:off x="4972050" y="4953000"/>
            <a:ext cx="228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0">
                <a:solidFill>
                  <a:srgbClr val="BBD5F3"/>
                </a:solidFill>
                <a:latin typeface="Pretendard"/>
                <a:ea typeface="Pretendard"/>
                <a:cs typeface="Pretendard"/>
              </a:rPr>
              <a:t>·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00650" y="4953000"/>
            <a:ext cx="3829050" cy="685800"/>
          </a:xfrm>
          <a:prstGeom prst="roundRect">
            <a:avLst>
              <a:gd name="adj" fmla="val 694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00650" y="4953000"/>
            <a:ext cx="382905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영향 범위</a:t>
            </a:r>
          </a:p>
        </p:txBody>
      </p:sp>
      <p:sp>
        <p:nvSpPr>
          <p:cNvPr id="29" name="deckgen:ornament"/>
          <p:cNvSpPr txBox="1"/>
          <p:nvPr/>
        </p:nvSpPr>
        <p:spPr>
          <a:xfrm>
            <a:off x="9029700" y="4953000"/>
            <a:ext cx="228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0">
                <a:solidFill>
                  <a:srgbClr val="BBD5F3"/>
                </a:solidFill>
                <a:latin typeface="Pretendard"/>
                <a:ea typeface="Pretendard"/>
                <a:cs typeface="Pretendard"/>
              </a:rPr>
              <a:t>·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58300" y="4953000"/>
            <a:ext cx="3829050" cy="685800"/>
          </a:xfrm>
          <a:prstGeom prst="roundRect">
            <a:avLst>
              <a:gd name="adj" fmla="val 694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58300" y="4953000"/>
            <a:ext cx="382905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확인 항목</a:t>
            </a:r>
          </a:p>
        </p:txBody>
      </p:sp>
      <p:sp>
        <p:nvSpPr>
          <p:cNvPr id="32" name="deckgen:ornament"/>
          <p:cNvSpPr txBox="1"/>
          <p:nvPr/>
        </p:nvSpPr>
        <p:spPr>
          <a:xfrm>
            <a:off x="13087350" y="4953000"/>
            <a:ext cx="228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0">
                <a:solidFill>
                  <a:srgbClr val="BBD5F3"/>
                </a:solidFill>
                <a:latin typeface="Pretendard"/>
                <a:ea typeface="Pretendard"/>
                <a:cs typeface="Pretendard"/>
              </a:rPr>
              <a:t>·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315950" y="4953000"/>
            <a:ext cx="3829050" cy="685800"/>
          </a:xfrm>
          <a:prstGeom prst="roundRect">
            <a:avLst>
              <a:gd name="adj" fmla="val 694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315950" y="4953000"/>
            <a:ext cx="382905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승인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변경 하나에 「무엇이 바뀌었나 → 어디에 영향이 가나 → 무엇을 확인했나」 세 질문을 표로 답합니다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설비별 일일·주간·월간 점검 체크리스트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주기별로 나누고 확인란 포함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설비 보전 담당으로서 [설비명]의 점검 체크리스트를 만들어줘. 일일·주간·월간 세 표로 나누고, 항목마다 「점검 내용 · 판정 기준 · 확인(O/X) · 비고」 열을 써줘. 판정 기준의 수치는 [빈칸]. 매뉴얼에 있는지 확실하지 않은 항목은 「매뉴얼 확인」으로 표시해줘.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항목이 설비 매뉴얼과 맞는지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19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설비별 일일·주간·월간 점검 체크리스트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주기별로 표를 분리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표에 섞으면 현장에서 못 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판정 기준은 빈칸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수치는 매뉴얼·규정에서 직접 채운다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「매뉴얼 확인」 출구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가 모르는 설비는 지어내지 않게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점검표는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설비마다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같은 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MSDS 요약과 사고 보고서 초안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현장용 요약과 사실만의 보고서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① 아래 가상의 MSDS 에서 작업자가 알아야 할 것만 「위험성 · 보호구 · 응급조치 · 보관」 네 항목으로 다섯 줄씩 요약해줘. ② 그리고 아래 사고 메모를 「발생 경위 · 피해 · 즉시 조치 · 원인(추정) · 재발 방지」 양식의 보고서 초안으로 써줘. 사실과 추정을 구분해줘. 자료: [붙여 넣기]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추정이 사실처럼 쓰이지 않았는지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20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MSDS 요약과 사고 보고서 초안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MSDS 는 공개 자료라 입력 가능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제품명만 가리면 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「사실과 추정 구분」 요구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사고 보고서의 핵심 — 책임이 걸린다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양식은 회사 서식 항목명으로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법정 서식이 있으면 그 항목 순서로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사고 보고는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안전 담당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검토 후 제출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4M 변경점 보고와 영향 평가 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변경 내용에서 영향과 확인 항목 도출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공정 엔지니어로서 아래 변경 내용으로 4M 변경점 보고서를 써줘. 「변경 구분(사람/기계/재료/방법) · 변경 전 · 변경 후 · 영향 범위(품질/안전/납기) · 확인 항목 · 승인」 표로 정리하고, 영향 범위마다 확인해야 할 검사 항목을 두 개씩 제안해줘. 변경 내용: [무엇이 어떻게 바뀜]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영향 범위가 빠진 곳은 없는지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21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4M 변경점 보고와 영향 평가 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변경 내용은 한 줄로 명확히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「금형 A → B」처럼 전후를 분명히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확인 항목은 제안으로 받기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채택은 품질·안전 담당이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승인란은 비워 두기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가 채울 칸이 아니다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변경 하나에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표 한 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사내 AI 활용 가이드라인 초안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허용·주의·금지 세 등급으로 분류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생산 부서용 「AI 활용 가이드라인」 초안을 만들어줘. ① 입력 정보를 「허용 · 주의(가리고 입력) · 금지」 세 등급으로 분류한 표(예시 항목 각 5개) ② 문서별 AI 초안 → 검토 → 승인 절차 ③ 지켜야 할 규칙 7가지. 전체 한 장 분량, 규칙은 한 줄씩.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회사 보안 정책과 충돌하는 항목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22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사내 AI 활용 가이드라인 초안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세 등급이 실무에 맞는다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허용/금지 둘로는 애매한 것이 많다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오늘 배운 보안 5가지를 금지에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첫 슬라이드의 표를 그대로 넣는다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초안은 보안·인사와 함께 확정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부서 가이드는 회사 정책 아래에 있다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가이드라인은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과정의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마지막 산출물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6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주기별로 나눈 설비 점검 체크리스트 — 판정 기준은 빈칸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MSDS 현장 요약과 사실·추정을 구분한 사고 보고서 초안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4M 변경점 보고와 영향 범위별 확인 항목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허용·주의·금지 세 등급의 사내 AI 활용 가이드라인 초안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안전 문서는 AI 초안 → 담당 검토 → 승인 — 순서를 바꾸지 않습니다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3일차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오늘 배운 것 한 문제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416368"/>
          </a:xfrm>
          <a:prstGeom prst="roundRect">
            <a:avLst>
              <a:gd name="adj" fmla="val 4034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844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엑셀 공정 데이터를 AI 로 정리할 때 가장 안전한 방법은?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505491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① 실제 실적 파일을 통째로 올린다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505491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② 열 이름만 알려 주고 절차·수식을 받는다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48366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③ 고객사 이름을 포함해 올린다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48366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④ 정리는 AI 가 알아서 하게 둔다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3일차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정답과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BD5F3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데이터가 PC 를 떠나지 않습니다. 열 구조만으로도 정제 절차와 수식을 받을 수 있고, 파일을 올릴 때는 가상 데이터만 씁니다.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현업 적용 로드맵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돌아가서 바로 하는 세 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16305F"/>
          </a:solidFill>
          <a:ln w="9525">
            <a:solidFill>
              <a:srgbClr val="16305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이번 주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SOP 한 건·점검표 한 건을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프롬프트로 다시 만들어 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이번 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생산일지 요약·회의록 정리를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매주 같은 프롬프트로 반복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이번 분기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팀 프롬프트 폴더·용어집·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가이드라인을 확정한다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800725"/>
            <a:ext cx="47625" cy="7239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5857875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프롬프트 22개는 학습사이트에서 빈칸째 복사할 수 있습니다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생산·공정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1462653" cy="571500"/>
          </a:xfrm>
          <a:prstGeom prst="rect">
            <a:avLst/>
          </a:prstGeom>
        </p:spPr>
      </p:pic>
      <p:pic>
        <p:nvPicPr>
          <p:cNvPr id="5" name="Picture 4" descr="reb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3540" y="1028700"/>
            <a:ext cx="3941460" cy="4191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생산·공정 과정 마무리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문서는 AI 가 초안을, 판단은 사람이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3일 동안 만든 22개 프롬프트와 문서 초안은 팀의 공용 자산입니다 — 빈칸째 저장하고 매주 다시 씁니다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SOP·작업지시서·점검표 초안을 1시간 안에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일지·회의록 요약을 매주 같은 프롬프트로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다국어 안내문은 용어집과 역번역으로 확인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회사 정보는 [빈칸] — 가이드라인대로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과정 산출물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프롬프트 22개 · 문서 초안 8종 · AI 가이드라인 초안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