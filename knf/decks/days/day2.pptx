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· 2026. 10. 13. (화) · 09:00~18:00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120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2일차 교시별 강의 슬라이드</a:t>
            </a:r>
          </a:p>
          <a:p>
            <a:pPr algn="l">
              <a:lnSpc>
                <a:spcPct val="110000"/>
              </a:lnSpc>
            </a:pPr>
            <a:r>
              <a:rPr sz="66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로 문제 공정 찾기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20589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과목 개요 · 1~8교시 차시 슬라이드 · 50분 수업 + 10분 휴식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교육 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78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3000" y="301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3000" y="301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3000" y="278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생성형 AI 를 활용한 데이터 분석 및 문제 해결 방법론을 이해합니다.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96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3000" y="419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3000" y="419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3000" y="396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데이터·AI 기반 분석 실무를 이해하고 현업 적용 역량을 강화합니다.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140000"/>
            <a:ext cx="16002000" cy="100000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43000" y="5370000"/>
            <a:ext cx="540000" cy="5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3000" y="5370000"/>
            <a:ext cx="540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3000" y="5140000"/>
            <a:ext cx="14602000" cy="10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 업무 전반에서 데이터 기반 의사결정 및 문제 해결 능력을 확보합니다.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500000"/>
            <a:ext cx="16002000" cy="900000"/>
          </a:xfrm>
          <a:prstGeom prst="roundRect">
            <a:avLst>
              <a:gd name="adj" fmla="val 666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3000" y="650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대상 · 생산·품질 기술직 재직자 9명 · 2026. 10. 12.(월)~15.(목) · 4일 32시간 · 하루 8교시(50분 수업 + 10분 휴식)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과정의 특장점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42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2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3000" y="242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01  하나의 문제를 4일 동안 끝까지 (PBL)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3000" y="242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기업 「새벽정밀」의 문제 하나를 문제 정의부터 보고까지 4일 동안 이어서 풉니다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15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15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3000" y="315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02  제조 현장 지표 중심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3000" y="315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6공정 12설비 62일 데이터로 OEE · Cpk · 불량률 · 상관 · 파레토를 다룹니다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89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389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3000" y="389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03  실습 중심 32시간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3000" y="389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32차시 가운데 24차시가 실습 — 차시마다 단계별 실습과 결과물이 있습니다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62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62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3000" y="462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04  AI 는 초안, 검증은 사람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3000" y="462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낸 숫자는 Excel 로 다시 계산하고, 결론은 사실과 추정으로 나눕니다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36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536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3000" y="536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05  무료 계정·보안 전제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3000" y="536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유료 계정 없이도 진행 · 실습은 가상 데이터 · 회사 실제 데이터는 올리지 않습니다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6095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6095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3000" y="6095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06  성과를 숫자로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3000" y="6095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문항의 사전 · 사후 평가와 팀 개선 보고서 · 발표로 성과를 확인합니다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6830000"/>
            <a:ext cx="16002000" cy="660000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" y="6830000"/>
            <a:ext cx="47625" cy="66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43000" y="6830000"/>
            <a:ext cx="5300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07  교육 뒤에도 쓰는 자료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3000" y="6830000"/>
            <a:ext cx="9952000" cy="6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 사이트 · 슬라이드 · 실습 파일 8종을 교육 뒤에도 복습에 씁니다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~ 4일차 과목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550000"/>
            <a:ext cx="2650000" cy="5900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550000"/>
            <a:ext cx="265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3000" y="2550000"/>
            <a:ext cx="4300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3000" y="2550000"/>
            <a:ext cx="430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00" y="2550000"/>
            <a:ext cx="4450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00" y="2550000"/>
            <a:ext cx="4450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오전 과목 (1~4교시)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93000" y="2550000"/>
            <a:ext cx="4452000" cy="590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93000" y="2550000"/>
            <a:ext cx="4452000" cy="5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오후 과목 (5~8교시)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323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3000" y="323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1일차  10. 12. (월)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3000" y="323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3000" y="323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이해 · AI 와 데이터 준비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00" y="323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3000" y="323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학습개요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693000" y="323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33000" y="323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엔지니어링 및 제조 데이터 이해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426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3000" y="426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2일차  10. 13. (화)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3000" y="426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83000" y="426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로 문제 공정 찾기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00" y="426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3000" y="426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분석 기초와 공정별 분석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693000" y="426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E7F4F4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33000" y="426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통합 KPI 분석과 문제 공정 선정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529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3000" y="529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3일차  10. 14. (수)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3000" y="529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83000" y="529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분석과 가설 검증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93000" y="529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3000" y="529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기반 원인분석 프레임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693000" y="529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33000" y="529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 분류와 검증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43000" y="6320000"/>
            <a:ext cx="26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3000" y="6320000"/>
            <a:ext cx="23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4일차  10. 15. (목)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3000" y="6320000"/>
            <a:ext cx="430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83000" y="6320000"/>
            <a:ext cx="402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· 실행계획 · 보고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93000" y="6320000"/>
            <a:ext cx="4450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3000" y="6320000"/>
            <a:ext cx="4170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개선안 도출과 우선순위 평가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693000" y="6320000"/>
            <a:ext cx="4452000" cy="950000"/>
          </a:xfrm>
          <a:prstGeom prst="roundRect">
            <a:avLst>
              <a:gd name="adj" fmla="val 63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33000" y="6320000"/>
            <a:ext cx="4172000" cy="9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실행계획과 최종 보고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748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▶ 이 묶음 = 2일차 · 과목명과 세부내용은 위탁기관 커리큘럼 그대로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개요 · 2026. 10. 13. (화)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로 문제 공정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50000"/>
            <a:ext cx="16002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정제된 데이터로 공정의 성과를 숫자로 봅니다. 오전에는 OEE·Cpk 의 계산식을 이해하고 공정별로 산출·시각화하며, 오후에는 지표 간 상관·추세·파레토를 읽어 데이터 근거로 중점관리공정을 선정합니다.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100000"/>
            <a:ext cx="1500000" cy="4550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100000"/>
            <a:ext cx="15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3000" y="3100000"/>
            <a:ext cx="20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000" y="3100000"/>
            <a:ext cx="20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3000" y="3100000"/>
            <a:ext cx="42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3000" y="3100000"/>
            <a:ext cx="42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3000" y="3100000"/>
            <a:ext cx="6600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3000" y="3100000"/>
            <a:ext cx="6600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643000" y="3100000"/>
            <a:ext cx="1502000" cy="455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643000" y="3100000"/>
            <a:ext cx="1502000" cy="45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360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3000" y="360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3000" y="360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3000" y="360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09:00~09:50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43000" y="360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3000" y="360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분석 기초와 공정별 분석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3000" y="360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3000" y="360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설비종합효율(OEE) — 가동률·성능·양품률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643000" y="360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33000" y="360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07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3000" y="407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3000" y="407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3000" y="407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10:00~10:50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3000" y="407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33000" y="407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분석 기초와 공정별 분석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3000" y="407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83000" y="407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공정능력지수(Cp·Cpk) — 규격과 산포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643000" y="407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733000" y="407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540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3000" y="4540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3000" y="4540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3000" y="4540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11:00~11:50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43000" y="4540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33000" y="4540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분석 기초와 공정별 분석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93000" y="4540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83000" y="4540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OEE 산출 — AI 와 Excel 로 계산하고 검증하기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643000" y="4540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733000" y="4540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43000" y="5010000"/>
            <a:ext cx="16002000" cy="3000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9525">
            <a:solidFill>
              <a:srgbClr val="F2D3A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5010000"/>
            <a:ext cx="16002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D9822B"/>
                </a:solidFill>
                <a:latin typeface="Pretendard"/>
                <a:ea typeface="Pretendard"/>
                <a:cs typeface="Pretendard"/>
              </a:rPr>
              <a:t>12:00~13:00  점심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43000" y="532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33000" y="532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93000" y="532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83000" y="532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13:00~13:50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43000" y="532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33000" y="532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분석 기초와 공정별 분석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93000" y="532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83000" y="532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Cpk 산출과 시각화 — 히스토그램·막대·추세 차트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5643000" y="532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733000" y="532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579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3000" y="579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5교시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693000" y="579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83000" y="579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14:00~14:50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43000" y="579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33000" y="579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KPI 분석과 문제 공정 선정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93000" y="579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83000" y="579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지표 간 상관관계 — 산점도와 상관계수 읽기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643000" y="579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733000" y="579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이론+실습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43000" y="626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33000" y="626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6교시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93000" y="626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83000" y="626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15:00~15:50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43000" y="626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33000" y="626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KPI 분석과 문제 공정 선정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993000" y="626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83000" y="626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상관 해석의 함정 — 층별 분석과 가짜 상관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5643000" y="626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733000" y="626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43000" y="673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33000" y="673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7교시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693000" y="673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83000" y="673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16:00~16:50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43000" y="673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833000" y="673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KPI 분석과 문제 공정 선정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93000" y="673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83000" y="673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추세·파레토 분석 — 언제부터, 무엇이 늘었나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5643000" y="673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5733000" y="673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43000" y="7205000"/>
            <a:ext cx="1500000" cy="425000"/>
          </a:xfrm>
          <a:prstGeom prst="roundRect">
            <a:avLst>
              <a:gd name="adj" fmla="val 1200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33000" y="7205000"/>
            <a:ext cx="13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8교시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693000" y="7205000"/>
            <a:ext cx="20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83000" y="7205000"/>
            <a:ext cx="18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17:00~17:50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743000" y="7205000"/>
            <a:ext cx="42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33000" y="7205000"/>
            <a:ext cx="40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KPI 분석과 문제 공정 선정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993000" y="7205000"/>
            <a:ext cx="6600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83000" y="7205000"/>
            <a:ext cx="6420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중점관리공정 최종 선정 — 다기준 판단표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5643000" y="7205000"/>
            <a:ext cx="1502000" cy="425000"/>
          </a:xfrm>
          <a:prstGeom prst="roundRect">
            <a:avLst>
              <a:gd name="adj" fmla="val 12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733000" y="7205000"/>
            <a:ext cx="1322000" cy="42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개요 · 2026. 10. 13. (화)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2일차 학습목표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50000"/>
            <a:ext cx="160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오전 · 1~4교시  </a:t>
            </a:r>
            <a:r>
              <a:rPr sz="2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분석 기초와 공정별 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97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3000" y="308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3000" y="308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3000" y="297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OEE(가동률·성능·양품률)와 6대 손실, Cp·Cpk 와 규격·산포의 관계를 계산식으로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58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63000" y="369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63000" y="369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3000" y="358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파일 분석과 Excel 피벗·수식으로 공정별 OEE·Cpk 를 산출하고 행 수·합계·손계산으로 검증한다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9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3000" y="430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3000" y="430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3000" y="419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히스토그램·막대·추세 차트로 공정 간 차이를 시각화하고 AI 해석에서 사실과 추측을 가린다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50000"/>
            <a:ext cx="160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오후 · 5~8교시  </a:t>
            </a:r>
            <a:r>
              <a:rPr sz="2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통합 KPI 분석과 문제 공정 선정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47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63000" y="558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3000" y="558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3000" y="547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산점도와 상관계수로 생산·품질 지표 사이의 방향과 강도를 해석하고 Excel 로 검증한다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608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63000" y="619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3000" y="619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3000" y="608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층별 분석으로 가짜 상관을 가려내고 AI 의 원인 단정에 반박 질문을 던진다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" y="6690000"/>
            <a:ext cx="16002000" cy="560000"/>
          </a:xfrm>
          <a:prstGeom prst="roundRect">
            <a:avLst>
              <a:gd name="adj" fmla="val 1071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63000" y="6800000"/>
            <a:ext cx="340000" cy="3400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63000" y="6800000"/>
            <a:ext cx="34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03000" y="6690000"/>
            <a:ext cx="150020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추세·파레토와 가중치 판단표로 중점관리공정을 선정하고 사실과 판단을 나눈 선정서를 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오전 과목 · 1~4교시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KPI 분석 기초와 공정별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0000"/>
            <a:ext cx="16002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제조업 핵심 성과 지표인 설비종합효율(OEE)과 공정능력지수(Cp·Cpk)의 정의·계산식·해석 기준을 익히고, 생성형 AI 와 Excel 로 6개 공정의 지표를 직접 계산해 표와 차트로 만듭니다.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0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50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3000" y="368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1  ·  설비종합효율, 공정능력지수 등 제조업 핵심 성과 지표 계산식 이해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3000" y="422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OEE = 가동률 × 성능 × 양품률의 세 요소와 6대 손실, Cp·Cpk 와 규격·산포의 관계를 이해하고, 한 행을 손으로 계산해 계산식을 확인합니다.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5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35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3000" y="553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2  ·  생성형 AI와 데이터 시각화 툴을 활용한 공정별 성과 지표 산출 실습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3000" y="607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OEE·Cpk 를 AI 에게 계산하게 한 뒤 Excel 피벗·수식으로 다시 계산해 대조하고, 히스토그램·막대·추세 차트로 공정 사이의 차이를 시각화합니다.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330000"/>
            <a:ext cx="1600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차시  </a:t>
            </a:r>
            <a:r>
              <a:rPr sz="135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1교시 설비종합효율(OEE)  ·  2교시 공정능력지수(Cp·Cpk)  ·  3교시 공정별 OEE 산출  ·  4교시 Cpk 산출과 시각화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오후 과목 · 5~8교시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통합 KPI 분석과 문제 공정 선정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0000"/>
            <a:ext cx="16002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지표와 품질 지표가 서로 어떻게 움직이는지 산점도와 상관계수로 읽고, 층별 분석으로 「가짜 상관」을 가려냅니다. 추세·파레토 분석과 다기준 판단표로 중점 관리할 공정을 최종 선정합니다.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0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50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3000" y="368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1  ·  AI 분석을 활용한 생산·품질 지표 간의 상호 상관관계 해석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3000" y="422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조건·생산·품질 지표 사이의 상관계수를 AI 와 함께 해석하되, 시기·설비로 나눠 보는 층별 분석으로 상관이 곧 원인이 아님을 확인합니다.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50000"/>
            <a:ext cx="16002000" cy="1700000"/>
          </a:xfrm>
          <a:prstGeom prst="roundRect">
            <a:avLst>
              <a:gd name="adj" fmla="val 35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350000"/>
            <a:ext cx="16002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3000" y="5530000"/>
            <a:ext cx="15402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세부내용 2  ·  중점 관리 공정의 데이터 기반 최종 선정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3000" y="6070000"/>
            <a:ext cx="15402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언제부터, 어느 공정에서, 무엇이 늘었는지 추세·파레토로 좁히고, 손실 규모·악화 정도·개선 가능성 등 여러 기준을 담은 판단표로 중점관리공정을 데이터 근거와 함께 선정합니다.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330000"/>
            <a:ext cx="16002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차시  </a:t>
            </a:r>
            <a:r>
              <a:rPr sz="1350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5교시 지표 간 상관관계  ·  6교시 상관 해석의 함정  ·  7교시 추세·파레토 분석  ·  8교시 중점관리공정 최종 선정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1교시 · KPI 분석 기초와 공정별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설비종합효율(OEE)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가동률 × 성능 × 양품률 — 세 개의 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세 요소가 각각 무엇을 재는지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6대 손실이 세 요소 중 어디를 깎는지 연결한다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생산일지 한 행으로 OEE 를 손계산하고 검산한다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전체의 OEE 는 3교시에 AI 와 Excel 로 직접 산출합니다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세 개의 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계획 시간이 세 번 걸러진다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계획가동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교대당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480분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운전시간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− 비가동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(가동률)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이론시간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− 느린 속도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(성능)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가치시간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− 불량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(양품률)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= 가치시간 ÷ 계획가동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체를 모두 통과하고 남은 비율이 OEE — 그래서 더하지 않고 곱한다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세 개의 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 요소의 계산식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162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(계획 − 비가동) ÷ 계획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멈추지 않고 돌았나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이론CT × 생산 ÷ 운전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 속도를 냈나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 ÷ 생산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좋은 것의 비율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7162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972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가동률 × 성능 × 양품률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가치 있는 시간 비율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이론CT 는 초 단위 — 성능 계산에서 60 으로 나눠 분으로 맞춘다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세 개의 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검산 한 줄 — 곱하면 약분된다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세 요소를 곱하면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운전시간과 생산수량이 위아래로 약분된다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남는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양품을 이론 속도로 만들었다면 걸렸을 시간 ÷ 계획 시간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쓰는 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요소의 곱과 검산 값이 다르면 어딘가 계산이 틀린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검산식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이론CT×양품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÷60÷계획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6대 손실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손실마다 깎는 요소가 정해져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6대 손실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3962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깎는 요소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라인의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① 고장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이상 정지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② 준비·교체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433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433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4337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4337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금형·공구 교체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③ 공회전·순간정지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3870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3870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3870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3870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 없음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④ 속도저하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53402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53402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53402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53402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 없음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⑤ 불량·재작업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62293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050" y="62293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44300" y="622935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9550" y="622935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− 양품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⑥ 초기수율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69246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9050" y="69246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44300" y="692467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39550" y="692467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구분 기록 없음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공회전·속도저하는 사유로 기록되지 않고 성능 수치로만 드러난다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한 행 손계산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6행 · 7/1 주간 · SF-01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7962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운전시간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480 − 12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500" y="3448050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39750" y="3448050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468분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044043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044043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468 ÷ 480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500" y="4044043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39750" y="4044043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97.5%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이론시간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640036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640036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6.5 × 4,065 ÷ 60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640036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640036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440.4분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5236029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0" y="5236029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440.4 ÷ 468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44500" y="5236029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39750" y="5236029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94.1%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43500" y="5832021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8750" y="5832021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3,952 ÷ 4,065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144500" y="5832021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39750" y="5832021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97.2%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43500" y="6428014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8750" y="6428014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요소의 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144500" y="6428014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39750" y="6428014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89.2%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9624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7719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43500" y="7024007"/>
            <a:ext cx="79629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38750" y="7024007"/>
            <a:ext cx="77724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6.5 × 3,952 ÷ 60 ÷ 480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144500" y="7024007"/>
            <a:ext cx="40005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239750" y="7024007"/>
            <a:ext cx="38100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89.2%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계획 480 · 비가동 12 · 이론CT 6.5초 · 생산 4,065 · 양품 3,952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한 행 손계산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직접 해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18행 손계산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7/1 야간 SF-01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검산과 0.1%p 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풀이 대조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다섯 개만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붙여 넣고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흔한 오답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초·분 단위 혼동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성능 분모 착각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회사 실제 데이터라면 숫자 몇 개라도 보안정책부터 확인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= 가동률 × 성능 × 양품률 — 더하지 않고 곱한다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분모는 각각 계획가동 · 운전시간 · 생산수량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이론CT(초) × 생산수량 ÷ 60 = 이론시간(분)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검산: 이론CT × 양품 ÷ 60 ÷ 계획가동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하나보다 세 요소를 함께 봐야 고칠 곳이 보인다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1교시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1교시 · 이론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공정능력지수(Cp·Cpk)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 손실을 보는 OEE 에 이어, 품질 측정값의 퍼짐과 쏠림을 보는 지표를 익힙니다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규격 한계 LSL · USL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평균과 표준편차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 와 Cpk 의 차이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한쪽 규격 계산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03_quality_measure.xlsx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2교시 · KPI 분석 기초와 공정별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공정능력지수(Cp·Cpk)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규격 안에 얼마나 여유 있게 들어오는가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LSL·USL·평균·표준편차의 역할을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양쪽·한쪽 규격의 Cp·Cpk 를 계산한다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 를 일반적인 판정 기준으로 해석한다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설비별 Cpk 는 4교시에 Excel 로 직접 산출합니다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과녁과 탄착군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여유를 정하는 두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퍼짐 — 표준편차 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자국 무리가 얼마나 넓게 퍼졌나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STDEV.S 로 구한다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대부분 평균 ± 3σ 안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줄이려면 산포 원인 제거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치우침 — 평균 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무리의 중심이 과녁 중앙에서 비켜났나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AVERAGE 로 구한다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규격 중앙과 비교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고치려면 세팅값 조정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계산식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 는 잠재 능력, Cpk 는 지금 실력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6428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642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(USL − LSL) ÷ 6σ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퍼짐만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min(위 여유, 아래 여유)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퍼짐 + 쏠림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 여유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(USL − μ) ÷ 3σ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상한까지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아래 여유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(μ − LSL) ÷ 3σ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하한까지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하한만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7642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7452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Cpk = (μ − LSL) ÷ 3σ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63436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63436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소결밀도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한쪽 규격에서는 규격 폭이 없으므로 Cp 를 계산하지 않는다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계산식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판정 기준 (일반적으로)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3962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현장에서 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1.33 이상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유지 · 정기 모니터링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1.0 ~ 1.33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 필요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산포·치우침 점검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1.0 미만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부적합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조사 · 임시 조치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고객사·업종마다 요구 수준이 다르다 — 실제 판정은 회사 품질 기준서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이 라인의 규격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SPEC 시트 — 한쪽 규격 하나, 양쪽 규격 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28422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LSL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28422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USL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소결밀도_pct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95.0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929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한쪽(하한)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소결외경_mm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893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10.12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929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10.28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연삭외경_mm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9.94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10.06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03_quality_measure.xlsx · MEASURE 2,480행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손계산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소결외경 — 평균 10.2000 · σ 0.0203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7962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0.16 ÷ (6 × 0.0203)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500" y="34480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39750" y="34480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위 여유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0.08 ÷ (3 × 0.0203)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500" y="41719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39750" y="41719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아래 여유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0.08 ÷ (3 × 0.0203)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8958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8958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중 작은 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44500" y="56197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39750" y="56197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평균이 규격 정중앙이라 Cp 와 Cpk 가 같다 — 판정은 관리 필요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손계산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퍼짐, 다른 판정 (예시 숫자)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 · 평균 10.00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규격 9.94~10.06 · σ 0.012 · 중심이 맞음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3535" y="4838700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5935" y="4838700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93535" y="5400675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5935" y="5400675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93535" y="5962650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5935" y="5962650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B · 평균 10.03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σ 0.012 · 위로 0.03 쏠림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23185" y="4838700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75585" y="4838700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23185" y="5400675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75585" y="5400675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0.83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70288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70288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23185" y="5962650"/>
            <a:ext cx="617416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75585" y="5962650"/>
            <a:ext cx="586936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부적합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손계산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한쪽 규격 — SF-01 소결밀도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 96.2546 · 표준편차 0.3262 · 하한 95.0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(96.2546 − 95.0) ÷ (3 × 0.3262) = 1.2546 ÷ 0.9786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Cpk 1.28 → 1.0 ~ 1.33 구간, 관리 필요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Cp 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상한이 없어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 안 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 는 퍼짐만, Cpk 는 퍼짐과 쏠림을 함께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 는 가까운 쪽 규격까지의 여유 (작은 값)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한쪽 규격은 Cpk 만 — 소결밀도 (μ − 95.0) ÷ 3σ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 높고 Cpk 낮으면 세팅 조정이 먼저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1.33 · 1.0 은 일반 기준 — 실제는 회사 기준서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2교시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2교시 · 이론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공정별 OEE 산출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 생산일지를 올려 공정별 OEE 를 계산시키고, Excel 로 같은 값을 다시 계산해 검증합니다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파일을 제대로 읽었나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 방식으로 계산 지정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 테이블 · SUMIFS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결과와 대조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02_production_log_clean.xlsx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3교시 · KPI 분석 기초와 공정별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산출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로 빠르게 계산하고, Excel 로 검증한다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파일 분석으로 공정별 OEE 를 계산시킨다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 테이블 · SUMIFS 로 같은 값을 다시 계산한다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행 수 · 합계 · 한 행 손계산으로 틀린 숫자를 찾는다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6개 공정 + 라인 전체의 가동률·성능·양품률·OEE 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OEE 는 합계로 계산한다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 방식 (정답)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분·개수를 먼저 더한 뒤 비율을 구한다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Σ운전 ÷ Σ계획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Σ이론 ÷ Σ운전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Σ양품 ÷ Σ생산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평균 방식 (오답)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행별 비율을 평균 내면 행의 크기를 무시한다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세 평균의 곱 79.5%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 방식은 79.7%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행 평균 85.2% vs 85.3%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단계로 계산하고 검증한다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결과는 Excel 로 다시 계산한 다음에만 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수·공정·합계부터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 방식을 지정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계산 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운전시간·이론시간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피벗·SUMIFS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값을 Excel 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칸의 원인 찾기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1단계 기준값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파일을 제대로 읽었나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분석 시트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행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1,488행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행 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6개 공정 × 248행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Σ생산수량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6197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56197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6,613,595개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Σ양품수량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63436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63436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6,549,532개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하나라도 다르면 「CLEAN 시트만, 1행은 머리글」이라고 짚어 다시 요청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Excel 로 다시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 열 두 개 + SUMIFS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M2 운전시간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=F2-G2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 − 비가동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N2 이론시간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=I2*J2/60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이론CT × 생산 ÷ 60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Σ계획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=SUMIFS(F, D, 공정)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합계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=Σ운전/Σ계획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합계끼리 나누기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=가동률*성능*양품률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3436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3436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요소의 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피벗 계산 필드는 합계끼리 나누므로 합계 방식이 저절로 지켜진다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대조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기준값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1940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포장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9595" y="2886075"/>
            <a:ext cx="13907655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30600" y="281940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88.2%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원료혼합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89595" y="3209925"/>
            <a:ext cx="13891887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14832" y="314325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88.1%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6710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89595" y="3533775"/>
            <a:ext cx="13860350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83295" y="346710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87.9%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9095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89595" y="3857625"/>
            <a:ext cx="13765740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88685" y="379095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87.3%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1480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9595" y="4181475"/>
            <a:ext cx="12614653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37598" y="411480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438650"/>
            <a:ext cx="97039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89595" y="4505325"/>
            <a:ext cx="12567348" cy="1905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90293" y="4438650"/>
            <a:ext cx="952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79.7%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라인 전체 OEE 85.3% · 정답 파일 06_kpi_workbook.xlsx OEE_BY_PROCESS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대조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는 같아도 손실의 모양은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가동률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양품률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86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89.2%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92.0%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97.10%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944600" y="34480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39850" y="34480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86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87.3%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90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92.7%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442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94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98.94%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944600" y="41719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39850" y="41719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91.4%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90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93.0%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97.63%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44600" y="48958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39850" y="48958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82.9%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86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86.9%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438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390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91.0%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442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94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96.53%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944600" y="56197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039850" y="56197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76.4%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연삭은 시간 손실 중심, 소결은 시간 손실과 품질 손실이 함께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숫자를 틀릴 때 확인하는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5082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의심할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Σ생산이 적다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901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시트·행 누락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행 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합계는 같은데 OEE 다름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 방식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합계로 다시 요청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성능이 이상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초·분 단위 혼동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6행 손계산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가동률이 이상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901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분모 착각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Σ계획 대조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6행 기준: 가동률 97.5% · 성능 94.1% · 양품률 97.2%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끝내기 전에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1,488행 · 공정별 248행을 읽었다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6행 계산 열이 손계산(468분 · 440.4분)과 같다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가 기준값과 0.1%p 안에서 맞다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다른 칸은 행 수 · 합계 · 한 행 순서로 추적했다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회사 실제 데이터는 외부 AI 에 올리지 않는다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무료 계정이면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대신 합계표 6행으로도 같은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분석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올려 계산 → Excel 로 대조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1·2단계: 업로드 후 OEE 요청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3·4단계: 피벗으로 다시 계산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5단계: 한 칸씩 대조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무료 계정 · 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먼저 → 합계표만 붙여 넣기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3·4단계 피벗을 먼저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합계 6행 복사·붙여넣기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「무료 계정이면」 프롬프트로 해석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3교시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Cpk 산출과 시각화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설비별 Cpk 를 Excel 수식으로 구하고 히스토그램·막대·추세 차트로 그립니다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AVERAGEIFS · STDEV.S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히스토그램과 규격선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막대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해석 문장 팩트체크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 열을 넣은 생산일지 파일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4교시 · KPI 분석 기초와 공정별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 산출과 시각화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히스토그램 · 막대 · 추세 차트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설비별 평균 · 표준편차 · Cpk 를 수식으로 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히스토그램에 규격선을, OEE 를 막대 · 꺾은선으로 그린다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차트 해석 문장에서 사실과 추측을 가린다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숫자는 Excel 로, 문장 초안은 AI 로, 확인은 사람이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지표마다 어울리는 차트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무엇을 보고 싶은가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 싶은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1224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시간의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측정값의 퍼짐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히스토그램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소결밀도 + LSL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항목끼리 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OEE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시간에 따른 변화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꺾은선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소결로 일자별 OEE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히스토그램은 Excel 2016 부터 — 이전 버전은 COUNTIFS 구간표 + 세로 막대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수식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설비별 평균 · 표준편차 · Cpk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4480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8690" y="34480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COUNTIFS(설비, A3, 값, "&lt;&gt;")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1719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41719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AVERAGEIFS(값, 설비, A3)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표준편차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8958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8958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STDEV.S(IF(설비=A3, 값))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56197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56197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(USL−LSL)/(6*σ) · 한쪽이면 빈칸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63436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8690" y="63436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MIN(위 여유, 아래 여유)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Excel 2016·2019 의 STDEV.S(IF(…)) 는 Ctrl + Shift + Enter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결과 대조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CPK_ANSWER 「전체」와 맞춰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 · 특성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3940" y="2781300"/>
            <a:ext cx="20421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3940" y="2781300"/>
            <a:ext cx="2042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44200" y="2781300"/>
            <a:ext cx="20421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2781300"/>
            <a:ext cx="2042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소결밀도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44805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8850" y="344805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0.3262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3940" y="344805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9190" y="344805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344805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344805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1.28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24460" y="344805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19710" y="344805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 필요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소결밀도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414337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414337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0.5373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63940" y="414337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190" y="414337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44200" y="414337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9450" y="414337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24460" y="414337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19710" y="414337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부적합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소결외경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483870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483870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0.0203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63940" y="483870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59190" y="483870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483870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483870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24460" y="483870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919710" y="483870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 필요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소결외경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553402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8850" y="553402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0.0261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63940" y="553402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59190" y="553402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44200" y="553402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9450" y="553402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824460" y="553402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919710" y="553402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 필요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GR-01 연삭외경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622935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8850" y="622935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0.0119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63940" y="622935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59190" y="622935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744200" y="622935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39450" y="622935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824460" y="622935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919710" y="622935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GR-02 연삭외경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943600" y="692467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38850" y="692467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0.0113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63940" y="692467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59190" y="692467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1.78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744200" y="692467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39450" y="692467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1.75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2824460" y="692467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919710" y="692467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모두 n = 620 · 소결밀도는 한쪽 규격이라 Cp 없음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히스토그램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· SF-02 소결밀도 분포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값 떼어 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필터로 설비를 거르고 소결밀도 열만 새 시트에 붙인다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히스토그램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삽입 → 통계 차트 삽입 → 히스토그램 · 구간 너비 0.2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규격선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도형 선으로 95.0 에 빨간 세로선 + 「LSL 95.0」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숫자로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COUNTIF(A:A,"&lt;95") — SF-02 26개 · SF-01 0개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막대와 꺾은선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막대 · 소결로 일자별 추세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막대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OEE 표 → 묶은 가로 막대형, OEE 낮은 순 정렬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추세 피벗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 공정=소결 · 행 일자 · 열 설비 · 값 계산 필드 OEE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꺾은선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피벗 테이블 분석 → 피벗 차트 → 꺾은선형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계산 필드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이론시간/계획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*양품/생산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차트와 수식에서 막히는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표준편차가 이상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배열 입력 안 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Ctrl+Shift+Enter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개수가 620 아님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범위·설비명 오류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범위 2~2481행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분포 모양 비교 불가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구간 너비 다름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0.2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 표준편차 다름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전체(p) 선택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「표준 편차」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소결로의 선이 어디서 벌어지는지는 메모만 — 시점 확인은 오후에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6. AI 해석 문장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사실과 해석을 나눠 표시시킨다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남기는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표의 숫자를 그대로 근거로 든 문장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소결밀도 Cpk 0.65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 0.5373 &gt; SF-01 0.3262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연삭기 Cpk 1.66 · 1.75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고치는 문장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표에 없는 원인 · 시점을 단정한 문장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 숙련도 부족 탓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장마철 습도 탓이다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「확인 필요」 질문으로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끝내기 전에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설비별 n 620 · 평균 · σ 가 정답과 맞다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한쪽 규격은 Cp 를 비우고 Cpk 만 구했다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두 히스토그램을 같은 구간 너비로 그리고 LSL 을 표시했다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막대 · 꺾은선 차트를 만들었다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해석 문장의 숫자를 표와 한 줄씩 대조했다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4교시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통합 KPI 분석과 문제 공정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5교시에는 생산·품질 지표가 서로 어떻게 함께 움직이는지 산점도와 상관계수로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지표 간 상관관계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 해석의 함정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추세 · 파레토 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중점관리공정 선정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표 · Cpk 표 · 차트 · 해석 문장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5교시 · 통합 KPI 분석과 문제 공정 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지표 간 상관관계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산점도와 상관계수 읽기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지표 하나가 아니라 지표 사이의 관계를 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산점도로 두 지표가 같은 방향인지 반대 방향인지 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상관계수 r 의 부호와 크기로 방향과 강도를 해석한다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두 파일을 키로 잇고, AI 의 r 을 Excel CORREL 로 검증한다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 지표(비가동)와 품질 지표(불량률)가 함께 움직이는지 확인합니다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산점도와 상관계수 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산점도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하나 = 점 하나, 가로·세로에 두 지표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위로 몰림 = 함께 오른다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아래 = 하나가 오르면 하나는 내린다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구름처럼 흩어짐 = 따로 움직인다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상관계수 r (−1 ~ +1)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점들이 한 직선에 얼마나 가까운지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부호 = 방향, 0 에서 먼 정도 = 강도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=CORREL(범위1, 범위2)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R² = r × r (0.95 → 약 0.90)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 을 읽는 어림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 의 범위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읽는 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산점도 모양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+0.7 ~ +1.0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강한 양의 상관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위 좁은 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+0.4 ~ +0.7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양의 상관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위 넓은 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−0.4 ~ +0.4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약하거나 거의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구름처럼 흩어짐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−0.7 ~ −0.4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6197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6197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음의 상관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4260" y="56197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19510" y="56197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아래 넓은 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−1.0 ~ −0.7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63436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63436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강한 음의 상관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24260" y="63436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19510" y="63436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아래 좁은 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경계는 교과서마다 조금씩 다르다 — 숫자 하나로 판정하지 말고 산점도를 함께 본다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분석 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분석 단위 — 소결 「일자×교대×설비」 248행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가져올 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잇는 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불량률(%)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생산일지 생산·양품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 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비가동(분)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생산일지 비가동_분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온도편차(°C)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04 불량 기록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일자+교대+설비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성형실 습도(%)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04 불량 기록(성형 행)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6197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6197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불량 기록은 유형마다 행이 나뉜다 — 같은 키의 온도편차는 같은 값이라 AVERAGEIFS 로 가져온다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표 만들기부터 해석까지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생산일지에서 소결 행만 걸러 SF 시트를 만들고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분석 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 시트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키로 잇기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산점도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분산형 차트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추세선·R²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AI 상관 행렬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올려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 과 함께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Excel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CORREL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쌍 이상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해석 문장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~할수록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~한 경향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·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Excel CORREL 로 맞춰 볼 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 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22021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 ↔ 소결 불량률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909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매우 강한 양의 상관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비가동 ↔ 소결 불량률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0.71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강한 양의 상관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 ↔ 비가동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909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중간~강한 양의 상관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성형실 습도 ↔ 성형 불량률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909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0.80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강한 양의 상관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값과 다르면 먼저 행 수(n)와 열 이름을 대조한다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·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 지표와 품질 지표가 같은 교대에서 함께 나빠진다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온도편차가 큰 교대에서 불량률이 높다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= 0.95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교대에서 비가동도 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= 0.67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오래 멈춘 교대일수록 불량률도 높다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 = 0.71 — OEE 의 가동률·양품률이 함께 떨어지는 이유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아직 말하지 않는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「때문이다」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원인은 다음 단계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여기서 자주 막힙니다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#DIV/0!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파일의 일자 형식이 다르다 — 글자와 날짜 값을 맞춘다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와 r 이 다르다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 부터 비교 — 머리글·빈 행·다른 열이 섞였는지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축이 바뀌었다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선택한 열이 가로축 — 온도편차를 먼저 고른다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회사 데이터 업로드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데이터는 올리지 않는다 — 보안정책 확인, 비식별화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이것이 되면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 시트 248행, 온도편차·습도 열에 #DIV/0!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산점도에 축 제목·추세선·R² 가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n = 248, 온도편차 ↔ 불량률 r = 0.95 일치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해석은 「~할수록 ~한 경향」에서 멈췄다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무료 계정이면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 행렬은 Excel, 해석은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분석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 시트를 올려 상관 행렬 요청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r 계산·산점도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CORREL 두 쌍으로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무료 계정 · 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CORREL 행렬 4×4 를 붙여 해석만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4단계 CORREL 을 먼저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막히면 paste_pack 의 SF_248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「무료 계정이면」 프롬프트로 해석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5교시 · 이론+실습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5교시 · 이론+실습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상관 해석의 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약한 상관 하나를 설비별로 쪼개 보며, 섞여서 생긴 가짜 상관을 직접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 ≠ 인과 — 세 가지 함정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층별 분석으로 r 다시 구하기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시기가 겹친 가짜 상관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원인 단정 반박하기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가져올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 시트와 해석 문장 세 개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6교시 · 통합 KPI 분석과 문제 공정 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 해석의 함정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층별 분석과 가짜 상관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상관이 있다고 원인은 아니다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상관이 원인이 아닌 세 경우를 예로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설비·시기로 쪼개는 층별 분석으로 r 을 다시 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원인 단정에 대안 설명과 확인 방법을 요구한다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성형실 습도 ↔ 소결 불량률 r = 0.21 이 진짜인지 데이터로 판정합니다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세 가지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상관이 있는데 원인이 아닌 경우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행이 적거나 기간이 짧아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우연히 함께 움직임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거꾸로 된 방향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불량이 많아 재작업하느라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비가동이 늘어남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교란변수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제3의 요인이 둘을 함께 움직임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더위 → 아이스크림·물놀이 사고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층별 분석 — 나눠도 남으면 진짜일 가능성, 나누자 사라지면 가짜일 가능성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의심하고, 쪼개고, 반박한다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지난 시간에 만든 SF 시트를 그대로 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일부러 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묻기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설비별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 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CORREL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시기 겹침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7월·8월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나란히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평균의 함정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반박 질문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증거로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대안 요구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· 설비별로 쪼개기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성형실 습도 ↔ 소결 불량률 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층(묶음)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23622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두 소결로 함께 (248행)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34480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34480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약한 상관처럼 보인다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만 (124행)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44100" y="41719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39350" y="41719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없다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만 (124행)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48958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48958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약하게 남음 → 3단계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설비·일자로 정렬하면 2~125행 SF-01, 126~249행 SF-02 — 경계를 눈으로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· 시기 겹침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둘 다 8월에 올랐다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414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414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성형실 평균 습도(%)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54.9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6414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5939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62.0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+7.1 장마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불량률(%)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6414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5939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3.69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+1.52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OEE(%)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83.3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6414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5939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76.1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−7.2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달에 함께 오르면 관계가 없어도 r 이 생긴다 — 「8월」이 교란변수 노릇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· 평균의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평균은 섞인 값이다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OEE(%)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34823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불량률(%)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소결밀도 Cpk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공정 전체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893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933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04520" y="34480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99770" y="34480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893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933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1719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1719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1.28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76.4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3.47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304520" y="48958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99770" y="48958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공정 합계로는 「소결이 나쁘다」까지 — 설비로 쪼개야 「한 대가 더 나쁘다」가 보인다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· 반박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「습도가 원인」이라고 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새 증거를 준다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층별 r(0.21 · 0.11 · 0.31)과 7·8월 습도·불량률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대안 설명을 요구한다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교란변수·시기 겹침 등 다른 설명을 가능성 순으로 세 가지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 방법을 요구한다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설명을 확인하려면 무엇으로 쪼갤지 — 사실과 추정을 나눈 표로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반박의 핵심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감정이 아니라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새 증거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여기서 자주 막힙니다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정렬 경계 착오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125·126행이 정말 SF-01·SF-02 경계인지 E 열로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FILTER 함수 #NAME?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2016·2019 에는 없다 — 정렬 후 범위 나누기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답을 그대로 받음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제습기 대책이 먼저 나오면 층별 결과로 되묻는다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평균으로 대책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설비에 같은 대책 — 쪼갠 단위에서 세운다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이것이 되면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층별 r 이 0.21 · 0.11 · 0.31 로 나왔다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「습도 → 소결 불량」 반박 근거 두 가지를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공정 평균과 설비별 OEE·불량률·Cpk 비교표가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 질문을 적었다 — SF-02 는 언제부터 나빠졌나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6교시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6교시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추세·파레토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 축과 불량 유형으로 쪼개 「언제부터, 무엇이」 늘었는지 찾습니다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월별 공정 비교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일자별 꺾은선 — 꺾이는 날 찾기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 파레토 차트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합계로 다시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가져올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02 생산일지와 04 불량 기록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7교시 · 통합 KPI 분석과 문제 공정 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추세·파레토 분석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언제부터, 무엇이 늘었나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시간으로 쪼개고, 불량 유형으로 쪼갠다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월별·일자별 꺾은선으로 지표가 꺾이는 시점을 찾는다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파레토 차트의 상위 항목과 누적 비율을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파레토 순위만으로 중점 공정을 정하면 안 되는 이유를 말한다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「언제부터·무엇이」까지가 현상 — 「왜」는 3일차에 별도 증거로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꺾은선(추세)과 파레토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꺾은선 — 언제부터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가로축 시간, 설비별로 선을 나눈다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선만 뛰는 날을 찾는다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뛴 뒤 내려오는지, 머무는지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하루치 들쭉날쭉은 추세가 아니다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파레토 — 무엇이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순서 막대 + 누적 % 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삽입 → 통계 차트 → 파레토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 2016 이상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 순위 ≠ 중요도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 · 월별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8월에 나빠진 공정은 어디인가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4282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OEE 7월→8월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3940" y="2781300"/>
            <a:ext cx="4282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394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불량률 7월→8월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원료혼합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88.3 → 87.9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3940" y="34480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190" y="34480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 → 0.65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433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433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87.9 → 86.6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3940" y="41433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190" y="41433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1.06 → 1.31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4337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4337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조금 나빠짐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3870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3870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83.3 → 76.1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63940" y="483870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9190" y="483870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2.17 → 3.69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3870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3870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크게 나빠짐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53402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53402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79.8 → 80.2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63940" y="553402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59190" y="553402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1.06 → 1.07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553402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553402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낮지만 변화 없음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62293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8650" y="62293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88.0 → 87.9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63940" y="62293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59190" y="62293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0.35 → 0.35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984480" y="622935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079730" y="622935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없음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포장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43400" y="69246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8650" y="69246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88.0 → 88.4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63940" y="69246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9190" y="69246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0.25 → 0.25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984480" y="692467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079730" y="692467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없음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연삭은 원래 낮고, 소결은 갑자기 나빠졌다 — 둘은 다른 문제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· 언제부터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무렵부터 SF-02 만 올라간 채 머문다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 · 기간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OEE(%)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가동률(%)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불량률(%)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· 7/1~8/9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83.4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94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91.7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44600" y="34480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39850" y="34480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· 8/10~8/31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94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90.7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44600" y="41719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39850" y="41719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2.49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· 7/1~8/9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91.0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48958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39850" y="48958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· 8/10~8/31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90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64.9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44600" y="56197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39850" y="56197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설비만, 특정한 날부터 — 왜 그날부터인지는 3일차 설비 알람 기록에서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· 유형 파레토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 파레토 — 상위 6개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공정·불량유형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비율(%)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누적(%)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소결·밀도미달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8,734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4420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3945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13.6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44600" y="3448050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39850" y="3448050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13.6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소결·균열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8,554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4420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945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13.4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44600" y="4143375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39850" y="4143375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27.0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성형·밀도불균일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7,122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11.1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4838700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39850" y="4838700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38.1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소결·치수불량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905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5,818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9.1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44600" y="5534025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39850" y="5534025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47.2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성형·치핑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4380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905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5,360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74420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3945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8.4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944600" y="6229350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039850" y="6229350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55.6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연삭·치수불량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4380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3905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4,991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4420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3945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7.8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944600" y="6924675"/>
            <a:ext cx="3200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039850" y="6924675"/>
            <a:ext cx="3009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63.3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합계 64,063개 · 80% 를 넘으려면 9번째 항목까지(누적 83.8%) — 3위에 성형이 끼어 있다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· 묶고 나눠 다시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공정으로 묶으면, 기간으로 나누면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합계 파레토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소결이 전체 불량의 40.9% — 뚜렷한 1위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0650" y="4876800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5538" y="4933474"/>
            <a:ext cx="5071574" cy="1619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0462" y="4876800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0650" y="5152072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5538" y="5208746"/>
            <a:ext cx="2417988" cy="1619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6876" y="5152072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5427345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5538" y="5484019"/>
            <a:ext cx="1909590" cy="1619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8478" y="5427345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0650" y="5702617"/>
            <a:ext cx="838688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원료혼합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05538" y="5759291"/>
            <a:ext cx="1599592" cy="1619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38480" y="5702617"/>
            <a:ext cx="809625" cy="2752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소결 불량 유형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40일 → 뒤 22일, 균열은 거의 두 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337310" cy="501967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337310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395710" y="4838700"/>
            <a:ext cx="2368868" cy="501967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395710" y="4838700"/>
            <a:ext cx="2368868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7/1~8/9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802678" y="4838700"/>
            <a:ext cx="3094673" cy="501967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2678" y="4838700"/>
            <a:ext cx="3094673" cy="5019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8/10~8/31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20300" y="5405438"/>
            <a:ext cx="1337310" cy="409813"/>
          </a:xfrm>
          <a:prstGeom prst="roundRect">
            <a:avLst>
              <a:gd name="adj" fmla="val 929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15550" y="5405438"/>
            <a:ext cx="1146810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균열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95710" y="5405438"/>
            <a:ext cx="2368868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90960" y="5405438"/>
            <a:ext cx="2178368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1,827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802678" y="5405438"/>
            <a:ext cx="3094673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97928" y="5405438"/>
            <a:ext cx="2904173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3,535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20300" y="5880021"/>
            <a:ext cx="1337310" cy="409813"/>
          </a:xfrm>
          <a:prstGeom prst="roundRect">
            <a:avLst>
              <a:gd name="adj" fmla="val 929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15550" y="5880021"/>
            <a:ext cx="1146810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밀도미달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395710" y="5880021"/>
            <a:ext cx="2368868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90960" y="5880021"/>
            <a:ext cx="2178368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2,043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802678" y="5880021"/>
            <a:ext cx="3094673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897928" y="5880021"/>
            <a:ext cx="2904173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2,917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20300" y="6354604"/>
            <a:ext cx="1337310" cy="409813"/>
          </a:xfrm>
          <a:prstGeom prst="roundRect">
            <a:avLst>
              <a:gd name="adj" fmla="val 929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15550" y="6354604"/>
            <a:ext cx="1146810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치수불량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395710" y="6354604"/>
            <a:ext cx="2368868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90960" y="6354604"/>
            <a:ext cx="2178368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1,505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802678" y="6354604"/>
            <a:ext cx="3094673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897928" y="6354604"/>
            <a:ext cx="2904173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1,769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20300" y="6829187"/>
            <a:ext cx="1337310" cy="409813"/>
          </a:xfrm>
          <a:prstGeom prst="roundRect">
            <a:avLst>
              <a:gd name="adj" fmla="val 929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15550" y="6829187"/>
            <a:ext cx="1146810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변형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395710" y="6829187"/>
            <a:ext cx="2368868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90960" y="6829187"/>
            <a:ext cx="2178368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938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802678" y="6829187"/>
            <a:ext cx="3094673" cy="409813"/>
          </a:xfrm>
          <a:prstGeom prst="roundRect">
            <a:avLst>
              <a:gd name="adj" fmla="val 92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897928" y="6829187"/>
            <a:ext cx="2904173" cy="40981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570</a:t>
            </a:r>
          </a:p>
        </p:txBody>
      </p:sp>
      <p:sp>
        <p:nvSpPr>
          <p:cNvPr id="56" name="Oval 5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여기서 자주 막힙니다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치수불량이 합쳐짐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소결·연삭 양쪽에 있다 — 공정&amp;유형 열부터 만든다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 차트로 파레토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된다 — 값만 붙여넣기 한 뒤 파레토 차트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합친 선 하나로 추세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꺾이는 날이 흐려진다 — 설비별로 선을 나눈다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가 원인을 지어냄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숫자에 없는 원인 문장은 지우고 필요한 기록만 남긴다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이것이 되면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불량률 7월 2.17% → 8월 3.69%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만 8/10 무렵부터 올라간 채 머무는 것을 찾았다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유형 파레토 13개, 합계 64,063개, 1위 소결·밀도미달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합계 소결 40.9%, 성형·밀도불균일 3위를 메모했다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7교시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7교시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중점관리공정 최종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OEE·Cpk·불량률·추세에 고객 영향과 개선 가능성을 더해 다기준 판단표로 한 곳을 고릅니다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후보 공정 셋으로 좁히기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기준·가중치 합의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점수와 민감도 점검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중점관리공정 선정서 한 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가져올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오늘 만든 비교표와 파레토 전부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8교시 · 통합 KPI 분석과 문제 공정 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중점관리공정 최종 선정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다기준 판단표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결론이 기준에서 나오게 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기준·가중치·점수 규칙을 정해 공정별 가중 점수를 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가중치를 바꿔도 순위가 유지되는지 점검한다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사실과 판단을 나눈 중점관리공정 선정서를 완성한다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선정서가 3일차 원인 분석의 출발점입니다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 · 후보 좁히기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여섯 공정에서 후보 셋으로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OEE(%)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8378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378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불량률(%)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8418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8418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7→8월(%p)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84580" y="2781300"/>
            <a:ext cx="33604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84580" y="2781300"/>
            <a:ext cx="3360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1차 판단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원료혼합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44805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8690" y="344805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88.1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8378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03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8418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7943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84580" y="3448050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79830" y="3448050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성형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414337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8690" y="414337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87.3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8378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03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1.19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8418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7943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784580" y="4143375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879830" y="4143375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483870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483870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8378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03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8418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67943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+1.52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784580" y="4838700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879830" y="4838700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553402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8690" y="553402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80.0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8378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7903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58418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7943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+0.01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784580" y="5534025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879830" y="5534025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82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검사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63440" y="622935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8690" y="622935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87.9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8378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7903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58418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7943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3784580" y="6229350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879830" y="6229350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430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382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포장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63440" y="692467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8690" y="692467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88.2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8378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7903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0.25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58418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67943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784580" y="6924675"/>
            <a:ext cx="3360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879830" y="6924675"/>
            <a:ext cx="3169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숫자는 06_kpi_workbook.xlsx 의 OEE_BY_PROCESS 시트와 대조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· 기준과 가중치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숫자를 보기 전에 합의한다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18821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781300"/>
            <a:ext cx="18821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2781300"/>
            <a:ext cx="41224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4480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8730" y="34480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4480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34480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4480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210" y="34480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87%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984480" y="344805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079730" y="344805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81% 미만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Cpk(최저 설비)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83480" y="41433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8730" y="41433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41433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8970" y="41433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60" y="41433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9210" y="41433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1.67 이상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984480" y="414337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079730" y="414337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0.67 미만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483870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483870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483870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8970" y="483870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23960" y="483870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9210" y="483870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0.5% 미만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483870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483870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2.5% 이상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악화 추세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83480" y="553402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8730" y="553402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553402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8970" y="553402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23960" y="553402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9210" y="553402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없음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984480" y="553402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079730" y="553402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+1.0%p 초과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825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고객 영향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83480" y="62293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78730" y="62293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03720" y="6229350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98970" y="6229350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823960" y="6229350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19210" y="6229350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출하 전 걸러짐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984480" y="6229350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079730" y="6229350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내부 결함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4300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3825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 가능성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983480" y="69246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78730" y="69246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903720" y="6924675"/>
            <a:ext cx="18821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98970" y="6924675"/>
            <a:ext cx="16916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823960" y="6924675"/>
            <a:ext cx="41224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19210" y="6924675"/>
            <a:ext cx="39319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방법 불분명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2984480" y="6924675"/>
            <a:ext cx="41605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079730" y="6924675"/>
            <a:ext cx="39700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돌아갈 기준 있음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가중치 합계 100 · 5점 = 문제가 크고 먼저 손대야 함 · 2점·4점은 사이 구간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· 점수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점수와 가중 점수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9225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922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기준(가중치)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3620" y="2781300"/>
            <a:ext cx="3642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3620" y="2781300"/>
            <a:ext cx="3642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36423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3642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64540" y="2781300"/>
            <a:ext cx="36804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64540" y="2781300"/>
            <a:ext cx="3680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(20)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3620" y="3448050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8870" y="3448050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79.7% ·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448050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9330" y="3448050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80.0% · 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464540" y="3448050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59790" y="3448050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87.3% ·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044043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044043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 (20)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3620" y="4044043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8870" y="4044043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 ·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044043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9330" y="4044043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1.66 ·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464540" y="4044043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59790" y="4044043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 ·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640036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640036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 (20)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3620" y="4640036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8870" y="4640036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2.90% ·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4640036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4640036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1.06% ·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464540" y="4640036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559790" y="4640036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1.19% · 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236029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236029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악화 추세 (15)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03620" y="5236029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8870" y="5236029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+1.52 · 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5236029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9330" y="5236029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+0.01 · 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464540" y="5236029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559790" y="5236029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+0.25 · 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832021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832021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고객 영향 (15)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03620" y="5832021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8870" y="5832021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84080" y="5832021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9330" y="5832021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464540" y="5832021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559790" y="5832021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428014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428014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개선 가능성 (10)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03620" y="6428014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98870" y="6428014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0" y="6428014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79330" y="6428014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464540" y="6428014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559790" y="6428014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7024007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7024007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가중 점수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03620" y="7024007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98870" y="7024007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5.00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784080" y="7024007"/>
            <a:ext cx="36423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79330" y="7024007"/>
            <a:ext cx="34518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2.90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464540" y="7024007"/>
            <a:ext cx="36804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559790" y="7024007"/>
            <a:ext cx="34899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2.60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=SUMPRODUCT(가중치, 점수)/100 · 성형 Cpk 는 측정 없음 → 3점(판단)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· 민감도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하나만 보면 연삭과 동점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5점 = 연삭 5점 — 구별되지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연삭 OEE 가 낮은 이유는 가동률(87.3%)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공구 교체로 자주 멈출 뿐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OEE 하나만 보면 헷갈리는 공정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여섯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5.00 · 연삭 2.90 · 성형 2.60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연삭 Cpk 1.7 수준 — 품질 안정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연삭은 8월에 나빠지지 않았다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성형은 습도 문제 — 2차 과제로 기록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· 설비까지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안에서 — SF-02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3228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2781300"/>
            <a:ext cx="42824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781300"/>
            <a:ext cx="4282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전체 (%)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34480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9170" y="34480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24460" y="344805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19710" y="344805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76.4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 전체 (%)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41433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9170" y="41433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824460" y="414337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19710" y="414337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3.47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소결밀도 Cpk 전체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483870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9170" y="483870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1.28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24460" y="483870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19710" y="483870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8/10~ (%)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553402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9170" y="553402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82.2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24460" y="553402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19710" y="553402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64.9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불량률 8/10~ (%)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6229350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9170" y="6229350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2.49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824460" y="622935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919710" y="622935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6.50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732282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71323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소결밀도 Cpk 8/10~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03920" y="6924675"/>
            <a:ext cx="42824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9170" y="6924675"/>
            <a:ext cx="40919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1.12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824460" y="692467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919710" y="692467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0.40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같은 SF-02 가 8/9 까지는 OEE 82.8% · 불량률 2.11% — 돌아갈 기준이 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· 선정서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 → 팀 셋이 나눠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 담당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초안의 숫자를 판단표·비교표와 한 개씩 대조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사실·판단 담당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판단을 사실처럼 쓴 문장을 찾아 고친다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지어내기 담당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데이터로 확인하지 않은 원인이 들어갔는지 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AI 에게 줄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표만 붙여넣기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원본 파일은 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여기서 자주 막힙니다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 보고 가중치 조정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짜 맞춘 표가 된다 — 숫자 보기 전에 정하고 이유를 남긴다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점수만 있고 근거 없음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계산할 수 없다 — 점수 옆에 근거 숫자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측정 없는 칸을 비움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「측정 없음 — 3점(판단)」처럼 표시해 채운다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빠진 공정을 버림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제외 이유와 함께 적는다 — 성형은 2차 과제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8교시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3일차 1교시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선정서의 질문 「SF-02 는 왜 8/10 무렵부터 나빠졌는가」를 전통 품질 기법과 생성형 AI 로 풀기 시작합니다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5Why · 특성요인도 · 4M1E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생성형 AI 와 함께 쓰는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불량 유형·로그·공정 조건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후보를 넓게 펼치기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가져올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중점관리공정 선정서 한 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