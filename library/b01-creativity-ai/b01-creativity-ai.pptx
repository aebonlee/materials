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91" r:id="rId42"/>
    <p:sldId id="292" r:id="rId43"/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3" r:id="rId44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EF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deckgen:decor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8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deckgen:decor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BF4F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deckgen:decor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deckgen:decor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CEDF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deckgen:decor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DDEC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decor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8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시리즈 B · 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24124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100" b="1" spc="-302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창의력·복합문제</a:t>
            </a:r>
          </a:p>
          <a:p>
            <a:pPr algn="l">
              <a:lnSpc>
                <a:spcPct val="105000"/>
              </a:lnSpc>
            </a:pPr>
            <a:r>
              <a:rPr sz="8100" b="1" spc="-302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해결에서의 AI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6527292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역량과 능력의 구분부터 AI 와 함께 푸는 문제 해결까지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이애본 지음 · 홍문원(洪文院) 발행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CC BY-NC-ND 4.0 · useful-ai.dreamitbiz.com</a:t>
            </a:r>
          </a:p>
        </p:txBody>
      </p:sp>
      <p:sp>
        <p:nvSpPr>
          <p:cNvPr id="16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학습목표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이 강의를 마치면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895600"/>
            <a:ext cx="1428750" cy="8191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09700" y="2895600"/>
            <a:ext cx="8953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목표 ①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71750" y="2895600"/>
            <a:ext cx="14573250" cy="81915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57500" y="2895600"/>
            <a:ext cx="140017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역량(Competency)·능력(Competence)·스킬(Skill)을 구분해 설명할 수 있다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3886200"/>
            <a:ext cx="1428750" cy="8191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09700" y="3886200"/>
            <a:ext cx="8953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목표 ②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71750" y="3886200"/>
            <a:ext cx="14573250" cy="81915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857500" y="3886200"/>
            <a:ext cx="140017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국가직무능력표준(NCS)의 구조를 읽고 내 진로와 연결할 수 있다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4876800"/>
            <a:ext cx="1428750" cy="8191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09700" y="4876800"/>
            <a:ext cx="8953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목표 ③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571750" y="4876800"/>
            <a:ext cx="14573250" cy="81915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857500" y="4876800"/>
            <a:ext cx="140017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발산·수렴·재구성 단계에서 AI 에게 알맞은 일을 맡길 수 있다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5867400"/>
            <a:ext cx="1428750" cy="8191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5867400"/>
            <a:ext cx="8953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목표 ④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571750" y="5867400"/>
            <a:ext cx="14573250" cy="81915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857500" y="5867400"/>
            <a:ext cx="140017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사람이 최종 판단하는 방식(HITL)으로 실습 과제를 완성할 수 있다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순서 — 왜 지금인가 · 역량이란 · 복합문제와 창의적 해결 · AI 를 어떻게 쓰나 · 과제 적용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B01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29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도입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왜 지금, 창의력과 복합문제 해결인가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29000"/>
            <a:ext cx="371475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429000"/>
            <a:ext cx="3714750" cy="47625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ornament"/>
          <p:cNvSpPr txBox="1"/>
          <p:nvPr/>
        </p:nvSpPr>
        <p:spPr>
          <a:xfrm>
            <a:off x="400050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752850"/>
            <a:ext cx="306705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문제가 복잡해졌다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여러 분야 지식과 데이터가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얽혀 한 가지 생각으론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풀리지 않는다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238750" y="3429000"/>
            <a:ext cx="371475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238750" y="3429000"/>
            <a:ext cx="3714750" cy="47625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80962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62600" y="3752850"/>
            <a:ext cx="306705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AI 가 속도를 높였다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찾고 만들고 확인하는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속도가 빨라져 사람은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판단에 집중해야 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334500" y="3429000"/>
            <a:ext cx="371475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334500" y="3429000"/>
            <a:ext cx="3714750" cy="47625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deckgen:ornament"/>
          <p:cNvSpPr txBox="1"/>
          <p:nvPr/>
        </p:nvSpPr>
        <p:spPr>
          <a:xfrm>
            <a:off x="1219200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58350" y="3752850"/>
            <a:ext cx="306705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사람의 강점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윤리적 판단·맥락 이해·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공감은 여전히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사람의 몫이다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3430250" y="3429000"/>
            <a:ext cx="371475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3430250" y="3429000"/>
            <a:ext cx="3714750" cy="47625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deckgen:ornament"/>
          <p:cNvSpPr txBox="1"/>
          <p:nvPr/>
        </p:nvSpPr>
        <p:spPr>
          <a:xfrm>
            <a:off x="16287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54100" y="3752850"/>
            <a:ext cx="306705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오늘의 목표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AI 를 도구가 아니라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협업 상대로 쓰는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순서를 익힌다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6496050"/>
            <a:ext cx="47625" cy="7239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390650" y="6553200"/>
            <a:ext cx="157543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오케스트라 지휘자처럼 — 악기(AI)를 직접 다 연주하지 않아도, 어떤 소리를 낼지 정하는 사람이 필요하다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B01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29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핵심 개념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오늘 다룰 세 낱말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619500"/>
            <a:ext cx="5080000" cy="3524250"/>
          </a:xfrm>
          <a:prstGeom prst="roundRect">
            <a:avLst>
              <a:gd name="adj" fmla="val 135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619500"/>
            <a:ext cx="5080000" cy="47625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ornament"/>
          <p:cNvSpPr txBox="1"/>
          <p:nvPr/>
        </p:nvSpPr>
        <p:spPr>
          <a:xfrm>
            <a:off x="5365750" y="38290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943350"/>
            <a:ext cx="4432300" cy="2876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창의력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새롭고 쓸모 있는 것을 만드는 힘 —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넓게 펼치는 발산과 골라 다듬는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수렴을 되풀이한다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0" y="3619500"/>
            <a:ext cx="5080000" cy="3524250"/>
          </a:xfrm>
          <a:prstGeom prst="roundRect">
            <a:avLst>
              <a:gd name="adj" fmla="val 135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04000" y="3619500"/>
            <a:ext cx="5080000" cy="47625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10826750" y="38290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27850" y="3943350"/>
            <a:ext cx="4432300" cy="2876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복합문제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정답이 하나로 정해지지 않은 문제 —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변수가 많고 정보가 모자라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여러 분야가 함께 풀어야 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2065000" y="3619500"/>
            <a:ext cx="5080000" cy="3524250"/>
          </a:xfrm>
          <a:prstGeom prst="roundRect">
            <a:avLst>
              <a:gd name="adj" fmla="val 135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2065000" y="3619500"/>
            <a:ext cx="5080000" cy="47625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deckgen:ornament"/>
          <p:cNvSpPr txBox="1"/>
          <p:nvPr/>
        </p:nvSpPr>
        <p:spPr>
          <a:xfrm>
            <a:off x="16287750" y="38290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88850" y="3943350"/>
            <a:ext cx="4432300" cy="2876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생성형 AI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글·코드·이미지를 새로 만들어 내는 AI —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아이디어를 넓히고 초안을 빨리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만들어 주는 상대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B01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  <p:sp>
        <p:nvSpPr>
          <p:cNvPr id="23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왜 지금인가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세계경제포럼이 꼽은 2020년의 핵심 역량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1562100" cy="5905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15621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순위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0" y="2781300"/>
            <a:ext cx="6362700" cy="59055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43200" y="2781300"/>
            <a:ext cx="63627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역량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44000" y="2781300"/>
            <a:ext cx="1562100" cy="59055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0" y="2781300"/>
            <a:ext cx="15621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순위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744200" y="2781300"/>
            <a:ext cx="6400800" cy="59055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744200" y="2781300"/>
            <a:ext cx="64008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역량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3448050"/>
            <a:ext cx="1562100" cy="647700"/>
          </a:xfrm>
          <a:prstGeom prst="roundRect">
            <a:avLst>
              <a:gd name="adj" fmla="val 5882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3448050"/>
            <a:ext cx="13716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743200" y="34480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838450" y="34480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복합문제 해결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44000" y="3448050"/>
            <a:ext cx="15621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39250" y="3448050"/>
            <a:ext cx="13716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6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744200" y="3448050"/>
            <a:ext cx="64008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839450" y="3448050"/>
            <a:ext cx="62103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감성 지능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4171950"/>
            <a:ext cx="1562100" cy="647700"/>
          </a:xfrm>
          <a:prstGeom prst="roundRect">
            <a:avLst>
              <a:gd name="adj" fmla="val 5882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4171950"/>
            <a:ext cx="13716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743200" y="41719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838450" y="41719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비판적 사고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144000" y="4171950"/>
            <a:ext cx="15621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239250" y="4171950"/>
            <a:ext cx="13716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7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744200" y="4171950"/>
            <a:ext cx="64008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839450" y="4171950"/>
            <a:ext cx="62103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판단과 의사결정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4895850"/>
            <a:ext cx="1562100" cy="647700"/>
          </a:xfrm>
          <a:prstGeom prst="roundRect">
            <a:avLst>
              <a:gd name="adj" fmla="val 5882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4895850"/>
            <a:ext cx="13716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743200" y="48958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838450" y="48958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창의성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144000" y="4895850"/>
            <a:ext cx="15621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239250" y="4895850"/>
            <a:ext cx="13716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8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0744200" y="4895850"/>
            <a:ext cx="64008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839450" y="4895850"/>
            <a:ext cx="62103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서비스 지향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143000" y="5619750"/>
            <a:ext cx="1562100" cy="647700"/>
          </a:xfrm>
          <a:prstGeom prst="roundRect">
            <a:avLst>
              <a:gd name="adj" fmla="val 5882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238250" y="5619750"/>
            <a:ext cx="13716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2743200" y="56197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838450" y="56197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사람 관리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144000" y="5619750"/>
            <a:ext cx="15621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239250" y="5619750"/>
            <a:ext cx="13716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9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0744200" y="5619750"/>
            <a:ext cx="64008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839450" y="5619750"/>
            <a:ext cx="62103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협상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143000" y="6343650"/>
            <a:ext cx="1562100" cy="647700"/>
          </a:xfrm>
          <a:prstGeom prst="roundRect">
            <a:avLst>
              <a:gd name="adj" fmla="val 5882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238250" y="6343650"/>
            <a:ext cx="13716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2743200" y="63436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2838450" y="63436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타인과의 협업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9144000" y="6343650"/>
            <a:ext cx="15621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239250" y="6343650"/>
            <a:ext cx="13716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0744200" y="6343650"/>
            <a:ext cx="64008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0839450" y="6343650"/>
            <a:ext cx="62103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인지적 유연성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43000" y="70866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1~3위가 오늘의 주제 — 복합문제 해결 · 비판적 사고 · 창의성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출처: WEF(2016) The Future of Jobs p.21 Fig.9 · 순위: A. Gray, “The 10 skills you need to thrive…”, WEF Agenda(2016-01-19)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B01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  <p:sp>
        <p:nvSpPr>
          <p:cNvPr id="61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왜 지금인가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세계경제포럼이 꼽은 2025년의 핵심 스킬 — 2030 전망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1082040" cy="5905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10820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순위</a:t>
            </a:r>
          </a:p>
        </p:txBody>
      </p:sp>
      <p:sp>
        <p:nvSpPr>
          <p:cNvPr id="10" name="Rectangle 9"/>
          <p:cNvSpPr/>
          <p:nvPr/>
        </p:nvSpPr>
        <p:spPr>
          <a:xfrm>
            <a:off x="2263140" y="2781300"/>
            <a:ext cx="5242560" cy="59055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263140" y="2781300"/>
            <a:ext cx="52425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스킬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543800" y="2781300"/>
            <a:ext cx="1562100" cy="59055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43800" y="2781300"/>
            <a:ext cx="15621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비율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0" y="2781300"/>
            <a:ext cx="1082040" cy="59055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0" y="2781300"/>
            <a:ext cx="10820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순위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264140" y="2781300"/>
            <a:ext cx="5242560" cy="59055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264140" y="2781300"/>
            <a:ext cx="52425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스킬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5544800" y="2781300"/>
            <a:ext cx="1600200" cy="59055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5544800" y="2781300"/>
            <a:ext cx="16002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비율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3448050"/>
            <a:ext cx="1082040" cy="647700"/>
          </a:xfrm>
          <a:prstGeom prst="roundRect">
            <a:avLst>
              <a:gd name="adj" fmla="val 5882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3448050"/>
            <a:ext cx="8915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263140" y="3448050"/>
            <a:ext cx="52425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358390" y="3448050"/>
            <a:ext cx="50520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분석적 사고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Analytical thinking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543800" y="3448050"/>
            <a:ext cx="15621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639050" y="3448050"/>
            <a:ext cx="13716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69%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144000" y="3448050"/>
            <a:ext cx="10820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239250" y="3448050"/>
            <a:ext cx="8915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6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264140" y="3448050"/>
            <a:ext cx="52425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359390" y="3448050"/>
            <a:ext cx="50520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기술 리터러시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Technological literacy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5544800" y="3448050"/>
            <a:ext cx="16002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5640050" y="3448050"/>
            <a:ext cx="14097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51%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4171950"/>
            <a:ext cx="1082040" cy="647700"/>
          </a:xfrm>
          <a:prstGeom prst="roundRect">
            <a:avLst>
              <a:gd name="adj" fmla="val 5882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4171950"/>
            <a:ext cx="8915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263140" y="4171950"/>
            <a:ext cx="52425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358390" y="4171950"/>
            <a:ext cx="50520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회복탄력성·유연성·민첩성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Resilience, flexibility and agility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543800" y="4171950"/>
            <a:ext cx="15621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639050" y="4171950"/>
            <a:ext cx="13716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67%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144000" y="4171950"/>
            <a:ext cx="10820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239250" y="4171950"/>
            <a:ext cx="8915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7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0264140" y="4171950"/>
            <a:ext cx="52425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359390" y="4171950"/>
            <a:ext cx="50520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공감과 적극적 경청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Empathy and active listening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5544800" y="4171950"/>
            <a:ext cx="16002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5640050" y="4171950"/>
            <a:ext cx="14097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50%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143000" y="4895850"/>
            <a:ext cx="1082040" cy="647700"/>
          </a:xfrm>
          <a:prstGeom prst="roundRect">
            <a:avLst>
              <a:gd name="adj" fmla="val 5882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238250" y="4895850"/>
            <a:ext cx="8915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2263140" y="4895850"/>
            <a:ext cx="52425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358390" y="4895850"/>
            <a:ext cx="50520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리더십과 사회적 영향력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Leadership and social influence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7543800" y="4895850"/>
            <a:ext cx="15621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639050" y="4895850"/>
            <a:ext cx="13716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61%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9144000" y="4895850"/>
            <a:ext cx="10820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239250" y="4895850"/>
            <a:ext cx="8915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8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10264140" y="4895850"/>
            <a:ext cx="52425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0359390" y="4895850"/>
            <a:ext cx="50520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호기심과 평생학습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Curiosity and lifelong learning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5544800" y="4895850"/>
            <a:ext cx="16002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5640050" y="4895850"/>
            <a:ext cx="14097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50%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1143000" y="5619750"/>
            <a:ext cx="1082040" cy="647700"/>
          </a:xfrm>
          <a:prstGeom prst="roundRect">
            <a:avLst>
              <a:gd name="adj" fmla="val 5882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238250" y="5619750"/>
            <a:ext cx="8915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2263140" y="5619750"/>
            <a:ext cx="52425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358390" y="5619750"/>
            <a:ext cx="50520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창의적 사고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Creative thinking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7543800" y="5619750"/>
            <a:ext cx="15621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7639050" y="5619750"/>
            <a:ext cx="13716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57%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9144000" y="5619750"/>
            <a:ext cx="10820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9239250" y="5619750"/>
            <a:ext cx="8915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9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10264140" y="5619750"/>
            <a:ext cx="52425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0359390" y="5619750"/>
            <a:ext cx="50520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인재 관리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Talent management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15544800" y="5619750"/>
            <a:ext cx="16002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5640050" y="5619750"/>
            <a:ext cx="14097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47%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1143000" y="6343650"/>
            <a:ext cx="1082040" cy="647700"/>
          </a:xfrm>
          <a:prstGeom prst="roundRect">
            <a:avLst>
              <a:gd name="adj" fmla="val 5882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238250" y="6343650"/>
            <a:ext cx="8915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2263140" y="6343650"/>
            <a:ext cx="52425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2358390" y="6343650"/>
            <a:ext cx="50520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동기부여와 자기 인식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Motivation and self-awareness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7543800" y="6343650"/>
            <a:ext cx="15621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7639050" y="6343650"/>
            <a:ext cx="13716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52%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9144000" y="6343650"/>
            <a:ext cx="10820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9239250" y="6343650"/>
            <a:ext cx="8915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10264140" y="6343650"/>
            <a:ext cx="52425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10359390" y="6343650"/>
            <a:ext cx="50520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서비스 지향·고객 서비스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Service orientation and customer service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15544800" y="6343650"/>
            <a:ext cx="16002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15640050" y="6343650"/>
            <a:ext cx="14097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47%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143000" y="70866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2016 목록과 나란히 보면 — 복합문제 해결·비판적 사고 → 분석적 사고·회복탄력성·창의적 사고로 이어진다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출처: WEF, The Future of Jobs Report 2025, Figure 3.3 Core skills in 2025(p.35) · 수치는 핵심 스킬로 꼽은 고용주 비율</a:t>
            </a:r>
          </a:p>
        </p:txBody>
      </p:sp>
      <p:sp>
        <p:nvSpPr>
          <p:cNvPr id="82" name="Rectangle 8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B01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  <p:sp>
        <p:nvSpPr>
          <p:cNvPr id="85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PART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6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역량이란 무엇인가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51435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5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비슷해 보이는 세 낱말을 먼저 정리하고, 국가직무능력표준(NCS)으로 내 진로와 연결합니다</a:t>
            </a:r>
          </a:p>
        </p:txBody>
      </p:sp>
      <p:sp>
        <p:nvSpPr>
          <p:cNvPr id="8" name="Rectangle 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B01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  <p:sp>
        <p:nvSpPr>
          <p:cNvPr id="11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용어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Competence · Competency · Skill — 이 강의의 약속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162300" cy="5905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1623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용어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43400" y="2781300"/>
            <a:ext cx="6042660" cy="59055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43400" y="2781300"/>
            <a:ext cx="60426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뜻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424160" y="2781300"/>
            <a:ext cx="3162300" cy="59055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424160" y="2781300"/>
            <a:ext cx="31623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눈에 보이는가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3624560" y="2781300"/>
            <a:ext cx="3520440" cy="59055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624560" y="2781300"/>
            <a:ext cx="35204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예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34480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34480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Competence</a:t>
            </a:r>
          </a:p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능력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43400" y="3448050"/>
            <a:ext cx="60426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38650" y="3448050"/>
            <a:ext cx="58521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어떤 직무에서 요구 수준의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성과를 낼 수 있는 상태(결과 중심)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424160" y="34480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19410" y="34480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성과로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확인할 수 있다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3624560" y="3448050"/>
            <a:ext cx="35204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719810" y="3448050"/>
            <a:ext cx="33299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프로젝트 관리,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보고서 작성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41719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41719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Competency</a:t>
            </a:r>
          </a:p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역량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343400" y="4171950"/>
            <a:ext cx="60426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438650" y="4171950"/>
            <a:ext cx="58521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뛰어난 성과를 만드는 사람의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속 특성과 그것이 드러난 행동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424160" y="41719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519410" y="41719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속은 잘 안 보이고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행동으로 짐작한다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3624560" y="4171950"/>
            <a:ext cx="35204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3719810" y="4171950"/>
            <a:ext cx="33299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끈기, 호기심,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공감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48958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48958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Skill</a:t>
            </a:r>
          </a:p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스킬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343400" y="4895850"/>
            <a:ext cx="60426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438650" y="4895850"/>
            <a:ext cx="58521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배우고 연습해서 익힌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구체적인 기술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424160" y="48958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519410" y="48958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시험·실기로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바로 잴 수 있다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3624560" y="4895850"/>
            <a:ext cx="35204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3719810" y="4895850"/>
            <a:ext cx="33299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데이터 분석,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코딩, 외국어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43000" y="56388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스킬은 능력을 이루는 부품, 역량은 그 밑바탕 — 셋이 모여 성과가 난다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이 강의는 이 표의 뜻으로 통일합니다 — Competence 는 「능력」, Competency 는 「역량」으로 옮깁니다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B01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  <p:sp>
        <p:nvSpPr>
          <p:cNvPr id="45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빙산 모델 (Spencer &amp; Spencer, 1993)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빙산 모델 — 물 위의 능력, 물 밑의 역량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물 위 — 잘 보이는 부분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지식과 기술. 교육·훈련으로</a:t>
            </a:r>
          </a:p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비교적 빨리 늘릴 수 있다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47800" y="5016817"/>
            <a:ext cx="97155" cy="97155"/>
          </a:xfrm>
          <a:prstGeom prst="ellipse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3353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지식(Knowledge) — 알고 있는 정보</a:t>
            </a:r>
          </a:p>
        </p:txBody>
      </p:sp>
      <p:sp>
        <p:nvSpPr>
          <p:cNvPr id="13" name="Oval 12"/>
          <p:cNvSpPr/>
          <p:nvPr/>
        </p:nvSpPr>
        <p:spPr>
          <a:xfrm>
            <a:off x="1447800" y="5527358"/>
            <a:ext cx="97155" cy="97155"/>
          </a:xfrm>
          <a:prstGeom prst="ellipse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3353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기술(Skill) — 손에 익은 솜씨</a:t>
            </a:r>
          </a:p>
        </p:txBody>
      </p:sp>
      <p:sp>
        <p:nvSpPr>
          <p:cNvPr id="15" name="Oval 14"/>
          <p:cNvSpPr/>
          <p:nvPr/>
        </p:nvSpPr>
        <p:spPr>
          <a:xfrm>
            <a:off x="1447800" y="6037898"/>
            <a:ext cx="97155" cy="97155"/>
          </a:xfrm>
          <a:prstGeom prst="ellipse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3353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시험·성과로 측정이 쉽다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물 밑 — 잘 안 보이는 부분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행동을 일으키는 속 특성.</a:t>
            </a:r>
          </a:p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바뀌는 데 오래 걸린다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077450" y="5016817"/>
            <a:ext cx="97155" cy="97155"/>
          </a:xfrm>
          <a:prstGeom prst="ellipse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6318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동기(Motive) — 무엇을 원하는가</a:t>
            </a:r>
          </a:p>
        </p:txBody>
      </p:sp>
      <p:sp>
        <p:nvSpPr>
          <p:cNvPr id="22" name="Oval 21"/>
          <p:cNvSpPr/>
          <p:nvPr/>
        </p:nvSpPr>
        <p:spPr>
          <a:xfrm>
            <a:off x="10077450" y="5527358"/>
            <a:ext cx="97155" cy="97155"/>
          </a:xfrm>
          <a:prstGeom prst="ellipse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6318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특질(Trait) — 타고난 성향</a:t>
            </a:r>
          </a:p>
        </p:txBody>
      </p:sp>
      <p:sp>
        <p:nvSpPr>
          <p:cNvPr id="24" name="Oval 23"/>
          <p:cNvSpPr/>
          <p:nvPr/>
        </p:nvSpPr>
        <p:spPr>
          <a:xfrm>
            <a:off x="10077450" y="6037898"/>
            <a:ext cx="97155" cy="97155"/>
          </a:xfrm>
          <a:prstGeom prst="ellipse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6318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자아개념(Self-concept) — 태도·가치관</a:t>
            </a:r>
          </a:p>
        </p:txBody>
      </p:sp>
      <p:sp>
        <p:nvSpPr>
          <p:cNvPr id="26" name="Oval 25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B01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  <p:sp>
        <p:nvSpPr>
          <p:cNvPr id="31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빙산 모델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물 위와 물 밑은 무엇이 다른가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162300" cy="5905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1623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비교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43400" y="2781300"/>
            <a:ext cx="6362700" cy="59055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43400" y="2781300"/>
            <a:ext cx="63627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물 위 — 지식·기술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744200" y="2781300"/>
            <a:ext cx="6400800" cy="59055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44200" y="2781300"/>
            <a:ext cx="64008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물 밑 — 동기·특질·자아개념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측정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43400" y="34480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38650" y="34480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시험·성과로 분명히 잴 수 있다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744200" y="3448050"/>
            <a:ext cx="64008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839450" y="3448050"/>
            <a:ext cx="62103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관찰하거나 수치로 나타내기 어렵다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바뀌는 속도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43400" y="41719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38650" y="41719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교육·훈련으로 비교적 빠르다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744200" y="4171950"/>
            <a:ext cx="64008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839450" y="4171950"/>
            <a:ext cx="62103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오랜 시간이 걸린다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대학생 예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343400" y="48958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438650" y="48958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엑셀 함수, 파이썬 문법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744200" y="4895850"/>
            <a:ext cx="64008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839450" y="4895850"/>
            <a:ext cx="62103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끝까지 해내려는 마음, 호기심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AI 의 역할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343400" y="56197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438650" y="56197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1:1 튜터로 익히는 시간을 줄인다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744200" y="5619750"/>
            <a:ext cx="64008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839450" y="5619750"/>
            <a:ext cx="62103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대화로 되돌아보며 발견을 돕는다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구성 요소 구분은 Spencer &amp; Spencer(1993)의 역량 모델을 따른다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B01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  <p:sp>
        <p:nvSpPr>
          <p:cNvPr id="42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빙산과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AI 로 키우는 법은 물 위와 물 밑이 다르다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능력 키우기 — AI 를 튜터로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모르는 개념을 묻고, 예제를 풀고,</a:t>
            </a:r>
          </a:p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퀴즈로 확인한다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390650" y="4838700"/>
            <a:ext cx="1047065" cy="340042"/>
          </a:xfrm>
          <a:prstGeom prst="roundRect">
            <a:avLst>
              <a:gd name="adj" fmla="val 50000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90650" y="4838700"/>
            <a:ext cx="1047065" cy="3400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1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데이터 분석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532965" y="4838700"/>
            <a:ext cx="1055933" cy="340042"/>
          </a:xfrm>
          <a:prstGeom prst="roundRect">
            <a:avLst>
              <a:gd name="adj" fmla="val 50000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532965" y="4838700"/>
            <a:ext cx="1055933" cy="3400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1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코딩·디버깅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84148" y="4838700"/>
            <a:ext cx="711211" cy="340042"/>
          </a:xfrm>
          <a:prstGeom prst="roundRect">
            <a:avLst>
              <a:gd name="adj" fmla="val 50000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84148" y="4838700"/>
            <a:ext cx="711211" cy="3400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1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외국어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490609" y="4838700"/>
            <a:ext cx="898895" cy="340042"/>
          </a:xfrm>
          <a:prstGeom prst="roundRect">
            <a:avLst>
              <a:gd name="adj" fmla="val 50000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90609" y="4838700"/>
            <a:ext cx="898895" cy="3400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1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문서 작성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역량 발견 — AI 와 되돌아보기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내가 쓴 일지·기록을 보여 주고</a:t>
            </a:r>
          </a:p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습관과 동기를 함께 찾아본다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10020300" y="4838700"/>
            <a:ext cx="1234750" cy="340042"/>
          </a:xfrm>
          <a:prstGeom prst="roundRect">
            <a:avLst>
              <a:gd name="adj" fmla="val 50000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20300" y="4838700"/>
            <a:ext cx="1234750" cy="3400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1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성찰 일지 분석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350300" y="4838700"/>
            <a:ext cx="898895" cy="340042"/>
          </a:xfrm>
          <a:prstGeom prst="roundRect">
            <a:avLst>
              <a:gd name="adj" fmla="val 50000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350300" y="4838700"/>
            <a:ext cx="898895" cy="3400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1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강점 찾기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2344445" y="4838700"/>
            <a:ext cx="898895" cy="340042"/>
          </a:xfrm>
          <a:prstGeom prst="roundRect">
            <a:avLst>
              <a:gd name="adj" fmla="val 50000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44445" y="4838700"/>
            <a:ext cx="898895" cy="3400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1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동기 탐색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3338590" y="4838700"/>
            <a:ext cx="898895" cy="340042"/>
          </a:xfrm>
          <a:prstGeom prst="roundRect">
            <a:avLst>
              <a:gd name="adj" fmla="val 50000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3338590" y="4838700"/>
            <a:ext cx="898895" cy="3400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1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행동 패턴</a:t>
            </a:r>
          </a:p>
        </p:txBody>
      </p:sp>
      <p:sp>
        <p:nvSpPr>
          <p:cNvPr id="30" name="Oval 29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B01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11</a:t>
            </a:r>
          </a:p>
        </p:txBody>
      </p:sp>
      <p:sp>
        <p:nvSpPr>
          <p:cNvPr id="35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역량 지도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대학생 역량을 네 칸으로 나눠 보기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57500"/>
            <a:ext cx="7810500" cy="2381250"/>
          </a:xfrm>
          <a:prstGeom prst="roundRect">
            <a:avLst>
              <a:gd name="adj" fmla="val 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857500"/>
            <a:ext cx="7810500" cy="47625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ornament"/>
          <p:cNvSpPr txBox="1"/>
          <p:nvPr/>
        </p:nvSpPr>
        <p:spPr>
          <a:xfrm>
            <a:off x="8096250" y="30670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181350"/>
            <a:ext cx="7162800" cy="1733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3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기초 직무 능력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전공 지식 · 비즈니스 소통 · 직업윤리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AI — 전공 용어 학습, 문서 초안 점검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334500" y="2857500"/>
            <a:ext cx="7810500" cy="2381250"/>
          </a:xfrm>
          <a:prstGeom prst="roundRect">
            <a:avLst>
              <a:gd name="adj" fmla="val 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334500" y="2857500"/>
            <a:ext cx="7810500" cy="47625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16287750" y="30670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58350" y="3181350"/>
            <a:ext cx="7162800" cy="1733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3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문제 해결·인지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분석적 사고 · 창의적 문제 해결 · 유연성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AI — 아이디어 발산, 시나리오 비교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5619750"/>
            <a:ext cx="7810500" cy="2381250"/>
          </a:xfrm>
          <a:prstGeom prst="roundRect">
            <a:avLst>
              <a:gd name="adj" fmla="val 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43000" y="5619750"/>
            <a:ext cx="7810500" cy="47625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deckgen:ornament"/>
          <p:cNvSpPr txBox="1"/>
          <p:nvPr/>
        </p:nvSpPr>
        <p:spPr>
          <a:xfrm>
            <a:off x="8096250" y="582930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66850" y="5943600"/>
            <a:ext cx="7162800" cy="1733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3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사회적 기술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협업 · 공감 · 갈등 조정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AI — 역할극으로 대화 연습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334500" y="5619750"/>
            <a:ext cx="7810500" cy="2381250"/>
          </a:xfrm>
          <a:prstGeom prst="roundRect">
            <a:avLst>
              <a:gd name="adj" fmla="val 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334500" y="5619750"/>
            <a:ext cx="7810500" cy="47625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deckgen:ornament"/>
          <p:cNvSpPr txBox="1"/>
          <p:nvPr/>
        </p:nvSpPr>
        <p:spPr>
          <a:xfrm>
            <a:off x="16287750" y="582930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58350" y="5943600"/>
            <a:ext cx="7162800" cy="1733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3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미래 기술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AI·데이터 리터러시 · 디지털 도구 활용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AI — 직접 써 보며 한계 익히기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B01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12</a:t>
            </a:r>
          </a:p>
        </p:txBody>
      </p:sp>
      <p:sp>
        <p:nvSpPr>
          <p:cNvPr id="27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국가가 정리한 역량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교육과정 핵심역량(2015 개정)과 NCS 직업기초능력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2015 개정 교육과정 핵심역량 (6)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교육부가 초·중·고 교육과정에서</a:t>
            </a:r>
          </a:p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기르려는 역량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390650" y="4838700"/>
            <a:ext cx="859381" cy="340042"/>
          </a:xfrm>
          <a:prstGeom prst="roundRect">
            <a:avLst>
              <a:gd name="adj" fmla="val 50000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90650" y="4838700"/>
            <a:ext cx="859381" cy="3400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1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자기관리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345281" y="4838700"/>
            <a:ext cx="1155722" cy="340042"/>
          </a:xfrm>
          <a:prstGeom prst="roundRect">
            <a:avLst>
              <a:gd name="adj" fmla="val 50000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345281" y="4838700"/>
            <a:ext cx="1155722" cy="3400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1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지식정보처리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596253" y="4838700"/>
            <a:ext cx="1047065" cy="340042"/>
          </a:xfrm>
          <a:prstGeom prst="roundRect">
            <a:avLst>
              <a:gd name="adj" fmla="val 50000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96253" y="4838700"/>
            <a:ext cx="1047065" cy="3400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1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창의적 사고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738568" y="4838700"/>
            <a:ext cx="1047065" cy="340042"/>
          </a:xfrm>
          <a:prstGeom prst="roundRect">
            <a:avLst>
              <a:gd name="adj" fmla="val 50000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38568" y="4838700"/>
            <a:ext cx="1047065" cy="3400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1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심미적 감성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880884" y="4838700"/>
            <a:ext cx="859381" cy="340042"/>
          </a:xfrm>
          <a:prstGeom prst="roundRect">
            <a:avLst>
              <a:gd name="adj" fmla="val 50000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80884" y="4838700"/>
            <a:ext cx="859381" cy="3400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1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의사소통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35515" y="4838700"/>
            <a:ext cx="711211" cy="340042"/>
          </a:xfrm>
          <a:prstGeom prst="roundRect">
            <a:avLst>
              <a:gd name="adj" fmla="val 50000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35515" y="4838700"/>
            <a:ext cx="711211" cy="3400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1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공동체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NCS 직업기초능력 (10)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직무와 상관없이 일하는 사람에게</a:t>
            </a:r>
          </a:p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공통으로 필요한 능력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10020300" y="4838700"/>
            <a:ext cx="859381" cy="340042"/>
          </a:xfrm>
          <a:prstGeom prst="roundRect">
            <a:avLst>
              <a:gd name="adj" fmla="val 50000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020300" y="4838700"/>
            <a:ext cx="859381" cy="3400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1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의사소통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974931" y="4838700"/>
            <a:ext cx="563041" cy="340042"/>
          </a:xfrm>
          <a:prstGeom prst="roundRect">
            <a:avLst>
              <a:gd name="adj" fmla="val 50000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974931" y="4838700"/>
            <a:ext cx="563041" cy="3400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1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수리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1633222" y="4838700"/>
            <a:ext cx="859381" cy="340042"/>
          </a:xfrm>
          <a:prstGeom prst="roundRect">
            <a:avLst>
              <a:gd name="adj" fmla="val 50000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633222" y="4838700"/>
            <a:ext cx="859381" cy="3400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1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문제해결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2587853" y="4838700"/>
            <a:ext cx="859381" cy="340042"/>
          </a:xfrm>
          <a:prstGeom prst="roundRect">
            <a:avLst>
              <a:gd name="adj" fmla="val 50000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587853" y="4838700"/>
            <a:ext cx="859381" cy="3400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1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자기개발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3542484" y="4838700"/>
            <a:ext cx="859381" cy="340042"/>
          </a:xfrm>
          <a:prstGeom prst="roundRect">
            <a:avLst>
              <a:gd name="adj" fmla="val 50000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3542484" y="4838700"/>
            <a:ext cx="859381" cy="3400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1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자원관리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4497115" y="4838700"/>
            <a:ext cx="859381" cy="340042"/>
          </a:xfrm>
          <a:prstGeom prst="roundRect">
            <a:avLst>
              <a:gd name="adj" fmla="val 50000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4497115" y="4838700"/>
            <a:ext cx="859381" cy="3400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1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대인관계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5451747" y="4838700"/>
            <a:ext cx="563041" cy="340042"/>
          </a:xfrm>
          <a:prstGeom prst="roundRect">
            <a:avLst>
              <a:gd name="adj" fmla="val 50000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5451747" y="4838700"/>
            <a:ext cx="563041" cy="3400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1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정보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6110037" y="4838700"/>
            <a:ext cx="563041" cy="340042"/>
          </a:xfrm>
          <a:prstGeom prst="roundRect">
            <a:avLst>
              <a:gd name="adj" fmla="val 50000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6110037" y="4838700"/>
            <a:ext cx="563041" cy="3400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1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기술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0020300" y="5273992"/>
            <a:ext cx="859381" cy="340042"/>
          </a:xfrm>
          <a:prstGeom prst="roundRect">
            <a:avLst>
              <a:gd name="adj" fmla="val 50000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020300" y="5273992"/>
            <a:ext cx="859381" cy="3400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1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조직이해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0974931" y="5273992"/>
            <a:ext cx="859381" cy="340042"/>
          </a:xfrm>
          <a:prstGeom prst="roundRect">
            <a:avLst>
              <a:gd name="adj" fmla="val 50000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974931" y="5273992"/>
            <a:ext cx="859381" cy="3400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1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직업윤리</a:t>
            </a:r>
          </a:p>
        </p:txBody>
      </p:sp>
      <p:sp>
        <p:nvSpPr>
          <p:cNvPr id="46" name="Oval 45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B01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13</a:t>
            </a:r>
          </a:p>
        </p:txBody>
      </p:sp>
      <p:sp>
        <p:nvSpPr>
          <p:cNvPr id="51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국가가 정리한 역량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2022 개정 교육과정 핵심역량 — 무엇이 바뀌었나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2022 개정 교육과정 핵심역량 (6)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교육부 고시 제2022-33호</a:t>
            </a:r>
          </a:p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「초·중등학교 교육과정 총론」(2022-12-22)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390650" y="4838700"/>
            <a:ext cx="1195236" cy="340042"/>
          </a:xfrm>
          <a:prstGeom prst="roundRect">
            <a:avLst>
              <a:gd name="adj" fmla="val 50000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90650" y="4838700"/>
            <a:ext cx="1195236" cy="3400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1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자기관리 역량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681136" y="4838700"/>
            <a:ext cx="1491576" cy="340042"/>
          </a:xfrm>
          <a:prstGeom prst="roundRect">
            <a:avLst>
              <a:gd name="adj" fmla="val 50000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681136" y="4838700"/>
            <a:ext cx="1491576" cy="3400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1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지식정보처리 역량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67962" y="4838700"/>
            <a:ext cx="1382920" cy="340042"/>
          </a:xfrm>
          <a:prstGeom prst="roundRect">
            <a:avLst>
              <a:gd name="adj" fmla="val 50000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67962" y="4838700"/>
            <a:ext cx="1382920" cy="3400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1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창의적 사고 역량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746132" y="4838700"/>
            <a:ext cx="1382920" cy="340042"/>
          </a:xfrm>
          <a:prstGeom prst="roundRect">
            <a:avLst>
              <a:gd name="adj" fmla="val 50000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746132" y="4838700"/>
            <a:ext cx="1382920" cy="3400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1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심미적 감성 역량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390650" y="5273992"/>
            <a:ext cx="1382920" cy="340042"/>
          </a:xfrm>
          <a:prstGeom prst="roundRect">
            <a:avLst>
              <a:gd name="adj" fmla="val 50000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390650" y="5273992"/>
            <a:ext cx="1382920" cy="3400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1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협력적 소통 역량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868820" y="5273992"/>
            <a:ext cx="1047065" cy="340042"/>
          </a:xfrm>
          <a:prstGeom prst="roundRect">
            <a:avLst>
              <a:gd name="adj" fmla="val 50000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868820" y="5273992"/>
            <a:ext cx="1047065" cy="3400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1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공동체 역량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2015 개정과 달라진 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역량 여섯 개의 틀은 유지하고</a:t>
            </a:r>
          </a:p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두 가지가 달라졌다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077450" y="5016817"/>
            <a:ext cx="97155" cy="97155"/>
          </a:xfrm>
          <a:prstGeom prst="ellipse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26318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의사소통 역량 → 협력적 소통 역량</a:t>
            </a:r>
          </a:p>
        </p:txBody>
      </p:sp>
      <p:sp>
        <p:nvSpPr>
          <p:cNvPr id="28" name="Oval 27"/>
          <p:cNvSpPr/>
          <p:nvPr/>
        </p:nvSpPr>
        <p:spPr>
          <a:xfrm>
            <a:off x="10077450" y="5527358"/>
            <a:ext cx="97155" cy="97155"/>
          </a:xfrm>
          <a:prstGeom prst="ellipse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26318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기초소양 도입 — 언어 · 수리 · 디지털</a:t>
            </a:r>
          </a:p>
        </p:txBody>
      </p:sp>
      <p:sp>
        <p:nvSpPr>
          <p:cNvPr id="30" name="Oval 29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B01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14</a:t>
            </a:r>
          </a:p>
        </p:txBody>
      </p:sp>
      <p:sp>
        <p:nvSpPr>
          <p:cNvPr id="35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NCS 국가직무능력표준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NCS 는 직무를 몇 단계로 나눠 놓은 지도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2524125" cy="7048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2524125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대분류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3657600"/>
            <a:ext cx="2524125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76350" y="3657600"/>
            <a:ext cx="2257425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산업 전체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예: 정보통신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3686175" y="3028950"/>
            <a:ext cx="133350" cy="209550"/>
          </a:xfrm>
          <a:prstGeom prst="rightArrow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838575" y="2781300"/>
            <a:ext cx="2524125" cy="70485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38575" y="2781300"/>
            <a:ext cx="2524125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중분류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838575" y="3657600"/>
            <a:ext cx="2524125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971925" y="3657600"/>
            <a:ext cx="2257425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산업 안의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큰 묶음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6381750" y="3028950"/>
            <a:ext cx="133350" cy="209550"/>
          </a:xfrm>
          <a:prstGeom prst="rightArrow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534150" y="2781300"/>
            <a:ext cx="2524125" cy="7048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34150" y="2781300"/>
            <a:ext cx="2524125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소분류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34150" y="3657600"/>
            <a:ext cx="2524125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67500" y="3657600"/>
            <a:ext cx="2257425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직무 분야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9077325" y="3028950"/>
            <a:ext cx="133350" cy="209550"/>
          </a:xfrm>
          <a:prstGeom prst="rightArrow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229725" y="2781300"/>
            <a:ext cx="2524125" cy="70485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29725" y="2781300"/>
            <a:ext cx="2524125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세분류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229725" y="3657600"/>
            <a:ext cx="2524125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363075" y="3657600"/>
            <a:ext cx="2257425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하나의 직무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(NCS 의 기본 단위)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11772900" y="3028950"/>
            <a:ext cx="133350" cy="209550"/>
          </a:xfrm>
          <a:prstGeom prst="rightArrow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1925300" y="2781300"/>
            <a:ext cx="2524125" cy="7048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925300" y="2781300"/>
            <a:ext cx="2524125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능력단위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1925300" y="3657600"/>
            <a:ext cx="2524125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2058650" y="3657600"/>
            <a:ext cx="2257425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직무를 이루는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일의 덩어리</a:t>
            </a:r>
          </a:p>
        </p:txBody>
      </p:sp>
      <p:sp>
        <p:nvSpPr>
          <p:cNvPr id="32" name="Right Arrow 31"/>
          <p:cNvSpPr/>
          <p:nvPr/>
        </p:nvSpPr>
        <p:spPr>
          <a:xfrm>
            <a:off x="14468475" y="3028950"/>
            <a:ext cx="133350" cy="209550"/>
          </a:xfrm>
          <a:prstGeom prst="rightArrow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4620875" y="2781300"/>
            <a:ext cx="2524125" cy="70485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4620875" y="2781300"/>
            <a:ext cx="2524125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수행준거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4620875" y="3657600"/>
            <a:ext cx="2524125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4754225" y="3657600"/>
            <a:ext cx="2257425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잘했는지 보는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기준 · 지식·기술·태도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143000" y="5467350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143000" y="5467350"/>
            <a:ext cx="1600200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도서관 분류처럼 — 큰 칸에서 작은 칸으로 내려가면 「이 일을 잘하려면 무엇을 할 줄 알아야 하나」가 나온다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분류별 개수는 국가직무능력표준 사이트(ncs.go.kr) 기준이며 해마다 바뀐다 — 대분류는 24개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B01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15</a:t>
            </a:r>
          </a:p>
        </p:txBody>
      </p:sp>
      <p:sp>
        <p:nvSpPr>
          <p:cNvPr id="43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NCS 국가직무능력표준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NCS 는 몇 개나 있나 — 숫자는 해마다 바뀐다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2522220" cy="5905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25222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기준 시점</a:t>
            </a:r>
          </a:p>
        </p:txBody>
      </p:sp>
      <p:sp>
        <p:nvSpPr>
          <p:cNvPr id="10" name="Rectangle 9"/>
          <p:cNvSpPr/>
          <p:nvPr/>
        </p:nvSpPr>
        <p:spPr>
          <a:xfrm>
            <a:off x="3703320" y="2781300"/>
            <a:ext cx="7322820" cy="59055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03320" y="2781300"/>
            <a:ext cx="73228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규모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064240" y="2781300"/>
            <a:ext cx="6080760" cy="59055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064240" y="2781300"/>
            <a:ext cx="60807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출처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2522220" cy="647700"/>
          </a:xfrm>
          <a:prstGeom prst="roundRect">
            <a:avLst>
              <a:gd name="adj" fmla="val 5882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23317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2016년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703320" y="3448050"/>
            <a:ext cx="73228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98570" y="3448050"/>
            <a:ext cx="71323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24개 분야 · NCS 847개(고시 당시)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064240" y="3448050"/>
            <a:ext cx="60807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159490" y="3448050"/>
            <a:ext cx="58902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고용노동부 보도(2016-07-20)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2522220" cy="647700"/>
          </a:xfrm>
          <a:prstGeom prst="roundRect">
            <a:avLst>
              <a:gd name="adj" fmla="val 5882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23317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2021년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703320" y="4171950"/>
            <a:ext cx="73228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798570" y="4171950"/>
            <a:ext cx="71323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대분류 24 · 중분류 79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소분류 253 · 세분류 1,039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064240" y="4171950"/>
            <a:ext cx="60807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159490" y="4171950"/>
            <a:ext cx="58902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김 외, 한국산학기술학회논문지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24(3), 2023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2522220" cy="647700"/>
          </a:xfrm>
          <a:prstGeom prst="roundRect">
            <a:avLst>
              <a:gd name="adj" fmla="val 5882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23317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지금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703320" y="4895850"/>
            <a:ext cx="73228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798570" y="4895850"/>
            <a:ext cx="71323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ncs.go.kr 「NCS 분류체계」 또는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공공데이터포털(data.go.kr) NCS 분류 파일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1064240" y="4895850"/>
            <a:ext cx="60807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159490" y="4895850"/>
            <a:ext cx="58902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한국산업인력공단 제공 자료에서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직접 확인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NCS 는 매년 추가 개발되고 최대 5년 주기로 재검토된다 — 출판 시점의 수치를 반드시 다시 확인한다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B01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16</a:t>
            </a:r>
          </a:p>
        </p:txBody>
      </p:sp>
      <p:sp>
        <p:nvSpPr>
          <p:cNvPr id="36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NCS 활용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대학생은 NCS 를 이렇게 쓴다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619500"/>
            <a:ext cx="5080000" cy="3524250"/>
          </a:xfrm>
          <a:prstGeom prst="roundRect">
            <a:avLst>
              <a:gd name="adj" fmla="val 135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619500"/>
            <a:ext cx="5080000" cy="47625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ornament"/>
          <p:cNvSpPr txBox="1"/>
          <p:nvPr/>
        </p:nvSpPr>
        <p:spPr>
          <a:xfrm>
            <a:off x="5365750" y="38290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943350"/>
            <a:ext cx="4432300" cy="2876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수강 계획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희망 직무의 능력단위와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전공 교과목을 짝지어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빈 곳을 찾는다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0" y="3619500"/>
            <a:ext cx="5080000" cy="3524250"/>
          </a:xfrm>
          <a:prstGeom prst="roundRect">
            <a:avLst>
              <a:gd name="adj" fmla="val 135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04000" y="3619500"/>
            <a:ext cx="5080000" cy="47625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10826750" y="38290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27850" y="3943350"/>
            <a:ext cx="4432300" cy="2876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채용 준비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공공기관은 NCS 기반 채용을 한다 —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직무기술서의 수행준거를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자기소개서 키워드로 쓴다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2065000" y="3619500"/>
            <a:ext cx="5080000" cy="3524250"/>
          </a:xfrm>
          <a:prstGeom prst="roundRect">
            <a:avLst>
              <a:gd name="adj" fmla="val 135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2065000" y="3619500"/>
            <a:ext cx="5080000" cy="47625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deckgen:ornament"/>
          <p:cNvSpPr txBox="1"/>
          <p:nvPr/>
        </p:nvSpPr>
        <p:spPr>
          <a:xfrm>
            <a:off x="16287750" y="38290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88850" y="3943350"/>
            <a:ext cx="4432300" cy="2876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프로젝트 점검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막연한 목표 대신 수행준거를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체크리스트로 삼아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완성도를 점검한다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B01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17</a:t>
            </a:r>
          </a:p>
        </p:txBody>
      </p:sp>
      <p:sp>
        <p:nvSpPr>
          <p:cNvPr id="23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NCS ×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전공·진로에 NCS 와 AI 를 함께 연결하기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2842260" cy="5905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28422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사례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360" y="2781300"/>
            <a:ext cx="3802380" cy="59055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023360" y="2781300"/>
            <a:ext cx="38023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찾아볼 NCS 분야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863840" y="2781300"/>
            <a:ext cx="5402580" cy="59055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863840" y="2781300"/>
            <a:ext cx="54025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AI 에게 맡길 일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3304520" y="2781300"/>
            <a:ext cx="3840480" cy="59055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304520" y="2781300"/>
            <a:ext cx="38404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최종 산출물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3448050"/>
            <a:ext cx="2842260" cy="647700"/>
          </a:xfrm>
          <a:prstGeom prst="roundRect">
            <a:avLst>
              <a:gd name="adj" fmla="val 5882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3448050"/>
            <a:ext cx="26517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데이터 분석</a:t>
            </a:r>
          </a:p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(이공·상경)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023360" y="3448050"/>
            <a:ext cx="38023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8610" y="3448050"/>
            <a:ext cx="36118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빅데이터 분석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863840" y="34480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959090" y="34480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파이썬 코드 초안·디버깅,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시각화 방식 제안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3304520" y="3448050"/>
            <a:ext cx="38404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399770" y="3448050"/>
            <a:ext cx="36499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분석 대시보드,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인사이트 보고서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4171950"/>
            <a:ext cx="2842260" cy="647700"/>
          </a:xfrm>
          <a:prstGeom prst="roundRect">
            <a:avLst>
              <a:gd name="adj" fmla="val 5882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4171950"/>
            <a:ext cx="26517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서비스 기획</a:t>
            </a:r>
          </a:p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(인문·디자인)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023360" y="4171950"/>
            <a:ext cx="38023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118610" y="4171950"/>
            <a:ext cx="36118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UI/UX 기획·설계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863840" y="41719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959090" y="41719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가상 사용자 설정,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인터뷰 연습 상대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3304520" y="4171950"/>
            <a:ext cx="38404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3399770" y="4171950"/>
            <a:ext cx="36499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서비스 기획서,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화면 초안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4895850"/>
            <a:ext cx="2842260" cy="647700"/>
          </a:xfrm>
          <a:prstGeom prst="roundRect">
            <a:avLst>
              <a:gd name="adj" fmla="val 5882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4895850"/>
            <a:ext cx="26517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팀 프로젝트</a:t>
            </a:r>
          </a:p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(전공 공통)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023360" y="4895850"/>
            <a:ext cx="38023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118610" y="4895850"/>
            <a:ext cx="36118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프로젝트 관리·의사소통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863840" y="48958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959090" y="48958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회의록 요약, 할 일 추출,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일정안 비교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3304520" y="4895850"/>
            <a:ext cx="38404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3399770" y="4895850"/>
            <a:ext cx="36499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협업 문서,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일정표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관련 능력단위의 정확한 이름은 ncs.go.kr 에서 직무명으로 검색해 확인한다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B01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18</a:t>
            </a:r>
          </a:p>
        </p:txBody>
      </p:sp>
      <p:sp>
        <p:nvSpPr>
          <p:cNvPr id="44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PART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6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복합문제와 창의적 해결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51435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5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넓게 펼치고, 골라내고, 쪼개고 다시 묶는 과정에서 AI 가 어디에 들어오는지 봅니다</a:t>
            </a:r>
          </a:p>
        </p:txBody>
      </p:sp>
      <p:sp>
        <p:nvSpPr>
          <p:cNvPr id="8" name="Rectangle 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B01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19</a:t>
            </a:r>
          </a:p>
        </p:txBody>
      </p:sp>
      <p:sp>
        <p:nvSpPr>
          <p:cNvPr id="11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AI 가 돕는 방식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발산 · 수렴 · 분해와 통합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47498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 spc="31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STEP 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238500"/>
            <a:ext cx="474980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1 발산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3848100"/>
            <a:ext cx="474980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아이디어를 넓게 펼친다</a:t>
            </a:r>
          </a:p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AI 역할 — 아이디어 짝꿍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43000" y="5029200"/>
            <a:ext cx="4749800" cy="2552700"/>
          </a:xfrm>
          <a:prstGeom prst="roundRect">
            <a:avLst>
              <a:gd name="adj" fmla="val 186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447800" y="5454967"/>
            <a:ext cx="97155" cy="97155"/>
          </a:xfrm>
          <a:prstGeom prst="ellipse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33538" y="5276850"/>
            <a:ext cx="401161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다른 분야 사례 찾기</a:t>
            </a:r>
          </a:p>
        </p:txBody>
      </p:sp>
      <p:sp>
        <p:nvSpPr>
          <p:cNvPr id="14" name="Oval 13"/>
          <p:cNvSpPr/>
          <p:nvPr/>
        </p:nvSpPr>
        <p:spPr>
          <a:xfrm>
            <a:off x="1447800" y="5965508"/>
            <a:ext cx="97155" cy="97155"/>
          </a:xfrm>
          <a:prstGeom prst="ellipse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633538" y="5787390"/>
            <a:ext cx="401161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낯선 개념끼리 조합</a:t>
            </a:r>
          </a:p>
        </p:txBody>
      </p:sp>
      <p:sp>
        <p:nvSpPr>
          <p:cNvPr id="16" name="Oval 15"/>
          <p:cNvSpPr/>
          <p:nvPr/>
        </p:nvSpPr>
        <p:spPr>
          <a:xfrm>
            <a:off x="1447800" y="6476048"/>
            <a:ext cx="97155" cy="97155"/>
          </a:xfrm>
          <a:prstGeom prst="ellipse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633538" y="6297930"/>
            <a:ext cx="401161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비유(메타포) 만들기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6064250" y="6324600"/>
            <a:ext cx="533400" cy="247650"/>
          </a:xfrm>
          <a:prstGeom prst="rightArrow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69100" y="2857500"/>
            <a:ext cx="47498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 spc="31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STEP 02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69100" y="3238500"/>
            <a:ext cx="474980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2 수렴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69100" y="3848100"/>
            <a:ext cx="474980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기준으로 골라 다듬는다</a:t>
            </a:r>
          </a:p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AI 역할 — 깐깐한 비평가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769100" y="5029200"/>
            <a:ext cx="4749800" cy="2552700"/>
          </a:xfrm>
          <a:prstGeom prst="roundRect">
            <a:avLst>
              <a:gd name="adj" fmla="val 186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073900" y="5454967"/>
            <a:ext cx="97155" cy="97155"/>
          </a:xfrm>
          <a:prstGeom prst="ellipse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59638" y="5276850"/>
            <a:ext cx="401161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예산·시간 조건으로 거르기</a:t>
            </a:r>
          </a:p>
        </p:txBody>
      </p:sp>
      <p:sp>
        <p:nvSpPr>
          <p:cNvPr id="25" name="Oval 24"/>
          <p:cNvSpPr/>
          <p:nvPr/>
        </p:nvSpPr>
        <p:spPr>
          <a:xfrm>
            <a:off x="7073900" y="5965508"/>
            <a:ext cx="97155" cy="97155"/>
          </a:xfrm>
          <a:prstGeom prst="ellipse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259638" y="5787390"/>
            <a:ext cx="401161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반례·약점 찾기</a:t>
            </a:r>
          </a:p>
        </p:txBody>
      </p:sp>
      <p:sp>
        <p:nvSpPr>
          <p:cNvPr id="27" name="Oval 26"/>
          <p:cNvSpPr/>
          <p:nvPr/>
        </p:nvSpPr>
        <p:spPr>
          <a:xfrm>
            <a:off x="7073900" y="6476048"/>
            <a:ext cx="97155" cy="97155"/>
          </a:xfrm>
          <a:prstGeom prst="ellipse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259638" y="6297930"/>
            <a:ext cx="401161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위험 점검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11690350" y="6324600"/>
            <a:ext cx="533400" cy="247650"/>
          </a:xfrm>
          <a:prstGeom prst="rightArrow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2395200" y="2857500"/>
            <a:ext cx="47498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 spc="31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STEP 03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395200" y="3238500"/>
            <a:ext cx="474980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3 분해·통합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395200" y="3848100"/>
            <a:ext cx="474980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쪼개서 풀고 다시 묶는다</a:t>
            </a:r>
          </a:p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AI 역할 — 설계 도우미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2395200" y="5029200"/>
            <a:ext cx="4749800" cy="2552700"/>
          </a:xfrm>
          <a:prstGeom prst="roundRect">
            <a:avLst>
              <a:gd name="adj" fmla="val 186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12700000" y="5454967"/>
            <a:ext cx="97155" cy="97155"/>
          </a:xfrm>
          <a:prstGeom prst="ellipse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2885738" y="5276850"/>
            <a:ext cx="401161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큰 문제를 작은 문제로</a:t>
            </a:r>
          </a:p>
        </p:txBody>
      </p:sp>
      <p:sp>
        <p:nvSpPr>
          <p:cNvPr id="36" name="Oval 35"/>
          <p:cNvSpPr/>
          <p:nvPr/>
        </p:nvSpPr>
        <p:spPr>
          <a:xfrm>
            <a:off x="12700000" y="5965508"/>
            <a:ext cx="97155" cy="97155"/>
          </a:xfrm>
          <a:prstGeom prst="ellipse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2885738" y="5787390"/>
            <a:ext cx="401161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부분 해답 모으기</a:t>
            </a:r>
          </a:p>
        </p:txBody>
      </p:sp>
      <p:sp>
        <p:nvSpPr>
          <p:cNvPr id="38" name="Oval 37"/>
          <p:cNvSpPr/>
          <p:nvPr/>
        </p:nvSpPr>
        <p:spPr>
          <a:xfrm>
            <a:off x="12700000" y="6476048"/>
            <a:ext cx="97155" cy="97155"/>
          </a:xfrm>
          <a:prstGeom prst="ellipse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885738" y="6297930"/>
            <a:ext cx="401161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전체에서 다시 평가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B01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20</a:t>
            </a:r>
          </a:p>
        </p:txBody>
      </p:sp>
      <p:sp>
        <p:nvSpPr>
          <p:cNvPr id="43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복합문제 해결 프레임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사람과 AI 가 나눠 맡는 6단계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2842260" cy="5905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28422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단계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360" y="2781300"/>
            <a:ext cx="6522720" cy="59055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023360" y="2781300"/>
            <a:ext cx="65227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사람이 하는 일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584180" y="2781300"/>
            <a:ext cx="6560820" cy="59055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84180" y="2781300"/>
            <a:ext cx="65608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AI 가 돕는 일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2842260" cy="619125"/>
          </a:xfrm>
          <a:prstGeom prst="roundRect">
            <a:avLst>
              <a:gd name="adj" fmla="val 6153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26517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1 문제 정의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023360" y="3448050"/>
            <a:ext cx="652272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18610" y="3448050"/>
            <a:ext cx="63322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풀 문제의 본질과 범위를 정한다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584180" y="3448050"/>
            <a:ext cx="656082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679430" y="3448050"/>
            <a:ext cx="63703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관련 키워드와 비슷한 사례를 펼친다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43375"/>
            <a:ext cx="2842260" cy="619125"/>
          </a:xfrm>
          <a:prstGeom prst="roundRect">
            <a:avLst>
              <a:gd name="adj" fmla="val 6153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43375"/>
            <a:ext cx="26517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2 가설 세우기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023360" y="4143375"/>
            <a:ext cx="652272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18610" y="4143375"/>
            <a:ext cx="63322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경험과 직관으로 잠정 답을 낸다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584180" y="4143375"/>
            <a:ext cx="656082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679430" y="4143375"/>
            <a:ext cx="63703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논리의 빈틈을 짚고 다른 가설을 낸다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38700"/>
            <a:ext cx="2842260" cy="619125"/>
          </a:xfrm>
          <a:prstGeom prst="roundRect">
            <a:avLst>
              <a:gd name="adj" fmla="val 6153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38700"/>
            <a:ext cx="26517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3 정보 탐색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023360" y="4838700"/>
            <a:ext cx="652272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118610" y="4838700"/>
            <a:ext cx="63322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탐색 방향을 정하고 믿을 만한지 거른다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584180" y="4838700"/>
            <a:ext cx="656082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679430" y="4838700"/>
            <a:ext cx="63703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많은 자료를 요약하고 패턴을 찾는다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534025"/>
            <a:ext cx="2842260" cy="619125"/>
          </a:xfrm>
          <a:prstGeom prst="roundRect">
            <a:avLst>
              <a:gd name="adj" fmla="val 6153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534025"/>
            <a:ext cx="26517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4 실험·검증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023360" y="5534025"/>
            <a:ext cx="652272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118610" y="5534025"/>
            <a:ext cx="63322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실험을 설계하고 윤리·현실 조건을 본다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584180" y="5534025"/>
            <a:ext cx="656082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679430" y="5534025"/>
            <a:ext cx="63703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예상 결과를 시뮬레이션한다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6229350"/>
            <a:ext cx="2842260" cy="619125"/>
          </a:xfrm>
          <a:prstGeom prst="roundRect">
            <a:avLst>
              <a:gd name="adj" fmla="val 6153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6229350"/>
            <a:ext cx="26517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5 의사결정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023360" y="6229350"/>
            <a:ext cx="652272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118610" y="6229350"/>
            <a:ext cx="63322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최종 선택을 하고 책임진다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0584180" y="6229350"/>
            <a:ext cx="656082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679430" y="6229350"/>
            <a:ext cx="63703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선택지별 장단점 표를 만든다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143000" y="6924675"/>
            <a:ext cx="2842260" cy="619125"/>
          </a:xfrm>
          <a:prstGeom prst="roundRect">
            <a:avLst>
              <a:gd name="adj" fmla="val 6153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238250" y="6924675"/>
            <a:ext cx="26517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6 되돌아보기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023360" y="6924675"/>
            <a:ext cx="652272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118610" y="6924675"/>
            <a:ext cx="63322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잘된 점·아쉬운 점을 정리한다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0584180" y="6924675"/>
            <a:ext cx="656082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0679430" y="6924675"/>
            <a:ext cx="63703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과정 기록을 정리하고 개선점을 낸다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어느 단계든 마지막 판단은 사람이 한다 — AI 는 넓히고, 정리하고, 반박해 주는 역할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B01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21</a:t>
            </a:r>
          </a:p>
        </p:txBody>
      </p:sp>
      <p:sp>
        <p:nvSpPr>
          <p:cNvPr id="54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PART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6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AI 를 어떻게 쓰나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51435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5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AI 가 제안하고 사람이 판단하는 순환 — HITL(Human-in-the-Loop)을 중심으로</a:t>
            </a:r>
          </a:p>
        </p:txBody>
      </p:sp>
      <p:sp>
        <p:nvSpPr>
          <p:cNvPr id="8" name="Rectangle 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B01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22</a:t>
            </a:r>
          </a:p>
        </p:txBody>
      </p:sp>
      <p:sp>
        <p:nvSpPr>
          <p:cNvPr id="11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HITL 순환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계획부터 결정까지 — 사람이 고리 안에 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2524125" cy="7048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2524125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계획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3657600"/>
            <a:ext cx="2524125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76350" y="3657600"/>
            <a:ext cx="2257425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7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사람</a:t>
            </a:r>
          </a:p>
          <a:p>
            <a:pPr algn="ctr">
              <a:lnSpc>
                <a:spcPct val="135000"/>
              </a:lnSpc>
            </a:pPr>
            <a:r>
              <a:rPr sz="17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문제·조건 정하기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3686175" y="3028950"/>
            <a:ext cx="133350" cy="209550"/>
          </a:xfrm>
          <a:prstGeom prst="rightArrow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838575" y="2781300"/>
            <a:ext cx="2524125" cy="70485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38575" y="2781300"/>
            <a:ext cx="2524125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요청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838575" y="3657600"/>
            <a:ext cx="2524125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971925" y="3657600"/>
            <a:ext cx="2257425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7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사람</a:t>
            </a:r>
          </a:p>
          <a:p>
            <a:pPr algn="ctr">
              <a:lnSpc>
                <a:spcPct val="135000"/>
              </a:lnSpc>
            </a:pPr>
            <a:r>
              <a:rPr sz="17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역할·제약을 담은 프롬프트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6381750" y="3028950"/>
            <a:ext cx="133350" cy="209550"/>
          </a:xfrm>
          <a:prstGeom prst="rightArrow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534150" y="2781300"/>
            <a:ext cx="2524125" cy="7048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34150" y="2781300"/>
            <a:ext cx="2524125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생성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34150" y="3657600"/>
            <a:ext cx="2524125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67500" y="3657600"/>
            <a:ext cx="2257425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7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AI</a:t>
            </a:r>
          </a:p>
          <a:p>
            <a:pPr algn="ctr">
              <a:lnSpc>
                <a:spcPct val="135000"/>
              </a:lnSpc>
            </a:pPr>
            <a:r>
              <a:rPr sz="17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초안·대안 만들기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9077325" y="3028950"/>
            <a:ext cx="133350" cy="209550"/>
          </a:xfrm>
          <a:prstGeom prst="rightArrow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229725" y="2781300"/>
            <a:ext cx="2524125" cy="70485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29725" y="2781300"/>
            <a:ext cx="2524125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비평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229725" y="3657600"/>
            <a:ext cx="2524125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363075" y="3657600"/>
            <a:ext cx="2257425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7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사람</a:t>
            </a:r>
          </a:p>
          <a:p>
            <a:pPr algn="ctr">
              <a:lnSpc>
                <a:spcPct val="135000"/>
              </a:lnSpc>
            </a:pPr>
            <a:r>
              <a:rPr sz="17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오류·편향·환각 점검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11772900" y="3028950"/>
            <a:ext cx="133350" cy="209550"/>
          </a:xfrm>
          <a:prstGeom prst="rightArrow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1925300" y="2781300"/>
            <a:ext cx="2524125" cy="7048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925300" y="2781300"/>
            <a:ext cx="2524125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수정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1925300" y="3657600"/>
            <a:ext cx="2524125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2058650" y="3657600"/>
            <a:ext cx="2257425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7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AI</a:t>
            </a:r>
          </a:p>
          <a:p>
            <a:pPr algn="ctr">
              <a:lnSpc>
                <a:spcPct val="135000"/>
              </a:lnSpc>
            </a:pPr>
            <a:r>
              <a:rPr sz="17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피드백 반영해 다시 쓰기</a:t>
            </a:r>
          </a:p>
        </p:txBody>
      </p:sp>
      <p:sp>
        <p:nvSpPr>
          <p:cNvPr id="32" name="Right Arrow 31"/>
          <p:cNvSpPr/>
          <p:nvPr/>
        </p:nvSpPr>
        <p:spPr>
          <a:xfrm>
            <a:off x="14468475" y="3028950"/>
            <a:ext cx="133350" cy="209550"/>
          </a:xfrm>
          <a:prstGeom prst="rightArrow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4620875" y="2781300"/>
            <a:ext cx="2524125" cy="70485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4620875" y="2781300"/>
            <a:ext cx="2524125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결정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4620875" y="3657600"/>
            <a:ext cx="2524125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4754225" y="3657600"/>
            <a:ext cx="2257425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7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사람</a:t>
            </a:r>
          </a:p>
          <a:p>
            <a:pPr algn="ctr">
              <a:lnSpc>
                <a:spcPct val="135000"/>
              </a:lnSpc>
            </a:pPr>
            <a:r>
              <a:rPr sz="17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채택하고 책임지기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405062" y="5086350"/>
            <a:ext cx="38100" cy="209550"/>
          </a:xfrm>
          <a:prstGeom prst="rect">
            <a:avLst/>
          </a:prstGeom>
          <a:solidFill>
            <a:srgbClr val="BEDC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5844838" y="5086350"/>
            <a:ext cx="38100" cy="209550"/>
          </a:xfrm>
          <a:prstGeom prst="rect">
            <a:avLst/>
          </a:prstGeom>
          <a:solidFill>
            <a:srgbClr val="BEDC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405062" y="5295900"/>
            <a:ext cx="13515975" cy="38100"/>
          </a:xfrm>
          <a:prstGeom prst="rect">
            <a:avLst/>
          </a:prstGeom>
          <a:solidFill>
            <a:srgbClr val="BEDC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0" name="Right Arrow 39"/>
          <p:cNvSpPr/>
          <p:nvPr/>
        </p:nvSpPr>
        <p:spPr>
          <a:xfrm>
            <a:off x="2214562" y="5162550"/>
            <a:ext cx="381000" cy="266700"/>
          </a:xfrm>
          <a:prstGeom prst="rightArrow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3269910" y="5791200"/>
            <a:ext cx="11748180" cy="742950"/>
          </a:xfrm>
          <a:prstGeom prst="roundRect">
            <a:avLst>
              <a:gd name="adj" fmla="val 6410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269910" y="5791200"/>
            <a:ext cx="1174818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점검 네 가지 — 출처 표시 · 편향 검토 · 저작권 확인 · 개인정보 보호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HITL(Human-in-the-Loop) — AI 가 일하는 고리 안에 사람이 들어가 점검하고 결정한다는 뜻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B01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23</a:t>
            </a:r>
          </a:p>
        </p:txBody>
      </p:sp>
      <p:sp>
        <p:nvSpPr>
          <p:cNvPr id="47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AI 활용 수준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AI 를 얼마나 맡기나 — 네 단계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2042160" cy="5905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20421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단계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23260" y="2781300"/>
            <a:ext cx="3482340" cy="59055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23260" y="2781300"/>
            <a:ext cx="34823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AI 의 모습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743700" y="2781300"/>
            <a:ext cx="6042660" cy="59055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43700" y="2781300"/>
            <a:ext cx="60426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하는 일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2824460" y="2781300"/>
            <a:ext cx="4320540" cy="59055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824460" y="2781300"/>
            <a:ext cx="43205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사람의 역할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3448050"/>
            <a:ext cx="2042160" cy="647700"/>
          </a:xfrm>
          <a:prstGeom prst="roundRect">
            <a:avLst>
              <a:gd name="adj" fmla="val 5882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3448050"/>
            <a:ext cx="18516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0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23260" y="34480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318510" y="34480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도구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743700" y="3448050"/>
            <a:ext cx="60426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38950" y="3448050"/>
            <a:ext cx="58521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시킨 일 하나만 한다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(번역, 맞춤법 검사)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2824460" y="3448050"/>
            <a:ext cx="43205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2919710" y="3448050"/>
            <a:ext cx="4130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결과를 그대로 확인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4171950"/>
            <a:ext cx="2042160" cy="647700"/>
          </a:xfrm>
          <a:prstGeom prst="roundRect">
            <a:avLst>
              <a:gd name="adj" fmla="val 5882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4171950"/>
            <a:ext cx="18516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223260" y="41719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318510" y="41719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보조(코파일럿)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743700" y="4171950"/>
            <a:ext cx="60426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38950" y="4171950"/>
            <a:ext cx="58521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작업 중에 옆에서 제안한다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(문장·코드 이어 쓰기)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2824460" y="4171950"/>
            <a:ext cx="43205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2919710" y="4171950"/>
            <a:ext cx="4130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제안을 고르고 고친다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4895850"/>
            <a:ext cx="2042160" cy="647700"/>
          </a:xfrm>
          <a:prstGeom prst="roundRect">
            <a:avLst>
              <a:gd name="adj" fmla="val 5882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4895850"/>
            <a:ext cx="18516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223260" y="48958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318510" y="48958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에이전트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743700" y="4895850"/>
            <a:ext cx="60426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838950" y="4895850"/>
            <a:ext cx="58521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목표를 받으면 계획을 세워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여러 단계를 스스로 진행한다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2824460" y="4895850"/>
            <a:ext cx="43205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919710" y="4895850"/>
            <a:ext cx="4130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목표·한계를 정하고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중간에 점검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143000" y="5619750"/>
            <a:ext cx="2042160" cy="647700"/>
          </a:xfrm>
          <a:prstGeom prst="roundRect">
            <a:avLst>
              <a:gd name="adj" fmla="val 5882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238250" y="5619750"/>
            <a:ext cx="18516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223260" y="56197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318510" y="56197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여러 에이전트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743700" y="5619750"/>
            <a:ext cx="60426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838950" y="5619750"/>
            <a:ext cx="58521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역할이 다른 AI 여럿이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나눠 일하고 합친다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2824460" y="5619750"/>
            <a:ext cx="43205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2919710" y="5619750"/>
            <a:ext cx="4130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전체를 지휘하고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최종 책임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이 강의에서 설명을 위해 나눈 단계다 — 업계 공통 표준은 아니며, 단계가 올라갈수록 사람의 점검이 더 중요해진다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B01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24</a:t>
            </a:r>
          </a:p>
        </p:txBody>
      </p:sp>
      <p:sp>
        <p:nvSpPr>
          <p:cNvPr id="52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가드레일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AI 를 쓸 때 꼭 지킬 세 가지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619500"/>
            <a:ext cx="5080000" cy="3524250"/>
          </a:xfrm>
          <a:prstGeom prst="roundRect">
            <a:avLst>
              <a:gd name="adj" fmla="val 135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619500"/>
            <a:ext cx="5080000" cy="47625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ornament"/>
          <p:cNvSpPr txBox="1"/>
          <p:nvPr/>
        </p:nvSpPr>
        <p:spPr>
          <a:xfrm>
            <a:off x="5365750" y="38290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943350"/>
            <a:ext cx="4432300" cy="2876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사람이 검증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AI 는 그럴듯하게 틀릴 수 있다(환각) —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최종 결과는 반드시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사람이 확인한다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0" y="3619500"/>
            <a:ext cx="5080000" cy="3524250"/>
          </a:xfrm>
          <a:prstGeom prst="roundRect">
            <a:avLst>
              <a:gd name="adj" fmla="val 135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04000" y="3619500"/>
            <a:ext cx="5080000" cy="47625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10826750" y="38290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27850" y="3943350"/>
            <a:ext cx="4432300" cy="2876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출처와 저작권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어디서 온 정보인지 확인하고,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표절·저작권 침해가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없는지 살핀다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2065000" y="3619500"/>
            <a:ext cx="5080000" cy="3524250"/>
          </a:xfrm>
          <a:prstGeom prst="roundRect">
            <a:avLst>
              <a:gd name="adj" fmla="val 135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2065000" y="3619500"/>
            <a:ext cx="5080000" cy="47625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deckgen:ornament"/>
          <p:cNvSpPr txBox="1"/>
          <p:nvPr/>
        </p:nvSpPr>
        <p:spPr>
          <a:xfrm>
            <a:off x="16287750" y="38290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88850" y="3943350"/>
            <a:ext cx="4432300" cy="2876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개인정보 보호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이름·연락처·회사 기밀은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프롬프트에 넣지 않고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가려서 쓴다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B01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25</a:t>
            </a:r>
          </a:p>
        </p:txBody>
      </p:sp>
      <p:sp>
        <p:nvSpPr>
          <p:cNvPr id="23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개인 역량 개발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AI 와 함께 하는 5단계 성장 루틴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2522220" cy="5905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25222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단계</a:t>
            </a:r>
          </a:p>
        </p:txBody>
      </p:sp>
      <p:sp>
        <p:nvSpPr>
          <p:cNvPr id="10" name="Rectangle 9"/>
          <p:cNvSpPr/>
          <p:nvPr/>
        </p:nvSpPr>
        <p:spPr>
          <a:xfrm>
            <a:off x="3703320" y="2781300"/>
            <a:ext cx="5722620" cy="59055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03320" y="2781300"/>
            <a:ext cx="57226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하는 일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464040" y="2781300"/>
            <a:ext cx="4122420" cy="59055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464040" y="2781300"/>
            <a:ext cx="41224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산출물 예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3624560" y="2781300"/>
            <a:ext cx="3520440" cy="59055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624560" y="2781300"/>
            <a:ext cx="35204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도구 범주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3448050"/>
            <a:ext cx="2522220" cy="647700"/>
          </a:xfrm>
          <a:prstGeom prst="roundRect">
            <a:avLst>
              <a:gd name="adj" fmla="val 5882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3448050"/>
            <a:ext cx="23317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1 목표 설정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703320" y="3448050"/>
            <a:ext cx="57226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798570" y="3448050"/>
            <a:ext cx="55321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익힐 역량의 범위·수준을 정하고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주차별 계획을 세운다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464040" y="3448050"/>
            <a:ext cx="41224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559290" y="3448050"/>
            <a:ext cx="39319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주차별 학습 계획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3624560" y="3448050"/>
            <a:ext cx="35204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719810" y="3448050"/>
            <a:ext cx="33299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대화형 AI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4171950"/>
            <a:ext cx="2522220" cy="647700"/>
          </a:xfrm>
          <a:prstGeom prst="roundRect">
            <a:avLst>
              <a:gd name="adj" fmla="val 5882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4171950"/>
            <a:ext cx="23317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2 자료 수집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703320" y="4171950"/>
            <a:ext cx="57226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798570" y="4171950"/>
            <a:ext cx="55321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개념·논문·사례를 모아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요약하고 정리한다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464040" y="4171950"/>
            <a:ext cx="41224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559290" y="4171950"/>
            <a:ext cx="39319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핵심 자료 요약표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3624560" y="4171950"/>
            <a:ext cx="35204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3719810" y="4171950"/>
            <a:ext cx="33299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AI 검색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4895850"/>
            <a:ext cx="2522220" cy="647700"/>
          </a:xfrm>
          <a:prstGeom prst="roundRect">
            <a:avLst>
              <a:gd name="adj" fmla="val 5882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4895850"/>
            <a:ext cx="23317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3 연습·실습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703320" y="4895850"/>
            <a:ext cx="57226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798570" y="4895850"/>
            <a:ext cx="55321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AI 를 튜터 삼아 문제를 풀고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작은 프로젝트를 한다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464040" y="4895850"/>
            <a:ext cx="41224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559290" y="4895850"/>
            <a:ext cx="39319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코드 초안, 작품 초안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3624560" y="4895850"/>
            <a:ext cx="35204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3719810" y="4895850"/>
            <a:ext cx="33299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코딩·창작 AI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143000" y="5619750"/>
            <a:ext cx="2522220" cy="647700"/>
          </a:xfrm>
          <a:prstGeom prst="roundRect">
            <a:avLst>
              <a:gd name="adj" fmla="val 5882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238250" y="5619750"/>
            <a:ext cx="23317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4 피드백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703320" y="5619750"/>
            <a:ext cx="57226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798570" y="5619750"/>
            <a:ext cx="55321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결과물을 평가받고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약점을 보완한다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464040" y="5619750"/>
            <a:ext cx="41224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559290" y="5619750"/>
            <a:ext cx="39319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검토 의견과 개선안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3624560" y="5619750"/>
            <a:ext cx="35204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3719810" y="5619750"/>
            <a:ext cx="33299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대화형 AI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143000" y="6343650"/>
            <a:ext cx="2522220" cy="647700"/>
          </a:xfrm>
          <a:prstGeom prst="roundRect">
            <a:avLst>
              <a:gd name="adj" fmla="val 5882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238250" y="6343650"/>
            <a:ext cx="23317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5 포트폴리오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3703320" y="6343650"/>
            <a:ext cx="57226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798570" y="6343650"/>
            <a:ext cx="55321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과정과 결과를 정리해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보여 줄 수 있게 만든다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9464040" y="6343650"/>
            <a:ext cx="41224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559290" y="6343650"/>
            <a:ext cx="39319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프로젝트 페이지, 글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3624560" y="6343650"/>
            <a:ext cx="35204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3719810" y="6343650"/>
            <a:ext cx="33299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문서·웹 도구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43000" y="70866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한 바퀴로 끝내지 말고 되풀이하며 나만의 AI 협업 습관을 만든다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도구는 이름보다 범주로 고른다 — 같은 범주 안에서 자기에게 맞는 서비스를 쓰면 된다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B01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26</a:t>
            </a:r>
          </a:p>
        </p:txBody>
      </p:sp>
      <p:sp>
        <p:nvSpPr>
          <p:cNvPr id="61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프롬프트 패턴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자주 쓰는 세 가지 요청 방식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619500"/>
            <a:ext cx="5080000" cy="3524250"/>
          </a:xfrm>
          <a:prstGeom prst="roundRect">
            <a:avLst>
              <a:gd name="adj" fmla="val 135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619500"/>
            <a:ext cx="5080000" cy="47625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ornament"/>
          <p:cNvSpPr txBox="1"/>
          <p:nvPr/>
        </p:nvSpPr>
        <p:spPr>
          <a:xfrm>
            <a:off x="5365750" y="38290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943350"/>
            <a:ext cx="4432300" cy="2876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역할 지정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「너는 10년 차 데이터 분석가야.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입문자에게 핵심만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설명해줘.」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0" y="3619500"/>
            <a:ext cx="5080000" cy="3524250"/>
          </a:xfrm>
          <a:prstGeom prst="roundRect">
            <a:avLst>
              <a:gd name="adj" fmla="val 135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04000" y="3619500"/>
            <a:ext cx="5080000" cy="47625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10826750" y="38290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27850" y="3943350"/>
            <a:ext cx="4432300" cy="2876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단계별 근거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「결과만 주지 말고,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단계별 근거를 함께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설명해줘.」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2065000" y="3619500"/>
            <a:ext cx="5080000" cy="3524250"/>
          </a:xfrm>
          <a:prstGeom prst="roundRect">
            <a:avLst>
              <a:gd name="adj" fmla="val 135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2065000" y="3619500"/>
            <a:ext cx="5080000" cy="47625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deckgen:ornament"/>
          <p:cNvSpPr txBox="1"/>
          <p:nvPr/>
        </p:nvSpPr>
        <p:spPr>
          <a:xfrm>
            <a:off x="16287750" y="38290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88850" y="3943350"/>
            <a:ext cx="4432300" cy="2876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반례 요청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「내 주장에 대한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비판적 반박을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3가지 들어줘.」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B01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27</a:t>
            </a:r>
          </a:p>
        </p:txBody>
      </p:sp>
      <p:sp>
        <p:nvSpPr>
          <p:cNvPr id="23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PART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6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과제 적용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51435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5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세 가지 실습으로 발산·수렴·결정을 직접 해 봅니다</a:t>
            </a:r>
          </a:p>
        </p:txBody>
      </p:sp>
      <p:sp>
        <p:nvSpPr>
          <p:cNvPr id="8" name="Rectangle 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B01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28</a:t>
            </a:r>
          </a:p>
        </p:txBody>
      </p:sp>
      <p:sp>
        <p:nvSpPr>
          <p:cNvPr id="11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5678150" y="1181100"/>
            <a:ext cx="1466850" cy="590550"/>
          </a:xfrm>
          <a:prstGeom prst="roundRect">
            <a:avLst>
              <a:gd name="adj" fmla="val 50000"/>
            </a:avLst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6002000" y="1400175"/>
            <a:ext cx="152400" cy="152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192500" y="1295400"/>
            <a:ext cx="7239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3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838200"/>
            <a:ext cx="141541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실습 1 · 창의력 부스터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162050"/>
            <a:ext cx="141541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발산 — 아이디어 20개 펼치기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3143250"/>
            <a:ext cx="16002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50" b="1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구조 — 대상 + 문제 + 조건 + 개수 + 관점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714750"/>
            <a:ext cx="16002000" cy="2495550"/>
          </a:xfrm>
          <a:prstGeom prst="roundRect">
            <a:avLst>
              <a:gd name="adj" fmla="val 19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43000" y="3714750"/>
            <a:ext cx="57150" cy="24955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1466850" y="3848100"/>
            <a:ext cx="85725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250" b="1">
                <a:solidFill>
                  <a:srgbClr val="DDE4EF"/>
                </a:solidFill>
                <a:latin typeface="Pretendard"/>
                <a:ea typeface="Pretendard"/>
                <a:cs typeface="Pretendard"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76400" y="4038600"/>
            <a:ext cx="14954250" cy="2000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7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[대학생]이 겪는 [시간 관리] 문제를 해결할 수 있는 아이디어를 20개 제안해줘. 조건은 [예산 0원, 모바일 앱, 1주일 안에 만들 수 있는 것]이야. [게임화]와 [친구와 함께하기] 관점을 섞어서, 각 아이디어를 한 줄로 정리해줘.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6667500"/>
            <a:ext cx="47625" cy="9144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09700" y="6686550"/>
            <a:ext cx="157353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 spc="15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산출물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9700" y="7067550"/>
            <a:ext cx="15735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4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아이디어 20개 목록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B01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29</a:t>
            </a:r>
          </a:p>
        </p:txBody>
      </p:sp>
      <p:sp>
        <p:nvSpPr>
          <p:cNvPr id="22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5678150" y="1181100"/>
            <a:ext cx="1466850" cy="590550"/>
          </a:xfrm>
          <a:prstGeom prst="roundRect">
            <a:avLst>
              <a:gd name="adj" fmla="val 50000"/>
            </a:avLst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6002000" y="1400175"/>
            <a:ext cx="152400" cy="152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192500" y="1295400"/>
            <a:ext cx="7239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3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838200"/>
            <a:ext cx="141541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실습 1 · 창의력 부스터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162050"/>
            <a:ext cx="141541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수렴과 재구성 — 골라서 구체화하기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3143250"/>
            <a:ext cx="16002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50" b="1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구조 — 기준 + 선정 개수 + 표 형식 → 사용자 + 시나리오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714750"/>
            <a:ext cx="16002000" cy="2495550"/>
          </a:xfrm>
          <a:prstGeom prst="roundRect">
            <a:avLst>
              <a:gd name="adj" fmla="val 19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43000" y="3714750"/>
            <a:ext cx="57150" cy="24955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1466850" y="3848100"/>
            <a:ext cx="85725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250" b="1">
                <a:solidFill>
                  <a:srgbClr val="DDE4EF"/>
                </a:solidFill>
                <a:latin typeface="Pretendard"/>
                <a:ea typeface="Pretendard"/>
                <a:cs typeface="Pretendard"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76400" y="4038600"/>
            <a:ext cx="14954250" cy="2000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7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위 20개 중에서 [실현 가능성, 독창성]이 가장 높은 3가지를 고르고, 각각의 장단점을 표로 정리해줘. 그다음 1위 아이디어를 쓰는 [대학생 민수]의 하루를 시나리오로 써줘. 사실이 아닌 내용은 넣지 말고, 확인이 필요한 부분은 표시해줘.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6667500"/>
            <a:ext cx="47625" cy="9144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09700" y="6686550"/>
            <a:ext cx="157353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 spc="15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산출물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9700" y="7067550"/>
            <a:ext cx="15735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4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상위 3개 비교표와 사용자 시나리오 1편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B01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30</a:t>
            </a:r>
          </a:p>
        </p:txBody>
      </p:sp>
      <p:sp>
        <p:nvSpPr>
          <p:cNvPr id="22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5678150" y="1181100"/>
            <a:ext cx="1466850" cy="590550"/>
          </a:xfrm>
          <a:prstGeom prst="roundRect">
            <a:avLst>
              <a:gd name="adj" fmla="val 50000"/>
            </a:avLst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6002000" y="1400175"/>
            <a:ext cx="152400" cy="152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192500" y="1295400"/>
            <a:ext cx="7239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3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838200"/>
            <a:ext cx="141541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실습 2 · AHP 미니 의사결정 (Saaty, 1980)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162050"/>
            <a:ext cx="141541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AHP — 기준에 무게를 달아 고르기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143000" y="2933700"/>
            <a:ext cx="11430000" cy="1000125"/>
          </a:xfrm>
          <a:prstGeom prst="roundRect">
            <a:avLst>
              <a:gd name="adj" fmla="val 476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447800" y="3138488"/>
            <a:ext cx="590550" cy="59055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47800" y="3290888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24100" y="3024188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구조 세우기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24100" y="3481388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목표 → 평가 기준(효과·비용·시간·위험) → 대안 2~3개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105275"/>
            <a:ext cx="11430000" cy="1000125"/>
          </a:xfrm>
          <a:prstGeom prst="roundRect">
            <a:avLst>
              <a:gd name="adj" fmla="val 476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447800" y="4310062"/>
            <a:ext cx="590550" cy="59055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47800" y="4462462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24100" y="4195762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쌍대 비교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324100" y="4652962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「효과가 비용보다 얼마나 중요한가?」처럼 두 개씩 1~9점으로 비교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143000" y="5276850"/>
            <a:ext cx="11430000" cy="1000125"/>
          </a:xfrm>
          <a:prstGeom prst="roundRect">
            <a:avLst>
              <a:gd name="adj" fmla="val 476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447800" y="5481638"/>
            <a:ext cx="590550" cy="59055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447800" y="5634038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24100" y="5367338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가중치 × 점수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324100" y="5824538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기준별 가중치와 대안별 점수를 곱해 종합 점수를 낸다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6448425"/>
            <a:ext cx="11430000" cy="1000125"/>
          </a:xfrm>
          <a:prstGeom prst="roundRect">
            <a:avLst>
              <a:gd name="adj" fmla="val 476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447800" y="6653212"/>
            <a:ext cx="590550" cy="590550"/>
          </a:xfrm>
          <a:prstGeom prst="ellipse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447800" y="6805612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24100" y="6538912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일관성 확인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324100" y="6996112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일관성 비율(CR)이 0.1 미만이면 판단에 모순이 적다고 본다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3144500" y="2933700"/>
            <a:ext cx="4000500" cy="4514850"/>
          </a:xfrm>
          <a:prstGeom prst="roundRect">
            <a:avLst>
              <a:gd name="adj" fmla="val 1190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3487400" y="4371975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역할 나누기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487400" y="4772025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계산은 AI 에게,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기준과 무게는 사람이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143000" y="7581900"/>
            <a:ext cx="38100" cy="323850"/>
          </a:xfrm>
          <a:prstGeom prst="rect">
            <a:avLst/>
          </a:prstGeom>
          <a:solidFill>
            <a:srgbClr val="BEDC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314450" y="758190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AHP(계층분석법)는 Thomas L. Saaty 가 제안한 다기준 의사결정 방법이다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B01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31</a:t>
            </a:r>
          </a:p>
        </p:txBody>
      </p:sp>
      <p:sp>
        <p:nvSpPr>
          <p:cNvPr id="39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5678150" y="1181100"/>
            <a:ext cx="1466850" cy="590550"/>
          </a:xfrm>
          <a:prstGeom prst="roundRect">
            <a:avLst>
              <a:gd name="adj" fmla="val 50000"/>
            </a:avLst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6002000" y="1400175"/>
            <a:ext cx="152400" cy="152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192500" y="1295400"/>
            <a:ext cx="7239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3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838200"/>
            <a:ext cx="141541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실습 2 · AHP 미니 의사결정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162050"/>
            <a:ext cx="141541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AI 에게 AHP 계산 맡기기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3143250"/>
            <a:ext cx="16002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50" b="1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구조 — 목표 + 기준 + 대안 + 내 판단 값 + 출력 형식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714750"/>
            <a:ext cx="16002000" cy="2495550"/>
          </a:xfrm>
          <a:prstGeom prst="roundRect">
            <a:avLst>
              <a:gd name="adj" fmla="val 19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43000" y="3714750"/>
            <a:ext cx="57150" cy="24955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1466850" y="3848100"/>
            <a:ext cx="85725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250" b="1">
                <a:solidFill>
                  <a:srgbClr val="DDE4EF"/>
                </a:solidFill>
                <a:latin typeface="Pretendard"/>
                <a:ea typeface="Pretendard"/>
                <a:cs typeface="Pretendard"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76400" y="4038600"/>
            <a:ext cx="14954250" cy="2000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7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[이번 주말 할 일 정하기]를 AHP로 계산해줘. 기준은 [효과, 비용, 시간], 대안은 [과제 마무리, 동아리 준비, 아르바이트]야. 내 쌍대 비교 값은 [효과:비용=3, 효과:시간=5, 비용:시간=2]야. 기준 가중치, 대안별 종합 점수, 일관성 비율(CR)을 표로 보여 주고 계산 과정도 적어줘.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6667500"/>
            <a:ext cx="47625" cy="9144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09700" y="6686550"/>
            <a:ext cx="157353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 spc="15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확인할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9700" y="7067550"/>
            <a:ext cx="15735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4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CR 0.1 미만인지, 1·2순위 점수 차이가 얼마인지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B01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32</a:t>
            </a:r>
          </a:p>
        </p:txBody>
      </p:sp>
      <p:sp>
        <p:nvSpPr>
          <p:cNvPr id="22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5678150" y="1181100"/>
            <a:ext cx="1466850" cy="590550"/>
          </a:xfrm>
          <a:prstGeom prst="roundRect">
            <a:avLst>
              <a:gd name="adj" fmla="val 50000"/>
            </a:avLst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6002000" y="1400175"/>
            <a:ext cx="152400" cy="152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192500" y="1295400"/>
            <a:ext cx="7239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3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838200"/>
            <a:ext cx="141541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실습 3 · 워크플로우 미니랩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162050"/>
            <a:ext cx="141541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우리 동네 문제를 AI 와 함께 풀어 보기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781300"/>
            <a:ext cx="3002280" cy="7048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2781300"/>
            <a:ext cx="3002280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문제 정의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3657600"/>
            <a:ext cx="3002280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76350" y="3657600"/>
            <a:ext cx="2735580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핵심 문제와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범위 정하기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4164330" y="3028950"/>
            <a:ext cx="209550" cy="209550"/>
          </a:xfrm>
          <a:prstGeom prst="rightArrow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92930" y="2781300"/>
            <a:ext cx="3002280" cy="70485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92930" y="2781300"/>
            <a:ext cx="3002280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정보 수집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92930" y="3657600"/>
            <a:ext cx="3002280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26280" y="3657600"/>
            <a:ext cx="2735580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관련된 사람과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조건 찾기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7414260" y="3028950"/>
            <a:ext cx="209550" cy="209550"/>
          </a:xfrm>
          <a:prstGeom prst="rightArrow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642860" y="2781300"/>
            <a:ext cx="3002280" cy="7048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642860" y="2781300"/>
            <a:ext cx="3002280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아이디어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642860" y="3657600"/>
            <a:ext cx="3002280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76210" y="3657600"/>
            <a:ext cx="2735580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해결 대안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3가지 만들기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10664190" y="3028950"/>
            <a:ext cx="209550" cy="209550"/>
          </a:xfrm>
          <a:prstGeom prst="rightArrow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892790" y="2781300"/>
            <a:ext cx="3002280" cy="70485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892790" y="2781300"/>
            <a:ext cx="3002280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NCS 점검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892790" y="3657600"/>
            <a:ext cx="3002280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026140" y="3657600"/>
            <a:ext cx="2735580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수행준거로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적절한지 보기</a:t>
            </a:r>
          </a:p>
        </p:txBody>
      </p:sp>
      <p:sp>
        <p:nvSpPr>
          <p:cNvPr id="30" name="Right Arrow 29"/>
          <p:cNvSpPr/>
          <p:nvPr/>
        </p:nvSpPr>
        <p:spPr>
          <a:xfrm>
            <a:off x="13914120" y="3028950"/>
            <a:ext cx="209550" cy="209550"/>
          </a:xfrm>
          <a:prstGeom prst="rightArrow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4142720" y="2781300"/>
            <a:ext cx="3002280" cy="7048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4142720" y="2781300"/>
            <a:ext cx="3002280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개선안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4142720" y="3657600"/>
            <a:ext cx="3002280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4276070" y="3657600"/>
            <a:ext cx="2735580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피드백 반영해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최종안 쓰기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143000" y="5467350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143000" y="5467350"/>
            <a:ext cx="1600200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결과 점검 — 사실(통계·법규 일치) · 출처(믿을 만한가) · 편향(누군가에게 불리한가) · 실행 가능성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주제 예 — 학교 앞 횡단보도 안전, 동네 상점 홍보, 캠퍼스 쓰레기 줄이기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B01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33</a:t>
            </a:r>
          </a:p>
        </p:txBody>
      </p:sp>
      <p:sp>
        <p:nvSpPr>
          <p:cNvPr id="41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액션플랜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7일 동안 하루 10분 루틴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1562100" cy="5905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15621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날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0" y="2781300"/>
            <a:ext cx="6362700" cy="59055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43200" y="2781300"/>
            <a:ext cx="63627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할 일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44000" y="2781300"/>
            <a:ext cx="1562100" cy="59055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0" y="2781300"/>
            <a:ext cx="15621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날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744200" y="2781300"/>
            <a:ext cx="6400800" cy="59055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744200" y="2781300"/>
            <a:ext cx="64008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할 일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3448050"/>
            <a:ext cx="1562100" cy="647700"/>
          </a:xfrm>
          <a:prstGeom prst="roundRect">
            <a:avLst>
              <a:gd name="adj" fmla="val 5882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3448050"/>
            <a:ext cx="13716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1일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743200" y="34480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838450" y="34480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관심 직무의 NCS 능력단위 3개 찾기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44000" y="3448050"/>
            <a:ext cx="15621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39250" y="3448050"/>
            <a:ext cx="13716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5일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744200" y="3448050"/>
            <a:ext cx="64008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839450" y="3448050"/>
            <a:ext cx="62103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AHP 로 주말 할 일 우선순위 정하기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4171950"/>
            <a:ext cx="1562100" cy="647700"/>
          </a:xfrm>
          <a:prstGeom prst="roundRect">
            <a:avLst>
              <a:gd name="adj" fmla="val 5882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4171950"/>
            <a:ext cx="13716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2일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743200" y="41719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838450" y="41719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나의 「빙산 아래」 동기·태도 적어 보기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144000" y="4171950"/>
            <a:ext cx="15621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239250" y="4171950"/>
            <a:ext cx="13716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6일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744200" y="4171950"/>
            <a:ext cx="64008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839450" y="4171950"/>
            <a:ext cx="62103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내 강점과 AI 의 강점을 합친 시나리오 쓰기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4895850"/>
            <a:ext cx="1562100" cy="647700"/>
          </a:xfrm>
          <a:prstGeom prst="roundRect">
            <a:avLst>
              <a:gd name="adj" fmla="val 5882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4895850"/>
            <a:ext cx="13716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3일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743200" y="48958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838450" y="48958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AI 로 아이디어 발산 프롬프트 해 보기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144000" y="4895850"/>
            <a:ext cx="15621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239250" y="4895850"/>
            <a:ext cx="13716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7일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0744200" y="4895850"/>
            <a:ext cx="64008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839450" y="4895850"/>
            <a:ext cx="62103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일주일 기록을 포트폴리오로 정리하기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143000" y="5619750"/>
            <a:ext cx="1562100" cy="647700"/>
          </a:xfrm>
          <a:prstGeom prst="roundRect">
            <a:avLst>
              <a:gd name="adj" fmla="val 5882"/>
            </a:avLst>
          </a:prstGeom>
          <a:solidFill>
            <a:srgbClr val="EDF6FD"/>
          </a:solidFill>
          <a:ln w="9525">
            <a:solidFill>
              <a:srgbClr val="BEDC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238250" y="5619750"/>
            <a:ext cx="13716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4일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2743200" y="56197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838450" y="56197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AI 결과물을 비판적으로 검증하기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144000" y="5619750"/>
            <a:ext cx="15621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239250" y="5619750"/>
            <a:ext cx="13716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0744200" y="5619750"/>
            <a:ext cx="64008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839450" y="5619750"/>
            <a:ext cx="62103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43000" y="63627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작게, 매일 — 기록(대화 내역·수정 과정)을 남겨 두면 그대로 포트폴리오가 된다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useful-ai 강의안 전집 · B01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34</a:t>
            </a:r>
          </a:p>
        </p:txBody>
      </p:sp>
      <p:sp>
        <p:nvSpPr>
          <p:cNvPr id="52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2F7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B01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창의력·복합문제 해결에서의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AI 는 생각을 넓히고 빠르게 해 주는 증폭기 — 고리 안에서 판단하는 사람은 나다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스킬은 도구, 역량은 밑바탕 — 구분해서 계획한다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NCS 능력단위로 진로가 요구하는 능력을 확인한다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발산·수렴·분해에서 AI 에게 맞는 일을 맡긴다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최종 검증과 책임은 사람이 진다(HITL)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0072CE"/>
                </a:solidFill>
                <a:latin typeface="Pretendard"/>
                <a:ea typeface="Pretendard"/>
                <a:cs typeface="Pretendard"/>
              </a:rPr>
              <a:t>오늘의 산출물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아이디어 20개 · 상위 3개 비교표 · AHP 결과표</a:t>
            </a:r>
          </a:p>
        </p:txBody>
      </p:sp>
      <p:sp>
        <p:nvSpPr>
          <p:cNvPr id="23" name="deckgen:wrap:footer"/>
          <p:cNvSpPr txBox="1"/>
          <p:nvPr/>
        </p:nvSpPr>
        <p:spPr>
          <a:xfrm>
            <a:off x="548640" y="9824085"/>
            <a:ext cx="17190720" cy="360045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wrap:bg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deckgen:wrap:side"/>
          <p:cNvSpPr/>
          <p:nvPr/>
        </p:nvSpPr>
        <p:spPr>
          <a:xfrm>
            <a:off x="0" y="0"/>
            <a:ext cx="219456" cy="102870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eckgen:wrap:rule"/>
          <p:cNvSpPr/>
          <p:nvPr/>
        </p:nvSpPr>
        <p:spPr>
          <a:xfrm>
            <a:off x="1280160" y="3086100"/>
            <a:ext cx="1463040" cy="381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deckgen:wrap:eyebrow"/>
          <p:cNvSpPr txBox="1"/>
          <p:nvPr/>
        </p:nvSpPr>
        <p:spPr>
          <a:xfrm>
            <a:off x="1280160" y="1748790"/>
            <a:ext cx="15727680" cy="514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072CE"/>
                </a:solidFill>
                <a:latin typeface="Pretendard"/>
              </a:rPr>
              <a:t>HOW TO USE</a:t>
            </a:r>
          </a:p>
        </p:txBody>
      </p:sp>
      <p:sp>
        <p:nvSpPr>
          <p:cNvPr id="6" name="deckgen:wrap:title"/>
          <p:cNvSpPr txBox="1"/>
          <p:nvPr/>
        </p:nvSpPr>
        <p:spPr>
          <a:xfrm>
            <a:off x="1280160" y="2160270"/>
            <a:ext cx="15727680" cy="9258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A2A5E"/>
                </a:solidFill>
                <a:latin typeface="Pretendard"/>
              </a:rPr>
              <a:t>이 자료 사용 방법</a:t>
            </a:r>
          </a:p>
        </p:txBody>
      </p:sp>
      <p:sp>
        <p:nvSpPr>
          <p:cNvPr id="7" name="deckgen:wrap:body"/>
          <p:cNvSpPr txBox="1"/>
          <p:nvPr/>
        </p:nvSpPr>
        <p:spPr>
          <a:xfrm>
            <a:off x="1280160" y="3600450"/>
            <a:ext cx="15727680" cy="5349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333333"/>
                </a:solidFill>
                <a:latin typeface="Pretendard"/>
              </a:rPr>
              <a:t>1.  수업·강의·자습에 그대로 쓰셔도 됩니다. 출처만 남겨 주세요.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2.  PDF 는 화면으로 읽는 용도, PPTX 는 발표용입니다. PPTX 는 Pretendard 글꼴이 설치된 컴퓨터에서 가장 똑같이 보입니다.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3.  출처 표기 예: 이애본(드림아이티비즈), 「자료 제목」, 홍문원, useful-ai.dreamitbiz.com, CC BY-NC-ND 4.0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4.  자료 안의 프롬프트는 복사해 바로 쓸 수 있습니다. [대괄호]만 내 상황으로 바꾸세요.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5.  모든 자료와 영상 강의는 useful-ai.dreamitbiz.com 에서 다시 받을 수 있습니다.</a:t>
            </a:r>
          </a:p>
        </p:txBody>
      </p:sp>
      <p:sp>
        <p:nvSpPr>
          <p:cNvPr id="8" name="deckgen:wrap:footer"/>
          <p:cNvSpPr txBox="1"/>
          <p:nvPr/>
        </p:nvSpPr>
        <p:spPr>
          <a:xfrm>
            <a:off x="1280160" y="9361170"/>
            <a:ext cx="15727680" cy="514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88888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wrap:bg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deckgen:wrap:side"/>
          <p:cNvSpPr/>
          <p:nvPr/>
        </p:nvSpPr>
        <p:spPr>
          <a:xfrm>
            <a:off x="0" y="0"/>
            <a:ext cx="219456" cy="102870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eckgen:wrap:rule"/>
          <p:cNvSpPr/>
          <p:nvPr/>
        </p:nvSpPr>
        <p:spPr>
          <a:xfrm>
            <a:off x="1280160" y="3086100"/>
            <a:ext cx="1463040" cy="381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deckgen:wrap:eyebrow"/>
          <p:cNvSpPr txBox="1"/>
          <p:nvPr/>
        </p:nvSpPr>
        <p:spPr>
          <a:xfrm>
            <a:off x="1280160" y="1748790"/>
            <a:ext cx="15727680" cy="514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072CE"/>
                </a:solidFill>
                <a:latin typeface="Pretendard"/>
              </a:rPr>
              <a:t>COPYRIGHT · LICENSE</a:t>
            </a:r>
          </a:p>
        </p:txBody>
      </p:sp>
      <p:sp>
        <p:nvSpPr>
          <p:cNvPr id="6" name="deckgen:wrap:title"/>
          <p:cNvSpPr txBox="1"/>
          <p:nvPr/>
        </p:nvSpPr>
        <p:spPr>
          <a:xfrm>
            <a:off x="1280160" y="2160270"/>
            <a:ext cx="15727680" cy="9258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A2A5E"/>
                </a:solidFill>
                <a:latin typeface="Pretendard"/>
              </a:rPr>
              <a:t>저작권 · 이용 조건 (CC BY-NC-ND 4.0)</a:t>
            </a:r>
          </a:p>
        </p:txBody>
      </p:sp>
      <p:sp>
        <p:nvSpPr>
          <p:cNvPr id="7" name="deckgen:wrap:body"/>
          <p:cNvSpPr txBox="1"/>
          <p:nvPr/>
        </p:nvSpPr>
        <p:spPr>
          <a:xfrm>
            <a:off x="1280160" y="3600450"/>
            <a:ext cx="15727680" cy="5349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333333"/>
                </a:solidFill>
                <a:latin typeface="Pretendard"/>
              </a:rPr>
              <a:t>1.  저작권 © 2026 이애본(드림아이티비즈 DreamIT Biz). 발행 홍문원(洪文院, 출판사 신고번호 제2026-000026호). 2026년 1월 「생성형 AI와 창의력·복합문제능력 향상 과정」 강의안을 전자출판용으로 다시 묶은 것입니다. ISBN: 등록 후 기재.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2.  이 자료는 크리에이티브 커먼즈 저작자표시-비영리-변경금지 4.0 국제(CC BY-NC-ND 4.0) 라이선스를 따릅니다. creativecommons.org/licenses/by-nc-nd/4.0/deed.ko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3.  저작자 표시(BY): 출처를 밝히면 그대로 복사해 수업·강의·자습에 쓸 수 있습니다. 비영리(NC): 유료 강의·판매·광고 수익 목적에는 쓸 수 없습니다. 변경금지(ND): 내용을 고치거나 잘라 재조합해 배포할 수 없습니다.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4.  자료 안의 외부 서비스 화면 캡처와 상표는 교육 목적 인용이며 각 서비스의 소유입니다. AI 생성 이미지는 생성 도구의 이용 약관을 따릅니다.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5.  라이선스 범위 밖의 이용(영리·변형·2차 저작)은 먼저 문의해 주세요. aebon@dreamitbiz.com · 카카오톡 ID aebon</a:t>
            </a:r>
          </a:p>
        </p:txBody>
      </p:sp>
      <p:sp>
        <p:nvSpPr>
          <p:cNvPr id="8" name="deckgen:wrap:footer"/>
          <p:cNvSpPr txBox="1"/>
          <p:nvPr/>
        </p:nvSpPr>
        <p:spPr>
          <a:xfrm>
            <a:off x="1280160" y="9361170"/>
            <a:ext cx="15727680" cy="514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88888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wrap:bg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deckgen:wrap:side"/>
          <p:cNvSpPr/>
          <p:nvPr/>
        </p:nvSpPr>
        <p:spPr>
          <a:xfrm>
            <a:off x="0" y="0"/>
            <a:ext cx="219456" cy="102870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eckgen:wrap:rule"/>
          <p:cNvSpPr/>
          <p:nvPr/>
        </p:nvSpPr>
        <p:spPr>
          <a:xfrm>
            <a:off x="1280160" y="3086100"/>
            <a:ext cx="1463040" cy="381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deckgen:wrap:eyebrow"/>
          <p:cNvSpPr txBox="1"/>
          <p:nvPr/>
        </p:nvSpPr>
        <p:spPr>
          <a:xfrm>
            <a:off x="1280160" y="1748790"/>
            <a:ext cx="15727680" cy="514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072CE"/>
                </a:solidFill>
                <a:latin typeface="Pretendard"/>
              </a:rPr>
              <a:t>CREDITS · CONTACT</a:t>
            </a:r>
          </a:p>
        </p:txBody>
      </p:sp>
      <p:sp>
        <p:nvSpPr>
          <p:cNvPr id="6" name="deckgen:wrap:title"/>
          <p:cNvSpPr txBox="1"/>
          <p:nvPr/>
        </p:nvSpPr>
        <p:spPr>
          <a:xfrm>
            <a:off x="1280160" y="2160270"/>
            <a:ext cx="15727680" cy="9258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A2A5E"/>
                </a:solidFill>
                <a:latin typeface="Pretendard"/>
              </a:rPr>
              <a:t>출처 · 문의</a:t>
            </a:r>
          </a:p>
        </p:txBody>
      </p:sp>
      <p:sp>
        <p:nvSpPr>
          <p:cNvPr id="7" name="deckgen:wrap:body"/>
          <p:cNvSpPr txBox="1"/>
          <p:nvPr/>
        </p:nvSpPr>
        <p:spPr>
          <a:xfrm>
            <a:off x="1280160" y="3600450"/>
            <a:ext cx="15727680" cy="5349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333333"/>
                </a:solidFill>
                <a:latin typeface="Pretendard"/>
              </a:rPr>
              <a:t>이애본 (Aebon Lee, Ph.D) — 드림아이티비즈 대표 · 한신대학교 AI·SW대학 겸임교수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useful-ai.dreamitbiz.com — 강의안·영상 강의 라이브러리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aebon@dreamitbiz.com · 카카오톡 ID aebon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© 2026 이애본 · 발행 홍문원(洪文院) · CC BY-NC-ND 4.0</a:t>
            </a:r>
          </a:p>
        </p:txBody>
      </p:sp>
      <p:sp>
        <p:nvSpPr>
          <p:cNvPr id="8" name="deckgen:wrap:footer"/>
          <p:cNvSpPr txBox="1"/>
          <p:nvPr/>
        </p:nvSpPr>
        <p:spPr>
          <a:xfrm>
            <a:off x="1280160" y="9361170"/>
            <a:ext cx="15727680" cy="514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88888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