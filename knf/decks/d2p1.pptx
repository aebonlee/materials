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1교시 · KPI 분석 기초와 공정별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설비종합효율(OEE)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가동률 × 성능 × 양품률 — 세 개의 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세 요소가 각각 무엇을 재는지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6대 손실이 세 요소 중 어디를 깎는지 연결한다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생산일지 한 행으로 OEE 를 손계산하고 검산한다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전체의 OEE 는 3교시에 AI 와 Excel 로 직접 산출합니다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1교시 · 이론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세 개의 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계획 시간이 세 번 걸러진다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계획가동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교대당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480분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운전시간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− 비가동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(가동률)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이론시간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− 느린 속도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(성능)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가치시간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− 불량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(양품률)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= 가치시간 ÷ 계획가동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세 체를 모두 통과하고 남은 비율이 OEE — 그래서 더하지 않고 곱한다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1교시 · 이론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세 개의 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 요소의 계산식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71628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7162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계산식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가동률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7162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972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(계획 − 비가동) ÷ 계획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멈추지 않고 돌았나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7162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972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이론CT × 생산 ÷ 운전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719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719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 속도를 냈나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양품률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7162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972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양품 ÷ 생산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958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958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좋은 것의 비율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7162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972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가동률 × 성능 × 양품률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6197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6197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가치 있는 시간 비율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이론CT 는 초 단위 — 성능 계산에서 60 으로 나눠 분으로 맞춘다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1교시 · 이론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세 개의 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검산 한 줄 — 곱하면 약분된다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 요소를 곱하면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운전시간과 생산수량이 위아래로 약분된다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남는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양품을 이론 속도로 만들었다면 걸렸을 시간 ÷ 계획 시간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쓰는 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요소의 곱과 검산 값이 다르면 어딘가 계산이 틀린 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검산식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이론CT×양품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÷60÷계획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1교시 · 이론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6대 손실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손실마다 깎는 요소가 정해져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6대 손실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39624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깎는 요소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라인의 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① 고장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448050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9050" y="3448050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가동률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 이상 정지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② 준비·교체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43375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143375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가동률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43375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43375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금형·공구 교체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③ 공회전·순간정지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838700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838700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38700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38700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기록 없음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④ 속도저하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5534025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5534025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534025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534025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기록 없음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⑤ 불량·재작업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6229350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9050" y="6229350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양품률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544300" y="6229350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39550" y="6229350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 − 양품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⑥ 초기수율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43800" y="6924675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39050" y="6924675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양품률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544300" y="6924675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639550" y="6924675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구분 기록 없음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공회전·속도저하는 사유로 기록되지 않고 성능 수치로만 드러난다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1교시 · 이론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한 행 손계산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6행 · 7/1 주간 · SF-01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0" y="2781300"/>
            <a:ext cx="79629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운전시간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3500" y="3448050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8750" y="3448050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480 − 12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500" y="3448050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39750" y="3448050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468분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가동률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0" y="4044043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750" y="4044043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468 ÷ 480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44500" y="4044043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39750" y="4044043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97.5%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이론시간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4640036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8750" y="4640036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6.5 × 4,065 ÷ 60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144500" y="4640036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39750" y="4640036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440.4분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43500" y="5236029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8750" y="5236029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440.4 ÷ 468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144500" y="5236029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39750" y="5236029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94.1%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양품률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43500" y="5832021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8750" y="5832021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3,952 ÷ 4,065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144500" y="5832021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239750" y="5832021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97.2%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43500" y="6428014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38750" y="6428014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요소의 곱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144500" y="6428014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39750" y="6428014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89.2%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43500" y="7024007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38750" y="7024007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6.5 × 3,952 ÷ 60 ÷ 480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144500" y="7024007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239750" y="7024007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89.2%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계획 480 · 비가동 12 · 이론CT 6.5초 · 생산 4,065 · 양품 3,952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1교시 · 이론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한 행 손계산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직접 해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18행 손계산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7/1 야간 SF-01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검산과 0.1%p 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풀이 대조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 다섯 개만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붙여 넣고 비교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흔한 오답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초·분 단위 혼동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성능 분모 착각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회사 실제 데이터라면 숫자 몇 개라도 보안정책부터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1교시 · 이론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= 가동률 × 성능 × 양품률 — 더하지 않고 곱한다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분모는 각각 계획가동 · 운전시간 · 생산수량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이론CT(초) × 생산수량 ÷ 60 = 이론시간(분)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검산: 이론CT × 양품 ÷ 60 ÷ 계획가동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하나보다 세 요소를 함께 봐야 고칠 곳이 보인다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1교시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1교시 · 이론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공정능력지수(Cp·Cpk)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 손실을 보는 OEE 에 이어, 품질 측정값의 퍼짐과 쏠림을 보는 지표를 익힙니다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규격 한계 LSL · USL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평균과 표준편차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 와 Cpk 의 차이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한쪽 규격 계산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03_quality_measure.xlsx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