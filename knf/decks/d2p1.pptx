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8288000" cy="10287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4192250" y="-2381250"/>
            <a:ext cx="7429500" cy="7429500"/>
          </a:xfrm>
          <a:prstGeom prst="ellipse">
            <a:avLst/>
          </a:prstGeom>
          <a:solidFill>
            <a:srgbClr val="F0F7F7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5430500" y="-1143000"/>
            <a:ext cx="4953000" cy="49530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5906750" y="5905500"/>
            <a:ext cx="4953000" cy="4953000"/>
          </a:xfrm>
          <a:prstGeom prst="ellipse">
            <a:avLst/>
          </a:prstGeom>
          <a:solidFill>
            <a:srgbClr val="F5F6F7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-1714500" y="2857500"/>
            <a:ext cx="2857500" cy="28575"/>
          </a:xfrm>
          <a:prstGeom prst="rect">
            <a:avLst/>
          </a:prstGeom>
          <a:solidFill>
            <a:srgbClr val="E6EAED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-2857500" y="6953250"/>
            <a:ext cx="6953250" cy="6953250"/>
          </a:xfrm>
          <a:prstGeom prst="ellipse">
            <a:avLst/>
          </a:prstGeom>
          <a:solidFill>
            <a:srgbClr val="ECF5F5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-1581150" y="8229600"/>
            <a:ext cx="4400550" cy="440055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3390900" y="8953500"/>
            <a:ext cx="742950" cy="742950"/>
          </a:xfrm>
          <a:prstGeom prst="ellipse">
            <a:avLst/>
          </a:prstGeom>
          <a:solidFill>
            <a:srgbClr val="EBEEF0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4457700" y="9563100"/>
            <a:ext cx="342900" cy="342900"/>
          </a:xfrm>
          <a:prstGeom prst="ellipse">
            <a:avLst/>
          </a:prstGeom>
          <a:solidFill>
            <a:srgbClr val="DFEDE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143000" y="9639300"/>
            <a:ext cx="1619250" cy="28575"/>
          </a:xfrm>
          <a:prstGeom prst="rect">
            <a:avLst/>
          </a:prstGeom>
          <a:solidFill>
            <a:srgbClr val="E6EAED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43000" y="348615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spc="12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2일차 1교시 · KPI 분석 기초와 공정별 분석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" y="3905250"/>
            <a:ext cx="16002000" cy="14660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300" b="1" spc="-347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설비종합효율(OEE)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43000" y="5580888"/>
            <a:ext cx="160020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300" b="1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가동률 × 성능 × 양품률 — 세 개의 체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72500" y="7677150"/>
            <a:ext cx="8572500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50000"/>
              </a:lnSpc>
            </a:pPr>
            <a:r>
              <a:rPr sz="1950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생산안전본부 및 품질환경단 직무훈련</a:t>
            </a:r>
          </a:p>
          <a:p>
            <a:pPr algn="r">
              <a:lnSpc>
                <a:spcPct val="150000"/>
              </a:lnSpc>
            </a:pPr>
            <a:r>
              <a:rPr sz="1950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2026. 10. 12.~15.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이 시간의 목표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50분 뒤에는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33909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90650" y="353377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90650" y="36576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①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90750" y="33909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OEE 세 요소가 각각 무엇을 재는지 설명한다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43815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390650" y="452437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90650" y="46482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②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90750" y="43815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6대 손실이 세 요소 중 어디를 깎는지 연결한다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53721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390650" y="551497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90650" y="56388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90750" y="53721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생산일지 한 행으로 OEE 를 손계산하고 검산한다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6953250"/>
            <a:ext cx="16002000" cy="876300"/>
          </a:xfrm>
          <a:prstGeom prst="roundRect">
            <a:avLst>
              <a:gd name="adj" fmla="val 5434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143000" y="72009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공정 전체의 OEE 는 3교시에 AI 와 Excel 로 직접 산출합니다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2일차 1교시 · 이론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1. 세 개의 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계획 시간이 세 번 걸러진다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3814762" cy="70485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3814762" cy="704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4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계획가동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143000" y="3657600"/>
            <a:ext cx="3814762" cy="1428750"/>
          </a:xfrm>
          <a:prstGeom prst="roundRect">
            <a:avLst>
              <a:gd name="adj" fmla="val 333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276350" y="3657600"/>
            <a:ext cx="3548062" cy="1428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교대당</a:t>
            </a:r>
          </a:p>
          <a:p>
            <a:pPr algn="ctr">
              <a:lnSpc>
                <a:spcPct val="13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480분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4976812" y="3028950"/>
            <a:ext cx="209550" cy="209550"/>
          </a:xfrm>
          <a:prstGeom prst="rightArrow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205412" y="2781300"/>
            <a:ext cx="3814762" cy="7048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205412" y="2781300"/>
            <a:ext cx="3814762" cy="704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4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운전시간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205412" y="3657600"/>
            <a:ext cx="3814762" cy="1428750"/>
          </a:xfrm>
          <a:prstGeom prst="roundRect">
            <a:avLst>
              <a:gd name="adj" fmla="val 333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338762" y="3657600"/>
            <a:ext cx="3548062" cy="1428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− 비가동</a:t>
            </a:r>
          </a:p>
          <a:p>
            <a:pPr algn="ctr">
              <a:lnSpc>
                <a:spcPct val="13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(가동률)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9039225" y="3028950"/>
            <a:ext cx="209550" cy="209550"/>
          </a:xfrm>
          <a:prstGeom prst="rightArrow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9267825" y="2781300"/>
            <a:ext cx="3814762" cy="70485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267825" y="2781300"/>
            <a:ext cx="3814762" cy="704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4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이론시간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267825" y="3657600"/>
            <a:ext cx="3814762" cy="1428750"/>
          </a:xfrm>
          <a:prstGeom prst="roundRect">
            <a:avLst>
              <a:gd name="adj" fmla="val 333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401175" y="3657600"/>
            <a:ext cx="3548062" cy="1428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− 느린 속도</a:t>
            </a:r>
          </a:p>
          <a:p>
            <a:pPr algn="ctr">
              <a:lnSpc>
                <a:spcPct val="13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(성능)</a:t>
            </a:r>
          </a:p>
        </p:txBody>
      </p:sp>
      <p:sp>
        <p:nvSpPr>
          <p:cNvPr id="22" name="Right Arrow 21"/>
          <p:cNvSpPr/>
          <p:nvPr/>
        </p:nvSpPr>
        <p:spPr>
          <a:xfrm>
            <a:off x="13101638" y="3028950"/>
            <a:ext cx="209550" cy="209550"/>
          </a:xfrm>
          <a:prstGeom prst="rightArrow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13330238" y="2781300"/>
            <a:ext cx="3814762" cy="7048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3330238" y="2781300"/>
            <a:ext cx="3814762" cy="704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4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가치시간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3330238" y="3657600"/>
            <a:ext cx="3814762" cy="1428750"/>
          </a:xfrm>
          <a:prstGeom prst="roundRect">
            <a:avLst>
              <a:gd name="adj" fmla="val 333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3463588" y="3657600"/>
            <a:ext cx="3548062" cy="1428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− 불량</a:t>
            </a:r>
          </a:p>
          <a:p>
            <a:pPr algn="ctr">
              <a:lnSpc>
                <a:spcPct val="13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(양품률)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1143000" y="5467350"/>
            <a:ext cx="16002000" cy="742950"/>
          </a:xfrm>
          <a:prstGeom prst="roundRect">
            <a:avLst>
              <a:gd name="adj" fmla="val 6410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143000" y="5467350"/>
            <a:ext cx="16002000" cy="7429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OEE = 가치시간 ÷ 계획가동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세 체를 모두 통과하고 남은 비율이 OEE — 그래서 더하지 않고 곱한다</a:t>
            </a:r>
          </a:p>
        </p:txBody>
      </p:sp>
      <p:sp>
        <p:nvSpPr>
          <p:cNvPr id="30" name="Rectangle 29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2일차 1교시 · 이론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1. 세 개의 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세 요소의 계산식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3162300" cy="59055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31623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요소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43400" y="2781300"/>
            <a:ext cx="716280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343400" y="2781300"/>
            <a:ext cx="71628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계산식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1544300" y="2781300"/>
            <a:ext cx="560070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544300" y="2781300"/>
            <a:ext cx="56007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재는 것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3448050"/>
            <a:ext cx="316230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38250" y="3448050"/>
            <a:ext cx="29718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가동률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343400" y="3448050"/>
            <a:ext cx="71628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438650" y="3448050"/>
            <a:ext cx="69723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(계획 − 비가동) ÷ 계획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544300" y="3448050"/>
            <a:ext cx="56007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1639550" y="3448050"/>
            <a:ext cx="54102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멈추지 않고 돌았나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4171950"/>
            <a:ext cx="316230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38250" y="4171950"/>
            <a:ext cx="29718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성능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343400" y="4171950"/>
            <a:ext cx="71628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438650" y="4171950"/>
            <a:ext cx="69723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이론CT × 생산 ÷ 운전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544300" y="4171950"/>
            <a:ext cx="56007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639550" y="4171950"/>
            <a:ext cx="54102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제 속도를 냈나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143000" y="4895850"/>
            <a:ext cx="316230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238250" y="4895850"/>
            <a:ext cx="29718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양품률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343400" y="4895850"/>
            <a:ext cx="71628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438650" y="4895850"/>
            <a:ext cx="69723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양품 ÷ 생산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1544300" y="4895850"/>
            <a:ext cx="56007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1639550" y="4895850"/>
            <a:ext cx="54102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좋은 것의 비율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143000" y="5619750"/>
            <a:ext cx="316230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238250" y="5619750"/>
            <a:ext cx="29718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OEE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343400" y="5619750"/>
            <a:ext cx="71628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438650" y="5619750"/>
            <a:ext cx="69723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가동률 × 성능 × 양품률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11544300" y="5619750"/>
            <a:ext cx="56007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1639550" y="5619750"/>
            <a:ext cx="54102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가치 있는 시간 비율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이론CT 는 초 단위 — 성능 계산에서 60 으로 나눠 분으로 맞춘다</a:t>
            </a:r>
          </a:p>
        </p:txBody>
      </p:sp>
      <p:sp>
        <p:nvSpPr>
          <p:cNvPr id="39" name="Rectangle 38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2일차 1교시 · 이론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1. 세 개의 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검산 한 줄 — 곱하면 약분된다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933700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447800" y="3181350"/>
            <a:ext cx="590550" cy="59055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447800" y="3333750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324100" y="3143250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세 요소를 곱하면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324100" y="3543300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운전시간과 생산수량이 위아래로 약분된다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143000" y="4200525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447800" y="4448175"/>
            <a:ext cx="590550" cy="59055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47800" y="4600575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324100" y="4410075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남는 것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324100" y="4810125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양품을 이론 속도로 만들었다면 걸렸을 시간 ÷ 계획 시간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43000" y="5467350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447800" y="5715000"/>
            <a:ext cx="590550" cy="59055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447800" y="5867400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324100" y="5676900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쓰는 법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24100" y="6076950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세 요소의 곱과 검산 값이 다르면 어딘가 계산이 틀린 것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3144500" y="2933700"/>
            <a:ext cx="4000500" cy="3629025"/>
          </a:xfrm>
          <a:prstGeom prst="roundRect">
            <a:avLst>
              <a:gd name="adj" fmla="val 131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3487400" y="3929062"/>
            <a:ext cx="33147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spc="19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검산식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487400" y="4329112"/>
            <a:ext cx="3314700" cy="1238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8000"/>
              </a:lnSpc>
            </a:pPr>
            <a:r>
              <a:rPr sz="27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이론CT×양품</a:t>
            </a:r>
          </a:p>
          <a:p>
            <a:pPr algn="l">
              <a:lnSpc>
                <a:spcPct val="138000"/>
              </a:lnSpc>
            </a:pPr>
            <a:r>
              <a:rPr sz="27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÷60÷계획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2일차 1교시 · 이론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2. 6대 손실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손실마다 깎는 요소가 정해져 있다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6362700" cy="59055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63627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6대 손실</a:t>
            </a:r>
          </a:p>
        </p:txBody>
      </p:sp>
      <p:sp>
        <p:nvSpPr>
          <p:cNvPr id="10" name="Rectangle 9"/>
          <p:cNvSpPr/>
          <p:nvPr/>
        </p:nvSpPr>
        <p:spPr>
          <a:xfrm>
            <a:off x="7543800" y="2781300"/>
            <a:ext cx="396240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543800" y="2781300"/>
            <a:ext cx="39624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깎는 요소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1544300" y="2781300"/>
            <a:ext cx="560070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544300" y="2781300"/>
            <a:ext cx="56007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이 라인의 예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3448050"/>
            <a:ext cx="6362700" cy="619125"/>
          </a:xfrm>
          <a:prstGeom prst="roundRect">
            <a:avLst>
              <a:gd name="adj" fmla="val 6153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38250" y="3448050"/>
            <a:ext cx="61722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① 고장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543800" y="3448050"/>
            <a:ext cx="396240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639050" y="3448050"/>
            <a:ext cx="37719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가동률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544300" y="3448050"/>
            <a:ext cx="560070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1639550" y="3448050"/>
            <a:ext cx="54102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온도 이상 정지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4143375"/>
            <a:ext cx="6362700" cy="619125"/>
          </a:xfrm>
          <a:prstGeom prst="roundRect">
            <a:avLst>
              <a:gd name="adj" fmla="val 6153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38250" y="4143375"/>
            <a:ext cx="61722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② 준비·교체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543800" y="4143375"/>
            <a:ext cx="396240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639050" y="4143375"/>
            <a:ext cx="37719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가동률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544300" y="4143375"/>
            <a:ext cx="560070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639550" y="4143375"/>
            <a:ext cx="54102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금형·공구 교체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143000" y="4838700"/>
            <a:ext cx="6362700" cy="619125"/>
          </a:xfrm>
          <a:prstGeom prst="roundRect">
            <a:avLst>
              <a:gd name="adj" fmla="val 6153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238250" y="4838700"/>
            <a:ext cx="61722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③ 공회전·순간정지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543800" y="4838700"/>
            <a:ext cx="396240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639050" y="4838700"/>
            <a:ext cx="37719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성능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1544300" y="4838700"/>
            <a:ext cx="560070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1639550" y="4838700"/>
            <a:ext cx="54102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기록 없음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143000" y="5534025"/>
            <a:ext cx="6362700" cy="619125"/>
          </a:xfrm>
          <a:prstGeom prst="roundRect">
            <a:avLst>
              <a:gd name="adj" fmla="val 6153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238250" y="5534025"/>
            <a:ext cx="61722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④ 속도저하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7543800" y="5534025"/>
            <a:ext cx="396240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639050" y="5534025"/>
            <a:ext cx="37719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성능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11544300" y="5534025"/>
            <a:ext cx="560070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1639550" y="5534025"/>
            <a:ext cx="54102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기록 없음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143000" y="6229350"/>
            <a:ext cx="6362700" cy="619125"/>
          </a:xfrm>
          <a:prstGeom prst="roundRect">
            <a:avLst>
              <a:gd name="adj" fmla="val 6153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238250" y="6229350"/>
            <a:ext cx="61722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⑤ 불량·재작업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7543800" y="6229350"/>
            <a:ext cx="396240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7639050" y="6229350"/>
            <a:ext cx="37719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양품률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11544300" y="6229350"/>
            <a:ext cx="560070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1639550" y="6229350"/>
            <a:ext cx="54102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생산 − 양품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1143000" y="6924675"/>
            <a:ext cx="6362700" cy="619125"/>
          </a:xfrm>
          <a:prstGeom prst="roundRect">
            <a:avLst>
              <a:gd name="adj" fmla="val 6153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238250" y="6924675"/>
            <a:ext cx="61722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⑥ 초기수율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7543800" y="6924675"/>
            <a:ext cx="396240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7639050" y="6924675"/>
            <a:ext cx="37719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양품률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11544300" y="6924675"/>
            <a:ext cx="560070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11639550" y="6924675"/>
            <a:ext cx="54102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구분 기록 없음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공회전·속도저하는 사유로 기록되지 않고 성능 수치로만 드러난다</a:t>
            </a:r>
          </a:p>
        </p:txBody>
      </p:sp>
      <p:sp>
        <p:nvSpPr>
          <p:cNvPr id="51" name="Rectangle 50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2일차 1교시 · 이론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3. 한 행 손계산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6행 · 7/1 주간 · SF-01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3962400" cy="59055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39624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순서</a:t>
            </a:r>
          </a:p>
        </p:txBody>
      </p:sp>
      <p:sp>
        <p:nvSpPr>
          <p:cNvPr id="10" name="Rectangle 9"/>
          <p:cNvSpPr/>
          <p:nvPr/>
        </p:nvSpPr>
        <p:spPr>
          <a:xfrm>
            <a:off x="5143500" y="2781300"/>
            <a:ext cx="796290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143500" y="2781300"/>
            <a:ext cx="79629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계산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3144500" y="2781300"/>
            <a:ext cx="400050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144500" y="2781300"/>
            <a:ext cx="40005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결과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3448050"/>
            <a:ext cx="3962400" cy="519793"/>
          </a:xfrm>
          <a:prstGeom prst="roundRect">
            <a:avLst>
              <a:gd name="adj" fmla="val 7329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38250" y="3448050"/>
            <a:ext cx="377190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운전시간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143500" y="3448050"/>
            <a:ext cx="796290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238750" y="3448050"/>
            <a:ext cx="777240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480 − 12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3144500" y="3448050"/>
            <a:ext cx="400050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3239750" y="3448050"/>
            <a:ext cx="381000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468분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4044043"/>
            <a:ext cx="3962400" cy="519793"/>
          </a:xfrm>
          <a:prstGeom prst="roundRect">
            <a:avLst>
              <a:gd name="adj" fmla="val 7329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38250" y="4044043"/>
            <a:ext cx="377190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가동률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143500" y="4044043"/>
            <a:ext cx="796290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238750" y="4044043"/>
            <a:ext cx="777240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468 ÷ 480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3144500" y="4044043"/>
            <a:ext cx="400050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3239750" y="4044043"/>
            <a:ext cx="381000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97.5%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143000" y="4640036"/>
            <a:ext cx="3962400" cy="519793"/>
          </a:xfrm>
          <a:prstGeom prst="roundRect">
            <a:avLst>
              <a:gd name="adj" fmla="val 7329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238250" y="4640036"/>
            <a:ext cx="377190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이론시간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143500" y="4640036"/>
            <a:ext cx="796290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238750" y="4640036"/>
            <a:ext cx="777240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6.5 × 4,065 ÷ 60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3144500" y="4640036"/>
            <a:ext cx="400050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3239750" y="4640036"/>
            <a:ext cx="381000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440.4분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143000" y="5236029"/>
            <a:ext cx="3962400" cy="519793"/>
          </a:xfrm>
          <a:prstGeom prst="roundRect">
            <a:avLst>
              <a:gd name="adj" fmla="val 7329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238250" y="5236029"/>
            <a:ext cx="377190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성능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143500" y="5236029"/>
            <a:ext cx="796290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238750" y="5236029"/>
            <a:ext cx="777240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440.4 ÷ 468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13144500" y="5236029"/>
            <a:ext cx="400050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3239750" y="5236029"/>
            <a:ext cx="381000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94.1%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143000" y="5832021"/>
            <a:ext cx="3962400" cy="519793"/>
          </a:xfrm>
          <a:prstGeom prst="roundRect">
            <a:avLst>
              <a:gd name="adj" fmla="val 7329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238250" y="5832021"/>
            <a:ext cx="377190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양품률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5143500" y="5832021"/>
            <a:ext cx="796290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238750" y="5832021"/>
            <a:ext cx="777240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3,952 ÷ 4,065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13144500" y="5832021"/>
            <a:ext cx="400050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3239750" y="5832021"/>
            <a:ext cx="381000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97.2%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1143000" y="6428014"/>
            <a:ext cx="3962400" cy="519793"/>
          </a:xfrm>
          <a:prstGeom prst="roundRect">
            <a:avLst>
              <a:gd name="adj" fmla="val 7329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238250" y="6428014"/>
            <a:ext cx="377190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OEE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5143500" y="6428014"/>
            <a:ext cx="796290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238750" y="6428014"/>
            <a:ext cx="777240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세 요소의 곱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13144500" y="6428014"/>
            <a:ext cx="400050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13239750" y="6428014"/>
            <a:ext cx="381000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89.2%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1143000" y="7024007"/>
            <a:ext cx="3962400" cy="519793"/>
          </a:xfrm>
          <a:prstGeom prst="roundRect">
            <a:avLst>
              <a:gd name="adj" fmla="val 7329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1238250" y="7024007"/>
            <a:ext cx="377190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검산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5143500" y="7024007"/>
            <a:ext cx="796290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5238750" y="7024007"/>
            <a:ext cx="777240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6.5 × 3,952 ÷ 60 ÷ 480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13144500" y="7024007"/>
            <a:ext cx="400050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13239750" y="7024007"/>
            <a:ext cx="381000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89.2%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계획 480 · 비가동 12 · 이론CT 6.5초 · 생산 4,065 · 양품 3,952</a:t>
            </a:r>
          </a:p>
        </p:txBody>
      </p:sp>
      <p:sp>
        <p:nvSpPr>
          <p:cNvPr id="57" name="Rectangle 56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2일차 1교시 · 이론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3. 한 행 손계산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직접 해 보기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3429000"/>
            <a:ext cx="5080000" cy="2476500"/>
          </a:xfrm>
          <a:prstGeom prst="roundRect">
            <a:avLst>
              <a:gd name="adj" fmla="val 1923"/>
            </a:avLst>
          </a:prstGeom>
          <a:solidFill>
            <a:srgbClr val="0E2F4F"/>
          </a:solidFill>
          <a:ln w="9525">
            <a:solidFill>
              <a:srgbClr val="0E2F4F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3429000"/>
            <a:ext cx="5080000" cy="47625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365750" y="36385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3B4B7C"/>
                </a:solidFill>
                <a:latin typeface="Pretendard"/>
                <a:ea typeface="Pretendard"/>
                <a:cs typeface="Pretendard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66850" y="3752850"/>
            <a:ext cx="4432300" cy="182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31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18행 손계산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250" b="0">
                <a:solidFill>
                  <a:srgbClr val="D9E2F0"/>
                </a:solidFill>
                <a:latin typeface="Pretendard"/>
                <a:ea typeface="Pretendard"/>
                <a:cs typeface="Pretendard"/>
              </a:rPr>
              <a:t>7/1 야간 SF-01</a:t>
            </a:r>
          </a:p>
          <a:p>
            <a:pPr>
              <a:lnSpc>
                <a:spcPct val="146000"/>
              </a:lnSpc>
            </a:pPr>
            <a:r>
              <a:rPr sz="2250" b="0">
                <a:solidFill>
                  <a:srgbClr val="D9E2F0"/>
                </a:solidFill>
                <a:latin typeface="Pretendard"/>
                <a:ea typeface="Pretendard"/>
                <a:cs typeface="Pretendard"/>
              </a:rPr>
              <a:t>검산과 0.1%p 안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604000" y="3429000"/>
            <a:ext cx="5080000" cy="2476500"/>
          </a:xfrm>
          <a:prstGeom prst="roundRect">
            <a:avLst>
              <a:gd name="adj" fmla="val 192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604000" y="3429000"/>
            <a:ext cx="5080000" cy="47625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826750" y="36385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27850" y="3752850"/>
            <a:ext cx="4432300" cy="182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315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AI 풀이 대조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숫자 다섯 개만</a:t>
            </a:r>
          </a:p>
          <a:p>
            <a:pPr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붙여 넣고 비교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2065000" y="3429000"/>
            <a:ext cx="5080000" cy="2476500"/>
          </a:xfrm>
          <a:prstGeom prst="roundRect">
            <a:avLst>
              <a:gd name="adj" fmla="val 192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2065000" y="3429000"/>
            <a:ext cx="5080000" cy="47625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6287750" y="36385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388850" y="3752850"/>
            <a:ext cx="4432300" cy="182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315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흔한 오답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초·분 단위 혼동</a:t>
            </a:r>
          </a:p>
          <a:p>
            <a:pPr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성능 분모 착각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143000" y="6496050"/>
            <a:ext cx="47625" cy="7239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390650" y="6553200"/>
            <a:ext cx="157543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202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회사 실제 데이터라면 숫자 몇 개라도 보안정책부터 확인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2일차 1교시 · 이론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정리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이 시간에서 꼭 가져갈 것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9908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90650" y="313372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90650" y="32575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90750" y="29908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OEE = 가동률 × 성능 × 양품률 — 더하지 않고 곱한다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39814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390650" y="412432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90650" y="42481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90750" y="39814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분모는 각각 계획가동 · 운전시간 · 생산수량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49720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390650" y="511492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90650" y="52387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90750" y="49720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이론CT(초) × 생산수량 ÷ 60 = 이론시간(분)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59626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390650" y="610552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390650" y="62293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190750" y="59626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검산: 이론CT × 양품 ÷ 60 ÷ 계획가동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43000" y="69532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390650" y="709612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390650" y="72199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190750" y="69532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OEE 하나보다 세 요소를 함께 봐야 고칠 곳이 보인다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2일차 1교시 · 이론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4859000" y="6667500"/>
            <a:ext cx="5905500" cy="59055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2095500" y="-2095500"/>
            <a:ext cx="4381500" cy="4381500"/>
          </a:xfrm>
          <a:prstGeom prst="ellipse">
            <a:avLst/>
          </a:prstGeom>
          <a:solidFill>
            <a:srgbClr val="F5F6F7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335280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2일차 1교시 · 이론 마무리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3771900"/>
            <a:ext cx="16002000" cy="800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다음은 공정능력지수(Cp·Cpk)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" y="47244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4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시간 손실을 보는 OEE 에 이어, 품질 측정값의 퍼짐과 쏠림을 보는 지표를 익힙니다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143000" y="52578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428750" y="54864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05000" y="54864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규격 한계 LSL · USL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372600" y="52578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58350" y="54864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134600" y="54864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평균과 표준편차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62865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28750" y="65151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05000" y="65151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Cp 와 Cpk 의 차이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372600" y="62865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658350" y="65151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134600" y="65151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한쪽 규격 계산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143000" y="7715250"/>
            <a:ext cx="47625" cy="8191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409700" y="7734300"/>
            <a:ext cx="85725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spc="14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준비할 것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9700" y="8077200"/>
            <a:ext cx="85725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03_quality_measure.xlsx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