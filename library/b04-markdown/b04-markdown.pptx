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74" r:id="rId12"/>
    <p:sldId id="275" r:id="rId26"/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6" r:id="rId2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1587" y="8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9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686513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hyperlink" Target="mailto:aebon@dreamitbiz.com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1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1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image" Target="../media/image1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Relationship Id="rId6" Type="http://schemas.openxmlformats.org/officeDocument/2006/relationships/image" Target="../media/image2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image" Target="../media/image32.png"/><Relationship Id="rId6" Type="http://schemas.openxmlformats.org/officeDocument/2006/relationships/image" Target="../media/image1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Relationship Id="rId4" Type="http://schemas.openxmlformats.org/officeDocument/2006/relationships/image" Target="../media/image36.png"/><Relationship Id="rId5" Type="http://schemas.openxmlformats.org/officeDocument/2006/relationships/image" Target="../media/image37.png"/><Relationship Id="rId6" Type="http://schemas.openxmlformats.org/officeDocument/2006/relationships/image" Target="../media/image3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9.png"/><Relationship Id="rId4" Type="http://schemas.openxmlformats.org/officeDocument/2006/relationships/image" Target="../media/image40.png"/><Relationship Id="rId5" Type="http://schemas.openxmlformats.org/officeDocument/2006/relationships/image" Target="../media/image41.png"/><Relationship Id="rId6" Type="http://schemas.openxmlformats.org/officeDocument/2006/relationships/image" Target="../media/image42.png"/><Relationship Id="rId7" Type="http://schemas.openxmlformats.org/officeDocument/2006/relationships/image" Target="../media/image43.png"/><Relationship Id="rId8" Type="http://schemas.openxmlformats.org/officeDocument/2006/relationships/image" Target="../media/image44.png"/><Relationship Id="rId9" Type="http://schemas.openxmlformats.org/officeDocument/2006/relationships/image" Target="../media/image45.png"/><Relationship Id="rId10" Type="http://schemas.openxmlformats.org/officeDocument/2006/relationships/image" Target="../media/image4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7.png"/><Relationship Id="rId4" Type="http://schemas.openxmlformats.org/officeDocument/2006/relationships/image" Target="../media/image48.png"/><Relationship Id="rId5" Type="http://schemas.openxmlformats.org/officeDocument/2006/relationships/image" Target="../media/image49.png"/><Relationship Id="rId6" Type="http://schemas.openxmlformats.org/officeDocument/2006/relationships/image" Target="../media/image50.png"/><Relationship Id="rId7" Type="http://schemas.openxmlformats.org/officeDocument/2006/relationships/image" Target="../media/image51.png"/><Relationship Id="rId8" Type="http://schemas.openxmlformats.org/officeDocument/2006/relationships/image" Target="../media/image52.png"/><Relationship Id="rId9" Type="http://schemas.openxmlformats.org/officeDocument/2006/relationships/image" Target="../media/image53.png"/><Relationship Id="rId10" Type="http://schemas.openxmlformats.org/officeDocument/2006/relationships/image" Target="../media/image5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5.png"/><Relationship Id="rId4" Type="http://schemas.openxmlformats.org/officeDocument/2006/relationships/image" Target="../media/image56.png"/><Relationship Id="rId5" Type="http://schemas.openxmlformats.org/officeDocument/2006/relationships/image" Target="../media/image57.png"/><Relationship Id="rId6" Type="http://schemas.openxmlformats.org/officeDocument/2006/relationships/image" Target="../media/image1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8.png"/><Relationship Id="rId4" Type="http://schemas.openxmlformats.org/officeDocument/2006/relationships/image" Target="../media/image59.png"/><Relationship Id="rId5" Type="http://schemas.openxmlformats.org/officeDocument/2006/relationships/image" Target="../media/image6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1.png"/><Relationship Id="rId4" Type="http://schemas.openxmlformats.org/officeDocument/2006/relationships/image" Target="../media/image62.png"/><Relationship Id="rId5" Type="http://schemas.openxmlformats.org/officeDocument/2006/relationships/image" Target="../media/image63.png"/><Relationship Id="rId6" Type="http://schemas.openxmlformats.org/officeDocument/2006/relationships/image" Target="../media/image64.png"/><Relationship Id="rId7" Type="http://schemas.openxmlformats.org/officeDocument/2006/relationships/image" Target="../media/image65.png"/><Relationship Id="rId8" Type="http://schemas.openxmlformats.org/officeDocument/2006/relationships/image" Target="../media/image66.png"/><Relationship Id="rId9" Type="http://schemas.openxmlformats.org/officeDocument/2006/relationships/image" Target="../media/image67.png"/><Relationship Id="rId10" Type="http://schemas.openxmlformats.org/officeDocument/2006/relationships/image" Target="../media/image6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9.png"/><Relationship Id="rId4" Type="http://schemas.openxmlformats.org/officeDocument/2006/relationships/image" Target="../media/image70.png"/><Relationship Id="rId5" Type="http://schemas.openxmlformats.org/officeDocument/2006/relationships/image" Target="../media/image71.png"/><Relationship Id="rId6" Type="http://schemas.openxmlformats.org/officeDocument/2006/relationships/image" Target="../media/image72.png"/><Relationship Id="rId7" Type="http://schemas.openxmlformats.org/officeDocument/2006/relationships/image" Target="../media/image73.png"/><Relationship Id="rId8" Type="http://schemas.openxmlformats.org/officeDocument/2006/relationships/image" Target="../media/image74.png"/><Relationship Id="rId9" Type="http://schemas.openxmlformats.org/officeDocument/2006/relationships/image" Target="../media/image7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76.png"/><Relationship Id="rId4" Type="http://schemas.openxmlformats.org/officeDocument/2006/relationships/image" Target="../media/image77.png"/><Relationship Id="rId5" Type="http://schemas.openxmlformats.org/officeDocument/2006/relationships/image" Target="../media/image78.png"/><Relationship Id="rId6" Type="http://schemas.openxmlformats.org/officeDocument/2006/relationships/image" Target="../media/image79.png"/><Relationship Id="rId7" Type="http://schemas.openxmlformats.org/officeDocument/2006/relationships/image" Target="../media/image80.png"/><Relationship Id="rId8" Type="http://schemas.openxmlformats.org/officeDocument/2006/relationships/image" Target="../media/image8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93B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0" y="6819595"/>
            <a:ext cx="12191695" cy="38405"/>
          </a:xfrm>
          <a:prstGeom prst="rect">
            <a:avLst/>
          </a:prstGeom>
          <a:solidFill>
            <a:srgbClr val="2563EB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-952805" y="-952805"/>
            <a:ext cx="4762195" cy="4762195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8858707" y="3524098"/>
            <a:ext cx="3810305" cy="3810305"/>
          </a:xfrm>
          <a:prstGeom prst="ellipse">
            <a:avLst/>
          </a:prstGeom>
          <a:solidFill>
            <a:srgbClr val="4F46E5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3238805" y="571500"/>
            <a:ext cx="5715000" cy="5715000"/>
          </a:xfrm>
          <a:prstGeom prst="ellipse">
            <a:avLst/>
          </a:prstGeom>
          <a:solidFill>
            <a:srgbClr val="1E40A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3238805" y="571500"/>
            <a:ext cx="5715000" cy="5715000"/>
          </a:xfrm>
          <a:prstGeom prst="ellipse">
            <a:avLst/>
          </a:prstGeom>
          <a:noFill/>
          <a:ln w="12700">
            <a:solidFill>
              <a:srgbClr val="3B82F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2286000" y="-381305"/>
            <a:ext cx="7619695" cy="7619695"/>
          </a:xfrm>
          <a:prstGeom prst="ellipse">
            <a:avLst/>
          </a:prstGeom>
          <a:noFill/>
          <a:ln w="12700">
            <a:solidFill>
              <a:srgbClr val="3B82F6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1333195" y="-1333195"/>
            <a:ext cx="9525305" cy="9525305"/>
          </a:xfrm>
          <a:prstGeom prst="ellipse">
            <a:avLst/>
          </a:prstGeom>
          <a:noFill/>
          <a:ln w="12700">
            <a:solidFill>
              <a:srgbClr val="3B82F6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 txBox="1"/>
          <p:nvPr/>
        </p:nvSpPr>
        <p:spPr>
          <a:xfrm>
            <a:off x="1138428" y="1289405"/>
            <a:ext cx="88605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>
                    <a:alpha val="3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Markdown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9720986" y="1733702"/>
            <a:ext cx="7242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>
                    <a:alpha val="3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**Bold**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1828800" y="5305349"/>
            <a:ext cx="96286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>
                    <a:alpha val="3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[Link](url)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10490911" y="5648249"/>
            <a:ext cx="56235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>
                    <a:alpha val="3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`code`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6882689" y="724205"/>
            <a:ext cx="17337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94A3B8">
                    <a:alpha val="1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Blockquote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1295705" y="1713586"/>
            <a:ext cx="557235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0" b="1" kern="0" spc="-18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마크다운</a:t>
            </a:r>
            <a:endParaRPr lang="en-US" sz="7200" dirty="0"/>
          </a:p>
        </p:txBody>
      </p:sp>
      <p:sp>
        <p:nvSpPr>
          <p:cNvPr id="20" name="Text 18"/>
          <p:cNvSpPr txBox="1"/>
          <p:nvPr/>
        </p:nvSpPr>
        <p:spPr>
          <a:xfrm>
            <a:off x="223114" y="2906878"/>
            <a:ext cx="7464247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kern="0" spc="-135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실전 마스터 클래스</a:t>
            </a:r>
            <a:endParaRPr lang="en-US" sz="5400" dirty="0"/>
          </a:p>
        </p:txBody>
      </p:sp>
      <p:sp>
        <p:nvSpPr>
          <p:cNvPr id="21" name="Text 19"/>
          <p:cNvSpPr txBox="1"/>
          <p:nvPr/>
        </p:nvSpPr>
        <p:spPr>
          <a:xfrm>
            <a:off x="1356970" y="4198010"/>
            <a:ext cx="4715561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대학생을 위한 문서 작성의 기술.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1323137" y="4637837"/>
            <a:ext cx="5759806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기본</a:t>
            </a:r>
            <a:r>
              <a:rPr lang="en-US" sz="18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800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문법부터</a:t>
            </a:r>
            <a:r>
              <a:rPr lang="en-US" sz="18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800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노션</a:t>
            </a:r>
            <a:r>
              <a:rPr lang="en-US" sz="18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(Notion) 활용까지 완벽하게.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8389620" y="2644445"/>
            <a:ext cx="3047695" cy="972007"/>
          </a:xfrm>
          <a:prstGeom prst="roundRect">
            <a:avLst>
              <a:gd name="adj" fmla="val 22135"/>
            </a:avLst>
          </a:prstGeom>
          <a:solidFill>
            <a:srgbClr val="0F172A">
              <a:alpha val="60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 txBox="1"/>
          <p:nvPr/>
        </p:nvSpPr>
        <p:spPr>
          <a:xfrm>
            <a:off x="9164117" y="2882189"/>
            <a:ext cx="149961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기본 문법과 원리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8823960" y="3187598"/>
            <a:ext cx="21817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태그 • 구조화 • 미니 실습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466430" y="3717036"/>
            <a:ext cx="3047695" cy="972007"/>
          </a:xfrm>
          <a:prstGeom prst="roundRect">
            <a:avLst>
              <a:gd name="adj" fmla="val 22135"/>
            </a:avLst>
          </a:prstGeom>
          <a:solidFill>
            <a:srgbClr val="0F172A">
              <a:alpha val="60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 txBox="1"/>
          <p:nvPr/>
        </p:nvSpPr>
        <p:spPr>
          <a:xfrm>
            <a:off x="8823960" y="3954780"/>
            <a:ext cx="22293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실전 활용 &amp; </a:t>
            </a:r>
            <a:r>
              <a:rPr lang="en-US" sz="1300" b="1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노션</a:t>
            </a: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&amp; </a:t>
            </a:r>
            <a:r>
              <a:rPr lang="en-US" sz="1300" b="1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Github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8967521" y="4259275"/>
            <a:ext cx="205465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README • 호환성 • 포트폴리오</a:t>
            </a:r>
            <a:endParaRPr lang="en-US" sz="1000" dirty="0"/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15FE6C02-2698-F55F-B398-2902E45194FF}"/>
              </a:ext>
            </a:extLst>
          </p:cNvPr>
          <p:cNvGrpSpPr/>
          <p:nvPr/>
        </p:nvGrpSpPr>
        <p:grpSpPr>
          <a:xfrm>
            <a:off x="7367780" y="5664707"/>
            <a:ext cx="4172404" cy="425653"/>
            <a:chOff x="7367780" y="5664707"/>
            <a:chExt cx="4172404" cy="425653"/>
          </a:xfrm>
        </p:grpSpPr>
        <p:sp>
          <p:nvSpPr>
            <p:cNvPr id="29" name="Shape 5">
              <a:extLst>
                <a:ext uri="{FF2B5EF4-FFF2-40B4-BE49-F238E27FC236}">
                  <a16:creationId xmlns:a16="http://schemas.microsoft.com/office/drawing/2014/main" id="{028054A6-A9E2-E651-59D4-2C584DA5512F}"/>
                </a:ext>
              </a:extLst>
            </p:cNvPr>
            <p:cNvSpPr/>
            <p:nvPr/>
          </p:nvSpPr>
          <p:spPr>
            <a:xfrm>
              <a:off x="7367780" y="5709055"/>
              <a:ext cx="381305" cy="381305"/>
            </a:xfrm>
            <a:prstGeom prst="ellipse">
              <a:avLst/>
            </a:prstGeom>
            <a:solidFill>
              <a:srgbClr val="38BDF8">
                <a:alpha val="10000"/>
              </a:srgbClr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30" name="Image 2" descr="preencoded.png">
              <a:extLst>
                <a:ext uri="{FF2B5EF4-FFF2-40B4-BE49-F238E27FC236}">
                  <a16:creationId xmlns:a16="http://schemas.microsoft.com/office/drawing/2014/main" id="{8D4EBD93-B192-EA6C-784C-79D27216EC1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-1064" r="-1064"/>
            <a:stretch/>
          </p:blipFill>
          <p:spPr>
            <a:xfrm>
              <a:off x="7448248" y="5814211"/>
              <a:ext cx="219456" cy="171907"/>
            </a:xfrm>
            <a:prstGeom prst="rect">
              <a:avLst/>
            </a:prstGeom>
          </p:spPr>
        </p:pic>
        <p:sp>
          <p:nvSpPr>
            <p:cNvPr id="31" name="Text 11">
              <a:extLst>
                <a:ext uri="{FF2B5EF4-FFF2-40B4-BE49-F238E27FC236}">
                  <a16:creationId xmlns:a16="http://schemas.microsoft.com/office/drawing/2014/main" id="{40545CC6-C58E-4707-EAA4-2EB82DFDF7F1}"/>
                </a:ext>
              </a:extLst>
            </p:cNvPr>
            <p:cNvSpPr txBox="1"/>
            <p:nvPr/>
          </p:nvSpPr>
          <p:spPr>
            <a:xfrm>
              <a:off x="7901787" y="5664707"/>
              <a:ext cx="3638397" cy="3666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50000"/>
                </a:lnSpc>
              </a:pPr>
              <a:r>
                <a:rPr lang="ko-KR" altLang="en-US" sz="2000" b="1" dirty="0">
                  <a:solidFill>
                    <a:srgbClr val="FFFFFF"/>
                  </a:solidFill>
                  <a:latin typeface="Noto Sans KR" pitchFamily="34" charset="0"/>
                  <a:ea typeface="Noto Sans KR" pitchFamily="34" charset="-122"/>
                </a:rPr>
                <a:t>이애본</a:t>
              </a:r>
              <a:br>
                <a:rPr lang="en-US" altLang="ko-KR" sz="1500" b="1" dirty="0">
                  <a:solidFill>
                    <a:srgbClr val="FFFFFF"/>
                  </a:solidFill>
                  <a:latin typeface="Noto Sans KR" pitchFamily="34" charset="0"/>
                  <a:ea typeface="Noto Sans KR" pitchFamily="34" charset="-122"/>
                </a:rPr>
              </a:br>
              <a:r>
                <a:rPr lang="ko-KR" altLang="en-US" sz="1500" b="1" dirty="0">
                  <a:solidFill>
                    <a:srgbClr val="FFFFFF"/>
                  </a:solidFill>
                  <a:latin typeface="Noto Sans KR" pitchFamily="34" charset="0"/>
                  <a:ea typeface="Noto Sans KR" pitchFamily="34" charset="-122"/>
                </a:rPr>
                <a:t>드림아이티비즈(DreamIT Biz)</a:t>
              </a:r>
              <a:r>
                <a:rPr lang="en-US" altLang="ko-KR" sz="1500" b="1" dirty="0">
                  <a:solidFill>
                    <a:srgbClr val="FFFFFF"/>
                  </a:solidFill>
                  <a:latin typeface="Noto Sans KR" pitchFamily="34" charset="0"/>
                  <a:ea typeface="Noto Sans KR" pitchFamily="34" charset="-122"/>
                </a:rPr>
                <a:t/>
              </a:r>
              <a:br>
                <a:rPr lang="ko-KR" altLang="en-US" sz="1500" b="1" dirty="0">
                  <a:solidFill>
                    <a:srgbClr val="FFFFFF"/>
                  </a:solidFill>
                  <a:latin typeface="Noto Sans KR" pitchFamily="34" charset="0"/>
                  <a:ea typeface="Noto Sans KR" pitchFamily="34" charset="-122"/>
                </a:rPr>
              </a:br>
              <a:r>
                <a:rPr lang="en-US" altLang="ko-KR" sz="1500" b="1" dirty="0">
                  <a:solidFill>
                    <a:srgbClr val="FFFFFF"/>
                  </a:solidFill>
                  <a:latin typeface="Noto Sans KR" pitchFamily="34" charset="0"/>
                  <a:ea typeface="Noto Sans KR" pitchFamily="34" charset="-122"/>
                  <a:hlinkClick r:id="rId4"/>
                </a:rPr>
                <a:t>aebon@dreamitbiz.com</a:t>
              </a:r>
              <a:r>
                <a:rPr lang="ko-KR" altLang="en-US" sz="1500" b="1" dirty="0">
                  <a:solidFill>
                    <a:srgbClr val="FFFFFF"/>
                  </a:solidFill>
                  <a:latin typeface="Noto Sans KR" pitchFamily="34" charset="0"/>
                  <a:ea typeface="Noto Sans KR" pitchFamily="34" charset="-122"/>
                </a:rPr>
                <a:t> </a:t>
              </a:r>
              <a:endParaRPr lang="en-US" altLang="ko-KR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endParaRPr>
            </a:p>
          </p:txBody>
        </p:sp>
      </p:grpSp>
      <p:sp>
        <p:nvSpPr>
          <p:cNvPr id="33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761695" y="1429207"/>
            <a:ext cx="1066830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761695" y="476402"/>
            <a:ext cx="33247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2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Lecture Overview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761695" y="743407"/>
            <a:ext cx="464240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목표와 진행 계획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9449410" y="800100"/>
            <a:ext cx="1981505" cy="400507"/>
          </a:xfrm>
          <a:prstGeom prst="roundRect">
            <a:avLst>
              <a:gd name="adj" fmla="val 228311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648749" y="923544"/>
            <a:ext cx="152705" cy="152705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9872023" y="886054"/>
            <a:ext cx="15645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bg1"/>
                </a:solidFill>
              </a:rPr>
              <a:t>Markdown </a:t>
            </a:r>
            <a:r>
              <a:rPr lang="ko-KR" altLang="en-US" sz="1400" b="1" dirty="0">
                <a:solidFill>
                  <a:schemeClr val="bg1"/>
                </a:solidFill>
              </a:rPr>
              <a:t>활용법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10" name="Shape 7"/>
          <p:cNvSpPr/>
          <p:nvPr/>
        </p:nvSpPr>
        <p:spPr>
          <a:xfrm>
            <a:off x="761695" y="1819656"/>
            <a:ext cx="5143500" cy="4562856"/>
          </a:xfrm>
          <a:prstGeom prst="roundRect">
            <a:avLst>
              <a:gd name="adj" fmla="val 669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1076249" y="2133295"/>
            <a:ext cx="457200" cy="476402"/>
          </a:xfrm>
          <a:prstGeom prst="roundRect">
            <a:avLst>
              <a:gd name="adj" fmla="val 33333"/>
            </a:avLst>
          </a:prstGeom>
          <a:solidFill>
            <a:srgbClr val="1E3A8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190549" y="2247595"/>
            <a:ext cx="228600" cy="2286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686154" y="2219249"/>
            <a:ext cx="1121969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 목표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1380744" y="2838298"/>
            <a:ext cx="501457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 err="1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마크다운의</a:t>
            </a:r>
            <a:r>
              <a:rPr lang="en-US" sz="15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500" b="1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</a:t>
            </a: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문법</a:t>
            </a:r>
            <a:r>
              <a:rPr lang="en-US" sz="15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 정확히 이해하고 사용합니다.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1380744" y="3333902"/>
            <a:ext cx="6454750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단순 </a:t>
            </a:r>
            <a:r>
              <a:rPr lang="en-US" sz="1500" dirty="0" err="1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텍스트를</a:t>
            </a:r>
            <a:r>
              <a:rPr lang="en-US" sz="15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500" dirty="0" err="1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넘어</a:t>
            </a:r>
            <a:endParaRPr lang="en-US" sz="1500" dirty="0">
              <a:solidFill>
                <a:srgbClr val="E2E8F0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500" b="1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구조화된</a:t>
            </a: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문서</a:t>
            </a:r>
            <a:r>
              <a:rPr lang="en-US" sz="15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(README, 노션 등)를 작성합니다.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1380744" y="4134002"/>
            <a:ext cx="3962533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00" dirty="0" err="1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가독성을</a:t>
            </a:r>
            <a:r>
              <a:rPr lang="en-US" sz="15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500" dirty="0" err="1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고려한</a:t>
            </a:r>
            <a:r>
              <a:rPr lang="en-US" sz="15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500" b="1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디자인</a:t>
            </a: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원칙</a:t>
            </a:r>
            <a:r>
              <a:rPr lang="en-US" sz="15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 </a:t>
            </a:r>
            <a:r>
              <a:rPr lang="en-US" sz="1500" dirty="0" err="1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적용하여</a:t>
            </a:r>
            <a:r>
              <a:rPr lang="en-US" sz="15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500" dirty="0" err="1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실전</a:t>
            </a:r>
            <a:r>
              <a:rPr lang="en-US" sz="15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문서를 완성합니다.</a:t>
            </a:r>
            <a:endParaRPr lang="en-US" sz="1500" dirty="0"/>
          </a:p>
        </p:txBody>
      </p:sp>
      <p:sp>
        <p:nvSpPr>
          <p:cNvPr id="17" name="Shape 13"/>
          <p:cNvSpPr/>
          <p:nvPr/>
        </p:nvSpPr>
        <p:spPr>
          <a:xfrm>
            <a:off x="1076249" y="5715000"/>
            <a:ext cx="4515307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4"/>
          <p:cNvSpPr txBox="1"/>
          <p:nvPr/>
        </p:nvSpPr>
        <p:spPr>
          <a:xfrm>
            <a:off x="1285646" y="5876849"/>
            <a:ext cx="44961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이번 강의는 이론보다는 실습 위주로 진행됩니다.</a:t>
            </a:r>
            <a:endParaRPr lang="en-US" sz="100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76249" y="5912510"/>
            <a:ext cx="133502" cy="133502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6286500" y="1819656"/>
            <a:ext cx="5143500" cy="4562856"/>
          </a:xfrm>
          <a:prstGeom prst="roundRect">
            <a:avLst>
              <a:gd name="adj" fmla="val 669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715354" y="2247595"/>
            <a:ext cx="228600" cy="22860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210044" y="2219249"/>
            <a:ext cx="1609344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진행 구성</a:t>
            </a:r>
            <a:endParaRPr lang="en-US" sz="1800" dirty="0"/>
          </a:p>
        </p:txBody>
      </p:sp>
      <p:sp>
        <p:nvSpPr>
          <p:cNvPr id="23" name="Shape 17"/>
          <p:cNvSpPr/>
          <p:nvPr/>
        </p:nvSpPr>
        <p:spPr>
          <a:xfrm>
            <a:off x="6705295" y="2991002"/>
            <a:ext cx="19202" cy="1104595"/>
          </a:xfrm>
          <a:prstGeom prst="rect">
            <a:avLst/>
          </a:prstGeom>
          <a:solidFill>
            <a:srgbClr val="33415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18"/>
          <p:cNvSpPr txBox="1"/>
          <p:nvPr/>
        </p:nvSpPr>
        <p:spPr>
          <a:xfrm>
            <a:off x="6981444" y="2915107"/>
            <a:ext cx="42483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93C5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Part 1: 기본 문법과 원리</a:t>
            </a:r>
            <a:endParaRPr lang="en-US" sz="1500" dirty="0"/>
          </a:p>
        </p:txBody>
      </p:sp>
      <p:sp>
        <p:nvSpPr>
          <p:cNvPr id="26" name="Text 20"/>
          <p:cNvSpPr txBox="1"/>
          <p:nvPr/>
        </p:nvSpPr>
        <p:spPr>
          <a:xfrm>
            <a:off x="6981444" y="3221550"/>
            <a:ext cx="43251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태그(제목, 목록, 코드) + 미니 데모</a:t>
            </a:r>
            <a:endParaRPr lang="en-US" sz="1000" dirty="0"/>
          </a:p>
        </p:txBody>
      </p:sp>
      <p:sp>
        <p:nvSpPr>
          <p:cNvPr id="27" name="Shape 21"/>
          <p:cNvSpPr/>
          <p:nvPr/>
        </p:nvSpPr>
        <p:spPr>
          <a:xfrm>
            <a:off x="6705295" y="4095598"/>
            <a:ext cx="19202" cy="1104595"/>
          </a:xfrm>
          <a:prstGeom prst="rect">
            <a:avLst/>
          </a:prstGeom>
          <a:solidFill>
            <a:srgbClr val="33415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2"/>
          <p:cNvSpPr txBox="1"/>
          <p:nvPr/>
        </p:nvSpPr>
        <p:spPr>
          <a:xfrm>
            <a:off x="6981444" y="4019702"/>
            <a:ext cx="42483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BFDB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Part 2: 실전 활용</a:t>
            </a:r>
            <a:endParaRPr lang="en-US" sz="1500" dirty="0"/>
          </a:p>
        </p:txBody>
      </p:sp>
      <p:sp>
        <p:nvSpPr>
          <p:cNvPr id="30" name="Text 24"/>
          <p:cNvSpPr txBox="1"/>
          <p:nvPr/>
        </p:nvSpPr>
        <p:spPr>
          <a:xfrm>
            <a:off x="6981444" y="4327059"/>
            <a:ext cx="42483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README 작성, 노션 호환, QA 체크리스트</a:t>
            </a:r>
            <a:endParaRPr lang="en-US" sz="1000" dirty="0"/>
          </a:p>
        </p:txBody>
      </p:sp>
      <p:sp>
        <p:nvSpPr>
          <p:cNvPr id="31" name="Shape 25"/>
          <p:cNvSpPr/>
          <p:nvPr/>
        </p:nvSpPr>
        <p:spPr>
          <a:xfrm>
            <a:off x="6705295" y="5201107"/>
            <a:ext cx="19202" cy="28346"/>
          </a:xfrm>
          <a:prstGeom prst="rect">
            <a:avLst/>
          </a:prstGeom>
          <a:solidFill>
            <a:srgbClr val="33415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26"/>
          <p:cNvSpPr txBox="1"/>
          <p:nvPr/>
        </p:nvSpPr>
        <p:spPr>
          <a:xfrm>
            <a:off x="6981444" y="5124298"/>
            <a:ext cx="42483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Q&amp;A 및 마무리</a:t>
            </a:r>
            <a:endParaRPr lang="en-US" sz="1300" dirty="0"/>
          </a:p>
        </p:txBody>
      </p:sp>
      <p:sp>
        <p:nvSpPr>
          <p:cNvPr id="33" name="Text 27"/>
          <p:cNvSpPr txBox="1"/>
          <p:nvPr/>
        </p:nvSpPr>
        <p:spPr>
          <a:xfrm>
            <a:off x="6981444" y="5429707"/>
            <a:ext cx="43251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개별 피드백 및 포트폴리오 적용 팁</a:t>
            </a:r>
            <a:endParaRPr lang="en-US" sz="1000" dirty="0"/>
          </a:p>
        </p:txBody>
      </p:sp>
      <p:sp>
        <p:nvSpPr>
          <p:cNvPr id="34" name="Text 28"/>
          <p:cNvSpPr txBox="1"/>
          <p:nvPr/>
        </p:nvSpPr>
        <p:spPr>
          <a:xfrm>
            <a:off x="9428378" y="5505602"/>
            <a:ext cx="2658161" cy="1324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0" b="1" dirty="0">
                <a:solidFill>
                  <a:srgbClr val="FFFFFF">
                    <a:alpha val="3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GOAL</a:t>
            </a:r>
            <a:endParaRPr lang="en-US" sz="7200" dirty="0"/>
          </a:p>
        </p:txBody>
      </p:sp>
      <p:sp>
        <p:nvSpPr>
          <p:cNvPr id="35" name="Shape 29"/>
          <p:cNvSpPr/>
          <p:nvPr/>
        </p:nvSpPr>
        <p:spPr>
          <a:xfrm>
            <a:off x="6601054" y="2991002"/>
            <a:ext cx="228600" cy="228600"/>
          </a:xfrm>
          <a:prstGeom prst="ellipse">
            <a:avLst/>
          </a:prstGeom>
          <a:solidFill>
            <a:srgbClr val="1E293B"/>
          </a:solidFill>
          <a:ln w="508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0"/>
          <p:cNvSpPr/>
          <p:nvPr/>
        </p:nvSpPr>
        <p:spPr>
          <a:xfrm>
            <a:off x="6601054" y="4095598"/>
            <a:ext cx="228600" cy="228600"/>
          </a:xfrm>
          <a:prstGeom prst="ellipse">
            <a:avLst/>
          </a:prstGeom>
          <a:solidFill>
            <a:srgbClr val="1E293B"/>
          </a:solidFill>
          <a:ln w="508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1"/>
          <p:cNvSpPr/>
          <p:nvPr/>
        </p:nvSpPr>
        <p:spPr>
          <a:xfrm>
            <a:off x="6601054" y="5201107"/>
            <a:ext cx="228600" cy="228600"/>
          </a:xfrm>
          <a:prstGeom prst="ellipse">
            <a:avLst/>
          </a:prstGeom>
          <a:solidFill>
            <a:srgbClr val="94A3B8"/>
          </a:solidFill>
          <a:ln w="508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 txBox="1"/>
          <p:nvPr/>
        </p:nvSpPr>
        <p:spPr>
          <a:xfrm>
            <a:off x="571500" y="-790956"/>
            <a:ext cx="7579462" cy="2648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400" b="1" kern="0" spc="-720" dirty="0">
                <a:solidFill>
                  <a:schemeClr val="bg1">
                    <a:lumMod val="50000"/>
                  </a:scheme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PART 01</a:t>
            </a:r>
            <a:endParaRPr lang="en-US" sz="144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rcRect/>
          <a:stretch/>
        </p:blipFill>
        <p:spPr>
          <a:xfrm>
            <a:off x="9753905" y="4419295"/>
            <a:ext cx="2438705" cy="243870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61695" y="2072030"/>
            <a:ext cx="75895" cy="147675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1143000" y="2072030"/>
            <a:ext cx="1438351" cy="228600"/>
          </a:xfrm>
          <a:prstGeom prst="roundRect">
            <a:avLst>
              <a:gd name="adj" fmla="val 40000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 txBox="1"/>
          <p:nvPr/>
        </p:nvSpPr>
        <p:spPr>
          <a:xfrm>
            <a:off x="1143000" y="2452421"/>
            <a:ext cx="10592410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마크다운 기본</a:t>
            </a:r>
            <a:endParaRPr lang="en-US" sz="4500" dirty="0"/>
          </a:p>
        </p:txBody>
      </p:sp>
      <p:sp>
        <p:nvSpPr>
          <p:cNvPr id="9" name="Text 6"/>
          <p:cNvSpPr txBox="1"/>
          <p:nvPr/>
        </p:nvSpPr>
        <p:spPr>
          <a:xfrm>
            <a:off x="1143000" y="3243377"/>
            <a:ext cx="104781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문서의 뼈대를 만드는 핵심 문법과 원리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761695" y="4005072"/>
            <a:ext cx="3409798" cy="1162202"/>
          </a:xfrm>
          <a:prstGeom prst="roundRect">
            <a:avLst>
              <a:gd name="adj" fmla="val 7739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39700" dist="1016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1000354" y="4358030"/>
            <a:ext cx="457200" cy="457200"/>
          </a:xfrm>
          <a:prstGeom prst="roundRect">
            <a:avLst>
              <a:gd name="adj" fmla="val 41667"/>
            </a:avLst>
          </a:prstGeom>
          <a:solidFill>
            <a:srgbClr val="172554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110082" y="4490618"/>
            <a:ext cx="237744" cy="19019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609344" y="4243730"/>
            <a:ext cx="213969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Concept</a:t>
            </a:r>
            <a:endParaRPr lang="en-US" sz="900" dirty="0"/>
          </a:p>
        </p:txBody>
      </p:sp>
      <p:sp>
        <p:nvSpPr>
          <p:cNvPr id="14" name="Text 10"/>
          <p:cNvSpPr txBox="1"/>
          <p:nvPr/>
        </p:nvSpPr>
        <p:spPr>
          <a:xfrm>
            <a:off x="1609344" y="4433926"/>
            <a:ext cx="222199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태그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1609344" y="4738421"/>
            <a:ext cx="26773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제목, 목록, 링크, 이미지 등 필수 요소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4394606" y="4005072"/>
            <a:ext cx="3409798" cy="1162202"/>
          </a:xfrm>
          <a:prstGeom prst="roundRect">
            <a:avLst>
              <a:gd name="adj" fmla="val 7739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39700" dist="1016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3"/>
          <p:cNvSpPr/>
          <p:nvPr/>
        </p:nvSpPr>
        <p:spPr>
          <a:xfrm>
            <a:off x="4632350" y="4358030"/>
            <a:ext cx="457200" cy="457200"/>
          </a:xfrm>
          <a:prstGeom prst="roundRect">
            <a:avLst>
              <a:gd name="adj" fmla="val 41667"/>
            </a:avLst>
          </a:prstGeom>
          <a:solidFill>
            <a:srgbClr val="172554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rcRect l="-1282" r="-1282"/>
          <a:stretch/>
        </p:blipFill>
        <p:spPr>
          <a:xfrm>
            <a:off x="4751222" y="4490618"/>
            <a:ext cx="219456" cy="190195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5242255" y="4243730"/>
            <a:ext cx="18288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Structure</a:t>
            </a:r>
            <a:endParaRPr lang="en-US" sz="900" dirty="0"/>
          </a:p>
        </p:txBody>
      </p:sp>
      <p:sp>
        <p:nvSpPr>
          <p:cNvPr id="20" name="Text 15"/>
          <p:cNvSpPr txBox="1"/>
          <p:nvPr/>
        </p:nvSpPr>
        <p:spPr>
          <a:xfrm>
            <a:off x="5242255" y="4433926"/>
            <a:ext cx="189280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구조화 원리</a:t>
            </a:r>
            <a:endParaRPr lang="en-US" sz="1300" dirty="0"/>
          </a:p>
        </p:txBody>
      </p:sp>
      <p:sp>
        <p:nvSpPr>
          <p:cNvPr id="21" name="Text 16"/>
          <p:cNvSpPr txBox="1"/>
          <p:nvPr/>
        </p:nvSpPr>
        <p:spPr>
          <a:xfrm>
            <a:off x="5242255" y="4738421"/>
            <a:ext cx="212506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계층 구조와 가독성을 위한 규칙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8026603" y="4005072"/>
            <a:ext cx="3409798" cy="1162202"/>
          </a:xfrm>
          <a:prstGeom prst="roundRect">
            <a:avLst>
              <a:gd name="adj" fmla="val 7739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39700" dist="1016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8"/>
          <p:cNvSpPr/>
          <p:nvPr/>
        </p:nvSpPr>
        <p:spPr>
          <a:xfrm>
            <a:off x="8264347" y="4358030"/>
            <a:ext cx="457200" cy="457200"/>
          </a:xfrm>
          <a:prstGeom prst="roundRect">
            <a:avLst>
              <a:gd name="adj" fmla="val 41667"/>
            </a:avLst>
          </a:prstGeom>
          <a:solidFill>
            <a:srgbClr val="172554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rcRect l="-1282" r="-1282"/>
          <a:stretch/>
        </p:blipFill>
        <p:spPr>
          <a:xfrm>
            <a:off x="8383219" y="4490618"/>
            <a:ext cx="219456" cy="190195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8874252" y="4243730"/>
            <a:ext cx="153436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Practice</a:t>
            </a:r>
            <a:endParaRPr lang="en-US" sz="900" dirty="0"/>
          </a:p>
        </p:txBody>
      </p:sp>
      <p:sp>
        <p:nvSpPr>
          <p:cNvPr id="26" name="Text 20"/>
          <p:cNvSpPr txBox="1"/>
          <p:nvPr/>
        </p:nvSpPr>
        <p:spPr>
          <a:xfrm>
            <a:off x="8874252" y="4433926"/>
            <a:ext cx="157459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미니 실습</a:t>
            </a:r>
            <a:endParaRPr lang="en-US" sz="1300" dirty="0"/>
          </a:p>
        </p:txBody>
      </p:sp>
      <p:sp>
        <p:nvSpPr>
          <p:cNvPr id="27" name="Text 21"/>
          <p:cNvSpPr txBox="1"/>
          <p:nvPr/>
        </p:nvSpPr>
        <p:spPr>
          <a:xfrm>
            <a:off x="8874252" y="4738421"/>
            <a:ext cx="179679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 소개 문서 5분 완성하기</a:t>
            </a:r>
            <a:endParaRPr lang="en-US" sz="1000" dirty="0"/>
          </a:p>
        </p:txBody>
      </p:sp>
      <p:sp>
        <p:nvSpPr>
          <p:cNvPr id="28" name="Text 22"/>
          <p:cNvSpPr txBox="1"/>
          <p:nvPr/>
        </p:nvSpPr>
        <p:spPr>
          <a:xfrm>
            <a:off x="1257300" y="2100377"/>
            <a:ext cx="128656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45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SECTION OVERVIEW</a:t>
            </a:r>
            <a:endParaRPr lang="en-US" sz="900" dirty="0"/>
          </a:p>
        </p:txBody>
      </p:sp>
      <p:sp>
        <p:nvSpPr>
          <p:cNvPr id="29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761695" y="1429207"/>
            <a:ext cx="1066830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761695" y="476402"/>
            <a:ext cx="287304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2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Part 1 • Basic Concept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761695" y="743407"/>
            <a:ext cx="382036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마크다운이란?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9639605" y="5890565"/>
            <a:ext cx="1676095" cy="400507"/>
          </a:xfrm>
          <a:prstGeom prst="roundRect">
            <a:avLst>
              <a:gd name="adj" fmla="val 228311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839859" y="6014009"/>
            <a:ext cx="152705" cy="152705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0106864" y="5976519"/>
            <a:ext cx="10863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Why &amp; Where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61695" y="1819656"/>
            <a:ext cx="5143500" cy="4610405"/>
          </a:xfrm>
          <a:prstGeom prst="roundRect">
            <a:avLst>
              <a:gd name="adj" fmla="val 656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1076249" y="2133295"/>
            <a:ext cx="400507" cy="476402"/>
          </a:xfrm>
          <a:prstGeom prst="roundRect">
            <a:avLst>
              <a:gd name="adj" fmla="val 43488"/>
            </a:avLst>
          </a:prstGeom>
          <a:solidFill>
            <a:srgbClr val="1E3A8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rcRect l="-133" r="-133"/>
          <a:stretch/>
        </p:blipFill>
        <p:spPr>
          <a:xfrm>
            <a:off x="1190549" y="2247595"/>
            <a:ext cx="171907" cy="2286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628546" y="2219249"/>
            <a:ext cx="1512418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정의 및 장점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1380744" y="2962656"/>
            <a:ext cx="44010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경량 마크업 언어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1380744" y="3286354"/>
            <a:ext cx="5889650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복잡한 태그 없이 간단한 기호(#, -, *)로 </a:t>
            </a:r>
          </a:p>
          <a:p>
            <a:pPr marL="0" indent="0" algn="l">
              <a:buNone/>
            </a:pPr>
            <a:r>
              <a:rPr lang="en-US" sz="1300" dirty="0" err="1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텍스트에</a:t>
            </a:r>
            <a:r>
              <a:rPr lang="en-US" sz="13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서식을 입힙니다.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1380744" y="4086454"/>
            <a:ext cx="44010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압도적인 생산성</a:t>
            </a:r>
            <a:endParaRPr lang="en-US" sz="1500" dirty="0"/>
          </a:p>
        </p:txBody>
      </p:sp>
      <p:sp>
        <p:nvSpPr>
          <p:cNvPr id="17" name="Text 13"/>
          <p:cNvSpPr txBox="1"/>
          <p:nvPr/>
        </p:nvSpPr>
        <p:spPr>
          <a:xfrm>
            <a:off x="1380744" y="4410151"/>
            <a:ext cx="5622646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마우스 없이 키보드만으로 </a:t>
            </a:r>
            <a:r>
              <a:rPr lang="en-US" sz="1300" dirty="0" err="1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글쓰기와</a:t>
            </a:r>
            <a:r>
              <a:rPr lang="en-US" sz="13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1300" dirty="0" err="1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서식</a:t>
            </a:r>
            <a:r>
              <a:rPr lang="en-US" sz="13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지정을 동시에 처리합니다.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1380744" y="5210251"/>
            <a:ext cx="44010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높은 범용성</a:t>
            </a:r>
            <a:endParaRPr lang="en-US" sz="1500" dirty="0"/>
          </a:p>
        </p:txBody>
      </p:sp>
      <p:sp>
        <p:nvSpPr>
          <p:cNvPr id="19" name="Text 15"/>
          <p:cNvSpPr txBox="1"/>
          <p:nvPr/>
        </p:nvSpPr>
        <p:spPr>
          <a:xfrm>
            <a:off x="1380744" y="5533949"/>
            <a:ext cx="479968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텍스트 파일 기반으로 어디서든 열리고, 쉽게 변환됩니다.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6286500" y="1819656"/>
            <a:ext cx="5143500" cy="4610405"/>
          </a:xfrm>
          <a:prstGeom prst="roundRect">
            <a:avLst>
              <a:gd name="adj" fmla="val 656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rcRect l="-80" r="-80"/>
          <a:stretch/>
        </p:blipFill>
        <p:spPr>
          <a:xfrm>
            <a:off x="6715354" y="2247595"/>
            <a:ext cx="286207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7267651" y="2219249"/>
            <a:ext cx="1366114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사용처</a:t>
            </a:r>
            <a:endParaRPr lang="en-US" sz="1800" dirty="0"/>
          </a:p>
        </p:txBody>
      </p:sp>
      <p:sp>
        <p:nvSpPr>
          <p:cNvPr id="23" name="Shape 18"/>
          <p:cNvSpPr/>
          <p:nvPr/>
        </p:nvSpPr>
        <p:spPr>
          <a:xfrm>
            <a:off x="6801307" y="3333902"/>
            <a:ext cx="19202" cy="476402"/>
          </a:xfrm>
          <a:prstGeom prst="rect">
            <a:avLst/>
          </a:prstGeom>
          <a:solidFill>
            <a:srgbClr val="33415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19"/>
          <p:cNvSpPr txBox="1"/>
          <p:nvPr/>
        </p:nvSpPr>
        <p:spPr>
          <a:xfrm>
            <a:off x="7134149" y="2915107"/>
            <a:ext cx="409651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93C5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GitHub / 개발 문서</a:t>
            </a:r>
            <a:endParaRPr lang="en-US" sz="1500" dirty="0"/>
          </a:p>
        </p:txBody>
      </p:sp>
      <p:sp>
        <p:nvSpPr>
          <p:cNvPr id="25" name="Text 20"/>
          <p:cNvSpPr txBox="1"/>
          <p:nvPr/>
        </p:nvSpPr>
        <p:spPr>
          <a:xfrm>
            <a:off x="7134149" y="3219602"/>
            <a:ext cx="46680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README.md, 이슈(Issue), PR 코멘트 작성의 표준 규격입니다.</a:t>
            </a:r>
            <a:endParaRPr lang="en-US" sz="1200" dirty="0"/>
          </a:p>
        </p:txBody>
      </p:sp>
      <p:sp>
        <p:nvSpPr>
          <p:cNvPr id="26" name="Shape 21"/>
          <p:cNvSpPr/>
          <p:nvPr/>
        </p:nvSpPr>
        <p:spPr>
          <a:xfrm>
            <a:off x="6801307" y="4401007"/>
            <a:ext cx="19202" cy="476402"/>
          </a:xfrm>
          <a:prstGeom prst="rect">
            <a:avLst/>
          </a:prstGeom>
          <a:solidFill>
            <a:srgbClr val="33415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2"/>
          <p:cNvSpPr txBox="1"/>
          <p:nvPr/>
        </p:nvSpPr>
        <p:spPr>
          <a:xfrm>
            <a:off x="7134149" y="3981298"/>
            <a:ext cx="409651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BFDB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Notion / 협업 툴</a:t>
            </a:r>
            <a:endParaRPr lang="en-US" sz="1500" dirty="0"/>
          </a:p>
        </p:txBody>
      </p:sp>
      <p:sp>
        <p:nvSpPr>
          <p:cNvPr id="28" name="Text 23"/>
          <p:cNvSpPr txBox="1"/>
          <p:nvPr/>
        </p:nvSpPr>
        <p:spPr>
          <a:xfrm>
            <a:off x="7134149" y="4286707"/>
            <a:ext cx="520202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빠른 초안 작성에 유리하며, </a:t>
            </a:r>
          </a:p>
          <a:p>
            <a:pPr marL="0" indent="0" algn="l">
              <a:buNone/>
            </a:pPr>
            <a:r>
              <a:rPr lang="en-US" sz="1200" dirty="0" err="1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붙여넣기</a:t>
            </a: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시 자동으로 블록이 변환됩니다.</a:t>
            </a:r>
            <a:endParaRPr lang="en-US" sz="1200" dirty="0"/>
          </a:p>
        </p:txBody>
      </p:sp>
      <p:sp>
        <p:nvSpPr>
          <p:cNvPr id="29" name="Text 24"/>
          <p:cNvSpPr txBox="1"/>
          <p:nvPr/>
        </p:nvSpPr>
        <p:spPr>
          <a:xfrm>
            <a:off x="7134149" y="5048402"/>
            <a:ext cx="41724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 블로그 &amp; 메신저</a:t>
            </a:r>
            <a:endParaRPr lang="en-US" sz="1500" dirty="0"/>
          </a:p>
        </p:txBody>
      </p:sp>
      <p:sp>
        <p:nvSpPr>
          <p:cNvPr id="30" name="Text 25"/>
          <p:cNvSpPr txBox="1"/>
          <p:nvPr/>
        </p:nvSpPr>
        <p:spPr>
          <a:xfrm>
            <a:off x="7134149" y="5352898"/>
            <a:ext cx="46680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Velog, Tistory 포스팅 및 Discord, </a:t>
            </a:r>
          </a:p>
          <a:p>
            <a:pPr marL="0" indent="0" algn="l">
              <a:buNone/>
            </a:pPr>
            <a:r>
              <a:rPr lang="en-US" sz="1200" dirty="0" err="1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Slack에서의</a:t>
            </a: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코드 공유에 쓰입니다.</a:t>
            </a:r>
            <a:endParaRPr lang="en-US" sz="1200" dirty="0"/>
          </a:p>
        </p:txBody>
      </p:sp>
      <p:sp>
        <p:nvSpPr>
          <p:cNvPr id="31" name="Text 26"/>
          <p:cNvSpPr txBox="1"/>
          <p:nvPr/>
        </p:nvSpPr>
        <p:spPr>
          <a:xfrm>
            <a:off x="9101046" y="157277"/>
            <a:ext cx="2972561" cy="1324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0" b="1" dirty="0">
                <a:solidFill>
                  <a:srgbClr val="FFFFFF">
                    <a:alpha val="3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WHAT</a:t>
            </a:r>
            <a:endParaRPr lang="en-US" sz="7200" dirty="0"/>
          </a:p>
        </p:txBody>
      </p:sp>
      <p:sp>
        <p:nvSpPr>
          <p:cNvPr id="32" name="Shape 27"/>
          <p:cNvSpPr/>
          <p:nvPr/>
        </p:nvSpPr>
        <p:spPr>
          <a:xfrm>
            <a:off x="6601054" y="2933395"/>
            <a:ext cx="400507" cy="400507"/>
          </a:xfrm>
          <a:prstGeom prst="roundRect">
            <a:avLst>
              <a:gd name="adj" fmla="val 54360"/>
            </a:avLst>
          </a:prstGeom>
          <a:solidFill>
            <a:srgbClr val="1E293B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3" name="Image 3" descr="preencoded.png"/>
          <p:cNvPicPr>
            <a:picLocks noChangeAspect="1"/>
          </p:cNvPicPr>
          <p:nvPr/>
        </p:nvPicPr>
        <p:blipFill>
          <a:blip r:embed="rId6"/>
          <a:srcRect t="-884" b="-884"/>
          <a:stretch/>
        </p:blipFill>
        <p:spPr>
          <a:xfrm>
            <a:off x="6710782" y="3038551"/>
            <a:ext cx="181051" cy="190195"/>
          </a:xfrm>
          <a:prstGeom prst="rect">
            <a:avLst/>
          </a:prstGeom>
        </p:spPr>
      </p:pic>
      <p:sp>
        <p:nvSpPr>
          <p:cNvPr id="34" name="Shape 28"/>
          <p:cNvSpPr/>
          <p:nvPr/>
        </p:nvSpPr>
        <p:spPr>
          <a:xfrm>
            <a:off x="6601054" y="4000500"/>
            <a:ext cx="400507" cy="400507"/>
          </a:xfrm>
          <a:prstGeom prst="roundRect">
            <a:avLst>
              <a:gd name="adj" fmla="val 54360"/>
            </a:avLst>
          </a:prstGeom>
          <a:solidFill>
            <a:srgbClr val="1E293B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5" name="Image 4" descr="preencoded.png"/>
          <p:cNvPicPr>
            <a:picLocks noChangeAspect="1"/>
          </p:cNvPicPr>
          <p:nvPr/>
        </p:nvPicPr>
        <p:blipFill>
          <a:blip r:embed="rId7"/>
          <a:srcRect l="-1648" r="-1648"/>
          <a:stretch/>
        </p:blipFill>
        <p:spPr>
          <a:xfrm>
            <a:off x="6715354" y="4105656"/>
            <a:ext cx="171907" cy="190195"/>
          </a:xfrm>
          <a:prstGeom prst="rect">
            <a:avLst/>
          </a:prstGeom>
        </p:spPr>
      </p:pic>
      <p:sp>
        <p:nvSpPr>
          <p:cNvPr id="36" name="Shape 29"/>
          <p:cNvSpPr/>
          <p:nvPr/>
        </p:nvSpPr>
        <p:spPr>
          <a:xfrm>
            <a:off x="6601054" y="5067605"/>
            <a:ext cx="400507" cy="400507"/>
          </a:xfrm>
          <a:prstGeom prst="roundRect">
            <a:avLst>
              <a:gd name="adj" fmla="val 54360"/>
            </a:avLst>
          </a:prstGeom>
          <a:solidFill>
            <a:srgbClr val="1E293B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7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681521" y="5171846"/>
            <a:ext cx="237744" cy="190195"/>
          </a:xfrm>
          <a:prstGeom prst="rect">
            <a:avLst/>
          </a:prstGeom>
        </p:spPr>
      </p:pic>
      <p:sp>
        <p:nvSpPr>
          <p:cNvPr id="38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 txBox="1"/>
          <p:nvPr/>
        </p:nvSpPr>
        <p:spPr>
          <a:xfrm>
            <a:off x="571500" y="381305"/>
            <a:ext cx="281360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2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Part 1. 마크다운 기본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71500" y="647395"/>
            <a:ext cx="43059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67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제목 · 문단 · 줄바꿈</a:t>
            </a:r>
            <a:endParaRPr lang="en-US" sz="27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l="-33" r="-33"/>
          <a:stretch/>
        </p:blipFill>
        <p:spPr>
          <a:xfrm>
            <a:off x="10565892" y="857707"/>
            <a:ext cx="171907" cy="15270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813694" y="838505"/>
            <a:ext cx="96377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Basic Syntax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71500" y="1333195"/>
            <a:ext cx="4238244" cy="2457907"/>
          </a:xfrm>
          <a:prstGeom prst="roundRect">
            <a:avLst>
              <a:gd name="adj" fmla="val 230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809244" y="1571854"/>
            <a:ext cx="304495" cy="304495"/>
          </a:xfrm>
          <a:prstGeom prst="roundRect">
            <a:avLst>
              <a:gd name="adj" fmla="val 37538"/>
            </a:avLst>
          </a:prstGeom>
          <a:solidFill>
            <a:srgbClr val="1E3A8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rcRect t="-43" b="-43"/>
          <a:stretch/>
        </p:blipFill>
        <p:spPr>
          <a:xfrm>
            <a:off x="895198" y="1647749"/>
            <a:ext cx="133502" cy="15270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228954" y="1591056"/>
            <a:ext cx="170078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제목 (Headings)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1037844" y="2029054"/>
            <a:ext cx="71414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# 의 개수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1634033" y="2029054"/>
            <a:ext cx="17026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 크기를 조절합니다.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1037844" y="2286000"/>
            <a:ext cx="146304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(# 1개 ~ ###### 6개)</a:t>
            </a:r>
            <a:endParaRPr lang="en-US" sz="1000" dirty="0"/>
          </a:p>
        </p:txBody>
      </p:sp>
      <p:sp>
        <p:nvSpPr>
          <p:cNvPr id="15" name="Text 11"/>
          <p:cNvSpPr txBox="1"/>
          <p:nvPr/>
        </p:nvSpPr>
        <p:spPr>
          <a:xfrm>
            <a:off x="1037844" y="2714854"/>
            <a:ext cx="42428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8717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주의: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1367942" y="2714854"/>
            <a:ext cx="107624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# 뒤에 반드시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2239366" y="2714854"/>
            <a:ext cx="1173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띄어쓰기(공백)</a:t>
            </a:r>
            <a:endParaRPr lang="en-US" sz="1200" dirty="0"/>
          </a:p>
        </p:txBody>
      </p:sp>
      <p:sp>
        <p:nvSpPr>
          <p:cNvPr id="18" name="Text 14"/>
          <p:cNvSpPr txBox="1"/>
          <p:nvPr/>
        </p:nvSpPr>
        <p:spPr>
          <a:xfrm>
            <a:off x="1037844" y="2714854"/>
            <a:ext cx="3648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한 칸 넣어야 제목으로 인식됩니다.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571500" y="4019702"/>
            <a:ext cx="4238244" cy="2457907"/>
          </a:xfrm>
          <a:prstGeom prst="roundRect">
            <a:avLst>
              <a:gd name="adj" fmla="val 230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rcRect t="-43" b="-43"/>
          <a:stretch/>
        </p:blipFill>
        <p:spPr>
          <a:xfrm>
            <a:off x="895198" y="4334256"/>
            <a:ext cx="133502" cy="152705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1228954" y="4276649"/>
            <a:ext cx="13405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문단과 줄바꿈</a:t>
            </a:r>
            <a:endParaRPr lang="en-US" sz="1500" dirty="0"/>
          </a:p>
        </p:txBody>
      </p:sp>
      <p:sp>
        <p:nvSpPr>
          <p:cNvPr id="22" name="Text 17"/>
          <p:cNvSpPr txBox="1"/>
          <p:nvPr/>
        </p:nvSpPr>
        <p:spPr>
          <a:xfrm>
            <a:off x="1037844" y="4714646"/>
            <a:ext cx="84673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문단 구분:</a:t>
            </a:r>
            <a:endParaRPr lang="en-US" sz="1200" dirty="0"/>
          </a:p>
        </p:txBody>
      </p:sp>
      <p:sp>
        <p:nvSpPr>
          <p:cNvPr id="23" name="Text 18"/>
          <p:cNvSpPr txBox="1"/>
          <p:nvPr/>
        </p:nvSpPr>
        <p:spPr>
          <a:xfrm>
            <a:off x="1691640" y="4714646"/>
            <a:ext cx="138805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엔터를 두 번 쳐서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2800807" y="4743907"/>
            <a:ext cx="362102" cy="190195"/>
          </a:xfrm>
          <a:prstGeom prst="roundRect">
            <a:avLst>
              <a:gd name="adj" fmla="val 96154"/>
            </a:avLst>
          </a:prstGeom>
          <a:solidFill>
            <a:srgbClr val="1E3A8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0"/>
          <p:cNvSpPr txBox="1"/>
          <p:nvPr/>
        </p:nvSpPr>
        <p:spPr>
          <a:xfrm>
            <a:off x="2839212" y="4743907"/>
            <a:ext cx="3621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FDB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빈 줄</a:t>
            </a:r>
            <a:endParaRPr lang="en-US" sz="1000" dirty="0"/>
          </a:p>
        </p:txBody>
      </p:sp>
      <p:sp>
        <p:nvSpPr>
          <p:cNvPr id="26" name="Text 21"/>
          <p:cNvSpPr txBox="1"/>
          <p:nvPr/>
        </p:nvSpPr>
        <p:spPr>
          <a:xfrm>
            <a:off x="1037844" y="4714646"/>
            <a:ext cx="370606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 하나 만들어야 합니다.</a:t>
            </a:r>
            <a:endParaRPr lang="en-US" sz="1200" dirty="0"/>
          </a:p>
        </p:txBody>
      </p:sp>
      <p:sp>
        <p:nvSpPr>
          <p:cNvPr id="27" name="Text 22"/>
          <p:cNvSpPr txBox="1"/>
          <p:nvPr/>
        </p:nvSpPr>
        <p:spPr>
          <a:xfrm>
            <a:off x="1037844" y="5400446"/>
            <a:ext cx="58704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줄바꿈:</a:t>
            </a:r>
            <a:endParaRPr lang="en-US" sz="1200" dirty="0"/>
          </a:p>
        </p:txBody>
      </p:sp>
      <p:sp>
        <p:nvSpPr>
          <p:cNvPr id="28" name="Text 23"/>
          <p:cNvSpPr txBox="1"/>
          <p:nvPr/>
        </p:nvSpPr>
        <p:spPr>
          <a:xfrm>
            <a:off x="1037844" y="5400446"/>
            <a:ext cx="53300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문장 끝에 공백을 2칸 넣거나 &lt;br&gt; 태그를 사용합니다.</a:t>
            </a:r>
            <a:endParaRPr lang="en-US" sz="1200" dirty="0"/>
          </a:p>
        </p:txBody>
      </p:sp>
      <p:sp>
        <p:nvSpPr>
          <p:cNvPr id="29" name="Shape 24"/>
          <p:cNvSpPr/>
          <p:nvPr/>
        </p:nvSpPr>
        <p:spPr>
          <a:xfrm>
            <a:off x="5113325" y="1333195"/>
            <a:ext cx="6515100" cy="2572207"/>
          </a:xfrm>
          <a:prstGeom prst="roundRect">
            <a:avLst>
              <a:gd name="adj" fmla="val 210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5"/>
          <p:cNvSpPr/>
          <p:nvPr/>
        </p:nvSpPr>
        <p:spPr>
          <a:xfrm>
            <a:off x="5122469" y="1343254"/>
            <a:ext cx="6495898" cy="314554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6"/>
          <p:cNvSpPr/>
          <p:nvPr/>
        </p:nvSpPr>
        <p:spPr>
          <a:xfrm>
            <a:off x="5122469" y="1648663"/>
            <a:ext cx="6495898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27"/>
          <p:cNvSpPr/>
          <p:nvPr/>
        </p:nvSpPr>
        <p:spPr>
          <a:xfrm>
            <a:off x="5275174" y="1447495"/>
            <a:ext cx="95098" cy="9509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28"/>
          <p:cNvSpPr/>
          <p:nvPr/>
        </p:nvSpPr>
        <p:spPr>
          <a:xfrm>
            <a:off x="5426964" y="1447495"/>
            <a:ext cx="95098" cy="9509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29"/>
          <p:cNvSpPr/>
          <p:nvPr/>
        </p:nvSpPr>
        <p:spPr>
          <a:xfrm>
            <a:off x="5579669" y="1447495"/>
            <a:ext cx="95098" cy="9509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0"/>
          <p:cNvSpPr txBox="1"/>
          <p:nvPr/>
        </p:nvSpPr>
        <p:spPr>
          <a:xfrm>
            <a:off x="10155326" y="1429207"/>
            <a:ext cx="1381658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8FAF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markdown_example.md</a:t>
            </a:r>
            <a:endParaRPr lang="en-US" sz="900" dirty="0"/>
          </a:p>
        </p:txBody>
      </p:sp>
      <p:sp>
        <p:nvSpPr>
          <p:cNvPr id="36" name="Shape 31"/>
          <p:cNvSpPr/>
          <p:nvPr/>
        </p:nvSpPr>
        <p:spPr>
          <a:xfrm>
            <a:off x="5122469" y="1657807"/>
            <a:ext cx="6495898" cy="2238451"/>
          </a:xfrm>
          <a:prstGeom prst="roundRect">
            <a:avLst>
              <a:gd name="adj" fmla="val 1391"/>
            </a:avLst>
          </a:prstGeom>
          <a:solidFill>
            <a:srgbClr val="0206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2"/>
          <p:cNvSpPr txBox="1"/>
          <p:nvPr/>
        </p:nvSpPr>
        <p:spPr>
          <a:xfrm>
            <a:off x="5312664" y="1876349"/>
            <a:ext cx="11247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0A5F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# 큰 제목 (H1)</a:t>
            </a:r>
            <a:endParaRPr lang="en-US" sz="1000" dirty="0"/>
          </a:p>
        </p:txBody>
      </p:sp>
      <p:sp>
        <p:nvSpPr>
          <p:cNvPr id="38" name="Text 33"/>
          <p:cNvSpPr txBox="1"/>
          <p:nvPr/>
        </p:nvSpPr>
        <p:spPr>
          <a:xfrm>
            <a:off x="5312664" y="2089404"/>
            <a:ext cx="13341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0A5F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## 중간 제목 (H2)</a:t>
            </a:r>
            <a:endParaRPr lang="en-US" sz="1000" dirty="0"/>
          </a:p>
        </p:txBody>
      </p:sp>
      <p:sp>
        <p:nvSpPr>
          <p:cNvPr id="39" name="Text 34"/>
          <p:cNvSpPr txBox="1"/>
          <p:nvPr/>
        </p:nvSpPr>
        <p:spPr>
          <a:xfrm>
            <a:off x="5312664" y="2379269"/>
            <a:ext cx="193395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이것은 첫 번째 문단입니다.</a:t>
            </a:r>
            <a:endParaRPr lang="en-US" sz="1000" dirty="0"/>
          </a:p>
        </p:txBody>
      </p:sp>
      <p:sp>
        <p:nvSpPr>
          <p:cNvPr id="40" name="Text 35"/>
          <p:cNvSpPr txBox="1"/>
          <p:nvPr/>
        </p:nvSpPr>
        <p:spPr>
          <a:xfrm>
            <a:off x="5312664" y="2593238"/>
            <a:ext cx="280995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엔터를 한번 쳐도 같은 줄로 이어집니다.</a:t>
            </a:r>
            <a:endParaRPr lang="en-US" sz="1000" dirty="0"/>
          </a:p>
        </p:txBody>
      </p:sp>
      <p:sp>
        <p:nvSpPr>
          <p:cNvPr id="41" name="Text 36"/>
          <p:cNvSpPr txBox="1"/>
          <p:nvPr/>
        </p:nvSpPr>
        <p:spPr>
          <a:xfrm>
            <a:off x="5312664" y="2882189"/>
            <a:ext cx="239755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엔터를 두 번 쳐서 빈 줄을 만들면</a:t>
            </a:r>
            <a:endParaRPr lang="en-US" sz="1000" dirty="0"/>
          </a:p>
        </p:txBody>
      </p:sp>
      <p:sp>
        <p:nvSpPr>
          <p:cNvPr id="42" name="Text 37"/>
          <p:cNvSpPr txBox="1"/>
          <p:nvPr/>
        </p:nvSpPr>
        <p:spPr>
          <a:xfrm>
            <a:off x="5312664" y="3096158"/>
            <a:ext cx="185166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새로운 문단으로 나뉩니다.</a:t>
            </a:r>
            <a:endParaRPr lang="en-US" sz="1000" dirty="0"/>
          </a:p>
        </p:txBody>
      </p:sp>
      <p:sp>
        <p:nvSpPr>
          <p:cNvPr id="43" name="Shape 38"/>
          <p:cNvSpPr/>
          <p:nvPr/>
        </p:nvSpPr>
        <p:spPr>
          <a:xfrm>
            <a:off x="5113325" y="4286707"/>
            <a:ext cx="6515100" cy="2190902"/>
          </a:xfrm>
          <a:prstGeom prst="roundRect">
            <a:avLst>
              <a:gd name="adj" fmla="val 290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39"/>
          <p:cNvSpPr/>
          <p:nvPr/>
        </p:nvSpPr>
        <p:spPr>
          <a:xfrm>
            <a:off x="5122469" y="4295851"/>
            <a:ext cx="6495898" cy="38405"/>
          </a:xfrm>
          <a:prstGeom prst="rect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40"/>
          <p:cNvSpPr/>
          <p:nvPr/>
        </p:nvSpPr>
        <p:spPr>
          <a:xfrm>
            <a:off x="5351069" y="4902098"/>
            <a:ext cx="6038698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1"/>
          <p:cNvSpPr txBox="1"/>
          <p:nvPr/>
        </p:nvSpPr>
        <p:spPr>
          <a:xfrm>
            <a:off x="5351069" y="4482389"/>
            <a:ext cx="1484986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큰 제목 (H1)</a:t>
            </a:r>
            <a:endParaRPr lang="en-US" sz="1800" dirty="0"/>
          </a:p>
        </p:txBody>
      </p:sp>
      <p:sp>
        <p:nvSpPr>
          <p:cNvPr id="47" name="Shape 42"/>
          <p:cNvSpPr/>
          <p:nvPr/>
        </p:nvSpPr>
        <p:spPr>
          <a:xfrm>
            <a:off x="5351069" y="5520233"/>
            <a:ext cx="6038698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3"/>
          <p:cNvSpPr txBox="1"/>
          <p:nvPr/>
        </p:nvSpPr>
        <p:spPr>
          <a:xfrm>
            <a:off x="5351069" y="5177333"/>
            <a:ext cx="144018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중간 제목 (H2)</a:t>
            </a:r>
            <a:endParaRPr lang="en-US" sz="1500" dirty="0"/>
          </a:p>
        </p:txBody>
      </p:sp>
      <p:sp>
        <p:nvSpPr>
          <p:cNvPr id="49" name="Text 44"/>
          <p:cNvSpPr txBox="1"/>
          <p:nvPr/>
        </p:nvSpPr>
        <p:spPr>
          <a:xfrm>
            <a:off x="5351069" y="5625389"/>
            <a:ext cx="622980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-1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이것은 첫 번째 문단입니다. 엔터를 한번 쳐도 같은 줄로 이어집니다.</a:t>
            </a:r>
            <a:endParaRPr lang="en-US" sz="1000" dirty="0"/>
          </a:p>
        </p:txBody>
      </p:sp>
      <p:sp>
        <p:nvSpPr>
          <p:cNvPr id="50" name="Text 45"/>
          <p:cNvSpPr txBox="1"/>
          <p:nvPr/>
        </p:nvSpPr>
        <p:spPr>
          <a:xfrm>
            <a:off x="5351069" y="5952744"/>
            <a:ext cx="622980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-1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빈 줄을 두면 새로운 문단으로 나뉩니다.</a:t>
            </a:r>
            <a:endParaRPr lang="en-US" sz="1000" dirty="0"/>
          </a:p>
        </p:txBody>
      </p:sp>
      <p:pic>
        <p:nvPicPr>
          <p:cNvPr id="51" name="Image 3" descr="preencoded.png"/>
          <p:cNvPicPr>
            <a:picLocks noChangeAspect="1"/>
          </p:cNvPicPr>
          <p:nvPr/>
        </p:nvPicPr>
        <p:blipFill>
          <a:blip r:embed="rId6"/>
          <a:srcRect l="-2512" r="-2512"/>
          <a:stretch/>
        </p:blipFill>
        <p:spPr>
          <a:xfrm>
            <a:off x="8041234" y="4045306"/>
            <a:ext cx="105156" cy="133502"/>
          </a:xfrm>
          <a:prstGeom prst="rect">
            <a:avLst/>
          </a:prstGeom>
        </p:spPr>
      </p:pic>
      <p:sp>
        <p:nvSpPr>
          <p:cNvPr id="52" name="Text 46"/>
          <p:cNvSpPr txBox="1"/>
          <p:nvPr/>
        </p:nvSpPr>
        <p:spPr>
          <a:xfrm>
            <a:off x="8183880" y="4028846"/>
            <a:ext cx="5907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PREVIEW</a:t>
            </a:r>
            <a:endParaRPr lang="en-US" sz="900" dirty="0"/>
          </a:p>
        </p:txBody>
      </p:sp>
      <p:sp>
        <p:nvSpPr>
          <p:cNvPr id="53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 txBox="1"/>
          <p:nvPr/>
        </p:nvSpPr>
        <p:spPr>
          <a:xfrm>
            <a:off x="571500" y="381305"/>
            <a:ext cx="31345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2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Part 1. 마크다운 기본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71500" y="647395"/>
            <a:ext cx="470093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67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구분선 · 인용문 · 강조</a:t>
            </a:r>
            <a:endParaRPr lang="en-US" sz="27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650931" y="857707"/>
            <a:ext cx="152705" cy="15270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879531" y="838505"/>
            <a:ext cx="88422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Text Styling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71500" y="1333195"/>
            <a:ext cx="4238244" cy="2457907"/>
          </a:xfrm>
          <a:prstGeom prst="roundRect">
            <a:avLst>
              <a:gd name="adj" fmla="val 230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809244" y="1571854"/>
            <a:ext cx="304495" cy="304495"/>
          </a:xfrm>
          <a:prstGeom prst="roundRect">
            <a:avLst>
              <a:gd name="adj" fmla="val 37538"/>
            </a:avLst>
          </a:prstGeom>
          <a:solidFill>
            <a:srgbClr val="1E3A8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rcRect t="-43" b="-43"/>
          <a:stretch/>
        </p:blipFill>
        <p:spPr>
          <a:xfrm>
            <a:off x="895198" y="1647749"/>
            <a:ext cx="133502" cy="15270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228954" y="1591056"/>
            <a:ext cx="154442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구분선과 인용문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1037844" y="2029054"/>
            <a:ext cx="58704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구분선: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1508760" y="2029054"/>
            <a:ext cx="5056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하이픈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2005279" y="2095805"/>
            <a:ext cx="16276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-</a:t>
            </a:r>
            <a:endParaRPr lang="en-US" sz="1000" dirty="0"/>
          </a:p>
        </p:txBody>
      </p:sp>
      <p:sp>
        <p:nvSpPr>
          <p:cNvPr id="15" name="Text 11"/>
          <p:cNvSpPr txBox="1"/>
          <p:nvPr/>
        </p:nvSpPr>
        <p:spPr>
          <a:xfrm>
            <a:off x="2161642" y="2029054"/>
            <a:ext cx="72603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이나 별표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2841955" y="2095805"/>
            <a:ext cx="16276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*</a:t>
            </a:r>
            <a:endParaRPr lang="en-US" sz="1000" dirty="0"/>
          </a:p>
        </p:txBody>
      </p:sp>
      <p:sp>
        <p:nvSpPr>
          <p:cNvPr id="17" name="Text 13"/>
          <p:cNvSpPr txBox="1"/>
          <p:nvPr/>
        </p:nvSpPr>
        <p:spPr>
          <a:xfrm>
            <a:off x="1037844" y="2029054"/>
            <a:ext cx="3676802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3개 이상 연속해서 작성합니다.</a:t>
            </a:r>
            <a:endParaRPr lang="en-US" sz="1200" dirty="0"/>
          </a:p>
        </p:txBody>
      </p:sp>
      <p:sp>
        <p:nvSpPr>
          <p:cNvPr id="18" name="Text 14"/>
          <p:cNvSpPr txBox="1"/>
          <p:nvPr/>
        </p:nvSpPr>
        <p:spPr>
          <a:xfrm>
            <a:off x="1037844" y="2723998"/>
            <a:ext cx="58704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인용문:</a:t>
            </a:r>
            <a:endParaRPr lang="en-US" sz="1200" dirty="0"/>
          </a:p>
        </p:txBody>
      </p:sp>
      <p:sp>
        <p:nvSpPr>
          <p:cNvPr id="19" name="Text 15"/>
          <p:cNvSpPr txBox="1"/>
          <p:nvPr/>
        </p:nvSpPr>
        <p:spPr>
          <a:xfrm>
            <a:off x="1508760" y="2723998"/>
            <a:ext cx="9784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줄의 맨 앞에</a:t>
            </a:r>
            <a:endParaRPr lang="en-US" sz="1200" dirty="0"/>
          </a:p>
        </p:txBody>
      </p:sp>
      <p:sp>
        <p:nvSpPr>
          <p:cNvPr id="20" name="Text 16"/>
          <p:cNvSpPr txBox="1"/>
          <p:nvPr/>
        </p:nvSpPr>
        <p:spPr>
          <a:xfrm>
            <a:off x="2371039" y="2790749"/>
            <a:ext cx="16276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&gt;</a:t>
            </a:r>
            <a:endParaRPr lang="en-US" sz="1000" dirty="0"/>
          </a:p>
        </p:txBody>
      </p:sp>
      <p:sp>
        <p:nvSpPr>
          <p:cNvPr id="21" name="Text 17"/>
          <p:cNvSpPr txBox="1"/>
          <p:nvPr/>
        </p:nvSpPr>
        <p:spPr>
          <a:xfrm>
            <a:off x="2527402" y="2723998"/>
            <a:ext cx="201808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기호를 붙여서 작성합니다.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571500" y="4019702"/>
            <a:ext cx="4238244" cy="2457907"/>
          </a:xfrm>
          <a:prstGeom prst="roundRect">
            <a:avLst>
              <a:gd name="adj" fmla="val 230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rcRect t="-100" b="-100"/>
          <a:stretch/>
        </p:blipFill>
        <p:spPr>
          <a:xfrm>
            <a:off x="905256" y="4334256"/>
            <a:ext cx="114300" cy="152705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1228954" y="4276649"/>
            <a:ext cx="13405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텍스트 스타일</a:t>
            </a:r>
            <a:endParaRPr lang="en-US" sz="1500" dirty="0"/>
          </a:p>
        </p:txBody>
      </p:sp>
      <p:sp>
        <p:nvSpPr>
          <p:cNvPr id="25" name="Text 20"/>
          <p:cNvSpPr txBox="1"/>
          <p:nvPr/>
        </p:nvSpPr>
        <p:spPr>
          <a:xfrm>
            <a:off x="1037844" y="4714646"/>
            <a:ext cx="9528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굵게(Bold):</a:t>
            </a:r>
            <a:endParaRPr lang="en-US" sz="1200" dirty="0"/>
          </a:p>
        </p:txBody>
      </p:sp>
      <p:sp>
        <p:nvSpPr>
          <p:cNvPr id="26" name="Text 21"/>
          <p:cNvSpPr txBox="1"/>
          <p:nvPr/>
        </p:nvSpPr>
        <p:spPr>
          <a:xfrm>
            <a:off x="1904695" y="4781398"/>
            <a:ext cx="23865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**</a:t>
            </a:r>
            <a:endParaRPr lang="en-US" sz="1000" dirty="0"/>
          </a:p>
        </p:txBody>
      </p:sp>
      <p:sp>
        <p:nvSpPr>
          <p:cNvPr id="27" name="Text 22"/>
          <p:cNvSpPr txBox="1"/>
          <p:nvPr/>
        </p:nvSpPr>
        <p:spPr>
          <a:xfrm>
            <a:off x="2141525" y="4714646"/>
            <a:ext cx="3621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또는</a:t>
            </a:r>
            <a:endParaRPr lang="en-US" sz="1200" dirty="0"/>
          </a:p>
        </p:txBody>
      </p:sp>
      <p:sp>
        <p:nvSpPr>
          <p:cNvPr id="28" name="Text 23"/>
          <p:cNvSpPr txBox="1"/>
          <p:nvPr/>
        </p:nvSpPr>
        <p:spPr>
          <a:xfrm>
            <a:off x="2498141" y="4781398"/>
            <a:ext cx="23865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__</a:t>
            </a:r>
            <a:endParaRPr lang="en-US" sz="1000" dirty="0"/>
          </a:p>
        </p:txBody>
      </p:sp>
      <p:sp>
        <p:nvSpPr>
          <p:cNvPr id="29" name="Text 24"/>
          <p:cNvSpPr txBox="1"/>
          <p:nvPr/>
        </p:nvSpPr>
        <p:spPr>
          <a:xfrm>
            <a:off x="2734970" y="4714646"/>
            <a:ext cx="72603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 감싸기</a:t>
            </a:r>
            <a:endParaRPr lang="en-US" sz="1200" dirty="0"/>
          </a:p>
        </p:txBody>
      </p:sp>
      <p:sp>
        <p:nvSpPr>
          <p:cNvPr id="30" name="Text 25"/>
          <p:cNvSpPr txBox="1"/>
          <p:nvPr/>
        </p:nvSpPr>
        <p:spPr>
          <a:xfrm>
            <a:off x="1037844" y="5181905"/>
            <a:ext cx="114482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기울임(Italic):</a:t>
            </a:r>
            <a:endParaRPr lang="en-US" sz="1200" dirty="0"/>
          </a:p>
        </p:txBody>
      </p:sp>
      <p:sp>
        <p:nvSpPr>
          <p:cNvPr id="31" name="Text 26"/>
          <p:cNvSpPr txBox="1"/>
          <p:nvPr/>
        </p:nvSpPr>
        <p:spPr>
          <a:xfrm>
            <a:off x="2074774" y="5248656"/>
            <a:ext cx="16276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*</a:t>
            </a:r>
            <a:endParaRPr lang="en-US" sz="1000" dirty="0"/>
          </a:p>
        </p:txBody>
      </p:sp>
      <p:sp>
        <p:nvSpPr>
          <p:cNvPr id="32" name="Text 27"/>
          <p:cNvSpPr txBox="1"/>
          <p:nvPr/>
        </p:nvSpPr>
        <p:spPr>
          <a:xfrm>
            <a:off x="2231136" y="5181905"/>
            <a:ext cx="3621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또는</a:t>
            </a:r>
            <a:endParaRPr lang="en-US" sz="1200" dirty="0"/>
          </a:p>
        </p:txBody>
      </p:sp>
      <p:sp>
        <p:nvSpPr>
          <p:cNvPr id="33" name="Text 28"/>
          <p:cNvSpPr txBox="1"/>
          <p:nvPr/>
        </p:nvSpPr>
        <p:spPr>
          <a:xfrm>
            <a:off x="2587752" y="5248656"/>
            <a:ext cx="16276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_</a:t>
            </a:r>
            <a:endParaRPr lang="en-US" sz="1000" dirty="0"/>
          </a:p>
        </p:txBody>
      </p:sp>
      <p:sp>
        <p:nvSpPr>
          <p:cNvPr id="34" name="Text 29"/>
          <p:cNvSpPr txBox="1"/>
          <p:nvPr/>
        </p:nvSpPr>
        <p:spPr>
          <a:xfrm>
            <a:off x="2744114" y="5181905"/>
            <a:ext cx="72603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 감싸기</a:t>
            </a:r>
            <a:endParaRPr lang="en-US" sz="1200" dirty="0"/>
          </a:p>
        </p:txBody>
      </p:sp>
      <p:sp>
        <p:nvSpPr>
          <p:cNvPr id="35" name="Text 30"/>
          <p:cNvSpPr txBox="1"/>
          <p:nvPr/>
        </p:nvSpPr>
        <p:spPr>
          <a:xfrm>
            <a:off x="1037844" y="5648249"/>
            <a:ext cx="10433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코드(Inline):</a:t>
            </a:r>
            <a:endParaRPr lang="en-US" sz="1200" dirty="0"/>
          </a:p>
        </p:txBody>
      </p:sp>
      <p:sp>
        <p:nvSpPr>
          <p:cNvPr id="36" name="Text 31"/>
          <p:cNvSpPr txBox="1"/>
          <p:nvPr/>
        </p:nvSpPr>
        <p:spPr>
          <a:xfrm>
            <a:off x="1912010" y="5648249"/>
            <a:ext cx="193029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백틱( ` ) 기호로 감싸기</a:t>
            </a:r>
            <a:endParaRPr lang="en-US" sz="1200" dirty="0"/>
          </a:p>
        </p:txBody>
      </p:sp>
      <p:sp>
        <p:nvSpPr>
          <p:cNvPr id="37" name="Shape 32"/>
          <p:cNvSpPr/>
          <p:nvPr/>
        </p:nvSpPr>
        <p:spPr>
          <a:xfrm>
            <a:off x="5113325" y="1333195"/>
            <a:ext cx="6515100" cy="2572207"/>
          </a:xfrm>
          <a:prstGeom prst="roundRect">
            <a:avLst>
              <a:gd name="adj" fmla="val 210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3"/>
          <p:cNvSpPr/>
          <p:nvPr/>
        </p:nvSpPr>
        <p:spPr>
          <a:xfrm>
            <a:off x="5122469" y="1343254"/>
            <a:ext cx="6495898" cy="314554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4"/>
          <p:cNvSpPr/>
          <p:nvPr/>
        </p:nvSpPr>
        <p:spPr>
          <a:xfrm>
            <a:off x="5122469" y="1648663"/>
            <a:ext cx="6495898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5"/>
          <p:cNvSpPr/>
          <p:nvPr/>
        </p:nvSpPr>
        <p:spPr>
          <a:xfrm>
            <a:off x="5275174" y="1447495"/>
            <a:ext cx="95098" cy="9509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6"/>
          <p:cNvSpPr/>
          <p:nvPr/>
        </p:nvSpPr>
        <p:spPr>
          <a:xfrm>
            <a:off x="5426964" y="1447495"/>
            <a:ext cx="95098" cy="9509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37"/>
          <p:cNvSpPr/>
          <p:nvPr/>
        </p:nvSpPr>
        <p:spPr>
          <a:xfrm>
            <a:off x="5579669" y="1447495"/>
            <a:ext cx="95098" cy="9509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38"/>
          <p:cNvSpPr txBox="1"/>
          <p:nvPr/>
        </p:nvSpPr>
        <p:spPr>
          <a:xfrm>
            <a:off x="10361066" y="1429207"/>
            <a:ext cx="1181405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8FAF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style_example.md</a:t>
            </a:r>
            <a:endParaRPr lang="en-US" sz="900" dirty="0"/>
          </a:p>
        </p:txBody>
      </p:sp>
      <p:sp>
        <p:nvSpPr>
          <p:cNvPr id="44" name="Shape 39"/>
          <p:cNvSpPr/>
          <p:nvPr/>
        </p:nvSpPr>
        <p:spPr>
          <a:xfrm>
            <a:off x="5122469" y="1657807"/>
            <a:ext cx="6495898" cy="2238451"/>
          </a:xfrm>
          <a:prstGeom prst="roundRect">
            <a:avLst>
              <a:gd name="adj" fmla="val 1391"/>
            </a:avLst>
          </a:prstGeom>
          <a:solidFill>
            <a:srgbClr val="0206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0"/>
          <p:cNvSpPr txBox="1"/>
          <p:nvPr/>
        </p:nvSpPr>
        <p:spPr>
          <a:xfrm>
            <a:off x="5312664" y="1876349"/>
            <a:ext cx="3246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472B6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---</a:t>
            </a:r>
            <a:endParaRPr lang="en-US" sz="1000" dirty="0"/>
          </a:p>
        </p:txBody>
      </p:sp>
      <p:sp>
        <p:nvSpPr>
          <p:cNvPr id="46" name="Text 41"/>
          <p:cNvSpPr txBox="1"/>
          <p:nvPr/>
        </p:nvSpPr>
        <p:spPr>
          <a:xfrm>
            <a:off x="5312664" y="2166214"/>
            <a:ext cx="16276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472B6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&gt;</a:t>
            </a:r>
            <a:endParaRPr lang="en-US" sz="1000" dirty="0"/>
          </a:p>
        </p:txBody>
      </p:sp>
      <p:sp>
        <p:nvSpPr>
          <p:cNvPr id="47" name="Text 42"/>
          <p:cNvSpPr txBox="1"/>
          <p:nvPr/>
        </p:nvSpPr>
        <p:spPr>
          <a:xfrm>
            <a:off x="5393131" y="2166214"/>
            <a:ext cx="217078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"마크다운은 정말 편리합니다."</a:t>
            </a:r>
            <a:endParaRPr lang="en-US" sz="1000" dirty="0"/>
          </a:p>
        </p:txBody>
      </p:sp>
      <p:sp>
        <p:nvSpPr>
          <p:cNvPr id="48" name="Text 43"/>
          <p:cNvSpPr txBox="1"/>
          <p:nvPr/>
        </p:nvSpPr>
        <p:spPr>
          <a:xfrm>
            <a:off x="5312664" y="2379269"/>
            <a:ext cx="16276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472B6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&gt;</a:t>
            </a:r>
            <a:endParaRPr lang="en-US" sz="1000" dirty="0"/>
          </a:p>
        </p:txBody>
      </p:sp>
      <p:sp>
        <p:nvSpPr>
          <p:cNvPr id="49" name="Text 44"/>
          <p:cNvSpPr txBox="1"/>
          <p:nvPr/>
        </p:nvSpPr>
        <p:spPr>
          <a:xfrm>
            <a:off x="5393131" y="2379269"/>
            <a:ext cx="113202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- 익명의 개발자</a:t>
            </a:r>
            <a:endParaRPr lang="en-US" sz="1000" dirty="0"/>
          </a:p>
        </p:txBody>
      </p:sp>
      <p:sp>
        <p:nvSpPr>
          <p:cNvPr id="50" name="Text 45"/>
          <p:cNvSpPr txBox="1"/>
          <p:nvPr/>
        </p:nvSpPr>
        <p:spPr>
          <a:xfrm>
            <a:off x="5312664" y="2745029"/>
            <a:ext cx="96286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중요한 단어는</a:t>
            </a:r>
            <a:endParaRPr lang="en-US" sz="1000" dirty="0"/>
          </a:p>
        </p:txBody>
      </p:sp>
      <p:sp>
        <p:nvSpPr>
          <p:cNvPr id="51" name="Text 46"/>
          <p:cNvSpPr txBox="1"/>
          <p:nvPr/>
        </p:nvSpPr>
        <p:spPr>
          <a:xfrm>
            <a:off x="6193231" y="2745029"/>
            <a:ext cx="115305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ACC1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**굵게(Bold)**</a:t>
            </a:r>
            <a:endParaRPr lang="en-US" sz="1000" dirty="0"/>
          </a:p>
        </p:txBody>
      </p:sp>
      <p:sp>
        <p:nvSpPr>
          <p:cNvPr id="52" name="Text 47"/>
          <p:cNvSpPr txBox="1"/>
          <p:nvPr/>
        </p:nvSpPr>
        <p:spPr>
          <a:xfrm>
            <a:off x="7260336" y="2745029"/>
            <a:ext cx="69585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표시하고,</a:t>
            </a:r>
            <a:endParaRPr lang="en-US" sz="1000" dirty="0"/>
          </a:p>
        </p:txBody>
      </p:sp>
      <p:sp>
        <p:nvSpPr>
          <p:cNvPr id="53" name="Text 48"/>
          <p:cNvSpPr txBox="1"/>
          <p:nvPr/>
        </p:nvSpPr>
        <p:spPr>
          <a:xfrm>
            <a:off x="5312664" y="2958998"/>
            <a:ext cx="110093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강조하고 싶으면</a:t>
            </a:r>
            <a:endParaRPr lang="en-US" sz="1000" dirty="0"/>
          </a:p>
        </p:txBody>
      </p:sp>
      <p:sp>
        <p:nvSpPr>
          <p:cNvPr id="54" name="Text 49"/>
          <p:cNvSpPr txBox="1"/>
          <p:nvPr/>
        </p:nvSpPr>
        <p:spPr>
          <a:xfrm>
            <a:off x="6326734" y="2958998"/>
            <a:ext cx="128656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FACC1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*기울여(Italic)*</a:t>
            </a:r>
            <a:endParaRPr lang="en-US" sz="1000" dirty="0"/>
          </a:p>
        </p:txBody>
      </p:sp>
      <p:sp>
        <p:nvSpPr>
          <p:cNvPr id="55" name="Text 50"/>
          <p:cNvSpPr txBox="1"/>
          <p:nvPr/>
        </p:nvSpPr>
        <p:spPr>
          <a:xfrm>
            <a:off x="7526426" y="2958998"/>
            <a:ext cx="56235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주세요.</a:t>
            </a:r>
            <a:endParaRPr lang="en-US" sz="1000" dirty="0"/>
          </a:p>
        </p:txBody>
      </p:sp>
      <p:sp>
        <p:nvSpPr>
          <p:cNvPr id="56" name="Text 51"/>
          <p:cNvSpPr txBox="1"/>
          <p:nvPr/>
        </p:nvSpPr>
        <p:spPr>
          <a:xfrm>
            <a:off x="5312664" y="3324758"/>
            <a:ext cx="6099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단축키는</a:t>
            </a:r>
            <a:endParaRPr lang="en-US" sz="1000" dirty="0"/>
          </a:p>
        </p:txBody>
      </p:sp>
      <p:sp>
        <p:nvSpPr>
          <p:cNvPr id="57" name="Text 52"/>
          <p:cNvSpPr txBox="1"/>
          <p:nvPr/>
        </p:nvSpPr>
        <p:spPr>
          <a:xfrm>
            <a:off x="5846674" y="3324758"/>
            <a:ext cx="88605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DE8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`Ctrl + C`</a:t>
            </a:r>
            <a:endParaRPr lang="en-US" sz="1000" dirty="0"/>
          </a:p>
        </p:txBody>
      </p:sp>
      <p:sp>
        <p:nvSpPr>
          <p:cNvPr id="58" name="Text 53"/>
          <p:cNvSpPr txBox="1"/>
          <p:nvPr/>
        </p:nvSpPr>
        <p:spPr>
          <a:xfrm>
            <a:off x="6646774" y="3324758"/>
            <a:ext cx="118323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처럼 작성합니다.</a:t>
            </a:r>
            <a:endParaRPr lang="en-US" sz="1000" dirty="0"/>
          </a:p>
        </p:txBody>
      </p:sp>
      <p:sp>
        <p:nvSpPr>
          <p:cNvPr id="59" name="Shape 54"/>
          <p:cNvSpPr/>
          <p:nvPr/>
        </p:nvSpPr>
        <p:spPr>
          <a:xfrm>
            <a:off x="5113325" y="4286707"/>
            <a:ext cx="6515100" cy="2190902"/>
          </a:xfrm>
          <a:prstGeom prst="roundRect">
            <a:avLst>
              <a:gd name="adj" fmla="val 290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0" name="Shape 55"/>
          <p:cNvSpPr/>
          <p:nvPr/>
        </p:nvSpPr>
        <p:spPr>
          <a:xfrm>
            <a:off x="5122469" y="4295851"/>
            <a:ext cx="6495898" cy="38405"/>
          </a:xfrm>
          <a:prstGeom prst="rect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1" name="Shape 56"/>
          <p:cNvSpPr/>
          <p:nvPr/>
        </p:nvSpPr>
        <p:spPr>
          <a:xfrm>
            <a:off x="5351069" y="4645152"/>
            <a:ext cx="6038698" cy="1920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" name="Shape 57"/>
          <p:cNvSpPr/>
          <p:nvPr/>
        </p:nvSpPr>
        <p:spPr>
          <a:xfrm>
            <a:off x="5351069" y="4968850"/>
            <a:ext cx="38405" cy="45720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3" name="Text 58"/>
          <p:cNvSpPr txBox="1"/>
          <p:nvPr/>
        </p:nvSpPr>
        <p:spPr>
          <a:xfrm>
            <a:off x="5541264" y="4968850"/>
            <a:ext cx="2370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"마크다운은 정말 편리합니다."</a:t>
            </a:r>
            <a:endParaRPr lang="en-US" sz="1200" dirty="0"/>
          </a:p>
        </p:txBody>
      </p:sp>
      <p:sp>
        <p:nvSpPr>
          <p:cNvPr id="64" name="Text 59"/>
          <p:cNvSpPr txBox="1"/>
          <p:nvPr/>
        </p:nvSpPr>
        <p:spPr>
          <a:xfrm>
            <a:off x="5541264" y="5197450"/>
            <a:ext cx="123078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 익명의 개발자</a:t>
            </a:r>
            <a:endParaRPr lang="en-US" sz="1200" dirty="0"/>
          </a:p>
        </p:txBody>
      </p:sp>
      <p:sp>
        <p:nvSpPr>
          <p:cNvPr id="65" name="Text 60"/>
          <p:cNvSpPr txBox="1"/>
          <p:nvPr/>
        </p:nvSpPr>
        <p:spPr>
          <a:xfrm>
            <a:off x="5351069" y="5578754"/>
            <a:ext cx="62298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kern="0" spc="-1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중요한 단어는 굵게(Bold) </a:t>
            </a:r>
            <a:r>
              <a:rPr lang="en-US" sz="1100" b="1" kern="0" spc="-1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r>
              <a:rPr lang="en-US" sz="1100" kern="0" spc="-1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표시하고, 강조하고 싶으면 기울여(Italic) </a:t>
            </a:r>
            <a:r>
              <a:rPr lang="en-US" sz="1100" i="1" kern="0" spc="-1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r>
              <a:rPr lang="en-US" sz="1100" kern="0" spc="-1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주세요.</a:t>
            </a:r>
            <a:endParaRPr lang="en-US" sz="1100" dirty="0"/>
          </a:p>
        </p:txBody>
      </p:sp>
      <p:sp>
        <p:nvSpPr>
          <p:cNvPr id="66" name="Text 61"/>
          <p:cNvSpPr txBox="1"/>
          <p:nvPr/>
        </p:nvSpPr>
        <p:spPr>
          <a:xfrm>
            <a:off x="5351069" y="5921654"/>
            <a:ext cx="615391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kern="0" spc="-1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단축키는 </a:t>
            </a:r>
            <a:r>
              <a:rPr lang="en-US" sz="1000" b="1" kern="0" spc="-11" dirty="0">
                <a:solidFill>
                  <a:srgbClr val="DB27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Ctrl + C</a:t>
            </a:r>
            <a:r>
              <a:rPr lang="en-US" sz="1100" kern="0" spc="-1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처럼 작성합니다.</a:t>
            </a:r>
            <a:endParaRPr lang="en-US" sz="1100" dirty="0"/>
          </a:p>
        </p:txBody>
      </p:sp>
      <p:pic>
        <p:nvPicPr>
          <p:cNvPr id="67" name="Image 3" descr="preencoded.png"/>
          <p:cNvPicPr>
            <a:picLocks noChangeAspect="1"/>
          </p:cNvPicPr>
          <p:nvPr/>
        </p:nvPicPr>
        <p:blipFill>
          <a:blip r:embed="rId6"/>
          <a:srcRect l="-2512" r="-2512"/>
          <a:stretch/>
        </p:blipFill>
        <p:spPr>
          <a:xfrm>
            <a:off x="8041234" y="4045306"/>
            <a:ext cx="105156" cy="133502"/>
          </a:xfrm>
          <a:prstGeom prst="rect">
            <a:avLst/>
          </a:prstGeom>
        </p:spPr>
      </p:pic>
      <p:sp>
        <p:nvSpPr>
          <p:cNvPr id="68" name="Text 62"/>
          <p:cNvSpPr txBox="1"/>
          <p:nvPr/>
        </p:nvSpPr>
        <p:spPr>
          <a:xfrm>
            <a:off x="8183880" y="4028846"/>
            <a:ext cx="5907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PREVIEW</a:t>
            </a:r>
            <a:endParaRPr lang="en-US" sz="900" dirty="0"/>
          </a:p>
        </p:txBody>
      </p:sp>
      <p:sp>
        <p:nvSpPr>
          <p:cNvPr id="69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 txBox="1"/>
          <p:nvPr/>
        </p:nvSpPr>
        <p:spPr>
          <a:xfrm>
            <a:off x="571500" y="381305"/>
            <a:ext cx="279349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2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Part 1. 마크다운 기본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71500" y="647395"/>
            <a:ext cx="369326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67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목록 만들기 (Lists)</a:t>
            </a:r>
            <a:endParaRPr lang="en-US" sz="27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695737" y="857707"/>
            <a:ext cx="152705" cy="15270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924337" y="838505"/>
            <a:ext cx="83941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List Syntax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71500" y="1333195"/>
            <a:ext cx="4238244" cy="3010205"/>
          </a:xfrm>
          <a:prstGeom prst="roundRect">
            <a:avLst>
              <a:gd name="adj" fmla="val 153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809244" y="1571854"/>
            <a:ext cx="304495" cy="304495"/>
          </a:xfrm>
          <a:prstGeom prst="roundRect">
            <a:avLst>
              <a:gd name="adj" fmla="val 37538"/>
            </a:avLst>
          </a:prstGeom>
          <a:solidFill>
            <a:srgbClr val="1E3A8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86054" y="1647749"/>
            <a:ext cx="152705" cy="15270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228954" y="1591056"/>
            <a:ext cx="191292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순서 / 비순서 목록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1037844" y="2029054"/>
            <a:ext cx="16550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순서 목록(Ordered):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2424989" y="2029054"/>
            <a:ext cx="82113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숫자와 점(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3118104" y="2095805"/>
            <a:ext cx="23865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1.</a:t>
            </a:r>
            <a:endParaRPr lang="en-US" sz="1000" dirty="0"/>
          </a:p>
        </p:txBody>
      </p:sp>
      <p:sp>
        <p:nvSpPr>
          <p:cNvPr id="15" name="Text 11"/>
          <p:cNvSpPr txBox="1"/>
          <p:nvPr/>
        </p:nvSpPr>
        <p:spPr>
          <a:xfrm>
            <a:off x="3316529" y="2029054"/>
            <a:ext cx="123078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)을 사용합니다.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1037844" y="2495398"/>
            <a:ext cx="205191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비순서 목록(Unordered):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2793492" y="2562149"/>
            <a:ext cx="16276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-</a:t>
            </a:r>
            <a:endParaRPr lang="en-US" sz="1000" dirty="0"/>
          </a:p>
        </p:txBody>
      </p:sp>
      <p:sp>
        <p:nvSpPr>
          <p:cNvPr id="18" name="Text 14"/>
          <p:cNvSpPr txBox="1"/>
          <p:nvPr/>
        </p:nvSpPr>
        <p:spPr>
          <a:xfrm>
            <a:off x="2911450" y="2495398"/>
            <a:ext cx="1243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</a:t>
            </a:r>
            <a:endParaRPr lang="en-US" sz="1200" dirty="0"/>
          </a:p>
        </p:txBody>
      </p:sp>
      <p:sp>
        <p:nvSpPr>
          <p:cNvPr id="19" name="Text 15"/>
          <p:cNvSpPr txBox="1"/>
          <p:nvPr/>
        </p:nvSpPr>
        <p:spPr>
          <a:xfrm>
            <a:off x="2991917" y="2562149"/>
            <a:ext cx="16276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+</a:t>
            </a:r>
            <a:endParaRPr lang="en-US" sz="1000" dirty="0"/>
          </a:p>
        </p:txBody>
      </p:sp>
      <p:sp>
        <p:nvSpPr>
          <p:cNvPr id="20" name="Text 16"/>
          <p:cNvSpPr txBox="1"/>
          <p:nvPr/>
        </p:nvSpPr>
        <p:spPr>
          <a:xfrm>
            <a:off x="3110789" y="2495398"/>
            <a:ext cx="1243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</a:t>
            </a:r>
            <a:endParaRPr lang="en-US" sz="1200" dirty="0"/>
          </a:p>
        </p:txBody>
      </p:sp>
      <p:sp>
        <p:nvSpPr>
          <p:cNvPr id="21" name="Text 17"/>
          <p:cNvSpPr txBox="1"/>
          <p:nvPr/>
        </p:nvSpPr>
        <p:spPr>
          <a:xfrm>
            <a:off x="3191256" y="2562149"/>
            <a:ext cx="16276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*</a:t>
            </a:r>
            <a:endParaRPr lang="en-US" sz="1000" dirty="0"/>
          </a:p>
        </p:txBody>
      </p:sp>
      <p:sp>
        <p:nvSpPr>
          <p:cNvPr id="22" name="Text 18"/>
          <p:cNvSpPr txBox="1"/>
          <p:nvPr/>
        </p:nvSpPr>
        <p:spPr>
          <a:xfrm>
            <a:off x="1037844" y="2495398"/>
            <a:ext cx="3715207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120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기호 중 하나를 사용합니다.</a:t>
            </a:r>
            <a:endParaRPr lang="en-US" sz="1200" dirty="0"/>
          </a:p>
        </p:txBody>
      </p:sp>
      <p:sp>
        <p:nvSpPr>
          <p:cNvPr id="23" name="Text 19"/>
          <p:cNvSpPr txBox="1"/>
          <p:nvPr/>
        </p:nvSpPr>
        <p:spPr>
          <a:xfrm>
            <a:off x="1037844" y="3191256"/>
            <a:ext cx="14502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기호 뒤에는 반드시</a:t>
            </a:r>
            <a:endParaRPr lang="en-US" sz="1200" dirty="0"/>
          </a:p>
        </p:txBody>
      </p:sp>
      <p:sp>
        <p:nvSpPr>
          <p:cNvPr id="24" name="Text 20"/>
          <p:cNvSpPr txBox="1"/>
          <p:nvPr/>
        </p:nvSpPr>
        <p:spPr>
          <a:xfrm>
            <a:off x="2245766" y="3191256"/>
            <a:ext cx="998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공백(Space)</a:t>
            </a:r>
            <a:endParaRPr lang="en-US" sz="1200" dirty="0"/>
          </a:p>
        </p:txBody>
      </p:sp>
      <p:sp>
        <p:nvSpPr>
          <p:cNvPr id="25" name="Text 21"/>
          <p:cNvSpPr txBox="1"/>
          <p:nvPr/>
        </p:nvSpPr>
        <p:spPr>
          <a:xfrm>
            <a:off x="3085186" y="3191256"/>
            <a:ext cx="113568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필요합니다.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571500" y="4457700"/>
            <a:ext cx="4238244" cy="2148840"/>
          </a:xfrm>
          <a:prstGeom prst="roundRect">
            <a:avLst>
              <a:gd name="adj" fmla="val 153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5"/>
          <a:srcRect t="-43" b="-43"/>
          <a:stretch/>
        </p:blipFill>
        <p:spPr>
          <a:xfrm>
            <a:off x="895198" y="4878324"/>
            <a:ext cx="133502" cy="152705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1228954" y="4820717"/>
            <a:ext cx="199522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목록 중첩 (Nesting)</a:t>
            </a:r>
            <a:endParaRPr lang="en-US" sz="1500" dirty="0"/>
          </a:p>
        </p:txBody>
      </p:sp>
      <p:sp>
        <p:nvSpPr>
          <p:cNvPr id="29" name="Text 24"/>
          <p:cNvSpPr txBox="1"/>
          <p:nvPr/>
        </p:nvSpPr>
        <p:spPr>
          <a:xfrm>
            <a:off x="1037844" y="5258714"/>
            <a:ext cx="22704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하위 목록을 만들려면 줄 앞에</a:t>
            </a:r>
            <a:endParaRPr lang="en-US" sz="1200" dirty="0"/>
          </a:p>
        </p:txBody>
      </p:sp>
      <p:sp>
        <p:nvSpPr>
          <p:cNvPr id="30" name="Text 25"/>
          <p:cNvSpPr txBox="1"/>
          <p:nvPr/>
        </p:nvSpPr>
        <p:spPr>
          <a:xfrm>
            <a:off x="2891333" y="5258714"/>
            <a:ext cx="86136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공백 2~4칸</a:t>
            </a:r>
            <a:endParaRPr lang="en-US" sz="1200" dirty="0"/>
          </a:p>
        </p:txBody>
      </p:sp>
      <p:sp>
        <p:nvSpPr>
          <p:cNvPr id="31" name="Text 26"/>
          <p:cNvSpPr txBox="1"/>
          <p:nvPr/>
        </p:nvSpPr>
        <p:spPr>
          <a:xfrm>
            <a:off x="1037844" y="5258714"/>
            <a:ext cx="36676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120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(또는 탭)을 넣어 들여쓰기합니다.</a:t>
            </a:r>
            <a:endParaRPr lang="en-US" sz="1200" dirty="0"/>
          </a:p>
        </p:txBody>
      </p:sp>
      <p:sp>
        <p:nvSpPr>
          <p:cNvPr id="32" name="Text 27"/>
          <p:cNvSpPr txBox="1"/>
          <p:nvPr/>
        </p:nvSpPr>
        <p:spPr>
          <a:xfrm>
            <a:off x="1037844" y="5944514"/>
            <a:ext cx="201808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순서 목록과 비순서 목록을</a:t>
            </a:r>
            <a:endParaRPr lang="en-US" sz="1200" dirty="0"/>
          </a:p>
        </p:txBody>
      </p:sp>
      <p:sp>
        <p:nvSpPr>
          <p:cNvPr id="33" name="Text 28"/>
          <p:cNvSpPr txBox="1"/>
          <p:nvPr/>
        </p:nvSpPr>
        <p:spPr>
          <a:xfrm>
            <a:off x="2708453" y="5944514"/>
            <a:ext cx="91074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섞어서 사용</a:t>
            </a:r>
            <a:endParaRPr lang="en-US" sz="1200" dirty="0"/>
          </a:p>
        </p:txBody>
      </p:sp>
      <p:sp>
        <p:nvSpPr>
          <p:cNvPr id="34" name="Text 29"/>
          <p:cNvSpPr txBox="1"/>
          <p:nvPr/>
        </p:nvSpPr>
        <p:spPr>
          <a:xfrm>
            <a:off x="3452774" y="5944514"/>
            <a:ext cx="138805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할 수도 있습니다.</a:t>
            </a:r>
            <a:endParaRPr lang="en-US" sz="1200" dirty="0"/>
          </a:p>
        </p:txBody>
      </p:sp>
      <p:sp>
        <p:nvSpPr>
          <p:cNvPr id="35" name="Shape 30"/>
          <p:cNvSpPr/>
          <p:nvPr/>
        </p:nvSpPr>
        <p:spPr>
          <a:xfrm>
            <a:off x="5113325" y="1333195"/>
            <a:ext cx="6515100" cy="3124505"/>
          </a:xfrm>
          <a:prstGeom prst="roundRect">
            <a:avLst>
              <a:gd name="adj" fmla="val 142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1"/>
          <p:cNvSpPr/>
          <p:nvPr/>
        </p:nvSpPr>
        <p:spPr>
          <a:xfrm>
            <a:off x="5122469" y="1343254"/>
            <a:ext cx="6495898" cy="314554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2"/>
          <p:cNvSpPr/>
          <p:nvPr/>
        </p:nvSpPr>
        <p:spPr>
          <a:xfrm>
            <a:off x="5122469" y="1648663"/>
            <a:ext cx="6495898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3"/>
          <p:cNvSpPr/>
          <p:nvPr/>
        </p:nvSpPr>
        <p:spPr>
          <a:xfrm>
            <a:off x="5275174" y="1447495"/>
            <a:ext cx="95098" cy="9509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4"/>
          <p:cNvSpPr/>
          <p:nvPr/>
        </p:nvSpPr>
        <p:spPr>
          <a:xfrm>
            <a:off x="5426964" y="1447495"/>
            <a:ext cx="95098" cy="9509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5"/>
          <p:cNvSpPr/>
          <p:nvPr/>
        </p:nvSpPr>
        <p:spPr>
          <a:xfrm>
            <a:off x="5579669" y="1447495"/>
            <a:ext cx="95098" cy="9509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6"/>
          <p:cNvSpPr txBox="1"/>
          <p:nvPr/>
        </p:nvSpPr>
        <p:spPr>
          <a:xfrm>
            <a:off x="10429646" y="1429207"/>
            <a:ext cx="1114654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list_example.md</a:t>
            </a:r>
            <a:endParaRPr lang="en-US" sz="900" dirty="0"/>
          </a:p>
        </p:txBody>
      </p:sp>
      <p:sp>
        <p:nvSpPr>
          <p:cNvPr id="42" name="Shape 37"/>
          <p:cNvSpPr/>
          <p:nvPr/>
        </p:nvSpPr>
        <p:spPr>
          <a:xfrm>
            <a:off x="5122469" y="1657807"/>
            <a:ext cx="6495898" cy="2790749"/>
          </a:xfrm>
          <a:prstGeom prst="roundRect">
            <a:avLst>
              <a:gd name="adj" fmla="val 895"/>
            </a:avLst>
          </a:prstGeom>
          <a:solidFill>
            <a:srgbClr val="0206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38"/>
          <p:cNvSpPr txBox="1"/>
          <p:nvPr/>
        </p:nvSpPr>
        <p:spPr>
          <a:xfrm>
            <a:off x="5312664" y="1876349"/>
            <a:ext cx="136245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0A5F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## 장보기 (비순서)</a:t>
            </a:r>
            <a:endParaRPr lang="en-US" sz="1000" dirty="0"/>
          </a:p>
        </p:txBody>
      </p:sp>
      <p:sp>
        <p:nvSpPr>
          <p:cNvPr id="44" name="Text 39"/>
          <p:cNvSpPr txBox="1"/>
          <p:nvPr/>
        </p:nvSpPr>
        <p:spPr>
          <a:xfrm>
            <a:off x="5312664" y="2166214"/>
            <a:ext cx="16276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ACC1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-</a:t>
            </a:r>
            <a:endParaRPr lang="en-US" sz="1000" dirty="0"/>
          </a:p>
        </p:txBody>
      </p:sp>
      <p:sp>
        <p:nvSpPr>
          <p:cNvPr id="45" name="Text 40"/>
          <p:cNvSpPr txBox="1"/>
          <p:nvPr/>
        </p:nvSpPr>
        <p:spPr>
          <a:xfrm>
            <a:off x="5393131" y="2166214"/>
            <a:ext cx="3429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과일</a:t>
            </a:r>
            <a:endParaRPr lang="en-US" sz="1000" dirty="0"/>
          </a:p>
        </p:txBody>
      </p:sp>
      <p:sp>
        <p:nvSpPr>
          <p:cNvPr id="46" name="Text 41"/>
          <p:cNvSpPr txBox="1"/>
          <p:nvPr/>
        </p:nvSpPr>
        <p:spPr>
          <a:xfrm>
            <a:off x="5465064" y="2379269"/>
            <a:ext cx="16276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ACC1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-</a:t>
            </a:r>
            <a:endParaRPr lang="en-US" sz="1000" dirty="0"/>
          </a:p>
        </p:txBody>
      </p:sp>
      <p:sp>
        <p:nvSpPr>
          <p:cNvPr id="47" name="Text 42"/>
          <p:cNvSpPr txBox="1"/>
          <p:nvPr/>
        </p:nvSpPr>
        <p:spPr>
          <a:xfrm>
            <a:off x="5545531" y="2379269"/>
            <a:ext cx="3429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사과</a:t>
            </a:r>
            <a:endParaRPr lang="en-US" sz="1000" dirty="0"/>
          </a:p>
        </p:txBody>
      </p:sp>
      <p:sp>
        <p:nvSpPr>
          <p:cNvPr id="48" name="Text 43"/>
          <p:cNvSpPr txBox="1"/>
          <p:nvPr/>
        </p:nvSpPr>
        <p:spPr>
          <a:xfrm>
            <a:off x="5465064" y="2593238"/>
            <a:ext cx="16276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ACC1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-</a:t>
            </a:r>
            <a:endParaRPr lang="en-US" sz="1000" dirty="0"/>
          </a:p>
        </p:txBody>
      </p:sp>
      <p:sp>
        <p:nvSpPr>
          <p:cNvPr id="49" name="Text 44"/>
          <p:cNvSpPr txBox="1"/>
          <p:nvPr/>
        </p:nvSpPr>
        <p:spPr>
          <a:xfrm>
            <a:off x="5545531" y="2593238"/>
            <a:ext cx="4764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바나나</a:t>
            </a:r>
            <a:endParaRPr lang="en-US" sz="1000" dirty="0"/>
          </a:p>
        </p:txBody>
      </p:sp>
      <p:sp>
        <p:nvSpPr>
          <p:cNvPr id="50" name="Text 45"/>
          <p:cNvSpPr txBox="1"/>
          <p:nvPr/>
        </p:nvSpPr>
        <p:spPr>
          <a:xfrm>
            <a:off x="5312664" y="2920594"/>
            <a:ext cx="109545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0A5F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## 루틴 (순서)</a:t>
            </a:r>
            <a:endParaRPr lang="en-US" sz="1000" dirty="0"/>
          </a:p>
        </p:txBody>
      </p:sp>
      <p:sp>
        <p:nvSpPr>
          <p:cNvPr id="51" name="Text 46"/>
          <p:cNvSpPr txBox="1"/>
          <p:nvPr/>
        </p:nvSpPr>
        <p:spPr>
          <a:xfrm>
            <a:off x="5312664" y="3210458"/>
            <a:ext cx="23865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472B6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1.</a:t>
            </a:r>
            <a:endParaRPr lang="en-US" sz="1000" dirty="0"/>
          </a:p>
        </p:txBody>
      </p:sp>
      <p:sp>
        <p:nvSpPr>
          <p:cNvPr id="52" name="Text 47"/>
          <p:cNvSpPr txBox="1"/>
          <p:nvPr/>
        </p:nvSpPr>
        <p:spPr>
          <a:xfrm>
            <a:off x="5473598" y="3210458"/>
            <a:ext cx="69585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아침 운동</a:t>
            </a:r>
            <a:endParaRPr lang="en-US" sz="1000" dirty="0"/>
          </a:p>
        </p:txBody>
      </p:sp>
      <p:sp>
        <p:nvSpPr>
          <p:cNvPr id="53" name="Text 48"/>
          <p:cNvSpPr txBox="1"/>
          <p:nvPr/>
        </p:nvSpPr>
        <p:spPr>
          <a:xfrm>
            <a:off x="5312664" y="3423514"/>
            <a:ext cx="23865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472B6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2.</a:t>
            </a:r>
            <a:endParaRPr lang="en-US" sz="1000" dirty="0"/>
          </a:p>
        </p:txBody>
      </p:sp>
      <p:sp>
        <p:nvSpPr>
          <p:cNvPr id="54" name="Text 49"/>
          <p:cNvSpPr txBox="1"/>
          <p:nvPr/>
        </p:nvSpPr>
        <p:spPr>
          <a:xfrm>
            <a:off x="5473598" y="3423514"/>
            <a:ext cx="6099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샤워하기</a:t>
            </a:r>
            <a:endParaRPr lang="en-US" sz="1000" dirty="0"/>
          </a:p>
        </p:txBody>
      </p:sp>
      <p:sp>
        <p:nvSpPr>
          <p:cNvPr id="55" name="Text 50"/>
          <p:cNvSpPr txBox="1"/>
          <p:nvPr/>
        </p:nvSpPr>
        <p:spPr>
          <a:xfrm>
            <a:off x="5541264" y="3637483"/>
            <a:ext cx="23865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472B6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1.</a:t>
            </a:r>
            <a:endParaRPr lang="en-US" sz="1000" dirty="0"/>
          </a:p>
        </p:txBody>
      </p:sp>
      <p:sp>
        <p:nvSpPr>
          <p:cNvPr id="56" name="Text 51"/>
          <p:cNvSpPr txBox="1"/>
          <p:nvPr/>
        </p:nvSpPr>
        <p:spPr>
          <a:xfrm>
            <a:off x="5702198" y="3637483"/>
            <a:ext cx="3429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샴푸</a:t>
            </a:r>
            <a:endParaRPr lang="en-US" sz="1000" dirty="0"/>
          </a:p>
        </p:txBody>
      </p:sp>
      <p:sp>
        <p:nvSpPr>
          <p:cNvPr id="57" name="Shape 52"/>
          <p:cNvSpPr/>
          <p:nvPr/>
        </p:nvSpPr>
        <p:spPr>
          <a:xfrm>
            <a:off x="5113325" y="4830775"/>
            <a:ext cx="6515100" cy="1874825"/>
          </a:xfrm>
          <a:prstGeom prst="roundRect">
            <a:avLst>
              <a:gd name="adj" fmla="val 185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8" name="Shape 53"/>
          <p:cNvSpPr/>
          <p:nvPr/>
        </p:nvSpPr>
        <p:spPr>
          <a:xfrm>
            <a:off x="5122469" y="4839919"/>
            <a:ext cx="6495898" cy="38405"/>
          </a:xfrm>
          <a:prstGeom prst="rect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Shape 54"/>
          <p:cNvSpPr/>
          <p:nvPr/>
        </p:nvSpPr>
        <p:spPr>
          <a:xfrm>
            <a:off x="5879532" y="5456818"/>
            <a:ext cx="2069939" cy="45719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Text 55"/>
          <p:cNvSpPr txBox="1"/>
          <p:nvPr/>
        </p:nvSpPr>
        <p:spPr>
          <a:xfrm>
            <a:off x="5879532" y="5182147"/>
            <a:ext cx="143012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장보기 (비순서)</a:t>
            </a:r>
            <a:endParaRPr lang="en-US" sz="1300" dirty="0"/>
          </a:p>
        </p:txBody>
      </p:sp>
      <p:sp>
        <p:nvSpPr>
          <p:cNvPr id="61" name="Text 56"/>
          <p:cNvSpPr txBox="1"/>
          <p:nvPr/>
        </p:nvSpPr>
        <p:spPr>
          <a:xfrm>
            <a:off x="6069726" y="5563451"/>
            <a:ext cx="587043" cy="1955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과일</a:t>
            </a:r>
            <a:endParaRPr lang="en-US" sz="1000" dirty="0"/>
          </a:p>
        </p:txBody>
      </p:sp>
      <p:sp>
        <p:nvSpPr>
          <p:cNvPr id="62" name="Text 57"/>
          <p:cNvSpPr txBox="1"/>
          <p:nvPr/>
        </p:nvSpPr>
        <p:spPr>
          <a:xfrm>
            <a:off x="6260836" y="5801194"/>
            <a:ext cx="512091" cy="2495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사과</a:t>
            </a:r>
            <a:endParaRPr lang="en-US" sz="1000" dirty="0"/>
          </a:p>
        </p:txBody>
      </p:sp>
      <p:sp>
        <p:nvSpPr>
          <p:cNvPr id="63" name="Text 58"/>
          <p:cNvSpPr txBox="1"/>
          <p:nvPr/>
        </p:nvSpPr>
        <p:spPr>
          <a:xfrm>
            <a:off x="6260837" y="6039853"/>
            <a:ext cx="706830" cy="2495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바나나</a:t>
            </a:r>
            <a:endParaRPr lang="en-US" sz="1000" dirty="0"/>
          </a:p>
        </p:txBody>
      </p:sp>
      <p:sp>
        <p:nvSpPr>
          <p:cNvPr id="65" name="Text 60"/>
          <p:cNvSpPr txBox="1"/>
          <p:nvPr/>
        </p:nvSpPr>
        <p:spPr>
          <a:xfrm>
            <a:off x="8604443" y="5143566"/>
            <a:ext cx="106436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루틴 (순서)</a:t>
            </a:r>
            <a:endParaRPr lang="en-US" sz="1300" dirty="0"/>
          </a:p>
        </p:txBody>
      </p:sp>
      <p:sp>
        <p:nvSpPr>
          <p:cNvPr id="66" name="Text 61"/>
          <p:cNvSpPr txBox="1"/>
          <p:nvPr/>
        </p:nvSpPr>
        <p:spPr>
          <a:xfrm>
            <a:off x="8829386" y="5567846"/>
            <a:ext cx="916228" cy="233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 algn="l">
              <a:buFont typeface="+mj-lt"/>
              <a:buAutoNum type="arabicPeriod"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아침 운동</a:t>
            </a:r>
            <a:endParaRPr lang="en-US" sz="1000" dirty="0"/>
          </a:p>
        </p:txBody>
      </p:sp>
      <p:sp>
        <p:nvSpPr>
          <p:cNvPr id="67" name="Text 62"/>
          <p:cNvSpPr txBox="1"/>
          <p:nvPr/>
        </p:nvSpPr>
        <p:spPr>
          <a:xfrm>
            <a:off x="8837615" y="5814734"/>
            <a:ext cx="823946" cy="233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 </a:t>
            </a:r>
            <a:r>
              <a:rPr lang="en-US" sz="1000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샤워하기</a:t>
            </a:r>
            <a:endParaRPr lang="en-US" sz="1000" dirty="0"/>
          </a:p>
        </p:txBody>
      </p:sp>
      <p:sp>
        <p:nvSpPr>
          <p:cNvPr id="68" name="Text 63"/>
          <p:cNvSpPr txBox="1"/>
          <p:nvPr/>
        </p:nvSpPr>
        <p:spPr>
          <a:xfrm>
            <a:off x="9087282" y="6062124"/>
            <a:ext cx="658332" cy="2495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 algn="l">
              <a:buFont typeface="+mj-lt"/>
              <a:buAutoNum type="arabicParenR"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샴푸</a:t>
            </a:r>
            <a:endParaRPr lang="en-US" sz="1000" dirty="0"/>
          </a:p>
        </p:txBody>
      </p:sp>
      <p:pic>
        <p:nvPicPr>
          <p:cNvPr id="69" name="Image 3" descr="preencoded.png"/>
          <p:cNvPicPr>
            <a:picLocks noChangeAspect="1"/>
          </p:cNvPicPr>
          <p:nvPr/>
        </p:nvPicPr>
        <p:blipFill>
          <a:blip r:embed="rId6"/>
          <a:srcRect l="-2512" r="-2512"/>
          <a:stretch/>
        </p:blipFill>
        <p:spPr>
          <a:xfrm>
            <a:off x="8041234" y="4590288"/>
            <a:ext cx="105156" cy="133502"/>
          </a:xfrm>
          <a:prstGeom prst="rect">
            <a:avLst/>
          </a:prstGeom>
        </p:spPr>
      </p:pic>
      <p:sp>
        <p:nvSpPr>
          <p:cNvPr id="70" name="Text 64"/>
          <p:cNvSpPr txBox="1"/>
          <p:nvPr/>
        </p:nvSpPr>
        <p:spPr>
          <a:xfrm>
            <a:off x="8183880" y="4572914"/>
            <a:ext cx="5907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PREVIEW</a:t>
            </a:r>
            <a:endParaRPr lang="en-US" sz="900" dirty="0"/>
          </a:p>
        </p:txBody>
      </p:sp>
      <p:sp>
        <p:nvSpPr>
          <p:cNvPr id="71" name="Shape 54">
            <a:extLst>
              <a:ext uri="{FF2B5EF4-FFF2-40B4-BE49-F238E27FC236}">
                <a16:creationId xmlns:a16="http://schemas.microsoft.com/office/drawing/2014/main" id="{90B5013C-BA69-4BD4-C521-B0B832F05059}"/>
              </a:ext>
            </a:extLst>
          </p:cNvPr>
          <p:cNvSpPr/>
          <p:nvPr/>
        </p:nvSpPr>
        <p:spPr>
          <a:xfrm>
            <a:off x="8528548" y="5456818"/>
            <a:ext cx="2069939" cy="45719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2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305" y="38405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 txBox="1"/>
          <p:nvPr/>
        </p:nvSpPr>
        <p:spPr>
          <a:xfrm>
            <a:off x="571500" y="381305"/>
            <a:ext cx="36576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2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Markdown Syntax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71500" y="609905"/>
            <a:ext cx="5428793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링크 · 이미지 · 코드 블록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9774022" y="705002"/>
            <a:ext cx="1848002" cy="286207"/>
          </a:xfrm>
          <a:prstGeom prst="roundRect">
            <a:avLst>
              <a:gd name="adj" fmla="val 42599"/>
            </a:avLst>
          </a:prstGeom>
          <a:noFill/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 l="-1507" r="-1507"/>
          <a:stretch/>
        </p:blipFill>
        <p:spPr>
          <a:xfrm>
            <a:off x="9935870" y="788213"/>
            <a:ext cx="171907" cy="13350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0183673" y="752551"/>
            <a:ext cx="15197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3C5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Live Editor Preview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71500" y="1218895"/>
            <a:ext cx="6996336" cy="5383291"/>
          </a:xfrm>
          <a:prstGeom prst="roundRect">
            <a:avLst>
              <a:gd name="adj" fmla="val 66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241300" dist="1905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580644" y="1228954"/>
            <a:ext cx="6996336" cy="428854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580645" y="1648662"/>
            <a:ext cx="6987192" cy="45719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771754" y="1380744"/>
            <a:ext cx="114300" cy="11430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961949" y="1380744"/>
            <a:ext cx="114300" cy="1143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1152144" y="1380744"/>
            <a:ext cx="114300" cy="1143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 txBox="1"/>
          <p:nvPr/>
        </p:nvSpPr>
        <p:spPr>
          <a:xfrm>
            <a:off x="1571854" y="1362456"/>
            <a:ext cx="88605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example.md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923544" y="1943100"/>
            <a:ext cx="1719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dirty="0">
                <a:solidFill>
                  <a:srgbClr val="94A3B8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1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1285646" y="1943100"/>
            <a:ext cx="260786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8BDF8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## 1. 링크 (Hyperlinks)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923544" y="2247595"/>
            <a:ext cx="1719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dirty="0">
                <a:solidFill>
                  <a:srgbClr val="94A3B8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2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1285646" y="2247595"/>
            <a:ext cx="28913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CBD5E1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&lt;!-- [텍스트](주소) 형식 --&gt;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923544" y="2553005"/>
            <a:ext cx="1719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dirty="0">
                <a:solidFill>
                  <a:srgbClr val="94A3B8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1285646" y="2553005"/>
            <a:ext cx="113202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E2E8F0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공식 문서는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2333549" y="2553005"/>
            <a:ext cx="36722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472B6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[여기](https://markdownguide.org)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477256" y="2553005"/>
            <a:ext cx="144018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E2E8F0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를 참고하세요.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923544" y="2857500"/>
            <a:ext cx="1719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dirty="0">
                <a:solidFill>
                  <a:srgbClr val="94A3B8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923544" y="3161995"/>
            <a:ext cx="1719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dirty="0">
                <a:solidFill>
                  <a:srgbClr val="94A3B8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5</a:t>
            </a:r>
            <a:endParaRPr lang="en-US" sz="1500" dirty="0"/>
          </a:p>
        </p:txBody>
      </p:sp>
      <p:sp>
        <p:nvSpPr>
          <p:cNvPr id="26" name="Text 23"/>
          <p:cNvSpPr txBox="1"/>
          <p:nvPr/>
        </p:nvSpPr>
        <p:spPr>
          <a:xfrm>
            <a:off x="1285646" y="3161995"/>
            <a:ext cx="23436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8BDF8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## 2. 이미지 (Images)</a:t>
            </a:r>
            <a:endParaRPr lang="en-US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923544" y="3467405"/>
            <a:ext cx="1719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dirty="0">
                <a:solidFill>
                  <a:srgbClr val="94A3B8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6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1285646" y="3467405"/>
            <a:ext cx="3429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CBD5E1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&lt;!-- ![대체텍스트](이미지경로) --&gt;</a:t>
            </a:r>
            <a:endParaRPr lang="en-US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923544" y="3771900"/>
            <a:ext cx="1719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dirty="0">
                <a:solidFill>
                  <a:srgbClr val="94A3B8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7</a:t>
            </a:r>
            <a:endParaRPr lang="en-US" sz="1500" dirty="0"/>
          </a:p>
        </p:txBody>
      </p:sp>
      <p:sp>
        <p:nvSpPr>
          <p:cNvPr id="30" name="Text 27"/>
          <p:cNvSpPr txBox="1"/>
          <p:nvPr/>
        </p:nvSpPr>
        <p:spPr>
          <a:xfrm>
            <a:off x="1285646" y="3771900"/>
            <a:ext cx="144018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BBF24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![로고 이미지]</a:t>
            </a:r>
            <a:endParaRPr lang="en-US" sz="1500" dirty="0"/>
          </a:p>
        </p:txBody>
      </p:sp>
      <p:sp>
        <p:nvSpPr>
          <p:cNvPr id="31" name="Text 28"/>
          <p:cNvSpPr txBox="1"/>
          <p:nvPr/>
        </p:nvSpPr>
        <p:spPr>
          <a:xfrm>
            <a:off x="2619756" y="3771900"/>
            <a:ext cx="20409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CBD5E1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(/assets/logo.png)</a:t>
            </a:r>
            <a:endParaRPr lang="en-US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923544" y="4076395"/>
            <a:ext cx="1719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dirty="0">
                <a:solidFill>
                  <a:srgbClr val="94A3B8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8</a:t>
            </a:r>
            <a:endParaRPr lang="en-US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923544" y="4381805"/>
            <a:ext cx="1719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dirty="0">
                <a:solidFill>
                  <a:srgbClr val="94A3B8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9</a:t>
            </a:r>
            <a:endParaRPr lang="en-US" sz="1500" dirty="0"/>
          </a:p>
        </p:txBody>
      </p:sp>
      <p:sp>
        <p:nvSpPr>
          <p:cNvPr id="34" name="Text 31"/>
          <p:cNvSpPr txBox="1"/>
          <p:nvPr/>
        </p:nvSpPr>
        <p:spPr>
          <a:xfrm>
            <a:off x="1285646" y="4381805"/>
            <a:ext cx="324246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8BDF8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## 3. 코드 블록 (Fenced Code)</a:t>
            </a:r>
            <a:endParaRPr lang="en-US" sz="1500" dirty="0"/>
          </a:p>
        </p:txBody>
      </p:sp>
      <p:sp>
        <p:nvSpPr>
          <p:cNvPr id="35" name="Text 32"/>
          <p:cNvSpPr txBox="1"/>
          <p:nvPr/>
        </p:nvSpPr>
        <p:spPr>
          <a:xfrm>
            <a:off x="828446" y="4686300"/>
            <a:ext cx="2670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dirty="0">
                <a:solidFill>
                  <a:srgbClr val="94A3B8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10</a:t>
            </a:r>
            <a:endParaRPr lang="en-US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1285646" y="4686300"/>
            <a:ext cx="102047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A5B4FC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```python</a:t>
            </a:r>
            <a:endParaRPr lang="en-US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828446" y="4990795"/>
            <a:ext cx="2670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dirty="0">
                <a:solidFill>
                  <a:srgbClr val="94A3B8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11</a:t>
            </a:r>
            <a:endParaRPr lang="en-US" sz="1500" dirty="0"/>
          </a:p>
        </p:txBody>
      </p:sp>
      <p:sp>
        <p:nvSpPr>
          <p:cNvPr id="38" name="Text 35"/>
          <p:cNvSpPr txBox="1"/>
          <p:nvPr/>
        </p:nvSpPr>
        <p:spPr>
          <a:xfrm>
            <a:off x="1285646" y="4990795"/>
            <a:ext cx="3621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E2E8F0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def</a:t>
            </a:r>
            <a:endParaRPr lang="en-US" sz="1500" dirty="0"/>
          </a:p>
        </p:txBody>
      </p:sp>
      <p:sp>
        <p:nvSpPr>
          <p:cNvPr id="39" name="Text 36"/>
          <p:cNvSpPr txBox="1"/>
          <p:nvPr/>
        </p:nvSpPr>
        <p:spPr>
          <a:xfrm>
            <a:off x="1571854" y="4990795"/>
            <a:ext cx="5669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CD34D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hello</a:t>
            </a:r>
            <a:endParaRPr lang="en-US" sz="1500" dirty="0"/>
          </a:p>
        </p:txBody>
      </p:sp>
      <p:sp>
        <p:nvSpPr>
          <p:cNvPr id="40" name="Text 37"/>
          <p:cNvSpPr txBox="1"/>
          <p:nvPr/>
        </p:nvSpPr>
        <p:spPr>
          <a:xfrm>
            <a:off x="2048256" y="4990795"/>
            <a:ext cx="3621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E2E8F0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():</a:t>
            </a:r>
            <a:endParaRPr lang="en-US" sz="1500" dirty="0"/>
          </a:p>
        </p:txBody>
      </p:sp>
      <p:sp>
        <p:nvSpPr>
          <p:cNvPr id="41" name="Text 38"/>
          <p:cNvSpPr txBox="1"/>
          <p:nvPr/>
        </p:nvSpPr>
        <p:spPr>
          <a:xfrm>
            <a:off x="828446" y="5296205"/>
            <a:ext cx="2670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dirty="0">
                <a:solidFill>
                  <a:srgbClr val="94A3B8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12</a:t>
            </a:r>
            <a:endParaRPr lang="en-US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1285646" y="5296205"/>
            <a:ext cx="68031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E2E8F0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print(</a:t>
            </a:r>
            <a:endParaRPr lang="en-US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1857146" y="5296205"/>
            <a:ext cx="192755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4ADE80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"Hello Markdown!"</a:t>
            </a:r>
            <a:endParaRPr lang="en-US" sz="1500" dirty="0"/>
          </a:p>
        </p:txBody>
      </p:sp>
      <p:sp>
        <p:nvSpPr>
          <p:cNvPr id="44" name="Text 41"/>
          <p:cNvSpPr txBox="1"/>
          <p:nvPr/>
        </p:nvSpPr>
        <p:spPr>
          <a:xfrm>
            <a:off x="3476549" y="5296205"/>
            <a:ext cx="1719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E2E8F0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)</a:t>
            </a:r>
            <a:endParaRPr lang="en-US" sz="1500" dirty="0"/>
          </a:p>
        </p:txBody>
      </p:sp>
      <p:sp>
        <p:nvSpPr>
          <p:cNvPr id="45" name="Text 42"/>
          <p:cNvSpPr txBox="1"/>
          <p:nvPr/>
        </p:nvSpPr>
        <p:spPr>
          <a:xfrm>
            <a:off x="828446" y="5600700"/>
            <a:ext cx="2670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dirty="0">
                <a:solidFill>
                  <a:srgbClr val="94A3B8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13</a:t>
            </a:r>
            <a:endParaRPr lang="en-US" sz="1500" dirty="0"/>
          </a:p>
        </p:txBody>
      </p:sp>
      <p:sp>
        <p:nvSpPr>
          <p:cNvPr id="46" name="Text 43"/>
          <p:cNvSpPr txBox="1"/>
          <p:nvPr/>
        </p:nvSpPr>
        <p:spPr>
          <a:xfrm>
            <a:off x="1285646" y="5600700"/>
            <a:ext cx="3621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A5B4FC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```</a:t>
            </a:r>
            <a:endParaRPr lang="en-US" sz="1500" dirty="0"/>
          </a:p>
        </p:txBody>
      </p:sp>
      <p:sp>
        <p:nvSpPr>
          <p:cNvPr id="47" name="Text 44"/>
          <p:cNvSpPr txBox="1"/>
          <p:nvPr/>
        </p:nvSpPr>
        <p:spPr>
          <a:xfrm>
            <a:off x="828446" y="5905195"/>
            <a:ext cx="2670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dirty="0">
                <a:solidFill>
                  <a:srgbClr val="94A3B8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14</a:t>
            </a:r>
            <a:endParaRPr lang="en-US" sz="1500" dirty="0"/>
          </a:p>
        </p:txBody>
      </p:sp>
      <p:sp>
        <p:nvSpPr>
          <p:cNvPr id="48" name="Text 45"/>
          <p:cNvSpPr txBox="1"/>
          <p:nvPr/>
        </p:nvSpPr>
        <p:spPr>
          <a:xfrm>
            <a:off x="828446" y="6210605"/>
            <a:ext cx="2670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dirty="0">
                <a:solidFill>
                  <a:srgbClr val="94A3B8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15</a:t>
            </a:r>
            <a:endParaRPr lang="en-US" sz="1500" dirty="0"/>
          </a:p>
        </p:txBody>
      </p:sp>
      <p:sp>
        <p:nvSpPr>
          <p:cNvPr id="49" name="Text 46"/>
          <p:cNvSpPr txBox="1"/>
          <p:nvPr/>
        </p:nvSpPr>
        <p:spPr>
          <a:xfrm>
            <a:off x="1285646" y="6210605"/>
            <a:ext cx="406999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CBD5E1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&lt;!-- 인라인 코드는 `백틱` 하나만 사용 --&gt;</a:t>
            </a:r>
            <a:endParaRPr lang="en-US" sz="1500" dirty="0"/>
          </a:p>
        </p:txBody>
      </p:sp>
      <p:sp>
        <p:nvSpPr>
          <p:cNvPr id="50" name="Shape 47"/>
          <p:cNvSpPr/>
          <p:nvPr/>
        </p:nvSpPr>
        <p:spPr>
          <a:xfrm>
            <a:off x="7989809" y="2272522"/>
            <a:ext cx="3534156" cy="1095451"/>
          </a:xfrm>
          <a:prstGeom prst="roundRect">
            <a:avLst>
              <a:gd name="adj" fmla="val 5807"/>
            </a:avLst>
          </a:prstGeom>
          <a:solidFill>
            <a:srgbClr val="1E293B">
              <a:alpha val="50000"/>
            </a:srgbClr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1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151658" y="2471861"/>
            <a:ext cx="237744" cy="190195"/>
          </a:xfrm>
          <a:prstGeom prst="rect">
            <a:avLst/>
          </a:prstGeom>
        </p:spPr>
      </p:pic>
      <p:sp>
        <p:nvSpPr>
          <p:cNvPr id="52" name="Text 48"/>
          <p:cNvSpPr txBox="1"/>
          <p:nvPr/>
        </p:nvSpPr>
        <p:spPr>
          <a:xfrm>
            <a:off x="8504616" y="2434371"/>
            <a:ext cx="15718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Link Syntax</a:t>
            </a:r>
            <a:endParaRPr lang="en-US" sz="1300" dirty="0"/>
          </a:p>
        </p:txBody>
      </p:sp>
      <p:sp>
        <p:nvSpPr>
          <p:cNvPr id="53" name="Text 49"/>
          <p:cNvSpPr txBox="1"/>
          <p:nvPr/>
        </p:nvSpPr>
        <p:spPr>
          <a:xfrm>
            <a:off x="8504616" y="2748924"/>
            <a:ext cx="11146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[Text](URL)</a:t>
            </a:r>
            <a:endParaRPr lang="en-US" sz="1000" dirty="0"/>
          </a:p>
        </p:txBody>
      </p:sp>
      <p:sp>
        <p:nvSpPr>
          <p:cNvPr id="54" name="Text 50"/>
          <p:cNvSpPr txBox="1"/>
          <p:nvPr/>
        </p:nvSpPr>
        <p:spPr>
          <a:xfrm>
            <a:off x="8504616" y="3053419"/>
            <a:ext cx="182057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대괄호에 텍스트, 소괄호에 주소</a:t>
            </a:r>
            <a:endParaRPr lang="en-US" sz="900" dirty="0"/>
          </a:p>
        </p:txBody>
      </p:sp>
      <p:sp>
        <p:nvSpPr>
          <p:cNvPr id="55" name="Shape 51"/>
          <p:cNvSpPr/>
          <p:nvPr/>
        </p:nvSpPr>
        <p:spPr>
          <a:xfrm>
            <a:off x="7989809" y="3621938"/>
            <a:ext cx="3534156" cy="1095451"/>
          </a:xfrm>
          <a:prstGeom prst="roundRect">
            <a:avLst>
              <a:gd name="adj" fmla="val 5807"/>
            </a:avLst>
          </a:prstGeom>
          <a:solidFill>
            <a:srgbClr val="1E293B">
              <a:alpha val="50000"/>
            </a:srgbClr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151658" y="3821277"/>
            <a:ext cx="190195" cy="190195"/>
          </a:xfrm>
          <a:prstGeom prst="rect">
            <a:avLst/>
          </a:prstGeom>
        </p:spPr>
      </p:pic>
      <p:sp>
        <p:nvSpPr>
          <p:cNvPr id="57" name="Text 52"/>
          <p:cNvSpPr txBox="1"/>
          <p:nvPr/>
        </p:nvSpPr>
        <p:spPr>
          <a:xfrm>
            <a:off x="8456153" y="3783787"/>
            <a:ext cx="14767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Image Syntax</a:t>
            </a:r>
            <a:endParaRPr lang="en-US" sz="1300" dirty="0"/>
          </a:p>
        </p:txBody>
      </p:sp>
      <p:sp>
        <p:nvSpPr>
          <p:cNvPr id="58" name="Text 53"/>
          <p:cNvSpPr txBox="1"/>
          <p:nvPr/>
        </p:nvSpPr>
        <p:spPr>
          <a:xfrm>
            <a:off x="8456153" y="4098340"/>
            <a:ext cx="11146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![Alt](Src)</a:t>
            </a:r>
            <a:endParaRPr lang="en-US" sz="1000" dirty="0"/>
          </a:p>
        </p:txBody>
      </p:sp>
      <p:sp>
        <p:nvSpPr>
          <p:cNvPr id="59" name="Text 54"/>
          <p:cNvSpPr txBox="1"/>
          <p:nvPr/>
        </p:nvSpPr>
        <p:spPr>
          <a:xfrm>
            <a:off x="8456153" y="4402835"/>
            <a:ext cx="179953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링크 앞에 느낌표(!) 추가 필수</a:t>
            </a:r>
            <a:endParaRPr lang="en-US" sz="900" dirty="0"/>
          </a:p>
        </p:txBody>
      </p:sp>
      <p:sp>
        <p:nvSpPr>
          <p:cNvPr id="60" name="Shape 55"/>
          <p:cNvSpPr/>
          <p:nvPr/>
        </p:nvSpPr>
        <p:spPr>
          <a:xfrm>
            <a:off x="7986631" y="4968785"/>
            <a:ext cx="3534156" cy="1095451"/>
          </a:xfrm>
          <a:prstGeom prst="roundRect">
            <a:avLst>
              <a:gd name="adj" fmla="val 5807"/>
            </a:avLst>
          </a:prstGeom>
          <a:solidFill>
            <a:srgbClr val="1E293B">
              <a:alpha val="50000"/>
            </a:srgbClr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1" name="Image 3" descr="preencoded.png"/>
          <p:cNvPicPr>
            <a:picLocks noChangeAspect="1"/>
          </p:cNvPicPr>
          <p:nvPr/>
        </p:nvPicPr>
        <p:blipFill>
          <a:blip r:embed="rId6"/>
          <a:srcRect l="-1282" r="-1282"/>
          <a:stretch/>
        </p:blipFill>
        <p:spPr>
          <a:xfrm>
            <a:off x="8148480" y="5168124"/>
            <a:ext cx="219456" cy="190195"/>
          </a:xfrm>
          <a:prstGeom prst="rect">
            <a:avLst/>
          </a:prstGeom>
        </p:spPr>
      </p:pic>
      <p:sp>
        <p:nvSpPr>
          <p:cNvPr id="62" name="Text 56"/>
          <p:cNvSpPr txBox="1"/>
          <p:nvPr/>
        </p:nvSpPr>
        <p:spPr>
          <a:xfrm>
            <a:off x="8482236" y="5130634"/>
            <a:ext cx="143835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Code Block</a:t>
            </a:r>
            <a:endParaRPr lang="en-US" sz="1300" dirty="0"/>
          </a:p>
        </p:txBody>
      </p:sp>
      <p:sp>
        <p:nvSpPr>
          <p:cNvPr id="63" name="Text 57"/>
          <p:cNvSpPr txBox="1"/>
          <p:nvPr/>
        </p:nvSpPr>
        <p:spPr>
          <a:xfrm>
            <a:off x="8482236" y="5445187"/>
            <a:ext cx="143835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```lang ... ```</a:t>
            </a:r>
            <a:endParaRPr lang="en-US" sz="1000" dirty="0"/>
          </a:p>
        </p:txBody>
      </p:sp>
      <p:sp>
        <p:nvSpPr>
          <p:cNvPr id="64" name="Text 58"/>
          <p:cNvSpPr txBox="1"/>
          <p:nvPr/>
        </p:nvSpPr>
        <p:spPr>
          <a:xfrm>
            <a:off x="8482236" y="5749682"/>
            <a:ext cx="165963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백틱 3개로 감싸고 언어 지정</a:t>
            </a:r>
            <a:endParaRPr lang="en-US" sz="900" dirty="0"/>
          </a:p>
        </p:txBody>
      </p:sp>
      <p:sp>
        <p:nvSpPr>
          <p:cNvPr id="65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 txBox="1"/>
          <p:nvPr/>
        </p:nvSpPr>
        <p:spPr>
          <a:xfrm>
            <a:off x="571500" y="381305"/>
            <a:ext cx="32104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2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Part 1. 마크다운 기본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71500" y="647395"/>
            <a:ext cx="4101998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67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표(Tables) · 체크박스</a:t>
            </a:r>
            <a:endParaRPr lang="en-US" sz="27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493654" y="480060"/>
            <a:ext cx="152705" cy="15270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757002" y="417881"/>
            <a:ext cx="99486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GFM Features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71500" y="1333195"/>
            <a:ext cx="4238244" cy="2695651"/>
          </a:xfrm>
          <a:prstGeom prst="roundRect">
            <a:avLst>
              <a:gd name="adj" fmla="val 191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809244" y="1571854"/>
            <a:ext cx="304495" cy="304495"/>
          </a:xfrm>
          <a:prstGeom prst="roundRect">
            <a:avLst>
              <a:gd name="adj" fmla="val 37538"/>
            </a:avLst>
          </a:prstGeom>
          <a:solidFill>
            <a:srgbClr val="1E3A8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rcRect t="-43" b="-43"/>
          <a:stretch/>
        </p:blipFill>
        <p:spPr>
          <a:xfrm>
            <a:off x="895198" y="1647749"/>
            <a:ext cx="133502" cy="15270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228954" y="1591056"/>
            <a:ext cx="1167689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 (Tables)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1037844" y="2029054"/>
            <a:ext cx="68397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열 구분: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1550822" y="2029054"/>
            <a:ext cx="883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파이프 기호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2333549" y="2115007"/>
            <a:ext cx="152705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8FAF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|</a:t>
            </a:r>
            <a:endParaRPr lang="en-US" sz="900" dirty="0"/>
          </a:p>
        </p:txBody>
      </p:sp>
      <p:sp>
        <p:nvSpPr>
          <p:cNvPr id="15" name="Text 11"/>
          <p:cNvSpPr txBox="1"/>
          <p:nvPr/>
        </p:nvSpPr>
        <p:spPr>
          <a:xfrm>
            <a:off x="2439619" y="2029054"/>
            <a:ext cx="21122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사용하여 칸을 나눕니다.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1037844" y="2486254"/>
            <a:ext cx="84673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헤더 구분: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1691640" y="2486254"/>
            <a:ext cx="205191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첫 줄(제목)과 내용 사이에</a:t>
            </a:r>
            <a:endParaRPr lang="en-US" sz="1200" dirty="0"/>
          </a:p>
        </p:txBody>
      </p:sp>
      <p:sp>
        <p:nvSpPr>
          <p:cNvPr id="18" name="Text 14"/>
          <p:cNvSpPr txBox="1"/>
          <p:nvPr/>
        </p:nvSpPr>
        <p:spPr>
          <a:xfrm>
            <a:off x="3363163" y="2572207"/>
            <a:ext cx="838505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8FAF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---|---|---</a:t>
            </a:r>
            <a:endParaRPr lang="en-US" sz="900" dirty="0"/>
          </a:p>
        </p:txBody>
      </p:sp>
      <p:sp>
        <p:nvSpPr>
          <p:cNvPr id="19" name="Text 15"/>
          <p:cNvSpPr txBox="1"/>
          <p:nvPr/>
        </p:nvSpPr>
        <p:spPr>
          <a:xfrm>
            <a:off x="1037844" y="2486254"/>
            <a:ext cx="359176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형태가 필수입니다.</a:t>
            </a:r>
            <a:endParaRPr lang="en-US" sz="1200" dirty="0"/>
          </a:p>
        </p:txBody>
      </p:sp>
      <p:sp>
        <p:nvSpPr>
          <p:cNvPr id="20" name="Text 16"/>
          <p:cNvSpPr txBox="1"/>
          <p:nvPr/>
        </p:nvSpPr>
        <p:spPr>
          <a:xfrm>
            <a:off x="1037844" y="3172054"/>
            <a:ext cx="42428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정렬:</a:t>
            </a:r>
            <a:endParaRPr lang="en-US" sz="1200" dirty="0"/>
          </a:p>
        </p:txBody>
      </p:sp>
      <p:sp>
        <p:nvSpPr>
          <p:cNvPr id="21" name="Text 17"/>
          <p:cNvSpPr txBox="1"/>
          <p:nvPr/>
        </p:nvSpPr>
        <p:spPr>
          <a:xfrm>
            <a:off x="1367942" y="3172054"/>
            <a:ext cx="214609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콜론(:) 위치로 결정합니다.</a:t>
            </a:r>
            <a:endParaRPr lang="en-US" sz="1200" dirty="0"/>
          </a:p>
        </p:txBody>
      </p:sp>
      <p:sp>
        <p:nvSpPr>
          <p:cNvPr id="22" name="Text 18"/>
          <p:cNvSpPr txBox="1"/>
          <p:nvPr/>
        </p:nvSpPr>
        <p:spPr>
          <a:xfrm>
            <a:off x="1037844" y="3457346"/>
            <a:ext cx="258592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8FAF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:--- (좌), :---: (중), ---: (우)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571500" y="4256533"/>
            <a:ext cx="4238244" cy="1970532"/>
          </a:xfrm>
          <a:prstGeom prst="roundRect">
            <a:avLst>
              <a:gd name="adj" fmla="val 191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0"/>
          <p:cNvSpPr/>
          <p:nvPr/>
        </p:nvSpPr>
        <p:spPr>
          <a:xfrm>
            <a:off x="809244" y="4495190"/>
            <a:ext cx="304495" cy="304495"/>
          </a:xfrm>
          <a:prstGeom prst="roundRect">
            <a:avLst>
              <a:gd name="adj" fmla="val 37538"/>
            </a:avLst>
          </a:prstGeom>
          <a:solidFill>
            <a:srgbClr val="064E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rcRect t="-43" b="-43"/>
          <a:stretch/>
        </p:blipFill>
        <p:spPr>
          <a:xfrm>
            <a:off x="895198" y="4571086"/>
            <a:ext cx="133502" cy="152705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1228954" y="4514393"/>
            <a:ext cx="151790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체크박스 (GFM)</a:t>
            </a:r>
            <a:endParaRPr lang="en-US" sz="1500" dirty="0"/>
          </a:p>
        </p:txBody>
      </p:sp>
      <p:sp>
        <p:nvSpPr>
          <p:cNvPr id="27" name="Text 22"/>
          <p:cNvSpPr txBox="1"/>
          <p:nvPr/>
        </p:nvSpPr>
        <p:spPr>
          <a:xfrm>
            <a:off x="1037844" y="4952390"/>
            <a:ext cx="94549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할 일 목록:</a:t>
            </a:r>
            <a:endParaRPr lang="en-US" sz="1200" dirty="0"/>
          </a:p>
        </p:txBody>
      </p:sp>
      <p:sp>
        <p:nvSpPr>
          <p:cNvPr id="28" name="Text 23"/>
          <p:cNvSpPr txBox="1"/>
          <p:nvPr/>
        </p:nvSpPr>
        <p:spPr>
          <a:xfrm>
            <a:off x="1733702" y="4952390"/>
            <a:ext cx="255666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하이픈(-) 뒤에 대괄호를 씁니다.</a:t>
            </a:r>
            <a:endParaRPr lang="en-US" sz="1200" dirty="0"/>
          </a:p>
        </p:txBody>
      </p:sp>
      <p:sp>
        <p:nvSpPr>
          <p:cNvPr id="29" name="Text 24"/>
          <p:cNvSpPr txBox="1"/>
          <p:nvPr/>
        </p:nvSpPr>
        <p:spPr>
          <a:xfrm>
            <a:off x="1037844" y="5466283"/>
            <a:ext cx="54315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3C5FD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- [ ]</a:t>
            </a:r>
            <a:endParaRPr lang="en-US" sz="1200" dirty="0"/>
          </a:p>
        </p:txBody>
      </p:sp>
      <p:sp>
        <p:nvSpPr>
          <p:cNvPr id="30" name="Text 25"/>
          <p:cNvSpPr txBox="1"/>
          <p:nvPr/>
        </p:nvSpPr>
        <p:spPr>
          <a:xfrm>
            <a:off x="1495958" y="5409590"/>
            <a:ext cx="155356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미완료 (빈 칸 필수)</a:t>
            </a:r>
            <a:endParaRPr lang="en-US" sz="1200" dirty="0"/>
          </a:p>
        </p:txBody>
      </p:sp>
      <p:sp>
        <p:nvSpPr>
          <p:cNvPr id="31" name="Text 26"/>
          <p:cNvSpPr txBox="1"/>
          <p:nvPr/>
        </p:nvSpPr>
        <p:spPr>
          <a:xfrm>
            <a:off x="1037844" y="5724144"/>
            <a:ext cx="54315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EE7B7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- [x]</a:t>
            </a:r>
            <a:endParaRPr lang="en-US" sz="1200" dirty="0"/>
          </a:p>
        </p:txBody>
      </p:sp>
      <p:sp>
        <p:nvSpPr>
          <p:cNvPr id="32" name="Text 27"/>
          <p:cNvSpPr txBox="1"/>
          <p:nvPr/>
        </p:nvSpPr>
        <p:spPr>
          <a:xfrm>
            <a:off x="1495958" y="5666537"/>
            <a:ext cx="125821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완료 (소문자 x)</a:t>
            </a:r>
            <a:endParaRPr lang="en-US" sz="1200" dirty="0"/>
          </a:p>
        </p:txBody>
      </p:sp>
      <p:sp>
        <p:nvSpPr>
          <p:cNvPr id="33" name="Shape 28"/>
          <p:cNvSpPr/>
          <p:nvPr/>
        </p:nvSpPr>
        <p:spPr>
          <a:xfrm>
            <a:off x="5172761" y="827532"/>
            <a:ext cx="6515100" cy="2809951"/>
          </a:xfrm>
          <a:prstGeom prst="roundRect">
            <a:avLst>
              <a:gd name="adj" fmla="val 176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29"/>
          <p:cNvSpPr/>
          <p:nvPr/>
        </p:nvSpPr>
        <p:spPr>
          <a:xfrm>
            <a:off x="5182819" y="836676"/>
            <a:ext cx="6495898" cy="314554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0"/>
          <p:cNvSpPr/>
          <p:nvPr/>
        </p:nvSpPr>
        <p:spPr>
          <a:xfrm>
            <a:off x="5182819" y="1142086"/>
            <a:ext cx="6495898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1"/>
          <p:cNvSpPr/>
          <p:nvPr/>
        </p:nvSpPr>
        <p:spPr>
          <a:xfrm>
            <a:off x="5334610" y="941832"/>
            <a:ext cx="95098" cy="9509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2"/>
          <p:cNvSpPr/>
          <p:nvPr/>
        </p:nvSpPr>
        <p:spPr>
          <a:xfrm>
            <a:off x="5487314" y="941832"/>
            <a:ext cx="95098" cy="9509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3"/>
          <p:cNvSpPr/>
          <p:nvPr/>
        </p:nvSpPr>
        <p:spPr>
          <a:xfrm>
            <a:off x="5640019" y="941832"/>
            <a:ext cx="95098" cy="9509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4"/>
          <p:cNvSpPr/>
          <p:nvPr/>
        </p:nvSpPr>
        <p:spPr>
          <a:xfrm>
            <a:off x="5182819" y="1151230"/>
            <a:ext cx="6495898" cy="2476195"/>
          </a:xfrm>
          <a:prstGeom prst="roundRect">
            <a:avLst>
              <a:gd name="adj" fmla="val 1136"/>
            </a:avLst>
          </a:prstGeom>
          <a:solidFill>
            <a:srgbClr val="0206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5"/>
          <p:cNvSpPr txBox="1"/>
          <p:nvPr/>
        </p:nvSpPr>
        <p:spPr>
          <a:xfrm>
            <a:off x="10283342" y="922630"/>
            <a:ext cx="1314907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8FAF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checklist_table.md</a:t>
            </a:r>
            <a:endParaRPr lang="en-US" sz="900" dirty="0"/>
          </a:p>
        </p:txBody>
      </p:sp>
      <p:sp>
        <p:nvSpPr>
          <p:cNvPr id="41" name="Text 36"/>
          <p:cNvSpPr txBox="1"/>
          <p:nvPr/>
        </p:nvSpPr>
        <p:spPr>
          <a:xfrm>
            <a:off x="5373014" y="1370686"/>
            <a:ext cx="16276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BD5E1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|</a:t>
            </a:r>
            <a:endParaRPr lang="en-US" sz="1000" dirty="0"/>
          </a:p>
        </p:txBody>
      </p:sp>
      <p:sp>
        <p:nvSpPr>
          <p:cNvPr id="42" name="Text 37"/>
          <p:cNvSpPr txBox="1"/>
          <p:nvPr/>
        </p:nvSpPr>
        <p:spPr>
          <a:xfrm>
            <a:off x="5453482" y="1370686"/>
            <a:ext cx="3429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품목</a:t>
            </a:r>
            <a:endParaRPr lang="en-US" sz="1000" dirty="0"/>
          </a:p>
        </p:txBody>
      </p:sp>
      <p:sp>
        <p:nvSpPr>
          <p:cNvPr id="43" name="Text 38"/>
          <p:cNvSpPr txBox="1"/>
          <p:nvPr/>
        </p:nvSpPr>
        <p:spPr>
          <a:xfrm>
            <a:off x="5719572" y="1370686"/>
            <a:ext cx="16276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BD5E1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|</a:t>
            </a:r>
            <a:endParaRPr lang="en-US" sz="1000" dirty="0"/>
          </a:p>
        </p:txBody>
      </p:sp>
      <p:sp>
        <p:nvSpPr>
          <p:cNvPr id="44" name="Text 39"/>
          <p:cNvSpPr txBox="1"/>
          <p:nvPr/>
        </p:nvSpPr>
        <p:spPr>
          <a:xfrm>
            <a:off x="5800039" y="1370686"/>
            <a:ext cx="3429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수량</a:t>
            </a:r>
            <a:endParaRPr lang="en-US" sz="1000" dirty="0"/>
          </a:p>
        </p:txBody>
      </p:sp>
      <p:sp>
        <p:nvSpPr>
          <p:cNvPr id="45" name="Text 40"/>
          <p:cNvSpPr txBox="1"/>
          <p:nvPr/>
        </p:nvSpPr>
        <p:spPr>
          <a:xfrm>
            <a:off x="6067044" y="1370686"/>
            <a:ext cx="16276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BD5E1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|</a:t>
            </a:r>
            <a:endParaRPr lang="en-US" sz="1000" dirty="0"/>
          </a:p>
        </p:txBody>
      </p:sp>
      <p:sp>
        <p:nvSpPr>
          <p:cNvPr id="46" name="Text 41"/>
          <p:cNvSpPr txBox="1"/>
          <p:nvPr/>
        </p:nvSpPr>
        <p:spPr>
          <a:xfrm>
            <a:off x="6146597" y="1370686"/>
            <a:ext cx="3429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가격</a:t>
            </a:r>
            <a:endParaRPr lang="en-US" sz="1000" dirty="0"/>
          </a:p>
        </p:txBody>
      </p:sp>
      <p:sp>
        <p:nvSpPr>
          <p:cNvPr id="47" name="Text 42"/>
          <p:cNvSpPr txBox="1"/>
          <p:nvPr/>
        </p:nvSpPr>
        <p:spPr>
          <a:xfrm>
            <a:off x="6413602" y="1370686"/>
            <a:ext cx="16276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BD5E1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|</a:t>
            </a:r>
            <a:endParaRPr lang="en-US" sz="1000" dirty="0"/>
          </a:p>
        </p:txBody>
      </p:sp>
      <p:sp>
        <p:nvSpPr>
          <p:cNvPr id="48" name="Text 43"/>
          <p:cNvSpPr txBox="1"/>
          <p:nvPr/>
        </p:nvSpPr>
        <p:spPr>
          <a:xfrm>
            <a:off x="5373014" y="1622146"/>
            <a:ext cx="16276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BD5E1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|</a:t>
            </a:r>
            <a:endParaRPr lang="en-US" sz="1000" dirty="0"/>
          </a:p>
        </p:txBody>
      </p:sp>
      <p:sp>
        <p:nvSpPr>
          <p:cNvPr id="49" name="Text 44"/>
          <p:cNvSpPr txBox="1"/>
          <p:nvPr/>
        </p:nvSpPr>
        <p:spPr>
          <a:xfrm>
            <a:off x="5453482" y="1622146"/>
            <a:ext cx="40050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:---</a:t>
            </a:r>
            <a:endParaRPr lang="en-US" sz="1000" dirty="0"/>
          </a:p>
        </p:txBody>
      </p:sp>
      <p:sp>
        <p:nvSpPr>
          <p:cNvPr id="50" name="Text 45"/>
          <p:cNvSpPr txBox="1"/>
          <p:nvPr/>
        </p:nvSpPr>
        <p:spPr>
          <a:xfrm>
            <a:off x="5773522" y="1622146"/>
            <a:ext cx="16276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BD5E1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|</a:t>
            </a:r>
            <a:endParaRPr lang="en-US" sz="1000" dirty="0"/>
          </a:p>
        </p:txBody>
      </p:sp>
      <p:sp>
        <p:nvSpPr>
          <p:cNvPr id="51" name="Text 46"/>
          <p:cNvSpPr txBox="1"/>
          <p:nvPr/>
        </p:nvSpPr>
        <p:spPr>
          <a:xfrm>
            <a:off x="5853074" y="1622146"/>
            <a:ext cx="48646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:---:</a:t>
            </a:r>
            <a:endParaRPr lang="en-US" sz="1000" dirty="0"/>
          </a:p>
        </p:txBody>
      </p:sp>
      <p:sp>
        <p:nvSpPr>
          <p:cNvPr id="52" name="Text 47"/>
          <p:cNvSpPr txBox="1"/>
          <p:nvPr/>
        </p:nvSpPr>
        <p:spPr>
          <a:xfrm>
            <a:off x="6253582" y="1622146"/>
            <a:ext cx="16276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BD5E1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|</a:t>
            </a:r>
            <a:endParaRPr lang="en-US" sz="1000" dirty="0"/>
          </a:p>
        </p:txBody>
      </p:sp>
      <p:sp>
        <p:nvSpPr>
          <p:cNvPr id="53" name="Text 48"/>
          <p:cNvSpPr txBox="1"/>
          <p:nvPr/>
        </p:nvSpPr>
        <p:spPr>
          <a:xfrm>
            <a:off x="6334049" y="1622146"/>
            <a:ext cx="40050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---:</a:t>
            </a:r>
            <a:endParaRPr lang="en-US" sz="1000" dirty="0"/>
          </a:p>
        </p:txBody>
      </p:sp>
      <p:sp>
        <p:nvSpPr>
          <p:cNvPr id="54" name="Text 49"/>
          <p:cNvSpPr txBox="1"/>
          <p:nvPr/>
        </p:nvSpPr>
        <p:spPr>
          <a:xfrm>
            <a:off x="6654089" y="1622146"/>
            <a:ext cx="16276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BD5E1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|</a:t>
            </a:r>
            <a:endParaRPr lang="en-US" sz="1000" dirty="0"/>
          </a:p>
        </p:txBody>
      </p:sp>
      <p:sp>
        <p:nvSpPr>
          <p:cNvPr id="55" name="Text 50"/>
          <p:cNvSpPr txBox="1"/>
          <p:nvPr/>
        </p:nvSpPr>
        <p:spPr>
          <a:xfrm>
            <a:off x="5373014" y="1873606"/>
            <a:ext cx="16276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BD5E1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|</a:t>
            </a:r>
            <a:endParaRPr lang="en-US" sz="1000" dirty="0"/>
          </a:p>
        </p:txBody>
      </p:sp>
      <p:sp>
        <p:nvSpPr>
          <p:cNvPr id="56" name="Text 51"/>
          <p:cNvSpPr txBox="1"/>
          <p:nvPr/>
        </p:nvSpPr>
        <p:spPr>
          <a:xfrm>
            <a:off x="5453482" y="1873606"/>
            <a:ext cx="3429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사과</a:t>
            </a:r>
            <a:endParaRPr lang="en-US" sz="1000" dirty="0"/>
          </a:p>
        </p:txBody>
      </p:sp>
      <p:sp>
        <p:nvSpPr>
          <p:cNvPr id="57" name="Text 52"/>
          <p:cNvSpPr txBox="1"/>
          <p:nvPr/>
        </p:nvSpPr>
        <p:spPr>
          <a:xfrm>
            <a:off x="5719572" y="1873606"/>
            <a:ext cx="16276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BD5E1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|</a:t>
            </a:r>
            <a:endParaRPr lang="en-US" sz="1000" dirty="0"/>
          </a:p>
        </p:txBody>
      </p:sp>
      <p:sp>
        <p:nvSpPr>
          <p:cNvPr id="58" name="Text 53"/>
          <p:cNvSpPr txBox="1"/>
          <p:nvPr/>
        </p:nvSpPr>
        <p:spPr>
          <a:xfrm>
            <a:off x="5800039" y="1873606"/>
            <a:ext cx="23865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10</a:t>
            </a:r>
            <a:endParaRPr lang="en-US" sz="1000" dirty="0"/>
          </a:p>
        </p:txBody>
      </p:sp>
      <p:sp>
        <p:nvSpPr>
          <p:cNvPr id="59" name="Text 54"/>
          <p:cNvSpPr txBox="1"/>
          <p:nvPr/>
        </p:nvSpPr>
        <p:spPr>
          <a:xfrm>
            <a:off x="5960059" y="1873606"/>
            <a:ext cx="16276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BD5E1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|</a:t>
            </a:r>
            <a:endParaRPr lang="en-US" sz="1000" dirty="0"/>
          </a:p>
        </p:txBody>
      </p:sp>
      <p:sp>
        <p:nvSpPr>
          <p:cNvPr id="60" name="Text 55"/>
          <p:cNvSpPr txBox="1"/>
          <p:nvPr/>
        </p:nvSpPr>
        <p:spPr>
          <a:xfrm>
            <a:off x="6040526" y="1873606"/>
            <a:ext cx="61996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1,000원</a:t>
            </a:r>
            <a:endParaRPr lang="en-US" sz="1000" dirty="0"/>
          </a:p>
        </p:txBody>
      </p:sp>
      <p:sp>
        <p:nvSpPr>
          <p:cNvPr id="61" name="Text 56"/>
          <p:cNvSpPr txBox="1"/>
          <p:nvPr/>
        </p:nvSpPr>
        <p:spPr>
          <a:xfrm>
            <a:off x="6573622" y="1873606"/>
            <a:ext cx="16276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BD5E1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|</a:t>
            </a:r>
            <a:endParaRPr lang="en-US" sz="1000" dirty="0"/>
          </a:p>
        </p:txBody>
      </p:sp>
      <p:sp>
        <p:nvSpPr>
          <p:cNvPr id="62" name="Text 57"/>
          <p:cNvSpPr txBox="1"/>
          <p:nvPr/>
        </p:nvSpPr>
        <p:spPr>
          <a:xfrm>
            <a:off x="5373014" y="2125066"/>
            <a:ext cx="16276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BD5E1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|</a:t>
            </a:r>
            <a:endParaRPr lang="en-US" sz="1000" dirty="0"/>
          </a:p>
        </p:txBody>
      </p:sp>
      <p:sp>
        <p:nvSpPr>
          <p:cNvPr id="63" name="Text 58"/>
          <p:cNvSpPr txBox="1"/>
          <p:nvPr/>
        </p:nvSpPr>
        <p:spPr>
          <a:xfrm>
            <a:off x="5453482" y="2125066"/>
            <a:ext cx="2103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배</a:t>
            </a:r>
            <a:endParaRPr lang="en-US" sz="1000" dirty="0"/>
          </a:p>
        </p:txBody>
      </p:sp>
      <p:sp>
        <p:nvSpPr>
          <p:cNvPr id="64" name="Text 59"/>
          <p:cNvSpPr txBox="1"/>
          <p:nvPr/>
        </p:nvSpPr>
        <p:spPr>
          <a:xfrm>
            <a:off x="5586070" y="2125066"/>
            <a:ext cx="16276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BD5E1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|</a:t>
            </a:r>
            <a:endParaRPr lang="en-US" sz="1000" dirty="0"/>
          </a:p>
        </p:txBody>
      </p:sp>
      <p:sp>
        <p:nvSpPr>
          <p:cNvPr id="65" name="Text 60"/>
          <p:cNvSpPr txBox="1"/>
          <p:nvPr/>
        </p:nvSpPr>
        <p:spPr>
          <a:xfrm>
            <a:off x="5666537" y="2125066"/>
            <a:ext cx="16276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5</a:t>
            </a:r>
            <a:endParaRPr lang="en-US" sz="1000" dirty="0"/>
          </a:p>
        </p:txBody>
      </p:sp>
      <p:sp>
        <p:nvSpPr>
          <p:cNvPr id="66" name="Text 61"/>
          <p:cNvSpPr txBox="1"/>
          <p:nvPr/>
        </p:nvSpPr>
        <p:spPr>
          <a:xfrm>
            <a:off x="5747004" y="2125066"/>
            <a:ext cx="16276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BD5E1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|</a:t>
            </a:r>
            <a:endParaRPr lang="en-US" sz="1000" dirty="0"/>
          </a:p>
        </p:txBody>
      </p:sp>
      <p:sp>
        <p:nvSpPr>
          <p:cNvPr id="67" name="Text 62"/>
          <p:cNvSpPr txBox="1"/>
          <p:nvPr/>
        </p:nvSpPr>
        <p:spPr>
          <a:xfrm>
            <a:off x="5826557" y="2125066"/>
            <a:ext cx="61996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2,000원</a:t>
            </a:r>
            <a:endParaRPr lang="en-US" sz="1000" dirty="0"/>
          </a:p>
        </p:txBody>
      </p:sp>
      <p:sp>
        <p:nvSpPr>
          <p:cNvPr id="68" name="Text 63"/>
          <p:cNvSpPr txBox="1"/>
          <p:nvPr/>
        </p:nvSpPr>
        <p:spPr>
          <a:xfrm>
            <a:off x="6360566" y="2125066"/>
            <a:ext cx="16276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BD5E1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|</a:t>
            </a:r>
            <a:endParaRPr lang="en-US" sz="1000" dirty="0"/>
          </a:p>
        </p:txBody>
      </p:sp>
      <p:sp>
        <p:nvSpPr>
          <p:cNvPr id="69" name="Text 64"/>
          <p:cNvSpPr txBox="1"/>
          <p:nvPr/>
        </p:nvSpPr>
        <p:spPr>
          <a:xfrm>
            <a:off x="5373014" y="2490826"/>
            <a:ext cx="106984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0A5F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## 장보기 목록</a:t>
            </a:r>
            <a:endParaRPr lang="en-US" sz="1000" dirty="0"/>
          </a:p>
        </p:txBody>
      </p:sp>
      <p:sp>
        <p:nvSpPr>
          <p:cNvPr id="70" name="Text 65"/>
          <p:cNvSpPr txBox="1"/>
          <p:nvPr/>
        </p:nvSpPr>
        <p:spPr>
          <a:xfrm>
            <a:off x="5373014" y="2742286"/>
            <a:ext cx="48646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3E63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- [x]</a:t>
            </a:r>
            <a:endParaRPr lang="en-US" sz="1000" dirty="0"/>
          </a:p>
        </p:txBody>
      </p:sp>
      <p:sp>
        <p:nvSpPr>
          <p:cNvPr id="71" name="Text 66"/>
          <p:cNvSpPr txBox="1"/>
          <p:nvPr/>
        </p:nvSpPr>
        <p:spPr>
          <a:xfrm>
            <a:off x="5773522" y="2742286"/>
            <a:ext cx="96286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사과 구매하기</a:t>
            </a:r>
            <a:endParaRPr lang="en-US" sz="1000" dirty="0"/>
          </a:p>
        </p:txBody>
      </p:sp>
      <p:sp>
        <p:nvSpPr>
          <p:cNvPr id="72" name="Text 67"/>
          <p:cNvSpPr txBox="1"/>
          <p:nvPr/>
        </p:nvSpPr>
        <p:spPr>
          <a:xfrm>
            <a:off x="5373014" y="2955341"/>
            <a:ext cx="48646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3E63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- [ ]</a:t>
            </a:r>
            <a:endParaRPr lang="en-US" sz="1000" dirty="0"/>
          </a:p>
        </p:txBody>
      </p:sp>
      <p:sp>
        <p:nvSpPr>
          <p:cNvPr id="73" name="Text 68"/>
          <p:cNvSpPr txBox="1"/>
          <p:nvPr/>
        </p:nvSpPr>
        <p:spPr>
          <a:xfrm>
            <a:off x="5773522" y="2955341"/>
            <a:ext cx="82936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배 구매하기</a:t>
            </a:r>
            <a:endParaRPr lang="en-US" sz="1000" dirty="0"/>
          </a:p>
        </p:txBody>
      </p:sp>
      <p:sp>
        <p:nvSpPr>
          <p:cNvPr id="74" name="Shape 69"/>
          <p:cNvSpPr/>
          <p:nvPr/>
        </p:nvSpPr>
        <p:spPr>
          <a:xfrm>
            <a:off x="5172761" y="4017873"/>
            <a:ext cx="6515100" cy="2557097"/>
          </a:xfrm>
          <a:prstGeom prst="roundRect">
            <a:avLst>
              <a:gd name="adj" fmla="val 236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5" name="Shape 70"/>
          <p:cNvSpPr/>
          <p:nvPr/>
        </p:nvSpPr>
        <p:spPr>
          <a:xfrm>
            <a:off x="5182819" y="4027018"/>
            <a:ext cx="6495898" cy="38405"/>
          </a:xfrm>
          <a:prstGeom prst="rect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7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1659184"/>
              </p:ext>
            </p:extLst>
          </p:nvPr>
        </p:nvGraphicFramePr>
        <p:xfrm>
          <a:off x="5411419" y="4255618"/>
          <a:ext cx="6022239" cy="1095450"/>
        </p:xfrm>
        <a:graphic>
          <a:graphicData uri="http://schemas.openxmlformats.org/drawingml/2006/table">
            <a:tbl>
              <a:tblPr/>
              <a:tblGrid>
                <a:gridCol w="17529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29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64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15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품목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75895" marB="75895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수량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75895" marB="75895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가격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75895" marB="75895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15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사과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75895" marB="75895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75895" marB="75895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1,000원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75895" marB="75895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15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배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75895" marB="75895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5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75895" marB="75895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2,000원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75895" marB="75895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7" name="Text 71"/>
          <p:cNvSpPr txBox="1"/>
          <p:nvPr/>
        </p:nvSpPr>
        <p:spPr>
          <a:xfrm>
            <a:off x="5411419" y="5618074"/>
            <a:ext cx="99303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장보기 목록</a:t>
            </a:r>
            <a:endParaRPr lang="en-US" sz="1300" dirty="0"/>
          </a:p>
        </p:txBody>
      </p:sp>
      <p:sp>
        <p:nvSpPr>
          <p:cNvPr id="78" name="Text 72"/>
          <p:cNvSpPr txBox="1"/>
          <p:nvPr/>
        </p:nvSpPr>
        <p:spPr>
          <a:xfrm>
            <a:off x="5610758" y="5950915"/>
            <a:ext cx="91074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strike="sngStrike" dirty="0">
                <a:solidFill>
                  <a:schemeClr val="bg1">
                    <a:lumMod val="95000"/>
                  </a:scheme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사과 구매하기</a:t>
            </a:r>
            <a:endParaRPr lang="en-US" sz="1000" b="1" strike="sngStrike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79" name="Text 73"/>
          <p:cNvSpPr txBox="1"/>
          <p:nvPr/>
        </p:nvSpPr>
        <p:spPr>
          <a:xfrm>
            <a:off x="5610758" y="6227064"/>
            <a:ext cx="7735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 구매하기</a:t>
            </a:r>
            <a:endParaRPr lang="en-US" sz="1000" b="1" dirty="0"/>
          </a:p>
        </p:txBody>
      </p:sp>
      <p:pic>
        <p:nvPicPr>
          <p:cNvPr id="80" name="Image 3" descr="preencoded.png"/>
          <p:cNvPicPr>
            <a:picLocks noChangeAspect="1"/>
          </p:cNvPicPr>
          <p:nvPr/>
        </p:nvPicPr>
        <p:blipFill>
          <a:blip r:embed="rId6"/>
          <a:srcRect l="-2512" r="-2512"/>
          <a:stretch/>
        </p:blipFill>
        <p:spPr>
          <a:xfrm>
            <a:off x="8101584" y="3777386"/>
            <a:ext cx="105156" cy="133502"/>
          </a:xfrm>
          <a:prstGeom prst="rect">
            <a:avLst/>
          </a:prstGeom>
        </p:spPr>
      </p:pic>
      <p:sp>
        <p:nvSpPr>
          <p:cNvPr id="81" name="Text 74"/>
          <p:cNvSpPr txBox="1"/>
          <p:nvPr/>
        </p:nvSpPr>
        <p:spPr>
          <a:xfrm>
            <a:off x="8244230" y="3760013"/>
            <a:ext cx="5907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PREVIEW</a:t>
            </a:r>
            <a:endParaRPr lang="en-US" sz="900" dirty="0"/>
          </a:p>
        </p:txBody>
      </p:sp>
      <p:sp>
        <p:nvSpPr>
          <p:cNvPr id="82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761695" y="1429206"/>
            <a:ext cx="5306263" cy="45719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761695" y="476402"/>
            <a:ext cx="53062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2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Practice Session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761695" y="743407"/>
            <a:ext cx="61438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데모 + 실습: 5분 README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9917844" y="455828"/>
            <a:ext cx="1733702" cy="400507"/>
          </a:xfrm>
          <a:prstGeom prst="roundRect">
            <a:avLst>
              <a:gd name="adj" fmla="val 228311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 l="-33" r="-33"/>
          <a:stretch/>
        </p:blipFill>
        <p:spPr>
          <a:xfrm>
            <a:off x="10118097" y="579272"/>
            <a:ext cx="171907" cy="152705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0403390" y="541782"/>
            <a:ext cx="11759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Hands-on Lab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61695" y="1742846"/>
            <a:ext cx="5143500" cy="4050097"/>
          </a:xfrm>
          <a:prstGeom prst="roundRect">
            <a:avLst>
              <a:gd name="adj" fmla="val 527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1076249" y="2057400"/>
            <a:ext cx="457200" cy="476402"/>
          </a:xfrm>
          <a:prstGeom prst="roundRect">
            <a:avLst>
              <a:gd name="adj" fmla="val 33333"/>
            </a:avLst>
          </a:prstGeom>
          <a:solidFill>
            <a:srgbClr val="1E3A8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190549" y="2171700"/>
            <a:ext cx="228600" cy="2286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686154" y="2143354"/>
            <a:ext cx="263347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진행 단계 및 요구사항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1151687" y="2805117"/>
            <a:ext cx="428670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00" b="1" dirty="0">
                <a:solidFill>
                  <a:srgbClr val="93C5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1. 데모</a:t>
            </a:r>
            <a:endParaRPr lang="en-US" sz="15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문서의 뼈대를 잡고 링크와 이미지를 추가하는 전체 과정을 예시로 봅니다.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1151687" y="3804687"/>
            <a:ext cx="428670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00" b="1" dirty="0">
                <a:solidFill>
                  <a:srgbClr val="93C5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2. 실습</a:t>
            </a:r>
            <a:endParaRPr lang="en-US" sz="15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자신의 전공, 관심사, 연락처를 포함한 프로필 README를 직접 작성합니다.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1160831" y="4804257"/>
            <a:ext cx="4896612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00" b="1" dirty="0">
                <a:solidFill>
                  <a:srgbClr val="93C5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필수 포함 요소</a:t>
            </a:r>
            <a:endParaRPr lang="en-US" sz="15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제목(#), 목록(-), 링크([]), 이미지(![]) 중 3가지 이상을 사용하세요.</a:t>
            </a:r>
            <a:endParaRPr lang="en-US" sz="1500" dirty="0"/>
          </a:p>
        </p:txBody>
      </p:sp>
      <p:sp>
        <p:nvSpPr>
          <p:cNvPr id="17" name="Shape 13"/>
          <p:cNvSpPr/>
          <p:nvPr/>
        </p:nvSpPr>
        <p:spPr>
          <a:xfrm>
            <a:off x="6508046" y="1155344"/>
            <a:ext cx="5143500" cy="5333695"/>
          </a:xfrm>
          <a:prstGeom prst="roundRect">
            <a:avLst>
              <a:gd name="adj" fmla="val 527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rcRect l="-80" r="-80"/>
          <a:stretch/>
        </p:blipFill>
        <p:spPr>
          <a:xfrm>
            <a:off x="6936900" y="1584198"/>
            <a:ext cx="286207" cy="22860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7489197" y="1555852"/>
            <a:ext cx="2539289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힌트 코드 (Skeleton)</a:t>
            </a:r>
            <a:endParaRPr lang="en-US" sz="1800" dirty="0"/>
          </a:p>
        </p:txBody>
      </p:sp>
      <p:sp>
        <p:nvSpPr>
          <p:cNvPr id="20" name="Shape 15"/>
          <p:cNvSpPr/>
          <p:nvPr/>
        </p:nvSpPr>
        <p:spPr>
          <a:xfrm>
            <a:off x="10369557" y="1564996"/>
            <a:ext cx="972007" cy="286207"/>
          </a:xfrm>
          <a:prstGeom prst="roundRect">
            <a:avLst>
              <a:gd name="adj" fmla="val 42599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6"/>
          <p:cNvSpPr txBox="1"/>
          <p:nvPr/>
        </p:nvSpPr>
        <p:spPr>
          <a:xfrm>
            <a:off x="10493916" y="1612544"/>
            <a:ext cx="8001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readme.md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6822600" y="2099005"/>
            <a:ext cx="4515307" cy="4076395"/>
          </a:xfrm>
          <a:prstGeom prst="roundRect">
            <a:avLst>
              <a:gd name="adj" fmla="val 629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8"/>
          <p:cNvSpPr/>
          <p:nvPr/>
        </p:nvSpPr>
        <p:spPr>
          <a:xfrm>
            <a:off x="7060344" y="2336749"/>
            <a:ext cx="114300" cy="11430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19"/>
          <p:cNvSpPr/>
          <p:nvPr/>
        </p:nvSpPr>
        <p:spPr>
          <a:xfrm>
            <a:off x="7251453" y="2336749"/>
            <a:ext cx="114300" cy="1143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0"/>
          <p:cNvSpPr/>
          <p:nvPr/>
        </p:nvSpPr>
        <p:spPr>
          <a:xfrm>
            <a:off x="7441648" y="2336749"/>
            <a:ext cx="114300" cy="1143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1"/>
          <p:cNvSpPr txBox="1"/>
          <p:nvPr/>
        </p:nvSpPr>
        <p:spPr>
          <a:xfrm>
            <a:off x="7017367" y="2486711"/>
            <a:ext cx="422910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0A5F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 홍길동 (컴퓨터공학과)</a:t>
            </a:r>
            <a:endParaRPr lang="en-US" sz="1200" dirty="0"/>
          </a:p>
        </p:txBody>
      </p:sp>
      <p:sp>
        <p:nvSpPr>
          <p:cNvPr id="27" name="Text 22"/>
          <p:cNvSpPr txBox="1"/>
          <p:nvPr/>
        </p:nvSpPr>
        <p:spPr>
          <a:xfrm>
            <a:off x="7017367" y="2883560"/>
            <a:ext cx="422910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4ADE8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&gt; "안녕하세요, 백엔드 개발자를 꿈꾸는 홍길동입니다."</a:t>
            </a:r>
            <a:endParaRPr lang="en-US" sz="1200" dirty="0"/>
          </a:p>
        </p:txBody>
      </p:sp>
      <p:sp>
        <p:nvSpPr>
          <p:cNvPr id="28" name="Text 23"/>
          <p:cNvSpPr txBox="1"/>
          <p:nvPr/>
        </p:nvSpPr>
        <p:spPr>
          <a:xfrm>
            <a:off x="7017367" y="3523640"/>
            <a:ext cx="41532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0A5F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## 관심 분야</a:t>
            </a:r>
            <a:endParaRPr lang="en-US" sz="1200" dirty="0"/>
          </a:p>
        </p:txBody>
      </p:sp>
      <p:sp>
        <p:nvSpPr>
          <p:cNvPr id="29" name="Text 24"/>
          <p:cNvSpPr txBox="1"/>
          <p:nvPr/>
        </p:nvSpPr>
        <p:spPr>
          <a:xfrm>
            <a:off x="7017367" y="3766871"/>
            <a:ext cx="41532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472B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- </a:t>
            </a:r>
            <a:r>
              <a:rPr lang="en-US" sz="1200" dirty="0">
                <a:solidFill>
                  <a:srgbClr val="E2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Java / Spring Boot</a:t>
            </a:r>
            <a:endParaRPr lang="en-US" sz="1200" dirty="0"/>
          </a:p>
        </p:txBody>
      </p:sp>
      <p:sp>
        <p:nvSpPr>
          <p:cNvPr id="30" name="Text 25"/>
          <p:cNvSpPr txBox="1"/>
          <p:nvPr/>
        </p:nvSpPr>
        <p:spPr>
          <a:xfrm>
            <a:off x="7017367" y="4011016"/>
            <a:ext cx="41532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472B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- </a:t>
            </a:r>
            <a:r>
              <a:rPr lang="en-US" sz="1200" dirty="0">
                <a:solidFill>
                  <a:srgbClr val="E2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Cloud Architecture (AWS)</a:t>
            </a:r>
            <a:endParaRPr lang="en-US" sz="1200" dirty="0"/>
          </a:p>
        </p:txBody>
      </p:sp>
      <p:sp>
        <p:nvSpPr>
          <p:cNvPr id="31" name="Text 26"/>
          <p:cNvSpPr txBox="1"/>
          <p:nvPr/>
        </p:nvSpPr>
        <p:spPr>
          <a:xfrm>
            <a:off x="7017367" y="4406951"/>
            <a:ext cx="422910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0A5F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## 주요 프로젝트</a:t>
            </a:r>
            <a:endParaRPr lang="en-US" sz="1200" dirty="0"/>
          </a:p>
        </p:txBody>
      </p:sp>
      <p:sp>
        <p:nvSpPr>
          <p:cNvPr id="32" name="Text 27"/>
          <p:cNvSpPr txBox="1"/>
          <p:nvPr/>
        </p:nvSpPr>
        <p:spPr>
          <a:xfrm>
            <a:off x="7017367" y="4651096"/>
            <a:ext cx="41532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1. **도서관 관리 시스템** </a:t>
            </a:r>
            <a:r>
              <a:rPr lang="en-US" sz="1200" b="1" dirty="0">
                <a:solidFill>
                  <a:srgbClr val="FBBF2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/>
            </a:r>
            <a:r>
              <a:rPr lang="en-US" sz="1200" dirty="0">
                <a:solidFill>
                  <a:srgbClr val="E2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- 대출/반납 기능</a:t>
            </a:r>
            <a:endParaRPr lang="en-US" sz="1200" dirty="0"/>
          </a:p>
        </p:txBody>
      </p:sp>
      <p:sp>
        <p:nvSpPr>
          <p:cNvPr id="33" name="Text 28"/>
          <p:cNvSpPr txBox="1"/>
          <p:nvPr/>
        </p:nvSpPr>
        <p:spPr>
          <a:xfrm>
            <a:off x="7017367" y="4894326"/>
            <a:ext cx="422910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2. **개인 블로그** </a:t>
            </a:r>
            <a:r>
              <a:rPr lang="en-US" sz="1200" b="1" dirty="0">
                <a:solidFill>
                  <a:srgbClr val="FBBF2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/>
            </a:r>
            <a:r>
              <a:rPr lang="en-US" sz="1200" dirty="0">
                <a:solidFill>
                  <a:srgbClr val="E2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- 마크다운 기반 정적 사이트</a:t>
            </a:r>
            <a:endParaRPr lang="en-US" sz="1200" dirty="0"/>
          </a:p>
        </p:txBody>
      </p:sp>
      <p:sp>
        <p:nvSpPr>
          <p:cNvPr id="34" name="Text 29"/>
          <p:cNvSpPr txBox="1"/>
          <p:nvPr/>
        </p:nvSpPr>
        <p:spPr>
          <a:xfrm>
            <a:off x="7017367" y="5290261"/>
            <a:ext cx="41532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0A5F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## 연락처</a:t>
            </a:r>
            <a:endParaRPr lang="en-US" sz="1200" dirty="0"/>
          </a:p>
        </p:txBody>
      </p:sp>
      <p:sp>
        <p:nvSpPr>
          <p:cNvPr id="35" name="Text 30"/>
          <p:cNvSpPr txBox="1"/>
          <p:nvPr/>
        </p:nvSpPr>
        <p:spPr>
          <a:xfrm>
            <a:off x="7017367" y="5534406"/>
            <a:ext cx="41532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u="sng" dirty="0">
                <a:solidFill>
                  <a:srgbClr val="A78BF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[이메일 보내기](mailto:hong@example.com)</a:t>
            </a:r>
            <a:endParaRPr lang="en-US" sz="1200" dirty="0"/>
          </a:p>
        </p:txBody>
      </p:sp>
      <p:sp>
        <p:nvSpPr>
          <p:cNvPr id="36" name="Text 31"/>
          <p:cNvSpPr txBox="1"/>
          <p:nvPr/>
        </p:nvSpPr>
        <p:spPr>
          <a:xfrm>
            <a:off x="158844" y="5428793"/>
            <a:ext cx="3580400" cy="18178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0" b="1" dirty="0">
                <a:solidFill>
                  <a:srgbClr val="FFFFFF">
                    <a:alpha val="3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DEMO</a:t>
            </a:r>
            <a:endParaRPr lang="en-US" sz="7200" dirty="0"/>
          </a:p>
        </p:txBody>
      </p:sp>
      <p:sp>
        <p:nvSpPr>
          <p:cNvPr id="37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 txBox="1"/>
          <p:nvPr/>
        </p:nvSpPr>
        <p:spPr>
          <a:xfrm>
            <a:off x="571500" y="-790956"/>
            <a:ext cx="7579462" cy="2648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400" b="1" kern="0" spc="-720" dirty="0">
                <a:solidFill>
                  <a:schemeClr val="bg1">
                    <a:lumMod val="65000"/>
                  </a:scheme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PART 02</a:t>
            </a:r>
            <a:endParaRPr lang="en-US" sz="14400" dirty="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rcRect/>
          <a:stretch/>
        </p:blipFill>
        <p:spPr>
          <a:xfrm>
            <a:off x="9753905" y="4419295"/>
            <a:ext cx="2438705" cy="243870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61695" y="2072030"/>
            <a:ext cx="75895" cy="147675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1143000" y="2072030"/>
            <a:ext cx="1752905" cy="228600"/>
          </a:xfrm>
          <a:prstGeom prst="roundRect">
            <a:avLst>
              <a:gd name="adj" fmla="val 40000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 txBox="1"/>
          <p:nvPr/>
        </p:nvSpPr>
        <p:spPr>
          <a:xfrm>
            <a:off x="1143000" y="2452421"/>
            <a:ext cx="10592410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실전 활용 &amp; 노션</a:t>
            </a:r>
            <a:endParaRPr lang="en-US" sz="4500" dirty="0"/>
          </a:p>
        </p:txBody>
      </p:sp>
      <p:sp>
        <p:nvSpPr>
          <p:cNvPr id="9" name="Text 6"/>
          <p:cNvSpPr txBox="1"/>
          <p:nvPr/>
        </p:nvSpPr>
        <p:spPr>
          <a:xfrm>
            <a:off x="1143000" y="3243377"/>
            <a:ext cx="104013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README 작성부터 노션(Notion) 연동까지 완벽 가이드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761695" y="4005072"/>
            <a:ext cx="3409798" cy="1162202"/>
          </a:xfrm>
          <a:prstGeom prst="roundRect">
            <a:avLst>
              <a:gd name="adj" fmla="val 7739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39700" dist="1016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1000354" y="4358030"/>
            <a:ext cx="457200" cy="457200"/>
          </a:xfrm>
          <a:prstGeom prst="roundRect">
            <a:avLst>
              <a:gd name="adj" fmla="val 41667"/>
            </a:avLst>
          </a:prstGeom>
          <a:solidFill>
            <a:srgbClr val="172554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157630" y="4490618"/>
            <a:ext cx="142646" cy="19019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609344" y="4243730"/>
            <a:ext cx="15819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Templates</a:t>
            </a:r>
            <a:endParaRPr lang="en-US" sz="900" dirty="0"/>
          </a:p>
        </p:txBody>
      </p:sp>
      <p:sp>
        <p:nvSpPr>
          <p:cNvPr id="14" name="Text 10"/>
          <p:cNvSpPr txBox="1"/>
          <p:nvPr/>
        </p:nvSpPr>
        <p:spPr>
          <a:xfrm>
            <a:off x="1609344" y="4433926"/>
            <a:ext cx="162580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실전 문서 양식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1609344" y="4738421"/>
            <a:ext cx="184891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강의노트, 보고서 구조 잡기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4394606" y="4005072"/>
            <a:ext cx="3409798" cy="1162202"/>
          </a:xfrm>
          <a:prstGeom prst="roundRect">
            <a:avLst>
              <a:gd name="adj" fmla="val 7739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39700" dist="1016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3"/>
          <p:cNvSpPr/>
          <p:nvPr/>
        </p:nvSpPr>
        <p:spPr>
          <a:xfrm>
            <a:off x="4632350" y="4358030"/>
            <a:ext cx="457200" cy="457200"/>
          </a:xfrm>
          <a:prstGeom prst="roundRect">
            <a:avLst>
              <a:gd name="adj" fmla="val 41667"/>
            </a:avLst>
          </a:prstGeom>
          <a:solidFill>
            <a:srgbClr val="172554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765853" y="4490618"/>
            <a:ext cx="190195" cy="190195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5242255" y="4243730"/>
            <a:ext cx="15051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Notion</a:t>
            </a:r>
            <a:endParaRPr lang="en-US" sz="900" dirty="0"/>
          </a:p>
        </p:txBody>
      </p:sp>
      <p:sp>
        <p:nvSpPr>
          <p:cNvPr id="20" name="Text 15"/>
          <p:cNvSpPr txBox="1"/>
          <p:nvPr/>
        </p:nvSpPr>
        <p:spPr>
          <a:xfrm>
            <a:off x="5242255" y="4433926"/>
            <a:ext cx="15051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노션 200% 활용</a:t>
            </a:r>
            <a:endParaRPr lang="en-US" sz="1300" dirty="0"/>
          </a:p>
        </p:txBody>
      </p:sp>
      <p:sp>
        <p:nvSpPr>
          <p:cNvPr id="21" name="Text 16"/>
          <p:cNvSpPr txBox="1"/>
          <p:nvPr/>
        </p:nvSpPr>
        <p:spPr>
          <a:xfrm>
            <a:off x="5242255" y="4738421"/>
            <a:ext cx="168249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마크다운 단축키와 호환성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8026603" y="4005072"/>
            <a:ext cx="3409798" cy="1162202"/>
          </a:xfrm>
          <a:prstGeom prst="roundRect">
            <a:avLst>
              <a:gd name="adj" fmla="val 7739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39700" dist="1016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8"/>
          <p:cNvSpPr/>
          <p:nvPr/>
        </p:nvSpPr>
        <p:spPr>
          <a:xfrm>
            <a:off x="8264347" y="4358030"/>
            <a:ext cx="457200" cy="457200"/>
          </a:xfrm>
          <a:prstGeom prst="roundRect">
            <a:avLst>
              <a:gd name="adj" fmla="val 41667"/>
            </a:avLst>
          </a:prstGeom>
          <a:solidFill>
            <a:srgbClr val="172554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rcRect l="-1648" r="-1648"/>
          <a:stretch/>
        </p:blipFill>
        <p:spPr>
          <a:xfrm>
            <a:off x="8406994" y="4490618"/>
            <a:ext cx="171907" cy="190195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8874252" y="4243730"/>
            <a:ext cx="166695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Checklist</a:t>
            </a:r>
            <a:endParaRPr lang="en-US" sz="900" dirty="0"/>
          </a:p>
        </p:txBody>
      </p:sp>
      <p:sp>
        <p:nvSpPr>
          <p:cNvPr id="26" name="Text 20"/>
          <p:cNvSpPr txBox="1"/>
          <p:nvPr/>
        </p:nvSpPr>
        <p:spPr>
          <a:xfrm>
            <a:off x="8874252" y="4433926"/>
            <a:ext cx="166695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QA &amp; 실수 방지</a:t>
            </a:r>
            <a:endParaRPr lang="en-US" sz="1300" dirty="0"/>
          </a:p>
        </p:txBody>
      </p:sp>
      <p:sp>
        <p:nvSpPr>
          <p:cNvPr id="27" name="Text 21"/>
          <p:cNvSpPr txBox="1"/>
          <p:nvPr/>
        </p:nvSpPr>
        <p:spPr>
          <a:xfrm>
            <a:off x="8874252" y="4738421"/>
            <a:ext cx="190378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가독성을 높이는 검수 포인트</a:t>
            </a:r>
            <a:endParaRPr lang="en-US" sz="1000" dirty="0"/>
          </a:p>
        </p:txBody>
      </p:sp>
      <p:sp>
        <p:nvSpPr>
          <p:cNvPr id="28" name="Text 22"/>
          <p:cNvSpPr txBox="1"/>
          <p:nvPr/>
        </p:nvSpPr>
        <p:spPr>
          <a:xfrm>
            <a:off x="1257300" y="2100377"/>
            <a:ext cx="166420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45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PRACTICAL APPLICATION</a:t>
            </a:r>
            <a:endParaRPr lang="en-US" sz="900" dirty="0"/>
          </a:p>
        </p:txBody>
      </p:sp>
      <p:sp>
        <p:nvSpPr>
          <p:cNvPr id="29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 txBox="1"/>
          <p:nvPr/>
        </p:nvSpPr>
        <p:spPr>
          <a:xfrm>
            <a:off x="571500" y="381305"/>
            <a:ext cx="241767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2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Part 2. 실전 활용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71500" y="647395"/>
            <a:ext cx="3463747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67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정보 구조화 원칙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571500" y="1104595"/>
            <a:ext cx="251002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kern="0" spc="-13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문서의 계층과 흐름 설계하기</a:t>
            </a:r>
            <a:endParaRPr lang="en-US" sz="13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 l="-33" r="-33"/>
          <a:stretch/>
        </p:blipFill>
        <p:spPr>
          <a:xfrm>
            <a:off x="9793224" y="1200607"/>
            <a:ext cx="171907" cy="15270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0041026" y="1181405"/>
            <a:ext cx="18818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Information Architecture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71500" y="1790395"/>
            <a:ext cx="838505" cy="228600"/>
          </a:xfrm>
          <a:prstGeom prst="roundRect">
            <a:avLst>
              <a:gd name="adj" fmla="val 66667"/>
            </a:avLst>
          </a:prstGeom>
          <a:solidFill>
            <a:srgbClr val="6366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 txBox="1"/>
          <p:nvPr/>
        </p:nvSpPr>
        <p:spPr>
          <a:xfrm>
            <a:off x="647395" y="1819656"/>
            <a:ext cx="7626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STRUCTURE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518818" y="1752905"/>
            <a:ext cx="2551176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kern="0" spc="-45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문서 계층 (Hierarchy)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571500" y="2286000"/>
            <a:ext cx="5296205" cy="4190695"/>
          </a:xfrm>
          <a:prstGeom prst="roundRect">
            <a:avLst>
              <a:gd name="adj" fmla="val 79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1751990" y="5600242"/>
            <a:ext cx="307147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kern="0" spc="-1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가장 큰 주제에서 세부 내용으로 좁혀가는 구조</a:t>
            </a:r>
            <a:endParaRPr lang="en-US" sz="12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655064" y="5629046"/>
            <a:ext cx="133502" cy="133502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6324905" y="1790395"/>
            <a:ext cx="685800" cy="228600"/>
          </a:xfrm>
          <a:prstGeom prst="roundRect">
            <a:avLst>
              <a:gd name="adj" fmla="val 66667"/>
            </a:avLst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2"/>
          <p:cNvSpPr txBox="1"/>
          <p:nvPr/>
        </p:nvSpPr>
        <p:spPr>
          <a:xfrm>
            <a:off x="6400800" y="1819656"/>
            <a:ext cx="6099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PROCESS</a:t>
            </a:r>
            <a:endParaRPr lang="en-US" sz="900" dirty="0"/>
          </a:p>
        </p:txBody>
      </p:sp>
      <p:sp>
        <p:nvSpPr>
          <p:cNvPr id="17" name="Text 13"/>
          <p:cNvSpPr txBox="1"/>
          <p:nvPr/>
        </p:nvSpPr>
        <p:spPr>
          <a:xfrm>
            <a:off x="7118604" y="1752905"/>
            <a:ext cx="1712671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kern="0" spc="-45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추천 작성 순서</a:t>
            </a:r>
            <a:endParaRPr lang="en-US" sz="1800" dirty="0"/>
          </a:p>
        </p:txBody>
      </p:sp>
      <p:sp>
        <p:nvSpPr>
          <p:cNvPr id="18" name="Shape 14"/>
          <p:cNvSpPr/>
          <p:nvPr/>
        </p:nvSpPr>
        <p:spPr>
          <a:xfrm>
            <a:off x="6324905" y="2286000"/>
            <a:ext cx="5296205" cy="1742846"/>
          </a:xfrm>
          <a:prstGeom prst="roundRect">
            <a:avLst>
              <a:gd name="adj" fmla="val 458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5"/>
          <p:cNvSpPr/>
          <p:nvPr/>
        </p:nvSpPr>
        <p:spPr>
          <a:xfrm>
            <a:off x="7248449" y="2905049"/>
            <a:ext cx="743407" cy="19202"/>
          </a:xfrm>
          <a:prstGeom prst="rect">
            <a:avLst/>
          </a:prstGeom>
          <a:solidFill>
            <a:srgbClr val="33415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6"/>
          <p:cNvSpPr/>
          <p:nvPr/>
        </p:nvSpPr>
        <p:spPr>
          <a:xfrm>
            <a:off x="7901330" y="2915107"/>
            <a:ext cx="147218" cy="171907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7"/>
          <p:cNvSpPr/>
          <p:nvPr/>
        </p:nvSpPr>
        <p:spPr>
          <a:xfrm>
            <a:off x="8600846" y="2905049"/>
            <a:ext cx="743407" cy="19202"/>
          </a:xfrm>
          <a:prstGeom prst="rect">
            <a:avLst/>
          </a:prstGeom>
          <a:solidFill>
            <a:srgbClr val="33415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8"/>
          <p:cNvSpPr/>
          <p:nvPr/>
        </p:nvSpPr>
        <p:spPr>
          <a:xfrm>
            <a:off x="9253728" y="2915107"/>
            <a:ext cx="147218" cy="171907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9"/>
          <p:cNvSpPr/>
          <p:nvPr/>
        </p:nvSpPr>
        <p:spPr>
          <a:xfrm>
            <a:off x="9953244" y="2905049"/>
            <a:ext cx="743407" cy="19202"/>
          </a:xfrm>
          <a:prstGeom prst="rect">
            <a:avLst/>
          </a:prstGeom>
          <a:solidFill>
            <a:srgbClr val="33415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0"/>
          <p:cNvSpPr/>
          <p:nvPr/>
        </p:nvSpPr>
        <p:spPr>
          <a:xfrm>
            <a:off x="10606126" y="2915107"/>
            <a:ext cx="147218" cy="171907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1"/>
          <p:cNvSpPr txBox="1"/>
          <p:nvPr/>
        </p:nvSpPr>
        <p:spPr>
          <a:xfrm>
            <a:off x="6400800" y="4867351"/>
            <a:ext cx="3337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TIPS</a:t>
            </a:r>
            <a:endParaRPr lang="en-US" sz="900" dirty="0"/>
          </a:p>
        </p:txBody>
      </p:sp>
      <p:sp>
        <p:nvSpPr>
          <p:cNvPr id="26" name="Text 22"/>
          <p:cNvSpPr txBox="1"/>
          <p:nvPr/>
        </p:nvSpPr>
        <p:spPr>
          <a:xfrm>
            <a:off x="6846113" y="4819802"/>
            <a:ext cx="9144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-37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원칙</a:t>
            </a:r>
            <a:endParaRPr lang="en-US" sz="1500" dirty="0"/>
          </a:p>
        </p:txBody>
      </p:sp>
      <p:sp>
        <p:nvSpPr>
          <p:cNvPr id="27" name="Shape 23"/>
          <p:cNvSpPr/>
          <p:nvPr/>
        </p:nvSpPr>
        <p:spPr>
          <a:xfrm>
            <a:off x="6324905" y="5238598"/>
            <a:ext cx="2572207" cy="1238098"/>
          </a:xfrm>
          <a:prstGeom prst="roundRect">
            <a:avLst>
              <a:gd name="adj" fmla="val 681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4"/>
          <p:cNvSpPr/>
          <p:nvPr/>
        </p:nvSpPr>
        <p:spPr>
          <a:xfrm>
            <a:off x="6524244" y="5629046"/>
            <a:ext cx="457200" cy="457200"/>
          </a:xfrm>
          <a:prstGeom prst="roundRect">
            <a:avLst>
              <a:gd name="adj" fmla="val 41667"/>
            </a:avLst>
          </a:prstGeom>
          <a:solidFill>
            <a:srgbClr val="17255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9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657746" y="5762549"/>
            <a:ext cx="190195" cy="190195"/>
          </a:xfrm>
          <a:prstGeom prst="rect">
            <a:avLst/>
          </a:prstGeom>
        </p:spPr>
      </p:pic>
      <p:sp>
        <p:nvSpPr>
          <p:cNvPr id="30" name="Text 25"/>
          <p:cNvSpPr txBox="1"/>
          <p:nvPr/>
        </p:nvSpPr>
        <p:spPr>
          <a:xfrm>
            <a:off x="7134149" y="5533949"/>
            <a:ext cx="15224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 문서 1주제</a:t>
            </a:r>
            <a:endParaRPr lang="en-US" sz="1200" dirty="0"/>
          </a:p>
        </p:txBody>
      </p:sp>
      <p:sp>
        <p:nvSpPr>
          <p:cNvPr id="31" name="Text 26"/>
          <p:cNvSpPr txBox="1"/>
          <p:nvPr/>
        </p:nvSpPr>
        <p:spPr>
          <a:xfrm>
            <a:off x="7134149" y="5800954"/>
            <a:ext cx="2227478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-1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하나의 주제에만 집중하여</a:t>
            </a:r>
            <a:endParaRPr lang="en-US" sz="1000" dirty="0"/>
          </a:p>
          <a:p>
            <a:pPr marL="0" indent="0" algn="l">
              <a:buNone/>
            </a:pPr>
            <a:r>
              <a:rPr lang="en-US" sz="1000" kern="0" spc="-1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명확성을 높이세요.</a:t>
            </a:r>
            <a:endParaRPr lang="en-US" sz="1000" dirty="0"/>
          </a:p>
        </p:txBody>
      </p:sp>
      <p:sp>
        <p:nvSpPr>
          <p:cNvPr id="32" name="Shape 27"/>
          <p:cNvSpPr/>
          <p:nvPr/>
        </p:nvSpPr>
        <p:spPr>
          <a:xfrm>
            <a:off x="9048902" y="5238598"/>
            <a:ext cx="2572207" cy="1238098"/>
          </a:xfrm>
          <a:prstGeom prst="roundRect">
            <a:avLst>
              <a:gd name="adj" fmla="val 681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28"/>
          <p:cNvSpPr/>
          <p:nvPr/>
        </p:nvSpPr>
        <p:spPr>
          <a:xfrm>
            <a:off x="9249156" y="5629046"/>
            <a:ext cx="457200" cy="457200"/>
          </a:xfrm>
          <a:prstGeom prst="roundRect">
            <a:avLst>
              <a:gd name="adj" fmla="val 41667"/>
            </a:avLst>
          </a:prstGeom>
          <a:solidFill>
            <a:srgbClr val="17255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4" name="Image 3" descr="preencoded.png"/>
          <p:cNvPicPr>
            <a:picLocks noChangeAspect="1"/>
          </p:cNvPicPr>
          <p:nvPr/>
        </p:nvPicPr>
        <p:blipFill>
          <a:blip r:embed="rId6"/>
          <a:srcRect l="-1648" r="-1648"/>
          <a:stretch/>
        </p:blipFill>
        <p:spPr>
          <a:xfrm>
            <a:off x="9391802" y="5762549"/>
            <a:ext cx="171907" cy="190195"/>
          </a:xfrm>
          <a:prstGeom prst="rect">
            <a:avLst/>
          </a:prstGeom>
        </p:spPr>
      </p:pic>
      <p:sp>
        <p:nvSpPr>
          <p:cNvPr id="35" name="Text 29"/>
          <p:cNvSpPr txBox="1"/>
          <p:nvPr/>
        </p:nvSpPr>
        <p:spPr>
          <a:xfrm>
            <a:off x="9858146" y="5438851"/>
            <a:ext cx="16386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문단 3-4줄</a:t>
            </a:r>
            <a:endParaRPr lang="en-US" sz="1200" dirty="0"/>
          </a:p>
        </p:txBody>
      </p:sp>
      <p:sp>
        <p:nvSpPr>
          <p:cNvPr id="36" name="Text 30"/>
          <p:cNvSpPr txBox="1"/>
          <p:nvPr/>
        </p:nvSpPr>
        <p:spPr>
          <a:xfrm>
            <a:off x="9858146" y="5705856"/>
            <a:ext cx="163860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kern="0" spc="-1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너무 긴 문단은 가독성을</a:t>
            </a:r>
            <a:endParaRPr lang="en-US" sz="1000" dirty="0"/>
          </a:p>
          <a:p>
            <a:pPr marL="0" indent="0" algn="l">
              <a:buNone/>
            </a:pPr>
            <a:r>
              <a:rPr lang="en-US" sz="1000" kern="0" spc="-1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해칩니다. 적절히 끊어주세요.</a:t>
            </a:r>
            <a:endParaRPr lang="en-US" sz="1000" dirty="0"/>
          </a:p>
        </p:txBody>
      </p:sp>
      <p:sp>
        <p:nvSpPr>
          <p:cNvPr id="37" name="Shape 31"/>
          <p:cNvSpPr/>
          <p:nvPr/>
        </p:nvSpPr>
        <p:spPr>
          <a:xfrm>
            <a:off x="1086307" y="4581144"/>
            <a:ext cx="4267505" cy="666598"/>
          </a:xfrm>
          <a:prstGeom prst="roundRect">
            <a:avLst>
              <a:gd name="adj" fmla="val 23516"/>
            </a:avLst>
          </a:prstGeom>
          <a:solidFill>
            <a:srgbClr val="0EA5E9"/>
          </a:solidFill>
          <a:ln w="12700">
            <a:solidFill>
              <a:srgbClr val="7DD3FC"/>
            </a:solidFill>
            <a:prstDash val="solid"/>
          </a:ln>
          <a:effectLst>
            <a:outerShdw blurRad="139700" dist="1016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2"/>
          <p:cNvSpPr/>
          <p:nvPr/>
        </p:nvSpPr>
        <p:spPr>
          <a:xfrm>
            <a:off x="1561795" y="4581144"/>
            <a:ext cx="19202" cy="152705"/>
          </a:xfrm>
          <a:prstGeom prst="rect">
            <a:avLst/>
          </a:prstGeom>
          <a:solidFill>
            <a:srgbClr val="47556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3"/>
          <p:cNvSpPr/>
          <p:nvPr/>
        </p:nvSpPr>
        <p:spPr>
          <a:xfrm>
            <a:off x="2103120" y="4800600"/>
            <a:ext cx="333756" cy="228600"/>
          </a:xfrm>
          <a:prstGeom prst="roundRect">
            <a:avLst>
              <a:gd name="adj" fmla="val 66667"/>
            </a:avLst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4"/>
          <p:cNvSpPr txBox="1"/>
          <p:nvPr/>
        </p:nvSpPr>
        <p:spPr>
          <a:xfrm>
            <a:off x="2179015" y="4819802"/>
            <a:ext cx="2578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H3</a:t>
            </a:r>
            <a:endParaRPr lang="en-US" sz="1000" dirty="0"/>
          </a:p>
        </p:txBody>
      </p:sp>
      <p:sp>
        <p:nvSpPr>
          <p:cNvPr id="41" name="Text 35"/>
          <p:cNvSpPr txBox="1"/>
          <p:nvPr/>
        </p:nvSpPr>
        <p:spPr>
          <a:xfrm>
            <a:off x="2549347" y="4791456"/>
            <a:ext cx="213146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### 세부 항목 (Details)</a:t>
            </a:r>
            <a:endParaRPr lang="en-US" sz="1300" dirty="0"/>
          </a:p>
        </p:txBody>
      </p:sp>
      <p:sp>
        <p:nvSpPr>
          <p:cNvPr id="42" name="Shape 36"/>
          <p:cNvSpPr/>
          <p:nvPr/>
        </p:nvSpPr>
        <p:spPr>
          <a:xfrm>
            <a:off x="1512418" y="3762756"/>
            <a:ext cx="3419856" cy="666598"/>
          </a:xfrm>
          <a:prstGeom prst="roundRect">
            <a:avLst>
              <a:gd name="adj" fmla="val 23516"/>
            </a:avLst>
          </a:prstGeom>
          <a:solidFill>
            <a:srgbClr val="2563EB"/>
          </a:solidFill>
          <a:ln w="12700">
            <a:solidFill>
              <a:srgbClr val="60A5FA"/>
            </a:solidFill>
            <a:prstDash val="solid"/>
          </a:ln>
          <a:effectLst>
            <a:outerShdw blurRad="139700" dist="1016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37"/>
          <p:cNvSpPr/>
          <p:nvPr/>
        </p:nvSpPr>
        <p:spPr>
          <a:xfrm>
            <a:off x="3209544" y="4410151"/>
            <a:ext cx="19202" cy="152705"/>
          </a:xfrm>
          <a:prstGeom prst="rect">
            <a:avLst/>
          </a:prstGeom>
          <a:solidFill>
            <a:srgbClr val="47556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38"/>
          <p:cNvSpPr/>
          <p:nvPr/>
        </p:nvSpPr>
        <p:spPr>
          <a:xfrm>
            <a:off x="2125066" y="3981298"/>
            <a:ext cx="333756" cy="228600"/>
          </a:xfrm>
          <a:prstGeom prst="roundRect">
            <a:avLst>
              <a:gd name="adj" fmla="val 66667"/>
            </a:avLst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Text 39"/>
          <p:cNvSpPr txBox="1"/>
          <p:nvPr/>
        </p:nvSpPr>
        <p:spPr>
          <a:xfrm>
            <a:off x="2200961" y="4000500"/>
            <a:ext cx="2578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H2</a:t>
            </a:r>
            <a:endParaRPr lang="en-US" sz="1000" dirty="0"/>
          </a:p>
        </p:txBody>
      </p:sp>
      <p:sp>
        <p:nvSpPr>
          <p:cNvPr id="46" name="Text 40"/>
          <p:cNvSpPr txBox="1"/>
          <p:nvPr/>
        </p:nvSpPr>
        <p:spPr>
          <a:xfrm>
            <a:off x="2571293" y="3972154"/>
            <a:ext cx="2074774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## 중간 주제 (Section)</a:t>
            </a:r>
            <a:endParaRPr lang="en-US" sz="1300" dirty="0"/>
          </a:p>
        </p:txBody>
      </p:sp>
      <p:sp>
        <p:nvSpPr>
          <p:cNvPr id="47" name="Shape 41"/>
          <p:cNvSpPr/>
          <p:nvPr/>
        </p:nvSpPr>
        <p:spPr>
          <a:xfrm>
            <a:off x="1939442" y="2943454"/>
            <a:ext cx="2562149" cy="666598"/>
          </a:xfrm>
          <a:prstGeom prst="roundRect">
            <a:avLst>
              <a:gd name="adj" fmla="val 23516"/>
            </a:avLst>
          </a:prstGeom>
          <a:solidFill>
            <a:srgbClr val="4338CA"/>
          </a:solidFill>
          <a:ln w="12700">
            <a:solidFill>
              <a:srgbClr val="6366F1"/>
            </a:solidFill>
            <a:prstDash val="solid"/>
          </a:ln>
          <a:effectLst>
            <a:outerShdw blurRad="139700" dist="1016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8" name="Shape 42"/>
          <p:cNvSpPr/>
          <p:nvPr/>
        </p:nvSpPr>
        <p:spPr>
          <a:xfrm>
            <a:off x="3209544" y="3590849"/>
            <a:ext cx="19202" cy="152705"/>
          </a:xfrm>
          <a:prstGeom prst="rect">
            <a:avLst/>
          </a:prstGeom>
          <a:solidFill>
            <a:srgbClr val="47556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Shape 43"/>
          <p:cNvSpPr/>
          <p:nvPr/>
        </p:nvSpPr>
        <p:spPr>
          <a:xfrm>
            <a:off x="2403958" y="3161995"/>
            <a:ext cx="333756" cy="228600"/>
          </a:xfrm>
          <a:prstGeom prst="roundRect">
            <a:avLst>
              <a:gd name="adj" fmla="val 66667"/>
            </a:avLst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Text 44"/>
          <p:cNvSpPr txBox="1"/>
          <p:nvPr/>
        </p:nvSpPr>
        <p:spPr>
          <a:xfrm>
            <a:off x="2479853" y="3181198"/>
            <a:ext cx="2578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H1</a:t>
            </a:r>
            <a:endParaRPr lang="en-US" sz="1000" dirty="0"/>
          </a:p>
        </p:txBody>
      </p:sp>
      <p:sp>
        <p:nvSpPr>
          <p:cNvPr id="51" name="Text 45"/>
          <p:cNvSpPr txBox="1"/>
          <p:nvPr/>
        </p:nvSpPr>
        <p:spPr>
          <a:xfrm>
            <a:off x="2850185" y="3152851"/>
            <a:ext cx="141732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# 대주제 (Title)</a:t>
            </a:r>
            <a:endParaRPr lang="en-US" sz="1300" dirty="0"/>
          </a:p>
        </p:txBody>
      </p:sp>
      <p:sp>
        <p:nvSpPr>
          <p:cNvPr id="52" name="Shape 46"/>
          <p:cNvSpPr/>
          <p:nvPr/>
        </p:nvSpPr>
        <p:spPr>
          <a:xfrm>
            <a:off x="6638544" y="2600554"/>
            <a:ext cx="609905" cy="609905"/>
          </a:xfrm>
          <a:prstGeom prst="ellipse">
            <a:avLst/>
          </a:prstGeom>
          <a:solidFill>
            <a:srgbClr val="1E293B"/>
          </a:solidFill>
          <a:ln w="25400">
            <a:solidFill>
              <a:srgbClr val="3B82F6"/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53" name="Image 4" descr="preencoded.png"/>
          <p:cNvPicPr>
            <a:picLocks noChangeAspect="1"/>
          </p:cNvPicPr>
          <p:nvPr/>
        </p:nvPicPr>
        <p:blipFill>
          <a:blip r:embed="rId7"/>
          <a:srcRect l="-57" r="-57"/>
          <a:stretch/>
        </p:blipFill>
        <p:spPr>
          <a:xfrm>
            <a:off x="6843370" y="2790749"/>
            <a:ext cx="200254" cy="228600"/>
          </a:xfrm>
          <a:prstGeom prst="rect">
            <a:avLst/>
          </a:prstGeom>
        </p:spPr>
      </p:pic>
      <p:sp>
        <p:nvSpPr>
          <p:cNvPr id="54" name="Text 47"/>
          <p:cNvSpPr txBox="1"/>
          <p:nvPr/>
        </p:nvSpPr>
        <p:spPr>
          <a:xfrm>
            <a:off x="6783019" y="3323844"/>
            <a:ext cx="3246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제목</a:t>
            </a:r>
            <a:endParaRPr lang="en-US" sz="1000" dirty="0"/>
          </a:p>
        </p:txBody>
      </p:sp>
      <p:sp>
        <p:nvSpPr>
          <p:cNvPr id="55" name="Text 48"/>
          <p:cNvSpPr txBox="1"/>
          <p:nvPr/>
        </p:nvSpPr>
        <p:spPr>
          <a:xfrm>
            <a:off x="6798564" y="3552444"/>
            <a:ext cx="37216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Topic</a:t>
            </a:r>
            <a:endParaRPr lang="en-US" sz="900" dirty="0"/>
          </a:p>
        </p:txBody>
      </p:sp>
      <p:sp>
        <p:nvSpPr>
          <p:cNvPr id="56" name="Shape 49"/>
          <p:cNvSpPr/>
          <p:nvPr/>
        </p:nvSpPr>
        <p:spPr>
          <a:xfrm>
            <a:off x="7991856" y="2600554"/>
            <a:ext cx="609905" cy="609905"/>
          </a:xfrm>
          <a:prstGeom prst="ellipse">
            <a:avLst/>
          </a:prstGeom>
          <a:solidFill>
            <a:srgbClr val="1E293B"/>
          </a:solidFill>
          <a:ln w="25400">
            <a:solidFill>
              <a:srgbClr val="3B82F6"/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57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182051" y="2790749"/>
            <a:ext cx="228600" cy="228600"/>
          </a:xfrm>
          <a:prstGeom prst="rect">
            <a:avLst/>
          </a:prstGeom>
        </p:spPr>
      </p:pic>
      <p:sp>
        <p:nvSpPr>
          <p:cNvPr id="58" name="Text 50"/>
          <p:cNvSpPr txBox="1"/>
          <p:nvPr/>
        </p:nvSpPr>
        <p:spPr>
          <a:xfrm>
            <a:off x="8135417" y="3323844"/>
            <a:ext cx="3246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요약</a:t>
            </a:r>
            <a:endParaRPr lang="en-US" sz="1000" dirty="0"/>
          </a:p>
        </p:txBody>
      </p:sp>
      <p:sp>
        <p:nvSpPr>
          <p:cNvPr id="59" name="Text 51"/>
          <p:cNvSpPr txBox="1"/>
          <p:nvPr/>
        </p:nvSpPr>
        <p:spPr>
          <a:xfrm>
            <a:off x="8035747" y="3552444"/>
            <a:ext cx="60076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Summary</a:t>
            </a:r>
            <a:endParaRPr lang="en-US" sz="900" dirty="0"/>
          </a:p>
        </p:txBody>
      </p:sp>
      <p:sp>
        <p:nvSpPr>
          <p:cNvPr id="60" name="Shape 52"/>
          <p:cNvSpPr/>
          <p:nvPr/>
        </p:nvSpPr>
        <p:spPr>
          <a:xfrm>
            <a:off x="9344254" y="2600554"/>
            <a:ext cx="609905" cy="609905"/>
          </a:xfrm>
          <a:prstGeom prst="ellipse">
            <a:avLst/>
          </a:prstGeom>
          <a:solidFill>
            <a:srgbClr val="1E293B"/>
          </a:solidFill>
          <a:ln w="25400">
            <a:solidFill>
              <a:srgbClr val="3B82F6"/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61" name="Image 6" descr="preencoded.png"/>
          <p:cNvPicPr>
            <a:picLocks noChangeAspect="1"/>
          </p:cNvPicPr>
          <p:nvPr/>
        </p:nvPicPr>
        <p:blipFill>
          <a:blip r:embed="rId9"/>
          <a:srcRect l="-57" r="-57"/>
          <a:stretch/>
        </p:blipFill>
        <p:spPr>
          <a:xfrm>
            <a:off x="9549079" y="2790749"/>
            <a:ext cx="200254" cy="228600"/>
          </a:xfrm>
          <a:prstGeom prst="rect">
            <a:avLst/>
          </a:prstGeom>
        </p:spPr>
      </p:pic>
      <p:sp>
        <p:nvSpPr>
          <p:cNvPr id="62" name="Text 53"/>
          <p:cNvSpPr txBox="1"/>
          <p:nvPr/>
        </p:nvSpPr>
        <p:spPr>
          <a:xfrm>
            <a:off x="9487814" y="3323844"/>
            <a:ext cx="3246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본문</a:t>
            </a:r>
            <a:endParaRPr lang="en-US" sz="1000" dirty="0"/>
          </a:p>
        </p:txBody>
      </p:sp>
      <p:sp>
        <p:nvSpPr>
          <p:cNvPr id="63" name="Text 54"/>
          <p:cNvSpPr txBox="1"/>
          <p:nvPr/>
        </p:nvSpPr>
        <p:spPr>
          <a:xfrm>
            <a:off x="9511589" y="3552444"/>
            <a:ext cx="35295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Body</a:t>
            </a:r>
            <a:endParaRPr lang="en-US" sz="900" dirty="0"/>
          </a:p>
        </p:txBody>
      </p:sp>
      <p:sp>
        <p:nvSpPr>
          <p:cNvPr id="64" name="Shape 55"/>
          <p:cNvSpPr/>
          <p:nvPr/>
        </p:nvSpPr>
        <p:spPr>
          <a:xfrm>
            <a:off x="10696651" y="2600554"/>
            <a:ext cx="609905" cy="609905"/>
          </a:xfrm>
          <a:prstGeom prst="ellipse">
            <a:avLst/>
          </a:prstGeom>
          <a:solidFill>
            <a:srgbClr val="1E293B"/>
          </a:solidFill>
          <a:ln w="25400">
            <a:solidFill>
              <a:srgbClr val="3B82F6"/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65" name="Image 7" descr="preencoded.png"/>
          <p:cNvPicPr>
            <a:picLocks noChangeAspect="1"/>
          </p:cNvPicPr>
          <p:nvPr/>
        </p:nvPicPr>
        <p:blipFill>
          <a:blip r:embed="rId10"/>
          <a:srcRect l="-80" r="-80"/>
          <a:stretch/>
        </p:blipFill>
        <p:spPr>
          <a:xfrm>
            <a:off x="10858500" y="2790749"/>
            <a:ext cx="286207" cy="228600"/>
          </a:xfrm>
          <a:prstGeom prst="rect">
            <a:avLst/>
          </a:prstGeom>
        </p:spPr>
      </p:pic>
      <p:sp>
        <p:nvSpPr>
          <p:cNvPr id="66" name="Text 56"/>
          <p:cNvSpPr txBox="1"/>
          <p:nvPr/>
        </p:nvSpPr>
        <p:spPr>
          <a:xfrm>
            <a:off x="10840212" y="3323844"/>
            <a:ext cx="3246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참고</a:t>
            </a:r>
            <a:endParaRPr lang="en-US" sz="1000" dirty="0"/>
          </a:p>
        </p:txBody>
      </p:sp>
      <p:sp>
        <p:nvSpPr>
          <p:cNvPr id="67" name="Text 57"/>
          <p:cNvSpPr txBox="1"/>
          <p:nvPr/>
        </p:nvSpPr>
        <p:spPr>
          <a:xfrm>
            <a:off x="10737799" y="3552444"/>
            <a:ext cx="63550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Reference</a:t>
            </a:r>
            <a:endParaRPr lang="en-US" sz="900" dirty="0"/>
          </a:p>
        </p:txBody>
      </p:sp>
      <p:sp>
        <p:nvSpPr>
          <p:cNvPr id="68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 txBox="1"/>
          <p:nvPr/>
        </p:nvSpPr>
        <p:spPr>
          <a:xfrm>
            <a:off x="571500" y="381305"/>
            <a:ext cx="28337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2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Part 2. 실전 활용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71500" y="630936"/>
            <a:ext cx="396209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반복 작업 템플릿화</a:t>
            </a:r>
            <a:endParaRPr lang="en-US" sz="27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l="-7143" r="-7143"/>
          <a:stretch/>
        </p:blipFill>
        <p:spPr>
          <a:xfrm>
            <a:off x="9854489" y="857707"/>
            <a:ext cx="152705" cy="15270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083089" y="838505"/>
            <a:ext cx="18370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Templates &amp; Reusability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71500" y="1110082"/>
            <a:ext cx="4238244" cy="3552444"/>
          </a:xfrm>
          <a:prstGeom prst="roundRect">
            <a:avLst>
              <a:gd name="adj" fmla="val 1104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809244" y="1348740"/>
            <a:ext cx="304495" cy="304495"/>
          </a:xfrm>
          <a:prstGeom prst="roundRect">
            <a:avLst>
              <a:gd name="adj" fmla="val 37538"/>
            </a:avLst>
          </a:prstGeom>
          <a:solidFill>
            <a:srgbClr val="1E3A8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86054" y="1424635"/>
            <a:ext cx="152705" cy="15270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228954" y="1367942"/>
            <a:ext cx="157642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Before &amp; After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809244" y="1881835"/>
            <a:ext cx="3762756" cy="1009498"/>
          </a:xfrm>
          <a:prstGeom prst="roundRect">
            <a:avLst>
              <a:gd name="adj" fmla="val 10254"/>
            </a:avLst>
          </a:prstGeom>
          <a:solidFill>
            <a:srgbClr val="0F172A">
              <a:alpha val="6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9"/>
          <p:cNvSpPr/>
          <p:nvPr/>
        </p:nvSpPr>
        <p:spPr>
          <a:xfrm>
            <a:off x="809244" y="1881835"/>
            <a:ext cx="38405" cy="100949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00354" y="2053742"/>
            <a:ext cx="152705" cy="152705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000354" y="2301545"/>
            <a:ext cx="438363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매번 빈 페이지에서 새로 작성</a:t>
            </a:r>
            <a:endParaRPr lang="en-US" sz="10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시간 낭비, 서식 누락, 실수 발생</a:t>
            </a:r>
            <a:endParaRPr lang="en-US" sz="10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rcRect t="-100" b="-100"/>
          <a:stretch/>
        </p:blipFill>
        <p:spPr>
          <a:xfrm>
            <a:off x="2632558" y="3076956"/>
            <a:ext cx="114300" cy="152705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09244" y="3305556"/>
            <a:ext cx="3762756" cy="1009498"/>
          </a:xfrm>
          <a:prstGeom prst="roundRect">
            <a:avLst>
              <a:gd name="adj" fmla="val 10254"/>
            </a:avLst>
          </a:prstGeom>
          <a:solidFill>
            <a:srgbClr val="0F172A">
              <a:alpha val="6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2"/>
          <p:cNvSpPr/>
          <p:nvPr/>
        </p:nvSpPr>
        <p:spPr>
          <a:xfrm>
            <a:off x="809244" y="3305556"/>
            <a:ext cx="38405" cy="100949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000354" y="3477463"/>
            <a:ext cx="152705" cy="152705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1000354" y="3725266"/>
            <a:ext cx="404713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Skeleton 템플릿</a:t>
            </a:r>
            <a:r>
              <a:rPr lang="en-US" sz="100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복사 후 내용만 채움</a:t>
            </a:r>
            <a:r>
              <a:rPr lang="en-US" sz="90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일관성 유지, 작성 시간 50% 단축</a:t>
            </a:r>
            <a:endParaRPr lang="en-US" sz="1000" dirty="0"/>
          </a:p>
        </p:txBody>
      </p:sp>
      <p:sp>
        <p:nvSpPr>
          <p:cNvPr id="21" name="Text 14"/>
          <p:cNvSpPr txBox="1"/>
          <p:nvPr/>
        </p:nvSpPr>
        <p:spPr>
          <a:xfrm>
            <a:off x="1228954" y="2034540"/>
            <a:ext cx="109819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8717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BEFORE: 문제점</a:t>
            </a:r>
            <a:endParaRPr lang="en-US" sz="1000" dirty="0"/>
          </a:p>
        </p:txBody>
      </p:sp>
      <p:sp>
        <p:nvSpPr>
          <p:cNvPr id="22" name="Text 15"/>
          <p:cNvSpPr txBox="1"/>
          <p:nvPr/>
        </p:nvSpPr>
        <p:spPr>
          <a:xfrm>
            <a:off x="1228954" y="3458261"/>
            <a:ext cx="10113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4D3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AFTER: 해결책</a:t>
            </a:r>
            <a:endParaRPr lang="en-US" sz="1000" dirty="0"/>
          </a:p>
        </p:txBody>
      </p:sp>
      <p:sp>
        <p:nvSpPr>
          <p:cNvPr id="23" name="Shape 16"/>
          <p:cNvSpPr/>
          <p:nvPr/>
        </p:nvSpPr>
        <p:spPr>
          <a:xfrm>
            <a:off x="554126" y="4763110"/>
            <a:ext cx="4238244" cy="2029054"/>
          </a:xfrm>
          <a:prstGeom prst="roundRect">
            <a:avLst>
              <a:gd name="adj" fmla="val 338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17"/>
          <p:cNvSpPr/>
          <p:nvPr/>
        </p:nvSpPr>
        <p:spPr>
          <a:xfrm>
            <a:off x="792785" y="5001768"/>
            <a:ext cx="304495" cy="304495"/>
          </a:xfrm>
          <a:prstGeom prst="roundRect">
            <a:avLst>
              <a:gd name="adj" fmla="val 37538"/>
            </a:avLst>
          </a:prstGeom>
          <a:solidFill>
            <a:srgbClr val="312E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8"/>
          <a:srcRect t="-100" b="-100"/>
          <a:stretch/>
        </p:blipFill>
        <p:spPr>
          <a:xfrm>
            <a:off x="887882" y="5077663"/>
            <a:ext cx="114300" cy="152705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1211580" y="5020056"/>
            <a:ext cx="175747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팁 (Key Tip)</a:t>
            </a:r>
            <a:endParaRPr lang="en-US" sz="1500" dirty="0"/>
          </a:p>
        </p:txBody>
      </p:sp>
      <p:sp>
        <p:nvSpPr>
          <p:cNvPr id="27" name="Text 19"/>
          <p:cNvSpPr txBox="1"/>
          <p:nvPr/>
        </p:nvSpPr>
        <p:spPr>
          <a:xfrm>
            <a:off x="792785" y="5458968"/>
            <a:ext cx="444764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자주 쓰는 문서(강의노트, 주간보고)는 템플릿 파일로 저장해두세요.</a:t>
            </a:r>
            <a:endParaRPr lang="en-US" sz="1000" dirty="0"/>
          </a:p>
        </p:txBody>
      </p:sp>
      <p:sp>
        <p:nvSpPr>
          <p:cNvPr id="28" name="Shape 20"/>
          <p:cNvSpPr/>
          <p:nvPr/>
        </p:nvSpPr>
        <p:spPr>
          <a:xfrm>
            <a:off x="792785" y="5827471"/>
            <a:ext cx="3762756" cy="724205"/>
          </a:xfrm>
          <a:prstGeom prst="roundRect">
            <a:avLst>
              <a:gd name="adj" fmla="val 6645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1"/>
          <p:cNvSpPr txBox="1"/>
          <p:nvPr/>
        </p:nvSpPr>
        <p:spPr>
          <a:xfrm>
            <a:off x="916229" y="5951830"/>
            <a:ext cx="370606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미리 작성해둘 불변 요소:</a:t>
            </a:r>
            <a:endParaRPr lang="en-US" sz="900" dirty="0"/>
          </a:p>
        </p:txBody>
      </p:sp>
      <p:sp>
        <p:nvSpPr>
          <p:cNvPr id="30" name="Shape 22"/>
          <p:cNvSpPr/>
          <p:nvPr/>
        </p:nvSpPr>
        <p:spPr>
          <a:xfrm>
            <a:off x="916229" y="6180430"/>
            <a:ext cx="866851" cy="247802"/>
          </a:xfrm>
          <a:prstGeom prst="roundRect">
            <a:avLst>
              <a:gd name="adj" fmla="val 56770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3"/>
          <p:cNvSpPr/>
          <p:nvPr/>
        </p:nvSpPr>
        <p:spPr>
          <a:xfrm>
            <a:off x="1858975" y="6180430"/>
            <a:ext cx="857707" cy="247802"/>
          </a:xfrm>
          <a:prstGeom prst="roundRect">
            <a:avLst>
              <a:gd name="adj" fmla="val 56770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24"/>
          <p:cNvSpPr/>
          <p:nvPr/>
        </p:nvSpPr>
        <p:spPr>
          <a:xfrm>
            <a:off x="2783434" y="6180430"/>
            <a:ext cx="866851" cy="247802"/>
          </a:xfrm>
          <a:prstGeom prst="roundRect">
            <a:avLst>
              <a:gd name="adj" fmla="val 56770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25"/>
          <p:cNvSpPr txBox="1"/>
          <p:nvPr/>
        </p:nvSpPr>
        <p:spPr>
          <a:xfrm>
            <a:off x="1002182" y="6217920"/>
            <a:ext cx="85130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3C5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문서 제목 양식</a:t>
            </a:r>
            <a:endParaRPr lang="en-US" sz="900" dirty="0"/>
          </a:p>
        </p:txBody>
      </p:sp>
      <p:sp>
        <p:nvSpPr>
          <p:cNvPr id="34" name="Text 26"/>
          <p:cNvSpPr txBox="1"/>
          <p:nvPr/>
        </p:nvSpPr>
        <p:spPr>
          <a:xfrm>
            <a:off x="1944929" y="6217920"/>
            <a:ext cx="80924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3C5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섹션(H2)</a:t>
            </a:r>
            <a:endParaRPr lang="en-US" sz="900" dirty="0"/>
          </a:p>
        </p:txBody>
      </p:sp>
      <p:sp>
        <p:nvSpPr>
          <p:cNvPr id="35" name="Text 27"/>
          <p:cNvSpPr txBox="1"/>
          <p:nvPr/>
        </p:nvSpPr>
        <p:spPr>
          <a:xfrm>
            <a:off x="2868473" y="6217920"/>
            <a:ext cx="85130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3C5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참고 자료 링크</a:t>
            </a:r>
            <a:endParaRPr lang="en-US" sz="900" dirty="0"/>
          </a:p>
        </p:txBody>
      </p:sp>
      <p:sp>
        <p:nvSpPr>
          <p:cNvPr id="36" name="Shape 28"/>
          <p:cNvSpPr/>
          <p:nvPr/>
        </p:nvSpPr>
        <p:spPr>
          <a:xfrm>
            <a:off x="5113325" y="1333195"/>
            <a:ext cx="6515100" cy="314554"/>
          </a:xfrm>
          <a:prstGeom prst="roundRect">
            <a:avLst>
              <a:gd name="adj" fmla="val 70472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29"/>
          <p:cNvSpPr/>
          <p:nvPr/>
        </p:nvSpPr>
        <p:spPr>
          <a:xfrm>
            <a:off x="5113325" y="1638605"/>
            <a:ext cx="6515100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0"/>
          <p:cNvSpPr/>
          <p:nvPr/>
        </p:nvSpPr>
        <p:spPr>
          <a:xfrm>
            <a:off x="5265115" y="1438351"/>
            <a:ext cx="95098" cy="9509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1"/>
          <p:cNvSpPr/>
          <p:nvPr/>
        </p:nvSpPr>
        <p:spPr>
          <a:xfrm>
            <a:off x="5417820" y="1438351"/>
            <a:ext cx="95098" cy="9509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2"/>
          <p:cNvSpPr/>
          <p:nvPr/>
        </p:nvSpPr>
        <p:spPr>
          <a:xfrm>
            <a:off x="5570525" y="1438351"/>
            <a:ext cx="95098" cy="9509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3"/>
          <p:cNvSpPr txBox="1"/>
          <p:nvPr/>
        </p:nvSpPr>
        <p:spPr>
          <a:xfrm>
            <a:off x="7701077" y="1419149"/>
            <a:ext cx="1724558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8FAF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lecture_note_template.md</a:t>
            </a:r>
            <a:endParaRPr lang="en-US" sz="900" dirty="0"/>
          </a:p>
        </p:txBody>
      </p:sp>
      <p:pic>
        <p:nvPicPr>
          <p:cNvPr id="42" name="Image 6" descr="preencoded.png"/>
          <p:cNvPicPr>
            <a:picLocks noChangeAspect="1"/>
          </p:cNvPicPr>
          <p:nvPr/>
        </p:nvPicPr>
        <p:blipFill>
          <a:blip r:embed="rId9"/>
          <a:srcRect l="-133" r="-133"/>
          <a:stretch/>
        </p:blipFill>
        <p:spPr>
          <a:xfrm>
            <a:off x="11382451" y="1433779"/>
            <a:ext cx="85954" cy="114300"/>
          </a:xfrm>
          <a:prstGeom prst="rect">
            <a:avLst/>
          </a:prstGeom>
        </p:spPr>
      </p:pic>
      <p:sp>
        <p:nvSpPr>
          <p:cNvPr id="43" name="Shape 34"/>
          <p:cNvSpPr/>
          <p:nvPr/>
        </p:nvSpPr>
        <p:spPr>
          <a:xfrm>
            <a:off x="5113325" y="1647750"/>
            <a:ext cx="6515100" cy="4121680"/>
          </a:xfrm>
          <a:prstGeom prst="rect">
            <a:avLst/>
          </a:prstGeom>
          <a:solidFill>
            <a:srgbClr val="0206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35"/>
          <p:cNvSpPr txBox="1"/>
          <p:nvPr/>
        </p:nvSpPr>
        <p:spPr>
          <a:xfrm>
            <a:off x="5303520" y="1876349"/>
            <a:ext cx="256214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60A5F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 [과목명] 3주차 강의 노트</a:t>
            </a:r>
            <a:endParaRPr lang="en-US" sz="1300" dirty="0"/>
          </a:p>
        </p:txBody>
      </p:sp>
      <p:sp>
        <p:nvSpPr>
          <p:cNvPr id="45" name="Text 36"/>
          <p:cNvSpPr txBox="1"/>
          <p:nvPr/>
        </p:nvSpPr>
        <p:spPr>
          <a:xfrm>
            <a:off x="5303520" y="2189074"/>
            <a:ext cx="30678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&lt;!-- 매주 반복되는 제목 양식 --&gt;</a:t>
            </a:r>
            <a:endParaRPr lang="en-US" sz="1300" dirty="0"/>
          </a:p>
        </p:txBody>
      </p:sp>
      <p:sp>
        <p:nvSpPr>
          <p:cNvPr id="46" name="Text 37"/>
          <p:cNvSpPr txBox="1"/>
          <p:nvPr/>
        </p:nvSpPr>
        <p:spPr>
          <a:xfrm>
            <a:off x="5303520" y="2577694"/>
            <a:ext cx="14859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60A5F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## 1. 핵심 요약</a:t>
            </a:r>
            <a:endParaRPr lang="en-US" sz="1300" dirty="0"/>
          </a:p>
        </p:txBody>
      </p:sp>
      <p:sp>
        <p:nvSpPr>
          <p:cNvPr id="47" name="Text 38"/>
          <p:cNvSpPr txBox="1"/>
          <p:nvPr/>
        </p:nvSpPr>
        <p:spPr>
          <a:xfrm>
            <a:off x="5303520" y="2889504"/>
            <a:ext cx="1810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472B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-</a:t>
            </a:r>
            <a:endParaRPr lang="en-US" sz="1300" dirty="0"/>
          </a:p>
        </p:txBody>
      </p:sp>
      <p:sp>
        <p:nvSpPr>
          <p:cNvPr id="48" name="Text 39"/>
          <p:cNvSpPr txBox="1"/>
          <p:nvPr/>
        </p:nvSpPr>
        <p:spPr>
          <a:xfrm>
            <a:off x="5406847" y="2889504"/>
            <a:ext cx="133776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2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오늘의 키워드:</a:t>
            </a:r>
            <a:endParaRPr lang="en-US" sz="1300" dirty="0"/>
          </a:p>
        </p:txBody>
      </p:sp>
      <p:sp>
        <p:nvSpPr>
          <p:cNvPr id="49" name="Text 40"/>
          <p:cNvSpPr txBox="1"/>
          <p:nvPr/>
        </p:nvSpPr>
        <p:spPr>
          <a:xfrm>
            <a:off x="5303520" y="3163824"/>
            <a:ext cx="1810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472B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-</a:t>
            </a:r>
            <a:endParaRPr lang="en-US" sz="1300" dirty="0"/>
          </a:p>
        </p:txBody>
      </p:sp>
      <p:sp>
        <p:nvSpPr>
          <p:cNvPr id="50" name="Text 41"/>
          <p:cNvSpPr txBox="1"/>
          <p:nvPr/>
        </p:nvSpPr>
        <p:spPr>
          <a:xfrm>
            <a:off x="5406847" y="3163824"/>
            <a:ext cx="13149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2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3줄 요약: ...</a:t>
            </a:r>
            <a:endParaRPr lang="en-US" sz="1300" dirty="0"/>
          </a:p>
        </p:txBody>
      </p:sp>
      <p:sp>
        <p:nvSpPr>
          <p:cNvPr id="51" name="Text 42"/>
          <p:cNvSpPr txBox="1"/>
          <p:nvPr/>
        </p:nvSpPr>
        <p:spPr>
          <a:xfrm>
            <a:off x="5303520" y="3552444"/>
            <a:ext cx="14859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60A5F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## 2. 상세 내용</a:t>
            </a:r>
            <a:endParaRPr lang="en-US" sz="1300" dirty="0"/>
          </a:p>
        </p:txBody>
      </p:sp>
      <p:sp>
        <p:nvSpPr>
          <p:cNvPr id="52" name="Text 43"/>
          <p:cNvSpPr txBox="1"/>
          <p:nvPr/>
        </p:nvSpPr>
        <p:spPr>
          <a:xfrm>
            <a:off x="5303520" y="3865169"/>
            <a:ext cx="32104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4ADE8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&gt; 중요한 개념이나 교수의 강조 사항</a:t>
            </a:r>
            <a:endParaRPr lang="en-US" sz="1300" dirty="0"/>
          </a:p>
        </p:txBody>
      </p:sp>
      <p:sp>
        <p:nvSpPr>
          <p:cNvPr id="53" name="Text 44"/>
          <p:cNvSpPr txBox="1"/>
          <p:nvPr/>
        </p:nvSpPr>
        <p:spPr>
          <a:xfrm>
            <a:off x="5303520" y="4253789"/>
            <a:ext cx="16962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60A5F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### 2.1 세부 주제</a:t>
            </a:r>
            <a:endParaRPr lang="en-US" sz="1300" dirty="0"/>
          </a:p>
        </p:txBody>
      </p:sp>
      <p:sp>
        <p:nvSpPr>
          <p:cNvPr id="54" name="Text 45"/>
          <p:cNvSpPr txBox="1"/>
          <p:nvPr/>
        </p:nvSpPr>
        <p:spPr>
          <a:xfrm>
            <a:off x="5303520" y="4565599"/>
            <a:ext cx="38295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2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이곳에 강의 내용을 자유롭게 정리합니다...</a:t>
            </a:r>
            <a:endParaRPr lang="en-US" sz="1300" dirty="0"/>
          </a:p>
        </p:txBody>
      </p:sp>
      <p:sp>
        <p:nvSpPr>
          <p:cNvPr id="55" name="Text 46"/>
          <p:cNvSpPr txBox="1"/>
          <p:nvPr/>
        </p:nvSpPr>
        <p:spPr>
          <a:xfrm>
            <a:off x="5303520" y="4954219"/>
            <a:ext cx="14859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60A5F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## 3. 참고 자료</a:t>
            </a:r>
            <a:endParaRPr lang="en-US" sz="1300" dirty="0"/>
          </a:p>
        </p:txBody>
      </p:sp>
      <p:sp>
        <p:nvSpPr>
          <p:cNvPr id="56" name="Text 47"/>
          <p:cNvSpPr txBox="1"/>
          <p:nvPr/>
        </p:nvSpPr>
        <p:spPr>
          <a:xfrm>
            <a:off x="5303520" y="5266944"/>
            <a:ext cx="1810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472B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-</a:t>
            </a:r>
            <a:endParaRPr lang="en-US" sz="1300" dirty="0"/>
          </a:p>
        </p:txBody>
      </p:sp>
      <p:sp>
        <p:nvSpPr>
          <p:cNvPr id="57" name="Text 48"/>
          <p:cNvSpPr txBox="1"/>
          <p:nvPr/>
        </p:nvSpPr>
        <p:spPr>
          <a:xfrm>
            <a:off x="5406847" y="5266944"/>
            <a:ext cx="32388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A78BF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[공식 문서 바로가기](https://...)</a:t>
            </a:r>
            <a:endParaRPr lang="en-US" sz="1300" dirty="0"/>
          </a:p>
        </p:txBody>
      </p:sp>
      <p:pic>
        <p:nvPicPr>
          <p:cNvPr id="58" name="Image 7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7111289" y="7007962"/>
            <a:ext cx="114300" cy="114300"/>
          </a:xfrm>
          <a:prstGeom prst="rect">
            <a:avLst/>
          </a:prstGeom>
        </p:spPr>
      </p:pic>
      <p:sp>
        <p:nvSpPr>
          <p:cNvPr id="59" name="Text 49"/>
          <p:cNvSpPr txBox="1"/>
          <p:nvPr/>
        </p:nvSpPr>
        <p:spPr>
          <a:xfrm>
            <a:off x="7301484" y="6979615"/>
            <a:ext cx="276606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파일을 복사(Duplicate)하여 매주 사용합니다.</a:t>
            </a:r>
            <a:endParaRPr lang="en-US" sz="900" dirty="0"/>
          </a:p>
        </p:txBody>
      </p:sp>
      <p:sp>
        <p:nvSpPr>
          <p:cNvPr id="60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 txBox="1"/>
          <p:nvPr/>
        </p:nvSpPr>
        <p:spPr>
          <a:xfrm>
            <a:off x="571500" y="381305"/>
            <a:ext cx="46963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2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Part 2. 실전 활용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71500" y="647395"/>
            <a:ext cx="5555894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67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노션(Notion)에서 마크다운 쓰기</a:t>
            </a:r>
            <a:endParaRPr lang="en-US" sz="27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372954" y="857707"/>
            <a:ext cx="152705" cy="15270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601554" y="838505"/>
            <a:ext cx="12243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Notion &amp; Export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71500" y="1333195"/>
            <a:ext cx="4238244" cy="3267151"/>
          </a:xfrm>
          <a:prstGeom prst="roundRect">
            <a:avLst>
              <a:gd name="adj" fmla="val 130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809244" y="1571854"/>
            <a:ext cx="304495" cy="304495"/>
          </a:xfrm>
          <a:prstGeom prst="roundRect">
            <a:avLst>
              <a:gd name="adj" fmla="val 37538"/>
            </a:avLst>
          </a:prstGeom>
          <a:solidFill>
            <a:srgbClr val="1E3A8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rcRect l="-33" r="-33"/>
          <a:stretch/>
        </p:blipFill>
        <p:spPr>
          <a:xfrm>
            <a:off x="875995" y="1647749"/>
            <a:ext cx="171907" cy="15270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228954" y="1591056"/>
            <a:ext cx="14639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입력 및 단축키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1037844" y="2029054"/>
            <a:ext cx="74889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붙여넣기: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1037844" y="2029054"/>
            <a:ext cx="49277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               </a:t>
            </a:r>
            <a:r>
              <a:rPr lang="en-US" sz="1200" dirty="0" err="1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마크다운</a:t>
            </a:r>
            <a:r>
              <a:rPr lang="en-US" sz="12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문서를 </a:t>
            </a:r>
            <a:r>
              <a:rPr lang="en-US" sz="1200" dirty="0" err="1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복사해서</a:t>
            </a:r>
            <a:r>
              <a:rPr lang="en-US" sz="12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200" dirty="0" err="1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붙여</a:t>
            </a:r>
            <a:r>
              <a:rPr lang="en-US" sz="12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200" dirty="0" err="1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넣으면</a:t>
            </a:r>
            <a:r>
              <a:rPr lang="en-US" sz="12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               </a:t>
            </a:r>
            <a:r>
              <a:rPr lang="en-US" sz="1200" dirty="0" err="1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자동으로</a:t>
            </a:r>
            <a:r>
              <a:rPr lang="en-US" sz="12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서식이 적용됩니다.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1037844" y="2676449"/>
            <a:ext cx="84673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블록</a:t>
            </a: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200" b="1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변환</a:t>
            </a: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:  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1847087" y="2695651"/>
            <a:ext cx="113568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텍스트 입력 중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2819304" y="2713940"/>
            <a:ext cx="957725" cy="1911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CD34D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/heading</a:t>
            </a:r>
            <a:endParaRPr lang="en-US" sz="1000" dirty="0"/>
          </a:p>
        </p:txBody>
      </p:sp>
      <p:sp>
        <p:nvSpPr>
          <p:cNvPr id="17" name="Text 13"/>
          <p:cNvSpPr txBox="1"/>
          <p:nvPr/>
        </p:nvSpPr>
        <p:spPr>
          <a:xfrm>
            <a:off x="3334817" y="2676449"/>
            <a:ext cx="1243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</a:t>
            </a:r>
            <a:endParaRPr lang="en-US" sz="1200" dirty="0"/>
          </a:p>
        </p:txBody>
      </p:sp>
      <p:sp>
        <p:nvSpPr>
          <p:cNvPr id="18" name="Text 14"/>
          <p:cNvSpPr txBox="1"/>
          <p:nvPr/>
        </p:nvSpPr>
        <p:spPr>
          <a:xfrm>
            <a:off x="3578256" y="2713940"/>
            <a:ext cx="643320" cy="1911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CD34D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/code</a:t>
            </a:r>
            <a:endParaRPr lang="en-US" sz="1000" dirty="0"/>
          </a:p>
        </p:txBody>
      </p:sp>
      <p:sp>
        <p:nvSpPr>
          <p:cNvPr id="19" name="Text 15"/>
          <p:cNvSpPr txBox="1"/>
          <p:nvPr/>
        </p:nvSpPr>
        <p:spPr>
          <a:xfrm>
            <a:off x="1827025" y="2842836"/>
            <a:ext cx="1697561" cy="2788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등으로 변환 가능합니다.</a:t>
            </a:r>
            <a:endParaRPr lang="en-US" sz="1200" dirty="0"/>
          </a:p>
        </p:txBody>
      </p:sp>
      <p:sp>
        <p:nvSpPr>
          <p:cNvPr id="20" name="Text 16"/>
          <p:cNvSpPr txBox="1"/>
          <p:nvPr/>
        </p:nvSpPr>
        <p:spPr>
          <a:xfrm>
            <a:off x="1037844" y="3379840"/>
            <a:ext cx="1329932" cy="1826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단축키:</a:t>
            </a:r>
            <a:endParaRPr lang="en-US" sz="1600" dirty="0"/>
          </a:p>
        </p:txBody>
      </p:sp>
      <p:sp>
        <p:nvSpPr>
          <p:cNvPr id="21" name="Text 17"/>
          <p:cNvSpPr txBox="1"/>
          <p:nvPr/>
        </p:nvSpPr>
        <p:spPr>
          <a:xfrm>
            <a:off x="1037844" y="3639311"/>
            <a:ext cx="16383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</a:t>
            </a:r>
            <a:endParaRPr lang="en-US" sz="1100" dirty="0"/>
          </a:p>
        </p:txBody>
      </p:sp>
      <p:sp>
        <p:nvSpPr>
          <p:cNvPr id="22" name="Text 18"/>
          <p:cNvSpPr txBox="1"/>
          <p:nvPr/>
        </p:nvSpPr>
        <p:spPr>
          <a:xfrm>
            <a:off x="1083564" y="3639311"/>
            <a:ext cx="30116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##</a:t>
            </a:r>
            <a:endParaRPr lang="en-US" sz="1100" dirty="0"/>
          </a:p>
        </p:txBody>
      </p:sp>
      <p:sp>
        <p:nvSpPr>
          <p:cNvPr id="23" name="Text 19"/>
          <p:cNvSpPr txBox="1"/>
          <p:nvPr/>
        </p:nvSpPr>
        <p:spPr>
          <a:xfrm>
            <a:off x="1231697" y="3639311"/>
            <a:ext cx="165759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 Space → 제목 2</a:t>
            </a:r>
            <a:endParaRPr lang="en-US" sz="1100" dirty="0"/>
          </a:p>
        </p:txBody>
      </p:sp>
      <p:sp>
        <p:nvSpPr>
          <p:cNvPr id="24" name="Text 20"/>
          <p:cNvSpPr txBox="1"/>
          <p:nvPr/>
        </p:nvSpPr>
        <p:spPr>
          <a:xfrm>
            <a:off x="1037844" y="3829506"/>
            <a:ext cx="16383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</a:t>
            </a:r>
            <a:endParaRPr lang="en-US" sz="1100" dirty="0"/>
          </a:p>
        </p:txBody>
      </p:sp>
      <p:sp>
        <p:nvSpPr>
          <p:cNvPr id="25" name="Text 21"/>
          <p:cNvSpPr txBox="1"/>
          <p:nvPr/>
        </p:nvSpPr>
        <p:spPr>
          <a:xfrm>
            <a:off x="1083564" y="3829506"/>
            <a:ext cx="20117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&gt;</a:t>
            </a:r>
            <a:endParaRPr lang="en-US" sz="1100" dirty="0"/>
          </a:p>
        </p:txBody>
      </p:sp>
      <p:sp>
        <p:nvSpPr>
          <p:cNvPr id="26" name="Text 22"/>
          <p:cNvSpPr txBox="1"/>
          <p:nvPr/>
        </p:nvSpPr>
        <p:spPr>
          <a:xfrm>
            <a:off x="1157630" y="3829506"/>
            <a:ext cx="161663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 Space → 인용문</a:t>
            </a:r>
            <a:endParaRPr lang="en-US" sz="1100" dirty="0"/>
          </a:p>
        </p:txBody>
      </p:sp>
      <p:sp>
        <p:nvSpPr>
          <p:cNvPr id="27" name="Text 23"/>
          <p:cNvSpPr txBox="1"/>
          <p:nvPr/>
        </p:nvSpPr>
        <p:spPr>
          <a:xfrm>
            <a:off x="1037844" y="4019702"/>
            <a:ext cx="16383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</a:t>
            </a:r>
            <a:endParaRPr lang="en-US" sz="1100" dirty="0"/>
          </a:p>
        </p:txBody>
      </p:sp>
      <p:sp>
        <p:nvSpPr>
          <p:cNvPr id="28" name="Text 24"/>
          <p:cNvSpPr txBox="1"/>
          <p:nvPr/>
        </p:nvSpPr>
        <p:spPr>
          <a:xfrm>
            <a:off x="1083564" y="4019702"/>
            <a:ext cx="42765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```</a:t>
            </a:r>
            <a:endParaRPr lang="en-US" sz="1100" dirty="0"/>
          </a:p>
        </p:txBody>
      </p:sp>
      <p:sp>
        <p:nvSpPr>
          <p:cNvPr id="29" name="Text 25"/>
          <p:cNvSpPr txBox="1"/>
          <p:nvPr/>
        </p:nvSpPr>
        <p:spPr>
          <a:xfrm>
            <a:off x="1325880" y="4019702"/>
            <a:ext cx="185274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 Enter → 코드 블록</a:t>
            </a:r>
            <a:endParaRPr lang="en-US" sz="1100" dirty="0"/>
          </a:p>
        </p:txBody>
      </p:sp>
      <p:sp>
        <p:nvSpPr>
          <p:cNvPr id="30" name="Shape 26"/>
          <p:cNvSpPr/>
          <p:nvPr/>
        </p:nvSpPr>
        <p:spPr>
          <a:xfrm>
            <a:off x="571500" y="4828946"/>
            <a:ext cx="4238244" cy="2000707"/>
          </a:xfrm>
          <a:prstGeom prst="roundRect">
            <a:avLst>
              <a:gd name="adj" fmla="val 348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31" name="Image 2" descr="preencoded.png"/>
          <p:cNvPicPr>
            <a:picLocks noChangeAspect="1"/>
          </p:cNvPicPr>
          <p:nvPr/>
        </p:nvPicPr>
        <p:blipFill>
          <a:blip r:embed="rId5"/>
          <a:srcRect l="-33" r="-33"/>
          <a:stretch/>
        </p:blipFill>
        <p:spPr>
          <a:xfrm>
            <a:off x="875995" y="5143500"/>
            <a:ext cx="171907" cy="152705"/>
          </a:xfrm>
          <a:prstGeom prst="rect">
            <a:avLst/>
          </a:prstGeom>
        </p:spPr>
      </p:pic>
      <p:sp>
        <p:nvSpPr>
          <p:cNvPr id="32" name="Text 27"/>
          <p:cNvSpPr txBox="1"/>
          <p:nvPr/>
        </p:nvSpPr>
        <p:spPr>
          <a:xfrm>
            <a:off x="1228954" y="5086807"/>
            <a:ext cx="18141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내보내기 (Export)</a:t>
            </a:r>
            <a:endParaRPr lang="en-US" sz="1500" dirty="0"/>
          </a:p>
        </p:txBody>
      </p:sp>
      <p:sp>
        <p:nvSpPr>
          <p:cNvPr id="33" name="Text 28"/>
          <p:cNvSpPr txBox="1"/>
          <p:nvPr/>
        </p:nvSpPr>
        <p:spPr>
          <a:xfrm>
            <a:off x="1037844" y="5524805"/>
            <a:ext cx="113568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우측 상단 메뉴</a:t>
            </a:r>
            <a:endParaRPr lang="en-US" sz="1200" dirty="0"/>
          </a:p>
        </p:txBody>
      </p:sp>
      <p:sp>
        <p:nvSpPr>
          <p:cNvPr id="34" name="Text 29"/>
          <p:cNvSpPr txBox="1"/>
          <p:nvPr/>
        </p:nvSpPr>
        <p:spPr>
          <a:xfrm>
            <a:off x="2040941" y="5572354"/>
            <a:ext cx="2002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•••</a:t>
            </a:r>
            <a:endParaRPr lang="en-US" sz="900" dirty="0"/>
          </a:p>
        </p:txBody>
      </p:sp>
      <p:sp>
        <p:nvSpPr>
          <p:cNvPr id="35" name="Text 30"/>
          <p:cNvSpPr txBox="1"/>
          <p:nvPr/>
        </p:nvSpPr>
        <p:spPr>
          <a:xfrm>
            <a:off x="2233879" y="5524805"/>
            <a:ext cx="3621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클릭</a:t>
            </a:r>
            <a:endParaRPr lang="en-US" sz="1200" dirty="0"/>
          </a:p>
        </p:txBody>
      </p:sp>
      <p:sp>
        <p:nvSpPr>
          <p:cNvPr id="36" name="Text 31"/>
          <p:cNvSpPr txBox="1"/>
          <p:nvPr/>
        </p:nvSpPr>
        <p:spPr>
          <a:xfrm>
            <a:off x="1037844" y="5943600"/>
            <a:ext cx="6501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내보내기</a:t>
            </a:r>
            <a:endParaRPr lang="en-US" sz="1200" dirty="0"/>
          </a:p>
        </p:txBody>
      </p:sp>
      <p:sp>
        <p:nvSpPr>
          <p:cNvPr id="37" name="Text 32"/>
          <p:cNvSpPr txBox="1"/>
          <p:nvPr/>
        </p:nvSpPr>
        <p:spPr>
          <a:xfrm>
            <a:off x="1599286" y="5943600"/>
            <a:ext cx="113568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</a:t>
            </a:r>
            <a:r>
              <a:rPr lang="en-US" sz="1200" dirty="0" err="1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선택</a:t>
            </a:r>
            <a:r>
              <a:rPr lang="en-US" sz="12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후 포맷을</a:t>
            </a:r>
            <a:endParaRPr lang="en-US" sz="1200" dirty="0"/>
          </a:p>
        </p:txBody>
      </p:sp>
      <p:sp>
        <p:nvSpPr>
          <p:cNvPr id="38" name="Text 33"/>
          <p:cNvSpPr txBox="1"/>
          <p:nvPr/>
        </p:nvSpPr>
        <p:spPr>
          <a:xfrm>
            <a:off x="2662275" y="5943600"/>
            <a:ext cx="137434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Markdown &amp; CSV</a:t>
            </a:r>
            <a:endParaRPr lang="en-US" sz="1200" dirty="0"/>
          </a:p>
        </p:txBody>
      </p:sp>
      <p:sp>
        <p:nvSpPr>
          <p:cNvPr id="39" name="Text 34"/>
          <p:cNvSpPr txBox="1"/>
          <p:nvPr/>
        </p:nvSpPr>
        <p:spPr>
          <a:xfrm>
            <a:off x="2135038" y="6072531"/>
            <a:ext cx="370606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 설정하여 다운로드합니다.</a:t>
            </a:r>
            <a:endParaRPr lang="en-US" sz="1200" dirty="0"/>
          </a:p>
        </p:txBody>
      </p:sp>
      <p:sp>
        <p:nvSpPr>
          <p:cNvPr id="40" name="Shape 35"/>
          <p:cNvSpPr/>
          <p:nvPr/>
        </p:nvSpPr>
        <p:spPr>
          <a:xfrm>
            <a:off x="5113325" y="1333195"/>
            <a:ext cx="6515100" cy="2752344"/>
          </a:xfrm>
          <a:prstGeom prst="roundRect">
            <a:avLst>
              <a:gd name="adj" fmla="val 1839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6"/>
          <p:cNvSpPr/>
          <p:nvPr/>
        </p:nvSpPr>
        <p:spPr>
          <a:xfrm>
            <a:off x="5122469" y="1343254"/>
            <a:ext cx="6495898" cy="314554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37"/>
          <p:cNvSpPr/>
          <p:nvPr/>
        </p:nvSpPr>
        <p:spPr>
          <a:xfrm>
            <a:off x="5122469" y="1648663"/>
            <a:ext cx="6495898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38"/>
          <p:cNvSpPr/>
          <p:nvPr/>
        </p:nvSpPr>
        <p:spPr>
          <a:xfrm>
            <a:off x="5275174" y="1447495"/>
            <a:ext cx="95098" cy="9509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39"/>
          <p:cNvSpPr/>
          <p:nvPr/>
        </p:nvSpPr>
        <p:spPr>
          <a:xfrm>
            <a:off x="5426964" y="1447495"/>
            <a:ext cx="95098" cy="9509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40"/>
          <p:cNvSpPr/>
          <p:nvPr/>
        </p:nvSpPr>
        <p:spPr>
          <a:xfrm>
            <a:off x="5579669" y="1447495"/>
            <a:ext cx="95098" cy="9509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1"/>
          <p:cNvSpPr txBox="1"/>
          <p:nvPr/>
        </p:nvSpPr>
        <p:spPr>
          <a:xfrm>
            <a:off x="10155326" y="1429207"/>
            <a:ext cx="1381658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Typing in Notion...</a:t>
            </a:r>
            <a:endParaRPr lang="en-US" sz="900" dirty="0"/>
          </a:p>
        </p:txBody>
      </p:sp>
      <p:sp>
        <p:nvSpPr>
          <p:cNvPr id="47" name="Shape 42"/>
          <p:cNvSpPr/>
          <p:nvPr/>
        </p:nvSpPr>
        <p:spPr>
          <a:xfrm>
            <a:off x="5122469" y="1657807"/>
            <a:ext cx="6495898" cy="2419502"/>
          </a:xfrm>
          <a:prstGeom prst="roundRect">
            <a:avLst>
              <a:gd name="adj" fmla="val 1190"/>
            </a:avLst>
          </a:prstGeom>
          <a:solidFill>
            <a:srgbClr val="0206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3"/>
          <p:cNvSpPr txBox="1"/>
          <p:nvPr/>
        </p:nvSpPr>
        <p:spPr>
          <a:xfrm>
            <a:off x="5312664" y="1876349"/>
            <a:ext cx="155356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60A5F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## 노션 단축키 실습</a:t>
            </a:r>
            <a:endParaRPr lang="en-US" sz="1100" dirty="0"/>
          </a:p>
        </p:txBody>
      </p:sp>
      <p:sp>
        <p:nvSpPr>
          <p:cNvPr id="49" name="Text 44"/>
          <p:cNvSpPr txBox="1"/>
          <p:nvPr/>
        </p:nvSpPr>
        <p:spPr>
          <a:xfrm>
            <a:off x="6741871" y="1876349"/>
            <a:ext cx="1719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>
                    <a:alpha val="57000"/>
                  </a:srgbClr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|</a:t>
            </a:r>
            <a:endParaRPr lang="en-US" sz="1100" dirty="0"/>
          </a:p>
        </p:txBody>
      </p:sp>
      <p:sp>
        <p:nvSpPr>
          <p:cNvPr id="50" name="Text 45"/>
          <p:cNvSpPr txBox="1"/>
          <p:nvPr/>
        </p:nvSpPr>
        <p:spPr>
          <a:xfrm>
            <a:off x="5312664" y="2219249"/>
            <a:ext cx="1719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084F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&gt;</a:t>
            </a:r>
            <a:endParaRPr lang="en-US" sz="1100" dirty="0"/>
          </a:p>
        </p:txBody>
      </p:sp>
      <p:sp>
        <p:nvSpPr>
          <p:cNvPr id="51" name="Text 46"/>
          <p:cNvSpPr txBox="1"/>
          <p:nvPr/>
        </p:nvSpPr>
        <p:spPr>
          <a:xfrm>
            <a:off x="5398618" y="2219249"/>
            <a:ext cx="300106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단축키를 입력하고 스페이스를 누르면...</a:t>
            </a:r>
            <a:endParaRPr lang="en-US" sz="1100" dirty="0"/>
          </a:p>
        </p:txBody>
      </p:sp>
      <p:sp>
        <p:nvSpPr>
          <p:cNvPr id="52" name="Text 47"/>
          <p:cNvSpPr txBox="1"/>
          <p:nvPr/>
        </p:nvSpPr>
        <p:spPr>
          <a:xfrm>
            <a:off x="5312664" y="2562149"/>
            <a:ext cx="3429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084F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```</a:t>
            </a:r>
            <a:endParaRPr lang="en-US" sz="1100" dirty="0"/>
          </a:p>
        </p:txBody>
      </p:sp>
      <p:sp>
        <p:nvSpPr>
          <p:cNvPr id="53" name="Text 48"/>
          <p:cNvSpPr txBox="1"/>
          <p:nvPr/>
        </p:nvSpPr>
        <p:spPr>
          <a:xfrm>
            <a:off x="5570525" y="2562149"/>
            <a:ext cx="25786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js</a:t>
            </a:r>
            <a:endParaRPr lang="en-US" sz="1100" dirty="0"/>
          </a:p>
        </p:txBody>
      </p:sp>
      <p:sp>
        <p:nvSpPr>
          <p:cNvPr id="54" name="Shape 49"/>
          <p:cNvSpPr/>
          <p:nvPr/>
        </p:nvSpPr>
        <p:spPr>
          <a:xfrm>
            <a:off x="5113325" y="4462272"/>
            <a:ext cx="6515100" cy="2371954"/>
          </a:xfrm>
          <a:prstGeom prst="roundRect">
            <a:avLst>
              <a:gd name="adj" fmla="val 247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5" name="Shape 50"/>
          <p:cNvSpPr/>
          <p:nvPr/>
        </p:nvSpPr>
        <p:spPr>
          <a:xfrm>
            <a:off x="5122469" y="4472330"/>
            <a:ext cx="6495898" cy="304495"/>
          </a:xfrm>
          <a:prstGeom prst="rect">
            <a:avLst/>
          </a:prstGeom>
          <a:solidFill>
            <a:srgbClr val="F9FAF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6" name="Shape 51"/>
          <p:cNvSpPr/>
          <p:nvPr/>
        </p:nvSpPr>
        <p:spPr>
          <a:xfrm>
            <a:off x="5122469" y="4767682"/>
            <a:ext cx="6495898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Text 52"/>
          <p:cNvSpPr txBox="1"/>
          <p:nvPr/>
        </p:nvSpPr>
        <p:spPr>
          <a:xfrm>
            <a:off x="5275174" y="4533595"/>
            <a:ext cx="7818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Notion Page</a:t>
            </a:r>
            <a:endParaRPr lang="en-US" sz="900" dirty="0"/>
          </a:p>
        </p:txBody>
      </p:sp>
      <p:sp>
        <p:nvSpPr>
          <p:cNvPr id="58" name="Text 53"/>
          <p:cNvSpPr txBox="1"/>
          <p:nvPr/>
        </p:nvSpPr>
        <p:spPr>
          <a:xfrm>
            <a:off x="5426964" y="4967021"/>
            <a:ext cx="1998878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노션 단축키 실습</a:t>
            </a:r>
            <a:endParaRPr lang="en-US" sz="1800" dirty="0"/>
          </a:p>
        </p:txBody>
      </p:sp>
      <p:sp>
        <p:nvSpPr>
          <p:cNvPr id="59" name="Shape 54"/>
          <p:cNvSpPr/>
          <p:nvPr/>
        </p:nvSpPr>
        <p:spPr>
          <a:xfrm>
            <a:off x="5426964" y="5424221"/>
            <a:ext cx="28346" cy="228600"/>
          </a:xfrm>
          <a:prstGeom prst="rect">
            <a:avLst/>
          </a:prstGeom>
          <a:solidFill>
            <a:srgbClr val="37352F"/>
          </a:solidFill>
          <a:ln w="12700">
            <a:solidFill>
              <a:srgbClr val="37352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Text 55"/>
          <p:cNvSpPr txBox="1"/>
          <p:nvPr/>
        </p:nvSpPr>
        <p:spPr>
          <a:xfrm>
            <a:off x="5588813" y="5424221"/>
            <a:ext cx="59152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kern="0" spc="-12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단축키를 입력하고 스페이스를 누르면 바로 서식이 적용됩니다.</a:t>
            </a:r>
            <a:endParaRPr lang="en-US" sz="1200" dirty="0"/>
          </a:p>
        </p:txBody>
      </p:sp>
      <p:sp>
        <p:nvSpPr>
          <p:cNvPr id="61" name="Shape 56"/>
          <p:cNvSpPr/>
          <p:nvPr/>
        </p:nvSpPr>
        <p:spPr>
          <a:xfrm>
            <a:off x="5426964" y="5805526"/>
            <a:ext cx="5886907" cy="495605"/>
          </a:xfrm>
          <a:prstGeom prst="roundRect">
            <a:avLst>
              <a:gd name="adj" fmla="val 14192"/>
            </a:avLst>
          </a:prstGeom>
          <a:solidFill>
            <a:srgbClr val="F7F6F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" name="Text 57"/>
          <p:cNvSpPr txBox="1"/>
          <p:nvPr/>
        </p:nvSpPr>
        <p:spPr>
          <a:xfrm>
            <a:off x="5579669" y="5976518"/>
            <a:ext cx="268467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B5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console.log("코드 블록이 생성됩니다");</a:t>
            </a:r>
            <a:endParaRPr lang="en-US" sz="900" dirty="0"/>
          </a:p>
        </p:txBody>
      </p:sp>
      <p:pic>
        <p:nvPicPr>
          <p:cNvPr id="63" name="Image 3" descr="preencoded.png"/>
          <p:cNvPicPr>
            <a:picLocks noChangeAspect="1"/>
          </p:cNvPicPr>
          <p:nvPr/>
        </p:nvPicPr>
        <p:blipFill>
          <a:blip r:embed="rId6"/>
          <a:srcRect l="-2512" r="-2512"/>
          <a:stretch/>
        </p:blipFill>
        <p:spPr>
          <a:xfrm>
            <a:off x="7798918" y="4221785"/>
            <a:ext cx="105156" cy="133502"/>
          </a:xfrm>
          <a:prstGeom prst="rect">
            <a:avLst/>
          </a:prstGeom>
        </p:spPr>
      </p:pic>
      <p:sp>
        <p:nvSpPr>
          <p:cNvPr id="64" name="Text 58"/>
          <p:cNvSpPr txBox="1"/>
          <p:nvPr/>
        </p:nvSpPr>
        <p:spPr>
          <a:xfrm>
            <a:off x="7941564" y="4205326"/>
            <a:ext cx="107716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NOTION PREVIEW</a:t>
            </a:r>
            <a:endParaRPr lang="en-US" sz="900" dirty="0"/>
          </a:p>
        </p:txBody>
      </p:sp>
      <p:sp>
        <p:nvSpPr>
          <p:cNvPr id="65" name="Stage3 Note"/>
          <p:cNvSpPr txBox="1"/>
          <p:nvPr/>
        </p:nvSpPr>
        <p:spPr>
          <a:xfrm>
            <a:off x="5450000" y="6380000"/>
            <a:ext cx="6250000" cy="2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00">
                <a:solidFill>
                  <a:srgbClr val="8B95A7"/>
                </a:solidFill>
                <a:latin typeface="Noto Sans KR"/>
                <a:ea typeface="Noto Sans KR"/>
                <a:cs typeface="Noto Sans KR"/>
              </a:rPr>
              <a:t>메뉴 위치: 노션 도움말 「Export your content」(2026-10 기준). 화면은 업데이트로 바뀔 수 있다.</a:t>
            </a:r>
          </a:p>
        </p:txBody>
      </p:sp>
      <p:sp>
        <p:nvSpPr>
          <p:cNvPr id="66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761695" y="1429207"/>
            <a:ext cx="1066830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761695" y="476402"/>
            <a:ext cx="53437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2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Review &amp; Finalize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761695" y="743407"/>
            <a:ext cx="710854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공통 실수와 QA 체크리스트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9448495" y="800100"/>
            <a:ext cx="1990649" cy="400507"/>
          </a:xfrm>
          <a:prstGeom prst="roundRect">
            <a:avLst>
              <a:gd name="adj" fmla="val 228311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 t="-100" b="-100"/>
          <a:stretch/>
        </p:blipFill>
        <p:spPr>
          <a:xfrm>
            <a:off x="9647834" y="923544"/>
            <a:ext cx="114300" cy="152705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9876434" y="886054"/>
            <a:ext cx="162123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Quality Assurance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61695" y="1819656"/>
            <a:ext cx="5143500" cy="4686300"/>
          </a:xfrm>
          <a:prstGeom prst="roundRect">
            <a:avLst>
              <a:gd name="adj" fmla="val 635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1076249" y="2133295"/>
            <a:ext cx="457200" cy="476402"/>
          </a:xfrm>
          <a:prstGeom prst="roundRect">
            <a:avLst>
              <a:gd name="adj" fmla="val 33333"/>
            </a:avLst>
          </a:prstGeom>
          <a:solidFill>
            <a:srgbClr val="7F1D1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190549" y="2247595"/>
            <a:ext cx="228600" cy="2286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686154" y="2219249"/>
            <a:ext cx="3095244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자주 하는 실수 (Mistakes)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1380744" y="2838298"/>
            <a:ext cx="5426050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헤더 띄어쓰기 누락</a:t>
            </a:r>
            <a:endParaRPr lang="en-US" sz="15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제목 인식 불가: #제목(X) → </a:t>
            </a:r>
            <a:r>
              <a:rPr lang="en-US" sz="1000" dirty="0">
                <a:solidFill>
                  <a:srgbClr val="FECA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/>
            </a: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r>
              <a:rPr lang="en-US" sz="1200" dirty="0">
                <a:solidFill>
                  <a:srgbClr val="34D3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# 제목</a:t>
            </a: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(O)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1380744" y="3676802"/>
            <a:ext cx="6066130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목록 들여쓰기 불일치</a:t>
            </a:r>
            <a:endParaRPr lang="en-US" sz="15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중첩 목록 작성 시 공백 2칸/4칸 혼용 금지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1380744" y="4515307"/>
            <a:ext cx="5928970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이미지 문법 오류</a:t>
            </a:r>
            <a:endParaRPr lang="en-US" sz="15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경로 누락 또는 대체 텍스트(`alt`) 비워두기</a:t>
            </a:r>
            <a:endParaRPr lang="en-US" sz="1500" dirty="0"/>
          </a:p>
        </p:txBody>
      </p:sp>
      <p:sp>
        <p:nvSpPr>
          <p:cNvPr id="17" name="Text 13"/>
          <p:cNvSpPr txBox="1"/>
          <p:nvPr/>
        </p:nvSpPr>
        <p:spPr>
          <a:xfrm>
            <a:off x="1380744" y="5352898"/>
            <a:ext cx="6496812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문단 구분 실패</a:t>
            </a:r>
            <a:endParaRPr lang="en-US" sz="15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줄바꿈을 위해 엔터를 한 번만 치는 경우 (두 번 필요)</a:t>
            </a:r>
            <a:endParaRPr lang="en-US" sz="1500" dirty="0"/>
          </a:p>
        </p:txBody>
      </p:sp>
      <p:sp>
        <p:nvSpPr>
          <p:cNvPr id="18" name="Shape 14"/>
          <p:cNvSpPr/>
          <p:nvPr/>
        </p:nvSpPr>
        <p:spPr>
          <a:xfrm>
            <a:off x="6286500" y="1819656"/>
            <a:ext cx="5143500" cy="4686300"/>
          </a:xfrm>
          <a:prstGeom prst="roundRect">
            <a:avLst>
              <a:gd name="adj" fmla="val 635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5"/>
          <p:cNvSpPr/>
          <p:nvPr/>
        </p:nvSpPr>
        <p:spPr>
          <a:xfrm>
            <a:off x="6601054" y="2133295"/>
            <a:ext cx="457200" cy="476402"/>
          </a:xfrm>
          <a:prstGeom prst="roundRect">
            <a:avLst>
              <a:gd name="adj" fmla="val 33333"/>
            </a:avLst>
          </a:prstGeom>
          <a:solidFill>
            <a:srgbClr val="064E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715354" y="2247595"/>
            <a:ext cx="228600" cy="228600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7210044" y="2219249"/>
            <a:ext cx="1674266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QA 체크리스트</a:t>
            </a:r>
            <a:endParaRPr lang="en-US" sz="1800" dirty="0"/>
          </a:p>
        </p:txBody>
      </p:sp>
      <p:sp>
        <p:nvSpPr>
          <p:cNvPr id="22" name="Shape 17"/>
          <p:cNvSpPr/>
          <p:nvPr/>
        </p:nvSpPr>
        <p:spPr>
          <a:xfrm>
            <a:off x="6705295" y="2991002"/>
            <a:ext cx="19202" cy="1028700"/>
          </a:xfrm>
          <a:prstGeom prst="rect">
            <a:avLst/>
          </a:prstGeom>
          <a:solidFill>
            <a:srgbClr val="33415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18"/>
          <p:cNvSpPr txBox="1"/>
          <p:nvPr/>
        </p:nvSpPr>
        <p:spPr>
          <a:xfrm>
            <a:off x="6981444" y="2915107"/>
            <a:ext cx="432511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가독성 점검</a:t>
            </a:r>
            <a:endParaRPr lang="en-US" sz="1500" dirty="0"/>
          </a:p>
        </p:txBody>
      </p:sp>
      <p:sp>
        <p:nvSpPr>
          <p:cNvPr id="24" name="Text 19"/>
          <p:cNvSpPr txBox="1"/>
          <p:nvPr/>
        </p:nvSpPr>
        <p:spPr>
          <a:xfrm>
            <a:off x="6981444" y="3219602"/>
            <a:ext cx="42483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줄 길이는 60~80자 내외인가? (권장치)</a:t>
            </a:r>
            <a:endParaRPr lang="en-US" sz="1000" dirty="0"/>
          </a:p>
        </p:txBody>
      </p:sp>
      <p:sp>
        <p:nvSpPr>
          <p:cNvPr id="25" name="Text 20"/>
          <p:cNvSpPr txBox="1"/>
          <p:nvPr/>
        </p:nvSpPr>
        <p:spPr>
          <a:xfrm>
            <a:off x="6981444" y="3448202"/>
            <a:ext cx="43251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문단 사이에는 확실히 빈 줄이 있는가?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6705295" y="4019702"/>
            <a:ext cx="19202" cy="1028700"/>
          </a:xfrm>
          <a:prstGeom prst="rect">
            <a:avLst/>
          </a:prstGeom>
          <a:solidFill>
            <a:srgbClr val="33415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2"/>
          <p:cNvSpPr txBox="1"/>
          <p:nvPr/>
        </p:nvSpPr>
        <p:spPr>
          <a:xfrm>
            <a:off x="6981444" y="3943807"/>
            <a:ext cx="432511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 블록 확인</a:t>
            </a:r>
            <a:endParaRPr lang="en-US" sz="1500" dirty="0"/>
          </a:p>
        </p:txBody>
      </p:sp>
      <p:sp>
        <p:nvSpPr>
          <p:cNvPr id="28" name="Text 23"/>
          <p:cNvSpPr txBox="1"/>
          <p:nvPr/>
        </p:nvSpPr>
        <p:spPr>
          <a:xfrm>
            <a:off x="6981444" y="4248302"/>
            <a:ext cx="42483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언어(language)가 지정되어 있는가? (예: ```python)</a:t>
            </a:r>
            <a:endParaRPr lang="en-US" sz="1000" dirty="0"/>
          </a:p>
        </p:txBody>
      </p:sp>
      <p:sp>
        <p:nvSpPr>
          <p:cNvPr id="29" name="Text 24"/>
          <p:cNvSpPr txBox="1"/>
          <p:nvPr/>
        </p:nvSpPr>
        <p:spPr>
          <a:xfrm>
            <a:off x="6981444" y="4476902"/>
            <a:ext cx="43251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들여쓰기가 깨지지 않았는가?</a:t>
            </a:r>
            <a:endParaRPr lang="en-US" sz="1000" dirty="0"/>
          </a:p>
        </p:txBody>
      </p:sp>
      <p:sp>
        <p:nvSpPr>
          <p:cNvPr id="30" name="Shape 25"/>
          <p:cNvSpPr/>
          <p:nvPr/>
        </p:nvSpPr>
        <p:spPr>
          <a:xfrm>
            <a:off x="6705295" y="5048402"/>
            <a:ext cx="19202" cy="28346"/>
          </a:xfrm>
          <a:prstGeom prst="rect">
            <a:avLst/>
          </a:prstGeom>
          <a:solidFill>
            <a:srgbClr val="33415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6"/>
          <p:cNvSpPr txBox="1"/>
          <p:nvPr/>
        </p:nvSpPr>
        <p:spPr>
          <a:xfrm>
            <a:off x="6981444" y="4972507"/>
            <a:ext cx="432511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 및 서식 확인</a:t>
            </a:r>
            <a:endParaRPr lang="en-US" sz="1500" dirty="0"/>
          </a:p>
        </p:txBody>
      </p:sp>
      <p:sp>
        <p:nvSpPr>
          <p:cNvPr id="32" name="Text 27"/>
          <p:cNvSpPr txBox="1"/>
          <p:nvPr/>
        </p:nvSpPr>
        <p:spPr>
          <a:xfrm>
            <a:off x="6981444" y="5277002"/>
            <a:ext cx="424830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표의 정렬 콜론(</a:t>
            </a:r>
            <a:r>
              <a:rPr lang="en-US" sz="1000" dirty="0">
                <a:solidFill>
                  <a:srgbClr val="93C5FD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:---:</a:t>
            </a:r>
            <a:r>
              <a:rPr lang="en-US" sz="10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) 위치 확인</a:t>
            </a:r>
            <a:endParaRPr lang="en-US" sz="1000" dirty="0"/>
          </a:p>
        </p:txBody>
      </p:sp>
      <p:sp>
        <p:nvSpPr>
          <p:cNvPr id="33" name="Text 28"/>
          <p:cNvSpPr txBox="1"/>
          <p:nvPr/>
        </p:nvSpPr>
        <p:spPr>
          <a:xfrm>
            <a:off x="6981444" y="5524805"/>
            <a:ext cx="43251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모든 링크가 정상적으로 작동하는가?</a:t>
            </a:r>
            <a:endParaRPr lang="en-US" sz="1000" dirty="0"/>
          </a:p>
        </p:txBody>
      </p:sp>
      <p:sp>
        <p:nvSpPr>
          <p:cNvPr id="34" name="Text 29"/>
          <p:cNvSpPr txBox="1"/>
          <p:nvPr/>
        </p:nvSpPr>
        <p:spPr>
          <a:xfrm>
            <a:off x="8951975" y="5666994"/>
            <a:ext cx="3277210" cy="1324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0" b="1" dirty="0">
                <a:solidFill>
                  <a:srgbClr val="FFFFFF">
                    <a:alpha val="3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CHECK</a:t>
            </a:r>
            <a:endParaRPr lang="en-US" sz="7200" dirty="0"/>
          </a:p>
        </p:txBody>
      </p:sp>
      <p:sp>
        <p:nvSpPr>
          <p:cNvPr id="35" name="Shape 30"/>
          <p:cNvSpPr/>
          <p:nvPr/>
        </p:nvSpPr>
        <p:spPr>
          <a:xfrm>
            <a:off x="6601054" y="2991002"/>
            <a:ext cx="228600" cy="228600"/>
          </a:xfrm>
          <a:prstGeom prst="ellipse">
            <a:avLst/>
          </a:prstGeom>
          <a:solidFill>
            <a:srgbClr val="1E293B"/>
          </a:solidFill>
          <a:ln w="508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1"/>
          <p:cNvSpPr/>
          <p:nvPr/>
        </p:nvSpPr>
        <p:spPr>
          <a:xfrm>
            <a:off x="6601054" y="4019702"/>
            <a:ext cx="228600" cy="228600"/>
          </a:xfrm>
          <a:prstGeom prst="ellipse">
            <a:avLst/>
          </a:prstGeom>
          <a:solidFill>
            <a:srgbClr val="1E293B"/>
          </a:solidFill>
          <a:ln w="508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2"/>
          <p:cNvSpPr/>
          <p:nvPr/>
        </p:nvSpPr>
        <p:spPr>
          <a:xfrm>
            <a:off x="6601054" y="5048402"/>
            <a:ext cx="228600" cy="228600"/>
          </a:xfrm>
          <a:prstGeom prst="ellipse">
            <a:avLst/>
          </a:prstGeom>
          <a:solidFill>
            <a:srgbClr val="1E293B"/>
          </a:solidFill>
          <a:ln w="508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761695" y="1429207"/>
            <a:ext cx="1066830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761695" y="476402"/>
            <a:ext cx="42675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2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Challenge &amp; Assignment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761695" y="743407"/>
            <a:ext cx="60313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미니 퀴즈 + 과제 안내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761695" y="1742846"/>
            <a:ext cx="457200" cy="476402"/>
          </a:xfrm>
          <a:prstGeom prst="roundRect">
            <a:avLst>
              <a:gd name="adj" fmla="val 33333"/>
            </a:avLst>
          </a:prstGeom>
          <a:solidFill>
            <a:srgbClr val="1E3A8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75995" y="1857146"/>
            <a:ext cx="228600" cy="2286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371600" y="1828800"/>
            <a:ext cx="2562149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복습 퀴즈 (Pop Quiz)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761695" y="2409444"/>
            <a:ext cx="5067605" cy="1200607"/>
          </a:xfrm>
          <a:prstGeom prst="roundRect">
            <a:avLst>
              <a:gd name="adj" fmla="val 725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80567" y="2645359"/>
            <a:ext cx="85954" cy="17190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047902" y="2609698"/>
            <a:ext cx="34290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1F5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제목 태그(#) 다음에 꼭 필요한 것은?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1023214" y="2948940"/>
            <a:ext cx="19202" cy="45720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0"/>
          <p:cNvSpPr txBox="1"/>
          <p:nvPr/>
        </p:nvSpPr>
        <p:spPr>
          <a:xfrm>
            <a:off x="1346911" y="2948940"/>
            <a:ext cx="44010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93C5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띄어쓰기 (Space)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예: # 제목 (O) / #제목 (X)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761695" y="3796589"/>
            <a:ext cx="5067605" cy="1200607"/>
          </a:xfrm>
          <a:prstGeom prst="roundRect">
            <a:avLst>
              <a:gd name="adj" fmla="val 725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rcRect l="-3192" r="-3192"/>
          <a:stretch/>
        </p:blipFill>
        <p:spPr>
          <a:xfrm>
            <a:off x="880567" y="4032503"/>
            <a:ext cx="114300" cy="171907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076249" y="3996842"/>
            <a:ext cx="220919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1F5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구분선을 만드는 기호는?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1023214" y="4336085"/>
            <a:ext cx="19202" cy="45720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4"/>
          <p:cNvSpPr txBox="1"/>
          <p:nvPr/>
        </p:nvSpPr>
        <p:spPr>
          <a:xfrm>
            <a:off x="1346911" y="4336085"/>
            <a:ext cx="44010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93C5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--- 또는 ***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 줄에 3개 이상 연속 입력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761695" y="5183734"/>
            <a:ext cx="5067605" cy="1200607"/>
          </a:xfrm>
          <a:prstGeom prst="roundRect">
            <a:avLst>
              <a:gd name="adj" fmla="val 725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rcRect l="-3192" r="-3192"/>
          <a:stretch/>
        </p:blipFill>
        <p:spPr>
          <a:xfrm>
            <a:off x="880567" y="5419648"/>
            <a:ext cx="114300" cy="171907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076249" y="5383987"/>
            <a:ext cx="338968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1F5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체크박스(Task List)의 정확한 문법은?</a:t>
            </a:r>
            <a:endParaRPr lang="en-US" sz="1300" dirty="0"/>
          </a:p>
        </p:txBody>
      </p:sp>
      <p:sp>
        <p:nvSpPr>
          <p:cNvPr id="23" name="Shape 17"/>
          <p:cNvSpPr/>
          <p:nvPr/>
        </p:nvSpPr>
        <p:spPr>
          <a:xfrm>
            <a:off x="1023214" y="5723230"/>
            <a:ext cx="19202" cy="45720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18"/>
          <p:cNvSpPr txBox="1"/>
          <p:nvPr/>
        </p:nvSpPr>
        <p:spPr>
          <a:xfrm>
            <a:off x="1346911" y="5723230"/>
            <a:ext cx="44769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93C5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 [ ] 내용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대괄호 사이에 공백 필수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6286500" y="1742846"/>
            <a:ext cx="5143500" cy="4828946"/>
          </a:xfrm>
          <a:prstGeom prst="roundRect">
            <a:avLst>
              <a:gd name="adj" fmla="val 598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715354" y="2171700"/>
            <a:ext cx="228600" cy="22860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7210044" y="2143354"/>
            <a:ext cx="278160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실습 과제: 과목 소개서</a:t>
            </a:r>
            <a:endParaRPr lang="en-US" sz="1800" dirty="0"/>
          </a:p>
        </p:txBody>
      </p:sp>
      <p:sp>
        <p:nvSpPr>
          <p:cNvPr id="28" name="Shape 21"/>
          <p:cNvSpPr/>
          <p:nvPr/>
        </p:nvSpPr>
        <p:spPr>
          <a:xfrm>
            <a:off x="6858000" y="2915107"/>
            <a:ext cx="19202" cy="724205"/>
          </a:xfrm>
          <a:prstGeom prst="rect">
            <a:avLst/>
          </a:prstGeom>
          <a:solidFill>
            <a:srgbClr val="33415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2"/>
          <p:cNvSpPr txBox="1"/>
          <p:nvPr/>
        </p:nvSpPr>
        <p:spPr>
          <a:xfrm>
            <a:off x="7210044" y="2838298"/>
            <a:ext cx="409651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주제 선정</a:t>
            </a:r>
            <a:endParaRPr lang="en-US" sz="1500" dirty="0"/>
          </a:p>
        </p:txBody>
      </p:sp>
      <p:sp>
        <p:nvSpPr>
          <p:cNvPr id="30" name="Text 23"/>
          <p:cNvSpPr txBox="1"/>
          <p:nvPr/>
        </p:nvSpPr>
        <p:spPr>
          <a:xfrm>
            <a:off x="7210044" y="3143707"/>
            <a:ext cx="40965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좋아하는 전공 과목이나 동아리 소개 문서 1페이지 작성</a:t>
            </a:r>
            <a:endParaRPr lang="en-US" sz="1000" dirty="0"/>
          </a:p>
        </p:txBody>
      </p:sp>
      <p:sp>
        <p:nvSpPr>
          <p:cNvPr id="31" name="Shape 24"/>
          <p:cNvSpPr/>
          <p:nvPr/>
        </p:nvSpPr>
        <p:spPr>
          <a:xfrm>
            <a:off x="6858000" y="3676802"/>
            <a:ext cx="19202" cy="1143000"/>
          </a:xfrm>
          <a:prstGeom prst="rect">
            <a:avLst/>
          </a:prstGeom>
          <a:solidFill>
            <a:srgbClr val="33415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25"/>
          <p:cNvSpPr txBox="1"/>
          <p:nvPr/>
        </p:nvSpPr>
        <p:spPr>
          <a:xfrm>
            <a:off x="7210044" y="3600907"/>
            <a:ext cx="409651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필수 포함 요소</a:t>
            </a:r>
            <a:endParaRPr lang="en-US" sz="1500" dirty="0"/>
          </a:p>
        </p:txBody>
      </p:sp>
      <p:sp>
        <p:nvSpPr>
          <p:cNvPr id="33" name="Shape 26"/>
          <p:cNvSpPr/>
          <p:nvPr/>
        </p:nvSpPr>
        <p:spPr>
          <a:xfrm>
            <a:off x="7210044" y="3943807"/>
            <a:ext cx="1914754" cy="247802"/>
          </a:xfrm>
          <a:prstGeom prst="roundRect">
            <a:avLst>
              <a:gd name="adj" fmla="val 56770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27"/>
          <p:cNvSpPr txBox="1"/>
          <p:nvPr/>
        </p:nvSpPr>
        <p:spPr>
          <a:xfrm>
            <a:off x="7334402" y="3981298"/>
            <a:ext cx="86685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FDB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# 제목(H1~H3)</a:t>
            </a:r>
            <a:endParaRPr lang="en-US" sz="900" dirty="0"/>
          </a:p>
        </p:txBody>
      </p:sp>
      <p:sp>
        <p:nvSpPr>
          <p:cNvPr id="35" name="Shape 28"/>
          <p:cNvSpPr/>
          <p:nvPr/>
        </p:nvSpPr>
        <p:spPr>
          <a:xfrm>
            <a:off x="9201607" y="3943807"/>
            <a:ext cx="1914754" cy="247802"/>
          </a:xfrm>
          <a:prstGeom prst="roundRect">
            <a:avLst>
              <a:gd name="adj" fmla="val 56770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29"/>
          <p:cNvSpPr txBox="1"/>
          <p:nvPr/>
        </p:nvSpPr>
        <p:spPr>
          <a:xfrm>
            <a:off x="9325051" y="3981298"/>
            <a:ext cx="6574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FDB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 목록(List)</a:t>
            </a:r>
            <a:endParaRPr lang="en-US" sz="900" dirty="0"/>
          </a:p>
        </p:txBody>
      </p:sp>
      <p:sp>
        <p:nvSpPr>
          <p:cNvPr id="37" name="Shape 30"/>
          <p:cNvSpPr/>
          <p:nvPr/>
        </p:nvSpPr>
        <p:spPr>
          <a:xfrm>
            <a:off x="7210044" y="4267505"/>
            <a:ext cx="1914754" cy="247802"/>
          </a:xfrm>
          <a:prstGeom prst="roundRect">
            <a:avLst>
              <a:gd name="adj" fmla="val 56770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1"/>
          <p:cNvSpPr txBox="1"/>
          <p:nvPr/>
        </p:nvSpPr>
        <p:spPr>
          <a:xfrm>
            <a:off x="7334402" y="4304995"/>
            <a:ext cx="71414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FDB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[링크](Link)</a:t>
            </a:r>
            <a:endParaRPr lang="en-US" sz="900" dirty="0"/>
          </a:p>
        </p:txBody>
      </p:sp>
      <p:sp>
        <p:nvSpPr>
          <p:cNvPr id="39" name="Shape 32"/>
          <p:cNvSpPr/>
          <p:nvPr/>
        </p:nvSpPr>
        <p:spPr>
          <a:xfrm>
            <a:off x="9201607" y="4267505"/>
            <a:ext cx="1914754" cy="247802"/>
          </a:xfrm>
          <a:prstGeom prst="roundRect">
            <a:avLst>
              <a:gd name="adj" fmla="val 56770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3"/>
          <p:cNvSpPr txBox="1"/>
          <p:nvPr/>
        </p:nvSpPr>
        <p:spPr>
          <a:xfrm>
            <a:off x="9325051" y="4304995"/>
            <a:ext cx="85039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FDB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![이미지](Img)</a:t>
            </a:r>
            <a:endParaRPr lang="en-US" sz="900" dirty="0"/>
          </a:p>
        </p:txBody>
      </p:sp>
      <p:sp>
        <p:nvSpPr>
          <p:cNvPr id="41" name="Shape 34"/>
          <p:cNvSpPr/>
          <p:nvPr/>
        </p:nvSpPr>
        <p:spPr>
          <a:xfrm>
            <a:off x="6858000" y="4858207"/>
            <a:ext cx="19202" cy="28346"/>
          </a:xfrm>
          <a:prstGeom prst="rect">
            <a:avLst/>
          </a:prstGeom>
          <a:solidFill>
            <a:srgbClr val="33415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35"/>
          <p:cNvSpPr txBox="1"/>
          <p:nvPr/>
        </p:nvSpPr>
        <p:spPr>
          <a:xfrm>
            <a:off x="7210044" y="4781398"/>
            <a:ext cx="409651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제출 방법</a:t>
            </a:r>
            <a:endParaRPr lang="en-US" sz="1500" dirty="0"/>
          </a:p>
        </p:txBody>
      </p:sp>
      <p:sp>
        <p:nvSpPr>
          <p:cNvPr id="43" name="Text 36"/>
          <p:cNvSpPr txBox="1"/>
          <p:nvPr/>
        </p:nvSpPr>
        <p:spPr>
          <a:xfrm>
            <a:off x="7210044" y="5086807"/>
            <a:ext cx="4019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작성 후</a:t>
            </a:r>
            <a:r>
              <a:rPr lang="en-US" sz="1000" b="1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GitHub Gist</a:t>
            </a: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링크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또는</a:t>
            </a:r>
            <a:r>
              <a:rPr lang="en-US" sz="1000" b="1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Notion 페이지 링크</a:t>
            </a: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공유</a:t>
            </a:r>
            <a:endParaRPr lang="en-US" sz="1000" dirty="0"/>
          </a:p>
        </p:txBody>
      </p:sp>
      <p:sp>
        <p:nvSpPr>
          <p:cNvPr id="44" name="Text 37"/>
          <p:cNvSpPr txBox="1"/>
          <p:nvPr/>
        </p:nvSpPr>
        <p:spPr>
          <a:xfrm>
            <a:off x="9636862" y="5505602"/>
            <a:ext cx="2448763" cy="1324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0" b="1" dirty="0">
                <a:solidFill>
                  <a:srgbClr val="FFFFFF">
                    <a:alpha val="22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QUIZ</a:t>
            </a:r>
            <a:endParaRPr lang="en-US" sz="7200" dirty="0"/>
          </a:p>
        </p:txBody>
      </p:sp>
      <p:sp>
        <p:nvSpPr>
          <p:cNvPr id="45" name="Shape 38"/>
          <p:cNvSpPr/>
          <p:nvPr/>
        </p:nvSpPr>
        <p:spPr>
          <a:xfrm>
            <a:off x="6715354" y="2857500"/>
            <a:ext cx="304495" cy="304495"/>
          </a:xfrm>
          <a:prstGeom prst="ellipse">
            <a:avLst/>
          </a:prstGeom>
          <a:solidFill>
            <a:srgbClr val="1E293B"/>
          </a:solidFill>
          <a:ln w="254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6" name="Image 5" descr="preencoded.png"/>
          <p:cNvPicPr>
            <a:picLocks noChangeAspect="1"/>
          </p:cNvPicPr>
          <p:nvPr/>
        </p:nvPicPr>
        <p:blipFill>
          <a:blip r:embed="rId8"/>
          <a:srcRect l="-2512" r="-2512"/>
          <a:stretch/>
        </p:blipFill>
        <p:spPr>
          <a:xfrm>
            <a:off x="6815023" y="2943454"/>
            <a:ext cx="105156" cy="133502"/>
          </a:xfrm>
          <a:prstGeom prst="rect">
            <a:avLst/>
          </a:prstGeom>
        </p:spPr>
      </p:pic>
      <p:sp>
        <p:nvSpPr>
          <p:cNvPr id="47" name="Shape 39"/>
          <p:cNvSpPr/>
          <p:nvPr/>
        </p:nvSpPr>
        <p:spPr>
          <a:xfrm>
            <a:off x="6715354" y="3619195"/>
            <a:ext cx="304495" cy="304495"/>
          </a:xfrm>
          <a:prstGeom prst="ellipse">
            <a:avLst/>
          </a:prstGeom>
          <a:solidFill>
            <a:srgbClr val="1E293B"/>
          </a:solidFill>
          <a:ln w="254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8" name="Image 6" descr="preencoded.png"/>
          <p:cNvPicPr>
            <a:picLocks noChangeAspect="1"/>
          </p:cNvPicPr>
          <p:nvPr/>
        </p:nvPicPr>
        <p:blipFill>
          <a:blip r:embed="rId9"/>
          <a:srcRect l="-837" r="-837"/>
          <a:stretch/>
        </p:blipFill>
        <p:spPr>
          <a:xfrm>
            <a:off x="6791249" y="3705149"/>
            <a:ext cx="152705" cy="133502"/>
          </a:xfrm>
          <a:prstGeom prst="rect">
            <a:avLst/>
          </a:prstGeom>
        </p:spPr>
      </p:pic>
      <p:sp>
        <p:nvSpPr>
          <p:cNvPr id="49" name="Shape 40"/>
          <p:cNvSpPr/>
          <p:nvPr/>
        </p:nvSpPr>
        <p:spPr>
          <a:xfrm>
            <a:off x="6715354" y="4800600"/>
            <a:ext cx="304495" cy="304495"/>
          </a:xfrm>
          <a:prstGeom prst="ellipse">
            <a:avLst/>
          </a:prstGeom>
          <a:solidFill>
            <a:srgbClr val="1E293B"/>
          </a:solidFill>
          <a:ln w="254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0" name="Image 7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6801307" y="4886554"/>
            <a:ext cx="133502" cy="133502"/>
          </a:xfrm>
          <a:prstGeom prst="rect">
            <a:avLst/>
          </a:prstGeom>
        </p:spPr>
      </p:pic>
      <p:sp>
        <p:nvSpPr>
          <p:cNvPr id="51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761695" y="1429207"/>
            <a:ext cx="1066830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761695" y="476402"/>
            <a:ext cx="281360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2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Useful Resources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761695" y="743407"/>
            <a:ext cx="38487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레퍼런스 &amp; 팁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9445752" y="800100"/>
            <a:ext cx="1990649" cy="400507"/>
          </a:xfrm>
          <a:prstGeom prst="roundRect">
            <a:avLst>
              <a:gd name="adj" fmla="val 228311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645091" y="923544"/>
            <a:ext cx="152705" cy="152705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9912096" y="886054"/>
            <a:ext cx="156545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Cheat Sheet &amp; QA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61695" y="1819656"/>
            <a:ext cx="5143500" cy="4806043"/>
          </a:xfrm>
          <a:prstGeom prst="roundRect">
            <a:avLst>
              <a:gd name="adj" fmla="val 527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1076249" y="2133295"/>
            <a:ext cx="428854" cy="476402"/>
          </a:xfrm>
          <a:prstGeom prst="roundRect">
            <a:avLst>
              <a:gd name="adj" fmla="val 37906"/>
            </a:avLst>
          </a:prstGeom>
          <a:solidFill>
            <a:srgbClr val="1E3A8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rcRect l="-57" r="-57"/>
          <a:stretch/>
        </p:blipFill>
        <p:spPr>
          <a:xfrm>
            <a:off x="1190549" y="2247595"/>
            <a:ext cx="200254" cy="2286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657807" y="2219249"/>
            <a:ext cx="1609344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추천 치트시트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1457554" y="2915107"/>
            <a:ext cx="42483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GitHub Markdown Guide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1457554" y="3219602"/>
            <a:ext cx="6391656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가장 널리 쓰이는 GitHub 스타일(GFM)의 표준 가이드입니다. </a:t>
            </a:r>
          </a:p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표, 체크박스 등 확장 문법을 확인할 수 있습니다.</a:t>
            </a:r>
            <a:endParaRPr lang="en-US" sz="1000" dirty="0"/>
          </a:p>
        </p:txBody>
      </p:sp>
      <p:sp>
        <p:nvSpPr>
          <p:cNvPr id="16" name="Text 12"/>
          <p:cNvSpPr txBox="1"/>
          <p:nvPr/>
        </p:nvSpPr>
        <p:spPr>
          <a:xfrm>
            <a:off x="1457554" y="3905402"/>
            <a:ext cx="42483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CommonMark Spec</a:t>
            </a:r>
            <a:endParaRPr lang="en-US" sz="1500" dirty="0"/>
          </a:p>
        </p:txBody>
      </p:sp>
      <p:sp>
        <p:nvSpPr>
          <p:cNvPr id="17" name="Text 13"/>
          <p:cNvSpPr txBox="1"/>
          <p:nvPr/>
        </p:nvSpPr>
        <p:spPr>
          <a:xfrm>
            <a:off x="1457554" y="4209898"/>
            <a:ext cx="635142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마크다운의 모호한 규칙을 명확히 정리한 표준 명세서입니다. </a:t>
            </a:r>
          </a:p>
          <a:p>
            <a:pPr marL="0" indent="0" algn="l">
              <a:buNone/>
            </a:pPr>
            <a:r>
              <a:rPr lang="en-US" sz="1000" dirty="0" err="1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문법의</a:t>
            </a: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원리가 궁금할 때 참고하세요.</a:t>
            </a:r>
            <a:endParaRPr lang="en-US" sz="1000" dirty="0"/>
          </a:p>
        </p:txBody>
      </p:sp>
      <p:sp>
        <p:nvSpPr>
          <p:cNvPr id="18" name="Text 14"/>
          <p:cNvSpPr txBox="1"/>
          <p:nvPr/>
        </p:nvSpPr>
        <p:spPr>
          <a:xfrm>
            <a:off x="1457554" y="4895698"/>
            <a:ext cx="42483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Notion Help Center</a:t>
            </a:r>
            <a:endParaRPr lang="en-US" sz="1500" dirty="0"/>
          </a:p>
        </p:txBody>
      </p:sp>
      <p:sp>
        <p:nvSpPr>
          <p:cNvPr id="19" name="Text 15"/>
          <p:cNvSpPr txBox="1"/>
          <p:nvPr/>
        </p:nvSpPr>
        <p:spPr>
          <a:xfrm>
            <a:off x="1457554" y="5201107"/>
            <a:ext cx="5007254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노션에서 지원하는 마크다운 단축키와 변환 기능을 정리한 공식 도움말입니다.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6286500" y="1819656"/>
            <a:ext cx="5143500" cy="4806043"/>
          </a:xfrm>
          <a:prstGeom prst="roundRect">
            <a:avLst>
              <a:gd name="adj" fmla="val 527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rcRect l="-133" r="-133"/>
          <a:stretch/>
        </p:blipFill>
        <p:spPr>
          <a:xfrm>
            <a:off x="6715354" y="2247595"/>
            <a:ext cx="171907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7153351" y="2219249"/>
            <a:ext cx="2856586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작성 팁 (Best Practice)</a:t>
            </a:r>
            <a:endParaRPr lang="en-US" sz="1800" dirty="0"/>
          </a:p>
        </p:txBody>
      </p:sp>
      <p:sp>
        <p:nvSpPr>
          <p:cNvPr id="23" name="Shape 18"/>
          <p:cNvSpPr/>
          <p:nvPr/>
        </p:nvSpPr>
        <p:spPr>
          <a:xfrm>
            <a:off x="6743700" y="3200400"/>
            <a:ext cx="19202" cy="705002"/>
          </a:xfrm>
          <a:prstGeom prst="rect">
            <a:avLst/>
          </a:prstGeom>
          <a:solidFill>
            <a:srgbClr val="33415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19"/>
          <p:cNvSpPr txBox="1"/>
          <p:nvPr/>
        </p:nvSpPr>
        <p:spPr>
          <a:xfrm>
            <a:off x="7058254" y="2915107"/>
            <a:ext cx="42483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93C5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일관된 헤딩 구조 유지</a:t>
            </a:r>
            <a:endParaRPr lang="en-US" sz="1300" dirty="0"/>
          </a:p>
        </p:txBody>
      </p:sp>
      <p:sp>
        <p:nvSpPr>
          <p:cNvPr id="25" name="Text 20"/>
          <p:cNvSpPr txBox="1"/>
          <p:nvPr/>
        </p:nvSpPr>
        <p:spPr>
          <a:xfrm>
            <a:off x="7058254" y="3219602"/>
            <a:ext cx="4743907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H1(#)부터 H6(######)까지 순서를 지켜주세요. </a:t>
            </a:r>
          </a:p>
          <a:p>
            <a:pPr marL="0" indent="0" algn="l">
              <a:buNone/>
            </a:pPr>
            <a:r>
              <a:rPr lang="en-US" sz="1000" dirty="0" err="1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중간</a:t>
            </a: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단계를 건너뛰면 문서 구조(TOC)가 깨질 수 있습니다.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6743700" y="4160520"/>
            <a:ext cx="19202" cy="705002"/>
          </a:xfrm>
          <a:prstGeom prst="rect">
            <a:avLst/>
          </a:prstGeom>
          <a:solidFill>
            <a:srgbClr val="33415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2"/>
          <p:cNvSpPr txBox="1"/>
          <p:nvPr/>
        </p:nvSpPr>
        <p:spPr>
          <a:xfrm>
            <a:off x="7058254" y="3874313"/>
            <a:ext cx="42483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BFDB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가독성을 위한 문단 분리</a:t>
            </a:r>
            <a:endParaRPr lang="en-US" sz="1300" dirty="0"/>
          </a:p>
        </p:txBody>
      </p:sp>
      <p:sp>
        <p:nvSpPr>
          <p:cNvPr id="28" name="Text 23"/>
          <p:cNvSpPr txBox="1"/>
          <p:nvPr/>
        </p:nvSpPr>
        <p:spPr>
          <a:xfrm>
            <a:off x="7058254" y="4179722"/>
            <a:ext cx="6277356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 문단이 3~4줄을 넘어가면 읽기 어렵습니다. </a:t>
            </a:r>
          </a:p>
          <a:p>
            <a:pPr marL="0" indent="0" algn="l">
              <a:buNone/>
            </a:pPr>
            <a:r>
              <a:rPr lang="en-US" sz="1000" dirty="0" err="1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엔터를</a:t>
            </a: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두 번 눌러 적극적으로 문단을 나눠주세요.</a:t>
            </a:r>
            <a:endParaRPr lang="en-US" sz="1000" dirty="0"/>
          </a:p>
        </p:txBody>
      </p:sp>
      <p:sp>
        <p:nvSpPr>
          <p:cNvPr id="29" name="Shape 24"/>
          <p:cNvSpPr/>
          <p:nvPr/>
        </p:nvSpPr>
        <p:spPr>
          <a:xfrm>
            <a:off x="6743700" y="5120640"/>
            <a:ext cx="19202" cy="705002"/>
          </a:xfrm>
          <a:prstGeom prst="rect">
            <a:avLst/>
          </a:prstGeom>
          <a:solidFill>
            <a:srgbClr val="33415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5"/>
          <p:cNvSpPr txBox="1"/>
          <p:nvPr/>
        </p:nvSpPr>
        <p:spPr>
          <a:xfrm>
            <a:off x="7058254" y="4834433"/>
            <a:ext cx="42483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의미 있는 링크 텍스트</a:t>
            </a:r>
            <a:endParaRPr lang="en-US" sz="1300" dirty="0"/>
          </a:p>
        </p:txBody>
      </p:sp>
      <p:sp>
        <p:nvSpPr>
          <p:cNvPr id="31" name="Text 26"/>
          <p:cNvSpPr txBox="1"/>
          <p:nvPr/>
        </p:nvSpPr>
        <p:spPr>
          <a:xfrm>
            <a:off x="7058254" y="5139842"/>
            <a:ext cx="6277356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'여기' 클릭 대신 '공식 가이드 보러가기'처럼 </a:t>
            </a:r>
            <a:r>
              <a:rPr lang="en-US" sz="1000" dirty="0" err="1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목적지를</a:t>
            </a: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1000" dirty="0" err="1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명확히</a:t>
            </a: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알 수 있는 텍스트에 링크를 거세요.</a:t>
            </a:r>
            <a:endParaRPr lang="en-US" sz="1000" dirty="0"/>
          </a:p>
        </p:txBody>
      </p:sp>
      <p:sp>
        <p:nvSpPr>
          <p:cNvPr id="32" name="Shape 27"/>
          <p:cNvSpPr/>
          <p:nvPr/>
        </p:nvSpPr>
        <p:spPr>
          <a:xfrm>
            <a:off x="6743700" y="6080760"/>
            <a:ext cx="19202" cy="28346"/>
          </a:xfrm>
          <a:prstGeom prst="rect">
            <a:avLst/>
          </a:prstGeom>
          <a:solidFill>
            <a:srgbClr val="33415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28"/>
          <p:cNvSpPr txBox="1"/>
          <p:nvPr/>
        </p:nvSpPr>
        <p:spPr>
          <a:xfrm>
            <a:off x="7058254" y="5794553"/>
            <a:ext cx="42483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 언어 명시하기</a:t>
            </a:r>
            <a:endParaRPr lang="en-US" sz="1300" dirty="0"/>
          </a:p>
        </p:txBody>
      </p:sp>
      <p:sp>
        <p:nvSpPr>
          <p:cNvPr id="34" name="Text 29"/>
          <p:cNvSpPr txBox="1"/>
          <p:nvPr/>
        </p:nvSpPr>
        <p:spPr>
          <a:xfrm>
            <a:off x="7058254" y="6099962"/>
            <a:ext cx="4743907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 블록 시작 시 언어(예: js, py)를 </a:t>
            </a:r>
            <a:r>
              <a:rPr lang="en-US" sz="1000" dirty="0" err="1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적으면</a:t>
            </a: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1000" dirty="0" err="1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컬러링</a:t>
            </a: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(Syntax Highlighting)이 적용됩니다.</a:t>
            </a:r>
            <a:endParaRPr lang="en-US" sz="1000" dirty="0"/>
          </a:p>
        </p:txBody>
      </p:sp>
      <p:sp>
        <p:nvSpPr>
          <p:cNvPr id="35" name="Text 30"/>
          <p:cNvSpPr txBox="1"/>
          <p:nvPr/>
        </p:nvSpPr>
        <p:spPr>
          <a:xfrm>
            <a:off x="9849002" y="5505602"/>
            <a:ext cx="2431390" cy="1324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0" b="1" dirty="0">
                <a:solidFill>
                  <a:srgbClr val="FFFFFF">
                    <a:alpha val="3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TIPS</a:t>
            </a:r>
            <a:endParaRPr lang="en-US" sz="7200" dirty="0"/>
          </a:p>
        </p:txBody>
      </p:sp>
      <p:sp>
        <p:nvSpPr>
          <p:cNvPr id="36" name="Shape 31"/>
          <p:cNvSpPr/>
          <p:nvPr/>
        </p:nvSpPr>
        <p:spPr>
          <a:xfrm>
            <a:off x="6601054" y="2915107"/>
            <a:ext cx="304495" cy="304495"/>
          </a:xfrm>
          <a:prstGeom prst="ellipse">
            <a:avLst/>
          </a:prstGeom>
          <a:solidFill>
            <a:srgbClr val="1E293B"/>
          </a:solidFill>
          <a:ln w="254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7" name="Image 3" descr="preencoded.png"/>
          <p:cNvPicPr>
            <a:picLocks noChangeAspect="1"/>
          </p:cNvPicPr>
          <p:nvPr/>
        </p:nvPicPr>
        <p:blipFill>
          <a:blip r:embed="rId6"/>
          <a:srcRect l="-837" r="-837"/>
          <a:stretch/>
        </p:blipFill>
        <p:spPr>
          <a:xfrm>
            <a:off x="6676949" y="3000146"/>
            <a:ext cx="152705" cy="133502"/>
          </a:xfrm>
          <a:prstGeom prst="rect">
            <a:avLst/>
          </a:prstGeom>
        </p:spPr>
      </p:pic>
      <p:sp>
        <p:nvSpPr>
          <p:cNvPr id="38" name="Shape 32"/>
          <p:cNvSpPr/>
          <p:nvPr/>
        </p:nvSpPr>
        <p:spPr>
          <a:xfrm>
            <a:off x="6601054" y="3874313"/>
            <a:ext cx="304495" cy="304495"/>
          </a:xfrm>
          <a:prstGeom prst="ellipse">
            <a:avLst/>
          </a:prstGeom>
          <a:solidFill>
            <a:srgbClr val="1E293B"/>
          </a:solidFill>
          <a:ln w="254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9" name="Image 4" descr="preencoded.png"/>
          <p:cNvPicPr>
            <a:picLocks noChangeAspect="1"/>
          </p:cNvPicPr>
          <p:nvPr/>
        </p:nvPicPr>
        <p:blipFill>
          <a:blip r:embed="rId7"/>
          <a:srcRect l="-2838" r="-2838"/>
          <a:stretch/>
        </p:blipFill>
        <p:spPr>
          <a:xfrm>
            <a:off x="6691579" y="3960266"/>
            <a:ext cx="123444" cy="133502"/>
          </a:xfrm>
          <a:prstGeom prst="rect">
            <a:avLst/>
          </a:prstGeom>
        </p:spPr>
      </p:pic>
      <p:sp>
        <p:nvSpPr>
          <p:cNvPr id="40" name="Shape 33"/>
          <p:cNvSpPr/>
          <p:nvPr/>
        </p:nvSpPr>
        <p:spPr>
          <a:xfrm>
            <a:off x="6601054" y="4834433"/>
            <a:ext cx="304495" cy="304495"/>
          </a:xfrm>
          <a:prstGeom prst="ellipse">
            <a:avLst/>
          </a:prstGeom>
          <a:solidFill>
            <a:srgbClr val="1E293B"/>
          </a:solidFill>
          <a:ln w="254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1" name="Image 5" descr="preencoded.png"/>
          <p:cNvPicPr>
            <a:picLocks noChangeAspect="1"/>
          </p:cNvPicPr>
          <p:nvPr/>
        </p:nvPicPr>
        <p:blipFill>
          <a:blip r:embed="rId8"/>
          <a:srcRect l="-1507" r="-1507"/>
          <a:stretch/>
        </p:blipFill>
        <p:spPr>
          <a:xfrm>
            <a:off x="6667805" y="4920386"/>
            <a:ext cx="171907" cy="133502"/>
          </a:xfrm>
          <a:prstGeom prst="rect">
            <a:avLst/>
          </a:prstGeom>
        </p:spPr>
      </p:pic>
      <p:sp>
        <p:nvSpPr>
          <p:cNvPr id="42" name="Shape 34"/>
          <p:cNvSpPr/>
          <p:nvPr/>
        </p:nvSpPr>
        <p:spPr>
          <a:xfrm>
            <a:off x="6601054" y="5794553"/>
            <a:ext cx="304495" cy="304495"/>
          </a:xfrm>
          <a:prstGeom prst="ellipse">
            <a:avLst/>
          </a:prstGeom>
          <a:solidFill>
            <a:srgbClr val="1E293B"/>
          </a:solidFill>
          <a:ln w="254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3" name="Image 6" descr="preencoded.png"/>
          <p:cNvPicPr>
            <a:picLocks noChangeAspect="1"/>
          </p:cNvPicPr>
          <p:nvPr/>
        </p:nvPicPr>
        <p:blipFill>
          <a:blip r:embed="rId9"/>
          <a:srcRect l="-1507" r="-1507"/>
          <a:stretch/>
        </p:blipFill>
        <p:spPr>
          <a:xfrm>
            <a:off x="6667805" y="5880506"/>
            <a:ext cx="171907" cy="133502"/>
          </a:xfrm>
          <a:prstGeom prst="rect">
            <a:avLst/>
          </a:prstGeom>
        </p:spPr>
      </p:pic>
      <p:sp>
        <p:nvSpPr>
          <p:cNvPr id="44" name="Stage3 Note"/>
          <p:cNvSpPr txBox="1"/>
          <p:nvPr/>
        </p:nvSpPr>
        <p:spPr>
          <a:xfrm>
            <a:off x="1457554" y="5700000"/>
            <a:ext cx="5300000" cy="5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00">
                <a:solidFill>
                  <a:srgbClr val="8B95A7"/>
                </a:solidFill>
                <a:latin typeface="Noto Sans KR"/>
                <a:ea typeface="Noto Sans KR"/>
                <a:cs typeface="Noto Sans KR"/>
              </a:rPr>
              <a:t>GitHub: https://docs.github.com/en/get-started/writing-on-github</a:t>
            </a:r>
          </a:p>
          <a:p>
            <a:r>
              <a:rPr sz="900">
                <a:solidFill>
                  <a:srgbClr val="8B95A7"/>
                </a:solidFill>
                <a:latin typeface="Noto Sans KR"/>
                <a:ea typeface="Noto Sans KR"/>
                <a:cs typeface="Noto Sans KR"/>
              </a:rPr>
              <a:t>CommonMark: https://spec.commonmark.org</a:t>
            </a:r>
          </a:p>
          <a:p>
            <a:r>
              <a:rPr sz="900">
                <a:solidFill>
                  <a:srgbClr val="8B95A7"/>
                </a:solidFill>
                <a:latin typeface="Noto Sans KR"/>
                <a:ea typeface="Noto Sans KR"/>
                <a:cs typeface="Noto Sans KR"/>
              </a:rPr>
              <a:t>Notion: https://www.notion.com/help/keyboard-shortcuts</a:t>
            </a:r>
          </a:p>
        </p:txBody>
      </p:sp>
      <p:sp>
        <p:nvSpPr>
          <p:cNvPr id="45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761695" y="1429207"/>
            <a:ext cx="1066830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761695" y="476402"/>
            <a:ext cx="260604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2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Wrap-up &amp; Next Steps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761695" y="743407"/>
            <a:ext cx="296905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정리 및 Q&amp;A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9433865" y="800100"/>
            <a:ext cx="2000707" cy="400507"/>
          </a:xfrm>
          <a:prstGeom prst="roundRect">
            <a:avLst>
              <a:gd name="adj" fmla="val 228311"/>
            </a:avLst>
          </a:prstGeom>
          <a:solidFill>
            <a:srgbClr val="1E3A8A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671609" y="923544"/>
            <a:ext cx="152705" cy="152705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9938614" y="886054"/>
            <a:ext cx="14685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Class Completed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61695" y="1819656"/>
            <a:ext cx="5143500" cy="4562856"/>
          </a:xfrm>
          <a:prstGeom prst="roundRect">
            <a:avLst>
              <a:gd name="adj" fmla="val 669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1076249" y="2133295"/>
            <a:ext cx="514807" cy="476402"/>
          </a:xfrm>
          <a:prstGeom prst="roundRect">
            <a:avLst>
              <a:gd name="adj" fmla="val 30710"/>
            </a:avLst>
          </a:prstGeom>
          <a:solidFill>
            <a:srgbClr val="1E3A8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rcRect l="-80" r="-80"/>
          <a:stretch/>
        </p:blipFill>
        <p:spPr>
          <a:xfrm>
            <a:off x="1190549" y="2247595"/>
            <a:ext cx="286207" cy="2286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742846" y="2219249"/>
            <a:ext cx="1755648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오늘 배운 내용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1380744" y="2915107"/>
            <a:ext cx="4401007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마크다운 문법 정복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1380744" y="3258007"/>
            <a:ext cx="44705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제목, 목록, 코드블록 등 기본 규칙을 익히고 실습했습니다.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1380744" y="3715207"/>
            <a:ext cx="4401007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실전 문서 구조화</a:t>
            </a:r>
            <a:endParaRPr lang="en-US" sz="1500" dirty="0"/>
          </a:p>
        </p:txBody>
      </p:sp>
      <p:sp>
        <p:nvSpPr>
          <p:cNvPr id="17" name="Text 13"/>
          <p:cNvSpPr txBox="1"/>
          <p:nvPr/>
        </p:nvSpPr>
        <p:spPr>
          <a:xfrm>
            <a:off x="1380744" y="4058107"/>
            <a:ext cx="46899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읽기 좋은 README와 보고서 포맷을 설계하는 법을 배웠습니다.</a:t>
            </a:r>
            <a:endParaRPr lang="en-US" sz="1200" dirty="0"/>
          </a:p>
        </p:txBody>
      </p:sp>
      <p:sp>
        <p:nvSpPr>
          <p:cNvPr id="18" name="Text 14"/>
          <p:cNvSpPr txBox="1"/>
          <p:nvPr/>
        </p:nvSpPr>
        <p:spPr>
          <a:xfrm>
            <a:off x="1380744" y="4515307"/>
            <a:ext cx="4401007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노션 &amp; 도구 활용</a:t>
            </a:r>
            <a:endParaRPr lang="en-US" sz="1500" dirty="0"/>
          </a:p>
        </p:txBody>
      </p:sp>
      <p:sp>
        <p:nvSpPr>
          <p:cNvPr id="19" name="Text 15"/>
          <p:cNvSpPr txBox="1"/>
          <p:nvPr/>
        </p:nvSpPr>
        <p:spPr>
          <a:xfrm>
            <a:off x="1380744" y="4858207"/>
            <a:ext cx="483626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노션(Notion) 호환성과 효율적인 단축키 활용법을 확인했습니다.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6286500" y="1819656"/>
            <a:ext cx="5143500" cy="4562856"/>
          </a:xfrm>
          <a:prstGeom prst="roundRect">
            <a:avLst>
              <a:gd name="adj" fmla="val 669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715354" y="2247595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7210044" y="2219249"/>
            <a:ext cx="2058314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다음 단계 &amp; 질문</a:t>
            </a:r>
            <a:endParaRPr lang="en-US" sz="1800" dirty="0"/>
          </a:p>
        </p:txBody>
      </p:sp>
      <p:sp>
        <p:nvSpPr>
          <p:cNvPr id="23" name="Shape 18"/>
          <p:cNvSpPr/>
          <p:nvPr/>
        </p:nvSpPr>
        <p:spPr>
          <a:xfrm>
            <a:off x="6601054" y="2838298"/>
            <a:ext cx="4515307" cy="819302"/>
          </a:xfrm>
          <a:prstGeom prst="roundRect">
            <a:avLst>
              <a:gd name="adj" fmla="val 15573"/>
            </a:avLst>
          </a:prstGeom>
          <a:solidFill>
            <a:srgbClr val="1E293B">
              <a:alpha val="50000"/>
            </a:srgbClr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19"/>
          <p:cNvSpPr/>
          <p:nvPr/>
        </p:nvSpPr>
        <p:spPr>
          <a:xfrm>
            <a:off x="6762902" y="3000146"/>
            <a:ext cx="304495" cy="304495"/>
          </a:xfrm>
          <a:prstGeom prst="ellipse">
            <a:avLst/>
          </a:prstGeom>
          <a:solidFill>
            <a:srgbClr val="1E293B"/>
          </a:solidFill>
          <a:ln w="254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rcRect t="-180" b="-180"/>
          <a:stretch/>
        </p:blipFill>
        <p:spPr>
          <a:xfrm>
            <a:off x="6819595" y="3076956"/>
            <a:ext cx="190195" cy="152705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7220102" y="3000146"/>
            <a:ext cx="3400654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 포트폴리오 문서화 시작</a:t>
            </a:r>
            <a:endParaRPr lang="en-US" sz="1300" dirty="0"/>
          </a:p>
        </p:txBody>
      </p:sp>
      <p:sp>
        <p:nvSpPr>
          <p:cNvPr id="27" name="Text 21"/>
          <p:cNvSpPr txBox="1"/>
          <p:nvPr/>
        </p:nvSpPr>
        <p:spPr>
          <a:xfrm>
            <a:off x="7220102" y="3295498"/>
            <a:ext cx="382310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오늘 배운 문법으로 나만의 프로필 페이지를 만들어보세요.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6601054" y="3886200"/>
            <a:ext cx="4515307" cy="819302"/>
          </a:xfrm>
          <a:prstGeom prst="roundRect">
            <a:avLst>
              <a:gd name="adj" fmla="val 15573"/>
            </a:avLst>
          </a:prstGeom>
          <a:solidFill>
            <a:srgbClr val="1E293B">
              <a:alpha val="50000"/>
            </a:srgbClr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3"/>
          <p:cNvSpPr/>
          <p:nvPr/>
        </p:nvSpPr>
        <p:spPr>
          <a:xfrm>
            <a:off x="6762902" y="4048049"/>
            <a:ext cx="304495" cy="304495"/>
          </a:xfrm>
          <a:prstGeom prst="ellipse">
            <a:avLst/>
          </a:prstGeom>
          <a:solidFill>
            <a:srgbClr val="1E293B"/>
          </a:solidFill>
          <a:ln w="254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rcRect l="-33" r="-33"/>
          <a:stretch/>
        </p:blipFill>
        <p:spPr>
          <a:xfrm>
            <a:off x="6829654" y="4123944"/>
            <a:ext cx="171907" cy="152705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7220102" y="4048049"/>
            <a:ext cx="286755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과제 제출하기</a:t>
            </a:r>
            <a:endParaRPr lang="en-US" sz="1300" dirty="0"/>
          </a:p>
        </p:txBody>
      </p:sp>
      <p:sp>
        <p:nvSpPr>
          <p:cNvPr id="32" name="Text 25"/>
          <p:cNvSpPr txBox="1"/>
          <p:nvPr/>
        </p:nvSpPr>
        <p:spPr>
          <a:xfrm>
            <a:off x="7220102" y="4343400"/>
            <a:ext cx="329549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작성한 문서를 Gist나 노션 링크로 공유해주세요.</a:t>
            </a:r>
            <a:endParaRPr lang="en-US" sz="1000" dirty="0"/>
          </a:p>
        </p:txBody>
      </p:sp>
      <p:sp>
        <p:nvSpPr>
          <p:cNvPr id="33" name="Shape 26"/>
          <p:cNvSpPr/>
          <p:nvPr/>
        </p:nvSpPr>
        <p:spPr>
          <a:xfrm>
            <a:off x="6601054" y="4934102"/>
            <a:ext cx="4515307" cy="819302"/>
          </a:xfrm>
          <a:prstGeom prst="roundRect">
            <a:avLst>
              <a:gd name="adj" fmla="val 15573"/>
            </a:avLst>
          </a:prstGeom>
          <a:solidFill>
            <a:srgbClr val="3B82F6">
              <a:alpha val="10000"/>
            </a:srgbClr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27"/>
          <p:cNvSpPr/>
          <p:nvPr/>
        </p:nvSpPr>
        <p:spPr>
          <a:xfrm>
            <a:off x="6762902" y="5095951"/>
            <a:ext cx="304495" cy="304495"/>
          </a:xfrm>
          <a:prstGeom prst="ellipse">
            <a:avLst/>
          </a:prstGeom>
          <a:solidFill>
            <a:srgbClr val="3B82F6"/>
          </a:solidFill>
          <a:ln w="254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5" name="Image 5" descr="preencoded.png"/>
          <p:cNvPicPr>
            <a:picLocks noChangeAspect="1"/>
          </p:cNvPicPr>
          <p:nvPr/>
        </p:nvPicPr>
        <p:blipFill>
          <a:blip r:embed="rId8"/>
          <a:srcRect t="-180" b="-180"/>
          <a:stretch/>
        </p:blipFill>
        <p:spPr>
          <a:xfrm>
            <a:off x="6867144" y="5171846"/>
            <a:ext cx="95098" cy="152705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7220102" y="5095951"/>
            <a:ext cx="250637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Q&amp;A Session</a:t>
            </a:r>
            <a:endParaRPr lang="en-US" sz="1300" dirty="0"/>
          </a:p>
        </p:txBody>
      </p:sp>
      <p:sp>
        <p:nvSpPr>
          <p:cNvPr id="37" name="Text 29"/>
          <p:cNvSpPr txBox="1"/>
          <p:nvPr/>
        </p:nvSpPr>
        <p:spPr>
          <a:xfrm>
            <a:off x="7220102" y="5391302"/>
            <a:ext cx="289499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FDB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궁금한 점이 있다면 자유롭게 질문해주세요!</a:t>
            </a:r>
            <a:endParaRPr lang="en-US" sz="1000" dirty="0"/>
          </a:p>
        </p:txBody>
      </p:sp>
      <p:sp>
        <p:nvSpPr>
          <p:cNvPr id="38" name="Text 30"/>
          <p:cNvSpPr txBox="1"/>
          <p:nvPr/>
        </p:nvSpPr>
        <p:spPr>
          <a:xfrm>
            <a:off x="380390" y="5505602"/>
            <a:ext cx="2129638" cy="1324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0" b="1" dirty="0">
                <a:solidFill>
                  <a:srgbClr val="FFFFFF">
                    <a:alpha val="3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Q&amp;A</a:t>
            </a:r>
            <a:endParaRPr lang="en-US" sz="7200" dirty="0"/>
          </a:p>
        </p:txBody>
      </p:sp>
      <p:sp>
        <p:nvSpPr>
          <p:cNvPr id="39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wrap: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eckgen:wrap:side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ckgen:wrap:rule"/>
          <p:cNvSpPr/>
          <p:nvPr/>
        </p:nvSpPr>
        <p:spPr>
          <a:xfrm>
            <a:off x="853440" y="2057400"/>
            <a:ext cx="975360" cy="381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eckgen:wrap:eyebrow"/>
          <p:cNvSpPr txBox="1"/>
          <p:nvPr/>
        </p:nvSpPr>
        <p:spPr>
          <a:xfrm>
            <a:off x="853440" y="1165860"/>
            <a:ext cx="1048512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0072CE"/>
                </a:solidFill>
                <a:latin typeface="Pretendard"/>
              </a:rPr>
              <a:t>HOW TO USE</a:t>
            </a:r>
          </a:p>
        </p:txBody>
      </p:sp>
      <p:sp>
        <p:nvSpPr>
          <p:cNvPr id="6" name="deckgen:wrap:title"/>
          <p:cNvSpPr txBox="1"/>
          <p:nvPr/>
        </p:nvSpPr>
        <p:spPr>
          <a:xfrm>
            <a:off x="853440" y="1440180"/>
            <a:ext cx="10485120" cy="6172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A2A5E"/>
                </a:solidFill>
                <a:latin typeface="Pretendard"/>
              </a:rPr>
              <a:t>이 자료 사용 방법</a:t>
            </a:r>
          </a:p>
        </p:txBody>
      </p:sp>
      <p:sp>
        <p:nvSpPr>
          <p:cNvPr id="7" name="deckgen:wrap:body"/>
          <p:cNvSpPr txBox="1"/>
          <p:nvPr/>
        </p:nvSpPr>
        <p:spPr>
          <a:xfrm>
            <a:off x="853440" y="2400300"/>
            <a:ext cx="10485120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333333"/>
                </a:solidFill>
                <a:latin typeface="Pretendard"/>
              </a:rPr>
              <a:t>1.  수업·강의·자습에 그대로 쓰셔도 됩니다. 출처만 남겨 주세요.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2.  PDF 는 화면으로 읽는 용도, PPTX 는 발표용입니다. PPTX 는 Pretendard 글꼴이 설치된 컴퓨터에서 가장 똑같이 보입니다.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3.  출처 표기 예: 이애본(드림아이티비즈), 「자료 제목」, 홍문원, useful-ai.dreamitbiz.com, CC BY-NC-ND 4.0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4.  자료 안의 프롬프트는 복사해 바로 쓸 수 있습니다. [대괄호]만 내 상황으로 바꾸세요.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5.  모든 자료와 영상 강의는 useful-ai.dreamitbiz.com 에서 다시 받을 수 있습니다.</a:t>
            </a:r>
          </a:p>
        </p:txBody>
      </p:sp>
      <p:sp>
        <p:nvSpPr>
          <p:cNvPr id="8" name="deckgen:wrap:footer"/>
          <p:cNvSpPr txBox="1"/>
          <p:nvPr/>
        </p:nvSpPr>
        <p:spPr>
          <a:xfrm>
            <a:off x="853440" y="6240780"/>
            <a:ext cx="1048512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88888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wrap: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eckgen:wrap:side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ckgen:wrap:rule"/>
          <p:cNvSpPr/>
          <p:nvPr/>
        </p:nvSpPr>
        <p:spPr>
          <a:xfrm>
            <a:off x="853440" y="2057400"/>
            <a:ext cx="975360" cy="381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eckgen:wrap:eyebrow"/>
          <p:cNvSpPr txBox="1"/>
          <p:nvPr/>
        </p:nvSpPr>
        <p:spPr>
          <a:xfrm>
            <a:off x="853440" y="1165860"/>
            <a:ext cx="1048512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0072CE"/>
                </a:solidFill>
                <a:latin typeface="Pretendard"/>
              </a:rPr>
              <a:t>COPYRIGHT · LICENSE</a:t>
            </a:r>
          </a:p>
        </p:txBody>
      </p:sp>
      <p:sp>
        <p:nvSpPr>
          <p:cNvPr id="6" name="deckgen:wrap:title"/>
          <p:cNvSpPr txBox="1"/>
          <p:nvPr/>
        </p:nvSpPr>
        <p:spPr>
          <a:xfrm>
            <a:off x="853440" y="1440180"/>
            <a:ext cx="10485120" cy="6172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A2A5E"/>
                </a:solidFill>
                <a:latin typeface="Pretendard"/>
              </a:rPr>
              <a:t>저작권 · 이용 조건 (CC BY-NC-ND 4.0)</a:t>
            </a:r>
          </a:p>
        </p:txBody>
      </p:sp>
      <p:sp>
        <p:nvSpPr>
          <p:cNvPr id="7" name="deckgen:wrap:body"/>
          <p:cNvSpPr txBox="1"/>
          <p:nvPr/>
        </p:nvSpPr>
        <p:spPr>
          <a:xfrm>
            <a:off x="853440" y="2400300"/>
            <a:ext cx="10485120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333333"/>
                </a:solidFill>
                <a:latin typeface="Pretendard"/>
              </a:rPr>
              <a:t>1.  저작권 © 2026 이애본(드림아이티비즈 DreamIT Biz). 발행 홍문원(洪文院, 출판사 신고번호 제2026-000026호). 2026년 1월 「생성형 AI와 창의력·복합문제능력 향상 과정」 강의안을 전자출판용으로 다시 묶은 것입니다. ISBN: 등록 후 기재.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2.  이 자료는 크리에이티브 커먼즈 저작자표시-비영리-변경금지 4.0 국제(CC BY-NC-ND 4.0) 라이선스를 따릅니다. creativecommons.org/licenses/by-nc-nd/4.0/deed.ko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3.  저작자 표시(BY): 출처를 밝히면 그대로 복사해 수업·강의·자습에 쓸 수 있습니다. 비영리(NC): 유료 강의·판매·광고 수익 목적에는 쓸 수 없습니다. 변경금지(ND): 내용을 고치거나 잘라 재조합해 배포할 수 없습니다.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4.  자료 안의 외부 서비스 화면 캡처와 상표는 교육 목적 인용이며 각 서비스의 소유입니다. AI 생성 이미지는 생성 도구의 이용 약관을 따릅니다.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5.  라이선스 범위 밖의 이용(영리·변형·2차 저작)은 먼저 문의해 주세요. aebon@dreamitbiz.com · 카카오톡 ID aebon</a:t>
            </a:r>
          </a:p>
        </p:txBody>
      </p:sp>
      <p:sp>
        <p:nvSpPr>
          <p:cNvPr id="8" name="deckgen:wrap:footer"/>
          <p:cNvSpPr txBox="1"/>
          <p:nvPr/>
        </p:nvSpPr>
        <p:spPr>
          <a:xfrm>
            <a:off x="853440" y="6240780"/>
            <a:ext cx="1048512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88888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wrap: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eckgen:wrap:side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ckgen:wrap:rule"/>
          <p:cNvSpPr/>
          <p:nvPr/>
        </p:nvSpPr>
        <p:spPr>
          <a:xfrm>
            <a:off x="853440" y="2057400"/>
            <a:ext cx="975360" cy="381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eckgen:wrap:eyebrow"/>
          <p:cNvSpPr txBox="1"/>
          <p:nvPr/>
        </p:nvSpPr>
        <p:spPr>
          <a:xfrm>
            <a:off x="853440" y="1165860"/>
            <a:ext cx="1048512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0072CE"/>
                </a:solidFill>
                <a:latin typeface="Pretendard"/>
              </a:rPr>
              <a:t>CREDITS · CONTACT</a:t>
            </a:r>
          </a:p>
        </p:txBody>
      </p:sp>
      <p:sp>
        <p:nvSpPr>
          <p:cNvPr id="6" name="deckgen:wrap:title"/>
          <p:cNvSpPr txBox="1"/>
          <p:nvPr/>
        </p:nvSpPr>
        <p:spPr>
          <a:xfrm>
            <a:off x="853440" y="1440180"/>
            <a:ext cx="10485120" cy="6172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A2A5E"/>
                </a:solidFill>
                <a:latin typeface="Pretendard"/>
              </a:rPr>
              <a:t>출처 · 문의</a:t>
            </a:r>
          </a:p>
        </p:txBody>
      </p:sp>
      <p:sp>
        <p:nvSpPr>
          <p:cNvPr id="7" name="deckgen:wrap:body"/>
          <p:cNvSpPr txBox="1"/>
          <p:nvPr/>
        </p:nvSpPr>
        <p:spPr>
          <a:xfrm>
            <a:off x="853440" y="2400300"/>
            <a:ext cx="10485120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333333"/>
                </a:solidFill>
                <a:latin typeface="Pretendard"/>
              </a:rPr>
              <a:t>이애본 (Aebon Lee, Ph.D) — 드림아이티비즈 대표 · 한신대학교 AI·SW대학 겸임교수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useful-ai.dreamitbiz.com — 강의안·영상 강의 라이브러리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aebon@dreamitbiz.com · 카카오톡 ID aebon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© 2026 이애본 · 발행 홍문원(洪文院) · CC BY-NC-ND 4.0</a:t>
            </a:r>
          </a:p>
        </p:txBody>
      </p:sp>
      <p:sp>
        <p:nvSpPr>
          <p:cNvPr id="8" name="deckgen:wrap:footer"/>
          <p:cNvSpPr txBox="1"/>
          <p:nvPr/>
        </p:nvSpPr>
        <p:spPr>
          <a:xfrm>
            <a:off x="853440" y="6240780"/>
            <a:ext cx="1048512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88888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507</TotalTime>
  <Words>2211</Words>
  <Application>Microsoft Office PowerPoint</Application>
  <PresentationFormat>와이드스크린</PresentationFormat>
  <Paragraphs>576</Paragraphs>
  <Slides>19</Slides>
  <Notes>19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7" baseType="lpstr">
      <vt:lpstr>Menlo</vt:lpstr>
      <vt:lpstr>Nanum Gothic Coding</vt:lpstr>
      <vt:lpstr>Noto Sans KR</vt:lpstr>
      <vt:lpstr>ui-monospace</vt:lpstr>
      <vt:lpstr>Arial</vt:lpstr>
      <vt:lpstr>Consolas</vt:lpstr>
      <vt:lpstr>Courier New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이애본</cp:lastModifiedBy>
  <cp:revision>3</cp:revision>
  <dcterms:created xsi:type="dcterms:W3CDTF">2026-01-26T00:24:05Z</dcterms:created>
  <dcterms:modified xsi:type="dcterms:W3CDTF">2026-01-26T09:02:55Z</dcterms:modified>
</cp:coreProperties>
</file>