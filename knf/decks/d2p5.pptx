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0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C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FED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2일차 5교시 · 통합 KPI 분석과 문제 공정 선정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918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지표 간 상관관계</a:t>
            </a:r>
          </a:p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산점도와 상관계수 읽기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6033516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지표 하나가 아니라 지표 사이의 관계를 본다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생산안전본부 및 품질환경단 직무훈련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2026. 10. 12.~15.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50분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산점도로 두 지표가 같은 방향인지 반대 방향인지 말한다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상관계수 r 의 부호와 크기로 방향과 강도를 해석한다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두 파일을 키로 잇고, AI 의 r 을 Excel CORREL 로 검증한다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생산 지표(비가동)와 품질 지표(불량률)가 함께 움직이는지 확인합니다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5교시 · 이론+실습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1.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산점도와 상관계수 r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산점도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행 하나 = 점 하나, 가로·세로에 두 지표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오른쪽 위로 몰림 = 함께 오른다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오른쪽 아래 = 하나가 오르면 하나는 내린다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구름처럼 흩어짐 = 따로 움직인다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상관계수 r (−1 ~ +1)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점들이 한 직선에 얼마나 가까운지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부호 = 방향, 0 에서 먼 정도 = 강도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Excel =CORREL(범위1, 범위2)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R² = r × r (0.95 → 약 0.90)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5교시 · 이론+실습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1.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r 을 읽는 어림 기준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 의 범위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2781300"/>
            <a:ext cx="58826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2781300"/>
            <a:ext cx="58826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읽는 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224260" y="2781300"/>
            <a:ext cx="59207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24260" y="2781300"/>
            <a:ext cx="59207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산점도 모양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+0.7 ~ +1.0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3448050"/>
            <a:ext cx="5882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8770" y="3448050"/>
            <a:ext cx="5692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강한 양의 상관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224260" y="3448050"/>
            <a:ext cx="5920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319510" y="3448050"/>
            <a:ext cx="5730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오른쪽 위 좁은 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+0.4 ~ +0.7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4171950"/>
            <a:ext cx="5882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8770" y="4171950"/>
            <a:ext cx="5692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중간 양의 상관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224260" y="4171950"/>
            <a:ext cx="5920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319510" y="4171950"/>
            <a:ext cx="5730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오른쪽 위 넓은 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−0.4 ~ +0.4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0" y="4895850"/>
            <a:ext cx="5882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98770" y="4895850"/>
            <a:ext cx="5692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약하거나 거의 없음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224260" y="4895850"/>
            <a:ext cx="5920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319510" y="4895850"/>
            <a:ext cx="5730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구름처럼 흩어짐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−0.7 ~ −0.4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0" y="5619750"/>
            <a:ext cx="5882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98770" y="5619750"/>
            <a:ext cx="5692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중간 음의 상관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224260" y="5619750"/>
            <a:ext cx="5920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319510" y="5619750"/>
            <a:ext cx="5730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오른쪽 아래 넓은 띠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−1.0 ~ −0.7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303520" y="6343650"/>
            <a:ext cx="5882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98770" y="6343650"/>
            <a:ext cx="5692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강한 음의 상관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224260" y="6343650"/>
            <a:ext cx="5920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319510" y="6343650"/>
            <a:ext cx="5730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오른쪽 아래 좁은 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경계는 교과서마다 조금씩 다르다 — 숫자 하나로 판정하지 말고 산점도를 함께 본다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5교시 · 이론+실습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2. 분석 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분석 단위 — 소결 「일자×교대×설비」 248행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지표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63627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가져올 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잇는 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소결 불량률(%)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4480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8850" y="34480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02 생산일지 생산·양품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0" y="34480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39650" y="34480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기준 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소결 비가동(분)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1719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1719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02 생산일지 비가동_분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344400" y="41719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439650" y="41719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소결 온도편차(°C)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48958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8850" y="48958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04 불량 기록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44400" y="48958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439650" y="48958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일자+교대+설비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성형실 습도(%)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56197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8850" y="56197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04 불량 기록(성형 행)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344400" y="56197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439650" y="56197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일자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불량 기록은 유형마다 행이 나뉜다 — 같은 키의 온도편차는 같은 값이라 AVERAGEIFS 로 가져온다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5교시 · 이론+실습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다섯 단계 — 표 만들기부터 해석까지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02 생산일지에서 소결 행만 걸러 SF 시트를 만들고 시작합니다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분석 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SF 시트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키로 잇기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산점도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분산형 차트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추세선·R²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AI 상관 행렬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 올려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 과 함께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Excel 검증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CORREL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쌍 이상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5. 해석 문장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~할수록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~한 경향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5교시 · 이론+실습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4단계 ·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Excel CORREL 로 맞춰 볼 값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668274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6827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지표 쌍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2781300"/>
            <a:ext cx="220218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781300"/>
            <a:ext cx="22021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04120" y="2781300"/>
            <a:ext cx="704088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04120" y="2781300"/>
            <a:ext cx="70408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읽는 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온도편차 ↔ 소결 불량률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34480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9090" y="34480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0.95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04120" y="3448050"/>
            <a:ext cx="70408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99370" y="3448050"/>
            <a:ext cx="68503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매우 강한 양의 상관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비가동 ↔ 소결 불량률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41719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9090" y="41719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0.71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04120" y="4171950"/>
            <a:ext cx="70408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99370" y="4171950"/>
            <a:ext cx="68503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강한 양의 상관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온도편차 ↔ 비가동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48958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9090" y="48958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0.67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04120" y="4895850"/>
            <a:ext cx="70408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99370" y="4895850"/>
            <a:ext cx="68503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중간~강한 양의 상관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성형실 습도 ↔ 성형 불량률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63840" y="56197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9090" y="56197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0.80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04120" y="5619750"/>
            <a:ext cx="70408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99370" y="5619750"/>
            <a:ext cx="68503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강한 양의 상관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AI 값과 다르면 먼저 행 수(n)와 열 이름을 대조한다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5교시 · 이론+실습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5단계 · 해석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생산 지표와 품질 지표가 같은 교대에서 함께 나빠진다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온도편차가 큰 교대에서 불량률이 높다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 = 0.95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같은 교대에서 비가동도 길다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 = 0.67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오래 멈춘 교대일수록 불량률도 높다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 = 0.71 — OEE 의 가동률·양품률이 함께 떨어지는 이유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아직 말하지 않는 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「때문이다」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원인은 다음 단계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5교시 · 이론+실습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자주 틀리는 지점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여기서 자주 막힙니다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#DIV/0!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파일의 일자 형식이 다르다 — 글자와 날짜 값을 맞춘다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와 r 이 다르다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 부터 비교 — 머리글·빈 행·다른 열이 섞였는지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축이 바뀌었다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먼저 선택한 열이 가로축 — 온도편차를 먼저 고른다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회사 데이터 업로드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실제 데이터는 올리지 않는다 — 보안정책 확인, 비식별화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5교시 · 이론+실습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이것이 되면 끝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861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6290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7528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4861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 시트 248행, 온도편차·습도 열에 #DIV/0! 없음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4767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6196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7434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4767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산점도에 축 제목·추세선·R² 가 보인다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4673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6102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7340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4673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의 n = 248, 온도편차 ↔ 불량률 r = 0.95 일치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4579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6008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7246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64579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해석은 「~할수록 ~한 경향」에서 멈췄다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5교시 · 이론+실습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무료 계정이면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상관 행렬은 Excel, 해석은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파일 분석 가능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SF 시트를 올려 상관 행렬 요청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가 r 계산·산점도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CORREL 두 쌍으로 검증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무료 계정 · 한도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CORREL 행렬 4×4 를 붙여 해석만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4단계 CORREL 을 먼저</a:t>
            </a:r>
          </a:p>
        </p:txBody>
      </p:sp>
      <p:sp>
        <p:nvSpPr>
          <p:cNvPr id="20" name="Oval 19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막히면 paste_pack 의 SF_248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「무료 계정이면」 프롬프트로 해석</a:t>
            </a:r>
          </a:p>
        </p:txBody>
      </p:sp>
      <p:sp>
        <p:nvSpPr>
          <p:cNvPr id="24" name="Oval 23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5교시 · 이론+실습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2일차 5교시 · 이론+실습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다음은 상관 해석의 함정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약한 상관 하나를 설비별로 쪼개 보며, 섞여서 생긴 가짜 상관을 직접 확인합니다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상관 ≠ 인과 — 세 가지 함정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층별 분석으로 r 다시 구하기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시기가 겹친 가짜 상관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의 원인 단정 반박하기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가져올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 시트와 해석 문장 세 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