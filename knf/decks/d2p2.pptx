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2교시 · KPI 분석 기초와 공정별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공정능력지수(Cp·Cpk)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규격 안에 얼마나 여유 있게 들어오는가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LSL·USL·평균·표준편차의 역할을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양쪽·한쪽 규격의 Cp·Cpk 를 계산한다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Cpk 를 일반적인 판정 기준으로 해석한다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설비별 Cpk 는 4교시에 Excel 로 직접 산출합니다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2교시 · 이론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과녁과 탄착군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여유를 정하는 두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퍼짐 — 표준편차 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자국 무리가 얼마나 넓게 퍼졌나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STDEV.S 로 구한다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대부분 평균 ± 3σ 안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줄이려면 산포 원인 제거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치우침 — 평균 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무리의 중심이 과녁 중앙에서 비켜났나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AVERAGE 로 구한다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규격 중앙과 비교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고치려면 세팅값 조정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2교시 · 이론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2. 계산식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 는 잠재 능력, Cpk 는 지금 실력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76428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76428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계산식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보는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(USL − LSL) ÷ 6σ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퍼짐만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min(위 여유, 아래 여유)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퍼짐 + 쏠림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위 여유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(USL − μ) ÷ 3σ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상한까지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아래 여유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197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6197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(μ − LSL) ÷ 3σ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6197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6197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하한까지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하한만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63436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63436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Cpk = (μ − LSL) ÷ 3σ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344400" y="63436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439650" y="63436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소결밀도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한쪽 규격에서는 규격 폭이 없으므로 Cp 를 계산하지 않는다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2교시 · 이론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2. 계산식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판정 기준 (일반적으로)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Cpk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43500" y="2781300"/>
            <a:ext cx="39624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3500" y="2781300"/>
            <a:ext cx="3962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현장에서 하는 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1.33 이상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43500" y="34480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8750" y="34480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4480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34480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유지 · 정기 모니터링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1.0 ~ 1.33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43500" y="41719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8750" y="41719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관리 필요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41719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9250" y="41719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산포·치우침 점검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1.0 미만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43500" y="48958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38750" y="48958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부적합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48958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9250" y="48958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조사 · 임시 조치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고객사·업종마다 요구 수준이 다르다 — 실제 판정은 회사 품질 기준서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2교시 · 이론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3. 이 라인의 규격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SPEC 시트 — 한쪽 규격 하나, 양쪽 규격 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특성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28422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LSL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64040" y="2781300"/>
            <a:ext cx="28422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USL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종류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소결밀도_pct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893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95.0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929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한쪽(하한)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소결외경_mm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893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10.12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929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10.28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연삭외경_mm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893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9.94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6404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929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10.06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03_quality_measure.xlsx · MEASURE 2,480행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2교시 · 이론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4. 손계산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 소결외경 — 평균 10.2000 · σ 0.0203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순서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43500" y="2781300"/>
            <a:ext cx="79629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350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144500" y="2781300"/>
            <a:ext cx="40005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0" y="2781300"/>
            <a:ext cx="4000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43500" y="34480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8750" y="34480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0.16 ÷ (6 × 0.0203)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44500" y="34480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39750" y="34480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1.31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위 여유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43500" y="41719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8750" y="41719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0.08 ÷ (3 × 0.0203)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144500" y="41719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39750" y="41719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1.31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아래 여유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43500" y="48958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38750" y="48958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0.08 ÷ (3 × 0.0203)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144500" y="48958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39750" y="48958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1.31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43500" y="56197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38750" y="56197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 중 작은 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144500" y="56197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239750" y="56197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1.31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평균이 규격 정중앙이라 Cp 와 Cpk 가 같다 — 판정은 관리 필요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2교시 · 이론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4. 손계산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같은 퍼짐, 다른 판정 (예시 숫자)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 · 평균 10.00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규격 9.94~10.06 · σ 0.012 · 중심이 맞음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702885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70288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93535" y="4838700"/>
            <a:ext cx="617416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5935" y="4838700"/>
            <a:ext cx="586936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1.67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0650" y="5400675"/>
            <a:ext cx="702885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0650" y="5400675"/>
            <a:ext cx="70288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Cpk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93535" y="5400675"/>
            <a:ext cx="617416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45935" y="5400675"/>
            <a:ext cx="586936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1.67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90650" y="5962650"/>
            <a:ext cx="702885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90650" y="5962650"/>
            <a:ext cx="70288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93535" y="5962650"/>
            <a:ext cx="617416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45935" y="5962650"/>
            <a:ext cx="586936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B · 평균 10.03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σ 0.012 · 위로 0.03 쏠림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20300" y="4838700"/>
            <a:ext cx="702885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0300" y="4838700"/>
            <a:ext cx="70288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23185" y="4838700"/>
            <a:ext cx="617416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75585" y="4838700"/>
            <a:ext cx="586936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1.67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20300" y="5400675"/>
            <a:ext cx="702885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20300" y="5400675"/>
            <a:ext cx="70288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Cpk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723185" y="5400675"/>
            <a:ext cx="617416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75585" y="5400675"/>
            <a:ext cx="586936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0.83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20300" y="5962650"/>
            <a:ext cx="702885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20300" y="5962650"/>
            <a:ext cx="70288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723185" y="5962650"/>
            <a:ext cx="617416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75585" y="5962650"/>
            <a:ext cx="586936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부적합</a:t>
            </a:r>
          </a:p>
        </p:txBody>
      </p:sp>
      <p:sp>
        <p:nvSpPr>
          <p:cNvPr id="38" name="Oval 37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2교시 · 이론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4. 손계산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한쪽 규격 — SF-01 소결밀도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평균 96.2546 · 표준편차 0.3262 · 하한 95.0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계산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(96.2546 − 95.0) ÷ (3 × 0.3262) = 1.2546 ÷ 0.9786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Cpk 1.28 → 1.0 ~ 1.33 구간, 관리 필요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Cp 는?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상한이 없어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계산 안 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2교시 · 이론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 는 퍼짐만, Cpk 는 퍼짐과 쏠림을 함께 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Cpk 는 가까운 쪽 규격까지의 여유 (작은 값)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한쪽 규격은 Cpk 만 — 소결밀도 (μ − 95.0) ÷ 3σ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 높고 Cpk 낮으면 세팅 조정이 먼저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1.33 · 1.0 은 일반 기준 — 실제는 회사 기준서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2교시 · 이론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2교시 · 이론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공정별 OEE 산출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에 생산일지를 올려 공정별 OEE 를 계산시키고, Excel 로 같은 값을 다시 계산해 검증합니다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가 파일을 제대로 읽었나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합계 방식으로 계산 지정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피벗 테이블 · SUMIFS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결과와 대조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02_production_log_clean.xlsx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