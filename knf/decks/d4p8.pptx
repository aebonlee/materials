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192250" y="-2381250"/>
            <a:ext cx="7429500" cy="7429500"/>
          </a:xfrm>
          <a:prstGeom prst="ellipse">
            <a:avLst/>
          </a:prstGeom>
          <a:solidFill>
            <a:srgbClr val="F0F7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5430500" y="-1143000"/>
            <a:ext cx="4953000" cy="4953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15906750" y="5905500"/>
            <a:ext cx="4953000" cy="4953000"/>
          </a:xfrm>
          <a:prstGeom prst="ellipse">
            <a:avLst/>
          </a:prstGeom>
          <a:solidFill>
            <a:srgbClr val="F5F6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deckgen:decor"/>
          <p:cNvSpPr/>
          <p:nvPr/>
        </p:nvSpPr>
        <p:spPr>
          <a:xfrm>
            <a:off x="-1714500" y="2857500"/>
            <a:ext cx="2857500" cy="28575"/>
          </a:xfrm>
          <a:prstGeom prst="rect">
            <a:avLst/>
          </a:prstGeom>
          <a:solidFill>
            <a:srgbClr val="E6EAE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deckgen:decor"/>
          <p:cNvSpPr/>
          <p:nvPr/>
        </p:nvSpPr>
        <p:spPr>
          <a:xfrm>
            <a:off x="-2857500" y="6953250"/>
            <a:ext cx="6953250" cy="6953250"/>
          </a:xfrm>
          <a:prstGeom prst="ellipse">
            <a:avLst/>
          </a:prstGeom>
          <a:solidFill>
            <a:srgbClr val="ECF5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deckgen:decor"/>
          <p:cNvSpPr/>
          <p:nvPr/>
        </p:nvSpPr>
        <p:spPr>
          <a:xfrm>
            <a:off x="-1581150" y="8229600"/>
            <a:ext cx="4400550" cy="44005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deckgen:decor"/>
          <p:cNvSpPr/>
          <p:nvPr/>
        </p:nvSpPr>
        <p:spPr>
          <a:xfrm>
            <a:off x="3390900" y="8953500"/>
            <a:ext cx="742950" cy="742950"/>
          </a:xfrm>
          <a:prstGeom prst="ellipse">
            <a:avLst/>
          </a:prstGeom>
          <a:solidFill>
            <a:srgbClr val="EBEEF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deckgen:decor"/>
          <p:cNvSpPr/>
          <p:nvPr/>
        </p:nvSpPr>
        <p:spPr>
          <a:xfrm>
            <a:off x="4457700" y="9563100"/>
            <a:ext cx="342900" cy="342900"/>
          </a:xfrm>
          <a:prstGeom prst="ellipse">
            <a:avLst/>
          </a:prstGeom>
          <a:solidFill>
            <a:srgbClr val="DFEDE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decor"/>
          <p:cNvSpPr/>
          <p:nvPr/>
        </p:nvSpPr>
        <p:spPr>
          <a:xfrm>
            <a:off x="1143000" y="9639300"/>
            <a:ext cx="1619250" cy="28575"/>
          </a:xfrm>
          <a:prstGeom prst="rect">
            <a:avLst/>
          </a:prstGeom>
          <a:solidFill>
            <a:srgbClr val="E6EAE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48615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spc="12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4일차 8교시 · 실행계획과 최종 보고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905250"/>
            <a:ext cx="16002000" cy="14660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300" b="1" spc="-347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현업 적용계획 · 사후평가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5580888"/>
            <a:ext cx="16002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30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내 업무로 옮기고, 4일의 변화를 확인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72500" y="7677150"/>
            <a:ext cx="85725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생산안전본부 및 품질환경단 직무훈련</a:t>
            </a:r>
          </a:p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2026. 10. 12.~15.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이 시간의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50분 뒤에는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3909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53377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6576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33909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현업 적용계획 1장 — 데이터 · AI 몫 · 사람 몫 · 보안 · 30일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43815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52437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6482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43815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사후평가를 보고 사전평가와 비교한다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53721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51497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6388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53721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DATA → KPI → 원인 → 개선 → 보고 흐름을 한 표로 정리한다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다음 주 월요일에 할 일 한 줄이 이 시간의 결과물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4일차 8교시 · 평가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4일 정리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DATA → KPI → 원인 → 개선 → 보고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2522220" cy="590550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252222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단계</a:t>
            </a:r>
          </a:p>
        </p:txBody>
      </p:sp>
      <p:sp>
        <p:nvSpPr>
          <p:cNvPr id="10" name="Rectangle 9"/>
          <p:cNvSpPr/>
          <p:nvPr/>
        </p:nvSpPr>
        <p:spPr>
          <a:xfrm>
            <a:off x="3703320" y="2781300"/>
            <a:ext cx="6362700" cy="5905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03320" y="2781300"/>
            <a:ext cx="63627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핵심 질문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104120" y="2781300"/>
            <a:ext cx="7040880" cy="5905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104120" y="2781300"/>
            <a:ext cx="704088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산출물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252222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23317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DATA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703320" y="3448050"/>
            <a:ext cx="63627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98570" y="3448050"/>
            <a:ext cx="61722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데이터는 믿을 만한가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104120" y="3448050"/>
            <a:ext cx="70408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199370" y="3448050"/>
            <a:ext cx="68503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문제정의서 · 정제 생산일지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71950"/>
            <a:ext cx="252222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71950"/>
            <a:ext cx="23317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KPI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703320" y="4171950"/>
            <a:ext cx="63627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798570" y="4171950"/>
            <a:ext cx="61722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어느 공정이 가장 나쁜가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104120" y="4171950"/>
            <a:ext cx="70408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199370" y="4171950"/>
            <a:ext cx="68503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KPI 표 · 중점공정 선정서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95850"/>
            <a:ext cx="252222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95850"/>
            <a:ext cx="23317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원인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703320" y="4895850"/>
            <a:ext cx="63627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798570" y="4895850"/>
            <a:ext cx="61722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왜 · 사실인가 추정인가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104120" y="4895850"/>
            <a:ext cx="70408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199370" y="4895850"/>
            <a:ext cx="68503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MECE 표 · 가설 검증 계획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619750"/>
            <a:ext cx="252222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5619750"/>
            <a:ext cx="23317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개선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703320" y="5619750"/>
            <a:ext cx="63627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798570" y="5619750"/>
            <a:ext cx="61722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무엇부터 고칠 것인가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104120" y="5619750"/>
            <a:ext cx="70408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199370" y="5619750"/>
            <a:ext cx="68503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대안 평가표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143000" y="6343650"/>
            <a:ext cx="252222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238250" y="6343650"/>
            <a:ext cx="23317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보고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703320" y="6343650"/>
            <a:ext cx="63627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798570" y="6343650"/>
            <a:ext cx="61722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누가 언제 무엇으로 확인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0104120" y="6343650"/>
            <a:ext cx="70408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199370" y="6343650"/>
            <a:ext cx="68503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실행계획 · 한 장 보고서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4일차 8교시 · 평가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4일 정리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AI 의 몫과 사람의 몫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AI 의 몫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빠르게 넓게 — 초안과 후보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447800" y="5016817"/>
            <a:ext cx="97155" cy="97155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33538" y="483870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정제 규칙 · 계산식 제안</a:t>
            </a:r>
          </a:p>
        </p:txBody>
      </p:sp>
      <p:sp>
        <p:nvSpPr>
          <p:cNvPr id="13" name="Oval 12"/>
          <p:cNvSpPr/>
          <p:nvPr/>
        </p:nvSpPr>
        <p:spPr>
          <a:xfrm>
            <a:off x="1447800" y="5527358"/>
            <a:ext cx="97155" cy="97155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33538" y="534924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원인 후보 펼치기 · 로그 요약</a:t>
            </a:r>
          </a:p>
        </p:txBody>
      </p:sp>
      <p:sp>
        <p:nvSpPr>
          <p:cNvPr id="15" name="Oval 14"/>
          <p:cNvSpPr/>
          <p:nvPr/>
        </p:nvSpPr>
        <p:spPr>
          <a:xfrm>
            <a:off x="1447800" y="6037898"/>
            <a:ext cx="97155" cy="97155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33538" y="585978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보고서 초안 · 예상 질문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7265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사람의 몫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7265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정확하게 좁게 — 검증과 판단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77265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077450" y="5016817"/>
            <a:ext cx="97155" cy="97155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263188" y="483870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Excel 로 다시 계산</a:t>
            </a:r>
          </a:p>
        </p:txBody>
      </p:sp>
      <p:sp>
        <p:nvSpPr>
          <p:cNvPr id="22" name="Oval 21"/>
          <p:cNvSpPr/>
          <p:nvPr/>
        </p:nvSpPr>
        <p:spPr>
          <a:xfrm>
            <a:off x="10077450" y="5527358"/>
            <a:ext cx="97155" cy="97155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263188" y="534924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교란 걸러 내기 · 사실/추정 판정</a:t>
            </a:r>
          </a:p>
        </p:txBody>
      </p:sp>
      <p:sp>
        <p:nvSpPr>
          <p:cNvPr id="24" name="Oval 23"/>
          <p:cNvSpPr/>
          <p:nvPr/>
        </p:nvSpPr>
        <p:spPr>
          <a:xfrm>
            <a:off x="10077450" y="6037898"/>
            <a:ext cx="97155" cy="97155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263188" y="585978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숫자 · 과장 · 보안 검증</a:t>
            </a:r>
          </a:p>
        </p:txBody>
      </p:sp>
      <p:sp>
        <p:nvSpPr>
          <p:cNvPr id="26" name="Oval 25"/>
          <p:cNvSpPr/>
          <p:nvPr/>
        </p:nvSpPr>
        <p:spPr>
          <a:xfrm>
            <a:off x="8686800" y="3771900"/>
            <a:ext cx="914400" cy="914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0" y="4057650"/>
            <a:ext cx="9144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VS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4일차 8교시 · 평가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핵심 개념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현업 적용계획 1장 — 여섯 칸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5082540" cy="590550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508254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칸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63640" y="2781300"/>
            <a:ext cx="10881360" cy="5905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2781300"/>
            <a:ext cx="1088136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예(가상)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448050"/>
            <a:ext cx="5082540" cy="619125"/>
          </a:xfrm>
          <a:prstGeom prst="roundRect">
            <a:avLst>
              <a:gd name="adj" fmla="val 6153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38250" y="3448050"/>
            <a:ext cx="489204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내 업무 문제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3448050"/>
            <a:ext cx="1088136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8890" y="3448050"/>
            <a:ext cx="1069086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정비 뒤 재가동 초기 불량이 몰림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143375"/>
            <a:ext cx="5082540" cy="619125"/>
          </a:xfrm>
          <a:prstGeom prst="roundRect">
            <a:avLst>
              <a:gd name="adj" fmla="val 6153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38250" y="4143375"/>
            <a:ext cx="489204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내 업무 데이터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63640" y="4143375"/>
            <a:ext cx="1088136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58890" y="4143375"/>
            <a:ext cx="1069086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정비 이력 · 일별 불량 집계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838700"/>
            <a:ext cx="5082540" cy="619125"/>
          </a:xfrm>
          <a:prstGeom prst="roundRect">
            <a:avLst>
              <a:gd name="adj" fmla="val 6153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838700"/>
            <a:ext cx="489204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AI 로 할 일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4838700"/>
            <a:ext cx="1088136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8890" y="4838700"/>
            <a:ext cx="1069086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정비일 전후 비교 피벗 설계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5534025"/>
            <a:ext cx="5082540" cy="619125"/>
          </a:xfrm>
          <a:prstGeom prst="roundRect">
            <a:avLst>
              <a:gd name="adj" fmla="val 6153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38250" y="5534025"/>
            <a:ext cx="489204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사람이 할 일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63640" y="5534025"/>
            <a:ext cx="1088136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58890" y="5534025"/>
            <a:ext cx="1069086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원본으로 재계산 · 현장 확인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143000" y="6229350"/>
            <a:ext cx="5082540" cy="619125"/>
          </a:xfrm>
          <a:prstGeom prst="roundRect">
            <a:avLst>
              <a:gd name="adj" fmla="val 6153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238250" y="6229350"/>
            <a:ext cx="489204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보안 확인 사항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63640" y="6229350"/>
            <a:ext cx="1088136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58890" y="6229350"/>
            <a:ext cx="1069086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설비 번호 가상화 · 보안정책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6924675"/>
            <a:ext cx="5082540" cy="619125"/>
          </a:xfrm>
          <a:prstGeom prst="roundRect">
            <a:avLst>
              <a:gd name="adj" fmla="val 6153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6924675"/>
            <a:ext cx="489204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첫 30일 계획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63640" y="6924675"/>
            <a:ext cx="1088136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58890" y="6924675"/>
            <a:ext cx="1069086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1주 위치 → 2주 비교 → 4주 공유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4일차 8교시 · 평가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흐름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다섯 단계 — 쓰고, 나누고, 확인하고, 챙긴다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306705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5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실제 데이터는 이 시간에 AI 에 올리지 않습니다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430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43000" y="3924300"/>
            <a:ext cx="2895600" cy="914400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1. 데이터 찾기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25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이미 쌓인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기록 세 가지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196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19600" y="3924300"/>
            <a:ext cx="2895600" cy="9144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196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2. AI 와 계획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291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일반화한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설명만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962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96200" y="3924300"/>
            <a:ext cx="2895600" cy="914400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962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3. 팀 공유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057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2분씩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질문 하나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9728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972800" y="3924300"/>
            <a:ext cx="2895600" cy="9144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4. 사후평가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823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사전과 같은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문항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42494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4249400" y="3924300"/>
            <a:ext cx="2895600" cy="914400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42494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5. 계속 학습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4589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사이트 메뉴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30일 복습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4일차 8교시 · 평가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1 · 2단계 — 자주 틀리는 지점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내 업무 데이터는 회사 자산이다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보안정책 먼저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외부 생성형 AI 사용이 허용되는지 회사 보안정책을 확인한다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형태만 설명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실제 값 대신 열 구성과 형태만 적어 분석 방법을 묻는다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가상화한 표본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회사명 · 설비 번호 · 공정 조건은 가상 값으로 바꾼다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43000" y="673417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447800" y="6981825"/>
            <a:ext cx="590550" cy="59055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447800" y="713422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324100" y="694372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계산은 사내에서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24100" y="734377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실제 계산은 사내 Excel 에서 하고 결과를 검증한다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3144500" y="2933700"/>
            <a:ext cx="4000500" cy="4895850"/>
          </a:xfrm>
          <a:prstGeom prst="roundRect">
            <a:avLst>
              <a:gd name="adj" fmla="val 1190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3487400" y="4562475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올리지 않는 것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487400" y="4962525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도면 · 공정 조건</a:t>
            </a:r>
          </a:p>
          <a:p>
            <a:pPr algn="l">
              <a:lnSpc>
                <a:spcPct val="138000"/>
              </a:lnSpc>
            </a:pPr>
            <a:r>
              <a:rPr sz="27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개인정보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4일차 8교시 · 평가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4단계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사후평가 — 사이트 /assessment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8956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03847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1623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8956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사전평가 때와 같은 PC·같은 브라우저에서 응시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8862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02907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1529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8862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정답을 찾아보지 말고 지금 아는 만큼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8768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01967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1435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8768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결과 화면에서 사전 · 사후 점수와 영역별 변화 확인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8674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601027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61341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8674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가장 오른 영역 · 아직 약한 영역을 하나씩 메모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같은 문항이라 점수 차이가 곧 4일의 변화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4일차 8교시 · 평가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5단계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과정이 끝나도 다시 찾아올 곳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810000"/>
            <a:ext cx="3714750" cy="3143250"/>
          </a:xfrm>
          <a:prstGeom prst="roundRect">
            <a:avLst>
              <a:gd name="adj" fmla="val 1515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810000"/>
            <a:ext cx="3714750" cy="47625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ornament"/>
          <p:cNvSpPr txBox="1"/>
          <p:nvPr/>
        </p:nvSpPr>
        <p:spPr>
          <a:xfrm>
            <a:off x="4000500" y="4019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6850" y="4133850"/>
            <a:ext cx="3067050" cy="2495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7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프롬프트 예시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/prompts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고쳐 쓰기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238750" y="3810000"/>
            <a:ext cx="3714750" cy="3143250"/>
          </a:xfrm>
          <a:prstGeom prst="roundRect">
            <a:avLst>
              <a:gd name="adj" fmla="val 1515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238750" y="3810000"/>
            <a:ext cx="3714750" cy="47625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8096250" y="4019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62600" y="4133850"/>
            <a:ext cx="3067050" cy="2495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7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프롬프트 평가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/prompt-eval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빠진 요소 점검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334500" y="3810000"/>
            <a:ext cx="3714750" cy="3143250"/>
          </a:xfrm>
          <a:prstGeom prst="roundRect">
            <a:avLst>
              <a:gd name="adj" fmla="val 1515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334500" y="3810000"/>
            <a:ext cx="3714750" cy="47625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deckgen:ornament"/>
          <p:cNvSpPr txBox="1"/>
          <p:nvPr/>
        </p:nvSpPr>
        <p:spPr>
          <a:xfrm>
            <a:off x="12192000" y="4019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58350" y="4133850"/>
            <a:ext cx="3067050" cy="2495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7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학습 노트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/learning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32차시 다시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3430250" y="3810000"/>
            <a:ext cx="3714750" cy="3143250"/>
          </a:xfrm>
          <a:prstGeom prst="roundRect">
            <a:avLst>
              <a:gd name="adj" fmla="val 1515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3430250" y="3810000"/>
            <a:ext cx="3714750" cy="47625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deckgen:ornament"/>
          <p:cNvSpPr txBox="1"/>
          <p:nvPr/>
        </p:nvSpPr>
        <p:spPr>
          <a:xfrm>
            <a:off x="16287750" y="4019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54100" y="4133850"/>
            <a:ext cx="3067050" cy="2495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7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실습 자료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/materials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파일 7종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4일차 8교시 · 평가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확인 포인트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과정을 마치기 전에 확인할 것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4861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62902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7528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34861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적용계획 여섯 칸 · 1주 차 할 일이 바로 할 크기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44767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61962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7434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44767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적용계획에 보안 확인 사항이 있다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54673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61022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7340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54673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사후평가 제출 · 사전 · 사후 비교 확인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64579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660082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67246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64579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4일 흐름을 내 말로 설명할 수 있다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4일차 8교시 · 평가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과정 마무리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4일 과정을 마칩니다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47244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AI 가 낸 숫자는 Excel 로 한 번 더 — 이 습관을 현업에서도 이어 가세요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287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50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실제 데이터 전에 보안정책부터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726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583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346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사실과 추정을 나눠 보고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287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050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첫 30일은 작게 시작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726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583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346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막히면 사이트 메뉴로 다시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7715250"/>
            <a:ext cx="47625" cy="8191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09700" y="7734300"/>
            <a:ext cx="85725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4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가져갈 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9700" y="8077200"/>
            <a:ext cx="85725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현업 적용계획 1장과 사후평가 비교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