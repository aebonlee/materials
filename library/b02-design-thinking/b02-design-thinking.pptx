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3" r:id="rId23"/>
    <p:sldId id="274" r:id="rId24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5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7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900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F83EB-129D-EDD4-AEA5-EAB3ECEFF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0D029-2F9E-E115-BA8F-FFBF43473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DF957-2C52-B0B3-3916-3DF041D69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BAC98-547B-1652-DBAB-4636C4D6B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6758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mailto:aebon@dreamitbiz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858707" y="-1429207"/>
            <a:ext cx="4762195" cy="4762195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761695" y="4762195"/>
            <a:ext cx="2857500" cy="28575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524805" y="1767535"/>
            <a:ext cx="1143000" cy="758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121201" y="2082089"/>
            <a:ext cx="3954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50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CREATIVE PROBLEM SOLVING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2399" y="2567635"/>
            <a:ext cx="854964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0" b="1" kern="0" spc="-150" dirty="0" err="1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디자인씽킹과</a:t>
            </a:r>
            <a:r>
              <a:rPr lang="en-US" sz="5100" b="1" kern="0" spc="-15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5100" b="1" kern="0" spc="-150" dirty="0" err="1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</a:t>
            </a:r>
            <a:r>
              <a:rPr lang="en-US" sz="5100" b="1" kern="0" spc="-150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</a:t>
            </a:r>
            <a:endParaRPr lang="en-US" sz="5100" dirty="0"/>
          </a:p>
        </p:txBody>
      </p:sp>
      <p:sp>
        <p:nvSpPr>
          <p:cNvPr id="9" name="Text 7"/>
          <p:cNvSpPr txBox="1"/>
          <p:nvPr/>
        </p:nvSpPr>
        <p:spPr>
          <a:xfrm>
            <a:off x="1228039" y="3375965"/>
            <a:ext cx="974476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kern="0" spc="-37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공감(Empathize)</a:t>
            </a:r>
            <a:r>
              <a:rPr lang="en-US" sz="27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2700" kern="0" spc="-37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정의(Define)</a:t>
            </a:r>
            <a:r>
              <a:rPr lang="en-US" sz="27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2700" kern="0" spc="-37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아이데이션(Ideate)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2506370" y="4508906"/>
            <a:ext cx="7181698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546941" y="6239038"/>
            <a:ext cx="200254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6456" y="6210692"/>
            <a:ext cx="11036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대상</a:t>
            </a:r>
            <a:endParaRPr lang="en-US" sz="15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44407" y="507949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38590" y="479603"/>
            <a:ext cx="319399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중심 문제해결 &amp; GenAI 활용</a:t>
            </a:r>
            <a:endParaRPr lang="en-US" sz="15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B6F974F2-91BE-9F40-A962-E676922DD0C7}"/>
              </a:ext>
            </a:extLst>
          </p:cNvPr>
          <p:cNvSpPr/>
          <p:nvPr/>
        </p:nvSpPr>
        <p:spPr>
          <a:xfrm>
            <a:off x="7659925" y="5745175"/>
            <a:ext cx="381305" cy="381305"/>
          </a:xfrm>
          <a:prstGeom prst="ellipse">
            <a:avLst/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4320AABE-0833-DF8C-A20C-62D883D483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7740393" y="5850331"/>
            <a:ext cx="219456" cy="171907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C3753747-08FF-1F90-5EAF-4734F14B7EAA}"/>
              </a:ext>
            </a:extLst>
          </p:cNvPr>
          <p:cNvSpPr txBox="1"/>
          <p:nvPr/>
        </p:nvSpPr>
        <p:spPr>
          <a:xfrm>
            <a:off x="8193932" y="5700827"/>
            <a:ext cx="3638397" cy="3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이애본</a:t>
            </a:r>
            <a:b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드림아이티비즈(DreamIT Biz)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/>
            </a:r>
            <a:b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hlinkClick r:id="rId6"/>
              </a:rPr>
              <a:t>aebon@dreamitbiz.com</a:t>
            </a: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lang="en-US" altLang="ko-KR" sz="15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399946"/>
            <a:ext cx="1066830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34866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800100"/>
            <a:ext cx="48170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학습목표와 진행 구성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1695" y="1705356"/>
            <a:ext cx="5143500" cy="4677156"/>
          </a:xfrm>
          <a:prstGeom prst="roundRect">
            <a:avLst>
              <a:gd name="adj" fmla="val 637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1705356"/>
            <a:ext cx="57607" cy="46771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6307" y="2495398"/>
            <a:ext cx="45527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86307" y="197144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2202" y="2048256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580998" y="1990649"/>
            <a:ext cx="23015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 &amp; 산출물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86307" y="2772461"/>
            <a:ext cx="45719" cy="66751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Text 12"/>
          <p:cNvSpPr txBox="1"/>
          <p:nvPr/>
        </p:nvSpPr>
        <p:spPr>
          <a:xfrm>
            <a:off x="1257300" y="2695651"/>
            <a:ext cx="463536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디자인씽킹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</a:t>
            </a:r>
            <a:endParaRPr lang="en-US" sz="14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중심의 문제해결 프로세스 습득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86307" y="3429000"/>
            <a:ext cx="45719" cy="66751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7" name="Text 14"/>
          <p:cNvSpPr txBox="1"/>
          <p:nvPr/>
        </p:nvSpPr>
        <p:spPr>
          <a:xfrm>
            <a:off x="1257300" y="3353105"/>
            <a:ext cx="546227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공감-정의-아이데이션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</a:t>
            </a:r>
            <a:endParaRPr lang="en-US" sz="14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도출부터 아이디어 발산까지 경험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86307" y="4086454"/>
            <a:ext cx="45719" cy="66751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Text 16"/>
          <p:cNvSpPr txBox="1"/>
          <p:nvPr/>
        </p:nvSpPr>
        <p:spPr>
          <a:xfrm>
            <a:off x="1257300" y="4009644"/>
            <a:ext cx="52749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GenAI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sz="14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AI를 도구로 활용해 결과물 고도화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86307" y="5838444"/>
            <a:ext cx="1214323" cy="277063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#인터뷰인사이트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285086" y="5838444"/>
            <a:ext cx="838505" cy="277063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#페르소나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117190" y="5838444"/>
            <a:ext cx="1090879" cy="277063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#아이디어보드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86500" y="1705356"/>
            <a:ext cx="5143500" cy="4677156"/>
          </a:xfrm>
          <a:prstGeom prst="roundRect">
            <a:avLst>
              <a:gd name="adj" fmla="val 637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286500" y="1705356"/>
            <a:ext cx="57607" cy="467715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6610198" y="2495398"/>
            <a:ext cx="45527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610198" y="197144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6672377" y="2048256"/>
            <a:ext cx="256946" cy="2286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105802" y="1990649"/>
            <a:ext cx="14237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&amp; 운영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6610198" y="2781605"/>
            <a:ext cx="62179" cy="57607"/>
          </a:xfrm>
          <a:prstGeom prst="ellipse">
            <a:avLst/>
          </a:prstGeom>
          <a:solidFill>
            <a:srgbClr val="7DD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0" name="Text 26"/>
          <p:cNvSpPr txBox="1"/>
          <p:nvPr/>
        </p:nvSpPr>
        <p:spPr>
          <a:xfrm>
            <a:off x="6782104" y="2695651"/>
            <a:ext cx="493622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(개념 +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디자인씽킹의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이해와 Empathize 단계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610198" y="3438144"/>
            <a:ext cx="62179" cy="57607"/>
          </a:xfrm>
          <a:prstGeom prst="ellipse">
            <a:avLst/>
          </a:prstGeom>
          <a:solidFill>
            <a:srgbClr val="7DD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2" name="Text 28"/>
          <p:cNvSpPr txBox="1"/>
          <p:nvPr/>
        </p:nvSpPr>
        <p:spPr>
          <a:xfrm>
            <a:off x="6782105" y="3353105"/>
            <a:ext cx="52749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(정의 +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아이데이션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Define, Ideate 단계 및 GenAI 활용 실습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6610198" y="5838444"/>
            <a:ext cx="1010412" cy="277063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#Interactive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7611466" y="5838444"/>
            <a:ext cx="972007" cy="277063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#Workshop</a:t>
            </a:r>
            <a:endParaRPr lang="en-US" sz="10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1352398"/>
            <a:ext cx="1104869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476402"/>
            <a:ext cx="4067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Thinking Definition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771754"/>
            <a:ext cx="54443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디자인씽킹이란 무엇인가?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71500" y="5829300"/>
            <a:ext cx="11048695" cy="552298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5829300"/>
            <a:ext cx="38405" cy="55229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28" r="-1528"/>
          <a:stretch/>
        </p:blipFill>
        <p:spPr>
          <a:xfrm>
            <a:off x="847649" y="6001207"/>
            <a:ext cx="161849" cy="20939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00607" y="5829300"/>
            <a:ext cx="77916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문제 해결 기술이 </a:t>
            </a:r>
            <a:r>
              <a:rPr lang="en-US" sz="1500" dirty="0" err="1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아닌</a:t>
            </a:r>
            <a:r>
              <a:rPr lang="en-US" sz="15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사람에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대한 공감</a:t>
            </a:r>
            <a:r>
              <a:rPr lang="en-US" sz="15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바탕으로 혁신을 만들어내는 사고의 태도입니다.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71500" y="1605686"/>
            <a:ext cx="5381244" cy="3238805"/>
          </a:xfrm>
          <a:prstGeom prst="roundRect">
            <a:avLst>
              <a:gd name="adj" fmla="val 1329"/>
            </a:avLst>
          </a:prstGeom>
          <a:solidFill>
            <a:srgbClr val="1E293B"/>
          </a:solidFill>
          <a:ln/>
          <a:effectLst>
            <a:outerShdw blurRad="139700" dist="1016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71500" y="1605686"/>
            <a:ext cx="5381244" cy="4754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33" r="-233"/>
          <a:stretch/>
        </p:blipFill>
        <p:spPr>
          <a:xfrm>
            <a:off x="761695" y="1844345"/>
            <a:ext cx="418795" cy="4764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38951" y="1605686"/>
            <a:ext cx="5381244" cy="3238805"/>
          </a:xfrm>
          <a:prstGeom prst="roundRect">
            <a:avLst>
              <a:gd name="adj" fmla="val 1329"/>
            </a:avLst>
          </a:prstGeom>
          <a:solidFill>
            <a:srgbClr val="1E293B"/>
          </a:solidFill>
          <a:ln/>
          <a:effectLst>
            <a:outerShdw blurRad="139700" dist="1016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38951" y="1605686"/>
            <a:ext cx="5381244" cy="47549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233" r="-233"/>
          <a:stretch/>
        </p:blipFill>
        <p:spPr>
          <a:xfrm>
            <a:off x="6429146" y="1844345"/>
            <a:ext cx="418795" cy="4764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7182" y="2555748"/>
            <a:ext cx="49917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“사람들의 필요를 기술적으로 가능하고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 err="1">
                <a:solidFill>
                  <a:srgbClr val="E2E8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사업으로 고객 가치가 될 수 있는 것과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 err="1">
                <a:solidFill>
                  <a:srgbClr val="E2E8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맞춰 내는, 디자이너의 방법” (Brown, 2008)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433718" y="2555748"/>
            <a:ext cx="49917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“사람 중심으로 직접 해 보며 문제를 풀면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 err="1">
                <a:solidFill>
                  <a:srgbClr val="E2E8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혁신이 생기고, 혁신은 차별화와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 err="1">
                <a:solidFill>
                  <a:srgbClr val="E2E8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경쟁 우위로 이어진다는 생각” (Gibbons, 2016)</a:t>
            </a:r>
            <a:endParaRPr lang="en-US" sz="1800" dirty="0"/>
          </a:p>
        </p:txBody>
      </p:sp>
      <p:sp>
        <p:nvSpPr>
          <p:cNvPr id="22" name="Stage3 Note"/>
          <p:cNvSpPr txBox="1"/>
          <p:nvPr/>
        </p:nvSpPr>
        <p:spPr>
          <a:xfrm>
            <a:off x="571500" y="6460000"/>
            <a:ext cx="11049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Brown, T. (2008). Design thinking. Harvard Business Review, 86(6), 84–92.  ·  Gibbons, S. (2016). Design thinking 101. Nielsen Norman Group. https://www.nngroup.com/articles/design-thinking/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123798"/>
            <a:ext cx="1066830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288036"/>
            <a:ext cx="39913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583387"/>
            <a:ext cx="472379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흐름</a:t>
            </a:r>
            <a:r>
              <a:rPr lang="en-US" sz="2800" b="1" dirty="0" err="1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2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1695" y="1429207"/>
            <a:ext cx="6067044" cy="4953305"/>
          </a:xfrm>
          <a:prstGeom prst="roundRect">
            <a:avLst>
              <a:gd name="adj" fmla="val 568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1429207"/>
            <a:ext cx="6067044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28700" y="2162556"/>
            <a:ext cx="5533949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8700" y="1805026"/>
            <a:ext cx="209398" cy="20939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52398" y="1752905"/>
            <a:ext cx="3072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순서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28700" y="2952598"/>
            <a:ext cx="5533949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2076602" y="2419502"/>
            <a:ext cx="298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도입: 디자인씽킹 &amp; AI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076602" y="2648102"/>
            <a:ext cx="34829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디자인씽킹의 핵심 개념과 생성형 AI의 역할 소개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28700" y="3600907"/>
            <a:ext cx="5533949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2076602" y="3066898"/>
            <a:ext cx="34408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핵심: 공감과 정의 (Empathize &amp; Define)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2076602" y="3295498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공감하기와 문제정의 단계 심층 이해 및 AI 활용 사례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28700" y="4248302"/>
            <a:ext cx="5533949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2076602" y="3715207"/>
            <a:ext cx="28931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미니 워크숍 (Ideation)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076602" y="3943807"/>
            <a:ext cx="34317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AI를 활용한 아이디어 발산 및 수렴 실습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28700" y="4895698"/>
            <a:ext cx="5533949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2076602" y="4362602"/>
            <a:ext cx="2397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정리: 발표 및 회고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076602" y="4591202"/>
            <a:ext cx="27496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조별 결과 공유 및 핵심 내용 리마인드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076602" y="5009998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 및 마무리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2076602" y="5238598"/>
            <a:ext cx="31290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질의응답 및 다음 단계 안내 (Optional)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208215" y="1429207"/>
            <a:ext cx="4229100" cy="4953305"/>
          </a:xfrm>
          <a:prstGeom prst="roundRect">
            <a:avLst>
              <a:gd name="adj" fmla="val 779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7208215" y="1429207"/>
            <a:ext cx="4229100" cy="57607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7475220" y="1752905"/>
            <a:ext cx="3810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 (Activities)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475220" y="2061972"/>
            <a:ext cx="3696005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7617866" y="2204618"/>
            <a:ext cx="190195" cy="152705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7923276" y="2061972"/>
            <a:ext cx="12938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인터뷰 실습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7475220" y="2595982"/>
            <a:ext cx="3696005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7617866" y="2738628"/>
            <a:ext cx="190195" cy="152705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7923276" y="2595982"/>
            <a:ext cx="104058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설정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7475220" y="3129077"/>
            <a:ext cx="3696005" cy="437998"/>
          </a:xfrm>
          <a:prstGeom prst="roundRect">
            <a:avLst>
              <a:gd name="adj" fmla="val 363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7866" y="3271723"/>
            <a:ext cx="152705" cy="152705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884871" y="3129077"/>
            <a:ext cx="12353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브레인스토밍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7475220" y="4833518"/>
            <a:ext cx="3810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 (Outputs)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7475220" y="5143500"/>
            <a:ext cx="3696005" cy="437998"/>
          </a:xfrm>
          <a:prstGeom prst="roundRect">
            <a:avLst>
              <a:gd name="adj" fmla="val 36307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7617866" y="5286146"/>
            <a:ext cx="114300" cy="152705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7846466" y="5143500"/>
            <a:ext cx="13267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문제정의서 (POV)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7475220" y="5676595"/>
            <a:ext cx="3696005" cy="437998"/>
          </a:xfrm>
          <a:prstGeom prst="roundRect">
            <a:avLst>
              <a:gd name="adj" fmla="val 36307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7617866" y="5820156"/>
            <a:ext cx="114300" cy="152705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7846466" y="5676595"/>
            <a:ext cx="104058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보드</a:t>
            </a:r>
            <a:endParaRPr lang="en-US" sz="1200" dirty="0"/>
          </a:p>
        </p:txBody>
      </p:sp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133856"/>
            <a:ext cx="1066830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316382"/>
            <a:ext cx="35341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Thinking Process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592531"/>
            <a:ext cx="481614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디자인씽킹 6단계 개요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238098" y="1733702"/>
            <a:ext cx="9715500" cy="38405"/>
          </a:xfrm>
          <a:prstGeom prst="roundRect">
            <a:avLst>
              <a:gd name="adj" fmla="val 1190470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238098" y="1733702"/>
            <a:ext cx="5124298" cy="38405"/>
          </a:xfrm>
          <a:prstGeom prst="roundRect">
            <a:avLst>
              <a:gd name="adj" fmla="val 119047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FE41740-404C-7CE1-E127-0E41215B6EC0}"/>
              </a:ext>
            </a:extLst>
          </p:cNvPr>
          <p:cNvGrpSpPr/>
          <p:nvPr/>
        </p:nvGrpSpPr>
        <p:grpSpPr>
          <a:xfrm>
            <a:off x="850514" y="2282499"/>
            <a:ext cx="1562202" cy="2689094"/>
            <a:chOff x="965606" y="2819094"/>
            <a:chExt cx="752727" cy="1295705"/>
          </a:xfrm>
        </p:grpSpPr>
        <p:sp>
          <p:nvSpPr>
            <p:cNvPr id="10" name="Shape 8"/>
            <p:cNvSpPr/>
            <p:nvPr/>
          </p:nvSpPr>
          <p:spPr>
            <a:xfrm>
              <a:off x="1046870" y="2937688"/>
              <a:ext cx="590198" cy="590198"/>
            </a:xfrm>
            <a:prstGeom prst="ellipse">
              <a:avLst/>
            </a:prstGeom>
            <a:solidFill>
              <a:srgbClr val="3B82F6"/>
            </a:solidFill>
            <a:ln w="38100">
              <a:solidFill>
                <a:srgbClr val="60A5FA"/>
              </a:solidFill>
              <a:prstDash val="solid"/>
            </a:ln>
            <a:effectLst>
              <a:outerShdw blurRad="139700" dist="12700" dir="16200000" algn="bl" rotWithShape="0">
                <a:srgbClr val="3B82F6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 sz="2800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243466" y="3135515"/>
              <a:ext cx="197006" cy="197006"/>
            </a:xfrm>
            <a:prstGeom prst="rect">
              <a:avLst/>
            </a:prstGeom>
          </p:spPr>
        </p:pic>
        <p:sp>
          <p:nvSpPr>
            <p:cNvPr id="12" name="Shape 9"/>
            <p:cNvSpPr/>
            <p:nvPr/>
          </p:nvSpPr>
          <p:spPr>
            <a:xfrm>
              <a:off x="1239362" y="2819094"/>
              <a:ext cx="205215" cy="205215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3" name="Text 10"/>
            <p:cNvSpPr txBox="1"/>
            <p:nvPr/>
          </p:nvSpPr>
          <p:spPr>
            <a:xfrm>
              <a:off x="1273428" y="2838637"/>
              <a:ext cx="137084" cy="162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965606" y="3644447"/>
              <a:ext cx="752727" cy="256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공감하기</a:t>
              </a:r>
              <a:endParaRPr lang="en-US" sz="20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965606" y="3935031"/>
              <a:ext cx="752727" cy="17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38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Empathize</a:t>
              </a:r>
              <a:endParaRPr lang="en-US" sz="1200" dirty="0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BA22ABB-B188-33CB-81DA-1A23FA03F251}"/>
              </a:ext>
            </a:extLst>
          </p:cNvPr>
          <p:cNvGrpSpPr/>
          <p:nvPr/>
        </p:nvGrpSpPr>
        <p:grpSpPr>
          <a:xfrm>
            <a:off x="2711792" y="2282499"/>
            <a:ext cx="1514504" cy="2689094"/>
            <a:chOff x="2555683" y="2819094"/>
            <a:chExt cx="729744" cy="1295705"/>
          </a:xfrm>
        </p:grpSpPr>
        <p:sp>
          <p:nvSpPr>
            <p:cNvPr id="16" name="Shape 13"/>
            <p:cNvSpPr/>
            <p:nvPr/>
          </p:nvSpPr>
          <p:spPr>
            <a:xfrm>
              <a:off x="2625456" y="2937688"/>
              <a:ext cx="590198" cy="590198"/>
            </a:xfrm>
            <a:prstGeom prst="ellipse">
              <a:avLst/>
            </a:prstGeom>
            <a:solidFill>
              <a:srgbClr val="3B82F6"/>
            </a:solidFill>
            <a:ln w="38100">
              <a:solidFill>
                <a:srgbClr val="60A5FA"/>
              </a:solidFill>
              <a:prstDash val="solid"/>
            </a:ln>
            <a:effectLst>
              <a:outerShdw blurRad="139700" dist="12700" dir="16200000" algn="bl" rotWithShape="0">
                <a:srgbClr val="3B82F6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 sz="2800"/>
            </a:p>
          </p:txBody>
        </p:sp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822052" y="3135515"/>
              <a:ext cx="197006" cy="197006"/>
            </a:xfrm>
            <a:prstGeom prst="rect">
              <a:avLst/>
            </a:prstGeom>
          </p:spPr>
        </p:pic>
        <p:sp>
          <p:nvSpPr>
            <p:cNvPr id="18" name="Shape 14"/>
            <p:cNvSpPr/>
            <p:nvPr/>
          </p:nvSpPr>
          <p:spPr>
            <a:xfrm>
              <a:off x="2817948" y="2819094"/>
              <a:ext cx="205215" cy="205215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2852014" y="2838637"/>
              <a:ext cx="137084" cy="162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20" name="Text 16"/>
            <p:cNvSpPr txBox="1"/>
            <p:nvPr/>
          </p:nvSpPr>
          <p:spPr>
            <a:xfrm>
              <a:off x="2555683" y="3644447"/>
              <a:ext cx="729744" cy="256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문제정의</a:t>
              </a:r>
              <a:endParaRPr lang="en-US" sz="2000" dirty="0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2569638" y="3935031"/>
              <a:ext cx="701834" cy="17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38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Define</a:t>
              </a:r>
              <a:endParaRPr lang="en-US" sz="1200" dirty="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E613050-B17E-3F70-36E7-B125B76939CA}"/>
              </a:ext>
            </a:extLst>
          </p:cNvPr>
          <p:cNvGrpSpPr/>
          <p:nvPr/>
        </p:nvGrpSpPr>
        <p:grpSpPr>
          <a:xfrm>
            <a:off x="4525372" y="2282499"/>
            <a:ext cx="1514504" cy="2689094"/>
            <a:chOff x="4248294" y="2819094"/>
            <a:chExt cx="729744" cy="1295705"/>
          </a:xfrm>
        </p:grpSpPr>
        <p:sp>
          <p:nvSpPr>
            <p:cNvPr id="22" name="Shape 18"/>
            <p:cNvSpPr/>
            <p:nvPr/>
          </p:nvSpPr>
          <p:spPr>
            <a:xfrm>
              <a:off x="4318067" y="2937688"/>
              <a:ext cx="590198" cy="590198"/>
            </a:xfrm>
            <a:prstGeom prst="ellipse">
              <a:avLst/>
            </a:prstGeom>
            <a:solidFill>
              <a:srgbClr val="3B82F6"/>
            </a:solidFill>
            <a:ln w="38100">
              <a:solidFill>
                <a:srgbClr val="60A5FA"/>
              </a:solidFill>
              <a:prstDash val="solid"/>
            </a:ln>
            <a:effectLst>
              <a:outerShdw blurRad="139700" dist="12700" dir="16200000" algn="bl" rotWithShape="0">
                <a:srgbClr val="3B82F6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 sz="2800"/>
            </a:p>
          </p:txBody>
        </p:sp>
        <p:pic>
          <p:nvPicPr>
            <p:cNvPr id="23" name="Image 2" descr="preencoded.png"/>
            <p:cNvPicPr>
              <a:picLocks noChangeAspect="1"/>
            </p:cNvPicPr>
            <p:nvPr/>
          </p:nvPicPr>
          <p:blipFill>
            <a:blip r:embed="rId5"/>
            <a:srcRect t="-847" b="-847"/>
            <a:stretch/>
          </p:blipFill>
          <p:spPr>
            <a:xfrm>
              <a:off x="4540520" y="3135515"/>
              <a:ext cx="145292" cy="197006"/>
            </a:xfrm>
            <a:prstGeom prst="rect">
              <a:avLst/>
            </a:prstGeom>
          </p:spPr>
        </p:pic>
        <p:sp>
          <p:nvSpPr>
            <p:cNvPr id="24" name="Shape 19"/>
            <p:cNvSpPr/>
            <p:nvPr/>
          </p:nvSpPr>
          <p:spPr>
            <a:xfrm>
              <a:off x="4510558" y="2819094"/>
              <a:ext cx="205215" cy="205215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4544624" y="2838637"/>
              <a:ext cx="137084" cy="162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4248294" y="3644447"/>
              <a:ext cx="729744" cy="256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아이디어</a:t>
              </a:r>
              <a:endParaRPr lang="en-US" sz="2000" dirty="0"/>
            </a:p>
          </p:txBody>
        </p:sp>
        <p:sp>
          <p:nvSpPr>
            <p:cNvPr id="27" name="Text 22"/>
            <p:cNvSpPr txBox="1"/>
            <p:nvPr/>
          </p:nvSpPr>
          <p:spPr>
            <a:xfrm>
              <a:off x="4262248" y="3935031"/>
              <a:ext cx="701834" cy="17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38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Ideate</a:t>
              </a:r>
              <a:endParaRPr lang="en-US" sz="1200" dirty="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19078DC-66AE-6421-F90F-A0B36236394B}"/>
              </a:ext>
            </a:extLst>
          </p:cNvPr>
          <p:cNvGrpSpPr/>
          <p:nvPr/>
        </p:nvGrpSpPr>
        <p:grpSpPr>
          <a:xfrm>
            <a:off x="5999318" y="2282499"/>
            <a:ext cx="1890999" cy="2689094"/>
            <a:chOff x="5848968" y="2819094"/>
            <a:chExt cx="911153" cy="1295705"/>
          </a:xfrm>
        </p:grpSpPr>
        <p:sp>
          <p:nvSpPr>
            <p:cNvPr id="28" name="Shape 23"/>
            <p:cNvSpPr/>
            <p:nvPr/>
          </p:nvSpPr>
          <p:spPr>
            <a:xfrm>
              <a:off x="6026684" y="2951642"/>
              <a:ext cx="555721" cy="555721"/>
            </a:xfrm>
            <a:prstGeom prst="ellipse">
              <a:avLst/>
            </a:prstGeom>
            <a:solidFill>
              <a:srgbClr val="1E293B"/>
            </a:solidFill>
            <a:ln w="38100">
              <a:solidFill>
                <a:srgbClr val="475569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 sz="2800"/>
            </a:p>
          </p:txBody>
        </p:sp>
        <p:pic>
          <p:nvPicPr>
            <p:cNvPr id="29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219175" y="3144544"/>
              <a:ext cx="170738" cy="170738"/>
            </a:xfrm>
            <a:prstGeom prst="rect">
              <a:avLst/>
            </a:prstGeom>
          </p:spPr>
        </p:pic>
        <p:sp>
          <p:nvSpPr>
            <p:cNvPr id="30" name="Text 24"/>
            <p:cNvSpPr txBox="1"/>
            <p:nvPr/>
          </p:nvSpPr>
          <p:spPr>
            <a:xfrm>
              <a:off x="5848968" y="3644447"/>
              <a:ext cx="911153" cy="256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프로토타입</a:t>
              </a:r>
              <a:endParaRPr lang="en-US" sz="20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5876877" y="3935031"/>
              <a:ext cx="855335" cy="17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38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Prototype</a:t>
              </a:r>
              <a:endParaRPr lang="en-US" sz="1200" dirty="0"/>
            </a:p>
          </p:txBody>
        </p:sp>
        <p:sp>
          <p:nvSpPr>
            <p:cNvPr id="40" name="Shape 32"/>
            <p:cNvSpPr/>
            <p:nvPr/>
          </p:nvSpPr>
          <p:spPr>
            <a:xfrm>
              <a:off x="6210555" y="2819094"/>
              <a:ext cx="187977" cy="187977"/>
            </a:xfrm>
            <a:prstGeom prst="ellipse">
              <a:avLst/>
            </a:prstGeom>
            <a:solidFill>
              <a:srgbClr val="4755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41" name="Text 33"/>
            <p:cNvSpPr txBox="1"/>
            <p:nvPr/>
          </p:nvSpPr>
          <p:spPr>
            <a:xfrm>
              <a:off x="6236003" y="2838637"/>
              <a:ext cx="137084" cy="1543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</a:t>
              </a:r>
              <a:endParaRPr lang="en-US" sz="1100" dirty="0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379C60A-432F-06D3-E9F2-5B36BA29C0D7}"/>
              </a:ext>
            </a:extLst>
          </p:cNvPr>
          <p:cNvGrpSpPr/>
          <p:nvPr/>
        </p:nvGrpSpPr>
        <p:grpSpPr>
          <a:xfrm>
            <a:off x="8071827" y="2282499"/>
            <a:ext cx="1153337" cy="2689093"/>
            <a:chOff x="7764441" y="2819094"/>
            <a:chExt cx="555721" cy="1295705"/>
          </a:xfrm>
        </p:grpSpPr>
        <p:sp>
          <p:nvSpPr>
            <p:cNvPr id="32" name="Shape 26"/>
            <p:cNvSpPr/>
            <p:nvPr/>
          </p:nvSpPr>
          <p:spPr>
            <a:xfrm>
              <a:off x="7764441" y="2951642"/>
              <a:ext cx="555721" cy="555721"/>
            </a:xfrm>
            <a:prstGeom prst="ellipse">
              <a:avLst/>
            </a:prstGeom>
            <a:solidFill>
              <a:srgbClr val="1E293B"/>
            </a:solidFill>
            <a:ln w="38100">
              <a:solidFill>
                <a:srgbClr val="475569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 sz="2800"/>
            </a:p>
          </p:txBody>
        </p:sp>
        <p:pic>
          <p:nvPicPr>
            <p:cNvPr id="33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956933" y="3144544"/>
              <a:ext cx="170738" cy="170738"/>
            </a:xfrm>
            <a:prstGeom prst="rect">
              <a:avLst/>
            </a:prstGeom>
          </p:spPr>
        </p:pic>
        <p:sp>
          <p:nvSpPr>
            <p:cNvPr id="34" name="Text 27"/>
            <p:cNvSpPr txBox="1"/>
            <p:nvPr/>
          </p:nvSpPr>
          <p:spPr>
            <a:xfrm>
              <a:off x="7768546" y="3644447"/>
              <a:ext cx="547513" cy="256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테스트</a:t>
              </a:r>
              <a:endParaRPr lang="en-US" sz="2000" dirty="0"/>
            </a:p>
          </p:txBody>
        </p:sp>
        <p:sp>
          <p:nvSpPr>
            <p:cNvPr id="35" name="Text 28"/>
            <p:cNvSpPr txBox="1"/>
            <p:nvPr/>
          </p:nvSpPr>
          <p:spPr>
            <a:xfrm>
              <a:off x="7768546" y="3935031"/>
              <a:ext cx="547513" cy="17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38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Test</a:t>
              </a:r>
              <a:endParaRPr lang="en-US" sz="1200" dirty="0"/>
            </a:p>
          </p:txBody>
        </p:sp>
        <p:sp>
          <p:nvSpPr>
            <p:cNvPr id="42" name="Shape 34"/>
            <p:cNvSpPr/>
            <p:nvPr/>
          </p:nvSpPr>
          <p:spPr>
            <a:xfrm>
              <a:off x="7948313" y="2819094"/>
              <a:ext cx="187977" cy="187977"/>
            </a:xfrm>
            <a:prstGeom prst="ellipse">
              <a:avLst/>
            </a:prstGeom>
            <a:solidFill>
              <a:srgbClr val="4755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43" name="Text 35"/>
            <p:cNvSpPr txBox="1"/>
            <p:nvPr/>
          </p:nvSpPr>
          <p:spPr>
            <a:xfrm>
              <a:off x="7973760" y="2838637"/>
              <a:ext cx="137084" cy="1543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5</a:t>
              </a:r>
              <a:endParaRPr lang="en-US" sz="1100" dirty="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7F8FF3C-67C7-5D07-45C2-33BBAB8B0327}"/>
              </a:ext>
            </a:extLst>
          </p:cNvPr>
          <p:cNvGrpSpPr/>
          <p:nvPr/>
        </p:nvGrpSpPr>
        <p:grpSpPr>
          <a:xfrm>
            <a:off x="9781142" y="2282499"/>
            <a:ext cx="1172076" cy="2689094"/>
            <a:chOff x="8859533" y="2819094"/>
            <a:chExt cx="564750" cy="1295705"/>
          </a:xfrm>
        </p:grpSpPr>
        <p:sp>
          <p:nvSpPr>
            <p:cNvPr id="36" name="Shape 29"/>
            <p:cNvSpPr/>
            <p:nvPr/>
          </p:nvSpPr>
          <p:spPr>
            <a:xfrm>
              <a:off x="8864047" y="2951642"/>
              <a:ext cx="555721" cy="555721"/>
            </a:xfrm>
            <a:prstGeom prst="ellipse">
              <a:avLst/>
            </a:prstGeom>
            <a:solidFill>
              <a:srgbClr val="1E293B"/>
            </a:solidFill>
            <a:ln w="38100">
              <a:solidFill>
                <a:srgbClr val="475569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 sz="2800"/>
            </a:p>
          </p:txBody>
        </p:sp>
        <p:pic>
          <p:nvPicPr>
            <p:cNvPr id="37" name="Image 5" descr="preencoded.png"/>
            <p:cNvPicPr>
              <a:picLocks noChangeAspect="1"/>
            </p:cNvPicPr>
            <p:nvPr/>
          </p:nvPicPr>
          <p:blipFill>
            <a:blip r:embed="rId8"/>
            <a:srcRect l="-1648" r="-1648"/>
            <a:stretch/>
          </p:blipFill>
          <p:spPr>
            <a:xfrm>
              <a:off x="9064747" y="3144544"/>
              <a:ext cx="154321" cy="170738"/>
            </a:xfrm>
            <a:prstGeom prst="rect">
              <a:avLst/>
            </a:prstGeom>
          </p:spPr>
        </p:pic>
        <p:sp>
          <p:nvSpPr>
            <p:cNvPr id="38" name="Text 30"/>
            <p:cNvSpPr txBox="1"/>
            <p:nvPr/>
          </p:nvSpPr>
          <p:spPr>
            <a:xfrm>
              <a:off x="8859533" y="3644447"/>
              <a:ext cx="564750" cy="256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실현</a:t>
              </a:r>
              <a:endParaRPr lang="en-US" sz="2000" dirty="0"/>
            </a:p>
          </p:txBody>
        </p:sp>
        <p:sp>
          <p:nvSpPr>
            <p:cNvPr id="39" name="Text 31"/>
            <p:cNvSpPr txBox="1"/>
            <p:nvPr/>
          </p:nvSpPr>
          <p:spPr>
            <a:xfrm>
              <a:off x="8859533" y="3935031"/>
              <a:ext cx="564750" cy="17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38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Implement</a:t>
              </a:r>
              <a:endParaRPr lang="en-US" sz="1200" dirty="0"/>
            </a:p>
          </p:txBody>
        </p:sp>
        <p:sp>
          <p:nvSpPr>
            <p:cNvPr id="44" name="Shape 36"/>
            <p:cNvSpPr/>
            <p:nvPr/>
          </p:nvSpPr>
          <p:spPr>
            <a:xfrm>
              <a:off x="9047919" y="2819094"/>
              <a:ext cx="187977" cy="187977"/>
            </a:xfrm>
            <a:prstGeom prst="ellipse">
              <a:avLst/>
            </a:prstGeom>
            <a:solidFill>
              <a:srgbClr val="4755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45" name="Text 37"/>
            <p:cNvSpPr txBox="1"/>
            <p:nvPr/>
          </p:nvSpPr>
          <p:spPr>
            <a:xfrm>
              <a:off x="9073366" y="2838637"/>
              <a:ext cx="137084" cy="1543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</a:t>
              </a:r>
              <a:endParaRPr lang="en-US" sz="1100" dirty="0"/>
            </a:p>
          </p:txBody>
        </p:sp>
      </p:grpSp>
      <p:sp>
        <p:nvSpPr>
          <p:cNvPr id="46" name="Shape 38"/>
          <p:cNvSpPr/>
          <p:nvPr/>
        </p:nvSpPr>
        <p:spPr>
          <a:xfrm>
            <a:off x="761695" y="5600700"/>
            <a:ext cx="10668305" cy="780898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9"/>
          <p:cNvSpPr/>
          <p:nvPr/>
        </p:nvSpPr>
        <p:spPr>
          <a:xfrm>
            <a:off x="761695" y="5600700"/>
            <a:ext cx="38405" cy="78089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0"/>
          <p:cNvSpPr txBox="1"/>
          <p:nvPr/>
        </p:nvSpPr>
        <p:spPr>
          <a:xfrm>
            <a:off x="1505102" y="5869534"/>
            <a:ext cx="852678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강의에서는 </a:t>
            </a: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 - 정의 - 아이데이션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앞 3단계에 집중하여 문제해결의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기초를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다집니다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86307" y="5886907"/>
            <a:ext cx="228600" cy="228600"/>
          </a:xfrm>
          <a:prstGeom prst="rect">
            <a:avLst/>
          </a:prstGeom>
        </p:spPr>
      </p:pic>
      <p:sp>
        <p:nvSpPr>
          <p:cNvPr id="62" name="Stage3 Note"/>
          <p:cNvSpPr txBox="1"/>
          <p:nvPr/>
        </p:nvSpPr>
        <p:spPr>
          <a:xfrm>
            <a:off x="571500" y="6420000"/>
            <a:ext cx="11049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6단계 구성은 Gibbons(2016)를 따른다. 스탠퍼드 d.school 은 공감~테스트의 5단계로 설명한다(Design Thinking Bootleg).  Gibbons, S. (2016). Design thinking 101. Nielsen Norman Group. https://www.nngroup.com/articles/design-thinking/</a:t>
            </a:r>
          </a:p>
        </p:txBody>
      </p:sp>
      <p:sp>
        <p:nvSpPr>
          <p:cNvPr id="6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429500" y="2095805"/>
            <a:ext cx="5715000" cy="57150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76402" y="913290"/>
            <a:ext cx="172913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375" dirty="0">
                <a:ln w="19050">
                  <a:solidFill>
                    <a:srgbClr val="3B82F6"/>
                  </a:solidFill>
                </a:ln>
                <a:solidFill>
                  <a:srgbClr val="1E293B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500" dirty="0"/>
          </a:p>
        </p:txBody>
      </p:sp>
      <p:sp>
        <p:nvSpPr>
          <p:cNvPr id="7" name="Text 5"/>
          <p:cNvSpPr txBox="1"/>
          <p:nvPr/>
        </p:nvSpPr>
        <p:spPr>
          <a:xfrm>
            <a:off x="2247900" y="1809598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1500" y="4025189"/>
            <a:ext cx="952805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71500" y="4463186"/>
            <a:ext cx="7049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경험을 깊이 있게 이해하고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숨겨진 니즈와 인사이트를 발견하는 과정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2514" y="1514246"/>
            <a:ext cx="9144" cy="411480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33158" y="1814170"/>
            <a:ext cx="4305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33158" y="2385670"/>
            <a:ext cx="4190695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671816" y="254294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95260" y="2667305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38414" y="2490826"/>
            <a:ext cx="1594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338414" y="2757830"/>
            <a:ext cx="183337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맥락 이해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33158" y="3366821"/>
            <a:ext cx="4190695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671816" y="3524098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7780630" y="3648456"/>
            <a:ext cx="256946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338414" y="3471977"/>
            <a:ext cx="2088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산출물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8338414" y="3738982"/>
            <a:ext cx="246796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 지도 &amp; 주요 니즈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433158" y="4347972"/>
            <a:ext cx="4190695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7671816" y="450524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7766914" y="4629607"/>
            <a:ext cx="286207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338414" y="4453128"/>
            <a:ext cx="1862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방식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338414" y="4719218"/>
            <a:ext cx="237286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· 인터뷰 · 경험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" y="2222906"/>
            <a:ext cx="65919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+ 공감</a:t>
            </a:r>
            <a:endParaRPr lang="en-US" sz="5400" dirty="0"/>
          </a:p>
        </p:txBody>
      </p:sp>
      <p:sp>
        <p:nvSpPr>
          <p:cNvPr id="28" name="Text 23"/>
          <p:cNvSpPr txBox="1"/>
          <p:nvPr/>
        </p:nvSpPr>
        <p:spPr>
          <a:xfrm>
            <a:off x="571500" y="3072384"/>
            <a:ext cx="6477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Empathize Phase</a:t>
            </a:r>
            <a:endParaRPr lang="en-US" sz="30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028700"/>
            <a:ext cx="1066830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208483"/>
            <a:ext cx="857707" cy="247802"/>
          </a:xfrm>
          <a:prstGeom prst="roundRect">
            <a:avLst>
              <a:gd name="adj" fmla="val 283849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80490" y="589686"/>
            <a:ext cx="36841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공감하기 (Empathize)</a:t>
            </a:r>
            <a:endParaRPr lang="en-US" sz="2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626262"/>
            <a:ext cx="304495" cy="3044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7707" y="236830"/>
            <a:ext cx="7434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61695" y="1238098"/>
            <a:ext cx="5181905" cy="5238598"/>
          </a:xfrm>
          <a:prstGeom prst="roundRect">
            <a:avLst>
              <a:gd name="adj" fmla="val 51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1238098"/>
            <a:ext cx="5181905" cy="4754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028700" y="1981505"/>
            <a:ext cx="46478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461" r="-461"/>
          <a:stretch/>
        </p:blipFill>
        <p:spPr>
          <a:xfrm>
            <a:off x="1028700" y="1604772"/>
            <a:ext cx="237744" cy="2093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62456" y="1552651"/>
            <a:ext cx="196778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및 방법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28700" y="220004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1114654" y="2295144"/>
            <a:ext cx="171907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85900" y="2180844"/>
            <a:ext cx="35058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(Observation)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485900" y="2467051"/>
            <a:ext cx="40315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행동 패턴과 숨겨진 니즈를 제3자의 눈으로 발견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028700" y="2842870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1104595" y="2938882"/>
            <a:ext cx="19019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85900" y="2824582"/>
            <a:ext cx="3543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인터뷰 (Interview)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485900" y="3109874"/>
            <a:ext cx="4134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대화를 통해 "왜(Why)"라는 질문으로 심층 심리 파악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1028700" y="3486607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1152144" y="3581705"/>
            <a:ext cx="95098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85900" y="3467405"/>
            <a:ext cx="34198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체험 (Experience)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485900" y="3752698"/>
            <a:ext cx="39456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환경에 직접 들어가 불편함을 몸소 느끼는 과정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1028700" y="5529377"/>
            <a:ext cx="4647895" cy="685800"/>
          </a:xfrm>
          <a:prstGeom prst="roundRect">
            <a:avLst>
              <a:gd name="adj" fmla="val 1851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139342" y="5652821"/>
            <a:ext cx="21899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Sympathy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097280" y="5857646"/>
            <a:ext cx="2274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동정 (불쌍함)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3386938" y="5652821"/>
            <a:ext cx="21899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Empathy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3344875" y="5857646"/>
            <a:ext cx="2274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 (상대 입장에서 느끼기)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229807" y="1238098"/>
            <a:ext cx="5201107" cy="5238598"/>
          </a:xfrm>
          <a:prstGeom prst="roundRect">
            <a:avLst>
              <a:gd name="adj" fmla="val 51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229807" y="1238098"/>
            <a:ext cx="5201107" cy="47549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6505956" y="1981505"/>
            <a:ext cx="46478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l="-1004" r="-1004"/>
          <a:stretch/>
        </p:blipFill>
        <p:spPr>
          <a:xfrm>
            <a:off x="6505956" y="1604772"/>
            <a:ext cx="267005" cy="20939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867144" y="1552651"/>
            <a:ext cx="1662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활용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6505956" y="2180844"/>
            <a:ext cx="4647895" cy="1076249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0"/>
          <p:cNvSpPr/>
          <p:nvPr/>
        </p:nvSpPr>
        <p:spPr>
          <a:xfrm>
            <a:off x="6505956" y="2180844"/>
            <a:ext cx="28346" cy="1076249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1"/>
          <p:cNvSpPr txBox="1"/>
          <p:nvPr/>
        </p:nvSpPr>
        <p:spPr>
          <a:xfrm>
            <a:off x="6933895" y="2295144"/>
            <a:ext cx="4239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DD6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인터뷰 질문 생성</a:t>
            </a:r>
            <a:endParaRPr lang="en-US" sz="12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05295" y="2333549"/>
            <a:ext cx="152705" cy="152705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6705295" y="2581351"/>
            <a:ext cx="4276649" cy="562356"/>
          </a:xfrm>
          <a:prstGeom prst="roundRect">
            <a:avLst>
              <a:gd name="adj" fmla="val 1653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3"/>
          <p:cNvSpPr/>
          <p:nvPr/>
        </p:nvSpPr>
        <p:spPr>
          <a:xfrm>
            <a:off x="6505956" y="3395167"/>
            <a:ext cx="4647895" cy="1076249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6505956" y="3395167"/>
            <a:ext cx="28346" cy="1076249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5"/>
          <p:cNvSpPr txBox="1"/>
          <p:nvPr/>
        </p:nvSpPr>
        <p:spPr>
          <a:xfrm>
            <a:off x="6895490" y="3509467"/>
            <a:ext cx="4277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DD6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요약 및 감정 분석</a:t>
            </a:r>
            <a:endParaRPr lang="en-US" sz="12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6705295" y="3546958"/>
            <a:ext cx="114300" cy="152705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6705295" y="3794760"/>
            <a:ext cx="4276649" cy="562356"/>
          </a:xfrm>
          <a:prstGeom prst="roundRect">
            <a:avLst>
              <a:gd name="adj" fmla="val 1653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7"/>
          <p:cNvSpPr/>
          <p:nvPr/>
        </p:nvSpPr>
        <p:spPr>
          <a:xfrm>
            <a:off x="6505956" y="5606186"/>
            <a:ext cx="4647895" cy="599846"/>
          </a:xfrm>
          <a:prstGeom prst="roundRect">
            <a:avLst>
              <a:gd name="adj" fmla="val 1935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57746" y="5739689"/>
            <a:ext cx="171907" cy="171907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924751" y="5730545"/>
            <a:ext cx="63057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</a:t>
            </a:r>
            <a:r>
              <a:rPr lang="en-US" sz="9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데이터 기반의 추론만 가능합니다. 실제 사용자의 미묘한 뉘앙스나 </a:t>
            </a:r>
            <a:r>
              <a:rPr lang="en-US" sz="900" dirty="0" err="1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표정은</a:t>
            </a:r>
            <a:r>
              <a:rPr lang="en-US" sz="9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</a:t>
            </a:r>
            <a:r>
              <a:rPr lang="en-US" sz="9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확인해야 하며, AI의 분석 결과를 맹신하지 마세요.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3277210" y="5777179"/>
            <a:ext cx="228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6829654" y="2695651"/>
            <a:ext cx="614842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"대학생들의 [수강신청] 경험과 관련된 불편함을 깊이 파악하고 싶어. 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심층</a:t>
            </a: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인터뷰를 위한 질문 리스트 10개를 만들어줘."</a:t>
            </a:r>
            <a:endParaRPr lang="en-US" sz="900" dirty="0"/>
          </a:p>
        </p:txBody>
      </p:sp>
      <p:sp>
        <p:nvSpPr>
          <p:cNvPr id="52" name="Text 41"/>
          <p:cNvSpPr txBox="1"/>
          <p:nvPr/>
        </p:nvSpPr>
        <p:spPr>
          <a:xfrm>
            <a:off x="6829654" y="3909060"/>
            <a:ext cx="593628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"다음 인터뷰 내용에서 사용자가 느낀 핵심 감정(Emotion) 3가지와 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가장</a:t>
            </a: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큰 페인포인트를 요약해줘."</a:t>
            </a:r>
            <a:endParaRPr lang="en-US" sz="900" dirty="0"/>
          </a:p>
        </p:txBody>
      </p:sp>
      <p:sp>
        <p:nvSpPr>
          <p:cNvPr id="5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1190549"/>
            <a:ext cx="1104869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44293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Activity Canvas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57454"/>
            <a:ext cx="602406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실습: 인터뷰 → 인사이트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545317" y="610819"/>
            <a:ext cx="128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소요시간: 20분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1747" y="658368"/>
            <a:ext cx="152705" cy="15270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1087" b="-1087"/>
          <a:stretch/>
        </p:blipFill>
        <p:spPr>
          <a:xfrm>
            <a:off x="3183941" y="3848710"/>
            <a:ext cx="105156" cy="171907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t="-1087" b="-1087"/>
          <a:stretch/>
        </p:blipFill>
        <p:spPr>
          <a:xfrm>
            <a:off x="6043270" y="3848710"/>
            <a:ext cx="105156" cy="17190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t="-1087" b="-1087"/>
          <a:stretch/>
        </p:blipFill>
        <p:spPr>
          <a:xfrm>
            <a:off x="8903513" y="3848710"/>
            <a:ext cx="105156" cy="17190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71500" y="1392631"/>
            <a:ext cx="2476195" cy="5086807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571500" y="1392631"/>
            <a:ext cx="247619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743407" y="1297534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 txBox="1"/>
          <p:nvPr/>
        </p:nvSpPr>
        <p:spPr>
          <a:xfrm>
            <a:off x="836676" y="1330452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780898" y="1687982"/>
            <a:ext cx="115671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인터뷰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Interview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2321662" y="1687982"/>
            <a:ext cx="514807" cy="247802"/>
          </a:xfrm>
          <a:prstGeom prst="roundRect">
            <a:avLst>
              <a:gd name="adj" fmla="val 28384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97557" y="1747418"/>
            <a:ext cx="123444" cy="1234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569464" y="1687982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7분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 l="-775" r="-775"/>
          <a:stretch/>
        </p:blipFill>
        <p:spPr>
          <a:xfrm>
            <a:off x="1648663" y="2307031"/>
            <a:ext cx="314554" cy="247802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80898" y="2714854"/>
            <a:ext cx="2057400" cy="3552444"/>
          </a:xfrm>
          <a:prstGeom prst="roundRect">
            <a:avLst>
              <a:gd name="adj" fmla="val 205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914400" y="2876702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1143000" y="2848356"/>
            <a:ext cx="1700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짝과 역할 나누기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(사용자 / 인터뷰어)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914400" y="3325673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7"/>
          <p:cNvSpPr txBox="1"/>
          <p:nvPr/>
        </p:nvSpPr>
        <p:spPr>
          <a:xfrm>
            <a:off x="1143000" y="3210001"/>
            <a:ext cx="226954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경험한 '불편함' 스토리 듣기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914400" y="3775558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 txBox="1"/>
          <p:nvPr/>
        </p:nvSpPr>
        <p:spPr>
          <a:xfrm>
            <a:off x="1139800" y="3795445"/>
            <a:ext cx="997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"왜?" 3번 묻기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3431743" y="1392631"/>
            <a:ext cx="2476195" cy="5086807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3431743" y="1392631"/>
            <a:ext cx="247619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2"/>
          <p:cNvSpPr/>
          <p:nvPr/>
        </p:nvSpPr>
        <p:spPr>
          <a:xfrm>
            <a:off x="3602736" y="1297534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 txBox="1"/>
          <p:nvPr/>
        </p:nvSpPr>
        <p:spPr>
          <a:xfrm>
            <a:off x="3696919" y="1330452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3641141" y="1687982"/>
            <a:ext cx="96377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관찰/메모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5181905" y="1687982"/>
            <a:ext cx="514807" cy="247802"/>
          </a:xfrm>
          <a:prstGeom prst="roundRect">
            <a:avLst>
              <a:gd name="adj" fmla="val 28384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7800" y="1747418"/>
            <a:ext cx="123444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428793" y="1687982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endParaRPr lang="en-US" sz="9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rcRect l="-1169" r="-1169"/>
          <a:stretch/>
        </p:blipFill>
        <p:spPr>
          <a:xfrm>
            <a:off x="4571086" y="2307031"/>
            <a:ext cx="190195" cy="247802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3641141" y="2714854"/>
            <a:ext cx="2057400" cy="3552444"/>
          </a:xfrm>
          <a:prstGeom prst="roundRect">
            <a:avLst>
              <a:gd name="adj" fmla="val 205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8"/>
          <p:cNvSpPr/>
          <p:nvPr/>
        </p:nvSpPr>
        <p:spPr>
          <a:xfrm>
            <a:off x="3774643" y="2876702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/>
          <p:cNvSpPr txBox="1"/>
          <p:nvPr/>
        </p:nvSpPr>
        <p:spPr>
          <a:xfrm>
            <a:off x="4003243" y="2848356"/>
            <a:ext cx="11311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키워드 기록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3774643" y="3139135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1"/>
          <p:cNvSpPr txBox="1"/>
          <p:nvPr/>
        </p:nvSpPr>
        <p:spPr>
          <a:xfrm>
            <a:off x="4003243" y="3110789"/>
            <a:ext cx="149047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단어 포착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(답답함, 짜증 등)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3774643" y="3589020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3"/>
          <p:cNvSpPr txBox="1"/>
          <p:nvPr/>
        </p:nvSpPr>
        <p:spPr>
          <a:xfrm>
            <a:off x="4003243" y="3579419"/>
            <a:ext cx="16440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장애물(Pain Point) 식별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291072" y="1392631"/>
            <a:ext cx="2476195" cy="5086807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5"/>
          <p:cNvSpPr/>
          <p:nvPr/>
        </p:nvSpPr>
        <p:spPr>
          <a:xfrm>
            <a:off x="6291072" y="1392631"/>
            <a:ext cx="247619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6"/>
          <p:cNvSpPr/>
          <p:nvPr/>
        </p:nvSpPr>
        <p:spPr>
          <a:xfrm>
            <a:off x="6462979" y="1297534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7"/>
          <p:cNvSpPr txBox="1"/>
          <p:nvPr/>
        </p:nvSpPr>
        <p:spPr>
          <a:xfrm>
            <a:off x="6556248" y="1330452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6500470" y="1687982"/>
            <a:ext cx="10771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 지도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Empathy Map</a:t>
            </a:r>
            <a:endParaRPr lang="en-US" sz="1500" dirty="0"/>
          </a:p>
        </p:txBody>
      </p:sp>
      <p:sp>
        <p:nvSpPr>
          <p:cNvPr id="49" name="Shape 39"/>
          <p:cNvSpPr/>
          <p:nvPr/>
        </p:nvSpPr>
        <p:spPr>
          <a:xfrm>
            <a:off x="8041234" y="1687982"/>
            <a:ext cx="514807" cy="247802"/>
          </a:xfrm>
          <a:prstGeom prst="roundRect">
            <a:avLst>
              <a:gd name="adj" fmla="val 28384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17129" y="1747418"/>
            <a:ext cx="123444" cy="123444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8289036" y="1687982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endParaRPr lang="en-US" sz="9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8"/>
          <a:srcRect t="-476" b="-476"/>
          <a:stretch/>
        </p:blipFill>
        <p:spPr>
          <a:xfrm>
            <a:off x="7387438" y="2307031"/>
            <a:ext cx="276149" cy="247802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6500470" y="2714854"/>
            <a:ext cx="2057400" cy="3552444"/>
          </a:xfrm>
          <a:prstGeom prst="roundRect">
            <a:avLst>
              <a:gd name="adj" fmla="val 205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2"/>
          <p:cNvSpPr/>
          <p:nvPr/>
        </p:nvSpPr>
        <p:spPr>
          <a:xfrm>
            <a:off x="6633972" y="2876702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3"/>
          <p:cNvSpPr txBox="1"/>
          <p:nvPr/>
        </p:nvSpPr>
        <p:spPr>
          <a:xfrm>
            <a:off x="6862572" y="2848356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Says: 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발언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6633972" y="3139135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5"/>
          <p:cNvSpPr txBox="1"/>
          <p:nvPr/>
        </p:nvSpPr>
        <p:spPr>
          <a:xfrm>
            <a:off x="6862572" y="3110789"/>
            <a:ext cx="13606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Thinks: 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속마음 추측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6633972" y="3402482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7"/>
          <p:cNvSpPr txBox="1"/>
          <p:nvPr/>
        </p:nvSpPr>
        <p:spPr>
          <a:xfrm>
            <a:off x="6862572" y="3373222"/>
            <a:ext cx="1066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Does: 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패턴</a:t>
            </a:r>
            <a:endParaRPr lang="en-US" sz="1000" dirty="0"/>
          </a:p>
        </p:txBody>
      </p:sp>
      <p:sp>
        <p:nvSpPr>
          <p:cNvPr id="60" name="Shape 48"/>
          <p:cNvSpPr/>
          <p:nvPr/>
        </p:nvSpPr>
        <p:spPr>
          <a:xfrm>
            <a:off x="6633972" y="3664915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49"/>
          <p:cNvSpPr txBox="1"/>
          <p:nvPr/>
        </p:nvSpPr>
        <p:spPr>
          <a:xfrm>
            <a:off x="6862572" y="3636569"/>
            <a:ext cx="10881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Feels: 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상태</a:t>
            </a:r>
            <a:endParaRPr lang="en-US" sz="1000" dirty="0"/>
          </a:p>
        </p:txBody>
      </p:sp>
      <p:sp>
        <p:nvSpPr>
          <p:cNvPr id="62" name="Shape 50"/>
          <p:cNvSpPr/>
          <p:nvPr/>
        </p:nvSpPr>
        <p:spPr>
          <a:xfrm>
            <a:off x="9151315" y="1392631"/>
            <a:ext cx="2476195" cy="5086807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51"/>
          <p:cNvSpPr/>
          <p:nvPr/>
        </p:nvSpPr>
        <p:spPr>
          <a:xfrm>
            <a:off x="9151315" y="1392631"/>
            <a:ext cx="24761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2"/>
          <p:cNvSpPr/>
          <p:nvPr/>
        </p:nvSpPr>
        <p:spPr>
          <a:xfrm>
            <a:off x="9322308" y="1297534"/>
            <a:ext cx="267005" cy="26700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3"/>
          <p:cNvSpPr txBox="1"/>
          <p:nvPr/>
        </p:nvSpPr>
        <p:spPr>
          <a:xfrm>
            <a:off x="9416491" y="1330452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66" name="Text 54"/>
          <p:cNvSpPr txBox="1"/>
          <p:nvPr/>
        </p:nvSpPr>
        <p:spPr>
          <a:xfrm>
            <a:off x="9360713" y="1687982"/>
            <a:ext cx="91897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POV</a:t>
            </a:r>
            <a:endParaRPr lang="en-US" sz="1500" dirty="0"/>
          </a:p>
        </p:txBody>
      </p:sp>
      <p:sp>
        <p:nvSpPr>
          <p:cNvPr id="67" name="Shape 55"/>
          <p:cNvSpPr/>
          <p:nvPr/>
        </p:nvSpPr>
        <p:spPr>
          <a:xfrm>
            <a:off x="10901477" y="1687982"/>
            <a:ext cx="514807" cy="247802"/>
          </a:xfrm>
          <a:prstGeom prst="roundRect">
            <a:avLst>
              <a:gd name="adj" fmla="val 283849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977372" y="1747418"/>
            <a:ext cx="123444" cy="123444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11149279" y="1687982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</a:t>
            </a:r>
            <a:endParaRPr lang="en-US" sz="900" dirty="0"/>
          </a:p>
        </p:txBody>
      </p:sp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10"/>
          <a:srcRect l="-1169" r="-1169"/>
          <a:stretch/>
        </p:blipFill>
        <p:spPr>
          <a:xfrm>
            <a:off x="10290658" y="2307031"/>
            <a:ext cx="190195" cy="247802"/>
          </a:xfrm>
          <a:prstGeom prst="rect">
            <a:avLst/>
          </a:prstGeom>
        </p:spPr>
      </p:pic>
      <p:sp>
        <p:nvSpPr>
          <p:cNvPr id="71" name="Shape 57"/>
          <p:cNvSpPr/>
          <p:nvPr/>
        </p:nvSpPr>
        <p:spPr>
          <a:xfrm>
            <a:off x="9360713" y="2714854"/>
            <a:ext cx="2057400" cy="3552444"/>
          </a:xfrm>
          <a:prstGeom prst="roundRect">
            <a:avLst>
              <a:gd name="adj" fmla="val 205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58"/>
          <p:cNvSpPr/>
          <p:nvPr/>
        </p:nvSpPr>
        <p:spPr>
          <a:xfrm>
            <a:off x="9494215" y="2876702"/>
            <a:ext cx="152705" cy="152705"/>
          </a:xfrm>
          <a:prstGeom prst="roundRect">
            <a:avLst>
              <a:gd name="adj" fmla="val 149700"/>
            </a:avLst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59"/>
          <p:cNvSpPr txBox="1"/>
          <p:nvPr/>
        </p:nvSpPr>
        <p:spPr>
          <a:xfrm>
            <a:off x="9722815" y="2848356"/>
            <a:ext cx="13523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문장 완성하기</a:t>
            </a:r>
            <a:endParaRPr lang="en-US" sz="1000" dirty="0"/>
          </a:p>
        </p:txBody>
      </p:sp>
      <p:sp>
        <p:nvSpPr>
          <p:cNvPr id="74" name="Shape 60"/>
          <p:cNvSpPr/>
          <p:nvPr/>
        </p:nvSpPr>
        <p:spPr>
          <a:xfrm>
            <a:off x="9494215" y="3110789"/>
            <a:ext cx="1790395" cy="504749"/>
          </a:xfrm>
          <a:prstGeom prst="roundRect">
            <a:avLst>
              <a:gd name="adj" fmla="val 27345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61"/>
          <p:cNvSpPr txBox="1"/>
          <p:nvPr/>
        </p:nvSpPr>
        <p:spPr>
          <a:xfrm>
            <a:off x="9570110" y="3186684"/>
            <a:ext cx="195041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"사용자는</a:t>
            </a:r>
            <a:r>
              <a:rPr lang="en-US" sz="900" b="1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]</a:t>
            </a:r>
            <a:r>
              <a:rPr lang="en-US" sz="9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때문에</a:t>
            </a:r>
            <a:r>
              <a:rPr lang="en-US" sz="900" b="1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]</a:t>
            </a:r>
            <a:r>
              <a:rPr lang="en-US" sz="9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원한다"</a:t>
            </a:r>
            <a:endParaRPr lang="en-US" sz="900" dirty="0"/>
          </a:p>
        </p:txBody>
      </p:sp>
      <p:sp>
        <p:nvSpPr>
          <p:cNvPr id="7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123798"/>
            <a:ext cx="1066830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279806"/>
            <a:ext cx="4629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 Phase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546811"/>
            <a:ext cx="57561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정의(Define): 진짜 문제 찾기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1695" y="1380744"/>
            <a:ext cx="3457346" cy="5000854"/>
          </a:xfrm>
          <a:prstGeom prst="roundRect">
            <a:avLst>
              <a:gd name="adj" fmla="val 874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1380744"/>
            <a:ext cx="3457346" cy="4754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0295" y="2172614"/>
            <a:ext cx="3000146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90295" y="1657807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6249" y="1742846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505102" y="1714500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90295" y="2438705"/>
            <a:ext cx="47549" cy="47549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33856" y="2352751"/>
            <a:ext cx="44769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공감을 통해 얻은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인사이트를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바탕으로</a:t>
            </a:r>
            <a:endParaRPr lang="en-US" sz="11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1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진짜</a:t>
            </a: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문제를 발견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단계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90295" y="3057754"/>
            <a:ext cx="47549" cy="47549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133856" y="2971800"/>
            <a:ext cx="34006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원하는 것(Needs)과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(Pain Points)의 윤곽을 명확히 정의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0295" y="3676802"/>
            <a:ext cx="47549" cy="47549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133856" y="3590849"/>
            <a:ext cx="2595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현상이 아닌 </a:t>
            </a: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집중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90295" y="5341925"/>
            <a:ext cx="3000146" cy="819302"/>
          </a:xfrm>
          <a:prstGeom prst="roundRect">
            <a:avLst>
              <a:gd name="adj" fmla="val 7787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990295" y="5341925"/>
            <a:ext cx="28346" cy="8193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1133856" y="5456225"/>
            <a:ext cx="28529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Goal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" y="5665622"/>
            <a:ext cx="4305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"우리가 해결해야 할 문제는 ____ 이다" </a:t>
            </a:r>
            <a:r>
              <a:rPr lang="en-US" sz="1000" i="1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라고</a:t>
            </a:r>
            <a:r>
              <a:rPr lang="en-US" sz="1000" i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i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문장으로 정의하기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369003" y="1380744"/>
            <a:ext cx="3457346" cy="5000854"/>
          </a:xfrm>
          <a:prstGeom prst="roundRect">
            <a:avLst>
              <a:gd name="adj" fmla="val 874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4369003" y="1380744"/>
            <a:ext cx="3457346" cy="47549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597603" y="2172614"/>
            <a:ext cx="3000146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597603" y="1657807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3557" y="1742846"/>
            <a:ext cx="228600" cy="22860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111496" y="1714500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도구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4597603" y="2438705"/>
            <a:ext cx="47549" cy="47549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4740250" y="2352751"/>
            <a:ext cx="3848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(Persona)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사용자를 대표하는 가상의 인물 설정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597603" y="3057754"/>
            <a:ext cx="47549" cy="47549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4740250" y="2971800"/>
            <a:ext cx="308518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브리프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목표, 범위, 제약사항 등을 문서화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597603" y="3676802"/>
            <a:ext cx="47549" cy="47549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 txBox="1"/>
          <p:nvPr/>
        </p:nvSpPr>
        <p:spPr>
          <a:xfrm>
            <a:off x="4740250" y="3590849"/>
            <a:ext cx="215432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POV (Point of View)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+ 니즈 + 인사이트 조합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597603" y="5341925"/>
            <a:ext cx="3000146" cy="819302"/>
          </a:xfrm>
          <a:prstGeom prst="roundRect">
            <a:avLst>
              <a:gd name="adj" fmla="val 7787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4597603" y="5341925"/>
            <a:ext cx="28346" cy="81930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4740250" y="5456225"/>
            <a:ext cx="28529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POV Example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4740250" y="5665622"/>
            <a:ext cx="4305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"30대 직장인 A씨는 [야근 때문에] [건강한 식사]를 </a:t>
            </a:r>
          </a:p>
          <a:p>
            <a:pPr marL="0" indent="0" algn="l">
              <a:buNone/>
            </a:pPr>
            <a:r>
              <a:rPr lang="en-US" sz="1000" i="1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하길</a:t>
            </a:r>
            <a:r>
              <a:rPr lang="en-US" sz="1000" i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원한다."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7975397" y="1380744"/>
            <a:ext cx="3457346" cy="5000854"/>
          </a:xfrm>
          <a:prstGeom prst="roundRect">
            <a:avLst>
              <a:gd name="adj" fmla="val 874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7975397" y="1380744"/>
            <a:ext cx="3457346" cy="47549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8"/>
          <p:cNvSpPr/>
          <p:nvPr/>
        </p:nvSpPr>
        <p:spPr>
          <a:xfrm>
            <a:off x="8203997" y="2172614"/>
            <a:ext cx="3000146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9"/>
          <p:cNvSpPr/>
          <p:nvPr/>
        </p:nvSpPr>
        <p:spPr>
          <a:xfrm>
            <a:off x="8203997" y="1657807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8261604" y="1742846"/>
            <a:ext cx="286207" cy="228600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8718804" y="1714500"/>
            <a:ext cx="70317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</a:t>
            </a:r>
            <a:endParaRPr lang="en-US" sz="1500" dirty="0"/>
          </a:p>
        </p:txBody>
      </p:sp>
      <p:sp>
        <p:nvSpPr>
          <p:cNvPr id="46" name="Shape 41"/>
          <p:cNvSpPr/>
          <p:nvPr/>
        </p:nvSpPr>
        <p:spPr>
          <a:xfrm>
            <a:off x="8203997" y="2438705"/>
            <a:ext cx="47549" cy="47549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 txBox="1"/>
          <p:nvPr/>
        </p:nvSpPr>
        <p:spPr>
          <a:xfrm>
            <a:off x="8347558" y="2352751"/>
            <a:ext cx="2934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생성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인터뷰 데이터를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입력해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페르소나 초안 작성 요청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8203997" y="3271723"/>
            <a:ext cx="47549" cy="47549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4"/>
          <p:cNvSpPr txBox="1"/>
          <p:nvPr/>
        </p:nvSpPr>
        <p:spPr>
          <a:xfrm>
            <a:off x="8347558" y="3185770"/>
            <a:ext cx="2934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HMW 질문 도출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"How Might We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(우리가 어떻게 하면 ~할 수 있을까?)"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10개 생성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8203997" y="5341925"/>
            <a:ext cx="3000146" cy="819302"/>
          </a:xfrm>
          <a:prstGeom prst="roundRect">
            <a:avLst>
              <a:gd name="adj" fmla="val 7787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6"/>
          <p:cNvSpPr/>
          <p:nvPr/>
        </p:nvSpPr>
        <p:spPr>
          <a:xfrm>
            <a:off x="8203997" y="5341925"/>
            <a:ext cx="28346" cy="81930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7"/>
          <p:cNvSpPr txBox="1"/>
          <p:nvPr/>
        </p:nvSpPr>
        <p:spPr>
          <a:xfrm>
            <a:off x="8347558" y="5456225"/>
            <a:ext cx="28529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Idea</a:t>
            </a:r>
            <a:endParaRPr lang="en-US" sz="900" dirty="0"/>
          </a:p>
        </p:txBody>
      </p:sp>
      <p:sp>
        <p:nvSpPr>
          <p:cNvPr id="53" name="Text 48"/>
          <p:cNvSpPr txBox="1"/>
          <p:nvPr/>
        </p:nvSpPr>
        <p:spPr>
          <a:xfrm>
            <a:off x="8347558" y="5665622"/>
            <a:ext cx="4305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인터뷰 내용을 바탕으로 20대 대학생 </a:t>
            </a:r>
            <a:r>
              <a:rPr lang="en-US" sz="1000" i="1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페르소나의</a:t>
            </a:r>
            <a:r>
              <a:rPr lang="en-US" sz="1000" i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i="1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</a:t>
            </a:r>
            <a:r>
              <a:rPr lang="en-US" sz="1000" i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일과를 작성해줘."</a:t>
            </a:r>
            <a:endParaRPr lang="en-US" sz="10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933602"/>
            <a:ext cx="1104869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202997"/>
            <a:ext cx="875995" cy="247802"/>
          </a:xfrm>
          <a:prstGeom prst="roundRect">
            <a:avLst>
              <a:gd name="adj" fmla="val 283849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926728" y="362102"/>
            <a:ext cx="35039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내기 (Ideate)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2174" y="395935"/>
            <a:ext cx="200254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6598" y="231343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1500" y="1143000"/>
            <a:ext cx="5372100" cy="5429707"/>
          </a:xfrm>
          <a:prstGeom prst="roundRect">
            <a:avLst>
              <a:gd name="adj" fmla="val 423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71500" y="1143000"/>
            <a:ext cx="5372100" cy="4754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00100" y="1819656"/>
            <a:ext cx="491490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800100" y="1466698"/>
            <a:ext cx="219456" cy="1901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14654" y="1419149"/>
            <a:ext cx="178856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기법 및 도구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00100" y="199064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5198" y="2085746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57300" y="1971446"/>
            <a:ext cx="40489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브레인스토밍 (Brainstorming)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" y="2253082"/>
            <a:ext cx="4703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비판 금지, 자유로운 발언을 통해 최대한 많은 아이디어를 쏟아내는 과정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00100" y="2624328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886054" y="2719426"/>
            <a:ext cx="171907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57300" y="2605126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마인드맵 &amp; 시각화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257300" y="2885846"/>
            <a:ext cx="4415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단어에서 가지를 뻗어 나가며 생각을 확장하고 구조적으로 정리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00100" y="3258007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905256" y="3353105"/>
            <a:ext cx="133502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57300" y="3238805"/>
            <a:ext cx="40864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포스트업 &amp; 브레인라이팅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257300" y="3519526"/>
            <a:ext cx="46232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침묵 속에 각자 포스트잇에 적어 붙이며 타인의 생각에 아이디어를 더함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800100" y="5605272"/>
            <a:ext cx="4914900" cy="743407"/>
          </a:xfrm>
          <a:prstGeom prst="roundRect">
            <a:avLst>
              <a:gd name="adj" fmla="val 1261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886054" y="5747918"/>
            <a:ext cx="4743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"Quantity drives Quality"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847649" y="6014923"/>
            <a:ext cx="4819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양이 질을 만든다: 초기에는 무조건 많은 양이 중요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229807" y="1143000"/>
            <a:ext cx="5391302" cy="5429707"/>
          </a:xfrm>
          <a:prstGeom prst="roundRect">
            <a:avLst>
              <a:gd name="adj" fmla="val 42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6229807" y="1143000"/>
            <a:ext cx="5391302" cy="47549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6467551" y="1819656"/>
            <a:ext cx="491490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67551" y="1466698"/>
            <a:ext cx="237744" cy="19019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01307" y="1419149"/>
            <a:ext cx="151150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활용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6467551" y="1971446"/>
            <a:ext cx="4914900" cy="1057046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6467551" y="1971446"/>
            <a:ext cx="28346" cy="105704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6838798" y="2085746"/>
            <a:ext cx="45061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DD6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 발산 (Diverge)</a:t>
            </a:r>
            <a:endParaRPr lang="en-US" sz="11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48602" y="2126894"/>
            <a:ext cx="133502" cy="133502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6648602" y="2357323"/>
            <a:ext cx="4581144" cy="562356"/>
          </a:xfrm>
          <a:prstGeom prst="roundRect">
            <a:avLst>
              <a:gd name="adj" fmla="val 1653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6467551" y="3142793"/>
            <a:ext cx="4914900" cy="1057046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467551" y="3142793"/>
            <a:ext cx="28346" cy="105704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6838798" y="3257093"/>
            <a:ext cx="45061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DD6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SCAMPER 변형 기법</a:t>
            </a:r>
            <a:endParaRPr lang="en-US" sz="110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48602" y="3297326"/>
            <a:ext cx="133502" cy="133502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6648602" y="3527755"/>
            <a:ext cx="4581144" cy="562356"/>
          </a:xfrm>
          <a:prstGeom prst="roundRect">
            <a:avLst>
              <a:gd name="adj" fmla="val 1653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5"/>
          <p:cNvSpPr/>
          <p:nvPr/>
        </p:nvSpPr>
        <p:spPr>
          <a:xfrm>
            <a:off x="6467551" y="4313225"/>
            <a:ext cx="4914900" cy="1057046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6"/>
          <p:cNvSpPr/>
          <p:nvPr/>
        </p:nvSpPr>
        <p:spPr>
          <a:xfrm>
            <a:off x="6467551" y="4313225"/>
            <a:ext cx="28346" cy="105704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7"/>
          <p:cNvSpPr txBox="1"/>
          <p:nvPr/>
        </p:nvSpPr>
        <p:spPr>
          <a:xfrm>
            <a:off x="6838798" y="4427525"/>
            <a:ext cx="45061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DD6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및 수렴 (Converge)</a:t>
            </a:r>
            <a:endParaRPr lang="en-US" sz="11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48602" y="4467758"/>
            <a:ext cx="133502" cy="133502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6648602" y="4699102"/>
            <a:ext cx="4581144" cy="562356"/>
          </a:xfrm>
          <a:prstGeom prst="roundRect">
            <a:avLst>
              <a:gd name="adj" fmla="val 1653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9"/>
          <p:cNvSpPr/>
          <p:nvPr/>
        </p:nvSpPr>
        <p:spPr>
          <a:xfrm>
            <a:off x="6467551" y="5739689"/>
            <a:ext cx="4914900" cy="599846"/>
          </a:xfrm>
          <a:prstGeom prst="roundRect">
            <a:avLst>
              <a:gd name="adj" fmla="val 1935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90995" y="5882335"/>
            <a:ext cx="152705" cy="15270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6838798" y="5863133"/>
            <a:ext cx="454365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</a:t>
            </a:r>
            <a:r>
              <a:rPr lang="en-US" sz="9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아이디어는 기존 데이터를 기반으로 하므로 '뻔한(Cliché)' 것일 수 있습니다. 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</a:t>
            </a:r>
            <a:r>
              <a:rPr lang="en-US" sz="9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직관으로 필터링하고 발전시키세요.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6752844" y="2471623"/>
            <a:ext cx="411545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"정의된 문제(POV)를 해결할 수 있는 창의적이고 기발한 </a:t>
            </a:r>
            <a:r>
              <a:rPr lang="en-US" sz="900" dirty="0" err="1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아이디어</a:t>
            </a:r>
            <a:r>
              <a:rPr lang="en-US" sz="9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9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20가지를 리스트로 제안해줘. 비용은 고려하지 마."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6752844" y="3642055"/>
            <a:ext cx="43540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"이 아이디어를 [뒤집기(Reverse)] 기법을 적용해서 완전히 다르게 </a:t>
            </a:r>
            <a:r>
              <a:rPr lang="en-US" sz="900" dirty="0" err="1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접근하는</a:t>
            </a:r>
            <a:r>
              <a:rPr lang="en-US" sz="9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방법</a:t>
            </a:r>
            <a:r>
              <a:rPr lang="en-US" sz="9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3가지를 알려줘."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6752845" y="4813402"/>
            <a:ext cx="443128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"제안된 아이디어 중 [독창성]과 [실현 가능성] 점수를 </a:t>
            </a:r>
            <a:r>
              <a:rPr lang="en-US" sz="900" dirty="0" err="1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매겨서</a:t>
            </a:r>
            <a:r>
              <a:rPr lang="en-US" sz="9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상위</a:t>
            </a:r>
            <a:r>
              <a:rPr lang="en-US" sz="9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3개를 추천해줘."</a:t>
            </a:r>
            <a:endParaRPr lang="en-US" sz="900" dirty="0"/>
          </a:p>
        </p:txBody>
      </p:sp>
      <p:sp>
        <p:nvSpPr>
          <p:cNvPr id="5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3976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1123798"/>
            <a:ext cx="1104869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251460"/>
            <a:ext cx="57534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Thinking with GenAI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546811"/>
            <a:ext cx="80695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실습: AI 협업 문제해결 워크시트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744200" y="437998"/>
            <a:ext cx="8823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 MIN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4742" y="780898"/>
            <a:ext cx="1573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 Workshop Time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191256" y="3804818"/>
            <a:ext cx="95098" cy="15270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6048756" y="3804818"/>
            <a:ext cx="95098" cy="1527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8906256" y="3804818"/>
            <a:ext cx="95098" cy="15270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71500" y="1380744"/>
            <a:ext cx="2476195" cy="5000854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71500" y="1380744"/>
            <a:ext cx="247619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780898" y="1705356"/>
            <a:ext cx="79369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공감하기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Empathize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2361895" y="1705356"/>
            <a:ext cx="485546" cy="228600"/>
          </a:xfrm>
          <a:prstGeom prst="roundRect">
            <a:avLst>
              <a:gd name="adj" fmla="val 20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38705" y="1762049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590495" y="1705356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6분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666951" y="2335378"/>
            <a:ext cx="286207" cy="228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80898" y="2725826"/>
            <a:ext cx="2057400" cy="2409444"/>
          </a:xfrm>
          <a:prstGeom prst="roundRect">
            <a:avLst>
              <a:gd name="adj" fmla="val 205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895198" y="2868473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/>
          <p:cNvSpPr txBox="1"/>
          <p:nvPr/>
        </p:nvSpPr>
        <p:spPr>
          <a:xfrm>
            <a:off x="1104595" y="2840126"/>
            <a:ext cx="11311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사용자 선정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895198" y="3112618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1104595" y="3084271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생성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95198" y="3356762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 txBox="1"/>
          <p:nvPr/>
        </p:nvSpPr>
        <p:spPr>
          <a:xfrm>
            <a:off x="1104595" y="3327502"/>
            <a:ext cx="12938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공감지도(Map) 초안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80898" y="5244998"/>
            <a:ext cx="2057400" cy="933602"/>
          </a:xfrm>
          <a:prstGeom prst="roundRect">
            <a:avLst>
              <a:gd name="adj" fmla="val 9994"/>
            </a:avLst>
          </a:prstGeom>
          <a:solidFill>
            <a:srgbClr val="4F46E5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t="-1750" b="-1750"/>
          <a:stretch/>
        </p:blipFill>
        <p:spPr>
          <a:xfrm>
            <a:off x="886054" y="5375758"/>
            <a:ext cx="114300" cy="1051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037844" y="5349240"/>
            <a:ext cx="60624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Prompt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886054" y="5544922"/>
            <a:ext cx="1848002" cy="523951"/>
          </a:xfrm>
          <a:prstGeom prst="roundRect">
            <a:avLst>
              <a:gd name="adj" fmla="val 1269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942746" y="5611673"/>
            <a:ext cx="17337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"20대 대학생의 [수강신청] 관련 페르소나와 </a:t>
            </a:r>
            <a:r>
              <a:rPr lang="en-US" sz="800" dirty="0" err="1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공감지도를</a:t>
            </a:r>
            <a:r>
              <a:rPr lang="en-US" sz="8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800" dirty="0" err="1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표로</a:t>
            </a:r>
            <a:r>
              <a:rPr lang="en-US" sz="8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작성해줘."</a:t>
            </a:r>
            <a:endParaRPr lang="en-US" sz="800" dirty="0"/>
          </a:p>
        </p:txBody>
      </p:sp>
      <p:sp>
        <p:nvSpPr>
          <p:cNvPr id="31" name="Shape 23"/>
          <p:cNvSpPr/>
          <p:nvPr/>
        </p:nvSpPr>
        <p:spPr>
          <a:xfrm>
            <a:off x="3429000" y="1380744"/>
            <a:ext cx="2476195" cy="5000854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4"/>
          <p:cNvSpPr/>
          <p:nvPr/>
        </p:nvSpPr>
        <p:spPr>
          <a:xfrm>
            <a:off x="3429000" y="1380744"/>
            <a:ext cx="247619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5"/>
          <p:cNvSpPr txBox="1"/>
          <p:nvPr/>
        </p:nvSpPr>
        <p:spPr>
          <a:xfrm>
            <a:off x="3638398" y="1705356"/>
            <a:ext cx="81655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5219395" y="1705356"/>
            <a:ext cx="485546" cy="228600"/>
          </a:xfrm>
          <a:prstGeom prst="roundRect">
            <a:avLst>
              <a:gd name="adj" fmla="val 20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6205" y="1762049"/>
            <a:ext cx="114300" cy="1143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447995" y="1705356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6분</a:t>
            </a:r>
            <a:endParaRPr lang="en-US" sz="9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52798" y="2335378"/>
            <a:ext cx="228600" cy="22860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3638398" y="2725826"/>
            <a:ext cx="2057400" cy="2409444"/>
          </a:xfrm>
          <a:prstGeom prst="roundRect">
            <a:avLst>
              <a:gd name="adj" fmla="val 205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9"/>
          <p:cNvSpPr/>
          <p:nvPr/>
        </p:nvSpPr>
        <p:spPr>
          <a:xfrm>
            <a:off x="3752698" y="2868473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0"/>
          <p:cNvSpPr txBox="1"/>
          <p:nvPr/>
        </p:nvSpPr>
        <p:spPr>
          <a:xfrm>
            <a:off x="3962095" y="2840126"/>
            <a:ext cx="1541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불편함(Pain) 파악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3752698" y="3112618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2"/>
          <p:cNvSpPr txBox="1"/>
          <p:nvPr/>
        </p:nvSpPr>
        <p:spPr>
          <a:xfrm>
            <a:off x="3962095" y="3084271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 탐색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3752698" y="3356762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3962095" y="3327502"/>
            <a:ext cx="1757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POV(Point Of View) 작성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3638398" y="5244998"/>
            <a:ext cx="2057400" cy="933602"/>
          </a:xfrm>
          <a:prstGeom prst="roundRect">
            <a:avLst>
              <a:gd name="adj" fmla="val 9994"/>
            </a:avLst>
          </a:prstGeom>
          <a:solidFill>
            <a:srgbClr val="4F46E5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8"/>
          <a:srcRect l="-783" r="-783"/>
          <a:stretch/>
        </p:blipFill>
        <p:spPr>
          <a:xfrm>
            <a:off x="3743554" y="5375758"/>
            <a:ext cx="133502" cy="1051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3914546" y="5349240"/>
            <a:ext cx="60624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Prompt</a:t>
            </a:r>
            <a:endParaRPr lang="en-US" sz="800" dirty="0"/>
          </a:p>
        </p:txBody>
      </p:sp>
      <p:sp>
        <p:nvSpPr>
          <p:cNvPr id="48" name="Shape 37"/>
          <p:cNvSpPr/>
          <p:nvPr/>
        </p:nvSpPr>
        <p:spPr>
          <a:xfrm>
            <a:off x="3743554" y="5544922"/>
            <a:ext cx="1848002" cy="523951"/>
          </a:xfrm>
          <a:prstGeom prst="roundRect">
            <a:avLst>
              <a:gd name="adj" fmla="val 1269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8"/>
          <p:cNvSpPr txBox="1"/>
          <p:nvPr/>
        </p:nvSpPr>
        <p:spPr>
          <a:xfrm>
            <a:off x="3800246" y="5611673"/>
            <a:ext cx="17145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"위 페르소나가 겪는 가장 큰 문제를 '사용자는 [ ] 때문에 [ ]를 원한다' 형식으로 정의해줘."</a:t>
            </a:r>
            <a:endParaRPr lang="en-US" sz="800" dirty="0"/>
          </a:p>
        </p:txBody>
      </p:sp>
      <p:sp>
        <p:nvSpPr>
          <p:cNvPr id="50" name="Shape 39"/>
          <p:cNvSpPr/>
          <p:nvPr/>
        </p:nvSpPr>
        <p:spPr>
          <a:xfrm>
            <a:off x="6286500" y="1380744"/>
            <a:ext cx="2476195" cy="5000854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0"/>
          <p:cNvSpPr/>
          <p:nvPr/>
        </p:nvSpPr>
        <p:spPr>
          <a:xfrm>
            <a:off x="6286500" y="1380744"/>
            <a:ext cx="247619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1"/>
          <p:cNvSpPr txBox="1"/>
          <p:nvPr/>
        </p:nvSpPr>
        <p:spPr>
          <a:xfrm>
            <a:off x="6495898" y="1705356"/>
            <a:ext cx="75986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Ideate</a:t>
            </a:r>
            <a:endParaRPr lang="en-US" sz="1300" dirty="0"/>
          </a:p>
        </p:txBody>
      </p:sp>
      <p:sp>
        <p:nvSpPr>
          <p:cNvPr id="53" name="Shape 42"/>
          <p:cNvSpPr/>
          <p:nvPr/>
        </p:nvSpPr>
        <p:spPr>
          <a:xfrm>
            <a:off x="8076895" y="1705356"/>
            <a:ext cx="485546" cy="228600"/>
          </a:xfrm>
          <a:prstGeom prst="roundRect">
            <a:avLst>
              <a:gd name="adj" fmla="val 20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53705" y="1762049"/>
            <a:ext cx="114300" cy="11430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8305495" y="1705356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7분</a:t>
            </a:r>
            <a:endParaRPr lang="en-US" sz="9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7438644" y="2335378"/>
            <a:ext cx="171907" cy="228600"/>
          </a:xfrm>
          <a:prstGeom prst="rect">
            <a:avLst/>
          </a:prstGeom>
        </p:spPr>
      </p:pic>
      <p:sp>
        <p:nvSpPr>
          <p:cNvPr id="57" name="Shape 44"/>
          <p:cNvSpPr/>
          <p:nvPr/>
        </p:nvSpPr>
        <p:spPr>
          <a:xfrm>
            <a:off x="6495898" y="2725826"/>
            <a:ext cx="2057400" cy="2409444"/>
          </a:xfrm>
          <a:prstGeom prst="roundRect">
            <a:avLst>
              <a:gd name="adj" fmla="val 205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5"/>
          <p:cNvSpPr/>
          <p:nvPr/>
        </p:nvSpPr>
        <p:spPr>
          <a:xfrm>
            <a:off x="6610198" y="2868473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6"/>
          <p:cNvSpPr txBox="1"/>
          <p:nvPr/>
        </p:nvSpPr>
        <p:spPr>
          <a:xfrm>
            <a:off x="6819595" y="2840126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브레인스토밍 (발산)</a:t>
            </a:r>
            <a:endParaRPr lang="en-US" sz="1000" dirty="0"/>
          </a:p>
        </p:txBody>
      </p:sp>
      <p:sp>
        <p:nvSpPr>
          <p:cNvPr id="60" name="Shape 47"/>
          <p:cNvSpPr/>
          <p:nvPr/>
        </p:nvSpPr>
        <p:spPr>
          <a:xfrm>
            <a:off x="6610198" y="3112618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48"/>
          <p:cNvSpPr txBox="1"/>
          <p:nvPr/>
        </p:nvSpPr>
        <p:spPr>
          <a:xfrm>
            <a:off x="6819595" y="3084271"/>
            <a:ext cx="13441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Might We 질문</a:t>
            </a:r>
            <a:endParaRPr lang="en-US" sz="1000" dirty="0"/>
          </a:p>
        </p:txBody>
      </p:sp>
      <p:sp>
        <p:nvSpPr>
          <p:cNvPr id="62" name="Shape 49"/>
          <p:cNvSpPr/>
          <p:nvPr/>
        </p:nvSpPr>
        <p:spPr>
          <a:xfrm>
            <a:off x="6610198" y="3356762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0"/>
          <p:cNvSpPr txBox="1"/>
          <p:nvPr/>
        </p:nvSpPr>
        <p:spPr>
          <a:xfrm>
            <a:off x="6819595" y="3327502"/>
            <a:ext cx="1027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10개 이상 도출</a:t>
            </a:r>
            <a:endParaRPr lang="en-US" sz="1000" dirty="0"/>
          </a:p>
        </p:txBody>
      </p:sp>
      <p:sp>
        <p:nvSpPr>
          <p:cNvPr id="64" name="Shape 51"/>
          <p:cNvSpPr/>
          <p:nvPr/>
        </p:nvSpPr>
        <p:spPr>
          <a:xfrm>
            <a:off x="6495898" y="5244998"/>
            <a:ext cx="2057400" cy="933602"/>
          </a:xfrm>
          <a:prstGeom prst="roundRect">
            <a:avLst>
              <a:gd name="adj" fmla="val 9994"/>
            </a:avLst>
          </a:prstGeom>
          <a:solidFill>
            <a:srgbClr val="4F46E5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10"/>
          <a:srcRect l="-1677" r="-1677"/>
          <a:stretch/>
        </p:blipFill>
        <p:spPr>
          <a:xfrm>
            <a:off x="6601054" y="5375758"/>
            <a:ext cx="95098" cy="105156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6734556" y="5349240"/>
            <a:ext cx="60624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Prompt</a:t>
            </a:r>
            <a:endParaRPr lang="en-US" sz="800" dirty="0"/>
          </a:p>
        </p:txBody>
      </p:sp>
      <p:sp>
        <p:nvSpPr>
          <p:cNvPr id="67" name="Shape 53"/>
          <p:cNvSpPr/>
          <p:nvPr/>
        </p:nvSpPr>
        <p:spPr>
          <a:xfrm>
            <a:off x="6601054" y="5544922"/>
            <a:ext cx="1848002" cy="523951"/>
          </a:xfrm>
          <a:prstGeom prst="roundRect">
            <a:avLst>
              <a:gd name="adj" fmla="val 1269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4"/>
          <p:cNvSpPr txBox="1"/>
          <p:nvPr/>
        </p:nvSpPr>
        <p:spPr>
          <a:xfrm>
            <a:off x="6657746" y="5611673"/>
            <a:ext cx="176296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"정의된 문제를 해결할 수 있는 창의적인 아이디어 10가지를 리스트로 제안해줘."</a:t>
            </a:r>
            <a:endParaRPr lang="en-US" sz="800" dirty="0"/>
          </a:p>
        </p:txBody>
      </p:sp>
      <p:sp>
        <p:nvSpPr>
          <p:cNvPr id="69" name="Shape 55"/>
          <p:cNvSpPr/>
          <p:nvPr/>
        </p:nvSpPr>
        <p:spPr>
          <a:xfrm>
            <a:off x="9144000" y="1380744"/>
            <a:ext cx="2476195" cy="5000854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6"/>
          <p:cNvSpPr/>
          <p:nvPr/>
        </p:nvSpPr>
        <p:spPr>
          <a:xfrm>
            <a:off x="9144000" y="1380744"/>
            <a:ext cx="2476195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7"/>
          <p:cNvSpPr txBox="1"/>
          <p:nvPr/>
        </p:nvSpPr>
        <p:spPr>
          <a:xfrm>
            <a:off x="9353398" y="1705356"/>
            <a:ext cx="83941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평가/선정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Converge</a:t>
            </a:r>
            <a:endParaRPr lang="en-US" sz="1300" dirty="0"/>
          </a:p>
        </p:txBody>
      </p:sp>
      <p:sp>
        <p:nvSpPr>
          <p:cNvPr id="72" name="Shape 58"/>
          <p:cNvSpPr/>
          <p:nvPr/>
        </p:nvSpPr>
        <p:spPr>
          <a:xfrm>
            <a:off x="10934395" y="1705356"/>
            <a:ext cx="485546" cy="228600"/>
          </a:xfrm>
          <a:prstGeom prst="roundRect">
            <a:avLst>
              <a:gd name="adj" fmla="val 200000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011205" y="1762049"/>
            <a:ext cx="114300" cy="114300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11162995" y="1705356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6분</a:t>
            </a:r>
            <a:endParaRPr lang="en-US" sz="900" dirty="0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267798" y="2335378"/>
            <a:ext cx="228600" cy="228600"/>
          </a:xfrm>
          <a:prstGeom prst="rect">
            <a:avLst/>
          </a:prstGeom>
        </p:spPr>
      </p:pic>
      <p:sp>
        <p:nvSpPr>
          <p:cNvPr id="76" name="Shape 60"/>
          <p:cNvSpPr/>
          <p:nvPr/>
        </p:nvSpPr>
        <p:spPr>
          <a:xfrm>
            <a:off x="9353398" y="2725826"/>
            <a:ext cx="2057400" cy="2409444"/>
          </a:xfrm>
          <a:prstGeom prst="roundRect">
            <a:avLst>
              <a:gd name="adj" fmla="val 205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61"/>
          <p:cNvSpPr/>
          <p:nvPr/>
        </p:nvSpPr>
        <p:spPr>
          <a:xfrm>
            <a:off x="9467698" y="2868473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62"/>
          <p:cNvSpPr txBox="1"/>
          <p:nvPr/>
        </p:nvSpPr>
        <p:spPr>
          <a:xfrm>
            <a:off x="9677095" y="2840126"/>
            <a:ext cx="11311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실현 가능성 평가</a:t>
            </a:r>
            <a:endParaRPr lang="en-US" sz="1000" dirty="0"/>
          </a:p>
        </p:txBody>
      </p:sp>
      <p:sp>
        <p:nvSpPr>
          <p:cNvPr id="79" name="Shape 63"/>
          <p:cNvSpPr/>
          <p:nvPr/>
        </p:nvSpPr>
        <p:spPr>
          <a:xfrm>
            <a:off x="9467698" y="3112618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64"/>
          <p:cNvSpPr txBox="1"/>
          <p:nvPr/>
        </p:nvSpPr>
        <p:spPr>
          <a:xfrm>
            <a:off x="9677095" y="3084271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독창성 평가</a:t>
            </a:r>
            <a:endParaRPr lang="en-US" sz="1000" dirty="0"/>
          </a:p>
        </p:txBody>
      </p:sp>
      <p:sp>
        <p:nvSpPr>
          <p:cNvPr id="81" name="Shape 65"/>
          <p:cNvSpPr/>
          <p:nvPr/>
        </p:nvSpPr>
        <p:spPr>
          <a:xfrm>
            <a:off x="9467698" y="3356762"/>
            <a:ext cx="133502" cy="133502"/>
          </a:xfrm>
          <a:prstGeom prst="roundRect">
            <a:avLst>
              <a:gd name="adj" fmla="val 146771"/>
            </a:avLst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66"/>
          <p:cNvSpPr txBox="1"/>
          <p:nvPr/>
        </p:nvSpPr>
        <p:spPr>
          <a:xfrm>
            <a:off x="9677095" y="3327502"/>
            <a:ext cx="9418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1개 선정</a:t>
            </a:r>
            <a:endParaRPr lang="en-US" sz="1000" dirty="0"/>
          </a:p>
        </p:txBody>
      </p:sp>
      <p:sp>
        <p:nvSpPr>
          <p:cNvPr id="83" name="Shape 67"/>
          <p:cNvSpPr/>
          <p:nvPr/>
        </p:nvSpPr>
        <p:spPr>
          <a:xfrm>
            <a:off x="9353398" y="5244998"/>
            <a:ext cx="2057400" cy="933602"/>
          </a:xfrm>
          <a:prstGeom prst="roundRect">
            <a:avLst>
              <a:gd name="adj" fmla="val 9994"/>
            </a:avLst>
          </a:prstGeom>
          <a:solidFill>
            <a:srgbClr val="059669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4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458554" y="5375758"/>
            <a:ext cx="105156" cy="105156"/>
          </a:xfrm>
          <a:prstGeom prst="rect">
            <a:avLst/>
          </a:prstGeom>
        </p:spPr>
      </p:pic>
      <p:sp>
        <p:nvSpPr>
          <p:cNvPr id="85" name="Text 68"/>
          <p:cNvSpPr txBox="1"/>
          <p:nvPr/>
        </p:nvSpPr>
        <p:spPr>
          <a:xfrm>
            <a:off x="9601200" y="5349240"/>
            <a:ext cx="60624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Prompt</a:t>
            </a:r>
            <a:endParaRPr lang="en-US" sz="800" dirty="0"/>
          </a:p>
        </p:txBody>
      </p:sp>
      <p:sp>
        <p:nvSpPr>
          <p:cNvPr id="86" name="Shape 69"/>
          <p:cNvSpPr/>
          <p:nvPr/>
        </p:nvSpPr>
        <p:spPr>
          <a:xfrm>
            <a:off x="9458554" y="5544922"/>
            <a:ext cx="1848002" cy="523951"/>
          </a:xfrm>
          <a:prstGeom prst="roundRect">
            <a:avLst>
              <a:gd name="adj" fmla="val 1269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70"/>
          <p:cNvSpPr txBox="1"/>
          <p:nvPr/>
        </p:nvSpPr>
        <p:spPr>
          <a:xfrm>
            <a:off x="9515246" y="5611673"/>
            <a:ext cx="176296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"제안된 아이디어 중 실현 가능성과 임팩트가 가장 큰 3가지를 선정하고 이유를 말해줘."</a:t>
            </a:r>
            <a:endParaRPr lang="en-US" sz="800" dirty="0"/>
          </a:p>
        </p:txBody>
      </p:sp>
      <p:sp>
        <p:nvSpPr>
          <p:cNvPr id="88" name="Shape 71"/>
          <p:cNvSpPr/>
          <p:nvPr/>
        </p:nvSpPr>
        <p:spPr>
          <a:xfrm>
            <a:off x="724205" y="1285646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9" name="Text 72"/>
          <p:cNvSpPr txBox="1"/>
          <p:nvPr/>
        </p:nvSpPr>
        <p:spPr>
          <a:xfrm>
            <a:off x="817474" y="1319479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90" name="Shape 73"/>
          <p:cNvSpPr/>
          <p:nvPr/>
        </p:nvSpPr>
        <p:spPr>
          <a:xfrm>
            <a:off x="3581705" y="1285646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1" name="Text 74"/>
          <p:cNvSpPr txBox="1"/>
          <p:nvPr/>
        </p:nvSpPr>
        <p:spPr>
          <a:xfrm>
            <a:off x="3674974" y="1319479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Shape 75"/>
          <p:cNvSpPr/>
          <p:nvPr/>
        </p:nvSpPr>
        <p:spPr>
          <a:xfrm>
            <a:off x="6439205" y="1285646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3" name="Text 76"/>
          <p:cNvSpPr txBox="1"/>
          <p:nvPr/>
        </p:nvSpPr>
        <p:spPr>
          <a:xfrm>
            <a:off x="6532474" y="1319479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94" name="Shape 77"/>
          <p:cNvSpPr/>
          <p:nvPr/>
        </p:nvSpPr>
        <p:spPr>
          <a:xfrm>
            <a:off x="9296705" y="1285646"/>
            <a:ext cx="267005" cy="26700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5" name="Text 78"/>
          <p:cNvSpPr txBox="1"/>
          <p:nvPr/>
        </p:nvSpPr>
        <p:spPr>
          <a:xfrm>
            <a:off x="9389974" y="1319479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9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123798"/>
            <a:ext cx="1066830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228600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Generative AI Guidelines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523951"/>
            <a:ext cx="4627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사용 원칙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1695" y="1380744"/>
            <a:ext cx="5143500" cy="4181551"/>
          </a:xfrm>
          <a:prstGeom prst="roundRect">
            <a:avLst>
              <a:gd name="adj" fmla="val 797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1380744"/>
            <a:ext cx="57607" cy="418155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6307" y="2104949"/>
            <a:ext cx="45527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86307" y="164774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1705356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561795" y="1647749"/>
            <a:ext cx="1858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Do: 올바른 활용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86307" y="2391156"/>
            <a:ext cx="57607" cy="57607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20723" y="2289681"/>
            <a:ext cx="5256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결과물의 출처와 사용한 프롬프트를 명시합니다.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86307" y="3000146"/>
            <a:ext cx="57607" cy="57607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200607" y="3007308"/>
            <a:ext cx="5067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팩트 체크 (Fact Check)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환각(Hallucination) 가능성을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고려해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관계를 반드시 확인합니다.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86307" y="3848252"/>
            <a:ext cx="57607" cy="57607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00607" y="3737812"/>
            <a:ext cx="59335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윤리적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</a:t>
            </a:r>
            <a:endParaRPr lang="en-US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편향되거나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부적절한 표현은 사용자가 직접 필터링하고 수정합니다.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86500" y="1380744"/>
            <a:ext cx="5143500" cy="4181551"/>
          </a:xfrm>
          <a:prstGeom prst="roundRect">
            <a:avLst>
              <a:gd name="adj" fmla="val 797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286500" y="1380744"/>
            <a:ext cx="57607" cy="4181551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610198" y="2104949"/>
            <a:ext cx="45527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610198" y="164774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805" y="1705356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086600" y="1647749"/>
            <a:ext cx="19952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Don't: 주의 사항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6610198" y="2391156"/>
            <a:ext cx="57607" cy="57607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6743700" y="2303628"/>
            <a:ext cx="6409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</a:t>
            </a: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금지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자신과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타인의 민감한 정보나 대외비 데이터를 입력하지 않습니다.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10198" y="3000146"/>
            <a:ext cx="57607" cy="57607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6743700" y="2913533"/>
            <a:ext cx="6171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 </a:t>
            </a: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침해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창작물을 무단으로 모방하거나 그대로 사용하지 않습니다.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610198" y="3610051"/>
            <a:ext cx="57607" cy="57607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6743700" y="3522524"/>
            <a:ext cx="5714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맹목적 </a:t>
            </a: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금지</a:t>
            </a:r>
            <a:endParaRPr lang="en-US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답변을 비판 없이 최종 결과물로 확정하지 않습니다.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761695" y="5753405"/>
            <a:ext cx="10668305" cy="629107"/>
          </a:xfrm>
          <a:prstGeom prst="roundRect">
            <a:avLst>
              <a:gd name="adj" fmla="val 2642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0283" y="5971946"/>
            <a:ext cx="142646" cy="19019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3438144" y="5753405"/>
            <a:ext cx="56583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</a:t>
            </a:r>
            <a:r>
              <a:rPr lang="en-US" sz="1200" b="1" dirty="0" err="1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아이데이션</a:t>
            </a: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보조 및 초안 작성 도구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로만 활용 (최종 의사결정은 인간의 몫)</a:t>
            </a:r>
            <a:endParaRPr lang="en-US" sz="12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123798"/>
            <a:ext cx="1066830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293522"/>
            <a:ext cx="57442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Library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569671"/>
            <a:ext cx="79196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생성형 AI 프롬프트 템플릿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380744"/>
            <a:ext cx="3467405" cy="4086454"/>
          </a:xfrm>
          <a:prstGeom prst="roundRect">
            <a:avLst>
              <a:gd name="adj" fmla="val 1159"/>
            </a:avLst>
          </a:prstGeom>
          <a:solidFill>
            <a:srgbClr val="1E293B"/>
          </a:solidFill>
          <a:ln/>
          <a:effectLst>
            <a:outerShdw blurRad="139700" dist="1016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1380744"/>
            <a:ext cx="3467405" cy="47549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1619402"/>
            <a:ext cx="847649" cy="247802"/>
          </a:xfrm>
          <a:prstGeom prst="roundRect">
            <a:avLst>
              <a:gd name="adj" fmla="val 283849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847795" y="1664208"/>
            <a:ext cx="19019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52805" y="1976018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인터뷰 질문 생성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62602" y="1380744"/>
            <a:ext cx="3467405" cy="4086454"/>
          </a:xfrm>
          <a:prstGeom prst="roundRect">
            <a:avLst>
              <a:gd name="adj" fmla="val 1159"/>
            </a:avLst>
          </a:prstGeom>
          <a:solidFill>
            <a:srgbClr val="1E293B"/>
          </a:solidFill>
          <a:ln/>
          <a:effectLst>
            <a:outerShdw blurRad="139700" dist="1016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362602" y="1380744"/>
            <a:ext cx="3467405" cy="4754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552798" y="1619402"/>
            <a:ext cx="599846" cy="247802"/>
          </a:xfrm>
          <a:prstGeom prst="roundRect">
            <a:avLst>
              <a:gd name="adj" fmla="val 283849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87107" y="1664208"/>
            <a:ext cx="152705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52798" y="1976018"/>
            <a:ext cx="32004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&amp; POV 정의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962595" y="1380744"/>
            <a:ext cx="3467405" cy="4086454"/>
          </a:xfrm>
          <a:prstGeom prst="roundRect">
            <a:avLst>
              <a:gd name="adj" fmla="val 1159"/>
            </a:avLst>
          </a:prstGeom>
          <a:solidFill>
            <a:srgbClr val="1E293B"/>
          </a:solidFill>
          <a:ln/>
          <a:effectLst>
            <a:outerShdw blurRad="139700" dist="1016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962595" y="1380744"/>
            <a:ext cx="3467405" cy="4754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8153705" y="1619402"/>
            <a:ext cx="580644" cy="247802"/>
          </a:xfrm>
          <a:prstGeom prst="roundRect">
            <a:avLst>
              <a:gd name="adj" fmla="val 283849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11125505" y="1664208"/>
            <a:ext cx="114300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53705" y="1976018"/>
            <a:ext cx="32004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발산 (SCAMPER)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028700" y="1647749"/>
            <a:ext cx="771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EMPATHIZE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4629607" y="1647749"/>
            <a:ext cx="5239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8229600" y="1647749"/>
            <a:ext cx="505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IDEATE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952805" y="2328977"/>
            <a:ext cx="3086100" cy="1238098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3819449" y="2414930"/>
            <a:ext cx="133502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76249" y="2408568"/>
            <a:ext cx="2915107" cy="1886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Role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당신은 전문 UX 리서처입니다.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Task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[타겟 사용자]</a:t>
            </a: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가 겪는</a:t>
            </a: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[문제 상황]</a:t>
            </a: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에 대해 심층 인터뷰를 진행하려 합니다. 사용자의 잠재된 니즈를 파악할 수 있는 "열린 질문(Open-ended)" 10가지를 작성해주세요.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Constraint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단답형 질문은 제외하세요.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552798" y="2328977"/>
            <a:ext cx="3086100" cy="1238098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7420356" y="2414930"/>
            <a:ext cx="133502" cy="1335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677156" y="2452421"/>
            <a:ext cx="291510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Context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인터뷰 요약:</a:t>
            </a: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[인터뷰 내용]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Task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위 내용을 바탕으로 대표적인 페르소나 1명을 생성하고, 아래 형식으로 POV(Point of View)를 정의해주세요.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 Format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이름/나이/직업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Pain Point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POV: "</a:t>
            </a: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[사용자]</a:t>
            </a: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는</a:t>
            </a: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[이유]</a:t>
            </a: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때문에</a:t>
            </a: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[니즈]</a:t>
            </a: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를 원한다"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153705" y="2328977"/>
            <a:ext cx="3086100" cy="1238098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11020349" y="2414930"/>
            <a:ext cx="133502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267548" y="2392984"/>
            <a:ext cx="2915107" cy="1886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Problem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[정의된 문제]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Task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위 문제를 해결하기 위한 창의적인 아이디어 20개를 제안해주세요. SCAMPER 기법을 활용하여 기존의 방식을 비틀거나 결합하는 혁신적인 아이디어를 </a:t>
            </a:r>
            <a:r>
              <a:rPr lang="en-US" sz="900" dirty="0" err="1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포함해주세요</a:t>
            </a: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실현 가능성보다 독창성을 우선시하세요.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61695" y="5619902"/>
            <a:ext cx="10668305" cy="761695"/>
          </a:xfrm>
          <a:prstGeom prst="roundRect">
            <a:avLst>
              <a:gd name="adj" fmla="val 1800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1949" y="5928970"/>
            <a:ext cx="142646" cy="14264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181405" y="5893308"/>
            <a:ext cx="1250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변수 가이드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2410358" y="5781751"/>
            <a:ext cx="981151" cy="437998"/>
          </a:xfrm>
          <a:prstGeom prst="roundRect">
            <a:avLst>
              <a:gd name="adj" fmla="val 18154"/>
            </a:avLst>
          </a:prstGeom>
          <a:solidFill>
            <a:srgbClr val="FACC1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0"/>
          <p:cNvSpPr/>
          <p:nvPr/>
        </p:nvSpPr>
        <p:spPr>
          <a:xfrm>
            <a:off x="5356555" y="5781751"/>
            <a:ext cx="857707" cy="437998"/>
          </a:xfrm>
          <a:prstGeom prst="roundRect">
            <a:avLst>
              <a:gd name="adj" fmla="val 18154"/>
            </a:avLst>
          </a:prstGeom>
          <a:solidFill>
            <a:srgbClr val="FACC1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8496605" y="5781751"/>
            <a:ext cx="981151" cy="437998"/>
          </a:xfrm>
          <a:prstGeom prst="roundRect">
            <a:avLst>
              <a:gd name="adj" fmla="val 18154"/>
            </a:avLst>
          </a:prstGeom>
          <a:solidFill>
            <a:srgbClr val="FACC1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2457907" y="5820156"/>
            <a:ext cx="93634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[타겟 사용자]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3445459" y="5800954"/>
            <a:ext cx="231160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대학생, 1인 가구, 사회초년생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5404104" y="5820156"/>
            <a:ext cx="79735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[문제 상황]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6262726" y="5800954"/>
            <a:ext cx="2722169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수강신청 실패, 점심 메뉴 결정 장애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8544154" y="5820156"/>
            <a:ext cx="93634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[인터뷰 내용]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9531706" y="5800954"/>
            <a:ext cx="21150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수행한 인터뷰 노트 요약본</a:t>
            </a:r>
            <a:endParaRPr lang="en-US" sz="10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66598" y="1123798"/>
            <a:ext cx="10858500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66598" y="316382"/>
            <a:ext cx="26453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 &amp; Q&amp;A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66598" y="583387"/>
            <a:ext cx="373898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정리와 다음 단계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66598" y="1380744"/>
            <a:ext cx="5286146" cy="3762756"/>
          </a:xfrm>
          <a:prstGeom prst="roundRect">
            <a:avLst>
              <a:gd name="adj" fmla="val 73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66598" y="1380744"/>
            <a:ext cx="5286146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5198" y="1709928"/>
            <a:ext cx="142646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3856" y="1647749"/>
            <a:ext cx="10287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95198" y="2180844"/>
            <a:ext cx="114300" cy="133502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95198" y="2771546"/>
            <a:ext cx="114300" cy="13350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95198" y="3362249"/>
            <a:ext cx="114300" cy="13350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38951" y="1380744"/>
            <a:ext cx="5286146" cy="3762756"/>
          </a:xfrm>
          <a:prstGeom prst="roundRect">
            <a:avLst>
              <a:gd name="adj" fmla="val 73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6238951" y="1380744"/>
            <a:ext cx="5286146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467551" y="1709928"/>
            <a:ext cx="171907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734556" y="1647749"/>
            <a:ext cx="1882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 (과제)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6467551" y="2180844"/>
            <a:ext cx="105156" cy="133502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6467551" y="2771546"/>
            <a:ext cx="105156" cy="133502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6467551" y="3362249"/>
            <a:ext cx="105156" cy="13350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123798" y="2133295"/>
            <a:ext cx="4007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중심 공감 → 명확한 정의 → 다각도 아이데이션</a:t>
            </a:r>
            <a:endParaRPr lang="en-US" sz="1200" dirty="0"/>
          </a:p>
        </p:txBody>
      </p:sp>
      <p:sp>
        <p:nvSpPr>
          <p:cNvPr id="23" name="Text 13"/>
          <p:cNvSpPr txBox="1"/>
          <p:nvPr/>
        </p:nvSpPr>
        <p:spPr>
          <a:xfrm>
            <a:off x="1123798" y="2381098"/>
            <a:ext cx="33732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해결의 시작은 사용자에 대한 깊은 이해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1123798" y="2723998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포인트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1123798" y="2971800"/>
            <a:ext cx="3757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프로토타입 제작, 빠른 학습과 반복적인 개선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1123798" y="3314700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해결의 본질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1123798" y="3562502"/>
            <a:ext cx="4013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설계(Design)를 통해 실용적이고 기능적인 해답 도출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6687007" y="2133295"/>
            <a:ext cx="1156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팀 주제 선정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6687007" y="2381098"/>
            <a:ext cx="3318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간 논의를 통해 해결할 문제 영역 결정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6687007" y="2723998"/>
            <a:ext cx="21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공감 자료 수집 (3개 이상)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6687007" y="2971800"/>
            <a:ext cx="394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인터뷰, 관찰, 경험을 통한 실제 사용자 데이터 확보</a:t>
            </a:r>
            <a:endParaRPr lang="en-US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6687007" y="3314700"/>
            <a:ext cx="1043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1차안 작성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6687007" y="3562502"/>
            <a:ext cx="3300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브리프, 페르소나, HMW 질문 도출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666598" y="5333695"/>
            <a:ext cx="5391302" cy="1247902"/>
          </a:xfrm>
          <a:prstGeom prst="roundRect">
            <a:avLst>
              <a:gd name="adj" fmla="val 9519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5"/>
          <p:cNvSpPr txBox="1"/>
          <p:nvPr/>
        </p:nvSpPr>
        <p:spPr>
          <a:xfrm>
            <a:off x="866851" y="5481828"/>
            <a:ext cx="5106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References</a:t>
            </a:r>
            <a:endParaRPr lang="en-US" sz="10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866851" y="5790895"/>
            <a:ext cx="114300" cy="13350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057046" y="5757977"/>
            <a:ext cx="4648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 Brown, "Design Thinking", Harvard Business Review (2008)</a:t>
            </a:r>
            <a:endParaRPr lang="en-US" sz="10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866851" y="6029554"/>
            <a:ext cx="171907" cy="133502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114654" y="5995721"/>
            <a:ext cx="32762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Stanford d.school - Design Thinking Bootleg (5단계)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1114654" y="6233721"/>
            <a:ext cx="50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Sarah Gibbons, "Design Thinking 101", Nielsen Norman Group (2016)</a:t>
            </a:r>
            <a:endParaRPr lang="en-US" sz="10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7499-D6D1-C5AD-C7C5-D6DF087BB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A2A700-E2AA-191B-DF2D-F0CE8063F3F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5C85038-F443-B60D-CCB5-C1AA385F62A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0A7DB1-29F9-7029-0619-4AD4A8F72232}"/>
              </a:ext>
            </a:extLst>
          </p:cNvPr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A60724-15C5-A9E0-EED4-2F580F49EE32}"/>
              </a:ext>
            </a:extLst>
          </p:cNvPr>
          <p:cNvSpPr/>
          <p:nvPr/>
        </p:nvSpPr>
        <p:spPr>
          <a:xfrm>
            <a:off x="7429500" y="2095805"/>
            <a:ext cx="5715000" cy="57150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09B264-FA19-64CD-AC6F-F52760220645}"/>
              </a:ext>
            </a:extLst>
          </p:cNvPr>
          <p:cNvSpPr txBox="1"/>
          <p:nvPr/>
        </p:nvSpPr>
        <p:spPr>
          <a:xfrm>
            <a:off x="476402" y="913290"/>
            <a:ext cx="172913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375" dirty="0">
                <a:ln w="19050">
                  <a:solidFill>
                    <a:srgbClr val="3B82F6"/>
                  </a:solidFill>
                </a:ln>
                <a:solidFill>
                  <a:srgbClr val="1E293B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3CD8981-7E24-9EBC-2E43-CF7AB1CB91AE}"/>
              </a:ext>
            </a:extLst>
          </p:cNvPr>
          <p:cNvSpPr txBox="1"/>
          <p:nvPr/>
        </p:nvSpPr>
        <p:spPr>
          <a:xfrm>
            <a:off x="2247900" y="1809598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02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06CCA1B-A4F4-8FE0-315E-033BA5E03C3D}"/>
              </a:ext>
            </a:extLst>
          </p:cNvPr>
          <p:cNvSpPr/>
          <p:nvPr/>
        </p:nvSpPr>
        <p:spPr>
          <a:xfrm>
            <a:off x="571500" y="4025189"/>
            <a:ext cx="952805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E370498-4AC2-9AAC-6F22-E0962FAB93A3}"/>
              </a:ext>
            </a:extLst>
          </p:cNvPr>
          <p:cNvSpPr txBox="1"/>
          <p:nvPr/>
        </p:nvSpPr>
        <p:spPr>
          <a:xfrm>
            <a:off x="571499" y="4463186"/>
            <a:ext cx="1102831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씽킹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(Design Thinking)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프로세스는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다음 장과 같은 6단계(Gibbons, 2016)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구성되어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있습니다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교육에서는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1~5단계가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주로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가능하며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1단계 '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공감'은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혁신을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위한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첫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단계입니다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'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다시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2단계 '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정의'로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돌아가는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반복적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과정이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중요합니다</a:t>
            </a:r>
            <a:r>
              <a:rPr lang="en-US" altLang="ko-KR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altLang="ko-KR" sz="16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498DEA7-B5BC-ED0E-EE3B-2E8D8B1197DC}"/>
              </a:ext>
            </a:extLst>
          </p:cNvPr>
          <p:cNvSpPr txBox="1"/>
          <p:nvPr/>
        </p:nvSpPr>
        <p:spPr>
          <a:xfrm>
            <a:off x="571500" y="2222906"/>
            <a:ext cx="65919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요약정리</a:t>
            </a:r>
            <a:endParaRPr lang="en-US" sz="54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F08EE2FC-E972-8029-FA06-7D328DF1ABF0}"/>
              </a:ext>
            </a:extLst>
          </p:cNvPr>
          <p:cNvSpPr txBox="1"/>
          <p:nvPr/>
        </p:nvSpPr>
        <p:spPr>
          <a:xfrm>
            <a:off x="571500" y="3072384"/>
            <a:ext cx="6477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Summarization Phase</a:t>
            </a:r>
            <a:endParaRPr lang="en-US" sz="30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02648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923E3C-5EAB-A4E2-ACDE-002B4E8F045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69478B5-428F-FE44-F73C-100B0FFFCF03}"/>
              </a:ext>
            </a:extLst>
          </p:cNvPr>
          <p:cNvSpPr/>
          <p:nvPr/>
        </p:nvSpPr>
        <p:spPr>
          <a:xfrm flipV="1">
            <a:off x="3289357" y="1543891"/>
            <a:ext cx="3787705" cy="1575026"/>
          </a:xfrm>
          <a:prstGeom prst="rect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6769C44-14E4-CEA9-3B9A-F44F97F2F674}"/>
              </a:ext>
            </a:extLst>
          </p:cNvPr>
          <p:cNvSpPr/>
          <p:nvPr/>
        </p:nvSpPr>
        <p:spPr>
          <a:xfrm>
            <a:off x="638511" y="3669084"/>
            <a:ext cx="11077041" cy="45719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045811E-B937-4435-01BC-0C582D822729}"/>
              </a:ext>
            </a:extLst>
          </p:cNvPr>
          <p:cNvSpPr/>
          <p:nvPr/>
        </p:nvSpPr>
        <p:spPr>
          <a:xfrm>
            <a:off x="3257353" y="2849340"/>
            <a:ext cx="114300" cy="95098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FA7C74C-26DB-4F15-862C-DF4C5434BC7D}"/>
              </a:ext>
            </a:extLst>
          </p:cNvPr>
          <p:cNvSpPr/>
          <p:nvPr/>
        </p:nvSpPr>
        <p:spPr>
          <a:xfrm>
            <a:off x="7991202" y="2896889"/>
            <a:ext cx="95098" cy="9509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2D6100-B340-382F-6495-84E65D983478}"/>
              </a:ext>
            </a:extLst>
          </p:cNvPr>
          <p:cNvSpPr txBox="1"/>
          <p:nvPr/>
        </p:nvSpPr>
        <p:spPr>
          <a:xfrm>
            <a:off x="4796841" y="1211008"/>
            <a:ext cx="2444912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실패 시 재정의 (Iteration)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52DF3CC-CE17-189F-C9F2-2F380BF9D699}"/>
              </a:ext>
            </a:extLst>
          </p:cNvPr>
          <p:cNvSpPr/>
          <p:nvPr/>
        </p:nvSpPr>
        <p:spPr>
          <a:xfrm>
            <a:off x="666597" y="4259274"/>
            <a:ext cx="45719" cy="22154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3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A6BE993-3361-746A-CC2C-B91E97379417}"/>
              </a:ext>
            </a:extLst>
          </p:cNvPr>
          <p:cNvSpPr txBox="1"/>
          <p:nvPr/>
        </p:nvSpPr>
        <p:spPr>
          <a:xfrm>
            <a:off x="790956" y="4259275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아이스브레이크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20BDEC0-43D5-E64A-1F5F-8735A3159BBF}"/>
              </a:ext>
            </a:extLst>
          </p:cNvPr>
          <p:cNvSpPr txBox="1"/>
          <p:nvPr/>
        </p:nvSpPr>
        <p:spPr>
          <a:xfrm>
            <a:off x="790956" y="4484218"/>
            <a:ext cx="164200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icebreak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9BD5E54-C0FA-A9F9-DDBB-16B1FA787C91}"/>
              </a:ext>
            </a:extLst>
          </p:cNvPr>
          <p:cNvSpPr txBox="1"/>
          <p:nvPr/>
        </p:nvSpPr>
        <p:spPr>
          <a:xfrm>
            <a:off x="790956" y="4727448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닉네임 정하기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252BFC5-4F8B-A029-FCFC-0F6F4F24CC6A}"/>
              </a:ext>
            </a:extLst>
          </p:cNvPr>
          <p:cNvSpPr txBox="1"/>
          <p:nvPr/>
        </p:nvSpPr>
        <p:spPr>
          <a:xfrm>
            <a:off x="790955" y="4912157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얼굴 그리기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D49C239-B1FC-067C-286B-11ED574F183E}"/>
              </a:ext>
            </a:extLst>
          </p:cNvPr>
          <p:cNvSpPr txBox="1"/>
          <p:nvPr/>
        </p:nvSpPr>
        <p:spPr>
          <a:xfrm>
            <a:off x="790956" y="5182819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BE91463-517D-EFC4-F798-E6DBEE2CF632}"/>
              </a:ext>
            </a:extLst>
          </p:cNvPr>
          <p:cNvSpPr txBox="1"/>
          <p:nvPr/>
        </p:nvSpPr>
        <p:spPr>
          <a:xfrm>
            <a:off x="790956" y="5369357"/>
            <a:ext cx="164200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empathize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946F917-D028-3389-99E9-B98A7746D6CE}"/>
              </a:ext>
            </a:extLst>
          </p:cNvPr>
          <p:cNvSpPr txBox="1"/>
          <p:nvPr/>
        </p:nvSpPr>
        <p:spPr>
          <a:xfrm>
            <a:off x="790956" y="5574182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관찰/설문조사/인터뷰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7ED2213-7FED-C4C1-9629-45B74964E08A}"/>
              </a:ext>
            </a:extLst>
          </p:cNvPr>
          <p:cNvSpPr txBox="1"/>
          <p:nvPr/>
        </p:nvSpPr>
        <p:spPr>
          <a:xfrm>
            <a:off x="790956" y="5785802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롤플레잉게임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AF7D1F3-BC91-4B06-3020-608B5F03C091}"/>
              </a:ext>
            </a:extLst>
          </p:cNvPr>
          <p:cNvSpPr txBox="1"/>
          <p:nvPr/>
        </p:nvSpPr>
        <p:spPr>
          <a:xfrm>
            <a:off x="790956" y="5987451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벤치마킹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19B5EBA-576C-3599-08AC-19AA23965363}"/>
              </a:ext>
            </a:extLst>
          </p:cNvPr>
          <p:cNvSpPr txBox="1"/>
          <p:nvPr/>
        </p:nvSpPr>
        <p:spPr>
          <a:xfrm>
            <a:off x="790955" y="6204514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SWOT분석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AAE194E-5786-92CE-0DB7-6F3C73D88B53}"/>
              </a:ext>
            </a:extLst>
          </p:cNvPr>
          <p:cNvSpPr/>
          <p:nvPr/>
        </p:nvSpPr>
        <p:spPr>
          <a:xfrm>
            <a:off x="2572206" y="4259274"/>
            <a:ext cx="45719" cy="22154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36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B196BC5-D7BE-1E7C-AE0D-79B9638E3831}"/>
              </a:ext>
            </a:extLst>
          </p:cNvPr>
          <p:cNvSpPr txBox="1"/>
          <p:nvPr/>
        </p:nvSpPr>
        <p:spPr>
          <a:xfrm>
            <a:off x="2695651" y="4259275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방향성 정의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15AF422-7CE8-A8FB-61AD-504AD19AB45F}"/>
              </a:ext>
            </a:extLst>
          </p:cNvPr>
          <p:cNvSpPr txBox="1"/>
          <p:nvPr/>
        </p:nvSpPr>
        <p:spPr>
          <a:xfrm>
            <a:off x="2695651" y="4484218"/>
            <a:ext cx="164200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 project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ABAA1D5-5337-4883-F36B-B11A408FA943}"/>
              </a:ext>
            </a:extLst>
          </p:cNvPr>
          <p:cNvSpPr txBox="1"/>
          <p:nvPr/>
        </p:nvSpPr>
        <p:spPr>
          <a:xfrm>
            <a:off x="2695651" y="4727448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프로젝트브리프 작성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E5CA2BB-EECC-A11C-8852-59A1E81261D9}"/>
              </a:ext>
            </a:extLst>
          </p:cNvPr>
          <p:cNvSpPr txBox="1"/>
          <p:nvPr/>
        </p:nvSpPr>
        <p:spPr>
          <a:xfrm>
            <a:off x="2695651" y="4912157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 전략 수립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739289E-E9BF-396F-6DB5-710EE5D1EAE7}"/>
              </a:ext>
            </a:extLst>
          </p:cNvPr>
          <p:cNvSpPr txBox="1"/>
          <p:nvPr/>
        </p:nvSpPr>
        <p:spPr>
          <a:xfrm>
            <a:off x="2695651" y="5182819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정의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9E02548-5897-4DD6-B622-801CA1A19FD5}"/>
              </a:ext>
            </a:extLst>
          </p:cNvPr>
          <p:cNvSpPr txBox="1"/>
          <p:nvPr/>
        </p:nvSpPr>
        <p:spPr>
          <a:xfrm>
            <a:off x="2695651" y="5369357"/>
            <a:ext cx="164200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 user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2313CF3-9ABF-F57D-CDC7-B2B492B3D289}"/>
              </a:ext>
            </a:extLst>
          </p:cNvPr>
          <p:cNvSpPr txBox="1"/>
          <p:nvPr/>
        </p:nvSpPr>
        <p:spPr>
          <a:xfrm>
            <a:off x="2695651" y="5574182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정의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800552B-86B9-52CD-FB07-DE8AA67F5653}"/>
              </a:ext>
            </a:extLst>
          </p:cNvPr>
          <p:cNvSpPr txBox="1"/>
          <p:nvPr/>
        </p:nvSpPr>
        <p:spPr>
          <a:xfrm>
            <a:off x="2695651" y="5720486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정의</a:t>
            </a:r>
            <a:endParaRPr lang="en-US" sz="12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F562916-2BE5-6D16-FF35-5982FC0E9767}"/>
              </a:ext>
            </a:extLst>
          </p:cNvPr>
          <p:cNvSpPr/>
          <p:nvPr/>
        </p:nvSpPr>
        <p:spPr>
          <a:xfrm>
            <a:off x="4476901" y="4259274"/>
            <a:ext cx="45719" cy="22154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36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2AFE92D-6EE0-0D70-0B39-1BABF7A232C6}"/>
              </a:ext>
            </a:extLst>
          </p:cNvPr>
          <p:cNvSpPr txBox="1"/>
          <p:nvPr/>
        </p:nvSpPr>
        <p:spPr>
          <a:xfrm>
            <a:off x="4600346" y="4259275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브레인스토밍</a:t>
            </a:r>
            <a:endParaRPr lang="en-US" sz="14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4BBE4FA-0FD9-035D-3EF6-DD11699F9E47}"/>
              </a:ext>
            </a:extLst>
          </p:cNvPr>
          <p:cNvSpPr txBox="1"/>
          <p:nvPr/>
        </p:nvSpPr>
        <p:spPr>
          <a:xfrm>
            <a:off x="4606922" y="4435440"/>
            <a:ext cx="164200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brainstorming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24C0C38-B525-8566-8690-15901D301E31}"/>
              </a:ext>
            </a:extLst>
          </p:cNvPr>
          <p:cNvSpPr txBox="1"/>
          <p:nvPr/>
        </p:nvSpPr>
        <p:spPr>
          <a:xfrm>
            <a:off x="4600346" y="4727448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마인드맵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69DEF6E-D573-BAC2-A3ED-8ED4A7779982}"/>
              </a:ext>
            </a:extLst>
          </p:cNvPr>
          <p:cNvSpPr txBox="1"/>
          <p:nvPr/>
        </p:nvSpPr>
        <p:spPr>
          <a:xfrm>
            <a:off x="4600346" y="4912157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포스트업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90290E8-07F4-9111-3AA8-20C957E4A88D}"/>
              </a:ext>
            </a:extLst>
          </p:cNvPr>
          <p:cNvSpPr txBox="1"/>
          <p:nvPr/>
        </p:nvSpPr>
        <p:spPr>
          <a:xfrm>
            <a:off x="4600346" y="5096866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브레인라이팅</a:t>
            </a:r>
            <a:endParaRPr lang="en-US" sz="1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EDB492D-2CD5-9E8A-38A5-D0E8B94BA2F7}"/>
              </a:ext>
            </a:extLst>
          </p:cNvPr>
          <p:cNvSpPr txBox="1"/>
          <p:nvPr/>
        </p:nvSpPr>
        <p:spPr>
          <a:xfrm>
            <a:off x="4600346" y="5367528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시각화</a:t>
            </a:r>
            <a:endParaRPr lang="en-US" sz="14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F373A78-98CF-0D2D-C706-892893348A94}"/>
              </a:ext>
            </a:extLst>
          </p:cNvPr>
          <p:cNvSpPr txBox="1"/>
          <p:nvPr/>
        </p:nvSpPr>
        <p:spPr>
          <a:xfrm>
            <a:off x="4600346" y="5554066"/>
            <a:ext cx="164200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visualize idea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AB2E5D0-8FCD-B028-6921-1BF417DB301C}"/>
              </a:ext>
            </a:extLst>
          </p:cNvPr>
          <p:cNvSpPr txBox="1"/>
          <p:nvPr/>
        </p:nvSpPr>
        <p:spPr>
          <a:xfrm>
            <a:off x="4600345" y="5758891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시나리오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087AB5B-BD7B-4C13-AC8D-111027DE75B5}"/>
              </a:ext>
            </a:extLst>
          </p:cNvPr>
          <p:cNvSpPr txBox="1"/>
          <p:nvPr/>
        </p:nvSpPr>
        <p:spPr>
          <a:xfrm>
            <a:off x="4600346" y="5975954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정보구조도/스토리보드</a:t>
            </a:r>
            <a:endParaRPr lang="en-US" sz="12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3F55451-AB3B-0AD1-A0F7-15497479A026}"/>
              </a:ext>
            </a:extLst>
          </p:cNvPr>
          <p:cNvSpPr txBox="1"/>
          <p:nvPr/>
        </p:nvSpPr>
        <p:spPr>
          <a:xfrm>
            <a:off x="4600346" y="6183046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방향성</a:t>
            </a:r>
            <a:endParaRPr lang="en-US" sz="12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CE662F5-1C4C-89D3-D25D-AB4A2B932FE0}"/>
              </a:ext>
            </a:extLst>
          </p:cNvPr>
          <p:cNvSpPr/>
          <p:nvPr/>
        </p:nvSpPr>
        <p:spPr>
          <a:xfrm>
            <a:off x="6381597" y="4259274"/>
            <a:ext cx="45719" cy="22154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36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C74CEB4-BF5F-FDED-1E7B-AF7FEA0729C3}"/>
              </a:ext>
            </a:extLst>
          </p:cNvPr>
          <p:cNvSpPr txBox="1"/>
          <p:nvPr/>
        </p:nvSpPr>
        <p:spPr>
          <a:xfrm>
            <a:off x="6505956" y="4259275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프로토타이핑</a:t>
            </a:r>
            <a:endParaRPr lang="en-US" sz="14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28C6F93-E85A-0196-03F4-1E0452BC0213}"/>
              </a:ext>
            </a:extLst>
          </p:cNvPr>
          <p:cNvSpPr txBox="1"/>
          <p:nvPr/>
        </p:nvSpPr>
        <p:spPr>
          <a:xfrm>
            <a:off x="6505956" y="4484218"/>
            <a:ext cx="164200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prototyping</a:t>
            </a: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6571E44-EDFE-B9EB-865D-EE259324304D}"/>
              </a:ext>
            </a:extLst>
          </p:cNvPr>
          <p:cNvSpPr txBox="1"/>
          <p:nvPr/>
        </p:nvSpPr>
        <p:spPr>
          <a:xfrm>
            <a:off x="6505956" y="4727448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레고 실습</a:t>
            </a:r>
            <a:endParaRPr lang="en-US" sz="12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7ABECB4-1673-E4DA-3BE4-BB512EEC71D6}"/>
              </a:ext>
            </a:extLst>
          </p:cNvPr>
          <p:cNvSpPr txBox="1"/>
          <p:nvPr/>
        </p:nvSpPr>
        <p:spPr>
          <a:xfrm>
            <a:off x="6505956" y="4912157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시안 제작</a:t>
            </a:r>
            <a:endParaRPr lang="en-US" sz="12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A5B08839-1FB2-E857-BFDB-02E9CDC9E042}"/>
              </a:ext>
            </a:extLst>
          </p:cNvPr>
          <p:cNvSpPr txBox="1"/>
          <p:nvPr/>
        </p:nvSpPr>
        <p:spPr>
          <a:xfrm>
            <a:off x="6505955" y="5096866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목업 (Mock-up)</a:t>
            </a:r>
            <a:endParaRPr lang="en-US" sz="12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67D9A9C0-554F-68C4-D0A6-8A8B3C832E3F}"/>
              </a:ext>
            </a:extLst>
          </p:cNvPr>
          <p:cNvSpPr/>
          <p:nvPr/>
        </p:nvSpPr>
        <p:spPr>
          <a:xfrm>
            <a:off x="8287206" y="4259274"/>
            <a:ext cx="45719" cy="22154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36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B85AABD2-7D64-141E-6BB4-88B13EB8C37D}"/>
              </a:ext>
            </a:extLst>
          </p:cNvPr>
          <p:cNvSpPr txBox="1"/>
          <p:nvPr/>
        </p:nvSpPr>
        <p:spPr>
          <a:xfrm>
            <a:off x="8410651" y="4259275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사용성 테스트</a:t>
            </a:r>
            <a:endParaRPr lang="en-US" sz="14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2E65897-6792-D44E-7BEC-F6733B972ABD}"/>
              </a:ext>
            </a:extLst>
          </p:cNvPr>
          <p:cNvSpPr txBox="1"/>
          <p:nvPr/>
        </p:nvSpPr>
        <p:spPr>
          <a:xfrm>
            <a:off x="8410651" y="4484218"/>
            <a:ext cx="164200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usability test</a:t>
            </a:r>
            <a:endParaRPr lang="en-US" sz="12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CAD01F6-E138-4C5A-C391-D052945ABD0C}"/>
              </a:ext>
            </a:extLst>
          </p:cNvPr>
          <p:cNvSpPr txBox="1"/>
          <p:nvPr/>
        </p:nvSpPr>
        <p:spPr>
          <a:xfrm>
            <a:off x="8410650" y="4727448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사용대상자 선정</a:t>
            </a:r>
            <a:endParaRPr lang="en-US" sz="12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6737E89-A1C7-532B-36BA-3A308C64F524}"/>
              </a:ext>
            </a:extLst>
          </p:cNvPr>
          <p:cNvSpPr txBox="1"/>
          <p:nvPr/>
        </p:nvSpPr>
        <p:spPr>
          <a:xfrm>
            <a:off x="8410651" y="4912157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사용형태 관찰</a:t>
            </a:r>
            <a:endParaRPr lang="en-US" sz="12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CED0F69F-AB44-9265-E9B1-D3B9751414A0}"/>
              </a:ext>
            </a:extLst>
          </p:cNvPr>
          <p:cNvSpPr txBox="1"/>
          <p:nvPr/>
        </p:nvSpPr>
        <p:spPr>
          <a:xfrm>
            <a:off x="8410650" y="5096866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사용경험 인터뷰</a:t>
            </a:r>
            <a:endParaRPr lang="en-US" sz="12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98825FE7-242E-5386-4A76-B70BFE9F5509}"/>
              </a:ext>
            </a:extLst>
          </p:cNvPr>
          <p:cNvSpPr txBox="1"/>
          <p:nvPr/>
        </p:nvSpPr>
        <p:spPr>
          <a:xfrm>
            <a:off x="8410651" y="5281574"/>
            <a:ext cx="1667676" cy="1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수집 및 분석</a:t>
            </a:r>
            <a:endParaRPr lang="en-US" sz="12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1ADB2FC-F8B2-3AC6-4DC4-2E8CD0B56B16}"/>
              </a:ext>
            </a:extLst>
          </p:cNvPr>
          <p:cNvSpPr/>
          <p:nvPr/>
        </p:nvSpPr>
        <p:spPr>
          <a:xfrm>
            <a:off x="571500" y="933602"/>
            <a:ext cx="11048695" cy="1920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E96E499-6A1A-96BB-44B6-A691678CAE1E}"/>
              </a:ext>
            </a:extLst>
          </p:cNvPr>
          <p:cNvSpPr txBox="1"/>
          <p:nvPr/>
        </p:nvSpPr>
        <p:spPr>
          <a:xfrm>
            <a:off x="571500" y="283464"/>
            <a:ext cx="3553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Thinking Process</a:t>
            </a:r>
            <a:endParaRPr lang="en-US" sz="105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2AEB1D1-21F9-E418-942C-774FFBA44CB2}"/>
              </a:ext>
            </a:extLst>
          </p:cNvPr>
          <p:cNvSpPr txBox="1"/>
          <p:nvPr/>
        </p:nvSpPr>
        <p:spPr>
          <a:xfrm>
            <a:off x="571500" y="579140"/>
            <a:ext cx="4083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디자인씽킹 6단계 프로세스</a:t>
            </a:r>
            <a:endParaRPr lang="en-US" sz="28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5122229D-702B-A16C-BDE4-86960E5477CF}"/>
              </a:ext>
            </a:extLst>
          </p:cNvPr>
          <p:cNvSpPr/>
          <p:nvPr/>
        </p:nvSpPr>
        <p:spPr>
          <a:xfrm>
            <a:off x="771099" y="1706340"/>
            <a:ext cx="1143000" cy="1143000"/>
          </a:xfrm>
          <a:prstGeom prst="ellipse">
            <a:avLst/>
          </a:prstGeom>
          <a:solidFill>
            <a:srgbClr val="FCA5A5"/>
          </a:solidFill>
          <a:ln w="50800">
            <a:solidFill>
              <a:srgbClr val="0F172A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208A217-6E9C-E3EF-6BF1-8C1FE19B9C7F}"/>
              </a:ext>
            </a:extLst>
          </p:cNvPr>
          <p:cNvSpPr txBox="1"/>
          <p:nvPr/>
        </p:nvSpPr>
        <p:spPr>
          <a:xfrm>
            <a:off x="1203610" y="1944084"/>
            <a:ext cx="3621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36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B38CE883-34C0-6A52-EF3E-133E9A1B06C2}"/>
              </a:ext>
            </a:extLst>
          </p:cNvPr>
          <p:cNvSpPr/>
          <p:nvPr/>
        </p:nvSpPr>
        <p:spPr>
          <a:xfrm>
            <a:off x="676002" y="2944438"/>
            <a:ext cx="1333195" cy="57150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E7ACCB4F-7837-CB32-4A38-D5F3B6E84741}"/>
              </a:ext>
            </a:extLst>
          </p:cNvPr>
          <p:cNvSpPr/>
          <p:nvPr/>
        </p:nvSpPr>
        <p:spPr>
          <a:xfrm>
            <a:off x="676002" y="2944438"/>
            <a:ext cx="1333195" cy="38405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0A7ED1F-6BD5-7C0A-6EE2-457B4E261AFF}"/>
              </a:ext>
            </a:extLst>
          </p:cNvPr>
          <p:cNvSpPr txBox="1"/>
          <p:nvPr/>
        </p:nvSpPr>
        <p:spPr>
          <a:xfrm>
            <a:off x="622966" y="3058738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</a:t>
            </a:r>
            <a:endParaRPr lang="en-US" sz="1200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523CFCDF-9898-3E7B-A830-E94E7587F2C9}"/>
              </a:ext>
            </a:extLst>
          </p:cNvPr>
          <p:cNvSpPr txBox="1"/>
          <p:nvPr/>
        </p:nvSpPr>
        <p:spPr>
          <a:xfrm>
            <a:off x="638511" y="3260820"/>
            <a:ext cx="1410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Empathize</a:t>
            </a:r>
            <a:endParaRPr lang="en-US" sz="900" dirty="0"/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9B567FE5-538B-A0DE-2FF0-4A1B14877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01" b="-301"/>
          <a:stretch/>
        </p:blipFill>
        <p:spPr>
          <a:xfrm>
            <a:off x="2171960" y="2531129"/>
            <a:ext cx="75895" cy="152705"/>
          </a:xfrm>
          <a:prstGeom prst="rect">
            <a:avLst/>
          </a:prstGeom>
        </p:spPr>
      </p:pic>
      <p:sp>
        <p:nvSpPr>
          <p:cNvPr id="67" name="Shape 64">
            <a:extLst>
              <a:ext uri="{FF2B5EF4-FFF2-40B4-BE49-F238E27FC236}">
                <a16:creationId xmlns:a16="http://schemas.microsoft.com/office/drawing/2014/main" id="{9910BBBB-B02E-9372-D2AB-1AB00EE31289}"/>
              </a:ext>
            </a:extLst>
          </p:cNvPr>
          <p:cNvSpPr/>
          <p:nvPr/>
        </p:nvSpPr>
        <p:spPr>
          <a:xfrm>
            <a:off x="2676709" y="1706340"/>
            <a:ext cx="1143000" cy="1143000"/>
          </a:xfrm>
          <a:prstGeom prst="ellipse">
            <a:avLst/>
          </a:prstGeom>
          <a:solidFill>
            <a:srgbClr val="F87171"/>
          </a:solidFill>
          <a:ln w="50800">
            <a:solidFill>
              <a:srgbClr val="0F172A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18B556DF-D3FE-B49A-ADB4-9E535445B2EA}"/>
              </a:ext>
            </a:extLst>
          </p:cNvPr>
          <p:cNvSpPr txBox="1"/>
          <p:nvPr/>
        </p:nvSpPr>
        <p:spPr>
          <a:xfrm>
            <a:off x="3108306" y="1944084"/>
            <a:ext cx="3621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3600" dirty="0"/>
          </a:p>
        </p:txBody>
      </p:sp>
      <p:sp>
        <p:nvSpPr>
          <p:cNvPr id="69" name="Shape 66">
            <a:extLst>
              <a:ext uri="{FF2B5EF4-FFF2-40B4-BE49-F238E27FC236}">
                <a16:creationId xmlns:a16="http://schemas.microsoft.com/office/drawing/2014/main" id="{BF6BA1C0-BF97-4ACF-0656-5E1CAAA027A5}"/>
              </a:ext>
            </a:extLst>
          </p:cNvPr>
          <p:cNvSpPr/>
          <p:nvPr/>
        </p:nvSpPr>
        <p:spPr>
          <a:xfrm>
            <a:off x="2581611" y="2944438"/>
            <a:ext cx="1333195" cy="57150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7">
            <a:extLst>
              <a:ext uri="{FF2B5EF4-FFF2-40B4-BE49-F238E27FC236}">
                <a16:creationId xmlns:a16="http://schemas.microsoft.com/office/drawing/2014/main" id="{FE8BC8DF-B21F-FB59-200E-0D5E9C759CF2}"/>
              </a:ext>
            </a:extLst>
          </p:cNvPr>
          <p:cNvSpPr/>
          <p:nvPr/>
        </p:nvSpPr>
        <p:spPr>
          <a:xfrm>
            <a:off x="2581611" y="2944438"/>
            <a:ext cx="1333195" cy="38405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5088EDEA-7510-15D8-5F28-75C7A6057541}"/>
              </a:ext>
            </a:extLst>
          </p:cNvPr>
          <p:cNvSpPr txBox="1"/>
          <p:nvPr/>
        </p:nvSpPr>
        <p:spPr>
          <a:xfrm>
            <a:off x="2527662" y="3058738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200" dirty="0"/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C3F4315D-6313-F2BA-0040-9018AD687032}"/>
              </a:ext>
            </a:extLst>
          </p:cNvPr>
          <p:cNvSpPr txBox="1"/>
          <p:nvPr/>
        </p:nvSpPr>
        <p:spPr>
          <a:xfrm>
            <a:off x="2543206" y="3260820"/>
            <a:ext cx="1410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</a:t>
            </a:r>
            <a:endParaRPr lang="en-US" sz="900" dirty="0"/>
          </a:p>
        </p:txBody>
      </p:sp>
      <p:pic>
        <p:nvPicPr>
          <p:cNvPr id="73" name="Image 1" descr="preencoded.png">
            <a:extLst>
              <a:ext uri="{FF2B5EF4-FFF2-40B4-BE49-F238E27FC236}">
                <a16:creationId xmlns:a16="http://schemas.microsoft.com/office/drawing/2014/main" id="{EA5FC857-97BC-F2DA-5DF6-068A42D210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01" b="-301"/>
          <a:stretch/>
        </p:blipFill>
        <p:spPr>
          <a:xfrm>
            <a:off x="4076655" y="2531129"/>
            <a:ext cx="75895" cy="152705"/>
          </a:xfrm>
          <a:prstGeom prst="rect">
            <a:avLst/>
          </a:prstGeom>
        </p:spPr>
      </p:pic>
      <p:sp>
        <p:nvSpPr>
          <p:cNvPr id="74" name="Shape 70">
            <a:extLst>
              <a:ext uri="{FF2B5EF4-FFF2-40B4-BE49-F238E27FC236}">
                <a16:creationId xmlns:a16="http://schemas.microsoft.com/office/drawing/2014/main" id="{EB45CC6B-3563-C17B-4A86-DDA7D691A891}"/>
              </a:ext>
            </a:extLst>
          </p:cNvPr>
          <p:cNvSpPr/>
          <p:nvPr/>
        </p:nvSpPr>
        <p:spPr>
          <a:xfrm>
            <a:off x="4581404" y="1706340"/>
            <a:ext cx="1143000" cy="1143000"/>
          </a:xfrm>
          <a:prstGeom prst="ellipse">
            <a:avLst/>
          </a:prstGeom>
          <a:solidFill>
            <a:srgbClr val="F472B6"/>
          </a:solidFill>
          <a:ln w="50800">
            <a:solidFill>
              <a:srgbClr val="0F172A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1">
            <a:extLst>
              <a:ext uri="{FF2B5EF4-FFF2-40B4-BE49-F238E27FC236}">
                <a16:creationId xmlns:a16="http://schemas.microsoft.com/office/drawing/2014/main" id="{830E3762-5634-1DE5-F1CE-70C58C54E0D7}"/>
              </a:ext>
            </a:extLst>
          </p:cNvPr>
          <p:cNvSpPr txBox="1"/>
          <p:nvPr/>
        </p:nvSpPr>
        <p:spPr>
          <a:xfrm>
            <a:off x="5013915" y="1944084"/>
            <a:ext cx="3621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3600" dirty="0"/>
          </a:p>
        </p:txBody>
      </p:sp>
      <p:sp>
        <p:nvSpPr>
          <p:cNvPr id="76" name="Shape 72">
            <a:extLst>
              <a:ext uri="{FF2B5EF4-FFF2-40B4-BE49-F238E27FC236}">
                <a16:creationId xmlns:a16="http://schemas.microsoft.com/office/drawing/2014/main" id="{F6327935-7098-5236-9524-057B533001F0}"/>
              </a:ext>
            </a:extLst>
          </p:cNvPr>
          <p:cNvSpPr/>
          <p:nvPr/>
        </p:nvSpPr>
        <p:spPr>
          <a:xfrm>
            <a:off x="4486306" y="2944438"/>
            <a:ext cx="1333195" cy="57150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3">
            <a:extLst>
              <a:ext uri="{FF2B5EF4-FFF2-40B4-BE49-F238E27FC236}">
                <a16:creationId xmlns:a16="http://schemas.microsoft.com/office/drawing/2014/main" id="{BDE5347B-EDFD-4416-8963-DA56EDF3527B}"/>
              </a:ext>
            </a:extLst>
          </p:cNvPr>
          <p:cNvSpPr/>
          <p:nvPr/>
        </p:nvSpPr>
        <p:spPr>
          <a:xfrm>
            <a:off x="4486306" y="2944438"/>
            <a:ext cx="1333195" cy="38405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4">
            <a:extLst>
              <a:ext uri="{FF2B5EF4-FFF2-40B4-BE49-F238E27FC236}">
                <a16:creationId xmlns:a16="http://schemas.microsoft.com/office/drawing/2014/main" id="{F0208CEC-AACD-DEAB-5610-8C75141A4903}"/>
              </a:ext>
            </a:extLst>
          </p:cNvPr>
          <p:cNvSpPr txBox="1"/>
          <p:nvPr/>
        </p:nvSpPr>
        <p:spPr>
          <a:xfrm>
            <a:off x="4432357" y="3058738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도출</a:t>
            </a:r>
            <a:endParaRPr lang="en-US" sz="1200" dirty="0"/>
          </a:p>
        </p:txBody>
      </p:sp>
      <p:sp>
        <p:nvSpPr>
          <p:cNvPr id="79" name="Text 75">
            <a:extLst>
              <a:ext uri="{FF2B5EF4-FFF2-40B4-BE49-F238E27FC236}">
                <a16:creationId xmlns:a16="http://schemas.microsoft.com/office/drawing/2014/main" id="{E3890EEF-27AB-2500-8060-396717868B1C}"/>
              </a:ext>
            </a:extLst>
          </p:cNvPr>
          <p:cNvSpPr txBox="1"/>
          <p:nvPr/>
        </p:nvSpPr>
        <p:spPr>
          <a:xfrm>
            <a:off x="4447902" y="3260820"/>
            <a:ext cx="1410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Ideate</a:t>
            </a:r>
            <a:endParaRPr lang="en-US" sz="900" dirty="0"/>
          </a:p>
        </p:txBody>
      </p:sp>
      <p:pic>
        <p:nvPicPr>
          <p:cNvPr id="80" name="Image 2" descr="preencoded.png">
            <a:extLst>
              <a:ext uri="{FF2B5EF4-FFF2-40B4-BE49-F238E27FC236}">
                <a16:creationId xmlns:a16="http://schemas.microsoft.com/office/drawing/2014/main" id="{6D7998A4-DC8A-7A53-792D-A077FD6308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01" b="-301"/>
          <a:stretch/>
        </p:blipFill>
        <p:spPr>
          <a:xfrm>
            <a:off x="5981350" y="2531129"/>
            <a:ext cx="75895" cy="152705"/>
          </a:xfrm>
          <a:prstGeom prst="rect">
            <a:avLst/>
          </a:prstGeom>
        </p:spPr>
      </p:pic>
      <p:sp>
        <p:nvSpPr>
          <p:cNvPr id="81" name="Shape 76">
            <a:extLst>
              <a:ext uri="{FF2B5EF4-FFF2-40B4-BE49-F238E27FC236}">
                <a16:creationId xmlns:a16="http://schemas.microsoft.com/office/drawing/2014/main" id="{B4B313D0-CFA1-97A4-B3DB-35DCC3CF003A}"/>
              </a:ext>
            </a:extLst>
          </p:cNvPr>
          <p:cNvSpPr/>
          <p:nvPr/>
        </p:nvSpPr>
        <p:spPr>
          <a:xfrm>
            <a:off x="6486099" y="1706340"/>
            <a:ext cx="1143000" cy="1143000"/>
          </a:xfrm>
          <a:prstGeom prst="ellipse">
            <a:avLst/>
          </a:prstGeom>
          <a:solidFill>
            <a:srgbClr val="C084FC"/>
          </a:solidFill>
          <a:ln w="50800">
            <a:solidFill>
              <a:srgbClr val="0F172A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7">
            <a:extLst>
              <a:ext uri="{FF2B5EF4-FFF2-40B4-BE49-F238E27FC236}">
                <a16:creationId xmlns:a16="http://schemas.microsoft.com/office/drawing/2014/main" id="{791B2BB5-FE78-0871-350D-AF73C26AE04A}"/>
              </a:ext>
            </a:extLst>
          </p:cNvPr>
          <p:cNvSpPr txBox="1"/>
          <p:nvPr/>
        </p:nvSpPr>
        <p:spPr>
          <a:xfrm>
            <a:off x="6918610" y="1944084"/>
            <a:ext cx="3621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3600" dirty="0"/>
          </a:p>
        </p:txBody>
      </p:sp>
      <p:sp>
        <p:nvSpPr>
          <p:cNvPr id="83" name="Shape 78">
            <a:extLst>
              <a:ext uri="{FF2B5EF4-FFF2-40B4-BE49-F238E27FC236}">
                <a16:creationId xmlns:a16="http://schemas.microsoft.com/office/drawing/2014/main" id="{0A8E6099-74A9-A6CF-40FA-7E84E7A060B9}"/>
              </a:ext>
            </a:extLst>
          </p:cNvPr>
          <p:cNvSpPr/>
          <p:nvPr/>
        </p:nvSpPr>
        <p:spPr>
          <a:xfrm>
            <a:off x="6391002" y="2944438"/>
            <a:ext cx="1333195" cy="57150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79">
            <a:extLst>
              <a:ext uri="{FF2B5EF4-FFF2-40B4-BE49-F238E27FC236}">
                <a16:creationId xmlns:a16="http://schemas.microsoft.com/office/drawing/2014/main" id="{B000201B-8AC9-EC1A-9CA6-E9ED4CA996EB}"/>
              </a:ext>
            </a:extLst>
          </p:cNvPr>
          <p:cNvSpPr/>
          <p:nvPr/>
        </p:nvSpPr>
        <p:spPr>
          <a:xfrm>
            <a:off x="6391002" y="2944438"/>
            <a:ext cx="1333195" cy="38405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0">
            <a:extLst>
              <a:ext uri="{FF2B5EF4-FFF2-40B4-BE49-F238E27FC236}">
                <a16:creationId xmlns:a16="http://schemas.microsoft.com/office/drawing/2014/main" id="{8482D63E-C07A-53CA-585F-2E0C7B9FC990}"/>
              </a:ext>
            </a:extLst>
          </p:cNvPr>
          <p:cNvSpPr txBox="1"/>
          <p:nvPr/>
        </p:nvSpPr>
        <p:spPr>
          <a:xfrm>
            <a:off x="6337966" y="3058738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시제품 제작</a:t>
            </a:r>
            <a:endParaRPr lang="en-US" sz="1200" dirty="0"/>
          </a:p>
        </p:txBody>
      </p:sp>
      <p:sp>
        <p:nvSpPr>
          <p:cNvPr id="86" name="Text 81">
            <a:extLst>
              <a:ext uri="{FF2B5EF4-FFF2-40B4-BE49-F238E27FC236}">
                <a16:creationId xmlns:a16="http://schemas.microsoft.com/office/drawing/2014/main" id="{F75105B7-10B6-E08E-A19A-45BEC9B18C17}"/>
              </a:ext>
            </a:extLst>
          </p:cNvPr>
          <p:cNvSpPr txBox="1"/>
          <p:nvPr/>
        </p:nvSpPr>
        <p:spPr>
          <a:xfrm>
            <a:off x="6353511" y="3260820"/>
            <a:ext cx="1410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Prototype</a:t>
            </a:r>
            <a:endParaRPr lang="en-US" sz="900" dirty="0"/>
          </a:p>
        </p:txBody>
      </p:sp>
      <p:pic>
        <p:nvPicPr>
          <p:cNvPr id="87" name="Image 3" descr="preencoded.png">
            <a:extLst>
              <a:ext uri="{FF2B5EF4-FFF2-40B4-BE49-F238E27FC236}">
                <a16:creationId xmlns:a16="http://schemas.microsoft.com/office/drawing/2014/main" id="{1BFF6A8B-902A-5B30-C664-D6DE37DD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01" b="-301"/>
          <a:stretch/>
        </p:blipFill>
        <p:spPr>
          <a:xfrm>
            <a:off x="7886960" y="2531129"/>
            <a:ext cx="75895" cy="152705"/>
          </a:xfrm>
          <a:prstGeom prst="rect">
            <a:avLst/>
          </a:prstGeom>
        </p:spPr>
      </p:pic>
      <p:sp>
        <p:nvSpPr>
          <p:cNvPr id="88" name="Shape 82">
            <a:extLst>
              <a:ext uri="{FF2B5EF4-FFF2-40B4-BE49-F238E27FC236}">
                <a16:creationId xmlns:a16="http://schemas.microsoft.com/office/drawing/2014/main" id="{0600CEA2-4508-FDB0-4FA3-3B47C12A8202}"/>
              </a:ext>
            </a:extLst>
          </p:cNvPr>
          <p:cNvSpPr/>
          <p:nvPr/>
        </p:nvSpPr>
        <p:spPr>
          <a:xfrm>
            <a:off x="8391709" y="1706340"/>
            <a:ext cx="1143000" cy="1143000"/>
          </a:xfrm>
          <a:prstGeom prst="ellipse">
            <a:avLst/>
          </a:prstGeom>
          <a:solidFill>
            <a:srgbClr val="60A5FA"/>
          </a:solidFill>
          <a:ln w="50800">
            <a:solidFill>
              <a:srgbClr val="0F172A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3">
            <a:extLst>
              <a:ext uri="{FF2B5EF4-FFF2-40B4-BE49-F238E27FC236}">
                <a16:creationId xmlns:a16="http://schemas.microsoft.com/office/drawing/2014/main" id="{0E4F1F63-F296-6324-CB76-4F8B1BCBD194}"/>
              </a:ext>
            </a:extLst>
          </p:cNvPr>
          <p:cNvSpPr txBox="1"/>
          <p:nvPr/>
        </p:nvSpPr>
        <p:spPr>
          <a:xfrm>
            <a:off x="8823306" y="1944084"/>
            <a:ext cx="3621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3600" dirty="0"/>
          </a:p>
        </p:txBody>
      </p:sp>
      <p:sp>
        <p:nvSpPr>
          <p:cNvPr id="90" name="Shape 84">
            <a:extLst>
              <a:ext uri="{FF2B5EF4-FFF2-40B4-BE49-F238E27FC236}">
                <a16:creationId xmlns:a16="http://schemas.microsoft.com/office/drawing/2014/main" id="{3DD611B8-5504-602D-166F-A8B4F6DFA587}"/>
              </a:ext>
            </a:extLst>
          </p:cNvPr>
          <p:cNvSpPr/>
          <p:nvPr/>
        </p:nvSpPr>
        <p:spPr>
          <a:xfrm>
            <a:off x="8296611" y="2944438"/>
            <a:ext cx="1333195" cy="57150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5">
            <a:extLst>
              <a:ext uri="{FF2B5EF4-FFF2-40B4-BE49-F238E27FC236}">
                <a16:creationId xmlns:a16="http://schemas.microsoft.com/office/drawing/2014/main" id="{4D4C25A7-40A1-CCC4-DCB1-CE558225060A}"/>
              </a:ext>
            </a:extLst>
          </p:cNvPr>
          <p:cNvSpPr/>
          <p:nvPr/>
        </p:nvSpPr>
        <p:spPr>
          <a:xfrm>
            <a:off x="8296611" y="2944438"/>
            <a:ext cx="1333195" cy="38405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6">
            <a:extLst>
              <a:ext uri="{FF2B5EF4-FFF2-40B4-BE49-F238E27FC236}">
                <a16:creationId xmlns:a16="http://schemas.microsoft.com/office/drawing/2014/main" id="{8608C387-7891-9520-2230-B91263AA767A}"/>
              </a:ext>
            </a:extLst>
          </p:cNvPr>
          <p:cNvSpPr txBox="1"/>
          <p:nvPr/>
        </p:nvSpPr>
        <p:spPr>
          <a:xfrm>
            <a:off x="8242662" y="3058738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93" name="Text 87">
            <a:extLst>
              <a:ext uri="{FF2B5EF4-FFF2-40B4-BE49-F238E27FC236}">
                <a16:creationId xmlns:a16="http://schemas.microsoft.com/office/drawing/2014/main" id="{FCD8CB81-AAD3-94BE-E44F-BC4BF861E5D5}"/>
              </a:ext>
            </a:extLst>
          </p:cNvPr>
          <p:cNvSpPr txBox="1"/>
          <p:nvPr/>
        </p:nvSpPr>
        <p:spPr>
          <a:xfrm>
            <a:off x="8258206" y="3260820"/>
            <a:ext cx="1410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pic>
        <p:nvPicPr>
          <p:cNvPr id="94" name="Image 4" descr="preencoded.png">
            <a:extLst>
              <a:ext uri="{FF2B5EF4-FFF2-40B4-BE49-F238E27FC236}">
                <a16:creationId xmlns:a16="http://schemas.microsoft.com/office/drawing/2014/main" id="{339F4AAB-D793-43DA-6FC2-8D8EEF70B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01" b="-301"/>
          <a:stretch/>
        </p:blipFill>
        <p:spPr>
          <a:xfrm>
            <a:off x="9791655" y="2531129"/>
            <a:ext cx="75895" cy="152705"/>
          </a:xfrm>
          <a:prstGeom prst="rect">
            <a:avLst/>
          </a:prstGeom>
        </p:spPr>
      </p:pic>
      <p:sp>
        <p:nvSpPr>
          <p:cNvPr id="95" name="Shape 88">
            <a:extLst>
              <a:ext uri="{FF2B5EF4-FFF2-40B4-BE49-F238E27FC236}">
                <a16:creationId xmlns:a16="http://schemas.microsoft.com/office/drawing/2014/main" id="{B252EA81-6549-229F-FD68-F24C94EB88DC}"/>
              </a:ext>
            </a:extLst>
          </p:cNvPr>
          <p:cNvSpPr/>
          <p:nvPr/>
        </p:nvSpPr>
        <p:spPr>
          <a:xfrm>
            <a:off x="10296404" y="1706340"/>
            <a:ext cx="1143000" cy="1143000"/>
          </a:xfrm>
          <a:prstGeom prst="ellipse">
            <a:avLst/>
          </a:prstGeom>
          <a:solidFill>
            <a:srgbClr val="4ADE80"/>
          </a:solidFill>
          <a:ln w="50800">
            <a:solidFill>
              <a:srgbClr val="0F172A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6" name="Text 89">
            <a:extLst>
              <a:ext uri="{FF2B5EF4-FFF2-40B4-BE49-F238E27FC236}">
                <a16:creationId xmlns:a16="http://schemas.microsoft.com/office/drawing/2014/main" id="{CFD9DEEF-E1D3-37C5-18B1-3D78A3B3531D}"/>
              </a:ext>
            </a:extLst>
          </p:cNvPr>
          <p:cNvSpPr txBox="1"/>
          <p:nvPr/>
        </p:nvSpPr>
        <p:spPr>
          <a:xfrm>
            <a:off x="10728915" y="1944084"/>
            <a:ext cx="3621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3600" dirty="0"/>
          </a:p>
        </p:txBody>
      </p:sp>
      <p:sp>
        <p:nvSpPr>
          <p:cNvPr id="97" name="Shape 90">
            <a:extLst>
              <a:ext uri="{FF2B5EF4-FFF2-40B4-BE49-F238E27FC236}">
                <a16:creationId xmlns:a16="http://schemas.microsoft.com/office/drawing/2014/main" id="{1169DA0A-5310-228F-2684-8241BE8DDA61}"/>
              </a:ext>
            </a:extLst>
          </p:cNvPr>
          <p:cNvSpPr/>
          <p:nvPr/>
        </p:nvSpPr>
        <p:spPr>
          <a:xfrm>
            <a:off x="10201306" y="2944438"/>
            <a:ext cx="1333195" cy="57150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1">
            <a:extLst>
              <a:ext uri="{FF2B5EF4-FFF2-40B4-BE49-F238E27FC236}">
                <a16:creationId xmlns:a16="http://schemas.microsoft.com/office/drawing/2014/main" id="{E17C9E78-9893-490B-B7D6-82A19ABDA3A6}"/>
              </a:ext>
            </a:extLst>
          </p:cNvPr>
          <p:cNvSpPr/>
          <p:nvPr/>
        </p:nvSpPr>
        <p:spPr>
          <a:xfrm>
            <a:off x="10201306" y="2944438"/>
            <a:ext cx="1333195" cy="38405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2">
            <a:extLst>
              <a:ext uri="{FF2B5EF4-FFF2-40B4-BE49-F238E27FC236}">
                <a16:creationId xmlns:a16="http://schemas.microsoft.com/office/drawing/2014/main" id="{F040377F-9EB0-D4D8-1841-4359D9039087}"/>
              </a:ext>
            </a:extLst>
          </p:cNvPr>
          <p:cNvSpPr txBox="1"/>
          <p:nvPr/>
        </p:nvSpPr>
        <p:spPr>
          <a:xfrm>
            <a:off x="10148271" y="3058738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실현</a:t>
            </a:r>
            <a:endParaRPr lang="en-US" sz="1200" dirty="0"/>
          </a:p>
        </p:txBody>
      </p:sp>
      <p:sp>
        <p:nvSpPr>
          <p:cNvPr id="100" name="Text 93">
            <a:extLst>
              <a:ext uri="{FF2B5EF4-FFF2-40B4-BE49-F238E27FC236}">
                <a16:creationId xmlns:a16="http://schemas.microsoft.com/office/drawing/2014/main" id="{908EB2D0-A1DD-28D9-7733-B8E3002ACBCB}"/>
              </a:ext>
            </a:extLst>
          </p:cNvPr>
          <p:cNvSpPr txBox="1"/>
          <p:nvPr/>
        </p:nvSpPr>
        <p:spPr>
          <a:xfrm>
            <a:off x="10162902" y="3260820"/>
            <a:ext cx="1410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</a:t>
            </a:r>
            <a:endParaRPr lang="en-US" sz="900" dirty="0"/>
          </a:p>
        </p:txBody>
      </p:sp>
      <p:sp>
        <p:nvSpPr>
          <p:cNvPr id="101" name="Stage3 Note"/>
          <p:cNvSpPr txBox="1"/>
          <p:nvPr/>
        </p:nvSpPr>
        <p:spPr>
          <a:xfrm>
            <a:off x="571500" y="6500000"/>
            <a:ext cx="11049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6단계 구성: Gibbons, S. (2016). Design thinking 101. Nielsen Norman Group. https://www.nngroup.com/articles/design-thinking/</a:t>
            </a:r>
          </a:p>
        </p:txBody>
      </p:sp>
      <p:sp>
        <p:nvSpPr>
          <p:cNvPr id="10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54700383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1758</Words>
  <Application>Microsoft Office PowerPoint</Application>
  <PresentationFormat>와이드스크린</PresentationFormat>
  <Paragraphs>418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Noto Sans KR</vt:lpstr>
      <vt:lpstr>Noto Serif KR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4</cp:revision>
  <dcterms:created xsi:type="dcterms:W3CDTF">2026-01-25T19:07:46Z</dcterms:created>
  <dcterms:modified xsi:type="dcterms:W3CDTF">2026-01-25T20:50:28Z</dcterms:modified>
</cp:coreProperties>
</file>