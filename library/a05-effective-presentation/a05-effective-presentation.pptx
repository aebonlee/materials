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83" r:id="rId34"/>
    <p:sldId id="284" r:id="rId35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853" autoAdjust="0"/>
  </p:normalViewPr>
  <p:slideViewPr>
    <p:cSldViewPr snapToGrid="0" snapToObjects="1">
      <p:cViewPr varScale="1">
        <p:scale>
          <a:sx n="130" d="100"/>
          <a:sy n="130" d="100"/>
        </p:scale>
        <p:origin x="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28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mailto:aebon@hs.ac.k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23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52.png"/><Relationship Id="rId7" Type="http://schemas.openxmlformats.org/officeDocument/2006/relationships/image" Target="../media/image54.png"/><Relationship Id="rId8" Type="http://schemas.openxmlformats.org/officeDocument/2006/relationships/image" Target="../media/image45.png"/><Relationship Id="rId9" Type="http://schemas.openxmlformats.org/officeDocument/2006/relationships/image" Target="../media/image4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Relationship Id="rId11" Type="http://schemas.openxmlformats.org/officeDocument/2006/relationships/image" Target="../media/image131.png"/><Relationship Id="rId12" Type="http://schemas.openxmlformats.org/officeDocument/2006/relationships/image" Target="../media/image1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image" Target="../media/image140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4.png"/><Relationship Id="rId4" Type="http://schemas.openxmlformats.org/officeDocument/2006/relationships/image" Target="../media/image1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86443" y="752594"/>
            <a:ext cx="533474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EFFECTIVE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86443" y="1455681"/>
            <a:ext cx="70705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PRESENTATION SKILL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562746" y="495604"/>
            <a:ext cx="3019349" cy="418795"/>
          </a:xfrm>
          <a:prstGeom prst="roundRect">
            <a:avLst>
              <a:gd name="adj" fmla="val 148869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810548" y="590702"/>
            <a:ext cx="2661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PROFESSIONAL TRAINING COURSE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6342" b="6342"/>
          <a:stretch/>
        </p:blipFill>
        <p:spPr>
          <a:xfrm>
            <a:off x="886443" y="2530145"/>
            <a:ext cx="6385368" cy="3831466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0E578862-E4CD-0C2D-6B00-12B4CAC570C3}"/>
              </a:ext>
            </a:extLst>
          </p:cNvPr>
          <p:cNvGrpSpPr/>
          <p:nvPr/>
        </p:nvGrpSpPr>
        <p:grpSpPr>
          <a:xfrm>
            <a:off x="8504049" y="5521147"/>
            <a:ext cx="2968317" cy="631851"/>
            <a:chOff x="609905" y="5558463"/>
            <a:chExt cx="2968317" cy="631851"/>
          </a:xfrm>
        </p:grpSpPr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57CFB921-A933-9FA0-5E1A-77B33DC83B73}"/>
                </a:ext>
              </a:extLst>
            </p:cNvPr>
            <p:cNvSpPr txBox="1"/>
            <p:nvPr/>
          </p:nvSpPr>
          <p:spPr>
            <a:xfrm>
              <a:off x="609905" y="5650992"/>
              <a:ext cx="4005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강사</a:t>
              </a:r>
              <a:endParaRPr lang="en-US" sz="13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93DED78D-EB7E-9320-D7EC-8549BCA381FA}"/>
                </a:ext>
              </a:extLst>
            </p:cNvPr>
            <p:cNvSpPr/>
            <p:nvPr/>
          </p:nvSpPr>
          <p:spPr>
            <a:xfrm>
              <a:off x="1077163" y="5631790"/>
              <a:ext cx="9144" cy="304495"/>
            </a:xfrm>
            <a:prstGeom prst="rect">
              <a:avLst/>
            </a:prstGeom>
            <a:solidFill>
              <a:srgbClr val="D1D5D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119C32F-B06D-07A3-2CF1-54846EFD1520}"/>
                </a:ext>
              </a:extLst>
            </p:cNvPr>
            <p:cNvSpPr txBox="1"/>
            <p:nvPr/>
          </p:nvSpPr>
          <p:spPr>
            <a:xfrm>
              <a:off x="609905" y="5558463"/>
              <a:ext cx="2968317" cy="631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50000"/>
                </a:lnSpc>
                <a:buNone/>
              </a:pPr>
              <a:r>
                <a:rPr lang="ko-KR" altLang="en-US" sz="20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 애 본 </a:t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  <a:hlinkClick r:id="rId4"/>
                </a:rPr>
                <a:t>aebon@hs.ac.kr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</a:p>
            <a:p>
              <a:pPr marL="0" indent="0" algn="r">
                <a:buNone/>
              </a:pP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한신대학교 </a:t>
              </a:r>
              <a:r>
                <a:rPr lang="en-US" altLang="ko-KR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AI.SW</a:t>
              </a: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대학</a:t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endParaRPr lang="en-US" sz="1300" dirty="0"/>
            </a:p>
          </p:txBody>
        </p:sp>
      </p:grp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0554005" y="286207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JANUARY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14807" y="609905"/>
            <a:ext cx="11163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OF CONTENTS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09905" y="1904695"/>
            <a:ext cx="10972800" cy="1800454"/>
          </a:xfrm>
          <a:prstGeom prst="roundRect">
            <a:avLst>
              <a:gd name="adj" fmla="val 8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37681" b="37681"/>
          <a:stretch/>
        </p:blipFill>
        <p:spPr>
          <a:xfrm>
            <a:off x="609905" y="1904695"/>
            <a:ext cx="10972800" cy="18004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0552" y="4313225"/>
            <a:ext cx="1266444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500" dirty="0"/>
          </a:p>
        </p:txBody>
      </p:sp>
      <p:sp>
        <p:nvSpPr>
          <p:cNvPr id="9" name="Text 6"/>
          <p:cNvSpPr txBox="1"/>
          <p:nvPr/>
        </p:nvSpPr>
        <p:spPr>
          <a:xfrm>
            <a:off x="2012028" y="4476205"/>
            <a:ext cx="20336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프레젠테이션 개요</a:t>
            </a:r>
            <a:endParaRPr lang="en-US" sz="1800" b="1" dirty="0"/>
          </a:p>
        </p:txBody>
      </p:sp>
      <p:sp>
        <p:nvSpPr>
          <p:cNvPr id="10" name="Text 7"/>
          <p:cNvSpPr txBox="1"/>
          <p:nvPr/>
        </p:nvSpPr>
        <p:spPr>
          <a:xfrm>
            <a:off x="2012028" y="4849280"/>
            <a:ext cx="1991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정의, 특징, 종류 및 목적과</a:t>
            </a:r>
            <a:endParaRPr lang="en-US" sz="1200" b="1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프레젠테이션의 기초</a:t>
            </a:r>
            <a:endParaRPr lang="en-US" sz="1200" b="1" dirty="0"/>
          </a:p>
        </p:txBody>
      </p:sp>
      <p:sp>
        <p:nvSpPr>
          <p:cNvPr id="11" name="Text 8"/>
          <p:cNvSpPr txBox="1"/>
          <p:nvPr/>
        </p:nvSpPr>
        <p:spPr>
          <a:xfrm>
            <a:off x="4503463" y="4313225"/>
            <a:ext cx="1266444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500" dirty="0"/>
          </a:p>
        </p:txBody>
      </p:sp>
      <p:sp>
        <p:nvSpPr>
          <p:cNvPr id="12" name="Text 9"/>
          <p:cNvSpPr txBox="1"/>
          <p:nvPr/>
        </p:nvSpPr>
        <p:spPr>
          <a:xfrm>
            <a:off x="5644939" y="4476205"/>
            <a:ext cx="25054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효과적인 프레젠테이션</a:t>
            </a:r>
            <a:endParaRPr lang="en-US" sz="1800" b="1" dirty="0"/>
          </a:p>
        </p:txBody>
      </p:sp>
      <p:sp>
        <p:nvSpPr>
          <p:cNvPr id="13" name="Text 10"/>
          <p:cNvSpPr txBox="1"/>
          <p:nvPr/>
        </p:nvSpPr>
        <p:spPr>
          <a:xfrm>
            <a:off x="5644939" y="484928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4P (Planning, Preparation,</a:t>
            </a:r>
            <a:endParaRPr lang="en-US" sz="1200" b="1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Practicing, Performing) 프로세스</a:t>
            </a:r>
            <a:endParaRPr lang="en-US" sz="1200" b="1" dirty="0"/>
          </a:p>
        </p:txBody>
      </p:sp>
      <p:sp>
        <p:nvSpPr>
          <p:cNvPr id="14" name="Text 11"/>
          <p:cNvSpPr txBox="1"/>
          <p:nvPr/>
        </p:nvSpPr>
        <p:spPr>
          <a:xfrm>
            <a:off x="8344248" y="4313225"/>
            <a:ext cx="1266444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500" dirty="0"/>
          </a:p>
        </p:txBody>
      </p:sp>
      <p:sp>
        <p:nvSpPr>
          <p:cNvPr id="15" name="Text 12"/>
          <p:cNvSpPr txBox="1"/>
          <p:nvPr/>
        </p:nvSpPr>
        <p:spPr>
          <a:xfrm>
            <a:off x="9485724" y="4476205"/>
            <a:ext cx="108813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스킬</a:t>
            </a:r>
            <a:endParaRPr lang="en-US" sz="1800" b="1" dirty="0"/>
          </a:p>
        </p:txBody>
      </p:sp>
      <p:sp>
        <p:nvSpPr>
          <p:cNvPr id="16" name="Text 13"/>
          <p:cNvSpPr txBox="1"/>
          <p:nvPr/>
        </p:nvSpPr>
        <p:spPr>
          <a:xfrm>
            <a:off x="9485724" y="4849280"/>
            <a:ext cx="1813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 분석, 논리 전개,</a:t>
            </a:r>
            <a:endParaRPr lang="en-US" sz="1200" b="1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시각자료 작성 및 Q&amp;A 대응</a:t>
            </a:r>
            <a:endParaRPr lang="en-US" sz="1200" b="1" dirty="0"/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31597" y="1035101"/>
            <a:ext cx="5800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6908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570025" y="1158545"/>
            <a:ext cx="72109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프레젠테이션의 정의와 특징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315554" y="1093622"/>
            <a:ext cx="342168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EFFECTIVE PRESENTATION SKILL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03120"/>
            <a:ext cx="5447995" cy="401465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7707" y="2502713"/>
            <a:ext cx="685800" cy="6858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90" r="-90"/>
          <a:stretch/>
        </p:blipFill>
        <p:spPr>
          <a:xfrm>
            <a:off x="1009498" y="2693822"/>
            <a:ext cx="381305" cy="3044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3469" y="2692908"/>
            <a:ext cx="4839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프레젠테이션의 정의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1693469" y="3260293"/>
            <a:ext cx="47247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일반적 커뮤니케이션과 </a:t>
            </a: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구별되는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목표 지향적 의사소통 수단입니다.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068934" y="3969410"/>
            <a:ext cx="46204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1:N 의사소통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다수의 청중을 대상으로 함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068934" y="4365346"/>
            <a:ext cx="48362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목표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설득, 정보 전달, 동기 부여 등 뚜렷한 목적 존재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68934" y="4762195"/>
            <a:ext cx="46204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철저한 준비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치밀한 계획과 많은 시간 투자가 필수적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40334" y="5170932"/>
            <a:ext cx="4647895" cy="676656"/>
          </a:xfrm>
          <a:prstGeom prst="roundRect">
            <a:avLst>
              <a:gd name="adj" fmla="val 30453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7" name="Text 13"/>
          <p:cNvSpPr txBox="1"/>
          <p:nvPr/>
        </p:nvSpPr>
        <p:spPr>
          <a:xfrm>
            <a:off x="972922" y="5399532"/>
            <a:ext cx="4391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"청중의 마음을 움직이는 전략적 행위"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86500" y="2103120"/>
            <a:ext cx="5447995" cy="401465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687007" y="2502713"/>
            <a:ext cx="685800" cy="6858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77202" y="2693822"/>
            <a:ext cx="304495" cy="3044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14539" y="2684678"/>
            <a:ext cx="4839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 사회에서의 특징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480353" y="3363597"/>
            <a:ext cx="5256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사회에서 그 중요성이 지속적으로 증대되고 있는 핵심 역량입니다.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871716" y="3906317"/>
            <a:ext cx="4610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빈도의 증가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업무 환경에서 발표 기회가 지속적으로 확대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871716" y="4303166"/>
            <a:ext cx="4610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 불가성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타인이 대신 수행하거나 도와줄 수 없음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871716" y="4699102"/>
            <a:ext cx="4610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개인과 회사의 능력을 평가하는 주요 척도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643116" y="5153558"/>
            <a:ext cx="4647895" cy="676656"/>
          </a:xfrm>
          <a:prstGeom prst="roundRect">
            <a:avLst>
              <a:gd name="adj" fmla="val 30453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7" name="Text 21"/>
          <p:cNvSpPr txBox="1"/>
          <p:nvPr/>
        </p:nvSpPr>
        <p:spPr>
          <a:xfrm>
            <a:off x="6776618" y="5382158"/>
            <a:ext cx="4381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"남이 대신할 수 없는 고유한 경쟁력"</a:t>
            </a:r>
            <a:endParaRPr lang="en-US" sz="14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51900" y="1540979"/>
            <a:ext cx="10778686" cy="45719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51899" y="931990"/>
            <a:ext cx="673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프레젠테이션을 하는 이유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706456" y="948909"/>
            <a:ext cx="2744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IMPACT &amp; STATISTICS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7897" y="1763816"/>
            <a:ext cx="3068304" cy="4223048"/>
          </a:xfrm>
          <a:prstGeom prst="roundRect">
            <a:avLst>
              <a:gd name="adj" fmla="val 1086"/>
            </a:avLst>
          </a:prstGeom>
          <a:solidFill>
            <a:srgbClr val="FFF9F5"/>
          </a:solidFill>
          <a:ln w="25400">
            <a:solidFill>
              <a:srgbClr val="FF6908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09515" y="2204925"/>
            <a:ext cx="685800" cy="6858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27" r="-27"/>
          <a:stretch/>
        </p:blipFill>
        <p:spPr>
          <a:xfrm>
            <a:off x="2037531" y="2375917"/>
            <a:ext cx="428854" cy="3429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97451" y="2834816"/>
            <a:ext cx="170809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+43%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1397451" y="3729229"/>
            <a:ext cx="171632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성사율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93616" y="4332646"/>
            <a:ext cx="27249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효과적인 </a:t>
            </a: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프레젠테이션은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계약 성공 </a:t>
            </a: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확률을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획기적으로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높입니다.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076980" y="1802849"/>
            <a:ext cx="3581705" cy="1994089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479577" y="2309817"/>
            <a:ext cx="476402" cy="476402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03936" y="2434175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70275" y="2146946"/>
            <a:ext cx="14197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+23%</a:t>
            </a:r>
            <a:endParaRPr lang="en-US" sz="3600" dirty="0"/>
          </a:p>
        </p:txBody>
      </p:sp>
      <p:sp>
        <p:nvSpPr>
          <p:cNvPr id="18" name="Text 14"/>
          <p:cNvSpPr txBox="1"/>
          <p:nvPr/>
        </p:nvSpPr>
        <p:spPr>
          <a:xfrm>
            <a:off x="5107182" y="2604146"/>
            <a:ext cx="1410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증진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4190038" y="3070490"/>
            <a:ext cx="3238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설득력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향상으로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직접적인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 증대에 기여합니다.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848880" y="1802849"/>
            <a:ext cx="3581705" cy="1994089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251477" y="2309817"/>
            <a:ext cx="476402" cy="476402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75836" y="2434175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942175" y="2146946"/>
            <a:ext cx="1286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+40%</a:t>
            </a:r>
            <a:endParaRPr lang="en-US" sz="3600" dirty="0"/>
          </a:p>
        </p:txBody>
      </p:sp>
      <p:sp>
        <p:nvSpPr>
          <p:cNvPr id="24" name="Text 19"/>
          <p:cNvSpPr txBox="1"/>
          <p:nvPr/>
        </p:nvSpPr>
        <p:spPr>
          <a:xfrm>
            <a:off x="8879082" y="2604146"/>
            <a:ext cx="1410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절약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7961938" y="3070490"/>
            <a:ext cx="3238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의사소통으로 불필요한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시간을 단축합니다.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076980" y="4033638"/>
            <a:ext cx="3581705" cy="1994088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4539928" y="4463862"/>
            <a:ext cx="476402" cy="476402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4649656" y="4587306"/>
            <a:ext cx="256946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230626" y="4300076"/>
            <a:ext cx="13594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+43%</a:t>
            </a:r>
            <a:endParaRPr lang="en-US" sz="3600" dirty="0"/>
          </a:p>
        </p:txBody>
      </p:sp>
      <p:sp>
        <p:nvSpPr>
          <p:cNvPr id="30" name="Text 24"/>
          <p:cNvSpPr txBox="1"/>
          <p:nvPr/>
        </p:nvSpPr>
        <p:spPr>
          <a:xfrm>
            <a:off x="5014828" y="4757276"/>
            <a:ext cx="171632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설득력 증가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4250389" y="5223620"/>
            <a:ext cx="3238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자료를 활용할 때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설득력이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크게 향상됩니다.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848880" y="4033638"/>
            <a:ext cx="3581705" cy="1994088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8311828" y="4463862"/>
            <a:ext cx="476402" cy="476402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406926" y="4587306"/>
            <a:ext cx="286207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002526" y="4300076"/>
            <a:ext cx="1286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+38%</a:t>
            </a:r>
            <a:endParaRPr lang="en-US" sz="3600" dirty="0"/>
          </a:p>
        </p:txBody>
      </p:sp>
      <p:sp>
        <p:nvSpPr>
          <p:cNvPr id="36" name="Text 29"/>
          <p:cNvSpPr txBox="1"/>
          <p:nvPr/>
        </p:nvSpPr>
        <p:spPr>
          <a:xfrm>
            <a:off x="8939433" y="4757276"/>
            <a:ext cx="1410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청중 유치</a:t>
            </a:r>
            <a:endParaRPr lang="en-US" sz="2200" dirty="0"/>
          </a:p>
        </p:txBody>
      </p:sp>
      <p:sp>
        <p:nvSpPr>
          <p:cNvPr id="37" name="Text 30"/>
          <p:cNvSpPr txBox="1"/>
          <p:nvPr/>
        </p:nvSpPr>
        <p:spPr>
          <a:xfrm>
            <a:off x="8022289" y="5223620"/>
            <a:ext cx="3238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매력적인 발표는 더 많은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참여를 이끌어냅니다.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190780" y="6173116"/>
            <a:ext cx="11239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University Minnesota / Wharton University / UCLA / Harvard Business Review</a:t>
            </a:r>
            <a:endParaRPr lang="en-US" sz="9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5703" y="710707"/>
            <a:ext cx="85350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프레젠테이션의 종류와 목적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844077" y="1244063"/>
            <a:ext cx="2747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EFFECTIVE PRESENTATION SKILL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3988" y="1974712"/>
            <a:ext cx="430378" cy="4303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40180" y="1833590"/>
            <a:ext cx="436534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전달 (Information Delivery)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473251" y="2392115"/>
            <a:ext cx="5534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지식, 기술, 정보, 아이디어, 사건 등을 청중이 명확히 </a:t>
            </a:r>
            <a:r>
              <a:rPr lang="en-US" sz="14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이해하도록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사실에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기반하여 전달하는 것을 목적으로 합니다.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2500" b="-12500"/>
          <a:stretch/>
        </p:blipFill>
        <p:spPr>
          <a:xfrm>
            <a:off x="678180" y="3557539"/>
            <a:ext cx="571500" cy="5715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40180" y="3481339"/>
            <a:ext cx="24871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설득 (Persuasion)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1473251" y="4039863"/>
            <a:ext cx="5534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발표자의 의도대로 청중의 마음을 움직여 태도나 행동의 변화를 이끌어내고, 구매나 계약과 같은 의사결정을 유도합니다.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733523" y="5281488"/>
            <a:ext cx="450843" cy="4508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40180" y="5129088"/>
            <a:ext cx="3032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 부여 (Motivation)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1473251" y="5687612"/>
            <a:ext cx="5534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청중의 공감대를 형성하고 긍정적 마인드를 고취시켜,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조직의</a:t>
            </a: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힘을 결집하거나 개인의 열정을 자극합니다.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alphaModFix amt="30000"/>
          </a:blip>
          <a:srcRect l="-2089" r="-2089"/>
          <a:stretch/>
        </p:blipFill>
        <p:spPr>
          <a:xfrm>
            <a:off x="1058875" y="3243595"/>
            <a:ext cx="5456225" cy="9144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>
            <a:alphaModFix amt="30000"/>
          </a:blip>
          <a:srcRect l="-2089" r="-2089"/>
          <a:stretch/>
        </p:blipFill>
        <p:spPr>
          <a:xfrm>
            <a:off x="1058875" y="4891344"/>
            <a:ext cx="5456225" cy="9144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 l="20082" r="20082"/>
          <a:stretch/>
        </p:blipFill>
        <p:spPr>
          <a:xfrm>
            <a:off x="7528647" y="1738035"/>
            <a:ext cx="4153205" cy="4629607"/>
          </a:xfrm>
          <a:prstGeom prst="rect">
            <a:avLst/>
          </a:prstGeom>
        </p:spPr>
      </p:pic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99847" y="627279"/>
            <a:ext cx="759866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설득력의</a:t>
            </a:r>
            <a:r>
              <a:rPr lang="en-US" sz="36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600" b="1" kern="0" spc="-37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요소</a:t>
            </a:r>
            <a:r>
              <a:rPr lang="en-US" sz="36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: 내용 vs 방법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844077" y="464515"/>
            <a:ext cx="2747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EFFECTIVE PRESENTATION SKILL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905" y="1318565"/>
            <a:ext cx="5524805" cy="1561795"/>
          </a:xfrm>
          <a:prstGeom prst="roundRect">
            <a:avLst>
              <a:gd name="adj" fmla="val 5712"/>
            </a:avLst>
          </a:prstGeom>
          <a:solidFill>
            <a:srgbClr val="2D2D2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43407" y="1547165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설득 효과 공식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10660" y="1851660"/>
            <a:ext cx="516818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내용(Content) × 전달 방법(Method)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설득 효과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3108960"/>
            <a:ext cx="5715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설득력 비교 예시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905" y="3689604"/>
            <a:ext cx="2667305" cy="1990649"/>
          </a:xfrm>
          <a:prstGeom prst="roundRect">
            <a:avLst>
              <a:gd name="adj" fmla="val 3517"/>
            </a:avLst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19302" y="3899002"/>
            <a:ext cx="23381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9302" y="4241902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품질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53589" y="4241902"/>
            <a:ext cx="495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100점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9302" y="4547311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 방법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36799" y="4547311"/>
            <a:ext cx="409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302" y="4927702"/>
            <a:ext cx="2247595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19302" y="5166360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설득 효과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39873" y="5090465"/>
            <a:ext cx="5074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3463747" y="3689604"/>
            <a:ext cx="2667305" cy="1990649"/>
          </a:xfrm>
          <a:prstGeom prst="roundRect">
            <a:avLst>
              <a:gd name="adj" fmla="val 3517"/>
            </a:avLst>
          </a:prstGeom>
          <a:solidFill>
            <a:srgbClr val="FFF9F5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3673145" y="3899002"/>
            <a:ext cx="23381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73145" y="4241902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품질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97957" y="4241902"/>
            <a:ext cx="400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90점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73145" y="4547311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 방법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90642" y="4547311"/>
            <a:ext cx="409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73145" y="4927702"/>
            <a:ext cx="2247595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3673145" y="5166360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설득 효과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93715" y="5090465"/>
            <a:ext cx="5074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609905" y="5947258"/>
            <a:ext cx="598683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아무리</a:t>
            </a:r>
            <a:r>
              <a:rPr lang="en-US" sz="1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좋은 내용(100점)이라도 전달 방법이 미흡하면(50%), </a:t>
            </a:r>
            <a:br>
              <a:rPr lang="en-US" sz="1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4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내용이</a:t>
            </a:r>
            <a:r>
              <a:rPr lang="en-US" sz="1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조금 부족하더라도 전달이 훌륭한 경우(72)보다 설득력이 떨어집니다.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16014" y="933602"/>
            <a:ext cx="5076749" cy="5143500"/>
          </a:xfrm>
          <a:prstGeom prst="roundRect">
            <a:avLst>
              <a:gd name="adj" fmla="val 676"/>
            </a:avLst>
          </a:prstGeom>
          <a:solidFill>
            <a:srgbClr val="FFF9F5"/>
          </a:solidFill>
          <a:ln w="12700">
            <a:solidFill>
              <a:srgbClr val="FF69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658660" y="1290219"/>
            <a:ext cx="4791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커뮤니케이션 전달 효과 구성비</a:t>
            </a:r>
            <a:endParaRPr lang="en-US" sz="18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 l="-94" r="-94"/>
          <a:stretch/>
        </p:blipFill>
        <p:spPr>
          <a:xfrm>
            <a:off x="6746443" y="1922069"/>
            <a:ext cx="4600346" cy="2095805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6746443" y="4323741"/>
            <a:ext cx="4791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"시각적 요소가 전체 전달력의 </a:t>
            </a:r>
            <a:r>
              <a:rPr lang="en-US" sz="16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55%</a:t>
            </a:r>
            <a:r>
              <a:rPr lang="en-US" sz="16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차지합니다"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660843" y="4714647"/>
            <a:ext cx="304495" cy="304495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7736738" y="4800601"/>
            <a:ext cx="152705" cy="13350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8041234" y="4759453"/>
            <a:ext cx="3590152" cy="304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 효과 (Visual) : 55%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7660843" y="5095952"/>
            <a:ext cx="304495" cy="304495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7727594" y="5180991"/>
            <a:ext cx="171907" cy="13350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041234" y="5140758"/>
            <a:ext cx="3507430" cy="304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청각적 효과 (Vocal) : 38%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7660843" y="5476342"/>
            <a:ext cx="304495" cy="304495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7755941" y="5562296"/>
            <a:ext cx="114300" cy="133502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8041234" y="5522062"/>
            <a:ext cx="3487576" cy="304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언어적 효과 (Verbal) : 7%</a:t>
            </a:r>
            <a:endParaRPr lang="en-US" sz="1600" dirty="0"/>
          </a:p>
        </p:txBody>
      </p:sp>
      <p:sp>
        <p:nvSpPr>
          <p:cNvPr id="4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FFF3E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34482" b="34482"/>
          <a:stretch/>
        </p:blipFill>
        <p:spPr>
          <a:xfrm>
            <a:off x="4761281" y="838505"/>
            <a:ext cx="6905549" cy="1429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61281" y="2419502"/>
            <a:ext cx="3381451" cy="1876349"/>
          </a:xfrm>
          <a:prstGeom prst="roundRect">
            <a:avLst>
              <a:gd name="adj" fmla="val 3958"/>
            </a:avLst>
          </a:prstGeom>
          <a:solidFill>
            <a:srgbClr val="FFF9F5"/>
          </a:solidFill>
          <a:ln w="12700">
            <a:solidFill>
              <a:srgbClr val="FF690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953305" y="2611526"/>
            <a:ext cx="495605" cy="495605"/>
          </a:xfrm>
          <a:prstGeom prst="roundRect">
            <a:avLst>
              <a:gd name="adj" fmla="val 496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6807" y="274502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48375" y="2671876"/>
            <a:ext cx="243687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Planning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127563" y="3107131"/>
            <a:ext cx="78849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(계획)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5091379" y="3548916"/>
            <a:ext cx="292836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목적(Purpose), 청중(People), 장소(Place)에 대한 사전 분석</a:t>
            </a:r>
            <a:endParaRPr lang="en-US" sz="1200" b="1" dirty="0"/>
          </a:p>
        </p:txBody>
      </p:sp>
      <p:sp>
        <p:nvSpPr>
          <p:cNvPr id="13" name="Shape 9"/>
          <p:cNvSpPr/>
          <p:nvPr/>
        </p:nvSpPr>
        <p:spPr>
          <a:xfrm>
            <a:off x="8286293" y="2419502"/>
            <a:ext cx="3381451" cy="1876349"/>
          </a:xfrm>
          <a:prstGeom prst="roundRect">
            <a:avLst>
              <a:gd name="adj" fmla="val 3958"/>
            </a:avLst>
          </a:prstGeom>
          <a:solidFill>
            <a:srgbClr val="FFF9F5"/>
          </a:solidFill>
          <a:ln w="12700">
            <a:solidFill>
              <a:srgbClr val="FF690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8478317" y="2611526"/>
            <a:ext cx="495605" cy="495605"/>
          </a:xfrm>
          <a:prstGeom prst="roundRect">
            <a:avLst>
              <a:gd name="adj" fmla="val 496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8597189" y="2745029"/>
            <a:ext cx="256946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3387" y="2671876"/>
            <a:ext cx="2436876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Preparation </a:t>
            </a:r>
          </a:p>
        </p:txBody>
      </p:sp>
      <p:sp>
        <p:nvSpPr>
          <p:cNvPr id="17" name="Text 12"/>
          <p:cNvSpPr txBox="1"/>
          <p:nvPr/>
        </p:nvSpPr>
        <p:spPr>
          <a:xfrm>
            <a:off x="8556041" y="3548916"/>
            <a:ext cx="292836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설정, 스토리보드 구성, 시각자료 및 보조도구 제작</a:t>
            </a:r>
            <a:endParaRPr lang="en-US" sz="1200" b="1" dirty="0"/>
          </a:p>
        </p:txBody>
      </p:sp>
      <p:sp>
        <p:nvSpPr>
          <p:cNvPr id="18" name="Shape 13"/>
          <p:cNvSpPr/>
          <p:nvPr/>
        </p:nvSpPr>
        <p:spPr>
          <a:xfrm>
            <a:off x="4761281" y="4448556"/>
            <a:ext cx="3381451" cy="1876349"/>
          </a:xfrm>
          <a:prstGeom prst="roundRect">
            <a:avLst>
              <a:gd name="adj" fmla="val 3958"/>
            </a:avLst>
          </a:prstGeom>
          <a:solidFill>
            <a:srgbClr val="FFF9F5"/>
          </a:solidFill>
          <a:ln w="12700">
            <a:solidFill>
              <a:srgbClr val="FF690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4953305" y="4640580"/>
            <a:ext cx="495605" cy="495605"/>
          </a:xfrm>
          <a:prstGeom prst="roundRect">
            <a:avLst>
              <a:gd name="adj" fmla="val 496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100523" y="4774082"/>
            <a:ext cx="200254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48375" y="4700930"/>
            <a:ext cx="243687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Practicing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127563" y="5136185"/>
            <a:ext cx="87013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(연습)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5100523" y="5612717"/>
            <a:ext cx="292836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리허설, 시간 조절, 언어적/비언어적 요소 점검</a:t>
            </a:r>
            <a:endParaRPr lang="en-US" sz="1200" b="1" dirty="0"/>
          </a:p>
        </p:txBody>
      </p:sp>
      <p:sp>
        <p:nvSpPr>
          <p:cNvPr id="24" name="Shape 18"/>
          <p:cNvSpPr/>
          <p:nvPr/>
        </p:nvSpPr>
        <p:spPr>
          <a:xfrm>
            <a:off x="8286293" y="4448556"/>
            <a:ext cx="3381451" cy="1876349"/>
          </a:xfrm>
          <a:prstGeom prst="roundRect">
            <a:avLst>
              <a:gd name="adj" fmla="val 3958"/>
            </a:avLst>
          </a:prstGeom>
          <a:solidFill>
            <a:srgbClr val="FFF9F5"/>
          </a:solidFill>
          <a:ln w="12700">
            <a:solidFill>
              <a:srgbClr val="FF690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478317" y="4640580"/>
            <a:ext cx="495605" cy="495605"/>
          </a:xfrm>
          <a:prstGeom prst="roundRect">
            <a:avLst>
              <a:gd name="adj" fmla="val 496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640166" y="4774082"/>
            <a:ext cx="171907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73387" y="4700930"/>
            <a:ext cx="2436876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Performing </a:t>
            </a:r>
          </a:p>
        </p:txBody>
      </p:sp>
      <p:sp>
        <p:nvSpPr>
          <p:cNvPr id="28" name="Text 21"/>
          <p:cNvSpPr txBox="1"/>
          <p:nvPr/>
        </p:nvSpPr>
        <p:spPr>
          <a:xfrm>
            <a:off x="8608161" y="5534078"/>
            <a:ext cx="292836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오프닝부터 클로징까지 자신감 있는 전달과 상호작용</a:t>
            </a:r>
            <a:endParaRPr lang="en-US" sz="1200" b="1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181" r="-181"/>
          <a:stretch/>
        </p:blipFill>
        <p:spPr>
          <a:xfrm>
            <a:off x="780072" y="920977"/>
            <a:ext cx="761695" cy="758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80071" y="1302281"/>
            <a:ext cx="4713819" cy="63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4P's</a:t>
            </a:r>
            <a:endParaRPr lang="en-US" sz="4800" dirty="0"/>
          </a:p>
        </p:txBody>
      </p:sp>
      <p:sp>
        <p:nvSpPr>
          <p:cNvPr id="31" name="Text 23"/>
          <p:cNvSpPr txBox="1"/>
          <p:nvPr/>
        </p:nvSpPr>
        <p:spPr>
          <a:xfrm>
            <a:off x="780071" y="2010851"/>
            <a:ext cx="4643635" cy="115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OF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PRESENTATION</a:t>
            </a:r>
            <a:endParaRPr lang="en-US" sz="3600" dirty="0"/>
          </a:p>
        </p:txBody>
      </p:sp>
      <p:sp>
        <p:nvSpPr>
          <p:cNvPr id="32" name="Text 24"/>
          <p:cNvSpPr txBox="1"/>
          <p:nvPr/>
        </p:nvSpPr>
        <p:spPr>
          <a:xfrm>
            <a:off x="780071" y="3581792"/>
            <a:ext cx="3302072" cy="102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프레젠테이션을 위해서는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준비, 연습, 실행의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</a:t>
            </a: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프로세스가 필요합니다.</a:t>
            </a:r>
            <a:endParaRPr lang="en-US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FF8740E-9E6E-656F-0CF5-29E6B7FB8256}"/>
              </a:ext>
            </a:extLst>
          </p:cNvPr>
          <p:cNvSpPr txBox="1"/>
          <p:nvPr/>
        </p:nvSpPr>
        <p:spPr>
          <a:xfrm>
            <a:off x="10715309" y="3047343"/>
            <a:ext cx="78849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altLang="ko-KR" sz="2200" b="1" dirty="0" err="1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</a:t>
            </a:r>
            <a:r>
              <a:rPr lang="en-US" altLang="ko-KR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altLang="ko-KR" sz="220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A61410BF-F082-8CDE-F027-61BE432B1321}"/>
              </a:ext>
            </a:extLst>
          </p:cNvPr>
          <p:cNvSpPr txBox="1"/>
          <p:nvPr/>
        </p:nvSpPr>
        <p:spPr>
          <a:xfrm>
            <a:off x="10715309" y="5076397"/>
            <a:ext cx="87013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altLang="ko-KR" sz="2200" b="1" dirty="0" err="1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r>
              <a:rPr lang="en-US" altLang="ko-KR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altLang="ko-KR" sz="22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730148"/>
            <a:ext cx="505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테마 설정 원칙 (1/2)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63243"/>
            <a:ext cx="41248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프레젠테이션을 위한 3가지 핵심 기준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233611" y="1034643"/>
            <a:ext cx="2356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SETTING PRINCIPLES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609905" y="1666951"/>
            <a:ext cx="3504895" cy="473476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905" y="1655629"/>
            <a:ext cx="3486607" cy="57607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3459175" y="5075268"/>
            <a:ext cx="886968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dirty="0">
                <a:solidFill>
                  <a:srgbClr val="FF6908">
                    <a:alpha val="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3369" y="1982070"/>
            <a:ext cx="476402" cy="476402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1004" r="-1004"/>
          <a:stretch/>
        </p:blipFill>
        <p:spPr>
          <a:xfrm>
            <a:off x="998525" y="2115572"/>
            <a:ext cx="267005" cy="20939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91386" y="1967440"/>
            <a:ext cx="12847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 01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91386" y="2186896"/>
            <a:ext cx="14100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청중 분석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893369" y="2723431"/>
            <a:ext cx="38405" cy="7717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1083564" y="2754521"/>
            <a:ext cx="457200" cy="228600"/>
          </a:xfrm>
          <a:prstGeom prst="roundRect">
            <a:avLst>
              <a:gd name="adj" fmla="val 10000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 txBox="1"/>
          <p:nvPr/>
        </p:nvSpPr>
        <p:spPr>
          <a:xfrm>
            <a:off x="1160374" y="2782867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초보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083564" y="3028841"/>
            <a:ext cx="2829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청중이 누구인가?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(직급, 부서, 인원수 확인)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3369" y="3789622"/>
            <a:ext cx="38405" cy="7717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1083564" y="3820711"/>
            <a:ext cx="457200" cy="228600"/>
          </a:xfrm>
          <a:prstGeom prst="roundRect">
            <a:avLst>
              <a:gd name="adj" fmla="val 100000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1160374" y="3849058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중급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083564" y="4094117"/>
            <a:ext cx="2829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청중의 니즈는?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(Pain Point, 기대사항 파악)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4022" y="4880501"/>
            <a:ext cx="38405" cy="7717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1084217" y="4910677"/>
            <a:ext cx="457200" cy="228600"/>
          </a:xfrm>
          <a:prstGeom prst="roundRect">
            <a:avLst>
              <a:gd name="adj" fmla="val 10000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1161027" y="4939937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1084217" y="5184997"/>
            <a:ext cx="2829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의사결정 프로세스는?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(권한, 예산, 타임라인 분석)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4343400" y="1666951"/>
            <a:ext cx="3504895" cy="4734763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343400" y="1655629"/>
            <a:ext cx="3486607" cy="57607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7192670" y="5075268"/>
            <a:ext cx="886968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dirty="0">
                <a:solidFill>
                  <a:srgbClr val="FF6908">
                    <a:alpha val="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26864" y="1982070"/>
            <a:ext cx="476402" cy="476402"/>
          </a:xfrm>
          <a:prstGeom prst="rect">
            <a:avLst/>
          </a:prstGeom>
        </p:spPr>
      </p:pic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60366" y="2115572"/>
            <a:ext cx="209398" cy="20939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225796" y="1967440"/>
            <a:ext cx="12847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 02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5225796" y="2186896"/>
            <a:ext cx="171632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명확화</a:t>
            </a:r>
            <a:endParaRPr lang="en-US" sz="2200" dirty="0"/>
          </a:p>
        </p:txBody>
      </p:sp>
      <p:sp>
        <p:nvSpPr>
          <p:cNvPr id="34" name="Shape 26"/>
          <p:cNvSpPr/>
          <p:nvPr/>
        </p:nvSpPr>
        <p:spPr>
          <a:xfrm>
            <a:off x="4626864" y="2723431"/>
            <a:ext cx="38405" cy="7717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7"/>
          <p:cNvSpPr/>
          <p:nvPr/>
        </p:nvSpPr>
        <p:spPr>
          <a:xfrm>
            <a:off x="4817974" y="2754521"/>
            <a:ext cx="457200" cy="228600"/>
          </a:xfrm>
          <a:prstGeom prst="roundRect">
            <a:avLst>
              <a:gd name="adj" fmla="val 10000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/>
          <p:cNvSpPr txBox="1"/>
          <p:nvPr/>
        </p:nvSpPr>
        <p:spPr>
          <a:xfrm>
            <a:off x="4893869" y="2782867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초보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4817974" y="3028841"/>
            <a:ext cx="2829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무엇을 전달할 것인가?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(정보 / 설득 / 동기부여 구분)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4626864" y="3789622"/>
            <a:ext cx="38405" cy="7717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1"/>
          <p:cNvSpPr/>
          <p:nvPr/>
        </p:nvSpPr>
        <p:spPr>
          <a:xfrm>
            <a:off x="4817974" y="3820711"/>
            <a:ext cx="457200" cy="228600"/>
          </a:xfrm>
          <a:prstGeom prst="roundRect">
            <a:avLst>
              <a:gd name="adj" fmla="val 100000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 txBox="1"/>
          <p:nvPr/>
        </p:nvSpPr>
        <p:spPr>
          <a:xfrm>
            <a:off x="4893869" y="3849058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중급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4817974" y="4094117"/>
            <a:ext cx="2829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무엇을 얻어갈 것인가?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(청중의 구체적 행동 유도)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4627517" y="4880501"/>
            <a:ext cx="38405" cy="7717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5"/>
          <p:cNvSpPr/>
          <p:nvPr/>
        </p:nvSpPr>
        <p:spPr>
          <a:xfrm>
            <a:off x="4818627" y="4910677"/>
            <a:ext cx="457200" cy="228600"/>
          </a:xfrm>
          <a:prstGeom prst="roundRect">
            <a:avLst>
              <a:gd name="adj" fmla="val 10000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 txBox="1"/>
          <p:nvPr/>
        </p:nvSpPr>
        <p:spPr>
          <a:xfrm>
            <a:off x="4894522" y="4939937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4818627" y="5184997"/>
            <a:ext cx="2829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성공 지표는 무엇인가?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(계약 성사, 예산 승인, 합의)</a:t>
            </a:r>
            <a:endParaRPr lang="en-US" sz="12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8076895" y="1666951"/>
            <a:ext cx="3504895" cy="4734763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8076895" y="1655629"/>
            <a:ext cx="3486607" cy="57607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9"/>
          <p:cNvSpPr txBox="1"/>
          <p:nvPr/>
        </p:nvSpPr>
        <p:spPr>
          <a:xfrm>
            <a:off x="10926166" y="5075268"/>
            <a:ext cx="886968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dirty="0">
                <a:solidFill>
                  <a:srgbClr val="FF6908">
                    <a:alpha val="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61274" y="1982070"/>
            <a:ext cx="476402" cy="476402"/>
          </a:xfrm>
          <a:prstGeom prst="rect">
            <a:avLst/>
          </a:prstGeom>
        </p:spPr>
      </p:pic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94776" y="2115572"/>
            <a:ext cx="209398" cy="209398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8959291" y="1967440"/>
            <a:ext cx="12847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 03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8959291" y="2186896"/>
            <a:ext cx="14100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관리</a:t>
            </a:r>
            <a:endParaRPr lang="en-US" sz="2200" dirty="0"/>
          </a:p>
        </p:txBody>
      </p:sp>
      <p:sp>
        <p:nvSpPr>
          <p:cNvPr id="53" name="Shape 42"/>
          <p:cNvSpPr/>
          <p:nvPr/>
        </p:nvSpPr>
        <p:spPr>
          <a:xfrm>
            <a:off x="8361274" y="2723431"/>
            <a:ext cx="38405" cy="7717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3"/>
          <p:cNvSpPr/>
          <p:nvPr/>
        </p:nvSpPr>
        <p:spPr>
          <a:xfrm>
            <a:off x="8551469" y="2754521"/>
            <a:ext cx="457200" cy="228600"/>
          </a:xfrm>
          <a:prstGeom prst="roundRect">
            <a:avLst>
              <a:gd name="adj" fmla="val 10000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4"/>
          <p:cNvSpPr txBox="1"/>
          <p:nvPr/>
        </p:nvSpPr>
        <p:spPr>
          <a:xfrm>
            <a:off x="8627364" y="2782867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초보</a:t>
            </a:r>
            <a:endParaRPr lang="en-US" sz="1200" dirty="0"/>
          </a:p>
        </p:txBody>
      </p:sp>
      <p:sp>
        <p:nvSpPr>
          <p:cNvPr id="56" name="Text 45"/>
          <p:cNvSpPr txBox="1"/>
          <p:nvPr/>
        </p:nvSpPr>
        <p:spPr>
          <a:xfrm>
            <a:off x="8551469" y="3028841"/>
            <a:ext cx="2829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발표 시간은 얼마나?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(10분 / 30분 / 1시간 확인)</a:t>
            </a:r>
            <a:endParaRPr lang="en-US" sz="1200" dirty="0"/>
          </a:p>
        </p:txBody>
      </p:sp>
      <p:sp>
        <p:nvSpPr>
          <p:cNvPr id="57" name="Shape 46"/>
          <p:cNvSpPr/>
          <p:nvPr/>
        </p:nvSpPr>
        <p:spPr>
          <a:xfrm>
            <a:off x="8361274" y="3789622"/>
            <a:ext cx="38405" cy="7717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7"/>
          <p:cNvSpPr/>
          <p:nvPr/>
        </p:nvSpPr>
        <p:spPr>
          <a:xfrm>
            <a:off x="8551469" y="3820711"/>
            <a:ext cx="457200" cy="228600"/>
          </a:xfrm>
          <a:prstGeom prst="roundRect">
            <a:avLst>
              <a:gd name="adj" fmla="val 100000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8627364" y="3849058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중급</a:t>
            </a:r>
            <a:endParaRPr lang="en-US" sz="1200" dirty="0"/>
          </a:p>
        </p:txBody>
      </p:sp>
      <p:sp>
        <p:nvSpPr>
          <p:cNvPr id="60" name="Text 49"/>
          <p:cNvSpPr txBox="1"/>
          <p:nvPr/>
        </p:nvSpPr>
        <p:spPr>
          <a:xfrm>
            <a:off x="8551469" y="4094117"/>
            <a:ext cx="2829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섹션별 시간 배분은?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(서론 10%, 본론 70%, 결론 20%)</a:t>
            </a:r>
            <a:endParaRPr lang="en-US" sz="1200" dirty="0"/>
          </a:p>
        </p:txBody>
      </p:sp>
      <p:sp>
        <p:nvSpPr>
          <p:cNvPr id="61" name="Shape 50"/>
          <p:cNvSpPr/>
          <p:nvPr/>
        </p:nvSpPr>
        <p:spPr>
          <a:xfrm>
            <a:off x="8361927" y="4880501"/>
            <a:ext cx="38405" cy="7717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1"/>
          <p:cNvSpPr/>
          <p:nvPr/>
        </p:nvSpPr>
        <p:spPr>
          <a:xfrm>
            <a:off x="8552122" y="4910677"/>
            <a:ext cx="457200" cy="228600"/>
          </a:xfrm>
          <a:prstGeom prst="roundRect">
            <a:avLst>
              <a:gd name="adj" fmla="val 10000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2"/>
          <p:cNvSpPr txBox="1"/>
          <p:nvPr/>
        </p:nvSpPr>
        <p:spPr>
          <a:xfrm>
            <a:off x="8628017" y="4939937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</a:t>
            </a:r>
            <a:endParaRPr lang="en-US" sz="1200" dirty="0"/>
          </a:p>
        </p:txBody>
      </p:sp>
      <p:sp>
        <p:nvSpPr>
          <p:cNvPr id="64" name="Text 53"/>
          <p:cNvSpPr txBox="1"/>
          <p:nvPr/>
        </p:nvSpPr>
        <p:spPr>
          <a:xfrm>
            <a:off x="8552122" y="5184997"/>
            <a:ext cx="2829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 포함 전체 흐름은?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-3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(돌발상황 대비 버퍼 15% 확보)</a:t>
            </a:r>
            <a:endParaRPr lang="en-US" sz="1200" dirty="0"/>
          </a:p>
        </p:txBody>
      </p:sp>
      <p:sp>
        <p:nvSpPr>
          <p:cNvPr id="6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01345" y="624026"/>
            <a:ext cx="505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테마 설정 원칙 (2/2)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4168" y="1247216"/>
            <a:ext cx="41614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프레젠테이션을 위한 메시지와 구조 전략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033314" y="1071580"/>
            <a:ext cx="2356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SETTING PRINCIPLES</a:t>
            </a:r>
            <a:endParaRPr lang="en-US" sz="120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30131379-02B7-0AB9-1629-D80BD1AEF719}"/>
              </a:ext>
            </a:extLst>
          </p:cNvPr>
          <p:cNvGrpSpPr/>
          <p:nvPr/>
        </p:nvGrpSpPr>
        <p:grpSpPr>
          <a:xfrm>
            <a:off x="4042799" y="1701427"/>
            <a:ext cx="8433946" cy="4962449"/>
            <a:chOff x="609905" y="1505102"/>
            <a:chExt cx="8696857" cy="5352898"/>
          </a:xfrm>
        </p:grpSpPr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09905" y="1505102"/>
              <a:ext cx="3492094" cy="5143500"/>
            </a:xfrm>
            <a:prstGeom prst="rect">
              <a:avLst/>
            </a:prstGeom>
          </p:spPr>
        </p:pic>
        <p:sp>
          <p:nvSpPr>
            <p:cNvPr id="9" name="Shape 6"/>
            <p:cNvSpPr/>
            <p:nvPr/>
          </p:nvSpPr>
          <p:spPr>
            <a:xfrm>
              <a:off x="609905" y="1505102"/>
              <a:ext cx="3479341" cy="75895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3137764" y="4924501"/>
              <a:ext cx="1140257" cy="19147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0" b="1" dirty="0">
                  <a:solidFill>
                    <a:srgbClr val="FF6908">
                      <a:alpha val="5000"/>
                    </a:srgbClr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0" dirty="0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00354" y="1895551"/>
              <a:ext cx="685800" cy="685800"/>
            </a:xfrm>
            <a:prstGeom prst="rect">
              <a:avLst/>
            </a:prstGeom>
          </p:spPr>
        </p:pic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5"/>
            <a:srcRect l="-50" r="-50"/>
            <a:stretch/>
          </p:blipFill>
          <p:spPr>
            <a:xfrm>
              <a:off x="1171346" y="2085746"/>
              <a:ext cx="342900" cy="304495"/>
            </a:xfrm>
            <a:prstGeom prst="rect">
              <a:avLst/>
            </a:prstGeom>
          </p:spPr>
        </p:pic>
        <p:sp>
          <p:nvSpPr>
            <p:cNvPr id="13" name="Text 8"/>
            <p:cNvSpPr txBox="1"/>
            <p:nvPr/>
          </p:nvSpPr>
          <p:spPr>
            <a:xfrm>
              <a:off x="1914754" y="1962302"/>
              <a:ext cx="133959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kern="0" spc="113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PRINCIPLE 04</a:t>
              </a:r>
              <a:endParaRPr lang="en-US" sz="1200" dirty="0"/>
            </a:p>
          </p:txBody>
        </p:sp>
        <p:sp>
          <p:nvSpPr>
            <p:cNvPr id="14" name="Text 9"/>
            <p:cNvSpPr txBox="1"/>
            <p:nvPr/>
          </p:nvSpPr>
          <p:spPr>
            <a:xfrm>
              <a:off x="1914754" y="2200046"/>
              <a:ext cx="1716329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메시지</a:t>
              </a:r>
              <a:endParaRPr lang="en-US" sz="2200" dirty="0"/>
            </a:p>
          </p:txBody>
        </p:sp>
        <p:sp>
          <p:nvSpPr>
            <p:cNvPr id="15" name="Shape 10"/>
            <p:cNvSpPr/>
            <p:nvPr/>
          </p:nvSpPr>
          <p:spPr>
            <a:xfrm>
              <a:off x="1000354" y="2962656"/>
              <a:ext cx="47549" cy="895198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1"/>
            <p:cNvSpPr/>
            <p:nvPr/>
          </p:nvSpPr>
          <p:spPr>
            <a:xfrm>
              <a:off x="1276502" y="2962656"/>
              <a:ext cx="571500" cy="342900"/>
            </a:xfrm>
            <a:prstGeom prst="roundRect">
              <a:avLst>
                <a:gd name="adj" fmla="val 59259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1410005" y="3047695"/>
              <a:ext cx="3813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B556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초보</a:t>
              </a:r>
              <a:endParaRPr lang="en-US" sz="1200" dirty="0"/>
            </a:p>
          </p:txBody>
        </p:sp>
        <p:sp>
          <p:nvSpPr>
            <p:cNvPr id="18" name="Text 13"/>
            <p:cNvSpPr txBox="1"/>
            <p:nvPr/>
          </p:nvSpPr>
          <p:spPr>
            <a:xfrm>
              <a:off x="1276502" y="3419856"/>
              <a:ext cx="4277563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중요한 메시지 1가지는?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(한 문장으로 명확하게 요약)</a:t>
              </a:r>
              <a:endParaRPr lang="en-US" sz="1200" dirty="0"/>
            </a:p>
          </p:txBody>
        </p:sp>
        <p:sp>
          <p:nvSpPr>
            <p:cNvPr id="19" name="Shape 14"/>
            <p:cNvSpPr/>
            <p:nvPr/>
          </p:nvSpPr>
          <p:spPr>
            <a:xfrm>
              <a:off x="1000354" y="4162349"/>
              <a:ext cx="47549" cy="895198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15"/>
            <p:cNvSpPr/>
            <p:nvPr/>
          </p:nvSpPr>
          <p:spPr>
            <a:xfrm>
              <a:off x="1276502" y="4162349"/>
              <a:ext cx="571500" cy="342900"/>
            </a:xfrm>
            <a:prstGeom prst="roundRect">
              <a:avLst>
                <a:gd name="adj" fmla="val 59259"/>
              </a:avLst>
            </a:prstGeom>
            <a:solidFill>
              <a:srgbClr val="FFEDD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6"/>
            <p:cNvSpPr txBox="1"/>
            <p:nvPr/>
          </p:nvSpPr>
          <p:spPr>
            <a:xfrm>
              <a:off x="1410005" y="4248302"/>
              <a:ext cx="3813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중급</a:t>
              </a:r>
              <a:endParaRPr lang="en-US" sz="1200" dirty="0"/>
            </a:p>
          </p:txBody>
        </p:sp>
        <p:sp>
          <p:nvSpPr>
            <p:cNvPr id="22" name="Text 17"/>
            <p:cNvSpPr txBox="1"/>
            <p:nvPr/>
          </p:nvSpPr>
          <p:spPr>
            <a:xfrm>
              <a:off x="1276502" y="4619549"/>
              <a:ext cx="4277563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뒷받침하는 3가지 근거는?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(데이터, 사례, 논리로 증명)</a:t>
              </a:r>
              <a:endParaRPr lang="en-US" sz="1200" dirty="0"/>
            </a:p>
          </p:txBody>
        </p:sp>
        <p:sp>
          <p:nvSpPr>
            <p:cNvPr id="23" name="Shape 18"/>
            <p:cNvSpPr/>
            <p:nvPr/>
          </p:nvSpPr>
          <p:spPr>
            <a:xfrm>
              <a:off x="1000354" y="5362956"/>
              <a:ext cx="47549" cy="895198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19"/>
            <p:cNvSpPr/>
            <p:nvPr/>
          </p:nvSpPr>
          <p:spPr>
            <a:xfrm>
              <a:off x="1276502" y="5362956"/>
              <a:ext cx="571500" cy="342900"/>
            </a:xfrm>
            <a:prstGeom prst="roundRect">
              <a:avLst>
                <a:gd name="adj" fmla="val 59259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1410005" y="5447995"/>
              <a:ext cx="3813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고급</a:t>
              </a:r>
              <a:endParaRPr lang="en-US" sz="12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1276502" y="5820156"/>
              <a:ext cx="4277563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반대 의견 대응 전략은?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(예상 리스크 대비 시나리오)</a:t>
              </a:r>
              <a:endParaRPr lang="en-US" sz="1200" dirty="0"/>
            </a:p>
          </p:txBody>
        </p:sp>
        <p:pic>
          <p:nvPicPr>
            <p:cNvPr id="27" name="Image 3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362602" y="1505102"/>
              <a:ext cx="3906187" cy="5143500"/>
            </a:xfrm>
            <a:prstGeom prst="rect">
              <a:avLst/>
            </a:prstGeom>
          </p:spPr>
        </p:pic>
        <p:sp>
          <p:nvSpPr>
            <p:cNvPr id="28" name="Shape 22"/>
            <p:cNvSpPr/>
            <p:nvPr/>
          </p:nvSpPr>
          <p:spPr>
            <a:xfrm>
              <a:off x="4362602" y="1505102"/>
              <a:ext cx="3891921" cy="75895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3"/>
            <p:cNvSpPr txBox="1"/>
            <p:nvPr/>
          </p:nvSpPr>
          <p:spPr>
            <a:xfrm>
              <a:off x="7228636" y="4943246"/>
              <a:ext cx="1140257" cy="19147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0" b="1" dirty="0">
                  <a:solidFill>
                    <a:srgbClr val="FF6908">
                      <a:alpha val="5000"/>
                    </a:srgbClr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13500" dirty="0"/>
            </a:p>
          </p:txBody>
        </p:sp>
        <p:pic>
          <p:nvPicPr>
            <p:cNvPr id="30" name="Image 4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753051" y="1895551"/>
              <a:ext cx="685800" cy="685800"/>
            </a:xfrm>
            <a:prstGeom prst="rect">
              <a:avLst/>
            </a:prstGeom>
          </p:spPr>
        </p:pic>
        <p:pic>
          <p:nvPicPr>
            <p:cNvPr id="31" name="Image 5" descr="preencoded.png"/>
            <p:cNvPicPr>
              <a:picLocks noChangeAspect="1"/>
            </p:cNvPicPr>
            <p:nvPr/>
          </p:nvPicPr>
          <p:blipFill>
            <a:blip r:embed="rId6"/>
            <a:srcRect l="-50" r="-50"/>
            <a:stretch/>
          </p:blipFill>
          <p:spPr>
            <a:xfrm>
              <a:off x="4924043" y="2085746"/>
              <a:ext cx="342900" cy="304495"/>
            </a:xfrm>
            <a:prstGeom prst="rect">
              <a:avLst/>
            </a:prstGeom>
          </p:spPr>
        </p:pic>
        <p:sp>
          <p:nvSpPr>
            <p:cNvPr id="32" name="Text 24"/>
            <p:cNvSpPr txBox="1"/>
            <p:nvPr/>
          </p:nvSpPr>
          <p:spPr>
            <a:xfrm>
              <a:off x="5667451" y="1962302"/>
              <a:ext cx="133959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kern="0" spc="113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PRINCIPLE 05</a:t>
              </a:r>
              <a:endParaRPr lang="en-US" sz="1200" dirty="0"/>
            </a:p>
          </p:txBody>
        </p:sp>
        <p:sp>
          <p:nvSpPr>
            <p:cNvPr id="33" name="Text 25"/>
            <p:cNvSpPr txBox="1"/>
            <p:nvPr/>
          </p:nvSpPr>
          <p:spPr>
            <a:xfrm>
              <a:off x="5667451" y="2200046"/>
              <a:ext cx="202265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콘텐츠 구조화</a:t>
              </a:r>
              <a:endParaRPr lang="en-US" sz="2200" dirty="0"/>
            </a:p>
          </p:txBody>
        </p:sp>
        <p:sp>
          <p:nvSpPr>
            <p:cNvPr id="34" name="Shape 26"/>
            <p:cNvSpPr/>
            <p:nvPr/>
          </p:nvSpPr>
          <p:spPr>
            <a:xfrm>
              <a:off x="4753051" y="2962656"/>
              <a:ext cx="47549" cy="895198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27"/>
            <p:cNvSpPr/>
            <p:nvPr/>
          </p:nvSpPr>
          <p:spPr>
            <a:xfrm>
              <a:off x="5029199" y="2962656"/>
              <a:ext cx="571500" cy="342900"/>
            </a:xfrm>
            <a:prstGeom prst="roundRect">
              <a:avLst>
                <a:gd name="adj" fmla="val 59259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28"/>
            <p:cNvSpPr txBox="1"/>
            <p:nvPr/>
          </p:nvSpPr>
          <p:spPr>
            <a:xfrm>
              <a:off x="5162702" y="3047695"/>
              <a:ext cx="3813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B556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초보</a:t>
              </a:r>
              <a:endParaRPr lang="en-US" sz="1200" dirty="0"/>
            </a:p>
          </p:txBody>
        </p:sp>
        <p:sp>
          <p:nvSpPr>
            <p:cNvPr id="37" name="Text 29"/>
            <p:cNvSpPr txBox="1"/>
            <p:nvPr/>
          </p:nvSpPr>
          <p:spPr>
            <a:xfrm>
              <a:off x="5029199" y="3419856"/>
              <a:ext cx="4277563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기본 3단계 구조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(서론 - 본론 - 결론 스토리라인)</a:t>
              </a:r>
              <a:endParaRPr lang="en-US" sz="1200" dirty="0"/>
            </a:p>
          </p:txBody>
        </p:sp>
        <p:sp>
          <p:nvSpPr>
            <p:cNvPr id="38" name="Shape 30"/>
            <p:cNvSpPr/>
            <p:nvPr/>
          </p:nvSpPr>
          <p:spPr>
            <a:xfrm>
              <a:off x="4753051" y="4162349"/>
              <a:ext cx="47549" cy="895198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Shape 31"/>
            <p:cNvSpPr/>
            <p:nvPr/>
          </p:nvSpPr>
          <p:spPr>
            <a:xfrm>
              <a:off x="5029199" y="4162349"/>
              <a:ext cx="571500" cy="342900"/>
            </a:xfrm>
            <a:prstGeom prst="roundRect">
              <a:avLst>
                <a:gd name="adj" fmla="val 59259"/>
              </a:avLst>
            </a:prstGeom>
            <a:solidFill>
              <a:srgbClr val="FFEDD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2"/>
            <p:cNvSpPr txBox="1"/>
            <p:nvPr/>
          </p:nvSpPr>
          <p:spPr>
            <a:xfrm>
              <a:off x="5162702" y="4248302"/>
              <a:ext cx="3813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중급</a:t>
              </a:r>
              <a:endParaRPr lang="en-US" sz="1200" dirty="0"/>
            </a:p>
          </p:txBody>
        </p:sp>
        <p:sp>
          <p:nvSpPr>
            <p:cNvPr id="41" name="Text 33"/>
            <p:cNvSpPr txBox="1"/>
            <p:nvPr/>
          </p:nvSpPr>
          <p:spPr>
            <a:xfrm>
              <a:off x="5029199" y="4619549"/>
              <a:ext cx="4277563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논리적 세부 구조화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(문제 → 분석 → 해결책 → 효과)</a:t>
              </a:r>
              <a:endParaRPr lang="en-US" sz="1200" dirty="0"/>
            </a:p>
          </p:txBody>
        </p:sp>
        <p:sp>
          <p:nvSpPr>
            <p:cNvPr id="42" name="Shape 34"/>
            <p:cNvSpPr/>
            <p:nvPr/>
          </p:nvSpPr>
          <p:spPr>
            <a:xfrm>
              <a:off x="4753051" y="5362956"/>
              <a:ext cx="47549" cy="895198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35"/>
            <p:cNvSpPr/>
            <p:nvPr/>
          </p:nvSpPr>
          <p:spPr>
            <a:xfrm>
              <a:off x="5029199" y="5362956"/>
              <a:ext cx="571500" cy="342900"/>
            </a:xfrm>
            <a:prstGeom prst="roundRect">
              <a:avLst>
                <a:gd name="adj" fmla="val 59259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36"/>
            <p:cNvSpPr txBox="1"/>
            <p:nvPr/>
          </p:nvSpPr>
          <p:spPr>
            <a:xfrm>
              <a:off x="5162702" y="5447995"/>
              <a:ext cx="3813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고급</a:t>
              </a:r>
              <a:endParaRPr lang="en-US" sz="1200" dirty="0"/>
            </a:p>
          </p:txBody>
        </p:sp>
        <p:sp>
          <p:nvSpPr>
            <p:cNvPr id="45" name="Text 37"/>
            <p:cNvSpPr txBox="1"/>
            <p:nvPr/>
          </p:nvSpPr>
          <p:spPr>
            <a:xfrm>
              <a:off x="5029199" y="5820156"/>
              <a:ext cx="4277563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청중 맞춤형 시나리오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(의사결정자용 / 실무자용 다중 버전)</a:t>
              </a:r>
              <a:endParaRPr lang="en-US" sz="1200" dirty="0"/>
            </a:p>
          </p:txBody>
        </p:sp>
      </p:grpSp>
      <p:pic>
        <p:nvPicPr>
          <p:cNvPr id="49" name="그림 48" descr="야외, 하늘, 물, 현수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D4C693-AE45-4F7B-B8B6-0B5A49CC4EC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802" t="20201" r="58367" b="9282"/>
          <a:stretch>
            <a:fillRect/>
          </a:stretch>
        </p:blipFill>
        <p:spPr>
          <a:xfrm>
            <a:off x="734168" y="1701427"/>
            <a:ext cx="3015684" cy="4768324"/>
          </a:xfrm>
          <a:prstGeom prst="rect">
            <a:avLst/>
          </a:prstGeom>
        </p:spPr>
      </p:pic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13187" y="755861"/>
            <a:ext cx="3894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절차 (1/2)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13187" y="1332847"/>
            <a:ext cx="4086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시작을 위한 체계적인 준비 프로세스 1-3단계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13011" y="1268382"/>
            <a:ext cx="2356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PREPARATION STEPS PART 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632307" y="1790286"/>
            <a:ext cx="3556102" cy="449906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264865" y="1607386"/>
            <a:ext cx="886968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dirty="0">
                <a:solidFill>
                  <a:srgbClr val="FF6908">
                    <a:alpha val="3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880110" y="2725021"/>
            <a:ext cx="3060497" cy="7086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71219" y="2846636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71219" y="3113641"/>
            <a:ext cx="2915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달성할 것인가?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80110" y="3692456"/>
            <a:ext cx="57607" cy="57607"/>
          </a:xfrm>
          <a:prstGeom prst="ellipse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052017" y="3616561"/>
            <a:ext cx="29718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-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SMART 원칙 적용:</a:t>
            </a:r>
            <a:endParaRPr lang="en-US" sz="1200" dirty="0"/>
          </a:p>
          <a:p>
            <a:pPr marL="0" indent="0" algn="l">
              <a:buNone/>
            </a:pPr>
            <a:r>
              <a:rPr lang="en-US" sz="1200" kern="0" spc="-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Specific(구체적), Measurable(측정 가능), Achievable(달성 가능) 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80110" y="4454151"/>
            <a:ext cx="57607" cy="57607"/>
          </a:xfrm>
          <a:prstGeom prst="ellipse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52017" y="4378256"/>
            <a:ext cx="160477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-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Relevant(관련성),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kern="0" spc="-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Time-bound(기한 설정) 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80110" y="4926896"/>
            <a:ext cx="3066898" cy="1114654"/>
          </a:xfrm>
          <a:prstGeom prst="roundRect">
            <a:avLst>
              <a:gd name="adj" fmla="val 8414"/>
            </a:avLst>
          </a:prstGeom>
          <a:solidFill>
            <a:srgbClr val="FF6908">
              <a:alpha val="5000"/>
            </a:srgbClr>
          </a:solidFill>
          <a:ln w="12700">
            <a:solidFill>
              <a:srgbClr val="FF690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1958" y="5096974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70558" y="505857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363" r="-363"/>
          <a:stretch/>
        </p:blipFill>
        <p:spPr>
          <a:xfrm>
            <a:off x="1041958" y="5404213"/>
            <a:ext cx="142646" cy="16184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414" y="5363065"/>
            <a:ext cx="7863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정의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 l="-363" r="-363"/>
          <a:stretch/>
        </p:blipFill>
        <p:spPr>
          <a:xfrm>
            <a:off x="1041958" y="5707794"/>
            <a:ext cx="142646" cy="16184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61414" y="5666646"/>
            <a:ext cx="12289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지표 설정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417009" y="1790286"/>
            <a:ext cx="3556102" cy="449906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49567" y="1607386"/>
            <a:ext cx="886968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dirty="0">
                <a:solidFill>
                  <a:srgbClr val="FF6908">
                    <a:alpha val="3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 t="-26" b="-26"/>
          <a:stretch/>
        </p:blipFill>
        <p:spPr>
          <a:xfrm>
            <a:off x="4664811" y="2725021"/>
            <a:ext cx="3060497" cy="90708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855006" y="2846636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4855006" y="3113641"/>
            <a:ext cx="28008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청중은 누구이며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원하는가?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4664811" y="3890881"/>
            <a:ext cx="57607" cy="57607"/>
          </a:xfrm>
          <a:prstGeom prst="ellipse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1"/>
          <p:cNvSpPr txBox="1"/>
          <p:nvPr/>
        </p:nvSpPr>
        <p:spPr>
          <a:xfrm>
            <a:off x="4836718" y="3814071"/>
            <a:ext cx="153619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-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분석:</a:t>
            </a:r>
            <a:endParaRPr lang="en-US" sz="1200" dirty="0"/>
          </a:p>
          <a:p>
            <a:pPr marL="0" indent="0" algn="l">
              <a:buNone/>
            </a:pPr>
            <a:r>
              <a:rPr lang="en-US" sz="1200" kern="0" spc="-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인원수, 직급, 부서, 배경 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664811" y="4439521"/>
            <a:ext cx="57607" cy="57607"/>
          </a:xfrm>
          <a:prstGeom prst="ellipse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3"/>
          <p:cNvSpPr txBox="1"/>
          <p:nvPr/>
        </p:nvSpPr>
        <p:spPr>
          <a:xfrm>
            <a:off x="4836718" y="4362711"/>
            <a:ext cx="14575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-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정서적 분석:</a:t>
            </a:r>
            <a:endParaRPr lang="en-US" sz="1200" dirty="0"/>
          </a:p>
          <a:p>
            <a:pPr marL="0" indent="0" algn="l">
              <a:buNone/>
            </a:pPr>
            <a:r>
              <a:rPr lang="en-US" sz="1200" kern="0" spc="-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관심사, 우려사항, 기대 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4664811" y="4926896"/>
            <a:ext cx="3066898" cy="1114654"/>
          </a:xfrm>
          <a:prstGeom prst="roundRect">
            <a:avLst>
              <a:gd name="adj" fmla="val 8414"/>
            </a:avLst>
          </a:prstGeom>
          <a:solidFill>
            <a:srgbClr val="FF6908">
              <a:alpha val="5000"/>
            </a:srgbClr>
          </a:solidFill>
          <a:ln w="12700">
            <a:solidFill>
              <a:srgbClr val="FF690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26660" y="5096974"/>
            <a:ext cx="152705" cy="15270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055260" y="505857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12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rcRect l="-363" r="-363"/>
          <a:stretch/>
        </p:blipFill>
        <p:spPr>
          <a:xfrm>
            <a:off x="4826660" y="5404213"/>
            <a:ext cx="142646" cy="161849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046116" y="5363065"/>
            <a:ext cx="13999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 프로필 작성</a:t>
            </a:r>
            <a:endParaRPr lang="en-US" sz="12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6"/>
          <a:srcRect l="-363" r="-363"/>
          <a:stretch/>
        </p:blipFill>
        <p:spPr>
          <a:xfrm>
            <a:off x="4826660" y="5707794"/>
            <a:ext cx="142646" cy="161849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5046116" y="5666646"/>
            <a:ext cx="7863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니즈 파악</a:t>
            </a:r>
            <a:endParaRPr lang="en-US" sz="12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8"/>
          <a:srcRect t="-1" b="-1"/>
          <a:stretch/>
        </p:blipFill>
        <p:spPr>
          <a:xfrm>
            <a:off x="8201710" y="1790286"/>
            <a:ext cx="3556102" cy="449906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0834269" y="1607386"/>
            <a:ext cx="886968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dirty="0">
                <a:solidFill>
                  <a:srgbClr val="FF6908">
                    <a:alpha val="3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9"/>
          <a:srcRect t="-28" b="-28"/>
          <a:stretch/>
        </p:blipFill>
        <p:spPr>
          <a:xfrm>
            <a:off x="8449513" y="2725021"/>
            <a:ext cx="3060497" cy="90708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639708" y="2846636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44" name="Text 30"/>
          <p:cNvSpPr txBox="1"/>
          <p:nvPr/>
        </p:nvSpPr>
        <p:spPr>
          <a:xfrm>
            <a:off x="8639708" y="3113641"/>
            <a:ext cx="28008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근거가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필요한가?</a:t>
            </a:r>
            <a:endParaRPr lang="en-US" sz="1200" dirty="0"/>
          </a:p>
        </p:txBody>
      </p:sp>
      <p:sp>
        <p:nvSpPr>
          <p:cNvPr id="45" name="Shape 31"/>
          <p:cNvSpPr/>
          <p:nvPr/>
        </p:nvSpPr>
        <p:spPr>
          <a:xfrm>
            <a:off x="8449513" y="3890881"/>
            <a:ext cx="57607" cy="57607"/>
          </a:xfrm>
          <a:prstGeom prst="ellipse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2"/>
          <p:cNvSpPr txBox="1"/>
          <p:nvPr/>
        </p:nvSpPr>
        <p:spPr>
          <a:xfrm>
            <a:off x="8620506" y="3814071"/>
            <a:ext cx="13624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-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수집:</a:t>
            </a:r>
            <a:endParaRPr lang="en-US" sz="1200" dirty="0"/>
          </a:p>
          <a:p>
            <a:pPr marL="0" indent="0" algn="l">
              <a:buNone/>
            </a:pPr>
            <a:r>
              <a:rPr lang="en-US" sz="1200" kern="0" spc="-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통계, 연구 결과, 사례 </a:t>
            </a:r>
            <a:endParaRPr lang="en-US" sz="1200" dirty="0"/>
          </a:p>
        </p:txBody>
      </p:sp>
      <p:sp>
        <p:nvSpPr>
          <p:cNvPr id="47" name="Shape 33"/>
          <p:cNvSpPr/>
          <p:nvPr/>
        </p:nvSpPr>
        <p:spPr>
          <a:xfrm>
            <a:off x="8449513" y="4439521"/>
            <a:ext cx="57607" cy="57607"/>
          </a:xfrm>
          <a:prstGeom prst="ellipse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4"/>
          <p:cNvSpPr txBox="1"/>
          <p:nvPr/>
        </p:nvSpPr>
        <p:spPr>
          <a:xfrm>
            <a:off x="8620506" y="4362711"/>
            <a:ext cx="159562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-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검증:</a:t>
            </a:r>
            <a:endParaRPr lang="en-US" sz="1200" dirty="0"/>
          </a:p>
          <a:p>
            <a:pPr marL="0" indent="0" algn="l">
              <a:buNone/>
            </a:pPr>
            <a:r>
              <a:rPr lang="en-US" sz="1200" kern="0" spc="-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신뢰할 수 있는 기관 자료 </a:t>
            </a:r>
            <a:endParaRPr lang="en-US" sz="1200" dirty="0"/>
          </a:p>
        </p:txBody>
      </p:sp>
      <p:sp>
        <p:nvSpPr>
          <p:cNvPr id="49" name="Shape 35"/>
          <p:cNvSpPr/>
          <p:nvPr/>
        </p:nvSpPr>
        <p:spPr>
          <a:xfrm>
            <a:off x="8449513" y="4926896"/>
            <a:ext cx="3066898" cy="1114654"/>
          </a:xfrm>
          <a:prstGeom prst="roundRect">
            <a:avLst>
              <a:gd name="adj" fmla="val 8414"/>
            </a:avLst>
          </a:prstGeom>
          <a:solidFill>
            <a:srgbClr val="FF6908">
              <a:alpha val="5000"/>
            </a:srgbClr>
          </a:solidFill>
          <a:ln w="12700">
            <a:solidFill>
              <a:srgbClr val="FF690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11362" y="5096974"/>
            <a:ext cx="152705" cy="152705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839962" y="505857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12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6"/>
          <a:srcRect l="-363" r="-363"/>
          <a:stretch/>
        </p:blipFill>
        <p:spPr>
          <a:xfrm>
            <a:off x="8611362" y="5404213"/>
            <a:ext cx="142646" cy="161849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8830818" y="5363065"/>
            <a:ext cx="13999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데이터 확보</a:t>
            </a:r>
            <a:endParaRPr lang="en-US" sz="12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6"/>
          <a:srcRect l="-363" r="-363"/>
          <a:stretch/>
        </p:blipFill>
        <p:spPr>
          <a:xfrm>
            <a:off x="8611362" y="5707794"/>
            <a:ext cx="142646" cy="161849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8830818" y="5666646"/>
            <a:ext cx="7863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명시</a:t>
            </a:r>
            <a:endParaRPr lang="en-US" sz="1200" dirty="0"/>
          </a:p>
        </p:txBody>
      </p:sp>
      <p:sp>
        <p:nvSpPr>
          <p:cNvPr id="56" name="Shape 39"/>
          <p:cNvSpPr/>
          <p:nvPr/>
        </p:nvSpPr>
        <p:spPr>
          <a:xfrm>
            <a:off x="3264866" y="2930761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407512" y="3073407"/>
            <a:ext cx="247802" cy="247802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880110" y="1998987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</a:t>
            </a:r>
            <a:endParaRPr lang="en-US" sz="1200" dirty="0"/>
          </a:p>
        </p:txBody>
      </p:sp>
      <p:sp>
        <p:nvSpPr>
          <p:cNvPr id="59" name="Text 41"/>
          <p:cNvSpPr txBox="1"/>
          <p:nvPr/>
        </p:nvSpPr>
        <p:spPr>
          <a:xfrm>
            <a:off x="880110" y="2227587"/>
            <a:ext cx="32580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명확화</a:t>
            </a:r>
            <a:endParaRPr lang="en-US" sz="2200" dirty="0"/>
          </a:p>
        </p:txBody>
      </p:sp>
      <p:sp>
        <p:nvSpPr>
          <p:cNvPr id="60" name="Shape 42"/>
          <p:cNvSpPr/>
          <p:nvPr/>
        </p:nvSpPr>
        <p:spPr>
          <a:xfrm>
            <a:off x="7049567" y="2930761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1"/>
          <a:srcRect l="-775" r="-775"/>
          <a:stretch/>
        </p:blipFill>
        <p:spPr>
          <a:xfrm>
            <a:off x="7159295" y="3073407"/>
            <a:ext cx="314554" cy="247802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4664811" y="1998987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</a:t>
            </a:r>
            <a:endParaRPr lang="en-US" sz="1200" dirty="0"/>
          </a:p>
        </p:txBody>
      </p:sp>
      <p:sp>
        <p:nvSpPr>
          <p:cNvPr id="63" name="Text 44"/>
          <p:cNvSpPr txBox="1"/>
          <p:nvPr/>
        </p:nvSpPr>
        <p:spPr>
          <a:xfrm>
            <a:off x="4664811" y="2227587"/>
            <a:ext cx="32580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청중 분석</a:t>
            </a:r>
            <a:endParaRPr lang="en-US" sz="2200" dirty="0"/>
          </a:p>
        </p:txBody>
      </p:sp>
      <p:sp>
        <p:nvSpPr>
          <p:cNvPr id="64" name="Shape 45"/>
          <p:cNvSpPr/>
          <p:nvPr/>
        </p:nvSpPr>
        <p:spPr>
          <a:xfrm>
            <a:off x="10834269" y="2930761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2"/>
          <a:srcRect l="-606" r="-606"/>
          <a:stretch/>
        </p:blipFill>
        <p:spPr>
          <a:xfrm>
            <a:off x="10991546" y="3073407"/>
            <a:ext cx="219456" cy="247802"/>
          </a:xfrm>
          <a:prstGeom prst="rect">
            <a:avLst/>
          </a:prstGeom>
        </p:spPr>
      </p:pic>
      <p:sp>
        <p:nvSpPr>
          <p:cNvPr id="66" name="Text 46"/>
          <p:cNvSpPr txBox="1"/>
          <p:nvPr/>
        </p:nvSpPr>
        <p:spPr>
          <a:xfrm>
            <a:off x="8449513" y="1998987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</a:t>
            </a:r>
            <a:endParaRPr lang="en-US" sz="1200" dirty="0"/>
          </a:p>
        </p:txBody>
      </p:sp>
      <p:sp>
        <p:nvSpPr>
          <p:cNvPr id="67" name="Text 47"/>
          <p:cNvSpPr txBox="1"/>
          <p:nvPr/>
        </p:nvSpPr>
        <p:spPr>
          <a:xfrm>
            <a:off x="8449513" y="2227587"/>
            <a:ext cx="32580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수집</a:t>
            </a:r>
            <a:endParaRPr lang="en-US" sz="2200" dirty="0"/>
          </a:p>
        </p:txBody>
      </p:sp>
      <p:sp>
        <p:nvSpPr>
          <p:cNvPr id="6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52298" y="821893"/>
            <a:ext cx="3894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절차 (2/2)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74702" y="1367126"/>
            <a:ext cx="3115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발표를 위한 구조화와 리허설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88603" y="878989"/>
            <a:ext cx="229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PREPARATION PROCEDURES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574702" y="1729816"/>
            <a:ext cx="3556102" cy="47804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3905" y="1729816"/>
            <a:ext cx="3524098" cy="1152144"/>
          </a:xfrm>
          <a:prstGeom prst="rect">
            <a:avLst/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93905" y="2872816"/>
            <a:ext cx="3524098" cy="9144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098446" y="1928699"/>
            <a:ext cx="905256" cy="304495"/>
          </a:xfrm>
          <a:prstGeom prst="roundRect">
            <a:avLst>
              <a:gd name="adj" fmla="val 187688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212746" y="1995450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266" r="-266"/>
          <a:stretch/>
        </p:blipFill>
        <p:spPr>
          <a:xfrm>
            <a:off x="817237" y="2366696"/>
            <a:ext cx="323698" cy="28620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07075" y="2233194"/>
            <a:ext cx="3056789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</a:t>
            </a: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및 </a:t>
            </a:r>
            <a:r>
              <a:rPr lang="en-US" b="1" dirty="0" err="1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</a:t>
            </a: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b="1" dirty="0" err="1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822505" y="3110560"/>
            <a:ext cx="3066898" cy="448056"/>
          </a:xfrm>
          <a:prstGeom prst="roundRect">
            <a:avLst>
              <a:gd name="adj" fmla="val 34737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22505" y="3110560"/>
            <a:ext cx="38405" cy="448056"/>
          </a:xfrm>
          <a:prstGeom prst="roundRect">
            <a:avLst>
              <a:gd name="adj" fmla="val 405266"/>
            </a:avLst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013614" y="3214802"/>
            <a:ext cx="2181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순서로 전달할 것인가?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17855" y="3746764"/>
            <a:ext cx="1381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스토리라인: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서론 → 본론 → 결론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117855" y="4338381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 흐름: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→ 분석 → 해결책 → 효과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22505" y="5115839"/>
            <a:ext cx="3066898" cy="1152144"/>
          </a:xfrm>
          <a:prstGeom prst="roundRect">
            <a:avLst>
              <a:gd name="adj" fmla="val 787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984353" y="5316093"/>
            <a:ext cx="161849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223012" y="5278602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1258673" y="5621502"/>
            <a:ext cx="133502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8071" y="5583098"/>
            <a:ext cx="883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흐름도 작성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1258673" y="5910453"/>
            <a:ext cx="133502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8071" y="5872048"/>
            <a:ext cx="12938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정리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4359404" y="1729816"/>
            <a:ext cx="3556102" cy="478048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378606" y="1729816"/>
            <a:ext cx="3524098" cy="1152144"/>
          </a:xfrm>
          <a:prstGeom prst="rect">
            <a:avLst/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4378606" y="2872816"/>
            <a:ext cx="3524098" cy="9144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2"/>
          <p:cNvSpPr/>
          <p:nvPr/>
        </p:nvSpPr>
        <p:spPr>
          <a:xfrm>
            <a:off x="6883147" y="1928699"/>
            <a:ext cx="905256" cy="304495"/>
          </a:xfrm>
          <a:prstGeom prst="roundRect">
            <a:avLst>
              <a:gd name="adj" fmla="val 187688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 txBox="1"/>
          <p:nvPr/>
        </p:nvSpPr>
        <p:spPr>
          <a:xfrm>
            <a:off x="6997447" y="1995450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05</a:t>
            </a:r>
            <a:endParaRPr lang="en-US" sz="12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01938" y="2366696"/>
            <a:ext cx="286207" cy="28620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154287" y="2233194"/>
            <a:ext cx="246988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시각자료</a:t>
            </a: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b="1" dirty="0" err="1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</a:t>
            </a:r>
            <a:endParaRPr lang="en-US" dirty="0"/>
          </a:p>
        </p:txBody>
      </p:sp>
      <p:sp>
        <p:nvSpPr>
          <p:cNvPr id="34" name="Shape 25"/>
          <p:cNvSpPr/>
          <p:nvPr/>
        </p:nvSpPr>
        <p:spPr>
          <a:xfrm>
            <a:off x="4607206" y="3110560"/>
            <a:ext cx="3066898" cy="448056"/>
          </a:xfrm>
          <a:prstGeom prst="roundRect">
            <a:avLst>
              <a:gd name="adj" fmla="val 34737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/>
          <p:cNvSpPr/>
          <p:nvPr/>
        </p:nvSpPr>
        <p:spPr>
          <a:xfrm>
            <a:off x="4607206" y="3110560"/>
            <a:ext cx="38405" cy="448056"/>
          </a:xfrm>
          <a:prstGeom prst="roundRect">
            <a:avLst>
              <a:gd name="adj" fmla="val 405266"/>
            </a:avLst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4797401" y="3214802"/>
            <a:ext cx="1921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시각화할 것인가?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4901643" y="3728476"/>
            <a:ext cx="1843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원칙: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 Idea per Slide, KISS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4901643" y="4338381"/>
            <a:ext cx="2029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차트/그래프: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명확히 전달하는 형식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607206" y="5115839"/>
            <a:ext cx="3066898" cy="1152144"/>
          </a:xfrm>
          <a:prstGeom prst="roundRect">
            <a:avLst>
              <a:gd name="adj" fmla="val 787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4769055" y="5316093"/>
            <a:ext cx="161849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007713" y="5278602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12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043375" y="5621502"/>
            <a:ext cx="133502" cy="15270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5252773" y="5583098"/>
            <a:ext cx="10405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명확</a:t>
            </a:r>
            <a:endParaRPr lang="en-US" sz="12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043375" y="5910453"/>
            <a:ext cx="133502" cy="15270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5252773" y="5872048"/>
            <a:ext cx="13880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폰트 및 색상 통일</a:t>
            </a:r>
            <a:endParaRPr lang="en-US" sz="12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8"/>
          <a:srcRect l="-2" r="-2"/>
          <a:stretch/>
        </p:blipFill>
        <p:spPr>
          <a:xfrm>
            <a:off x="8144105" y="1729816"/>
            <a:ext cx="3556102" cy="4780484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8163308" y="1729816"/>
            <a:ext cx="3524098" cy="1152144"/>
          </a:xfrm>
          <a:prstGeom prst="rect">
            <a:avLst/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5"/>
          <p:cNvSpPr/>
          <p:nvPr/>
        </p:nvSpPr>
        <p:spPr>
          <a:xfrm>
            <a:off x="8163308" y="2872816"/>
            <a:ext cx="3524098" cy="9144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6"/>
          <p:cNvSpPr/>
          <p:nvPr/>
        </p:nvSpPr>
        <p:spPr>
          <a:xfrm>
            <a:off x="10667849" y="1928699"/>
            <a:ext cx="905256" cy="304495"/>
          </a:xfrm>
          <a:prstGeom prst="roundRect">
            <a:avLst>
              <a:gd name="adj" fmla="val 187688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7"/>
          <p:cNvSpPr txBox="1"/>
          <p:nvPr/>
        </p:nvSpPr>
        <p:spPr>
          <a:xfrm>
            <a:off x="10782149" y="1995450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06</a:t>
            </a:r>
            <a:endParaRPr lang="en-US" sz="12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9"/>
          <a:srcRect l="-1118" r="-1118"/>
          <a:stretch/>
        </p:blipFill>
        <p:spPr>
          <a:xfrm>
            <a:off x="8386640" y="2366696"/>
            <a:ext cx="219456" cy="286207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8871323" y="2233194"/>
            <a:ext cx="2646709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</a:t>
            </a: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및 </a:t>
            </a:r>
            <a:r>
              <a:rPr lang="en-US" b="1" dirty="0" err="1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</a:t>
            </a:r>
            <a:endParaRPr lang="en-US" dirty="0"/>
          </a:p>
        </p:txBody>
      </p:sp>
      <p:sp>
        <p:nvSpPr>
          <p:cNvPr id="53" name="Shape 39"/>
          <p:cNvSpPr/>
          <p:nvPr/>
        </p:nvSpPr>
        <p:spPr>
          <a:xfrm>
            <a:off x="8391908" y="3110560"/>
            <a:ext cx="3066898" cy="448056"/>
          </a:xfrm>
          <a:prstGeom prst="roundRect">
            <a:avLst>
              <a:gd name="adj" fmla="val 34737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0"/>
          <p:cNvSpPr/>
          <p:nvPr/>
        </p:nvSpPr>
        <p:spPr>
          <a:xfrm>
            <a:off x="8391908" y="3110560"/>
            <a:ext cx="38405" cy="448056"/>
          </a:xfrm>
          <a:prstGeom prst="roundRect">
            <a:avLst>
              <a:gd name="adj" fmla="val 405266"/>
            </a:avLst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1"/>
          <p:cNvSpPr txBox="1"/>
          <p:nvPr/>
        </p:nvSpPr>
        <p:spPr>
          <a:xfrm>
            <a:off x="8582103" y="3214802"/>
            <a:ext cx="1498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충분히 연습했는가?</a:t>
            </a:r>
            <a:endParaRPr lang="en-US" sz="1200" dirty="0"/>
          </a:p>
        </p:txBody>
      </p:sp>
      <p:sp>
        <p:nvSpPr>
          <p:cNvPr id="56" name="Text 42"/>
          <p:cNvSpPr txBox="1"/>
          <p:nvPr/>
        </p:nvSpPr>
        <p:spPr>
          <a:xfrm>
            <a:off x="8686344" y="37284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연습: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대본 읽으며 시간 측정</a:t>
            </a:r>
            <a:endParaRPr lang="en-US" sz="1200" dirty="0"/>
          </a:p>
        </p:txBody>
      </p:sp>
      <p:sp>
        <p:nvSpPr>
          <p:cNvPr id="57" name="Text 43"/>
          <p:cNvSpPr txBox="1"/>
          <p:nvPr/>
        </p:nvSpPr>
        <p:spPr>
          <a:xfrm>
            <a:off x="8686344" y="4338381"/>
            <a:ext cx="1981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연습: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동료 앞에서 발표, 피드백 수집</a:t>
            </a:r>
            <a:endParaRPr lang="en-US" sz="1200" dirty="0"/>
          </a:p>
        </p:txBody>
      </p:sp>
      <p:sp>
        <p:nvSpPr>
          <p:cNvPr id="58" name="Shape 44"/>
          <p:cNvSpPr/>
          <p:nvPr/>
        </p:nvSpPr>
        <p:spPr>
          <a:xfrm>
            <a:off x="8391908" y="5115839"/>
            <a:ext cx="3066898" cy="1152144"/>
          </a:xfrm>
          <a:prstGeom prst="roundRect">
            <a:avLst>
              <a:gd name="adj" fmla="val 787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8553757" y="5316093"/>
            <a:ext cx="161849" cy="152705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8791501" y="5278602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1200" dirty="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8828077" y="5621502"/>
            <a:ext cx="133502" cy="152705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9037474" y="5583098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준수</a:t>
            </a:r>
            <a:endParaRPr lang="en-US" sz="1200" dirty="0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8828077" y="5910453"/>
            <a:ext cx="133502" cy="152705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9037474" y="5872048"/>
            <a:ext cx="1135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대응 준비</a:t>
            </a:r>
            <a:endParaRPr lang="en-US" sz="1200" dirty="0"/>
          </a:p>
        </p:txBody>
      </p:sp>
      <p:sp>
        <p:nvSpPr>
          <p:cNvPr id="6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1263555" y="2104773"/>
            <a:ext cx="4391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실력을 향상시키는 기초 훈련 가이드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21140" y="638251"/>
            <a:ext cx="24707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38" dirty="0">
                <a:solidFill>
                  <a:srgbClr val="FF6908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LEVEL: BEGINNER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28569" y="2733271"/>
            <a:ext cx="3066898" cy="1516815"/>
          </a:xfrm>
          <a:prstGeom prst="roundRect">
            <a:avLst>
              <a:gd name="adj" fmla="val 3096"/>
            </a:avLst>
          </a:prstGeom>
          <a:solidFill>
            <a:srgbClr val="FFF9F5"/>
          </a:solidFill>
          <a:ln w="25400">
            <a:solidFill>
              <a:srgbClr val="FF690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476371" y="2950898"/>
            <a:ext cx="476402" cy="476402"/>
          </a:xfrm>
          <a:prstGeom prst="roundRect">
            <a:avLst>
              <a:gd name="adj" fmla="val 537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1585185" y="3075256"/>
            <a:ext cx="256946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078286" y="3028361"/>
            <a:ext cx="27624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점검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1493746" y="3528319"/>
            <a:ext cx="26481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거울 앞에서 표정과 자세를 확인하거나, 자신의 모습을 영상으로 기록하세요.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20409" y="2733271"/>
            <a:ext cx="3066898" cy="1516815"/>
          </a:xfrm>
          <a:prstGeom prst="roundRect">
            <a:avLst>
              <a:gd name="adj" fmla="val 3096"/>
            </a:avLst>
          </a:prstGeom>
          <a:solidFill>
            <a:srgbClr val="FFF9F5"/>
          </a:solidFill>
          <a:ln w="25400">
            <a:solidFill>
              <a:srgbClr val="FF690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67297" y="2950898"/>
            <a:ext cx="476402" cy="476402"/>
          </a:xfrm>
          <a:prstGeom prst="roundRect">
            <a:avLst>
              <a:gd name="adj" fmla="val 537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4920002" y="3075256"/>
            <a:ext cx="1719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76288" y="3031105"/>
            <a:ext cx="27624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 숙지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4784672" y="3528319"/>
            <a:ext cx="26481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전체를 외우기보다 핵심 메시지와 흐름을 키워드 중심으로 익히세요.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218202" y="4552688"/>
            <a:ext cx="3066898" cy="1516815"/>
          </a:xfrm>
          <a:prstGeom prst="roundRect">
            <a:avLst>
              <a:gd name="adj" fmla="val 3096"/>
            </a:avLst>
          </a:prstGeom>
          <a:solidFill>
            <a:srgbClr val="FFF9F5"/>
          </a:solidFill>
          <a:ln w="25400">
            <a:solidFill>
              <a:srgbClr val="FF690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466004" y="4771230"/>
            <a:ext cx="476402" cy="476402"/>
          </a:xfrm>
          <a:prstGeom prst="roundRect">
            <a:avLst>
              <a:gd name="adj" fmla="val 537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1604079" y="4895588"/>
            <a:ext cx="200254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108480" y="4848693"/>
            <a:ext cx="27624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측정</a:t>
            </a:r>
            <a:endParaRPr lang="en-US" dirty="0"/>
          </a:p>
        </p:txBody>
      </p:sp>
      <p:sp>
        <p:nvSpPr>
          <p:cNvPr id="22" name="Text 17"/>
          <p:cNvSpPr txBox="1"/>
          <p:nvPr/>
        </p:nvSpPr>
        <p:spPr>
          <a:xfrm>
            <a:off x="1483379" y="5347736"/>
            <a:ext cx="26481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시간의 ±10% 범위 내에 들어오도록 반복해서 타이밍을 맞추세요.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10042" y="4552688"/>
            <a:ext cx="3066898" cy="1516815"/>
          </a:xfrm>
          <a:prstGeom prst="roundRect">
            <a:avLst>
              <a:gd name="adj" fmla="val 3096"/>
            </a:avLst>
          </a:prstGeom>
          <a:solidFill>
            <a:srgbClr val="FFF9F5"/>
          </a:solidFill>
          <a:ln w="25400">
            <a:solidFill>
              <a:srgbClr val="FF690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4756930" y="4771230"/>
            <a:ext cx="476402" cy="476402"/>
          </a:xfrm>
          <a:prstGeom prst="roundRect">
            <a:avLst>
              <a:gd name="adj" fmla="val 537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4909635" y="4895588"/>
            <a:ext cx="171907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399406" y="4848693"/>
            <a:ext cx="27624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 녹음</a:t>
            </a:r>
            <a:endParaRPr lang="en-US" dirty="0"/>
          </a:p>
        </p:txBody>
      </p:sp>
      <p:sp>
        <p:nvSpPr>
          <p:cNvPr id="27" name="Text 21"/>
          <p:cNvSpPr txBox="1"/>
          <p:nvPr/>
        </p:nvSpPr>
        <p:spPr>
          <a:xfrm>
            <a:off x="4774305" y="5347736"/>
            <a:ext cx="26481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목소리 톤, 속도, 말버릇을 체크하여 전달력을 개선하세요.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929898" y="2312992"/>
            <a:ext cx="1876349" cy="381305"/>
          </a:xfrm>
          <a:prstGeom prst="roundRect">
            <a:avLst>
              <a:gd name="adj" fmla="val 4796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8082603" y="2427292"/>
            <a:ext cx="161849" cy="1527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376125" y="2316671"/>
            <a:ext cx="14676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BEGINNER LEVEL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953672" y="2912645"/>
            <a:ext cx="3366167" cy="1979285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8399899" y="3130796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CHECK POINT</a:t>
            </a:r>
            <a:endParaRPr lang="en-US" sz="1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2994" r="-2994"/>
          <a:stretch/>
        </p:blipFill>
        <p:spPr>
          <a:xfrm>
            <a:off x="8238051" y="3169201"/>
            <a:ext cx="161849" cy="152705"/>
          </a:xfrm>
          <a:prstGeom prst="rect">
            <a:avLst/>
          </a:prstGeom>
        </p:spPr>
      </p:pic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38051" y="3580681"/>
            <a:ext cx="209398" cy="20939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561748" y="3542276"/>
            <a:ext cx="22485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내용이 끊김 없이 전달되는가?</a:t>
            </a:r>
            <a:endParaRPr lang="en-US" sz="12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38051" y="3980274"/>
            <a:ext cx="209398" cy="20939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561748" y="3941869"/>
            <a:ext cx="12819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적절한가?</a:t>
            </a:r>
            <a:endParaRPr lang="en-US" sz="12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38051" y="4380781"/>
            <a:ext cx="209398" cy="20939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561748" y="4342376"/>
            <a:ext cx="18434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메시지가 명확한가?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7965277" y="5045549"/>
            <a:ext cx="3366167" cy="1095451"/>
          </a:xfrm>
          <a:prstGeom prst="roundRect">
            <a:avLst>
              <a:gd name="adj" fmla="val 8710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Shape 30"/>
          <p:cNvSpPr/>
          <p:nvPr/>
        </p:nvSpPr>
        <p:spPr>
          <a:xfrm>
            <a:off x="7965277" y="5045549"/>
            <a:ext cx="47549" cy="1095451"/>
          </a:xfrm>
          <a:prstGeom prst="roundRect">
            <a:avLst>
              <a:gd name="adj" fmla="val 200668"/>
            </a:avLst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/>
          <p:cNvSpPr txBox="1"/>
          <p:nvPr/>
        </p:nvSpPr>
        <p:spPr>
          <a:xfrm>
            <a:off x="8486485" y="5228429"/>
            <a:ext cx="356524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실전 TIP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장시간 한 번보다 매일 10-15분씩 </a:t>
            </a:r>
            <a:r>
              <a:rPr lang="en-US" sz="1200" b="1" dirty="0" err="1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짧게</a:t>
            </a: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</a:t>
            </a: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번 연습하는 것이 훨씬 효과적입니다. </a:t>
            </a:r>
            <a:endParaRPr lang="en-US" sz="12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rcRect l="-847" r="-847"/>
          <a:stretch/>
        </p:blipFill>
        <p:spPr>
          <a:xfrm>
            <a:off x="8241426" y="5277807"/>
            <a:ext cx="123444" cy="161849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756606" y="897086"/>
            <a:ext cx="2239190" cy="126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3F4F6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LV.1</a:t>
            </a:r>
            <a:endParaRPr lang="en-US" sz="880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7F51E1D2-0E19-9F13-BA29-DDE7ECA51EB0}"/>
              </a:ext>
            </a:extLst>
          </p:cNvPr>
          <p:cNvSpPr/>
          <p:nvPr/>
        </p:nvSpPr>
        <p:spPr>
          <a:xfrm>
            <a:off x="1197347" y="915466"/>
            <a:ext cx="1173540" cy="304495"/>
          </a:xfrm>
          <a:prstGeom prst="roundRect">
            <a:avLst>
              <a:gd name="adj" fmla="val 187688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26DCBCA0-93D2-E3B9-BE30-47D1C1E324F9}"/>
              </a:ext>
            </a:extLst>
          </p:cNvPr>
          <p:cNvSpPr txBox="1"/>
          <p:nvPr/>
        </p:nvSpPr>
        <p:spPr>
          <a:xfrm>
            <a:off x="1321505" y="866851"/>
            <a:ext cx="1014548" cy="38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kern="0" spc="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Basic</a:t>
            </a:r>
            <a:r>
              <a:rPr lang="en-US" sz="1200" b="1" kern="0" spc="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 LEVEL</a:t>
            </a:r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2242CFD1-7F9F-8832-D99E-AFD5F684D3E7}"/>
              </a:ext>
            </a:extLst>
          </p:cNvPr>
          <p:cNvSpPr txBox="1"/>
          <p:nvPr/>
        </p:nvSpPr>
        <p:spPr>
          <a:xfrm>
            <a:off x="1172940" y="1453285"/>
            <a:ext cx="5917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-7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연습 단계 - </a:t>
            </a:r>
            <a:r>
              <a:rPr lang="ko-KR" altLang="en-US" sz="3200" b="1" kern="0" spc="-7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</a:t>
            </a:r>
            <a:r>
              <a:rPr lang="en-US" sz="3200" b="1" kern="0" spc="-7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 레벨</a:t>
            </a:r>
            <a:endParaRPr lang="en-US" sz="32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0857586" y="38405"/>
            <a:ext cx="1140257" cy="191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0" b="1" dirty="0">
                <a:solidFill>
                  <a:srgbClr val="FFEDD5">
                    <a:alpha val="4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9BDBFBA-BCFE-FBB4-4F5A-C3AFCC894FDA}"/>
              </a:ext>
            </a:extLst>
          </p:cNvPr>
          <p:cNvGrpSpPr/>
          <p:nvPr/>
        </p:nvGrpSpPr>
        <p:grpSpPr>
          <a:xfrm>
            <a:off x="968196" y="1902098"/>
            <a:ext cx="7063740" cy="4321075"/>
            <a:chOff x="609905" y="1333195"/>
            <a:chExt cx="7063740" cy="5084064"/>
          </a:xfrm>
        </p:grpSpPr>
        <p:sp>
          <p:nvSpPr>
            <p:cNvPr id="5" name="Shape 3"/>
            <p:cNvSpPr/>
            <p:nvPr/>
          </p:nvSpPr>
          <p:spPr>
            <a:xfrm>
              <a:off x="609905" y="1333195"/>
              <a:ext cx="3438144" cy="2447849"/>
            </a:xfrm>
            <a:prstGeom prst="roundRect">
              <a:avLst>
                <a:gd name="adj" fmla="val 2907"/>
              </a:avLst>
            </a:prstGeom>
            <a:solidFill>
              <a:srgbClr val="FFF9F5"/>
            </a:solidFill>
            <a:ln w="25400">
              <a:solidFill>
                <a:srgbClr val="FF6908">
                  <a:alpha val="1000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895198" y="1619402"/>
              <a:ext cx="533095" cy="533095"/>
            </a:xfrm>
            <a:prstGeom prst="roundRect">
              <a:avLst>
                <a:gd name="adj" fmla="val 42882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C2410C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95782" y="1724762"/>
              <a:ext cx="333756" cy="358893"/>
            </a:xfrm>
            <a:prstGeom prst="rect">
              <a:avLst/>
            </a:prstGeom>
          </p:spPr>
        </p:pic>
        <p:sp>
          <p:nvSpPr>
            <p:cNvPr id="8" name="Text 5"/>
            <p:cNvSpPr txBox="1"/>
            <p:nvPr/>
          </p:nvSpPr>
          <p:spPr>
            <a:xfrm>
              <a:off x="895198" y="2267494"/>
              <a:ext cx="3115361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kern="0" spc="-37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동료 리허설 &amp; 피드백</a:t>
              </a:r>
              <a:endParaRPr lang="en-US" dirty="0"/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895198" y="2762402"/>
              <a:ext cx="2820532" cy="734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실제 청중 앞에서처럼 멈추지 않고 끝까지 진행하며, 명확성과 설득력에 대한 구체적 피드백을 수집하세요.</a:t>
              </a:r>
              <a:endParaRPr lang="en-US" sz="12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235501" y="1333195"/>
              <a:ext cx="3438144" cy="2447849"/>
            </a:xfrm>
            <a:prstGeom prst="roundRect">
              <a:avLst>
                <a:gd name="adj" fmla="val 2907"/>
              </a:avLst>
            </a:prstGeom>
            <a:solidFill>
              <a:srgbClr val="FFF9F5"/>
            </a:solidFill>
            <a:ln w="25400">
              <a:solidFill>
                <a:srgbClr val="FF6908">
                  <a:alpha val="1000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4520794" y="1619402"/>
              <a:ext cx="533095" cy="533095"/>
            </a:xfrm>
            <a:prstGeom prst="roundRect">
              <a:avLst>
                <a:gd name="adj" fmla="val 42882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C2410C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 l="-881" r="-881"/>
            <a:stretch/>
          </p:blipFill>
          <p:spPr>
            <a:xfrm>
              <a:off x="4668926" y="1752905"/>
              <a:ext cx="237744" cy="267005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4520794" y="2267494"/>
              <a:ext cx="3057754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kern="0" spc="-37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타이밍 &amp; 흐름 연습</a:t>
              </a:r>
              <a:endParaRPr lang="en-US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4520794" y="2762402"/>
              <a:ext cx="2820532" cy="734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각 섹션별(서론/본론/결론) 시간을 측정하고, 자연스러운 전환 문구와 호흡 조절을 집중 연습하세요.</a:t>
              </a:r>
              <a:endParaRPr lang="en-US" sz="1200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609905" y="3969410"/>
              <a:ext cx="3438144" cy="2447849"/>
            </a:xfrm>
            <a:prstGeom prst="roundRect">
              <a:avLst>
                <a:gd name="adj" fmla="val 2907"/>
              </a:avLst>
            </a:prstGeom>
            <a:solidFill>
              <a:srgbClr val="FFF9F5"/>
            </a:solidFill>
            <a:ln w="25400">
              <a:solidFill>
                <a:srgbClr val="FF6908">
                  <a:alpha val="1000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2"/>
            <p:cNvSpPr/>
            <p:nvPr/>
          </p:nvSpPr>
          <p:spPr>
            <a:xfrm>
              <a:off x="895198" y="4255618"/>
              <a:ext cx="533095" cy="533095"/>
            </a:xfrm>
            <a:prstGeom prst="roundRect">
              <a:avLst>
                <a:gd name="adj" fmla="val 42882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C2410C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95782" y="4389120"/>
              <a:ext cx="333756" cy="267005"/>
            </a:xfrm>
            <a:prstGeom prst="rect">
              <a:avLst/>
            </a:prstGeom>
          </p:spPr>
        </p:pic>
        <p:sp>
          <p:nvSpPr>
            <p:cNvPr id="18" name="Text 13"/>
            <p:cNvSpPr txBox="1"/>
            <p:nvPr/>
          </p:nvSpPr>
          <p:spPr>
            <a:xfrm>
              <a:off x="895198" y="4903710"/>
              <a:ext cx="3057754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kern="0" spc="-37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질문 대응 시나리오</a:t>
              </a:r>
              <a:endParaRPr lang="en-US" dirty="0"/>
            </a:p>
          </p:txBody>
        </p:sp>
        <p:sp>
          <p:nvSpPr>
            <p:cNvPr id="19" name="Text 14"/>
            <p:cNvSpPr txBox="1"/>
            <p:nvPr/>
          </p:nvSpPr>
          <p:spPr>
            <a:xfrm>
              <a:off x="895197" y="5398618"/>
              <a:ext cx="2898431" cy="734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예상되는 질문 리스트를 작성하고, 답변을 즉각적으로 구성하여 말하는 순발력을 훈련하세요.</a:t>
              </a:r>
              <a:endParaRPr lang="en-US" sz="1200" dirty="0"/>
            </a:p>
          </p:txBody>
        </p:sp>
        <p:sp>
          <p:nvSpPr>
            <p:cNvPr id="20" name="Shape 15"/>
            <p:cNvSpPr/>
            <p:nvPr/>
          </p:nvSpPr>
          <p:spPr>
            <a:xfrm>
              <a:off x="4235501" y="3969410"/>
              <a:ext cx="3438144" cy="2447849"/>
            </a:xfrm>
            <a:prstGeom prst="roundRect">
              <a:avLst>
                <a:gd name="adj" fmla="val 2907"/>
              </a:avLst>
            </a:prstGeom>
            <a:solidFill>
              <a:srgbClr val="FFF9F5"/>
            </a:solidFill>
            <a:ln w="25400">
              <a:solidFill>
                <a:srgbClr val="FF6908">
                  <a:alpha val="1000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6"/>
            <p:cNvSpPr/>
            <p:nvPr/>
          </p:nvSpPr>
          <p:spPr>
            <a:xfrm>
              <a:off x="4520794" y="4255618"/>
              <a:ext cx="533095" cy="533095"/>
            </a:xfrm>
            <a:prstGeom prst="roundRect">
              <a:avLst>
                <a:gd name="adj" fmla="val 42882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C2410C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6"/>
            <a:srcRect l="-685" r="-685"/>
            <a:stretch/>
          </p:blipFill>
          <p:spPr>
            <a:xfrm>
              <a:off x="4635094" y="4389120"/>
              <a:ext cx="304495" cy="267005"/>
            </a:xfrm>
            <a:prstGeom prst="rect">
              <a:avLst/>
            </a:prstGeom>
          </p:spPr>
        </p:pic>
        <p:sp>
          <p:nvSpPr>
            <p:cNvPr id="23" name="Text 17"/>
            <p:cNvSpPr txBox="1"/>
            <p:nvPr/>
          </p:nvSpPr>
          <p:spPr>
            <a:xfrm>
              <a:off x="4520794" y="4903710"/>
              <a:ext cx="3057754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kern="0" spc="-37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녹화 및 자가 분석</a:t>
              </a:r>
              <a:endParaRPr lang="en-US" dirty="0"/>
            </a:p>
          </p:txBody>
        </p:sp>
        <p:sp>
          <p:nvSpPr>
            <p:cNvPr id="24" name="Text 18"/>
            <p:cNvSpPr txBox="1"/>
            <p:nvPr/>
          </p:nvSpPr>
          <p:spPr>
            <a:xfrm>
              <a:off x="4520794" y="5398618"/>
              <a:ext cx="2820532" cy="734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발표 영상을 촬영하여 자신의 시선 처리, 바디랭귀지, 말버릇 등을 객관적으로 분석 및 교정하세요.</a:t>
              </a:r>
              <a:endParaRPr lang="en-US" sz="1200" dirty="0"/>
            </a:p>
          </p:txBody>
        </p:sp>
      </p:grpSp>
      <p:sp>
        <p:nvSpPr>
          <p:cNvPr id="25" name="Shape 19"/>
          <p:cNvSpPr/>
          <p:nvPr/>
        </p:nvSpPr>
        <p:spPr>
          <a:xfrm>
            <a:off x="8412936" y="1946677"/>
            <a:ext cx="2846571" cy="1988209"/>
          </a:xfrm>
          <a:prstGeom prst="roundRect">
            <a:avLst>
              <a:gd name="adj" fmla="val 154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2660" r="-2660"/>
          <a:stretch/>
        </p:blipFill>
        <p:spPr>
          <a:xfrm>
            <a:off x="8726576" y="2172532"/>
            <a:ext cx="181051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907627" y="2129556"/>
            <a:ext cx="1314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8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 POINT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726576" y="2595900"/>
            <a:ext cx="190195" cy="190195"/>
          </a:xfrm>
          <a:prstGeom prst="roundRect">
            <a:avLst>
              <a:gd name="adj" fmla="val 120192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 txBox="1"/>
          <p:nvPr/>
        </p:nvSpPr>
        <p:spPr>
          <a:xfrm>
            <a:off x="9031985" y="2576697"/>
            <a:ext cx="1921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14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청중의 반응을 살피는가?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726576" y="3014695"/>
            <a:ext cx="190195" cy="190195"/>
          </a:xfrm>
          <a:prstGeom prst="roundRect">
            <a:avLst>
              <a:gd name="adj" fmla="val 120192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9031985" y="2996407"/>
            <a:ext cx="23445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14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돌발 질문에 당황하지 않는가?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726576" y="3434404"/>
            <a:ext cx="190195" cy="190195"/>
          </a:xfrm>
          <a:prstGeom prst="roundRect">
            <a:avLst>
              <a:gd name="adj" fmla="val 120192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 txBox="1"/>
          <p:nvPr/>
        </p:nvSpPr>
        <p:spPr>
          <a:xfrm>
            <a:off x="9031985" y="3415202"/>
            <a:ext cx="2083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14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피드백을 즉시 반영했는가?</a:t>
            </a:r>
            <a:endParaRPr lang="en-US" sz="12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t="-1" b="-1"/>
          <a:stretch/>
        </p:blipFill>
        <p:spPr>
          <a:xfrm>
            <a:off x="8412936" y="4368060"/>
            <a:ext cx="2846571" cy="1728108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rcRect l="-428" r="-428"/>
          <a:stretch/>
        </p:blipFill>
        <p:spPr>
          <a:xfrm>
            <a:off x="8679027" y="4670726"/>
            <a:ext cx="161849" cy="14264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917685" y="4635065"/>
            <a:ext cx="657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DBA7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 TIP</a:t>
            </a:r>
            <a:endParaRPr lang="en-US" sz="1100" dirty="0"/>
          </a:p>
        </p:txBody>
      </p:sp>
      <p:sp>
        <p:nvSpPr>
          <p:cNvPr id="38" name="Text 28"/>
          <p:cNvSpPr txBox="1"/>
          <p:nvPr/>
        </p:nvSpPr>
        <p:spPr>
          <a:xfrm>
            <a:off x="8679027" y="4925844"/>
            <a:ext cx="2227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3명 이상의 서로 다른 배경을 가진 사람들에게 리허설하여 다각도의 피드백을 수집하세요.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9712756" y="847649"/>
            <a:ext cx="157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2410C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LEVEL 2</a:t>
            </a:r>
            <a:endParaRPr lang="en-US" sz="120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E31EDD05-FEE0-9721-E03C-2F4DE4992D83}"/>
              </a:ext>
            </a:extLst>
          </p:cNvPr>
          <p:cNvSpPr/>
          <p:nvPr/>
        </p:nvSpPr>
        <p:spPr>
          <a:xfrm>
            <a:off x="1086334" y="586266"/>
            <a:ext cx="1715283" cy="304495"/>
          </a:xfrm>
          <a:prstGeom prst="roundRect">
            <a:avLst>
              <a:gd name="adj" fmla="val 187688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EBF429B7-8014-D0A2-DF16-7E78A3DC2D14}"/>
              </a:ext>
            </a:extLst>
          </p:cNvPr>
          <p:cNvSpPr txBox="1"/>
          <p:nvPr/>
        </p:nvSpPr>
        <p:spPr>
          <a:xfrm>
            <a:off x="1210492" y="537651"/>
            <a:ext cx="2809977" cy="38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kern="0" spc="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Intermediate</a:t>
            </a:r>
            <a:r>
              <a:rPr lang="en-US" sz="1200" b="1" kern="0" spc="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 LEVEL</a:t>
            </a:r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E6C51406-0AED-BFC4-5861-70FB3E6DCDAC}"/>
              </a:ext>
            </a:extLst>
          </p:cNvPr>
          <p:cNvSpPr txBox="1"/>
          <p:nvPr/>
        </p:nvSpPr>
        <p:spPr>
          <a:xfrm>
            <a:off x="1061928" y="1124085"/>
            <a:ext cx="5917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-7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연습 단계 - </a:t>
            </a:r>
            <a:r>
              <a:rPr lang="ko-KR" altLang="en-US" sz="3200" b="1" kern="0" spc="-7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</a:t>
            </a:r>
            <a:r>
              <a:rPr lang="en-US" sz="3200" b="1" kern="0" spc="-7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 레벨</a:t>
            </a:r>
            <a:endParaRPr lang="en-US" sz="32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/>
          <p:cNvSpPr/>
          <p:nvPr/>
        </p:nvSpPr>
        <p:spPr>
          <a:xfrm>
            <a:off x="959498" y="2399198"/>
            <a:ext cx="3448202" cy="1766077"/>
          </a:xfrm>
          <a:prstGeom prst="roundRect">
            <a:avLst>
              <a:gd name="adj" fmla="val 3225"/>
            </a:avLst>
          </a:prstGeom>
          <a:solidFill>
            <a:srgbClr val="FFF9F5"/>
          </a:solidFill>
          <a:ln w="254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629899" y="2399198"/>
            <a:ext cx="3448202" cy="1766077"/>
          </a:xfrm>
          <a:prstGeom prst="roundRect">
            <a:avLst>
              <a:gd name="adj" fmla="val 3225"/>
            </a:avLst>
          </a:prstGeom>
          <a:solidFill>
            <a:srgbClr val="FFF9F5"/>
          </a:solidFill>
          <a:ln w="254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959498" y="4338270"/>
            <a:ext cx="3448202" cy="1766077"/>
          </a:xfrm>
          <a:prstGeom prst="roundRect">
            <a:avLst>
              <a:gd name="adj" fmla="val 3225"/>
            </a:avLst>
          </a:prstGeom>
          <a:solidFill>
            <a:srgbClr val="FFF9F5"/>
          </a:solidFill>
          <a:ln w="254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4629899" y="4338270"/>
            <a:ext cx="3448202" cy="1766077"/>
          </a:xfrm>
          <a:prstGeom prst="roundRect">
            <a:avLst>
              <a:gd name="adj" fmla="val 3225"/>
            </a:avLst>
          </a:prstGeom>
          <a:solidFill>
            <a:srgbClr val="FFF9F5"/>
          </a:solidFill>
          <a:ln w="254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027917" y="775684"/>
            <a:ext cx="1715283" cy="304495"/>
          </a:xfrm>
          <a:prstGeom prst="roundRect">
            <a:avLst>
              <a:gd name="adj" fmla="val 187688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142217" y="842435"/>
            <a:ext cx="156585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ADVANCED LEVEL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69500" y="1328482"/>
            <a:ext cx="5917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-7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연습 단계 - 고급 레벨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589492" y="1066707"/>
            <a:ext cx="1866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: ADVANCED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340802" y="2767560"/>
            <a:ext cx="3143707" cy="2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시뮬레이션</a:t>
            </a:r>
            <a:endParaRPr lang="en-US" dirty="0"/>
          </a:p>
        </p:txBody>
      </p:sp>
      <p:sp>
        <p:nvSpPr>
          <p:cNvPr id="13" name="Text 9"/>
          <p:cNvSpPr txBox="1"/>
          <p:nvPr/>
        </p:nvSpPr>
        <p:spPr>
          <a:xfrm>
            <a:off x="1207300" y="3310722"/>
            <a:ext cx="3029407" cy="3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발표 장소의 조명, 음향, 공간감을 사전에 체험하여 현장 적응력을 극대화합니다.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010289" y="2767560"/>
            <a:ext cx="3143707" cy="2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돌발 상황 대응</a:t>
            </a:r>
            <a:endParaRPr lang="en-US" dirty="0"/>
          </a:p>
        </p:txBody>
      </p:sp>
      <p:sp>
        <p:nvSpPr>
          <p:cNvPr id="17" name="Text 12"/>
          <p:cNvSpPr txBox="1"/>
          <p:nvPr/>
        </p:nvSpPr>
        <p:spPr>
          <a:xfrm>
            <a:off x="4876787" y="3310722"/>
            <a:ext cx="3029407" cy="3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고장, 시간 부족, 난처한 질문 등 최악의 시나리오를 가정하고 대처법을 훈련합니다.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340802" y="4707327"/>
            <a:ext cx="3143707" cy="2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멘탈 관리</a:t>
            </a:r>
            <a:endParaRPr lang="en-US" dirty="0"/>
          </a:p>
        </p:txBody>
      </p:sp>
      <p:sp>
        <p:nvSpPr>
          <p:cNvPr id="21" name="Text 15"/>
          <p:cNvSpPr txBox="1"/>
          <p:nvPr/>
        </p:nvSpPr>
        <p:spPr>
          <a:xfrm>
            <a:off x="1207300" y="5250489"/>
            <a:ext cx="3029407" cy="3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긴장 완화를 위한 호흡법과 자신감을 높이는 루틴을 개발하여 심리적 안정감을 유지합니다.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010289" y="4620482"/>
            <a:ext cx="3143707" cy="2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버전 준비</a:t>
            </a:r>
            <a:endParaRPr lang="en-US" dirty="0"/>
          </a:p>
        </p:txBody>
      </p:sp>
      <p:sp>
        <p:nvSpPr>
          <p:cNvPr id="25" name="Text 18"/>
          <p:cNvSpPr txBox="1"/>
          <p:nvPr/>
        </p:nvSpPr>
        <p:spPr>
          <a:xfrm>
            <a:off x="4876787" y="5163644"/>
            <a:ext cx="3029407" cy="52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시간 단축 요청에 대비하여 3분 요약, 5분 요약 등 다양한 길이의 버전을 준비합니다.</a:t>
            </a:r>
            <a:endParaRPr lang="en-US" sz="12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357B7AD-62BF-95D1-9AE4-50577D7627F5}"/>
              </a:ext>
            </a:extLst>
          </p:cNvPr>
          <p:cNvGrpSpPr/>
          <p:nvPr/>
        </p:nvGrpSpPr>
        <p:grpSpPr>
          <a:xfrm>
            <a:off x="8376196" y="2399198"/>
            <a:ext cx="3060540" cy="3705149"/>
            <a:chOff x="8021117" y="2051261"/>
            <a:chExt cx="3562502" cy="3705149"/>
          </a:xfrm>
        </p:grpSpPr>
        <p:sp>
          <p:nvSpPr>
            <p:cNvPr id="26" name="Shape 19"/>
            <p:cNvSpPr/>
            <p:nvPr/>
          </p:nvSpPr>
          <p:spPr>
            <a:xfrm>
              <a:off x="8021117" y="2051261"/>
              <a:ext cx="3562502" cy="1766077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2000"/>
                </a:srgbClr>
              </a:outerShdw>
            </a:effectLst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/>
            </a:p>
          </p:txBody>
        </p:sp>
        <p:sp>
          <p:nvSpPr>
            <p:cNvPr id="27" name="Shape 20"/>
            <p:cNvSpPr/>
            <p:nvPr/>
          </p:nvSpPr>
          <p:spPr>
            <a:xfrm>
              <a:off x="8258861" y="2513970"/>
              <a:ext cx="3086100" cy="1459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/>
            </a:p>
          </p:txBody>
        </p:sp>
        <p:pic>
          <p:nvPicPr>
            <p:cNvPr id="28" name="Image 5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258861" y="2257605"/>
              <a:ext cx="190195" cy="144510"/>
            </a:xfrm>
            <a:prstGeom prst="rect">
              <a:avLst/>
            </a:prstGeom>
          </p:spPr>
        </p:pic>
        <p:sp>
          <p:nvSpPr>
            <p:cNvPr id="29" name="Text 21"/>
            <p:cNvSpPr txBox="1"/>
            <p:nvPr/>
          </p:nvSpPr>
          <p:spPr>
            <a:xfrm>
              <a:off x="8564271" y="2231898"/>
              <a:ext cx="1248156" cy="2973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CHECK POINT</a:t>
              </a:r>
              <a:endParaRPr lang="en-US" sz="1300" dirty="0"/>
            </a:p>
          </p:txBody>
        </p:sp>
        <p:pic>
          <p:nvPicPr>
            <p:cNvPr id="30" name="Image 6" descr="preencoded.png"/>
            <p:cNvPicPr>
              <a:picLocks noChangeAspect="1"/>
            </p:cNvPicPr>
            <p:nvPr/>
          </p:nvPicPr>
          <p:blipFill>
            <a:blip r:embed="rId4"/>
            <a:srcRect t="-600" b="-600"/>
            <a:stretch/>
          </p:blipFill>
          <p:spPr>
            <a:xfrm>
              <a:off x="8258861" y="2666123"/>
              <a:ext cx="181051" cy="159100"/>
            </a:xfrm>
            <a:prstGeom prst="rect">
              <a:avLst/>
            </a:prstGeom>
          </p:spPr>
        </p:pic>
        <p:sp>
          <p:nvSpPr>
            <p:cNvPr id="31" name="Text 22"/>
            <p:cNvSpPr txBox="1"/>
            <p:nvPr/>
          </p:nvSpPr>
          <p:spPr>
            <a:xfrm>
              <a:off x="8554212" y="2644585"/>
              <a:ext cx="1758391" cy="1667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돌발 상황에 침착한가?</a:t>
              </a:r>
              <a:endParaRPr lang="en-US" sz="1200" dirty="0"/>
            </a:p>
          </p:txBody>
        </p:sp>
        <p:pic>
          <p:nvPicPr>
            <p:cNvPr id="32" name="Image 7" descr="preencoded.png"/>
            <p:cNvPicPr>
              <a:picLocks noChangeAspect="1"/>
            </p:cNvPicPr>
            <p:nvPr/>
          </p:nvPicPr>
          <p:blipFill>
            <a:blip r:embed="rId4"/>
            <a:srcRect t="-600" b="-600"/>
            <a:stretch/>
          </p:blipFill>
          <p:spPr>
            <a:xfrm>
              <a:off x="8258861" y="2962785"/>
              <a:ext cx="181051" cy="159100"/>
            </a:xfrm>
            <a:prstGeom prst="rect">
              <a:avLst/>
            </a:prstGeom>
          </p:spPr>
        </p:pic>
        <p:sp>
          <p:nvSpPr>
            <p:cNvPr id="33" name="Text 23"/>
            <p:cNvSpPr txBox="1"/>
            <p:nvPr/>
          </p:nvSpPr>
          <p:spPr>
            <a:xfrm>
              <a:off x="8554212" y="2941247"/>
              <a:ext cx="1758391" cy="1667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시간 조정이 유연한가?</a:t>
              </a:r>
              <a:endParaRPr lang="en-US" sz="1200" dirty="0"/>
            </a:p>
          </p:txBody>
        </p:sp>
        <p:pic>
          <p:nvPicPr>
            <p:cNvPr id="34" name="Image 8" descr="preencoded.png"/>
            <p:cNvPicPr>
              <a:picLocks noChangeAspect="1"/>
            </p:cNvPicPr>
            <p:nvPr/>
          </p:nvPicPr>
          <p:blipFill>
            <a:blip r:embed="rId4"/>
            <a:srcRect t="-600" b="-600"/>
            <a:stretch/>
          </p:blipFill>
          <p:spPr>
            <a:xfrm>
              <a:off x="8258861" y="3259446"/>
              <a:ext cx="181051" cy="159100"/>
            </a:xfrm>
            <a:prstGeom prst="rect">
              <a:avLst/>
            </a:prstGeom>
          </p:spPr>
        </p:pic>
        <p:sp>
          <p:nvSpPr>
            <p:cNvPr id="35" name="Text 24"/>
            <p:cNvSpPr txBox="1"/>
            <p:nvPr/>
          </p:nvSpPr>
          <p:spPr>
            <a:xfrm>
              <a:off x="8554212" y="3237909"/>
              <a:ext cx="1921154" cy="1667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청중과의 상호작용 주도?</a:t>
              </a:r>
              <a:endParaRPr lang="en-US" sz="1200" dirty="0"/>
            </a:p>
          </p:txBody>
        </p:sp>
        <p:sp>
          <p:nvSpPr>
            <p:cNvPr id="36" name="Shape 25"/>
            <p:cNvSpPr/>
            <p:nvPr/>
          </p:nvSpPr>
          <p:spPr>
            <a:xfrm>
              <a:off x="8021117" y="3990333"/>
              <a:ext cx="3562502" cy="1766077"/>
            </a:xfrm>
            <a:prstGeom prst="roundRect">
              <a:avLst>
                <a:gd name="adj" fmla="val 3225"/>
              </a:avLst>
            </a:prstGeom>
            <a:solidFill>
              <a:srgbClr val="FFF3EB"/>
            </a:solidFill>
            <a:ln w="12700">
              <a:solidFill>
                <a:srgbClr val="FFEDD5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2000"/>
                </a:srgbClr>
              </a:outerShdw>
            </a:effectLst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/>
            </a:p>
          </p:txBody>
        </p:sp>
        <p:sp>
          <p:nvSpPr>
            <p:cNvPr id="37" name="Shape 26"/>
            <p:cNvSpPr/>
            <p:nvPr/>
          </p:nvSpPr>
          <p:spPr>
            <a:xfrm>
              <a:off x="8258861" y="4453737"/>
              <a:ext cx="3086100" cy="14590"/>
            </a:xfrm>
            <a:prstGeom prst="rect">
              <a:avLst/>
            </a:prstGeom>
            <a:solidFill>
              <a:srgbClr val="FF6908">
                <a:alpha val="20000"/>
              </a:srgbClr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/>
            </a:p>
          </p:txBody>
        </p:sp>
        <p:pic>
          <p:nvPicPr>
            <p:cNvPr id="38" name="Image 9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258861" y="4196676"/>
              <a:ext cx="142646" cy="144510"/>
            </a:xfrm>
            <a:prstGeom prst="rect">
              <a:avLst/>
            </a:prstGeom>
          </p:spPr>
        </p:pic>
        <p:sp>
          <p:nvSpPr>
            <p:cNvPr id="39" name="Text 27"/>
            <p:cNvSpPr txBox="1"/>
            <p:nvPr/>
          </p:nvSpPr>
          <p:spPr>
            <a:xfrm>
              <a:off x="8515808" y="4171665"/>
              <a:ext cx="752551" cy="2973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00" b="1" dirty="0">
                  <a:solidFill>
                    <a:srgbClr val="C2410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PRO TIP</a:t>
              </a:r>
              <a:endParaRPr lang="en-US" sz="1300" dirty="0"/>
            </a:p>
          </p:txBody>
        </p:sp>
        <p:sp>
          <p:nvSpPr>
            <p:cNvPr id="40" name="Text 28"/>
            <p:cNvSpPr txBox="1"/>
            <p:nvPr/>
          </p:nvSpPr>
          <p:spPr>
            <a:xfrm>
              <a:off x="8330184" y="4698007"/>
              <a:ext cx="3162910" cy="3473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발표</a:t>
              </a: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전날 </a:t>
              </a:r>
              <a:r>
                <a:rPr lang="en-US" sz="11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과도한 연습은 금물</a:t>
              </a: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입니다.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목소리를</a:t>
              </a: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아끼고 최상의 컨디션을 유지하세요. </a:t>
              </a:r>
              <a:endParaRPr lang="en-US" sz="1100" dirty="0"/>
            </a:p>
          </p:txBody>
        </p:sp>
      </p:grpSp>
      <p:sp>
        <p:nvSpPr>
          <p:cNvPr id="43" name="Text 32">
            <a:extLst>
              <a:ext uri="{FF2B5EF4-FFF2-40B4-BE49-F238E27FC236}">
                <a16:creationId xmlns:a16="http://schemas.microsoft.com/office/drawing/2014/main" id="{21C5E9A9-4939-A1EF-6EC4-1808C3584DB6}"/>
              </a:ext>
            </a:extLst>
          </p:cNvPr>
          <p:cNvSpPr txBox="1"/>
          <p:nvPr/>
        </p:nvSpPr>
        <p:spPr>
          <a:xfrm>
            <a:off x="9738544" y="1151297"/>
            <a:ext cx="2239190" cy="126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3F4F6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LV.3</a:t>
            </a:r>
            <a:endParaRPr lang="en-US" sz="8800" dirty="0"/>
          </a:p>
        </p:txBody>
      </p:sp>
      <p:pic>
        <p:nvPicPr>
          <p:cNvPr id="44" name="Image 11" descr="preencoded.png">
            <a:extLst>
              <a:ext uri="{FF2B5EF4-FFF2-40B4-BE49-F238E27FC236}">
                <a16:creationId xmlns:a16="http://schemas.microsoft.com/office/drawing/2014/main" id="{928638F5-E9D9-3B3E-4362-E3E70988E4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18" r="-1118"/>
          <a:stretch/>
        </p:blipFill>
        <p:spPr>
          <a:xfrm>
            <a:off x="7549112" y="4590761"/>
            <a:ext cx="219456" cy="286207"/>
          </a:xfrm>
          <a:prstGeom prst="rect">
            <a:avLst/>
          </a:prstGeom>
        </p:spPr>
      </p:pic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59FAF9D3-FEF0-5954-7FDA-0DA46F4D75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7572886" y="2740219"/>
            <a:ext cx="171907" cy="228600"/>
          </a:xfrm>
          <a:prstGeom prst="rect">
            <a:avLst/>
          </a:prstGeom>
        </p:spPr>
      </p:pic>
      <p:pic>
        <p:nvPicPr>
          <p:cNvPr id="46" name="Image 17" descr="preencoded.png">
            <a:extLst>
              <a:ext uri="{FF2B5EF4-FFF2-40B4-BE49-F238E27FC236}">
                <a16:creationId xmlns:a16="http://schemas.microsoft.com/office/drawing/2014/main" id="{0DF626B5-E2BD-266D-CA08-0BFA7BDFB03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606" r="-606"/>
          <a:stretch/>
        </p:blipFill>
        <p:spPr>
          <a:xfrm>
            <a:off x="3935207" y="4633215"/>
            <a:ext cx="219456" cy="247802"/>
          </a:xfrm>
          <a:prstGeom prst="rect">
            <a:avLst/>
          </a:prstGeom>
        </p:spPr>
      </p:pic>
      <p:pic>
        <p:nvPicPr>
          <p:cNvPr id="47" name="Image 15" descr="preencoded.png">
            <a:extLst>
              <a:ext uri="{FF2B5EF4-FFF2-40B4-BE49-F238E27FC236}">
                <a16:creationId xmlns:a16="http://schemas.microsoft.com/office/drawing/2014/main" id="{25277536-779C-8949-121E-BD5A3E296FD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906861" y="2730618"/>
            <a:ext cx="247802" cy="247802"/>
          </a:xfrm>
          <a:prstGeom prst="rect">
            <a:avLst/>
          </a:prstGeom>
        </p:spPr>
      </p:pic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107981" y="612828"/>
            <a:ext cx="6653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5단계 (상세 가이드)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0318" y="1160365"/>
            <a:ext cx="5039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프레젠테이션을 위한 단계별 핵심 행동 지침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510674" y="800100"/>
            <a:ext cx="1772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PERFORMING STAGES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408917" y="1816382"/>
            <a:ext cx="28346" cy="44178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80318" y="1609281"/>
            <a:ext cx="10156072" cy="820122"/>
          </a:xfrm>
          <a:prstGeom prst="roundRect">
            <a:avLst>
              <a:gd name="adj" fmla="val 1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131009" y="1776619"/>
            <a:ext cx="45719" cy="492073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179756" y="1776619"/>
            <a:ext cx="2467051" cy="284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입장 (Entry)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2179756" y="2075673"/>
            <a:ext cx="2562149" cy="19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자신감 있는 첫인상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418061" y="1777447"/>
            <a:ext cx="533095" cy="482960"/>
          </a:xfrm>
          <a:prstGeom prst="ellipse">
            <a:avLst/>
          </a:prstGeom>
          <a:solidFill>
            <a:srgbClr val="FFF7ED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560707" y="1864430"/>
            <a:ext cx="333756" cy="9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568022" y="1958868"/>
            <a:ext cx="314554" cy="216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180318" y="2604197"/>
            <a:ext cx="10156072" cy="820122"/>
          </a:xfrm>
          <a:prstGeom prst="roundRect">
            <a:avLst>
              <a:gd name="adj" fmla="val 1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131009" y="2771534"/>
            <a:ext cx="45719" cy="492073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2179756" y="2771534"/>
            <a:ext cx="2467051" cy="284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 (Opening)</a:t>
            </a:r>
            <a:endParaRPr lang="en-US" dirty="0"/>
          </a:p>
        </p:txBody>
      </p:sp>
      <p:sp>
        <p:nvSpPr>
          <p:cNvPr id="25" name="Text 22"/>
          <p:cNvSpPr txBox="1"/>
          <p:nvPr/>
        </p:nvSpPr>
        <p:spPr>
          <a:xfrm>
            <a:off x="2179756" y="3069760"/>
            <a:ext cx="2562149" cy="19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목적과 기대 설정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418061" y="2772363"/>
            <a:ext cx="533095" cy="482960"/>
          </a:xfrm>
          <a:prstGeom prst="ellipse">
            <a:avLst/>
          </a:prstGeom>
          <a:solidFill>
            <a:srgbClr val="FFF7ED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1560707" y="2858517"/>
            <a:ext cx="333756" cy="9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1568022" y="2953783"/>
            <a:ext cx="314554" cy="216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180318" y="3598284"/>
            <a:ext cx="10156072" cy="820122"/>
          </a:xfrm>
          <a:prstGeom prst="roundRect">
            <a:avLst>
              <a:gd name="adj" fmla="val 1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4131009" y="3766450"/>
            <a:ext cx="45719" cy="492073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2179756" y="3766450"/>
            <a:ext cx="2467051" cy="284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본론 (Body)</a:t>
            </a:r>
            <a:endParaRPr lang="en-US" dirty="0"/>
          </a:p>
        </p:txBody>
      </p:sp>
      <p:sp>
        <p:nvSpPr>
          <p:cNvPr id="38" name="Text 35"/>
          <p:cNvSpPr txBox="1"/>
          <p:nvPr/>
        </p:nvSpPr>
        <p:spPr>
          <a:xfrm>
            <a:off x="2179756" y="4064676"/>
            <a:ext cx="2562149" cy="19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설득력 있는 전달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1418061" y="3767278"/>
            <a:ext cx="533095" cy="482960"/>
          </a:xfrm>
          <a:prstGeom prst="ellipse">
            <a:avLst/>
          </a:prstGeom>
          <a:solidFill>
            <a:srgbClr val="FFF7ED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1560707" y="3853432"/>
            <a:ext cx="333756" cy="9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1568022" y="3947870"/>
            <a:ext cx="314554" cy="216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1180318" y="4593199"/>
            <a:ext cx="10156072" cy="820122"/>
          </a:xfrm>
          <a:prstGeom prst="roundRect">
            <a:avLst>
              <a:gd name="adj" fmla="val 1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4131009" y="4760537"/>
            <a:ext cx="45719" cy="492073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2179756" y="4760537"/>
            <a:ext cx="2467051" cy="284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(Closing)</a:t>
            </a:r>
            <a:endParaRPr lang="en-US" dirty="0"/>
          </a:p>
        </p:txBody>
      </p:sp>
      <p:sp>
        <p:nvSpPr>
          <p:cNvPr id="50" name="Text 47"/>
          <p:cNvSpPr txBox="1"/>
          <p:nvPr/>
        </p:nvSpPr>
        <p:spPr>
          <a:xfrm>
            <a:off x="2179756" y="5058763"/>
            <a:ext cx="2467051" cy="19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촉구 (CTA)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1418061" y="4761365"/>
            <a:ext cx="533095" cy="482960"/>
          </a:xfrm>
          <a:prstGeom prst="ellipse">
            <a:avLst/>
          </a:prstGeom>
          <a:solidFill>
            <a:srgbClr val="FFF7ED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1560707" y="4847519"/>
            <a:ext cx="333756" cy="9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1568022" y="4942786"/>
            <a:ext cx="314554" cy="216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1180318" y="5587285"/>
            <a:ext cx="10156072" cy="820122"/>
          </a:xfrm>
          <a:prstGeom prst="roundRect">
            <a:avLst>
              <a:gd name="adj" fmla="val 1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4131009" y="5755452"/>
            <a:ext cx="45719" cy="492073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2179756" y="5755452"/>
            <a:ext cx="2467051" cy="284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-37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퇴장 (Exit)</a:t>
            </a:r>
            <a:endParaRPr lang="en-US" dirty="0"/>
          </a:p>
        </p:txBody>
      </p:sp>
      <p:sp>
        <p:nvSpPr>
          <p:cNvPr id="63" name="Text 60"/>
          <p:cNvSpPr txBox="1"/>
          <p:nvPr/>
        </p:nvSpPr>
        <p:spPr>
          <a:xfrm>
            <a:off x="2179756" y="6053678"/>
            <a:ext cx="2562149" cy="19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여운 남기기</a:t>
            </a:r>
            <a:endParaRPr lang="en-US" sz="1300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67203319-88D1-572A-400D-3490DECC35A3}"/>
              </a:ext>
            </a:extLst>
          </p:cNvPr>
          <p:cNvGrpSpPr/>
          <p:nvPr/>
        </p:nvGrpSpPr>
        <p:grpSpPr>
          <a:xfrm>
            <a:off x="4450081" y="1912478"/>
            <a:ext cx="6936377" cy="4185105"/>
            <a:chOff x="4496105" y="1553566"/>
            <a:chExt cx="6072530" cy="4619548"/>
          </a:xfrm>
        </p:grpSpPr>
        <p:sp>
          <p:nvSpPr>
            <p:cNvPr id="13" name="Text 10"/>
            <p:cNvSpPr txBox="1"/>
            <p:nvPr/>
          </p:nvSpPr>
          <p:spPr>
            <a:xfrm>
              <a:off x="4496105" y="1572768"/>
              <a:ext cx="88331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바른 자세와</a:t>
              </a:r>
              <a:endParaRPr lang="en-US" sz="14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5277917" y="1572768"/>
              <a:ext cx="562356" cy="20025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5877763" y="1572768"/>
              <a:ext cx="36210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유지</a:t>
              </a:r>
              <a:endParaRPr lang="en-US" sz="1400" dirty="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6473952" y="1572768"/>
              <a:ext cx="160843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심호흡으로 긴장 완화</a:t>
              </a:r>
              <a:endParaRPr lang="en-US" sz="14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8137246" y="1572768"/>
              <a:ext cx="191566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공간 장악 (Power Pose)</a:t>
              </a:r>
              <a:endParaRPr lang="en-US" sz="14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5277917" y="1553566"/>
              <a:ext cx="6501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아이컨택</a:t>
              </a:r>
              <a:endParaRPr lang="en-US" sz="1400" dirty="0"/>
            </a:p>
          </p:txBody>
        </p:sp>
        <p:sp>
          <p:nvSpPr>
            <p:cNvPr id="26" name="Text 23"/>
            <p:cNvSpPr txBox="1"/>
            <p:nvPr/>
          </p:nvSpPr>
          <p:spPr>
            <a:xfrm>
              <a:off x="4496105" y="2670048"/>
              <a:ext cx="50566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강력한</a:t>
              </a:r>
              <a:endParaRPr lang="en-US" sz="14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4955134" y="2670048"/>
              <a:ext cx="400507" cy="20025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5391302" y="2670048"/>
              <a:ext cx="132862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(질문/통계) 활용</a:t>
              </a:r>
              <a:endParaRPr lang="en-US" sz="1400" dirty="0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6760159" y="2670048"/>
              <a:ext cx="170261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청중 니즈와 가치 연결</a:t>
              </a:r>
              <a:endParaRPr lang="en-US" sz="1400" dirty="0"/>
            </a:p>
          </p:txBody>
        </p:sp>
        <p:sp>
          <p:nvSpPr>
            <p:cNvPr id="30" name="Text 27"/>
            <p:cNvSpPr txBox="1"/>
            <p:nvPr/>
          </p:nvSpPr>
          <p:spPr>
            <a:xfrm>
              <a:off x="8465515" y="2670048"/>
              <a:ext cx="180136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 아젠다 3가지 제시</a:t>
              </a:r>
              <a:endParaRPr lang="en-US" sz="1400" dirty="0"/>
            </a:p>
          </p:txBody>
        </p:sp>
        <p:sp>
          <p:nvSpPr>
            <p:cNvPr id="31" name="Text 28"/>
            <p:cNvSpPr txBox="1"/>
            <p:nvPr/>
          </p:nvSpPr>
          <p:spPr>
            <a:xfrm>
              <a:off x="4955134" y="2650846"/>
              <a:ext cx="4764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Hook</a:t>
              </a:r>
              <a:endParaRPr lang="en-US" sz="1400" dirty="0"/>
            </a:p>
          </p:txBody>
        </p:sp>
        <p:sp>
          <p:nvSpPr>
            <p:cNvPr id="39" name="Shape 36"/>
            <p:cNvSpPr/>
            <p:nvPr/>
          </p:nvSpPr>
          <p:spPr>
            <a:xfrm>
              <a:off x="4534510" y="3768242"/>
              <a:ext cx="714146" cy="20025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40" name="Text 37"/>
            <p:cNvSpPr txBox="1"/>
            <p:nvPr/>
          </p:nvSpPr>
          <p:spPr>
            <a:xfrm>
              <a:off x="5278831" y="3768242"/>
              <a:ext cx="50566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구조화</a:t>
              </a:r>
              <a:endParaRPr lang="en-US" sz="1400" dirty="0"/>
            </a:p>
          </p:txBody>
        </p:sp>
        <p:sp>
          <p:nvSpPr>
            <p:cNvPr id="41" name="Text 38"/>
            <p:cNvSpPr txBox="1"/>
            <p:nvPr/>
          </p:nvSpPr>
          <p:spPr>
            <a:xfrm>
              <a:off x="6015838" y="3768242"/>
              <a:ext cx="2621585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스토리(감성)와 데이터(논리) 결합</a:t>
              </a:r>
              <a:endParaRPr lang="en-US" sz="1400" dirty="0"/>
            </a:p>
          </p:txBody>
        </p:sp>
        <p:sp>
          <p:nvSpPr>
            <p:cNvPr id="42" name="Text 39"/>
            <p:cNvSpPr txBox="1"/>
            <p:nvPr/>
          </p:nvSpPr>
          <p:spPr>
            <a:xfrm>
              <a:off x="8456371" y="3768242"/>
              <a:ext cx="211226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청중 반응에 따른 템포 조절</a:t>
              </a:r>
              <a:endParaRPr lang="en-US" sz="1400" dirty="0"/>
            </a:p>
          </p:txBody>
        </p:sp>
        <p:sp>
          <p:nvSpPr>
            <p:cNvPr id="43" name="Text 40"/>
            <p:cNvSpPr txBox="1"/>
            <p:nvPr/>
          </p:nvSpPr>
          <p:spPr>
            <a:xfrm>
              <a:off x="4534510" y="3749040"/>
              <a:ext cx="85039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3-7-3 법칙</a:t>
              </a:r>
              <a:endParaRPr lang="en-US" sz="1400" dirty="0"/>
            </a:p>
          </p:txBody>
        </p:sp>
        <p:sp>
          <p:nvSpPr>
            <p:cNvPr id="51" name="Text 48"/>
            <p:cNvSpPr txBox="1"/>
            <p:nvPr/>
          </p:nvSpPr>
          <p:spPr>
            <a:xfrm>
              <a:off x="4496105" y="4865522"/>
              <a:ext cx="211226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 메시지 요약 및 재강조</a:t>
              </a:r>
              <a:endParaRPr lang="en-US" sz="1400" dirty="0"/>
            </a:p>
          </p:txBody>
        </p:sp>
        <p:sp>
          <p:nvSpPr>
            <p:cNvPr id="52" name="Text 49"/>
            <p:cNvSpPr txBox="1"/>
            <p:nvPr/>
          </p:nvSpPr>
          <p:spPr>
            <a:xfrm>
              <a:off x="6525158" y="4865522"/>
              <a:ext cx="50566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구체적</a:t>
              </a:r>
              <a:endParaRPr lang="en-US" sz="1400" dirty="0"/>
            </a:p>
          </p:txBody>
        </p:sp>
        <p:sp>
          <p:nvSpPr>
            <p:cNvPr id="53" name="Shape 50"/>
            <p:cNvSpPr/>
            <p:nvPr/>
          </p:nvSpPr>
          <p:spPr>
            <a:xfrm>
              <a:off x="6984187" y="4865522"/>
              <a:ext cx="1037844" cy="20025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54" name="Text 51"/>
            <p:cNvSpPr txBox="1"/>
            <p:nvPr/>
          </p:nvSpPr>
          <p:spPr>
            <a:xfrm>
              <a:off x="8056778" y="4865522"/>
              <a:ext cx="36210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제시</a:t>
              </a:r>
              <a:endParaRPr lang="en-US" sz="1400" dirty="0"/>
            </a:p>
          </p:txBody>
        </p:sp>
        <p:sp>
          <p:nvSpPr>
            <p:cNvPr id="55" name="Text 52"/>
            <p:cNvSpPr txBox="1"/>
            <p:nvPr/>
          </p:nvSpPr>
          <p:spPr>
            <a:xfrm>
              <a:off x="8652967" y="4865522"/>
              <a:ext cx="186080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임팩트 있는 마무리 문구</a:t>
              </a:r>
              <a:endParaRPr lang="en-US" sz="1400" dirty="0"/>
            </a:p>
          </p:txBody>
        </p:sp>
        <p:sp>
          <p:nvSpPr>
            <p:cNvPr id="56" name="Text 53"/>
            <p:cNvSpPr txBox="1"/>
            <p:nvPr/>
          </p:nvSpPr>
          <p:spPr>
            <a:xfrm>
              <a:off x="6984187" y="4846320"/>
              <a:ext cx="123626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Call-to-Action</a:t>
              </a:r>
              <a:endParaRPr lang="en-US" sz="1400" dirty="0"/>
            </a:p>
          </p:txBody>
        </p:sp>
        <p:sp>
          <p:nvSpPr>
            <p:cNvPr id="64" name="Text 61"/>
            <p:cNvSpPr txBox="1"/>
            <p:nvPr/>
          </p:nvSpPr>
          <p:spPr>
            <a:xfrm>
              <a:off x="4496105" y="5963717"/>
              <a:ext cx="195590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질문 경청 및 명쾌한 답변</a:t>
              </a:r>
              <a:endParaRPr lang="en-US" sz="1400" dirty="0"/>
            </a:p>
          </p:txBody>
        </p:sp>
        <p:sp>
          <p:nvSpPr>
            <p:cNvPr id="65" name="Text 62"/>
            <p:cNvSpPr txBox="1"/>
            <p:nvPr/>
          </p:nvSpPr>
          <p:spPr>
            <a:xfrm>
              <a:off x="6385255" y="5963717"/>
              <a:ext cx="170261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반대 의견 존중과 포용</a:t>
              </a:r>
              <a:endParaRPr lang="en-US" sz="1400" dirty="0"/>
            </a:p>
          </p:txBody>
        </p:sp>
        <p:sp>
          <p:nvSpPr>
            <p:cNvPr id="66" name="Text 63"/>
            <p:cNvSpPr txBox="1"/>
            <p:nvPr/>
          </p:nvSpPr>
          <p:spPr>
            <a:xfrm>
              <a:off x="8091526" y="5963717"/>
              <a:ext cx="50566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끝까지</a:t>
              </a:r>
              <a:endParaRPr lang="en-US" sz="1400" dirty="0"/>
            </a:p>
          </p:txBody>
        </p:sp>
        <p:sp>
          <p:nvSpPr>
            <p:cNvPr id="67" name="Shape 64"/>
            <p:cNvSpPr/>
            <p:nvPr/>
          </p:nvSpPr>
          <p:spPr>
            <a:xfrm>
              <a:off x="8550554" y="5963717"/>
              <a:ext cx="428854" cy="20025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68" name="Text 65"/>
            <p:cNvSpPr txBox="1"/>
            <p:nvPr/>
          </p:nvSpPr>
          <p:spPr>
            <a:xfrm>
              <a:off x="9008669" y="5963717"/>
              <a:ext cx="104058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유지하며 퇴장</a:t>
              </a:r>
              <a:endParaRPr lang="en-US" sz="1400" dirty="0"/>
            </a:p>
          </p:txBody>
        </p:sp>
        <p:sp>
          <p:nvSpPr>
            <p:cNvPr id="69" name="Text 66"/>
            <p:cNvSpPr txBox="1"/>
            <p:nvPr/>
          </p:nvSpPr>
          <p:spPr>
            <a:xfrm>
              <a:off x="8550554" y="5944514"/>
              <a:ext cx="5056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자신감</a:t>
              </a:r>
              <a:endParaRPr lang="en-US" sz="1400" dirty="0"/>
            </a:p>
          </p:txBody>
        </p:sp>
      </p:grpSp>
      <p:sp>
        <p:nvSpPr>
          <p:cNvPr id="70" name="Shape 67"/>
          <p:cNvSpPr/>
          <p:nvPr/>
        </p:nvSpPr>
        <p:spPr>
          <a:xfrm>
            <a:off x="1418061" y="5756280"/>
            <a:ext cx="533095" cy="482960"/>
          </a:xfrm>
          <a:prstGeom prst="ellipse">
            <a:avLst/>
          </a:prstGeom>
          <a:solidFill>
            <a:srgbClr val="FFF7ED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1560707" y="5842434"/>
            <a:ext cx="333756" cy="9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endParaRPr lang="en-US" sz="800" dirty="0"/>
          </a:p>
        </p:txBody>
      </p:sp>
      <p:sp>
        <p:nvSpPr>
          <p:cNvPr id="72" name="Text 69"/>
          <p:cNvSpPr txBox="1"/>
          <p:nvPr/>
        </p:nvSpPr>
        <p:spPr>
          <a:xfrm>
            <a:off x="1568022" y="5936873"/>
            <a:ext cx="314554" cy="216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600" dirty="0"/>
          </a:p>
        </p:txBody>
      </p:sp>
      <p:sp>
        <p:nvSpPr>
          <p:cNvPr id="7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996848" y="891637"/>
            <a:ext cx="4857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AUDIENCE ANALYSIS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0028268" y="701061"/>
            <a:ext cx="1381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TYPES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0554" y="1728641"/>
            <a:ext cx="2476195" cy="4478623"/>
          </a:xfrm>
          <a:prstGeom prst="roundRect">
            <a:avLst>
              <a:gd name="adj" fmla="val 3409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939698" y="1735736"/>
            <a:ext cx="114300" cy="4462384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/>
          <a:stretch/>
        </p:blipFill>
        <p:spPr>
          <a:xfrm>
            <a:off x="1873300" y="4938485"/>
            <a:ext cx="1714500" cy="144983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73754" y="1760721"/>
            <a:ext cx="7736172" cy="1372514"/>
          </a:xfrm>
          <a:prstGeom prst="roundRect">
            <a:avLst>
              <a:gd name="adj" fmla="val 64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3898044" y="2011659"/>
            <a:ext cx="685800" cy="6858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4089154" y="2221056"/>
            <a:ext cx="304495" cy="2670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50849" y="1889129"/>
            <a:ext cx="171632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정량적 분석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6511399" y="1965024"/>
            <a:ext cx="2029054" cy="333756"/>
          </a:xfrm>
          <a:prstGeom prst="roundRect">
            <a:avLst>
              <a:gd name="adj" fmla="val 6262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6606497" y="1993371"/>
            <a:ext cx="2369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"누가, 몇 명이 오는가?"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73447" y="2523723"/>
            <a:ext cx="609878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청중의 참석 인원, 성별 비율, 연령대, 직급 분포, 참석 시간 등 통계적 데이터를 사전에 정확히 파악합니다.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649284" y="3319251"/>
            <a:ext cx="7736172" cy="1372514"/>
          </a:xfrm>
          <a:prstGeom prst="roundRect">
            <a:avLst>
              <a:gd name="adj" fmla="val 64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3873574" y="3570189"/>
            <a:ext cx="685800" cy="6858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3886" y="3779586"/>
            <a:ext cx="267005" cy="2670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26379" y="3558301"/>
            <a:ext cx="171632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정서적 분석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6486929" y="3634197"/>
            <a:ext cx="1533449" cy="333756"/>
          </a:xfrm>
          <a:prstGeom prst="roundRect">
            <a:avLst>
              <a:gd name="adj" fmla="val 6262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6582027" y="3662543"/>
            <a:ext cx="16340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"어떤 태도인가?"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848977" y="4192895"/>
            <a:ext cx="6704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주제에 대한 관심도, 사전 지식 수준, 우호적 또는 비판적 태도, 기대하는 바와 우려 사항을 분석합니다.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649284" y="4873666"/>
            <a:ext cx="7736172" cy="1372514"/>
          </a:xfrm>
          <a:prstGeom prst="roundRect">
            <a:avLst>
              <a:gd name="adj" fmla="val 64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3873574" y="5124604"/>
            <a:ext cx="685800" cy="6858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83886" y="5334001"/>
            <a:ext cx="267005" cy="2670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826379" y="5002074"/>
            <a:ext cx="171632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심리적 분석</a:t>
            </a:r>
            <a:endParaRPr lang="en-US" dirty="0"/>
          </a:p>
        </p:txBody>
      </p:sp>
      <p:sp>
        <p:nvSpPr>
          <p:cNvPr id="28" name="Shape 21"/>
          <p:cNvSpPr/>
          <p:nvPr/>
        </p:nvSpPr>
        <p:spPr>
          <a:xfrm>
            <a:off x="6486929" y="5077969"/>
            <a:ext cx="2419502" cy="333756"/>
          </a:xfrm>
          <a:prstGeom prst="roundRect">
            <a:avLst>
              <a:gd name="adj" fmla="val 6262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 txBox="1"/>
          <p:nvPr/>
        </p:nvSpPr>
        <p:spPr>
          <a:xfrm>
            <a:off x="6582027" y="5106316"/>
            <a:ext cx="27148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"무엇이 그들을 움직이는가?"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4848977" y="5636668"/>
            <a:ext cx="62773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청중의 가치관, 신념, 조직 내의 정치적 입지, 숨겨진 니즈(Hidden Needs)를 파악하여 공감대를 형성합니다.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44193" y="2460531"/>
            <a:ext cx="1922069" cy="122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3가지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핵심 분석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유형 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1244193" y="4058096"/>
            <a:ext cx="1922069" cy="82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성공적인 발표를 위해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반드시 사전에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파악해야 할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3가지 차원 </a:t>
            </a:r>
            <a:endParaRPr lang="en-US" sz="12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33095" y="1162201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청중 스타일 6가지 분석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911742" y="1153057"/>
            <a:ext cx="27496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AUDIENCE STYLES &amp; STRATEGIES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3095" y="1923897"/>
            <a:ext cx="3562502" cy="2002928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3095" y="1923896"/>
            <a:ext cx="3536899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1754" y="2162554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476" b="-476"/>
          <a:stretch/>
        </p:blipFill>
        <p:spPr>
          <a:xfrm>
            <a:off x="899770" y="2305201"/>
            <a:ext cx="276149" cy="2478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57554" y="2272282"/>
            <a:ext cx="202265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분석적 스타일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31966" y="2852708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771754" y="2895903"/>
            <a:ext cx="142646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71754" y="3152850"/>
            <a:ext cx="31629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제안하기에 앞서 구체적인 데이터와 통계적 증거를 먼저 제시하여 신뢰를 확보하십시오.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17797" y="1923897"/>
            <a:ext cx="3562502" cy="2002928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317797" y="1923896"/>
            <a:ext cx="3536899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162554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606" r="-606"/>
          <a:stretch/>
        </p:blipFill>
        <p:spPr>
          <a:xfrm>
            <a:off x="4712818" y="2305201"/>
            <a:ext cx="219456" cy="2478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2255" y="2272282"/>
            <a:ext cx="202265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스타일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816668" y="2852708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4556455" y="2895903"/>
            <a:ext cx="142646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556455" y="3152850"/>
            <a:ext cx="31629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그들의 지식과 전문성을 인정하고, 전문 용어를 적절히 사용하여 발표 과정에 참여시키십시오.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2498" y="1923897"/>
            <a:ext cx="3562502" cy="2002928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8102498" y="1923896"/>
            <a:ext cx="3536899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340242" y="2162554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rcRect l="-1169" r="-1169"/>
          <a:stretch/>
        </p:blipFill>
        <p:spPr>
          <a:xfrm>
            <a:off x="8512150" y="2305201"/>
            <a:ext cx="190195" cy="2478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026042" y="2272282"/>
            <a:ext cx="202265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성급한 스타일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600455" y="2871910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8340242" y="2895903"/>
            <a:ext cx="142646" cy="1335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340242" y="3152850"/>
            <a:ext cx="31629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서론을 대폭 줄이고 곧바로 핵심 결론과 기대 효과를 두괄식으로 명확히 전달하십시오.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33095" y="4158668"/>
            <a:ext cx="3562502" cy="2002928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4"/>
          <p:cNvSpPr/>
          <p:nvPr/>
        </p:nvSpPr>
        <p:spPr>
          <a:xfrm>
            <a:off x="533095" y="4158667"/>
            <a:ext cx="3536899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771754" y="4396411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4400" y="4539972"/>
            <a:ext cx="247802" cy="2478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457554" y="4506139"/>
            <a:ext cx="202265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즐기는 스타일</a:t>
            </a:r>
            <a:endParaRPr lang="en-US" sz="1600" dirty="0"/>
          </a:p>
        </p:txBody>
      </p:sp>
      <p:sp>
        <p:nvSpPr>
          <p:cNvPr id="36" name="Text 27"/>
          <p:cNvSpPr txBox="1"/>
          <p:nvPr/>
        </p:nvSpPr>
        <p:spPr>
          <a:xfrm>
            <a:off x="1031966" y="5086565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</a:t>
            </a:r>
            <a:endParaRPr lang="en-US" sz="12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771754" y="5129760"/>
            <a:ext cx="142646" cy="13350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71754" y="5387620"/>
            <a:ext cx="31629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흥미로운 서론, 스토리텔링, 유머 등 엔터테인먼트 요소를 적극 가미하여 지루함을 없애십시오.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4317797" y="4158668"/>
            <a:ext cx="3562502" cy="2002928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0"/>
          <p:cNvSpPr/>
          <p:nvPr/>
        </p:nvSpPr>
        <p:spPr>
          <a:xfrm>
            <a:off x="4317797" y="4158667"/>
            <a:ext cx="3536899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1"/>
          <p:cNvSpPr/>
          <p:nvPr/>
        </p:nvSpPr>
        <p:spPr>
          <a:xfrm>
            <a:off x="4556455" y="4396411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99102" y="4539972"/>
            <a:ext cx="247802" cy="24780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5242255" y="4506139"/>
            <a:ext cx="202265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훼방꾼 스타일</a:t>
            </a:r>
            <a:endParaRPr lang="en-US" sz="1600" dirty="0"/>
          </a:p>
        </p:txBody>
      </p:sp>
      <p:sp>
        <p:nvSpPr>
          <p:cNvPr id="44" name="Text 33"/>
          <p:cNvSpPr txBox="1"/>
          <p:nvPr/>
        </p:nvSpPr>
        <p:spPr>
          <a:xfrm>
            <a:off x="4816668" y="5105767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</a:t>
            </a:r>
            <a:endParaRPr lang="en-US" sz="12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4556455" y="5129760"/>
            <a:ext cx="142646" cy="133502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4556455" y="5387620"/>
            <a:ext cx="31629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논쟁을 피하고 정중하게 제지하며, 감정이 아닌 팩트 기반으로 침착하게 대응하십시오.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8102498" y="4158668"/>
            <a:ext cx="3562502" cy="2002928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6"/>
          <p:cNvSpPr/>
          <p:nvPr/>
        </p:nvSpPr>
        <p:spPr>
          <a:xfrm>
            <a:off x="8102498" y="4158667"/>
            <a:ext cx="3536899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7"/>
          <p:cNvSpPr/>
          <p:nvPr/>
        </p:nvSpPr>
        <p:spPr>
          <a:xfrm>
            <a:off x="8340242" y="4396411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9"/>
          <a:srcRect l="-775" r="-775"/>
          <a:stretch/>
        </p:blipFill>
        <p:spPr>
          <a:xfrm>
            <a:off x="8449970" y="4539972"/>
            <a:ext cx="314554" cy="247802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9026042" y="4506139"/>
            <a:ext cx="263530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부끄럼쟁이 스타일</a:t>
            </a:r>
            <a:endParaRPr lang="en-US" sz="1600" dirty="0"/>
          </a:p>
        </p:txBody>
      </p:sp>
      <p:sp>
        <p:nvSpPr>
          <p:cNvPr id="52" name="Text 39"/>
          <p:cNvSpPr txBox="1"/>
          <p:nvPr/>
        </p:nvSpPr>
        <p:spPr>
          <a:xfrm>
            <a:off x="8600455" y="5105767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</a:t>
            </a:r>
            <a:endParaRPr lang="en-US" sz="1200" dirty="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8340242" y="5129760"/>
            <a:ext cx="142646" cy="133502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8340242" y="5387620"/>
            <a:ext cx="31629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공개적인 지목은 피하고, 개별적인 접근이나 편안한 분위기를 조성하여 부담을 최소화하십시오.</a:t>
            </a:r>
            <a:endParaRPr lang="en-US" sz="12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70847" y="609905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청중 스타일 실전 대응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992210" y="381305"/>
            <a:ext cx="2750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AUDIENCE ANALYSIS &amp; STRATEGY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472745" y="1381659"/>
            <a:ext cx="3606394" cy="49936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1889" y="1391717"/>
            <a:ext cx="3590849" cy="1647749"/>
          </a:xfrm>
          <a:prstGeom prst="roundRect">
            <a:avLst>
              <a:gd name="adj" fmla="val 6415"/>
            </a:avLst>
          </a:prstGeom>
          <a:solidFill>
            <a:srgbClr val="FFF9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90649" y="1581912"/>
            <a:ext cx="571500" cy="571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2439" y="1734617"/>
            <a:ext cx="267005" cy="2670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68273" y="2267712"/>
            <a:ext cx="20226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즐기는 스타일</a:t>
            </a:r>
            <a:endParaRPr lang="en-US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2649017"/>
            <a:ext cx="1905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Entertainment-Seeking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81889" y="3039467"/>
            <a:ext cx="3590849" cy="339677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672999" y="4068166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940003" y="3229661"/>
            <a:ext cx="3133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특징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999" y="3277210"/>
            <a:ext cx="133502" cy="1335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2999" y="3496666"/>
            <a:ext cx="328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지루함을 싫어하고 역동적인 발표와 재미를 추구합니다.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72999" y="5068520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940003" y="4230015"/>
            <a:ext cx="3133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전략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2999" y="4277564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2999" y="4496105"/>
            <a:ext cx="328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흥미로운 서론과 스토리텔링으로 엔터테인먼트 요소를 강화하세요.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72999" y="5230369"/>
            <a:ext cx="3209544" cy="1019556"/>
          </a:xfrm>
          <a:prstGeom prst="roundRect">
            <a:avLst>
              <a:gd name="adj" fmla="val 10058"/>
            </a:avLst>
          </a:prstGeom>
          <a:solidFill>
            <a:srgbClr val="FFF3EB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672999" y="5230369"/>
            <a:ext cx="47549" cy="1019556"/>
          </a:xfrm>
          <a:prstGeom prst="roundRect">
            <a:avLst>
              <a:gd name="adj" fmla="val 215671"/>
            </a:avLst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1017727" y="5383073"/>
            <a:ext cx="2827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실전 TIP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t="-870" b="-870"/>
          <a:stretch/>
        </p:blipFill>
        <p:spPr>
          <a:xfrm>
            <a:off x="873252" y="5419649"/>
            <a:ext cx="105156" cy="14264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73252" y="5635448"/>
            <a:ext cx="2934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유머와 생생한 사례를 활용하고, 청중 참여형 퀴즈를 배치하세요.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4307739" y="1381659"/>
            <a:ext cx="3606394" cy="499362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4317797" y="1391717"/>
            <a:ext cx="3590849" cy="1647749"/>
          </a:xfrm>
          <a:prstGeom prst="roundRect">
            <a:avLst>
              <a:gd name="adj" fmla="val 6415"/>
            </a:avLst>
          </a:prstGeom>
          <a:solidFill>
            <a:srgbClr val="FD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25643" y="1581912"/>
            <a:ext cx="571500" cy="571500"/>
          </a:xfrm>
          <a:prstGeom prst="rect">
            <a:avLst/>
          </a:prstGeom>
        </p:spPr>
      </p:pic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78347" y="1734617"/>
            <a:ext cx="267005" cy="26700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103267" y="2267712"/>
            <a:ext cx="20226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훼방꾼 스타일</a:t>
            </a:r>
            <a:endParaRPr lang="en-US" dirty="0"/>
          </a:p>
        </p:txBody>
      </p:sp>
      <p:sp>
        <p:nvSpPr>
          <p:cNvPr id="32" name="Text 21"/>
          <p:cNvSpPr txBox="1"/>
          <p:nvPr/>
        </p:nvSpPr>
        <p:spPr>
          <a:xfrm>
            <a:off x="5163617" y="2649017"/>
            <a:ext cx="19028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Hostile &amp; Challenging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4317797" y="3039467"/>
            <a:ext cx="3590849" cy="339677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3"/>
          <p:cNvSpPr/>
          <p:nvPr/>
        </p:nvSpPr>
        <p:spPr>
          <a:xfrm>
            <a:off x="4507992" y="4068166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5" name="Text 24"/>
          <p:cNvSpPr txBox="1"/>
          <p:nvPr/>
        </p:nvSpPr>
        <p:spPr>
          <a:xfrm>
            <a:off x="4774997" y="3229661"/>
            <a:ext cx="3133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특징</a:t>
            </a:r>
            <a:endParaRPr lang="en-US" sz="12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07992" y="3277210"/>
            <a:ext cx="133502" cy="13350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4507992" y="3496666"/>
            <a:ext cx="328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비판적 태도로 의도적인 반박이나 난해한 질문을 제기합니다.</a:t>
            </a:r>
            <a:endParaRPr lang="en-US" sz="1200" dirty="0"/>
          </a:p>
        </p:txBody>
      </p:sp>
      <p:sp>
        <p:nvSpPr>
          <p:cNvPr id="38" name="Shape 26"/>
          <p:cNvSpPr/>
          <p:nvPr/>
        </p:nvSpPr>
        <p:spPr>
          <a:xfrm>
            <a:off x="4507992" y="5068520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9" name="Text 27"/>
          <p:cNvSpPr txBox="1"/>
          <p:nvPr/>
        </p:nvSpPr>
        <p:spPr>
          <a:xfrm>
            <a:off x="4774997" y="4230015"/>
            <a:ext cx="3133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전략</a:t>
            </a:r>
            <a:endParaRPr lang="en-US" sz="12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07992" y="4277564"/>
            <a:ext cx="133502" cy="133502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4507992" y="4496105"/>
            <a:ext cx="328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논쟁을 피하고, 팩트 기반으로 정중하고 침착하게 대응하세요.</a:t>
            </a:r>
            <a:endParaRPr lang="en-US" sz="1200" dirty="0"/>
          </a:p>
        </p:txBody>
      </p:sp>
      <p:sp>
        <p:nvSpPr>
          <p:cNvPr id="42" name="Shape 29"/>
          <p:cNvSpPr/>
          <p:nvPr/>
        </p:nvSpPr>
        <p:spPr>
          <a:xfrm>
            <a:off x="4507992" y="5230369"/>
            <a:ext cx="3209544" cy="1019556"/>
          </a:xfrm>
          <a:prstGeom prst="roundRect">
            <a:avLst>
              <a:gd name="adj" fmla="val 10058"/>
            </a:avLst>
          </a:prstGeom>
          <a:solidFill>
            <a:srgbClr val="FEF2F2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43" name="Shape 30"/>
          <p:cNvSpPr/>
          <p:nvPr/>
        </p:nvSpPr>
        <p:spPr>
          <a:xfrm>
            <a:off x="4507992" y="5230369"/>
            <a:ext cx="47549" cy="1019556"/>
          </a:xfrm>
          <a:prstGeom prst="roundRect">
            <a:avLst>
              <a:gd name="adj" fmla="val 21567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44" name="Text 31"/>
          <p:cNvSpPr txBox="1"/>
          <p:nvPr/>
        </p:nvSpPr>
        <p:spPr>
          <a:xfrm>
            <a:off x="4852721" y="5383073"/>
            <a:ext cx="2827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실전 TIP</a:t>
            </a:r>
            <a:endParaRPr lang="en-US" sz="11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0"/>
          <a:srcRect t="-870" b="-870"/>
          <a:stretch/>
        </p:blipFill>
        <p:spPr>
          <a:xfrm>
            <a:off x="4708246" y="5419649"/>
            <a:ext cx="105156" cy="14264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4708246" y="5635448"/>
            <a:ext cx="2934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 대응은 금물입니다. 객관적 데이터로 신뢰를 얻으세요.</a:t>
            </a:r>
            <a:endParaRPr lang="en-US" sz="12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8143647" y="1381659"/>
            <a:ext cx="3606394" cy="4993625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8152791" y="1391717"/>
            <a:ext cx="3590849" cy="1647749"/>
          </a:xfrm>
          <a:prstGeom prst="roundRect">
            <a:avLst>
              <a:gd name="adj" fmla="val 6415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61551" y="1581912"/>
            <a:ext cx="571500" cy="571500"/>
          </a:xfrm>
          <a:prstGeom prst="rect">
            <a:avLst/>
          </a:prstGeom>
        </p:spPr>
      </p:pic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780423" y="1734617"/>
            <a:ext cx="333756" cy="267005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632851" y="2267712"/>
            <a:ext cx="26353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부끄럼쟁이 스타일</a:t>
            </a:r>
            <a:endParaRPr lang="en-US" dirty="0"/>
          </a:p>
        </p:txBody>
      </p:sp>
      <p:sp>
        <p:nvSpPr>
          <p:cNvPr id="52" name="Text 35"/>
          <p:cNvSpPr txBox="1"/>
          <p:nvPr/>
        </p:nvSpPr>
        <p:spPr>
          <a:xfrm>
            <a:off x="9317736" y="2649017"/>
            <a:ext cx="1267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Shy &amp; Reserved</a:t>
            </a:r>
            <a:endParaRPr lang="en-US" sz="1000" dirty="0"/>
          </a:p>
        </p:txBody>
      </p:sp>
      <p:sp>
        <p:nvSpPr>
          <p:cNvPr id="53" name="Shape 36"/>
          <p:cNvSpPr/>
          <p:nvPr/>
        </p:nvSpPr>
        <p:spPr>
          <a:xfrm>
            <a:off x="8152791" y="3039467"/>
            <a:ext cx="3590849" cy="339677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37"/>
          <p:cNvSpPr/>
          <p:nvPr/>
        </p:nvSpPr>
        <p:spPr>
          <a:xfrm>
            <a:off x="8343900" y="4068166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5" name="Text 38"/>
          <p:cNvSpPr txBox="1"/>
          <p:nvPr/>
        </p:nvSpPr>
        <p:spPr>
          <a:xfrm>
            <a:off x="8610905" y="3229661"/>
            <a:ext cx="3133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특징</a:t>
            </a:r>
            <a:endParaRPr lang="en-US" sz="12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43900" y="3277210"/>
            <a:ext cx="133502" cy="133502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8343900" y="3496666"/>
            <a:ext cx="328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소극적 성향으로 공개 발언을 꺼리고 관찰자를 선호합니다.</a:t>
            </a:r>
            <a:endParaRPr lang="en-US" sz="1200" dirty="0"/>
          </a:p>
        </p:txBody>
      </p:sp>
      <p:sp>
        <p:nvSpPr>
          <p:cNvPr id="58" name="Shape 40"/>
          <p:cNvSpPr/>
          <p:nvPr/>
        </p:nvSpPr>
        <p:spPr>
          <a:xfrm>
            <a:off x="8343900" y="5068520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9" name="Text 41"/>
          <p:cNvSpPr txBox="1"/>
          <p:nvPr/>
        </p:nvSpPr>
        <p:spPr>
          <a:xfrm>
            <a:off x="8610905" y="4230015"/>
            <a:ext cx="3133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전략</a:t>
            </a:r>
            <a:endParaRPr lang="en-US" sz="120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43900" y="4277564"/>
            <a:ext cx="133502" cy="133502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8343900" y="4496105"/>
            <a:ext cx="328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지목은 피하고, 편안한 분위기로 심리적 부담을 줄여주세요.</a:t>
            </a:r>
            <a:endParaRPr lang="en-US" sz="1200" dirty="0"/>
          </a:p>
        </p:txBody>
      </p:sp>
      <p:sp>
        <p:nvSpPr>
          <p:cNvPr id="62" name="Shape 43"/>
          <p:cNvSpPr/>
          <p:nvPr/>
        </p:nvSpPr>
        <p:spPr>
          <a:xfrm>
            <a:off x="8343900" y="5230369"/>
            <a:ext cx="3209544" cy="1019556"/>
          </a:xfrm>
          <a:prstGeom prst="roundRect">
            <a:avLst>
              <a:gd name="adj" fmla="val 10058"/>
            </a:avLst>
          </a:prstGeom>
          <a:solidFill>
            <a:srgbClr val="F1F5F9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3" name="Shape 44"/>
          <p:cNvSpPr/>
          <p:nvPr/>
        </p:nvSpPr>
        <p:spPr>
          <a:xfrm>
            <a:off x="8343900" y="5230369"/>
            <a:ext cx="47549" cy="1019556"/>
          </a:xfrm>
          <a:prstGeom prst="roundRect">
            <a:avLst>
              <a:gd name="adj" fmla="val 215671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4" name="Text 45"/>
          <p:cNvSpPr txBox="1"/>
          <p:nvPr/>
        </p:nvSpPr>
        <p:spPr>
          <a:xfrm>
            <a:off x="8687715" y="5383073"/>
            <a:ext cx="2827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실전 TIP</a:t>
            </a:r>
            <a:endParaRPr lang="en-US" sz="1100" dirty="0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2"/>
          <a:srcRect t="-870" b="-870"/>
          <a:stretch/>
        </p:blipFill>
        <p:spPr>
          <a:xfrm>
            <a:off x="8543239" y="5419649"/>
            <a:ext cx="105156" cy="142646"/>
          </a:xfrm>
          <a:prstGeom prst="rect">
            <a:avLst/>
          </a:prstGeom>
        </p:spPr>
      </p:pic>
      <p:sp>
        <p:nvSpPr>
          <p:cNvPr id="66" name="Text 46"/>
          <p:cNvSpPr txBox="1"/>
          <p:nvPr/>
        </p:nvSpPr>
        <p:spPr>
          <a:xfrm>
            <a:off x="8543239" y="5635448"/>
            <a:ext cx="2934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눈맞춤으로 교감하거나, 쉬는 시간에 개별적으로 의견을 물으세요.</a:t>
            </a:r>
            <a:endParaRPr lang="en-US" sz="1200" dirty="0"/>
          </a:p>
        </p:txBody>
      </p:sp>
      <p:sp>
        <p:nvSpPr>
          <p:cNvPr id="6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88098" y="561859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논리 전개 방법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369335" y="609408"/>
            <a:ext cx="24569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LOGICAL DEVELOPMENT METHODS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8098" y="1140674"/>
            <a:ext cx="3715207" cy="5438200"/>
          </a:xfrm>
          <a:prstGeom prst="roundRect">
            <a:avLst>
              <a:gd name="adj" fmla="val 1010"/>
            </a:avLst>
          </a:prstGeom>
          <a:solidFill>
            <a:srgbClr val="FFF9F5"/>
          </a:solidFill>
          <a:ln w="12700">
            <a:solidFill>
              <a:srgbClr val="FF690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9947" y="1934633"/>
            <a:ext cx="3390595" cy="19202"/>
          </a:xfrm>
          <a:prstGeom prst="rect">
            <a:avLst/>
          </a:prstGeom>
          <a:solidFill>
            <a:srgbClr val="FF6908">
              <a:alpha val="2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9947" y="131989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FF690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616698" y="1395792"/>
            <a:ext cx="171907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16291" y="1376208"/>
            <a:ext cx="2012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기본 계획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1002487" y="1660411"/>
            <a:ext cx="14712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중심의 논리 전개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248695" y="1140674"/>
            <a:ext cx="3715207" cy="5438200"/>
          </a:xfrm>
          <a:prstGeom prst="roundRect">
            <a:avLst>
              <a:gd name="adj" fmla="val 1010"/>
            </a:avLst>
          </a:prstGeom>
          <a:solidFill>
            <a:srgbClr val="FFF9F5"/>
          </a:solidFill>
          <a:ln w="12700">
            <a:solidFill>
              <a:srgbClr val="FF690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4410543" y="1934633"/>
            <a:ext cx="3390595" cy="19202"/>
          </a:xfrm>
          <a:prstGeom prst="rect">
            <a:avLst/>
          </a:prstGeom>
          <a:solidFill>
            <a:srgbClr val="FF6908">
              <a:alpha val="2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4410543" y="131989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FF690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4477295" y="1395792"/>
            <a:ext cx="171907" cy="152705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4876888" y="1376208"/>
            <a:ext cx="226925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단언적 계획</a:t>
            </a:r>
            <a:endParaRPr lang="en-US" dirty="0"/>
          </a:p>
        </p:txBody>
      </p:sp>
      <p:sp>
        <p:nvSpPr>
          <p:cNvPr id="36" name="Text 32"/>
          <p:cNvSpPr txBox="1"/>
          <p:nvPr/>
        </p:nvSpPr>
        <p:spPr>
          <a:xfrm>
            <a:off x="4863084" y="1660411"/>
            <a:ext cx="16770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 설득을 위한 기법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8109291" y="1140674"/>
            <a:ext cx="3715207" cy="5438200"/>
          </a:xfrm>
          <a:prstGeom prst="roundRect">
            <a:avLst>
              <a:gd name="adj" fmla="val 1010"/>
            </a:avLst>
          </a:prstGeom>
          <a:solidFill>
            <a:srgbClr val="FFF9F5"/>
          </a:solidFill>
          <a:ln w="12700">
            <a:solidFill>
              <a:srgbClr val="FF690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2"/>
          <p:cNvSpPr/>
          <p:nvPr/>
        </p:nvSpPr>
        <p:spPr>
          <a:xfrm>
            <a:off x="8271140" y="1934633"/>
            <a:ext cx="3390595" cy="19202"/>
          </a:xfrm>
          <a:prstGeom prst="rect">
            <a:avLst/>
          </a:prstGeom>
          <a:solidFill>
            <a:srgbClr val="FF6908">
              <a:alpha val="2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3"/>
          <p:cNvSpPr/>
          <p:nvPr/>
        </p:nvSpPr>
        <p:spPr>
          <a:xfrm>
            <a:off x="8271140" y="131989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FF690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47035" y="1395792"/>
            <a:ext cx="152705" cy="152705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8738399" y="1376208"/>
            <a:ext cx="2012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보조 계획</a:t>
            </a:r>
            <a:endParaRPr lang="en-US" dirty="0"/>
          </a:p>
        </p:txBody>
      </p:sp>
      <p:sp>
        <p:nvSpPr>
          <p:cNvPr id="60" name="Text 55"/>
          <p:cNvSpPr txBox="1"/>
          <p:nvPr/>
        </p:nvSpPr>
        <p:spPr>
          <a:xfrm>
            <a:off x="8724595" y="1660411"/>
            <a:ext cx="14712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이해를 돕는 추가 기법</a:t>
            </a:r>
            <a:endParaRPr lang="en-US" sz="1100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238F517-23BC-FE4A-4569-1992DFCC3FF7}"/>
              </a:ext>
            </a:extLst>
          </p:cNvPr>
          <p:cNvGrpSpPr/>
          <p:nvPr/>
        </p:nvGrpSpPr>
        <p:grpSpPr>
          <a:xfrm>
            <a:off x="549947" y="2039789"/>
            <a:ext cx="11111788" cy="4262019"/>
            <a:chOff x="543154" y="1510589"/>
            <a:chExt cx="11111788" cy="4995367"/>
          </a:xfrm>
        </p:grpSpPr>
        <p:sp>
          <p:nvSpPr>
            <p:cNvPr id="13" name="Shape 10"/>
            <p:cNvSpPr/>
            <p:nvPr/>
          </p:nvSpPr>
          <p:spPr>
            <a:xfrm>
              <a:off x="543154" y="1510589"/>
              <a:ext cx="3390595" cy="1609344"/>
            </a:xfrm>
            <a:prstGeom prst="roundRect">
              <a:avLst>
                <a:gd name="adj" fmla="val 336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543154" y="1510589"/>
              <a:ext cx="47549" cy="1609344"/>
            </a:xfrm>
            <a:prstGeom prst="roundRect">
              <a:avLst>
                <a:gd name="adj" fmla="val 113791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982283" y="1913839"/>
              <a:ext cx="197236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시간으로 이동</a:t>
              </a:r>
              <a:endParaRPr lang="en-US" sz="16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3232404" y="1930298"/>
              <a:ext cx="580644" cy="267005"/>
            </a:xfrm>
            <a:prstGeom prst="roundRect">
              <a:avLst>
                <a:gd name="adj" fmla="val 73385"/>
              </a:avLst>
            </a:prstGeom>
            <a:solidFill>
              <a:srgbClr val="FFEDD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3308299" y="1949501"/>
              <a:ext cx="5056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연대순</a:t>
              </a:r>
              <a:endParaRPr lang="en-US" sz="12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942747" y="2339339"/>
              <a:ext cx="27644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과거 → 현재 → 미래 순서로 사건의 흐름이나 변화를 설명합니다.</a:t>
              </a:r>
              <a:endParaRPr lang="en-US" sz="12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543154" y="3203143"/>
              <a:ext cx="3390595" cy="1609344"/>
            </a:xfrm>
            <a:prstGeom prst="roundRect">
              <a:avLst>
                <a:gd name="adj" fmla="val 336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17"/>
            <p:cNvSpPr/>
            <p:nvPr/>
          </p:nvSpPr>
          <p:spPr>
            <a:xfrm>
              <a:off x="543154" y="3203143"/>
              <a:ext cx="47549" cy="1609344"/>
            </a:xfrm>
            <a:prstGeom prst="roundRect">
              <a:avLst>
                <a:gd name="adj" fmla="val 113791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982283" y="3606394"/>
              <a:ext cx="197236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지역으로 이동</a:t>
              </a:r>
              <a:endParaRPr lang="en-US" sz="160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3232404" y="3622853"/>
              <a:ext cx="580644" cy="267005"/>
            </a:xfrm>
            <a:prstGeom prst="roundRect">
              <a:avLst>
                <a:gd name="adj" fmla="val 73385"/>
              </a:avLst>
            </a:prstGeom>
            <a:solidFill>
              <a:srgbClr val="FFEDD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0"/>
            <p:cNvSpPr txBox="1"/>
            <p:nvPr/>
          </p:nvSpPr>
          <p:spPr>
            <a:xfrm>
              <a:off x="3308299" y="3642055"/>
              <a:ext cx="5056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공간순</a:t>
              </a:r>
              <a:endParaRPr lang="en-US" sz="1200" dirty="0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942747" y="4032808"/>
              <a:ext cx="27644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수도권, 영남권, 호남권 등 지리적 위치나 공간적 구조에 따라 설명합니다.</a:t>
              </a:r>
              <a:endParaRPr lang="en-US" sz="12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543154" y="4896612"/>
              <a:ext cx="3390595" cy="1609344"/>
            </a:xfrm>
            <a:prstGeom prst="roundRect">
              <a:avLst>
                <a:gd name="adj" fmla="val 336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3"/>
            <p:cNvSpPr/>
            <p:nvPr/>
          </p:nvSpPr>
          <p:spPr>
            <a:xfrm>
              <a:off x="543154" y="4896612"/>
              <a:ext cx="47549" cy="1609344"/>
            </a:xfrm>
            <a:prstGeom prst="roundRect">
              <a:avLst>
                <a:gd name="adj" fmla="val 113791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982283" y="5298948"/>
              <a:ext cx="197236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관점으로 이동</a:t>
              </a:r>
              <a:endParaRPr lang="en-US" sz="16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3232404" y="5316322"/>
              <a:ext cx="580644" cy="267005"/>
            </a:xfrm>
            <a:prstGeom prst="roundRect">
              <a:avLst>
                <a:gd name="adj" fmla="val 73385"/>
              </a:avLst>
            </a:prstGeom>
            <a:solidFill>
              <a:srgbClr val="FFEDD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3308299" y="5334610"/>
              <a:ext cx="5056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분석적</a:t>
              </a:r>
              <a:endParaRPr lang="en-US" sz="1200" dirty="0"/>
            </a:p>
          </p:txBody>
        </p:sp>
        <p:sp>
          <p:nvSpPr>
            <p:cNvPr id="30" name="Text 27"/>
            <p:cNvSpPr txBox="1"/>
            <p:nvPr/>
          </p:nvSpPr>
          <p:spPr>
            <a:xfrm>
              <a:off x="942747" y="5725362"/>
              <a:ext cx="27644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하나의 대상을 다양한 시각이나 분석적 삼각 계획을 통해 입체적으로 조명합니다.</a:t>
              </a:r>
              <a:endParaRPr lang="en-US" sz="1200" dirty="0"/>
            </a:p>
          </p:txBody>
        </p:sp>
        <p:sp>
          <p:nvSpPr>
            <p:cNvPr id="37" name="Shape 33"/>
            <p:cNvSpPr/>
            <p:nvPr/>
          </p:nvSpPr>
          <p:spPr>
            <a:xfrm>
              <a:off x="4403750" y="1510589"/>
              <a:ext cx="3390595" cy="1609344"/>
            </a:xfrm>
            <a:prstGeom prst="roundRect">
              <a:avLst>
                <a:gd name="adj" fmla="val 336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34"/>
            <p:cNvSpPr/>
            <p:nvPr/>
          </p:nvSpPr>
          <p:spPr>
            <a:xfrm>
              <a:off x="4403750" y="1510589"/>
              <a:ext cx="47549" cy="1609344"/>
            </a:xfrm>
            <a:prstGeom prst="roundRect">
              <a:avLst>
                <a:gd name="adj" fmla="val 113791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35"/>
            <p:cNvSpPr txBox="1"/>
            <p:nvPr/>
          </p:nvSpPr>
          <p:spPr>
            <a:xfrm>
              <a:off x="4842879" y="1913839"/>
              <a:ext cx="1726387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확대 / 축소</a:t>
              </a:r>
              <a:endParaRPr lang="en-US" sz="1600" dirty="0"/>
            </a:p>
          </p:txBody>
        </p:sp>
        <p:sp>
          <p:nvSpPr>
            <p:cNvPr id="40" name="Shape 36"/>
            <p:cNvSpPr/>
            <p:nvPr/>
          </p:nvSpPr>
          <p:spPr>
            <a:xfrm>
              <a:off x="6910121" y="1930298"/>
              <a:ext cx="761695" cy="267005"/>
            </a:xfrm>
            <a:prstGeom prst="roundRect">
              <a:avLst>
                <a:gd name="adj" fmla="val 73385"/>
              </a:avLst>
            </a:prstGeom>
            <a:solidFill>
              <a:srgbClr val="FFEDD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7"/>
            <p:cNvSpPr txBox="1"/>
            <p:nvPr/>
          </p:nvSpPr>
          <p:spPr>
            <a:xfrm>
              <a:off x="6986016" y="1949501"/>
              <a:ext cx="7488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관점 변화</a:t>
              </a:r>
              <a:endParaRPr lang="en-US" sz="1200" dirty="0"/>
            </a:p>
          </p:txBody>
        </p:sp>
        <p:sp>
          <p:nvSpPr>
            <p:cNvPr id="42" name="Text 38"/>
            <p:cNvSpPr txBox="1"/>
            <p:nvPr/>
          </p:nvSpPr>
          <p:spPr>
            <a:xfrm>
              <a:off x="4803343" y="2339339"/>
              <a:ext cx="27644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미시적 관점에서 거시적 관점으로, 또는 그 반대로 시야를 조절하여 설득합니다.</a:t>
              </a:r>
              <a:endParaRPr lang="en-US" sz="1200" dirty="0"/>
            </a:p>
          </p:txBody>
        </p:sp>
        <p:sp>
          <p:nvSpPr>
            <p:cNvPr id="43" name="Shape 39"/>
            <p:cNvSpPr/>
            <p:nvPr/>
          </p:nvSpPr>
          <p:spPr>
            <a:xfrm>
              <a:off x="4403750" y="3203143"/>
              <a:ext cx="3390595" cy="1609344"/>
            </a:xfrm>
            <a:prstGeom prst="roundRect">
              <a:avLst>
                <a:gd name="adj" fmla="val 336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0"/>
            <p:cNvSpPr/>
            <p:nvPr/>
          </p:nvSpPr>
          <p:spPr>
            <a:xfrm>
              <a:off x="4403750" y="3203143"/>
              <a:ext cx="47549" cy="1609344"/>
            </a:xfrm>
            <a:prstGeom prst="roundRect">
              <a:avLst>
                <a:gd name="adj" fmla="val 113791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41"/>
            <p:cNvSpPr txBox="1"/>
            <p:nvPr/>
          </p:nvSpPr>
          <p:spPr>
            <a:xfrm>
              <a:off x="4842879" y="3606394"/>
              <a:ext cx="202722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절충 (변증법)</a:t>
              </a:r>
              <a:endParaRPr lang="en-US" sz="1600" dirty="0"/>
            </a:p>
          </p:txBody>
        </p:sp>
        <p:sp>
          <p:nvSpPr>
            <p:cNvPr id="46" name="Shape 42"/>
            <p:cNvSpPr/>
            <p:nvPr/>
          </p:nvSpPr>
          <p:spPr>
            <a:xfrm>
              <a:off x="6770218" y="3622853"/>
              <a:ext cx="905256" cy="267005"/>
            </a:xfrm>
            <a:prstGeom prst="roundRect">
              <a:avLst>
                <a:gd name="adj" fmla="val 73385"/>
              </a:avLst>
            </a:prstGeom>
            <a:solidFill>
              <a:srgbClr val="FFEDD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43"/>
            <p:cNvSpPr txBox="1"/>
            <p:nvPr/>
          </p:nvSpPr>
          <p:spPr>
            <a:xfrm>
              <a:off x="6846113" y="3642055"/>
              <a:ext cx="91074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양극단 해결</a:t>
              </a:r>
              <a:endParaRPr lang="en-US" sz="1200" dirty="0"/>
            </a:p>
          </p:txBody>
        </p:sp>
        <p:sp>
          <p:nvSpPr>
            <p:cNvPr id="48" name="Text 44"/>
            <p:cNvSpPr txBox="1"/>
            <p:nvPr/>
          </p:nvSpPr>
          <p:spPr>
            <a:xfrm>
              <a:off x="4803343" y="4032808"/>
              <a:ext cx="27644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대립되는 양극단의 의견으로부터 합리적인 중간 지점이나 제3의 대안을 제시합니다.</a:t>
              </a:r>
              <a:endParaRPr lang="en-US" sz="1200" dirty="0"/>
            </a:p>
          </p:txBody>
        </p:sp>
        <p:sp>
          <p:nvSpPr>
            <p:cNvPr id="49" name="Shape 45"/>
            <p:cNvSpPr/>
            <p:nvPr/>
          </p:nvSpPr>
          <p:spPr>
            <a:xfrm>
              <a:off x="4403750" y="4896612"/>
              <a:ext cx="3390595" cy="1609344"/>
            </a:xfrm>
            <a:prstGeom prst="roundRect">
              <a:avLst>
                <a:gd name="adj" fmla="val 336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Shape 46"/>
            <p:cNvSpPr/>
            <p:nvPr/>
          </p:nvSpPr>
          <p:spPr>
            <a:xfrm>
              <a:off x="4403750" y="4896612"/>
              <a:ext cx="47549" cy="1609344"/>
            </a:xfrm>
            <a:prstGeom prst="roundRect">
              <a:avLst>
                <a:gd name="adj" fmla="val 113791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 47"/>
            <p:cNvSpPr txBox="1"/>
            <p:nvPr/>
          </p:nvSpPr>
          <p:spPr>
            <a:xfrm>
              <a:off x="4842879" y="5298948"/>
              <a:ext cx="197236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상대방의 이익</a:t>
              </a:r>
              <a:endParaRPr lang="en-US" sz="1600" dirty="0"/>
            </a:p>
          </p:txBody>
        </p:sp>
        <p:sp>
          <p:nvSpPr>
            <p:cNvPr id="52" name="Shape 48"/>
            <p:cNvSpPr/>
            <p:nvPr/>
          </p:nvSpPr>
          <p:spPr>
            <a:xfrm>
              <a:off x="6770218" y="5316322"/>
              <a:ext cx="905256" cy="267005"/>
            </a:xfrm>
            <a:prstGeom prst="roundRect">
              <a:avLst>
                <a:gd name="adj" fmla="val 73385"/>
              </a:avLst>
            </a:prstGeom>
            <a:solidFill>
              <a:srgbClr val="FFEDD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49"/>
            <p:cNvSpPr txBox="1"/>
            <p:nvPr/>
          </p:nvSpPr>
          <p:spPr>
            <a:xfrm>
              <a:off x="6846113" y="5334610"/>
              <a:ext cx="91074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기능적 이득</a:t>
              </a:r>
              <a:endParaRPr lang="en-US" sz="1200" dirty="0"/>
            </a:p>
          </p:txBody>
        </p:sp>
        <p:sp>
          <p:nvSpPr>
            <p:cNvPr id="54" name="Text 50"/>
            <p:cNvSpPr txBox="1"/>
            <p:nvPr/>
          </p:nvSpPr>
          <p:spPr>
            <a:xfrm>
              <a:off x="4803343" y="5725362"/>
              <a:ext cx="27644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청중이 얻을 수 있는 구체적인 혜택과 가치를 중심으로 논리를 전개합니다.</a:t>
              </a:r>
              <a:endParaRPr lang="en-US" sz="1200" dirty="0"/>
            </a:p>
          </p:txBody>
        </p:sp>
        <p:sp>
          <p:nvSpPr>
            <p:cNvPr id="61" name="Shape 56"/>
            <p:cNvSpPr/>
            <p:nvPr/>
          </p:nvSpPr>
          <p:spPr>
            <a:xfrm>
              <a:off x="8264347" y="1510589"/>
              <a:ext cx="3390595" cy="1209751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Shape 57"/>
            <p:cNvSpPr/>
            <p:nvPr/>
          </p:nvSpPr>
          <p:spPr>
            <a:xfrm>
              <a:off x="8264347" y="1510589"/>
              <a:ext cx="47549" cy="1209751"/>
            </a:xfrm>
            <a:prstGeom prst="roundRect">
              <a:avLst>
                <a:gd name="adj" fmla="val 151423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 58"/>
            <p:cNvSpPr txBox="1"/>
            <p:nvPr/>
          </p:nvSpPr>
          <p:spPr>
            <a:xfrm>
              <a:off x="8702437" y="1616104"/>
              <a:ext cx="2166214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상(像)으로 이동</a:t>
              </a:r>
              <a:endParaRPr lang="en-US" sz="1600" dirty="0"/>
            </a:p>
          </p:txBody>
        </p:sp>
        <p:sp>
          <p:nvSpPr>
            <p:cNvPr id="64" name="Text 59"/>
            <p:cNvSpPr txBox="1"/>
            <p:nvPr/>
          </p:nvSpPr>
          <p:spPr>
            <a:xfrm>
              <a:off x="8664854" y="2022402"/>
              <a:ext cx="2789108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비유적 상징이나 이미지를 활용하여 복잡한 개념을 쉽게 설명합니다.</a:t>
              </a:r>
              <a:endParaRPr lang="en-US" sz="1200" dirty="0"/>
            </a:p>
          </p:txBody>
        </p:sp>
        <p:sp>
          <p:nvSpPr>
            <p:cNvPr id="65" name="Shape 60"/>
            <p:cNvSpPr/>
            <p:nvPr/>
          </p:nvSpPr>
          <p:spPr>
            <a:xfrm>
              <a:off x="8264347" y="2772461"/>
              <a:ext cx="3390595" cy="1209751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Shape 61"/>
            <p:cNvSpPr/>
            <p:nvPr/>
          </p:nvSpPr>
          <p:spPr>
            <a:xfrm>
              <a:off x="8264347" y="2772461"/>
              <a:ext cx="47549" cy="1209751"/>
            </a:xfrm>
            <a:prstGeom prst="roundRect">
              <a:avLst>
                <a:gd name="adj" fmla="val 151423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 62"/>
            <p:cNvSpPr txBox="1"/>
            <p:nvPr/>
          </p:nvSpPr>
          <p:spPr>
            <a:xfrm>
              <a:off x="8702437" y="2877976"/>
              <a:ext cx="1281989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상하 이동</a:t>
              </a:r>
              <a:endParaRPr lang="en-US" sz="1600" dirty="0"/>
            </a:p>
          </p:txBody>
        </p:sp>
        <p:sp>
          <p:nvSpPr>
            <p:cNvPr id="68" name="Text 63"/>
            <p:cNvSpPr txBox="1"/>
            <p:nvPr/>
          </p:nvSpPr>
          <p:spPr>
            <a:xfrm>
              <a:off x="8664854" y="3284274"/>
              <a:ext cx="2789108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상위 개념과 하위 개념을 오가며 구조적으로 내용을 전달합니다.</a:t>
              </a:r>
              <a:endParaRPr lang="en-US" sz="1200" dirty="0"/>
            </a:p>
          </p:txBody>
        </p:sp>
        <p:sp>
          <p:nvSpPr>
            <p:cNvPr id="69" name="Shape 64"/>
            <p:cNvSpPr/>
            <p:nvPr/>
          </p:nvSpPr>
          <p:spPr>
            <a:xfrm>
              <a:off x="8264347" y="4034333"/>
              <a:ext cx="3390595" cy="1209751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Shape 65"/>
            <p:cNvSpPr/>
            <p:nvPr/>
          </p:nvSpPr>
          <p:spPr>
            <a:xfrm>
              <a:off x="8264347" y="4034333"/>
              <a:ext cx="47549" cy="1209751"/>
            </a:xfrm>
            <a:prstGeom prst="roundRect">
              <a:avLst>
                <a:gd name="adj" fmla="val 151423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 66"/>
            <p:cNvSpPr txBox="1"/>
            <p:nvPr/>
          </p:nvSpPr>
          <p:spPr>
            <a:xfrm>
              <a:off x="8702437" y="4140762"/>
              <a:ext cx="155905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원인과 결과</a:t>
              </a:r>
              <a:endParaRPr lang="en-US" sz="1600" dirty="0"/>
            </a:p>
          </p:txBody>
        </p:sp>
        <p:sp>
          <p:nvSpPr>
            <p:cNvPr id="72" name="Text 67"/>
            <p:cNvSpPr txBox="1"/>
            <p:nvPr/>
          </p:nvSpPr>
          <p:spPr>
            <a:xfrm>
              <a:off x="8664854" y="4547060"/>
              <a:ext cx="2789108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도미노 현상처럼 사건의 인과관계를 명확히 밝혀 논리성을 강화합니다.</a:t>
              </a:r>
              <a:endParaRPr lang="en-US" sz="1200" dirty="0"/>
            </a:p>
          </p:txBody>
        </p:sp>
        <p:sp>
          <p:nvSpPr>
            <p:cNvPr id="73" name="Shape 68"/>
            <p:cNvSpPr/>
            <p:nvPr/>
          </p:nvSpPr>
          <p:spPr>
            <a:xfrm>
              <a:off x="8264347" y="5296205"/>
              <a:ext cx="3390595" cy="1209751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Shape 69"/>
            <p:cNvSpPr/>
            <p:nvPr/>
          </p:nvSpPr>
          <p:spPr>
            <a:xfrm>
              <a:off x="8264347" y="5296205"/>
              <a:ext cx="47549" cy="1209751"/>
            </a:xfrm>
            <a:prstGeom prst="roundRect">
              <a:avLst>
                <a:gd name="adj" fmla="val 151423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 70"/>
            <p:cNvSpPr txBox="1"/>
            <p:nvPr/>
          </p:nvSpPr>
          <p:spPr>
            <a:xfrm>
              <a:off x="8702437" y="5402634"/>
              <a:ext cx="2000707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-60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기타 보조 자료</a:t>
              </a:r>
              <a:endParaRPr lang="en-US" sz="1600" dirty="0"/>
            </a:p>
          </p:txBody>
        </p:sp>
        <p:sp>
          <p:nvSpPr>
            <p:cNvPr id="76" name="Text 71"/>
            <p:cNvSpPr txBox="1"/>
            <p:nvPr/>
          </p:nvSpPr>
          <p:spPr>
            <a:xfrm>
              <a:off x="8664854" y="5808932"/>
              <a:ext cx="2789108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보고서, 일화, 지시 사항 등을 인용하여 신뢰도를 높입니다.</a:t>
              </a:r>
              <a:endParaRPr lang="en-US" sz="1200" dirty="0"/>
            </a:p>
          </p:txBody>
        </p:sp>
      </p:grpSp>
      <p:sp>
        <p:nvSpPr>
          <p:cNvPr id="7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95147" y="707433"/>
            <a:ext cx="4565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단언적 논리 전개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453982" y="381305"/>
            <a:ext cx="22887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ASSERTIVE LOGIC METHODS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2560"/>
            <a:ext cx="3638398" cy="5044135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66344" y="1441888"/>
            <a:ext cx="3619195" cy="1086337"/>
          </a:xfrm>
          <a:prstGeom prst="roundRect">
            <a:avLst>
              <a:gd name="adj" fmla="val 12693"/>
            </a:avLst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6344" y="2519746"/>
            <a:ext cx="3619195" cy="8480"/>
          </a:xfrm>
          <a:prstGeom prst="roundRect">
            <a:avLst>
              <a:gd name="adj" fmla="val 1626016"/>
            </a:avLst>
          </a:prstGeom>
          <a:solidFill>
            <a:srgbClr val="FF6908">
              <a:alpha val="1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6344" y="1441888"/>
            <a:ext cx="57607" cy="1070225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1909" y="1603864"/>
            <a:ext cx="381305" cy="353632"/>
          </a:xfrm>
          <a:prstGeom prst="roundRect">
            <a:avLst>
              <a:gd name="adj" fmla="val 599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" y="1675099"/>
            <a:ext cx="228600" cy="21201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923337" y="1687819"/>
            <a:ext cx="1114654" cy="18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Zoom In / Out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1909" y="2014314"/>
            <a:ext cx="3458261" cy="31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/ 축소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1909" y="2683417"/>
            <a:ext cx="3267151" cy="918426"/>
          </a:xfrm>
          <a:prstGeom prst="roundRect">
            <a:avLst>
              <a:gd name="adj" fmla="val 10654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41909" y="2683417"/>
            <a:ext cx="38405" cy="918426"/>
          </a:xfrm>
          <a:prstGeom prst="roundRect">
            <a:avLst>
              <a:gd name="adj" fmla="val 274724"/>
            </a:avLst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037844" y="2803839"/>
            <a:ext cx="2934310" cy="2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개념</a:t>
            </a:r>
            <a:endParaRPr lang="en-US" sz="1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2838608"/>
            <a:ext cx="152705" cy="14162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09244" y="3132787"/>
            <a:ext cx="3048610" cy="42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미시와 거시 관점을 오가며 설득력을 강화합니다.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70509" y="3714632"/>
            <a:ext cx="3229661" cy="2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예시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1909" y="3750250"/>
            <a:ext cx="152705" cy="14162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41909" y="3980069"/>
            <a:ext cx="28346" cy="125425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1037844" y="4061249"/>
            <a:ext cx="3219602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"작은 성공 사례 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산업 전체 트렌드 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글로벌 시장 변화"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65353" y="4963370"/>
            <a:ext cx="3219602" cy="806485"/>
          </a:xfrm>
          <a:prstGeom prst="rect">
            <a:avLst/>
          </a:prstGeom>
          <a:solidFill>
            <a:srgbClr val="F3F4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성공을 큰 비전으로 확장하거나,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거대한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문제를 실행 단계로 좁힐 때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효과적입니다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1909" y="5925470"/>
            <a:ext cx="3267151" cy="379921"/>
          </a:xfrm>
          <a:prstGeom prst="roundRect">
            <a:avLst>
              <a:gd name="adj" fmla="val 51910"/>
            </a:avLst>
          </a:prstGeom>
          <a:solidFill>
            <a:srgbClr val="FFF3EB"/>
          </a:solidFill>
          <a:ln w="12700">
            <a:solidFill>
              <a:srgbClr val="FF69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961949" y="6022994"/>
            <a:ext cx="3342132" cy="16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경험에서 시작해 보편적 진리로 확장하세요.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747065" y="6022994"/>
            <a:ext cx="114300" cy="141623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280306" y="1432560"/>
            <a:ext cx="3638398" cy="5044135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4289450" y="1441888"/>
            <a:ext cx="3619195" cy="1086337"/>
          </a:xfrm>
          <a:prstGeom prst="roundRect">
            <a:avLst>
              <a:gd name="adj" fmla="val 12693"/>
            </a:avLst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4289450" y="2519746"/>
            <a:ext cx="3619195" cy="8480"/>
          </a:xfrm>
          <a:prstGeom prst="roundRect">
            <a:avLst>
              <a:gd name="adj" fmla="val 1626016"/>
            </a:avLst>
          </a:prstGeom>
          <a:solidFill>
            <a:srgbClr val="FF6908">
              <a:alpha val="1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4289450" y="1441888"/>
            <a:ext cx="57607" cy="1070225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4464101" y="1603864"/>
            <a:ext cx="381305" cy="353632"/>
          </a:xfrm>
          <a:prstGeom prst="roundRect">
            <a:avLst>
              <a:gd name="adj" fmla="val 599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4512564" y="1675099"/>
            <a:ext cx="286207" cy="21201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292901" y="1687819"/>
            <a:ext cx="1628546" cy="18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Dialectic Synthesis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4464101" y="2014314"/>
            <a:ext cx="3458261" cy="31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절충 (변증법)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4464101" y="2683417"/>
            <a:ext cx="3267151" cy="918426"/>
          </a:xfrm>
          <a:prstGeom prst="roundRect">
            <a:avLst>
              <a:gd name="adj" fmla="val 10654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4464101" y="2683417"/>
            <a:ext cx="38405" cy="918426"/>
          </a:xfrm>
          <a:prstGeom prst="roundRect">
            <a:avLst>
              <a:gd name="adj" fmla="val 274724"/>
            </a:avLst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 txBox="1"/>
          <p:nvPr/>
        </p:nvSpPr>
        <p:spPr>
          <a:xfrm>
            <a:off x="4860950" y="2803839"/>
            <a:ext cx="2934310" cy="2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개념</a:t>
            </a:r>
            <a:endParaRPr lang="en-US" sz="12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2350" y="2838608"/>
            <a:ext cx="152705" cy="141623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632350" y="3132787"/>
            <a:ext cx="3048610" cy="42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양극단의 대립을 통합해 제3의 해결책을 제시합니다.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4692701" y="3714632"/>
            <a:ext cx="3229661" cy="2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예시</a:t>
            </a:r>
            <a:endParaRPr lang="en-US" sz="12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64101" y="3750250"/>
            <a:ext cx="152705" cy="141623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4464101" y="3980069"/>
            <a:ext cx="28346" cy="1042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5"/>
          <p:cNvSpPr txBox="1"/>
          <p:nvPr/>
        </p:nvSpPr>
        <p:spPr>
          <a:xfrm>
            <a:off x="4860950" y="4061249"/>
            <a:ext cx="3219602" cy="42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"고비용 vs 저품질 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최적 가성비 솔루션"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4588459" y="4751360"/>
            <a:ext cx="3219602" cy="806485"/>
          </a:xfrm>
          <a:prstGeom prst="rect">
            <a:avLst/>
          </a:prstGeom>
          <a:solidFill>
            <a:srgbClr val="F3F4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의견 충돌 시, 양측 핵심 가치를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창의적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대안 제시에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유용합니다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4464101" y="5740597"/>
            <a:ext cx="3267151" cy="565642"/>
          </a:xfrm>
          <a:prstGeom prst="roundRect">
            <a:avLst>
              <a:gd name="adj" fmla="val 23426"/>
            </a:avLst>
          </a:prstGeom>
          <a:solidFill>
            <a:srgbClr val="FFF3EB"/>
          </a:solidFill>
          <a:ln w="12700">
            <a:solidFill>
              <a:srgbClr val="FF69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8"/>
          <p:cNvSpPr txBox="1"/>
          <p:nvPr/>
        </p:nvSpPr>
        <p:spPr>
          <a:xfrm>
            <a:off x="4750526" y="5837274"/>
            <a:ext cx="2953294" cy="371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양측 장점을 결합하고 단점을 보완하는 균형점을 찾으세요.</a:t>
            </a:r>
            <a:endParaRPr lang="en-US" sz="11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4569257" y="5837274"/>
            <a:ext cx="114300" cy="141623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8102498" y="1432560"/>
            <a:ext cx="3638398" cy="5044135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0"/>
          <p:cNvSpPr/>
          <p:nvPr/>
        </p:nvSpPr>
        <p:spPr>
          <a:xfrm>
            <a:off x="8111642" y="1441888"/>
            <a:ext cx="3619195" cy="1086337"/>
          </a:xfrm>
          <a:prstGeom prst="roundRect">
            <a:avLst>
              <a:gd name="adj" fmla="val 12693"/>
            </a:avLst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1"/>
          <p:cNvSpPr/>
          <p:nvPr/>
        </p:nvSpPr>
        <p:spPr>
          <a:xfrm>
            <a:off x="8111642" y="2519746"/>
            <a:ext cx="3619195" cy="8480"/>
          </a:xfrm>
          <a:prstGeom prst="roundRect">
            <a:avLst>
              <a:gd name="adj" fmla="val 1626016"/>
            </a:avLst>
          </a:prstGeom>
          <a:solidFill>
            <a:srgbClr val="FF6908">
              <a:alpha val="1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2"/>
          <p:cNvSpPr/>
          <p:nvPr/>
        </p:nvSpPr>
        <p:spPr>
          <a:xfrm>
            <a:off x="8111642" y="1441888"/>
            <a:ext cx="57607" cy="1070225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8287207" y="1603864"/>
            <a:ext cx="381305" cy="353632"/>
          </a:xfrm>
          <a:prstGeom prst="roundRect">
            <a:avLst>
              <a:gd name="adj" fmla="val 599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8349386" y="1675099"/>
            <a:ext cx="256946" cy="212010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0268712" y="1687819"/>
            <a:ext cx="1374343" cy="18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Audience-Centric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8287207" y="2014314"/>
            <a:ext cx="3458261" cy="31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상대방의 이익</a:t>
            </a:r>
            <a:endParaRPr lang="en-US" sz="2200" dirty="0"/>
          </a:p>
        </p:txBody>
      </p:sp>
      <p:sp>
        <p:nvSpPr>
          <p:cNvPr id="57" name="Shape 46"/>
          <p:cNvSpPr/>
          <p:nvPr/>
        </p:nvSpPr>
        <p:spPr>
          <a:xfrm>
            <a:off x="8287207" y="2683417"/>
            <a:ext cx="3267151" cy="918426"/>
          </a:xfrm>
          <a:prstGeom prst="roundRect">
            <a:avLst>
              <a:gd name="adj" fmla="val 10654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7"/>
          <p:cNvSpPr/>
          <p:nvPr/>
        </p:nvSpPr>
        <p:spPr>
          <a:xfrm>
            <a:off x="8287207" y="2683417"/>
            <a:ext cx="38405" cy="918426"/>
          </a:xfrm>
          <a:prstGeom prst="roundRect">
            <a:avLst>
              <a:gd name="adj" fmla="val 274724"/>
            </a:avLst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8683142" y="2803839"/>
            <a:ext cx="2934310" cy="2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개념</a:t>
            </a:r>
            <a:endParaRPr lang="en-US" sz="1200" dirty="0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54542" y="2838608"/>
            <a:ext cx="152705" cy="141623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8454542" y="3132787"/>
            <a:ext cx="3048610" cy="42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청중이 얻는 구체적 혜택과 가치를 중심으로 전개합니다.</a:t>
            </a:r>
            <a:endParaRPr lang="en-US" sz="1200" dirty="0"/>
          </a:p>
        </p:txBody>
      </p:sp>
      <p:sp>
        <p:nvSpPr>
          <p:cNvPr id="62" name="Text 50"/>
          <p:cNvSpPr txBox="1"/>
          <p:nvPr/>
        </p:nvSpPr>
        <p:spPr>
          <a:xfrm>
            <a:off x="8515807" y="3714632"/>
            <a:ext cx="3229661" cy="2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예시</a:t>
            </a:r>
            <a:endParaRPr lang="en-US" sz="1200" dirty="0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87207" y="3750250"/>
            <a:ext cx="152705" cy="141623"/>
          </a:xfrm>
          <a:prstGeom prst="rect">
            <a:avLst/>
          </a:prstGeom>
        </p:spPr>
      </p:pic>
      <p:sp>
        <p:nvSpPr>
          <p:cNvPr id="64" name="Shape 51"/>
          <p:cNvSpPr/>
          <p:nvPr/>
        </p:nvSpPr>
        <p:spPr>
          <a:xfrm>
            <a:off x="8287207" y="3980069"/>
            <a:ext cx="28346" cy="1042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2"/>
          <p:cNvSpPr txBox="1"/>
          <p:nvPr/>
        </p:nvSpPr>
        <p:spPr>
          <a:xfrm>
            <a:off x="8683142" y="4061249"/>
            <a:ext cx="3219602" cy="42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기능 탑재" (X)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"업무 시간 50% 절약"</a:t>
            </a:r>
            <a:endParaRPr lang="en-US" sz="1200" dirty="0"/>
          </a:p>
        </p:txBody>
      </p:sp>
      <p:sp>
        <p:nvSpPr>
          <p:cNvPr id="66" name="Text 53"/>
          <p:cNvSpPr txBox="1"/>
          <p:nvPr/>
        </p:nvSpPr>
        <p:spPr>
          <a:xfrm>
            <a:off x="8410651" y="4751360"/>
            <a:ext cx="3219602" cy="806485"/>
          </a:xfrm>
          <a:prstGeom prst="rect">
            <a:avLst/>
          </a:prstGeom>
          <a:solidFill>
            <a:srgbClr val="F3F4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투자 유치 등 설득이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비즈니스 상황의 필수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화법입니다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67" name="Shape 54"/>
          <p:cNvSpPr/>
          <p:nvPr/>
        </p:nvSpPr>
        <p:spPr>
          <a:xfrm>
            <a:off x="8287207" y="5740597"/>
            <a:ext cx="3267151" cy="565642"/>
          </a:xfrm>
          <a:prstGeom prst="roundRect">
            <a:avLst>
              <a:gd name="adj" fmla="val 23426"/>
            </a:avLst>
          </a:prstGeom>
          <a:solidFill>
            <a:srgbClr val="FFF3EB"/>
          </a:solidFill>
          <a:ln w="12700">
            <a:solidFill>
              <a:srgbClr val="FF69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5"/>
          <p:cNvSpPr txBox="1"/>
          <p:nvPr/>
        </p:nvSpPr>
        <p:spPr>
          <a:xfrm>
            <a:off x="8606332" y="5837274"/>
            <a:ext cx="2920594" cy="371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"What's in it for them?" 청중의 언어로 가치를 번역하세요.</a:t>
            </a:r>
            <a:endParaRPr lang="en-US" sz="1100" dirty="0"/>
          </a:p>
        </p:txBody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8392363" y="5837274"/>
            <a:ext cx="114300" cy="141623"/>
          </a:xfrm>
          <a:prstGeom prst="rect">
            <a:avLst/>
          </a:prstGeom>
        </p:spPr>
      </p:pic>
      <p:sp>
        <p:nvSpPr>
          <p:cNvPr id="7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29234" y="873129"/>
            <a:ext cx="505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논리 전개 (1/2)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03810" y="885574"/>
            <a:ext cx="2407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SUPPORTIVE LOGIC METHODS</a:t>
            </a:r>
            <a:endParaRPr lang="en-US" sz="12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9061AF4-92E2-35EB-FA38-5F38DA8F2210}"/>
              </a:ext>
            </a:extLst>
          </p:cNvPr>
          <p:cNvGrpSpPr/>
          <p:nvPr/>
        </p:nvGrpSpPr>
        <p:grpSpPr>
          <a:xfrm>
            <a:off x="609905" y="1709928"/>
            <a:ext cx="10972800" cy="4398936"/>
            <a:chOff x="609905" y="1228954"/>
            <a:chExt cx="10972800" cy="5171846"/>
          </a:xfrm>
        </p:grpSpPr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 l="-5" r="-5"/>
            <a:stretch/>
          </p:blipFill>
          <p:spPr>
            <a:xfrm>
              <a:off x="609905" y="1228954"/>
              <a:ext cx="5296205" cy="5171846"/>
            </a:xfrm>
            <a:prstGeom prst="rect">
              <a:avLst/>
            </a:prstGeom>
          </p:spPr>
        </p:pic>
        <p:sp>
          <p:nvSpPr>
            <p:cNvPr id="8" name="Shape 5"/>
            <p:cNvSpPr/>
            <p:nvPr/>
          </p:nvSpPr>
          <p:spPr>
            <a:xfrm>
              <a:off x="619049" y="1238098"/>
              <a:ext cx="5277002" cy="1086307"/>
            </a:xfrm>
            <a:prstGeom prst="roundRect">
              <a:avLst>
                <a:gd name="adj" fmla="val 1772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619049" y="2305202"/>
              <a:ext cx="5277002" cy="19202"/>
            </a:xfrm>
            <a:prstGeom prst="roundRect">
              <a:avLst>
                <a:gd name="adj" fmla="val 1002527"/>
              </a:avLst>
            </a:prstGeom>
            <a:solidFill>
              <a:srgbClr val="FF6908">
                <a:alpha val="15000"/>
              </a:srgbClr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923544" y="1466698"/>
              <a:ext cx="609905" cy="609905"/>
            </a:xfrm>
            <a:prstGeom prst="roundRect">
              <a:avLst>
                <a:gd name="adj" fmla="val 37481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762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rcRect l="-50" r="-50"/>
            <a:stretch/>
          </p:blipFill>
          <p:spPr>
            <a:xfrm>
              <a:off x="1057046" y="1619402"/>
              <a:ext cx="342900" cy="304495"/>
            </a:xfrm>
            <a:prstGeom prst="rect">
              <a:avLst/>
            </a:prstGeom>
          </p:spPr>
        </p:pic>
        <p:sp>
          <p:nvSpPr>
            <p:cNvPr id="12" name="Text 8"/>
            <p:cNvSpPr txBox="1"/>
            <p:nvPr/>
          </p:nvSpPr>
          <p:spPr>
            <a:xfrm>
              <a:off x="1762049" y="1481328"/>
              <a:ext cx="207111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kern="0" spc="38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Metaphor &amp; Analogy</a:t>
              </a:r>
              <a:endParaRPr lang="en-US" sz="1200" dirty="0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762049" y="1709928"/>
              <a:ext cx="2392070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상(像)으로 이동</a:t>
              </a:r>
              <a:endParaRPr lang="en-US" sz="22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923544" y="2628900"/>
              <a:ext cx="4667098" cy="1143000"/>
            </a:xfrm>
            <a:prstGeom prst="roundRect">
              <a:avLst>
                <a:gd name="adj" fmla="val 10667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1"/>
            <p:cNvSpPr/>
            <p:nvPr/>
          </p:nvSpPr>
          <p:spPr>
            <a:xfrm>
              <a:off x="923544" y="2628900"/>
              <a:ext cx="57607" cy="1143000"/>
            </a:xfrm>
            <a:prstGeom prst="roundRect">
              <a:avLst>
                <a:gd name="adj" fmla="val 211641"/>
              </a:avLst>
            </a:prstGeom>
            <a:solidFill>
              <a:srgbClr val="64748B"/>
            </a:solidFill>
            <a:ln w="12700">
              <a:solidFill>
                <a:srgbClr val="64748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2"/>
            <p:cNvSpPr txBox="1"/>
            <p:nvPr/>
          </p:nvSpPr>
          <p:spPr>
            <a:xfrm>
              <a:off x="1380744" y="2819095"/>
              <a:ext cx="42108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개념</a:t>
              </a:r>
              <a:endParaRPr lang="en-US" sz="1200" dirty="0"/>
            </a:p>
          </p:txBody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5"/>
            <a:srcRect t="-43" b="-43"/>
            <a:stretch/>
          </p:blipFill>
          <p:spPr>
            <a:xfrm>
              <a:off x="1171346" y="2857500"/>
              <a:ext cx="133502" cy="152705"/>
            </a:xfrm>
            <a:prstGeom prst="rect">
              <a:avLst/>
            </a:prstGeom>
          </p:spPr>
        </p:pic>
        <p:sp>
          <p:nvSpPr>
            <p:cNvPr id="18" name="Text 13"/>
            <p:cNvSpPr txBox="1"/>
            <p:nvPr/>
          </p:nvSpPr>
          <p:spPr>
            <a:xfrm>
              <a:off x="1171346" y="3124505"/>
              <a:ext cx="430591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비유와 은유를 활용하여 추상적인 개념을 구체적인 이미지로 전환합니다.</a:t>
              </a:r>
              <a:endParaRPr lang="en-US" sz="1200" dirty="0"/>
            </a:p>
          </p:txBody>
        </p:sp>
        <p:sp>
          <p:nvSpPr>
            <p:cNvPr id="19" name="Shape 14"/>
            <p:cNvSpPr/>
            <p:nvPr/>
          </p:nvSpPr>
          <p:spPr>
            <a:xfrm>
              <a:off x="923544" y="4000500"/>
              <a:ext cx="4667098" cy="1238098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5"/>
            <p:cNvSpPr txBox="1"/>
            <p:nvPr/>
          </p:nvSpPr>
          <p:spPr>
            <a:xfrm>
              <a:off x="1352398" y="4200754"/>
              <a:ext cx="42291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실전 예시</a:t>
              </a:r>
              <a:endParaRPr lang="en-US" sz="1200" dirty="0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123798" y="4238244"/>
              <a:ext cx="152705" cy="152705"/>
            </a:xfrm>
            <a:prstGeom prst="rect">
              <a:avLst/>
            </a:prstGeom>
          </p:spPr>
        </p:pic>
        <p:sp>
          <p:nvSpPr>
            <p:cNvPr id="22" name="Text 16"/>
            <p:cNvSpPr txBox="1"/>
            <p:nvPr/>
          </p:nvSpPr>
          <p:spPr>
            <a:xfrm>
              <a:off x="1123798" y="4543654"/>
              <a:ext cx="4343400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"우리 조직은 오케스트라와 같습니다. 각자의 </a:t>
              </a: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악기(역할)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 조화를 이룰 때 최고의 </a:t>
              </a: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심포니(성과)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를 만듭니다." </a:t>
              </a:r>
              <a:endParaRPr lang="en-US" sz="1200" dirty="0"/>
            </a:p>
          </p:txBody>
        </p:sp>
        <p:sp>
          <p:nvSpPr>
            <p:cNvPr id="23" name="Shape 17"/>
            <p:cNvSpPr/>
            <p:nvPr/>
          </p:nvSpPr>
          <p:spPr>
            <a:xfrm>
              <a:off x="923544" y="5459882"/>
              <a:ext cx="4667098" cy="780898"/>
            </a:xfrm>
            <a:prstGeom prst="roundRect">
              <a:avLst>
                <a:gd name="adj" fmla="val 17136"/>
              </a:avLst>
            </a:prstGeom>
            <a:solidFill>
              <a:srgbClr val="FFF7ED"/>
            </a:solidFill>
            <a:ln w="12700">
              <a:solidFill>
                <a:srgbClr val="FED7A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162202" y="5640934"/>
              <a:ext cx="142646" cy="190195"/>
            </a:xfrm>
            <a:prstGeom prst="rect">
              <a:avLst/>
            </a:prstGeom>
          </p:spPr>
        </p:pic>
        <p:sp>
          <p:nvSpPr>
            <p:cNvPr id="25" name="Text 18"/>
            <p:cNvSpPr txBox="1"/>
            <p:nvPr/>
          </p:nvSpPr>
          <p:spPr>
            <a:xfrm>
              <a:off x="1419149" y="5621731"/>
              <a:ext cx="401055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복잡한 시스템이나 미래 비전을 설명할 때, 청중에게 익숙한 사물에 빗대어 설명하세요.</a:t>
              </a:r>
              <a:endParaRPr lang="en-US" sz="1200" dirty="0"/>
            </a:p>
          </p:txBody>
        </p:sp>
        <p:pic>
          <p:nvPicPr>
            <p:cNvPr id="26" name="Image 5" descr="preencoded.png"/>
            <p:cNvPicPr>
              <a:picLocks noChangeAspect="1"/>
            </p:cNvPicPr>
            <p:nvPr/>
          </p:nvPicPr>
          <p:blipFill>
            <a:blip r:embed="rId3"/>
            <a:srcRect l="-5" r="-5"/>
            <a:stretch/>
          </p:blipFill>
          <p:spPr>
            <a:xfrm>
              <a:off x="6286500" y="1228954"/>
              <a:ext cx="5296205" cy="5171846"/>
            </a:xfrm>
            <a:prstGeom prst="rect">
              <a:avLst/>
            </a:prstGeom>
          </p:spPr>
        </p:pic>
        <p:sp>
          <p:nvSpPr>
            <p:cNvPr id="27" name="Shape 19"/>
            <p:cNvSpPr/>
            <p:nvPr/>
          </p:nvSpPr>
          <p:spPr>
            <a:xfrm>
              <a:off x="6295644" y="1238098"/>
              <a:ext cx="5277002" cy="1086307"/>
            </a:xfrm>
            <a:prstGeom prst="roundRect">
              <a:avLst>
                <a:gd name="adj" fmla="val 1772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0"/>
            <p:cNvSpPr/>
            <p:nvPr/>
          </p:nvSpPr>
          <p:spPr>
            <a:xfrm>
              <a:off x="6295644" y="2305202"/>
              <a:ext cx="5277002" cy="19202"/>
            </a:xfrm>
            <a:prstGeom prst="roundRect">
              <a:avLst>
                <a:gd name="adj" fmla="val 1002527"/>
              </a:avLst>
            </a:prstGeom>
            <a:solidFill>
              <a:srgbClr val="FF6908">
                <a:alpha val="15000"/>
              </a:srgbClr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Shape 21"/>
            <p:cNvSpPr/>
            <p:nvPr/>
          </p:nvSpPr>
          <p:spPr>
            <a:xfrm>
              <a:off x="6601054" y="1466698"/>
              <a:ext cx="609905" cy="609905"/>
            </a:xfrm>
            <a:prstGeom prst="roundRect">
              <a:avLst>
                <a:gd name="adj" fmla="val 37481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762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0" name="Image 6" descr="preencoded.png"/>
            <p:cNvPicPr>
              <a:picLocks noChangeAspect="1"/>
            </p:cNvPicPr>
            <p:nvPr/>
          </p:nvPicPr>
          <p:blipFill>
            <a:blip r:embed="rId8"/>
            <a:srcRect l="-50" r="-50"/>
            <a:stretch/>
          </p:blipFill>
          <p:spPr>
            <a:xfrm>
              <a:off x="6734556" y="1619402"/>
              <a:ext cx="342900" cy="304495"/>
            </a:xfrm>
            <a:prstGeom prst="rect">
              <a:avLst/>
            </a:prstGeom>
          </p:spPr>
        </p:pic>
        <p:sp>
          <p:nvSpPr>
            <p:cNvPr id="31" name="Text 22"/>
            <p:cNvSpPr txBox="1"/>
            <p:nvPr/>
          </p:nvSpPr>
          <p:spPr>
            <a:xfrm>
              <a:off x="7438644" y="1481328"/>
              <a:ext cx="226588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kern="0" spc="38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Hierarchical Structure</a:t>
              </a:r>
              <a:endParaRPr lang="en-US" sz="1200" dirty="0"/>
            </a:p>
          </p:txBody>
        </p:sp>
        <p:sp>
          <p:nvSpPr>
            <p:cNvPr id="32" name="Text 23"/>
            <p:cNvSpPr txBox="1"/>
            <p:nvPr/>
          </p:nvSpPr>
          <p:spPr>
            <a:xfrm>
              <a:off x="7438644" y="1709928"/>
              <a:ext cx="2345436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상하 이동</a:t>
              </a:r>
              <a:endParaRPr lang="en-US" sz="2200" dirty="0"/>
            </a:p>
          </p:txBody>
        </p:sp>
        <p:sp>
          <p:nvSpPr>
            <p:cNvPr id="33" name="Shape 24"/>
            <p:cNvSpPr/>
            <p:nvPr/>
          </p:nvSpPr>
          <p:spPr>
            <a:xfrm>
              <a:off x="6601054" y="2628900"/>
              <a:ext cx="4667098" cy="1143000"/>
            </a:xfrm>
            <a:prstGeom prst="roundRect">
              <a:avLst>
                <a:gd name="adj" fmla="val 10667"/>
              </a:avLst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25"/>
            <p:cNvSpPr/>
            <p:nvPr/>
          </p:nvSpPr>
          <p:spPr>
            <a:xfrm>
              <a:off x="6601054" y="2628900"/>
              <a:ext cx="57607" cy="1143000"/>
            </a:xfrm>
            <a:prstGeom prst="roundRect">
              <a:avLst>
                <a:gd name="adj" fmla="val 211641"/>
              </a:avLst>
            </a:prstGeom>
            <a:solidFill>
              <a:srgbClr val="0F766E"/>
            </a:solidFill>
            <a:ln w="12700">
              <a:solidFill>
                <a:srgbClr val="0F766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26"/>
            <p:cNvSpPr txBox="1"/>
            <p:nvPr/>
          </p:nvSpPr>
          <p:spPr>
            <a:xfrm>
              <a:off x="7096658" y="2819095"/>
              <a:ext cx="41724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F766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개념</a:t>
              </a:r>
              <a:endParaRPr lang="en-US" sz="1200" dirty="0"/>
            </a:p>
          </p:txBody>
        </p:sp>
        <p:pic>
          <p:nvPicPr>
            <p:cNvPr id="36" name="Image 7" descr="preencoded.png"/>
            <p:cNvPicPr>
              <a:picLocks noChangeAspect="1"/>
            </p:cNvPicPr>
            <p:nvPr/>
          </p:nvPicPr>
          <p:blipFill>
            <a:blip r:embed="rId9"/>
            <a:srcRect l="-33" r="-33"/>
            <a:stretch/>
          </p:blipFill>
          <p:spPr>
            <a:xfrm>
              <a:off x="6848856" y="2857500"/>
              <a:ext cx="171907" cy="152705"/>
            </a:xfrm>
            <a:prstGeom prst="rect">
              <a:avLst/>
            </a:prstGeom>
          </p:spPr>
        </p:pic>
        <p:sp>
          <p:nvSpPr>
            <p:cNvPr id="37" name="Text 27"/>
            <p:cNvSpPr txBox="1"/>
            <p:nvPr/>
          </p:nvSpPr>
          <p:spPr>
            <a:xfrm>
              <a:off x="6848856" y="3124505"/>
              <a:ext cx="430591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거시적(상위) 관점과 미시적(하위) 관점을 오가며 논리를 입체적으로 구조화합니다.</a:t>
              </a:r>
              <a:endParaRPr lang="en-US" sz="1200" dirty="0"/>
            </a:p>
          </p:txBody>
        </p:sp>
        <p:sp>
          <p:nvSpPr>
            <p:cNvPr id="38" name="Shape 28"/>
            <p:cNvSpPr/>
            <p:nvPr/>
          </p:nvSpPr>
          <p:spPr>
            <a:xfrm>
              <a:off x="6601054" y="4000500"/>
              <a:ext cx="4667098" cy="1476756"/>
            </a:xfrm>
            <a:prstGeom prst="roundRect">
              <a:avLst>
                <a:gd name="adj" fmla="val 6392"/>
              </a:avLst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29"/>
            <p:cNvSpPr txBox="1"/>
            <p:nvPr/>
          </p:nvSpPr>
          <p:spPr>
            <a:xfrm>
              <a:off x="7029907" y="4200754"/>
              <a:ext cx="42291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실전 예시</a:t>
              </a:r>
              <a:endParaRPr lang="en-US" sz="1200" dirty="0"/>
            </a:p>
          </p:txBody>
        </p:sp>
        <p:pic>
          <p:nvPicPr>
            <p:cNvPr id="40" name="Image 8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801307" y="4238244"/>
              <a:ext cx="152705" cy="152705"/>
            </a:xfrm>
            <a:prstGeom prst="rect">
              <a:avLst/>
            </a:prstGeom>
          </p:spPr>
        </p:pic>
        <p:sp>
          <p:nvSpPr>
            <p:cNvPr id="41" name="Text 30"/>
            <p:cNvSpPr txBox="1"/>
            <p:nvPr/>
          </p:nvSpPr>
          <p:spPr>
            <a:xfrm>
              <a:off x="6801307" y="4543654"/>
              <a:ext cx="4343400" cy="734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1. </a:t>
              </a: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전략(상위)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시장 점유율 1위 달성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2. </a:t>
              </a: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전술(중위)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신제품 라인업 확대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3. </a:t>
              </a: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실행(하위)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1분기 3종 런칭 </a:t>
              </a:r>
              <a:endParaRPr lang="en-US" sz="1200" dirty="0"/>
            </a:p>
          </p:txBody>
        </p:sp>
        <p:sp>
          <p:nvSpPr>
            <p:cNvPr id="42" name="Shape 31"/>
            <p:cNvSpPr/>
            <p:nvPr/>
          </p:nvSpPr>
          <p:spPr>
            <a:xfrm>
              <a:off x="6634886" y="5565038"/>
              <a:ext cx="4667098" cy="780898"/>
            </a:xfrm>
            <a:prstGeom prst="roundRect">
              <a:avLst>
                <a:gd name="adj" fmla="val 17136"/>
              </a:avLst>
            </a:prstGeom>
            <a:solidFill>
              <a:srgbClr val="F0FDFA"/>
            </a:solidFill>
            <a:ln w="12700">
              <a:solidFill>
                <a:srgbClr val="CCFBF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3" name="Image 9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873545" y="5746090"/>
              <a:ext cx="142646" cy="190195"/>
            </a:xfrm>
            <a:prstGeom prst="rect">
              <a:avLst/>
            </a:prstGeom>
          </p:spPr>
        </p:pic>
        <p:sp>
          <p:nvSpPr>
            <p:cNvPr id="44" name="Text 32"/>
            <p:cNvSpPr txBox="1"/>
            <p:nvPr/>
          </p:nvSpPr>
          <p:spPr>
            <a:xfrm>
              <a:off x="7130491" y="5726887"/>
              <a:ext cx="401055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15E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숲(전체 그림)을 먼저 보여주고 나무(세부 사항)로 들어가거나, 그 반대로 전개하여 체계를 잡으세요.</a:t>
              </a:r>
              <a:endParaRPr lang="en-US" sz="1200" dirty="0"/>
            </a:p>
          </p:txBody>
        </p:sp>
      </p:grp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18652" y="975674"/>
            <a:ext cx="505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논리 전개 (2/2)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799785" y="761377"/>
            <a:ext cx="2407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SUPPORTIVE LOGIC METHODS</a:t>
            </a:r>
            <a:endParaRPr lang="en-US" sz="12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E6917A9-7ED8-876E-C105-93B5381A1988}"/>
              </a:ext>
            </a:extLst>
          </p:cNvPr>
          <p:cNvGrpSpPr/>
          <p:nvPr/>
        </p:nvGrpSpPr>
        <p:grpSpPr>
          <a:xfrm>
            <a:off x="754043" y="1777811"/>
            <a:ext cx="10898778" cy="4364865"/>
            <a:chOff x="457200" y="1076249"/>
            <a:chExt cx="11686032" cy="5400446"/>
          </a:xfrm>
        </p:grpSpPr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 l="-2" r="-2"/>
            <a:stretch/>
          </p:blipFill>
          <p:spPr>
            <a:xfrm>
              <a:off x="457200" y="1076249"/>
              <a:ext cx="5486400" cy="5400446"/>
            </a:xfrm>
            <a:prstGeom prst="rect">
              <a:avLst/>
            </a:prstGeom>
          </p:spPr>
        </p:pic>
        <p:sp>
          <p:nvSpPr>
            <p:cNvPr id="8" name="Shape 5"/>
            <p:cNvSpPr/>
            <p:nvPr/>
          </p:nvSpPr>
          <p:spPr>
            <a:xfrm>
              <a:off x="466344" y="1086307"/>
              <a:ext cx="5467198" cy="1495044"/>
            </a:xfrm>
            <a:prstGeom prst="roundRect">
              <a:avLst>
                <a:gd name="adj" fmla="val 779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466344" y="2562149"/>
              <a:ext cx="5467198" cy="19202"/>
            </a:xfrm>
            <a:prstGeom prst="roundRect">
              <a:avLst>
                <a:gd name="adj" fmla="val 606625"/>
              </a:avLst>
            </a:prstGeom>
            <a:solidFill>
              <a:srgbClr val="FF6908">
                <a:alpha val="10000"/>
              </a:srgbClr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466344" y="1086307"/>
              <a:ext cx="75895" cy="1474013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694944" y="1314907"/>
              <a:ext cx="514807" cy="514807"/>
            </a:xfrm>
            <a:prstGeom prst="roundRect">
              <a:avLst>
                <a:gd name="adj" fmla="val 39471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76200" dist="38100" dir="16200000" algn="bl" rotWithShape="0">
                <a:srgbClr val="FF6908">
                  <a:alpha val="1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 l="-685" r="-685"/>
            <a:stretch/>
          </p:blipFill>
          <p:spPr>
            <a:xfrm>
              <a:off x="800100" y="1438351"/>
              <a:ext cx="304495" cy="267005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4388206" y="1457554"/>
              <a:ext cx="14383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kern="0" spc="38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CAUSE &amp; EFFECT</a:t>
              </a:r>
              <a:endParaRPr lang="en-US" sz="1200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1296780" y="1950415"/>
              <a:ext cx="459927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원인과 결과</a:t>
              </a:r>
              <a:endParaRPr lang="en-US" sz="2200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694944" y="2808122"/>
              <a:ext cx="5009998" cy="914400"/>
            </a:xfrm>
            <a:prstGeom prst="roundRect">
              <a:avLst>
                <a:gd name="adj" fmla="val 12500"/>
              </a:avLst>
            </a:prstGeom>
            <a:solidFill>
              <a:srgbClr val="F9FAF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2"/>
            <p:cNvSpPr/>
            <p:nvPr/>
          </p:nvSpPr>
          <p:spPr>
            <a:xfrm>
              <a:off x="694944" y="2808122"/>
              <a:ext cx="47549" cy="914400"/>
            </a:xfrm>
            <a:prstGeom prst="roundRect">
              <a:avLst>
                <a:gd name="adj" fmla="val 240384"/>
              </a:avLst>
            </a:prstGeom>
            <a:solidFill>
              <a:srgbClr val="F59E0B"/>
            </a:solidFill>
            <a:ln w="12700">
              <a:solidFill>
                <a:srgbClr val="F59E0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1153973" y="2991002"/>
              <a:ext cx="45628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개념</a:t>
              </a:r>
              <a:endParaRPr lang="en-US" sz="1200" dirty="0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25373" y="3028493"/>
              <a:ext cx="152705" cy="152705"/>
            </a:xfrm>
            <a:prstGeom prst="rect">
              <a:avLst/>
            </a:prstGeom>
          </p:spPr>
        </p:pic>
        <p:sp>
          <p:nvSpPr>
            <p:cNvPr id="19" name="Text 14"/>
            <p:cNvSpPr txBox="1"/>
            <p:nvPr/>
          </p:nvSpPr>
          <p:spPr>
            <a:xfrm>
              <a:off x="925373" y="3295498"/>
              <a:ext cx="508497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도미노처럼 연결되는 인과관계를 밝혀 논리적 필연성을 증명합니다.</a:t>
              </a:r>
              <a:endParaRPr lang="en-US" sz="1200" dirty="0"/>
            </a:p>
          </p:txBody>
        </p:sp>
        <p:sp>
          <p:nvSpPr>
            <p:cNvPr id="20" name="Text 15"/>
            <p:cNvSpPr txBox="1"/>
            <p:nvPr/>
          </p:nvSpPr>
          <p:spPr>
            <a:xfrm>
              <a:off x="923544" y="3912718"/>
              <a:ext cx="49725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B556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구체적 예시</a:t>
              </a:r>
              <a:endParaRPr lang="en-US" sz="1200" dirty="0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94944" y="3950208"/>
              <a:ext cx="152705" cy="152705"/>
            </a:xfrm>
            <a:prstGeom prst="rect">
              <a:avLst/>
            </a:prstGeom>
          </p:spPr>
        </p:pic>
        <p:sp>
          <p:nvSpPr>
            <p:cNvPr id="22" name="Shape 16"/>
            <p:cNvSpPr/>
            <p:nvPr/>
          </p:nvSpPr>
          <p:spPr>
            <a:xfrm>
              <a:off x="694944" y="4236415"/>
              <a:ext cx="5009998" cy="981151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7"/>
            <p:cNvSpPr/>
            <p:nvPr/>
          </p:nvSpPr>
          <p:spPr>
            <a:xfrm>
              <a:off x="694944" y="4236415"/>
              <a:ext cx="38405" cy="981151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18"/>
            <p:cNvSpPr txBox="1"/>
            <p:nvPr/>
          </p:nvSpPr>
          <p:spPr>
            <a:xfrm>
              <a:off x="886054" y="4236415"/>
              <a:ext cx="4896612" cy="9811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"R&amp;D 투자 확대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 독자 기술 확보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 경쟁 우위 선점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 </a:t>
              </a: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시장 점유율 1위 달성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</a:t>
              </a:r>
              <a:endParaRPr lang="en-US" sz="1200" dirty="0"/>
            </a:p>
          </p:txBody>
        </p:sp>
        <p:sp>
          <p:nvSpPr>
            <p:cNvPr id="25" name="Shape 19"/>
            <p:cNvSpPr/>
            <p:nvPr/>
          </p:nvSpPr>
          <p:spPr>
            <a:xfrm>
              <a:off x="694944" y="5495544"/>
              <a:ext cx="5009998" cy="743407"/>
            </a:xfrm>
            <a:prstGeom prst="roundRect">
              <a:avLst>
                <a:gd name="adj" fmla="val 18923"/>
              </a:avLst>
            </a:prstGeom>
            <a:solidFill>
              <a:srgbClr val="FFF3EB"/>
            </a:solidFill>
            <a:ln w="12700">
              <a:solidFill>
                <a:srgbClr val="FF690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0"/>
            <p:cNvSpPr txBox="1"/>
            <p:nvPr/>
          </p:nvSpPr>
          <p:spPr>
            <a:xfrm>
              <a:off x="1078079" y="5639105"/>
              <a:ext cx="431293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결과에 대한 확신을 심어주기 위해 단계별 연결 고리를 촘촘하게 설계하세요.</a:t>
              </a:r>
              <a:endParaRPr lang="en-US" sz="1200" dirty="0"/>
            </a:p>
          </p:txBody>
        </p:sp>
        <p:pic>
          <p:nvPicPr>
            <p:cNvPr id="27" name="Image 4" descr="preencoded.png"/>
            <p:cNvPicPr>
              <a:picLocks noChangeAspect="1"/>
            </p:cNvPicPr>
            <p:nvPr/>
          </p:nvPicPr>
          <p:blipFill>
            <a:blip r:embed="rId7"/>
            <a:srcRect l="-1773" r="-1773"/>
            <a:stretch/>
          </p:blipFill>
          <p:spPr>
            <a:xfrm>
              <a:off x="838505" y="5639105"/>
              <a:ext cx="133502" cy="171907"/>
            </a:xfrm>
            <a:prstGeom prst="rect">
              <a:avLst/>
            </a:prstGeom>
          </p:spPr>
        </p:pic>
        <p:pic>
          <p:nvPicPr>
            <p:cNvPr id="28" name="Image 5" descr="preencoded.png"/>
            <p:cNvPicPr>
              <a:picLocks noChangeAspect="1"/>
            </p:cNvPicPr>
            <p:nvPr/>
          </p:nvPicPr>
          <p:blipFill>
            <a:blip r:embed="rId3"/>
            <a:srcRect l="-2" r="-2"/>
            <a:stretch/>
          </p:blipFill>
          <p:spPr>
            <a:xfrm>
              <a:off x="6248095" y="1076249"/>
              <a:ext cx="5486400" cy="5400446"/>
            </a:xfrm>
            <a:prstGeom prst="rect">
              <a:avLst/>
            </a:prstGeom>
          </p:spPr>
        </p:pic>
        <p:sp>
          <p:nvSpPr>
            <p:cNvPr id="29" name="Shape 21"/>
            <p:cNvSpPr/>
            <p:nvPr/>
          </p:nvSpPr>
          <p:spPr>
            <a:xfrm>
              <a:off x="6258154" y="1086307"/>
              <a:ext cx="5467198" cy="1495044"/>
            </a:xfrm>
            <a:prstGeom prst="roundRect">
              <a:avLst>
                <a:gd name="adj" fmla="val 779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Shape 22"/>
            <p:cNvSpPr/>
            <p:nvPr/>
          </p:nvSpPr>
          <p:spPr>
            <a:xfrm>
              <a:off x="6258154" y="2562149"/>
              <a:ext cx="5467198" cy="19202"/>
            </a:xfrm>
            <a:prstGeom prst="roundRect">
              <a:avLst>
                <a:gd name="adj" fmla="val 606625"/>
              </a:avLst>
            </a:prstGeom>
            <a:solidFill>
              <a:srgbClr val="FF6908">
                <a:alpha val="10000"/>
              </a:srgbClr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Shape 23"/>
            <p:cNvSpPr/>
            <p:nvPr/>
          </p:nvSpPr>
          <p:spPr>
            <a:xfrm>
              <a:off x="6258154" y="1086307"/>
              <a:ext cx="75895" cy="1474013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Shape 24"/>
            <p:cNvSpPr/>
            <p:nvPr/>
          </p:nvSpPr>
          <p:spPr>
            <a:xfrm>
              <a:off x="6486754" y="1314907"/>
              <a:ext cx="514807" cy="514807"/>
            </a:xfrm>
            <a:prstGeom prst="roundRect">
              <a:avLst>
                <a:gd name="adj" fmla="val 39471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76200" dist="38100" dir="16200000" algn="bl" rotWithShape="0">
                <a:srgbClr val="FF6908">
                  <a:alpha val="1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3" name="Image 6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610198" y="1438351"/>
              <a:ext cx="267005" cy="267005"/>
            </a:xfrm>
            <a:prstGeom prst="rect">
              <a:avLst/>
            </a:prstGeom>
          </p:spPr>
        </p:pic>
        <p:sp>
          <p:nvSpPr>
            <p:cNvPr id="34" name="Text 25"/>
            <p:cNvSpPr txBox="1"/>
            <p:nvPr/>
          </p:nvSpPr>
          <p:spPr>
            <a:xfrm>
              <a:off x="9491541" y="1457555"/>
              <a:ext cx="208659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kern="0" spc="38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SUPPORTING EVIDENCE</a:t>
              </a:r>
              <a:endParaRPr lang="en-US" sz="1200" dirty="0"/>
            </a:p>
          </p:txBody>
        </p:sp>
        <p:sp>
          <p:nvSpPr>
            <p:cNvPr id="35" name="Text 26"/>
            <p:cNvSpPr txBox="1"/>
            <p:nvPr/>
          </p:nvSpPr>
          <p:spPr>
            <a:xfrm>
              <a:off x="7132791" y="1950415"/>
              <a:ext cx="4555069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기타 보조 자료</a:t>
              </a:r>
              <a:endParaRPr lang="en-US" sz="2200" dirty="0"/>
            </a:p>
          </p:txBody>
        </p:sp>
        <p:sp>
          <p:nvSpPr>
            <p:cNvPr id="36" name="Shape 27"/>
            <p:cNvSpPr/>
            <p:nvPr/>
          </p:nvSpPr>
          <p:spPr>
            <a:xfrm>
              <a:off x="6486754" y="2808122"/>
              <a:ext cx="5009998" cy="914400"/>
            </a:xfrm>
            <a:prstGeom prst="roundRect">
              <a:avLst>
                <a:gd name="adj" fmla="val 12500"/>
              </a:avLst>
            </a:prstGeom>
            <a:solidFill>
              <a:srgbClr val="F9FAF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28"/>
            <p:cNvSpPr/>
            <p:nvPr/>
          </p:nvSpPr>
          <p:spPr>
            <a:xfrm>
              <a:off x="6486754" y="2808122"/>
              <a:ext cx="47549" cy="914400"/>
            </a:xfrm>
            <a:prstGeom prst="roundRect">
              <a:avLst>
                <a:gd name="adj" fmla="val 240384"/>
              </a:avLst>
            </a:prstGeom>
            <a:solidFill>
              <a:srgbClr val="10B981"/>
            </a:solidFill>
            <a:ln w="12700">
              <a:solidFill>
                <a:srgbClr val="10B98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29"/>
            <p:cNvSpPr txBox="1"/>
            <p:nvPr/>
          </p:nvSpPr>
          <p:spPr>
            <a:xfrm>
              <a:off x="6945782" y="2991002"/>
              <a:ext cx="45628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개념</a:t>
              </a:r>
              <a:endParaRPr lang="en-US" sz="1200" dirty="0"/>
            </a:p>
          </p:txBody>
        </p:sp>
        <p:pic>
          <p:nvPicPr>
            <p:cNvPr id="39" name="Image 7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717182" y="3028493"/>
              <a:ext cx="152705" cy="152705"/>
            </a:xfrm>
            <a:prstGeom prst="rect">
              <a:avLst/>
            </a:prstGeom>
          </p:spPr>
        </p:pic>
        <p:sp>
          <p:nvSpPr>
            <p:cNvPr id="40" name="Text 30"/>
            <p:cNvSpPr txBox="1"/>
            <p:nvPr/>
          </p:nvSpPr>
          <p:spPr>
            <a:xfrm>
              <a:off x="6717182" y="3295498"/>
              <a:ext cx="542605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권위 있는 데이터와 객관적 사례를 인용하여 주장의 신뢰도를 높입니다.</a:t>
              </a:r>
              <a:endParaRPr lang="en-US" sz="1200" dirty="0"/>
            </a:p>
          </p:txBody>
        </p:sp>
        <p:sp>
          <p:nvSpPr>
            <p:cNvPr id="41" name="Text 31"/>
            <p:cNvSpPr txBox="1"/>
            <p:nvPr/>
          </p:nvSpPr>
          <p:spPr>
            <a:xfrm>
              <a:off x="6715354" y="3912718"/>
              <a:ext cx="49725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B556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구체적 예시</a:t>
              </a:r>
              <a:endParaRPr lang="en-US" sz="1200" dirty="0"/>
            </a:p>
          </p:txBody>
        </p:sp>
        <p:pic>
          <p:nvPicPr>
            <p:cNvPr id="42" name="Image 8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486754" y="3950208"/>
              <a:ext cx="152705" cy="152705"/>
            </a:xfrm>
            <a:prstGeom prst="rect">
              <a:avLst/>
            </a:prstGeom>
          </p:spPr>
        </p:pic>
        <p:sp>
          <p:nvSpPr>
            <p:cNvPr id="43" name="Shape 32"/>
            <p:cNvSpPr/>
            <p:nvPr/>
          </p:nvSpPr>
          <p:spPr>
            <a:xfrm>
              <a:off x="6486754" y="4236415"/>
              <a:ext cx="5009998" cy="73334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33"/>
            <p:cNvSpPr/>
            <p:nvPr/>
          </p:nvSpPr>
          <p:spPr>
            <a:xfrm>
              <a:off x="6486754" y="4236415"/>
              <a:ext cx="38405" cy="733349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34"/>
            <p:cNvSpPr txBox="1"/>
            <p:nvPr/>
          </p:nvSpPr>
          <p:spPr>
            <a:xfrm>
              <a:off x="6676949" y="4236415"/>
              <a:ext cx="4896612" cy="734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"전문 기관의 최신 통계 자료,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글로벌 선도 기업의 벤치마킹 사례,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실제 고객 인터뷰 및 추천사"</a:t>
              </a:r>
              <a:endParaRPr lang="en-US" sz="1200" dirty="0"/>
            </a:p>
          </p:txBody>
        </p:sp>
        <p:sp>
          <p:nvSpPr>
            <p:cNvPr id="46" name="Shape 35"/>
            <p:cNvSpPr/>
            <p:nvPr/>
          </p:nvSpPr>
          <p:spPr>
            <a:xfrm>
              <a:off x="6486753" y="5724144"/>
              <a:ext cx="5086807" cy="514806"/>
            </a:xfrm>
            <a:prstGeom prst="roundRect">
              <a:avLst>
                <a:gd name="adj" fmla="val 39471"/>
              </a:avLst>
            </a:prstGeom>
            <a:solidFill>
              <a:srgbClr val="FFF3EB"/>
            </a:solidFill>
            <a:ln w="12700">
              <a:solidFill>
                <a:srgbClr val="FF690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36"/>
            <p:cNvSpPr txBox="1"/>
            <p:nvPr/>
          </p:nvSpPr>
          <p:spPr>
            <a:xfrm>
              <a:off x="6863960" y="5839358"/>
              <a:ext cx="52349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출처를 명확히 밝히고, 우리 상황에 맞는 시사점을 반드시 연결하세요.</a:t>
              </a:r>
              <a:endParaRPr lang="en-US" sz="1200" dirty="0"/>
            </a:p>
          </p:txBody>
        </p:sp>
        <p:pic>
          <p:nvPicPr>
            <p:cNvPr id="48" name="Image 9" descr="preencoded.png"/>
            <p:cNvPicPr>
              <a:picLocks noChangeAspect="1"/>
            </p:cNvPicPr>
            <p:nvPr/>
          </p:nvPicPr>
          <p:blipFill>
            <a:blip r:embed="rId7"/>
            <a:srcRect l="-1773" r="-1773"/>
            <a:stretch/>
          </p:blipFill>
          <p:spPr>
            <a:xfrm>
              <a:off x="6629400" y="5867705"/>
              <a:ext cx="133502" cy="171907"/>
            </a:xfrm>
            <a:prstGeom prst="rect">
              <a:avLst/>
            </a:prstGeom>
          </p:spPr>
        </p:pic>
      </p:grpSp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66929" y="979903"/>
            <a:ext cx="59445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시각자료 작성 지침 (1/2)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285733" y="764671"/>
            <a:ext cx="23536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DESIGN PRINCIPLES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543154" y="1912383"/>
            <a:ext cx="3556102" cy="4365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3213" y="1920513"/>
            <a:ext cx="3543300" cy="1232180"/>
          </a:xfrm>
          <a:prstGeom prst="roundRect">
            <a:avLst>
              <a:gd name="adj" fmla="val 7498"/>
            </a:avLst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53213" y="3137171"/>
            <a:ext cx="3543300" cy="15522"/>
          </a:xfrm>
          <a:prstGeom prst="roundRect">
            <a:avLst>
              <a:gd name="adj" fmla="val 595250"/>
            </a:avLst>
          </a:prstGeom>
          <a:solidFill>
            <a:srgbClr val="FF6908">
              <a:alpha val="1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83004" y="2067607"/>
            <a:ext cx="476402" cy="38510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2221078" y="2168132"/>
            <a:ext cx="200254" cy="18479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13079" y="2529582"/>
            <a:ext cx="2022653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헤드라인 원칙</a:t>
            </a:r>
            <a:endParaRPr lang="en-US" dirty="0"/>
          </a:p>
        </p:txBody>
      </p:sp>
      <p:sp>
        <p:nvSpPr>
          <p:cNvPr id="13" name="Text 8"/>
          <p:cNvSpPr txBox="1"/>
          <p:nvPr/>
        </p:nvSpPr>
        <p:spPr>
          <a:xfrm>
            <a:off x="1737361" y="2878895"/>
            <a:ext cx="1175918" cy="16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MESSAGE FIRST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36093" y="3295351"/>
            <a:ext cx="3172054" cy="600937"/>
          </a:xfrm>
          <a:prstGeom prst="roundRect">
            <a:avLst>
              <a:gd name="adj" fmla="val 1892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736093" y="3295351"/>
            <a:ext cx="47549" cy="600937"/>
          </a:xfrm>
          <a:prstGeom prst="roundRect">
            <a:avLst>
              <a:gd name="adj" fmla="val 295857"/>
            </a:avLst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1183234" y="3393659"/>
            <a:ext cx="2762402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가이드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935432" y="3423965"/>
            <a:ext cx="171907" cy="1234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5432" y="3608755"/>
            <a:ext cx="3365906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"설명 없이 읽어도 이해가 되어야 합니다."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736093" y="4300608"/>
            <a:ext cx="3363163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실천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736093" y="4531965"/>
            <a:ext cx="3248863" cy="36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명사형 대신, 내용을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요약하는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완전한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문장(Full Sentence)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배치하세요.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36093" y="5309562"/>
            <a:ext cx="3172054" cy="816033"/>
          </a:xfrm>
          <a:prstGeom prst="roundRect">
            <a:avLst>
              <a:gd name="adj" fmla="val 10254"/>
            </a:avLst>
          </a:prstGeom>
          <a:solidFill>
            <a:srgbClr val="FFF7ED"/>
          </a:solidFill>
          <a:ln w="127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897941" y="5416001"/>
            <a:ext cx="2962656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PRACTICAL EXAMPLE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97941" y="5631096"/>
            <a:ext cx="2962656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"1분기 매출 현황" (X)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97941" y="5831409"/>
            <a:ext cx="2962656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"1분기 매출 20% 성장 달성" (O)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4327856" y="1912383"/>
            <a:ext cx="3556102" cy="436547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337914" y="1920513"/>
            <a:ext cx="3543300" cy="1232180"/>
          </a:xfrm>
          <a:prstGeom prst="roundRect">
            <a:avLst>
              <a:gd name="adj" fmla="val 7498"/>
            </a:avLst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4337914" y="3137171"/>
            <a:ext cx="3543300" cy="15522"/>
          </a:xfrm>
          <a:prstGeom prst="roundRect">
            <a:avLst>
              <a:gd name="adj" fmla="val 595250"/>
            </a:avLst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67705" y="2067607"/>
            <a:ext cx="476402" cy="385102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48757" y="2168132"/>
            <a:ext cx="114300" cy="18479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87645" y="2529582"/>
            <a:ext cx="1440180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Idea</a:t>
            </a:r>
            <a:endParaRPr lang="en-US" dirty="0"/>
          </a:p>
        </p:txBody>
      </p:sp>
      <p:sp>
        <p:nvSpPr>
          <p:cNvPr id="31" name="Text 22"/>
          <p:cNvSpPr txBox="1"/>
          <p:nvPr/>
        </p:nvSpPr>
        <p:spPr>
          <a:xfrm>
            <a:off x="5700370" y="2878895"/>
            <a:ext cx="811073" cy="16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 SLIDE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519880" y="3295351"/>
            <a:ext cx="3172054" cy="945386"/>
          </a:xfrm>
          <a:prstGeom prst="roundRect">
            <a:avLst>
              <a:gd name="adj" fmla="val 110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4"/>
          <p:cNvSpPr/>
          <p:nvPr/>
        </p:nvSpPr>
        <p:spPr>
          <a:xfrm>
            <a:off x="4519880" y="3295351"/>
            <a:ext cx="47549" cy="945386"/>
          </a:xfrm>
          <a:prstGeom prst="roundRect">
            <a:avLst>
              <a:gd name="adj" fmla="val 226243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4967936" y="3393659"/>
            <a:ext cx="2762402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가이드</a:t>
            </a:r>
            <a:endParaRPr lang="en-US" sz="12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4720133" y="3423965"/>
            <a:ext cx="171907" cy="12344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720133" y="3608755"/>
            <a:ext cx="2895905" cy="36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"하나의 </a:t>
            </a:r>
            <a:r>
              <a:rPr lang="en-US" sz="12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슬라이드에는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핵심만 담습니다."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4519880" y="4393003"/>
            <a:ext cx="3363163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실천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4519880" y="4624360"/>
            <a:ext cx="3248863" cy="36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주제가 섞이면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과감히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슬라이드를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분리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청중의 혼란을 방지하세요.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4519880" y="5309562"/>
            <a:ext cx="3172054" cy="816033"/>
          </a:xfrm>
          <a:prstGeom prst="roundRect">
            <a:avLst>
              <a:gd name="adj" fmla="val 10254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0"/>
          <p:cNvSpPr txBox="1"/>
          <p:nvPr/>
        </p:nvSpPr>
        <p:spPr>
          <a:xfrm>
            <a:off x="4682643" y="5416001"/>
            <a:ext cx="2962656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PRACTICAL EXAMPLE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4682643" y="5631096"/>
            <a:ext cx="2962656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분석 + 재무 계획 (X)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4682643" y="5831409"/>
            <a:ext cx="2962656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시장 분석 / 2. 재무 계획 (O)</a:t>
            </a:r>
            <a:endParaRPr lang="en-US" sz="12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9"/>
          <a:srcRect l="-2" r="-2"/>
          <a:stretch/>
        </p:blipFill>
        <p:spPr>
          <a:xfrm>
            <a:off x="8112557" y="1912383"/>
            <a:ext cx="3556102" cy="436547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8121701" y="1920513"/>
            <a:ext cx="3543300" cy="1232180"/>
          </a:xfrm>
          <a:prstGeom prst="roundRect">
            <a:avLst>
              <a:gd name="adj" fmla="val 7498"/>
            </a:avLst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4"/>
          <p:cNvSpPr/>
          <p:nvPr/>
        </p:nvSpPr>
        <p:spPr>
          <a:xfrm>
            <a:off x="8121701" y="3137171"/>
            <a:ext cx="3543300" cy="15522"/>
          </a:xfrm>
          <a:prstGeom prst="roundRect">
            <a:avLst>
              <a:gd name="adj" fmla="val 595250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652407" y="2067607"/>
            <a:ext cx="476402" cy="385102"/>
          </a:xfrm>
          <a:prstGeom prst="rect">
            <a:avLst/>
          </a:prstGeom>
        </p:spPr>
      </p:pic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776765" y="2168132"/>
            <a:ext cx="228600" cy="18479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9188806" y="2529582"/>
            <a:ext cx="1410005" cy="27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 대비</a:t>
            </a:r>
            <a:endParaRPr lang="en-US" dirty="0"/>
          </a:p>
        </p:txBody>
      </p:sp>
      <p:sp>
        <p:nvSpPr>
          <p:cNvPr id="49" name="Text 36"/>
          <p:cNvSpPr txBox="1"/>
          <p:nvPr/>
        </p:nvSpPr>
        <p:spPr>
          <a:xfrm>
            <a:off x="9285733" y="2878895"/>
            <a:ext cx="1209751" cy="16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CONTRAST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8304581" y="3295351"/>
            <a:ext cx="3172054" cy="945386"/>
          </a:xfrm>
          <a:prstGeom prst="roundRect">
            <a:avLst>
              <a:gd name="adj" fmla="val 110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38"/>
          <p:cNvSpPr/>
          <p:nvPr/>
        </p:nvSpPr>
        <p:spPr>
          <a:xfrm>
            <a:off x="8304581" y="3295351"/>
            <a:ext cx="47549" cy="945386"/>
          </a:xfrm>
          <a:prstGeom prst="roundRect">
            <a:avLst>
              <a:gd name="adj" fmla="val 22624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9"/>
          <p:cNvSpPr txBox="1"/>
          <p:nvPr/>
        </p:nvSpPr>
        <p:spPr>
          <a:xfrm>
            <a:off x="8752637" y="3393659"/>
            <a:ext cx="2762402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가이드</a:t>
            </a:r>
            <a:endParaRPr lang="en-US" sz="1200" dirty="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8504835" y="3423965"/>
            <a:ext cx="171907" cy="123440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8504835" y="3608755"/>
            <a:ext cx="2895905" cy="36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"중요한 정보는 </a:t>
            </a:r>
            <a:r>
              <a:rPr lang="en-US" sz="12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색상으로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눈에 띄게 합니다."</a:t>
            </a:r>
            <a:endParaRPr lang="en-US" sz="1200" dirty="0"/>
          </a:p>
        </p:txBody>
      </p:sp>
      <p:sp>
        <p:nvSpPr>
          <p:cNvPr id="55" name="Text 41"/>
          <p:cNvSpPr txBox="1"/>
          <p:nvPr/>
        </p:nvSpPr>
        <p:spPr>
          <a:xfrm>
            <a:off x="8304581" y="4393003"/>
            <a:ext cx="3363163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실천</a:t>
            </a:r>
            <a:endParaRPr lang="en-US" sz="1200" dirty="0"/>
          </a:p>
        </p:txBody>
      </p:sp>
      <p:sp>
        <p:nvSpPr>
          <p:cNvPr id="56" name="Text 42"/>
          <p:cNvSpPr txBox="1"/>
          <p:nvPr/>
        </p:nvSpPr>
        <p:spPr>
          <a:xfrm>
            <a:off x="8304581" y="4624360"/>
            <a:ext cx="3248863" cy="36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내용을 강조하지 마세요.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키워드 1-2개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에만 강조색을 사용하세요.</a:t>
            </a:r>
            <a:endParaRPr lang="en-US" sz="1200" dirty="0"/>
          </a:p>
        </p:txBody>
      </p:sp>
      <p:sp>
        <p:nvSpPr>
          <p:cNvPr id="57" name="Shape 43"/>
          <p:cNvSpPr/>
          <p:nvPr/>
        </p:nvSpPr>
        <p:spPr>
          <a:xfrm>
            <a:off x="8304581" y="5309562"/>
            <a:ext cx="3172054" cy="816033"/>
          </a:xfrm>
          <a:prstGeom prst="roundRect">
            <a:avLst>
              <a:gd name="adj" fmla="val 1025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4"/>
          <p:cNvSpPr txBox="1"/>
          <p:nvPr/>
        </p:nvSpPr>
        <p:spPr>
          <a:xfrm>
            <a:off x="8466430" y="5416001"/>
            <a:ext cx="2962656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PRACTICAL EXAMPLE</a:t>
            </a:r>
            <a:endParaRPr lang="en-US" sz="1200" dirty="0"/>
          </a:p>
        </p:txBody>
      </p:sp>
      <p:sp>
        <p:nvSpPr>
          <p:cNvPr id="59" name="Text 45"/>
          <p:cNvSpPr txBox="1"/>
          <p:nvPr/>
        </p:nvSpPr>
        <p:spPr>
          <a:xfrm>
            <a:off x="8466430" y="5631096"/>
            <a:ext cx="3038551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텍스트가 검정색 (X)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8466430" y="5831409"/>
            <a:ext cx="3038551" cy="18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회색 중 </a:t>
            </a: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데이터</a:t>
            </a:r>
            <a:r>
              <a:rPr lang="en-US" sz="1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컬러 (O)</a:t>
            </a:r>
            <a:endParaRPr lang="en-US" sz="1200" dirty="0"/>
          </a:p>
        </p:txBody>
      </p:sp>
      <p:sp>
        <p:nvSpPr>
          <p:cNvPr id="6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38630" y="753985"/>
            <a:ext cx="59445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시각자료 작성 지침 (2/2)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918497" y="457200"/>
            <a:ext cx="1667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GUIDELINES</a:t>
            </a:r>
            <a:endParaRPr lang="en-US" sz="1200" dirty="0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305622F-93C6-FCF2-7ADD-1E8A22727DCA}"/>
              </a:ext>
            </a:extLst>
          </p:cNvPr>
          <p:cNvGrpSpPr/>
          <p:nvPr/>
        </p:nvGrpSpPr>
        <p:grpSpPr>
          <a:xfrm>
            <a:off x="629486" y="1580678"/>
            <a:ext cx="10972800" cy="4800600"/>
            <a:chOff x="609905" y="1228954"/>
            <a:chExt cx="10972800" cy="5171846"/>
          </a:xfrm>
        </p:grpSpPr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 l="-4" r="-4"/>
            <a:stretch/>
          </p:blipFill>
          <p:spPr>
            <a:xfrm>
              <a:off x="609905" y="1228954"/>
              <a:ext cx="3454603" cy="5171846"/>
            </a:xfrm>
            <a:prstGeom prst="rect">
              <a:avLst/>
            </a:prstGeom>
          </p:spPr>
        </p:pic>
        <p:sp>
          <p:nvSpPr>
            <p:cNvPr id="8" name="Shape 5"/>
            <p:cNvSpPr/>
            <p:nvPr/>
          </p:nvSpPr>
          <p:spPr>
            <a:xfrm>
              <a:off x="619049" y="1238098"/>
              <a:ext cx="3438144" cy="1723644"/>
            </a:xfrm>
            <a:prstGeom prst="roundRect">
              <a:avLst>
                <a:gd name="adj" fmla="val 5862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619049" y="2942539"/>
              <a:ext cx="3438144" cy="19202"/>
            </a:xfrm>
            <a:prstGeom prst="roundRect">
              <a:avLst>
                <a:gd name="adj" fmla="val 526188"/>
              </a:avLst>
            </a:prstGeom>
            <a:solidFill>
              <a:srgbClr val="FF6908">
                <a:alpha val="10000"/>
              </a:srgbClr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070202" y="1466698"/>
              <a:ext cx="533095" cy="533095"/>
            </a:xfrm>
            <a:prstGeom prst="rect">
              <a:avLst/>
            </a:prstGeom>
          </p:spPr>
        </p:pic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2203704" y="1600200"/>
              <a:ext cx="267005" cy="267005"/>
            </a:xfrm>
            <a:prstGeom prst="rect">
              <a:avLst/>
            </a:prstGeom>
          </p:spPr>
        </p:pic>
        <p:sp>
          <p:nvSpPr>
            <p:cNvPr id="12" name="Text 7"/>
            <p:cNvSpPr txBox="1"/>
            <p:nvPr/>
          </p:nvSpPr>
          <p:spPr>
            <a:xfrm>
              <a:off x="1587398" y="2115007"/>
              <a:ext cx="150601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KISS 원칙</a:t>
              </a:r>
              <a:endParaRPr lang="en-US" dirty="0"/>
            </a:p>
          </p:txBody>
        </p:sp>
        <p:sp>
          <p:nvSpPr>
            <p:cNvPr id="13" name="Text 8"/>
            <p:cNvSpPr txBox="1"/>
            <p:nvPr/>
          </p:nvSpPr>
          <p:spPr>
            <a:xfrm>
              <a:off x="1342339" y="2514600"/>
              <a:ext cx="199064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38" dirty="0">
                  <a:solidFill>
                    <a:srgbClr val="EA58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Keep It Short &amp; Simple</a:t>
              </a:r>
              <a:endParaRPr lang="en-US" sz="1000" dirty="0"/>
            </a:p>
          </p:txBody>
        </p:sp>
        <p:sp>
          <p:nvSpPr>
            <p:cNvPr id="14" name="Shape 9"/>
            <p:cNvSpPr/>
            <p:nvPr/>
          </p:nvSpPr>
          <p:spPr>
            <a:xfrm>
              <a:off x="847649" y="3191256"/>
              <a:ext cx="2980944" cy="1133856"/>
            </a:xfrm>
            <a:prstGeom prst="roundRect">
              <a:avLst>
                <a:gd name="adj" fmla="val 8132"/>
              </a:avLst>
            </a:prstGeom>
            <a:solidFill>
              <a:srgbClr val="F9FAF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0"/>
            <p:cNvSpPr/>
            <p:nvPr/>
          </p:nvSpPr>
          <p:spPr>
            <a:xfrm>
              <a:off x="847649" y="3191256"/>
              <a:ext cx="38405" cy="1133856"/>
            </a:xfrm>
            <a:prstGeom prst="roundRect">
              <a:avLst>
                <a:gd name="adj" fmla="val 240095"/>
              </a:avLst>
            </a:prstGeom>
            <a:solidFill>
              <a:srgbClr val="EF4444"/>
            </a:solidFill>
            <a:ln w="12700">
              <a:solidFill>
                <a:srgbClr val="EF444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1"/>
            <p:cNvSpPr txBox="1"/>
            <p:nvPr/>
          </p:nvSpPr>
          <p:spPr>
            <a:xfrm>
              <a:off x="1316736" y="3373222"/>
              <a:ext cx="25246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EF444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가이드</a:t>
              </a:r>
              <a:endParaRPr lang="en-US" sz="1200" dirty="0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rcRect l="-33" r="-33"/>
            <a:stretch/>
          </p:blipFill>
          <p:spPr>
            <a:xfrm>
              <a:off x="1068934" y="3411626"/>
              <a:ext cx="171907" cy="152705"/>
            </a:xfrm>
            <a:prstGeom prst="rect">
              <a:avLst/>
            </a:prstGeom>
          </p:spPr>
        </p:pic>
        <p:sp>
          <p:nvSpPr>
            <p:cNvPr id="18" name="Text 12"/>
            <p:cNvSpPr txBox="1"/>
            <p:nvPr/>
          </p:nvSpPr>
          <p:spPr>
            <a:xfrm>
              <a:off x="1068934" y="3678631"/>
              <a:ext cx="265816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불필요한 장식과 요소를 과감히 제거하여 핵심만 남깁니다.</a:t>
              </a:r>
              <a:endParaRPr lang="en-US" sz="1200" dirty="0"/>
            </a:p>
          </p:txBody>
        </p:sp>
        <p:sp>
          <p:nvSpPr>
            <p:cNvPr id="19" name="Text 13"/>
            <p:cNvSpPr txBox="1"/>
            <p:nvPr/>
          </p:nvSpPr>
          <p:spPr>
            <a:xfrm>
              <a:off x="1076249" y="4501591"/>
              <a:ext cx="29434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B556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구체적 실천</a:t>
              </a:r>
              <a:endParaRPr lang="en-US" sz="1200" dirty="0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47649" y="4539082"/>
              <a:ext cx="152705" cy="152705"/>
            </a:xfrm>
            <a:prstGeom prst="rect">
              <a:avLst/>
            </a:prstGeom>
          </p:spPr>
        </p:pic>
        <p:sp>
          <p:nvSpPr>
            <p:cNvPr id="21" name="Text 14"/>
            <p:cNvSpPr txBox="1"/>
            <p:nvPr/>
          </p:nvSpPr>
          <p:spPr>
            <a:xfrm>
              <a:off x="847649" y="4806086"/>
              <a:ext cx="305775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복잡한 배경, 과도한 애니메이션, 의미 </a:t>
              </a:r>
              <a:r>
                <a:rPr lang="en-US" sz="1200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없는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클립아트를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삭제하세요.</a:t>
              </a:r>
              <a:endParaRPr lang="en-US" sz="1200" dirty="0"/>
            </a:p>
          </p:txBody>
        </p:sp>
        <p:sp>
          <p:nvSpPr>
            <p:cNvPr id="22" name="Shape 15"/>
            <p:cNvSpPr/>
            <p:nvPr/>
          </p:nvSpPr>
          <p:spPr>
            <a:xfrm>
              <a:off x="847649" y="5446166"/>
              <a:ext cx="2980944" cy="933602"/>
            </a:xfrm>
            <a:prstGeom prst="roundRect">
              <a:avLst>
                <a:gd name="adj" fmla="val 11993"/>
              </a:avLst>
            </a:prstGeom>
            <a:solidFill>
              <a:srgbClr val="FFF3EB"/>
            </a:solidFill>
            <a:ln w="12700">
              <a:solidFill>
                <a:srgbClr val="FF690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16"/>
            <p:cNvSpPr txBox="1"/>
            <p:nvPr/>
          </p:nvSpPr>
          <p:spPr>
            <a:xfrm>
              <a:off x="972007" y="5569610"/>
              <a:ext cx="10671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REAL EXAMPLE</a:t>
              </a:r>
              <a:endParaRPr lang="en-US" sz="1000" dirty="0"/>
            </a:p>
          </p:txBody>
        </p:sp>
        <p:sp>
          <p:nvSpPr>
            <p:cNvPr id="24" name="Text 17"/>
            <p:cNvSpPr txBox="1"/>
            <p:nvPr/>
          </p:nvSpPr>
          <p:spPr>
            <a:xfrm>
              <a:off x="1160244" y="5814669"/>
              <a:ext cx="2695651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화려한 3D 차트 </a:t>
              </a:r>
              <a:r>
                <a:rPr lang="en-US" sz="1200" b="1" dirty="0" err="1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대신</a:t>
              </a:r>
              <a:r>
                <a:rPr lang="en-US" sz="1200" b="1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b="1" dirty="0" err="1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깔끔한</a:t>
              </a:r>
              <a:endPara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2D 플랫 디자인 사용</a:t>
              </a:r>
              <a:endParaRPr lang="en-US" sz="1200" dirty="0"/>
            </a:p>
          </p:txBody>
        </p:sp>
        <p:pic>
          <p:nvPicPr>
            <p:cNvPr id="25" name="Image 5" descr="preencoded.png"/>
            <p:cNvPicPr>
              <a:picLocks noChangeAspect="1"/>
            </p:cNvPicPr>
            <p:nvPr/>
          </p:nvPicPr>
          <p:blipFill>
            <a:blip r:embed="rId8"/>
            <a:srcRect t="-1100" b="-1100"/>
            <a:stretch/>
          </p:blipFill>
          <p:spPr>
            <a:xfrm>
              <a:off x="972007" y="5826557"/>
              <a:ext cx="114300" cy="133502"/>
            </a:xfrm>
            <a:prstGeom prst="rect">
              <a:avLst/>
            </a:prstGeom>
          </p:spPr>
        </p:pic>
        <p:pic>
          <p:nvPicPr>
            <p:cNvPr id="26" name="Image 6" descr="preencoded.png"/>
            <p:cNvPicPr>
              <a:picLocks noChangeAspect="1"/>
            </p:cNvPicPr>
            <p:nvPr/>
          </p:nvPicPr>
          <p:blipFill>
            <a:blip r:embed="rId3"/>
            <a:srcRect l="-4" r="-4"/>
            <a:stretch/>
          </p:blipFill>
          <p:spPr>
            <a:xfrm>
              <a:off x="4369003" y="1228954"/>
              <a:ext cx="3454603" cy="5171846"/>
            </a:xfrm>
            <a:prstGeom prst="rect">
              <a:avLst/>
            </a:prstGeom>
          </p:spPr>
        </p:pic>
        <p:sp>
          <p:nvSpPr>
            <p:cNvPr id="27" name="Shape 18"/>
            <p:cNvSpPr/>
            <p:nvPr/>
          </p:nvSpPr>
          <p:spPr>
            <a:xfrm>
              <a:off x="4378147" y="1238098"/>
              <a:ext cx="3438144" cy="1723644"/>
            </a:xfrm>
            <a:prstGeom prst="roundRect">
              <a:avLst>
                <a:gd name="adj" fmla="val 5862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19"/>
            <p:cNvSpPr/>
            <p:nvPr/>
          </p:nvSpPr>
          <p:spPr>
            <a:xfrm>
              <a:off x="4378147" y="2942539"/>
              <a:ext cx="3438144" cy="19202"/>
            </a:xfrm>
            <a:prstGeom prst="roundRect">
              <a:avLst>
                <a:gd name="adj" fmla="val 526188"/>
              </a:avLst>
            </a:prstGeom>
            <a:solidFill>
              <a:srgbClr val="FF6908">
                <a:alpha val="10000"/>
              </a:srgbClr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9" name="Image 7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829300" y="1466698"/>
              <a:ext cx="533095" cy="533095"/>
            </a:xfrm>
            <a:prstGeom prst="rect">
              <a:avLst/>
            </a:prstGeom>
          </p:spPr>
        </p:pic>
        <p:pic>
          <p:nvPicPr>
            <p:cNvPr id="30" name="Image 8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962802" y="1600200"/>
              <a:ext cx="267005" cy="267005"/>
            </a:xfrm>
            <a:prstGeom prst="rect">
              <a:avLst/>
            </a:prstGeom>
          </p:spPr>
        </p:pic>
        <p:sp>
          <p:nvSpPr>
            <p:cNvPr id="31" name="Text 20"/>
            <p:cNvSpPr txBox="1"/>
            <p:nvPr/>
          </p:nvSpPr>
          <p:spPr>
            <a:xfrm>
              <a:off x="4841748" y="2115007"/>
              <a:ext cx="251185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정보 과부하 방지</a:t>
              </a:r>
              <a:endParaRPr lang="en-US" dirty="0"/>
            </a:p>
          </p:txBody>
        </p:sp>
        <p:sp>
          <p:nvSpPr>
            <p:cNvPr id="32" name="Text 21"/>
            <p:cNvSpPr txBox="1"/>
            <p:nvPr/>
          </p:nvSpPr>
          <p:spPr>
            <a:xfrm>
              <a:off x="4919472" y="2514600"/>
              <a:ext cx="235915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38" dirty="0">
                  <a:solidFill>
                    <a:srgbClr val="EA58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Avoid Information Overload</a:t>
              </a:r>
              <a:endParaRPr lang="en-US" sz="1000" dirty="0"/>
            </a:p>
          </p:txBody>
        </p:sp>
        <p:sp>
          <p:nvSpPr>
            <p:cNvPr id="33" name="Shape 22"/>
            <p:cNvSpPr/>
            <p:nvPr/>
          </p:nvSpPr>
          <p:spPr>
            <a:xfrm>
              <a:off x="4606747" y="3191256"/>
              <a:ext cx="2980944" cy="1133856"/>
            </a:xfrm>
            <a:prstGeom prst="roundRect">
              <a:avLst>
                <a:gd name="adj" fmla="val 8132"/>
              </a:avLst>
            </a:prstGeom>
            <a:solidFill>
              <a:srgbClr val="F9FAF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23"/>
            <p:cNvSpPr/>
            <p:nvPr/>
          </p:nvSpPr>
          <p:spPr>
            <a:xfrm>
              <a:off x="4606747" y="3191256"/>
              <a:ext cx="38405" cy="1133856"/>
            </a:xfrm>
            <a:prstGeom prst="roundRect">
              <a:avLst>
                <a:gd name="adj" fmla="val 240095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24"/>
            <p:cNvSpPr txBox="1"/>
            <p:nvPr/>
          </p:nvSpPr>
          <p:spPr>
            <a:xfrm>
              <a:off x="5056632" y="3373222"/>
              <a:ext cx="25438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B82F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가이드</a:t>
              </a:r>
              <a:endParaRPr lang="en-US" sz="1200" dirty="0"/>
            </a:p>
          </p:txBody>
        </p:sp>
        <p:pic>
          <p:nvPicPr>
            <p:cNvPr id="36" name="Image 9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4828032" y="3411626"/>
              <a:ext cx="152705" cy="152705"/>
            </a:xfrm>
            <a:prstGeom prst="rect">
              <a:avLst/>
            </a:prstGeom>
          </p:spPr>
        </p:pic>
        <p:sp>
          <p:nvSpPr>
            <p:cNvPr id="37" name="Text 25"/>
            <p:cNvSpPr txBox="1"/>
            <p:nvPr/>
          </p:nvSpPr>
          <p:spPr>
            <a:xfrm>
              <a:off x="4828032" y="3678631"/>
              <a:ext cx="265816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청중이 한 번에 소화할 수 있는 정보량을 조절합니다.</a:t>
              </a:r>
              <a:endParaRPr lang="en-US" sz="1200" dirty="0"/>
            </a:p>
          </p:txBody>
        </p:sp>
        <p:sp>
          <p:nvSpPr>
            <p:cNvPr id="38" name="Text 26"/>
            <p:cNvSpPr txBox="1"/>
            <p:nvPr/>
          </p:nvSpPr>
          <p:spPr>
            <a:xfrm>
              <a:off x="4835347" y="4501591"/>
              <a:ext cx="29434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B556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구체적 실천</a:t>
              </a:r>
              <a:endParaRPr lang="en-US" sz="1200" dirty="0"/>
            </a:p>
          </p:txBody>
        </p:sp>
        <p:pic>
          <p:nvPicPr>
            <p:cNvPr id="39" name="Image 10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4606747" y="4539082"/>
              <a:ext cx="152705" cy="152705"/>
            </a:xfrm>
            <a:prstGeom prst="rect">
              <a:avLst/>
            </a:prstGeom>
          </p:spPr>
        </p:pic>
        <p:sp>
          <p:nvSpPr>
            <p:cNvPr id="40" name="Text 27"/>
            <p:cNvSpPr txBox="1"/>
            <p:nvPr/>
          </p:nvSpPr>
          <p:spPr>
            <a:xfrm>
              <a:off x="4606747" y="4806086"/>
              <a:ext cx="305775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슬라이드 당 텍스트는 5줄 이내, 핵심 </a:t>
              </a:r>
              <a:r>
                <a:rPr lang="en-US" sz="1200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키워드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위주로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요약하세요.</a:t>
              </a:r>
              <a:endParaRPr lang="en-US" sz="1200" dirty="0"/>
            </a:p>
          </p:txBody>
        </p:sp>
        <p:sp>
          <p:nvSpPr>
            <p:cNvPr id="41" name="Shape 28"/>
            <p:cNvSpPr/>
            <p:nvPr/>
          </p:nvSpPr>
          <p:spPr>
            <a:xfrm>
              <a:off x="4606747" y="5446166"/>
              <a:ext cx="2980944" cy="933602"/>
            </a:xfrm>
            <a:prstGeom prst="roundRect">
              <a:avLst>
                <a:gd name="adj" fmla="val 11993"/>
              </a:avLst>
            </a:prstGeom>
            <a:solidFill>
              <a:srgbClr val="FFF3EB"/>
            </a:solidFill>
            <a:ln w="12700">
              <a:solidFill>
                <a:srgbClr val="FF690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29"/>
            <p:cNvSpPr txBox="1"/>
            <p:nvPr/>
          </p:nvSpPr>
          <p:spPr>
            <a:xfrm>
              <a:off x="4731106" y="5569610"/>
              <a:ext cx="10671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REAL EXAMPLE</a:t>
              </a:r>
              <a:endParaRPr lang="en-US" sz="1000" dirty="0"/>
            </a:p>
          </p:txBody>
        </p:sp>
        <p:sp>
          <p:nvSpPr>
            <p:cNvPr id="43" name="Text 30"/>
            <p:cNvSpPr txBox="1"/>
            <p:nvPr/>
          </p:nvSpPr>
          <p:spPr>
            <a:xfrm>
              <a:off x="4904384" y="5795197"/>
              <a:ext cx="2695651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세부 데이터 표는 부록으로 빼고, </a:t>
              </a:r>
            </a:p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</a:t>
              </a:r>
              <a:r>
                <a:rPr lang="en-US" sz="1200" b="1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수치만 강조</a:t>
              </a:r>
              <a:endParaRPr lang="en-US" sz="1200" dirty="0"/>
            </a:p>
          </p:txBody>
        </p:sp>
        <p:pic>
          <p:nvPicPr>
            <p:cNvPr id="44" name="Image 11" descr="preencoded.png"/>
            <p:cNvPicPr>
              <a:picLocks noChangeAspect="1"/>
            </p:cNvPicPr>
            <p:nvPr/>
          </p:nvPicPr>
          <p:blipFill>
            <a:blip r:embed="rId8"/>
            <a:srcRect t="-1100" b="-1100"/>
            <a:stretch/>
          </p:blipFill>
          <p:spPr>
            <a:xfrm>
              <a:off x="4731106" y="5826557"/>
              <a:ext cx="114300" cy="133502"/>
            </a:xfrm>
            <a:prstGeom prst="rect">
              <a:avLst/>
            </a:prstGeom>
          </p:spPr>
        </p:pic>
        <p:pic>
          <p:nvPicPr>
            <p:cNvPr id="45" name="Image 12" descr="preencoded.png"/>
            <p:cNvPicPr>
              <a:picLocks noChangeAspect="1"/>
            </p:cNvPicPr>
            <p:nvPr/>
          </p:nvPicPr>
          <p:blipFill>
            <a:blip r:embed="rId3"/>
            <a:srcRect l="-4" r="-4"/>
            <a:stretch/>
          </p:blipFill>
          <p:spPr>
            <a:xfrm>
              <a:off x="8128102" y="1228954"/>
              <a:ext cx="3454603" cy="5171846"/>
            </a:xfrm>
            <a:prstGeom prst="rect">
              <a:avLst/>
            </a:prstGeom>
          </p:spPr>
        </p:pic>
        <p:sp>
          <p:nvSpPr>
            <p:cNvPr id="46" name="Shape 31"/>
            <p:cNvSpPr/>
            <p:nvPr/>
          </p:nvSpPr>
          <p:spPr>
            <a:xfrm>
              <a:off x="8137246" y="1238098"/>
              <a:ext cx="3438144" cy="1723644"/>
            </a:xfrm>
            <a:prstGeom prst="roundRect">
              <a:avLst>
                <a:gd name="adj" fmla="val 5862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Shape 32"/>
            <p:cNvSpPr/>
            <p:nvPr/>
          </p:nvSpPr>
          <p:spPr>
            <a:xfrm>
              <a:off x="8137246" y="2942539"/>
              <a:ext cx="3438144" cy="19202"/>
            </a:xfrm>
            <a:prstGeom prst="roundRect">
              <a:avLst>
                <a:gd name="adj" fmla="val 526188"/>
              </a:avLst>
            </a:prstGeom>
            <a:solidFill>
              <a:srgbClr val="FF6908">
                <a:alpha val="10000"/>
              </a:srgbClr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8" name="Image 1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588398" y="1466698"/>
              <a:ext cx="533095" cy="533095"/>
            </a:xfrm>
            <a:prstGeom prst="rect">
              <a:avLst/>
            </a:prstGeom>
          </p:spPr>
        </p:pic>
        <p:pic>
          <p:nvPicPr>
            <p:cNvPr id="49" name="Image 14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9721901" y="1600200"/>
              <a:ext cx="267005" cy="267005"/>
            </a:xfrm>
            <a:prstGeom prst="rect">
              <a:avLst/>
            </a:prstGeom>
          </p:spPr>
        </p:pic>
        <p:sp>
          <p:nvSpPr>
            <p:cNvPr id="50" name="Text 33"/>
            <p:cNvSpPr txBox="1"/>
            <p:nvPr/>
          </p:nvSpPr>
          <p:spPr>
            <a:xfrm>
              <a:off x="9083650" y="2115007"/>
              <a:ext cx="15435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스토리텔링</a:t>
              </a:r>
              <a:endParaRPr lang="en-US" dirty="0"/>
            </a:p>
          </p:txBody>
        </p:sp>
        <p:sp>
          <p:nvSpPr>
            <p:cNvPr id="51" name="Text 34"/>
            <p:cNvSpPr txBox="1"/>
            <p:nvPr/>
          </p:nvSpPr>
          <p:spPr>
            <a:xfrm>
              <a:off x="8995867" y="2514600"/>
              <a:ext cx="171998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38" dirty="0">
                  <a:solidFill>
                    <a:srgbClr val="EA58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Visual Storytelling</a:t>
              </a:r>
              <a:endParaRPr lang="en-US" sz="1000" dirty="0"/>
            </a:p>
          </p:txBody>
        </p:sp>
        <p:sp>
          <p:nvSpPr>
            <p:cNvPr id="52" name="Shape 35"/>
            <p:cNvSpPr/>
            <p:nvPr/>
          </p:nvSpPr>
          <p:spPr>
            <a:xfrm>
              <a:off x="8365846" y="3191256"/>
              <a:ext cx="2980944" cy="1133856"/>
            </a:xfrm>
            <a:prstGeom prst="roundRect">
              <a:avLst>
                <a:gd name="adj" fmla="val 8132"/>
              </a:avLst>
            </a:prstGeom>
            <a:solidFill>
              <a:srgbClr val="F9FAF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Shape 36"/>
            <p:cNvSpPr/>
            <p:nvPr/>
          </p:nvSpPr>
          <p:spPr>
            <a:xfrm>
              <a:off x="8365846" y="3191256"/>
              <a:ext cx="38405" cy="1133856"/>
            </a:xfrm>
            <a:prstGeom prst="roundRect">
              <a:avLst>
                <a:gd name="adj" fmla="val 240095"/>
              </a:avLst>
            </a:prstGeom>
            <a:solidFill>
              <a:srgbClr val="10B981"/>
            </a:solidFill>
            <a:ln w="12700">
              <a:solidFill>
                <a:srgbClr val="10B98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37"/>
            <p:cNvSpPr txBox="1"/>
            <p:nvPr/>
          </p:nvSpPr>
          <p:spPr>
            <a:xfrm>
              <a:off x="8815730" y="3373222"/>
              <a:ext cx="25438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가이드</a:t>
              </a:r>
              <a:endParaRPr lang="en-US" sz="1200" dirty="0"/>
            </a:p>
          </p:txBody>
        </p:sp>
        <p:pic>
          <p:nvPicPr>
            <p:cNvPr id="55" name="Image 15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587130" y="3411626"/>
              <a:ext cx="152705" cy="152705"/>
            </a:xfrm>
            <a:prstGeom prst="rect">
              <a:avLst/>
            </a:prstGeom>
          </p:spPr>
        </p:pic>
        <p:sp>
          <p:nvSpPr>
            <p:cNvPr id="56" name="Text 38"/>
            <p:cNvSpPr txBox="1"/>
            <p:nvPr/>
          </p:nvSpPr>
          <p:spPr>
            <a:xfrm>
              <a:off x="8587130" y="3678631"/>
              <a:ext cx="265816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나열이 아닌, 이야기의 흐름을 시각화합니다.</a:t>
              </a:r>
              <a:endParaRPr lang="en-US" sz="1200" dirty="0"/>
            </a:p>
          </p:txBody>
        </p:sp>
        <p:sp>
          <p:nvSpPr>
            <p:cNvPr id="57" name="Text 39"/>
            <p:cNvSpPr txBox="1"/>
            <p:nvPr/>
          </p:nvSpPr>
          <p:spPr>
            <a:xfrm>
              <a:off x="8594446" y="4501591"/>
              <a:ext cx="29434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B556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구체적 실천</a:t>
              </a:r>
              <a:endParaRPr lang="en-US" sz="1200" dirty="0"/>
            </a:p>
          </p:txBody>
        </p:sp>
        <p:pic>
          <p:nvPicPr>
            <p:cNvPr id="58" name="Image 16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365846" y="4539082"/>
              <a:ext cx="152705" cy="152705"/>
            </a:xfrm>
            <a:prstGeom prst="rect">
              <a:avLst/>
            </a:prstGeom>
          </p:spPr>
        </p:pic>
        <p:sp>
          <p:nvSpPr>
            <p:cNvPr id="59" name="Text 40"/>
            <p:cNvSpPr txBox="1"/>
            <p:nvPr/>
          </p:nvSpPr>
          <p:spPr>
            <a:xfrm>
              <a:off x="8365846" y="4806086"/>
              <a:ext cx="305775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문제(도입) → 해결(전개) → 효과(결말)의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흐름으로</a:t>
              </a: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배치하세요.</a:t>
              </a:r>
              <a:endParaRPr lang="en-US" sz="1200" dirty="0"/>
            </a:p>
          </p:txBody>
        </p:sp>
        <p:sp>
          <p:nvSpPr>
            <p:cNvPr id="60" name="Shape 41"/>
            <p:cNvSpPr/>
            <p:nvPr/>
          </p:nvSpPr>
          <p:spPr>
            <a:xfrm>
              <a:off x="8365846" y="5446166"/>
              <a:ext cx="2980944" cy="933602"/>
            </a:xfrm>
            <a:prstGeom prst="roundRect">
              <a:avLst>
                <a:gd name="adj" fmla="val 11993"/>
              </a:avLst>
            </a:prstGeom>
            <a:solidFill>
              <a:srgbClr val="FFF3EB"/>
            </a:solidFill>
            <a:ln w="12700">
              <a:solidFill>
                <a:srgbClr val="FF690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42"/>
            <p:cNvSpPr txBox="1"/>
            <p:nvPr/>
          </p:nvSpPr>
          <p:spPr>
            <a:xfrm>
              <a:off x="8490204" y="5569610"/>
              <a:ext cx="10671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REAL EXAMPLE</a:t>
              </a:r>
              <a:endParaRPr lang="en-US" sz="1000" dirty="0"/>
            </a:p>
          </p:txBody>
        </p:sp>
        <p:sp>
          <p:nvSpPr>
            <p:cNvPr id="62" name="Text 43"/>
            <p:cNvSpPr txBox="1"/>
            <p:nvPr/>
          </p:nvSpPr>
          <p:spPr>
            <a:xfrm>
              <a:off x="8718347" y="5814669"/>
              <a:ext cx="2695651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"Before &amp; After" 비교 </a:t>
              </a:r>
              <a:r>
                <a:rPr lang="en-US" sz="1200" b="1" dirty="0" err="1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이미지로</a:t>
              </a:r>
              <a:r>
                <a:rPr lang="en-US" sz="1200" b="1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변화</a:t>
              </a:r>
              <a:r>
                <a:rPr lang="en-US" sz="1200" b="1" dirty="0">
                  <a:solidFill>
                    <a:srgbClr val="9A341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과정을 강조</a:t>
              </a:r>
              <a:endParaRPr lang="en-US" sz="1200" dirty="0"/>
            </a:p>
          </p:txBody>
        </p:sp>
        <p:pic>
          <p:nvPicPr>
            <p:cNvPr id="63" name="Image 17" descr="preencoded.png"/>
            <p:cNvPicPr>
              <a:picLocks noChangeAspect="1"/>
            </p:cNvPicPr>
            <p:nvPr/>
          </p:nvPicPr>
          <p:blipFill>
            <a:blip r:embed="rId8"/>
            <a:srcRect t="-1100" b="-1100"/>
            <a:stretch/>
          </p:blipFill>
          <p:spPr>
            <a:xfrm>
              <a:off x="8490204" y="5826557"/>
              <a:ext cx="114300" cy="133502"/>
            </a:xfrm>
            <a:prstGeom prst="rect">
              <a:avLst/>
            </a:prstGeom>
          </p:spPr>
        </p:pic>
      </p:grpSp>
      <p:sp>
        <p:nvSpPr>
          <p:cNvPr id="6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91152" y="838215"/>
            <a:ext cx="6700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효과적인 질문 처리 6단계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612173" y="381305"/>
            <a:ext cx="20509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HANDLING PROCESS</a:t>
            </a:r>
            <a:endParaRPr lang="en-US" sz="1200" dirty="0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2A640A2-E0E2-D07A-8BE0-743D553E6AE5}"/>
              </a:ext>
            </a:extLst>
          </p:cNvPr>
          <p:cNvGrpSpPr/>
          <p:nvPr/>
        </p:nvGrpSpPr>
        <p:grpSpPr>
          <a:xfrm>
            <a:off x="800463" y="1837270"/>
            <a:ext cx="10893247" cy="4363096"/>
            <a:chOff x="533095" y="1152144"/>
            <a:chExt cx="11288268" cy="5330038"/>
          </a:xfrm>
        </p:grpSpPr>
        <p:sp>
          <p:nvSpPr>
            <p:cNvPr id="7" name="Shape 5"/>
            <p:cNvSpPr/>
            <p:nvPr/>
          </p:nvSpPr>
          <p:spPr>
            <a:xfrm>
              <a:off x="533095" y="1152144"/>
              <a:ext cx="3562502" cy="2553005"/>
            </a:xfrm>
            <a:prstGeom prst="roundRect">
              <a:avLst>
                <a:gd name="adj" fmla="val 2673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771754" y="1390802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935431" y="1429207"/>
              <a:ext cx="22860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21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399946" y="1471270"/>
              <a:ext cx="2022653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다가가서 주목</a:t>
              </a:r>
              <a:endParaRPr lang="en-US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771754" y="2018995"/>
              <a:ext cx="3086100" cy="1086307"/>
            </a:xfrm>
            <a:prstGeom prst="roundRect">
              <a:avLst>
                <a:gd name="adj" fmla="val 886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771754" y="2018995"/>
              <a:ext cx="38405" cy="1086307"/>
            </a:xfrm>
            <a:prstGeom prst="roundRect">
              <a:avLst>
                <a:gd name="adj" fmla="val 250625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961949" y="2328977"/>
              <a:ext cx="282001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질문자에게 </a:t>
              </a:r>
              <a:r>
                <a:rPr lang="en-US" sz="1200" b="1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다가가</a:t>
              </a: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1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경청의</a:t>
              </a: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자세를 취합니다.</a:t>
              </a:r>
              <a:endParaRPr lang="en-US" sz="12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1012538" y="3248863"/>
              <a:ext cx="3124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아이컨택과 열린 제스처 유지</a:t>
              </a:r>
              <a:endParaRPr lang="en-US" sz="1200" dirty="0"/>
            </a:p>
          </p:txBody>
        </p:sp>
        <p:pic>
          <p:nvPicPr>
            <p:cNvPr id="15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71754" y="3248863"/>
              <a:ext cx="152705" cy="152705"/>
            </a:xfrm>
            <a:prstGeom prst="rect">
              <a:avLst/>
            </a:prstGeom>
          </p:spPr>
        </p:pic>
        <p:sp>
          <p:nvSpPr>
            <p:cNvPr id="16" name="Shape 13"/>
            <p:cNvSpPr/>
            <p:nvPr/>
          </p:nvSpPr>
          <p:spPr>
            <a:xfrm>
              <a:off x="4317797" y="1152144"/>
              <a:ext cx="3562502" cy="2553005"/>
            </a:xfrm>
            <a:prstGeom prst="roundRect">
              <a:avLst>
                <a:gd name="adj" fmla="val 2673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4556455" y="1390802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4720133" y="1429207"/>
              <a:ext cx="22860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2100" dirty="0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5184648" y="1471270"/>
              <a:ext cx="1716329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칭찬과 공감</a:t>
              </a:r>
              <a:endParaRPr lang="en-US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4556455" y="2018995"/>
              <a:ext cx="3086100" cy="1086307"/>
            </a:xfrm>
            <a:prstGeom prst="roundRect">
              <a:avLst>
                <a:gd name="adj" fmla="val 886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8"/>
            <p:cNvSpPr/>
            <p:nvPr/>
          </p:nvSpPr>
          <p:spPr>
            <a:xfrm>
              <a:off x="4556455" y="2018995"/>
              <a:ext cx="38405" cy="1086307"/>
            </a:xfrm>
            <a:prstGeom prst="roundRect">
              <a:avLst>
                <a:gd name="adj" fmla="val 250625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4746650" y="2328977"/>
              <a:ext cx="282001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질문의 가치를 인정하고 감사를 표시합니다.</a:t>
              </a:r>
              <a:endParaRPr lang="en-US" sz="1200" dirty="0"/>
            </a:p>
          </p:txBody>
        </p:sp>
        <p:sp>
          <p:nvSpPr>
            <p:cNvPr id="23" name="Text 20"/>
            <p:cNvSpPr txBox="1"/>
            <p:nvPr/>
          </p:nvSpPr>
          <p:spPr>
            <a:xfrm>
              <a:off x="4797240" y="3248863"/>
              <a:ext cx="3124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"핵심을 찌르는 좋은 질문입니다"</a:t>
              </a:r>
              <a:endParaRPr lang="en-US" sz="1200" dirty="0"/>
            </a:p>
          </p:txBody>
        </p:sp>
        <p:pic>
          <p:nvPicPr>
            <p:cNvPr id="24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556455" y="3248863"/>
              <a:ext cx="152705" cy="152705"/>
            </a:xfrm>
            <a:prstGeom prst="rect">
              <a:avLst/>
            </a:prstGeom>
          </p:spPr>
        </p:pic>
        <p:sp>
          <p:nvSpPr>
            <p:cNvPr id="25" name="Shape 21"/>
            <p:cNvSpPr/>
            <p:nvPr/>
          </p:nvSpPr>
          <p:spPr>
            <a:xfrm>
              <a:off x="8102498" y="1152144"/>
              <a:ext cx="3562502" cy="2553005"/>
            </a:xfrm>
            <a:prstGeom prst="roundRect">
              <a:avLst>
                <a:gd name="adj" fmla="val 2673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2"/>
            <p:cNvSpPr/>
            <p:nvPr/>
          </p:nvSpPr>
          <p:spPr>
            <a:xfrm>
              <a:off x="8340242" y="1390802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3"/>
            <p:cNvSpPr txBox="1"/>
            <p:nvPr/>
          </p:nvSpPr>
          <p:spPr>
            <a:xfrm>
              <a:off x="8504834" y="1429207"/>
              <a:ext cx="22860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2100" dirty="0"/>
            </a:p>
          </p:txBody>
        </p:sp>
        <p:sp>
          <p:nvSpPr>
            <p:cNvPr id="28" name="Text 24"/>
            <p:cNvSpPr txBox="1"/>
            <p:nvPr/>
          </p:nvSpPr>
          <p:spPr>
            <a:xfrm>
              <a:off x="8969350" y="1471270"/>
              <a:ext cx="1410005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질문 반복</a:t>
              </a:r>
              <a:endParaRPr lang="en-US" dirty="0"/>
            </a:p>
          </p:txBody>
        </p:sp>
        <p:sp>
          <p:nvSpPr>
            <p:cNvPr id="29" name="Shape 25"/>
            <p:cNvSpPr/>
            <p:nvPr/>
          </p:nvSpPr>
          <p:spPr>
            <a:xfrm>
              <a:off x="8340242" y="2018995"/>
              <a:ext cx="3086100" cy="1086307"/>
            </a:xfrm>
            <a:prstGeom prst="roundRect">
              <a:avLst>
                <a:gd name="adj" fmla="val 886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Shape 26"/>
            <p:cNvSpPr/>
            <p:nvPr/>
          </p:nvSpPr>
          <p:spPr>
            <a:xfrm>
              <a:off x="8340242" y="2018995"/>
              <a:ext cx="38405" cy="1086307"/>
            </a:xfrm>
            <a:prstGeom prst="roundRect">
              <a:avLst>
                <a:gd name="adj" fmla="val 250625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7"/>
            <p:cNvSpPr txBox="1"/>
            <p:nvPr/>
          </p:nvSpPr>
          <p:spPr>
            <a:xfrm>
              <a:off x="8531352" y="2328977"/>
              <a:ext cx="282001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전체 청중이 들을 수 </a:t>
              </a:r>
              <a:r>
                <a:rPr lang="en-US" sz="1200" b="1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있도록</a:t>
              </a:r>
              <a:endPara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내용을 공유합니다.</a:t>
              </a:r>
              <a:endParaRPr lang="en-US" sz="1200" dirty="0"/>
            </a:p>
          </p:txBody>
        </p:sp>
        <p:sp>
          <p:nvSpPr>
            <p:cNvPr id="32" name="Text 28"/>
            <p:cNvSpPr txBox="1"/>
            <p:nvPr/>
          </p:nvSpPr>
          <p:spPr>
            <a:xfrm>
              <a:off x="8581027" y="3248863"/>
              <a:ext cx="3124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소외되는 청중이 없도록 배려</a:t>
              </a:r>
              <a:endParaRPr lang="en-US" sz="1200" dirty="0"/>
            </a:p>
          </p:txBody>
        </p:sp>
        <p:pic>
          <p:nvPicPr>
            <p:cNvPr id="33" name="Image 2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340242" y="3248863"/>
              <a:ext cx="152705" cy="152705"/>
            </a:xfrm>
            <a:prstGeom prst="rect">
              <a:avLst/>
            </a:prstGeom>
          </p:spPr>
        </p:pic>
        <p:sp>
          <p:nvSpPr>
            <p:cNvPr id="34" name="Shape 29"/>
            <p:cNvSpPr/>
            <p:nvPr/>
          </p:nvSpPr>
          <p:spPr>
            <a:xfrm>
              <a:off x="533095" y="3929177"/>
              <a:ext cx="3562502" cy="2553005"/>
            </a:xfrm>
            <a:prstGeom prst="roundRect">
              <a:avLst>
                <a:gd name="adj" fmla="val 2673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0"/>
            <p:cNvSpPr/>
            <p:nvPr/>
          </p:nvSpPr>
          <p:spPr>
            <a:xfrm>
              <a:off x="771754" y="4166921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1"/>
            <p:cNvSpPr txBox="1"/>
            <p:nvPr/>
          </p:nvSpPr>
          <p:spPr>
            <a:xfrm>
              <a:off x="935431" y="4205326"/>
              <a:ext cx="22860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2100" dirty="0"/>
            </a:p>
          </p:txBody>
        </p:sp>
        <p:sp>
          <p:nvSpPr>
            <p:cNvPr id="37" name="Text 32"/>
            <p:cNvSpPr txBox="1"/>
            <p:nvPr/>
          </p:nvSpPr>
          <p:spPr>
            <a:xfrm>
              <a:off x="1399946" y="4248302"/>
              <a:ext cx="1716329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맞는지 확인</a:t>
              </a:r>
              <a:endParaRPr lang="en-US" dirty="0"/>
            </a:p>
          </p:txBody>
        </p:sp>
        <p:sp>
          <p:nvSpPr>
            <p:cNvPr id="38" name="Shape 33"/>
            <p:cNvSpPr/>
            <p:nvPr/>
          </p:nvSpPr>
          <p:spPr>
            <a:xfrm>
              <a:off x="771754" y="4796028"/>
              <a:ext cx="3086100" cy="1086307"/>
            </a:xfrm>
            <a:prstGeom prst="roundRect">
              <a:avLst>
                <a:gd name="adj" fmla="val 886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Shape 34"/>
            <p:cNvSpPr/>
            <p:nvPr/>
          </p:nvSpPr>
          <p:spPr>
            <a:xfrm>
              <a:off x="771754" y="4796028"/>
              <a:ext cx="38405" cy="1086307"/>
            </a:xfrm>
            <a:prstGeom prst="roundRect">
              <a:avLst>
                <a:gd name="adj" fmla="val 250625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5"/>
            <p:cNvSpPr txBox="1"/>
            <p:nvPr/>
          </p:nvSpPr>
          <p:spPr>
            <a:xfrm>
              <a:off x="961949" y="5220310"/>
              <a:ext cx="28291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질문의 의도가 맞는지 재확인합니다.</a:t>
              </a:r>
              <a:endParaRPr lang="en-US" sz="1200" dirty="0"/>
            </a:p>
          </p:txBody>
        </p:sp>
        <p:sp>
          <p:nvSpPr>
            <p:cNvPr id="41" name="Text 36"/>
            <p:cNvSpPr txBox="1"/>
            <p:nvPr/>
          </p:nvSpPr>
          <p:spPr>
            <a:xfrm>
              <a:off x="1012538" y="6025896"/>
              <a:ext cx="3124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"~라는 말씀이 맞습니까?"</a:t>
              </a:r>
              <a:endParaRPr lang="en-US" sz="1200" dirty="0"/>
            </a:p>
          </p:txBody>
        </p:sp>
        <p:pic>
          <p:nvPicPr>
            <p:cNvPr id="42" name="Image 3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71754" y="6025896"/>
              <a:ext cx="152705" cy="152705"/>
            </a:xfrm>
            <a:prstGeom prst="rect">
              <a:avLst/>
            </a:prstGeom>
          </p:spPr>
        </p:pic>
        <p:sp>
          <p:nvSpPr>
            <p:cNvPr id="43" name="Shape 37"/>
            <p:cNvSpPr/>
            <p:nvPr/>
          </p:nvSpPr>
          <p:spPr>
            <a:xfrm>
              <a:off x="4317797" y="3929177"/>
              <a:ext cx="3562502" cy="2553005"/>
            </a:xfrm>
            <a:prstGeom prst="roundRect">
              <a:avLst>
                <a:gd name="adj" fmla="val 2673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38"/>
            <p:cNvSpPr/>
            <p:nvPr/>
          </p:nvSpPr>
          <p:spPr>
            <a:xfrm>
              <a:off x="4556455" y="4166921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39"/>
            <p:cNvSpPr txBox="1"/>
            <p:nvPr/>
          </p:nvSpPr>
          <p:spPr>
            <a:xfrm>
              <a:off x="4720133" y="4205326"/>
              <a:ext cx="22860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2100" dirty="0"/>
            </a:p>
          </p:txBody>
        </p:sp>
        <p:sp>
          <p:nvSpPr>
            <p:cNvPr id="46" name="Text 40"/>
            <p:cNvSpPr txBox="1"/>
            <p:nvPr/>
          </p:nvSpPr>
          <p:spPr>
            <a:xfrm>
              <a:off x="5184648" y="4248302"/>
              <a:ext cx="1716329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명확한 답변</a:t>
              </a:r>
              <a:endParaRPr lang="en-US" dirty="0"/>
            </a:p>
          </p:txBody>
        </p:sp>
        <p:sp>
          <p:nvSpPr>
            <p:cNvPr id="47" name="Shape 41"/>
            <p:cNvSpPr/>
            <p:nvPr/>
          </p:nvSpPr>
          <p:spPr>
            <a:xfrm>
              <a:off x="4556455" y="4796028"/>
              <a:ext cx="3086100" cy="1086307"/>
            </a:xfrm>
            <a:prstGeom prst="roundRect">
              <a:avLst>
                <a:gd name="adj" fmla="val 886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Shape 42"/>
            <p:cNvSpPr/>
            <p:nvPr/>
          </p:nvSpPr>
          <p:spPr>
            <a:xfrm>
              <a:off x="4556455" y="4796028"/>
              <a:ext cx="38405" cy="1086307"/>
            </a:xfrm>
            <a:prstGeom prst="roundRect">
              <a:avLst>
                <a:gd name="adj" fmla="val 250625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3"/>
            <p:cNvSpPr txBox="1"/>
            <p:nvPr/>
          </p:nvSpPr>
          <p:spPr>
            <a:xfrm>
              <a:off x="4746650" y="5106010"/>
              <a:ext cx="282001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간결하고 </a:t>
              </a:r>
              <a:r>
                <a:rPr lang="en-US" sz="1200" b="1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명확하게</a:t>
              </a: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1" dirty="0" err="1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</a:t>
              </a: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결론부터 답변합니다.</a:t>
              </a:r>
              <a:endParaRPr lang="en-US" sz="1200" dirty="0"/>
            </a:p>
          </p:txBody>
        </p:sp>
        <p:sp>
          <p:nvSpPr>
            <p:cNvPr id="50" name="Text 44"/>
            <p:cNvSpPr txBox="1"/>
            <p:nvPr/>
          </p:nvSpPr>
          <p:spPr>
            <a:xfrm>
              <a:off x="4797240" y="6025896"/>
              <a:ext cx="304769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전체 청중을 보며 설명 (70%)</a:t>
              </a:r>
              <a:endParaRPr lang="en-US" sz="1200" dirty="0"/>
            </a:p>
          </p:txBody>
        </p:sp>
        <p:pic>
          <p:nvPicPr>
            <p:cNvPr id="51" name="Image 4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556455" y="6025896"/>
              <a:ext cx="152705" cy="152705"/>
            </a:xfrm>
            <a:prstGeom prst="rect">
              <a:avLst/>
            </a:prstGeom>
          </p:spPr>
        </p:pic>
        <p:sp>
          <p:nvSpPr>
            <p:cNvPr id="52" name="Shape 45"/>
            <p:cNvSpPr/>
            <p:nvPr/>
          </p:nvSpPr>
          <p:spPr>
            <a:xfrm>
              <a:off x="8102498" y="3929177"/>
              <a:ext cx="3562502" cy="2553005"/>
            </a:xfrm>
            <a:prstGeom prst="roundRect">
              <a:avLst>
                <a:gd name="adj" fmla="val 2673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Shape 46"/>
            <p:cNvSpPr/>
            <p:nvPr/>
          </p:nvSpPr>
          <p:spPr>
            <a:xfrm>
              <a:off x="8340242" y="4166921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47"/>
            <p:cNvSpPr txBox="1"/>
            <p:nvPr/>
          </p:nvSpPr>
          <p:spPr>
            <a:xfrm>
              <a:off x="8504834" y="4205326"/>
              <a:ext cx="22860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6</a:t>
              </a:r>
              <a:endParaRPr lang="en-US" sz="2100" dirty="0"/>
            </a:p>
          </p:txBody>
        </p:sp>
        <p:sp>
          <p:nvSpPr>
            <p:cNvPr id="55" name="Text 48"/>
            <p:cNvSpPr txBox="1"/>
            <p:nvPr/>
          </p:nvSpPr>
          <p:spPr>
            <a:xfrm>
              <a:off x="8969350" y="4248302"/>
              <a:ext cx="1410005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만족 확인</a:t>
              </a:r>
              <a:endParaRPr lang="en-US" dirty="0"/>
            </a:p>
          </p:txBody>
        </p:sp>
        <p:sp>
          <p:nvSpPr>
            <p:cNvPr id="56" name="Shape 49"/>
            <p:cNvSpPr/>
            <p:nvPr/>
          </p:nvSpPr>
          <p:spPr>
            <a:xfrm>
              <a:off x="8340242" y="4796028"/>
              <a:ext cx="3086100" cy="1086307"/>
            </a:xfrm>
            <a:prstGeom prst="roundRect">
              <a:avLst>
                <a:gd name="adj" fmla="val 8861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Shape 50"/>
            <p:cNvSpPr/>
            <p:nvPr/>
          </p:nvSpPr>
          <p:spPr>
            <a:xfrm>
              <a:off x="8340242" y="4796028"/>
              <a:ext cx="38405" cy="1086307"/>
            </a:xfrm>
            <a:prstGeom prst="roundRect">
              <a:avLst>
                <a:gd name="adj" fmla="val 250625"/>
              </a:avLst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51"/>
            <p:cNvSpPr txBox="1"/>
            <p:nvPr/>
          </p:nvSpPr>
          <p:spPr>
            <a:xfrm>
              <a:off x="8531352" y="5220310"/>
              <a:ext cx="329001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답변이 충분했는지 확인하고 마무리합니다.</a:t>
              </a:r>
              <a:endParaRPr lang="en-US" sz="1200" dirty="0"/>
            </a:p>
          </p:txBody>
        </p:sp>
        <p:sp>
          <p:nvSpPr>
            <p:cNvPr id="59" name="Text 52"/>
            <p:cNvSpPr txBox="1"/>
            <p:nvPr/>
          </p:nvSpPr>
          <p:spPr>
            <a:xfrm>
              <a:off x="8581027" y="6025896"/>
              <a:ext cx="3124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"충분한 답변이 되었나요?"</a:t>
              </a:r>
              <a:endParaRPr lang="en-US" sz="1200" dirty="0"/>
            </a:p>
          </p:txBody>
        </p:sp>
        <p:pic>
          <p:nvPicPr>
            <p:cNvPr id="60" name="Image 5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340242" y="6025896"/>
              <a:ext cx="152705" cy="152705"/>
            </a:xfrm>
            <a:prstGeom prst="rect">
              <a:avLst/>
            </a:prstGeom>
          </p:spPr>
        </p:pic>
      </p:grpSp>
      <p:sp>
        <p:nvSpPr>
          <p:cNvPr id="6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80403" y="634593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반대질문 대응 및 행동 원칙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640166" y="381305"/>
            <a:ext cx="3020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HANDLING CHALLENGING QUESTIONS</a:t>
            </a:r>
            <a:endParaRPr lang="en-US" sz="12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EF9D64F-295F-F1B8-6763-9DB59B40CD63}"/>
              </a:ext>
            </a:extLst>
          </p:cNvPr>
          <p:cNvGrpSpPr/>
          <p:nvPr/>
        </p:nvGrpSpPr>
        <p:grpSpPr>
          <a:xfrm>
            <a:off x="1500625" y="1601222"/>
            <a:ext cx="5362105" cy="4658113"/>
            <a:chOff x="533095" y="1076249"/>
            <a:chExt cx="6077102" cy="5402275"/>
          </a:xfrm>
        </p:grpSpPr>
        <p:sp>
          <p:nvSpPr>
            <p:cNvPr id="7" name="Shape 5"/>
            <p:cNvSpPr/>
            <p:nvPr/>
          </p:nvSpPr>
          <p:spPr>
            <a:xfrm>
              <a:off x="533095" y="1600200"/>
              <a:ext cx="6077102" cy="19202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33095" y="1147572"/>
              <a:ext cx="286207" cy="286207"/>
            </a:xfrm>
            <a:prstGeom prst="rect">
              <a:avLst/>
            </a:prstGeom>
          </p:spPr>
        </p:pic>
        <p:sp>
          <p:nvSpPr>
            <p:cNvPr id="9" name="Text 6"/>
            <p:cNvSpPr txBox="1"/>
            <p:nvPr/>
          </p:nvSpPr>
          <p:spPr>
            <a:xfrm>
              <a:off x="933602" y="1076249"/>
              <a:ext cx="3167482" cy="5431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반대 질문 대응 5단계</a:t>
              </a:r>
              <a:endParaRPr lang="en-US" sz="20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533095" y="1767535"/>
              <a:ext cx="6077102" cy="780898"/>
            </a:xfrm>
            <a:prstGeom prst="roundRect">
              <a:avLst>
                <a:gd name="adj" fmla="val 22848"/>
              </a:avLst>
            </a:prstGeom>
            <a:solidFill>
              <a:srgbClr val="FFF9F5"/>
            </a:solidFill>
            <a:ln w="12700">
              <a:solidFill>
                <a:srgbClr val="FF6908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726034" y="1947672"/>
              <a:ext cx="418795" cy="418795"/>
            </a:xfrm>
            <a:prstGeom prst="roundRect">
              <a:avLst>
                <a:gd name="adj" fmla="val 59547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871423" y="1986077"/>
              <a:ext cx="21031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13" name="Text 10"/>
            <p:cNvSpPr txBox="1"/>
            <p:nvPr/>
          </p:nvSpPr>
          <p:spPr>
            <a:xfrm>
              <a:off x="1327709" y="1883664"/>
              <a:ext cx="4896612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명확화 (Clarify)</a:t>
              </a:r>
              <a:endParaRPr lang="en-US" dirty="0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1327709" y="2217420"/>
              <a:ext cx="4972507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반대 요지를 재확인하여 분명히 함</a:t>
              </a:r>
              <a:endParaRPr lang="en-US" sz="1200" dirty="0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185002" y="2042770"/>
              <a:ext cx="228600" cy="228600"/>
            </a:xfrm>
            <a:prstGeom prst="rect">
              <a:avLst/>
            </a:prstGeom>
          </p:spPr>
        </p:pic>
        <p:sp>
          <p:nvSpPr>
            <p:cNvPr id="16" name="Shape 12"/>
            <p:cNvSpPr/>
            <p:nvPr/>
          </p:nvSpPr>
          <p:spPr>
            <a:xfrm>
              <a:off x="533095" y="2750515"/>
              <a:ext cx="6077102" cy="780898"/>
            </a:xfrm>
            <a:prstGeom prst="roundRect">
              <a:avLst>
                <a:gd name="adj" fmla="val 22848"/>
              </a:avLst>
            </a:prstGeom>
            <a:solidFill>
              <a:srgbClr val="FFF9F5"/>
            </a:solidFill>
            <a:ln w="12700">
              <a:solidFill>
                <a:srgbClr val="FF6908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726034" y="2930652"/>
              <a:ext cx="418795" cy="418795"/>
            </a:xfrm>
            <a:prstGeom prst="roundRect">
              <a:avLst>
                <a:gd name="adj" fmla="val 59547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4"/>
            <p:cNvSpPr txBox="1"/>
            <p:nvPr/>
          </p:nvSpPr>
          <p:spPr>
            <a:xfrm>
              <a:off x="871423" y="2968142"/>
              <a:ext cx="21031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800" dirty="0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1327709" y="2866644"/>
              <a:ext cx="4867351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공감 (Empathize)</a:t>
              </a:r>
              <a:endParaRPr lang="en-US" dirty="0"/>
            </a:p>
          </p:txBody>
        </p:sp>
        <p:sp>
          <p:nvSpPr>
            <p:cNvPr id="20" name="Text 16"/>
            <p:cNvSpPr txBox="1"/>
            <p:nvPr/>
          </p:nvSpPr>
          <p:spPr>
            <a:xfrm>
              <a:off x="1327709" y="3199486"/>
              <a:ext cx="494416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질문자의 입장을 충분히 이해함 표시</a:t>
              </a:r>
              <a:endParaRPr lang="en-US" sz="1200" dirty="0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rcRect t="-45" b="-45"/>
            <a:stretch/>
          </p:blipFill>
          <p:spPr>
            <a:xfrm>
              <a:off x="6156655" y="3025750"/>
              <a:ext cx="256946" cy="228600"/>
            </a:xfrm>
            <a:prstGeom prst="rect">
              <a:avLst/>
            </a:prstGeom>
          </p:spPr>
        </p:pic>
        <p:sp>
          <p:nvSpPr>
            <p:cNvPr id="22" name="Shape 17"/>
            <p:cNvSpPr/>
            <p:nvPr/>
          </p:nvSpPr>
          <p:spPr>
            <a:xfrm>
              <a:off x="533095" y="3732581"/>
              <a:ext cx="6077102" cy="780898"/>
            </a:xfrm>
            <a:prstGeom prst="roundRect">
              <a:avLst>
                <a:gd name="adj" fmla="val 22848"/>
              </a:avLst>
            </a:prstGeom>
            <a:solidFill>
              <a:srgbClr val="FFF9F5"/>
            </a:solidFill>
            <a:ln w="12700">
              <a:solidFill>
                <a:srgbClr val="FF6908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8"/>
            <p:cNvSpPr/>
            <p:nvPr/>
          </p:nvSpPr>
          <p:spPr>
            <a:xfrm>
              <a:off x="726034" y="3912718"/>
              <a:ext cx="418795" cy="418795"/>
            </a:xfrm>
            <a:prstGeom prst="roundRect">
              <a:avLst>
                <a:gd name="adj" fmla="val 59547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871423" y="3951122"/>
              <a:ext cx="21031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800" dirty="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1327709" y="3848710"/>
              <a:ext cx="4924958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테스트 (Test)</a:t>
              </a:r>
              <a:endParaRPr lang="en-US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1327709" y="4182466"/>
              <a:ext cx="500085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오해인지 실제 문제인지 사실 확인</a:t>
              </a:r>
              <a:endParaRPr lang="en-US" sz="1200" dirty="0"/>
            </a:p>
          </p:txBody>
        </p:sp>
        <p:pic>
          <p:nvPicPr>
            <p:cNvPr id="27" name="Image 3" descr="preencoded.png"/>
            <p:cNvPicPr>
              <a:picLocks noChangeAspect="1"/>
            </p:cNvPicPr>
            <p:nvPr/>
          </p:nvPicPr>
          <p:blipFill>
            <a:blip r:embed="rId6"/>
            <a:srcRect l="-57" r="-57"/>
            <a:stretch/>
          </p:blipFill>
          <p:spPr>
            <a:xfrm>
              <a:off x="6214262" y="4007815"/>
              <a:ext cx="200254" cy="228600"/>
            </a:xfrm>
            <a:prstGeom prst="rect">
              <a:avLst/>
            </a:prstGeom>
          </p:spPr>
        </p:pic>
        <p:sp>
          <p:nvSpPr>
            <p:cNvPr id="28" name="Shape 22"/>
            <p:cNvSpPr/>
            <p:nvPr/>
          </p:nvSpPr>
          <p:spPr>
            <a:xfrm>
              <a:off x="533095" y="4715561"/>
              <a:ext cx="6077102" cy="780898"/>
            </a:xfrm>
            <a:prstGeom prst="roundRect">
              <a:avLst>
                <a:gd name="adj" fmla="val 22848"/>
              </a:avLst>
            </a:prstGeom>
            <a:solidFill>
              <a:srgbClr val="FFF9F5"/>
            </a:solidFill>
            <a:ln w="12700">
              <a:solidFill>
                <a:srgbClr val="FF6908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Shape 23"/>
            <p:cNvSpPr/>
            <p:nvPr/>
          </p:nvSpPr>
          <p:spPr>
            <a:xfrm>
              <a:off x="726034" y="4895698"/>
              <a:ext cx="418795" cy="418795"/>
            </a:xfrm>
            <a:prstGeom prst="roundRect">
              <a:avLst>
                <a:gd name="adj" fmla="val 59547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871423" y="4933188"/>
              <a:ext cx="21031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8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1327709" y="4831690"/>
              <a:ext cx="4896612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해결 (Solve)</a:t>
              </a:r>
              <a:endParaRPr lang="en-US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1327709" y="5164531"/>
              <a:ext cx="4972507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도움을 주거나 가치를 조정하여 해결</a:t>
              </a:r>
              <a:endParaRPr lang="en-US" sz="1200" dirty="0"/>
            </a:p>
          </p:txBody>
        </p:sp>
        <p:pic>
          <p:nvPicPr>
            <p:cNvPr id="33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185002" y="4990795"/>
              <a:ext cx="228600" cy="228600"/>
            </a:xfrm>
            <a:prstGeom prst="rect">
              <a:avLst/>
            </a:prstGeom>
          </p:spPr>
        </p:pic>
        <p:sp>
          <p:nvSpPr>
            <p:cNvPr id="34" name="Shape 27"/>
            <p:cNvSpPr/>
            <p:nvPr/>
          </p:nvSpPr>
          <p:spPr>
            <a:xfrm>
              <a:off x="533095" y="5697626"/>
              <a:ext cx="6077102" cy="780898"/>
            </a:xfrm>
            <a:prstGeom prst="roundRect">
              <a:avLst>
                <a:gd name="adj" fmla="val 22848"/>
              </a:avLst>
            </a:prstGeom>
            <a:solidFill>
              <a:srgbClr val="FFF9F5"/>
            </a:solidFill>
            <a:ln w="12700">
              <a:solidFill>
                <a:srgbClr val="FF6908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28"/>
            <p:cNvSpPr/>
            <p:nvPr/>
          </p:nvSpPr>
          <p:spPr>
            <a:xfrm>
              <a:off x="726034" y="5877763"/>
              <a:ext cx="418795" cy="418795"/>
            </a:xfrm>
            <a:prstGeom prst="roundRect">
              <a:avLst>
                <a:gd name="adj" fmla="val 59547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FF6908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29"/>
            <p:cNvSpPr txBox="1"/>
            <p:nvPr/>
          </p:nvSpPr>
          <p:spPr>
            <a:xfrm>
              <a:off x="871423" y="5916168"/>
              <a:ext cx="21031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1800" dirty="0"/>
            </a:p>
          </p:txBody>
        </p:sp>
        <p:sp>
          <p:nvSpPr>
            <p:cNvPr id="37" name="Text 30"/>
            <p:cNvSpPr txBox="1"/>
            <p:nvPr/>
          </p:nvSpPr>
          <p:spPr>
            <a:xfrm>
              <a:off x="1327709" y="5813755"/>
              <a:ext cx="4896612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F293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확인 (Check)</a:t>
              </a:r>
              <a:endParaRPr lang="en-US" dirty="0"/>
            </a:p>
          </p:txBody>
        </p:sp>
        <p:sp>
          <p:nvSpPr>
            <p:cNvPr id="38" name="Text 31"/>
            <p:cNvSpPr txBox="1"/>
            <p:nvPr/>
          </p:nvSpPr>
          <p:spPr>
            <a:xfrm>
              <a:off x="1327709" y="6147511"/>
              <a:ext cx="4972507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우려 사항이 해소되었는지 최종 확인</a:t>
              </a:r>
              <a:endParaRPr lang="en-US" sz="1200" dirty="0"/>
            </a:p>
          </p:txBody>
        </p:sp>
        <p:pic>
          <p:nvPicPr>
            <p:cNvPr id="39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185002" y="5972861"/>
              <a:ext cx="228600" cy="228600"/>
            </a:xfrm>
            <a:prstGeom prst="rect">
              <a:avLst/>
            </a:prstGeom>
          </p:spPr>
        </p:pic>
      </p:grpSp>
      <p:sp>
        <p:nvSpPr>
          <p:cNvPr id="40" name="Shape 32"/>
          <p:cNvSpPr/>
          <p:nvPr/>
        </p:nvSpPr>
        <p:spPr>
          <a:xfrm>
            <a:off x="7644221" y="1789864"/>
            <a:ext cx="3456403" cy="2161499"/>
          </a:xfrm>
          <a:prstGeom prst="roundRect">
            <a:avLst>
              <a:gd name="adj" fmla="val 255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3"/>
          <p:cNvSpPr txBox="1"/>
          <p:nvPr/>
        </p:nvSpPr>
        <p:spPr>
          <a:xfrm>
            <a:off x="8471179" y="1919149"/>
            <a:ext cx="186704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 (권장사항)</a:t>
            </a:r>
            <a:endParaRPr lang="en-US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70672" y="1990472"/>
            <a:ext cx="286207" cy="286207"/>
          </a:xfrm>
          <a:prstGeom prst="rect">
            <a:avLst/>
          </a:prstGeom>
        </p:spPr>
      </p:pic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070672" y="2500707"/>
            <a:ext cx="133502" cy="15270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356879" y="2500707"/>
            <a:ext cx="27916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침착하고 여유로운 태도 유지 (Cool)</a:t>
            </a:r>
            <a:endParaRPr lang="en-US" sz="12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070672" y="2835377"/>
            <a:ext cx="133502" cy="152705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356879" y="2835377"/>
            <a:ext cx="25136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유머 감각을 활용하여 분위기 전환</a:t>
            </a:r>
            <a:endParaRPr lang="en-US" sz="1200" dirty="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070672" y="3170962"/>
            <a:ext cx="133502" cy="152705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8356879" y="3170962"/>
            <a:ext cx="2350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잠시 생각할 여유와 기회를 확보</a:t>
            </a:r>
            <a:endParaRPr lang="en-US" sz="12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070672" y="3506547"/>
            <a:ext cx="133502" cy="152705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8356879" y="3506547"/>
            <a:ext cx="27733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청중을 내 편으로 만드는 포용력</a:t>
            </a:r>
            <a:endParaRPr lang="en-US" sz="1200" dirty="0"/>
          </a:p>
        </p:txBody>
      </p:sp>
      <p:sp>
        <p:nvSpPr>
          <p:cNvPr id="51" name="Shape 38"/>
          <p:cNvSpPr/>
          <p:nvPr/>
        </p:nvSpPr>
        <p:spPr>
          <a:xfrm>
            <a:off x="7644221" y="4151971"/>
            <a:ext cx="3456403" cy="2130369"/>
          </a:xfrm>
          <a:prstGeom prst="roundRect">
            <a:avLst>
              <a:gd name="adj" fmla="val 255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9"/>
          <p:cNvSpPr txBox="1"/>
          <p:nvPr/>
        </p:nvSpPr>
        <p:spPr>
          <a:xfrm>
            <a:off x="8471179" y="4310626"/>
            <a:ext cx="226289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Don't (금지사항)</a:t>
            </a:r>
            <a:endParaRPr lang="en-US" dirty="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70672" y="4381949"/>
            <a:ext cx="286207" cy="286207"/>
          </a:xfrm>
          <a:prstGeom prst="rect">
            <a:avLst/>
          </a:prstGeom>
        </p:spPr>
      </p:pic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8070672" y="4892184"/>
            <a:ext cx="114300" cy="152705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8337677" y="4892184"/>
            <a:ext cx="26755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개인적인 공격으로 수용 금지</a:t>
            </a:r>
            <a:endParaRPr lang="en-US" sz="1200" dirty="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8070672" y="5226855"/>
            <a:ext cx="114300" cy="15270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337677" y="5226855"/>
            <a:ext cx="2577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논쟁으로 확대하거나 반박</a:t>
            </a:r>
            <a:endParaRPr lang="en-US" sz="1200" dirty="0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8070672" y="5562439"/>
            <a:ext cx="114300" cy="152705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337677" y="5562439"/>
            <a:ext cx="2577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감정적으로 대응하거나 당황한 기색</a:t>
            </a:r>
            <a:endParaRPr lang="en-US" sz="1200" dirty="0"/>
          </a:p>
        </p:txBody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8070672" y="5898024"/>
            <a:ext cx="114300" cy="152705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337677" y="5898024"/>
            <a:ext cx="2253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질문자에게 면박을 주거나 무시</a:t>
            </a:r>
            <a:endParaRPr lang="en-US" sz="1200" dirty="0"/>
          </a:p>
        </p:txBody>
      </p:sp>
      <p:sp>
        <p:nvSpPr>
          <p:cNvPr id="6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1107430" y="1781340"/>
            <a:ext cx="607710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0" b="1" kern="0" spc="-22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</a:t>
            </a:r>
            <a:endParaRPr lang="en-US" sz="8200" dirty="0"/>
          </a:p>
        </p:txBody>
      </p:sp>
      <p:sp>
        <p:nvSpPr>
          <p:cNvPr id="7" name="Text 4"/>
          <p:cNvSpPr txBox="1"/>
          <p:nvPr/>
        </p:nvSpPr>
        <p:spPr>
          <a:xfrm>
            <a:off x="567204" y="2671965"/>
            <a:ext cx="502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0" b="1" kern="0" spc="-22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YOU.</a:t>
            </a:r>
            <a:endParaRPr lang="en-US" sz="8200" dirty="0"/>
          </a:p>
        </p:txBody>
      </p:sp>
      <p:sp>
        <p:nvSpPr>
          <p:cNvPr id="8" name="Shape 5"/>
          <p:cNvSpPr/>
          <p:nvPr/>
        </p:nvSpPr>
        <p:spPr>
          <a:xfrm>
            <a:off x="5535869" y="2198305"/>
            <a:ext cx="57607" cy="1333195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17" r="-17"/>
          <a:stretch/>
        </p:blipFill>
        <p:spPr>
          <a:xfrm>
            <a:off x="5747401" y="2154917"/>
            <a:ext cx="333756" cy="3813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372658" y="3479556"/>
            <a:ext cx="29314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끝까지 경청해 주셔서 진심으로 감사합니다.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여러분의 소중한 피드백과 질문을 환영합니다.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0923" y="4462544"/>
            <a:ext cx="2505456" cy="543154"/>
          </a:xfrm>
          <a:prstGeom prst="roundRect">
            <a:avLst>
              <a:gd name="adj" fmla="val 47256"/>
            </a:avLst>
          </a:prstGeom>
          <a:solidFill>
            <a:srgbClr val="FFF9F5"/>
          </a:solidFill>
          <a:ln w="12700">
            <a:solidFill>
              <a:srgbClr val="FF69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9582" y="4636280"/>
            <a:ext cx="190195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14077" y="4462544"/>
            <a:ext cx="179313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 Session &amp; Feedback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 flipV="1">
            <a:off x="770923" y="5351339"/>
            <a:ext cx="10784912" cy="4571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7"/>
          <p:cNvSpPr txBox="1"/>
          <p:nvPr/>
        </p:nvSpPr>
        <p:spPr>
          <a:xfrm>
            <a:off x="6196980" y="2327465"/>
            <a:ext cx="397167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"프레젠테이션은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청중의 망각성과의 싸움입니다."</a:t>
            </a:r>
            <a:endParaRPr lang="en-US" sz="2100" dirty="0"/>
          </a:p>
        </p:txBody>
      </p:sp>
      <p:sp>
        <p:nvSpPr>
          <p:cNvPr id="29" name="Text 45">
            <a:extLst>
              <a:ext uri="{FF2B5EF4-FFF2-40B4-BE49-F238E27FC236}">
                <a16:creationId xmlns:a16="http://schemas.microsoft.com/office/drawing/2014/main" id="{7C336702-8A91-4623-67DF-940D7D1B6EC2}"/>
              </a:ext>
            </a:extLst>
          </p:cNvPr>
          <p:cNvSpPr txBox="1"/>
          <p:nvPr/>
        </p:nvSpPr>
        <p:spPr>
          <a:xfrm>
            <a:off x="9271161" y="627273"/>
            <a:ext cx="21899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 FOR LISTENING</a:t>
            </a:r>
            <a:endParaRPr lang="en-US" sz="11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ECBB67C-728B-1938-69DB-4E3E883081B6}"/>
              </a:ext>
            </a:extLst>
          </p:cNvPr>
          <p:cNvGrpSpPr/>
          <p:nvPr/>
        </p:nvGrpSpPr>
        <p:grpSpPr>
          <a:xfrm>
            <a:off x="8035747" y="5686730"/>
            <a:ext cx="4156252" cy="523951"/>
            <a:chOff x="5699455" y="5572888"/>
            <a:chExt cx="4156252" cy="523951"/>
          </a:xfrm>
        </p:grpSpPr>
        <p:sp>
          <p:nvSpPr>
            <p:cNvPr id="30" name="Shape 32">
              <a:extLst>
                <a:ext uri="{FF2B5EF4-FFF2-40B4-BE49-F238E27FC236}">
                  <a16:creationId xmlns:a16="http://schemas.microsoft.com/office/drawing/2014/main" id="{95845112-CF79-8059-A0C1-616D00C48C81}"/>
                </a:ext>
              </a:extLst>
            </p:cNvPr>
            <p:cNvSpPr/>
            <p:nvPr/>
          </p:nvSpPr>
          <p:spPr>
            <a:xfrm>
              <a:off x="5699455" y="5572888"/>
              <a:ext cx="3605262" cy="523951"/>
            </a:xfrm>
            <a:prstGeom prst="roundRect">
              <a:avLst>
                <a:gd name="adj" fmla="val 158655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143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33">
              <a:extLst>
                <a:ext uri="{FF2B5EF4-FFF2-40B4-BE49-F238E27FC236}">
                  <a16:creationId xmlns:a16="http://schemas.microsoft.com/office/drawing/2014/main" id="{3C1DCE20-AEF3-8A81-1F15-35B9DF245AFA}"/>
                </a:ext>
              </a:extLst>
            </p:cNvPr>
            <p:cNvSpPr txBox="1"/>
            <p:nvPr/>
          </p:nvSpPr>
          <p:spPr>
            <a:xfrm>
              <a:off x="5843536" y="5686730"/>
              <a:ext cx="4012171" cy="280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https://padlet.com/aebon/contents26</a:t>
              </a:r>
              <a:endParaRPr lang="en-US" sz="1600" dirty="0"/>
            </a:p>
          </p:txBody>
        </p:sp>
      </p:grp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useful-ai.dreamitbiz.com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2026년 1월 「생성형 AI와 창의력·복합문제능력 향상 과정」 강의안을 공개용으로 다시 묶은 것입니다.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교육 목적의 비영리 이용을 허용합니다 — 출처를 표기해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재배포·판매·변형(내용 수정 후 배포)은 허용하지 않습니다. 필요하면 먼저 문의해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문의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이애본(드림아이티비즈). 교육 목적 비영리 이용 · 출처 표기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3029</Words>
  <Application>Microsoft Office PowerPoint</Application>
  <PresentationFormat>와이드스크린</PresentationFormat>
  <Paragraphs>688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Manrope</vt:lpstr>
      <vt:lpstr>Noto Sans KR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12</cp:revision>
  <dcterms:created xsi:type="dcterms:W3CDTF">2026-01-28T21:07:37Z</dcterms:created>
  <dcterms:modified xsi:type="dcterms:W3CDTF">2026-01-29T22:53:57Z</dcterms:modified>
</cp:coreProperties>
</file>