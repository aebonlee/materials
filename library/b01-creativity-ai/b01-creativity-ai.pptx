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87" r:id="rId37"/>
    <p:sldId id="288" r:id="rId38"/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6" r:id="rId27"/>
    <p:sldId id="285" r:id="rId28"/>
    <p:sldId id="281" r:id="rId29"/>
    <p:sldId id="282" r:id="rId30"/>
    <p:sldId id="283" r:id="rId31"/>
    <p:sldId id="289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7" d="100"/>
          <a:sy n="137" d="100"/>
        </p:scale>
        <p:origin x="17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7403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198D6-135A-EF79-9B0F-5BFD4D3C8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348128-CAE8-70C8-BAE1-289EDDBF78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5BB1D8-EA02-C154-E6C1-5B3C5D5652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612EC-B864-FB57-9F6C-98132CAE98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1686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FC400-F031-A202-0B10-5E17DD124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EA352C-E91F-9162-568B-E8133E6DBC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69F01A-253A-3336-7181-D2088EA7BE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A6D559-5FDB-C98A-DCA2-5AF4D88C15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9456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hyperlink" Target="mailto:aebon@hs.ac.kr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image" Target="../media/image24.png"/><Relationship Id="rId13" Type="http://schemas.openxmlformats.org/officeDocument/2006/relationships/image" Target="../media/image25.png"/><Relationship Id="rId14" Type="http://schemas.openxmlformats.org/officeDocument/2006/relationships/image" Target="../media/image26.png"/><Relationship Id="rId15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18.png"/><Relationship Id="rId6" Type="http://schemas.openxmlformats.org/officeDocument/2006/relationships/image" Target="../media/image2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image" Target="../media/image3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37.png"/><Relationship Id="rId6" Type="http://schemas.openxmlformats.org/officeDocument/2006/relationships/image" Target="../media/image18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42.png"/><Relationship Id="rId12" Type="http://schemas.openxmlformats.org/officeDocument/2006/relationships/image" Target="../media/image43.png"/><Relationship Id="rId13" Type="http://schemas.openxmlformats.org/officeDocument/2006/relationships/image" Target="../media/image44.png"/><Relationship Id="rId14" Type="http://schemas.openxmlformats.org/officeDocument/2006/relationships/image" Target="../media/image45.png"/><Relationship Id="rId15" Type="http://schemas.openxmlformats.org/officeDocument/2006/relationships/image" Target="../media/image46.png"/><Relationship Id="rId16" Type="http://schemas.openxmlformats.org/officeDocument/2006/relationships/image" Target="../media/image47.png"/><Relationship Id="rId17" Type="http://schemas.openxmlformats.org/officeDocument/2006/relationships/image" Target="../media/image4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Relationship Id="rId10" Type="http://schemas.openxmlformats.org/officeDocument/2006/relationships/image" Target="../media/image54.png"/><Relationship Id="rId11" Type="http://schemas.openxmlformats.org/officeDocument/2006/relationships/image" Target="../media/image55.png"/><Relationship Id="rId12" Type="http://schemas.openxmlformats.org/officeDocument/2006/relationships/image" Target="../media/image56.png"/><Relationship Id="rId13" Type="http://schemas.openxmlformats.org/officeDocument/2006/relationships/image" Target="../media/image57.png"/><Relationship Id="rId14" Type="http://schemas.openxmlformats.org/officeDocument/2006/relationships/image" Target="../media/image5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Relationship Id="rId8" Type="http://schemas.openxmlformats.org/officeDocument/2006/relationships/image" Target="../media/image6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7.png"/><Relationship Id="rId4" Type="http://schemas.openxmlformats.org/officeDocument/2006/relationships/image" Target="../media/image66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Relationship Id="rId7" Type="http://schemas.openxmlformats.org/officeDocument/2006/relationships/image" Target="../media/image70.png"/><Relationship Id="rId8" Type="http://schemas.openxmlformats.org/officeDocument/2006/relationships/image" Target="../media/image71.png"/><Relationship Id="rId9" Type="http://schemas.openxmlformats.org/officeDocument/2006/relationships/image" Target="../media/image7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Relationship Id="rId8" Type="http://schemas.openxmlformats.org/officeDocument/2006/relationships/image" Target="../media/image76.png"/><Relationship Id="rId9" Type="http://schemas.openxmlformats.org/officeDocument/2006/relationships/image" Target="../media/image7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78.png"/><Relationship Id="rId6" Type="http://schemas.openxmlformats.org/officeDocument/2006/relationships/image" Target="../media/image79.png"/><Relationship Id="rId7" Type="http://schemas.openxmlformats.org/officeDocument/2006/relationships/image" Target="../media/image80.png"/><Relationship Id="rId8" Type="http://schemas.openxmlformats.org/officeDocument/2006/relationships/image" Target="../media/image81.png"/><Relationship Id="rId9" Type="http://schemas.openxmlformats.org/officeDocument/2006/relationships/image" Target="../media/image8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3.png"/><Relationship Id="rId6" Type="http://schemas.openxmlformats.org/officeDocument/2006/relationships/image" Target="../media/image8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hyperlink" Target="mailto:aebon@hs.ac.kr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Relationship Id="rId8" Type="http://schemas.openxmlformats.org/officeDocument/2006/relationships/image" Target="../media/image88.png"/><Relationship Id="rId9" Type="http://schemas.openxmlformats.org/officeDocument/2006/relationships/image" Target="../media/image89.png"/><Relationship Id="rId10" Type="http://schemas.openxmlformats.org/officeDocument/2006/relationships/image" Target="../media/image90.png"/><Relationship Id="rId11" Type="http://schemas.openxmlformats.org/officeDocument/2006/relationships/image" Target="../media/image91.png"/><Relationship Id="rId12" Type="http://schemas.openxmlformats.org/officeDocument/2006/relationships/image" Target="../media/image62.png"/><Relationship Id="rId13" Type="http://schemas.openxmlformats.org/officeDocument/2006/relationships/image" Target="../media/image92.png"/><Relationship Id="rId14" Type="http://schemas.openxmlformats.org/officeDocument/2006/relationships/image" Target="../media/image93.png"/><Relationship Id="rId15" Type="http://schemas.openxmlformats.org/officeDocument/2006/relationships/image" Target="../media/image94.png"/><Relationship Id="rId16" Type="http://schemas.openxmlformats.org/officeDocument/2006/relationships/image" Target="../media/image9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9.png"/><Relationship Id="rId4" Type="http://schemas.openxmlformats.org/officeDocument/2006/relationships/image" Target="../media/image96.png"/><Relationship Id="rId5" Type="http://schemas.openxmlformats.org/officeDocument/2006/relationships/image" Target="../media/image97.png"/><Relationship Id="rId6" Type="http://schemas.openxmlformats.org/officeDocument/2006/relationships/image" Target="../media/image98.png"/><Relationship Id="rId7" Type="http://schemas.openxmlformats.org/officeDocument/2006/relationships/image" Target="../media/image99.png"/><Relationship Id="rId8" Type="http://schemas.openxmlformats.org/officeDocument/2006/relationships/image" Target="../media/image10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101.png"/><Relationship Id="rId6" Type="http://schemas.openxmlformats.org/officeDocument/2006/relationships/image" Target="../media/image102.png"/><Relationship Id="rId7" Type="http://schemas.openxmlformats.org/officeDocument/2006/relationships/image" Target="../media/image103.png"/><Relationship Id="rId8" Type="http://schemas.openxmlformats.org/officeDocument/2006/relationships/image" Target="../media/image104.png"/><Relationship Id="rId9" Type="http://schemas.openxmlformats.org/officeDocument/2006/relationships/image" Target="../media/image69.png"/><Relationship Id="rId10" Type="http://schemas.openxmlformats.org/officeDocument/2006/relationships/image" Target="../media/image8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105.png"/><Relationship Id="rId6" Type="http://schemas.openxmlformats.org/officeDocument/2006/relationships/image" Target="../media/image106.png"/><Relationship Id="rId7" Type="http://schemas.openxmlformats.org/officeDocument/2006/relationships/image" Target="../media/image107.png"/><Relationship Id="rId8" Type="http://schemas.openxmlformats.org/officeDocument/2006/relationships/image" Target="../media/image108.png"/><Relationship Id="rId9" Type="http://schemas.openxmlformats.org/officeDocument/2006/relationships/image" Target="../media/image109.png"/><Relationship Id="rId10" Type="http://schemas.openxmlformats.org/officeDocument/2006/relationships/image" Target="../media/image110.png"/><Relationship Id="rId11" Type="http://schemas.openxmlformats.org/officeDocument/2006/relationships/image" Target="../media/image111.png"/><Relationship Id="rId12" Type="http://schemas.openxmlformats.org/officeDocument/2006/relationships/image" Target="../media/image112.png"/><Relationship Id="rId13" Type="http://schemas.openxmlformats.org/officeDocument/2006/relationships/image" Target="../media/image113.png"/><Relationship Id="rId14" Type="http://schemas.openxmlformats.org/officeDocument/2006/relationships/image" Target="../media/image114.png"/><Relationship Id="rId15" Type="http://schemas.openxmlformats.org/officeDocument/2006/relationships/image" Target="../media/image115.png"/><Relationship Id="rId16" Type="http://schemas.openxmlformats.org/officeDocument/2006/relationships/image" Target="../media/image1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7.png"/><Relationship Id="rId4" Type="http://schemas.openxmlformats.org/officeDocument/2006/relationships/image" Target="../media/image11.png"/><Relationship Id="rId5" Type="http://schemas.openxmlformats.org/officeDocument/2006/relationships/image" Target="../media/image118.png"/><Relationship Id="rId6" Type="http://schemas.openxmlformats.org/officeDocument/2006/relationships/image" Target="../media/image119.png"/><Relationship Id="rId7" Type="http://schemas.openxmlformats.org/officeDocument/2006/relationships/image" Target="../media/image1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121.png"/><Relationship Id="rId6" Type="http://schemas.openxmlformats.org/officeDocument/2006/relationships/image" Target="../media/image122.png"/><Relationship Id="rId7" Type="http://schemas.openxmlformats.org/officeDocument/2006/relationships/image" Target="../media/image123.png"/><Relationship Id="rId8" Type="http://schemas.openxmlformats.org/officeDocument/2006/relationships/image" Target="../media/image124.png"/><Relationship Id="rId9" Type="http://schemas.openxmlformats.org/officeDocument/2006/relationships/image" Target="../media/image125.png"/><Relationship Id="rId10" Type="http://schemas.openxmlformats.org/officeDocument/2006/relationships/image" Target="../media/image12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127.png"/><Relationship Id="rId6" Type="http://schemas.openxmlformats.org/officeDocument/2006/relationships/image" Target="../media/image128.png"/><Relationship Id="rId7" Type="http://schemas.openxmlformats.org/officeDocument/2006/relationships/image" Target="../media/image129.png"/><Relationship Id="rId8" Type="http://schemas.openxmlformats.org/officeDocument/2006/relationships/image" Target="../media/image130.png"/><Relationship Id="rId9" Type="http://schemas.openxmlformats.org/officeDocument/2006/relationships/image" Target="../media/image13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132.png"/><Relationship Id="rId6" Type="http://schemas.openxmlformats.org/officeDocument/2006/relationships/image" Target="../media/image13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134.png"/><Relationship Id="rId6" Type="http://schemas.openxmlformats.org/officeDocument/2006/relationships/image" Target="../media/image135.png"/><Relationship Id="rId7" Type="http://schemas.openxmlformats.org/officeDocument/2006/relationships/image" Target="../media/image136.png"/><Relationship Id="rId8" Type="http://schemas.openxmlformats.org/officeDocument/2006/relationships/image" Target="../media/image137.png"/><Relationship Id="rId9" Type="http://schemas.openxmlformats.org/officeDocument/2006/relationships/image" Target="../media/image138.png"/><Relationship Id="rId10" Type="http://schemas.openxmlformats.org/officeDocument/2006/relationships/image" Target="../media/image13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hyperlink" Target="mailto:aebon@hs.ac.kr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0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2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3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폰트이(가) 표시된 사진">
            <a:extLst>
              <a:ext uri="{FF2B5EF4-FFF2-40B4-BE49-F238E27FC236}">
                <a16:creationId xmlns:a16="http://schemas.microsoft.com/office/drawing/2014/main" id="{831932AE-043E-1A38-B201-1922A8FF1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274755" cy="6858000"/>
          </a:xfrm>
          <a:prstGeom prst="rect">
            <a:avLst/>
          </a:prstGeom>
        </p:spPr>
      </p:pic>
      <p:sp>
        <p:nvSpPr>
          <p:cNvPr id="9" name="Shape 7">
            <a:extLst>
              <a:ext uri="{FF2B5EF4-FFF2-40B4-BE49-F238E27FC236}">
                <a16:creationId xmlns:a16="http://schemas.microsoft.com/office/drawing/2014/main" id="{2D0FBE75-9EA0-36E3-5952-CF5EBAA8DBD0}"/>
              </a:ext>
            </a:extLst>
          </p:cNvPr>
          <p:cNvSpPr/>
          <p:nvPr/>
        </p:nvSpPr>
        <p:spPr>
          <a:xfrm>
            <a:off x="7328152" y="5205957"/>
            <a:ext cx="4292499" cy="1166218"/>
          </a:xfrm>
          <a:prstGeom prst="roundRect">
            <a:avLst>
              <a:gd name="adj" fmla="val 326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57C68E0-F044-ACF4-6D6D-BB4E9034B545}"/>
              </a:ext>
            </a:extLst>
          </p:cNvPr>
          <p:cNvGrpSpPr/>
          <p:nvPr/>
        </p:nvGrpSpPr>
        <p:grpSpPr>
          <a:xfrm>
            <a:off x="7448248" y="5605729"/>
            <a:ext cx="4172404" cy="425653"/>
            <a:chOff x="7367780" y="5664707"/>
            <a:chExt cx="4172404" cy="425653"/>
          </a:xfrm>
        </p:grpSpPr>
        <p:sp>
          <p:nvSpPr>
            <p:cNvPr id="6" name="Shape 5">
              <a:extLst>
                <a:ext uri="{FF2B5EF4-FFF2-40B4-BE49-F238E27FC236}">
                  <a16:creationId xmlns:a16="http://schemas.microsoft.com/office/drawing/2014/main" id="{612E747B-1D7F-4C9A-F090-C1340FB6AFCF}"/>
                </a:ext>
              </a:extLst>
            </p:cNvPr>
            <p:cNvSpPr/>
            <p:nvPr/>
          </p:nvSpPr>
          <p:spPr>
            <a:xfrm>
              <a:off x="7367780" y="5709055"/>
              <a:ext cx="381305" cy="381305"/>
            </a:xfrm>
            <a:prstGeom prst="ellipse">
              <a:avLst/>
            </a:prstGeom>
            <a:solidFill>
              <a:srgbClr val="38BDF8">
                <a:alpha val="1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7" name="Image 2" descr="preencoded.png">
              <a:extLst>
                <a:ext uri="{FF2B5EF4-FFF2-40B4-BE49-F238E27FC236}">
                  <a16:creationId xmlns:a16="http://schemas.microsoft.com/office/drawing/2014/main" id="{6AC52EB5-6EB8-5EB7-2FC2-2F1DA06DB2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-1064" r="-1064"/>
            <a:stretch/>
          </p:blipFill>
          <p:spPr>
            <a:xfrm>
              <a:off x="7448248" y="5814211"/>
              <a:ext cx="219456" cy="171907"/>
            </a:xfrm>
            <a:prstGeom prst="rect">
              <a:avLst/>
            </a:prstGeom>
          </p:spPr>
        </p:pic>
        <p:sp>
          <p:nvSpPr>
            <p:cNvPr id="8" name="Text 11">
              <a:extLst>
                <a:ext uri="{FF2B5EF4-FFF2-40B4-BE49-F238E27FC236}">
                  <a16:creationId xmlns:a16="http://schemas.microsoft.com/office/drawing/2014/main" id="{4D5D8D2D-8F85-B967-7BFE-E4A86D2D93CB}"/>
                </a:ext>
              </a:extLst>
            </p:cNvPr>
            <p:cNvSpPr txBox="1"/>
            <p:nvPr/>
          </p:nvSpPr>
          <p:spPr>
            <a:xfrm>
              <a:off x="7901787" y="5664707"/>
              <a:ext cx="3638397" cy="366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20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  <a:t>이 애 본</a:t>
              </a:r>
              <a:br>
                <a:rPr lang="en-US" altLang="ko-KR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</a:br>
              <a:r>
                <a:rPr lang="ko-KR" altLang="en-US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  <a:t>한신대학교 </a:t>
              </a:r>
              <a:r>
                <a:rPr lang="en-US" altLang="ko-KR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  <a:t>AI.SW</a:t>
              </a:r>
              <a:r>
                <a:rPr lang="ko-KR" altLang="en-US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  <a:t>대학 </a:t>
              </a:r>
              <a:r>
                <a:rPr lang="en-US" altLang="ko-KR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hlinkClick r:id="rId5"/>
                </a:rPr>
                <a:t>aebon@hs.ac.kr</a:t>
              </a:r>
              <a:r>
                <a:rPr lang="ko-KR" altLang="en-US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  <a:t> </a:t>
              </a:r>
              <a:endParaRPr lang="en-US" altLang="ko-KR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endParaRPr>
            </a:p>
          </p:txBody>
        </p:sp>
      </p:grpSp>
      <p:sp>
        <p:nvSpPr>
          <p:cNvPr id="1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021227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77256" y="0"/>
            <a:ext cx="9144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476402" y="1328623"/>
            <a:ext cx="4829861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</a:t>
            </a:r>
            <a:r>
              <a:rPr lang="en-US" sz="2800" b="1" kern="0" spc="-75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아젠다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76402" y="2157070"/>
            <a:ext cx="4524451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76656" y="2300630"/>
            <a:ext cx="304495" cy="304495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778154" y="2324405"/>
            <a:ext cx="1810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" y="2318918"/>
            <a:ext cx="24195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역량 vs 능력의 명확한 구분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6402" y="2938882"/>
            <a:ext cx="4524451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76656" y="3081528"/>
            <a:ext cx="304495" cy="304495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778154" y="3105302"/>
            <a:ext cx="1810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33856" y="3100730"/>
            <a:ext cx="260604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NCS 직무능력표준 구조와 활용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6402" y="3605479"/>
            <a:ext cx="4524451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76656" y="3748126"/>
            <a:ext cx="304495" cy="304495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778154" y="3771900"/>
            <a:ext cx="1810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" y="3767328"/>
            <a:ext cx="248259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역량 진단 (AHP 방법론)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6402" y="4272077"/>
            <a:ext cx="4524451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76656" y="4414723"/>
            <a:ext cx="304495" cy="304495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778154" y="4438498"/>
            <a:ext cx="1810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" y="4433926"/>
            <a:ext cx="27724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협업: 탐색에서 의사결정까지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6402" y="4938674"/>
            <a:ext cx="4524451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76656" y="5081321"/>
            <a:ext cx="304495" cy="304495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778154" y="5105095"/>
            <a:ext cx="1810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133856" y="5100523"/>
            <a:ext cx="202265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및 액션 플랜 수립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962802" y="685800"/>
            <a:ext cx="7342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Index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962802" y="1218895"/>
            <a:ext cx="19202" cy="4953305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5915254" y="1362456"/>
            <a:ext cx="133502" cy="133502"/>
          </a:xfrm>
          <a:prstGeom prst="ellipse">
            <a:avLst/>
          </a:prstGeom>
          <a:solidFill>
            <a:srgbClr val="3B82F6"/>
          </a:solidFill>
          <a:ln w="38100">
            <a:solidFill>
              <a:srgbClr val="0212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172200" y="1218895"/>
            <a:ext cx="5544007" cy="418795"/>
          </a:xfrm>
          <a:prstGeom prst="roundRect">
            <a:avLst>
              <a:gd name="adj" fmla="val 19849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6172200" y="1218895"/>
            <a:ext cx="38405" cy="418795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6362395" y="1321308"/>
            <a:ext cx="1305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오프닝 &amp; 문제의식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1353190" y="1343254"/>
            <a:ext cx="2953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915254" y="2117750"/>
            <a:ext cx="133502" cy="133502"/>
          </a:xfrm>
          <a:prstGeom prst="ellipse">
            <a:avLst/>
          </a:prstGeom>
          <a:solidFill>
            <a:srgbClr val="3B82F6"/>
          </a:solidFill>
          <a:ln w="38100">
            <a:solidFill>
              <a:srgbClr val="0212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6172200" y="1975104"/>
            <a:ext cx="5544007" cy="418795"/>
          </a:xfrm>
          <a:prstGeom prst="roundRect">
            <a:avLst>
              <a:gd name="adj" fmla="val 19849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6172200" y="1975104"/>
            <a:ext cx="38405" cy="418795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6362395" y="2077517"/>
            <a:ext cx="22896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 정리 (Competence/Skill)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1353190" y="2098548"/>
            <a:ext cx="2953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이론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915254" y="2873045"/>
            <a:ext cx="133502" cy="133502"/>
          </a:xfrm>
          <a:prstGeom prst="ellipse">
            <a:avLst/>
          </a:prstGeom>
          <a:solidFill>
            <a:srgbClr val="3B82F6"/>
          </a:solidFill>
          <a:ln w="38100">
            <a:solidFill>
              <a:srgbClr val="0212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6172200" y="2730398"/>
            <a:ext cx="5544007" cy="418795"/>
          </a:xfrm>
          <a:prstGeom prst="roundRect">
            <a:avLst>
              <a:gd name="adj" fmla="val 19849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6172200" y="2730398"/>
            <a:ext cx="38405" cy="418795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6362395" y="2832811"/>
            <a:ext cx="15627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AHP 분류 &amp; 빙산 모델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1353190" y="2853842"/>
            <a:ext cx="2953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심화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915254" y="3629254"/>
            <a:ext cx="133502" cy="133502"/>
          </a:xfrm>
          <a:prstGeom prst="ellipse">
            <a:avLst/>
          </a:prstGeom>
          <a:solidFill>
            <a:srgbClr val="3B82F6"/>
          </a:solidFill>
          <a:ln w="38100">
            <a:solidFill>
              <a:srgbClr val="0212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6172200" y="3485693"/>
            <a:ext cx="5544007" cy="418795"/>
          </a:xfrm>
          <a:prstGeom prst="roundRect">
            <a:avLst>
              <a:gd name="adj" fmla="val 19849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6172200" y="3485693"/>
            <a:ext cx="38405" cy="418795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6362395" y="3588106"/>
            <a:ext cx="101315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NCS 구조 이해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11353190" y="3610051"/>
            <a:ext cx="2953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915254" y="4384548"/>
            <a:ext cx="133502" cy="133502"/>
          </a:xfrm>
          <a:prstGeom prst="ellipse">
            <a:avLst/>
          </a:prstGeom>
          <a:solidFill>
            <a:srgbClr val="3B82F6"/>
          </a:solidFill>
          <a:ln w="38100">
            <a:solidFill>
              <a:srgbClr val="0212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6172200" y="4241902"/>
            <a:ext cx="5544007" cy="418795"/>
          </a:xfrm>
          <a:prstGeom prst="roundRect">
            <a:avLst>
              <a:gd name="adj" fmla="val 19849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6172200" y="4241902"/>
            <a:ext cx="38405" cy="418795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 txBox="1"/>
          <p:nvPr/>
        </p:nvSpPr>
        <p:spPr>
          <a:xfrm>
            <a:off x="6362395" y="4344314"/>
            <a:ext cx="1904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AI의 역할 (Agentic/HITL)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11353190" y="4365346"/>
            <a:ext cx="2953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915254" y="5139842"/>
            <a:ext cx="133502" cy="133502"/>
          </a:xfrm>
          <a:prstGeom prst="ellipse">
            <a:avLst/>
          </a:prstGeom>
          <a:solidFill>
            <a:srgbClr val="3B82F6"/>
          </a:solidFill>
          <a:ln w="38100">
            <a:solidFill>
              <a:srgbClr val="0212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6172200" y="4997196"/>
            <a:ext cx="5544007" cy="418795"/>
          </a:xfrm>
          <a:prstGeom prst="roundRect">
            <a:avLst>
              <a:gd name="adj" fmla="val 19849"/>
            </a:avLst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6172200" y="4997196"/>
            <a:ext cx="38405" cy="418795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 txBox="1"/>
          <p:nvPr/>
        </p:nvSpPr>
        <p:spPr>
          <a:xfrm>
            <a:off x="6362395" y="5099609"/>
            <a:ext cx="163220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실습: 프롬프트 &amp; 진단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11353190" y="5120640"/>
            <a:ext cx="2953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활동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915254" y="5896051"/>
            <a:ext cx="133502" cy="133502"/>
          </a:xfrm>
          <a:prstGeom prst="ellipse">
            <a:avLst/>
          </a:prstGeom>
          <a:solidFill>
            <a:srgbClr val="93C5FD"/>
          </a:solidFill>
          <a:ln w="38100">
            <a:solidFill>
              <a:srgbClr val="0212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6172200" y="5752490"/>
            <a:ext cx="19202" cy="418795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 txBox="1"/>
          <p:nvPr/>
        </p:nvSpPr>
        <p:spPr>
          <a:xfrm>
            <a:off x="6344107" y="5854903"/>
            <a:ext cx="81838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정리 &amp; QnA</a:t>
            </a:r>
            <a:endParaRPr 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11248034" y="5876849"/>
            <a:ext cx="4005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마무리</a:t>
            </a:r>
            <a:endParaRPr lang="en-US" sz="900" dirty="0"/>
          </a:p>
        </p:txBody>
      </p:sp>
      <p:sp>
        <p:nvSpPr>
          <p:cNvPr id="6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21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1500" y="571500"/>
            <a:ext cx="729691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지금, 창의력과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복합문제 해결인가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881421" y="1044245"/>
            <a:ext cx="574883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시대, 인간의 역할은 단순 작업자가 아닌</a:t>
            </a:r>
            <a:endParaRPr lang="en-US" sz="1300" dirty="0"/>
          </a:p>
          <a:p>
            <a:pPr marL="0" indent="0" algn="r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맥락을 읽고 통합하는 '지휘자'로 변화합니다.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71500" y="2050085"/>
            <a:ext cx="5410505" cy="1790395"/>
          </a:xfrm>
          <a:prstGeom prst="roundRect">
            <a:avLst>
              <a:gd name="adj" fmla="val 326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 txBox="1"/>
          <p:nvPr/>
        </p:nvSpPr>
        <p:spPr>
          <a:xfrm>
            <a:off x="866699" y="2073453"/>
            <a:ext cx="5048402" cy="869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*️⃣ </a:t>
            </a:r>
            <a:r>
              <a:rPr lang="en-US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문제의</a:t>
            </a:r>
            <a:r>
              <a:rPr lang="en-US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복잡성 증가</a:t>
            </a:r>
            <a:endParaRPr lang="en-US" dirty="0"/>
          </a:p>
        </p:txBody>
      </p:sp>
      <p:sp>
        <p:nvSpPr>
          <p:cNvPr id="10" name="Text 6"/>
          <p:cNvSpPr txBox="1"/>
          <p:nvPr/>
        </p:nvSpPr>
        <p:spPr>
          <a:xfrm>
            <a:off x="847649" y="3003805"/>
            <a:ext cx="69942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다학제적 지식과 방대한 데이터가 </a:t>
            </a:r>
            <a:r>
              <a:rPr lang="en-US" sz="14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얽힌</a:t>
            </a:r>
            <a:r>
              <a:rPr lang="en-US" sz="1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현대</a:t>
            </a:r>
            <a:r>
              <a:rPr lang="en-US" sz="1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사회의 </a:t>
            </a:r>
            <a:r>
              <a:rPr lang="en-US" sz="14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문제는</a:t>
            </a:r>
            <a:r>
              <a:rPr lang="en-US" sz="1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단편적</a:t>
            </a:r>
            <a:r>
              <a:rPr lang="en-US" sz="1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사고로는 해결 불가능합니다.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210605" y="2050085"/>
            <a:ext cx="5410505" cy="1790395"/>
          </a:xfrm>
          <a:prstGeom prst="roundRect">
            <a:avLst>
              <a:gd name="adj" fmla="val 326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8"/>
          <p:cNvSpPr txBox="1"/>
          <p:nvPr/>
        </p:nvSpPr>
        <p:spPr>
          <a:xfrm>
            <a:off x="6505804" y="2073453"/>
            <a:ext cx="5048402" cy="869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*️⃣ </a:t>
            </a:r>
            <a:r>
              <a:rPr lang="en-US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AI에</a:t>
            </a:r>
            <a:r>
              <a:rPr lang="en-US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의한 가속화</a:t>
            </a:r>
            <a:endParaRPr lang="en-US" dirty="0"/>
          </a:p>
        </p:txBody>
      </p:sp>
      <p:sp>
        <p:nvSpPr>
          <p:cNvPr id="14" name="Text 9"/>
          <p:cNvSpPr txBox="1"/>
          <p:nvPr/>
        </p:nvSpPr>
        <p:spPr>
          <a:xfrm>
            <a:off x="6486754" y="3003805"/>
            <a:ext cx="68296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탐색, 생성, 검증의 속도가 </a:t>
            </a:r>
            <a:r>
              <a:rPr lang="en-US" sz="14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빨라지며</a:t>
            </a:r>
            <a:r>
              <a:rPr lang="en-US" sz="1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인간은</a:t>
            </a:r>
            <a:r>
              <a:rPr lang="en-US" sz="1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더 높은 차원의 판단력에 집중해야 합니다.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71500" y="4069080"/>
            <a:ext cx="5410505" cy="1790395"/>
          </a:xfrm>
          <a:prstGeom prst="roundRect">
            <a:avLst>
              <a:gd name="adj" fmla="val 326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 sz="1600"/>
          </a:p>
        </p:txBody>
      </p:sp>
      <p:sp>
        <p:nvSpPr>
          <p:cNvPr id="17" name="Text 11"/>
          <p:cNvSpPr txBox="1"/>
          <p:nvPr/>
        </p:nvSpPr>
        <p:spPr>
          <a:xfrm>
            <a:off x="866699" y="4102506"/>
            <a:ext cx="5048402" cy="869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*️⃣ </a:t>
            </a:r>
            <a:r>
              <a:rPr lang="en-US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인간</a:t>
            </a:r>
            <a:r>
              <a:rPr lang="en-US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고유의 강점</a:t>
            </a:r>
            <a:endParaRPr lang="en-US" dirty="0"/>
          </a:p>
        </p:txBody>
      </p:sp>
      <p:sp>
        <p:nvSpPr>
          <p:cNvPr id="18" name="Text 12"/>
          <p:cNvSpPr txBox="1"/>
          <p:nvPr/>
        </p:nvSpPr>
        <p:spPr>
          <a:xfrm>
            <a:off x="847649" y="5023714"/>
            <a:ext cx="66284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윤리적 판단, 맥락 이해, 공감 </a:t>
            </a:r>
            <a:r>
              <a:rPr lang="en-US" sz="14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능력은</a:t>
            </a:r>
            <a:r>
              <a:rPr lang="en-US" sz="1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여전히</a:t>
            </a:r>
            <a:r>
              <a:rPr lang="en-US" sz="1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AI가 대체하기 어려운 인간만의 영역입니다.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210605" y="4069080"/>
            <a:ext cx="5410505" cy="1790395"/>
          </a:xfrm>
          <a:prstGeom prst="roundRect">
            <a:avLst>
              <a:gd name="adj" fmla="val 3260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 sz="1600"/>
          </a:p>
        </p:txBody>
      </p:sp>
      <p:sp>
        <p:nvSpPr>
          <p:cNvPr id="21" name="Text 14"/>
          <p:cNvSpPr txBox="1"/>
          <p:nvPr/>
        </p:nvSpPr>
        <p:spPr>
          <a:xfrm>
            <a:off x="6505804" y="4102506"/>
            <a:ext cx="5048402" cy="869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*️⃣ </a:t>
            </a:r>
            <a:r>
              <a:rPr lang="en-US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오늘의</a:t>
            </a:r>
            <a:r>
              <a:rPr lang="en-US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목표</a:t>
            </a:r>
            <a:endParaRPr lang="en-US" dirty="0"/>
          </a:p>
        </p:txBody>
      </p:sp>
      <p:sp>
        <p:nvSpPr>
          <p:cNvPr id="22" name="Text 15"/>
          <p:cNvSpPr txBox="1"/>
          <p:nvPr/>
        </p:nvSpPr>
        <p:spPr>
          <a:xfrm>
            <a:off x="6486754" y="5023714"/>
            <a:ext cx="68662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AI를 단순 도구가 아닌 '협업 파트너'로 인식하고,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창의적</a:t>
            </a:r>
            <a:r>
              <a:rPr lang="en-US" sz="16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문제 해결 프로세스를 체득합니다.</a:t>
            </a:r>
            <a:endParaRPr lang="en-US" sz="1600" dirty="0"/>
          </a:p>
        </p:txBody>
      </p:sp>
      <p:sp>
        <p:nvSpPr>
          <p:cNvPr id="23" name="Shape 16"/>
          <p:cNvSpPr/>
          <p:nvPr/>
        </p:nvSpPr>
        <p:spPr>
          <a:xfrm>
            <a:off x="571500" y="6050585"/>
            <a:ext cx="11048695" cy="9144"/>
          </a:xfrm>
          <a:prstGeom prst="rect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7"/>
          <p:cNvSpPr/>
          <p:nvPr/>
        </p:nvSpPr>
        <p:spPr>
          <a:xfrm>
            <a:off x="571500" y="6249924"/>
            <a:ext cx="1181405" cy="304495"/>
          </a:xfrm>
          <a:prstGeom prst="roundRect">
            <a:avLst>
              <a:gd name="adj" fmla="val 37538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8"/>
          <p:cNvSpPr txBox="1"/>
          <p:nvPr/>
        </p:nvSpPr>
        <p:spPr>
          <a:xfrm>
            <a:off x="1900123" y="6257239"/>
            <a:ext cx="915223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우리의 목표는 AI를</a:t>
            </a:r>
            <a:r>
              <a:rPr lang="en-US" sz="15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'사용'</a:t>
            </a: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하는 것을 넘어, AI와</a:t>
            </a:r>
            <a:r>
              <a:rPr lang="en-US" sz="15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'협업'</a:t>
            </a: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 더 나은 가치를 창출하는 것입니다.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685800" y="6307531"/>
            <a:ext cx="10287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alphaModFix amt="5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6953098" y="952805"/>
            <a:ext cx="5715000" cy="5715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1500" y="476402"/>
            <a:ext cx="47549" cy="743407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 txBox="1"/>
          <p:nvPr/>
        </p:nvSpPr>
        <p:spPr>
          <a:xfrm>
            <a:off x="809244" y="476402"/>
            <a:ext cx="1111636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창의력·복합문제·생성형 AI: 왜 지금인가?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809244" y="958291"/>
            <a:ext cx="110020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시대적 변화 속에서 AI와 인간 협업의 필연성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1" y="1697475"/>
            <a:ext cx="4419295" cy="1380744"/>
          </a:xfrm>
          <a:prstGeom prst="roundRect">
            <a:avLst>
              <a:gd name="adj" fmla="val 3654"/>
            </a:avLst>
          </a:prstGeom>
          <a:solidFill>
            <a:srgbClr val="1E3A8A">
              <a:alpha val="2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548641" y="1697475"/>
            <a:ext cx="38405" cy="13807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/>
          <a:srcRect l="-38653" r="-38653"/>
          <a:stretch/>
        </p:blipFill>
        <p:spPr>
          <a:xfrm>
            <a:off x="777241" y="1939791"/>
            <a:ext cx="228600" cy="17190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05841" y="1896814"/>
            <a:ext cx="192755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창의력 (CREATIVITY)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777241" y="2230570"/>
            <a:ext cx="406725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새롭고 유용한 것을 만들어내는 능력.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발산</a:t>
            </a: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(아이디어 다양화)과</a:t>
            </a:r>
            <a:r>
              <a:rPr lang="en-US" sz="11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수렴</a:t>
            </a: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(선정·정교화)의 반복적 상호작용입니다.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48641" y="3263842"/>
            <a:ext cx="4419295" cy="1380744"/>
          </a:xfrm>
          <a:prstGeom prst="roundRect">
            <a:avLst>
              <a:gd name="adj" fmla="val 3654"/>
            </a:avLst>
          </a:prstGeom>
          <a:solidFill>
            <a:srgbClr val="1E3A8A">
              <a:alpha val="2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548641" y="3263842"/>
            <a:ext cx="38405" cy="13807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/>
          <a:srcRect l="-9102" r="-9102"/>
          <a:stretch/>
        </p:blipFill>
        <p:spPr>
          <a:xfrm>
            <a:off x="777241" y="3507072"/>
            <a:ext cx="228600" cy="17190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05841" y="3464096"/>
            <a:ext cx="280263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복합 문제 (COMPLEX PROBLEM)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777241" y="3796937"/>
            <a:ext cx="411297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해답이 존재하지 않는 난제.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다변수, 불완전 정보, 다학제간 협업이 필수적으로 요구되는 상황입니다.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1" y="4831124"/>
            <a:ext cx="4419295" cy="1162202"/>
          </a:xfrm>
          <a:prstGeom prst="roundRect">
            <a:avLst>
              <a:gd name="adj" fmla="val 5159"/>
            </a:avLst>
          </a:prstGeom>
          <a:solidFill>
            <a:srgbClr val="1E3A8A">
              <a:alpha val="2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4"/>
          <p:cNvSpPr/>
          <p:nvPr/>
        </p:nvSpPr>
        <p:spPr>
          <a:xfrm>
            <a:off x="548641" y="4831124"/>
            <a:ext cx="38405" cy="116220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9"/>
          <a:srcRect l="-3192" r="-3192"/>
          <a:stretch/>
        </p:blipFill>
        <p:spPr>
          <a:xfrm>
            <a:off x="777241" y="5073440"/>
            <a:ext cx="228600" cy="17190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05841" y="5030463"/>
            <a:ext cx="253928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 (GENERATIVE AI)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777241" y="5342274"/>
            <a:ext cx="38383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분석을 넘어 콘텐츠를 '생성'하는 도구.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지식 확장, 발상 촉진, 시뮬레이션의 강력한 파트너입니다.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5562295" y="1213866"/>
            <a:ext cx="62874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지금 AI인가? (Why Now?)</a:t>
            </a:r>
            <a:endParaRPr lang="en-US" sz="18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389474" y="1342339"/>
            <a:ext cx="75895" cy="75895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5389474" y="1695298"/>
            <a:ext cx="6248095" cy="1028700"/>
          </a:xfrm>
          <a:prstGeom prst="roundRect">
            <a:avLst>
              <a:gd name="adj" fmla="val 658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19"/>
          <p:cNvSpPr/>
          <p:nvPr/>
        </p:nvSpPr>
        <p:spPr>
          <a:xfrm>
            <a:off x="5532120" y="1837944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637276" y="1943100"/>
            <a:ext cx="171907" cy="171907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6056071" y="1837944"/>
            <a:ext cx="56299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지식의 폭발적 확장 지원</a:t>
            </a:r>
            <a:endParaRPr lang="en-US" sz="1300" dirty="0"/>
          </a:p>
        </p:txBody>
      </p:sp>
      <p:sp>
        <p:nvSpPr>
          <p:cNvPr id="30" name="Text 21"/>
          <p:cNvSpPr txBox="1"/>
          <p:nvPr/>
        </p:nvSpPr>
        <p:spPr>
          <a:xfrm>
            <a:off x="6056071" y="2152498"/>
            <a:ext cx="77248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인간의 인지 용량을 넘어서는 방대한 데이터를 실시간으로 </a:t>
            </a:r>
            <a:r>
              <a:rPr lang="en-US" sz="11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연결하여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1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기존에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없던 새로운 조합과 메타포를 발견하게 합니다.</a:t>
            </a:r>
            <a:endParaRPr lang="en-US" sz="1100" dirty="0"/>
          </a:p>
        </p:txBody>
      </p:sp>
      <p:sp>
        <p:nvSpPr>
          <p:cNvPr id="31" name="Shape 22"/>
          <p:cNvSpPr/>
          <p:nvPr/>
        </p:nvSpPr>
        <p:spPr>
          <a:xfrm>
            <a:off x="5389474" y="2914193"/>
            <a:ext cx="6248095" cy="1028700"/>
          </a:xfrm>
          <a:prstGeom prst="roundRect">
            <a:avLst>
              <a:gd name="adj" fmla="val 658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3"/>
          <p:cNvSpPr/>
          <p:nvPr/>
        </p:nvSpPr>
        <p:spPr>
          <a:xfrm>
            <a:off x="5532120" y="3056839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5637276" y="3161995"/>
            <a:ext cx="171907" cy="171907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6056071" y="3056839"/>
            <a:ext cx="55531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발상(Ideation)의 가속화</a:t>
            </a:r>
            <a:endParaRPr lang="en-US" sz="1300" dirty="0"/>
          </a:p>
        </p:txBody>
      </p:sp>
      <p:sp>
        <p:nvSpPr>
          <p:cNvPr id="35" name="Text 25"/>
          <p:cNvSpPr txBox="1"/>
          <p:nvPr/>
        </p:nvSpPr>
        <p:spPr>
          <a:xfrm>
            <a:off x="6056071" y="3371393"/>
            <a:ext cx="77248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'빈 페이지 증후군' 없이 초기 아이디어를 즉시 생성하고, </a:t>
            </a:r>
          </a:p>
          <a:p>
            <a:pPr marL="0" indent="0" algn="l">
              <a:buNone/>
            </a:pPr>
            <a:r>
              <a:rPr lang="en-US" sz="11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시나리오를 빠르게 시뮬레이션 하여 시행착오를 줄입니다.</a:t>
            </a:r>
            <a:endParaRPr lang="en-US" sz="1100" dirty="0"/>
          </a:p>
        </p:txBody>
      </p:sp>
      <p:sp>
        <p:nvSpPr>
          <p:cNvPr id="36" name="Shape 26"/>
          <p:cNvSpPr/>
          <p:nvPr/>
        </p:nvSpPr>
        <p:spPr>
          <a:xfrm>
            <a:off x="5389474" y="4134002"/>
            <a:ext cx="6248095" cy="1037844"/>
          </a:xfrm>
          <a:prstGeom prst="roundRect">
            <a:avLst>
              <a:gd name="adj" fmla="val 646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7"/>
          <p:cNvSpPr/>
          <p:nvPr/>
        </p:nvSpPr>
        <p:spPr>
          <a:xfrm>
            <a:off x="5532120" y="4276649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3"/>
          <a:srcRect t="-842" b="-842"/>
          <a:stretch/>
        </p:blipFill>
        <p:spPr>
          <a:xfrm>
            <a:off x="5627218" y="4380890"/>
            <a:ext cx="190195" cy="171907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6056071" y="4276649"/>
            <a:ext cx="56299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추상적 개념의 구체화</a:t>
            </a:r>
            <a:endParaRPr lang="en-US" sz="1300" dirty="0"/>
          </a:p>
        </p:txBody>
      </p:sp>
      <p:sp>
        <p:nvSpPr>
          <p:cNvPr id="40" name="Text 29"/>
          <p:cNvSpPr txBox="1"/>
          <p:nvPr/>
        </p:nvSpPr>
        <p:spPr>
          <a:xfrm>
            <a:off x="6056071" y="4576006"/>
            <a:ext cx="772485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논리를 텍스트, 코드, 이미지로 즉시 변환하여 설명력을 </a:t>
            </a:r>
            <a:r>
              <a:rPr lang="en-US" sz="11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높이고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1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프로토타이핑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시간을 획기적으로 단축합니다.</a:t>
            </a:r>
            <a:endParaRPr lang="en-US" sz="1100" dirty="0"/>
          </a:p>
        </p:txBody>
      </p:sp>
      <p:sp>
        <p:nvSpPr>
          <p:cNvPr id="41" name="Shape 30"/>
          <p:cNvSpPr/>
          <p:nvPr/>
        </p:nvSpPr>
        <p:spPr>
          <a:xfrm>
            <a:off x="5380330" y="5225796"/>
            <a:ext cx="6248095" cy="1352398"/>
          </a:xfrm>
          <a:prstGeom prst="roundRect">
            <a:avLst>
              <a:gd name="adj" fmla="val 23807"/>
            </a:avLst>
          </a:prstGeom>
          <a:solidFill>
            <a:srgbClr val="0F172A">
              <a:alpha val="8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1"/>
          <p:cNvSpPr txBox="1"/>
          <p:nvPr/>
        </p:nvSpPr>
        <p:spPr>
          <a:xfrm>
            <a:off x="7288682" y="5730545"/>
            <a:ext cx="2002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1800" dirty="0"/>
          </a:p>
        </p:txBody>
      </p:sp>
      <p:sp>
        <p:nvSpPr>
          <p:cNvPr id="43" name="Text 32"/>
          <p:cNvSpPr txBox="1"/>
          <p:nvPr/>
        </p:nvSpPr>
        <p:spPr>
          <a:xfrm>
            <a:off x="9492386" y="5730545"/>
            <a:ext cx="3054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800" dirty="0"/>
          </a:p>
        </p:txBody>
      </p:sp>
      <p:sp>
        <p:nvSpPr>
          <p:cNvPr id="44" name="Shape 33"/>
          <p:cNvSpPr/>
          <p:nvPr/>
        </p:nvSpPr>
        <p:spPr>
          <a:xfrm>
            <a:off x="5770778" y="5426050"/>
            <a:ext cx="952805" cy="952805"/>
          </a:xfrm>
          <a:prstGeom prst="ellipse">
            <a:avLst/>
          </a:prstGeom>
          <a:solidFill>
            <a:srgbClr val="334155"/>
          </a:solidFill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6132881" y="5604358"/>
            <a:ext cx="228600" cy="228600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5970118" y="5861304"/>
            <a:ext cx="5623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Human</a:t>
            </a:r>
            <a:endParaRPr lang="en-US" sz="1000" dirty="0"/>
          </a:p>
        </p:txBody>
      </p:sp>
      <p:sp>
        <p:nvSpPr>
          <p:cNvPr id="47" name="Text 35"/>
          <p:cNvSpPr txBox="1"/>
          <p:nvPr/>
        </p:nvSpPr>
        <p:spPr>
          <a:xfrm>
            <a:off x="5975604" y="6021324"/>
            <a:ext cx="54406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Insight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975397" y="5426050"/>
            <a:ext cx="952805" cy="952805"/>
          </a:xfrm>
          <a:prstGeom prst="ellipse">
            <a:avLst/>
          </a:prstGeom>
          <a:solidFill>
            <a:srgbClr val="2563EB">
              <a:alpha val="30000"/>
            </a:srgbClr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9" name="Image 10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37499" y="5604358"/>
            <a:ext cx="228600" cy="228600"/>
          </a:xfrm>
          <a:prstGeom prst="rect">
            <a:avLst/>
          </a:prstGeom>
        </p:spPr>
      </p:pic>
      <p:sp>
        <p:nvSpPr>
          <p:cNvPr id="50" name="Text 37"/>
          <p:cNvSpPr txBox="1"/>
          <p:nvPr/>
        </p:nvSpPr>
        <p:spPr>
          <a:xfrm>
            <a:off x="8348472" y="5861304"/>
            <a:ext cx="2103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</a:t>
            </a:r>
            <a:endParaRPr lang="en-US" sz="1000" dirty="0"/>
          </a:p>
        </p:txBody>
      </p:sp>
      <p:sp>
        <p:nvSpPr>
          <p:cNvPr id="51" name="Text 38"/>
          <p:cNvSpPr txBox="1"/>
          <p:nvPr/>
        </p:nvSpPr>
        <p:spPr>
          <a:xfrm>
            <a:off x="8238744" y="6021324"/>
            <a:ext cx="4288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Scale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10286086" y="5426050"/>
            <a:ext cx="952805" cy="952805"/>
          </a:xfrm>
          <a:prstGeom prst="ellipse">
            <a:avLst/>
          </a:prstGeom>
          <a:solidFill>
            <a:srgbClr val="4F46E5">
              <a:alpha val="30000"/>
            </a:srgbClr>
          </a:solidFill>
          <a:ln w="25400">
            <a:solidFill>
              <a:srgbClr val="818CF8"/>
            </a:solidFill>
            <a:prstDash val="solid"/>
          </a:ln>
          <a:effectLst>
            <a:outerShdw blurRad="190500" dist="12700" dir="16200000" algn="bl" rotWithShape="0">
              <a:srgbClr val="818CF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11" descr="preencoded.png"/>
          <p:cNvPicPr>
            <a:picLocks noChangeAspect="1"/>
          </p:cNvPicPr>
          <p:nvPr/>
        </p:nvPicPr>
        <p:blipFill>
          <a:blip r:embed="rId16"/>
          <a:srcRect t="-45" b="-45"/>
          <a:stretch/>
        </p:blipFill>
        <p:spPr>
          <a:xfrm>
            <a:off x="10633558" y="5604358"/>
            <a:ext cx="256946" cy="228600"/>
          </a:xfrm>
          <a:prstGeom prst="rect">
            <a:avLst/>
          </a:prstGeom>
        </p:spPr>
      </p:pic>
      <p:sp>
        <p:nvSpPr>
          <p:cNvPr id="54" name="Text 40"/>
          <p:cNvSpPr txBox="1"/>
          <p:nvPr/>
        </p:nvSpPr>
        <p:spPr>
          <a:xfrm>
            <a:off x="10529316" y="5861304"/>
            <a:ext cx="4672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Super</a:t>
            </a:r>
            <a:endParaRPr lang="en-US" sz="1000" dirty="0"/>
          </a:p>
        </p:txBody>
      </p:sp>
      <p:sp>
        <p:nvSpPr>
          <p:cNvPr id="55" name="Text 41"/>
          <p:cNvSpPr txBox="1"/>
          <p:nvPr/>
        </p:nvSpPr>
        <p:spPr>
          <a:xfrm>
            <a:off x="10380269" y="6021324"/>
            <a:ext cx="77083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Creativity</a:t>
            </a:r>
            <a:endParaRPr lang="en-US" sz="1000" dirty="0"/>
          </a:p>
        </p:txBody>
      </p:sp>
      <p:sp>
        <p:nvSpPr>
          <p:cNvPr id="5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9730" y="787298"/>
            <a:ext cx="113541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창의·복합문제 해결에 기여하는 방식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579730" y="330098"/>
            <a:ext cx="1638605" cy="314554"/>
          </a:xfrm>
          <a:prstGeom prst="roundRect">
            <a:avLst>
              <a:gd name="adj" fmla="val 176180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694030" y="387706"/>
            <a:ext cx="14859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PROCESS DIAGRAM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54126" y="1301191"/>
            <a:ext cx="11239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 인간의 인지 과정을 확장하고 보완하는 파트너로서 세 가지 핵심 단계에서 작동합니다.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54126" y="1793138"/>
            <a:ext cx="3495751" cy="4181551"/>
          </a:xfrm>
          <a:prstGeom prst="roundRect">
            <a:avLst>
              <a:gd name="adj" fmla="val 855"/>
            </a:avLst>
          </a:prstGeom>
          <a:solidFill>
            <a:srgbClr val="FFFFFF">
              <a:alpha val="3000"/>
            </a:srgbClr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859536" y="2098548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16200000" algn="bl" rotWithShape="0">
              <a:srgbClr val="3B82F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1011326" y="2221992"/>
            <a:ext cx="171907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59536" y="2765146"/>
            <a:ext cx="30010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발산 (Divergence)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859536" y="3155594"/>
            <a:ext cx="30769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 확장 및 탐색</a:t>
            </a:r>
            <a:endParaRPr lang="en-US" sz="1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59536" y="3631997"/>
            <a:ext cx="133502" cy="13350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06424" y="3593592"/>
            <a:ext cx="2829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유사·이종 영역 탐색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106424" y="3860597"/>
            <a:ext cx="403159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인간이 떠올리기 힘든 방대한 </a:t>
            </a:r>
            <a:r>
              <a:rPr lang="en-US" sz="10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데이터베이스</a:t>
            </a: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</a:t>
            </a: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패턴 발견</a:t>
            </a:r>
            <a:endParaRPr lang="en-US" sz="10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59536" y="4488790"/>
            <a:ext cx="133502" cy="13350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06424" y="4451299"/>
            <a:ext cx="2829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메타포 및 조합 생성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1106424" y="4717390"/>
            <a:ext cx="414863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서로 다른 개념을 </a:t>
            </a:r>
            <a:r>
              <a:rPr lang="en-US" sz="10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결합하여</a:t>
            </a: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새로운</a:t>
            </a: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아이디어 제시 (조합적 창의성 구현)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859536" y="5308092"/>
            <a:ext cx="2885846" cy="362102"/>
          </a:xfrm>
          <a:prstGeom prst="roundRect">
            <a:avLst>
              <a:gd name="adj" fmla="val 39872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t="-524" b="-524"/>
          <a:stretch/>
        </p:blipFill>
        <p:spPr>
          <a:xfrm>
            <a:off x="1021385" y="5425135"/>
            <a:ext cx="152705" cy="12344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73175" y="5308092"/>
            <a:ext cx="16102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Role: Ideation Partner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4332427" y="1793138"/>
            <a:ext cx="3495751" cy="4181551"/>
          </a:xfrm>
          <a:prstGeom prst="roundRect">
            <a:avLst>
              <a:gd name="adj" fmla="val 855"/>
            </a:avLst>
          </a:prstGeom>
          <a:solidFill>
            <a:srgbClr val="FFFFFF">
              <a:alpha val="3000"/>
            </a:srgbClr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7"/>
          <p:cNvSpPr/>
          <p:nvPr/>
        </p:nvSpPr>
        <p:spPr>
          <a:xfrm>
            <a:off x="4637837" y="2098548"/>
            <a:ext cx="485546" cy="476402"/>
          </a:xfrm>
          <a:prstGeom prst="roundRect">
            <a:avLst>
              <a:gd name="adj" fmla="val 38388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16200000" algn="bl" rotWithShape="0">
              <a:srgbClr val="10B981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rcRect l="-2000" r="-2000"/>
          <a:stretch/>
        </p:blipFill>
        <p:spPr>
          <a:xfrm>
            <a:off x="4761281" y="2221992"/>
            <a:ext cx="237744" cy="2286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4637837" y="2765146"/>
            <a:ext cx="30010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수렴 (Convergence)</a:t>
            </a:r>
            <a:endParaRPr lang="en-US" sz="1800" dirty="0"/>
          </a:p>
        </p:txBody>
      </p:sp>
      <p:sp>
        <p:nvSpPr>
          <p:cNvPr id="27" name="Text 19"/>
          <p:cNvSpPr txBox="1"/>
          <p:nvPr/>
        </p:nvSpPr>
        <p:spPr>
          <a:xfrm>
            <a:off x="4637837" y="3155594"/>
            <a:ext cx="30769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최적안 선정 및 정교화</a:t>
            </a:r>
            <a:endParaRPr lang="en-US" sz="100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637837" y="3631997"/>
            <a:ext cx="133502" cy="133502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4884725" y="3593592"/>
            <a:ext cx="2829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기반 필터링</a:t>
            </a:r>
            <a:endParaRPr lang="en-US" sz="1200" dirty="0"/>
          </a:p>
        </p:txBody>
      </p:sp>
      <p:sp>
        <p:nvSpPr>
          <p:cNvPr id="30" name="Text 21"/>
          <p:cNvSpPr txBox="1"/>
          <p:nvPr/>
        </p:nvSpPr>
        <p:spPr>
          <a:xfrm>
            <a:off x="4884725" y="3860597"/>
            <a:ext cx="414863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설정된 제약조건(예산, 기술, 시간 등)에 </a:t>
            </a:r>
            <a:r>
              <a:rPr lang="en-US" sz="10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따른</a:t>
            </a: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후보군</a:t>
            </a: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압축 및 평가</a:t>
            </a:r>
            <a:endParaRPr lang="en-US" sz="100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637837" y="4488790"/>
            <a:ext cx="133502" cy="13350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4884725" y="4451299"/>
            <a:ext cx="27441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비판적 검증 (Red Teaming)</a:t>
            </a:r>
            <a:endParaRPr lang="en-US" sz="1200" dirty="0"/>
          </a:p>
        </p:txBody>
      </p:sp>
      <p:sp>
        <p:nvSpPr>
          <p:cNvPr id="33" name="Text 23"/>
          <p:cNvSpPr txBox="1"/>
          <p:nvPr/>
        </p:nvSpPr>
        <p:spPr>
          <a:xfrm>
            <a:off x="4884725" y="4717390"/>
            <a:ext cx="414863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반례, 카운터포인트 제시를 </a:t>
            </a:r>
            <a:r>
              <a:rPr lang="en-US" sz="10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통한</a:t>
            </a: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논리적</a:t>
            </a: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허점 보완 및 리스크 점검</a:t>
            </a:r>
            <a:endParaRPr lang="en-US" sz="1000" dirty="0"/>
          </a:p>
        </p:txBody>
      </p:sp>
      <p:sp>
        <p:nvSpPr>
          <p:cNvPr id="34" name="Shape 24"/>
          <p:cNvSpPr/>
          <p:nvPr/>
        </p:nvSpPr>
        <p:spPr>
          <a:xfrm>
            <a:off x="4637837" y="5308092"/>
            <a:ext cx="2885846" cy="362102"/>
          </a:xfrm>
          <a:prstGeom prst="roundRect">
            <a:avLst>
              <a:gd name="adj" fmla="val 39872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10"/>
          <a:srcRect l="-2444" r="-2444"/>
          <a:stretch/>
        </p:blipFill>
        <p:spPr>
          <a:xfrm>
            <a:off x="4799686" y="5425135"/>
            <a:ext cx="161849" cy="123444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4951476" y="5308092"/>
            <a:ext cx="136062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Role: Logical Critic</a:t>
            </a:r>
            <a:endParaRPr lang="en-US" sz="900" dirty="0"/>
          </a:p>
        </p:txBody>
      </p:sp>
      <p:sp>
        <p:nvSpPr>
          <p:cNvPr id="37" name="Shape 26"/>
          <p:cNvSpPr/>
          <p:nvPr/>
        </p:nvSpPr>
        <p:spPr>
          <a:xfrm>
            <a:off x="8110728" y="1793138"/>
            <a:ext cx="3495751" cy="4181551"/>
          </a:xfrm>
          <a:prstGeom prst="roundRect">
            <a:avLst>
              <a:gd name="adj" fmla="val 855"/>
            </a:avLst>
          </a:prstGeom>
          <a:solidFill>
            <a:srgbClr val="FFFFFF">
              <a:alpha val="3000"/>
            </a:srgbClr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27"/>
          <p:cNvSpPr/>
          <p:nvPr/>
        </p:nvSpPr>
        <p:spPr>
          <a:xfrm>
            <a:off x="8416138" y="2098548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16200000" algn="bl" rotWithShape="0">
              <a:srgbClr val="F59E0B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11"/>
          <a:srcRect t="-45" b="-45"/>
          <a:stretch/>
        </p:blipFill>
        <p:spPr>
          <a:xfrm>
            <a:off x="8524951" y="2221992"/>
            <a:ext cx="256946" cy="228600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8416138" y="2765146"/>
            <a:ext cx="328909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분해/통합 (Synthesis)</a:t>
            </a:r>
            <a:endParaRPr lang="en-US" sz="1800" dirty="0"/>
          </a:p>
        </p:txBody>
      </p:sp>
      <p:sp>
        <p:nvSpPr>
          <p:cNvPr id="41" name="Text 29"/>
          <p:cNvSpPr txBox="1"/>
          <p:nvPr/>
        </p:nvSpPr>
        <p:spPr>
          <a:xfrm>
            <a:off x="8416138" y="3155594"/>
            <a:ext cx="30769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복잡성 관리 및 구조화</a:t>
            </a:r>
            <a:endParaRPr lang="en-US" sz="1000" dirty="0"/>
          </a:p>
        </p:txBody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416138" y="3631997"/>
            <a:ext cx="133502" cy="133502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8663026" y="359359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디컴포지션 (Decomposition)</a:t>
            </a:r>
            <a:endParaRPr lang="en-US" sz="1200" dirty="0"/>
          </a:p>
        </p:txBody>
      </p:sp>
      <p:sp>
        <p:nvSpPr>
          <p:cNvPr id="44" name="Text 31"/>
          <p:cNvSpPr txBox="1"/>
          <p:nvPr/>
        </p:nvSpPr>
        <p:spPr>
          <a:xfrm>
            <a:off x="8663026" y="3860597"/>
            <a:ext cx="414863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거대한 복합문제를 관리 가능한 작은 </a:t>
            </a:r>
            <a:r>
              <a:rPr lang="en-US" sz="10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단위로</a:t>
            </a: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쪼개어</a:t>
            </a: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접근성 향상</a:t>
            </a:r>
            <a:endParaRPr lang="en-US" sz="1000" dirty="0"/>
          </a:p>
        </p:txBody>
      </p:sp>
      <p:pic>
        <p:nvPicPr>
          <p:cNvPr id="45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416138" y="4488790"/>
            <a:ext cx="133502" cy="133502"/>
          </a:xfrm>
          <a:prstGeom prst="rect">
            <a:avLst/>
          </a:prstGeom>
        </p:spPr>
      </p:pic>
      <p:sp>
        <p:nvSpPr>
          <p:cNvPr id="46" name="Text 32"/>
          <p:cNvSpPr txBox="1"/>
          <p:nvPr/>
        </p:nvSpPr>
        <p:spPr>
          <a:xfrm>
            <a:off x="8663026" y="4451299"/>
            <a:ext cx="2829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부분해의 통합적 평가</a:t>
            </a:r>
            <a:endParaRPr lang="en-US" sz="1200" dirty="0"/>
          </a:p>
        </p:txBody>
      </p:sp>
      <p:sp>
        <p:nvSpPr>
          <p:cNvPr id="47" name="Text 33"/>
          <p:cNvSpPr txBox="1"/>
          <p:nvPr/>
        </p:nvSpPr>
        <p:spPr>
          <a:xfrm>
            <a:off x="8663026" y="4717390"/>
            <a:ext cx="403159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각각 해결된 </a:t>
            </a:r>
            <a:r>
              <a:rPr lang="en-US" sz="10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조각들을</a:t>
            </a: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</a:t>
            </a: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시스템 관점에서 재조립 및 최적화</a:t>
            </a:r>
            <a:endParaRPr lang="en-US" sz="1000" dirty="0"/>
          </a:p>
        </p:txBody>
      </p:sp>
      <p:sp>
        <p:nvSpPr>
          <p:cNvPr id="48" name="Shape 34"/>
          <p:cNvSpPr/>
          <p:nvPr/>
        </p:nvSpPr>
        <p:spPr>
          <a:xfrm>
            <a:off x="8416138" y="5308092"/>
            <a:ext cx="2885846" cy="362102"/>
          </a:xfrm>
          <a:prstGeom prst="roundRect">
            <a:avLst>
              <a:gd name="adj" fmla="val 39872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9" name="Image 12" descr="preencoded.png"/>
          <p:cNvPicPr>
            <a:picLocks noChangeAspect="1"/>
          </p:cNvPicPr>
          <p:nvPr/>
        </p:nvPicPr>
        <p:blipFill>
          <a:blip r:embed="rId13"/>
          <a:srcRect l="-1358" r="-1358"/>
          <a:stretch/>
        </p:blipFill>
        <p:spPr>
          <a:xfrm>
            <a:off x="8577986" y="5425135"/>
            <a:ext cx="142646" cy="123444"/>
          </a:xfrm>
          <a:prstGeom prst="rect">
            <a:avLst/>
          </a:prstGeom>
        </p:spPr>
      </p:pic>
      <p:sp>
        <p:nvSpPr>
          <p:cNvPr id="50" name="Text 35"/>
          <p:cNvSpPr txBox="1"/>
          <p:nvPr/>
        </p:nvSpPr>
        <p:spPr>
          <a:xfrm>
            <a:off x="8720633" y="5308092"/>
            <a:ext cx="107716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CD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Role: Architect</a:t>
            </a:r>
            <a:endParaRPr lang="en-US" sz="900" dirty="0"/>
          </a:p>
        </p:txBody>
      </p:sp>
      <p:pic>
        <p:nvPicPr>
          <p:cNvPr id="51" name="Image 13" descr="preencoded.png"/>
          <p:cNvPicPr>
            <a:picLocks noChangeAspect="1"/>
          </p:cNvPicPr>
          <p:nvPr/>
        </p:nvPicPr>
        <p:blipFill>
          <a:blip r:embed="rId14"/>
          <a:srcRect t="-80" b="-80"/>
          <a:stretch/>
        </p:blipFill>
        <p:spPr>
          <a:xfrm>
            <a:off x="4123030" y="3767328"/>
            <a:ext cx="142646" cy="228600"/>
          </a:xfrm>
          <a:prstGeom prst="rect">
            <a:avLst/>
          </a:prstGeom>
        </p:spPr>
      </p:pic>
      <p:pic>
        <p:nvPicPr>
          <p:cNvPr id="52" name="Image 14" descr="preencoded.png"/>
          <p:cNvPicPr>
            <a:picLocks noChangeAspect="1"/>
          </p:cNvPicPr>
          <p:nvPr/>
        </p:nvPicPr>
        <p:blipFill>
          <a:blip r:embed="rId14"/>
          <a:srcRect t="-80" b="-80"/>
          <a:stretch/>
        </p:blipFill>
        <p:spPr>
          <a:xfrm>
            <a:off x="7901330" y="3767328"/>
            <a:ext cx="142646" cy="228600"/>
          </a:xfrm>
          <a:prstGeom prst="rect">
            <a:avLst/>
          </a:prstGeom>
        </p:spPr>
      </p:pic>
      <p:sp>
        <p:nvSpPr>
          <p:cNvPr id="53" name="Shape 36"/>
          <p:cNvSpPr/>
          <p:nvPr/>
        </p:nvSpPr>
        <p:spPr>
          <a:xfrm>
            <a:off x="2720340" y="6134406"/>
            <a:ext cx="6858000" cy="476402"/>
          </a:xfrm>
          <a:prstGeom prst="roundRect">
            <a:avLst>
              <a:gd name="adj" fmla="val 191939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37"/>
          <p:cNvSpPr/>
          <p:nvPr/>
        </p:nvSpPr>
        <p:spPr>
          <a:xfrm>
            <a:off x="3015691" y="6258765"/>
            <a:ext cx="228600" cy="2286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5" name="Image 15" descr="preencoded.png"/>
          <p:cNvPicPr>
            <a:picLocks noChangeAspect="1"/>
          </p:cNvPicPr>
          <p:nvPr/>
        </p:nvPicPr>
        <p:blipFill>
          <a:blip r:embed="rId15"/>
          <a:srcRect l="-5467" r="-5467"/>
          <a:stretch/>
        </p:blipFill>
        <p:spPr>
          <a:xfrm>
            <a:off x="3106217" y="6315457"/>
            <a:ext cx="47549" cy="114300"/>
          </a:xfrm>
          <a:prstGeom prst="rect">
            <a:avLst/>
          </a:prstGeom>
        </p:spPr>
      </p:pic>
      <p:sp>
        <p:nvSpPr>
          <p:cNvPr id="56" name="Text 38"/>
          <p:cNvSpPr txBox="1"/>
          <p:nvPr/>
        </p:nvSpPr>
        <p:spPr>
          <a:xfrm>
            <a:off x="3358591" y="6258765"/>
            <a:ext cx="6611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HITL (Human-in-the-Loop)</a:t>
            </a: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AI가 제안하고 인간이 최종 판단하는 순환 구조가 핵심입니다.</a:t>
            </a:r>
            <a:endParaRPr lang="en-US" sz="1200" dirty="0"/>
          </a:p>
        </p:txBody>
      </p:sp>
      <p:sp>
        <p:nvSpPr>
          <p:cNvPr id="5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1500" y="693115"/>
            <a:ext cx="604784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역량, 능력, </a:t>
            </a:r>
            <a:r>
              <a:rPr lang="en-US" sz="33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그리고</a:t>
            </a:r>
            <a:r>
              <a:rPr lang="en-US" sz="3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3300" b="1" dirty="0" err="1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스킬</a:t>
            </a:r>
            <a:endParaRPr lang="en-US" sz="3300" dirty="0"/>
          </a:p>
        </p:txBody>
      </p:sp>
      <p:sp>
        <p:nvSpPr>
          <p:cNvPr id="6" name="Text 3"/>
          <p:cNvSpPr txBox="1"/>
          <p:nvPr/>
        </p:nvSpPr>
        <p:spPr>
          <a:xfrm>
            <a:off x="5886907" y="571500"/>
            <a:ext cx="57342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유사해 보이지만 다른 3가지 개념을 명확히 구분해야</a:t>
            </a:r>
            <a:endParaRPr lang="en-US" sz="1300" dirty="0"/>
          </a:p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자신의 성장 전략을 체계적으로 수립할 수 있습니다.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71500" y="1672438"/>
            <a:ext cx="3495751" cy="4200754"/>
          </a:xfrm>
          <a:prstGeom prst="roundRect">
            <a:avLst>
              <a:gd name="adj" fmla="val 855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866851" y="2596896"/>
            <a:ext cx="2905049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66851" y="1967789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rcRect t="-45" b="-45"/>
          <a:stretch/>
        </p:blipFill>
        <p:spPr>
          <a:xfrm>
            <a:off x="976579" y="2091233"/>
            <a:ext cx="256946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95044" y="2019910"/>
            <a:ext cx="16002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Competence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866851" y="2834640"/>
            <a:ext cx="143286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정의 (일반적 적합성)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866851" y="3077870"/>
            <a:ext cx="45482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직무나 역할에서 최종적인 성과를 낼 수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있는</a:t>
            </a: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포괄적이고 총체적인 자질.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866851" y="3725266"/>
            <a:ext cx="3145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866851" y="3968496"/>
            <a:ext cx="3096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관리 능력, 팀 리더십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66851" y="4632350"/>
            <a:ext cx="2905049" cy="942746"/>
          </a:xfrm>
          <a:prstGeom prst="roundRect">
            <a:avLst>
              <a:gd name="adj" fmla="val 7838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60A5F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rcRect t="-524" b="-524"/>
          <a:stretch/>
        </p:blipFill>
        <p:spPr>
          <a:xfrm>
            <a:off x="1028700" y="4825289"/>
            <a:ext cx="152705" cy="1234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181405" y="4794199"/>
            <a:ext cx="63550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 팁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1028700" y="5036515"/>
            <a:ext cx="406267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AI에게 복합적인 시나리오를 제시하고, </a:t>
            </a:r>
          </a:p>
          <a:p>
            <a:pPr marL="0" indent="0" algn="l">
              <a:buNone/>
            </a:pPr>
            <a:r>
              <a:rPr lang="en-US" sz="1000" dirty="0" err="1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</a:t>
            </a:r>
            <a:r>
              <a:rPr lang="en-US" sz="10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프로세스를 조율하는 시뮬레이션 수행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349801" y="1672438"/>
            <a:ext cx="3495751" cy="4200754"/>
          </a:xfrm>
          <a:prstGeom prst="roundRect">
            <a:avLst>
              <a:gd name="adj" fmla="val 855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4645152" y="2596896"/>
            <a:ext cx="2905049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4645152" y="1967789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768596" y="2091233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273345" y="2019910"/>
            <a:ext cx="16102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Competency</a:t>
            </a:r>
            <a:endParaRPr lang="en-US" sz="1900" dirty="0"/>
          </a:p>
        </p:txBody>
      </p:sp>
      <p:sp>
        <p:nvSpPr>
          <p:cNvPr id="25" name="Text 19"/>
          <p:cNvSpPr txBox="1"/>
          <p:nvPr/>
        </p:nvSpPr>
        <p:spPr>
          <a:xfrm>
            <a:off x="4645152" y="2834640"/>
            <a:ext cx="143286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정의 (내재적 실행력)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4645152" y="3077870"/>
            <a:ext cx="45482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성과를 만드는 행동 </a:t>
            </a:r>
            <a:r>
              <a:rPr lang="en-US" sz="12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특성이나</a:t>
            </a: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태도</a:t>
            </a: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측정 가능한 구체적 행동의 집합.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4645152" y="3725266"/>
            <a:ext cx="3145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4645152" y="3968496"/>
            <a:ext cx="31171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해결 의지, 협업적 태도, 소통 방식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645152" y="4632350"/>
            <a:ext cx="2905049" cy="942746"/>
          </a:xfrm>
          <a:prstGeom prst="roundRect">
            <a:avLst>
              <a:gd name="adj" fmla="val 7838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60A5F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6"/>
          <a:srcRect t="-524" b="-524"/>
          <a:stretch/>
        </p:blipFill>
        <p:spPr>
          <a:xfrm>
            <a:off x="4807001" y="4825289"/>
            <a:ext cx="152705" cy="12344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4959706" y="4794199"/>
            <a:ext cx="63550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 팁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4807001" y="5036515"/>
            <a:ext cx="406267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자신의 행동 패턴이나 커뮤니케이션 </a:t>
            </a:r>
            <a:r>
              <a:rPr lang="en-US" sz="1000" dirty="0" err="1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기록을</a:t>
            </a:r>
            <a:r>
              <a:rPr lang="en-US" sz="10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00" dirty="0" err="1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AI로</a:t>
            </a:r>
            <a:r>
              <a:rPr lang="en-US" sz="10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분석하여 개선점 피드백 받기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8128102" y="1672438"/>
            <a:ext cx="3495751" cy="4200754"/>
          </a:xfrm>
          <a:prstGeom prst="roundRect">
            <a:avLst>
              <a:gd name="adj" fmla="val 855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7"/>
          <p:cNvSpPr/>
          <p:nvPr/>
        </p:nvSpPr>
        <p:spPr>
          <a:xfrm>
            <a:off x="8423453" y="2596896"/>
            <a:ext cx="2905049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8"/>
          <p:cNvSpPr/>
          <p:nvPr/>
        </p:nvSpPr>
        <p:spPr>
          <a:xfrm>
            <a:off x="8423453" y="1967789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546897" y="2091233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051646" y="2019910"/>
            <a:ext cx="64648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Skill</a:t>
            </a:r>
            <a:endParaRPr lang="en-US" sz="1900" dirty="0"/>
          </a:p>
        </p:txBody>
      </p:sp>
      <p:sp>
        <p:nvSpPr>
          <p:cNvPr id="38" name="Text 30"/>
          <p:cNvSpPr txBox="1"/>
          <p:nvPr/>
        </p:nvSpPr>
        <p:spPr>
          <a:xfrm>
            <a:off x="8423453" y="2834640"/>
            <a:ext cx="116037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정의 (기술/도구)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8423453" y="3077870"/>
            <a:ext cx="45482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과업 수행을 위해 </a:t>
            </a:r>
            <a:r>
              <a:rPr lang="en-US" sz="12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학습하고</a:t>
            </a: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숙련된</a:t>
            </a: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기술적, 인지적 능력.</a:t>
            </a:r>
            <a:endParaRPr lang="en-US" sz="1200" dirty="0"/>
          </a:p>
        </p:txBody>
      </p:sp>
      <p:sp>
        <p:nvSpPr>
          <p:cNvPr id="40" name="Text 32"/>
          <p:cNvSpPr txBox="1"/>
          <p:nvPr/>
        </p:nvSpPr>
        <p:spPr>
          <a:xfrm>
            <a:off x="8423453" y="3725266"/>
            <a:ext cx="3145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</a:t>
            </a:r>
            <a:endParaRPr lang="en-US" sz="900" dirty="0"/>
          </a:p>
        </p:txBody>
      </p:sp>
      <p:sp>
        <p:nvSpPr>
          <p:cNvPr id="41" name="Text 33"/>
          <p:cNvSpPr txBox="1"/>
          <p:nvPr/>
        </p:nvSpPr>
        <p:spPr>
          <a:xfrm>
            <a:off x="8423453" y="3968496"/>
            <a:ext cx="31537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분석, 코딩, 외국어, AI 리터러시</a:t>
            </a:r>
            <a:endParaRPr lang="en-US" sz="1200" dirty="0"/>
          </a:p>
        </p:txBody>
      </p:sp>
      <p:sp>
        <p:nvSpPr>
          <p:cNvPr id="42" name="Shape 34"/>
          <p:cNvSpPr/>
          <p:nvPr/>
        </p:nvSpPr>
        <p:spPr>
          <a:xfrm>
            <a:off x="8423453" y="4632350"/>
            <a:ext cx="2905049" cy="942746"/>
          </a:xfrm>
          <a:prstGeom prst="roundRect">
            <a:avLst>
              <a:gd name="adj" fmla="val 7838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60A5F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6"/>
          <a:srcRect t="-524" b="-524"/>
          <a:stretch/>
        </p:blipFill>
        <p:spPr>
          <a:xfrm>
            <a:off x="8585302" y="4825289"/>
            <a:ext cx="152705" cy="123444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8738006" y="4794199"/>
            <a:ext cx="63550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 팁</a:t>
            </a:r>
            <a:endParaRPr lang="en-US" sz="900" dirty="0"/>
          </a:p>
        </p:txBody>
      </p:sp>
      <p:sp>
        <p:nvSpPr>
          <p:cNvPr id="45" name="Text 36"/>
          <p:cNvSpPr txBox="1"/>
          <p:nvPr/>
        </p:nvSpPr>
        <p:spPr>
          <a:xfrm>
            <a:off x="8585302" y="5036515"/>
            <a:ext cx="406267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튜터를 활용해 특정 기술(코딩, 엑셀 등)을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1:1로 집중 학습하고 퀴즈로 검증</a:t>
            </a:r>
            <a:endParaRPr lang="en-US" sz="1000" dirty="0"/>
          </a:p>
        </p:txBody>
      </p:sp>
      <p:sp>
        <p:nvSpPr>
          <p:cNvPr id="46" name="Shape 37"/>
          <p:cNvSpPr/>
          <p:nvPr/>
        </p:nvSpPr>
        <p:spPr>
          <a:xfrm>
            <a:off x="571500" y="6057900"/>
            <a:ext cx="11048695" cy="9144"/>
          </a:xfrm>
          <a:prstGeom prst="rect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38"/>
          <p:cNvSpPr/>
          <p:nvPr/>
        </p:nvSpPr>
        <p:spPr>
          <a:xfrm>
            <a:off x="571500" y="6224321"/>
            <a:ext cx="990295" cy="247802"/>
          </a:xfrm>
          <a:prstGeom prst="roundRect">
            <a:avLst>
              <a:gd name="adj" fmla="val 56770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39"/>
          <p:cNvSpPr txBox="1"/>
          <p:nvPr/>
        </p:nvSpPr>
        <p:spPr>
          <a:xfrm>
            <a:off x="1671523" y="6219749"/>
            <a:ext cx="77632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Skill</a:t>
            </a: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 도구이고,</a:t>
            </a:r>
            <a:r>
              <a:rPr lang="en-US" sz="13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Competency</a:t>
            </a: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는 태도이며, 이들이 모여 성과를 내는</a:t>
            </a:r>
            <a:r>
              <a:rPr lang="en-US" sz="13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Competence</a:t>
            </a: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완성됩니다.</a:t>
            </a:r>
            <a:endParaRPr lang="en-US" sz="1300" dirty="0"/>
          </a:p>
        </p:txBody>
      </p:sp>
      <p:sp>
        <p:nvSpPr>
          <p:cNvPr id="49" name="Text 40"/>
          <p:cNvSpPr txBox="1"/>
          <p:nvPr/>
        </p:nvSpPr>
        <p:spPr>
          <a:xfrm>
            <a:off x="666598" y="6262726"/>
            <a:ext cx="88239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5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1500" y="381305"/>
            <a:ext cx="11239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역량(Competency)과 능력(Competence)의 구분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849478"/>
            <a:ext cx="11163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빙산 모델(Iceberg Model)을 통해 본 내재적 특성과 발현된 기술의 차이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71500" y="1269187"/>
            <a:ext cx="5410505" cy="3267151"/>
          </a:xfrm>
          <a:prstGeom prst="roundRect">
            <a:avLst>
              <a:gd name="adj" fmla="val 979"/>
            </a:avLst>
          </a:prstGeom>
          <a:solidFill>
            <a:srgbClr val="1E3A8A">
              <a:alpha val="2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80644" y="1278331"/>
            <a:ext cx="5391302" cy="514807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71754" y="1983334"/>
            <a:ext cx="5009998" cy="1000354"/>
          </a:xfrm>
          <a:prstGeom prst="roundRect">
            <a:avLst>
              <a:gd name="adj" fmla="val 5223"/>
            </a:avLst>
          </a:pr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71754" y="1983334"/>
            <a:ext cx="38405" cy="100035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961949" y="2425903"/>
            <a:ext cx="622340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개인의 내면에 깊이 자리 잡은 근본적인 특성으로, </a:t>
            </a:r>
          </a:p>
          <a:p>
            <a:pPr marL="0" indent="0" algn="l">
              <a:buNone/>
            </a:pPr>
            <a:r>
              <a:rPr lang="en-US" sz="11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행동의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동기나 태도를 결정짓는 원동력입니다.</a:t>
            </a:r>
            <a:endParaRPr lang="en-US" sz="11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71754" y="3159252"/>
            <a:ext cx="133502" cy="133502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71754" y="3441802"/>
            <a:ext cx="133502" cy="133502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71754" y="3723437"/>
            <a:ext cx="133502" cy="133502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210605" y="1269187"/>
            <a:ext cx="5410505" cy="3267151"/>
          </a:xfrm>
          <a:prstGeom prst="roundRect">
            <a:avLst>
              <a:gd name="adj" fmla="val 979"/>
            </a:avLst>
          </a:prstGeom>
          <a:solidFill>
            <a:srgbClr val="064E3B">
              <a:alpha val="2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6219749" y="1278331"/>
            <a:ext cx="5391302" cy="514807"/>
          </a:xfrm>
          <a:prstGeom prst="rect">
            <a:avLst/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6409944" y="1983334"/>
            <a:ext cx="5009998" cy="1000354"/>
          </a:xfrm>
          <a:prstGeom prst="roundRect">
            <a:avLst>
              <a:gd name="adj" fmla="val 5223"/>
            </a:avLst>
          </a:pr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6409944" y="1983334"/>
            <a:ext cx="38405" cy="100035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3"/>
          <p:cNvSpPr txBox="1"/>
          <p:nvPr/>
        </p:nvSpPr>
        <p:spPr>
          <a:xfrm>
            <a:off x="6601054" y="2425903"/>
            <a:ext cx="555132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직무나 과업 수행을 </a:t>
            </a:r>
            <a:r>
              <a:rPr lang="en-US" sz="11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통해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1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겉으로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드러나는 구체적인 지식과 기술의 숙련도입니다.</a:t>
            </a:r>
            <a:endParaRPr lang="en-US" sz="11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09944" y="3159252"/>
            <a:ext cx="133502" cy="133502"/>
          </a:xfrm>
          <a:prstGeom prst="rect">
            <a:avLst/>
          </a:prstGeom>
        </p:spPr>
      </p:pic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09944" y="3441802"/>
            <a:ext cx="133502" cy="133502"/>
          </a:xfrm>
          <a:prstGeom prst="rect">
            <a:avLst/>
          </a:prstGeom>
        </p:spPr>
      </p:pic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09944" y="3723437"/>
            <a:ext cx="133502" cy="133502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771754" y="1392631"/>
            <a:ext cx="269290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Competency (내재적 역량)</a:t>
            </a:r>
            <a:endParaRPr lang="en-US" sz="1500" dirty="0"/>
          </a:p>
        </p:txBody>
      </p:sp>
      <p:sp>
        <p:nvSpPr>
          <p:cNvPr id="24" name="Text 15"/>
          <p:cNvSpPr txBox="1"/>
          <p:nvPr/>
        </p:nvSpPr>
        <p:spPr>
          <a:xfrm>
            <a:off x="961948" y="2126894"/>
            <a:ext cx="3559759" cy="208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 밑의 영역 (Hidden):</a:t>
            </a:r>
            <a:endParaRPr lang="en-US" dirty="0"/>
          </a:p>
        </p:txBody>
      </p:sp>
      <p:sp>
        <p:nvSpPr>
          <p:cNvPr id="25" name="Text 16"/>
          <p:cNvSpPr txBox="1"/>
          <p:nvPr/>
        </p:nvSpPr>
        <p:spPr>
          <a:xfrm>
            <a:off x="1000354" y="3121762"/>
            <a:ext cx="88239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난이도:</a:t>
            </a:r>
            <a:endParaRPr lang="en-US" sz="1100" dirty="0"/>
          </a:p>
        </p:txBody>
      </p:sp>
      <p:sp>
        <p:nvSpPr>
          <p:cNvPr id="26" name="Text 17"/>
          <p:cNvSpPr txBox="1"/>
          <p:nvPr/>
        </p:nvSpPr>
        <p:spPr>
          <a:xfrm>
            <a:off x="1732788" y="3121762"/>
            <a:ext cx="19586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관찰하거나 수치화하기 어려움</a:t>
            </a:r>
            <a:endParaRPr lang="en-US" sz="1100" dirty="0"/>
          </a:p>
        </p:txBody>
      </p:sp>
      <p:sp>
        <p:nvSpPr>
          <p:cNvPr id="27" name="Text 18"/>
          <p:cNvSpPr txBox="1"/>
          <p:nvPr/>
        </p:nvSpPr>
        <p:spPr>
          <a:xfrm>
            <a:off x="1000354" y="3403397"/>
            <a:ext cx="7415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속도:</a:t>
            </a:r>
            <a:endParaRPr lang="en-US" sz="1100" dirty="0"/>
          </a:p>
        </p:txBody>
      </p:sp>
      <p:sp>
        <p:nvSpPr>
          <p:cNvPr id="28" name="Text 19"/>
          <p:cNvSpPr txBox="1"/>
          <p:nvPr/>
        </p:nvSpPr>
        <p:spPr>
          <a:xfrm>
            <a:off x="1610258" y="3403397"/>
            <a:ext cx="21250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오랜 시간이 걸리며 변화가 더딤</a:t>
            </a:r>
            <a:endParaRPr lang="en-US" sz="1100" dirty="0"/>
          </a:p>
        </p:txBody>
      </p:sp>
      <p:sp>
        <p:nvSpPr>
          <p:cNvPr id="29" name="Text 20"/>
          <p:cNvSpPr txBox="1"/>
          <p:nvPr/>
        </p:nvSpPr>
        <p:spPr>
          <a:xfrm>
            <a:off x="1000354" y="3685032"/>
            <a:ext cx="7415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구성 요소:</a:t>
            </a:r>
            <a:endParaRPr lang="en-US" sz="1100" dirty="0"/>
          </a:p>
        </p:txBody>
      </p:sp>
      <p:sp>
        <p:nvSpPr>
          <p:cNvPr id="30" name="Text 21"/>
          <p:cNvSpPr txBox="1"/>
          <p:nvPr/>
        </p:nvSpPr>
        <p:spPr>
          <a:xfrm>
            <a:off x="1610258" y="3685032"/>
            <a:ext cx="44961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동기(Motive), 특질(Trait), 자아개념(Self-Concept), 태도(Attitude)</a:t>
            </a:r>
            <a:endParaRPr lang="en-US" sz="1100" dirty="0"/>
          </a:p>
        </p:txBody>
      </p:sp>
      <p:sp>
        <p:nvSpPr>
          <p:cNvPr id="31" name="Text 22"/>
          <p:cNvSpPr txBox="1"/>
          <p:nvPr/>
        </p:nvSpPr>
        <p:spPr>
          <a:xfrm>
            <a:off x="6409944" y="1392631"/>
            <a:ext cx="351038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Competence / Skill (발현된 능력)</a:t>
            </a:r>
            <a:endParaRPr lang="en-US" sz="1500" dirty="0"/>
          </a:p>
        </p:txBody>
      </p:sp>
      <p:sp>
        <p:nvSpPr>
          <p:cNvPr id="32" name="Text 23"/>
          <p:cNvSpPr txBox="1"/>
          <p:nvPr/>
        </p:nvSpPr>
        <p:spPr>
          <a:xfrm>
            <a:off x="6601054" y="2126894"/>
            <a:ext cx="3442674" cy="208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 위의 영역 (Visible):</a:t>
            </a:r>
            <a:endParaRPr lang="en-US" dirty="0"/>
          </a:p>
        </p:txBody>
      </p:sp>
      <p:sp>
        <p:nvSpPr>
          <p:cNvPr id="33" name="Text 24"/>
          <p:cNvSpPr txBox="1"/>
          <p:nvPr/>
        </p:nvSpPr>
        <p:spPr>
          <a:xfrm>
            <a:off x="6638544" y="3121762"/>
            <a:ext cx="88239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난이도:</a:t>
            </a:r>
            <a:endParaRPr lang="en-US" sz="1100" dirty="0"/>
          </a:p>
        </p:txBody>
      </p:sp>
      <p:sp>
        <p:nvSpPr>
          <p:cNvPr id="34" name="Text 25"/>
          <p:cNvSpPr txBox="1"/>
          <p:nvPr/>
        </p:nvSpPr>
        <p:spPr>
          <a:xfrm>
            <a:off x="7370978" y="3121762"/>
            <a:ext cx="22622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성과나 테스트로 명확히 측정 가능</a:t>
            </a:r>
            <a:endParaRPr lang="en-US" sz="1100" dirty="0"/>
          </a:p>
        </p:txBody>
      </p:sp>
      <p:sp>
        <p:nvSpPr>
          <p:cNvPr id="35" name="Text 26"/>
          <p:cNvSpPr txBox="1"/>
          <p:nvPr/>
        </p:nvSpPr>
        <p:spPr>
          <a:xfrm>
            <a:off x="6638544" y="3403397"/>
            <a:ext cx="7415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속도:</a:t>
            </a:r>
            <a:endParaRPr lang="en-US" sz="1100" dirty="0"/>
          </a:p>
        </p:txBody>
      </p:sp>
      <p:sp>
        <p:nvSpPr>
          <p:cNvPr id="36" name="Text 27"/>
          <p:cNvSpPr txBox="1"/>
          <p:nvPr/>
        </p:nvSpPr>
        <p:spPr>
          <a:xfrm>
            <a:off x="7248449" y="3403397"/>
            <a:ext cx="29754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교육과 훈련을 통해 비교적 빠르게 습득 가능</a:t>
            </a:r>
            <a:endParaRPr lang="en-US" sz="1100" dirty="0"/>
          </a:p>
        </p:txBody>
      </p:sp>
      <p:sp>
        <p:nvSpPr>
          <p:cNvPr id="37" name="Text 28"/>
          <p:cNvSpPr txBox="1"/>
          <p:nvPr/>
        </p:nvSpPr>
        <p:spPr>
          <a:xfrm>
            <a:off x="6638544" y="3685032"/>
            <a:ext cx="7415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구성 요소:</a:t>
            </a:r>
            <a:endParaRPr lang="en-US" sz="1100" dirty="0"/>
          </a:p>
        </p:txBody>
      </p:sp>
      <p:sp>
        <p:nvSpPr>
          <p:cNvPr id="38" name="Text 29"/>
          <p:cNvSpPr txBox="1"/>
          <p:nvPr/>
        </p:nvSpPr>
        <p:spPr>
          <a:xfrm>
            <a:off x="7248449" y="3685032"/>
            <a:ext cx="35213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지식(Knowledge), 기술(Skill), 수행 행동(Behavior)</a:t>
            </a:r>
            <a:endParaRPr lang="en-US" sz="1100" dirty="0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7">
            <a:alphaModFix amt="70000"/>
          </a:blip>
          <a:srcRect l="-1282" r="-1282"/>
          <a:stretch/>
        </p:blipFill>
        <p:spPr>
          <a:xfrm>
            <a:off x="5562295" y="1440180"/>
            <a:ext cx="219456" cy="190195"/>
          </a:xfrm>
          <a:prstGeom prst="rect">
            <a:avLst/>
          </a:prstGeom>
        </p:spPr>
      </p:pic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8">
            <a:alphaModFix amt="70000"/>
          </a:blip>
          <a:srcRect l="-1282" r="-1282"/>
          <a:stretch/>
        </p:blipFill>
        <p:spPr>
          <a:xfrm>
            <a:off x="11201400" y="1440180"/>
            <a:ext cx="219456" cy="190195"/>
          </a:xfrm>
          <a:prstGeom prst="rect">
            <a:avLst/>
          </a:prstGeom>
        </p:spPr>
      </p:pic>
      <p:sp>
        <p:nvSpPr>
          <p:cNvPr id="41" name="Shape 30"/>
          <p:cNvSpPr/>
          <p:nvPr/>
        </p:nvSpPr>
        <p:spPr>
          <a:xfrm>
            <a:off x="571500" y="4724705"/>
            <a:ext cx="11048695" cy="1752905"/>
          </a:xfrm>
          <a:prstGeom prst="roundRect">
            <a:avLst>
              <a:gd name="adj" fmla="val 3402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1"/>
          <p:cNvSpPr/>
          <p:nvPr/>
        </p:nvSpPr>
        <p:spPr>
          <a:xfrm>
            <a:off x="809244" y="5181905"/>
            <a:ext cx="10573207" cy="9144"/>
          </a:xfrm>
          <a:prstGeom prst="rect">
            <a:avLst/>
          </a:prstGeom>
          <a:solidFill>
            <a:srgbClr val="94A3B8">
              <a:alpha val="2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9"/>
          <a:srcRect t="-556" b="-556"/>
          <a:stretch/>
        </p:blipFill>
        <p:spPr>
          <a:xfrm>
            <a:off x="809244" y="4922215"/>
            <a:ext cx="123444" cy="142646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1000354" y="4831689"/>
            <a:ext cx="3149194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제공 문헌(AHP 연구) 기반 역량 항목 매핑</a:t>
            </a:r>
            <a:endParaRPr lang="en-US" sz="1100" dirty="0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10"/>
          <a:srcRect l="-1358" r="-1358"/>
          <a:stretch/>
        </p:blipFill>
        <p:spPr>
          <a:xfrm>
            <a:off x="809244" y="5331866"/>
            <a:ext cx="142646" cy="123444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1028700" y="5300777"/>
            <a:ext cx="162580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COMPETENCY (기반 역량)</a:t>
            </a:r>
            <a:endParaRPr lang="en-US" sz="900" dirty="0"/>
          </a:p>
        </p:txBody>
      </p:sp>
      <p:sp>
        <p:nvSpPr>
          <p:cNvPr id="47" name="Shape 34"/>
          <p:cNvSpPr/>
          <p:nvPr/>
        </p:nvSpPr>
        <p:spPr>
          <a:xfrm>
            <a:off x="809244" y="5600700"/>
            <a:ext cx="1200607" cy="323698"/>
          </a:xfrm>
          <a:prstGeom prst="roundRect">
            <a:avLst>
              <a:gd name="adj" fmla="val 33234"/>
            </a:avLst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35"/>
          <p:cNvSpPr/>
          <p:nvPr/>
        </p:nvSpPr>
        <p:spPr>
          <a:xfrm>
            <a:off x="2079346" y="5600700"/>
            <a:ext cx="1123798" cy="323698"/>
          </a:xfrm>
          <a:prstGeom prst="roundRect">
            <a:avLst>
              <a:gd name="adj" fmla="val 33234"/>
            </a:avLst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36"/>
          <p:cNvSpPr/>
          <p:nvPr/>
        </p:nvSpPr>
        <p:spPr>
          <a:xfrm>
            <a:off x="3269894" y="5600700"/>
            <a:ext cx="1152144" cy="323698"/>
          </a:xfrm>
          <a:prstGeom prst="roundRect">
            <a:avLst>
              <a:gd name="adj" fmla="val 33234"/>
            </a:avLst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37"/>
          <p:cNvSpPr/>
          <p:nvPr/>
        </p:nvSpPr>
        <p:spPr>
          <a:xfrm>
            <a:off x="4496105" y="5600700"/>
            <a:ext cx="705002" cy="323698"/>
          </a:xfrm>
          <a:prstGeom prst="roundRect">
            <a:avLst>
              <a:gd name="adj" fmla="val 33234"/>
            </a:avLst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38"/>
          <p:cNvSpPr/>
          <p:nvPr/>
        </p:nvSpPr>
        <p:spPr>
          <a:xfrm>
            <a:off x="809244" y="5995721"/>
            <a:ext cx="1133856" cy="323698"/>
          </a:xfrm>
          <a:prstGeom prst="roundRect">
            <a:avLst>
              <a:gd name="adj" fmla="val 33234"/>
            </a:avLst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2" name="Image 1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286500" y="5331866"/>
            <a:ext cx="123444" cy="123444"/>
          </a:xfrm>
          <a:prstGeom prst="rect">
            <a:avLst/>
          </a:prstGeom>
        </p:spPr>
      </p:pic>
      <p:sp>
        <p:nvSpPr>
          <p:cNvPr id="53" name="Text 39"/>
          <p:cNvSpPr txBox="1"/>
          <p:nvPr/>
        </p:nvSpPr>
        <p:spPr>
          <a:xfrm>
            <a:off x="6486754" y="5300777"/>
            <a:ext cx="226131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COMPETENCE &amp; SKILL (실무 기술)</a:t>
            </a:r>
            <a:endParaRPr lang="en-US" sz="900" dirty="0"/>
          </a:p>
        </p:txBody>
      </p:sp>
      <p:sp>
        <p:nvSpPr>
          <p:cNvPr id="54" name="Shape 40"/>
          <p:cNvSpPr/>
          <p:nvPr/>
        </p:nvSpPr>
        <p:spPr>
          <a:xfrm>
            <a:off x="6286500" y="5600700"/>
            <a:ext cx="1028700" cy="323698"/>
          </a:xfrm>
          <a:prstGeom prst="roundRect">
            <a:avLst>
              <a:gd name="adj" fmla="val 33234"/>
            </a:avLst>
          </a:prstGeom>
          <a:solidFill>
            <a:srgbClr val="059669">
              <a:alpha val="20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41"/>
          <p:cNvSpPr/>
          <p:nvPr/>
        </p:nvSpPr>
        <p:spPr>
          <a:xfrm>
            <a:off x="7381951" y="5600700"/>
            <a:ext cx="1228954" cy="323698"/>
          </a:xfrm>
          <a:prstGeom prst="roundRect">
            <a:avLst>
              <a:gd name="adj" fmla="val 33234"/>
            </a:avLst>
          </a:prstGeom>
          <a:solidFill>
            <a:srgbClr val="059669">
              <a:alpha val="20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42"/>
          <p:cNvSpPr/>
          <p:nvPr/>
        </p:nvSpPr>
        <p:spPr>
          <a:xfrm>
            <a:off x="8686800" y="5600700"/>
            <a:ext cx="972007" cy="323698"/>
          </a:xfrm>
          <a:prstGeom prst="roundRect">
            <a:avLst>
              <a:gd name="adj" fmla="val 33234"/>
            </a:avLst>
          </a:prstGeom>
          <a:solidFill>
            <a:srgbClr val="059669">
              <a:alpha val="20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43"/>
          <p:cNvSpPr/>
          <p:nvPr/>
        </p:nvSpPr>
        <p:spPr>
          <a:xfrm>
            <a:off x="9729216" y="5600700"/>
            <a:ext cx="1362456" cy="323698"/>
          </a:xfrm>
          <a:prstGeom prst="roundRect">
            <a:avLst>
              <a:gd name="adj" fmla="val 33234"/>
            </a:avLst>
          </a:prstGeom>
          <a:solidFill>
            <a:srgbClr val="059669">
              <a:alpha val="20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44"/>
          <p:cNvSpPr/>
          <p:nvPr/>
        </p:nvSpPr>
        <p:spPr>
          <a:xfrm>
            <a:off x="6286500" y="5995721"/>
            <a:ext cx="1228954" cy="323698"/>
          </a:xfrm>
          <a:prstGeom prst="roundRect">
            <a:avLst>
              <a:gd name="adj" fmla="val 33234"/>
            </a:avLst>
          </a:prstGeom>
          <a:solidFill>
            <a:srgbClr val="059669">
              <a:alpha val="20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45"/>
          <p:cNvSpPr txBox="1"/>
          <p:nvPr/>
        </p:nvSpPr>
        <p:spPr>
          <a:xfrm>
            <a:off x="933602" y="5667451"/>
            <a:ext cx="110185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커뮤니케이션 태도</a:t>
            </a:r>
            <a:endParaRPr lang="en-US" sz="900" dirty="0"/>
          </a:p>
        </p:txBody>
      </p:sp>
      <p:sp>
        <p:nvSpPr>
          <p:cNvPr id="60" name="Text 46"/>
          <p:cNvSpPr txBox="1"/>
          <p:nvPr/>
        </p:nvSpPr>
        <p:spPr>
          <a:xfrm>
            <a:off x="2203704" y="5667451"/>
            <a:ext cx="105156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윤리 및 직업의식</a:t>
            </a:r>
            <a:endParaRPr lang="en-US" sz="900" dirty="0"/>
          </a:p>
        </p:txBody>
      </p:sp>
      <p:sp>
        <p:nvSpPr>
          <p:cNvPr id="61" name="Text 47"/>
          <p:cNvSpPr txBox="1"/>
          <p:nvPr/>
        </p:nvSpPr>
        <p:spPr>
          <a:xfrm>
            <a:off x="3394253" y="5667451"/>
            <a:ext cx="112745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공감 및 감정 인식</a:t>
            </a:r>
            <a:endParaRPr lang="en-US" sz="900" dirty="0"/>
          </a:p>
        </p:txBody>
      </p:sp>
      <p:sp>
        <p:nvSpPr>
          <p:cNvPr id="62" name="Text 48"/>
          <p:cNvSpPr txBox="1"/>
          <p:nvPr/>
        </p:nvSpPr>
        <p:spPr>
          <a:xfrm>
            <a:off x="4619549" y="5667451"/>
            <a:ext cx="5340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동기부여</a:t>
            </a:r>
            <a:endParaRPr lang="en-US" sz="900" dirty="0"/>
          </a:p>
        </p:txBody>
      </p:sp>
      <p:sp>
        <p:nvSpPr>
          <p:cNvPr id="63" name="Text 49"/>
          <p:cNvSpPr txBox="1"/>
          <p:nvPr/>
        </p:nvSpPr>
        <p:spPr>
          <a:xfrm>
            <a:off x="933602" y="6062472"/>
            <a:ext cx="105247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유연성(마인드셋)</a:t>
            </a:r>
            <a:endParaRPr lang="en-US" sz="900" dirty="0"/>
          </a:p>
        </p:txBody>
      </p:sp>
      <p:sp>
        <p:nvSpPr>
          <p:cNvPr id="64" name="Text 50"/>
          <p:cNvSpPr txBox="1"/>
          <p:nvPr/>
        </p:nvSpPr>
        <p:spPr>
          <a:xfrm>
            <a:off x="6409944" y="5667451"/>
            <a:ext cx="9244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전문지식(전공)</a:t>
            </a:r>
            <a:endParaRPr lang="en-US" sz="900" dirty="0"/>
          </a:p>
        </p:txBody>
      </p:sp>
      <p:sp>
        <p:nvSpPr>
          <p:cNvPr id="65" name="Text 51"/>
          <p:cNvSpPr txBox="1"/>
          <p:nvPr/>
        </p:nvSpPr>
        <p:spPr>
          <a:xfrm>
            <a:off x="7506310" y="5667451"/>
            <a:ext cx="117866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해결 프로세스</a:t>
            </a:r>
            <a:endParaRPr lang="en-US" sz="900" dirty="0"/>
          </a:p>
        </p:txBody>
      </p:sp>
      <p:sp>
        <p:nvSpPr>
          <p:cNvPr id="66" name="Text 52"/>
          <p:cNvSpPr txBox="1"/>
          <p:nvPr/>
        </p:nvSpPr>
        <p:spPr>
          <a:xfrm>
            <a:off x="8810244" y="5667451"/>
            <a:ext cx="84582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분석적 사고력</a:t>
            </a:r>
            <a:endParaRPr lang="en-US" sz="900" dirty="0"/>
          </a:p>
        </p:txBody>
      </p:sp>
      <p:sp>
        <p:nvSpPr>
          <p:cNvPr id="67" name="Text 53"/>
          <p:cNvSpPr txBox="1"/>
          <p:nvPr/>
        </p:nvSpPr>
        <p:spPr>
          <a:xfrm>
            <a:off x="9852660" y="5667451"/>
            <a:ext cx="133776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AI/빅데이터 리터러시</a:t>
            </a:r>
            <a:endParaRPr lang="en-US" sz="900" dirty="0"/>
          </a:p>
        </p:txBody>
      </p:sp>
      <p:sp>
        <p:nvSpPr>
          <p:cNvPr id="68" name="Text 54"/>
          <p:cNvSpPr txBox="1"/>
          <p:nvPr/>
        </p:nvSpPr>
        <p:spPr>
          <a:xfrm>
            <a:off x="6409944" y="6062472"/>
            <a:ext cx="117866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창의적 산출물 제작</a:t>
            </a:r>
            <a:endParaRPr lang="en-US" sz="900" dirty="0"/>
          </a:p>
        </p:txBody>
      </p:sp>
      <p:sp>
        <p:nvSpPr>
          <p:cNvPr id="6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7374" y="309067"/>
            <a:ext cx="12191695" cy="6858000"/>
          </a:xfrm>
          <a:prstGeom prst="rect">
            <a:avLst/>
          </a:prstGeom>
          <a:solidFill>
            <a:srgbClr val="021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1874" b="21874"/>
          <a:stretch/>
        </p:blipFill>
        <p:spPr>
          <a:xfrm>
            <a:off x="-17374" y="309067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-17374" y="4088283"/>
            <a:ext cx="12191695" cy="3078784"/>
          </a:xfrm>
          <a:prstGeom prst="rect">
            <a:avLst/>
          </a:prstGeom>
          <a:solidFill>
            <a:srgbClr val="1E3A8A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rcRect l="-118" r="-118"/>
          <a:stretch/>
        </p:blipFill>
        <p:spPr>
          <a:xfrm>
            <a:off x="3914546" y="1688897"/>
            <a:ext cx="4200754" cy="523859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30" y="4039362"/>
            <a:ext cx="12191695" cy="19202"/>
          </a:xfrm>
          <a:prstGeom prst="rect">
            <a:avLst/>
          </a:prstGeom>
          <a:solidFill>
            <a:srgbClr val="60A5F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12700" dir="16200000" algn="bl" rotWithShape="0">
              <a:srgbClr val="60A5FA">
                <a:alpha val="6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5763463" y="1701698"/>
            <a:ext cx="33631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Competence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5301691" y="2022696"/>
            <a:ext cx="3824935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직무 수행을 </a:t>
            </a: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위해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필요한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중심의 능력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8735263" y="2693866"/>
            <a:ext cx="381305" cy="19202"/>
          </a:xfrm>
          <a:prstGeom prst="rect">
            <a:avLst/>
          </a:prstGeom>
          <a:solidFill>
            <a:srgbClr val="60A5FA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 txBox="1"/>
          <p:nvPr/>
        </p:nvSpPr>
        <p:spPr>
          <a:xfrm>
            <a:off x="7318726" y="2864859"/>
            <a:ext cx="18242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가능 (Measurable)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983065" y="2912407"/>
            <a:ext cx="133502" cy="13350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307753" y="3170268"/>
            <a:ext cx="18352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관찰 가능 (Observable)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7"/>
          <a:srcRect l="-837" r="-837"/>
          <a:stretch/>
        </p:blipFill>
        <p:spPr>
          <a:xfrm>
            <a:off x="8963863" y="3217817"/>
            <a:ext cx="152705" cy="13350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837191" y="3474763"/>
            <a:ext cx="1381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단기간 개발 가능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9002268" y="3522312"/>
            <a:ext cx="114300" cy="133502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7690104" y="1272844"/>
            <a:ext cx="1429207" cy="314554"/>
          </a:xfrm>
          <a:prstGeom prst="roundRect">
            <a:avLst>
              <a:gd name="adj" fmla="val 52854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3B82F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1"/>
          <p:cNvSpPr txBox="1"/>
          <p:nvPr/>
        </p:nvSpPr>
        <p:spPr>
          <a:xfrm>
            <a:off x="7746796" y="1330452"/>
            <a:ext cx="12390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75" dirty="0">
                <a:solidFill>
                  <a:srgbClr val="EFF6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SURFACE LEVEL</a:t>
            </a:r>
            <a:endParaRPr lang="en-US" sz="1000" dirty="0"/>
          </a:p>
        </p:txBody>
      </p:sp>
      <p:sp>
        <p:nvSpPr>
          <p:cNvPr id="19" name="Text 12"/>
          <p:cNvSpPr txBox="1"/>
          <p:nvPr/>
        </p:nvSpPr>
        <p:spPr>
          <a:xfrm>
            <a:off x="2769718" y="1657807"/>
            <a:ext cx="34390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구성 요소</a:t>
            </a:r>
            <a:endParaRPr lang="en-US" sz="1500" dirty="0"/>
          </a:p>
        </p:txBody>
      </p:sp>
      <p:sp>
        <p:nvSpPr>
          <p:cNvPr id="20" name="Shape 13"/>
          <p:cNvSpPr/>
          <p:nvPr/>
        </p:nvSpPr>
        <p:spPr>
          <a:xfrm>
            <a:off x="2769718" y="2039112"/>
            <a:ext cx="381305" cy="19202"/>
          </a:xfrm>
          <a:prstGeom prst="rect">
            <a:avLst/>
          </a:prstGeom>
          <a:solidFill>
            <a:srgbClr val="60A5FA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4"/>
          <p:cNvSpPr txBox="1"/>
          <p:nvPr/>
        </p:nvSpPr>
        <p:spPr>
          <a:xfrm>
            <a:off x="3047610" y="2210105"/>
            <a:ext cx="321045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지식 (Knowledge)</a:t>
            </a: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전문 정보</a:t>
            </a:r>
            <a:endParaRPr lang="en-US" sz="12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9"/>
          <a:srcRect l="-837" r="-837"/>
          <a:stretch/>
        </p:blipFill>
        <p:spPr>
          <a:xfrm>
            <a:off x="2769718" y="2257654"/>
            <a:ext cx="152705" cy="13350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3028408" y="2553005"/>
            <a:ext cx="32296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(Skill)</a:t>
            </a: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숙련도</a:t>
            </a:r>
            <a:endParaRPr lang="en-US" sz="12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2769718" y="2600554"/>
            <a:ext cx="133502" cy="133502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3009206" y="2895905"/>
            <a:ext cx="3248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 (Behavior)</a:t>
            </a: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실행</a:t>
            </a:r>
            <a:endParaRPr lang="en-US" sz="12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1"/>
          <a:srcRect t="-1100" b="-1100"/>
          <a:stretch/>
        </p:blipFill>
        <p:spPr>
          <a:xfrm>
            <a:off x="2769718" y="2943454"/>
            <a:ext cx="114300" cy="133502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2769718" y="3238805"/>
            <a:ext cx="19202" cy="190195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18"/>
          <p:cNvSpPr txBox="1"/>
          <p:nvPr/>
        </p:nvSpPr>
        <p:spPr>
          <a:xfrm>
            <a:off x="3017520" y="3238805"/>
            <a:ext cx="3191256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"데이터 분석, 코딩, 외국어 등"</a:t>
            </a:r>
            <a:endParaRPr lang="en-US" sz="1200" dirty="0"/>
          </a:p>
        </p:txBody>
      </p:sp>
      <p:sp>
        <p:nvSpPr>
          <p:cNvPr id="29" name="Text 19"/>
          <p:cNvSpPr txBox="1"/>
          <p:nvPr/>
        </p:nvSpPr>
        <p:spPr>
          <a:xfrm>
            <a:off x="733349" y="4374490"/>
            <a:ext cx="33531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Competency</a:t>
            </a:r>
            <a:endParaRPr lang="en-US" sz="2400" dirty="0"/>
          </a:p>
        </p:txBody>
      </p:sp>
      <p:sp>
        <p:nvSpPr>
          <p:cNvPr id="30" name="Text 20"/>
          <p:cNvSpPr txBox="1"/>
          <p:nvPr/>
        </p:nvSpPr>
        <p:spPr>
          <a:xfrm>
            <a:off x="145390" y="4907585"/>
            <a:ext cx="3941064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행동을 유발하는 개인의</a:t>
            </a:r>
            <a:endParaRPr lang="en-US" sz="1200" dirty="0"/>
          </a:p>
          <a:p>
            <a:pPr marL="0" indent="0" algn="r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내재적이고 근본적인 특성</a:t>
            </a:r>
            <a:endParaRPr lang="en-US" sz="1200" dirty="0"/>
          </a:p>
        </p:txBody>
      </p:sp>
      <p:sp>
        <p:nvSpPr>
          <p:cNvPr id="31" name="Shape 21"/>
          <p:cNvSpPr/>
          <p:nvPr/>
        </p:nvSpPr>
        <p:spPr>
          <a:xfrm>
            <a:off x="3705149" y="5578754"/>
            <a:ext cx="381305" cy="19202"/>
          </a:xfrm>
          <a:prstGeom prst="rect">
            <a:avLst/>
          </a:prstGeom>
          <a:solidFill>
            <a:srgbClr val="60A5FA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2"/>
          <p:cNvSpPr txBox="1"/>
          <p:nvPr/>
        </p:nvSpPr>
        <p:spPr>
          <a:xfrm>
            <a:off x="450320" y="5749747"/>
            <a:ext cx="3353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어려움 (Hard to Measure)</a:t>
            </a:r>
            <a:endParaRPr lang="en-US" sz="12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3952951" y="5797296"/>
            <a:ext cx="133502" cy="133502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450320" y="6055157"/>
            <a:ext cx="3353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잠재적 (Latent)</a:t>
            </a:r>
            <a:endParaRPr lang="en-US" sz="120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13"/>
          <a:srcRect t="-1100" b="-1100"/>
          <a:stretch/>
        </p:blipFill>
        <p:spPr>
          <a:xfrm>
            <a:off x="3972154" y="6102706"/>
            <a:ext cx="114300" cy="133502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374425" y="635965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개발에 장기간 소요</a:t>
            </a:r>
            <a:endParaRPr lang="en-US" sz="120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14"/>
          <a:srcRect l="-2512" r="-2512"/>
          <a:stretch/>
        </p:blipFill>
        <p:spPr>
          <a:xfrm>
            <a:off x="3981298" y="6407201"/>
            <a:ext cx="105156" cy="133502"/>
          </a:xfrm>
          <a:prstGeom prst="rect">
            <a:avLst/>
          </a:prstGeom>
        </p:spPr>
      </p:pic>
      <p:sp>
        <p:nvSpPr>
          <p:cNvPr id="38" name="Shape 25"/>
          <p:cNvSpPr/>
          <p:nvPr/>
        </p:nvSpPr>
        <p:spPr>
          <a:xfrm>
            <a:off x="2918765" y="3926434"/>
            <a:ext cx="1171346" cy="333756"/>
          </a:xfrm>
          <a:prstGeom prst="roundRect">
            <a:avLst>
              <a:gd name="adj" fmla="val 46967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  <a:effectLst>
            <a:outerShdw blurRad="63500" dist="38100" dir="16200000" algn="bl" rotWithShape="0">
              <a:srgbClr val="1E3A8A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Text 26"/>
          <p:cNvSpPr txBox="1"/>
          <p:nvPr/>
        </p:nvSpPr>
        <p:spPr>
          <a:xfrm>
            <a:off x="2985516" y="3993185"/>
            <a:ext cx="9628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75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 LEVEL</a:t>
            </a:r>
            <a:endParaRPr lang="en-US" sz="1000" dirty="0"/>
          </a:p>
        </p:txBody>
      </p:sp>
      <p:sp>
        <p:nvSpPr>
          <p:cNvPr id="40" name="Text 27"/>
          <p:cNvSpPr txBox="1"/>
          <p:nvPr/>
        </p:nvSpPr>
        <p:spPr>
          <a:xfrm>
            <a:off x="8097012" y="4827118"/>
            <a:ext cx="34390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5B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구성 요소</a:t>
            </a:r>
            <a:endParaRPr lang="en-US" sz="1500" dirty="0"/>
          </a:p>
        </p:txBody>
      </p:sp>
      <p:sp>
        <p:nvSpPr>
          <p:cNvPr id="41" name="Shape 28"/>
          <p:cNvSpPr/>
          <p:nvPr/>
        </p:nvSpPr>
        <p:spPr>
          <a:xfrm>
            <a:off x="8097012" y="5208422"/>
            <a:ext cx="381305" cy="19202"/>
          </a:xfrm>
          <a:prstGeom prst="rect">
            <a:avLst/>
          </a:prstGeom>
          <a:solidFill>
            <a:srgbClr val="60A5FA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29"/>
          <p:cNvSpPr txBox="1"/>
          <p:nvPr/>
        </p:nvSpPr>
        <p:spPr>
          <a:xfrm>
            <a:off x="8287514" y="5380330"/>
            <a:ext cx="3248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동기 (Motive)</a:t>
            </a: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성취 욕구</a:t>
            </a:r>
            <a:endParaRPr lang="en-US" sz="1200" dirty="0"/>
          </a:p>
        </p:txBody>
      </p:sp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15"/>
          <a:srcRect t="-1100" b="-1100"/>
          <a:stretch/>
        </p:blipFill>
        <p:spPr>
          <a:xfrm>
            <a:off x="8097012" y="5427878"/>
            <a:ext cx="114300" cy="133502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8306716" y="5723230"/>
            <a:ext cx="32296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특질 (Trait)</a:t>
            </a: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신체/성격</a:t>
            </a:r>
            <a:endParaRPr lang="en-US" sz="1200" dirty="0"/>
          </a:p>
        </p:txBody>
      </p:sp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097012" y="5770778"/>
            <a:ext cx="133502" cy="133502"/>
          </a:xfrm>
          <a:prstGeom prst="rect">
            <a:avLst/>
          </a:prstGeom>
        </p:spPr>
      </p:pic>
      <p:sp>
        <p:nvSpPr>
          <p:cNvPr id="46" name="Text 31"/>
          <p:cNvSpPr txBox="1"/>
          <p:nvPr/>
        </p:nvSpPr>
        <p:spPr>
          <a:xfrm>
            <a:off x="8325919" y="6066130"/>
            <a:ext cx="3210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자아개념 (Self-Concept)</a:t>
            </a:r>
            <a:endParaRPr lang="en-US" sz="1200" dirty="0"/>
          </a:p>
        </p:txBody>
      </p:sp>
      <p:pic>
        <p:nvPicPr>
          <p:cNvPr id="47" name="Image 13" descr="preencoded.png"/>
          <p:cNvPicPr>
            <a:picLocks noChangeAspect="1"/>
          </p:cNvPicPr>
          <p:nvPr/>
        </p:nvPicPr>
        <p:blipFill>
          <a:blip r:embed="rId17"/>
          <a:srcRect l="-837" r="-837"/>
          <a:stretch/>
        </p:blipFill>
        <p:spPr>
          <a:xfrm>
            <a:off x="8097012" y="6113678"/>
            <a:ext cx="152705" cy="133502"/>
          </a:xfrm>
          <a:prstGeom prst="rect">
            <a:avLst/>
          </a:prstGeom>
        </p:spPr>
      </p:pic>
      <p:sp>
        <p:nvSpPr>
          <p:cNvPr id="48" name="Shape 32"/>
          <p:cNvSpPr/>
          <p:nvPr/>
        </p:nvSpPr>
        <p:spPr>
          <a:xfrm>
            <a:off x="8097012" y="6409030"/>
            <a:ext cx="19202" cy="190195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33"/>
          <p:cNvSpPr txBox="1"/>
          <p:nvPr/>
        </p:nvSpPr>
        <p:spPr>
          <a:xfrm>
            <a:off x="8344814" y="6409030"/>
            <a:ext cx="3191256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"끈기, 호기심, 공감능력 등"</a:t>
            </a:r>
            <a:endParaRPr lang="en-US" sz="1200" dirty="0"/>
          </a:p>
        </p:txBody>
      </p:sp>
      <p:sp>
        <p:nvSpPr>
          <p:cNvPr id="50" name="Text 34"/>
          <p:cNvSpPr txBox="1"/>
          <p:nvPr/>
        </p:nvSpPr>
        <p:spPr>
          <a:xfrm>
            <a:off x="494690" y="467258"/>
            <a:ext cx="621060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빙산</a:t>
            </a: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7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</a:t>
            </a: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 </a:t>
            </a:r>
            <a:r>
              <a:rPr lang="en-US" sz="2700" b="1" dirty="0" err="1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역량의</a:t>
            </a:r>
            <a:r>
              <a:rPr lang="en-US" sz="27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이중 구조</a:t>
            </a:r>
            <a:endParaRPr lang="en-US" sz="2700" dirty="0"/>
          </a:p>
        </p:txBody>
      </p:sp>
      <p:sp>
        <p:nvSpPr>
          <p:cNvPr id="51" name="Text 35"/>
          <p:cNvSpPr txBox="1"/>
          <p:nvPr/>
        </p:nvSpPr>
        <p:spPr>
          <a:xfrm>
            <a:off x="494690" y="924458"/>
            <a:ext cx="65919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보이는 능력(Competence)과 숨겨진 역량(Competency)의 관계를 통한 심층 분석</a:t>
            </a:r>
            <a:endParaRPr lang="en-US" sz="1300" dirty="0"/>
          </a:p>
        </p:txBody>
      </p:sp>
      <p:sp>
        <p:nvSpPr>
          <p:cNvPr id="5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334110"/>
            <a:ext cx="11048695" cy="9144"/>
          </a:xfrm>
          <a:prstGeom prst="rect">
            <a:avLst/>
          </a:prstGeom>
          <a:solidFill>
            <a:srgbClr val="94A3B8">
              <a:alpha val="2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571500" y="381305"/>
            <a:ext cx="113541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빙산 모델과 AI 활용 전략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933602"/>
            <a:ext cx="111639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AI를 활용한 역량(Competency)과 능력(Competence) 개발의 두 가지 접근법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71500" y="1628546"/>
            <a:ext cx="5381244" cy="4200754"/>
          </a:xfrm>
          <a:prstGeom prst="roundRect">
            <a:avLst>
              <a:gd name="adj" fmla="val 790"/>
            </a:avLst>
          </a:prstGeom>
          <a:solidFill>
            <a:srgbClr val="0F172A">
              <a:alpha val="60000"/>
            </a:srgbClr>
          </a:solidFill>
          <a:ln w="25400">
            <a:solidFill>
              <a:srgbClr val="3B82F6">
                <a:alpha val="40000"/>
              </a:srgbClr>
            </a:solidFill>
            <a:prstDash val="solid"/>
          </a:ln>
          <a:effectLst>
            <a:outerShdw blurRad="190500" dist="38100" dir="162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19302" y="1876349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2563EB">
              <a:alpha val="20000"/>
            </a:srgbClr>
          </a:solidFill>
          <a:ln w="12700">
            <a:solidFill>
              <a:srgbClr val="60A5F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1000354" y="2029054"/>
            <a:ext cx="171907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05102" y="1891894"/>
            <a:ext cx="209031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Competence 강화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1505102" y="2194560"/>
            <a:ext cx="18937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Skill Acquisition Strategy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819302" y="2600554"/>
            <a:ext cx="71725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AI를</a:t>
            </a:r>
            <a:r>
              <a:rPr lang="en-US" sz="12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튜터(Personal Tutor)</a:t>
            </a: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</a:t>
            </a:r>
            <a:r>
              <a:rPr lang="en-US" sz="12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활용하여</a:t>
            </a: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새로운</a:t>
            </a: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지식과 기술을 습득하는 시간을 획기적으로 단축할 수 있습니다.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9302" y="4610405"/>
            <a:ext cx="4886554" cy="972007"/>
          </a:xfrm>
          <a:prstGeom prst="roundRect">
            <a:avLst>
              <a:gd name="adj" fmla="val 9223"/>
            </a:avLst>
          </a:prstGeom>
          <a:solidFill>
            <a:srgbClr val="1E293B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819302" y="4610405"/>
            <a:ext cx="488655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rcRect l="-1358" r="-1358"/>
          <a:stretch/>
        </p:blipFill>
        <p:spPr>
          <a:xfrm>
            <a:off x="972007" y="4807001"/>
            <a:ext cx="142646" cy="1234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90549" y="4772254"/>
            <a:ext cx="6080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예시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972007" y="5052974"/>
            <a:ext cx="1333195" cy="371246"/>
          </a:xfrm>
          <a:prstGeom prst="roundRect">
            <a:avLst>
              <a:gd name="adj" fmla="val 50524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14654" y="5181905"/>
            <a:ext cx="114300" cy="1143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228954" y="5052974"/>
            <a:ext cx="113111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분석 스킬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2400300" y="5052974"/>
            <a:ext cx="1333195" cy="371246"/>
          </a:xfrm>
          <a:prstGeom prst="roundRect">
            <a:avLst>
              <a:gd name="adj" fmla="val 50524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8"/>
          <a:srcRect t="-80" b="-80"/>
          <a:stretch/>
        </p:blipFill>
        <p:spPr>
          <a:xfrm>
            <a:off x="2542946" y="5181905"/>
            <a:ext cx="142646" cy="1143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2686507" y="5052974"/>
            <a:ext cx="107716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코딩 / 디버깅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3825850" y="5052974"/>
            <a:ext cx="1086307" cy="371246"/>
          </a:xfrm>
          <a:prstGeom prst="roundRect">
            <a:avLst>
              <a:gd name="adj" fmla="val 50524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9"/>
          <a:srcRect t="-80" b="-80"/>
          <a:stretch/>
        </p:blipFill>
        <p:spPr>
          <a:xfrm>
            <a:off x="3968496" y="5181905"/>
            <a:ext cx="142646" cy="1143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4112057" y="5052974"/>
            <a:ext cx="77358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외국어 학습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6238951" y="1628546"/>
            <a:ext cx="5381244" cy="4200754"/>
          </a:xfrm>
          <a:prstGeom prst="roundRect">
            <a:avLst>
              <a:gd name="adj" fmla="val 790"/>
            </a:avLst>
          </a:prstGeom>
          <a:solidFill>
            <a:srgbClr val="0F172A">
              <a:alpha val="60000"/>
            </a:srgbClr>
          </a:solidFill>
          <a:ln w="25400">
            <a:solidFill>
              <a:srgbClr val="8B5CF6">
                <a:alpha val="40000"/>
              </a:srgbClr>
            </a:solidFill>
            <a:prstDash val="solid"/>
          </a:ln>
          <a:effectLst>
            <a:outerShdw blurRad="190500" dist="38100" dir="16200000" algn="bl" rotWithShape="0">
              <a:srgbClr val="8B5CF6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0"/>
          <p:cNvSpPr/>
          <p:nvPr/>
        </p:nvSpPr>
        <p:spPr>
          <a:xfrm>
            <a:off x="6486754" y="1876349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7C3AED">
              <a:alpha val="20000"/>
            </a:srgbClr>
          </a:solidFill>
          <a:ln w="12700">
            <a:solidFill>
              <a:srgbClr val="A78BF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638544" y="2029054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7172554" y="1891894"/>
            <a:ext cx="209031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Competency 발견</a:t>
            </a:r>
            <a:endParaRPr lang="en-US" sz="1800" dirty="0"/>
          </a:p>
        </p:txBody>
      </p:sp>
      <p:sp>
        <p:nvSpPr>
          <p:cNvPr id="31" name="Text 22"/>
          <p:cNvSpPr txBox="1"/>
          <p:nvPr/>
        </p:nvSpPr>
        <p:spPr>
          <a:xfrm>
            <a:off x="7172554" y="2194560"/>
            <a:ext cx="17574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Self-Discovery Strategy</a:t>
            </a:r>
            <a:endParaRPr lang="en-US" sz="1000" dirty="0"/>
          </a:p>
        </p:txBody>
      </p:sp>
      <p:sp>
        <p:nvSpPr>
          <p:cNvPr id="32" name="Text 23"/>
          <p:cNvSpPr txBox="1"/>
          <p:nvPr/>
        </p:nvSpPr>
        <p:spPr>
          <a:xfrm>
            <a:off x="6486754" y="2600554"/>
            <a:ext cx="71725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AI와의</a:t>
            </a:r>
            <a:r>
              <a:rPr lang="en-US" sz="12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대화적 회고(Reflective Chat)</a:t>
            </a: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</a:t>
            </a:r>
            <a:r>
              <a:rPr lang="en-US" sz="12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통해</a:t>
            </a: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평소</a:t>
            </a: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인지하지 못했던 나의 습관, 동기, 가치관 등 내재적 특성을 발견합니다.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6486754" y="4610405"/>
            <a:ext cx="4886554" cy="972007"/>
          </a:xfrm>
          <a:prstGeom prst="roundRect">
            <a:avLst>
              <a:gd name="adj" fmla="val 9223"/>
            </a:avLst>
          </a:prstGeom>
          <a:solidFill>
            <a:srgbClr val="1E293B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5"/>
          <p:cNvSpPr/>
          <p:nvPr/>
        </p:nvSpPr>
        <p:spPr>
          <a:xfrm>
            <a:off x="6486754" y="4610405"/>
            <a:ext cx="488655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6"/>
          <a:srcRect l="-1358" r="-1358"/>
          <a:stretch/>
        </p:blipFill>
        <p:spPr>
          <a:xfrm>
            <a:off x="6638544" y="4807001"/>
            <a:ext cx="142646" cy="123444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6858000" y="4772254"/>
            <a:ext cx="6080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예시</a:t>
            </a:r>
            <a:endParaRPr lang="en-US" sz="900" dirty="0"/>
          </a:p>
        </p:txBody>
      </p:sp>
      <p:sp>
        <p:nvSpPr>
          <p:cNvPr id="37" name="Shape 27"/>
          <p:cNvSpPr/>
          <p:nvPr/>
        </p:nvSpPr>
        <p:spPr>
          <a:xfrm>
            <a:off x="6638544" y="5052974"/>
            <a:ext cx="1238098" cy="371246"/>
          </a:xfrm>
          <a:prstGeom prst="roundRect">
            <a:avLst>
              <a:gd name="adj" fmla="val 50524"/>
            </a:avLst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1"/>
          <a:srcRect l="-1911" r="-1911"/>
          <a:stretch/>
        </p:blipFill>
        <p:spPr>
          <a:xfrm>
            <a:off x="6782105" y="5181905"/>
            <a:ext cx="133502" cy="11430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6915607" y="5052974"/>
            <a:ext cx="99395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9D5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성찰 일지 분석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7964424" y="5052974"/>
            <a:ext cx="1333195" cy="371246"/>
          </a:xfrm>
          <a:prstGeom prst="roundRect">
            <a:avLst>
              <a:gd name="adj" fmla="val 50524"/>
            </a:avLst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107070" y="5181905"/>
            <a:ext cx="114300" cy="114300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8221370" y="5052974"/>
            <a:ext cx="113111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9D5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강점 기반 피드백</a:t>
            </a:r>
            <a:endParaRPr lang="en-US" sz="1000" dirty="0"/>
          </a:p>
        </p:txBody>
      </p:sp>
      <p:sp>
        <p:nvSpPr>
          <p:cNvPr id="43" name="Shape 31"/>
          <p:cNvSpPr/>
          <p:nvPr/>
        </p:nvSpPr>
        <p:spPr>
          <a:xfrm>
            <a:off x="9392717" y="5052974"/>
            <a:ext cx="1218895" cy="371246"/>
          </a:xfrm>
          <a:prstGeom prst="roundRect">
            <a:avLst>
              <a:gd name="adj" fmla="val 50524"/>
            </a:avLst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9535363" y="5181905"/>
            <a:ext cx="114300" cy="114300"/>
          </a:xfrm>
          <a:prstGeom prst="rect">
            <a:avLst/>
          </a:prstGeom>
        </p:spPr>
      </p:pic>
      <p:sp>
        <p:nvSpPr>
          <p:cNvPr id="45" name="Text 32"/>
          <p:cNvSpPr txBox="1"/>
          <p:nvPr/>
        </p:nvSpPr>
        <p:spPr>
          <a:xfrm>
            <a:off x="9649663" y="5052974"/>
            <a:ext cx="99395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9D5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내적 동기 탐색</a:t>
            </a:r>
            <a:endParaRPr lang="en-US" sz="1000" dirty="0"/>
          </a:p>
        </p:txBody>
      </p:sp>
      <p:sp>
        <p:nvSpPr>
          <p:cNvPr id="46" name="Shape 33"/>
          <p:cNvSpPr/>
          <p:nvPr/>
        </p:nvSpPr>
        <p:spPr>
          <a:xfrm>
            <a:off x="1753819" y="6014923"/>
            <a:ext cx="8686800" cy="466344"/>
          </a:xfrm>
          <a:prstGeom prst="roundRect">
            <a:avLst>
              <a:gd name="adj" fmla="val 196078"/>
            </a:avLst>
          </a:prstGeom>
          <a:solidFill>
            <a:srgbClr val="0F172A">
              <a:alpha val="80000"/>
            </a:srgbClr>
          </a:solidFill>
          <a:ln w="12700">
            <a:solidFill>
              <a:srgbClr val="94A3B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7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992478" y="6169457"/>
            <a:ext cx="152705" cy="152705"/>
          </a:xfrm>
          <a:prstGeom prst="rect">
            <a:avLst/>
          </a:prstGeom>
        </p:spPr>
      </p:pic>
      <p:sp>
        <p:nvSpPr>
          <p:cNvPr id="48" name="Text 34"/>
          <p:cNvSpPr txBox="1"/>
          <p:nvPr/>
        </p:nvSpPr>
        <p:spPr>
          <a:xfrm>
            <a:off x="2240280" y="6014923"/>
            <a:ext cx="803940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Note : 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Competency(내재적 역량) 개발에는 장기간이 소요됩니다. AI는 이를 대체하는 </a:t>
            </a:r>
            <a:r>
              <a:rPr lang="en-US" sz="11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것이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아니라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00" b="1" dirty="0" err="1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발견을</a:t>
            </a:r>
            <a:r>
              <a:rPr lang="en-US" sz="11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돕는 보조 도구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활용하세요.</a:t>
            </a:r>
            <a:endParaRPr lang="en-US" sz="1100" dirty="0"/>
          </a:p>
        </p:txBody>
      </p:sp>
      <p:sp>
        <p:nvSpPr>
          <p:cNvPr id="4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1874" b="21874"/>
          <a:stretch/>
        </p:blipFill>
        <p:spPr>
          <a:xfrm>
            <a:off x="721984" y="-360047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9024" y="961949"/>
            <a:ext cx="1143000" cy="333756"/>
          </a:xfrm>
          <a:prstGeom prst="roundRect">
            <a:avLst>
              <a:gd name="adj" fmla="val 156556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10640873" y="1028700"/>
            <a:ext cx="10579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 로드맵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40646" y="391519"/>
            <a:ext cx="43059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역량 분류 4분면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40646" y="982221"/>
            <a:ext cx="47082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NCS 기반 역량 구조를 대학생 관점에서 재해석한 핵심 매트릭스</a:t>
            </a:r>
            <a:endParaRPr lang="en-US" sz="1200" dirty="0"/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DBC37499-1AC3-533B-1441-00A0E3CBD744}"/>
              </a:ext>
            </a:extLst>
          </p:cNvPr>
          <p:cNvGrpSpPr/>
          <p:nvPr/>
        </p:nvGrpSpPr>
        <p:grpSpPr>
          <a:xfrm>
            <a:off x="915629" y="1413775"/>
            <a:ext cx="10232571" cy="5042002"/>
            <a:chOff x="571500" y="1203350"/>
            <a:chExt cx="11066069" cy="5613502"/>
          </a:xfrm>
        </p:grpSpPr>
        <p:sp>
          <p:nvSpPr>
            <p:cNvPr id="9" name="Shape 6"/>
            <p:cNvSpPr/>
            <p:nvPr/>
          </p:nvSpPr>
          <p:spPr>
            <a:xfrm>
              <a:off x="571500" y="1203350"/>
              <a:ext cx="5410505" cy="2790749"/>
            </a:xfrm>
            <a:prstGeom prst="roundRect">
              <a:avLst>
                <a:gd name="adj" fmla="val 1342"/>
              </a:avLst>
            </a:prstGeom>
            <a:solidFill>
              <a:srgbClr val="FFFFFF">
                <a:alpha val="3000"/>
              </a:srgbClr>
            </a:solidFill>
            <a:ln w="12700">
              <a:solidFill>
                <a:srgbClr val="FFFFFF">
                  <a:alpha val="800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Shape 7"/>
            <p:cNvSpPr/>
            <p:nvPr/>
          </p:nvSpPr>
          <p:spPr>
            <a:xfrm>
              <a:off x="571500" y="1203350"/>
              <a:ext cx="38405" cy="2790749"/>
            </a:xfrm>
            <a:prstGeom prst="rect">
              <a:avLst/>
            </a:prstGeom>
            <a:solidFill>
              <a:srgbClr val="3B82F6"/>
            </a:solidFill>
            <a:ln w="12700">
              <a:solidFill>
                <a:srgbClr val="3B82F6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Shape 8"/>
            <p:cNvSpPr/>
            <p:nvPr/>
          </p:nvSpPr>
          <p:spPr>
            <a:xfrm>
              <a:off x="838505" y="2090318"/>
              <a:ext cx="4905756" cy="9144"/>
            </a:xfrm>
            <a:prstGeom prst="rect">
              <a:avLst/>
            </a:prstGeom>
            <a:solidFill>
              <a:srgbClr val="FFFFFF">
                <a:alpha val="5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Shape 9"/>
            <p:cNvSpPr/>
            <p:nvPr/>
          </p:nvSpPr>
          <p:spPr>
            <a:xfrm>
              <a:off x="838505" y="1479499"/>
              <a:ext cx="457200" cy="457200"/>
            </a:xfrm>
            <a:prstGeom prst="roundRect">
              <a:avLst>
                <a:gd name="adj" fmla="val 33333"/>
              </a:avLst>
            </a:prstGeom>
            <a:solidFill>
              <a:srgbClr val="3B82F6">
                <a:alpha val="1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3" name="Image 1" descr="preencoded.png"/>
            <p:cNvPicPr>
              <a:picLocks noChangeAspect="1"/>
            </p:cNvPicPr>
            <p:nvPr/>
          </p:nvPicPr>
          <p:blipFill>
            <a:blip r:embed="rId5"/>
            <a:srcRect l="-1282" r="-1282"/>
            <a:stretch/>
          </p:blipFill>
          <p:spPr>
            <a:xfrm>
              <a:off x="957377" y="1613002"/>
              <a:ext cx="219456" cy="190195"/>
            </a:xfrm>
            <a:prstGeom prst="rect">
              <a:avLst/>
            </a:prstGeom>
          </p:spPr>
        </p:pic>
        <p:sp>
          <p:nvSpPr>
            <p:cNvPr id="14" name="Text 10"/>
            <p:cNvSpPr txBox="1"/>
            <p:nvPr/>
          </p:nvSpPr>
          <p:spPr>
            <a:xfrm>
              <a:off x="1447495" y="1442009"/>
              <a:ext cx="2191817" cy="314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기초적 직무 능력</a:t>
              </a:r>
              <a:endParaRPr lang="en-US" sz="1600" dirty="0"/>
            </a:p>
          </p:txBody>
        </p:sp>
        <p:sp>
          <p:nvSpPr>
            <p:cNvPr id="15" name="Text 11"/>
            <p:cNvSpPr txBox="1"/>
            <p:nvPr/>
          </p:nvSpPr>
          <p:spPr>
            <a:xfrm>
              <a:off x="1447495" y="1774850"/>
              <a:ext cx="248351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4A3B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모든 직무의 베이스가 되는 필수 기술</a:t>
              </a:r>
              <a:endParaRPr lang="en-US" sz="1000" dirty="0"/>
            </a:p>
          </p:txBody>
        </p:sp>
        <p:sp>
          <p:nvSpPr>
            <p:cNvPr id="16" name="Shape 12"/>
            <p:cNvSpPr/>
            <p:nvPr/>
          </p:nvSpPr>
          <p:spPr>
            <a:xfrm>
              <a:off x="838505" y="2365553"/>
              <a:ext cx="57607" cy="57607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 13"/>
            <p:cNvSpPr txBox="1"/>
            <p:nvPr/>
          </p:nvSpPr>
          <p:spPr>
            <a:xfrm>
              <a:off x="990295" y="2289658"/>
              <a:ext cx="224851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E2E8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전문 지식 및 기술 (전공 기초)</a:t>
              </a:r>
              <a:endParaRPr lang="en-US" sz="1100" dirty="0"/>
            </a:p>
          </p:txBody>
        </p:sp>
        <p:sp>
          <p:nvSpPr>
            <p:cNvPr id="18" name="Shape 14"/>
            <p:cNvSpPr/>
            <p:nvPr/>
          </p:nvSpPr>
          <p:spPr>
            <a:xfrm>
              <a:off x="838505" y="2656332"/>
              <a:ext cx="57607" cy="57607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 15"/>
            <p:cNvSpPr txBox="1"/>
            <p:nvPr/>
          </p:nvSpPr>
          <p:spPr>
            <a:xfrm>
              <a:off x="990295" y="2580437"/>
              <a:ext cx="1566367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E2E8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비즈니스 커뮤니케이션</a:t>
              </a:r>
              <a:endParaRPr lang="en-US" sz="1100" dirty="0"/>
            </a:p>
          </p:txBody>
        </p:sp>
        <p:sp>
          <p:nvSpPr>
            <p:cNvPr id="20" name="Shape 16"/>
            <p:cNvSpPr/>
            <p:nvPr/>
          </p:nvSpPr>
          <p:spPr>
            <a:xfrm>
              <a:off x="838505" y="2947111"/>
              <a:ext cx="57607" cy="57607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 17"/>
            <p:cNvSpPr txBox="1"/>
            <p:nvPr/>
          </p:nvSpPr>
          <p:spPr>
            <a:xfrm>
              <a:off x="990295" y="2870302"/>
              <a:ext cx="1301191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E2E8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직업 윤리 및 태도</a:t>
              </a:r>
              <a:endParaRPr lang="en-US" sz="1100" dirty="0"/>
            </a:p>
          </p:txBody>
        </p:sp>
        <p:sp>
          <p:nvSpPr>
            <p:cNvPr id="22" name="Shape 18"/>
            <p:cNvSpPr/>
            <p:nvPr/>
          </p:nvSpPr>
          <p:spPr>
            <a:xfrm>
              <a:off x="838505" y="3313786"/>
              <a:ext cx="4905756" cy="448056"/>
            </a:xfrm>
            <a:prstGeom prst="roundRect">
              <a:avLst>
                <a:gd name="adj" fmla="val 34737"/>
              </a:avLst>
            </a:prstGeom>
            <a:solidFill>
              <a:srgbClr val="000000">
                <a:alpha val="2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Shape 19"/>
            <p:cNvSpPr/>
            <p:nvPr/>
          </p:nvSpPr>
          <p:spPr>
            <a:xfrm>
              <a:off x="990295" y="3428086"/>
              <a:ext cx="466344" cy="219456"/>
            </a:xfrm>
            <a:prstGeom prst="roundRect">
              <a:avLst>
                <a:gd name="adj" fmla="val 72464"/>
              </a:avLst>
            </a:prstGeom>
            <a:solidFill>
              <a:srgbClr val="1E293B"/>
            </a:solidFill>
            <a:ln w="12700">
              <a:solidFill>
                <a:srgbClr val="FFFFFF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 20"/>
            <p:cNvSpPr txBox="1"/>
            <p:nvPr/>
          </p:nvSpPr>
          <p:spPr>
            <a:xfrm>
              <a:off x="1057046" y="3456432"/>
              <a:ext cx="409651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AI 활용</a:t>
              </a:r>
              <a:endParaRPr lang="en-US" sz="800" dirty="0"/>
            </a:p>
          </p:txBody>
        </p:sp>
        <p:sp>
          <p:nvSpPr>
            <p:cNvPr id="25" name="Text 21"/>
            <p:cNvSpPr txBox="1"/>
            <p:nvPr/>
          </p:nvSpPr>
          <p:spPr>
            <a:xfrm>
              <a:off x="1547165" y="3441802"/>
              <a:ext cx="304403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전문 용어 학습 및 비즈니스 메일 초안 작성 지원</a:t>
              </a:r>
              <a:endParaRPr lang="en-US" sz="900" dirty="0"/>
            </a:p>
          </p:txBody>
        </p:sp>
        <p:sp>
          <p:nvSpPr>
            <p:cNvPr id="26" name="Shape 22"/>
            <p:cNvSpPr/>
            <p:nvPr/>
          </p:nvSpPr>
          <p:spPr>
            <a:xfrm>
              <a:off x="6210605" y="1203350"/>
              <a:ext cx="5410505" cy="2790749"/>
            </a:xfrm>
            <a:prstGeom prst="roundRect">
              <a:avLst>
                <a:gd name="adj" fmla="val 1342"/>
              </a:avLst>
            </a:prstGeom>
            <a:solidFill>
              <a:srgbClr val="FFFFFF">
                <a:alpha val="3000"/>
              </a:srgbClr>
            </a:solidFill>
            <a:ln w="12700">
              <a:solidFill>
                <a:srgbClr val="FFFFFF">
                  <a:alpha val="800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Shape 23"/>
            <p:cNvSpPr/>
            <p:nvPr/>
          </p:nvSpPr>
          <p:spPr>
            <a:xfrm>
              <a:off x="6210605" y="1203350"/>
              <a:ext cx="38405" cy="2790749"/>
            </a:xfrm>
            <a:prstGeom prst="rect">
              <a:avLst/>
            </a:prstGeom>
            <a:solidFill>
              <a:srgbClr val="10B981"/>
            </a:solidFill>
            <a:ln w="12700">
              <a:solidFill>
                <a:srgbClr val="10B981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Shape 24"/>
            <p:cNvSpPr/>
            <p:nvPr/>
          </p:nvSpPr>
          <p:spPr>
            <a:xfrm>
              <a:off x="6476695" y="2090318"/>
              <a:ext cx="4905756" cy="9144"/>
            </a:xfrm>
            <a:prstGeom prst="rect">
              <a:avLst/>
            </a:prstGeom>
            <a:solidFill>
              <a:srgbClr val="FFFFFF">
                <a:alpha val="5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Shape 25"/>
            <p:cNvSpPr/>
            <p:nvPr/>
          </p:nvSpPr>
          <p:spPr>
            <a:xfrm>
              <a:off x="6476695" y="1479499"/>
              <a:ext cx="457200" cy="457200"/>
            </a:xfrm>
            <a:prstGeom prst="roundRect">
              <a:avLst>
                <a:gd name="adj" fmla="val 33333"/>
              </a:avLst>
            </a:prstGeom>
            <a:solidFill>
              <a:srgbClr val="10B981">
                <a:alpha val="1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0" name="Image 2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6610198" y="1613002"/>
              <a:ext cx="190195" cy="190195"/>
            </a:xfrm>
            <a:prstGeom prst="rect">
              <a:avLst/>
            </a:prstGeom>
          </p:spPr>
        </p:pic>
        <p:sp>
          <p:nvSpPr>
            <p:cNvPr id="31" name="Text 26"/>
            <p:cNvSpPr txBox="1"/>
            <p:nvPr/>
          </p:nvSpPr>
          <p:spPr>
            <a:xfrm>
              <a:off x="7086600" y="1442009"/>
              <a:ext cx="2202790" cy="314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문제 해결 및 인지력</a:t>
              </a:r>
              <a:endParaRPr lang="en-US" sz="1600" dirty="0"/>
            </a:p>
          </p:txBody>
        </p:sp>
        <p:sp>
          <p:nvSpPr>
            <p:cNvPr id="32" name="Text 27"/>
            <p:cNvSpPr txBox="1"/>
            <p:nvPr/>
          </p:nvSpPr>
          <p:spPr>
            <a:xfrm>
              <a:off x="7086600" y="1774850"/>
              <a:ext cx="2262226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4A3B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논리적 사고와 창의적 발상의 결합</a:t>
              </a:r>
              <a:endParaRPr lang="en-US" sz="1000" dirty="0"/>
            </a:p>
          </p:txBody>
        </p:sp>
        <p:sp>
          <p:nvSpPr>
            <p:cNvPr id="33" name="Shape 28"/>
            <p:cNvSpPr/>
            <p:nvPr/>
          </p:nvSpPr>
          <p:spPr>
            <a:xfrm>
              <a:off x="6476695" y="2365553"/>
              <a:ext cx="57607" cy="57607"/>
            </a:xfrm>
            <a:prstGeom prst="ellipse">
              <a:avLst/>
            </a:prstGeom>
            <a:solidFill>
              <a:srgbClr val="10B981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Text 29"/>
            <p:cNvSpPr txBox="1"/>
            <p:nvPr/>
          </p:nvSpPr>
          <p:spPr>
            <a:xfrm>
              <a:off x="6629400" y="2289658"/>
              <a:ext cx="207111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E2E8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분석적 사고력 (데이터 기반)</a:t>
              </a:r>
              <a:endParaRPr lang="en-US" sz="1100" dirty="0"/>
            </a:p>
          </p:txBody>
        </p:sp>
        <p:sp>
          <p:nvSpPr>
            <p:cNvPr id="35" name="Shape 30"/>
            <p:cNvSpPr/>
            <p:nvPr/>
          </p:nvSpPr>
          <p:spPr>
            <a:xfrm>
              <a:off x="6476695" y="2656332"/>
              <a:ext cx="57607" cy="57607"/>
            </a:xfrm>
            <a:prstGeom prst="ellipse">
              <a:avLst/>
            </a:prstGeom>
            <a:solidFill>
              <a:srgbClr val="10B981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Text 31"/>
            <p:cNvSpPr txBox="1"/>
            <p:nvPr/>
          </p:nvSpPr>
          <p:spPr>
            <a:xfrm>
              <a:off x="6629400" y="2580437"/>
              <a:ext cx="264170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E2E8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창의적 문제 해결 (Design Thinking)</a:t>
              </a:r>
              <a:endParaRPr lang="en-US" sz="1100" dirty="0"/>
            </a:p>
          </p:txBody>
        </p:sp>
        <p:sp>
          <p:nvSpPr>
            <p:cNvPr id="37" name="Shape 32"/>
            <p:cNvSpPr/>
            <p:nvPr/>
          </p:nvSpPr>
          <p:spPr>
            <a:xfrm>
              <a:off x="6476695" y="2947111"/>
              <a:ext cx="57607" cy="57607"/>
            </a:xfrm>
            <a:prstGeom prst="ellipse">
              <a:avLst/>
            </a:prstGeom>
            <a:solidFill>
              <a:srgbClr val="10B981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Text 33"/>
            <p:cNvSpPr txBox="1"/>
            <p:nvPr/>
          </p:nvSpPr>
          <p:spPr>
            <a:xfrm>
              <a:off x="6629400" y="2870302"/>
              <a:ext cx="144932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E2E8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유연성 및 복합 사고</a:t>
              </a:r>
              <a:endParaRPr lang="en-US" sz="1100" dirty="0"/>
            </a:p>
          </p:txBody>
        </p:sp>
        <p:sp>
          <p:nvSpPr>
            <p:cNvPr id="39" name="Shape 34"/>
            <p:cNvSpPr/>
            <p:nvPr/>
          </p:nvSpPr>
          <p:spPr>
            <a:xfrm>
              <a:off x="6476695" y="3313786"/>
              <a:ext cx="4905756" cy="448056"/>
            </a:xfrm>
            <a:prstGeom prst="roundRect">
              <a:avLst>
                <a:gd name="adj" fmla="val 34737"/>
              </a:avLst>
            </a:prstGeom>
            <a:solidFill>
              <a:srgbClr val="000000">
                <a:alpha val="2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Shape 35"/>
            <p:cNvSpPr/>
            <p:nvPr/>
          </p:nvSpPr>
          <p:spPr>
            <a:xfrm>
              <a:off x="6629400" y="3428086"/>
              <a:ext cx="466344" cy="219456"/>
            </a:xfrm>
            <a:prstGeom prst="roundRect">
              <a:avLst>
                <a:gd name="adj" fmla="val 72464"/>
              </a:avLst>
            </a:prstGeom>
            <a:solidFill>
              <a:srgbClr val="1E293B"/>
            </a:solidFill>
            <a:ln w="12700">
              <a:solidFill>
                <a:srgbClr val="FFFFFF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Text 36"/>
            <p:cNvSpPr txBox="1"/>
            <p:nvPr/>
          </p:nvSpPr>
          <p:spPr>
            <a:xfrm>
              <a:off x="6696151" y="3456432"/>
              <a:ext cx="409651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AI 활용</a:t>
              </a:r>
              <a:endParaRPr lang="en-US" sz="800" dirty="0"/>
            </a:p>
          </p:txBody>
        </p:sp>
        <p:sp>
          <p:nvSpPr>
            <p:cNvPr id="42" name="Text 37"/>
            <p:cNvSpPr txBox="1"/>
            <p:nvPr/>
          </p:nvSpPr>
          <p:spPr>
            <a:xfrm>
              <a:off x="7186270" y="3441802"/>
              <a:ext cx="325160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브레인스토밍 아이디어 확장 및 다각적 시나리오 생성</a:t>
              </a:r>
              <a:endParaRPr lang="en-US" sz="900" dirty="0"/>
            </a:p>
          </p:txBody>
        </p:sp>
        <p:sp>
          <p:nvSpPr>
            <p:cNvPr id="43" name="Shape 38"/>
            <p:cNvSpPr/>
            <p:nvPr/>
          </p:nvSpPr>
          <p:spPr>
            <a:xfrm>
              <a:off x="571500" y="3991356"/>
              <a:ext cx="5410505" cy="2790749"/>
            </a:xfrm>
            <a:prstGeom prst="roundRect">
              <a:avLst>
                <a:gd name="adj" fmla="val 1342"/>
              </a:avLst>
            </a:prstGeom>
            <a:solidFill>
              <a:srgbClr val="FFFFFF">
                <a:alpha val="3000"/>
              </a:srgbClr>
            </a:solidFill>
            <a:ln w="12700">
              <a:solidFill>
                <a:srgbClr val="FFFFFF">
                  <a:alpha val="800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Shape 39"/>
            <p:cNvSpPr/>
            <p:nvPr/>
          </p:nvSpPr>
          <p:spPr>
            <a:xfrm>
              <a:off x="571500" y="3991356"/>
              <a:ext cx="38405" cy="2790749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F59E0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Shape 40"/>
            <p:cNvSpPr/>
            <p:nvPr/>
          </p:nvSpPr>
          <p:spPr>
            <a:xfrm>
              <a:off x="838505" y="4878324"/>
              <a:ext cx="4905756" cy="9144"/>
            </a:xfrm>
            <a:prstGeom prst="rect">
              <a:avLst/>
            </a:prstGeom>
            <a:solidFill>
              <a:srgbClr val="FFFFFF">
                <a:alpha val="5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Shape 41"/>
            <p:cNvSpPr/>
            <p:nvPr/>
          </p:nvSpPr>
          <p:spPr>
            <a:xfrm>
              <a:off x="838505" y="4267505"/>
              <a:ext cx="457200" cy="457200"/>
            </a:xfrm>
            <a:prstGeom prst="roundRect">
              <a:avLst>
                <a:gd name="adj" fmla="val 33333"/>
              </a:avLst>
            </a:prstGeom>
            <a:solidFill>
              <a:srgbClr val="F59E0B">
                <a:alpha val="1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47" name="Image 3" descr="preencoded.png"/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947318" y="4401007"/>
              <a:ext cx="237744" cy="190195"/>
            </a:xfrm>
            <a:prstGeom prst="rect">
              <a:avLst/>
            </a:prstGeom>
          </p:spPr>
        </p:pic>
        <p:sp>
          <p:nvSpPr>
            <p:cNvPr id="48" name="Text 42"/>
            <p:cNvSpPr txBox="1"/>
            <p:nvPr/>
          </p:nvSpPr>
          <p:spPr>
            <a:xfrm>
              <a:off x="1447495" y="4230014"/>
              <a:ext cx="2191817" cy="314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사회적 기술 (지능)</a:t>
              </a:r>
              <a:endParaRPr lang="en-US" sz="1600" dirty="0"/>
            </a:p>
          </p:txBody>
        </p:sp>
        <p:sp>
          <p:nvSpPr>
            <p:cNvPr id="49" name="Text 43"/>
            <p:cNvSpPr txBox="1"/>
            <p:nvPr/>
          </p:nvSpPr>
          <p:spPr>
            <a:xfrm>
              <a:off x="1447495" y="4562856"/>
              <a:ext cx="248351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4A3B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협업과 관계 형성을 위한 소프트 스킬</a:t>
              </a:r>
              <a:endParaRPr lang="en-US" sz="1000" dirty="0"/>
            </a:p>
          </p:txBody>
        </p:sp>
        <p:sp>
          <p:nvSpPr>
            <p:cNvPr id="50" name="Shape 44"/>
            <p:cNvSpPr/>
            <p:nvPr/>
          </p:nvSpPr>
          <p:spPr>
            <a:xfrm>
              <a:off x="838505" y="5153558"/>
              <a:ext cx="57607" cy="57607"/>
            </a:xfrm>
            <a:prstGeom prst="ellipse">
              <a:avLst/>
            </a:prstGeom>
            <a:solidFill>
              <a:srgbClr val="F59E0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" name="Text 45"/>
            <p:cNvSpPr txBox="1"/>
            <p:nvPr/>
          </p:nvSpPr>
          <p:spPr>
            <a:xfrm>
              <a:off x="990295" y="5077663"/>
              <a:ext cx="1301191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E2E8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협업 및 협상 능력</a:t>
              </a:r>
              <a:endParaRPr lang="en-US" sz="1100" dirty="0"/>
            </a:p>
          </p:txBody>
        </p:sp>
        <p:sp>
          <p:nvSpPr>
            <p:cNvPr id="52" name="Shape 46"/>
            <p:cNvSpPr/>
            <p:nvPr/>
          </p:nvSpPr>
          <p:spPr>
            <a:xfrm>
              <a:off x="838505" y="5444338"/>
              <a:ext cx="57607" cy="57607"/>
            </a:xfrm>
            <a:prstGeom prst="ellipse">
              <a:avLst/>
            </a:prstGeom>
            <a:solidFill>
              <a:srgbClr val="F59E0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3" name="Text 47"/>
            <p:cNvSpPr txBox="1"/>
            <p:nvPr/>
          </p:nvSpPr>
          <p:spPr>
            <a:xfrm>
              <a:off x="990295" y="5367528"/>
              <a:ext cx="212049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E2E8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감정 인식 및 공감 (Empathy)</a:t>
              </a:r>
              <a:endParaRPr lang="en-US" sz="1100" dirty="0"/>
            </a:p>
          </p:txBody>
        </p:sp>
        <p:sp>
          <p:nvSpPr>
            <p:cNvPr id="54" name="Shape 48"/>
            <p:cNvSpPr/>
            <p:nvPr/>
          </p:nvSpPr>
          <p:spPr>
            <a:xfrm>
              <a:off x="838505" y="5734202"/>
              <a:ext cx="57607" cy="57607"/>
            </a:xfrm>
            <a:prstGeom prst="ellipse">
              <a:avLst/>
            </a:prstGeom>
            <a:solidFill>
              <a:srgbClr val="F59E0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5" name="Text 49"/>
            <p:cNvSpPr txBox="1"/>
            <p:nvPr/>
          </p:nvSpPr>
          <p:spPr>
            <a:xfrm>
              <a:off x="990295" y="5658307"/>
              <a:ext cx="144932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E2E8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갈등 관리 및 팀워크</a:t>
              </a:r>
              <a:endParaRPr lang="en-US" sz="1100" dirty="0"/>
            </a:p>
          </p:txBody>
        </p:sp>
        <p:sp>
          <p:nvSpPr>
            <p:cNvPr id="56" name="Shape 50"/>
            <p:cNvSpPr/>
            <p:nvPr/>
          </p:nvSpPr>
          <p:spPr>
            <a:xfrm>
              <a:off x="838505" y="6100877"/>
              <a:ext cx="4905756" cy="448056"/>
            </a:xfrm>
            <a:prstGeom prst="roundRect">
              <a:avLst>
                <a:gd name="adj" fmla="val 34737"/>
              </a:avLst>
            </a:prstGeom>
            <a:solidFill>
              <a:srgbClr val="000000">
                <a:alpha val="2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" name="Shape 51"/>
            <p:cNvSpPr/>
            <p:nvPr/>
          </p:nvSpPr>
          <p:spPr>
            <a:xfrm>
              <a:off x="990295" y="6215177"/>
              <a:ext cx="466344" cy="219456"/>
            </a:xfrm>
            <a:prstGeom prst="roundRect">
              <a:avLst>
                <a:gd name="adj" fmla="val 72464"/>
              </a:avLst>
            </a:prstGeom>
            <a:solidFill>
              <a:srgbClr val="1E293B"/>
            </a:solidFill>
            <a:ln w="12700">
              <a:solidFill>
                <a:srgbClr val="FFFFFF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" name="Text 52"/>
            <p:cNvSpPr txBox="1"/>
            <p:nvPr/>
          </p:nvSpPr>
          <p:spPr>
            <a:xfrm>
              <a:off x="1547165" y="6229807"/>
              <a:ext cx="3326587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롤플레잉(Role-play) 챗봇으로 협상/설득 시뮬레이션</a:t>
              </a:r>
              <a:endParaRPr lang="en-US" sz="900" dirty="0"/>
            </a:p>
          </p:txBody>
        </p:sp>
        <p:sp>
          <p:nvSpPr>
            <p:cNvPr id="59" name="Text 53"/>
            <p:cNvSpPr txBox="1"/>
            <p:nvPr/>
          </p:nvSpPr>
          <p:spPr>
            <a:xfrm>
              <a:off x="1057046" y="6244438"/>
              <a:ext cx="409651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AI 활용</a:t>
              </a:r>
              <a:endParaRPr lang="en-US" sz="800" dirty="0"/>
            </a:p>
          </p:txBody>
        </p:sp>
        <p:sp>
          <p:nvSpPr>
            <p:cNvPr id="60" name="Shape 54"/>
            <p:cNvSpPr/>
            <p:nvPr/>
          </p:nvSpPr>
          <p:spPr>
            <a:xfrm>
              <a:off x="6227064" y="4026103"/>
              <a:ext cx="5410505" cy="2790749"/>
            </a:xfrm>
            <a:prstGeom prst="roundRect">
              <a:avLst>
                <a:gd name="adj" fmla="val 1342"/>
              </a:avLst>
            </a:prstGeom>
            <a:solidFill>
              <a:srgbClr val="FFFFFF">
                <a:alpha val="3000"/>
              </a:srgbClr>
            </a:solidFill>
            <a:ln w="12700">
              <a:solidFill>
                <a:srgbClr val="FFFFFF">
                  <a:alpha val="800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1" name="Shape 55"/>
            <p:cNvSpPr/>
            <p:nvPr/>
          </p:nvSpPr>
          <p:spPr>
            <a:xfrm>
              <a:off x="6227064" y="4026103"/>
              <a:ext cx="38405" cy="2790749"/>
            </a:xfrm>
            <a:prstGeom prst="rect">
              <a:avLst/>
            </a:prstGeom>
            <a:solidFill>
              <a:srgbClr val="8B5CF6"/>
            </a:solidFill>
            <a:ln w="12700">
              <a:solidFill>
                <a:srgbClr val="8B5CF6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2" name="Shape 56"/>
            <p:cNvSpPr/>
            <p:nvPr/>
          </p:nvSpPr>
          <p:spPr>
            <a:xfrm>
              <a:off x="6494069" y="4912157"/>
              <a:ext cx="4905756" cy="9144"/>
            </a:xfrm>
            <a:prstGeom prst="rect">
              <a:avLst/>
            </a:prstGeom>
            <a:solidFill>
              <a:srgbClr val="FFFFFF">
                <a:alpha val="5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3" name="Shape 57"/>
            <p:cNvSpPr/>
            <p:nvPr/>
          </p:nvSpPr>
          <p:spPr>
            <a:xfrm>
              <a:off x="6494069" y="4302252"/>
              <a:ext cx="457200" cy="457200"/>
            </a:xfrm>
            <a:prstGeom prst="roundRect">
              <a:avLst>
                <a:gd name="adj" fmla="val 33333"/>
              </a:avLst>
            </a:prstGeom>
            <a:solidFill>
              <a:srgbClr val="8B5CF6">
                <a:alpha val="1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64" name="Image 4" descr="preencoded.png"/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6603797" y="4435754"/>
              <a:ext cx="237744" cy="190195"/>
            </a:xfrm>
            <a:prstGeom prst="rect">
              <a:avLst/>
            </a:prstGeom>
          </p:spPr>
        </p:pic>
        <p:sp>
          <p:nvSpPr>
            <p:cNvPr id="65" name="Text 58"/>
            <p:cNvSpPr txBox="1"/>
            <p:nvPr/>
          </p:nvSpPr>
          <p:spPr>
            <a:xfrm>
              <a:off x="7103974" y="4263847"/>
              <a:ext cx="2016252" cy="314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미래 기술 전문성</a:t>
              </a:r>
              <a:endParaRPr lang="en-US" sz="1600" dirty="0"/>
            </a:p>
          </p:txBody>
        </p:sp>
        <p:sp>
          <p:nvSpPr>
            <p:cNvPr id="66" name="Text 59"/>
            <p:cNvSpPr txBox="1"/>
            <p:nvPr/>
          </p:nvSpPr>
          <p:spPr>
            <a:xfrm>
              <a:off x="7103974" y="4597603"/>
              <a:ext cx="2262226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4A3B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디지털 전환 시대의 핵심 리터러시</a:t>
              </a:r>
              <a:endParaRPr lang="en-US" sz="1000" dirty="0"/>
            </a:p>
          </p:txBody>
        </p:sp>
        <p:sp>
          <p:nvSpPr>
            <p:cNvPr id="67" name="Shape 60"/>
            <p:cNvSpPr/>
            <p:nvPr/>
          </p:nvSpPr>
          <p:spPr>
            <a:xfrm>
              <a:off x="6494069" y="5188306"/>
              <a:ext cx="57607" cy="57607"/>
            </a:xfrm>
            <a:prstGeom prst="ellipse">
              <a:avLst/>
            </a:prstGeom>
            <a:solidFill>
              <a:srgbClr val="8B5C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8" name="Text 61"/>
            <p:cNvSpPr txBox="1"/>
            <p:nvPr/>
          </p:nvSpPr>
          <p:spPr>
            <a:xfrm>
              <a:off x="6646774" y="5111496"/>
              <a:ext cx="1720901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E2E8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AI / 빅데이터 리터러시</a:t>
              </a:r>
              <a:endParaRPr lang="en-US" sz="1100" dirty="0"/>
            </a:p>
          </p:txBody>
        </p:sp>
        <p:sp>
          <p:nvSpPr>
            <p:cNvPr id="69" name="Shape 62"/>
            <p:cNvSpPr/>
            <p:nvPr/>
          </p:nvSpPr>
          <p:spPr>
            <a:xfrm>
              <a:off x="6494069" y="5478170"/>
              <a:ext cx="57607" cy="57607"/>
            </a:xfrm>
            <a:prstGeom prst="ellipse">
              <a:avLst/>
            </a:prstGeom>
            <a:solidFill>
              <a:srgbClr val="8B5C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0" name="Text 63"/>
            <p:cNvSpPr txBox="1"/>
            <p:nvPr/>
          </p:nvSpPr>
          <p:spPr>
            <a:xfrm>
              <a:off x="6646774" y="5402275"/>
              <a:ext cx="207111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E2E8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서비스 지향성 (사용자 경험)</a:t>
              </a:r>
              <a:endParaRPr lang="en-US" sz="1100" dirty="0"/>
            </a:p>
          </p:txBody>
        </p:sp>
        <p:sp>
          <p:nvSpPr>
            <p:cNvPr id="71" name="Shape 64"/>
            <p:cNvSpPr/>
            <p:nvPr/>
          </p:nvSpPr>
          <p:spPr>
            <a:xfrm>
              <a:off x="6494069" y="5768950"/>
              <a:ext cx="57607" cy="57607"/>
            </a:xfrm>
            <a:prstGeom prst="ellipse">
              <a:avLst/>
            </a:prstGeom>
            <a:solidFill>
              <a:srgbClr val="8B5C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" name="Text 65"/>
            <p:cNvSpPr txBox="1"/>
            <p:nvPr/>
          </p:nvSpPr>
          <p:spPr>
            <a:xfrm>
              <a:off x="6646774" y="5693054"/>
              <a:ext cx="1359713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E2E8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디지털 도구 적응력</a:t>
              </a:r>
              <a:endParaRPr lang="en-US" sz="1100" dirty="0"/>
            </a:p>
          </p:txBody>
        </p:sp>
        <p:sp>
          <p:nvSpPr>
            <p:cNvPr id="73" name="Shape 66"/>
            <p:cNvSpPr/>
            <p:nvPr/>
          </p:nvSpPr>
          <p:spPr>
            <a:xfrm>
              <a:off x="6494069" y="6135624"/>
              <a:ext cx="4905756" cy="448056"/>
            </a:xfrm>
            <a:prstGeom prst="roundRect">
              <a:avLst>
                <a:gd name="adj" fmla="val 34737"/>
              </a:avLst>
            </a:prstGeom>
            <a:solidFill>
              <a:srgbClr val="000000">
                <a:alpha val="2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4" name="Shape 67"/>
            <p:cNvSpPr/>
            <p:nvPr/>
          </p:nvSpPr>
          <p:spPr>
            <a:xfrm>
              <a:off x="6646774" y="6249924"/>
              <a:ext cx="466344" cy="219456"/>
            </a:xfrm>
            <a:prstGeom prst="roundRect">
              <a:avLst>
                <a:gd name="adj" fmla="val 72464"/>
              </a:avLst>
            </a:prstGeom>
            <a:solidFill>
              <a:srgbClr val="1E293B"/>
            </a:solidFill>
            <a:ln w="12700">
              <a:solidFill>
                <a:srgbClr val="FFFFFF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5" name="Text 68"/>
            <p:cNvSpPr txBox="1"/>
            <p:nvPr/>
          </p:nvSpPr>
          <p:spPr>
            <a:xfrm>
              <a:off x="7202729" y="6264554"/>
              <a:ext cx="337047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데이터 분석 자동화 및 노코드(No-code) 프로토타이핑</a:t>
              </a:r>
              <a:endParaRPr lang="en-US" sz="900" dirty="0"/>
            </a:p>
          </p:txBody>
        </p:sp>
        <p:sp>
          <p:nvSpPr>
            <p:cNvPr id="76" name="Text 69"/>
            <p:cNvSpPr txBox="1"/>
            <p:nvPr/>
          </p:nvSpPr>
          <p:spPr>
            <a:xfrm>
              <a:off x="6713525" y="6278270"/>
              <a:ext cx="409651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AI 활용</a:t>
              </a:r>
              <a:endParaRPr lang="en-US" sz="800" dirty="0"/>
            </a:p>
          </p:txBody>
        </p:sp>
      </p:grpSp>
      <p:sp>
        <p:nvSpPr>
          <p:cNvPr id="77" name="Shape 70"/>
          <p:cNvSpPr/>
          <p:nvPr/>
        </p:nvSpPr>
        <p:spPr>
          <a:xfrm>
            <a:off x="4893835" y="214434"/>
            <a:ext cx="6772046" cy="437998"/>
          </a:xfrm>
          <a:prstGeom prst="roundRect">
            <a:avLst>
              <a:gd name="adj" fmla="val 208768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1"/>
          <p:cNvSpPr txBox="1"/>
          <p:nvPr/>
        </p:nvSpPr>
        <p:spPr>
          <a:xfrm>
            <a:off x="5143151" y="324925"/>
            <a:ext cx="76891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Insight </a:t>
            </a: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영역은 독립적이지 않으며, AI 도구는 4분면 전체를 연결하는 '가속기' 역할을 수행합니다.</a:t>
            </a:r>
            <a:endParaRPr lang="en-US" sz="1200" dirty="0"/>
          </a:p>
        </p:txBody>
      </p:sp>
      <p:sp>
        <p:nvSpPr>
          <p:cNvPr id="8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81305" y="1485900"/>
            <a:ext cx="11430000" cy="1920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381305" y="381305"/>
            <a:ext cx="1173541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37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NCS (국가직무능력표준) 한눈에 보기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381305" y="1057046"/>
            <a:ext cx="11621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 현장에서 직무를 수행하기 위해 요구되는 능력을 국가가 체계화한 표준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81305" y="1790395"/>
            <a:ext cx="3657600" cy="3124505"/>
          </a:xfrm>
          <a:prstGeom prst="roundRect">
            <a:avLst>
              <a:gd name="adj" fmla="val 10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19049" y="2524658"/>
            <a:ext cx="3181198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19049" y="2029054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146" y="2124151"/>
            <a:ext cx="190195" cy="19019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14654" y="2061972"/>
            <a:ext cx="195041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정의 (Definition)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19049" y="2686507"/>
            <a:ext cx="3258007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산업현장에서 직무를 성공적으로 수행하기 위해 필요한</a:t>
            </a:r>
            <a:r>
              <a:rPr lang="en-US" sz="12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지식·기술·태도(KSA)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국가적 차원에서 표준화한 것입니다.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9049" y="3608222"/>
            <a:ext cx="3181198" cy="657454"/>
          </a:xfrm>
          <a:prstGeom prst="roundRect">
            <a:avLst>
              <a:gd name="adj" fmla="val 12094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19049" y="3608222"/>
            <a:ext cx="28346" cy="65745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761695" y="3722522"/>
            <a:ext cx="457748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"일-교육-자격"을 하나로 </a:t>
            </a:r>
            <a:r>
              <a:rPr lang="en-US" sz="10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연결하여</a:t>
            </a: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스펙</a:t>
            </a: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초월 능력 중심 사회 구현의 핵심 도구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267505" y="1790395"/>
            <a:ext cx="3657600" cy="3124505"/>
          </a:xfrm>
          <a:prstGeom prst="roundRect">
            <a:avLst>
              <a:gd name="adj" fmla="val 10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4505249" y="2524658"/>
            <a:ext cx="3181198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4505249" y="2029054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 l="-1282" r="-1282"/>
          <a:stretch/>
        </p:blipFill>
        <p:spPr>
          <a:xfrm>
            <a:off x="4586630" y="2124151"/>
            <a:ext cx="219456" cy="190195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000854" y="2061972"/>
            <a:ext cx="188183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 (Structure)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4505249" y="2686507"/>
            <a:ext cx="33723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직무 분류 체계와 능력단위로 구성됩니다.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8153705" y="1790395"/>
            <a:ext cx="3657600" cy="3124505"/>
          </a:xfrm>
          <a:prstGeom prst="roundRect">
            <a:avLst>
              <a:gd name="adj" fmla="val 10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8391449" y="2524658"/>
            <a:ext cx="3181198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8391449" y="2029054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86546" y="2124151"/>
            <a:ext cx="190195" cy="190195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887054" y="2061972"/>
            <a:ext cx="244876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대학생 활용법 (Usage)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8391449" y="2686507"/>
            <a:ext cx="303306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막연한 취업 준비가 </a:t>
            </a: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아닌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</a:p>
          <a:p>
            <a:pPr marL="0" indent="0" algn="l">
              <a:buNone/>
            </a:pPr>
            <a:r>
              <a:rPr lang="en-US" sz="1200" b="1" dirty="0" err="1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타겟</a:t>
            </a:r>
            <a:r>
              <a:rPr lang="en-US" sz="12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직무의 구체적 요구 역량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</a:t>
            </a: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파악하는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나침반으로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활용하세요.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381305" y="5143500"/>
            <a:ext cx="11430000" cy="1333195"/>
          </a:xfrm>
          <a:prstGeom prst="roundRect">
            <a:avLst>
              <a:gd name="adj" fmla="val 587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4"/>
          <p:cNvSpPr txBox="1"/>
          <p:nvPr/>
        </p:nvSpPr>
        <p:spPr>
          <a:xfrm>
            <a:off x="5000854" y="5255971"/>
            <a:ext cx="21991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NCS 계층 구조 (Hierarchy)</a:t>
            </a:r>
            <a:endParaRPr lang="en-US" sz="12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rcRect t="-1087" b="-1087"/>
          <a:stretch/>
        </p:blipFill>
        <p:spPr>
          <a:xfrm>
            <a:off x="2380183" y="5917082"/>
            <a:ext cx="105156" cy="171907"/>
          </a:xfrm>
          <a:prstGeom prst="rect">
            <a:avLst/>
          </a:prstGeom>
        </p:spPr>
      </p:pic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6"/>
          <a:srcRect t="-1087" b="-1087"/>
          <a:stretch/>
        </p:blipFill>
        <p:spPr>
          <a:xfrm>
            <a:off x="4211726" y="5917082"/>
            <a:ext cx="105156" cy="171907"/>
          </a:xfrm>
          <a:prstGeom prst="rect">
            <a:avLst/>
          </a:prstGeom>
        </p:spPr>
      </p:pic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rcRect t="-1087" b="-1087"/>
          <a:stretch/>
        </p:blipFill>
        <p:spPr>
          <a:xfrm>
            <a:off x="6043270" y="5917082"/>
            <a:ext cx="105156" cy="171907"/>
          </a:xfrm>
          <a:prstGeom prst="rect">
            <a:avLst/>
          </a:prstGeom>
        </p:spPr>
      </p:pic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6"/>
          <a:srcRect t="-1087" b="-1087"/>
          <a:stretch/>
        </p:blipFill>
        <p:spPr>
          <a:xfrm>
            <a:off x="7874813" y="5917082"/>
            <a:ext cx="105156" cy="171907"/>
          </a:xfrm>
          <a:prstGeom prst="rect">
            <a:avLst/>
          </a:prstGeom>
        </p:spPr>
      </p:pic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6"/>
          <a:srcRect t="-1087" b="-1087"/>
          <a:stretch/>
        </p:blipFill>
        <p:spPr>
          <a:xfrm>
            <a:off x="9707270" y="5917082"/>
            <a:ext cx="105156" cy="171907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4839005" y="3024835"/>
            <a:ext cx="70225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분류체계:</a:t>
            </a:r>
            <a:endParaRPr lang="en-US" sz="1100" dirty="0"/>
          </a:p>
        </p:txBody>
      </p:sp>
      <p:sp>
        <p:nvSpPr>
          <p:cNvPr id="36" name="Text 26"/>
          <p:cNvSpPr txBox="1"/>
          <p:nvPr/>
        </p:nvSpPr>
        <p:spPr>
          <a:xfrm>
            <a:off x="5411419" y="3024835"/>
            <a:ext cx="258226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대분류 &gt; 중분류 &gt; 소분류 &gt; 세분류</a:t>
            </a:r>
            <a:endParaRPr lang="en-US" sz="1100" dirty="0"/>
          </a:p>
        </p:txBody>
      </p:sp>
      <p:sp>
        <p:nvSpPr>
          <p:cNvPr id="37" name="Text 27"/>
          <p:cNvSpPr txBox="1"/>
          <p:nvPr/>
        </p:nvSpPr>
        <p:spPr>
          <a:xfrm>
            <a:off x="4839005" y="3296412"/>
            <a:ext cx="70225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능력단위:</a:t>
            </a:r>
            <a:endParaRPr lang="en-US" sz="1100" dirty="0"/>
          </a:p>
        </p:txBody>
      </p:sp>
      <p:sp>
        <p:nvSpPr>
          <p:cNvPr id="38" name="Text 28"/>
          <p:cNvSpPr txBox="1"/>
          <p:nvPr/>
        </p:nvSpPr>
        <p:spPr>
          <a:xfrm>
            <a:off x="4819803" y="3449574"/>
            <a:ext cx="31053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NCS의 기본 구성 요소 (하위 능력단위요소)</a:t>
            </a:r>
            <a:endParaRPr lang="en-US" sz="1100" dirty="0"/>
          </a:p>
        </p:txBody>
      </p:sp>
      <p:sp>
        <p:nvSpPr>
          <p:cNvPr id="39" name="Text 29"/>
          <p:cNvSpPr txBox="1"/>
          <p:nvPr/>
        </p:nvSpPr>
        <p:spPr>
          <a:xfrm>
            <a:off x="4839005" y="3781958"/>
            <a:ext cx="70225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수행준거:</a:t>
            </a:r>
            <a:endParaRPr lang="en-US" sz="1100" dirty="0"/>
          </a:p>
        </p:txBody>
      </p:sp>
      <p:sp>
        <p:nvSpPr>
          <p:cNvPr id="40" name="Text 30"/>
          <p:cNvSpPr txBox="1"/>
          <p:nvPr/>
        </p:nvSpPr>
        <p:spPr>
          <a:xfrm>
            <a:off x="5411419" y="3781958"/>
            <a:ext cx="212872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능력단위별 수행 기준 제시</a:t>
            </a:r>
            <a:endParaRPr lang="en-US" sz="1100" dirty="0"/>
          </a:p>
        </p:txBody>
      </p:sp>
      <p:sp>
        <p:nvSpPr>
          <p:cNvPr id="41" name="Text 31"/>
          <p:cNvSpPr txBox="1"/>
          <p:nvPr/>
        </p:nvSpPr>
        <p:spPr>
          <a:xfrm>
            <a:off x="4839005" y="4053535"/>
            <a:ext cx="11923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지식/기술/태도:</a:t>
            </a:r>
            <a:endParaRPr lang="en-US" sz="1100" dirty="0"/>
          </a:p>
        </p:txBody>
      </p:sp>
      <p:sp>
        <p:nvSpPr>
          <p:cNvPr id="42" name="Text 32"/>
          <p:cNvSpPr txBox="1"/>
          <p:nvPr/>
        </p:nvSpPr>
        <p:spPr>
          <a:xfrm>
            <a:off x="5785409" y="4053535"/>
            <a:ext cx="218815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수행준거에 필요한 구체적 역량</a:t>
            </a:r>
            <a:endParaRPr lang="en-US" sz="1100" dirty="0"/>
          </a:p>
        </p:txBody>
      </p:sp>
      <p:sp>
        <p:nvSpPr>
          <p:cNvPr id="43" name="Text 33"/>
          <p:cNvSpPr txBox="1"/>
          <p:nvPr/>
        </p:nvSpPr>
        <p:spPr>
          <a:xfrm>
            <a:off x="8725205" y="3485259"/>
            <a:ext cx="8284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희망 직무의</a:t>
            </a:r>
            <a:endParaRPr lang="en-US" sz="1100" dirty="0"/>
          </a:p>
        </p:txBody>
      </p:sp>
      <p:sp>
        <p:nvSpPr>
          <p:cNvPr id="44" name="Text 34"/>
          <p:cNvSpPr txBox="1"/>
          <p:nvPr/>
        </p:nvSpPr>
        <p:spPr>
          <a:xfrm>
            <a:off x="9421978" y="3485259"/>
            <a:ext cx="140177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능력단위 확인</a:t>
            </a:r>
            <a:endParaRPr lang="en-US" sz="1100" dirty="0"/>
          </a:p>
        </p:txBody>
      </p:sp>
      <p:sp>
        <p:nvSpPr>
          <p:cNvPr id="45" name="Text 35"/>
          <p:cNvSpPr txBox="1"/>
          <p:nvPr/>
        </p:nvSpPr>
        <p:spPr>
          <a:xfrm>
            <a:off x="8725205" y="3756836"/>
            <a:ext cx="121249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나의 현재 역량과</a:t>
            </a:r>
            <a:endParaRPr lang="en-US" sz="1100" dirty="0"/>
          </a:p>
        </p:txBody>
      </p:sp>
      <p:sp>
        <p:nvSpPr>
          <p:cNvPr id="46" name="Text 36"/>
          <p:cNvSpPr txBox="1"/>
          <p:nvPr/>
        </p:nvSpPr>
        <p:spPr>
          <a:xfrm>
            <a:off x="9725558" y="3756836"/>
            <a:ext cx="6675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Gap 분석</a:t>
            </a:r>
            <a:endParaRPr lang="en-US" sz="1100" dirty="0"/>
          </a:p>
        </p:txBody>
      </p:sp>
      <p:sp>
        <p:nvSpPr>
          <p:cNvPr id="47" name="Text 37"/>
          <p:cNvSpPr txBox="1"/>
          <p:nvPr/>
        </p:nvSpPr>
        <p:spPr>
          <a:xfrm>
            <a:off x="10307117" y="3756836"/>
            <a:ext cx="77083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(자가진단)</a:t>
            </a:r>
            <a:endParaRPr lang="en-US" sz="1100" dirty="0"/>
          </a:p>
        </p:txBody>
      </p:sp>
      <p:sp>
        <p:nvSpPr>
          <p:cNvPr id="48" name="Text 38"/>
          <p:cNvSpPr txBox="1"/>
          <p:nvPr/>
        </p:nvSpPr>
        <p:spPr>
          <a:xfrm>
            <a:off x="8725205" y="4028412"/>
            <a:ext cx="174467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부족한 역량 채우기 위한</a:t>
            </a:r>
            <a:endParaRPr lang="en-US" sz="1100" dirty="0"/>
          </a:p>
        </p:txBody>
      </p:sp>
      <p:sp>
        <p:nvSpPr>
          <p:cNvPr id="49" name="Text 39"/>
          <p:cNvSpPr txBox="1"/>
          <p:nvPr/>
        </p:nvSpPr>
        <p:spPr>
          <a:xfrm>
            <a:off x="10159898" y="4028412"/>
            <a:ext cx="109819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계획 수립</a:t>
            </a:r>
            <a:endParaRPr lang="en-US" sz="1100" dirty="0"/>
          </a:p>
        </p:txBody>
      </p:sp>
      <p:sp>
        <p:nvSpPr>
          <p:cNvPr id="50" name="Text 40"/>
          <p:cNvSpPr txBox="1"/>
          <p:nvPr/>
        </p:nvSpPr>
        <p:spPr>
          <a:xfrm>
            <a:off x="8725205" y="4299989"/>
            <a:ext cx="11247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자소서/면접에서</a:t>
            </a:r>
            <a:endParaRPr lang="en-US" sz="1100" dirty="0"/>
          </a:p>
        </p:txBody>
      </p:sp>
      <p:sp>
        <p:nvSpPr>
          <p:cNvPr id="51" name="Text 41"/>
          <p:cNvSpPr txBox="1"/>
          <p:nvPr/>
        </p:nvSpPr>
        <p:spPr>
          <a:xfrm>
            <a:off x="9700870" y="4299989"/>
            <a:ext cx="125089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직무 적합성 어필</a:t>
            </a:r>
            <a:endParaRPr lang="en-US" sz="1100" dirty="0"/>
          </a:p>
        </p:txBody>
      </p:sp>
      <p:sp>
        <p:nvSpPr>
          <p:cNvPr id="52" name="Shape 42"/>
          <p:cNvSpPr/>
          <p:nvPr/>
        </p:nvSpPr>
        <p:spPr>
          <a:xfrm>
            <a:off x="771754" y="5627218"/>
            <a:ext cx="1495044" cy="409651"/>
          </a:xfrm>
          <a:prstGeom prst="roundRect">
            <a:avLst>
              <a:gd name="adj" fmla="val 31146"/>
            </a:avLst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43"/>
          <p:cNvSpPr txBox="1"/>
          <p:nvPr/>
        </p:nvSpPr>
        <p:spPr>
          <a:xfrm>
            <a:off x="1294790" y="5732374"/>
            <a:ext cx="4480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대분류</a:t>
            </a:r>
            <a:endParaRPr lang="en-US" sz="1000" dirty="0"/>
          </a:p>
        </p:txBody>
      </p:sp>
      <p:sp>
        <p:nvSpPr>
          <p:cNvPr id="54" name="Text 44"/>
          <p:cNvSpPr txBox="1"/>
          <p:nvPr/>
        </p:nvSpPr>
        <p:spPr>
          <a:xfrm>
            <a:off x="1269187" y="6094476"/>
            <a:ext cx="49926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 전체</a:t>
            </a:r>
            <a:endParaRPr lang="en-US" sz="800" dirty="0"/>
          </a:p>
        </p:txBody>
      </p:sp>
      <p:sp>
        <p:nvSpPr>
          <p:cNvPr id="55" name="Text 45"/>
          <p:cNvSpPr txBox="1"/>
          <p:nvPr/>
        </p:nvSpPr>
        <p:spPr>
          <a:xfrm>
            <a:off x="1336853" y="6219749"/>
            <a:ext cx="362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(24개)</a:t>
            </a:r>
            <a:endParaRPr lang="en-US" sz="800" dirty="0"/>
          </a:p>
        </p:txBody>
      </p:sp>
      <p:sp>
        <p:nvSpPr>
          <p:cNvPr id="56" name="Shape 46"/>
          <p:cNvSpPr/>
          <p:nvPr/>
        </p:nvSpPr>
        <p:spPr>
          <a:xfrm>
            <a:off x="2603297" y="5627218"/>
            <a:ext cx="1495044" cy="409651"/>
          </a:xfrm>
          <a:prstGeom prst="roundRect">
            <a:avLst>
              <a:gd name="adj" fmla="val 31146"/>
            </a:avLst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47"/>
          <p:cNvSpPr txBox="1"/>
          <p:nvPr/>
        </p:nvSpPr>
        <p:spPr>
          <a:xfrm>
            <a:off x="3126334" y="5732374"/>
            <a:ext cx="4480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중분류</a:t>
            </a:r>
            <a:endParaRPr lang="en-US" sz="1000" dirty="0"/>
          </a:p>
        </p:txBody>
      </p:sp>
      <p:sp>
        <p:nvSpPr>
          <p:cNvPr id="58" name="Text 48"/>
          <p:cNvSpPr txBox="1"/>
          <p:nvPr/>
        </p:nvSpPr>
        <p:spPr>
          <a:xfrm>
            <a:off x="3101645" y="6094476"/>
            <a:ext cx="49926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직능 유형</a:t>
            </a:r>
            <a:endParaRPr lang="en-US" sz="800" dirty="0"/>
          </a:p>
        </p:txBody>
      </p:sp>
      <p:sp>
        <p:nvSpPr>
          <p:cNvPr id="59" name="Text 49"/>
          <p:cNvSpPr txBox="1"/>
          <p:nvPr/>
        </p:nvSpPr>
        <p:spPr>
          <a:xfrm>
            <a:off x="3168396" y="6219749"/>
            <a:ext cx="362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(81개)</a:t>
            </a:r>
            <a:endParaRPr lang="en-US" sz="800" dirty="0"/>
          </a:p>
        </p:txBody>
      </p:sp>
      <p:sp>
        <p:nvSpPr>
          <p:cNvPr id="60" name="Shape 50"/>
          <p:cNvSpPr/>
          <p:nvPr/>
        </p:nvSpPr>
        <p:spPr>
          <a:xfrm>
            <a:off x="4434840" y="5627218"/>
            <a:ext cx="1495044" cy="409651"/>
          </a:xfrm>
          <a:prstGeom prst="roundRect">
            <a:avLst>
              <a:gd name="adj" fmla="val 31146"/>
            </a:avLst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1"/>
          <p:cNvSpPr txBox="1"/>
          <p:nvPr/>
        </p:nvSpPr>
        <p:spPr>
          <a:xfrm>
            <a:off x="4957877" y="5732374"/>
            <a:ext cx="4480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소분류</a:t>
            </a:r>
            <a:endParaRPr lang="en-US" sz="1000" dirty="0"/>
          </a:p>
        </p:txBody>
      </p:sp>
      <p:sp>
        <p:nvSpPr>
          <p:cNvPr id="62" name="Text 52"/>
          <p:cNvSpPr txBox="1"/>
          <p:nvPr/>
        </p:nvSpPr>
        <p:spPr>
          <a:xfrm>
            <a:off x="4933188" y="6094476"/>
            <a:ext cx="49926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직무 분야</a:t>
            </a:r>
            <a:endParaRPr lang="en-US" sz="800" dirty="0"/>
          </a:p>
        </p:txBody>
      </p:sp>
      <p:sp>
        <p:nvSpPr>
          <p:cNvPr id="63" name="Text 53"/>
          <p:cNvSpPr txBox="1"/>
          <p:nvPr/>
        </p:nvSpPr>
        <p:spPr>
          <a:xfrm>
            <a:off x="4971593" y="6219749"/>
            <a:ext cx="4197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(265개)</a:t>
            </a:r>
            <a:endParaRPr lang="en-US" sz="800" dirty="0"/>
          </a:p>
        </p:txBody>
      </p:sp>
      <p:sp>
        <p:nvSpPr>
          <p:cNvPr id="64" name="Shape 54"/>
          <p:cNvSpPr/>
          <p:nvPr/>
        </p:nvSpPr>
        <p:spPr>
          <a:xfrm>
            <a:off x="6266383" y="5627218"/>
            <a:ext cx="1495044" cy="409651"/>
          </a:xfrm>
          <a:prstGeom prst="roundRect">
            <a:avLst>
              <a:gd name="adj" fmla="val 31146"/>
            </a:avLst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55"/>
          <p:cNvSpPr txBox="1"/>
          <p:nvPr/>
        </p:nvSpPr>
        <p:spPr>
          <a:xfrm>
            <a:off x="6789420" y="5732374"/>
            <a:ext cx="4480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세분류</a:t>
            </a:r>
            <a:endParaRPr lang="en-US" sz="1000" dirty="0"/>
          </a:p>
        </p:txBody>
      </p:sp>
      <p:sp>
        <p:nvSpPr>
          <p:cNvPr id="66" name="Text 56"/>
          <p:cNvSpPr txBox="1"/>
          <p:nvPr/>
        </p:nvSpPr>
        <p:spPr>
          <a:xfrm>
            <a:off x="6877202" y="6094476"/>
            <a:ext cx="2770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직업</a:t>
            </a:r>
            <a:endParaRPr lang="en-US" sz="800" dirty="0"/>
          </a:p>
        </p:txBody>
      </p:sp>
      <p:sp>
        <p:nvSpPr>
          <p:cNvPr id="67" name="Text 57"/>
          <p:cNvSpPr txBox="1"/>
          <p:nvPr/>
        </p:nvSpPr>
        <p:spPr>
          <a:xfrm>
            <a:off x="6773875" y="6219749"/>
            <a:ext cx="476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(1055개)</a:t>
            </a:r>
            <a:endParaRPr lang="en-US" sz="800" dirty="0"/>
          </a:p>
        </p:txBody>
      </p:sp>
      <p:sp>
        <p:nvSpPr>
          <p:cNvPr id="68" name="Shape 58"/>
          <p:cNvSpPr/>
          <p:nvPr/>
        </p:nvSpPr>
        <p:spPr>
          <a:xfrm>
            <a:off x="8097926" y="5627218"/>
            <a:ext cx="1495044" cy="409651"/>
          </a:xfrm>
          <a:prstGeom prst="roundRect">
            <a:avLst>
              <a:gd name="adj" fmla="val 31146"/>
            </a:avLst>
          </a:prstGeom>
          <a:solidFill>
            <a:srgbClr val="2563EB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59"/>
          <p:cNvSpPr txBox="1"/>
          <p:nvPr/>
        </p:nvSpPr>
        <p:spPr>
          <a:xfrm>
            <a:off x="8559698" y="5732374"/>
            <a:ext cx="571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능력단위</a:t>
            </a:r>
            <a:endParaRPr lang="en-US" sz="1000" dirty="0"/>
          </a:p>
        </p:txBody>
      </p:sp>
      <p:sp>
        <p:nvSpPr>
          <p:cNvPr id="70" name="Text 60"/>
          <p:cNvSpPr txBox="1"/>
          <p:nvPr/>
        </p:nvSpPr>
        <p:spPr>
          <a:xfrm>
            <a:off x="8591702" y="6094476"/>
            <a:ext cx="505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교육/훈련</a:t>
            </a:r>
            <a:endParaRPr lang="en-US" sz="800" dirty="0"/>
          </a:p>
        </p:txBody>
      </p:sp>
      <p:sp>
        <p:nvSpPr>
          <p:cNvPr id="71" name="Text 61"/>
          <p:cNvSpPr txBox="1"/>
          <p:nvPr/>
        </p:nvSpPr>
        <p:spPr>
          <a:xfrm>
            <a:off x="8596274" y="6219749"/>
            <a:ext cx="49926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단위</a:t>
            </a:r>
            <a:endParaRPr lang="en-US" sz="800" dirty="0"/>
          </a:p>
        </p:txBody>
      </p:sp>
      <p:sp>
        <p:nvSpPr>
          <p:cNvPr id="72" name="Shape 62"/>
          <p:cNvSpPr/>
          <p:nvPr/>
        </p:nvSpPr>
        <p:spPr>
          <a:xfrm>
            <a:off x="9929470" y="5627218"/>
            <a:ext cx="1495044" cy="409651"/>
          </a:xfrm>
          <a:prstGeom prst="roundRect">
            <a:avLst>
              <a:gd name="adj" fmla="val 31146"/>
            </a:avLst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63"/>
          <p:cNvSpPr txBox="1"/>
          <p:nvPr/>
        </p:nvSpPr>
        <p:spPr>
          <a:xfrm>
            <a:off x="10391242" y="5732374"/>
            <a:ext cx="571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수행준거</a:t>
            </a:r>
            <a:endParaRPr lang="en-US" sz="1000" dirty="0"/>
          </a:p>
        </p:txBody>
      </p:sp>
      <p:sp>
        <p:nvSpPr>
          <p:cNvPr id="74" name="Text 64"/>
          <p:cNvSpPr txBox="1"/>
          <p:nvPr/>
        </p:nvSpPr>
        <p:spPr>
          <a:xfrm>
            <a:off x="10427818" y="6094476"/>
            <a:ext cx="49926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기준</a:t>
            </a:r>
            <a:endParaRPr lang="en-US" sz="800" dirty="0"/>
          </a:p>
        </p:txBody>
      </p:sp>
      <p:sp>
        <p:nvSpPr>
          <p:cNvPr id="75" name="Text 65"/>
          <p:cNvSpPr txBox="1"/>
          <p:nvPr/>
        </p:nvSpPr>
        <p:spPr>
          <a:xfrm>
            <a:off x="10489997" y="6219749"/>
            <a:ext cx="3721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&amp; KSA</a:t>
            </a:r>
            <a:endParaRPr lang="en-US" sz="800" dirty="0"/>
          </a:p>
        </p:txBody>
      </p:sp>
      <p:sp>
        <p:nvSpPr>
          <p:cNvPr id="7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571500" y="381305"/>
            <a:ext cx="38405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 txBox="1"/>
          <p:nvPr/>
        </p:nvSpPr>
        <p:spPr>
          <a:xfrm>
            <a:off x="761695" y="418795"/>
            <a:ext cx="68817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NCS(국가직무능력표준) 한눈에 보기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6083503" y="514807"/>
            <a:ext cx="55056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직무 현장에서 요구하는 능력(Knowledge, Skill, Attitude)의 표준화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71500" y="5143500"/>
            <a:ext cx="4886554" cy="1333195"/>
          </a:xfrm>
          <a:prstGeom prst="roundRect">
            <a:avLst>
              <a:gd name="adj" fmla="val 587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 l="-1911" r="-1911"/>
          <a:stretch/>
        </p:blipFill>
        <p:spPr>
          <a:xfrm>
            <a:off x="771754" y="5286146"/>
            <a:ext cx="133502" cy="1143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81151" y="5266944"/>
            <a:ext cx="151333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NCS 구조 (STRUCTURE)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rcRect t="-1087" b="-1087"/>
          <a:stretch/>
        </p:blipFill>
        <p:spPr>
          <a:xfrm>
            <a:off x="2176272" y="5886907"/>
            <a:ext cx="105156" cy="171907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rcRect t="-1087" b="-1087"/>
          <a:stretch/>
        </p:blipFill>
        <p:spPr>
          <a:xfrm>
            <a:off x="3745382" y="5886907"/>
            <a:ext cx="105156" cy="171907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735074" y="1057961"/>
            <a:ext cx="3506724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7"/>
          <p:cNvSpPr txBox="1"/>
          <p:nvPr/>
        </p:nvSpPr>
        <p:spPr>
          <a:xfrm>
            <a:off x="5759806" y="1143000"/>
            <a:ext cx="266821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8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대학생 활용 포인트 (KEY BENEFITS)</a:t>
            </a:r>
            <a:endParaRPr lang="en-US" sz="1000" dirty="0"/>
          </a:p>
        </p:txBody>
      </p:sp>
      <p:sp>
        <p:nvSpPr>
          <p:cNvPr id="14" name="Shape 8"/>
          <p:cNvSpPr/>
          <p:nvPr/>
        </p:nvSpPr>
        <p:spPr>
          <a:xfrm>
            <a:off x="5759806" y="1457554"/>
            <a:ext cx="5867705" cy="1362456"/>
          </a:xfrm>
          <a:prstGeom prst="roundRect">
            <a:avLst>
              <a:gd name="adj" fmla="val 563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5940857" y="1638605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50585" y="1772107"/>
            <a:ext cx="237744" cy="19019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550762" y="1638605"/>
            <a:ext cx="293248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교육과정 설계 &amp; 수강신청 가이드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10771632" y="1638605"/>
            <a:ext cx="676656" cy="200254"/>
          </a:xfrm>
          <a:prstGeom prst="roundRect">
            <a:avLst>
              <a:gd name="adj" fmla="val 86975"/>
            </a:avLst>
          </a:prstGeom>
          <a:solidFill>
            <a:srgbClr val="1E3A8A"/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2"/>
          <p:cNvSpPr txBox="1"/>
          <p:nvPr/>
        </p:nvSpPr>
        <p:spPr>
          <a:xfrm>
            <a:off x="6550762" y="1943100"/>
            <a:ext cx="607984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학교 전공 교과목이 어떤 직무 능력(NCS)과 연결되는지 확인하여 체계적인 커리큘럼 이수 가능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6550762" y="2424074"/>
            <a:ext cx="619049" cy="219456"/>
          </a:xfrm>
          <a:prstGeom prst="roundRect">
            <a:avLst>
              <a:gd name="adj" fmla="val 21739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4"/>
          <p:cNvSpPr/>
          <p:nvPr/>
        </p:nvSpPr>
        <p:spPr>
          <a:xfrm>
            <a:off x="7242048" y="2424074"/>
            <a:ext cx="714146" cy="219456"/>
          </a:xfrm>
          <a:prstGeom prst="roundRect">
            <a:avLst>
              <a:gd name="adj" fmla="val 21739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5"/>
          <p:cNvSpPr/>
          <p:nvPr/>
        </p:nvSpPr>
        <p:spPr>
          <a:xfrm>
            <a:off x="5759806" y="2952598"/>
            <a:ext cx="5867705" cy="1362456"/>
          </a:xfrm>
          <a:prstGeom prst="roundRect">
            <a:avLst>
              <a:gd name="adj" fmla="val 563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/>
          <p:cNvSpPr/>
          <p:nvPr/>
        </p:nvSpPr>
        <p:spPr>
          <a:xfrm>
            <a:off x="5940857" y="3133649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8B5CF6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74359" y="3267151"/>
            <a:ext cx="190195" cy="19019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550762" y="3133649"/>
            <a:ext cx="25676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블라인드 채용 &amp; 자소서 작성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10886846" y="3133649"/>
            <a:ext cx="562356" cy="200254"/>
          </a:xfrm>
          <a:prstGeom prst="roundRect">
            <a:avLst>
              <a:gd name="adj" fmla="val 86975"/>
            </a:avLst>
          </a:prstGeom>
          <a:solidFill>
            <a:srgbClr val="4C1D95"/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19"/>
          <p:cNvSpPr txBox="1"/>
          <p:nvPr/>
        </p:nvSpPr>
        <p:spPr>
          <a:xfrm>
            <a:off x="6550762" y="3438144"/>
            <a:ext cx="71826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공기업 및 대기업 직무기술서(Job Description)가 NCS 기반으로 작성됨. 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'수행준거'를 자소서 키워드로 활용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6550762" y="3919118"/>
            <a:ext cx="714146" cy="219456"/>
          </a:xfrm>
          <a:prstGeom prst="roundRect">
            <a:avLst>
              <a:gd name="adj" fmla="val 21739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1"/>
          <p:cNvSpPr/>
          <p:nvPr/>
        </p:nvSpPr>
        <p:spPr>
          <a:xfrm>
            <a:off x="7338974" y="3919118"/>
            <a:ext cx="619049" cy="219456"/>
          </a:xfrm>
          <a:prstGeom prst="roundRect">
            <a:avLst>
              <a:gd name="adj" fmla="val 21739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2"/>
          <p:cNvSpPr/>
          <p:nvPr/>
        </p:nvSpPr>
        <p:spPr>
          <a:xfrm>
            <a:off x="5759806" y="4448556"/>
            <a:ext cx="5867705" cy="1362456"/>
          </a:xfrm>
          <a:prstGeom prst="roundRect">
            <a:avLst>
              <a:gd name="adj" fmla="val 563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3"/>
          <p:cNvSpPr/>
          <p:nvPr/>
        </p:nvSpPr>
        <p:spPr>
          <a:xfrm>
            <a:off x="5940857" y="4629607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94A3B8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074359" y="4762195"/>
            <a:ext cx="190195" cy="190195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6550762" y="4629607"/>
            <a:ext cx="234086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실무형 프로젝트 평가 기준</a:t>
            </a:r>
            <a:endParaRPr lang="en-US" sz="1300" dirty="0"/>
          </a:p>
        </p:txBody>
      </p:sp>
      <p:sp>
        <p:nvSpPr>
          <p:cNvPr id="34" name="Shape 25"/>
          <p:cNvSpPr/>
          <p:nvPr/>
        </p:nvSpPr>
        <p:spPr>
          <a:xfrm>
            <a:off x="10828325" y="4629607"/>
            <a:ext cx="619049" cy="200254"/>
          </a:xfrm>
          <a:prstGeom prst="roundRect">
            <a:avLst>
              <a:gd name="adj" fmla="val 86975"/>
            </a:avLst>
          </a:prstGeom>
          <a:solidFill>
            <a:srgbClr val="334155"/>
          </a:solidFill>
          <a:ln w="12700">
            <a:solidFill>
              <a:srgbClr val="94A3B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6"/>
          <p:cNvSpPr txBox="1"/>
          <p:nvPr/>
        </p:nvSpPr>
        <p:spPr>
          <a:xfrm>
            <a:off x="6550762" y="4934102"/>
            <a:ext cx="582381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진행 시 모호한 목표 대신 NCS '수행준거'를 체크리스트로 활용하여 완성도 제고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6550762" y="5415077"/>
            <a:ext cx="905256" cy="219456"/>
          </a:xfrm>
          <a:prstGeom prst="roundRect">
            <a:avLst>
              <a:gd name="adj" fmla="val 21739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8"/>
          <p:cNvSpPr/>
          <p:nvPr/>
        </p:nvSpPr>
        <p:spPr>
          <a:xfrm>
            <a:off x="7530998" y="5415077"/>
            <a:ext cx="619049" cy="219456"/>
          </a:xfrm>
          <a:prstGeom prst="roundRect">
            <a:avLst>
              <a:gd name="adj" fmla="val 21739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29"/>
          <p:cNvSpPr txBox="1"/>
          <p:nvPr/>
        </p:nvSpPr>
        <p:spPr>
          <a:xfrm>
            <a:off x="10857586" y="1666951"/>
            <a:ext cx="5815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LEARNING</a:t>
            </a:r>
            <a:endParaRPr lang="en-US" sz="800" dirty="0"/>
          </a:p>
        </p:txBody>
      </p:sp>
      <p:sp>
        <p:nvSpPr>
          <p:cNvPr id="39" name="Text 30"/>
          <p:cNvSpPr txBox="1"/>
          <p:nvPr/>
        </p:nvSpPr>
        <p:spPr>
          <a:xfrm>
            <a:off x="6636715" y="2452421"/>
            <a:ext cx="5239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#전공매핑</a:t>
            </a:r>
            <a:endParaRPr lang="en-US" sz="800" dirty="0"/>
          </a:p>
        </p:txBody>
      </p:sp>
      <p:sp>
        <p:nvSpPr>
          <p:cNvPr id="40" name="Text 31"/>
          <p:cNvSpPr txBox="1"/>
          <p:nvPr/>
        </p:nvSpPr>
        <p:spPr>
          <a:xfrm>
            <a:off x="7328002" y="2452421"/>
            <a:ext cx="6199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#교과목선택</a:t>
            </a:r>
            <a:endParaRPr lang="en-US" sz="800" dirty="0"/>
          </a:p>
        </p:txBody>
      </p:sp>
      <p:sp>
        <p:nvSpPr>
          <p:cNvPr id="41" name="Text 32"/>
          <p:cNvSpPr txBox="1"/>
          <p:nvPr/>
        </p:nvSpPr>
        <p:spPr>
          <a:xfrm>
            <a:off x="10972800" y="3161995"/>
            <a:ext cx="4672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DD6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CAREER</a:t>
            </a:r>
            <a:endParaRPr lang="en-US" sz="800" dirty="0"/>
          </a:p>
        </p:txBody>
      </p:sp>
      <p:sp>
        <p:nvSpPr>
          <p:cNvPr id="42" name="Text 33"/>
          <p:cNvSpPr txBox="1"/>
          <p:nvPr/>
        </p:nvSpPr>
        <p:spPr>
          <a:xfrm>
            <a:off x="6636715" y="3948379"/>
            <a:ext cx="6199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#직무기술서</a:t>
            </a:r>
            <a:endParaRPr lang="en-US" sz="800" dirty="0"/>
          </a:p>
        </p:txBody>
      </p:sp>
      <p:sp>
        <p:nvSpPr>
          <p:cNvPr id="43" name="Text 34"/>
          <p:cNvSpPr txBox="1"/>
          <p:nvPr/>
        </p:nvSpPr>
        <p:spPr>
          <a:xfrm>
            <a:off x="7424014" y="3948379"/>
            <a:ext cx="5239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#경험정리</a:t>
            </a:r>
            <a:endParaRPr lang="en-US" sz="800" dirty="0"/>
          </a:p>
        </p:txBody>
      </p:sp>
      <p:sp>
        <p:nvSpPr>
          <p:cNvPr id="44" name="Text 35"/>
          <p:cNvSpPr txBox="1"/>
          <p:nvPr/>
        </p:nvSpPr>
        <p:spPr>
          <a:xfrm>
            <a:off x="10914278" y="4657954"/>
            <a:ext cx="5239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</a:t>
            </a:r>
            <a:endParaRPr lang="en-US" sz="800" dirty="0"/>
          </a:p>
        </p:txBody>
      </p:sp>
      <p:sp>
        <p:nvSpPr>
          <p:cNvPr id="45" name="Text 36"/>
          <p:cNvSpPr txBox="1"/>
          <p:nvPr/>
        </p:nvSpPr>
        <p:spPr>
          <a:xfrm>
            <a:off x="6636715" y="5443423"/>
            <a:ext cx="8257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#평가체크리스트</a:t>
            </a:r>
            <a:endParaRPr lang="en-US" sz="800" dirty="0"/>
          </a:p>
        </p:txBody>
      </p:sp>
      <p:sp>
        <p:nvSpPr>
          <p:cNvPr id="46" name="Text 37"/>
          <p:cNvSpPr txBox="1"/>
          <p:nvPr/>
        </p:nvSpPr>
        <p:spPr>
          <a:xfrm>
            <a:off x="7616952" y="5443423"/>
            <a:ext cx="5239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#품질관리</a:t>
            </a:r>
            <a:endParaRPr lang="en-US" sz="800" dirty="0"/>
          </a:p>
        </p:txBody>
      </p:sp>
      <p:sp>
        <p:nvSpPr>
          <p:cNvPr id="47" name="Shape 38"/>
          <p:cNvSpPr/>
          <p:nvPr/>
        </p:nvSpPr>
        <p:spPr>
          <a:xfrm>
            <a:off x="571500" y="1143000"/>
            <a:ext cx="4886554" cy="3771900"/>
          </a:xfrm>
          <a:prstGeom prst="roundRect">
            <a:avLst>
              <a:gd name="adj" fmla="val 735"/>
            </a:avLst>
          </a:prstGeom>
          <a:solidFill>
            <a:srgbClr val="1E3A8A"/>
          </a:solidFill>
          <a:ln w="12700">
            <a:solidFill>
              <a:srgbClr val="3B82F6">
                <a:alpha val="30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8"/>
          <a:srcRect t="-45" b="-45"/>
          <a:stretch/>
        </p:blipFill>
        <p:spPr>
          <a:xfrm>
            <a:off x="809244" y="1419149"/>
            <a:ext cx="256946" cy="228600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1181405" y="1380744"/>
            <a:ext cx="174559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 is NCS?</a:t>
            </a:r>
            <a:endParaRPr lang="en-US" sz="1800" dirty="0"/>
          </a:p>
        </p:txBody>
      </p:sp>
      <p:sp>
        <p:nvSpPr>
          <p:cNvPr id="50" name="Text 40"/>
          <p:cNvSpPr txBox="1"/>
          <p:nvPr/>
        </p:nvSpPr>
        <p:spPr>
          <a:xfrm>
            <a:off x="809244" y="1837944"/>
            <a:ext cx="6696151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산업현장에서 직무를 수행하기 </a:t>
            </a:r>
            <a:r>
              <a:rPr lang="en-US" sz="1300" dirty="0" err="1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위해</a:t>
            </a:r>
            <a:r>
              <a:rPr lang="en-US" sz="130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00" dirty="0" err="1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요구되는</a:t>
            </a:r>
            <a:endParaRPr lang="en-US" sz="1300" dirty="0">
              <a:solidFill>
                <a:srgbClr val="DBEAFE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13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지식·기술·태도</a:t>
            </a:r>
            <a:r>
              <a:rPr lang="en-US" sz="1300" dirty="0" err="1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</a:t>
            </a:r>
            <a:r>
              <a:rPr lang="en-US" sz="130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국가가 체계화한 표준</a:t>
            </a:r>
            <a:endParaRPr lang="en-US" sz="1300" dirty="0"/>
          </a:p>
        </p:txBody>
      </p:sp>
      <p:sp>
        <p:nvSpPr>
          <p:cNvPr id="51" name="Text 41"/>
          <p:cNvSpPr txBox="1"/>
          <p:nvPr/>
        </p:nvSpPr>
        <p:spPr>
          <a:xfrm>
            <a:off x="1000354" y="2510028"/>
            <a:ext cx="171267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일-교육-자격의 연계 고리</a:t>
            </a:r>
            <a:endParaRPr lang="en-US" sz="1000" dirty="0"/>
          </a:p>
        </p:txBody>
      </p:sp>
      <p:sp>
        <p:nvSpPr>
          <p:cNvPr id="52" name="Text 42"/>
          <p:cNvSpPr txBox="1"/>
          <p:nvPr/>
        </p:nvSpPr>
        <p:spPr>
          <a:xfrm>
            <a:off x="1000354" y="2776118"/>
            <a:ext cx="23454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능력 중심 채용 및 인사관리의 기준</a:t>
            </a:r>
            <a:endParaRPr lang="en-US" sz="1000" dirty="0"/>
          </a:p>
        </p:txBody>
      </p:sp>
      <p:sp>
        <p:nvSpPr>
          <p:cNvPr id="53" name="Text 43"/>
          <p:cNvSpPr txBox="1"/>
          <p:nvPr/>
        </p:nvSpPr>
        <p:spPr>
          <a:xfrm>
            <a:off x="1000354" y="3043123"/>
            <a:ext cx="26206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현장성 있는 교육훈련 과정의 설계 도구</a:t>
            </a:r>
            <a:endParaRPr lang="en-US" sz="1000" dirty="0"/>
          </a:p>
        </p:txBody>
      </p:sp>
      <p:pic>
        <p:nvPicPr>
          <p:cNvPr id="54" name="Image 8" descr="preencoded.png"/>
          <p:cNvPicPr>
            <a:picLocks noChangeAspect="1"/>
          </p:cNvPicPr>
          <p:nvPr/>
        </p:nvPicPr>
        <p:blipFill>
          <a:blip r:embed="rId9">
            <a:alphaModFix amt="80000"/>
          </a:blip>
          <a:srcRect t="-80" b="-80"/>
          <a:stretch/>
        </p:blipFill>
        <p:spPr>
          <a:xfrm>
            <a:off x="809244" y="4581144"/>
            <a:ext cx="142646" cy="114300"/>
          </a:xfrm>
          <a:prstGeom prst="rect">
            <a:avLst/>
          </a:prstGeom>
        </p:spPr>
      </p:pic>
      <p:sp>
        <p:nvSpPr>
          <p:cNvPr id="55" name="Text 44"/>
          <p:cNvSpPr txBox="1"/>
          <p:nvPr/>
        </p:nvSpPr>
        <p:spPr>
          <a:xfrm>
            <a:off x="1028700" y="4562856"/>
            <a:ext cx="207111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National Competency Standards</a:t>
            </a:r>
            <a:endParaRPr lang="en-US" sz="900" dirty="0"/>
          </a:p>
        </p:txBody>
      </p:sp>
      <p:sp>
        <p:nvSpPr>
          <p:cNvPr id="56" name="Shape 45"/>
          <p:cNvSpPr/>
          <p:nvPr/>
        </p:nvSpPr>
        <p:spPr>
          <a:xfrm>
            <a:off x="771754" y="5591556"/>
            <a:ext cx="1352398" cy="761695"/>
          </a:xfrm>
          <a:prstGeom prst="roundRect">
            <a:avLst>
              <a:gd name="adj" fmla="val 12005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46"/>
          <p:cNvSpPr txBox="1"/>
          <p:nvPr/>
        </p:nvSpPr>
        <p:spPr>
          <a:xfrm>
            <a:off x="1165860" y="5676595"/>
            <a:ext cx="56144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분류 체계</a:t>
            </a:r>
            <a:endParaRPr lang="en-US" sz="900" dirty="0"/>
          </a:p>
        </p:txBody>
      </p:sp>
      <p:sp>
        <p:nvSpPr>
          <p:cNvPr id="58" name="Text 47"/>
          <p:cNvSpPr txBox="1"/>
          <p:nvPr/>
        </p:nvSpPr>
        <p:spPr>
          <a:xfrm>
            <a:off x="1004926" y="5876849"/>
            <a:ext cx="883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대·중·소분류</a:t>
            </a:r>
            <a:endParaRPr lang="en-US" sz="1000" dirty="0"/>
          </a:p>
        </p:txBody>
      </p:sp>
      <p:sp>
        <p:nvSpPr>
          <p:cNvPr id="59" name="Text 48"/>
          <p:cNvSpPr txBox="1"/>
          <p:nvPr/>
        </p:nvSpPr>
        <p:spPr>
          <a:xfrm>
            <a:off x="926287" y="6096305"/>
            <a:ext cx="10415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 및 직무 분야</a:t>
            </a:r>
            <a:endParaRPr lang="en-US" sz="900" dirty="0"/>
          </a:p>
        </p:txBody>
      </p:sp>
      <p:sp>
        <p:nvSpPr>
          <p:cNvPr id="60" name="Shape 49"/>
          <p:cNvSpPr/>
          <p:nvPr/>
        </p:nvSpPr>
        <p:spPr>
          <a:xfrm>
            <a:off x="2340864" y="5591556"/>
            <a:ext cx="1352398" cy="761695"/>
          </a:xfrm>
          <a:prstGeom prst="roundRect">
            <a:avLst>
              <a:gd name="adj" fmla="val 12005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0"/>
          <p:cNvSpPr txBox="1"/>
          <p:nvPr/>
        </p:nvSpPr>
        <p:spPr>
          <a:xfrm>
            <a:off x="2734970" y="5676595"/>
            <a:ext cx="56144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단위</a:t>
            </a:r>
            <a:endParaRPr lang="en-US" sz="900" dirty="0"/>
          </a:p>
        </p:txBody>
      </p:sp>
      <p:sp>
        <p:nvSpPr>
          <p:cNvPr id="62" name="Text 51"/>
          <p:cNvSpPr txBox="1"/>
          <p:nvPr/>
        </p:nvSpPr>
        <p:spPr>
          <a:xfrm>
            <a:off x="2729484" y="5876849"/>
            <a:ext cx="571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능력단위</a:t>
            </a:r>
            <a:endParaRPr lang="en-US" sz="1000" dirty="0"/>
          </a:p>
        </p:txBody>
      </p:sp>
      <p:sp>
        <p:nvSpPr>
          <p:cNvPr id="63" name="Text 52"/>
          <p:cNvSpPr txBox="1"/>
          <p:nvPr/>
        </p:nvSpPr>
        <p:spPr>
          <a:xfrm>
            <a:off x="2528316" y="6096305"/>
            <a:ext cx="9692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채용·평가의 기준</a:t>
            </a:r>
            <a:endParaRPr lang="en-US" sz="900" dirty="0"/>
          </a:p>
        </p:txBody>
      </p:sp>
      <p:sp>
        <p:nvSpPr>
          <p:cNvPr id="64" name="Shape 53"/>
          <p:cNvSpPr/>
          <p:nvPr/>
        </p:nvSpPr>
        <p:spPr>
          <a:xfrm>
            <a:off x="3909974" y="5591556"/>
            <a:ext cx="1352398" cy="761695"/>
          </a:xfrm>
          <a:prstGeom prst="roundRect">
            <a:avLst>
              <a:gd name="adj" fmla="val 12005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54"/>
          <p:cNvSpPr txBox="1"/>
          <p:nvPr/>
        </p:nvSpPr>
        <p:spPr>
          <a:xfrm>
            <a:off x="4304081" y="5676595"/>
            <a:ext cx="56144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세부 기준</a:t>
            </a:r>
            <a:endParaRPr lang="en-US" sz="900" dirty="0"/>
          </a:p>
        </p:txBody>
      </p:sp>
      <p:sp>
        <p:nvSpPr>
          <p:cNvPr id="66" name="Text 55"/>
          <p:cNvSpPr txBox="1"/>
          <p:nvPr/>
        </p:nvSpPr>
        <p:spPr>
          <a:xfrm>
            <a:off x="4027932" y="5876849"/>
            <a:ext cx="111556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수행준거 &amp; 요소</a:t>
            </a:r>
            <a:endParaRPr lang="en-US" sz="1000" dirty="0"/>
          </a:p>
        </p:txBody>
      </p:sp>
      <p:sp>
        <p:nvSpPr>
          <p:cNvPr id="67" name="Text 56"/>
          <p:cNvSpPr txBox="1"/>
          <p:nvPr/>
        </p:nvSpPr>
        <p:spPr>
          <a:xfrm>
            <a:off x="4101998" y="6096305"/>
            <a:ext cx="97017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구체적 행동 지표</a:t>
            </a:r>
            <a:endParaRPr lang="en-US" sz="900" dirty="0"/>
          </a:p>
        </p:txBody>
      </p:sp>
      <p:sp>
        <p:nvSpPr>
          <p:cNvPr id="69" name="Text 5">
            <a:extLst>
              <a:ext uri="{FF2B5EF4-FFF2-40B4-BE49-F238E27FC236}">
                <a16:creationId xmlns:a16="http://schemas.microsoft.com/office/drawing/2014/main" id="{6A35E430-A27F-099A-B78D-5BEA7CF9F0CC}"/>
              </a:ext>
            </a:extLst>
          </p:cNvPr>
          <p:cNvSpPr txBox="1"/>
          <p:nvPr/>
        </p:nvSpPr>
        <p:spPr>
          <a:xfrm>
            <a:off x="9912096" y="6434175"/>
            <a:ext cx="20509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4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https://www.ncs.go.kr/index.do</a:t>
            </a:r>
            <a:endParaRPr lang="en-US" sz="900" dirty="0"/>
          </a:p>
        </p:txBody>
      </p:sp>
      <p:sp>
        <p:nvSpPr>
          <p:cNvPr id="7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381305"/>
            <a:ext cx="49907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NCS × AI: 전공·진로 연결 지도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895198"/>
            <a:ext cx="53666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국가직무능력표준(NCS)과 생성형 AI 기술을 접목한 실전 역량 매핑 사례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0619842" y="381305"/>
            <a:ext cx="1009498" cy="323698"/>
          </a:xfrm>
          <a:prstGeom prst="roundRect">
            <a:avLst>
              <a:gd name="adj" fmla="val 166168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10781690" y="448056"/>
            <a:ext cx="7955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Case Study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71500" y="1314907"/>
            <a:ext cx="3562502" cy="5162702"/>
          </a:xfrm>
          <a:prstGeom prst="roundRect">
            <a:avLst>
              <a:gd name="adj" fmla="val 824"/>
            </a:avLst>
          </a:prstGeom>
          <a:solidFill>
            <a:srgbClr val="0F172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80644" y="1324051"/>
            <a:ext cx="3543300" cy="771754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733349" y="1476756"/>
            <a:ext cx="150144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데이터·통계 분석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33349" y="1772107"/>
            <a:ext cx="131765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이공계/상경계열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80644" y="2095805"/>
            <a:ext cx="3543300" cy="4371746"/>
          </a:xfrm>
          <a:prstGeom prst="rect">
            <a:avLst/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33349" y="2771546"/>
            <a:ext cx="3429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데이터의 특성을 파악하고 시각화하여 인사이트 도출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33349" y="3045866"/>
            <a:ext cx="3238805" cy="2581351"/>
          </a:xfrm>
          <a:prstGeom prst="roundRect">
            <a:avLst>
              <a:gd name="adj" fmla="val 1046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/>
          <a:srcRect t="-3510" b="-3510"/>
          <a:stretch/>
        </p:blipFill>
        <p:spPr>
          <a:xfrm>
            <a:off x="857707" y="3198571"/>
            <a:ext cx="133502" cy="1143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990295" y="3170225"/>
            <a:ext cx="136062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 전략 (Agentic)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857707" y="3398825"/>
            <a:ext cx="323606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코드 생성/디버깅, 전처리 자동화 스크립트 작성</a:t>
            </a:r>
            <a:endParaRPr lang="en-US" sz="9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rcRect l="-27867" r="-27867"/>
          <a:stretch/>
        </p:blipFill>
        <p:spPr>
          <a:xfrm>
            <a:off x="857707" y="3682289"/>
            <a:ext cx="133502" cy="1143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90295" y="3653942"/>
            <a:ext cx="68305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창의적 확장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857707" y="3882542"/>
            <a:ext cx="3182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 관점의 시각화 제안 및 해석 리포트 초안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733349" y="5738774"/>
            <a:ext cx="32388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733349" y="6062472"/>
            <a:ext cx="819302" cy="256946"/>
          </a:xfrm>
          <a:prstGeom prst="roundRect">
            <a:avLst>
              <a:gd name="adj" fmla="val 5272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1607515" y="6062472"/>
            <a:ext cx="914400" cy="256946"/>
          </a:xfrm>
          <a:prstGeom prst="roundRect">
            <a:avLst>
              <a:gd name="adj" fmla="val 5272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9"/>
          <p:cNvSpPr/>
          <p:nvPr/>
        </p:nvSpPr>
        <p:spPr>
          <a:xfrm>
            <a:off x="4317797" y="1314907"/>
            <a:ext cx="3562502" cy="5162702"/>
          </a:xfrm>
          <a:prstGeom prst="roundRect">
            <a:avLst>
              <a:gd name="adj" fmla="val 824"/>
            </a:avLst>
          </a:prstGeom>
          <a:solidFill>
            <a:srgbClr val="0F172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0"/>
          <p:cNvSpPr/>
          <p:nvPr/>
        </p:nvSpPr>
        <p:spPr>
          <a:xfrm>
            <a:off x="4327855" y="1324051"/>
            <a:ext cx="3543300" cy="771754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1"/>
          <p:cNvSpPr txBox="1"/>
          <p:nvPr/>
        </p:nvSpPr>
        <p:spPr>
          <a:xfrm>
            <a:off x="4479646" y="1476756"/>
            <a:ext cx="136702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서비스·UX 기획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4479646" y="1772107"/>
            <a:ext cx="123444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인문/디자인/SW계열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4327855" y="2095805"/>
            <a:ext cx="3543300" cy="4371746"/>
          </a:xfrm>
          <a:prstGeom prst="rect">
            <a:avLst/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4"/>
          <p:cNvSpPr txBox="1"/>
          <p:nvPr/>
        </p:nvSpPr>
        <p:spPr>
          <a:xfrm>
            <a:off x="4479646" y="2771546"/>
            <a:ext cx="3429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요구사항 분석 및 정보 구조/화면 설계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4479646" y="3045866"/>
            <a:ext cx="3238805" cy="2581351"/>
          </a:xfrm>
          <a:prstGeom prst="roundRect">
            <a:avLst>
              <a:gd name="adj" fmla="val 1046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5"/>
          <a:srcRect t="-3510" b="-3510"/>
          <a:stretch/>
        </p:blipFill>
        <p:spPr>
          <a:xfrm>
            <a:off x="4604004" y="3198571"/>
            <a:ext cx="133502" cy="11430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4737506" y="3170225"/>
            <a:ext cx="136062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 전략 (Agentic)</a:t>
            </a:r>
            <a:endParaRPr lang="en-US" sz="900" dirty="0"/>
          </a:p>
        </p:txBody>
      </p:sp>
      <p:sp>
        <p:nvSpPr>
          <p:cNvPr id="33" name="Text 27"/>
          <p:cNvSpPr txBox="1"/>
          <p:nvPr/>
        </p:nvSpPr>
        <p:spPr>
          <a:xfrm>
            <a:off x="4604004" y="3398825"/>
            <a:ext cx="330464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페르소나 생성, 인터뷰 시뮬레이션, 와이어프레임 아이디어</a:t>
            </a:r>
            <a:endParaRPr lang="en-US" sz="9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6"/>
          <a:srcRect l="-27867" r="-27867"/>
          <a:stretch/>
        </p:blipFill>
        <p:spPr>
          <a:xfrm>
            <a:off x="4604004" y="3682289"/>
            <a:ext cx="133502" cy="11430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4737506" y="3653942"/>
            <a:ext cx="68305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창의적 확장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4604004" y="3882542"/>
            <a:ext cx="3182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엣지 케이스 시나리오 탐색 및 기획안 보완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4479646" y="5738774"/>
            <a:ext cx="32388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1"/>
          <p:cNvSpPr/>
          <p:nvPr/>
        </p:nvSpPr>
        <p:spPr>
          <a:xfrm>
            <a:off x="4479646" y="6062472"/>
            <a:ext cx="819302" cy="256946"/>
          </a:xfrm>
          <a:prstGeom prst="roundRect">
            <a:avLst>
              <a:gd name="adj" fmla="val 5272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2"/>
          <p:cNvSpPr/>
          <p:nvPr/>
        </p:nvSpPr>
        <p:spPr>
          <a:xfrm>
            <a:off x="5354726" y="6062472"/>
            <a:ext cx="694944" cy="256946"/>
          </a:xfrm>
          <a:prstGeom prst="roundRect">
            <a:avLst>
              <a:gd name="adj" fmla="val 5272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3"/>
          <p:cNvSpPr/>
          <p:nvPr/>
        </p:nvSpPr>
        <p:spPr>
          <a:xfrm>
            <a:off x="8064094" y="1314907"/>
            <a:ext cx="3562502" cy="5162702"/>
          </a:xfrm>
          <a:prstGeom prst="roundRect">
            <a:avLst>
              <a:gd name="adj" fmla="val 824"/>
            </a:avLst>
          </a:prstGeom>
          <a:solidFill>
            <a:srgbClr val="0F172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4"/>
          <p:cNvSpPr/>
          <p:nvPr/>
        </p:nvSpPr>
        <p:spPr>
          <a:xfrm>
            <a:off x="8074152" y="1324051"/>
            <a:ext cx="3543300" cy="771754"/>
          </a:xfrm>
          <a:prstGeom prst="rect">
            <a:avLst/>
          </a:prstGeom>
          <a:solidFill>
            <a:srgbClr val="4755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5"/>
          <p:cNvSpPr txBox="1"/>
          <p:nvPr/>
        </p:nvSpPr>
        <p:spPr>
          <a:xfrm>
            <a:off x="8225942" y="1476756"/>
            <a:ext cx="120700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협업</a:t>
            </a:r>
            <a:endParaRPr lang="en-US" sz="1300" dirty="0"/>
          </a:p>
        </p:txBody>
      </p:sp>
      <p:sp>
        <p:nvSpPr>
          <p:cNvPr id="43" name="Text 36"/>
          <p:cNvSpPr txBox="1"/>
          <p:nvPr/>
        </p:nvSpPr>
        <p:spPr>
          <a:xfrm>
            <a:off x="8225942" y="1772107"/>
            <a:ext cx="108082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전공 공통 역량</a:t>
            </a:r>
            <a:endParaRPr lang="en-US" sz="900" dirty="0"/>
          </a:p>
        </p:txBody>
      </p:sp>
      <p:sp>
        <p:nvSpPr>
          <p:cNvPr id="44" name="Shape 37"/>
          <p:cNvSpPr/>
          <p:nvPr/>
        </p:nvSpPr>
        <p:spPr>
          <a:xfrm>
            <a:off x="8074152" y="2095805"/>
            <a:ext cx="3543300" cy="4371746"/>
          </a:xfrm>
          <a:prstGeom prst="rect">
            <a:avLst/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8"/>
          <p:cNvSpPr txBox="1"/>
          <p:nvPr/>
        </p:nvSpPr>
        <p:spPr>
          <a:xfrm>
            <a:off x="8225942" y="2771546"/>
            <a:ext cx="3429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달성을 위한 자원 관리 및 이해관계자 소통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8225942" y="3045866"/>
            <a:ext cx="3238805" cy="2581351"/>
          </a:xfrm>
          <a:prstGeom prst="roundRect">
            <a:avLst>
              <a:gd name="adj" fmla="val 1046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5"/>
          <a:srcRect t="-3510" b="-3510"/>
          <a:stretch/>
        </p:blipFill>
        <p:spPr>
          <a:xfrm>
            <a:off x="8350301" y="3198571"/>
            <a:ext cx="133502" cy="114300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8483803" y="3170225"/>
            <a:ext cx="136062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 전략 (Agentic)</a:t>
            </a:r>
            <a:endParaRPr lang="en-US" sz="900" dirty="0"/>
          </a:p>
        </p:txBody>
      </p:sp>
      <p:sp>
        <p:nvSpPr>
          <p:cNvPr id="49" name="Text 41"/>
          <p:cNvSpPr txBox="1"/>
          <p:nvPr/>
        </p:nvSpPr>
        <p:spPr>
          <a:xfrm>
            <a:off x="8350301" y="3398825"/>
            <a:ext cx="3182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회의록 자동 요약/액션 아이템 추출, 문서 초안 작성</a:t>
            </a:r>
            <a:endParaRPr lang="en-US" sz="900" dirty="0"/>
          </a:p>
        </p:txBody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 r:embed="rId6"/>
          <a:srcRect l="-27867" r="-27867"/>
          <a:stretch/>
        </p:blipFill>
        <p:spPr>
          <a:xfrm>
            <a:off x="8350301" y="3682289"/>
            <a:ext cx="133502" cy="114300"/>
          </a:xfrm>
          <a:prstGeom prst="rect">
            <a:avLst/>
          </a:prstGeom>
        </p:spPr>
      </p:pic>
      <p:sp>
        <p:nvSpPr>
          <p:cNvPr id="51" name="Text 42"/>
          <p:cNvSpPr txBox="1"/>
          <p:nvPr/>
        </p:nvSpPr>
        <p:spPr>
          <a:xfrm>
            <a:off x="8483803" y="3653942"/>
            <a:ext cx="68305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창의적 확장</a:t>
            </a:r>
            <a:endParaRPr lang="en-US" sz="900" dirty="0"/>
          </a:p>
        </p:txBody>
      </p:sp>
      <p:sp>
        <p:nvSpPr>
          <p:cNvPr id="52" name="Text 43"/>
          <p:cNvSpPr txBox="1"/>
          <p:nvPr/>
        </p:nvSpPr>
        <p:spPr>
          <a:xfrm>
            <a:off x="8350301" y="3882542"/>
            <a:ext cx="3182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갈등 상황 시뮬레이션/중재안, 일정 최적화 제안</a:t>
            </a:r>
            <a:endParaRPr lang="en-US" sz="900" dirty="0"/>
          </a:p>
        </p:txBody>
      </p:sp>
      <p:sp>
        <p:nvSpPr>
          <p:cNvPr id="53" name="Shape 44"/>
          <p:cNvSpPr/>
          <p:nvPr/>
        </p:nvSpPr>
        <p:spPr>
          <a:xfrm>
            <a:off x="8225942" y="5738774"/>
            <a:ext cx="32388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45"/>
          <p:cNvSpPr/>
          <p:nvPr/>
        </p:nvSpPr>
        <p:spPr>
          <a:xfrm>
            <a:off x="8225942" y="6062472"/>
            <a:ext cx="629107" cy="256946"/>
          </a:xfrm>
          <a:prstGeom prst="roundRect">
            <a:avLst>
              <a:gd name="adj" fmla="val 5272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46"/>
          <p:cNvSpPr/>
          <p:nvPr/>
        </p:nvSpPr>
        <p:spPr>
          <a:xfrm>
            <a:off x="8908085" y="6062472"/>
            <a:ext cx="724205" cy="256946"/>
          </a:xfrm>
          <a:prstGeom prst="roundRect">
            <a:avLst>
              <a:gd name="adj" fmla="val 5272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47"/>
          <p:cNvSpPr/>
          <p:nvPr/>
        </p:nvSpPr>
        <p:spPr>
          <a:xfrm>
            <a:off x="733349" y="2295144"/>
            <a:ext cx="685800" cy="181051"/>
          </a:xfrm>
          <a:prstGeom prst="roundRect">
            <a:avLst>
              <a:gd name="adj" fmla="val 10632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48"/>
          <p:cNvSpPr txBox="1"/>
          <p:nvPr/>
        </p:nvSpPr>
        <p:spPr>
          <a:xfrm>
            <a:off x="790956" y="2314346"/>
            <a:ext cx="6483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NCS 능력단위</a:t>
            </a:r>
            <a:endParaRPr lang="en-US" sz="800" dirty="0"/>
          </a:p>
        </p:txBody>
      </p:sp>
      <p:sp>
        <p:nvSpPr>
          <p:cNvPr id="58" name="Text 49"/>
          <p:cNvSpPr txBox="1"/>
          <p:nvPr/>
        </p:nvSpPr>
        <p:spPr>
          <a:xfrm>
            <a:off x="733349" y="2533802"/>
            <a:ext cx="25054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빅데이터 분석 / 탐색적 데이터 분석</a:t>
            </a:r>
            <a:endParaRPr lang="en-US" sz="1000" dirty="0"/>
          </a:p>
        </p:txBody>
      </p:sp>
      <p:sp>
        <p:nvSpPr>
          <p:cNvPr id="59" name="Text 50"/>
          <p:cNvSpPr txBox="1"/>
          <p:nvPr/>
        </p:nvSpPr>
        <p:spPr>
          <a:xfrm>
            <a:off x="733349" y="5862218"/>
            <a:ext cx="56967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산출물</a:t>
            </a:r>
            <a:endParaRPr lang="en-US" sz="800" dirty="0"/>
          </a:p>
        </p:txBody>
      </p:sp>
      <p:sp>
        <p:nvSpPr>
          <p:cNvPr id="60" name="Text 51"/>
          <p:cNvSpPr txBox="1"/>
          <p:nvPr/>
        </p:nvSpPr>
        <p:spPr>
          <a:xfrm>
            <a:off x="838505" y="6110021"/>
            <a:ext cx="71597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대시보드</a:t>
            </a:r>
            <a:endParaRPr lang="en-US" sz="800" dirty="0"/>
          </a:p>
        </p:txBody>
      </p:sp>
      <p:sp>
        <p:nvSpPr>
          <p:cNvPr id="61" name="Text 52"/>
          <p:cNvSpPr txBox="1"/>
          <p:nvPr/>
        </p:nvSpPr>
        <p:spPr>
          <a:xfrm>
            <a:off x="1712671" y="6110021"/>
            <a:ext cx="8238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인사이트 리포트</a:t>
            </a:r>
            <a:endParaRPr lang="en-US" sz="800" dirty="0"/>
          </a:p>
        </p:txBody>
      </p:sp>
      <p:sp>
        <p:nvSpPr>
          <p:cNvPr id="62" name="Shape 53"/>
          <p:cNvSpPr/>
          <p:nvPr/>
        </p:nvSpPr>
        <p:spPr>
          <a:xfrm>
            <a:off x="4479646" y="2295144"/>
            <a:ext cx="685800" cy="181051"/>
          </a:xfrm>
          <a:prstGeom prst="roundRect">
            <a:avLst>
              <a:gd name="adj" fmla="val 10632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54"/>
          <p:cNvSpPr txBox="1"/>
          <p:nvPr/>
        </p:nvSpPr>
        <p:spPr>
          <a:xfrm>
            <a:off x="4537253" y="2314346"/>
            <a:ext cx="6483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NCS 능력단위</a:t>
            </a:r>
            <a:endParaRPr lang="en-US" sz="800" dirty="0"/>
          </a:p>
        </p:txBody>
      </p:sp>
      <p:sp>
        <p:nvSpPr>
          <p:cNvPr id="64" name="Text 55"/>
          <p:cNvSpPr txBox="1"/>
          <p:nvPr/>
        </p:nvSpPr>
        <p:spPr>
          <a:xfrm>
            <a:off x="4479646" y="2533802"/>
            <a:ext cx="1564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UI/UX 기획 / 화면 설계</a:t>
            </a:r>
            <a:endParaRPr lang="en-US" sz="1000" dirty="0"/>
          </a:p>
        </p:txBody>
      </p:sp>
      <p:sp>
        <p:nvSpPr>
          <p:cNvPr id="65" name="Text 56"/>
          <p:cNvSpPr txBox="1"/>
          <p:nvPr/>
        </p:nvSpPr>
        <p:spPr>
          <a:xfrm>
            <a:off x="4479646" y="5862218"/>
            <a:ext cx="56967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산출물</a:t>
            </a:r>
            <a:endParaRPr lang="en-US" sz="800" dirty="0"/>
          </a:p>
        </p:txBody>
      </p:sp>
      <p:sp>
        <p:nvSpPr>
          <p:cNvPr id="66" name="Text 57"/>
          <p:cNvSpPr txBox="1"/>
          <p:nvPr/>
        </p:nvSpPr>
        <p:spPr>
          <a:xfrm>
            <a:off x="4584802" y="6110021"/>
            <a:ext cx="71597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기획서</a:t>
            </a:r>
            <a:endParaRPr lang="en-US" sz="800" dirty="0"/>
          </a:p>
        </p:txBody>
      </p:sp>
      <p:sp>
        <p:nvSpPr>
          <p:cNvPr id="67" name="Text 58"/>
          <p:cNvSpPr txBox="1"/>
          <p:nvPr/>
        </p:nvSpPr>
        <p:spPr>
          <a:xfrm>
            <a:off x="5458968" y="6110021"/>
            <a:ext cx="5623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프로토타입</a:t>
            </a:r>
            <a:endParaRPr lang="en-US" sz="800" dirty="0"/>
          </a:p>
        </p:txBody>
      </p:sp>
      <p:sp>
        <p:nvSpPr>
          <p:cNvPr id="68" name="Shape 59"/>
          <p:cNvSpPr/>
          <p:nvPr/>
        </p:nvSpPr>
        <p:spPr>
          <a:xfrm>
            <a:off x="8225942" y="2295144"/>
            <a:ext cx="685800" cy="181051"/>
          </a:xfrm>
          <a:prstGeom prst="roundRect">
            <a:avLst>
              <a:gd name="adj" fmla="val 10632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0"/>
          <p:cNvSpPr txBox="1"/>
          <p:nvPr/>
        </p:nvSpPr>
        <p:spPr>
          <a:xfrm>
            <a:off x="8283550" y="2314346"/>
            <a:ext cx="6483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NCS 능력단위</a:t>
            </a:r>
            <a:endParaRPr lang="en-US" sz="800" dirty="0"/>
          </a:p>
        </p:txBody>
      </p:sp>
      <p:sp>
        <p:nvSpPr>
          <p:cNvPr id="70" name="Text 61"/>
          <p:cNvSpPr txBox="1"/>
          <p:nvPr/>
        </p:nvSpPr>
        <p:spPr>
          <a:xfrm>
            <a:off x="8225942" y="2533802"/>
            <a:ext cx="176570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관리 / 의사소통</a:t>
            </a:r>
            <a:endParaRPr lang="en-US" sz="1000" dirty="0"/>
          </a:p>
        </p:txBody>
      </p:sp>
      <p:sp>
        <p:nvSpPr>
          <p:cNvPr id="71" name="Text 62"/>
          <p:cNvSpPr txBox="1"/>
          <p:nvPr/>
        </p:nvSpPr>
        <p:spPr>
          <a:xfrm>
            <a:off x="8225942" y="5862218"/>
            <a:ext cx="56967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산출물</a:t>
            </a:r>
            <a:endParaRPr lang="en-US" sz="800" dirty="0"/>
          </a:p>
        </p:txBody>
      </p:sp>
      <p:sp>
        <p:nvSpPr>
          <p:cNvPr id="72" name="Text 63"/>
          <p:cNvSpPr txBox="1"/>
          <p:nvPr/>
        </p:nvSpPr>
        <p:spPr>
          <a:xfrm>
            <a:off x="8331098" y="6110021"/>
            <a:ext cx="49926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문서</a:t>
            </a:r>
            <a:endParaRPr lang="en-US" sz="800" dirty="0"/>
          </a:p>
        </p:txBody>
      </p:sp>
      <p:sp>
        <p:nvSpPr>
          <p:cNvPr id="73" name="Text 64"/>
          <p:cNvSpPr txBox="1"/>
          <p:nvPr/>
        </p:nvSpPr>
        <p:spPr>
          <a:xfrm>
            <a:off x="9012326" y="6110021"/>
            <a:ext cx="60716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 관리표</a:t>
            </a:r>
            <a:endParaRPr lang="en-US" sz="800" dirty="0"/>
          </a:p>
        </p:txBody>
      </p:sp>
      <p:pic>
        <p:nvPicPr>
          <p:cNvPr id="74" name="Image 7" descr="preencoded.png"/>
          <p:cNvPicPr>
            <a:picLocks noChangeAspect="1"/>
          </p:cNvPicPr>
          <p:nvPr/>
        </p:nvPicPr>
        <p:blipFill>
          <a:blip r:embed="rId7">
            <a:alphaModFix amt="90000"/>
          </a:blip>
          <a:srcRect/>
          <a:stretch/>
        </p:blipFill>
        <p:spPr>
          <a:xfrm>
            <a:off x="3774643" y="1476756"/>
            <a:ext cx="190195" cy="190195"/>
          </a:xfrm>
          <a:prstGeom prst="rect">
            <a:avLst/>
          </a:prstGeom>
        </p:spPr>
      </p:pic>
      <p:pic>
        <p:nvPicPr>
          <p:cNvPr id="75" name="Image 8" descr="preencoded.png"/>
          <p:cNvPicPr>
            <a:picLocks noChangeAspect="1"/>
          </p:cNvPicPr>
          <p:nvPr/>
        </p:nvPicPr>
        <p:blipFill>
          <a:blip r:embed="rId8">
            <a:alphaModFix amt="90000"/>
          </a:blip>
          <a:srcRect/>
          <a:stretch/>
        </p:blipFill>
        <p:spPr>
          <a:xfrm>
            <a:off x="7521854" y="1476756"/>
            <a:ext cx="190195" cy="190195"/>
          </a:xfrm>
          <a:prstGeom prst="rect">
            <a:avLst/>
          </a:prstGeom>
        </p:spPr>
      </p:pic>
      <p:pic>
        <p:nvPicPr>
          <p:cNvPr id="76" name="Image 9" descr="preencoded.png"/>
          <p:cNvPicPr>
            <a:picLocks noChangeAspect="1"/>
          </p:cNvPicPr>
          <p:nvPr/>
        </p:nvPicPr>
        <p:blipFill>
          <a:blip r:embed="rId9">
            <a:alphaModFix amt="90000"/>
          </a:blip>
          <a:srcRect/>
          <a:stretch/>
        </p:blipFill>
        <p:spPr>
          <a:xfrm>
            <a:off x="11220602" y="1476756"/>
            <a:ext cx="237744" cy="190195"/>
          </a:xfrm>
          <a:prstGeom prst="rect">
            <a:avLst/>
          </a:prstGeom>
        </p:spPr>
      </p:pic>
      <p:sp>
        <p:nvSpPr>
          <p:cNvPr id="77" name="Text 65"/>
          <p:cNvSpPr txBox="1"/>
          <p:nvPr/>
        </p:nvSpPr>
        <p:spPr>
          <a:xfrm>
            <a:off x="9055303" y="6547103"/>
            <a:ext cx="312907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각 전공별 NCS 세부 능력단위는 ncs.go.kr에서 확인 가능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7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1500" y="571500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AI와 창의적 문제 해결 프로세스</a:t>
            </a:r>
            <a:endParaRPr lang="en-US" sz="31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1248156"/>
            <a:ext cx="11239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발산에서 수렴, 그리고 재구성까지: AI를 파트너로 활용하는 3단계 루틴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71500" y="1790395"/>
            <a:ext cx="3429000" cy="4686300"/>
          </a:xfrm>
          <a:prstGeom prst="roundRect">
            <a:avLst>
              <a:gd name="adj" fmla="val 1185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71500" y="1790395"/>
            <a:ext cx="3429000" cy="38405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904695" y="2115007"/>
            <a:ext cx="761695" cy="761695"/>
          </a:xfrm>
          <a:prstGeom prst="ellipse">
            <a:avLst/>
          </a:prstGeom>
          <a:solidFill>
            <a:srgbClr val="60A5FA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12700" dir="16200000" algn="bl" rotWithShape="0">
              <a:srgbClr val="60A5FA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rcRect l="-50" r="-50"/>
          <a:stretch/>
        </p:blipFill>
        <p:spPr>
          <a:xfrm>
            <a:off x="2171700" y="2343607"/>
            <a:ext cx="228600" cy="30449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486254" y="2066544"/>
            <a:ext cx="228600" cy="2286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 txBox="1"/>
          <p:nvPr/>
        </p:nvSpPr>
        <p:spPr>
          <a:xfrm>
            <a:off x="2521915" y="2081174"/>
            <a:ext cx="162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1386230" y="3105302"/>
            <a:ext cx="18022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발산 (Diverge)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62179" y="3638550"/>
            <a:ext cx="4448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 관점과 </a:t>
            </a: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아이디어를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폭발적으로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생성하여 가능성을 확장하는 단계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66851" y="4825289"/>
            <a:ext cx="2838298" cy="1362456"/>
          </a:xfrm>
          <a:prstGeom prst="roundRect">
            <a:avLst>
              <a:gd name="adj" fmla="val 3755"/>
            </a:avLst>
          </a:prstGeom>
          <a:solidFill>
            <a:srgbClr val="0F172A"/>
          </a:solidFill>
          <a:ln w="12700">
            <a:solidFill>
              <a:srgbClr val="94A3B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 txBox="1"/>
          <p:nvPr/>
        </p:nvSpPr>
        <p:spPr>
          <a:xfrm>
            <a:off x="1028700" y="4987138"/>
            <a:ext cx="11914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PROMPT EXAMPLE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1028700" y="5234940"/>
            <a:ext cx="2514600" cy="790956"/>
          </a:xfrm>
          <a:prstGeom prst="roundRect">
            <a:avLst>
              <a:gd name="adj" fmla="val 5571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1028700" y="5234940"/>
            <a:ext cx="28346" cy="79095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 txBox="1"/>
          <p:nvPr/>
        </p:nvSpPr>
        <p:spPr>
          <a:xfrm>
            <a:off x="1352398" y="5330038"/>
            <a:ext cx="21717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"대학생의 시간 관리를 돕는 앱 아이디어를 20가지 생성해줘. 게임화(Gamification), 소셜, 미니멀리즘 관점을 각각 포함해서."</a:t>
            </a:r>
            <a:endParaRPr lang="en-US" sz="9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6"/>
          <a:srcRect l="-1358" r="-1358"/>
          <a:stretch/>
        </p:blipFill>
        <p:spPr>
          <a:xfrm>
            <a:off x="1152144" y="5364785"/>
            <a:ext cx="142646" cy="123444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381805" y="1790395"/>
            <a:ext cx="3429000" cy="4686300"/>
          </a:xfrm>
          <a:prstGeom prst="roundRect">
            <a:avLst>
              <a:gd name="adj" fmla="val 1185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4381805" y="1790395"/>
            <a:ext cx="3429000" cy="38405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5715000" y="2115007"/>
            <a:ext cx="761695" cy="761695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12700" dir="16200000" algn="bl" rotWithShape="0">
              <a:srgbClr val="3B82F6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943600" y="2343607"/>
            <a:ext cx="304495" cy="304495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6295644" y="2066544"/>
            <a:ext cx="228600" cy="2286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0"/>
          <p:cNvSpPr txBox="1"/>
          <p:nvPr/>
        </p:nvSpPr>
        <p:spPr>
          <a:xfrm>
            <a:off x="6331306" y="2081174"/>
            <a:ext cx="162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5073091" y="3105302"/>
            <a:ext cx="20519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수렴 (Converge)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3871570" y="3638550"/>
            <a:ext cx="4448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생성된 아이디어를 기준에 </a:t>
            </a: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따라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평가하고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현실적인 최적안을 선별하는 단계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677156" y="4825289"/>
            <a:ext cx="2838298" cy="1362456"/>
          </a:xfrm>
          <a:prstGeom prst="roundRect">
            <a:avLst>
              <a:gd name="adj" fmla="val 3755"/>
            </a:avLst>
          </a:prstGeom>
          <a:solidFill>
            <a:srgbClr val="0F172A"/>
          </a:solidFill>
          <a:ln w="12700">
            <a:solidFill>
              <a:srgbClr val="94A3B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4"/>
          <p:cNvSpPr txBox="1"/>
          <p:nvPr/>
        </p:nvSpPr>
        <p:spPr>
          <a:xfrm>
            <a:off x="4839005" y="4987138"/>
            <a:ext cx="11914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PROMPT EXAMPLE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4839005" y="5234940"/>
            <a:ext cx="2514600" cy="790956"/>
          </a:xfrm>
          <a:prstGeom prst="roundRect">
            <a:avLst>
              <a:gd name="adj" fmla="val 5571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6"/>
          <p:cNvSpPr/>
          <p:nvPr/>
        </p:nvSpPr>
        <p:spPr>
          <a:xfrm>
            <a:off x="4839005" y="5234940"/>
            <a:ext cx="28346" cy="7909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7"/>
          <p:cNvSpPr txBox="1"/>
          <p:nvPr/>
        </p:nvSpPr>
        <p:spPr>
          <a:xfrm>
            <a:off x="5162702" y="5330038"/>
            <a:ext cx="21717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"위 아이디어 중 실현 가능성, 비용, 대학생 선호도를 기준으로 상위 3개를 선정하고, 선정 이유를 표로 정리해줘."</a:t>
            </a:r>
            <a:endParaRPr lang="en-US" sz="9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6"/>
          <a:srcRect l="-1358" r="-1358"/>
          <a:stretch/>
        </p:blipFill>
        <p:spPr>
          <a:xfrm>
            <a:off x="4962449" y="5364785"/>
            <a:ext cx="142646" cy="123444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8191195" y="1790395"/>
            <a:ext cx="3429000" cy="4686300"/>
          </a:xfrm>
          <a:prstGeom prst="roundRect">
            <a:avLst>
              <a:gd name="adj" fmla="val 1185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29"/>
          <p:cNvSpPr/>
          <p:nvPr/>
        </p:nvSpPr>
        <p:spPr>
          <a:xfrm>
            <a:off x="8191195" y="1790395"/>
            <a:ext cx="3429000" cy="38405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0"/>
          <p:cNvSpPr/>
          <p:nvPr/>
        </p:nvSpPr>
        <p:spPr>
          <a:xfrm>
            <a:off x="9525305" y="2115007"/>
            <a:ext cx="761695" cy="761695"/>
          </a:xfrm>
          <a:prstGeom prst="ellipse">
            <a:avLst/>
          </a:prstGeom>
          <a:solidFill>
            <a:srgbClr val="2563E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12700" dir="16200000" algn="bl" rotWithShape="0">
              <a:srgbClr val="2563E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753905" y="2343607"/>
            <a:ext cx="304495" cy="304495"/>
          </a:xfrm>
          <a:prstGeom prst="rect">
            <a:avLst/>
          </a:prstGeom>
        </p:spPr>
      </p:pic>
      <p:sp>
        <p:nvSpPr>
          <p:cNvPr id="39" name="Shape 31"/>
          <p:cNvSpPr/>
          <p:nvPr/>
        </p:nvSpPr>
        <p:spPr>
          <a:xfrm>
            <a:off x="10105949" y="2066544"/>
            <a:ext cx="228600" cy="2286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2"/>
          <p:cNvSpPr txBox="1"/>
          <p:nvPr/>
        </p:nvSpPr>
        <p:spPr>
          <a:xfrm>
            <a:off x="10141610" y="2081174"/>
            <a:ext cx="162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  <p:sp>
        <p:nvSpPr>
          <p:cNvPr id="41" name="Text 33"/>
          <p:cNvSpPr txBox="1"/>
          <p:nvPr/>
        </p:nvSpPr>
        <p:spPr>
          <a:xfrm>
            <a:off x="8587130" y="3105302"/>
            <a:ext cx="26417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재구성 (Reconstruct)</a:t>
            </a:r>
            <a:endParaRPr lang="en-US" sz="1800" dirty="0"/>
          </a:p>
        </p:txBody>
      </p:sp>
      <p:sp>
        <p:nvSpPr>
          <p:cNvPr id="42" name="Text 34"/>
          <p:cNvSpPr txBox="1"/>
          <p:nvPr/>
        </p:nvSpPr>
        <p:spPr>
          <a:xfrm>
            <a:off x="7681874" y="3638550"/>
            <a:ext cx="4448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선택된 안을 </a:t>
            </a: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구체화하고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새로운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맥락이나 가치를 </a:t>
            </a: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더해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솔루션으로 완성</a:t>
            </a:r>
            <a:endParaRPr lang="en-US" sz="1200" dirty="0"/>
          </a:p>
        </p:txBody>
      </p:sp>
      <p:sp>
        <p:nvSpPr>
          <p:cNvPr id="43" name="Shape 35"/>
          <p:cNvSpPr/>
          <p:nvPr/>
        </p:nvSpPr>
        <p:spPr>
          <a:xfrm>
            <a:off x="8486546" y="4825289"/>
            <a:ext cx="2838298" cy="1362456"/>
          </a:xfrm>
          <a:prstGeom prst="roundRect">
            <a:avLst>
              <a:gd name="adj" fmla="val 3755"/>
            </a:avLst>
          </a:prstGeom>
          <a:solidFill>
            <a:srgbClr val="0F172A"/>
          </a:solidFill>
          <a:ln w="12700">
            <a:solidFill>
              <a:srgbClr val="94A3B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6"/>
          <p:cNvSpPr txBox="1"/>
          <p:nvPr/>
        </p:nvSpPr>
        <p:spPr>
          <a:xfrm>
            <a:off x="8648395" y="4987138"/>
            <a:ext cx="11914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PROMPT EXAMPLE</a:t>
            </a:r>
            <a:endParaRPr lang="en-US" sz="900" dirty="0"/>
          </a:p>
        </p:txBody>
      </p:sp>
      <p:sp>
        <p:nvSpPr>
          <p:cNvPr id="45" name="Shape 37"/>
          <p:cNvSpPr/>
          <p:nvPr/>
        </p:nvSpPr>
        <p:spPr>
          <a:xfrm>
            <a:off x="8648395" y="5234940"/>
            <a:ext cx="2514600" cy="790956"/>
          </a:xfrm>
          <a:prstGeom prst="roundRect">
            <a:avLst>
              <a:gd name="adj" fmla="val 5571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38"/>
          <p:cNvSpPr/>
          <p:nvPr/>
        </p:nvSpPr>
        <p:spPr>
          <a:xfrm>
            <a:off x="8648395" y="5234940"/>
            <a:ext cx="28346" cy="7909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39"/>
          <p:cNvSpPr txBox="1"/>
          <p:nvPr/>
        </p:nvSpPr>
        <p:spPr>
          <a:xfrm>
            <a:off x="8973007" y="5330038"/>
            <a:ext cx="21717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"선정된 1번 아이디어에 대해 초기 사용자 페르소나를 설정하고, 핵심 기능 정의서(PRD) 초안을 작성해줘."</a:t>
            </a:r>
            <a:endParaRPr lang="en-US" sz="900" dirty="0"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6"/>
          <a:srcRect l="-1358" r="-1358"/>
          <a:stretch/>
        </p:blipFill>
        <p:spPr>
          <a:xfrm>
            <a:off x="8772754" y="5364785"/>
            <a:ext cx="142646" cy="123444"/>
          </a:xfrm>
          <a:prstGeom prst="rect">
            <a:avLst/>
          </a:prstGeom>
        </p:spPr>
      </p:pic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9"/>
          <a:srcRect t="-80" b="-80"/>
          <a:stretch/>
        </p:blipFill>
        <p:spPr>
          <a:xfrm>
            <a:off x="4143146" y="2619756"/>
            <a:ext cx="142646" cy="228600"/>
          </a:xfrm>
          <a:prstGeom prst="rect">
            <a:avLst/>
          </a:prstGeom>
        </p:spPr>
      </p:pic>
      <p:pic>
        <p:nvPicPr>
          <p:cNvPr id="50" name="Image 8" descr="preencoded.png"/>
          <p:cNvPicPr>
            <a:picLocks noChangeAspect="1"/>
          </p:cNvPicPr>
          <p:nvPr/>
        </p:nvPicPr>
        <p:blipFill>
          <a:blip r:embed="rId9"/>
          <a:srcRect t="-80" b="-80"/>
          <a:stretch/>
        </p:blipFill>
        <p:spPr>
          <a:xfrm>
            <a:off x="7953451" y="2619756"/>
            <a:ext cx="142646" cy="228600"/>
          </a:xfrm>
          <a:prstGeom prst="rect">
            <a:avLst/>
          </a:prstGeom>
        </p:spPr>
      </p:pic>
      <p:sp>
        <p:nvSpPr>
          <p:cNvPr id="5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1500" y="476402"/>
            <a:ext cx="112398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복합문제 해결 프레임워크 (Hybrid Solving)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1095451"/>
            <a:ext cx="11239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인간의 맥락 판단과 AI의 연산 능력을 결합한 6단계 순환 프로세스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71500" y="1543507"/>
            <a:ext cx="3534156" cy="2352751"/>
          </a:xfrm>
          <a:prstGeom prst="roundRect">
            <a:avLst>
              <a:gd name="adj" fmla="val 1888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71500" y="1543507"/>
            <a:ext cx="38405" cy="2352751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00100" y="2143354"/>
            <a:ext cx="31053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800100" y="1742846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2DD4B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906170" y="1781251"/>
            <a:ext cx="171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D4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218895" y="1752905"/>
            <a:ext cx="185897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정의 (Define)</a:t>
            </a:r>
            <a:endParaRPr lang="en-US" sz="15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857707" y="2340864"/>
            <a:ext cx="114300" cy="13350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46073" y="2415402"/>
            <a:ext cx="31190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HUMAN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해결해야</a:t>
            </a: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할 문제의 본질과 범위를 설정</a:t>
            </a:r>
            <a:endParaRPr lang="en-US" sz="11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/>
          <a:srcRect l="-1507" r="-1507"/>
          <a:stretch/>
        </p:blipFill>
        <p:spPr>
          <a:xfrm>
            <a:off x="841526" y="2931110"/>
            <a:ext cx="171907" cy="13350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78077" y="3008160"/>
            <a:ext cx="30394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 AI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 err="1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관련</a:t>
            </a:r>
            <a:r>
              <a:rPr lang="en-US" sz="11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키워드 확장 및 유사 문제 사례 제시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330598" y="1543507"/>
            <a:ext cx="3534156" cy="2352751"/>
          </a:xfrm>
          <a:prstGeom prst="roundRect">
            <a:avLst>
              <a:gd name="adj" fmla="val 1888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3"/>
          <p:cNvSpPr/>
          <p:nvPr/>
        </p:nvSpPr>
        <p:spPr>
          <a:xfrm>
            <a:off x="4330598" y="1543507"/>
            <a:ext cx="38405" cy="2352751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4"/>
          <p:cNvSpPr/>
          <p:nvPr/>
        </p:nvSpPr>
        <p:spPr>
          <a:xfrm>
            <a:off x="4559198" y="2143354"/>
            <a:ext cx="31053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4559198" y="1742846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22D3EE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6"/>
          <p:cNvSpPr txBox="1"/>
          <p:nvPr/>
        </p:nvSpPr>
        <p:spPr>
          <a:xfrm>
            <a:off x="4665269" y="1781251"/>
            <a:ext cx="171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D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4977994" y="1752905"/>
            <a:ext cx="239207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가설 수립 (Hypothesis)</a:t>
            </a:r>
            <a:endParaRPr lang="en-US" sz="15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4616806" y="2340864"/>
            <a:ext cx="114300" cy="1335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4805171" y="2415402"/>
            <a:ext cx="32470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HUMAN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경험과</a:t>
            </a: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직관을 기반으로 잠정적 해답 제시</a:t>
            </a:r>
            <a:endParaRPr lang="en-US" sz="11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rcRect l="-1507" r="-1507"/>
          <a:stretch/>
        </p:blipFill>
        <p:spPr>
          <a:xfrm>
            <a:off x="4600625" y="2931110"/>
            <a:ext cx="171907" cy="13350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837175" y="3008160"/>
            <a:ext cx="281818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 </a:t>
            </a:r>
            <a:r>
              <a:rPr lang="en-US" sz="105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 err="1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논리적</a:t>
            </a:r>
            <a:r>
              <a:rPr lang="en-US" sz="11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허점 지적 및 대안적 가설 생성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8089697" y="1543507"/>
            <a:ext cx="3534156" cy="2352751"/>
          </a:xfrm>
          <a:prstGeom prst="roundRect">
            <a:avLst>
              <a:gd name="adj" fmla="val 1888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1"/>
          <p:cNvSpPr/>
          <p:nvPr/>
        </p:nvSpPr>
        <p:spPr>
          <a:xfrm>
            <a:off x="8089697" y="1543507"/>
            <a:ext cx="38405" cy="2352751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2"/>
          <p:cNvSpPr/>
          <p:nvPr/>
        </p:nvSpPr>
        <p:spPr>
          <a:xfrm>
            <a:off x="8318297" y="2143354"/>
            <a:ext cx="31053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3"/>
          <p:cNvSpPr/>
          <p:nvPr/>
        </p:nvSpPr>
        <p:spPr>
          <a:xfrm>
            <a:off x="8318297" y="1742846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4"/>
          <p:cNvSpPr txBox="1"/>
          <p:nvPr/>
        </p:nvSpPr>
        <p:spPr>
          <a:xfrm>
            <a:off x="8424367" y="1781251"/>
            <a:ext cx="171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8738006" y="1752905"/>
            <a:ext cx="198424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탐색 (Explore)</a:t>
            </a:r>
            <a:endParaRPr lang="en-US" sz="15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8375904" y="2340864"/>
            <a:ext cx="114300" cy="13350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564269" y="2415402"/>
            <a:ext cx="31994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HUMAN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탐색</a:t>
            </a: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방향 설정 및 정보의 신뢰성 필터링</a:t>
            </a:r>
            <a:endParaRPr lang="en-US" sz="110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6"/>
          <a:srcRect l="-1507" r="-1507"/>
          <a:stretch/>
        </p:blipFill>
        <p:spPr>
          <a:xfrm>
            <a:off x="8359723" y="2931110"/>
            <a:ext cx="171907" cy="133502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8596273" y="2995358"/>
            <a:ext cx="30870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 </a:t>
            </a:r>
            <a:r>
              <a:rPr lang="en-US" sz="105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 err="1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방대한</a:t>
            </a:r>
            <a:r>
              <a:rPr lang="en-US" sz="11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 요약 및 상관관계 패턴 발견</a:t>
            </a:r>
            <a:endParaRPr lang="en-US" sz="1100" dirty="0"/>
          </a:p>
        </p:txBody>
      </p:sp>
      <p:sp>
        <p:nvSpPr>
          <p:cNvPr id="37" name="Shape 28"/>
          <p:cNvSpPr/>
          <p:nvPr/>
        </p:nvSpPr>
        <p:spPr>
          <a:xfrm>
            <a:off x="571500" y="4123944"/>
            <a:ext cx="3534156" cy="2352751"/>
          </a:xfrm>
          <a:prstGeom prst="roundRect">
            <a:avLst>
              <a:gd name="adj" fmla="val 1888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29"/>
          <p:cNvSpPr/>
          <p:nvPr/>
        </p:nvSpPr>
        <p:spPr>
          <a:xfrm>
            <a:off x="571500" y="4123944"/>
            <a:ext cx="38405" cy="2352751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0"/>
          <p:cNvSpPr/>
          <p:nvPr/>
        </p:nvSpPr>
        <p:spPr>
          <a:xfrm>
            <a:off x="800100" y="4724705"/>
            <a:ext cx="31053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1"/>
          <p:cNvSpPr/>
          <p:nvPr/>
        </p:nvSpPr>
        <p:spPr>
          <a:xfrm>
            <a:off x="800100" y="4324198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60A5FA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2"/>
          <p:cNvSpPr txBox="1"/>
          <p:nvPr/>
        </p:nvSpPr>
        <p:spPr>
          <a:xfrm>
            <a:off x="906170" y="4362602"/>
            <a:ext cx="171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Text 33"/>
          <p:cNvSpPr txBox="1"/>
          <p:nvPr/>
        </p:nvSpPr>
        <p:spPr>
          <a:xfrm>
            <a:off x="1218895" y="4334256"/>
            <a:ext cx="162123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실험/검증 (Test)</a:t>
            </a:r>
            <a:endParaRPr lang="en-US" sz="1500" dirty="0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857707" y="4922215"/>
            <a:ext cx="114300" cy="133502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1046073" y="4996753"/>
            <a:ext cx="30714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HUMAN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</a:t>
            </a: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설계 및 윤리적/현실적 제약 검토</a:t>
            </a:r>
            <a:endParaRPr lang="en-US" sz="1100" dirty="0"/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6"/>
          <a:srcRect l="-1507" r="-1507"/>
          <a:stretch/>
        </p:blipFill>
        <p:spPr>
          <a:xfrm>
            <a:off x="841526" y="5499659"/>
            <a:ext cx="171907" cy="133502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1078077" y="5575795"/>
            <a:ext cx="30870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 </a:t>
            </a:r>
            <a:r>
              <a:rPr lang="en-US" sz="105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 err="1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시뮬레이션</a:t>
            </a:r>
            <a:r>
              <a:rPr lang="en-US" sz="11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수행 및 예상 결과 데이터 예측</a:t>
            </a:r>
            <a:endParaRPr lang="en-US" sz="1100" dirty="0"/>
          </a:p>
        </p:txBody>
      </p:sp>
      <p:sp>
        <p:nvSpPr>
          <p:cNvPr id="47" name="Shape 36"/>
          <p:cNvSpPr/>
          <p:nvPr/>
        </p:nvSpPr>
        <p:spPr>
          <a:xfrm>
            <a:off x="4330598" y="4123944"/>
            <a:ext cx="3534156" cy="2352751"/>
          </a:xfrm>
          <a:prstGeom prst="roundRect">
            <a:avLst>
              <a:gd name="adj" fmla="val 1888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37"/>
          <p:cNvSpPr/>
          <p:nvPr/>
        </p:nvSpPr>
        <p:spPr>
          <a:xfrm>
            <a:off x="4330598" y="4123944"/>
            <a:ext cx="38405" cy="2352751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38"/>
          <p:cNvSpPr/>
          <p:nvPr/>
        </p:nvSpPr>
        <p:spPr>
          <a:xfrm>
            <a:off x="4559198" y="4724705"/>
            <a:ext cx="31053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39"/>
          <p:cNvSpPr/>
          <p:nvPr/>
        </p:nvSpPr>
        <p:spPr>
          <a:xfrm>
            <a:off x="4559198" y="4324198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0"/>
          <p:cNvSpPr txBox="1"/>
          <p:nvPr/>
        </p:nvSpPr>
        <p:spPr>
          <a:xfrm>
            <a:off x="4665269" y="4362602"/>
            <a:ext cx="171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18C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200" dirty="0"/>
          </a:p>
        </p:txBody>
      </p:sp>
      <p:sp>
        <p:nvSpPr>
          <p:cNvPr id="52" name="Text 41"/>
          <p:cNvSpPr txBox="1"/>
          <p:nvPr/>
        </p:nvSpPr>
        <p:spPr>
          <a:xfrm>
            <a:off x="4977994" y="4334256"/>
            <a:ext cx="183703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(Decide)</a:t>
            </a:r>
            <a:endParaRPr lang="en-US" sz="1500" dirty="0"/>
          </a:p>
        </p:txBody>
      </p:sp>
      <p:pic>
        <p:nvPicPr>
          <p:cNvPr id="53" name="Image 9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4616806" y="4922215"/>
            <a:ext cx="114300" cy="133502"/>
          </a:xfrm>
          <a:prstGeom prst="rect">
            <a:avLst/>
          </a:prstGeom>
        </p:spPr>
      </p:pic>
      <p:sp>
        <p:nvSpPr>
          <p:cNvPr id="54" name="Text 42"/>
          <p:cNvSpPr txBox="1"/>
          <p:nvPr/>
        </p:nvSpPr>
        <p:spPr>
          <a:xfrm>
            <a:off x="4805171" y="4996753"/>
            <a:ext cx="29434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HUMAN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</a:t>
            </a: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 및 결과에 대한 책임 수용</a:t>
            </a:r>
            <a:endParaRPr lang="en-US" sz="1100" dirty="0"/>
          </a:p>
        </p:txBody>
      </p:sp>
      <p:pic>
        <p:nvPicPr>
          <p:cNvPr id="55" name="Image 10" descr="preencoded.png"/>
          <p:cNvPicPr>
            <a:picLocks noChangeAspect="1"/>
          </p:cNvPicPr>
          <p:nvPr/>
        </p:nvPicPr>
        <p:blipFill>
          <a:blip r:embed="rId6"/>
          <a:srcRect l="-1507" r="-1507"/>
          <a:stretch/>
        </p:blipFill>
        <p:spPr>
          <a:xfrm>
            <a:off x="4600625" y="5499659"/>
            <a:ext cx="171907" cy="133502"/>
          </a:xfrm>
          <a:prstGeom prst="rect">
            <a:avLst/>
          </a:prstGeom>
        </p:spPr>
      </p:pic>
      <p:sp>
        <p:nvSpPr>
          <p:cNvPr id="56" name="Text 43"/>
          <p:cNvSpPr txBox="1"/>
          <p:nvPr/>
        </p:nvSpPr>
        <p:spPr>
          <a:xfrm>
            <a:off x="4837175" y="5575795"/>
            <a:ext cx="295625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 </a:t>
            </a:r>
            <a:r>
              <a:rPr lang="en-US" sz="105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 err="1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옵션별</a:t>
            </a:r>
            <a:r>
              <a:rPr lang="en-US" sz="11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장단점 비교표 및 위험 요소 분석</a:t>
            </a:r>
            <a:endParaRPr lang="en-US" sz="1100" dirty="0"/>
          </a:p>
        </p:txBody>
      </p:sp>
      <p:sp>
        <p:nvSpPr>
          <p:cNvPr id="57" name="Shape 44"/>
          <p:cNvSpPr/>
          <p:nvPr/>
        </p:nvSpPr>
        <p:spPr>
          <a:xfrm>
            <a:off x="8089697" y="4123944"/>
            <a:ext cx="3534156" cy="2352751"/>
          </a:xfrm>
          <a:prstGeom prst="roundRect">
            <a:avLst>
              <a:gd name="adj" fmla="val 1888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45"/>
          <p:cNvSpPr/>
          <p:nvPr/>
        </p:nvSpPr>
        <p:spPr>
          <a:xfrm>
            <a:off x="8089697" y="4123944"/>
            <a:ext cx="38405" cy="2352751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46"/>
          <p:cNvSpPr/>
          <p:nvPr/>
        </p:nvSpPr>
        <p:spPr>
          <a:xfrm>
            <a:off x="8318297" y="4724705"/>
            <a:ext cx="31053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47"/>
          <p:cNvSpPr/>
          <p:nvPr/>
        </p:nvSpPr>
        <p:spPr>
          <a:xfrm>
            <a:off x="8318297" y="4324198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48"/>
          <p:cNvSpPr txBox="1"/>
          <p:nvPr/>
        </p:nvSpPr>
        <p:spPr>
          <a:xfrm>
            <a:off x="8424367" y="4362602"/>
            <a:ext cx="171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200" dirty="0"/>
          </a:p>
        </p:txBody>
      </p:sp>
      <p:sp>
        <p:nvSpPr>
          <p:cNvPr id="62" name="Text 49"/>
          <p:cNvSpPr txBox="1"/>
          <p:nvPr/>
        </p:nvSpPr>
        <p:spPr>
          <a:xfrm>
            <a:off x="8738006" y="4334256"/>
            <a:ext cx="193852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회고/학습 (Reflect)</a:t>
            </a:r>
            <a:endParaRPr lang="en-US" sz="1500" dirty="0"/>
          </a:p>
        </p:txBody>
      </p:sp>
      <p:pic>
        <p:nvPicPr>
          <p:cNvPr id="63" name="Image 11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8375904" y="4922215"/>
            <a:ext cx="114300" cy="133502"/>
          </a:xfrm>
          <a:prstGeom prst="rect">
            <a:avLst/>
          </a:prstGeom>
        </p:spPr>
      </p:pic>
      <p:sp>
        <p:nvSpPr>
          <p:cNvPr id="64" name="Text 50"/>
          <p:cNvSpPr txBox="1"/>
          <p:nvPr/>
        </p:nvSpPr>
        <p:spPr>
          <a:xfrm>
            <a:off x="8564269" y="4996753"/>
            <a:ext cx="3279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HUMAN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</a:t>
            </a: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/실패 요인 내재화 및 다음 계획 수립</a:t>
            </a:r>
            <a:endParaRPr lang="en-US" sz="1100" dirty="0"/>
          </a:p>
        </p:txBody>
      </p:sp>
      <p:pic>
        <p:nvPicPr>
          <p:cNvPr id="65" name="Image 12" descr="preencoded.png"/>
          <p:cNvPicPr>
            <a:picLocks noChangeAspect="1"/>
          </p:cNvPicPr>
          <p:nvPr/>
        </p:nvPicPr>
        <p:blipFill>
          <a:blip r:embed="rId6"/>
          <a:srcRect l="-1507" r="-1507"/>
          <a:stretch/>
        </p:blipFill>
        <p:spPr>
          <a:xfrm>
            <a:off x="8359723" y="5499659"/>
            <a:ext cx="171907" cy="133502"/>
          </a:xfrm>
          <a:prstGeom prst="rect">
            <a:avLst/>
          </a:prstGeom>
        </p:spPr>
      </p:pic>
      <p:sp>
        <p:nvSpPr>
          <p:cNvPr id="66" name="Text 51"/>
          <p:cNvSpPr txBox="1"/>
          <p:nvPr/>
        </p:nvSpPr>
        <p:spPr>
          <a:xfrm>
            <a:off x="8596273" y="5575795"/>
            <a:ext cx="295625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 </a:t>
            </a:r>
            <a:r>
              <a:rPr lang="en-US" sz="105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 err="1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프로세스</a:t>
            </a:r>
            <a:r>
              <a:rPr lang="en-US" sz="11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기록 정리 및 개선 포인트 제안</a:t>
            </a:r>
            <a:endParaRPr lang="en-US" sz="1100" dirty="0"/>
          </a:p>
        </p:txBody>
      </p:sp>
      <p:sp>
        <p:nvSpPr>
          <p:cNvPr id="6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C6052-3E1B-906F-1C94-61A628B0A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폰트이(가) 표시된 사진">
            <a:extLst>
              <a:ext uri="{FF2B5EF4-FFF2-40B4-BE49-F238E27FC236}">
                <a16:creationId xmlns:a16="http://schemas.microsoft.com/office/drawing/2014/main" id="{E661E4BA-6F46-78EA-21D0-6CE9D594E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274755" cy="6858000"/>
          </a:xfrm>
          <a:prstGeom prst="rect">
            <a:avLst/>
          </a:prstGeom>
        </p:spPr>
      </p:pic>
      <p:sp>
        <p:nvSpPr>
          <p:cNvPr id="9" name="Shape 7">
            <a:extLst>
              <a:ext uri="{FF2B5EF4-FFF2-40B4-BE49-F238E27FC236}">
                <a16:creationId xmlns:a16="http://schemas.microsoft.com/office/drawing/2014/main" id="{61FDD3B4-8D6C-1464-795A-E742FF173FE1}"/>
              </a:ext>
            </a:extLst>
          </p:cNvPr>
          <p:cNvSpPr/>
          <p:nvPr/>
        </p:nvSpPr>
        <p:spPr>
          <a:xfrm>
            <a:off x="7328152" y="5205957"/>
            <a:ext cx="4292499" cy="1166218"/>
          </a:xfrm>
          <a:prstGeom prst="roundRect">
            <a:avLst>
              <a:gd name="adj" fmla="val 326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0CF4391-DDC3-D449-99FA-4A8C6231244F}"/>
              </a:ext>
            </a:extLst>
          </p:cNvPr>
          <p:cNvGrpSpPr/>
          <p:nvPr/>
        </p:nvGrpSpPr>
        <p:grpSpPr>
          <a:xfrm>
            <a:off x="7448248" y="5605729"/>
            <a:ext cx="4172404" cy="425653"/>
            <a:chOff x="7367780" y="5664707"/>
            <a:chExt cx="4172404" cy="425653"/>
          </a:xfrm>
        </p:grpSpPr>
        <p:sp>
          <p:nvSpPr>
            <p:cNvPr id="6" name="Shape 5">
              <a:extLst>
                <a:ext uri="{FF2B5EF4-FFF2-40B4-BE49-F238E27FC236}">
                  <a16:creationId xmlns:a16="http://schemas.microsoft.com/office/drawing/2014/main" id="{C5D2D370-FC89-774B-7911-7E5D7C5EE6B8}"/>
                </a:ext>
              </a:extLst>
            </p:cNvPr>
            <p:cNvSpPr/>
            <p:nvPr/>
          </p:nvSpPr>
          <p:spPr>
            <a:xfrm>
              <a:off x="7367780" y="5709055"/>
              <a:ext cx="381305" cy="381305"/>
            </a:xfrm>
            <a:prstGeom prst="ellipse">
              <a:avLst/>
            </a:prstGeom>
            <a:solidFill>
              <a:srgbClr val="38BDF8">
                <a:alpha val="1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7" name="Image 2" descr="preencoded.png">
              <a:extLst>
                <a:ext uri="{FF2B5EF4-FFF2-40B4-BE49-F238E27FC236}">
                  <a16:creationId xmlns:a16="http://schemas.microsoft.com/office/drawing/2014/main" id="{61A814A6-E73A-BFB9-25FD-356905D55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-1064" r="-1064"/>
            <a:stretch/>
          </p:blipFill>
          <p:spPr>
            <a:xfrm>
              <a:off x="7448248" y="5814211"/>
              <a:ext cx="219456" cy="171907"/>
            </a:xfrm>
            <a:prstGeom prst="rect">
              <a:avLst/>
            </a:prstGeom>
          </p:spPr>
        </p:pic>
        <p:sp>
          <p:nvSpPr>
            <p:cNvPr id="8" name="Text 11">
              <a:extLst>
                <a:ext uri="{FF2B5EF4-FFF2-40B4-BE49-F238E27FC236}">
                  <a16:creationId xmlns:a16="http://schemas.microsoft.com/office/drawing/2014/main" id="{CB0B9555-1C13-46A7-35A6-45889F39EEA9}"/>
                </a:ext>
              </a:extLst>
            </p:cNvPr>
            <p:cNvSpPr txBox="1"/>
            <p:nvPr/>
          </p:nvSpPr>
          <p:spPr>
            <a:xfrm>
              <a:off x="7901787" y="5664707"/>
              <a:ext cx="3638397" cy="366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20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  <a:t>이 애 본</a:t>
              </a:r>
              <a:br>
                <a:rPr lang="en-US" altLang="ko-KR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</a:br>
              <a:r>
                <a:rPr lang="ko-KR" altLang="en-US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  <a:t>한신대학교 </a:t>
              </a:r>
              <a:r>
                <a:rPr lang="en-US" altLang="ko-KR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  <a:t>AI.SW</a:t>
              </a:r>
              <a:r>
                <a:rPr lang="ko-KR" altLang="en-US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  <a:t>대학 </a:t>
              </a:r>
              <a:r>
                <a:rPr lang="en-US" altLang="ko-KR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hlinkClick r:id="rId5"/>
                </a:rPr>
                <a:t>aebon@hs.ac.kr</a:t>
              </a:r>
              <a:r>
                <a:rPr lang="ko-KR" altLang="en-US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  <a:t> </a:t>
              </a:r>
              <a:endParaRPr lang="en-US" altLang="ko-KR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endParaRPr>
            </a:p>
          </p:txBody>
        </p:sp>
      </p:grpSp>
      <p:sp>
        <p:nvSpPr>
          <p:cNvPr id="1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  <p:extLst>
      <p:ext uri="{BB962C8B-B14F-4D97-AF65-F5344CB8AC3E}">
        <p14:creationId xmlns:p14="http://schemas.microsoft.com/office/powerpoint/2010/main" val="2858073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689916"/>
            <a:ext cx="111639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HITL 기반 Agent·Agentic 학습 운영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71500" y="295351"/>
            <a:ext cx="1781251" cy="256946"/>
          </a:xfrm>
          <a:prstGeom prst="roundRect">
            <a:avLst>
              <a:gd name="adj" fmla="val 355872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694944" y="342900"/>
            <a:ext cx="16102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OPERATIONAL FRAMEWORK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71500" y="1543507"/>
            <a:ext cx="11048695" cy="19202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71500" y="1367028"/>
            <a:ext cx="952805" cy="371246"/>
          </a:xfrm>
          <a:prstGeom prst="roundRect">
            <a:avLst>
              <a:gd name="adj" fmla="val 246306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6559" y="1495044"/>
            <a:ext cx="114300" cy="1143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50062" y="1367028"/>
            <a:ext cx="3721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Plan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471623" y="1367028"/>
            <a:ext cx="1086307" cy="371246"/>
          </a:xfrm>
          <a:prstGeom prst="roundRect">
            <a:avLst>
              <a:gd name="adj" fmla="val 246306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/>
          <a:srcRect l="-1911" r="-1911"/>
          <a:stretch/>
        </p:blipFill>
        <p:spPr>
          <a:xfrm>
            <a:off x="2670962" y="1495044"/>
            <a:ext cx="133502" cy="1143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823667" y="1367028"/>
            <a:ext cx="5715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Prompt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496105" y="1367028"/>
            <a:ext cx="1190549" cy="371246"/>
          </a:xfrm>
          <a:prstGeom prst="roundRect">
            <a:avLst>
              <a:gd name="adj" fmla="val 246306"/>
            </a:avLst>
          </a:prstGeom>
          <a:solidFill>
            <a:srgbClr val="8B5CF6">
              <a:alpha val="1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7"/>
          <a:srcRect t="-80" b="-80"/>
          <a:stretch/>
        </p:blipFill>
        <p:spPr>
          <a:xfrm>
            <a:off x="4696358" y="1495044"/>
            <a:ext cx="142646" cy="1143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849063" y="1367028"/>
            <a:ext cx="6858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Generate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6629400" y="1367028"/>
            <a:ext cx="1095451" cy="371246"/>
          </a:xfrm>
          <a:prstGeom prst="roundRect">
            <a:avLst>
              <a:gd name="adj" fmla="val 246306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829654" y="1495044"/>
            <a:ext cx="114300" cy="1143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951269" y="1367028"/>
            <a:ext cx="62362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Critique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8670341" y="1367028"/>
            <a:ext cx="990295" cy="371246"/>
          </a:xfrm>
          <a:prstGeom prst="roundRect">
            <a:avLst>
              <a:gd name="adj" fmla="val 246306"/>
            </a:avLst>
          </a:prstGeom>
          <a:solidFill>
            <a:srgbClr val="8B5CF6">
              <a:alpha val="1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870594" y="1495044"/>
            <a:ext cx="114300" cy="1143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9002268" y="1367028"/>
            <a:ext cx="49926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Revise</a:t>
            </a: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10607040" y="1367028"/>
            <a:ext cx="1019556" cy="371246"/>
          </a:xfrm>
          <a:prstGeom prst="roundRect">
            <a:avLst>
              <a:gd name="adj" fmla="val 246306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807294" y="1495044"/>
            <a:ext cx="114300" cy="11430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10940796" y="1367028"/>
            <a:ext cx="5239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Decide</a:t>
            </a:r>
            <a:endParaRPr lang="en-US" sz="1000" dirty="0"/>
          </a:p>
        </p:txBody>
      </p:sp>
      <p:sp>
        <p:nvSpPr>
          <p:cNvPr id="26" name="Shape 17"/>
          <p:cNvSpPr/>
          <p:nvPr/>
        </p:nvSpPr>
        <p:spPr>
          <a:xfrm>
            <a:off x="571500" y="1928470"/>
            <a:ext cx="3534156" cy="3924605"/>
          </a:xfrm>
          <a:prstGeom prst="roundRect">
            <a:avLst>
              <a:gd name="adj" fmla="val 1116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Shape 18"/>
          <p:cNvSpPr/>
          <p:nvPr/>
        </p:nvSpPr>
        <p:spPr>
          <a:xfrm>
            <a:off x="580644" y="2701138"/>
            <a:ext cx="35149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Shape 19"/>
          <p:cNvSpPr/>
          <p:nvPr/>
        </p:nvSpPr>
        <p:spPr>
          <a:xfrm>
            <a:off x="733349" y="209031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1"/>
          <a:srcRect l="-1648" r="-1648"/>
          <a:stretch/>
        </p:blipFill>
        <p:spPr>
          <a:xfrm>
            <a:off x="875995" y="2223821"/>
            <a:ext cx="171907" cy="190195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1324051" y="2095805"/>
            <a:ext cx="139446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학생 (Student)</a:t>
            </a:r>
            <a:endParaRPr lang="en-US" sz="1600" dirty="0"/>
          </a:p>
        </p:txBody>
      </p:sp>
      <p:sp>
        <p:nvSpPr>
          <p:cNvPr id="31" name="Text 21"/>
          <p:cNvSpPr txBox="1"/>
          <p:nvPr/>
        </p:nvSpPr>
        <p:spPr>
          <a:xfrm>
            <a:off x="1324051" y="2371954"/>
            <a:ext cx="12655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기획자 &amp; 의사결정자</a:t>
            </a:r>
            <a:endParaRPr lang="en-US" sz="1050" dirty="0"/>
          </a:p>
        </p:txBody>
      </p:sp>
      <p:sp>
        <p:nvSpPr>
          <p:cNvPr id="32" name="Shape 22"/>
          <p:cNvSpPr/>
          <p:nvPr/>
        </p:nvSpPr>
        <p:spPr>
          <a:xfrm>
            <a:off x="733349" y="2862072"/>
            <a:ext cx="3209544" cy="1343254"/>
          </a:xfrm>
          <a:prstGeom prst="roundRect">
            <a:avLst>
              <a:gd name="adj" fmla="val 386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3" name="Text 23"/>
          <p:cNvSpPr txBox="1"/>
          <p:nvPr/>
        </p:nvSpPr>
        <p:spPr>
          <a:xfrm>
            <a:off x="865480" y="3472892"/>
            <a:ext cx="441106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문제를 정의하고 </a:t>
            </a: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AI에게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명확한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역할과 제약조건을 </a:t>
            </a: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부여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(프롬프트 설계)</a:t>
            </a:r>
            <a:endParaRPr lang="en-US" sz="1200" dirty="0"/>
          </a:p>
        </p:txBody>
      </p:sp>
      <p:sp>
        <p:nvSpPr>
          <p:cNvPr id="34" name="Shape 24"/>
          <p:cNvSpPr/>
          <p:nvPr/>
        </p:nvSpPr>
        <p:spPr>
          <a:xfrm>
            <a:off x="733349" y="4352544"/>
            <a:ext cx="3209544" cy="1343254"/>
          </a:xfrm>
          <a:prstGeom prst="roundRect">
            <a:avLst>
              <a:gd name="adj" fmla="val 386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5" name="Text 25"/>
          <p:cNvSpPr txBox="1"/>
          <p:nvPr/>
        </p:nvSpPr>
        <p:spPr>
          <a:xfrm>
            <a:off x="875995" y="4742078"/>
            <a:ext cx="368320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결과물의 채택 여부를 </a:t>
            </a: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결정하고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자신의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이름으로 책임짐</a:t>
            </a:r>
            <a:endParaRPr lang="en-US" sz="1200" dirty="0"/>
          </a:p>
        </p:txBody>
      </p:sp>
      <p:sp>
        <p:nvSpPr>
          <p:cNvPr id="36" name="Shape 26"/>
          <p:cNvSpPr/>
          <p:nvPr/>
        </p:nvSpPr>
        <p:spPr>
          <a:xfrm>
            <a:off x="4330598" y="1928470"/>
            <a:ext cx="3534156" cy="3924605"/>
          </a:xfrm>
          <a:prstGeom prst="roundRect">
            <a:avLst>
              <a:gd name="adj" fmla="val 1116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7" name="Shape 27"/>
          <p:cNvSpPr/>
          <p:nvPr/>
        </p:nvSpPr>
        <p:spPr>
          <a:xfrm>
            <a:off x="4339742" y="2701138"/>
            <a:ext cx="35149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8" name="Shape 28"/>
          <p:cNvSpPr/>
          <p:nvPr/>
        </p:nvSpPr>
        <p:spPr>
          <a:xfrm>
            <a:off x="4492447" y="209031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B5C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602175" y="2223821"/>
            <a:ext cx="237744" cy="190195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5083150" y="2095805"/>
            <a:ext cx="107259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에이전트</a:t>
            </a:r>
            <a:endParaRPr lang="en-US" sz="1600" dirty="0"/>
          </a:p>
        </p:txBody>
      </p:sp>
      <p:sp>
        <p:nvSpPr>
          <p:cNvPr id="41" name="Text 30"/>
          <p:cNvSpPr txBox="1"/>
          <p:nvPr/>
        </p:nvSpPr>
        <p:spPr>
          <a:xfrm>
            <a:off x="5083150" y="2371954"/>
            <a:ext cx="111556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탐색 &amp; 생성 파트너</a:t>
            </a:r>
            <a:endParaRPr lang="en-US" sz="1050" dirty="0"/>
          </a:p>
        </p:txBody>
      </p:sp>
      <p:sp>
        <p:nvSpPr>
          <p:cNvPr id="42" name="Shape 31"/>
          <p:cNvSpPr/>
          <p:nvPr/>
        </p:nvSpPr>
        <p:spPr>
          <a:xfrm>
            <a:off x="4492447" y="2862072"/>
            <a:ext cx="3209544" cy="1343254"/>
          </a:xfrm>
          <a:prstGeom prst="roundRect">
            <a:avLst>
              <a:gd name="adj" fmla="val 386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3" name="Text 32"/>
          <p:cNvSpPr txBox="1"/>
          <p:nvPr/>
        </p:nvSpPr>
        <p:spPr>
          <a:xfrm>
            <a:off x="4635094" y="3314699"/>
            <a:ext cx="415869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방대한 지식 베이스를 </a:t>
            </a: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연결하여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초안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(Draft) 및 대안 아이디어 생성</a:t>
            </a:r>
            <a:endParaRPr lang="en-US" sz="1200" dirty="0"/>
          </a:p>
        </p:txBody>
      </p:sp>
      <p:sp>
        <p:nvSpPr>
          <p:cNvPr id="44" name="Shape 33"/>
          <p:cNvSpPr/>
          <p:nvPr/>
        </p:nvSpPr>
        <p:spPr>
          <a:xfrm>
            <a:off x="4492447" y="4352544"/>
            <a:ext cx="3209544" cy="1343254"/>
          </a:xfrm>
          <a:prstGeom prst="roundRect">
            <a:avLst>
              <a:gd name="adj" fmla="val 386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Text 34"/>
          <p:cNvSpPr txBox="1"/>
          <p:nvPr/>
        </p:nvSpPr>
        <p:spPr>
          <a:xfrm>
            <a:off x="4635094" y="4742078"/>
            <a:ext cx="363839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피드백을 반영하여 </a:t>
            </a: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결과물을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수정하고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포맷을 변환 (재생성)</a:t>
            </a:r>
            <a:endParaRPr lang="en-US" sz="1200" dirty="0"/>
          </a:p>
        </p:txBody>
      </p:sp>
      <p:sp>
        <p:nvSpPr>
          <p:cNvPr id="46" name="Shape 35"/>
          <p:cNvSpPr/>
          <p:nvPr/>
        </p:nvSpPr>
        <p:spPr>
          <a:xfrm>
            <a:off x="8089697" y="1928470"/>
            <a:ext cx="3534156" cy="3924605"/>
          </a:xfrm>
          <a:prstGeom prst="roundRect">
            <a:avLst>
              <a:gd name="adj" fmla="val 1116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7" name="Shape 36"/>
          <p:cNvSpPr/>
          <p:nvPr/>
        </p:nvSpPr>
        <p:spPr>
          <a:xfrm>
            <a:off x="8099755" y="2701138"/>
            <a:ext cx="35149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8" name="Shape 37"/>
          <p:cNvSpPr/>
          <p:nvPr/>
        </p:nvSpPr>
        <p:spPr>
          <a:xfrm>
            <a:off x="8251546" y="209031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49" name="Image 9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361274" y="2223821"/>
            <a:ext cx="237744" cy="190195"/>
          </a:xfrm>
          <a:prstGeom prst="rect">
            <a:avLst/>
          </a:prstGeom>
        </p:spPr>
      </p:pic>
      <p:sp>
        <p:nvSpPr>
          <p:cNvPr id="50" name="Text 38"/>
          <p:cNvSpPr txBox="1"/>
          <p:nvPr/>
        </p:nvSpPr>
        <p:spPr>
          <a:xfrm>
            <a:off x="8842248" y="2095805"/>
            <a:ext cx="124724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교수자 (HITL)</a:t>
            </a:r>
            <a:endParaRPr lang="en-US" sz="1600" dirty="0"/>
          </a:p>
        </p:txBody>
      </p:sp>
      <p:sp>
        <p:nvSpPr>
          <p:cNvPr id="51" name="Text 39"/>
          <p:cNvSpPr txBox="1"/>
          <p:nvPr/>
        </p:nvSpPr>
        <p:spPr>
          <a:xfrm>
            <a:off x="8842248" y="2371954"/>
            <a:ext cx="113202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가이드 &amp; 비평가</a:t>
            </a:r>
            <a:endParaRPr lang="en-US" sz="1050" dirty="0"/>
          </a:p>
        </p:txBody>
      </p:sp>
      <p:sp>
        <p:nvSpPr>
          <p:cNvPr id="52" name="Shape 40"/>
          <p:cNvSpPr/>
          <p:nvPr/>
        </p:nvSpPr>
        <p:spPr>
          <a:xfrm>
            <a:off x="8251546" y="2862072"/>
            <a:ext cx="3209544" cy="1343254"/>
          </a:xfrm>
          <a:prstGeom prst="roundRect">
            <a:avLst>
              <a:gd name="adj" fmla="val 386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3" name="Text 41"/>
          <p:cNvSpPr txBox="1"/>
          <p:nvPr/>
        </p:nvSpPr>
        <p:spPr>
          <a:xfrm>
            <a:off x="8395106" y="3314699"/>
            <a:ext cx="347746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산출물의 논리적 오류,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윤리적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문제, 환각(Hallucination) 점검 가이드</a:t>
            </a:r>
            <a:endParaRPr lang="en-US" sz="1200" dirty="0"/>
          </a:p>
        </p:txBody>
      </p:sp>
      <p:sp>
        <p:nvSpPr>
          <p:cNvPr id="54" name="Shape 42"/>
          <p:cNvSpPr/>
          <p:nvPr/>
        </p:nvSpPr>
        <p:spPr>
          <a:xfrm>
            <a:off x="8251546" y="4352544"/>
            <a:ext cx="3209544" cy="1343254"/>
          </a:xfrm>
          <a:prstGeom prst="roundRect">
            <a:avLst>
              <a:gd name="adj" fmla="val 3862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5" name="Text 43"/>
          <p:cNvSpPr txBox="1"/>
          <p:nvPr/>
        </p:nvSpPr>
        <p:spPr>
          <a:xfrm>
            <a:off x="9136685" y="4836262"/>
            <a:ext cx="144018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Human-in-the-Loop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Supervision</a:t>
            </a:r>
            <a:endParaRPr lang="en-US" sz="1050" dirty="0"/>
          </a:p>
        </p:txBody>
      </p:sp>
      <p:sp>
        <p:nvSpPr>
          <p:cNvPr id="56" name="Text 44"/>
          <p:cNvSpPr txBox="1"/>
          <p:nvPr/>
        </p:nvSpPr>
        <p:spPr>
          <a:xfrm>
            <a:off x="875994" y="3004718"/>
            <a:ext cx="2948583" cy="181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 : PLAN &amp;</a:t>
            </a:r>
          </a:p>
          <a:p>
            <a:r>
              <a:rPr lang="en-US" altLang="ko-KR" sz="105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 : </a:t>
            </a:r>
            <a:r>
              <a:rPr lang="en-US" sz="105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PROMPT</a:t>
            </a:r>
            <a:endParaRPr lang="en-US" sz="1050" dirty="0"/>
          </a:p>
        </p:txBody>
      </p:sp>
      <p:sp>
        <p:nvSpPr>
          <p:cNvPr id="57" name="Text 45"/>
          <p:cNvSpPr txBox="1"/>
          <p:nvPr/>
        </p:nvSpPr>
        <p:spPr>
          <a:xfrm>
            <a:off x="875995" y="4496105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6: DECIDE</a:t>
            </a:r>
            <a:endParaRPr lang="en-US" sz="1050" dirty="0"/>
          </a:p>
        </p:txBody>
      </p:sp>
      <p:sp>
        <p:nvSpPr>
          <p:cNvPr id="58" name="Text 46"/>
          <p:cNvSpPr txBox="1"/>
          <p:nvPr/>
        </p:nvSpPr>
        <p:spPr>
          <a:xfrm>
            <a:off x="4635094" y="3004718"/>
            <a:ext cx="1761730" cy="14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3: GENERATE</a:t>
            </a:r>
            <a:endParaRPr lang="en-US" sz="1050" dirty="0"/>
          </a:p>
        </p:txBody>
      </p:sp>
      <p:sp>
        <p:nvSpPr>
          <p:cNvPr id="59" name="Text 47"/>
          <p:cNvSpPr txBox="1"/>
          <p:nvPr/>
        </p:nvSpPr>
        <p:spPr>
          <a:xfrm>
            <a:off x="4635094" y="4496105"/>
            <a:ext cx="10277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5: REVISE</a:t>
            </a:r>
            <a:endParaRPr lang="en-US" sz="1050" dirty="0"/>
          </a:p>
        </p:txBody>
      </p:sp>
      <p:sp>
        <p:nvSpPr>
          <p:cNvPr id="60" name="Text 48"/>
          <p:cNvSpPr txBox="1"/>
          <p:nvPr/>
        </p:nvSpPr>
        <p:spPr>
          <a:xfrm>
            <a:off x="8395106" y="3004718"/>
            <a:ext cx="117500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4: CRITIQUE</a:t>
            </a:r>
            <a:endParaRPr lang="en-US" sz="1050" dirty="0"/>
          </a:p>
        </p:txBody>
      </p:sp>
      <p:pic>
        <p:nvPicPr>
          <p:cNvPr id="61" name="Image 10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4095598" y="3493007"/>
            <a:ext cx="228600" cy="228600"/>
          </a:xfrm>
          <a:prstGeom prst="rect">
            <a:avLst/>
          </a:prstGeom>
        </p:spPr>
      </p:pic>
      <p:pic>
        <p:nvPicPr>
          <p:cNvPr id="62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7861097" y="3493007"/>
            <a:ext cx="228600" cy="228600"/>
          </a:xfrm>
          <a:prstGeom prst="rect">
            <a:avLst/>
          </a:prstGeom>
        </p:spPr>
      </p:pic>
      <p:sp>
        <p:nvSpPr>
          <p:cNvPr id="63" name="Shape 49"/>
          <p:cNvSpPr/>
          <p:nvPr/>
        </p:nvSpPr>
        <p:spPr>
          <a:xfrm>
            <a:off x="571500" y="6043270"/>
            <a:ext cx="11048695" cy="437998"/>
          </a:xfrm>
          <a:prstGeom prst="roundRect">
            <a:avLst>
              <a:gd name="adj" fmla="val 54461"/>
            </a:avLst>
          </a:prstGeom>
          <a:solidFill>
            <a:srgbClr val="0F172A">
              <a:alpha val="8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4" name="Shape 50"/>
          <p:cNvSpPr/>
          <p:nvPr/>
        </p:nvSpPr>
        <p:spPr>
          <a:xfrm>
            <a:off x="3029407" y="6167628"/>
            <a:ext cx="9144" cy="190195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65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09244" y="6198718"/>
            <a:ext cx="123444" cy="123444"/>
          </a:xfrm>
          <a:prstGeom prst="rect">
            <a:avLst/>
          </a:prstGeom>
        </p:spPr>
      </p:pic>
      <p:sp>
        <p:nvSpPr>
          <p:cNvPr id="66" name="Text 51"/>
          <p:cNvSpPr txBox="1"/>
          <p:nvPr/>
        </p:nvSpPr>
        <p:spPr>
          <a:xfrm>
            <a:off x="1009498" y="6167628"/>
            <a:ext cx="21762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및 윤리 체크 (Safety Check)</a:t>
            </a:r>
            <a:endParaRPr lang="en-US" sz="1050" dirty="0"/>
          </a:p>
        </p:txBody>
      </p:sp>
      <p:pic>
        <p:nvPicPr>
          <p:cNvPr id="67" name="Image 13" descr="preencoded.png"/>
          <p:cNvPicPr>
            <a:picLocks noChangeAspect="1"/>
          </p:cNvPicPr>
          <p:nvPr/>
        </p:nvPicPr>
        <p:blipFill>
          <a:blip r:embed="rId16"/>
          <a:srcRect l="-2571" r="-2571"/>
          <a:stretch/>
        </p:blipFill>
        <p:spPr>
          <a:xfrm>
            <a:off x="7263079" y="6203290"/>
            <a:ext cx="105156" cy="114300"/>
          </a:xfrm>
          <a:prstGeom prst="rect">
            <a:avLst/>
          </a:prstGeom>
        </p:spPr>
      </p:pic>
      <p:sp>
        <p:nvSpPr>
          <p:cNvPr id="68" name="Text 52"/>
          <p:cNvSpPr txBox="1"/>
          <p:nvPr/>
        </p:nvSpPr>
        <p:spPr>
          <a:xfrm>
            <a:off x="7367321" y="6174943"/>
            <a:ext cx="117957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명시 (Citation)</a:t>
            </a:r>
            <a:endParaRPr lang="en-US" sz="1050" dirty="0"/>
          </a:p>
        </p:txBody>
      </p:sp>
      <p:pic>
        <p:nvPicPr>
          <p:cNvPr id="69" name="Image 14" descr="preencoded.png"/>
          <p:cNvPicPr>
            <a:picLocks noChangeAspect="1"/>
          </p:cNvPicPr>
          <p:nvPr/>
        </p:nvPicPr>
        <p:blipFill>
          <a:blip r:embed="rId16"/>
          <a:srcRect l="-2571" r="-2571"/>
          <a:stretch/>
        </p:blipFill>
        <p:spPr>
          <a:xfrm>
            <a:off x="8540496" y="6203290"/>
            <a:ext cx="105156" cy="114300"/>
          </a:xfrm>
          <a:prstGeom prst="rect">
            <a:avLst/>
          </a:prstGeom>
        </p:spPr>
      </p:pic>
      <p:sp>
        <p:nvSpPr>
          <p:cNvPr id="70" name="Text 53"/>
          <p:cNvSpPr txBox="1"/>
          <p:nvPr/>
        </p:nvSpPr>
        <p:spPr>
          <a:xfrm>
            <a:off x="8644738" y="6174943"/>
            <a:ext cx="149687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편향성 검토 (Bias Check)</a:t>
            </a:r>
            <a:endParaRPr lang="en-US" sz="1050" dirty="0"/>
          </a:p>
        </p:txBody>
      </p:sp>
      <p:pic>
        <p:nvPicPr>
          <p:cNvPr id="71" name="Image 15" descr="preencoded.png"/>
          <p:cNvPicPr>
            <a:picLocks noChangeAspect="1"/>
          </p:cNvPicPr>
          <p:nvPr/>
        </p:nvPicPr>
        <p:blipFill>
          <a:blip r:embed="rId16"/>
          <a:srcRect l="-2571" r="-2571"/>
          <a:stretch/>
        </p:blipFill>
        <p:spPr>
          <a:xfrm>
            <a:off x="10085832" y="6203290"/>
            <a:ext cx="105156" cy="114300"/>
          </a:xfrm>
          <a:prstGeom prst="rect">
            <a:avLst/>
          </a:prstGeom>
        </p:spPr>
      </p:pic>
      <p:sp>
        <p:nvSpPr>
          <p:cNvPr id="72" name="Text 54"/>
          <p:cNvSpPr txBox="1"/>
          <p:nvPr/>
        </p:nvSpPr>
        <p:spPr>
          <a:xfrm>
            <a:off x="10190988" y="6174943"/>
            <a:ext cx="142829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저작권 확인 (Copyright)</a:t>
            </a:r>
            <a:endParaRPr lang="en-US" sz="1050" dirty="0"/>
          </a:p>
        </p:txBody>
      </p:sp>
      <p:sp>
        <p:nvSpPr>
          <p:cNvPr id="7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 txBox="1"/>
          <p:nvPr/>
        </p:nvSpPr>
        <p:spPr>
          <a:xfrm>
            <a:off x="571500" y="476402"/>
            <a:ext cx="112398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HITL &amp; Agentic Workflow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1095451"/>
            <a:ext cx="11163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AI를 도구로 쓸 것인가, 동료(Agent)로 쓸 것인가: Human-in-the-Loop의 진화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 l="-1282" r="-1282"/>
          <a:stretch/>
        </p:blipFill>
        <p:spPr>
          <a:xfrm>
            <a:off x="571500" y="1752905"/>
            <a:ext cx="219456" cy="19019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90956" y="1705356"/>
            <a:ext cx="259598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 레벨 (Level 0 ~ 3)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081421"/>
              </p:ext>
            </p:extLst>
          </p:nvPr>
        </p:nvGraphicFramePr>
        <p:xfrm>
          <a:off x="571500" y="2180844"/>
          <a:ext cx="7093916" cy="3648701"/>
        </p:xfrm>
        <a:graphic>
          <a:graphicData uri="http://schemas.openxmlformats.org/drawingml/2006/table">
            <a:tbl>
              <a:tblPr/>
              <a:tblGrid>
                <a:gridCol w="1067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1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51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01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LEVEL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역할 정의 (ROLE)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특징 및 예시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1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Level 0</a:t>
                      </a:r>
                      <a:endParaRPr lang="en-US" sz="1600" dirty="0"/>
                    </a:p>
                  </a:txBody>
                  <a:tcPr marL="152705" marR="152705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1F5F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단순 도구 (Tool)</a:t>
                      </a:r>
                      <a:endParaRPr lang="en-US" sz="1600" dirty="0"/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명령어 기반의 수동적 수행</a:t>
                      </a:r>
                      <a:endParaRPr lang="en-US" sz="1600" dirty="0"/>
                    </a:p>
                  </a:txBody>
                  <a:tcPr marL="152705" marR="152705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사람이 모든 맥락을 제공하고 결과만 수령</a:t>
                      </a:r>
                      <a:endParaRPr lang="en-US" sz="1600" dirty="0"/>
                    </a:p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예: 맞춤법 검사기, 단순 번역기</a:t>
                      </a:r>
                      <a:endParaRPr lang="en-US" sz="1600" dirty="0"/>
                    </a:p>
                  </a:txBody>
                  <a:tcPr marL="152705" marR="152705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1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Level 1</a:t>
                      </a:r>
                      <a:endParaRPr lang="en-US" sz="1600" dirty="0"/>
                    </a:p>
                  </a:txBody>
                  <a:tcPr marL="152705" marR="152705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1F5F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코파일럿 (Copilot)</a:t>
                      </a:r>
                      <a:endParaRPr lang="en-US" sz="1600" dirty="0"/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실시간 보조 및 제안</a:t>
                      </a:r>
                      <a:endParaRPr lang="en-US" sz="1600" dirty="0"/>
                    </a:p>
                  </a:txBody>
                  <a:tcPr marL="152705" marR="152705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작업 중 맥락을 이해하고 코드/문장을 자동 완성</a:t>
                      </a:r>
                      <a:endParaRPr lang="en-US" sz="1600" dirty="0"/>
                    </a:p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예: GitHub Copilot, 문장 자동완성</a:t>
                      </a:r>
                      <a:endParaRPr lang="en-US" sz="1600" dirty="0"/>
                    </a:p>
                  </a:txBody>
                  <a:tcPr marL="152705" marR="152705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1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Level 2</a:t>
                      </a:r>
                      <a:endParaRPr lang="en-US" sz="1600" dirty="0"/>
                    </a:p>
                  </a:txBody>
                  <a:tcPr marL="152705" marR="152705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1F5F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에이전트 (Agent)</a:t>
                      </a:r>
                      <a:endParaRPr lang="en-US" sz="1600" dirty="0"/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목표 지향적 자율 수행</a:t>
                      </a:r>
                      <a:endParaRPr lang="en-US" sz="1600" dirty="0"/>
                    </a:p>
                  </a:txBody>
                  <a:tcPr marL="152705" marR="152705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목표만 주면 계획 수립→도구 사용→결과 도출</a:t>
                      </a:r>
                      <a:endParaRPr lang="en-US" sz="1600" dirty="0"/>
                    </a:p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예: AutoGPT, "여행 계획 짜고 예약해줘"</a:t>
                      </a:r>
                      <a:endParaRPr lang="en-US" sz="1600" dirty="0"/>
                    </a:p>
                  </a:txBody>
                  <a:tcPr marL="152705" marR="152705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1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Level 3</a:t>
                      </a:r>
                      <a:endParaRPr lang="en-US" sz="1600" dirty="0"/>
                    </a:p>
                  </a:txBody>
                  <a:tcPr marL="152705" marR="152705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1F5F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멀티 에이전트</a:t>
                      </a:r>
                      <a:endParaRPr lang="en-US" sz="1600" dirty="0"/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협업 시스템 (System)</a:t>
                      </a:r>
                      <a:endParaRPr lang="en-US" sz="1600" dirty="0"/>
                    </a:p>
                  </a:txBody>
                  <a:tcPr marL="152705" marR="152705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여러 AI가 역할 분담(기획자, 개발자 등)하여 협업</a:t>
                      </a:r>
                      <a:endParaRPr lang="en-US" sz="1600" dirty="0"/>
                    </a:p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예: CrewAI, 가상 SW</a:t>
                      </a:r>
                      <a:r>
                        <a:rPr lang="en-US" sz="1100" i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개발팀</a:t>
                      </a:r>
                      <a:r>
                        <a:rPr lang="en-US" sz="1050" i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운영</a:t>
                      </a:r>
                      <a:endParaRPr lang="en-US" sz="1600" dirty="0"/>
                    </a:p>
                  </a:txBody>
                  <a:tcPr marL="152705" marR="152705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08317" y="821044"/>
            <a:ext cx="185412" cy="19019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8295894" y="773495"/>
            <a:ext cx="306109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가드레일 (Risks &amp; Safety)</a:t>
            </a:r>
            <a:endParaRPr lang="en-US" sz="1500" dirty="0"/>
          </a:p>
        </p:txBody>
      </p:sp>
      <p:sp>
        <p:nvSpPr>
          <p:cNvPr id="12" name="Shape 6"/>
          <p:cNvSpPr/>
          <p:nvPr/>
        </p:nvSpPr>
        <p:spPr>
          <a:xfrm>
            <a:off x="8008316" y="1248983"/>
            <a:ext cx="3472921" cy="1410005"/>
          </a:xfrm>
          <a:prstGeom prst="rect">
            <a:avLst/>
          </a:prstGeom>
          <a:solidFill>
            <a:srgbClr val="1E293B">
              <a:alpha val="60000"/>
            </a:srgbClr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3" name="Shape 7"/>
          <p:cNvSpPr/>
          <p:nvPr/>
        </p:nvSpPr>
        <p:spPr>
          <a:xfrm>
            <a:off x="8008316" y="1248983"/>
            <a:ext cx="45719" cy="141000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4" name="Text 8"/>
          <p:cNvSpPr txBox="1"/>
          <p:nvPr/>
        </p:nvSpPr>
        <p:spPr>
          <a:xfrm>
            <a:off x="8605211" y="1422805"/>
            <a:ext cx="317608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휴먼 검증 (Verification)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8443887" y="1910182"/>
            <a:ext cx="3173879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AI의 결과물(Hallucination 가능성)을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반드시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사람이 최종 검수하는 프로세스 마련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8008316" y="2807121"/>
            <a:ext cx="3472921" cy="1410005"/>
          </a:xfrm>
          <a:prstGeom prst="rect">
            <a:avLst/>
          </a:prstGeom>
          <a:solidFill>
            <a:srgbClr val="1E293B">
              <a:alpha val="60000"/>
            </a:srgbClr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Shape 11"/>
          <p:cNvSpPr/>
          <p:nvPr/>
        </p:nvSpPr>
        <p:spPr>
          <a:xfrm>
            <a:off x="8008316" y="2807121"/>
            <a:ext cx="45719" cy="141000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Text 12"/>
          <p:cNvSpPr txBox="1"/>
          <p:nvPr/>
        </p:nvSpPr>
        <p:spPr>
          <a:xfrm>
            <a:off x="8605211" y="2980028"/>
            <a:ext cx="317608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출처 및 저작권 (Source)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8443887" y="3467406"/>
            <a:ext cx="3173879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생성된 콘텐츠의 데이터 소스를 확인하고,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표절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저작권 침해 여부를 모니터링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8008316" y="4364344"/>
            <a:ext cx="3472921" cy="1410005"/>
          </a:xfrm>
          <a:prstGeom prst="rect">
            <a:avLst/>
          </a:prstGeom>
          <a:solidFill>
            <a:srgbClr val="1E293B">
              <a:alpha val="60000"/>
            </a:srgbClr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21" name="Shape 15"/>
          <p:cNvSpPr/>
          <p:nvPr/>
        </p:nvSpPr>
        <p:spPr>
          <a:xfrm>
            <a:off x="8008316" y="4364344"/>
            <a:ext cx="45719" cy="141000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2" name="Text 16"/>
          <p:cNvSpPr txBox="1"/>
          <p:nvPr/>
        </p:nvSpPr>
        <p:spPr>
          <a:xfrm>
            <a:off x="8605211" y="4538166"/>
            <a:ext cx="317608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프라이버시 (Privacy)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8443887" y="5029201"/>
            <a:ext cx="3173879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민감한 개인정보나 기업 기밀이 </a:t>
            </a: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프롬프트에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입력되지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않도록 데이터 마스킹 처리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71499" y="6019493"/>
            <a:ext cx="10839297" cy="543154"/>
          </a:xfrm>
          <a:prstGeom prst="roundRect">
            <a:avLst>
              <a:gd name="adj" fmla="val 8506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24204" y="6205574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95450" y="6083417"/>
            <a:ext cx="10239451" cy="512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HITL (Human-In-The-Loop)은 </a:t>
            </a:r>
            <a:r>
              <a:rPr lang="en-US" sz="1600" b="1" dirty="0" err="1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</a:t>
            </a:r>
            <a:r>
              <a:rPr lang="en-US" sz="1600" b="1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600" b="1" dirty="0" err="1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고도화</a:t>
            </a:r>
            <a:r>
              <a:rPr lang="en-US" sz="1600" b="1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600" b="1" dirty="0" err="1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될수록</a:t>
            </a:r>
            <a:r>
              <a:rPr lang="en-US" sz="1600" b="1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'감시자'이자 '</a:t>
            </a:r>
            <a:r>
              <a:rPr lang="en-US" sz="1600" b="1" dirty="0" err="1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지휘자’로서</a:t>
            </a:r>
            <a:r>
              <a:rPr lang="en-US" sz="1600" b="1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600" b="1" dirty="0" err="1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인간의</a:t>
            </a:r>
            <a:r>
              <a:rPr lang="en-US" sz="1600" b="1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역할을 더욱 강조합니다.</a:t>
            </a:r>
            <a:endParaRPr lang="en-US" sz="1600" b="1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8236917" y="1440093"/>
            <a:ext cx="167584" cy="190195"/>
          </a:xfrm>
          <a:prstGeom prst="rect">
            <a:avLst/>
          </a:prstGeom>
        </p:spPr>
      </p:pic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236917" y="2997316"/>
            <a:ext cx="185412" cy="190195"/>
          </a:xfrm>
          <a:prstGeom prst="rect">
            <a:avLst/>
          </a:prstGeom>
        </p:spPr>
      </p:pic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236916" y="4554539"/>
            <a:ext cx="231766" cy="190195"/>
          </a:xfrm>
          <a:prstGeom prst="rect">
            <a:avLst/>
          </a:prstGeom>
        </p:spPr>
      </p:pic>
      <p:sp>
        <p:nvSpPr>
          <p:cNvPr id="3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1874" b="21874"/>
          <a:stretch/>
        </p:blipFill>
        <p:spPr>
          <a:xfrm>
            <a:off x="-288950" y="-28913"/>
            <a:ext cx="12191695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1500" y="476402"/>
            <a:ext cx="538673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역량 개발 워크플로우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1067105"/>
            <a:ext cx="4123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AI를 활용한 5단계 자기주도 학습 및 역량 강화 로드맵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0254082" y="961949"/>
            <a:ext cx="1371600" cy="333756"/>
          </a:xfrm>
          <a:prstGeom prst="roundRect">
            <a:avLst>
              <a:gd name="adj" fmla="val 156556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10415930" y="1028700"/>
            <a:ext cx="12472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Growth Cycle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1500" y="1666951"/>
            <a:ext cx="2095805" cy="4240290"/>
          </a:xfrm>
          <a:prstGeom prst="roundRect">
            <a:avLst>
              <a:gd name="adj" fmla="val 238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Shape 7"/>
          <p:cNvSpPr/>
          <p:nvPr/>
        </p:nvSpPr>
        <p:spPr>
          <a:xfrm>
            <a:off x="571500" y="1666951"/>
            <a:ext cx="2095805" cy="38405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Shape 8"/>
          <p:cNvSpPr/>
          <p:nvPr/>
        </p:nvSpPr>
        <p:spPr>
          <a:xfrm>
            <a:off x="771754" y="3048610"/>
            <a:ext cx="1695298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Shape 9"/>
          <p:cNvSpPr/>
          <p:nvPr/>
        </p:nvSpPr>
        <p:spPr>
          <a:xfrm>
            <a:off x="1387145" y="1895551"/>
            <a:ext cx="457200" cy="4572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519733" y="2029054"/>
            <a:ext cx="190195" cy="19019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317650" y="2467051"/>
            <a:ext cx="6007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01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1197864" y="2676449"/>
            <a:ext cx="84216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설정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771754" y="3209544"/>
            <a:ext cx="5148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활동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771754" y="3424428"/>
            <a:ext cx="1772107" cy="553212"/>
          </a:xfrm>
          <a:prstGeom prst="rect">
            <a:avLst/>
          </a:prstGeom>
          <a:solidFill>
            <a:srgbClr val="FFFFFF">
              <a:alpha val="2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학습할 역량의 범위와 수준을 구체화하고 로드맵 설계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771754" y="4129430"/>
            <a:ext cx="62636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예시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771754" y="4343400"/>
            <a:ext cx="1772107" cy="553212"/>
          </a:xfrm>
          <a:prstGeom prst="rect">
            <a:avLst/>
          </a:prstGeom>
          <a:solidFill>
            <a:srgbClr val="FFFFFF">
              <a:alpha val="2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"주차별 데이터 </a:t>
            </a:r>
            <a:r>
              <a:rPr lang="en-US" sz="1100" dirty="0" err="1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</a:t>
            </a:r>
            <a:r>
              <a:rPr lang="en-US" sz="110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100" dirty="0" err="1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</a:t>
            </a:r>
            <a:r>
              <a:rPr lang="en-US" sz="110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커리큘럼"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771754" y="5048402"/>
            <a:ext cx="6931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툴 범주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790903" y="5278441"/>
            <a:ext cx="1574117" cy="433425"/>
          </a:xfrm>
          <a:prstGeom prst="roundRect">
            <a:avLst>
              <a:gd name="adj" fmla="val 5272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2" name="Text 18"/>
          <p:cNvSpPr txBox="1"/>
          <p:nvPr/>
        </p:nvSpPr>
        <p:spPr>
          <a:xfrm>
            <a:off x="939352" y="5397313"/>
            <a:ext cx="1349654" cy="169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(ChatGPT, Claude)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2811780" y="1666951"/>
            <a:ext cx="2095805" cy="4240290"/>
          </a:xfrm>
          <a:prstGeom prst="roundRect">
            <a:avLst>
              <a:gd name="adj" fmla="val 238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4" name="Shape 20"/>
          <p:cNvSpPr/>
          <p:nvPr/>
        </p:nvSpPr>
        <p:spPr>
          <a:xfrm>
            <a:off x="2811780" y="1666951"/>
            <a:ext cx="2095805" cy="38405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5" name="Shape 21"/>
          <p:cNvSpPr/>
          <p:nvPr/>
        </p:nvSpPr>
        <p:spPr>
          <a:xfrm>
            <a:off x="3012034" y="3048610"/>
            <a:ext cx="1695298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6" name="Shape 22"/>
          <p:cNvSpPr/>
          <p:nvPr/>
        </p:nvSpPr>
        <p:spPr>
          <a:xfrm>
            <a:off x="3626510" y="1895551"/>
            <a:ext cx="457200" cy="457200"/>
          </a:xfrm>
          <a:prstGeom prst="ellipse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760013" y="2029054"/>
            <a:ext cx="190195" cy="190195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3557930" y="2467051"/>
            <a:ext cx="6007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02</a:t>
            </a:r>
            <a:endParaRPr lang="en-US" sz="1050" dirty="0"/>
          </a:p>
        </p:txBody>
      </p:sp>
      <p:sp>
        <p:nvSpPr>
          <p:cNvPr id="29" name="Text 24"/>
          <p:cNvSpPr txBox="1"/>
          <p:nvPr/>
        </p:nvSpPr>
        <p:spPr>
          <a:xfrm>
            <a:off x="3438144" y="2676449"/>
            <a:ext cx="84216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수집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3012034" y="3209544"/>
            <a:ext cx="5148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활동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3012034" y="3424428"/>
            <a:ext cx="1772107" cy="553212"/>
          </a:xfrm>
          <a:prstGeom prst="rect">
            <a:avLst/>
          </a:prstGeom>
          <a:solidFill>
            <a:srgbClr val="FFFFFF">
              <a:alpha val="2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필요한 개념, 논문, 사례 등 학습 자원을 AI로 큐레이션</a:t>
            </a:r>
            <a:endParaRPr lang="en-US" sz="1100" dirty="0"/>
          </a:p>
        </p:txBody>
      </p:sp>
      <p:sp>
        <p:nvSpPr>
          <p:cNvPr id="32" name="Text 27"/>
          <p:cNvSpPr txBox="1"/>
          <p:nvPr/>
        </p:nvSpPr>
        <p:spPr>
          <a:xfrm>
            <a:off x="3012034" y="4129430"/>
            <a:ext cx="62636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예시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3012034" y="4343400"/>
            <a:ext cx="1772107" cy="553212"/>
          </a:xfrm>
          <a:prstGeom prst="rect">
            <a:avLst/>
          </a:prstGeom>
          <a:solidFill>
            <a:srgbClr val="FFFFFF">
              <a:alpha val="2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"핵심 논문 5편 </a:t>
            </a:r>
            <a:r>
              <a:rPr lang="en-US" sz="1100" dirty="0" err="1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</a:t>
            </a:r>
            <a:r>
              <a:rPr lang="en-US" sz="1100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 개념 정리표"</a:t>
            </a:r>
            <a:endParaRPr lang="en-US" sz="1100" dirty="0"/>
          </a:p>
        </p:txBody>
      </p:sp>
      <p:sp>
        <p:nvSpPr>
          <p:cNvPr id="34" name="Text 29"/>
          <p:cNvSpPr txBox="1"/>
          <p:nvPr/>
        </p:nvSpPr>
        <p:spPr>
          <a:xfrm>
            <a:off x="3012034" y="5048402"/>
            <a:ext cx="6931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툴 범주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3029021" y="5278441"/>
            <a:ext cx="1665510" cy="433425"/>
          </a:xfrm>
          <a:prstGeom prst="roundRect">
            <a:avLst>
              <a:gd name="adj" fmla="val 5272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6" name="Text 31"/>
          <p:cNvSpPr txBox="1"/>
          <p:nvPr/>
        </p:nvSpPr>
        <p:spPr>
          <a:xfrm>
            <a:off x="3232667" y="5413771"/>
            <a:ext cx="170078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</a:t>
            </a:r>
            <a:r>
              <a:rPr lang="en-US" sz="10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</a:t>
            </a: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(Perplexity, Genspark)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5052060" y="1666951"/>
            <a:ext cx="2095805" cy="4240290"/>
          </a:xfrm>
          <a:prstGeom prst="roundRect">
            <a:avLst>
              <a:gd name="adj" fmla="val 238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8" name="Shape 33"/>
          <p:cNvSpPr/>
          <p:nvPr/>
        </p:nvSpPr>
        <p:spPr>
          <a:xfrm>
            <a:off x="5052060" y="1666951"/>
            <a:ext cx="2095805" cy="3840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9" name="Shape 34"/>
          <p:cNvSpPr/>
          <p:nvPr/>
        </p:nvSpPr>
        <p:spPr>
          <a:xfrm>
            <a:off x="5252314" y="3048610"/>
            <a:ext cx="1695298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0" name="Shape 35"/>
          <p:cNvSpPr/>
          <p:nvPr/>
        </p:nvSpPr>
        <p:spPr>
          <a:xfrm>
            <a:off x="5867705" y="1895551"/>
            <a:ext cx="457200" cy="4572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976518" y="2029054"/>
            <a:ext cx="237744" cy="190195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5798210" y="2467051"/>
            <a:ext cx="6007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03</a:t>
            </a:r>
            <a:endParaRPr lang="en-US" sz="1050" dirty="0"/>
          </a:p>
        </p:txBody>
      </p:sp>
      <p:sp>
        <p:nvSpPr>
          <p:cNvPr id="43" name="Text 37"/>
          <p:cNvSpPr txBox="1"/>
          <p:nvPr/>
        </p:nvSpPr>
        <p:spPr>
          <a:xfrm>
            <a:off x="5565496" y="2676449"/>
            <a:ext cx="1080691" cy="28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연습·실습</a:t>
            </a:r>
            <a:endParaRPr lang="en-US" sz="1600" dirty="0"/>
          </a:p>
        </p:txBody>
      </p:sp>
      <p:sp>
        <p:nvSpPr>
          <p:cNvPr id="44" name="Text 38"/>
          <p:cNvSpPr txBox="1"/>
          <p:nvPr/>
        </p:nvSpPr>
        <p:spPr>
          <a:xfrm>
            <a:off x="5252314" y="3209544"/>
            <a:ext cx="5148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활동</a:t>
            </a:r>
            <a:endParaRPr lang="en-US" sz="1000" dirty="0"/>
          </a:p>
        </p:txBody>
      </p:sp>
      <p:sp>
        <p:nvSpPr>
          <p:cNvPr id="45" name="Text 39"/>
          <p:cNvSpPr txBox="1"/>
          <p:nvPr/>
        </p:nvSpPr>
        <p:spPr>
          <a:xfrm>
            <a:off x="5252314" y="3424428"/>
            <a:ext cx="1772107" cy="553212"/>
          </a:xfrm>
          <a:prstGeom prst="rect">
            <a:avLst/>
          </a:prstGeom>
          <a:solidFill>
            <a:srgbClr val="FFFFFF">
              <a:alpha val="2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AI를 튜터/파트너로 삼아 문제 풀이 및 프로젝트 수행</a:t>
            </a:r>
            <a:endParaRPr lang="en-US" sz="1100" dirty="0"/>
          </a:p>
        </p:txBody>
      </p:sp>
      <p:sp>
        <p:nvSpPr>
          <p:cNvPr id="46" name="Text 40"/>
          <p:cNvSpPr txBox="1"/>
          <p:nvPr/>
        </p:nvSpPr>
        <p:spPr>
          <a:xfrm>
            <a:off x="5252314" y="4129430"/>
            <a:ext cx="62636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예시</a:t>
            </a:r>
            <a:endParaRPr lang="en-US" sz="1000" dirty="0"/>
          </a:p>
        </p:txBody>
      </p:sp>
      <p:sp>
        <p:nvSpPr>
          <p:cNvPr id="47" name="Text 41"/>
          <p:cNvSpPr txBox="1"/>
          <p:nvPr/>
        </p:nvSpPr>
        <p:spPr>
          <a:xfrm>
            <a:off x="5252314" y="4343400"/>
            <a:ext cx="1772107" cy="553212"/>
          </a:xfrm>
          <a:prstGeom prst="rect">
            <a:avLst/>
          </a:prstGeom>
          <a:solidFill>
            <a:srgbClr val="FFFFFF">
              <a:alpha val="2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"파이썬 코드 </a:t>
            </a:r>
            <a:r>
              <a:rPr lang="en-US" sz="1100" dirty="0" err="1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초안</a:t>
            </a:r>
            <a:r>
              <a:rPr lang="en-US" sz="1100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 디버깅 로그"</a:t>
            </a:r>
            <a:endParaRPr lang="en-US" sz="1100" dirty="0"/>
          </a:p>
        </p:txBody>
      </p:sp>
      <p:sp>
        <p:nvSpPr>
          <p:cNvPr id="48" name="Text 42"/>
          <p:cNvSpPr txBox="1"/>
          <p:nvPr/>
        </p:nvSpPr>
        <p:spPr>
          <a:xfrm>
            <a:off x="5252314" y="5048402"/>
            <a:ext cx="6931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툴 범주</a:t>
            </a:r>
            <a:endParaRPr lang="en-US" sz="1000" dirty="0"/>
          </a:p>
        </p:txBody>
      </p:sp>
      <p:sp>
        <p:nvSpPr>
          <p:cNvPr id="49" name="Shape 43"/>
          <p:cNvSpPr/>
          <p:nvPr/>
        </p:nvSpPr>
        <p:spPr>
          <a:xfrm>
            <a:off x="5222402" y="5320502"/>
            <a:ext cx="1721816" cy="425198"/>
          </a:xfrm>
          <a:prstGeom prst="roundRect">
            <a:avLst>
              <a:gd name="adj" fmla="val 46365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0" name="Text 44"/>
          <p:cNvSpPr txBox="1"/>
          <p:nvPr/>
        </p:nvSpPr>
        <p:spPr>
          <a:xfrm>
            <a:off x="5418997" y="5397313"/>
            <a:ext cx="161025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코딩/창작 AI 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(Cursor, Midjourney)</a:t>
            </a:r>
            <a:endParaRPr lang="en-US" sz="1000" dirty="0"/>
          </a:p>
        </p:txBody>
      </p:sp>
      <p:sp>
        <p:nvSpPr>
          <p:cNvPr id="51" name="Shape 45"/>
          <p:cNvSpPr/>
          <p:nvPr/>
        </p:nvSpPr>
        <p:spPr>
          <a:xfrm>
            <a:off x="7292340" y="1666951"/>
            <a:ext cx="2095805" cy="4240290"/>
          </a:xfrm>
          <a:prstGeom prst="roundRect">
            <a:avLst>
              <a:gd name="adj" fmla="val 238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2" name="Shape 46"/>
          <p:cNvSpPr/>
          <p:nvPr/>
        </p:nvSpPr>
        <p:spPr>
          <a:xfrm>
            <a:off x="7292340" y="1666951"/>
            <a:ext cx="2095805" cy="38405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3" name="Shape 47"/>
          <p:cNvSpPr/>
          <p:nvPr/>
        </p:nvSpPr>
        <p:spPr>
          <a:xfrm>
            <a:off x="7492594" y="3048610"/>
            <a:ext cx="1695298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4" name="Shape 48"/>
          <p:cNvSpPr/>
          <p:nvPr/>
        </p:nvSpPr>
        <p:spPr>
          <a:xfrm>
            <a:off x="8107985" y="1895551"/>
            <a:ext cx="457200" cy="457200"/>
          </a:xfrm>
          <a:prstGeom prst="ellipse">
            <a:avLst/>
          </a:prstGeom>
          <a:solidFill>
            <a:srgbClr val="EC489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55" name="Image 4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216798" y="2029054"/>
            <a:ext cx="237744" cy="190195"/>
          </a:xfrm>
          <a:prstGeom prst="rect">
            <a:avLst/>
          </a:prstGeom>
        </p:spPr>
      </p:pic>
      <p:sp>
        <p:nvSpPr>
          <p:cNvPr id="56" name="Text 49"/>
          <p:cNvSpPr txBox="1"/>
          <p:nvPr/>
        </p:nvSpPr>
        <p:spPr>
          <a:xfrm>
            <a:off x="8038490" y="2467051"/>
            <a:ext cx="6007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04</a:t>
            </a:r>
            <a:endParaRPr lang="en-US" sz="1050" dirty="0"/>
          </a:p>
        </p:txBody>
      </p:sp>
      <p:sp>
        <p:nvSpPr>
          <p:cNvPr id="57" name="Text 50"/>
          <p:cNvSpPr txBox="1"/>
          <p:nvPr/>
        </p:nvSpPr>
        <p:spPr>
          <a:xfrm>
            <a:off x="7978648" y="2676449"/>
            <a:ext cx="72886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피드백</a:t>
            </a:r>
            <a:endParaRPr lang="en-US" sz="1600" dirty="0"/>
          </a:p>
        </p:txBody>
      </p:sp>
      <p:sp>
        <p:nvSpPr>
          <p:cNvPr id="58" name="Text 51"/>
          <p:cNvSpPr txBox="1"/>
          <p:nvPr/>
        </p:nvSpPr>
        <p:spPr>
          <a:xfrm>
            <a:off x="7492594" y="3209544"/>
            <a:ext cx="5148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활동</a:t>
            </a:r>
            <a:endParaRPr lang="en-US" sz="1000" dirty="0"/>
          </a:p>
        </p:txBody>
      </p:sp>
      <p:sp>
        <p:nvSpPr>
          <p:cNvPr id="59" name="Text 52"/>
          <p:cNvSpPr txBox="1"/>
          <p:nvPr/>
        </p:nvSpPr>
        <p:spPr>
          <a:xfrm>
            <a:off x="7492594" y="3424428"/>
            <a:ext cx="1772107" cy="553212"/>
          </a:xfrm>
          <a:prstGeom prst="rect">
            <a:avLst/>
          </a:prstGeom>
          <a:solidFill>
            <a:srgbClr val="FFFFFF">
              <a:alpha val="2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결과물에 대해 AI의 평가를 받고 약점을 보완</a:t>
            </a:r>
            <a:endParaRPr lang="en-US" sz="1100" dirty="0"/>
          </a:p>
        </p:txBody>
      </p:sp>
      <p:sp>
        <p:nvSpPr>
          <p:cNvPr id="60" name="Text 53"/>
          <p:cNvSpPr txBox="1"/>
          <p:nvPr/>
        </p:nvSpPr>
        <p:spPr>
          <a:xfrm>
            <a:off x="7492594" y="4129430"/>
            <a:ext cx="62636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예시</a:t>
            </a:r>
            <a:endParaRPr lang="en-US" sz="1000" dirty="0"/>
          </a:p>
        </p:txBody>
      </p:sp>
      <p:sp>
        <p:nvSpPr>
          <p:cNvPr id="61" name="Text 54"/>
          <p:cNvSpPr txBox="1"/>
          <p:nvPr/>
        </p:nvSpPr>
        <p:spPr>
          <a:xfrm>
            <a:off x="7492594" y="4343400"/>
            <a:ext cx="1772107" cy="553212"/>
          </a:xfrm>
          <a:prstGeom prst="rect">
            <a:avLst/>
          </a:prstGeom>
          <a:solidFill>
            <a:srgbClr val="FFFFFF">
              <a:alpha val="2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72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"코드 리뷰 리포트 및 개선안"</a:t>
            </a:r>
            <a:endParaRPr lang="en-US" sz="1100" dirty="0"/>
          </a:p>
        </p:txBody>
      </p:sp>
      <p:sp>
        <p:nvSpPr>
          <p:cNvPr id="62" name="Text 55"/>
          <p:cNvSpPr txBox="1"/>
          <p:nvPr/>
        </p:nvSpPr>
        <p:spPr>
          <a:xfrm>
            <a:off x="7492594" y="5048402"/>
            <a:ext cx="6931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툴 범주</a:t>
            </a:r>
            <a:endParaRPr lang="en-US" sz="1000" dirty="0"/>
          </a:p>
        </p:txBody>
      </p:sp>
      <p:sp>
        <p:nvSpPr>
          <p:cNvPr id="63" name="Shape 56"/>
          <p:cNvSpPr/>
          <p:nvPr/>
        </p:nvSpPr>
        <p:spPr>
          <a:xfrm>
            <a:off x="7487151" y="5278441"/>
            <a:ext cx="1613653" cy="433425"/>
          </a:xfrm>
          <a:prstGeom prst="roundRect">
            <a:avLst>
              <a:gd name="adj" fmla="val 5272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4" name="Text 57"/>
          <p:cNvSpPr txBox="1"/>
          <p:nvPr/>
        </p:nvSpPr>
        <p:spPr>
          <a:xfrm>
            <a:off x="7659278" y="5397313"/>
            <a:ext cx="1474013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분석형 AI 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(GPT-4 Analysis)</a:t>
            </a:r>
            <a:endParaRPr lang="en-US" sz="1000" dirty="0"/>
          </a:p>
        </p:txBody>
      </p:sp>
      <p:sp>
        <p:nvSpPr>
          <p:cNvPr id="65" name="Shape 58"/>
          <p:cNvSpPr/>
          <p:nvPr/>
        </p:nvSpPr>
        <p:spPr>
          <a:xfrm>
            <a:off x="9532620" y="1666951"/>
            <a:ext cx="2095805" cy="4240290"/>
          </a:xfrm>
          <a:prstGeom prst="roundRect">
            <a:avLst>
              <a:gd name="adj" fmla="val 238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6" name="Shape 59"/>
          <p:cNvSpPr/>
          <p:nvPr/>
        </p:nvSpPr>
        <p:spPr>
          <a:xfrm>
            <a:off x="9532620" y="1666951"/>
            <a:ext cx="2095805" cy="38405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7" name="Shape 60"/>
          <p:cNvSpPr/>
          <p:nvPr/>
        </p:nvSpPr>
        <p:spPr>
          <a:xfrm>
            <a:off x="9732874" y="3048610"/>
            <a:ext cx="1695298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8" name="Shape 61"/>
          <p:cNvSpPr/>
          <p:nvPr/>
        </p:nvSpPr>
        <p:spPr>
          <a:xfrm>
            <a:off x="10348265" y="1895551"/>
            <a:ext cx="457200" cy="457200"/>
          </a:xfrm>
          <a:prstGeom prst="ellipse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69" name="Image 5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480853" y="2029054"/>
            <a:ext cx="190195" cy="190195"/>
          </a:xfrm>
          <a:prstGeom prst="rect">
            <a:avLst/>
          </a:prstGeom>
        </p:spPr>
      </p:pic>
      <p:sp>
        <p:nvSpPr>
          <p:cNvPr id="70" name="Text 62"/>
          <p:cNvSpPr txBox="1"/>
          <p:nvPr/>
        </p:nvSpPr>
        <p:spPr>
          <a:xfrm>
            <a:off x="10278770" y="2467051"/>
            <a:ext cx="6007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05</a:t>
            </a:r>
            <a:endParaRPr lang="en-US" sz="1050" dirty="0"/>
          </a:p>
        </p:txBody>
      </p:sp>
      <p:sp>
        <p:nvSpPr>
          <p:cNvPr id="71" name="Text 63"/>
          <p:cNvSpPr txBox="1"/>
          <p:nvPr/>
        </p:nvSpPr>
        <p:spPr>
          <a:xfrm>
            <a:off x="10011788" y="2691079"/>
            <a:ext cx="1206007" cy="280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포트폴리오</a:t>
            </a:r>
            <a:endParaRPr lang="en-US" sz="1600" dirty="0"/>
          </a:p>
        </p:txBody>
      </p:sp>
      <p:sp>
        <p:nvSpPr>
          <p:cNvPr id="72" name="Text 64"/>
          <p:cNvSpPr txBox="1"/>
          <p:nvPr/>
        </p:nvSpPr>
        <p:spPr>
          <a:xfrm>
            <a:off x="9732874" y="3209544"/>
            <a:ext cx="5148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활동</a:t>
            </a:r>
            <a:endParaRPr lang="en-US" sz="1000" dirty="0"/>
          </a:p>
        </p:txBody>
      </p:sp>
      <p:sp>
        <p:nvSpPr>
          <p:cNvPr id="73" name="Text 65"/>
          <p:cNvSpPr txBox="1"/>
          <p:nvPr/>
        </p:nvSpPr>
        <p:spPr>
          <a:xfrm>
            <a:off x="9732874" y="3424428"/>
            <a:ext cx="1772107" cy="553212"/>
          </a:xfrm>
          <a:prstGeom prst="rect">
            <a:avLst/>
          </a:prstGeom>
          <a:solidFill>
            <a:srgbClr val="FFFFFF">
              <a:alpha val="2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과정과 결과물을 정리하여 증명 가능한 자산화</a:t>
            </a:r>
            <a:endParaRPr lang="en-US" sz="1100" dirty="0"/>
          </a:p>
        </p:txBody>
      </p:sp>
      <p:sp>
        <p:nvSpPr>
          <p:cNvPr id="74" name="Text 66"/>
          <p:cNvSpPr txBox="1"/>
          <p:nvPr/>
        </p:nvSpPr>
        <p:spPr>
          <a:xfrm>
            <a:off x="9732874" y="4129430"/>
            <a:ext cx="62636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예시</a:t>
            </a:r>
            <a:endParaRPr lang="en-US" sz="1000" dirty="0"/>
          </a:p>
        </p:txBody>
      </p:sp>
      <p:sp>
        <p:nvSpPr>
          <p:cNvPr id="75" name="Text 67"/>
          <p:cNvSpPr txBox="1"/>
          <p:nvPr/>
        </p:nvSpPr>
        <p:spPr>
          <a:xfrm>
            <a:off x="9732874" y="4343400"/>
            <a:ext cx="1772107" cy="553212"/>
          </a:xfrm>
          <a:prstGeom prst="rect">
            <a:avLst/>
          </a:prstGeom>
          <a:solidFill>
            <a:srgbClr val="FFFFFF">
              <a:alpha val="2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"Github </a:t>
            </a:r>
            <a:r>
              <a:rPr lang="en-US" sz="1100" dirty="0" err="1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r>
              <a:rPr lang="en-US" sz="1100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00" dirty="0" err="1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페이지</a:t>
            </a:r>
            <a:endParaRPr lang="en-US" sz="1100" dirty="0">
              <a:solidFill>
                <a:srgbClr val="A78BFA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/ 블로그 글"</a:t>
            </a:r>
            <a:endParaRPr lang="en-US" sz="1100" dirty="0"/>
          </a:p>
        </p:txBody>
      </p:sp>
      <p:sp>
        <p:nvSpPr>
          <p:cNvPr id="76" name="Text 68"/>
          <p:cNvSpPr txBox="1"/>
          <p:nvPr/>
        </p:nvSpPr>
        <p:spPr>
          <a:xfrm>
            <a:off x="9732874" y="5048402"/>
            <a:ext cx="6931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툴 범주</a:t>
            </a:r>
            <a:endParaRPr lang="en-US" sz="1000" dirty="0"/>
          </a:p>
        </p:txBody>
      </p:sp>
      <p:sp>
        <p:nvSpPr>
          <p:cNvPr id="77" name="Shape 69"/>
          <p:cNvSpPr/>
          <p:nvPr/>
        </p:nvSpPr>
        <p:spPr>
          <a:xfrm>
            <a:off x="9683888" y="5278441"/>
            <a:ext cx="1717209" cy="433425"/>
          </a:xfrm>
          <a:prstGeom prst="roundRect">
            <a:avLst>
              <a:gd name="adj" fmla="val 5272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8" name="Text 70"/>
          <p:cNvSpPr txBox="1"/>
          <p:nvPr/>
        </p:nvSpPr>
        <p:spPr>
          <a:xfrm>
            <a:off x="9899558" y="5397313"/>
            <a:ext cx="1691640" cy="2240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문서/웹 </a:t>
            </a:r>
            <a:r>
              <a:rPr lang="en-US" sz="10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빌더</a:t>
            </a: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(Notion, Gamma)</a:t>
            </a:r>
            <a:endParaRPr lang="en-US" sz="1000" dirty="0"/>
          </a:p>
        </p:txBody>
      </p:sp>
      <p:pic>
        <p:nvPicPr>
          <p:cNvPr id="79" name="Image 6" descr="preencoded.png"/>
          <p:cNvPicPr>
            <a:picLocks noChangeAspect="1"/>
          </p:cNvPicPr>
          <p:nvPr/>
        </p:nvPicPr>
        <p:blipFill>
          <a:blip r:embed="rId10"/>
          <a:srcRect t="-80" b="-80"/>
          <a:stretch/>
        </p:blipFill>
        <p:spPr>
          <a:xfrm>
            <a:off x="2677145" y="3481621"/>
            <a:ext cx="142646" cy="228600"/>
          </a:xfrm>
          <a:prstGeom prst="rect">
            <a:avLst/>
          </a:prstGeom>
        </p:spPr>
      </p:pic>
      <p:pic>
        <p:nvPicPr>
          <p:cNvPr id="80" name="Image 7" descr="preencoded.png"/>
          <p:cNvPicPr>
            <a:picLocks noChangeAspect="1"/>
          </p:cNvPicPr>
          <p:nvPr/>
        </p:nvPicPr>
        <p:blipFill>
          <a:blip r:embed="rId10"/>
          <a:srcRect t="-80" b="-80"/>
          <a:stretch/>
        </p:blipFill>
        <p:spPr>
          <a:xfrm>
            <a:off x="4907585" y="3472434"/>
            <a:ext cx="142646" cy="228600"/>
          </a:xfrm>
          <a:prstGeom prst="rect">
            <a:avLst/>
          </a:prstGeom>
        </p:spPr>
      </p:pic>
      <p:pic>
        <p:nvPicPr>
          <p:cNvPr id="81" name="Image 8" descr="preencoded.png"/>
          <p:cNvPicPr>
            <a:picLocks noChangeAspect="1"/>
          </p:cNvPicPr>
          <p:nvPr/>
        </p:nvPicPr>
        <p:blipFill>
          <a:blip r:embed="rId10"/>
          <a:srcRect t="-80" b="-80"/>
          <a:stretch/>
        </p:blipFill>
        <p:spPr>
          <a:xfrm>
            <a:off x="7147865" y="3486041"/>
            <a:ext cx="142646" cy="228600"/>
          </a:xfrm>
          <a:prstGeom prst="rect">
            <a:avLst/>
          </a:prstGeom>
        </p:spPr>
      </p:pic>
      <p:pic>
        <p:nvPicPr>
          <p:cNvPr id="82" name="Image 9" descr="preencoded.png"/>
          <p:cNvPicPr>
            <a:picLocks noChangeAspect="1"/>
          </p:cNvPicPr>
          <p:nvPr/>
        </p:nvPicPr>
        <p:blipFill>
          <a:blip r:embed="rId10"/>
          <a:srcRect t="-80" b="-80"/>
          <a:stretch/>
        </p:blipFill>
        <p:spPr>
          <a:xfrm>
            <a:off x="9388145" y="3486041"/>
            <a:ext cx="142646" cy="228600"/>
          </a:xfrm>
          <a:prstGeom prst="rect">
            <a:avLst/>
          </a:prstGeom>
        </p:spPr>
      </p:pic>
      <p:sp>
        <p:nvSpPr>
          <p:cNvPr id="83" name="Shape 71"/>
          <p:cNvSpPr/>
          <p:nvPr/>
        </p:nvSpPr>
        <p:spPr>
          <a:xfrm>
            <a:off x="571500" y="6038698"/>
            <a:ext cx="11048695" cy="437998"/>
          </a:xfrm>
          <a:prstGeom prst="roundRect">
            <a:avLst>
              <a:gd name="adj" fmla="val 208768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4" name="Text 72"/>
          <p:cNvSpPr txBox="1"/>
          <p:nvPr/>
        </p:nvSpPr>
        <p:spPr>
          <a:xfrm>
            <a:off x="918713" y="6143854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 Point</a:t>
            </a:r>
            <a:r>
              <a:rPr lang="en-US" sz="16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워크플로우를 반복(Iteration)하며 나만의 'AI 협업 루틴'을 만드는 것이 핵심입니다.</a:t>
            </a:r>
            <a:endParaRPr lang="en-US" sz="1600" dirty="0"/>
          </a:p>
        </p:txBody>
      </p:sp>
      <p:sp>
        <p:nvSpPr>
          <p:cNvPr id="8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1500" y="743407"/>
            <a:ext cx="11239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역량개발을 위한 AI 활용 프레임워크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1143000"/>
            <a:ext cx="11239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NCS 기반의 체계적인 5단계 워크플로우와 핵심 프롬프트 전략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71500" y="381305"/>
            <a:ext cx="1209751" cy="267005"/>
          </a:xfrm>
          <a:prstGeom prst="roundRect">
            <a:avLst>
              <a:gd name="adj" fmla="val 48924"/>
            </a:avLst>
          </a:prstGeom>
          <a:solidFill>
            <a:srgbClr val="2563EB">
              <a:alpha val="20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694944" y="428854"/>
            <a:ext cx="10387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FRAMEWORK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71500" y="1657807"/>
            <a:ext cx="2124151" cy="457200"/>
          </a:xfrm>
          <a:custGeom>
            <a:avLst/>
            <a:gdLst/>
            <a:ahLst/>
            <a:cxnLst/>
            <a:rect l="l" t="t" r="r" b="b"/>
            <a:pathLst>
              <a:path w="2124151" h="457200">
                <a:moveTo>
                  <a:pt x="0" y="0"/>
                </a:moveTo>
                <a:lnTo>
                  <a:pt x="2017944" y="0"/>
                </a:lnTo>
                <a:lnTo>
                  <a:pt x="2124151" y="228600"/>
                </a:lnTo>
                <a:lnTo>
                  <a:pt x="201794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1239012" y="1785823"/>
            <a:ext cx="8275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문제 정의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804465" y="1657807"/>
            <a:ext cx="2124151" cy="457200"/>
          </a:xfrm>
          <a:custGeom>
            <a:avLst/>
            <a:gdLst/>
            <a:ahLst/>
            <a:cxnLst/>
            <a:rect l="l" t="t" r="r" b="b"/>
            <a:pathLst>
              <a:path w="2124151" h="457200">
                <a:moveTo>
                  <a:pt x="0" y="0"/>
                </a:moveTo>
                <a:lnTo>
                  <a:pt x="2017944" y="0"/>
                </a:lnTo>
                <a:lnTo>
                  <a:pt x="2124151" y="228600"/>
                </a:lnTo>
                <a:lnTo>
                  <a:pt x="201794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3471977" y="1785823"/>
            <a:ext cx="8275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지식 확장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036515" y="1657807"/>
            <a:ext cx="2124151" cy="457200"/>
          </a:xfrm>
          <a:custGeom>
            <a:avLst/>
            <a:gdLst/>
            <a:ahLst/>
            <a:cxnLst/>
            <a:rect l="l" t="t" r="r" b="b"/>
            <a:pathLst>
              <a:path w="2124151" h="457200">
                <a:moveTo>
                  <a:pt x="0" y="0"/>
                </a:moveTo>
                <a:lnTo>
                  <a:pt x="2017944" y="0"/>
                </a:lnTo>
                <a:lnTo>
                  <a:pt x="2124151" y="228600"/>
                </a:lnTo>
                <a:lnTo>
                  <a:pt x="201794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5661965" y="1785823"/>
            <a:ext cx="9720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아이데이션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269480" y="1657807"/>
            <a:ext cx="2124151" cy="457200"/>
          </a:xfrm>
          <a:custGeom>
            <a:avLst/>
            <a:gdLst/>
            <a:ahLst/>
            <a:cxnLst/>
            <a:rect l="l" t="t" r="r" b="b"/>
            <a:pathLst>
              <a:path w="2124151" h="457200">
                <a:moveTo>
                  <a:pt x="0" y="0"/>
                </a:moveTo>
                <a:lnTo>
                  <a:pt x="2017944" y="0"/>
                </a:lnTo>
                <a:lnTo>
                  <a:pt x="2124151" y="228600"/>
                </a:lnTo>
                <a:lnTo>
                  <a:pt x="201794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7894930" y="1785823"/>
            <a:ext cx="9720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프로토타입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9502445" y="1657807"/>
            <a:ext cx="2124151" cy="457200"/>
          </a:xfrm>
          <a:custGeom>
            <a:avLst/>
            <a:gdLst/>
            <a:ahLst/>
            <a:cxnLst/>
            <a:rect l="l" t="t" r="r" b="b"/>
            <a:pathLst>
              <a:path w="2124151" h="457200">
                <a:moveTo>
                  <a:pt x="0" y="0"/>
                </a:moveTo>
                <a:lnTo>
                  <a:pt x="2017944" y="0"/>
                </a:lnTo>
                <a:lnTo>
                  <a:pt x="2124151" y="228600"/>
                </a:lnTo>
                <a:lnTo>
                  <a:pt x="201794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10162642" y="1785823"/>
            <a:ext cx="83941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평가/로그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71500" y="2400300"/>
            <a:ext cx="3562502" cy="4076395"/>
          </a:xfrm>
          <a:prstGeom prst="roundRect">
            <a:avLst>
              <a:gd name="adj" fmla="val 824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  <a:effectLst>
            <a:outerShdw blurRad="190500" dist="38100" dir="16200000" algn="bl" rotWithShape="0">
              <a:srgbClr val="3B82F6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771754" y="3096158"/>
            <a:ext cx="316199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1" name="Shape 18"/>
          <p:cNvSpPr/>
          <p:nvPr/>
        </p:nvSpPr>
        <p:spPr>
          <a:xfrm>
            <a:off x="771754" y="2600554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5"/>
          <a:srcRect t="-842" b="-842"/>
          <a:stretch/>
        </p:blipFill>
        <p:spPr>
          <a:xfrm>
            <a:off x="866851" y="2704795"/>
            <a:ext cx="190195" cy="171907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266444" y="2661818"/>
            <a:ext cx="168249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프롬프트 패턴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990295" y="3295498"/>
            <a:ext cx="1440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페르소나 지정 (Role)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990295" y="4032504"/>
            <a:ext cx="123626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생각의 사슬 (CoT)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961949" y="4770425"/>
            <a:ext cx="20857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반례 요청 (Devil's Advocate)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317797" y="2400300"/>
            <a:ext cx="3562502" cy="4076395"/>
          </a:xfrm>
          <a:prstGeom prst="roundRect">
            <a:avLst>
              <a:gd name="adj" fmla="val 824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  <a:effectLst>
            <a:outerShdw blurRad="190500" dist="38100" dir="16200000" algn="bl" rotWithShape="0">
              <a:srgbClr val="8B5CF6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4"/>
          <p:cNvSpPr/>
          <p:nvPr/>
        </p:nvSpPr>
        <p:spPr>
          <a:xfrm>
            <a:off x="4518050" y="3096158"/>
            <a:ext cx="316199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9" name="Shape 25"/>
          <p:cNvSpPr/>
          <p:nvPr/>
        </p:nvSpPr>
        <p:spPr>
          <a:xfrm>
            <a:off x="4518050" y="2600554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6"/>
          <a:srcRect t="-842" b="-842"/>
          <a:stretch/>
        </p:blipFill>
        <p:spPr>
          <a:xfrm>
            <a:off x="4613148" y="2704795"/>
            <a:ext cx="190195" cy="171907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5013655" y="2661818"/>
            <a:ext cx="19815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&amp; 프로토타이핑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4727448" y="3295498"/>
            <a:ext cx="10817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멀티모달 산출물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4708246" y="3859682"/>
            <a:ext cx="12947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NCS 수행준거 대조</a:t>
            </a:r>
            <a:endParaRPr lang="en-US" sz="1100" dirty="0"/>
          </a:p>
        </p:txBody>
      </p:sp>
      <p:sp>
        <p:nvSpPr>
          <p:cNvPr id="34" name="Text 29"/>
          <p:cNvSpPr txBox="1"/>
          <p:nvPr/>
        </p:nvSpPr>
        <p:spPr>
          <a:xfrm>
            <a:off x="4708246" y="4423867"/>
            <a:ext cx="162123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반복적 개선 (Iteration)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8064094" y="2400300"/>
            <a:ext cx="3562502" cy="4076395"/>
          </a:xfrm>
          <a:prstGeom prst="roundRect">
            <a:avLst>
              <a:gd name="adj" fmla="val 824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  <a:effectLst>
            <a:outerShdw blurRad="190500" dist="38100" dir="16200000" algn="bl" rotWithShape="0">
              <a:srgbClr val="10B981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1"/>
          <p:cNvSpPr/>
          <p:nvPr/>
        </p:nvSpPr>
        <p:spPr>
          <a:xfrm>
            <a:off x="8264347" y="3096158"/>
            <a:ext cx="316199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7" name="Shape 32"/>
          <p:cNvSpPr/>
          <p:nvPr/>
        </p:nvSpPr>
        <p:spPr>
          <a:xfrm>
            <a:off x="8264347" y="2600554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7"/>
          <a:srcRect t="-842" b="-842"/>
          <a:stretch/>
        </p:blipFill>
        <p:spPr>
          <a:xfrm>
            <a:off x="8359445" y="2704795"/>
            <a:ext cx="190195" cy="171907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8759952" y="2661818"/>
            <a:ext cx="161665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포트폴리오 &amp; 로그</a:t>
            </a:r>
            <a:endParaRPr lang="en-US" sz="1300" dirty="0"/>
          </a:p>
        </p:txBody>
      </p:sp>
      <p:sp>
        <p:nvSpPr>
          <p:cNvPr id="40" name="Text 34"/>
          <p:cNvSpPr txBox="1"/>
          <p:nvPr/>
        </p:nvSpPr>
        <p:spPr>
          <a:xfrm>
            <a:off x="8454542" y="3295498"/>
            <a:ext cx="130850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로그 기록</a:t>
            </a:r>
            <a:endParaRPr lang="en-US" sz="1100" dirty="0"/>
          </a:p>
        </p:txBody>
      </p:sp>
      <p:sp>
        <p:nvSpPr>
          <p:cNvPr id="41" name="Text 35"/>
          <p:cNvSpPr txBox="1"/>
          <p:nvPr/>
        </p:nvSpPr>
        <p:spPr>
          <a:xfrm>
            <a:off x="8454542" y="3859682"/>
            <a:ext cx="1440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 &amp; After 비교</a:t>
            </a:r>
            <a:endParaRPr lang="en-US" sz="1100" dirty="0"/>
          </a:p>
        </p:txBody>
      </p:sp>
      <p:sp>
        <p:nvSpPr>
          <p:cNvPr id="42" name="Text 36"/>
          <p:cNvSpPr txBox="1"/>
          <p:nvPr/>
        </p:nvSpPr>
        <p:spPr>
          <a:xfrm>
            <a:off x="8426196" y="4423867"/>
            <a:ext cx="9390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인사이트 회고</a:t>
            </a:r>
            <a:endParaRPr lang="en-US" sz="1100" dirty="0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8">
            <a:alphaModFix amt="80000"/>
          </a:blip>
          <a:srcRect t="-80" b="-80"/>
          <a:stretch/>
        </p:blipFill>
        <p:spPr>
          <a:xfrm>
            <a:off x="771754" y="3338474"/>
            <a:ext cx="142646" cy="114300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771754" y="3534156"/>
            <a:ext cx="40837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"너는 10년 차 데이터 분석가야. </a:t>
            </a:r>
          </a:p>
          <a:p>
            <a:pPr marL="0" indent="0" algn="l">
              <a:buNone/>
            </a:pPr>
            <a:r>
              <a:rPr lang="en-US" sz="1050" dirty="0" err="1">
                <a:solidFill>
                  <a:srgbClr val="CBD5E1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입문자를</a:t>
            </a:r>
            <a:r>
              <a:rPr lang="en-US" sz="1050" dirty="0">
                <a:solidFill>
                  <a:srgbClr val="CBD5E1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위해 핵심만 설명해줘."</a:t>
            </a:r>
            <a:endParaRPr lang="en-US" sz="1050" dirty="0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9">
            <a:alphaModFix amt="80000"/>
          </a:blip>
          <a:srcRect t="-80" b="-80"/>
          <a:stretch/>
        </p:blipFill>
        <p:spPr>
          <a:xfrm>
            <a:off x="771754" y="4075481"/>
            <a:ext cx="142646" cy="114300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771754" y="4271162"/>
            <a:ext cx="3742639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"결과만 주지 말고, 단계별 논리적 근거를 포함해 설명해줘."</a:t>
            </a:r>
            <a:endParaRPr lang="en-US" sz="1050" dirty="0"/>
          </a:p>
        </p:txBody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10">
            <a:alphaModFix amt="80000"/>
          </a:blip>
          <a:srcRect/>
          <a:stretch/>
        </p:blipFill>
        <p:spPr>
          <a:xfrm>
            <a:off x="771754" y="4813402"/>
            <a:ext cx="114300" cy="114300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771754" y="5008169"/>
            <a:ext cx="33531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"내 주장에 대한 비판적 반박을 3가지 제시해줘."</a:t>
            </a:r>
            <a:endParaRPr lang="en-US" sz="1050" dirty="0"/>
          </a:p>
        </p:txBody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11">
            <a:alphaModFix amt="80000"/>
          </a:blip>
          <a:srcRect l="-1911" r="-1911"/>
          <a:stretch/>
        </p:blipFill>
        <p:spPr>
          <a:xfrm>
            <a:off x="4518050" y="3338474"/>
            <a:ext cx="133502" cy="114300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4518050" y="3534156"/>
            <a:ext cx="33531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기획안 + 코드 블록 + 시각화 이미지 결합</a:t>
            </a:r>
            <a:endParaRPr lang="en-US" sz="1050" dirty="0"/>
          </a:p>
        </p:txBody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12">
            <a:alphaModFix amt="80000"/>
          </a:blip>
          <a:srcRect/>
          <a:stretch/>
        </p:blipFill>
        <p:spPr>
          <a:xfrm>
            <a:off x="4518050" y="3902659"/>
            <a:ext cx="114300" cy="114300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4518050" y="4097426"/>
            <a:ext cx="33531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국가직무능력표준 기준을 AI에 입력해 자가 점검</a:t>
            </a:r>
            <a:endParaRPr lang="en-US" sz="1050" dirty="0"/>
          </a:p>
        </p:txBody>
      </p:sp>
      <p:pic>
        <p:nvPicPr>
          <p:cNvPr id="53" name="Image 9" descr="preencoded.png"/>
          <p:cNvPicPr>
            <a:picLocks noChangeAspect="1"/>
          </p:cNvPicPr>
          <p:nvPr/>
        </p:nvPicPr>
        <p:blipFill>
          <a:blip r:embed="rId13">
            <a:alphaModFix amt="80000"/>
          </a:blip>
          <a:srcRect/>
          <a:stretch/>
        </p:blipFill>
        <p:spPr>
          <a:xfrm>
            <a:off x="4518050" y="4465930"/>
            <a:ext cx="114300" cy="114300"/>
          </a:xfrm>
          <a:prstGeom prst="rect">
            <a:avLst/>
          </a:prstGeom>
        </p:spPr>
      </p:pic>
      <p:sp>
        <p:nvSpPr>
          <p:cNvPr id="54" name="Text 42"/>
          <p:cNvSpPr txBox="1"/>
          <p:nvPr/>
        </p:nvSpPr>
        <p:spPr>
          <a:xfrm>
            <a:off x="4518050" y="4661611"/>
            <a:ext cx="33531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초안 생성 → 피드백 → 수정의 주기를 빠르게 실행</a:t>
            </a:r>
            <a:endParaRPr lang="en-US" sz="1050" dirty="0"/>
          </a:p>
        </p:txBody>
      </p:sp>
      <p:pic>
        <p:nvPicPr>
          <p:cNvPr id="55" name="Image 10" descr="preencoded.png"/>
          <p:cNvPicPr>
            <a:picLocks noChangeAspect="1"/>
          </p:cNvPicPr>
          <p:nvPr/>
        </p:nvPicPr>
        <p:blipFill>
          <a:blip r:embed="rId14">
            <a:alphaModFix amt="80000"/>
          </a:blip>
          <a:srcRect/>
          <a:stretch/>
        </p:blipFill>
        <p:spPr>
          <a:xfrm>
            <a:off x="8264347" y="3338474"/>
            <a:ext cx="114300" cy="114300"/>
          </a:xfrm>
          <a:prstGeom prst="rect">
            <a:avLst/>
          </a:prstGeom>
        </p:spPr>
      </p:pic>
      <p:sp>
        <p:nvSpPr>
          <p:cNvPr id="56" name="Text 43"/>
          <p:cNvSpPr txBox="1"/>
          <p:nvPr/>
        </p:nvSpPr>
        <p:spPr>
          <a:xfrm>
            <a:off x="8264347" y="3534156"/>
            <a:ext cx="33531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질문이 좋은 결과를 냈는지 '대화 내역' 저장</a:t>
            </a:r>
            <a:endParaRPr lang="en-US" sz="1050" dirty="0"/>
          </a:p>
        </p:txBody>
      </p:sp>
      <p:pic>
        <p:nvPicPr>
          <p:cNvPr id="57" name="Image 11" descr="preencoded.png"/>
          <p:cNvPicPr>
            <a:picLocks noChangeAspect="1"/>
          </p:cNvPicPr>
          <p:nvPr/>
        </p:nvPicPr>
        <p:blipFill>
          <a:blip r:embed="rId15">
            <a:alphaModFix amt="80000"/>
          </a:blip>
          <a:srcRect/>
          <a:stretch/>
        </p:blipFill>
        <p:spPr>
          <a:xfrm>
            <a:off x="8264347" y="3902659"/>
            <a:ext cx="114300" cy="114300"/>
          </a:xfrm>
          <a:prstGeom prst="rect">
            <a:avLst/>
          </a:prstGeom>
        </p:spPr>
      </p:pic>
      <p:sp>
        <p:nvSpPr>
          <p:cNvPr id="58" name="Text 44"/>
          <p:cNvSpPr txBox="1"/>
          <p:nvPr/>
        </p:nvSpPr>
        <p:spPr>
          <a:xfrm>
            <a:off x="8264347" y="4097426"/>
            <a:ext cx="327995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 전/후 품질 차이와 나의 기여도 (HITL) 명시</a:t>
            </a:r>
            <a:endParaRPr lang="en-US" sz="1050" dirty="0"/>
          </a:p>
        </p:txBody>
      </p:sp>
      <p:pic>
        <p:nvPicPr>
          <p:cNvPr id="59" name="Image 12" descr="preencoded.png"/>
          <p:cNvPicPr>
            <a:picLocks noChangeAspect="1"/>
          </p:cNvPicPr>
          <p:nvPr/>
        </p:nvPicPr>
        <p:blipFill>
          <a:blip r:embed="rId16">
            <a:alphaModFix amt="80000"/>
          </a:blip>
          <a:srcRect l="-133" r="-133"/>
          <a:stretch/>
        </p:blipFill>
        <p:spPr>
          <a:xfrm>
            <a:off x="8264347" y="4465930"/>
            <a:ext cx="85954" cy="114300"/>
          </a:xfrm>
          <a:prstGeom prst="rect">
            <a:avLst/>
          </a:prstGeom>
        </p:spPr>
      </p:pic>
      <p:sp>
        <p:nvSpPr>
          <p:cNvPr id="60" name="Text 45"/>
          <p:cNvSpPr txBox="1"/>
          <p:nvPr/>
        </p:nvSpPr>
        <p:spPr>
          <a:xfrm>
            <a:off x="8264347" y="4661611"/>
            <a:ext cx="353232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AI의 오류(Hallucination)를 발견하고 수정한 과정 기록</a:t>
            </a:r>
            <a:endParaRPr lang="en-US" sz="1050" dirty="0"/>
          </a:p>
        </p:txBody>
      </p:sp>
      <p:sp>
        <p:nvSpPr>
          <p:cNvPr id="6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1420063"/>
            <a:ext cx="12191695" cy="9144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571500" y="381305"/>
            <a:ext cx="642823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1: 창의력 부스터 프롬프트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972007"/>
            <a:ext cx="599297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AI를 파트너로 활용하여 짧은 시간 내에 아이디어를 확장하고 구체화하기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1500" y="1714500"/>
            <a:ext cx="4105656" cy="5009998"/>
          </a:xfrm>
          <a:prstGeom prst="roundRect">
            <a:avLst>
              <a:gd name="adj" fmla="val 82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l="-2838" r="-2838"/>
          <a:stretch/>
        </p:blipFill>
        <p:spPr>
          <a:xfrm>
            <a:off x="866851" y="2042770"/>
            <a:ext cx="123444" cy="13350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90295" y="2009851"/>
            <a:ext cx="12344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MISSION BRIEF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66851" y="2361895"/>
            <a:ext cx="5462626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나만의 '창의적 </a:t>
            </a:r>
            <a:r>
              <a:rPr lang="en-US" sz="2100" b="1" dirty="0" err="1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</a:t>
            </a:r>
            <a:r>
              <a:rPr lang="en-US" sz="21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100" b="1" dirty="0" err="1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</a:t>
            </a:r>
            <a:r>
              <a:rPr lang="en-US" sz="21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’ </a:t>
            </a:r>
          </a:p>
          <a:p>
            <a:pPr marL="0" indent="0" algn="l">
              <a:buNone/>
            </a:pPr>
            <a:r>
              <a:rPr lang="en-US" sz="2100" b="1" dirty="0" err="1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</a:t>
            </a:r>
            <a:r>
              <a:rPr lang="en-US" sz="21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설계하기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66851" y="3284525"/>
            <a:ext cx="3514954" cy="1819656"/>
          </a:xfrm>
          <a:prstGeom prst="roundRect">
            <a:avLst>
              <a:gd name="adj" fmla="val 3157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866851" y="3284525"/>
            <a:ext cx="38405" cy="181965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1095451" y="3731666"/>
            <a:ext cx="385328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대학생 생활 문제 (시간관리, 진로, 팀플 등)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095451" y="4399178"/>
            <a:ext cx="405902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예산 0원, 모바일 앱 형태, 1주일 내 구현 가능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66851" y="5294376"/>
            <a:ext cx="3514954" cy="1133856"/>
          </a:xfrm>
          <a:prstGeom prst="roundRect">
            <a:avLst>
              <a:gd name="adj" fmla="val 8132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1067105" y="5799125"/>
            <a:ext cx="4862779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1FA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발산된 아이디어 리스트 (20개)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D1FA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선정된 핵심 아이디어 1개의 구체적 컨셉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55718" y="1714500"/>
            <a:ext cx="2095805" cy="4019702"/>
          </a:xfrm>
          <a:prstGeom prst="roundRect">
            <a:avLst>
              <a:gd name="adj" fmla="val 2380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5055718" y="1714500"/>
            <a:ext cx="2095805" cy="38405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5255971" y="1943100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60213" y="2048256"/>
            <a:ext cx="171907" cy="171907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5255971" y="2476195"/>
            <a:ext cx="179039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발산 (Diverge)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5255971" y="2848356"/>
            <a:ext cx="1695298" cy="2686507"/>
          </a:xfrm>
          <a:prstGeom prst="roundRect">
            <a:avLst>
              <a:gd name="adj" fmla="val 1818"/>
            </a:avLst>
          </a:prstGeom>
          <a:solidFill>
            <a:srgbClr val="02061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 txBox="1"/>
          <p:nvPr/>
        </p:nvSpPr>
        <p:spPr>
          <a:xfrm>
            <a:off x="5379415" y="2971800"/>
            <a:ext cx="1524305" cy="1114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"[주제]에 대해 [타겟]이 겪는 문제를 해결할 수 있는 창의적인 아이디어를 20개 제안해줘. [제약조건]을 고려하되, '게임화'와 '소셜' 요소를 결합해서."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7295083" y="1714500"/>
            <a:ext cx="2095805" cy="4019702"/>
          </a:xfrm>
          <a:prstGeom prst="roundRect">
            <a:avLst>
              <a:gd name="adj" fmla="val 2380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2"/>
          <p:cNvSpPr/>
          <p:nvPr/>
        </p:nvSpPr>
        <p:spPr>
          <a:xfrm>
            <a:off x="7295083" y="1714500"/>
            <a:ext cx="2095805" cy="38405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3"/>
          <p:cNvSpPr/>
          <p:nvPr/>
        </p:nvSpPr>
        <p:spPr>
          <a:xfrm>
            <a:off x="7494422" y="1943100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8B5CF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599578" y="2048256"/>
            <a:ext cx="171907" cy="171907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7494422" y="2476195"/>
            <a:ext cx="189646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수렴 (Converge)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7494422" y="2848356"/>
            <a:ext cx="1695298" cy="2686507"/>
          </a:xfrm>
          <a:prstGeom prst="roundRect">
            <a:avLst>
              <a:gd name="adj" fmla="val 1818"/>
            </a:avLst>
          </a:prstGeom>
          <a:solidFill>
            <a:srgbClr val="02061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6"/>
          <p:cNvSpPr txBox="1"/>
          <p:nvPr/>
        </p:nvSpPr>
        <p:spPr>
          <a:xfrm>
            <a:off x="7618781" y="2971800"/>
            <a:ext cx="1524305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"제안된 20개 아이디어 중 [기준: 실현가능성, 독창성]이 가장 높은 3가지를 선정하고, 각각의 장단점을 표로 정리해줘."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9533534" y="1714500"/>
            <a:ext cx="2095805" cy="4019702"/>
          </a:xfrm>
          <a:prstGeom prst="roundRect">
            <a:avLst>
              <a:gd name="adj" fmla="val 2380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8"/>
          <p:cNvSpPr/>
          <p:nvPr/>
        </p:nvSpPr>
        <p:spPr>
          <a:xfrm>
            <a:off x="9533534" y="1714500"/>
            <a:ext cx="2095805" cy="38405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9"/>
          <p:cNvSpPr/>
          <p:nvPr/>
        </p:nvSpPr>
        <p:spPr>
          <a:xfrm>
            <a:off x="9733788" y="1943100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EC4899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838944" y="2048256"/>
            <a:ext cx="171907" cy="171907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9733788" y="2476195"/>
            <a:ext cx="185440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재구성 (Refine)</a:t>
            </a:r>
            <a:endParaRPr lang="en-US" sz="1300" dirty="0"/>
          </a:p>
        </p:txBody>
      </p:sp>
      <p:sp>
        <p:nvSpPr>
          <p:cNvPr id="37" name="Shape 31"/>
          <p:cNvSpPr/>
          <p:nvPr/>
        </p:nvSpPr>
        <p:spPr>
          <a:xfrm>
            <a:off x="9733788" y="2848356"/>
            <a:ext cx="1695298" cy="2686507"/>
          </a:xfrm>
          <a:prstGeom prst="roundRect">
            <a:avLst>
              <a:gd name="adj" fmla="val 1818"/>
            </a:avLst>
          </a:prstGeom>
          <a:solidFill>
            <a:srgbClr val="02061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2"/>
          <p:cNvSpPr txBox="1"/>
          <p:nvPr/>
        </p:nvSpPr>
        <p:spPr>
          <a:xfrm>
            <a:off x="9857232" y="2971800"/>
            <a:ext cx="1524305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"선정된 1번 아이디어의 페르소나를 '대학생 민수'로 설정하고, 그가 이 서비스를 사용하는 하루 시나리오를 스토리텔링해줘."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5055718" y="5922569"/>
            <a:ext cx="6572707" cy="800100"/>
          </a:xfrm>
          <a:prstGeom prst="roundRect">
            <a:avLst>
              <a:gd name="adj" fmla="val 1632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rcRect l="-1773" r="-1773"/>
          <a:stretch/>
        </p:blipFill>
        <p:spPr>
          <a:xfrm>
            <a:off x="5255971" y="6237122"/>
            <a:ext cx="133502" cy="171907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5388559" y="6208776"/>
            <a:ext cx="11676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Safety Check</a:t>
            </a:r>
            <a:endParaRPr lang="en-US" sz="1200" dirty="0"/>
          </a:p>
        </p:txBody>
      </p:sp>
      <p:sp>
        <p:nvSpPr>
          <p:cNvPr id="42" name="Shape 35"/>
          <p:cNvSpPr/>
          <p:nvPr/>
        </p:nvSpPr>
        <p:spPr>
          <a:xfrm>
            <a:off x="6652260" y="6227978"/>
            <a:ext cx="142646" cy="190195"/>
          </a:xfrm>
          <a:prstGeom prst="roundRect">
            <a:avLst>
              <a:gd name="adj" fmla="val 170941"/>
            </a:avLst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6"/>
          <p:cNvSpPr txBox="1"/>
          <p:nvPr/>
        </p:nvSpPr>
        <p:spPr>
          <a:xfrm>
            <a:off x="6884518" y="6122822"/>
            <a:ext cx="165506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생성된 정보의 </a:t>
            </a:r>
            <a:r>
              <a:rPr lang="en-US" sz="10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</a:t>
            </a: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</a:t>
            </a:r>
            <a:endParaRPr lang="en-US" sz="1000" dirty="0">
              <a:solidFill>
                <a:srgbClr val="E2E8F0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(Fact Check)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8496605" y="6227978"/>
            <a:ext cx="142646" cy="190195"/>
          </a:xfrm>
          <a:prstGeom prst="roundRect">
            <a:avLst>
              <a:gd name="adj" fmla="val 170941"/>
            </a:avLst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8"/>
          <p:cNvSpPr txBox="1"/>
          <p:nvPr/>
        </p:nvSpPr>
        <p:spPr>
          <a:xfrm>
            <a:off x="8727948" y="6122822"/>
            <a:ext cx="1776679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개인정보 및 </a:t>
            </a:r>
          </a:p>
          <a:p>
            <a:pPr marL="0" indent="0" algn="l">
              <a:buNone/>
            </a:pPr>
            <a:r>
              <a:rPr lang="en-US" sz="10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민감</a:t>
            </a: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 필터링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10074859" y="6227978"/>
            <a:ext cx="142646" cy="190195"/>
          </a:xfrm>
          <a:prstGeom prst="roundRect">
            <a:avLst>
              <a:gd name="adj" fmla="val 170941"/>
            </a:avLst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0"/>
          <p:cNvSpPr txBox="1"/>
          <p:nvPr/>
        </p:nvSpPr>
        <p:spPr>
          <a:xfrm>
            <a:off x="10305288" y="6122822"/>
            <a:ext cx="133776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HITL: </a:t>
            </a:r>
          </a:p>
          <a:p>
            <a:pPr marL="0" indent="0" algn="l">
              <a:buNone/>
            </a:pPr>
            <a:r>
              <a:rPr lang="en-US" sz="10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인간의</a:t>
            </a: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최종 검토 및 수정</a:t>
            </a:r>
            <a:endParaRPr lang="en-US" sz="1000" dirty="0"/>
          </a:p>
        </p:txBody>
      </p:sp>
      <p:sp>
        <p:nvSpPr>
          <p:cNvPr id="48" name="Text 41"/>
          <p:cNvSpPr txBox="1"/>
          <p:nvPr/>
        </p:nvSpPr>
        <p:spPr>
          <a:xfrm>
            <a:off x="1095451" y="3474720"/>
            <a:ext cx="8732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 (Topic)</a:t>
            </a:r>
            <a:endParaRPr lang="en-US" sz="1000" dirty="0"/>
          </a:p>
        </p:txBody>
      </p:sp>
      <p:sp>
        <p:nvSpPr>
          <p:cNvPr id="49" name="Text 42"/>
          <p:cNvSpPr txBox="1"/>
          <p:nvPr/>
        </p:nvSpPr>
        <p:spPr>
          <a:xfrm>
            <a:off x="1095451" y="4141318"/>
            <a:ext cx="16331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제약조건 (Constraints)</a:t>
            </a:r>
            <a:endParaRPr lang="en-US" sz="1000" dirty="0"/>
          </a:p>
        </p:txBody>
      </p:sp>
      <p:sp>
        <p:nvSpPr>
          <p:cNvPr id="50" name="Text 43"/>
          <p:cNvSpPr txBox="1"/>
          <p:nvPr/>
        </p:nvSpPr>
        <p:spPr>
          <a:xfrm>
            <a:off x="1067105" y="5493715"/>
            <a:ext cx="17236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산출물 (Output)</a:t>
            </a:r>
            <a:endParaRPr lang="en-US" sz="1200" dirty="0"/>
          </a:p>
        </p:txBody>
      </p:sp>
      <p:sp>
        <p:nvSpPr>
          <p:cNvPr id="5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1500" y="476402"/>
            <a:ext cx="112398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</a:t>
            </a: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 : AHP 미니 의사결정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1095451"/>
            <a:ext cx="11239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복합 문제 상황에서 최적의 대안을 선정하는 계층적 분석 과정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rcRect l="-1282" r="-1282"/>
          <a:stretch/>
        </p:blipFill>
        <p:spPr>
          <a:xfrm>
            <a:off x="571500" y="1752905"/>
            <a:ext cx="219456" cy="19019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88927" y="1733245"/>
            <a:ext cx="2645359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구조 설계 (예시)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128333"/>
              </p:ext>
            </p:extLst>
          </p:nvPr>
        </p:nvGraphicFramePr>
        <p:xfrm>
          <a:off x="571500" y="2180844"/>
          <a:ext cx="7093001" cy="2359946"/>
        </p:xfrm>
        <a:graphic>
          <a:graphicData uri="http://schemas.openxmlformats.org/drawingml/2006/table">
            <a:tbl>
              <a:tblPr/>
              <a:tblGrid>
                <a:gridCol w="1418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78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69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76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구분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항목명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설명 및 예시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87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평가기준</a:t>
                      </a:r>
                      <a:endParaRPr lang="en-US" sz="1100" dirty="0"/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4대 핵심 기준</a:t>
                      </a:r>
                      <a:endParaRPr lang="en-US" sz="1100" dirty="0"/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 효과성 (Effectiveness)</a:t>
                      </a:r>
                      <a:endParaRPr lang="en-US" sz="1100" dirty="0"/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 비용 (Cost)</a:t>
                      </a:r>
                      <a:endParaRPr lang="en-US" sz="1100" dirty="0"/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 소요시간 (Time)</a:t>
                      </a:r>
                      <a:endParaRPr lang="en-US" sz="1100" dirty="0"/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 리스크 (Risk)</a:t>
                      </a:r>
                      <a:endParaRPr lang="en-US" sz="1100" dirty="0"/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47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대안설정</a:t>
                      </a:r>
                      <a:endParaRPr lang="en-US" sz="1100" dirty="0"/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해결책 옵션</a:t>
                      </a:r>
                      <a:endParaRPr lang="en-US" sz="1100" dirty="0"/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A안: 자체 AI 모델 개발 (High Return/Risk)</a:t>
                      </a:r>
                      <a:endParaRPr lang="en-US" sz="1100" dirty="0"/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B안: 상용 API 도입 (Fast/Moderate Cost)</a:t>
                      </a:r>
                      <a:endParaRPr lang="en-US" sz="1100" dirty="0"/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C안: 외주 용역 발주 (Low Effort/High Cost)</a:t>
                      </a:r>
                      <a:endParaRPr lang="en-US" sz="1100" dirty="0"/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571500" y="4760758"/>
            <a:ext cx="7114946" cy="714146"/>
          </a:xfrm>
          <a:prstGeom prst="roundRect">
            <a:avLst>
              <a:gd name="adj" fmla="val 13658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Shape 6"/>
          <p:cNvSpPr/>
          <p:nvPr/>
        </p:nvSpPr>
        <p:spPr>
          <a:xfrm>
            <a:off x="714146" y="4922607"/>
            <a:ext cx="228600" cy="2286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Text 7"/>
          <p:cNvSpPr txBox="1"/>
          <p:nvPr/>
        </p:nvSpPr>
        <p:spPr>
          <a:xfrm>
            <a:off x="794614" y="4950953"/>
            <a:ext cx="1527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1057046" y="4903404"/>
            <a:ext cx="32196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쌍대 비교 (Pairwise Comparison)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1057046" y="5155779"/>
            <a:ext cx="380207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"효과성이 비용보다 얼마나 더 중요한가?" (1~9점 척도 평가)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571500" y="5567259"/>
            <a:ext cx="7114946" cy="714146"/>
          </a:xfrm>
          <a:prstGeom prst="roundRect">
            <a:avLst>
              <a:gd name="adj" fmla="val 13658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6" name="Shape 11"/>
          <p:cNvSpPr/>
          <p:nvPr/>
        </p:nvSpPr>
        <p:spPr>
          <a:xfrm>
            <a:off x="714146" y="5729108"/>
            <a:ext cx="228600" cy="2286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Text 12"/>
          <p:cNvSpPr txBox="1"/>
          <p:nvPr/>
        </p:nvSpPr>
        <p:spPr>
          <a:xfrm>
            <a:off x="794614" y="5757454"/>
            <a:ext cx="1527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1057046" y="5709905"/>
            <a:ext cx="2784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우선순위 도출 (Prioritization)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1057046" y="5962280"/>
            <a:ext cx="32671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기준별 가중치 × 대안별 점수 = 최종 종합 점수 산출</a:t>
            </a:r>
            <a:endParaRPr lang="en-US" sz="105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6"/>
          <a:srcRect l="-1282" r="-1282"/>
          <a:stretch/>
        </p:blipFill>
        <p:spPr>
          <a:xfrm>
            <a:off x="8186624" y="521599"/>
            <a:ext cx="219456" cy="19019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406080" y="474050"/>
            <a:ext cx="178856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해석 및 도구</a:t>
            </a:r>
            <a:endParaRPr lang="en-US" sz="1600" dirty="0"/>
          </a:p>
        </p:txBody>
      </p:sp>
      <p:sp>
        <p:nvSpPr>
          <p:cNvPr id="9" name="Shape 16"/>
          <p:cNvSpPr/>
          <p:nvPr/>
        </p:nvSpPr>
        <p:spPr>
          <a:xfrm>
            <a:off x="8186624" y="949538"/>
            <a:ext cx="3562502" cy="1410005"/>
          </a:xfrm>
          <a:prstGeom prst="rect">
            <a:avLst/>
          </a:prstGeom>
          <a:solidFill>
            <a:srgbClr val="1E293B">
              <a:alpha val="60000"/>
            </a:srgbClr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23" name="Shape 17"/>
          <p:cNvSpPr/>
          <p:nvPr/>
        </p:nvSpPr>
        <p:spPr>
          <a:xfrm>
            <a:off x="8186624" y="949538"/>
            <a:ext cx="38405" cy="1410005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4" name="Text 18"/>
          <p:cNvSpPr txBox="1"/>
          <p:nvPr/>
        </p:nvSpPr>
        <p:spPr>
          <a:xfrm>
            <a:off x="8415224" y="1449715"/>
            <a:ext cx="32580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해석 (Interpretation)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8415224" y="1764268"/>
            <a:ext cx="490575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 점수가 가장 높은 대안을 1순위로 선정하되, </a:t>
            </a:r>
          </a:p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2순위와의 격차를 확인하여 결정의 확신도를 점검합니다.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8186624" y="2507676"/>
            <a:ext cx="3562502" cy="1410005"/>
          </a:xfrm>
          <a:prstGeom prst="rect">
            <a:avLst/>
          </a:prstGeom>
          <a:solidFill>
            <a:srgbClr val="1E293B">
              <a:alpha val="60000"/>
            </a:srgbClr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27" name="Shape 21"/>
          <p:cNvSpPr/>
          <p:nvPr/>
        </p:nvSpPr>
        <p:spPr>
          <a:xfrm>
            <a:off x="8186624" y="2507676"/>
            <a:ext cx="38405" cy="1410005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8" name="Text 22"/>
          <p:cNvSpPr txBox="1"/>
          <p:nvPr/>
        </p:nvSpPr>
        <p:spPr>
          <a:xfrm>
            <a:off x="8415224" y="3006938"/>
            <a:ext cx="32580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일관성 검증 (Consistency)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8415224" y="3321492"/>
            <a:ext cx="490575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판단의 논리적 모순이 없는지 확인 (CR &lt; 0.1 권장). </a:t>
            </a:r>
          </a:p>
          <a:p>
            <a:pPr marL="0" indent="0" algn="l">
              <a:buNone/>
            </a:pPr>
            <a:r>
              <a:rPr lang="en-US" sz="105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수치가</a:t>
            </a: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높으면 판단을 재검토해야 합니다.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8186624" y="4064899"/>
            <a:ext cx="3562502" cy="1410005"/>
          </a:xfrm>
          <a:prstGeom prst="rect">
            <a:avLst/>
          </a:prstGeom>
          <a:solidFill>
            <a:srgbClr val="1E293B">
              <a:alpha val="60000"/>
            </a:srgbClr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31" name="Shape 25"/>
          <p:cNvSpPr/>
          <p:nvPr/>
        </p:nvSpPr>
        <p:spPr>
          <a:xfrm>
            <a:off x="8186624" y="4064899"/>
            <a:ext cx="38405" cy="141000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32" name="Text 26"/>
          <p:cNvSpPr txBox="1"/>
          <p:nvPr/>
        </p:nvSpPr>
        <p:spPr>
          <a:xfrm>
            <a:off x="8415224" y="4565076"/>
            <a:ext cx="32580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 도구 (Tools)</a:t>
            </a:r>
            <a:endParaRPr lang="en-US" sz="1400" dirty="0"/>
          </a:p>
        </p:txBody>
      </p:sp>
      <p:sp>
        <p:nvSpPr>
          <p:cNvPr id="33" name="Text 27"/>
          <p:cNvSpPr txBox="1"/>
          <p:nvPr/>
        </p:nvSpPr>
        <p:spPr>
          <a:xfrm>
            <a:off x="8415224" y="4878715"/>
            <a:ext cx="372983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행렬 계산은 엑셀 템플릿이나 'AHP Calculator’ </a:t>
            </a:r>
          </a:p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 도구, 또는 ChatGPT에게 수치를 입력해 위임하세요.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8186624" y="5622122"/>
            <a:ext cx="3562502" cy="705002"/>
          </a:xfrm>
          <a:prstGeom prst="roundRect">
            <a:avLst>
              <a:gd name="adj" fmla="val 14022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8339328" y="5859866"/>
            <a:ext cx="286207" cy="228600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8768182" y="5622122"/>
            <a:ext cx="2905963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 복잡한 계산을 수행하고, 인간은 기준(가치)을 설정하는 역할에 집중합니다.</a:t>
            </a:r>
            <a:endParaRPr lang="en-US" sz="1050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15224" y="1140648"/>
            <a:ext cx="190195" cy="190195"/>
          </a:xfrm>
          <a:prstGeom prst="rect">
            <a:avLst/>
          </a:prstGeom>
        </p:spPr>
      </p:pic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415224" y="2697871"/>
            <a:ext cx="237744" cy="190195"/>
          </a:xfrm>
          <a:prstGeom prst="rect">
            <a:avLst/>
          </a:prstGeom>
        </p:spPr>
      </p:pic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415224" y="4255094"/>
            <a:ext cx="142646" cy="190195"/>
          </a:xfrm>
          <a:prstGeom prst="rect">
            <a:avLst/>
          </a:prstGeom>
        </p:spPr>
      </p:pic>
      <p:sp>
        <p:nvSpPr>
          <p:cNvPr id="4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76402" y="286207"/>
            <a:ext cx="50520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3 : 프롬프트·워크플로우 미니랩</a:t>
            </a:r>
            <a:endParaRPr lang="en-US" sz="2100" dirty="0"/>
          </a:p>
        </p:txBody>
      </p:sp>
      <p:sp>
        <p:nvSpPr>
          <p:cNvPr id="6" name="Text 3"/>
          <p:cNvSpPr txBox="1"/>
          <p:nvPr/>
        </p:nvSpPr>
        <p:spPr>
          <a:xfrm>
            <a:off x="476402" y="643738"/>
            <a:ext cx="42775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AI를 활용한 지역 사회 문제 해결 시나리오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76402" y="1048817"/>
            <a:ext cx="2667305" cy="1047902"/>
          </a:xfrm>
          <a:prstGeom prst="roundRect">
            <a:avLst>
              <a:gd name="adj" fmla="val 7933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" name="Shape 5"/>
          <p:cNvSpPr/>
          <p:nvPr/>
        </p:nvSpPr>
        <p:spPr>
          <a:xfrm>
            <a:off x="599846" y="1437437"/>
            <a:ext cx="267005" cy="26700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Text 6"/>
          <p:cNvSpPr txBox="1"/>
          <p:nvPr/>
        </p:nvSpPr>
        <p:spPr>
          <a:xfrm>
            <a:off x="695858" y="1477670"/>
            <a:ext cx="1527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961949" y="1313536"/>
            <a:ext cx="1369680" cy="284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정의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61949" y="1599287"/>
            <a:ext cx="1582741" cy="189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이슈 및 범위 설정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6402" y="2168957"/>
            <a:ext cx="2667305" cy="1047902"/>
          </a:xfrm>
          <a:prstGeom prst="roundRect">
            <a:avLst>
              <a:gd name="adj" fmla="val 7933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3" name="Shape 10"/>
          <p:cNvSpPr/>
          <p:nvPr/>
        </p:nvSpPr>
        <p:spPr>
          <a:xfrm>
            <a:off x="599846" y="2556662"/>
            <a:ext cx="267005" cy="26700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4" name="Text 11"/>
          <p:cNvSpPr txBox="1"/>
          <p:nvPr/>
        </p:nvSpPr>
        <p:spPr>
          <a:xfrm>
            <a:off x="695858" y="2597810"/>
            <a:ext cx="1527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961948" y="2433676"/>
            <a:ext cx="1725563" cy="284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수집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61949" y="2718512"/>
            <a:ext cx="1915210" cy="189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이해관계자 및 제약조건 탐색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6402" y="3288182"/>
            <a:ext cx="2667305" cy="1047902"/>
          </a:xfrm>
          <a:prstGeom prst="roundRect">
            <a:avLst>
              <a:gd name="adj" fmla="val 7933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Shape 15"/>
          <p:cNvSpPr/>
          <p:nvPr/>
        </p:nvSpPr>
        <p:spPr>
          <a:xfrm>
            <a:off x="599846" y="3676802"/>
            <a:ext cx="267005" cy="26700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Text 16"/>
          <p:cNvSpPr txBox="1"/>
          <p:nvPr/>
        </p:nvSpPr>
        <p:spPr>
          <a:xfrm>
            <a:off x="695858" y="3717036"/>
            <a:ext cx="1527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961949" y="3553816"/>
            <a:ext cx="1280710" cy="284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아이디에이션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61948" y="3838652"/>
            <a:ext cx="1446943" cy="189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3가지 해결 대안 생성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76402" y="4408322"/>
            <a:ext cx="2667305" cy="1047902"/>
          </a:xfrm>
          <a:prstGeom prst="roundRect">
            <a:avLst>
              <a:gd name="adj" fmla="val 7933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3" name="Shape 20"/>
          <p:cNvSpPr/>
          <p:nvPr/>
        </p:nvSpPr>
        <p:spPr>
          <a:xfrm>
            <a:off x="599846" y="4796942"/>
            <a:ext cx="267005" cy="26700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4" name="Text 21"/>
          <p:cNvSpPr txBox="1"/>
          <p:nvPr/>
        </p:nvSpPr>
        <p:spPr>
          <a:xfrm>
            <a:off x="695858" y="4837176"/>
            <a:ext cx="1527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961949" y="4673041"/>
            <a:ext cx="1573376" cy="284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NCS 평가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961949" y="4958792"/>
            <a:ext cx="1777072" cy="189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수행준거 기반 적절성 검토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76402" y="5528462"/>
            <a:ext cx="2667305" cy="1047902"/>
          </a:xfrm>
          <a:prstGeom prst="roundRect">
            <a:avLst>
              <a:gd name="adj" fmla="val 7933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Shape 25"/>
          <p:cNvSpPr/>
          <p:nvPr/>
        </p:nvSpPr>
        <p:spPr>
          <a:xfrm>
            <a:off x="599846" y="5917082"/>
            <a:ext cx="267005" cy="26700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9" name="Text 26"/>
          <p:cNvSpPr txBox="1"/>
          <p:nvPr/>
        </p:nvSpPr>
        <p:spPr>
          <a:xfrm>
            <a:off x="695858" y="5957316"/>
            <a:ext cx="1527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961949" y="5793181"/>
            <a:ext cx="1633080" cy="284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개선안 도출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961949" y="6078932"/>
            <a:ext cx="1860190" cy="189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피드백 반영 및 최종안 작성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477402" y="1048817"/>
            <a:ext cx="3238805" cy="5524805"/>
          </a:xfrm>
          <a:prstGeom prst="roundRect">
            <a:avLst>
              <a:gd name="adj" fmla="val 99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3" name="Shape 30"/>
          <p:cNvSpPr/>
          <p:nvPr/>
        </p:nvSpPr>
        <p:spPr>
          <a:xfrm>
            <a:off x="8639251" y="1525219"/>
            <a:ext cx="2915107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5"/>
          <a:srcRect t="-870" b="-870"/>
          <a:stretch/>
        </p:blipFill>
        <p:spPr>
          <a:xfrm>
            <a:off x="8639251" y="1246327"/>
            <a:ext cx="105156" cy="142646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8639251" y="1644091"/>
            <a:ext cx="2915107" cy="1123798"/>
          </a:xfrm>
          <a:prstGeom prst="roundRect">
            <a:avLst>
              <a:gd name="adj" fmla="val 5516"/>
            </a:avLst>
          </a:pr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36" name="Shape 32"/>
          <p:cNvSpPr/>
          <p:nvPr/>
        </p:nvSpPr>
        <p:spPr>
          <a:xfrm>
            <a:off x="8639251" y="1644091"/>
            <a:ext cx="28346" cy="112379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762694" y="1758390"/>
            <a:ext cx="165753" cy="165753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8991294" y="1739189"/>
            <a:ext cx="129537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사실 검증 (Fact)</a:t>
            </a:r>
            <a:endParaRPr lang="en-US" sz="1400" dirty="0"/>
          </a:p>
        </p:txBody>
      </p:sp>
      <p:sp>
        <p:nvSpPr>
          <p:cNvPr id="39" name="Text 34"/>
          <p:cNvSpPr txBox="1"/>
          <p:nvPr/>
        </p:nvSpPr>
        <p:spPr>
          <a:xfrm>
            <a:off x="8991295" y="2043729"/>
            <a:ext cx="132034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통계/법규 일치 여부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8639251" y="2859329"/>
            <a:ext cx="2915107" cy="1123798"/>
          </a:xfrm>
          <a:prstGeom prst="roundRect">
            <a:avLst>
              <a:gd name="adj" fmla="val 5516"/>
            </a:avLst>
          </a:pr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41" name="Shape 36"/>
          <p:cNvSpPr/>
          <p:nvPr/>
        </p:nvSpPr>
        <p:spPr>
          <a:xfrm>
            <a:off x="8639251" y="2859329"/>
            <a:ext cx="28346" cy="112379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7"/>
          <a:srcRect l="-1507" r="-1507"/>
          <a:stretch/>
        </p:blipFill>
        <p:spPr>
          <a:xfrm>
            <a:off x="8762695" y="2973629"/>
            <a:ext cx="213435" cy="165752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9029700" y="2954426"/>
            <a:ext cx="153491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확인 (Source)</a:t>
            </a:r>
            <a:endParaRPr lang="en-US" sz="1400" dirty="0"/>
          </a:p>
        </p:txBody>
      </p:sp>
      <p:sp>
        <p:nvSpPr>
          <p:cNvPr id="44" name="Text 38"/>
          <p:cNvSpPr txBox="1"/>
          <p:nvPr/>
        </p:nvSpPr>
        <p:spPr>
          <a:xfrm>
            <a:off x="9029700" y="3258967"/>
            <a:ext cx="13930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신뢰할 수 있는 출처</a:t>
            </a:r>
            <a:endParaRPr lang="en-US" sz="1200" dirty="0"/>
          </a:p>
        </p:txBody>
      </p:sp>
      <p:sp>
        <p:nvSpPr>
          <p:cNvPr id="45" name="Shape 39"/>
          <p:cNvSpPr/>
          <p:nvPr/>
        </p:nvSpPr>
        <p:spPr>
          <a:xfrm>
            <a:off x="8639251" y="4074566"/>
            <a:ext cx="2915107" cy="1123798"/>
          </a:xfrm>
          <a:prstGeom prst="roundRect">
            <a:avLst>
              <a:gd name="adj" fmla="val 5516"/>
            </a:avLst>
          </a:pr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46" name="Shape 40"/>
          <p:cNvSpPr/>
          <p:nvPr/>
        </p:nvSpPr>
        <p:spPr>
          <a:xfrm>
            <a:off x="8639251" y="4074566"/>
            <a:ext cx="28346" cy="112379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 r:embed="rId8"/>
          <a:srcRect l="-1507" r="-1507"/>
          <a:stretch/>
        </p:blipFill>
        <p:spPr>
          <a:xfrm>
            <a:off x="8762695" y="4188866"/>
            <a:ext cx="213435" cy="165752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9029699" y="4169664"/>
            <a:ext cx="142479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윤리/편향 (Bias)</a:t>
            </a:r>
            <a:endParaRPr lang="en-US" sz="1400" dirty="0"/>
          </a:p>
        </p:txBody>
      </p:sp>
      <p:sp>
        <p:nvSpPr>
          <p:cNvPr id="49" name="Text 42"/>
          <p:cNvSpPr txBox="1"/>
          <p:nvPr/>
        </p:nvSpPr>
        <p:spPr>
          <a:xfrm>
            <a:off x="9029700" y="4474205"/>
            <a:ext cx="150767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불리하거나 편향된 내용</a:t>
            </a:r>
            <a:endParaRPr lang="en-US" sz="1200" dirty="0"/>
          </a:p>
        </p:txBody>
      </p:sp>
      <p:sp>
        <p:nvSpPr>
          <p:cNvPr id="50" name="Shape 43"/>
          <p:cNvSpPr/>
          <p:nvPr/>
        </p:nvSpPr>
        <p:spPr>
          <a:xfrm>
            <a:off x="8639251" y="5289804"/>
            <a:ext cx="2915107" cy="1123798"/>
          </a:xfrm>
          <a:prstGeom prst="roundRect">
            <a:avLst>
              <a:gd name="adj" fmla="val 5516"/>
            </a:avLst>
          </a:pr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51" name="Shape 44"/>
          <p:cNvSpPr/>
          <p:nvPr/>
        </p:nvSpPr>
        <p:spPr>
          <a:xfrm>
            <a:off x="8639251" y="5289804"/>
            <a:ext cx="28346" cy="112379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52" name="Image 5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762694" y="5404103"/>
            <a:ext cx="165753" cy="165753"/>
          </a:xfrm>
          <a:prstGeom prst="rect">
            <a:avLst/>
          </a:prstGeom>
        </p:spPr>
      </p:pic>
      <p:sp>
        <p:nvSpPr>
          <p:cNvPr id="53" name="Text 45"/>
          <p:cNvSpPr txBox="1"/>
          <p:nvPr/>
        </p:nvSpPr>
        <p:spPr>
          <a:xfrm>
            <a:off x="8991295" y="5384902"/>
            <a:ext cx="16609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가능성 (Action)</a:t>
            </a:r>
            <a:endParaRPr lang="en-US" sz="1400" dirty="0"/>
          </a:p>
        </p:txBody>
      </p:sp>
      <p:sp>
        <p:nvSpPr>
          <p:cNvPr id="54" name="Text 46"/>
          <p:cNvSpPr txBox="1"/>
          <p:nvPr/>
        </p:nvSpPr>
        <p:spPr>
          <a:xfrm>
            <a:off x="8991295" y="5689442"/>
            <a:ext cx="150767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제약 내 실행 가능성</a:t>
            </a:r>
            <a:endParaRPr lang="en-US" sz="1200" dirty="0"/>
          </a:p>
        </p:txBody>
      </p:sp>
      <p:sp>
        <p:nvSpPr>
          <p:cNvPr id="55" name="Text 47"/>
          <p:cNvSpPr txBox="1"/>
          <p:nvPr/>
        </p:nvSpPr>
        <p:spPr>
          <a:xfrm>
            <a:off x="8820301" y="1199983"/>
            <a:ext cx="2653241" cy="210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결과물 품질 평가 </a:t>
            </a: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체크리스트</a:t>
            </a:r>
            <a:endParaRPr lang="en-US" sz="1400" dirty="0"/>
          </a:p>
        </p:txBody>
      </p:sp>
      <p:sp>
        <p:nvSpPr>
          <p:cNvPr id="56" name="Shape 48"/>
          <p:cNvSpPr/>
          <p:nvPr/>
        </p:nvSpPr>
        <p:spPr>
          <a:xfrm>
            <a:off x="3352647" y="1033308"/>
            <a:ext cx="4953305" cy="5524805"/>
          </a:xfrm>
          <a:prstGeom prst="roundRect">
            <a:avLst>
              <a:gd name="adj" fmla="val 497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7" name="Shape 49"/>
          <p:cNvSpPr/>
          <p:nvPr/>
        </p:nvSpPr>
        <p:spPr>
          <a:xfrm>
            <a:off x="3495751" y="884297"/>
            <a:ext cx="1734616" cy="298022"/>
          </a:xfrm>
          <a:prstGeom prst="roundRect">
            <a:avLst>
              <a:gd name="adj" fmla="val 108696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8" name="Text 50"/>
          <p:cNvSpPr txBox="1"/>
          <p:nvPr/>
        </p:nvSpPr>
        <p:spPr>
          <a:xfrm>
            <a:off x="3590848" y="943966"/>
            <a:ext cx="2505151" cy="199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Prompt Example</a:t>
            </a:r>
            <a:endParaRPr lang="en-US" sz="1400" dirty="0"/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3E7FD9B5-5E36-AC31-C6E8-42E3D8BF9C58}"/>
              </a:ext>
            </a:extLst>
          </p:cNvPr>
          <p:cNvGrpSpPr/>
          <p:nvPr/>
        </p:nvGrpSpPr>
        <p:grpSpPr>
          <a:xfrm>
            <a:off x="3552750" y="1496411"/>
            <a:ext cx="5477255" cy="3604609"/>
            <a:chOff x="3495751" y="2556663"/>
            <a:chExt cx="5640934" cy="2476195"/>
          </a:xfrm>
        </p:grpSpPr>
        <p:sp>
          <p:nvSpPr>
            <p:cNvPr id="59" name="Text 51"/>
            <p:cNvSpPr txBox="1"/>
            <p:nvPr/>
          </p:nvSpPr>
          <p:spPr>
            <a:xfrm>
              <a:off x="3495751" y="2556663"/>
              <a:ext cx="110551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60A5F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# Role</a:t>
              </a:r>
              <a:endParaRPr lang="en-US" sz="1400" dirty="0"/>
            </a:p>
          </p:txBody>
        </p:sp>
        <p:sp>
          <p:nvSpPr>
            <p:cNvPr id="60" name="Shape 52"/>
            <p:cNvSpPr/>
            <p:nvPr/>
          </p:nvSpPr>
          <p:spPr>
            <a:xfrm>
              <a:off x="3495751" y="2852928"/>
              <a:ext cx="4629607" cy="314554"/>
            </a:xfrm>
            <a:prstGeom prst="roundRect">
              <a:avLst>
                <a:gd name="adj" fmla="val 52854"/>
              </a:avLst>
            </a:prstGeom>
            <a:solidFill>
              <a:srgbClr val="020617">
                <a:alpha val="40000"/>
              </a:srgbClr>
            </a:solidFill>
            <a:ln/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1" name="Shape 53"/>
            <p:cNvSpPr/>
            <p:nvPr/>
          </p:nvSpPr>
          <p:spPr>
            <a:xfrm>
              <a:off x="3495751" y="2852928"/>
              <a:ext cx="19202" cy="314554"/>
            </a:xfrm>
            <a:prstGeom prst="rect">
              <a:avLst/>
            </a:prstGeom>
            <a:solidFill>
              <a:srgbClr val="334155"/>
            </a:solidFill>
            <a:ln w="12700">
              <a:solidFill>
                <a:srgbClr val="334155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2" name="Text 54"/>
            <p:cNvSpPr txBox="1"/>
            <p:nvPr/>
          </p:nvSpPr>
          <p:spPr>
            <a:xfrm>
              <a:off x="3610051" y="2929738"/>
              <a:ext cx="461040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E2E8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도시 계획 전문가 &amp; 데이터 분석가</a:t>
              </a:r>
              <a:endParaRPr lang="en-US" sz="1400" dirty="0"/>
            </a:p>
          </p:txBody>
        </p:sp>
        <p:sp>
          <p:nvSpPr>
            <p:cNvPr id="63" name="Text 55"/>
            <p:cNvSpPr txBox="1"/>
            <p:nvPr/>
          </p:nvSpPr>
          <p:spPr>
            <a:xfrm>
              <a:off x="3495751" y="3288182"/>
              <a:ext cx="131029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60A5F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# Task</a:t>
              </a:r>
              <a:endParaRPr lang="en-US" sz="1400" dirty="0"/>
            </a:p>
          </p:txBody>
        </p:sp>
        <p:sp>
          <p:nvSpPr>
            <p:cNvPr id="64" name="Shape 56"/>
            <p:cNvSpPr/>
            <p:nvPr/>
          </p:nvSpPr>
          <p:spPr>
            <a:xfrm>
              <a:off x="3495751" y="3501238"/>
              <a:ext cx="4629607" cy="476402"/>
            </a:xfrm>
            <a:prstGeom prst="roundRect">
              <a:avLst>
                <a:gd name="adj" fmla="val 23033"/>
              </a:avLst>
            </a:prstGeom>
            <a:solidFill>
              <a:srgbClr val="020617">
                <a:alpha val="40000"/>
              </a:srgbClr>
            </a:solidFill>
            <a:ln/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5" name="Shape 57"/>
            <p:cNvSpPr/>
            <p:nvPr/>
          </p:nvSpPr>
          <p:spPr>
            <a:xfrm>
              <a:off x="3495751" y="3501238"/>
              <a:ext cx="19202" cy="476402"/>
            </a:xfrm>
            <a:prstGeom prst="rect">
              <a:avLst/>
            </a:prstGeom>
            <a:solidFill>
              <a:srgbClr val="334155"/>
            </a:solidFill>
            <a:ln w="12700">
              <a:solidFill>
                <a:srgbClr val="334155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6" name="Text 58"/>
            <p:cNvSpPr txBox="1"/>
            <p:nvPr/>
          </p:nvSpPr>
          <p:spPr>
            <a:xfrm>
              <a:off x="3610051" y="3577133"/>
              <a:ext cx="5526634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E2E8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우리 지역 대학가 주변의 '쓰레기 </a:t>
              </a:r>
              <a:r>
                <a:rPr lang="en-US" sz="1400" dirty="0" err="1">
                  <a:solidFill>
                    <a:srgbClr val="E2E8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무단</a:t>
              </a:r>
              <a:r>
                <a:rPr lang="en-US" sz="1400" dirty="0">
                  <a:solidFill>
                    <a:srgbClr val="E2E8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400" dirty="0" err="1">
                  <a:solidFill>
                    <a:srgbClr val="E2E8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투기</a:t>
              </a:r>
              <a:r>
                <a:rPr lang="en-US" sz="1400" dirty="0">
                  <a:solidFill>
                    <a:srgbClr val="E2E8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’ </a:t>
              </a:r>
            </a:p>
            <a:p>
              <a:pPr marL="0" indent="0" algn="l">
                <a:buNone/>
              </a:pPr>
              <a:r>
                <a:rPr lang="en-US" sz="1400" dirty="0" err="1">
                  <a:solidFill>
                    <a:srgbClr val="E2E8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문제를</a:t>
              </a:r>
              <a:r>
                <a:rPr lang="en-US" sz="1400" dirty="0">
                  <a:solidFill>
                    <a:srgbClr val="E2E8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해결하기 </a:t>
              </a:r>
              <a:r>
                <a:rPr lang="en-US" sz="1400" dirty="0" err="1">
                  <a:solidFill>
                    <a:srgbClr val="E2E8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위한</a:t>
              </a:r>
              <a:r>
                <a:rPr lang="en-US" sz="1400" dirty="0">
                  <a:solidFill>
                    <a:srgbClr val="E2E8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400" dirty="0" err="1">
                  <a:solidFill>
                    <a:srgbClr val="E2E8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창의적</a:t>
              </a:r>
              <a:r>
                <a:rPr lang="en-US" sz="1400" dirty="0">
                  <a:solidFill>
                    <a:srgbClr val="E2E8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대안 3가지를 제안해줘.</a:t>
              </a:r>
              <a:endParaRPr lang="en-US" sz="1400" dirty="0"/>
            </a:p>
          </p:txBody>
        </p:sp>
        <p:sp>
          <p:nvSpPr>
            <p:cNvPr id="67" name="Text 59"/>
            <p:cNvSpPr txBox="1"/>
            <p:nvPr/>
          </p:nvSpPr>
          <p:spPr>
            <a:xfrm>
              <a:off x="3495751" y="4093769"/>
              <a:ext cx="1397378" cy="1655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60A5F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# Constraints</a:t>
              </a:r>
              <a:endParaRPr lang="en-US" sz="1400" dirty="0"/>
            </a:p>
          </p:txBody>
        </p:sp>
        <p:sp>
          <p:nvSpPr>
            <p:cNvPr id="68" name="Shape 60"/>
            <p:cNvSpPr/>
            <p:nvPr/>
          </p:nvSpPr>
          <p:spPr>
            <a:xfrm>
              <a:off x="3495751" y="4308653"/>
              <a:ext cx="4629607" cy="724205"/>
            </a:xfrm>
            <a:prstGeom prst="roundRect">
              <a:avLst>
                <a:gd name="adj" fmla="val 9968"/>
              </a:avLst>
            </a:prstGeom>
            <a:solidFill>
              <a:srgbClr val="020617">
                <a:alpha val="40000"/>
              </a:srgbClr>
            </a:solidFill>
            <a:ln/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9" name="Shape 61"/>
            <p:cNvSpPr/>
            <p:nvPr/>
          </p:nvSpPr>
          <p:spPr>
            <a:xfrm>
              <a:off x="3495751" y="4308653"/>
              <a:ext cx="19202" cy="724205"/>
            </a:xfrm>
            <a:prstGeom prst="rect">
              <a:avLst/>
            </a:prstGeom>
            <a:solidFill>
              <a:srgbClr val="334155"/>
            </a:solidFill>
            <a:ln w="12700">
              <a:solidFill>
                <a:srgbClr val="334155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70" name="Text 62"/>
            <p:cNvSpPr txBox="1"/>
            <p:nvPr/>
          </p:nvSpPr>
          <p:spPr>
            <a:xfrm>
              <a:off x="3610051" y="4384548"/>
              <a:ext cx="461040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E2E8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예산 1,000만원 이하의 실행 가능한 아이디어</a:t>
              </a:r>
              <a:endParaRPr lang="en-US" sz="1400" dirty="0"/>
            </a:p>
          </p:txBody>
        </p:sp>
        <p:sp>
          <p:nvSpPr>
            <p:cNvPr id="71" name="Text 63"/>
            <p:cNvSpPr txBox="1"/>
            <p:nvPr/>
          </p:nvSpPr>
          <p:spPr>
            <a:xfrm>
              <a:off x="3610051" y="4572914"/>
              <a:ext cx="453451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E2E8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대학생 자발적 참여 유도 (Gamification 요소 포함)</a:t>
              </a:r>
              <a:endParaRPr lang="en-US" sz="1400" dirty="0"/>
            </a:p>
          </p:txBody>
        </p:sp>
        <p:sp>
          <p:nvSpPr>
            <p:cNvPr id="72" name="Text 64"/>
            <p:cNvSpPr txBox="1"/>
            <p:nvPr/>
          </p:nvSpPr>
          <p:spPr>
            <a:xfrm>
              <a:off x="3610051" y="4762195"/>
              <a:ext cx="4610405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E2E8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NCS '환경 관리' 능력단위 수행준거 참고하여 평가 기준 제시</a:t>
              </a:r>
              <a:endParaRPr lang="en-US" sz="1400" dirty="0"/>
            </a:p>
          </p:txBody>
        </p:sp>
      </p:grpSp>
      <p:sp>
        <p:nvSpPr>
          <p:cNvPr id="7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1500" y="559613"/>
            <a:ext cx="410017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정리</a:t>
            </a: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</a:t>
            </a:r>
            <a:r>
              <a:rPr lang="en-US" sz="3200" b="1" dirty="0" err="1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액션플랜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7362749" y="476402"/>
            <a:ext cx="426293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배움을 실행으로 옮기는 작은 시작</a:t>
            </a:r>
            <a:endParaRPr lang="en-US" sz="1400" dirty="0"/>
          </a:p>
          <a:p>
            <a:pPr marL="0" indent="0" algn="r">
              <a:buNone/>
            </a:pPr>
            <a:r>
              <a:rPr lang="en-US" sz="14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오늘부터 7일간의 10분 루틴을 제안합니다.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rcRect l="-1282" r="-1282"/>
          <a:stretch/>
        </p:blipFill>
        <p:spPr>
          <a:xfrm>
            <a:off x="571500" y="1373429"/>
            <a:ext cx="219456" cy="19019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86054" y="1325880"/>
            <a:ext cx="179313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오늘의 핵심 3가지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71500" y="1878178"/>
            <a:ext cx="4705502" cy="1076249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10" name="Shape 6"/>
          <p:cNvSpPr/>
          <p:nvPr/>
        </p:nvSpPr>
        <p:spPr>
          <a:xfrm>
            <a:off x="571500" y="1878178"/>
            <a:ext cx="38405" cy="1076249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1" name="Text 7"/>
          <p:cNvSpPr txBox="1"/>
          <p:nvPr/>
        </p:nvSpPr>
        <p:spPr>
          <a:xfrm>
            <a:off x="800100" y="2382926"/>
            <a:ext cx="352152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기술(Skill)은 도구일 뿐, 이를 활용해 성과를 내는 </a:t>
            </a:r>
            <a:r>
              <a:rPr lang="en-US" sz="105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것은</a:t>
            </a: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맥락을</a:t>
            </a: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읽는 인간의 역량(Competence)입니다.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71500" y="3098902"/>
            <a:ext cx="4705502" cy="1076249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13" name="Shape 9"/>
          <p:cNvSpPr/>
          <p:nvPr/>
        </p:nvSpPr>
        <p:spPr>
          <a:xfrm>
            <a:off x="571500" y="3098902"/>
            <a:ext cx="38405" cy="1076249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4" name="Text 10"/>
          <p:cNvSpPr txBox="1"/>
          <p:nvPr/>
        </p:nvSpPr>
        <p:spPr>
          <a:xfrm>
            <a:off x="800101" y="3603650"/>
            <a:ext cx="419984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AI에게 전적으로 맡기기보다, 인간이 개입(Human-in-the-Loop)</a:t>
            </a:r>
            <a:r>
              <a:rPr lang="en-US" sz="105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</a:t>
            </a:r>
            <a:endParaRPr lang="en-US" sz="1050" dirty="0">
              <a:solidFill>
                <a:srgbClr val="CBD5E1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윤리적이고 창의적인 결과물을 완성하세요.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71500" y="4320540"/>
            <a:ext cx="4705502" cy="1076249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16" name="Shape 12"/>
          <p:cNvSpPr/>
          <p:nvPr/>
        </p:nvSpPr>
        <p:spPr>
          <a:xfrm>
            <a:off x="571500" y="4320540"/>
            <a:ext cx="38405" cy="1076249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7" name="Text 13"/>
          <p:cNvSpPr txBox="1"/>
          <p:nvPr/>
        </p:nvSpPr>
        <p:spPr>
          <a:xfrm>
            <a:off x="800101" y="4825289"/>
            <a:ext cx="441015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막연한 스펙 쌓기가 아닌, NCS 표준을 </a:t>
            </a:r>
            <a:r>
              <a:rPr lang="en-US" sz="105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통해</a:t>
            </a: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</a:t>
            </a: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현장이 요구하는 구체적인 능력단위를 확인하고 준비하세요.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501945" y="1325880"/>
            <a:ext cx="6124651" cy="4515307"/>
          </a:xfrm>
          <a:prstGeom prst="roundRect">
            <a:avLst>
              <a:gd name="adj" fmla="val 513"/>
            </a:avLst>
          </a:prstGeom>
          <a:solidFill>
            <a:srgbClr val="1E3A8A">
              <a:alpha val="2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5740603" y="1611173"/>
            <a:ext cx="171907" cy="1901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006694" y="1563624"/>
            <a:ext cx="284561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7일 액션플랜 (1일 10분 루틴)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8675827" y="2059229"/>
            <a:ext cx="448056" cy="418795"/>
          </a:xfrm>
          <a:prstGeom prst="roundRect">
            <a:avLst>
              <a:gd name="adj" fmla="val 19849"/>
            </a:avLst>
          </a:prstGeom>
          <a:solidFill>
            <a:srgbClr val="1E40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3" name="Shape 18"/>
          <p:cNvSpPr/>
          <p:nvPr/>
        </p:nvSpPr>
        <p:spPr>
          <a:xfrm>
            <a:off x="5740603" y="2630729"/>
            <a:ext cx="437998" cy="418795"/>
          </a:xfrm>
          <a:prstGeom prst="roundRect">
            <a:avLst>
              <a:gd name="adj" fmla="val 19849"/>
            </a:avLst>
          </a:prstGeom>
          <a:solidFill>
            <a:srgbClr val="1E40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4" name="Shape 19"/>
          <p:cNvSpPr/>
          <p:nvPr/>
        </p:nvSpPr>
        <p:spPr>
          <a:xfrm>
            <a:off x="8675827" y="2630729"/>
            <a:ext cx="428854" cy="418795"/>
          </a:xfrm>
          <a:prstGeom prst="roundRect">
            <a:avLst>
              <a:gd name="adj" fmla="val 19849"/>
            </a:avLst>
          </a:prstGeom>
          <a:solidFill>
            <a:srgbClr val="1E40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5" name="Shape 20"/>
          <p:cNvSpPr/>
          <p:nvPr/>
        </p:nvSpPr>
        <p:spPr>
          <a:xfrm>
            <a:off x="5740603" y="3202229"/>
            <a:ext cx="428854" cy="418795"/>
          </a:xfrm>
          <a:prstGeom prst="roundRect">
            <a:avLst>
              <a:gd name="adj" fmla="val 19849"/>
            </a:avLst>
          </a:prstGeom>
          <a:solidFill>
            <a:srgbClr val="1E40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6" name="Shape 21"/>
          <p:cNvSpPr/>
          <p:nvPr/>
        </p:nvSpPr>
        <p:spPr>
          <a:xfrm>
            <a:off x="8675827" y="3202229"/>
            <a:ext cx="428854" cy="418795"/>
          </a:xfrm>
          <a:prstGeom prst="roundRect">
            <a:avLst>
              <a:gd name="adj" fmla="val 19849"/>
            </a:avLst>
          </a:prstGeom>
          <a:solidFill>
            <a:srgbClr val="1E40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7" name="Shape 22"/>
          <p:cNvSpPr/>
          <p:nvPr/>
        </p:nvSpPr>
        <p:spPr>
          <a:xfrm>
            <a:off x="5740603" y="3773729"/>
            <a:ext cx="428854" cy="418795"/>
          </a:xfrm>
          <a:prstGeom prst="roundRect">
            <a:avLst>
              <a:gd name="adj" fmla="val 19849"/>
            </a:avLst>
          </a:prstGeom>
          <a:solidFill>
            <a:srgbClr val="1E40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8" name="Shape 23"/>
          <p:cNvSpPr/>
          <p:nvPr/>
        </p:nvSpPr>
        <p:spPr>
          <a:xfrm>
            <a:off x="5740603" y="5052974"/>
            <a:ext cx="5648249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9" name="Text 24"/>
          <p:cNvSpPr txBox="1"/>
          <p:nvPr/>
        </p:nvSpPr>
        <p:spPr>
          <a:xfrm>
            <a:off x="800100" y="2068373"/>
            <a:ext cx="333298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역량(Competence) vs 기술(Skill)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800100" y="3290011"/>
            <a:ext cx="158739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HITL 기반 협업</a:t>
            </a:r>
            <a:endParaRPr lang="en-US" sz="1400" dirty="0"/>
          </a:p>
        </p:txBody>
      </p:sp>
      <p:sp>
        <p:nvSpPr>
          <p:cNvPr id="31" name="Text 26"/>
          <p:cNvSpPr txBox="1"/>
          <p:nvPr/>
        </p:nvSpPr>
        <p:spPr>
          <a:xfrm>
            <a:off x="800100" y="4510735"/>
            <a:ext cx="214243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NCS 기반 커리어 설계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6281014" y="2162855"/>
            <a:ext cx="255391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관심 </a:t>
            </a:r>
            <a:r>
              <a:rPr lang="en-US" sz="105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직무</a:t>
            </a:r>
            <a:r>
              <a:rPr lang="en-US" sz="105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NCS 능력단위 3개 찾아보기</a:t>
            </a:r>
            <a:endParaRPr lang="en-US" sz="1050" dirty="0"/>
          </a:p>
        </p:txBody>
      </p:sp>
      <p:sp>
        <p:nvSpPr>
          <p:cNvPr id="34" name="Text 29"/>
          <p:cNvSpPr txBox="1"/>
          <p:nvPr/>
        </p:nvSpPr>
        <p:spPr>
          <a:xfrm>
            <a:off x="8752637" y="2097634"/>
            <a:ext cx="2953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2</a:t>
            </a:r>
            <a:endParaRPr lang="en-US" sz="1000" dirty="0"/>
          </a:p>
        </p:txBody>
      </p:sp>
      <p:sp>
        <p:nvSpPr>
          <p:cNvPr id="35" name="Text 30"/>
          <p:cNvSpPr txBox="1"/>
          <p:nvPr/>
        </p:nvSpPr>
        <p:spPr>
          <a:xfrm>
            <a:off x="9215323" y="2050085"/>
            <a:ext cx="293613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나의 '</a:t>
            </a:r>
            <a:r>
              <a:rPr lang="en-US" sz="105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빙산</a:t>
            </a:r>
            <a:r>
              <a:rPr lang="en-US" sz="105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아래</a:t>
            </a:r>
            <a:r>
              <a:rPr lang="en-US" sz="105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’ </a:t>
            </a:r>
            <a:r>
              <a:rPr lang="en-US" sz="105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역량</a:t>
            </a:r>
            <a:endParaRPr lang="en-US" sz="1050" dirty="0">
              <a:solidFill>
                <a:srgbClr val="E2E8F0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(태도/동기) 적어보기</a:t>
            </a:r>
            <a:endParaRPr lang="en-US" sz="1050" dirty="0"/>
          </a:p>
        </p:txBody>
      </p:sp>
      <p:sp>
        <p:nvSpPr>
          <p:cNvPr id="36" name="Text 31"/>
          <p:cNvSpPr txBox="1"/>
          <p:nvPr/>
        </p:nvSpPr>
        <p:spPr>
          <a:xfrm>
            <a:off x="5811926" y="2669134"/>
            <a:ext cx="2953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3</a:t>
            </a:r>
            <a:endParaRPr lang="en-US" sz="1000" dirty="0"/>
          </a:p>
        </p:txBody>
      </p:sp>
      <p:sp>
        <p:nvSpPr>
          <p:cNvPr id="37" name="Text 32"/>
          <p:cNvSpPr txBox="1"/>
          <p:nvPr/>
        </p:nvSpPr>
        <p:spPr>
          <a:xfrm>
            <a:off x="6270041" y="2621585"/>
            <a:ext cx="255117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AI로 아이디어 발산(Diverge) </a:t>
            </a:r>
          </a:p>
          <a:p>
            <a:pPr marL="0" indent="0" algn="l">
              <a:buNone/>
            </a:pPr>
            <a:r>
              <a:rPr lang="en-US" sz="105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</a:t>
            </a:r>
            <a:r>
              <a:rPr lang="en-US" sz="105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실습</a:t>
            </a:r>
            <a:endParaRPr lang="en-US" sz="1050" dirty="0"/>
          </a:p>
        </p:txBody>
      </p:sp>
      <p:sp>
        <p:nvSpPr>
          <p:cNvPr id="38" name="Text 33"/>
          <p:cNvSpPr txBox="1"/>
          <p:nvPr/>
        </p:nvSpPr>
        <p:spPr>
          <a:xfrm>
            <a:off x="8744407" y="2669134"/>
            <a:ext cx="2953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4</a:t>
            </a:r>
            <a:endParaRPr lang="en-US" sz="1000" dirty="0"/>
          </a:p>
        </p:txBody>
      </p:sp>
      <p:sp>
        <p:nvSpPr>
          <p:cNvPr id="39" name="Text 34"/>
          <p:cNvSpPr txBox="1"/>
          <p:nvPr/>
        </p:nvSpPr>
        <p:spPr>
          <a:xfrm>
            <a:off x="9199778" y="2621585"/>
            <a:ext cx="189372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결과물을 비판적으로 검증(Convergence)하기</a:t>
            </a:r>
            <a:endParaRPr lang="en-US" sz="1050" dirty="0"/>
          </a:p>
        </p:txBody>
      </p:sp>
      <p:sp>
        <p:nvSpPr>
          <p:cNvPr id="40" name="Text 35"/>
          <p:cNvSpPr txBox="1"/>
          <p:nvPr/>
        </p:nvSpPr>
        <p:spPr>
          <a:xfrm>
            <a:off x="5809183" y="3240634"/>
            <a:ext cx="2953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5</a:t>
            </a:r>
            <a:endParaRPr lang="en-US" sz="1000" dirty="0"/>
          </a:p>
        </p:txBody>
      </p:sp>
      <p:sp>
        <p:nvSpPr>
          <p:cNvPr id="41" name="Text 36"/>
          <p:cNvSpPr txBox="1"/>
          <p:nvPr/>
        </p:nvSpPr>
        <p:spPr>
          <a:xfrm>
            <a:off x="6263640" y="3193085"/>
            <a:ext cx="31437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AHP </a:t>
            </a:r>
            <a:r>
              <a:rPr lang="en-US" sz="105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기법으로</a:t>
            </a:r>
            <a:r>
              <a:rPr lang="en-US" sz="105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5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이번</a:t>
            </a:r>
            <a:r>
              <a:rPr lang="en-US" sz="105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주말 할 일 우선순위 정하기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8744407" y="3240634"/>
            <a:ext cx="2953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6</a:t>
            </a:r>
            <a:endParaRPr lang="en-US" sz="1000" dirty="0"/>
          </a:p>
        </p:txBody>
      </p:sp>
      <p:sp>
        <p:nvSpPr>
          <p:cNvPr id="43" name="Text 38"/>
          <p:cNvSpPr txBox="1"/>
          <p:nvPr/>
        </p:nvSpPr>
        <p:spPr>
          <a:xfrm>
            <a:off x="9199778" y="3193085"/>
            <a:ext cx="324520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자신의 강점과 AI의 강점을 </a:t>
            </a:r>
            <a:r>
              <a:rPr lang="en-US" sz="105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결합한</a:t>
            </a:r>
            <a:r>
              <a:rPr lang="en-US" sz="105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5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</a:t>
            </a:r>
            <a:r>
              <a:rPr lang="en-US" sz="105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작성</a:t>
            </a:r>
            <a:endParaRPr lang="en-US" sz="1050" dirty="0"/>
          </a:p>
        </p:txBody>
      </p:sp>
      <p:sp>
        <p:nvSpPr>
          <p:cNvPr id="44" name="Text 39"/>
          <p:cNvSpPr txBox="1"/>
          <p:nvPr/>
        </p:nvSpPr>
        <p:spPr>
          <a:xfrm>
            <a:off x="5809183" y="3812134"/>
            <a:ext cx="2953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7</a:t>
            </a:r>
            <a:endParaRPr lang="en-US" sz="1000" dirty="0"/>
          </a:p>
        </p:txBody>
      </p:sp>
      <p:sp>
        <p:nvSpPr>
          <p:cNvPr id="45" name="Text 40"/>
          <p:cNvSpPr txBox="1"/>
          <p:nvPr/>
        </p:nvSpPr>
        <p:spPr>
          <a:xfrm>
            <a:off x="6263640" y="3764585"/>
            <a:ext cx="300380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일주일간의 학습/실습 </a:t>
            </a:r>
            <a:r>
              <a:rPr lang="en-US" sz="105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내용</a:t>
            </a:r>
            <a:r>
              <a:rPr lang="en-US" sz="105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5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포트폴리오로</a:t>
            </a:r>
            <a:r>
              <a:rPr lang="en-US" sz="105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정리</a:t>
            </a:r>
            <a:endParaRPr lang="en-US" sz="1050" dirty="0"/>
          </a:p>
        </p:txBody>
      </p:sp>
      <p:sp>
        <p:nvSpPr>
          <p:cNvPr id="46" name="Text 41"/>
          <p:cNvSpPr txBox="1"/>
          <p:nvPr/>
        </p:nvSpPr>
        <p:spPr>
          <a:xfrm>
            <a:off x="5740603" y="5253228"/>
            <a:ext cx="73426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 &amp; A</a:t>
            </a:r>
            <a:endParaRPr lang="en-US" sz="2000" dirty="0"/>
          </a:p>
        </p:txBody>
      </p:sp>
      <p:sp>
        <p:nvSpPr>
          <p:cNvPr id="47" name="Text 42"/>
          <p:cNvSpPr txBox="1"/>
          <p:nvPr/>
        </p:nvSpPr>
        <p:spPr>
          <a:xfrm>
            <a:off x="7979054" y="5324551"/>
            <a:ext cx="41111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궁금한 점이나 더 알고 싶은 내용이 있다면 지금 질문해주세요.</a:t>
            </a:r>
            <a:endParaRPr lang="en-US" sz="1050" dirty="0"/>
          </a:p>
        </p:txBody>
      </p:sp>
      <p:sp>
        <p:nvSpPr>
          <p:cNvPr id="48" name="Shape 43"/>
          <p:cNvSpPr/>
          <p:nvPr/>
        </p:nvSpPr>
        <p:spPr>
          <a:xfrm>
            <a:off x="571500" y="6024982"/>
            <a:ext cx="11048695" cy="9144"/>
          </a:xfrm>
          <a:prstGeom prst="rect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49" name="Shape 44"/>
          <p:cNvSpPr/>
          <p:nvPr/>
        </p:nvSpPr>
        <p:spPr>
          <a:xfrm>
            <a:off x="571500" y="6176772"/>
            <a:ext cx="1371600" cy="304495"/>
          </a:xfrm>
          <a:prstGeom prst="roundRect">
            <a:avLst>
              <a:gd name="adj" fmla="val 37538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50" name="Text 45"/>
          <p:cNvSpPr txBox="1"/>
          <p:nvPr/>
        </p:nvSpPr>
        <p:spPr>
          <a:xfrm>
            <a:off x="2086661" y="6198718"/>
            <a:ext cx="724753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"AI는 당신을 대체하지 </a:t>
            </a:r>
            <a:r>
              <a:rPr lang="en-US" sz="14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않습니다</a:t>
            </a: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 </a:t>
            </a:r>
            <a:r>
              <a:rPr lang="en-US" sz="1400" b="1" dirty="0" err="1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AI를</a:t>
            </a:r>
            <a:r>
              <a:rPr lang="en-US" sz="14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잘 활용하는 사람</a:t>
            </a: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당신을 대체할 것입니다."</a:t>
            </a:r>
            <a:endParaRPr lang="en-US" sz="1400" dirty="0"/>
          </a:p>
        </p:txBody>
      </p:sp>
      <p:sp>
        <p:nvSpPr>
          <p:cNvPr id="51" name="Text 46"/>
          <p:cNvSpPr txBox="1"/>
          <p:nvPr/>
        </p:nvSpPr>
        <p:spPr>
          <a:xfrm>
            <a:off x="685800" y="6234379"/>
            <a:ext cx="12198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FINAL THOUGHT</a:t>
            </a:r>
            <a:endParaRPr lang="en-US" sz="1000" dirty="0"/>
          </a:p>
        </p:txBody>
      </p:sp>
      <p:sp>
        <p:nvSpPr>
          <p:cNvPr id="52" name="Shape 17">
            <a:extLst>
              <a:ext uri="{FF2B5EF4-FFF2-40B4-BE49-F238E27FC236}">
                <a16:creationId xmlns:a16="http://schemas.microsoft.com/office/drawing/2014/main" id="{6F73ED40-CDA8-56D1-8B08-43CC15ED82A0}"/>
              </a:ext>
            </a:extLst>
          </p:cNvPr>
          <p:cNvSpPr/>
          <p:nvPr/>
        </p:nvSpPr>
        <p:spPr>
          <a:xfrm>
            <a:off x="5741518" y="2020824"/>
            <a:ext cx="448056" cy="418795"/>
          </a:xfrm>
          <a:prstGeom prst="roundRect">
            <a:avLst>
              <a:gd name="adj" fmla="val 19849"/>
            </a:avLst>
          </a:prstGeom>
          <a:solidFill>
            <a:srgbClr val="1E40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53" name="Text 27"/>
          <p:cNvSpPr txBox="1"/>
          <p:nvPr/>
        </p:nvSpPr>
        <p:spPr>
          <a:xfrm>
            <a:off x="5759348" y="2153412"/>
            <a:ext cx="3913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</a:t>
            </a:r>
          </a:p>
          <a:p>
            <a:pPr marL="0" indent="0" algn="ctr">
              <a:buNone/>
            </a:pPr>
            <a:r>
              <a:rPr lang="en-US" sz="1000" b="1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00" dirty="0"/>
          </a:p>
        </p:txBody>
      </p:sp>
      <p:sp>
        <p:nvSpPr>
          <p:cNvPr id="5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1874" b="21874"/>
          <a:stretch/>
        </p:blipFill>
        <p:spPr>
          <a:xfrm>
            <a:off x="-1" y="63611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239012"/>
            <a:ext cx="11048695" cy="9144"/>
          </a:xfrm>
          <a:prstGeom prst="rect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571500" y="381305"/>
            <a:ext cx="376641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정리 및 다음 단계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830275"/>
            <a:ext cx="260604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Summary &amp; Next Steps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rcRect l="-1773" r="-1773"/>
          <a:stretch/>
        </p:blipFill>
        <p:spPr>
          <a:xfrm>
            <a:off x="571500" y="1569110"/>
            <a:ext cx="200254" cy="17190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71500" y="1897380"/>
            <a:ext cx="3562502" cy="1457554"/>
          </a:xfrm>
          <a:prstGeom prst="roundRect">
            <a:avLst>
              <a:gd name="adj" fmla="val 4920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/>
          <a:srcRect l="-7143" r="-7143"/>
          <a:stretch/>
        </p:blipFill>
        <p:spPr>
          <a:xfrm>
            <a:off x="771754" y="2097634"/>
            <a:ext cx="304495" cy="30449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71754" y="2554834"/>
            <a:ext cx="3238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AI는 창의적 발산과 수렴을 가속화하는 도구입니다. 개인의 한계를 넘어 아이디어를 </a:t>
            </a:r>
            <a:r>
              <a:rPr lang="en-US" sz="105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확장하고</a:t>
            </a: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구체화하는</a:t>
            </a: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파트너로 활용하세요.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317797" y="1897380"/>
            <a:ext cx="3562502" cy="1457554"/>
          </a:xfrm>
          <a:prstGeom prst="roundRect">
            <a:avLst>
              <a:gd name="adj" fmla="val 4920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7"/>
          <a:srcRect l="-7143" r="-7143"/>
          <a:stretch/>
        </p:blipFill>
        <p:spPr>
          <a:xfrm>
            <a:off x="4518050" y="2097634"/>
            <a:ext cx="304495" cy="30449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518050" y="2554834"/>
            <a:ext cx="49341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결과물의 최종 검증과 윤리적 책임은 인간에게 있습니다.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비판적</a:t>
            </a: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사고와 질문하는 능력이 곧 경쟁력입니다.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8064094" y="1897380"/>
            <a:ext cx="3562502" cy="1457554"/>
          </a:xfrm>
          <a:prstGeom prst="roundRect">
            <a:avLst>
              <a:gd name="adj" fmla="val 4920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8"/>
          <a:srcRect t="-6250" b="-6250"/>
          <a:stretch/>
        </p:blipFill>
        <p:spPr>
          <a:xfrm>
            <a:off x="8264347" y="2097634"/>
            <a:ext cx="304495" cy="30449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264347" y="2554834"/>
            <a:ext cx="3238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추상적인 역량(Competence)을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구체적인</a:t>
            </a: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직무 기술(Skill)로 연결하세요.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NCS 표준을 기준점 삼아 실무 능력을 체계화해야 합니다.</a:t>
            </a:r>
            <a:endParaRPr lang="en-US" sz="10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9"/>
          <a:srcRect l="-2660" r="-2660"/>
          <a:stretch/>
        </p:blipFill>
        <p:spPr>
          <a:xfrm>
            <a:off x="571500" y="3702406"/>
            <a:ext cx="181051" cy="171907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47649" y="1526134"/>
            <a:ext cx="15627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8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22" name="Text 14"/>
          <p:cNvSpPr txBox="1"/>
          <p:nvPr/>
        </p:nvSpPr>
        <p:spPr>
          <a:xfrm>
            <a:off x="1190549" y="2121408"/>
            <a:ext cx="209763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 증폭기(Amplifier)</a:t>
            </a:r>
            <a:endParaRPr lang="en-US" sz="1300" dirty="0"/>
          </a:p>
        </p:txBody>
      </p:sp>
      <p:sp>
        <p:nvSpPr>
          <p:cNvPr id="23" name="Text 15"/>
          <p:cNvSpPr txBox="1"/>
          <p:nvPr/>
        </p:nvSpPr>
        <p:spPr>
          <a:xfrm>
            <a:off x="4936846" y="2121408"/>
            <a:ext cx="165506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HITL의 주체는 '나'</a:t>
            </a:r>
            <a:endParaRPr lang="en-US" sz="1300" dirty="0"/>
          </a:p>
        </p:txBody>
      </p:sp>
      <p:sp>
        <p:nvSpPr>
          <p:cNvPr id="24" name="Text 16"/>
          <p:cNvSpPr txBox="1"/>
          <p:nvPr/>
        </p:nvSpPr>
        <p:spPr>
          <a:xfrm>
            <a:off x="8683142" y="2121408"/>
            <a:ext cx="171175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NCS 기반 역량 연결</a:t>
            </a:r>
            <a:endParaRPr lang="en-US" sz="1300" dirty="0"/>
          </a:p>
        </p:txBody>
      </p:sp>
      <p:sp>
        <p:nvSpPr>
          <p:cNvPr id="25" name="Text 17"/>
          <p:cNvSpPr txBox="1"/>
          <p:nvPr/>
        </p:nvSpPr>
        <p:spPr>
          <a:xfrm>
            <a:off x="828446" y="3659429"/>
            <a:ext cx="339699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8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 PLAN: 나만의 AI 워크플로우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571500" y="4030675"/>
            <a:ext cx="11048695" cy="1742846"/>
          </a:xfrm>
          <a:prstGeom prst="roundRect">
            <a:avLst>
              <a:gd name="adj" fmla="val 4587"/>
            </a:avLst>
          </a:prstGeom>
          <a:solidFill>
            <a:srgbClr val="0F172A">
              <a:alpha val="3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19"/>
          <p:cNvSpPr/>
          <p:nvPr/>
        </p:nvSpPr>
        <p:spPr>
          <a:xfrm>
            <a:off x="2336292" y="4487875"/>
            <a:ext cx="7500823" cy="9144"/>
          </a:xfrm>
          <a:prstGeom prst="rect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0"/>
          <p:cNvSpPr txBox="1"/>
          <p:nvPr/>
        </p:nvSpPr>
        <p:spPr>
          <a:xfrm>
            <a:off x="1939442" y="4878324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전공 NCS 선택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275234" y="5183734"/>
            <a:ext cx="444032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본인 전공/희망 직무의 NCS </a:t>
            </a:r>
            <a:r>
              <a:rPr lang="en-US" sz="10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능력단위</a:t>
            </a: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1개를 선정하여 목표를 정의합니다.</a:t>
            </a:r>
            <a:endParaRPr lang="en-US" sz="1000" dirty="0"/>
          </a:p>
        </p:txBody>
      </p:sp>
      <p:sp>
        <p:nvSpPr>
          <p:cNvPr id="30" name="Text 22"/>
          <p:cNvSpPr txBox="1"/>
          <p:nvPr/>
        </p:nvSpPr>
        <p:spPr>
          <a:xfrm>
            <a:off x="5622646" y="4878324"/>
            <a:ext cx="952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협업 설계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3631082" y="5183734"/>
            <a:ext cx="4931359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엔지니어링을 통해 문제 해결 </a:t>
            </a:r>
            <a:r>
              <a:rPr lang="en-US" sz="10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과정을</a:t>
            </a: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설계하고</a:t>
            </a: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3가지 대안을 도출합니다.</a:t>
            </a:r>
            <a:endParaRPr lang="en-US" sz="1000" dirty="0"/>
          </a:p>
        </p:txBody>
      </p:sp>
      <p:sp>
        <p:nvSpPr>
          <p:cNvPr id="32" name="Text 24"/>
          <p:cNvSpPr txBox="1"/>
          <p:nvPr/>
        </p:nvSpPr>
        <p:spPr>
          <a:xfrm>
            <a:off x="8983066" y="4878324"/>
            <a:ext cx="14310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및 로그 제출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7342632" y="5183734"/>
            <a:ext cx="470824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산출물과 함께 수정/보완 과정(HITL)이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기록된</a:t>
            </a: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학습 로그를 제출하세요.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2266798" y="4269334"/>
            <a:ext cx="457200" cy="457200"/>
          </a:xfrm>
          <a:prstGeom prst="ellipse">
            <a:avLst/>
          </a:prstGeom>
          <a:solidFill>
            <a:srgbClr val="021227"/>
          </a:solidFill>
          <a:ln w="25400">
            <a:solidFill>
              <a:srgbClr val="3B82F6"/>
            </a:solidFill>
            <a:prstDash val="solid"/>
          </a:ln>
          <a:effectLst>
            <a:outerShdw blurRad="139700" dist="12700" dir="16200000" algn="bl" rotWithShape="0">
              <a:srgbClr val="3B82F6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7"/>
          <p:cNvSpPr txBox="1"/>
          <p:nvPr/>
        </p:nvSpPr>
        <p:spPr>
          <a:xfrm>
            <a:off x="2399386" y="4355287"/>
            <a:ext cx="200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36" name="Shape 28"/>
          <p:cNvSpPr/>
          <p:nvPr/>
        </p:nvSpPr>
        <p:spPr>
          <a:xfrm>
            <a:off x="5867705" y="4269334"/>
            <a:ext cx="457200" cy="457200"/>
          </a:xfrm>
          <a:prstGeom prst="ellipse">
            <a:avLst/>
          </a:prstGeom>
          <a:solidFill>
            <a:srgbClr val="021227"/>
          </a:solidFill>
          <a:ln w="25400">
            <a:solidFill>
              <a:srgbClr val="3B82F6"/>
            </a:solidFill>
            <a:prstDash val="solid"/>
          </a:ln>
          <a:effectLst>
            <a:outerShdw blurRad="139700" dist="12700" dir="16200000" algn="bl" rotWithShape="0">
              <a:srgbClr val="3B82F6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Text 29"/>
          <p:cNvSpPr txBox="1"/>
          <p:nvPr/>
        </p:nvSpPr>
        <p:spPr>
          <a:xfrm>
            <a:off x="6000293" y="4355287"/>
            <a:ext cx="200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38" name="Shape 30"/>
          <p:cNvSpPr/>
          <p:nvPr/>
        </p:nvSpPr>
        <p:spPr>
          <a:xfrm>
            <a:off x="9467698" y="4269334"/>
            <a:ext cx="457200" cy="457200"/>
          </a:xfrm>
          <a:prstGeom prst="ellipse">
            <a:avLst/>
          </a:prstGeom>
          <a:solidFill>
            <a:srgbClr val="021227"/>
          </a:solidFill>
          <a:ln w="25400">
            <a:solidFill>
              <a:srgbClr val="3B82F6"/>
            </a:solidFill>
            <a:prstDash val="solid"/>
          </a:ln>
          <a:effectLst>
            <a:outerShdw blurRad="139700" dist="12700" dir="16200000" algn="bl" rotWithShape="0">
              <a:srgbClr val="3B82F6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1"/>
          <p:cNvSpPr txBox="1"/>
          <p:nvPr/>
        </p:nvSpPr>
        <p:spPr>
          <a:xfrm>
            <a:off x="9600286" y="4355287"/>
            <a:ext cx="200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40" name="Shape 32"/>
          <p:cNvSpPr/>
          <p:nvPr/>
        </p:nvSpPr>
        <p:spPr>
          <a:xfrm>
            <a:off x="571500" y="6090818"/>
            <a:ext cx="11048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71500" y="6322162"/>
            <a:ext cx="123444" cy="123444"/>
          </a:xfrm>
          <a:prstGeom prst="rect">
            <a:avLst/>
          </a:prstGeom>
        </p:spPr>
      </p:pic>
      <p:sp>
        <p:nvSpPr>
          <p:cNvPr id="48" name="Text 14">
            <a:extLst>
              <a:ext uri="{FF2B5EF4-FFF2-40B4-BE49-F238E27FC236}">
                <a16:creationId xmlns:a16="http://schemas.microsoft.com/office/drawing/2014/main" id="{B90410F7-A017-9184-E41A-A82C1578E744}"/>
              </a:ext>
            </a:extLst>
          </p:cNvPr>
          <p:cNvSpPr txBox="1"/>
          <p:nvPr/>
        </p:nvSpPr>
        <p:spPr>
          <a:xfrm>
            <a:off x="825703" y="6263184"/>
            <a:ext cx="623108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</a:t>
            </a:r>
            <a:r>
              <a:rPr lang="en-US" altLang="ko-KR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</a:t>
            </a:r>
            <a:r>
              <a:rPr lang="ko-KR" alt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 창의력</a:t>
            </a:r>
            <a:r>
              <a:rPr lang="en-US" altLang="ko-KR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복합문제능력 향상 과정 </a:t>
            </a:r>
            <a:r>
              <a:rPr lang="en-US" altLang="ko-KR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https://padlet.com/aebon/create26</a:t>
            </a:r>
            <a:endParaRPr lang="en-US" sz="1300" dirty="0"/>
          </a:p>
        </p:txBody>
      </p:sp>
      <p:sp>
        <p:nvSpPr>
          <p:cNvPr id="4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4A098-9F80-CE3A-292F-2A6DF4E11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폰트이(가) 표시된 사진">
            <a:extLst>
              <a:ext uri="{FF2B5EF4-FFF2-40B4-BE49-F238E27FC236}">
                <a16:creationId xmlns:a16="http://schemas.microsoft.com/office/drawing/2014/main" id="{33F10ABA-B961-089E-061A-5E52A7D96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274755" cy="6858000"/>
          </a:xfrm>
          <a:prstGeom prst="rect">
            <a:avLst/>
          </a:prstGeom>
        </p:spPr>
      </p:pic>
      <p:sp>
        <p:nvSpPr>
          <p:cNvPr id="9" name="Shape 7">
            <a:extLst>
              <a:ext uri="{FF2B5EF4-FFF2-40B4-BE49-F238E27FC236}">
                <a16:creationId xmlns:a16="http://schemas.microsoft.com/office/drawing/2014/main" id="{78967A7A-00FD-EDC2-B1FF-41FB1C82D824}"/>
              </a:ext>
            </a:extLst>
          </p:cNvPr>
          <p:cNvSpPr/>
          <p:nvPr/>
        </p:nvSpPr>
        <p:spPr>
          <a:xfrm>
            <a:off x="7328152" y="5205957"/>
            <a:ext cx="4292499" cy="1166218"/>
          </a:xfrm>
          <a:prstGeom prst="roundRect">
            <a:avLst>
              <a:gd name="adj" fmla="val 326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D6B5B6B-8E17-3BFF-D8FA-FB3E92722CE3}"/>
              </a:ext>
            </a:extLst>
          </p:cNvPr>
          <p:cNvGrpSpPr/>
          <p:nvPr/>
        </p:nvGrpSpPr>
        <p:grpSpPr>
          <a:xfrm>
            <a:off x="7448248" y="5605729"/>
            <a:ext cx="4172404" cy="425653"/>
            <a:chOff x="7367780" y="5664707"/>
            <a:chExt cx="4172404" cy="425653"/>
          </a:xfrm>
        </p:grpSpPr>
        <p:sp>
          <p:nvSpPr>
            <p:cNvPr id="6" name="Shape 5">
              <a:extLst>
                <a:ext uri="{FF2B5EF4-FFF2-40B4-BE49-F238E27FC236}">
                  <a16:creationId xmlns:a16="http://schemas.microsoft.com/office/drawing/2014/main" id="{7B8B27B0-803A-2D6F-D84A-8A3854F4BED1}"/>
                </a:ext>
              </a:extLst>
            </p:cNvPr>
            <p:cNvSpPr/>
            <p:nvPr/>
          </p:nvSpPr>
          <p:spPr>
            <a:xfrm>
              <a:off x="7367780" y="5709055"/>
              <a:ext cx="381305" cy="381305"/>
            </a:xfrm>
            <a:prstGeom prst="ellipse">
              <a:avLst/>
            </a:prstGeom>
            <a:solidFill>
              <a:srgbClr val="38BDF8">
                <a:alpha val="1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7" name="Image 2" descr="preencoded.png">
              <a:extLst>
                <a:ext uri="{FF2B5EF4-FFF2-40B4-BE49-F238E27FC236}">
                  <a16:creationId xmlns:a16="http://schemas.microsoft.com/office/drawing/2014/main" id="{3F6D15FB-D656-9764-E267-183C597115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-1064" r="-1064"/>
            <a:stretch/>
          </p:blipFill>
          <p:spPr>
            <a:xfrm>
              <a:off x="7448248" y="5814211"/>
              <a:ext cx="219456" cy="171907"/>
            </a:xfrm>
            <a:prstGeom prst="rect">
              <a:avLst/>
            </a:prstGeom>
          </p:spPr>
        </p:pic>
        <p:sp>
          <p:nvSpPr>
            <p:cNvPr id="8" name="Text 11">
              <a:extLst>
                <a:ext uri="{FF2B5EF4-FFF2-40B4-BE49-F238E27FC236}">
                  <a16:creationId xmlns:a16="http://schemas.microsoft.com/office/drawing/2014/main" id="{86DBF628-372C-6452-C0F3-FF0759A61A5F}"/>
                </a:ext>
              </a:extLst>
            </p:cNvPr>
            <p:cNvSpPr txBox="1"/>
            <p:nvPr/>
          </p:nvSpPr>
          <p:spPr>
            <a:xfrm>
              <a:off x="7901787" y="5664707"/>
              <a:ext cx="3638397" cy="366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20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  <a:t>이 애 본</a:t>
              </a:r>
              <a:br>
                <a:rPr lang="en-US" altLang="ko-KR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</a:br>
              <a:r>
                <a:rPr lang="ko-KR" altLang="en-US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  <a:t>한신대학교 </a:t>
              </a:r>
              <a:r>
                <a:rPr lang="en-US" altLang="ko-KR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  <a:t>AI.SW</a:t>
              </a:r>
              <a:r>
                <a:rPr lang="ko-KR" altLang="en-US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  <a:t>대학 </a:t>
              </a:r>
              <a:r>
                <a:rPr lang="en-US" altLang="ko-KR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hlinkClick r:id="rId5"/>
                </a:rPr>
                <a:t>aebon@hs.ac.kr</a:t>
              </a:r>
              <a:r>
                <a:rPr lang="ko-KR" altLang="en-US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  <a:t> </a:t>
              </a:r>
              <a:endParaRPr lang="en-US" altLang="ko-KR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endParaRPr>
            </a:p>
          </p:txBody>
        </p:sp>
      </p:grpSp>
      <p:sp>
        <p:nvSpPr>
          <p:cNvPr id="1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  <p:extLst>
      <p:ext uri="{BB962C8B-B14F-4D97-AF65-F5344CB8AC3E}">
        <p14:creationId xmlns:p14="http://schemas.microsoft.com/office/powerpoint/2010/main" val="1094924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D36A37E8-5557-994B-737E-AA6F1A915E4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690844F-C30E-4238-94B8-7865C13DE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8344"/>
            <a:ext cx="12192000" cy="6061312"/>
          </a:xfrm>
          <a:prstGeom prst="rect">
            <a:avLst/>
          </a:prstGeom>
        </p:spPr>
      </p:pic>
      <p:sp>
        <p:nvSpPr>
          <p:cNvPr id="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  <p:extLst>
      <p:ext uri="{BB962C8B-B14F-4D97-AF65-F5344CB8AC3E}">
        <p14:creationId xmlns:p14="http://schemas.microsoft.com/office/powerpoint/2010/main" val="40110761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7C33DAA6-B66E-71B8-D1F9-CAEB486B472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그림 2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27C7DE0-8A80-7635-7B42-535B77C60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7552"/>
            <a:ext cx="12192000" cy="6042896"/>
          </a:xfrm>
          <a:prstGeom prst="rect">
            <a:avLst/>
          </a:prstGeom>
        </p:spPr>
      </p:pic>
      <p:sp>
        <p:nvSpPr>
          <p:cNvPr id="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  <p:extLst>
      <p:ext uri="{BB962C8B-B14F-4D97-AF65-F5344CB8AC3E}">
        <p14:creationId xmlns:p14="http://schemas.microsoft.com/office/powerpoint/2010/main" val="30776119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F9EB634A-86FC-27AD-C653-ADB20C13E62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그림 2" descr="텍스트, 스크린샷, 운영 체제, 휴대 전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7A12FB-50ED-46D8-BE68-52877A602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0749"/>
            <a:ext cx="12192000" cy="6156502"/>
          </a:xfrm>
          <a:prstGeom prst="rect">
            <a:avLst/>
          </a:prstGeom>
        </p:spPr>
      </p:pic>
      <p:sp>
        <p:nvSpPr>
          <p:cNvPr id="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  <p:extLst>
      <p:ext uri="{BB962C8B-B14F-4D97-AF65-F5344CB8AC3E}">
        <p14:creationId xmlns:p14="http://schemas.microsoft.com/office/powerpoint/2010/main" val="13833730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5FB6E7F2-F9C2-9B0E-4D08-A9BC9C41D6C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그림 2" descr="텍스트, 도표, 스크린샷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32857B-D178-622F-9A58-2FA85BF59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6708"/>
            <a:ext cx="12192000" cy="6024584"/>
          </a:xfrm>
          <a:prstGeom prst="rect">
            <a:avLst/>
          </a:prstGeom>
        </p:spPr>
      </p:pic>
      <p:sp>
        <p:nvSpPr>
          <p:cNvPr id="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  <p:extLst>
      <p:ext uri="{BB962C8B-B14F-4D97-AF65-F5344CB8AC3E}">
        <p14:creationId xmlns:p14="http://schemas.microsoft.com/office/powerpoint/2010/main" val="950473014"/>
      </p:ext>
    </p:extLst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HOW TO USE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이 자료 사용 방법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수업·강의·자습에 그대로 쓰셔도 됩니다. 출처만 남겨 주세요.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PDF 는 화면으로 읽는 용도, PPTX 는 발표용입니다. PPTX 는 Pretendard 글꼴이 설치된 컴퓨터에서 가장 똑같이 보입니다.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출처 표기 예: 이애본(드림아이티비즈), 「자료 제목」, useful-ai.dreamitbiz.com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프롬프트는 복사해 바로 쓸 수 있습니다. [대괄호]만 내 상황으로 바꾸세요.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모든 자료와 영상 강의는 useful-ai.dreamitbiz.com 에서 다시 받을 수 있습니다.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COPYRIGHT · LICENSE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저작권 · 이용 조건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저작권 © 2026 이애본(드림아이티비즈 DreamIT Biz). 2026년 1월 「생성형 AI와 창의력·복합문제능력 향상 과정」 강의안을 공개용으로 다시 묶은 것입니다.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교육 목적의 비영리 이용을 허용합니다 — 출처를 표기해 주세요.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재배포·판매·변형(내용 수정 후 배포)은 허용하지 않습니다. 필요하면 먼저 문의해 주세요.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외부 서비스 화면 캡처와 상표는 교육 목적 인용이며 각 서비스의 소유입니다. AI 생성 이미지는 생성 도구의 이용 약관을 따릅니다.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문의 aebon@dreamitbiz.com · 카카오톡 ID aebon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CREDITS · CONTACT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출처 · 문의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이애본 (Aebon Lee, Ph.D) — 드림아이티비즈 대표 · 한신대학교 AI·SW대학 겸임교수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useful-ai.dreamitbiz.com — 강의안·영상 강의 라이브러리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aebon@dreamitbiz.com · 카카오톡 ID aebon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© 2026 이애본(드림아이티비즈). 교육 목적 비영리 이용 · 출처 표기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3988</Words>
  <Application>Microsoft Office PowerPoint</Application>
  <PresentationFormat>와이드스크린</PresentationFormat>
  <Paragraphs>778</Paragraphs>
  <Slides>30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4" baseType="lpstr">
      <vt:lpstr>Noto Sans KR</vt:lpstr>
      <vt:lpstr>ui-monospace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이애본</cp:lastModifiedBy>
  <cp:revision>7</cp:revision>
  <dcterms:created xsi:type="dcterms:W3CDTF">2026-01-26T00:40:32Z</dcterms:created>
  <dcterms:modified xsi:type="dcterms:W3CDTF">2026-01-26T08:15:15Z</dcterms:modified>
</cp:coreProperties>
</file>