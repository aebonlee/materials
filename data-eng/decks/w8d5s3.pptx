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8288000" cy="10287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192250" y="-2381250"/>
            <a:ext cx="7429500" cy="7429500"/>
          </a:xfrm>
          <a:prstGeom prst="ellipse">
            <a:avLst/>
          </a:prstGeom>
          <a:solidFill>
            <a:srgbClr val="F1F5FB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5430500" y="-1143000"/>
            <a:ext cx="4953000" cy="49530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5906750" y="5905500"/>
            <a:ext cx="4953000" cy="49530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-1714500" y="2857500"/>
            <a:ext cx="285750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-2857500" y="6953250"/>
            <a:ext cx="6953250" cy="6953250"/>
          </a:xfrm>
          <a:prstGeom prst="ellipse">
            <a:avLst/>
          </a:prstGeom>
          <a:solidFill>
            <a:srgbClr val="EEF2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-1581150" y="8229600"/>
            <a:ext cx="4400550" cy="440055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390900" y="8953500"/>
            <a:ext cx="742950" cy="742950"/>
          </a:xfrm>
          <a:prstGeom prst="ellipse">
            <a:avLst/>
          </a:prstGeom>
          <a:solidFill>
            <a:srgbClr val="EBEEF2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4457700" y="9563100"/>
            <a:ext cx="342900" cy="342900"/>
          </a:xfrm>
          <a:prstGeom prst="ellipse">
            <a:avLst/>
          </a:prstGeom>
          <a:solidFill>
            <a:srgbClr val="E1E9F7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9639300"/>
            <a:ext cx="1619250" cy="28575"/>
          </a:xfrm>
          <a:prstGeom prst="rect">
            <a:avLst/>
          </a:prstGeom>
          <a:solidFill>
            <a:srgbClr val="E6E9E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43000" y="348615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 spc="12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8-5 · 데이터 파이프라인 구축 및 최종 RAG 챗봇 개발 · 실습 1H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43000" y="3905250"/>
            <a:ext cx="16002000" cy="146608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9300" b="1" spc="-347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엔드투엔드 검증·시연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5580888"/>
            <a:ext cx="16002000" cy="5715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30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새 문서 하나가 답변에 나오는가 — 전 구간의 증명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72500" y="7677150"/>
            <a:ext cx="8572500" cy="857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수도권ICT 이노베이션스퀘어</a:t>
            </a:r>
          </a:p>
          <a:p>
            <a:pPr algn="r">
              <a:lnSpc>
                <a:spcPct val="150000"/>
              </a:lnSpc>
            </a:pPr>
            <a:r>
              <a:rPr sz="1950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3기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이 시간의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1시간 뒤에는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8956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0384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1623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①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8956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새 문서 투입 → DAG 실행 → 챗봇 답변 반영을 처음부터 끝까지 성공시킨다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8862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0290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1529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②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8862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두 번 돌려 points_count 가 늘지 않는 것(멱등)을 확인한다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8768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0196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1435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8768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Qdrant 를 내렸다 올려 retries 가 스스로 회복하는 것을 본다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86740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01027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13410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④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86740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산출물을 코드·README·requirements·.env.example 로 패키징한다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76300"/>
          </a:xfrm>
          <a:prstGeom prst="roundRect">
            <a:avLst>
              <a:gd name="adj" fmla="val 5434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72009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재기 전의 값을 남기는 것이 검증의 기본 — 기준선부터 적어 두세요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8-5 · 실습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실습 흐름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여덟 단계 — 한 줄 시나리오를 처음부터 끝까지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실무라면 투입구는 S3 버킷이나 업로드 API — 오늘은 incoming/ 폴더입니다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1·2. 기준선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points_count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「모른다」 대조군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3. 투입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incoming/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lakehouse.txt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4·5. 실행·확인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trigger → sleep 90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다시 물어보기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6·7. 멱등·회복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두 번 돌리기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Qdrant stop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8. 패키징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requirements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.env.example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8-5 · 실습 1H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1~3단계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기준선, 대조군, 그리고 투입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3370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447800" y="318135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447800" y="333375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324100" y="314325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기준선을 적는다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324100" y="354330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collections/lecture_docs 의 points_count 를 적어 둔다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143000" y="4200525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1447800" y="4448175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47800" y="4600575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24100" y="4410075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챗봇에게 먼저 묻는다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324100" y="4810125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「레이크하우스가 뭐야?」 — 지금은 모른다고 답해야 한다(대조군)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143000" y="5467350"/>
            <a:ext cx="11430000" cy="1095375"/>
          </a:xfrm>
          <a:prstGeom prst="roundRect">
            <a:avLst>
              <a:gd name="adj" fmla="val 4347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447800" y="5715000"/>
            <a:ext cx="590550" cy="59055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447800" y="5867400"/>
            <a:ext cx="59055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324100" y="5676900"/>
            <a:ext cx="99060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새 문서를 투입한다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324100" y="6076950"/>
            <a:ext cx="9906000" cy="3619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</a:pPr>
            <a:r>
              <a:rPr sz="202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mkdir -p dags/data/incoming · cat &gt; …/lakehouse.txt · ls 로 확인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3144500" y="2933700"/>
            <a:ext cx="4000500" cy="3629025"/>
          </a:xfrm>
          <a:prstGeom prst="roundRect">
            <a:avLst>
              <a:gd name="adj" fmla="val 1312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3487400" y="3929062"/>
            <a:ext cx="33147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9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대조군이 있어야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487400" y="4329112"/>
            <a:ext cx="3314700" cy="12382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답의 변화를</a:t>
            </a:r>
          </a:p>
          <a:p>
            <a:pPr algn="l">
              <a:lnSpc>
                <a:spcPct val="138000"/>
              </a:lnSpc>
            </a:pPr>
            <a:r>
              <a:rPr sz="27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증명한다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8-5 · 실습 1H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4·5단계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DAG 를 돌리고 다시 묻는다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138338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138338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CLI 별칭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26387" y="2781300"/>
            <a:ext cx="1461861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78787" y="2781300"/>
            <a:ext cx="1431381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CLI="docker compose exec airflow-scheduler airflow"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143000" y="3429000"/>
            <a:ext cx="138338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3429000"/>
            <a:ext cx="138338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임포트 오류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526387" y="3429000"/>
            <a:ext cx="1461861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78787" y="3429000"/>
            <a:ext cx="1431381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$CLI dags list-import-errors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143000" y="4076700"/>
            <a:ext cx="138338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143000" y="4076700"/>
            <a:ext cx="138338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활성화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526387" y="4076700"/>
            <a:ext cx="1461861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678787" y="4076700"/>
            <a:ext cx="1431381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$CLI dags unpause rag_pipeline_final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4724400"/>
            <a:ext cx="138338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43000" y="4724400"/>
            <a:ext cx="138338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실행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26387" y="4724400"/>
            <a:ext cx="1461861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78787" y="4724400"/>
            <a:ext cx="1431381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$CLI dags trigger rag_pipeline_final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143000" y="5372100"/>
            <a:ext cx="138338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143000" y="5372100"/>
            <a:ext cx="138338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기다리기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526387" y="5372100"/>
            <a:ext cx="1461861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678787" y="5372100"/>
            <a:ext cx="1431381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sleep 90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6019800"/>
            <a:ext cx="138338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6019800"/>
            <a:ext cx="138338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세기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526387" y="6019800"/>
            <a:ext cx="1461861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678787" y="6019800"/>
            <a:ext cx="1431381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curl -s …/collections/lecture_docs | grep -o '"points_count":[0-9]*'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143000" y="6667500"/>
            <a:ext cx="1383387" cy="5715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6667500"/>
            <a:ext cx="1383387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다시 묻기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26387" y="6667500"/>
            <a:ext cx="14618613" cy="571500"/>
          </a:xfrm>
          <a:prstGeom prst="rect">
            <a:avLst/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78787" y="6667500"/>
            <a:ext cx="14313813" cy="5715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챗봇 새로고침 → 「레이크하우스가 뭐야?」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Grid 에서 세 태스크가 초록 · points_count 가 1단계보다 늘어 있다 · 이번엔 방금 넣은 문서를 근거로 답하고 적재 시각이 보인다</a:t>
            </a:r>
          </a:p>
        </p:txBody>
      </p:sp>
      <p:sp>
        <p:nvSpPr>
          <p:cNvPr id="37" name="Rectangle 36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8-5 · 실습 1H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한 번의 문답이 전 구간이 살아 있다는 증명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수집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27635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incoming/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*.txt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6433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9293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Lake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9293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2628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lake/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raw.json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41426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4286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변환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64286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621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curated/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docs.json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1066419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89279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임베딩·적재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089279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02614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uuid5 ·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upsert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13914120" y="3028950"/>
            <a:ext cx="209550" cy="209550"/>
          </a:xfrm>
          <a:prstGeom prst="rightArrow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4142720" y="2781300"/>
            <a:ext cx="3002280" cy="7048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4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챗봇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4142720" y="3657600"/>
            <a:ext cx="3002280" cy="1428750"/>
          </a:xfrm>
          <a:prstGeom prst="roundRect">
            <a:avLst>
              <a:gd name="adj" fmla="val 333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4276070" y="3657600"/>
            <a:ext cx="2735580" cy="14287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근거 +</a:t>
            </a:r>
          </a:p>
          <a:p>
            <a:pPr algn="ctr">
              <a:lnSpc>
                <a:spcPct val="135000"/>
              </a:lnSpc>
            </a:pPr>
            <a:r>
              <a:rPr sz="18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적재 시각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5467350"/>
            <a:ext cx="16002000" cy="742950"/>
          </a:xfrm>
          <a:prstGeom prst="roundRect">
            <a:avLst>
              <a:gd name="adj" fmla="val 6410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5467350"/>
            <a:ext cx="16002000" cy="7429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근거 보기를 펼치면 방금 넣은 그 문장과 적재 시각이 보인다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어느 한 구간이라도 끊기면 실패한다 — 그래서 단계별 확인보다 강하다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8-5 · 실습 1H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6단계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두 번 돌려 세어 본다 — 멱등의 증거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최종본 — 내용 기반 uuid5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4300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before → after 숫자가 그대로면 멱등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14300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44780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63353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before=$(curl … points_count)</a:t>
            </a:r>
          </a:p>
        </p:txBody>
      </p:sp>
      <p:sp>
        <p:nvSpPr>
          <p:cNvPr id="13" name="Oval 12"/>
          <p:cNvSpPr/>
          <p:nvPr/>
        </p:nvSpPr>
        <p:spPr>
          <a:xfrm>
            <a:off x="144780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63353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$CLI dags trigger → sleep 90</a:t>
            </a:r>
          </a:p>
        </p:txBody>
      </p:sp>
      <p:sp>
        <p:nvSpPr>
          <p:cNvPr id="15" name="Oval 14"/>
          <p:cNvSpPr/>
          <p:nvPr/>
        </p:nvSpPr>
        <p:spPr>
          <a:xfrm>
            <a:off x="144780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63353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after=… · echo "$before → $after"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772650" y="2857500"/>
            <a:ext cx="7372350" cy="533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315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8-3 버전 — 순번 id 였다면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772650" y="3467100"/>
            <a:ext cx="7372350" cy="8763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6000"/>
              </a:lnSpc>
            </a:pPr>
            <a:r>
              <a:rPr sz="225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문서가 다른 id 로 들어가 늘어났을 것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772650" y="4610100"/>
            <a:ext cx="7372350" cy="2857500"/>
          </a:xfrm>
          <a:prstGeom prst="roundRect">
            <a:avLst>
              <a:gd name="adj" fmla="val 166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0077450" y="5016817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0263188" y="483870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실행마다 points_count 가 는다</a:t>
            </a:r>
          </a:p>
        </p:txBody>
      </p:sp>
      <p:sp>
        <p:nvSpPr>
          <p:cNvPr id="22" name="Oval 21"/>
          <p:cNvSpPr/>
          <p:nvPr/>
        </p:nvSpPr>
        <p:spPr>
          <a:xfrm>
            <a:off x="10077450" y="552735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263188" y="534924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같은 문서가 중복 검색된다</a:t>
            </a:r>
          </a:p>
        </p:txBody>
      </p:sp>
      <p:sp>
        <p:nvSpPr>
          <p:cNvPr id="24" name="Oval 23"/>
          <p:cNvSpPr/>
          <p:nvPr/>
        </p:nvSpPr>
        <p:spPr>
          <a:xfrm>
            <a:off x="10077450" y="6037898"/>
            <a:ext cx="97155" cy="97155"/>
          </a:xfrm>
          <a:prstGeom prst="ellipse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263188" y="5859780"/>
            <a:ext cx="6634162" cy="45339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20000"/>
              </a:lnSpc>
            </a:pPr>
            <a:r>
              <a:rPr sz="15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이론에서 본 「엉뚱한 자리 덮어쓰기」</a:t>
            </a:r>
          </a:p>
        </p:txBody>
      </p:sp>
      <p:sp>
        <p:nvSpPr>
          <p:cNvPr id="26" name="Oval 25"/>
          <p:cNvSpPr/>
          <p:nvPr/>
        </p:nvSpPr>
        <p:spPr>
          <a:xfrm>
            <a:off x="8686800" y="3771900"/>
            <a:ext cx="914400" cy="914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686800" y="4057650"/>
            <a:ext cx="9144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5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VS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8-5 · 실습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7단계 — 일부러 실패시키기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Qdrant 를 내리고 돌려 재시도를 눈으로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43000" y="306705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550" b="1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retries=2, retry_delay 3분이 실제로 무엇을 해 주는지 봅니다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11430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1430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1430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Qdrant 정지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525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compose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stop qdrant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4196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196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트리거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291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dags trigger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(최종 DAG)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62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6962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962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Grid 관찰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57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embed_and_load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노랑(재시도 대기)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109728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972800" y="3924300"/>
            <a:ext cx="2895600" cy="91440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09728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60초 뒤 start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1823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docker compose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start qdrant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4249400" y="3924300"/>
            <a:ext cx="2895600" cy="3143250"/>
          </a:xfrm>
          <a:prstGeom prst="roundRect">
            <a:avLst>
              <a:gd name="adj" fmla="val 1644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4249400" y="3924300"/>
            <a:ext cx="2895600" cy="91440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4249400" y="4171950"/>
            <a:ext cx="28956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47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회복 확인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4458950" y="5143500"/>
            <a:ext cx="2476500" cy="1524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앞 둘은 초록 그대로</a:t>
            </a:r>
          </a:p>
          <a:p>
            <a:pPr algn="ctr">
              <a:lnSpc>
                <a:spcPct val="146000"/>
              </a:lnSpc>
            </a:pPr>
            <a:r>
              <a:rPr sz="21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셋째만 재시도 성공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8-5 · 실습 1H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8단계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제출 폴더 다섯 파일과 마지막 grep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1143000" y="2781300"/>
            <a:ext cx="6362700" cy="590550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43000" y="2781300"/>
            <a:ext cx="63627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파일</a:t>
            </a:r>
          </a:p>
        </p:txBody>
      </p:sp>
      <p:sp>
        <p:nvSpPr>
          <p:cNvPr id="10" name="Rectangle 9"/>
          <p:cNvSpPr/>
          <p:nvPr/>
        </p:nvSpPr>
        <p:spPr>
          <a:xfrm>
            <a:off x="7543800" y="2781300"/>
            <a:ext cx="9601200" cy="5905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43800" y="2781300"/>
            <a:ext cx="9601200" cy="5905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00000"/>
              </a:lnSpc>
            </a:pPr>
            <a:r>
              <a:rPr sz="2025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어떻게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448050"/>
            <a:ext cx="636270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238250" y="3448050"/>
            <a:ext cx="61722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rag_pipeline_final.py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543800" y="3448050"/>
            <a:ext cx="96012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639050" y="3448050"/>
            <a:ext cx="94107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cp ~/airflow-lab/dags/… ./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044043"/>
            <a:ext cx="636270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238250" y="4044043"/>
            <a:ext cx="61722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app.py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543800" y="4044043"/>
            <a:ext cx="96012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639050" y="4044043"/>
            <a:ext cx="94107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오늘 고친 챗봇 그대로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4640036"/>
            <a:ext cx="636270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238250" y="4640036"/>
            <a:ext cx="61722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requirements.txt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543800" y="4640036"/>
            <a:ext cx="96012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639050" y="4640036"/>
            <a:ext cx="94107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pip freeze &gt; requirements.txt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5236029"/>
            <a:ext cx="636270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238250" y="5236029"/>
            <a:ext cx="61722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.env.example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543800" y="5236029"/>
            <a:ext cx="96012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39050" y="5236029"/>
            <a:ext cx="94107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printf 로 키 이름만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143000" y="5832021"/>
            <a:ext cx="636270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238250" y="5832021"/>
            <a:ext cx="61722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README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543800" y="5832021"/>
            <a:ext cx="96012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39050" y="5832021"/>
            <a:ext cx="94107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아키텍처 그림·실행 순서·검증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43000" y="6428014"/>
            <a:ext cx="636270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238250" y="6428014"/>
            <a:ext cx="61722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.env(실제 키)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7543800" y="6428014"/>
            <a:ext cx="96012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39050" y="6428014"/>
            <a:ext cx="94107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제출물·저장소에 넣지 않는다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143000" y="7024007"/>
            <a:ext cx="6362700" cy="519793"/>
          </a:xfrm>
          <a:prstGeom prst="roundRect">
            <a:avLst>
              <a:gd name="adj" fmla="val 7329"/>
            </a:avLst>
          </a:prstGeom>
          <a:solidFill>
            <a:srgbClr val="EDF3FD"/>
          </a:solidFill>
          <a:ln w="9525">
            <a:solidFill>
              <a:srgbClr val="BFD3F5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238250" y="7024007"/>
            <a:ext cx="61722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15000"/>
              </a:lnSpc>
            </a:pPr>
            <a:r>
              <a:rPr sz="18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마지막 확인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7543800" y="7024007"/>
            <a:ext cx="9601200" cy="519793"/>
          </a:xfrm>
          <a:prstGeom prst="roundRect">
            <a:avLst>
              <a:gd name="adj" fmla="val 7329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639050" y="7024007"/>
            <a:ext cx="9410700" cy="519793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>
              <a:lnSpc>
                <a:spcPct val="115000"/>
              </a:lnSpc>
            </a:pPr>
            <a:r>
              <a:rPr sz="1875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grep -rn "sk-" . → 비어 있어야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43000" y="76200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75" b="1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결과가 비어 있으면 제출 준비 완료 — 팀별 시연은 「투입 → 트리거 → 답변 반영」을 처음부터 끝까지 한 번에</a:t>
            </a:r>
          </a:p>
        </p:txBody>
      </p:sp>
      <p:sp>
        <p:nvSpPr>
          <p:cNvPr id="41" name="Rectangle 40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8-5 · 실습 1H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09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5811500" y="8382000"/>
            <a:ext cx="4953000" cy="49530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6859250" y="9429750"/>
            <a:ext cx="2857500" cy="285750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1428750" y="1428750"/>
            <a:ext cx="2857500" cy="2857500"/>
          </a:xfrm>
          <a:prstGeom prst="ellipse">
            <a:avLst/>
          </a:prstGeom>
          <a:solidFill>
            <a:srgbClr val="F7F8FA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838200"/>
            <a:ext cx="16002000" cy="3429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50" b="1" spc="16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확인 포인트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162050"/>
            <a:ext cx="16002000" cy="762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이 1시간이 끝날 때 확인할 것</a:t>
            </a:r>
          </a:p>
        </p:txBody>
      </p:sp>
      <p:sp>
        <p:nvSpPr>
          <p:cNvPr id="7" name="Rectangle 6"/>
          <p:cNvSpPr/>
          <p:nvPr/>
        </p:nvSpPr>
        <p:spPr>
          <a:xfrm>
            <a:off x="1143000" y="203835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1143000" y="29908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90650" y="31337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90650" y="32575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190750" y="29908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적어 둔 기준선보다 points_count 가 늘었다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43000" y="39814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390650" y="41243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90650" y="42481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90750" y="39814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「레이크하우스가 뭐야?」— 전에는 모른다, 후에는 근거와 적재 시각을 보인다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143000" y="49720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390650" y="51149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90650" y="52387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190750" y="49720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두 번째 트리거 뒤 before → after 숫자가 그대로다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1143000" y="59626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390650" y="61055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390650" y="62293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190750" y="59626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Qdrant 를 올리자 embed_and_load 가 스스로 회복했다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143000" y="6953250"/>
            <a:ext cx="16002000" cy="819150"/>
          </a:xfrm>
          <a:prstGeom prst="roundRect">
            <a:avLst>
              <a:gd name="adj" fmla="val 5813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90650" y="7096125"/>
            <a:ext cx="533400" cy="533400"/>
          </a:xfrm>
          <a:prstGeom prst="ellipse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390650" y="7219950"/>
            <a:ext cx="5334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Pretendard"/>
                <a:ea typeface="Pretendard"/>
                <a:cs typeface="Pretendard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190750" y="6953250"/>
            <a:ext cx="14573250" cy="81915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32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제출 폴더 다섯 파일 · grep "sk-" 결과가 비어 있다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143000" y="8058150"/>
            <a:ext cx="16002000" cy="9525"/>
          </a:xfrm>
          <a:prstGeom prst="rect">
            <a:avLst/>
          </a:prstGeom>
          <a:solidFill>
            <a:srgbClr val="DCE1E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143000" y="8248650"/>
            <a:ext cx="1333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데이터 엔지니어링 &amp; RAG 파이프라인 160H · 8-5 · 실습 1H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240000" y="8248650"/>
            <a:ext cx="1905000" cy="3238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725" b="0">
                <a:solidFill>
                  <a:srgbClr val="7D7D7D"/>
                </a:solidFill>
                <a:latin typeface="Pretendard"/>
                <a:ea typeface="Pretendard"/>
                <a:cs typeface="Pretendard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14859000" y="6667500"/>
            <a:ext cx="5905500" cy="5905500"/>
          </a:xfrm>
          <a:prstGeom prst="ellipse">
            <a:avLst/>
          </a:prstGeom>
          <a:solidFill>
            <a:srgbClr val="F3F6FC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095500" y="-2095500"/>
            <a:ext cx="4381500" cy="4381500"/>
          </a:xfrm>
          <a:prstGeom prst="ellipse">
            <a:avLst/>
          </a:prstGeom>
          <a:solidFill>
            <a:srgbClr val="F5F6F8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143000" y="2857500"/>
            <a:ext cx="16002000" cy="28575"/>
          </a:xfrm>
          <a:prstGeom prst="rect">
            <a:avLst/>
          </a:prstGeom>
          <a:solidFill>
            <a:srgbClr val="0D2B5E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3352800"/>
            <a:ext cx="8572500" cy="419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8-5 · 실습 1H 마무리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3771900"/>
            <a:ext cx="16002000" cy="8001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51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다음은 과정 회고·산출물 제출 확인 (0.5H)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4724400"/>
            <a:ext cx="16002000" cy="4381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2400" b="0">
                <a:solidFill>
                  <a:srgbClr val="3D3D3D"/>
                </a:solidFill>
                <a:latin typeface="Pretendard"/>
                <a:ea typeface="Pretendard"/>
                <a:cs typeface="Pretendard"/>
              </a:rPr>
              <a:t>8주 동안 만든 것을 돌아보고, 주차별 산출물이 제출 형태로 갖춰졌는지 확인합니다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1430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4287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050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무엇을 만들었나 — 플랫폼·파이프라인·챗봇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372600" y="52578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58350" y="54864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134600" y="54864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주차별 산출물 제출 확인 표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11430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4287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9050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자주 겪는 오류 네 가지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372600" y="6286500"/>
            <a:ext cx="7772400" cy="819150"/>
          </a:xfrm>
          <a:prstGeom prst="roundRect">
            <a:avLst>
              <a:gd name="adj" fmla="val 6976"/>
            </a:avLst>
          </a:prstGeom>
          <a:solidFill>
            <a:srgbClr val="FAFBFD"/>
          </a:solidFill>
          <a:ln w="9525">
            <a:solidFill>
              <a:srgbClr val="DCE1E8"/>
            </a:solidFill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58350" y="6515100"/>
            <a:ext cx="41910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✓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34600" y="6515100"/>
            <a:ext cx="6724650" cy="381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75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다음에 공부할 것과 심화 과제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143000" y="7715250"/>
            <a:ext cx="47625" cy="819150"/>
          </a:xfrm>
          <a:prstGeom prst="rect">
            <a:avLst/>
          </a:prstGeom>
          <a:solidFill>
            <a:srgbClr val="1E5BC6"/>
          </a:solidFill>
          <a:ln>
            <a:noFill/>
          </a:ln>
          <a:effectLst/>
        </p:spPr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409700" y="7734300"/>
            <a:ext cx="8572500" cy="304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 spc="140">
                <a:solidFill>
                  <a:srgbClr val="1E5BC6"/>
                </a:solidFill>
                <a:latin typeface="Pretendard"/>
                <a:ea typeface="Pretendard"/>
                <a:cs typeface="Pretendard"/>
              </a:rPr>
              <a:t>가져갈 것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409700" y="8077200"/>
            <a:ext cx="8572500" cy="40005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400" b="1">
                <a:solidFill>
                  <a:srgbClr val="0D2B5E"/>
                </a:solidFill>
                <a:latin typeface="Pretendard"/>
                <a:ea typeface="Pretendard"/>
                <a:cs typeface="Pretendard"/>
              </a:rPr>
              <a:t>시연 가능한 제출 폴더(키 없음)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