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7"/>
  </p:notesMasterIdLst>
  <p:sldIdLst>
    <p:sldId id="429" r:id="rId163"/>
    <p:sldId id="430" r:id="rId164"/>
    <p:sldId id="256" r:id="rId2"/>
    <p:sldId id="257" r:id="rId3"/>
    <p:sldId id="258" r:id="rId4"/>
    <p:sldId id="42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422" r:id="rId39"/>
    <p:sldId id="424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407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408" r:id="rId58"/>
    <p:sldId id="310" r:id="rId59"/>
    <p:sldId id="311" r:id="rId60"/>
    <p:sldId id="312" r:id="rId61"/>
    <p:sldId id="313" r:id="rId62"/>
    <p:sldId id="314" r:id="rId63"/>
    <p:sldId id="409" r:id="rId64"/>
    <p:sldId id="316" r:id="rId65"/>
    <p:sldId id="317" r:id="rId66"/>
    <p:sldId id="318" r:id="rId67"/>
    <p:sldId id="319" r:id="rId68"/>
    <p:sldId id="320" r:id="rId69"/>
    <p:sldId id="410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411" r:id="rId87"/>
    <p:sldId id="339" r:id="rId88"/>
    <p:sldId id="340" r:id="rId89"/>
    <p:sldId id="341" r:id="rId90"/>
    <p:sldId id="427" r:id="rId91"/>
    <p:sldId id="428" r:id="rId92"/>
    <p:sldId id="41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413" r:id="rId101"/>
    <p:sldId id="351" r:id="rId102"/>
    <p:sldId id="352" r:id="rId103"/>
    <p:sldId id="353" r:id="rId104"/>
    <p:sldId id="354" r:id="rId105"/>
    <p:sldId id="355" r:id="rId106"/>
    <p:sldId id="356" r:id="rId107"/>
    <p:sldId id="414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415" r:id="rId131"/>
    <p:sldId id="381" r:id="rId132"/>
    <p:sldId id="382" r:id="rId133"/>
    <p:sldId id="383" r:id="rId134"/>
    <p:sldId id="384" r:id="rId135"/>
    <p:sldId id="416" r:id="rId136"/>
    <p:sldId id="386" r:id="rId137"/>
    <p:sldId id="387" r:id="rId138"/>
    <p:sldId id="388" r:id="rId139"/>
    <p:sldId id="389" r:id="rId140"/>
    <p:sldId id="390" r:id="rId141"/>
    <p:sldId id="391" r:id="rId142"/>
    <p:sldId id="417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18" r:id="rId151"/>
    <p:sldId id="401" r:id="rId152"/>
    <p:sldId id="402" r:id="rId153"/>
    <p:sldId id="403" r:id="rId154"/>
    <p:sldId id="404" r:id="rId155"/>
    <p:sldId id="405" r:id="rId156"/>
    <p:sldId id="406" r:id="rId157"/>
    <p:sldId id="431" r:id="rId1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7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77" Type="http://schemas.openxmlformats.org/officeDocument/2006/relationships/notesMaster" Target="notesMasters/notesMaster1.xml"/><Relationship Id="rId178" Type="http://schemas.openxmlformats.org/officeDocument/2006/relationships/presProps" Target="presProps.xml"/><Relationship Id="rId179" Type="http://schemas.openxmlformats.org/officeDocument/2006/relationships/viewProps" Target="viewProps.xml"/><Relationship Id="rId180" Type="http://schemas.openxmlformats.org/officeDocument/2006/relationships/theme" Target="theme/theme1.xml"/><Relationship Id="rId18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64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73.jp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jp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23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jp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1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14.png"/><Relationship Id="rId5" Type="http://schemas.openxmlformats.org/officeDocument/2006/relationships/image" Target="../media/image1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6.jp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72.png"/><Relationship Id="rId6" Type="http://schemas.openxmlformats.org/officeDocument/2006/relationships/image" Target="../media/image1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0.jpg"/><Relationship Id="rId3" Type="http://schemas.openxmlformats.org/officeDocument/2006/relationships/image" Target="../media/image121.png"/><Relationship Id="rId4" Type="http://schemas.openxmlformats.org/officeDocument/2006/relationships/image" Target="../media/image54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25.png"/><Relationship Id="rId5" Type="http://schemas.openxmlformats.org/officeDocument/2006/relationships/image" Target="../media/image10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25.png"/><Relationship Id="rId5" Type="http://schemas.openxmlformats.org/officeDocument/2006/relationships/image" Target="../media/image10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5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3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37.png"/><Relationship Id="rId5" Type="http://schemas.openxmlformats.org/officeDocument/2006/relationships/image" Target="../media/image13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77.png"/><Relationship Id="rId4" Type="http://schemas.openxmlformats.org/officeDocument/2006/relationships/image" Target="../media/image47.png"/><Relationship Id="rId5" Type="http://schemas.openxmlformats.org/officeDocument/2006/relationships/image" Target="../media/image1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4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4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20.jpg"/><Relationship Id="rId4" Type="http://schemas.openxmlformats.org/officeDocument/2006/relationships/image" Target="../media/image128.png"/><Relationship Id="rId5" Type="http://schemas.openxmlformats.org/officeDocument/2006/relationships/image" Target="../media/image144.png"/><Relationship Id="rId6" Type="http://schemas.openxmlformats.org/officeDocument/2006/relationships/image" Target="../media/image28.png"/><Relationship Id="rId7" Type="http://schemas.openxmlformats.org/officeDocument/2006/relationships/image" Target="../media/image1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25.png"/><Relationship Id="rId5" Type="http://schemas.openxmlformats.org/officeDocument/2006/relationships/image" Target="../media/image10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20.jp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04.png"/><Relationship Id="rId7" Type="http://schemas.openxmlformats.org/officeDocument/2006/relationships/image" Target="../media/image1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14.png"/><Relationship Id="rId5" Type="http://schemas.openxmlformats.org/officeDocument/2006/relationships/image" Target="../media/image11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58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73.png"/><Relationship Id="rId5" Type="http://schemas.openxmlformats.org/officeDocument/2006/relationships/image" Target="../media/image74.png"/><Relationship Id="rId6" Type="http://schemas.openxmlformats.org/officeDocument/2006/relationships/image" Target="../media/image17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14.png"/><Relationship Id="rId5" Type="http://schemas.openxmlformats.org/officeDocument/2006/relationships/image" Target="../media/image11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Relationship Id="rId8" Type="http://schemas.openxmlformats.org/officeDocument/2006/relationships/image" Target="../media/image18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86.png"/><Relationship Id="rId5" Type="http://schemas.openxmlformats.org/officeDocument/2006/relationships/image" Target="../media/image187.png"/><Relationship Id="rId6" Type="http://schemas.openxmlformats.org/officeDocument/2006/relationships/image" Target="../media/image188.png"/><Relationship Id="rId7" Type="http://schemas.openxmlformats.org/officeDocument/2006/relationships/image" Target="../media/image18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40.png"/><Relationship Id="rId7" Type="http://schemas.openxmlformats.org/officeDocument/2006/relationships/image" Target="../media/image44.png"/><Relationship Id="rId8" Type="http://schemas.openxmlformats.org/officeDocument/2006/relationships/image" Target="../media/image1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96.png"/><Relationship Id="rId4" Type="http://schemas.openxmlformats.org/officeDocument/2006/relationships/image" Target="../media/image197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25.png"/><Relationship Id="rId5" Type="http://schemas.openxmlformats.org/officeDocument/2006/relationships/image" Target="../media/image10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37.png"/><Relationship Id="rId4" Type="http://schemas.openxmlformats.org/officeDocument/2006/relationships/image" Target="../media/image129.png"/><Relationship Id="rId5" Type="http://schemas.openxmlformats.org/officeDocument/2006/relationships/image" Target="../media/image138.png"/><Relationship Id="rId6" Type="http://schemas.openxmlformats.org/officeDocument/2006/relationships/image" Target="../media/image205.png"/><Relationship Id="rId7" Type="http://schemas.openxmlformats.org/officeDocument/2006/relationships/image" Target="../media/image20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07.png"/><Relationship Id="rId4" Type="http://schemas.openxmlformats.org/officeDocument/2006/relationships/image" Target="../media/image108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5.png"/><Relationship Id="rId7" Type="http://schemas.openxmlformats.org/officeDocument/2006/relationships/image" Target="../media/image155.png"/><Relationship Id="rId8" Type="http://schemas.openxmlformats.org/officeDocument/2006/relationships/image" Target="../media/image21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19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125.png"/><Relationship Id="rId5" Type="http://schemas.openxmlformats.org/officeDocument/2006/relationships/image" Target="../media/image10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35.png"/><Relationship Id="rId4" Type="http://schemas.openxmlformats.org/officeDocument/2006/relationships/image" Target="../media/image42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Relationship Id="rId9" Type="http://schemas.openxmlformats.org/officeDocument/2006/relationships/image" Target="../media/image10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7.png"/><Relationship Id="rId4" Type="http://schemas.openxmlformats.org/officeDocument/2006/relationships/image" Target="../media/image207.png"/><Relationship Id="rId5" Type="http://schemas.openxmlformats.org/officeDocument/2006/relationships/image" Target="../media/image10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46.png"/><Relationship Id="rId5" Type="http://schemas.openxmlformats.org/officeDocument/2006/relationships/image" Target="../media/image247.png"/><Relationship Id="rId6" Type="http://schemas.openxmlformats.org/officeDocument/2006/relationships/image" Target="../media/image248.png"/><Relationship Id="rId7" Type="http://schemas.openxmlformats.org/officeDocument/2006/relationships/image" Target="../media/image249.png"/><Relationship Id="rId8" Type="http://schemas.openxmlformats.org/officeDocument/2006/relationships/image" Target="../media/image25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36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17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65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png"/><Relationship Id="rId8" Type="http://schemas.openxmlformats.org/officeDocument/2006/relationships/image" Target="../media/image26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70.png"/><Relationship Id="rId5" Type="http://schemas.openxmlformats.org/officeDocument/2006/relationships/image" Target="../media/image195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42.jpg"/><Relationship Id="rId4" Type="http://schemas.openxmlformats.org/officeDocument/2006/relationships/image" Target="../media/image274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275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276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77.png"/><Relationship Id="rId5" Type="http://schemas.openxmlformats.org/officeDocument/2006/relationships/image" Target="../media/image27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79.png"/><Relationship Id="rId4" Type="http://schemas.openxmlformats.org/officeDocument/2006/relationships/image" Target="../media/image218.png"/><Relationship Id="rId5" Type="http://schemas.openxmlformats.org/officeDocument/2006/relationships/image" Target="../media/image28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0.png"/><Relationship Id="rId3" Type="http://schemas.openxmlformats.org/officeDocument/2006/relationships/image" Target="../media/image281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82.png"/><Relationship Id="rId4" Type="http://schemas.openxmlformats.org/officeDocument/2006/relationships/image" Target="../media/image221.png"/><Relationship Id="rId5" Type="http://schemas.openxmlformats.org/officeDocument/2006/relationships/image" Target="../media/image28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58.png"/><Relationship Id="rId7" Type="http://schemas.openxmlformats.org/officeDocument/2006/relationships/image" Target="../media/image286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87.png"/><Relationship Id="rId5" Type="http://schemas.openxmlformats.org/officeDocument/2006/relationships/image" Target="../media/image52.png"/><Relationship Id="rId6" Type="http://schemas.openxmlformats.org/officeDocument/2006/relationships/image" Target="../media/image288.png"/><Relationship Id="rId7" Type="http://schemas.openxmlformats.org/officeDocument/2006/relationships/image" Target="../media/image2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207.png"/><Relationship Id="rId5" Type="http://schemas.openxmlformats.org/officeDocument/2006/relationships/image" Target="../media/image10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89.png"/><Relationship Id="rId4" Type="http://schemas.openxmlformats.org/officeDocument/2006/relationships/image" Target="../media/image290.png"/><Relationship Id="rId5" Type="http://schemas.openxmlformats.org/officeDocument/2006/relationships/image" Target="../media/image16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13.png"/><Relationship Id="rId4" Type="http://schemas.openxmlformats.org/officeDocument/2006/relationships/image" Target="../media/image214.png"/><Relationship Id="rId5" Type="http://schemas.openxmlformats.org/officeDocument/2006/relationships/image" Target="../media/image25.png"/><Relationship Id="rId6" Type="http://schemas.openxmlformats.org/officeDocument/2006/relationships/image" Target="../media/image291.png"/><Relationship Id="rId7" Type="http://schemas.openxmlformats.org/officeDocument/2006/relationships/image" Target="../media/image22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07.png"/><Relationship Id="rId4" Type="http://schemas.openxmlformats.org/officeDocument/2006/relationships/image" Target="../media/image163.png"/><Relationship Id="rId5" Type="http://schemas.openxmlformats.org/officeDocument/2006/relationships/image" Target="../media/image292.png"/><Relationship Id="rId6" Type="http://schemas.openxmlformats.org/officeDocument/2006/relationships/image" Target="../media/image29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93.png"/><Relationship Id="rId4" Type="http://schemas.openxmlformats.org/officeDocument/2006/relationships/image" Target="../media/image294.png"/><Relationship Id="rId5" Type="http://schemas.openxmlformats.org/officeDocument/2006/relationships/image" Target="../media/image29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96.png"/><Relationship Id="rId5" Type="http://schemas.openxmlformats.org/officeDocument/2006/relationships/image" Target="../media/image127.png"/><Relationship Id="rId6" Type="http://schemas.openxmlformats.org/officeDocument/2006/relationships/image" Target="../media/image297.png"/><Relationship Id="rId7" Type="http://schemas.openxmlformats.org/officeDocument/2006/relationships/image" Target="../media/image145.png"/><Relationship Id="rId8" Type="http://schemas.openxmlformats.org/officeDocument/2006/relationships/image" Target="../media/image14.png"/><Relationship Id="rId9" Type="http://schemas.openxmlformats.org/officeDocument/2006/relationships/image" Target="../media/image29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99.png"/><Relationship Id="rId4" Type="http://schemas.openxmlformats.org/officeDocument/2006/relationships/image" Target="../media/image300.png"/><Relationship Id="rId5" Type="http://schemas.openxmlformats.org/officeDocument/2006/relationships/image" Target="../media/image30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02.png"/><Relationship Id="rId5" Type="http://schemas.openxmlformats.org/officeDocument/2006/relationships/image" Target="../media/image167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03.png"/><Relationship Id="rId4" Type="http://schemas.openxmlformats.org/officeDocument/2006/relationships/image" Target="../media/image304.png"/><Relationship Id="rId5" Type="http://schemas.openxmlformats.org/officeDocument/2006/relationships/image" Target="../media/image79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7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07.png"/><Relationship Id="rId4" Type="http://schemas.openxmlformats.org/officeDocument/2006/relationships/image" Target="../media/image264.png"/><Relationship Id="rId5" Type="http://schemas.openxmlformats.org/officeDocument/2006/relationships/image" Target="../media/image30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09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36.png"/><Relationship Id="rId5" Type="http://schemas.openxmlformats.org/officeDocument/2006/relationships/image" Target="../media/image312.png"/><Relationship Id="rId6" Type="http://schemas.openxmlformats.org/officeDocument/2006/relationships/image" Target="../media/image313.png"/><Relationship Id="rId7" Type="http://schemas.openxmlformats.org/officeDocument/2006/relationships/image" Target="../media/image54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10.png"/><Relationship Id="rId4" Type="http://schemas.openxmlformats.org/officeDocument/2006/relationships/image" Target="../media/image314.png"/><Relationship Id="rId5" Type="http://schemas.openxmlformats.org/officeDocument/2006/relationships/image" Target="../media/image31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20.jp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Relationship Id="rId7" Type="http://schemas.openxmlformats.org/officeDocument/2006/relationships/image" Target="../media/image31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63.png"/><Relationship Id="rId4" Type="http://schemas.openxmlformats.org/officeDocument/2006/relationships/image" Target="../media/image203.png"/><Relationship Id="rId5" Type="http://schemas.openxmlformats.org/officeDocument/2006/relationships/image" Target="../media/image164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0.png"/><Relationship Id="rId3" Type="http://schemas.openxmlformats.org/officeDocument/2006/relationships/image" Target="../media/image321.png"/><Relationship Id="rId4" Type="http://schemas.openxmlformats.org/officeDocument/2006/relationships/image" Target="../media/image322.png"/><Relationship Id="rId5" Type="http://schemas.openxmlformats.org/officeDocument/2006/relationships/image" Target="../media/image323.png"/><Relationship Id="rId6" Type="http://schemas.openxmlformats.org/officeDocument/2006/relationships/image" Target="../media/image324.png"/><Relationship Id="rId7" Type="http://schemas.openxmlformats.org/officeDocument/2006/relationships/image" Target="../media/image24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27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25.png"/><Relationship Id="rId4" Type="http://schemas.openxmlformats.org/officeDocument/2006/relationships/image" Target="../media/image326.png"/><Relationship Id="rId5" Type="http://schemas.openxmlformats.org/officeDocument/2006/relationships/image" Target="../media/image327.png"/><Relationship Id="rId6" Type="http://schemas.openxmlformats.org/officeDocument/2006/relationships/image" Target="../media/image4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28.png"/><Relationship Id="rId4" Type="http://schemas.openxmlformats.org/officeDocument/2006/relationships/image" Target="../media/image71.png"/><Relationship Id="rId5" Type="http://schemas.openxmlformats.org/officeDocument/2006/relationships/image" Target="../media/image233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26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8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1.png"/><Relationship Id="rId3" Type="http://schemas.openxmlformats.org/officeDocument/2006/relationships/image" Target="../media/image332.png"/><Relationship Id="rId4" Type="http://schemas.openxmlformats.org/officeDocument/2006/relationships/image" Target="../media/image333.png"/><Relationship Id="rId5" Type="http://schemas.openxmlformats.org/officeDocument/2006/relationships/image" Target="../media/image334.png"/><Relationship Id="rId6" Type="http://schemas.openxmlformats.org/officeDocument/2006/relationships/image" Target="../media/image93.png"/><Relationship Id="rId7" Type="http://schemas.openxmlformats.org/officeDocument/2006/relationships/image" Target="../media/image335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36.png"/><Relationship Id="rId5" Type="http://schemas.openxmlformats.org/officeDocument/2006/relationships/image" Target="../media/image13.png"/><Relationship Id="rId6" Type="http://schemas.openxmlformats.org/officeDocument/2006/relationships/image" Target="../media/image337.png"/><Relationship Id="rId7" Type="http://schemas.openxmlformats.org/officeDocument/2006/relationships/image" Target="../media/image33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16.png"/><Relationship Id="rId4" Type="http://schemas.openxmlformats.org/officeDocument/2006/relationships/image" Target="../media/image339.png"/><Relationship Id="rId5" Type="http://schemas.openxmlformats.org/officeDocument/2006/relationships/image" Target="../media/image340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226.png"/><Relationship Id="rId5" Type="http://schemas.openxmlformats.org/officeDocument/2006/relationships/image" Target="../media/image341.png"/><Relationship Id="rId6" Type="http://schemas.openxmlformats.org/officeDocument/2006/relationships/image" Target="../media/image215.png"/><Relationship Id="rId7" Type="http://schemas.openxmlformats.org/officeDocument/2006/relationships/image" Target="../media/image34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343.png"/><Relationship Id="rId4" Type="http://schemas.openxmlformats.org/officeDocument/2006/relationships/image" Target="../media/image195.png"/><Relationship Id="rId5" Type="http://schemas.openxmlformats.org/officeDocument/2006/relationships/image" Target="../media/image206.png"/><Relationship Id="rId6" Type="http://schemas.openxmlformats.org/officeDocument/2006/relationships/image" Target="../media/image344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45.png"/><Relationship Id="rId5" Type="http://schemas.openxmlformats.org/officeDocument/2006/relationships/image" Target="../media/image346.png"/><Relationship Id="rId6" Type="http://schemas.openxmlformats.org/officeDocument/2006/relationships/image" Target="../media/image347.png"/><Relationship Id="rId7" Type="http://schemas.openxmlformats.org/officeDocument/2006/relationships/image" Target="../media/image348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349.png"/><Relationship Id="rId4" Type="http://schemas.openxmlformats.org/officeDocument/2006/relationships/image" Target="../media/image272.png"/><Relationship Id="rId5" Type="http://schemas.openxmlformats.org/officeDocument/2006/relationships/image" Target="../media/image22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02.png"/><Relationship Id="rId5" Type="http://schemas.openxmlformats.org/officeDocument/2006/relationships/image" Target="../media/image205.png"/><Relationship Id="rId6" Type="http://schemas.openxmlformats.org/officeDocument/2006/relationships/image" Target="../media/image350.png"/><Relationship Id="rId7" Type="http://schemas.openxmlformats.org/officeDocument/2006/relationships/image" Target="../media/image139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54.png"/><Relationship Id="rId5" Type="http://schemas.openxmlformats.org/officeDocument/2006/relationships/image" Target="../media/image351.png"/><Relationship Id="rId6" Type="http://schemas.openxmlformats.org/officeDocument/2006/relationships/image" Target="../media/image214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352.png"/><Relationship Id="rId4" Type="http://schemas.openxmlformats.org/officeDocument/2006/relationships/image" Target="../media/image353.png"/><Relationship Id="rId5" Type="http://schemas.openxmlformats.org/officeDocument/2006/relationships/image" Target="../media/image234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354.png"/><Relationship Id="rId4" Type="http://schemas.openxmlformats.org/officeDocument/2006/relationships/image" Target="../media/image64.png"/><Relationship Id="rId5" Type="http://schemas.openxmlformats.org/officeDocument/2006/relationships/image" Target="../media/image200.png"/><Relationship Id="rId6" Type="http://schemas.openxmlformats.org/officeDocument/2006/relationships/image" Target="../media/image355.png"/><Relationship Id="rId7" Type="http://schemas.openxmlformats.org/officeDocument/2006/relationships/image" Target="../media/image356.png"/><Relationship Id="rId8" Type="http://schemas.openxmlformats.org/officeDocument/2006/relationships/image" Target="../media/image357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36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58.png"/><Relationship Id="rId5" Type="http://schemas.openxmlformats.org/officeDocument/2006/relationships/image" Target="../media/image359.png"/><Relationship Id="rId6" Type="http://schemas.openxmlformats.org/officeDocument/2006/relationships/image" Target="../media/image360.png"/><Relationship Id="rId7" Type="http://schemas.openxmlformats.org/officeDocument/2006/relationships/image" Target="../media/image361.png"/><Relationship Id="rId8" Type="http://schemas.openxmlformats.org/officeDocument/2006/relationships/image" Target="../media/image362.png"/><Relationship Id="rId9" Type="http://schemas.openxmlformats.org/officeDocument/2006/relationships/image" Target="../media/image65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8.png"/><Relationship Id="rId4" Type="http://schemas.openxmlformats.org/officeDocument/2006/relationships/image" Target="../media/image363.png"/><Relationship Id="rId5" Type="http://schemas.openxmlformats.org/officeDocument/2006/relationships/image" Target="../media/image29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289.png"/><Relationship Id="rId4" Type="http://schemas.openxmlformats.org/officeDocument/2006/relationships/image" Target="../media/image364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701fb51c6fadd9cd6356b3b5b126a8b.png"/>
          <p:cNvPicPr>
            <a:picLocks noChangeAspect="1"/>
          </p:cNvPicPr>
          <p:nvPr/>
        </p:nvPicPr>
        <p:blipFill>
          <a:blip r:embed="rId3"/>
          <a:srcRect t="-403" b="-403"/>
          <a:stretch/>
        </p:blipFill>
        <p:spPr>
          <a:xfrm>
            <a:off x="761695" y="1619402"/>
            <a:ext cx="53336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5" y="1580998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9701fb51c6fadd9cd6356b3b5b126a8b.png"/>
          <p:cNvPicPr>
            <a:picLocks noChangeAspect="1"/>
          </p:cNvPicPr>
          <p:nvPr/>
        </p:nvPicPr>
        <p:blipFill>
          <a:blip r:embed="rId3"/>
          <a:srcRect t="-403" b="-403"/>
          <a:stretch/>
        </p:blipFill>
        <p:spPr>
          <a:xfrm>
            <a:off x="761695" y="4619549"/>
            <a:ext cx="5333695" cy="192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6305" y="4581144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810805" y="952805"/>
            <a:ext cx="3429000" cy="34290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048195" y="3333902"/>
            <a:ext cx="1524305" cy="152430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0287000" y="4000500"/>
            <a:ext cx="952805" cy="9528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1239805" y="1333195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1143000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질적 연구 AI 활용 과정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2000707"/>
            <a:ext cx="6667805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1.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질적 연구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및 코딩 통합 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500085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대학원생·연구자·교수자 | 방식: 실습 중심 | 시간: 5시간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5352898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 설계부터 코딩까지, AI와 함께하는 첫 번째 모듈</a:t>
            </a:r>
            <a:endParaRPr lang="en-US" sz="1500" dirty="0"/>
          </a:p>
        </p:txBody>
      </p:sp>
      <p:pic>
        <p:nvPicPr>
          <p:cNvPr id="19" name="Image 2" descr="gen-dedup-f1c4e1fb7f1f8dddc1289bc6564a8427.png"/>
          <p:cNvPicPr>
            <a:picLocks noChangeAspect="1"/>
          </p:cNvPicPr>
          <p:nvPr/>
        </p:nvPicPr>
        <p:blipFill>
          <a:blip r:embed="rId4"/>
          <a:srcRect t="-19" b="-19"/>
          <a:stretch/>
        </p:blipFill>
        <p:spPr>
          <a:xfrm>
            <a:off x="8930030" y="2190902"/>
            <a:ext cx="1190549" cy="952805"/>
          </a:xfrm>
          <a:prstGeom prst="rect">
            <a:avLst/>
          </a:prstGeom>
        </p:spPr>
      </p:pic>
      <p:pic>
        <p:nvPicPr>
          <p:cNvPr id="20" name="Image 3" descr="gen-dedup-7adf3d330f61b8d952cef158576f6dd8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7453274" y="3810305"/>
            <a:ext cx="714146" cy="571500"/>
          </a:xfrm>
          <a:prstGeom prst="rect">
            <a:avLst/>
          </a:prstGeom>
        </p:spPr>
      </p:pic>
      <p:pic>
        <p:nvPicPr>
          <p:cNvPr id="21" name="Image 4" descr="gen-dedup-3d6a075f07ab400a3acad8ef9a5324c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3207" y="4286707"/>
            <a:ext cx="381305" cy="381305"/>
          </a:xfrm>
          <a:prstGeom prst="rect">
            <a:avLst/>
          </a:prstGeom>
        </p:spPr>
      </p:pic>
      <p:sp>
        <p:nvSpPr>
          <p:cNvPr id="22" name="C 저자"/>
          <p:cNvSpPr txBox="1"/>
          <p:nvPr/>
        </p:nvSpPr>
        <p:spPr>
          <a:xfrm>
            <a:off x="7112000" y="6070600"/>
            <a:ext cx="4318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sz="1300" b="1">
                <a:solidFill>
                  <a:srgbClr val="A83232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476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5143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과정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</a:t>
            </a:r>
            <a:endParaRPr lang="en-US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20시간 4개 모듈 과정</a:t>
            </a:r>
            <a:endParaRPr lang="en-US" sz="1800" dirty="0"/>
          </a:p>
        </p:txBody>
      </p:sp>
      <p:pic>
        <p:nvPicPr>
          <p:cNvPr id="16" name="Image 3" descr="gen-dedup-5bdaaaa44ced774048ea86cb26db4ca8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5490972" y="1228954"/>
            <a:ext cx="105156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(5H)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001207" y="12856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질적 연구 설계 및 코딩 통합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6001207" y="2381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(5H)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01207" y="261975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분석과 담화 분석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6001207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(5H)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001207" y="3952951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분석과 내러티브 구성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6001207" y="50484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 (5H)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001207" y="52861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신뢰도 검증과 질적 보고서 작성</a:t>
            </a:r>
            <a:endParaRPr lang="en-US" sz="24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190695" y="6191402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학습목표</a:t>
            </a:r>
            <a:endParaRPr lang="en-US" sz="4200" dirty="0"/>
          </a:p>
        </p:txBody>
      </p:sp>
      <p:pic>
        <p:nvPicPr>
          <p:cNvPr id="25" name="Image 2" descr="gen-dedup-be1003169b422e13ca044d65570844c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3195" y="255300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질적 연구 유형과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범위 이해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사례연구, 근거이론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유형과 AI가 보조할 수 있는 영역을 파악합니다.</a:t>
            </a:r>
            <a:endParaRPr lang="en-US" sz="1200" dirty="0"/>
          </a:p>
        </p:txBody>
      </p:sp>
      <p:pic>
        <p:nvPicPr>
          <p:cNvPr id="28" name="Image 3" descr="gen-dedup-a6c706ded4d8486c7ec1eecb13fdc51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629254" y="2553005"/>
            <a:ext cx="286207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연구 윤리와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적용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동의, 비밀보장, 최소위험 원칙과 텍스트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적용합니다.</a:t>
            </a:r>
            <a:endParaRPr lang="en-US" sz="1200" dirty="0"/>
          </a:p>
        </p:txBody>
      </p:sp>
      <p:pic>
        <p:nvPicPr>
          <p:cNvPr id="31" name="Image 4" descr="gen-dedup-dda388de01df0e09b11e5ad6af13d6b2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5952744" y="2553005"/>
            <a:ext cx="2862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인터뷰 설계 및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자료수집 전략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반구조화 인터뷰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삼각검증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자료수집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수립합니다.</a:t>
            </a:r>
            <a:endParaRPr lang="en-US" sz="1200" dirty="0"/>
          </a:p>
        </p:txBody>
      </p:sp>
      <p:pic>
        <p:nvPicPr>
          <p:cNvPr id="34" name="Image 5" descr="gen-dedup-969407f493b94921da0fd5b6b6237f8e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8291779" y="2553005"/>
            <a:ext cx="256946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코딩 체계와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 설계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개방코딩, 범주화, 코드북 구성 요소를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7" name="Image 6" descr="gen-dedup-94a339420a0675138cfcb85146b4eb2e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10601554" y="2553005"/>
            <a:ext cx="286207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AI 전사 및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자동화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전사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자동화의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가능성과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파악합니다.</a:t>
            </a:r>
            <a:endParaRPr lang="en-US" sz="12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43707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1859890" y="3619195"/>
            <a:ext cx="847191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연구와 생성형 AI의 만남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333695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 본질·유형·강점·한계와 설계 초안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2894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연구와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만남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질적 연구의 도구이지,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대체자가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아닙니다"</a:t>
            </a:r>
            <a:endParaRPr lang="en-US" sz="1500" dirty="0"/>
          </a:p>
        </p:txBody>
      </p:sp>
      <p:pic>
        <p:nvPicPr>
          <p:cNvPr id="14" name="Image 1" descr="gen-dedup-806fbf1771815e7af7a8bd219610763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 본질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맥락·경험·의미 중심의 해석적 접근으로 참여자의 목소리와 살아있는 경험을 탐구합니다.</a:t>
            </a:r>
            <a:endParaRPr lang="en-US" sz="1500" dirty="0"/>
          </a:p>
        </p:txBody>
      </p:sp>
      <p:pic>
        <p:nvPicPr>
          <p:cNvPr id="17" name="Image 2" descr="gen-dedup-b17a31dbd0d34f5fea3e5e0c179fa35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AI의 기여 가능성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구조화·요약·초안 생성·비교 분석 등 반복적 작업을 보조하여 연구자의 분석 시간을 절약합니다.</a:t>
            </a:r>
            <a:endParaRPr lang="en-US" sz="1500" dirty="0"/>
          </a:p>
        </p:txBody>
      </p:sp>
      <p:pic>
        <p:nvPicPr>
          <p:cNvPr id="20" name="Image 3" descr="gen-dedup-cba54cddafd0bf3d44da91b1e0baaf4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인간 연구자가 해석을 주도하고 AI는 보조 역할에 머물러야 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판단의 책임은 연구자에게 있습니다.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90469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190469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190469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190469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190469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190695" y="6429146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 주요 유형 지도</a:t>
            </a:r>
            <a:endParaRPr lang="en-US" sz="4200" dirty="0"/>
          </a:p>
        </p:txBody>
      </p:sp>
      <p:pic>
        <p:nvPicPr>
          <p:cNvPr id="25" name="Image 2" descr="gen-dedup-49b874970f35532dc5f3944ad80fa9c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3195" y="236189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사례연구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357530" y="3524098"/>
            <a:ext cx="21817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경계 있는 </a:t>
            </a: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사례의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심층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기술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71500" y="3863340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맥락 안의 현상을 집중적으로 탐구합니다.</a:t>
            </a:r>
            <a:endParaRPr lang="en-US" sz="1100" dirty="0"/>
          </a:p>
        </p:txBody>
      </p:sp>
      <p:pic>
        <p:nvPicPr>
          <p:cNvPr id="29" name="Image 3" descr="gen-dedup-0bd6dcd111eee60d5871318a5fb591dc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3642970" y="2361895"/>
            <a:ext cx="256946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800807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근거이론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2895905" y="3423890"/>
            <a:ext cx="17529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지속적 </a:t>
            </a: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비교를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통한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이론 생성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2895905" y="4007277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자료에서 개념과 범주를 귀납적으로 도출합니다.</a:t>
            </a:r>
            <a:endParaRPr lang="en-US" sz="1100" dirty="0"/>
          </a:p>
        </p:txBody>
      </p:sp>
      <p:pic>
        <p:nvPicPr>
          <p:cNvPr id="33" name="Image 4" descr="gen-dedup-1e001f9faf79cee51ee88ed377a731d1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967374" y="2361895"/>
            <a:ext cx="256946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24298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내러티브 연구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5052974" y="3524098"/>
            <a:ext cx="20866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시간성·사건·의미의 서사화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219395" y="3863340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개인의 경험을 이야기 구조로 재구성합니다.</a:t>
            </a:r>
            <a:endParaRPr lang="en-US" sz="1100" dirty="0"/>
          </a:p>
        </p:txBody>
      </p:sp>
      <p:pic>
        <p:nvPicPr>
          <p:cNvPr id="37" name="Image 5" descr="gen-dedup-8cf09da8dacfea4c2065c466ed9605cb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05495" y="2361895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448702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실행연구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329830" y="3524098"/>
            <a:ext cx="21817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변화·실천 중심 순환적 과정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543800" y="3863340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현장의 문제를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참여자와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함께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해결합니다.</a:t>
            </a:r>
            <a:endParaRPr lang="en-US" sz="1100" dirty="0"/>
          </a:p>
        </p:txBody>
      </p:sp>
      <p:pic>
        <p:nvPicPr>
          <p:cNvPr id="41" name="Image 6" descr="gen-dedup-86b903bc1df94f77c034f1c7756e7823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10615270" y="2361895"/>
            <a:ext cx="256946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773107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자문화기술지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9868205" y="3524098"/>
            <a:ext cx="17529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 </a:t>
            </a: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경험과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사회문화</a:t>
            </a:r>
            <a:r>
              <a:rPr lang="en-US" sz="1200" b="1" dirty="0">
                <a:solidFill>
                  <a:srgbClr val="1A1A1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 연결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9868205" y="4107485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자신의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학술적으로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분석합니다.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761695" y="5952744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유형은 연구 질문의 성격에 따라 선택합니다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857707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524098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858207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강점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연구는 숫자가 포착하지 못하는 의미와 맥락을 드러냅니다</a:t>
            </a:r>
            <a:endParaRPr lang="en-US" sz="1500" dirty="0"/>
          </a:p>
        </p:txBody>
      </p:sp>
      <p:pic>
        <p:nvPicPr>
          <p:cNvPr id="15" name="Image 1" descr="gen-dedup-ca4eef62cc54ff825abe4b087b26772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6749" y="981151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905256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맥락적 이해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285646"/>
            <a:ext cx="5811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상황과 환경 속에서 현상의 의미를 파악하고 맥락에 기반한 해석을 제공합니다.</a:t>
            </a:r>
            <a:endParaRPr lang="en-US" sz="1300" dirty="0"/>
          </a:p>
        </p:txBody>
      </p:sp>
      <p:pic>
        <p:nvPicPr>
          <p:cNvPr id="18" name="Image 2" descr="gen-dedup-44d99cdfa05b2d4c44525491dc9a5665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048402" y="2314346"/>
            <a:ext cx="286207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238451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재구성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619756"/>
            <a:ext cx="62810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살아있는 경험을 그들의 목소리로 복원하고 미시적으로 기술합니다.</a:t>
            </a:r>
            <a:endParaRPr lang="en-US" sz="1300" dirty="0"/>
          </a:p>
        </p:txBody>
      </p:sp>
      <p:pic>
        <p:nvPicPr>
          <p:cNvPr id="21" name="Image 3" descr="gen-dedup-e4649d55ff88279b4db8447490b3e43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6749" y="364845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571646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중심 설명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952951"/>
            <a:ext cx="5811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결과보다 과정에 초점을 맞추어 변화와 역동을 포착하고 설명합니다.</a:t>
            </a:r>
            <a:endParaRPr lang="en-US" sz="1300" dirty="0"/>
          </a:p>
        </p:txBody>
      </p:sp>
      <p:pic>
        <p:nvPicPr>
          <p:cNvPr id="24" name="Image 4" descr="gen-dedup-6de16bc0e42ab11d09b2f73001072bf7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062118" y="4981651"/>
            <a:ext cx="256946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905756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다층적 자료 활용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286146"/>
            <a:ext cx="5811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인터뷰·관찰·문서 등 다양한 자료를 교차하여 해석의 두께를 확보합니다.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952805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429000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667098"/>
            <a:ext cx="476402" cy="47640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오해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695444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"한계를 인정하되, 오해와 구분하는 것이 연구자의 역량입니다"</a:t>
            </a:r>
            <a:endParaRPr lang="en-US" sz="1300" dirty="0"/>
          </a:p>
        </p:txBody>
      </p:sp>
      <p:pic>
        <p:nvPicPr>
          <p:cNvPr id="15" name="Image 1" descr="gen-dedup-6a2b4b50520b78ec8698cc8db9e8450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6749" y="1076249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952805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일반화의 범위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333195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통계적 일반화는 제한되지만, 분석적 일반화와 전이 가능성으로 대응할 수 있습니다.</a:t>
            </a:r>
            <a:endParaRPr lang="en-US" sz="1300" dirty="0"/>
          </a:p>
        </p:txBody>
      </p:sp>
      <p:pic>
        <p:nvPicPr>
          <p:cNvPr id="18" name="Image 2" descr="gen-dedup-d0434cff0a8cd2619d00fb80a8624f48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048402" y="2314346"/>
            <a:ext cx="286207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90902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주관성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72207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주관성은 제거가 아니라 성찰을 통해 관리하는 것이며, 이를 명시하는 것이 엄격성입니다.</a:t>
            </a:r>
            <a:endParaRPr lang="en-US" sz="1300" dirty="0"/>
          </a:p>
        </p:txBody>
      </p:sp>
      <p:pic>
        <p:nvPicPr>
          <p:cNvPr id="21" name="Image 3" descr="gen-dedup-7a1fd35b7e8ad364d48ff4b3337c4a5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6749" y="355244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429000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시간과 노동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810305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수집과 분석에 상당한 시간이 소요되며, 이를 AI가 부분적으로 보조할 수 있습니다.</a:t>
            </a:r>
            <a:endParaRPr lang="en-US" sz="1300" dirty="0"/>
          </a:p>
        </p:txBody>
      </p:sp>
      <p:pic>
        <p:nvPicPr>
          <p:cNvPr id="24" name="Image 4" descr="gen-dedup-3320d832d4fa0979f723caae99cf6db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76749" y="479145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667098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재현성 문제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048402"/>
            <a:ext cx="65891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조건 반복이 어렵지만, 감사 추적과 절차 투명성으로 일관성을 확보합니다.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eb5ad9e72217b0b5faf8252af55d524f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5524805" y="666598"/>
            <a:ext cx="38405" cy="53336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952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048256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143707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4238244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53336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흐름도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4286707"/>
            <a:ext cx="3479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 설정에서 보고까지 5단계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857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문제 설정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0762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 정의, 선행연구 검토, 연구 범위 설정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952244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자료수집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1717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인터뷰, 관찰, 문서자료 수집 및 전사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3047695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코딩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2671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개방코딩, 반복적 비교, 범주화, 코드북 작성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4143146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해석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36260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도출, 패턴 분석, 맥락적 의미 부여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52385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5. 보고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45805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서술, 인용문 배치, 논의 및 시사점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857707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333902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572000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질문의 특징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질적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질문에서 시작됩니다"</a:t>
            </a:r>
            <a:endParaRPr lang="en-US" sz="1500" dirty="0"/>
          </a:p>
        </p:txBody>
      </p:sp>
      <p:pic>
        <p:nvPicPr>
          <p:cNvPr id="15" name="Image 1" descr="gen-dedup-57959ddeed217c1c0ad7cccdeb08204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6749" y="981151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905256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질문의 방향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285646"/>
            <a:ext cx="69805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'왜', '어떻게', '어떤 경험인가'를 묻는 탐구적 질문이 질적 연구의 출발점입니다.</a:t>
            </a:r>
            <a:endParaRPr lang="en-US" sz="1300" dirty="0"/>
          </a:p>
        </p:txBody>
      </p:sp>
      <p:pic>
        <p:nvPicPr>
          <p:cNvPr id="18" name="Image 2" descr="gen-dedup-e8dbeb44c552b7afa528cd6fa6e8f755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5076749" y="2219249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43354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맥락성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23744"/>
            <a:ext cx="6363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상황·시간·공간 속에서 의미를 탐구할 수 있는 맥락이 명확해야 합니다.</a:t>
            </a:r>
            <a:endParaRPr lang="en-US" sz="1300" dirty="0"/>
          </a:p>
        </p:txBody>
      </p:sp>
      <p:pic>
        <p:nvPicPr>
          <p:cNvPr id="21" name="Image 3" descr="gen-dedup-eca1635ee4b4677b40244aebd6703b89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5076749" y="345734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381451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접근성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762756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질문에 답할 수 있는 참여자에게 실제로 접근 가능해야 합니다.</a:t>
            </a:r>
            <a:endParaRPr lang="en-US" sz="1300" dirty="0"/>
          </a:p>
        </p:txBody>
      </p:sp>
      <p:pic>
        <p:nvPicPr>
          <p:cNvPr id="24" name="Image 4" descr="gen-dedup-aa3301eacfea31f3b674bf849eae43d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76749" y="4695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619549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 탐구 가능성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000854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참여자에게 위험을 최소화하면서 탐구할 수 있는 주제여야 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438498" y="2000707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38498" y="2000707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15300" y="2000707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15300" y="2000707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4000500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61695" y="4000500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38498" y="4000500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38498" y="4000500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15300" y="4000500"/>
            <a:ext cx="3295498" cy="1857146"/>
          </a:xfrm>
          <a:prstGeom prst="roundRect">
            <a:avLst>
              <a:gd name="adj" fmla="val 404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115300" y="4000500"/>
            <a:ext cx="3295498" cy="47549"/>
          </a:xfrm>
          <a:prstGeom prst="roundRect">
            <a:avLst>
              <a:gd name="adj" fmla="val 15779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124151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800954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477756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124151" y="41906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800954" y="41906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477756" y="41906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설계 초안 구성 요소</a:t>
            </a:r>
            <a:endParaRPr lang="en-US" sz="4200" dirty="0"/>
          </a:p>
        </p:txBody>
      </p:sp>
      <p:pic>
        <p:nvPicPr>
          <p:cNvPr id="27" name="Image 1" descr="gen-dedup-02d08a6eab99cdc4199d51c5b8d4a4ba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2324405" y="2361895"/>
            <a:ext cx="171907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52805" y="2857500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연구 주제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52805" y="3143707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탐구하고자 하는 핵심 현상과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명확히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정의합니다.</a:t>
            </a:r>
            <a:endParaRPr lang="en-US" sz="1200" dirty="0"/>
          </a:p>
        </p:txBody>
      </p:sp>
      <p:pic>
        <p:nvPicPr>
          <p:cNvPr id="30" name="Image 2" descr="gen-dedup-c40675fbd0c9b065a44758acf1b2324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71946" y="2361895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629607" y="2857500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연구 목적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4629607" y="3143707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이해·기술·분석·이론 생성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유형을 선택합니다.</a:t>
            </a:r>
            <a:endParaRPr lang="en-US" sz="1200" dirty="0"/>
          </a:p>
        </p:txBody>
      </p:sp>
      <p:pic>
        <p:nvPicPr>
          <p:cNvPr id="33" name="Image 3" descr="gen-dedup-4a5ad5bbcb72968db6f5edc753667bd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48749" y="2361895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305495" y="2857500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핵심 질문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305495" y="3143707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왜/어떻게/어떤 경험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탐구적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질문을 설정합니다.</a:t>
            </a:r>
            <a:endParaRPr lang="en-US" sz="1200" dirty="0"/>
          </a:p>
        </p:txBody>
      </p:sp>
      <p:pic>
        <p:nvPicPr>
          <p:cNvPr id="36" name="Image 4" descr="gen-dedup-21f5e9cc381827816ab3fdd51e1178c7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2309774" y="4362602"/>
            <a:ext cx="200254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2805" y="4858207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자료원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952805" y="5143500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인터뷰·관찰·문서·온라인 텍스트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수집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방법을 결정합니다.</a:t>
            </a:r>
            <a:endParaRPr lang="en-US" sz="1200" dirty="0"/>
          </a:p>
        </p:txBody>
      </p:sp>
      <p:pic>
        <p:nvPicPr>
          <p:cNvPr id="39" name="Image 5" descr="gen-dedup-7f3eb0f873858230de70a5a98eed4dc4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5943600" y="4362602"/>
            <a:ext cx="286207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629607" y="4858207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참여자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4629607" y="5143500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선정 기준·규모·접근 방법과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설계합니다.</a:t>
            </a:r>
            <a:endParaRPr lang="en-US" sz="1200" dirty="0"/>
          </a:p>
        </p:txBody>
      </p:sp>
      <p:pic>
        <p:nvPicPr>
          <p:cNvPr id="42" name="Image 6" descr="gen-dedup-969407f493b94921da0fd5b6b6237f8e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9634118" y="4362602"/>
            <a:ext cx="256946" cy="2286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305495" y="4858207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06. 분석 절차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8305495" y="5143500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방법·범주화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전략·해석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프레임워크를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선택합니다.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61695" y="609630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 설계는 살아있는 문서입니다. 자료수집과 분석 과정에서 지속적으로 수정됩니다."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43707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1859890" y="3619195"/>
            <a:ext cx="847191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연구에서 AI의 역할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333695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대체가 아닌 보조와 검토 중심 원칙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905049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667098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연구에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쓰는 이유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연구자의 시간을 절약하고, 구조화의 출발점을 제공합니다"</a:t>
            </a:r>
            <a:endParaRPr lang="en-US" sz="1500" dirty="0"/>
          </a:p>
        </p:txBody>
      </p:sp>
      <p:pic>
        <p:nvPicPr>
          <p:cNvPr id="14" name="Image 1" descr="gen-dedup-2ddecff128efb310c5b700705851974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속도와 효율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전사 정리·문헌 요약·초안 생성 등 반복적 작업을 빠르게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처리하여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분석에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집중할 수 있습니다.</a:t>
            </a:r>
            <a:endParaRPr lang="en-US" sz="1500" dirty="0"/>
          </a:p>
        </p:txBody>
      </p:sp>
      <p:pic>
        <p:nvPicPr>
          <p:cNvPr id="17" name="Image 2" descr="gen-dedup-fda38a45df08d4a28ad7d68894cfaf3c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086807" y="3057754"/>
            <a:ext cx="30449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52598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 보조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429000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후보 제안·범주 군집·비교표 생성 등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초기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구조화를 지원합니다.</a:t>
            </a:r>
            <a:endParaRPr lang="en-US" sz="1500" dirty="0"/>
          </a:p>
        </p:txBody>
      </p:sp>
      <p:pic>
        <p:nvPicPr>
          <p:cNvPr id="20" name="Image 3" descr="gen-dedup-6abbbc405832f093e24f31d64c8900c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05095" y="4819802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714646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다양한 활용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191049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요약·분류·비교·초안 생성·번역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 과정에서 다목적으로 활용 가능합니다.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476902" y="1904695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76902" y="1904695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1904695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91195" y="1904695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3905402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61695" y="3905402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6902" y="3905402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76902" y="3905402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91195" y="3905402"/>
            <a:ext cx="3238805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191195" y="3905402"/>
            <a:ext cx="3238805" cy="47549"/>
          </a:xfrm>
          <a:prstGeom prst="roundRect">
            <a:avLst>
              <a:gd name="adj" fmla="val 16631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1ab73fceac30cf447b753f0028c32ff7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2095805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10098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9525305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2095805" y="40955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5810098" y="40955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9525305" y="40955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가능 업무 맵</a:t>
            </a:r>
            <a:endParaRPr lang="en-US" sz="4200" dirty="0"/>
          </a:p>
        </p:txBody>
      </p:sp>
      <p:pic>
        <p:nvPicPr>
          <p:cNvPr id="28" name="Image 2" descr="gen-dedup-6b6d0e9b552a489cb78e751d2f4c811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66798" y="226679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57707" y="2762402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설계 초안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952805" y="309524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질문과 방법론 초안을 빠르게 구성</a:t>
            </a:r>
            <a:endParaRPr lang="en-US" sz="1200" dirty="0"/>
          </a:p>
        </p:txBody>
      </p:sp>
      <p:pic>
        <p:nvPicPr>
          <p:cNvPr id="31" name="Image 3" descr="gen-dedup-8aa4b0290a6c2f6ca8af8004a16d8930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952744" y="2266798"/>
            <a:ext cx="286207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572000" y="2762402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인터뷰 가이드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4667098" y="309524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주제 기반 질문 초안과 순서 제안</a:t>
            </a:r>
            <a:endParaRPr lang="en-US" sz="1200" dirty="0"/>
          </a:p>
        </p:txBody>
      </p:sp>
      <p:pic>
        <p:nvPicPr>
          <p:cNvPr id="34" name="Image 4" descr="gen-dedup-73c6f2bc5bc43fb696184df2a2feea8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9724644" y="2266798"/>
            <a:ext cx="171907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287207" y="2762402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전사 정리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8382305" y="3095244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음성 전사본의 구조화와 화자 분리</a:t>
            </a:r>
            <a:endParaRPr lang="en-US" sz="1200" dirty="0"/>
          </a:p>
        </p:txBody>
      </p:sp>
      <p:pic>
        <p:nvPicPr>
          <p:cNvPr id="37" name="Image 5" descr="gen-dedup-638b634228452a427823b83880a406e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266798" y="4267505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57707" y="4762195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초기 코드 제안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952805" y="5095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텍스트에서 반복 표현과 패턴 후보 추출</a:t>
            </a:r>
            <a:endParaRPr lang="en-US" sz="1200" dirty="0"/>
          </a:p>
        </p:txBody>
      </p:sp>
      <p:pic>
        <p:nvPicPr>
          <p:cNvPr id="40" name="Image 6" descr="gen-dedup-750bda80377d8a3a4b10eaef57085e03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5967374" y="4267505"/>
            <a:ext cx="256946" cy="2286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4572000" y="4762195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범주화 보조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4667098" y="5095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코드 묶기와 하위·상위범주 제안</a:t>
            </a:r>
            <a:endParaRPr lang="en-US" sz="1200" dirty="0"/>
          </a:p>
        </p:txBody>
      </p:sp>
      <p:pic>
        <p:nvPicPr>
          <p:cNvPr id="43" name="Image 7" descr="gen-dedup-312c4c29f4abcf0c0a56338aa857f2f5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9710928" y="4267505"/>
            <a:ext cx="200254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287207" y="4762195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06. 문헌 요약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8243316" y="5095951"/>
            <a:ext cx="3135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핵심 정리와 비교 매트릭스 생성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761695" y="590519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"AI의 제안은 항상 연구자의 검토와 수정을 거쳐야 합니다"</a:t>
            </a:r>
            <a:endParaRPr lang="en-US" sz="15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761695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429000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762195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258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질적 연구에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쓸 때의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681728"/>
            <a:ext cx="285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출력물을 검증 없이 </a:t>
            </a:r>
            <a:r>
              <a:rPr lang="en-US" sz="14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수용하면</a:t>
            </a:r>
            <a:r>
              <a:rPr lang="en-US" sz="14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</a:t>
            </a:r>
            <a:r>
              <a:rPr lang="en-US" sz="14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신뢰성이 훼손됩니다"</a:t>
            </a:r>
            <a:endParaRPr lang="en-US" sz="1400" dirty="0"/>
          </a:p>
        </p:txBody>
      </p:sp>
      <p:pic>
        <p:nvPicPr>
          <p:cNvPr id="15" name="Image 1" descr="gen-dedup-b121960b4b6ad206e0eb05016fe3616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6749" y="88605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809244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 일반화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190549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개별 맥락을 무시하고 평균적 패턴으로 수렴하는 경향이 있습니다.</a:t>
            </a:r>
            <a:endParaRPr lang="en-US" sz="1300" dirty="0"/>
          </a:p>
        </p:txBody>
      </p:sp>
      <p:pic>
        <p:nvPicPr>
          <p:cNvPr id="18" name="Image 2" descr="gen-dedup-56bbf4e2635273de03ebeb452ee980f7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5062118" y="2219249"/>
            <a:ext cx="256946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43354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삭제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23744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고유의 상황과 배경이 요약 과정에서 제거될 수 있습니다.</a:t>
            </a:r>
            <a:endParaRPr lang="en-US" sz="1300" dirty="0"/>
          </a:p>
        </p:txBody>
      </p:sp>
      <p:pic>
        <p:nvPicPr>
          <p:cNvPr id="21" name="Image 3" descr="gen-dedup-44673285e59bcb885c79a26eac30d7d2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5105095" y="3552444"/>
            <a:ext cx="1719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476549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허위 해석과 가짜 인용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857854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존재하지 않는 문헌이나 근거 없는 해석을 생성할 수 있습니다.</a:t>
            </a:r>
            <a:endParaRPr lang="en-US" sz="1300" dirty="0"/>
          </a:p>
        </p:txBody>
      </p:sp>
      <p:pic>
        <p:nvPicPr>
          <p:cNvPr id="24" name="Image 4" descr="gen-dedup-6de11794cd8996ac58f2d1c47f9ba3f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76749" y="488655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809744"/>
            <a:ext cx="581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전이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191049"/>
            <a:ext cx="5811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훈련 데이터의 편향이 분석 결과에 그대로 반영될 위험이 있습니다.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805" y="2190902"/>
            <a:ext cx="3047695" cy="3486607"/>
          </a:xfrm>
          <a:prstGeom prst="roundRect">
            <a:avLst>
              <a:gd name="adj" fmla="val 2250"/>
            </a:avLst>
          </a:prstGeom>
          <a:solidFill>
            <a:srgbClr val="F8F9FA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2190902"/>
            <a:ext cx="3047695" cy="57607"/>
          </a:xfrm>
          <a:prstGeom prst="roundRect">
            <a:avLst>
              <a:gd name="adj" fmla="val 11904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572000" y="2190902"/>
            <a:ext cx="3047695" cy="3486607"/>
          </a:xfrm>
          <a:prstGeom prst="roundRect">
            <a:avLst>
              <a:gd name="adj" fmla="val 2250"/>
            </a:avLst>
          </a:prstGeom>
          <a:solidFill>
            <a:srgbClr val="F8F9FA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0" y="2190902"/>
            <a:ext cx="3047695" cy="57607"/>
          </a:xfrm>
          <a:prstGeom prst="roundRect">
            <a:avLst>
              <a:gd name="adj" fmla="val 119048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2190902"/>
            <a:ext cx="3047695" cy="3486607"/>
          </a:xfrm>
          <a:prstGeom prst="roundRect">
            <a:avLst>
              <a:gd name="adj" fmla="val 2250"/>
            </a:avLst>
          </a:prstGeom>
          <a:solidFill>
            <a:srgbClr val="F8F9FA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91195" y="2190902"/>
            <a:ext cx="3047695" cy="57607"/>
          </a:xfrm>
          <a:prstGeom prst="roundRect">
            <a:avLst>
              <a:gd name="adj" fmla="val 11904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gen-dedup-1ab73fceac30cf447b753f0028c32ff7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190902" y="25722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5810098" y="25722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9430207" y="25722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금지·주의 업무</a:t>
            </a:r>
            <a:endParaRPr lang="en-US" sz="4200" dirty="0"/>
          </a:p>
        </p:txBody>
      </p:sp>
      <p:pic>
        <p:nvPicPr>
          <p:cNvPr id="19" name="Image 2" descr="gen-dedup-cb058c8ded4c532b0782e5f2bea31ee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43607" y="2723998"/>
            <a:ext cx="267005" cy="2670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43000" y="3333902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금지: 익명화 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원자료 업로드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95451" y="4095598"/>
            <a:ext cx="2762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실명·기관명·민감 발언이 포함된 원자료를 AI 플랫폼에 직접 입력하는 것은 절대 금지합니다.</a:t>
            </a:r>
            <a:endParaRPr lang="en-US" sz="1300" dirty="0"/>
          </a:p>
        </p:txBody>
      </p:sp>
      <p:pic>
        <p:nvPicPr>
          <p:cNvPr id="22" name="Image 3" descr="gen-dedup-a70694375fede59d43703a013250914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802" y="2723998"/>
            <a:ext cx="267005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62195" y="3333902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주의: 민감정보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 문서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714646" y="4095598"/>
            <a:ext cx="2762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개인정보·건강정보·소수자 관련 내용은 반드시 사전 익명화 후 활용합니다.</a:t>
            </a:r>
            <a:endParaRPr lang="en-US" sz="1300" dirty="0"/>
          </a:p>
        </p:txBody>
      </p:sp>
      <p:pic>
        <p:nvPicPr>
          <p:cNvPr id="25" name="Image 4" descr="gen-dedup-45dfe1b045feb34790e5dbc0065ccdb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81998" y="2723998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82305" y="3333902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금지: 검증 없는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생성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334756" y="4095598"/>
            <a:ext cx="2762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제시한 참고문헌·인용문은 반드시 원본 대조를 거쳐 사실 여부를 확인합니다.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90519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37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"AI에 무엇을 입력하는지가 윤리의 첫 번째 관문입니다"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AI의 역할 범위: 대체 vs 보조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할 수 있는 것</a:t>
            </a:r>
            <a:endParaRPr lang="en-US" sz="2100" dirty="0"/>
          </a:p>
        </p:txBody>
      </p:sp>
      <p:pic>
        <p:nvPicPr>
          <p:cNvPr id="15" name="Image 0" descr="gen-dedup-7fdde7d5e16b23f20bbd056fdb59b261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00354" y="2238451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33195" y="22101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전사본 요약 및 구조화</a:t>
            </a:r>
            <a:endParaRPr lang="en-US" sz="1500" dirty="0"/>
          </a:p>
        </p:txBody>
      </p:sp>
      <p:pic>
        <p:nvPicPr>
          <p:cNvPr id="17" name="Image 1" descr="gen-dedup-7fdde7d5e16b23f20bbd056fdb59b261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00354" y="3191256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33195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초기 코드 후보 제안</a:t>
            </a:r>
            <a:endParaRPr lang="en-US" sz="1500" dirty="0"/>
          </a:p>
        </p:txBody>
      </p:sp>
      <p:pic>
        <p:nvPicPr>
          <p:cNvPr id="19" name="Image 2" descr="gen-dedup-7fdde7d5e16b23f20bbd056fdb59b261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00354" y="4143146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33195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검색 요약과 비교표 생성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연구자가 해야 하는 것</a:t>
            </a:r>
            <a:endParaRPr lang="en-US" sz="2100" dirty="0"/>
          </a:p>
        </p:txBody>
      </p:sp>
      <p:pic>
        <p:nvPicPr>
          <p:cNvPr id="23" name="Image 3" descr="gen-dedup-81e489d32186131dce294e5304bdecf9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7286854" y="2238451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9695" y="22101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기반 해석과 의미 판단</a:t>
            </a:r>
            <a:endParaRPr lang="en-US" sz="1500" dirty="0"/>
          </a:p>
        </p:txBody>
      </p:sp>
      <p:pic>
        <p:nvPicPr>
          <p:cNvPr id="25" name="Image 4" descr="gen-dedup-18410841ff1def4b26754b6c79bd682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6854" y="3191256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19695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명명과 범주 결정</a:t>
            </a:r>
            <a:endParaRPr lang="en-US" sz="1500" dirty="0"/>
          </a:p>
        </p:txBody>
      </p:sp>
      <p:pic>
        <p:nvPicPr>
          <p:cNvPr id="27" name="Image 5" descr="gen-dedup-374b6e126260733fe7d3cf410d42731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86854" y="41431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19695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윤리와 참여자 보호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2249424" y="5896051"/>
            <a:ext cx="77001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초안과 보조를 제공하고, 최종 판단과 책임은 연구자에게 있습니다"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533369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529620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529620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43707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619195"/>
            <a:ext cx="7620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윤리 및 익명화 </a:t>
            </a:r>
            <a:r>
              <a:rPr lang="en-US" sz="43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</a:t>
            </a:r>
            <a:r>
              <a:rPr lang="en-US" sz="43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43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</a:t>
            </a:r>
            <a:r>
              <a:rPr lang="en-US" sz="43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</a:t>
            </a:r>
            <a:endParaRPr lang="en-US" sz="43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715000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동의·비밀보장·최소위험·맥락 존중의 원칙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24305" y="2095805"/>
            <a:ext cx="4286707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524305" y="2095805"/>
            <a:ext cx="4286707" cy="47549"/>
          </a:xfrm>
          <a:prstGeom prst="roundRect">
            <a:avLst>
              <a:gd name="adj" fmla="val 16631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381598" y="2095805"/>
            <a:ext cx="4286707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381598" y="2095805"/>
            <a:ext cx="4286707" cy="47549"/>
          </a:xfrm>
          <a:prstGeom prst="roundRect">
            <a:avLst>
              <a:gd name="adj" fmla="val 16631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524305" y="4095598"/>
            <a:ext cx="4286707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524305" y="4095598"/>
            <a:ext cx="4286707" cy="47549"/>
          </a:xfrm>
          <a:prstGeom prst="roundRect">
            <a:avLst>
              <a:gd name="adj" fmla="val 16631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381598" y="4095598"/>
            <a:ext cx="4286707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381598" y="4095598"/>
            <a:ext cx="4286707" cy="47549"/>
          </a:xfrm>
          <a:prstGeom prst="roundRect">
            <a:avLst>
              <a:gd name="adj" fmla="val 16631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190695" y="5905195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572707" y="22860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714500" y="4286707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2707" y="4286707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윤리의 핵심</a:t>
            </a:r>
            <a:endParaRPr lang="en-US" sz="4200" dirty="0"/>
          </a:p>
        </p:txBody>
      </p:sp>
      <p:pic>
        <p:nvPicPr>
          <p:cNvPr id="22" name="Image 2" descr="gen-dedup-371a2c061c3e306ec5b3dfc7142310d7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1824228" y="2409444"/>
            <a:ext cx="256946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381098" y="238109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동의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714500" y="2857500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목적·절차·위험을 충분히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자발적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참여 동의서를 받습니다. 철회권을 보장합니다.</a:t>
            </a:r>
            <a:endParaRPr lang="en-US" sz="1300" dirty="0"/>
          </a:p>
        </p:txBody>
      </p:sp>
      <p:pic>
        <p:nvPicPr>
          <p:cNvPr id="25" name="Image 3" descr="gen-dedup-a5476f734778b452050a879baddef685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710782" y="2409444"/>
            <a:ext cx="200254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39305" y="238109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비밀보장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572707" y="2857500"/>
            <a:ext cx="3905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정보를 안전하게 보관하고 접근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권한을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최소화합니다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보관 기간과 폐기 절차를 명시합니다.</a:t>
            </a:r>
            <a:endParaRPr lang="en-US" sz="1300" dirty="0"/>
          </a:p>
        </p:txBody>
      </p:sp>
      <p:pic>
        <p:nvPicPr>
          <p:cNvPr id="28" name="Image 4" descr="gen-dedup-4055b61f4dd0dcd0a1679b93159d493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37944" y="4410151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381098" y="438180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최소위험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714500" y="4858207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참여자에게 심리적·사회적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최소화하는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방향으로 연구를 설계합니다.</a:t>
            </a:r>
            <a:endParaRPr lang="en-US" sz="1300" dirty="0"/>
          </a:p>
        </p:txBody>
      </p:sp>
      <p:pic>
        <p:nvPicPr>
          <p:cNvPr id="31" name="Image 5" descr="gen-dedup-ce98d03771f5e9758ef341e0974e3eae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667805" y="4410151"/>
            <a:ext cx="2862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39305" y="438180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존중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6572707" y="4858207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문화적 배경과 권력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고려하여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 수집과 해석 과정에서 존중합니다.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"윤리는 연구의 부록이 아니라 설계의 출발점입니다"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952598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7621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윤리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리스크 사례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"윤리적 실패는 연구 결과뿐 아니라 참여자의 삶에 영향을 미칩니다"</a:t>
            </a:r>
            <a:endParaRPr lang="en-US" sz="1500" dirty="0"/>
          </a:p>
        </p:txBody>
      </p:sp>
      <p:pic>
        <p:nvPicPr>
          <p:cNvPr id="14" name="Image 1" descr="gen-dedup-e49fb987e74700162c6542916240a9c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8928" y="1295705"/>
            <a:ext cx="20025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기관명·지명 노출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보고서에 기관 특성이 구체적으로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기술되어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소속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기관이 역추적되는 재식별 사례가 발생할 수 있습니다.</a:t>
            </a:r>
            <a:endParaRPr lang="en-US" sz="1500" dirty="0"/>
          </a:p>
        </p:txBody>
      </p:sp>
      <p:pic>
        <p:nvPicPr>
          <p:cNvPr id="17" name="Image 2" descr="gen-dedup-37bd05da400ee9af5236be95556ab85e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119726" y="3105302"/>
            <a:ext cx="23774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3000146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 발언 재현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476549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민감한 발언이 맥락 없이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인용되어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참여자가 불이익을 받을 위험이 있습니다.</a:t>
            </a:r>
            <a:endParaRPr lang="en-US" sz="1500" dirty="0"/>
          </a:p>
        </p:txBody>
      </p:sp>
      <p:pic>
        <p:nvPicPr>
          <p:cNvPr id="20" name="Image 3" descr="gen-dedup-f522b9096baeda498f312fbcabdafd73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5086807" y="4914900"/>
            <a:ext cx="30449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809744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내부 문서 유출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286146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과정에서 수집한 내부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플랫폼을 통해 외부로 유출될 수 있습니다.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3810305"/>
            <a:ext cx="2857500" cy="19202"/>
          </a:xfrm>
          <a:prstGeom prst="rect">
            <a:avLst/>
          </a:prstGeom>
        </p:spPr>
      </p:pic>
      <p:pic>
        <p:nvPicPr>
          <p:cNvPr id="9" name="Image 2" descr="gen-dedup-487c9fe785c808fa6b2c94295c7fc9a6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5524805" y="1333195"/>
            <a:ext cx="38405" cy="40005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52430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304769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4572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익명화의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원칙과 단계</a:t>
            </a:r>
            <a:endParaRPr lang="en-US" sz="4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095598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비식별화의 핵심 3단계</a:t>
            </a:r>
            <a:endParaRPr lang="en-US" sz="1800" dirty="0"/>
          </a:p>
        </p:txBody>
      </p:sp>
      <p:pic>
        <p:nvPicPr>
          <p:cNvPr id="15" name="Image 3" descr="gen-dedup-cd89b3dea144ccc4d6de5b3a86ccb98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77256" y="1609344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01207" y="1429207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001207" y="1666951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원자료 확인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6001207" y="2066544"/>
            <a:ext cx="5239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수집된 텍스트에서 식별 가능한 정보(이름·장소·기관·직책·사건)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조사합니다.</a:t>
            </a:r>
            <a:endParaRPr lang="en-US" sz="1300" dirty="0"/>
          </a:p>
        </p:txBody>
      </p:sp>
      <p:pic>
        <p:nvPicPr>
          <p:cNvPr id="19" name="Image 4" descr="gen-dedup-e906d63cb0b6c573fd907afe4625b5ef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5467198" y="3133649"/>
            <a:ext cx="152705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001207" y="2952598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001207" y="3191256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식별정보 탐지</a:t>
            </a:r>
            <a:endParaRPr lang="en-US" sz="2400" dirty="0"/>
          </a:p>
        </p:txBody>
      </p:sp>
      <p:sp>
        <p:nvSpPr>
          <p:cNvPr id="22" name="Text 15"/>
          <p:cNvSpPr txBox="1"/>
          <p:nvPr/>
        </p:nvSpPr>
        <p:spPr>
          <a:xfrm>
            <a:off x="6001207" y="3590849"/>
            <a:ext cx="5239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사람명·기관명·위치명·날짜·직함 등을 체계적으로 표시하고 목록화합니다.</a:t>
            </a:r>
            <a:endParaRPr lang="en-US" sz="1300" dirty="0"/>
          </a:p>
        </p:txBody>
      </p:sp>
      <p:pic>
        <p:nvPicPr>
          <p:cNvPr id="23" name="Image 5" descr="gen-dedup-5b32acc2995b53e7b65e444b4667da5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77256" y="4657954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01207" y="4476902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001207" y="4714646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대체어 처리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6001207" y="5115154"/>
            <a:ext cx="5889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식별정보를 가명·일반 표현·코드로 대체하고 대체 규칙을 문서화합니다.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활용한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보조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탐지를 돕지만, 최종 검수는 반드시 연구자가 수행해야 합니다"</a:t>
            </a:r>
            <a:endParaRPr lang="en-US" sz="1500" dirty="0"/>
          </a:p>
        </p:txBody>
      </p:sp>
      <p:pic>
        <p:nvPicPr>
          <p:cNvPr id="14" name="Image 1" descr="gen-dedup-21b18c8d7476db3bde3069397fe061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 탐지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NER(개체명 인식) 기술로 인명·기관명·위치명을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자동으로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탐지하여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식별정보 목록을 빠르게 생성합니다.</a:t>
            </a:r>
            <a:endParaRPr lang="en-US" sz="1500" dirty="0"/>
          </a:p>
        </p:txBody>
      </p:sp>
      <p:pic>
        <p:nvPicPr>
          <p:cNvPr id="17" name="Image 2" descr="gen-dedup-c456e3f2e3436b5c55c3177bcf51eba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 규칙 정의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사전에 대체어 규칙(예: 참여자A, B기관)을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일관되게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적용하여 처리 품질을 높입니다.</a:t>
            </a:r>
            <a:endParaRPr lang="en-US" sz="1500" dirty="0"/>
          </a:p>
        </p:txBody>
      </p:sp>
      <p:pic>
        <p:nvPicPr>
          <p:cNvPr id="20" name="Image 3" descr="gen-dedup-2e8b979a66991a6ca931535160352d1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주의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맥락적 식별요소(특이 경험·유일 사건 등)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탐지하지 못하므로 연구자의 직접 검토가 필수적입니다.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전후 비교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원문 (Before)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805" y="2190902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gen-dedup-320132f0d25c5d1200817316355b469c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1037844" y="2257654"/>
            <a:ext cx="114300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33195" y="2210105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"김OO </a:t>
            </a:r>
            <a:r>
              <a:rPr lang="en-US" sz="1300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교수는</a:t>
            </a: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서울대</a:t>
            </a: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교육학과에서 2024년 봄학기에..."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52805" y="3143707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320132f0d25c5d1200817316355b469c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1037844" y="3209544"/>
            <a:ext cx="114300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33195" y="3161995"/>
            <a:ext cx="40590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"한강초등학교 3학년 담임인 박OO 선생님은..."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52805" y="4095598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gen-dedup-320132f0d25c5d1200817316355b469c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1037844" y="4162349"/>
            <a:ext cx="114300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33195" y="4114800"/>
            <a:ext cx="41614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"A시 교육청 장학사 이OO은 정책 간담회에서..."</a:t>
            </a:r>
            <a:endParaRPr lang="en-US" sz="1300" dirty="0"/>
          </a:p>
        </p:txBody>
      </p:sp>
      <p:pic>
        <p:nvPicPr>
          <p:cNvPr id="24" name="Image 3" descr="gen-dedup-458c6a09cd9a1ffdad4321d68ca69dd6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995721" y="3219602"/>
            <a:ext cx="200254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처리문 (After)</a:t>
            </a:r>
            <a:endParaRPr lang="en-US" sz="2100" dirty="0"/>
          </a:p>
        </p:txBody>
      </p:sp>
      <p:sp>
        <p:nvSpPr>
          <p:cNvPr id="26" name="Shape 20"/>
          <p:cNvSpPr/>
          <p:nvPr/>
        </p:nvSpPr>
        <p:spPr>
          <a:xfrm>
            <a:off x="7239305" y="2190902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E3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gen-dedup-d0a3451fe7a4c985b69e95a3e9a35b2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06056" y="2257654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619695" y="2210105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"참여자1(교수)은 수도권 소재 </a:t>
            </a:r>
            <a:r>
              <a:rPr lang="en-US" sz="13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대학</a:t>
            </a: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교육학과에서</a:t>
            </a: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해당 학기에..."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239305" y="3143707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E3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gen-dedup-d0a3451fe7a4c985b69e95a3e9a35b2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06056" y="3209544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19695" y="3161995"/>
            <a:ext cx="40590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"B초등학교 저학년 담임인 참여자2(교사)는..."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7239305" y="4095598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E3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gen-dedup-d0a3451fe7a4c985b69e95a3e9a35b2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06056" y="4162349"/>
            <a:ext cx="152705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619695" y="4114800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"C시 교육청 관계자(참여자3)</a:t>
            </a:r>
            <a:r>
              <a:rPr lang="en-US" sz="13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는</a:t>
            </a: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</a:t>
            </a:r>
            <a:r>
              <a:rPr lang="en-US" sz="13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논의 자리에서..."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2678278" y="5896051"/>
            <a:ext cx="6843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"익명화는 의미를 보존하면서 식별 가능성을 제거하는 과정입니다"</a:t>
            </a:r>
            <a:endParaRPr lang="en-US" sz="16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43146"/>
            <a:ext cx="3295498" cy="1571854"/>
          </a:xfrm>
          <a:prstGeom prst="roundRect">
            <a:avLst>
              <a:gd name="adj" fmla="val 282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43146"/>
            <a:ext cx="57607" cy="1571854"/>
          </a:xfrm>
          <a:prstGeom prst="roundRect">
            <a:avLst>
              <a:gd name="adj" fmla="val 76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047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762402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476902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047902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 기준 반영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재정의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24121"/>
            <a:ext cx="285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"윤리적 설계는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높이는 기반입니다"</a:t>
            </a:r>
            <a:endParaRPr lang="en-US" sz="1500" dirty="0"/>
          </a:p>
        </p:txBody>
      </p:sp>
      <p:pic>
        <p:nvPicPr>
          <p:cNvPr id="14" name="Image 1" descr="gen-dedup-1ac2c4d0fee2c7a075d73d2cae0f355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1200607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095451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자료범위 조정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571854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민감도가 높은 자료는 수집 범위를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축소하거나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자료원으로 대체합니다.</a:t>
            </a:r>
            <a:endParaRPr lang="en-US" sz="1500" dirty="0"/>
          </a:p>
        </p:txBody>
      </p:sp>
      <p:pic>
        <p:nvPicPr>
          <p:cNvPr id="17" name="Image 2" descr="gen-dedup-5926e9d7bcded610c346fd52844fdf5f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119726" y="2915107"/>
            <a:ext cx="23774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809951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접근권한과 저장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286354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접근 권한을 연구팀 내로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제한하고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저장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기간·보관 위치·폐기 절차를 명시합니다.</a:t>
            </a:r>
            <a:endParaRPr lang="en-US" sz="1500" dirty="0"/>
          </a:p>
        </p:txBody>
      </p:sp>
      <p:pic>
        <p:nvPicPr>
          <p:cNvPr id="20" name="Image 3" descr="gen-dedup-e08d5b777b58caee6a2989f3b25c3fc0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5119726" y="4629607"/>
            <a:ext cx="237744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524451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공유와 인용 규칙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00854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보고 시 인용 범위와 방식을 사전에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문서화하고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 절차를 포함합니다.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5000854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86354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986638" y="3762756"/>
            <a:ext cx="10220249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설계 및 자료수집 전략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5477256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guided conversation으로서의 인터뷰와 삼각검증 기반 자료수집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개념과 구조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"인터뷰는 정보를 캐내는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것이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아니라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경험을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재구성하는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과정입니다"</a:t>
            </a:r>
            <a:endParaRPr lang="en-US" sz="1500" dirty="0"/>
          </a:p>
        </p:txBody>
      </p:sp>
      <p:pic>
        <p:nvPicPr>
          <p:cNvPr id="14" name="Image 1" descr="gen-dedup-a05fe80ebceef2be057a8bb10d06828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유목적적 대화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guided conversation: 연구 목적에 따라 설계된 의도적 대화로,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대화와 구별됩니다.</a:t>
            </a:r>
            <a:endParaRPr lang="en-US" sz="1500" dirty="0"/>
          </a:p>
        </p:txBody>
      </p:sp>
      <p:pic>
        <p:nvPicPr>
          <p:cNvPr id="17" name="Image 2" descr="gen-dedup-02e7fa31c883754472c6c1c1a3820f5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공동 재구성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연구자와 참여자가 함께 경험을 탐색하고 의미를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구성하는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상호작용적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과정입니다.</a:t>
            </a:r>
            <a:endParaRPr lang="en-US" sz="1500" dirty="0"/>
          </a:p>
        </p:txBody>
      </p:sp>
      <p:pic>
        <p:nvPicPr>
          <p:cNvPr id="20" name="Image 3" descr="gen-dedup-e04309a976924f78c48c7e35c0b2edb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구조적 흐름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라포 형성→도입→탐색→심화→정리의 단계적 구조를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따르되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유연하게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운영합니다.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3429000" cy="4248302"/>
          </a:xfrm>
          <a:prstGeom prst="roundRect">
            <a:avLst>
              <a:gd name="adj" fmla="val 177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3429000" cy="57607"/>
          </a:xfrm>
          <a:prstGeom prst="roundRect">
            <a:avLst>
              <a:gd name="adj" fmla="val 105820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81805" y="1238098"/>
            <a:ext cx="3429000" cy="4248302"/>
          </a:xfrm>
          <a:prstGeom prst="roundRect">
            <a:avLst>
              <a:gd name="adj" fmla="val 177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81805" y="1238098"/>
            <a:ext cx="3429000" cy="57607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191195" y="1238098"/>
            <a:ext cx="3429000" cy="4248302"/>
          </a:xfrm>
          <a:prstGeom prst="roundRect">
            <a:avLst>
              <a:gd name="adj" fmla="val 177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191195" y="1238098"/>
            <a:ext cx="3429000" cy="57607"/>
          </a:xfrm>
          <a:prstGeom prst="roundRect">
            <a:avLst>
              <a:gd name="adj" fmla="val 105820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구조화·반구조화·비구조화 인터뷰 비교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1476756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 인터뷰</a:t>
            </a:r>
            <a:endParaRPr lang="en-US" sz="2100" dirty="0"/>
          </a:p>
        </p:txBody>
      </p:sp>
      <p:pic>
        <p:nvPicPr>
          <p:cNvPr id="16" name="Image 0" descr="gen-dedup-bb303dd54fce9e585e887aa4a005dd3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238451"/>
            <a:ext cx="190195" cy="19019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8098" y="2210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표준화된 질문 목록</a:t>
            </a:r>
            <a:endParaRPr lang="en-US" sz="1300" dirty="0"/>
          </a:p>
        </p:txBody>
      </p:sp>
      <p:pic>
        <p:nvPicPr>
          <p:cNvPr id="18" name="Image 1" descr="gen-dedup-3dea853487c38f3b2b426b14d7b6029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1482" y="3000146"/>
            <a:ext cx="237744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8098" y="2971800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응답 비교 용이</a:t>
            </a:r>
            <a:endParaRPr lang="en-US" sz="1300" dirty="0"/>
          </a:p>
        </p:txBody>
      </p:sp>
      <p:pic>
        <p:nvPicPr>
          <p:cNvPr id="20" name="Image 2" descr="gen-dedup-d7b1c9dffab30e9040bda8ca4fdab56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762756"/>
            <a:ext cx="190195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8098" y="373349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유연성 낮음</a:t>
            </a:r>
            <a:endParaRPr lang="en-US" sz="1300" dirty="0"/>
          </a:p>
        </p:txBody>
      </p:sp>
      <p:pic>
        <p:nvPicPr>
          <p:cNvPr id="22" name="Image 3" descr="gen-dedup-de83b35de5e7ac2ff23c0daf9ffdc34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9030" y="4524451"/>
            <a:ext cx="142646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8098" y="4496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설문에 가까운 형태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0" y="1476756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반구조화 인터뷰</a:t>
            </a:r>
            <a:endParaRPr lang="en-US" sz="2100" dirty="0"/>
          </a:p>
        </p:txBody>
      </p:sp>
      <p:pic>
        <p:nvPicPr>
          <p:cNvPr id="25" name="Image 4" descr="gen-dedup-aabd60a13d870ad041de20af84a163b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90872" y="2238451"/>
            <a:ext cx="2377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48402" y="2210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질문+추적 질문</a:t>
            </a:r>
            <a:endParaRPr lang="en-US" sz="1300" dirty="0"/>
          </a:p>
        </p:txBody>
      </p:sp>
      <p:pic>
        <p:nvPicPr>
          <p:cNvPr id="27" name="Image 5" descr="gen-dedup-2739399df7eff053ec3915675956f3b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14646" y="30001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048402" y="2971800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개방성과 초점의 균형</a:t>
            </a:r>
            <a:endParaRPr lang="en-US" sz="1300" dirty="0"/>
          </a:p>
        </p:txBody>
      </p:sp>
      <p:pic>
        <p:nvPicPr>
          <p:cNvPr id="29" name="Image 6" descr="gen-dedup-d7d74712bd23fd7f133c840fe6637836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4700930" y="3762756"/>
            <a:ext cx="219456" cy="19019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048402" y="373349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연구에서 가장 널리 사용</a:t>
            </a:r>
            <a:endParaRPr lang="en-US" sz="1300" dirty="0"/>
          </a:p>
        </p:txBody>
      </p:sp>
      <p:pic>
        <p:nvPicPr>
          <p:cNvPr id="31" name="Image 7" descr="gen-dedup-01bd88c6159555932b194ba08df3930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14646" y="4524451"/>
            <a:ext cx="190195" cy="1901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048402" y="4496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탐색에 적합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8382305" y="1476756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비구조화 인터뷰</a:t>
            </a:r>
            <a:endParaRPr lang="en-US" sz="2100" dirty="0"/>
          </a:p>
        </p:txBody>
      </p:sp>
      <p:pic>
        <p:nvPicPr>
          <p:cNvPr id="34" name="Image 8" descr="gen-dedup-534c49f5260413b29a2997ac5918c70b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24951" y="2238451"/>
            <a:ext cx="190195" cy="1901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858707" y="2210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최소한의 가이드</a:t>
            </a:r>
            <a:endParaRPr lang="en-US" sz="1300" dirty="0"/>
          </a:p>
        </p:txBody>
      </p:sp>
      <p:pic>
        <p:nvPicPr>
          <p:cNvPr id="36" name="Image 9" descr="gen-dedup-d5e066aa22d0c59e146c3935acf8b870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8510321" y="3000146"/>
            <a:ext cx="219456" cy="1901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858707" y="2971800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최대한의 개방성</a:t>
            </a:r>
            <a:endParaRPr lang="en-US" sz="1300" dirty="0"/>
          </a:p>
        </p:txBody>
      </p:sp>
      <p:pic>
        <p:nvPicPr>
          <p:cNvPr id="38" name="Image 10" descr="gen-dedup-e1b1903dafc4c083625a673606970d3a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8726" y="3762756"/>
            <a:ext cx="142646" cy="19019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858707" y="373349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주도의 서사</a:t>
            </a:r>
            <a:endParaRPr lang="en-US" sz="1300" dirty="0"/>
          </a:p>
        </p:txBody>
      </p:sp>
      <p:pic>
        <p:nvPicPr>
          <p:cNvPr id="40" name="Image 11" descr="gen-dedup-222c60a1759f88d2e2424c592e087a86.png"/>
          <p:cNvPicPr>
            <a:picLocks noChangeAspect="1"/>
          </p:cNvPicPr>
          <p:nvPr/>
        </p:nvPicPr>
        <p:blipFill>
          <a:blip r:embed="rId14"/>
          <a:srcRect l="-1282" r="-1282"/>
          <a:stretch/>
        </p:blipFill>
        <p:spPr>
          <a:xfrm>
            <a:off x="8510321" y="4524451"/>
            <a:ext cx="219456" cy="19019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8858707" y="44961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연구에 적합</a:t>
            </a:r>
            <a:endParaRPr lang="en-US" sz="1300" dirty="0"/>
          </a:p>
        </p:txBody>
      </p:sp>
      <p:sp>
        <p:nvSpPr>
          <p:cNvPr id="42" name="Text 28"/>
          <p:cNvSpPr txBox="1"/>
          <p:nvPr/>
        </p:nvSpPr>
        <p:spPr>
          <a:xfrm>
            <a:off x="2714854" y="5896051"/>
            <a:ext cx="67647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"질적 연구에서는 반구조화 인터뷰가 가장 균형 잡힌 선택입니다"</a:t>
            </a:r>
            <a:endParaRPr lang="en-US" sz="1600" dirty="0"/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476902" y="1904695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76902" y="1904695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1904695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91195" y="1904695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4095598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61695" y="4095598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6902" y="4095598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76902" y="4095598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91195" y="4095598"/>
            <a:ext cx="3238805" cy="2048256"/>
          </a:xfrm>
          <a:prstGeom prst="roundRect">
            <a:avLst>
              <a:gd name="adj" fmla="val 332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191195" y="4095598"/>
            <a:ext cx="3238805" cy="47549"/>
          </a:xfrm>
          <a:prstGeom prst="roundRect">
            <a:avLst>
              <a:gd name="adj" fmla="val 14311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095805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810098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525305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095805" y="42867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810098" y="42867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525305" y="4286707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질문 유형 설계</a:t>
            </a:r>
            <a:endParaRPr lang="en-US" sz="4200" dirty="0"/>
          </a:p>
        </p:txBody>
      </p:sp>
      <p:pic>
        <p:nvPicPr>
          <p:cNvPr id="27" name="Image 1" descr="gen-dedup-41ce2a181acfbc519d3f987df47b5a74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2253082" y="2266798"/>
            <a:ext cx="256946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7707" y="2762402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질문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952805" y="3143707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편안한 분위기 조성, 배경 정보 수집.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"먼저 간단히 소개해 주시겠어요?"</a:t>
            </a:r>
            <a:endParaRPr lang="en-US" sz="1200" dirty="0"/>
          </a:p>
        </p:txBody>
      </p:sp>
      <p:pic>
        <p:nvPicPr>
          <p:cNvPr id="30" name="Image 2" descr="gen-dedup-4afc0f47075e138c71aa5b8d8b211238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010351" y="2266798"/>
            <a:ext cx="171907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572000" y="2762402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 질문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4667098" y="3143707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경험과 사건 탐색.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"그 상황에서 어떤 일이 있었나요?"</a:t>
            </a:r>
            <a:endParaRPr lang="en-US" sz="1200" dirty="0"/>
          </a:p>
        </p:txBody>
      </p:sp>
      <p:pic>
        <p:nvPicPr>
          <p:cNvPr id="33" name="Image 3" descr="gen-dedup-49b874970f35532dc5f3944ad80fa9c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96298" y="2266798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287207" y="2762402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질문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8382305" y="3143707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에피소드를 중심으로 심화.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"그때의 구체적인 </a:t>
            </a:r>
            <a:r>
              <a:rPr lang="en-US" sz="1200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장면을</a:t>
            </a: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이야기해</a:t>
            </a: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주세요"</a:t>
            </a:r>
            <a:endParaRPr lang="en-US" sz="1200" dirty="0"/>
          </a:p>
        </p:txBody>
      </p:sp>
      <p:pic>
        <p:nvPicPr>
          <p:cNvPr id="36" name="Image 4" descr="gen-dedup-db50362c8fb57caf64e067459b44e25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66798" y="445770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57707" y="4953305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감정 질문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52805" y="5333695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감정과 느낌 탐색.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"그 경험에서 어떤 감정을 느끼셨나요?"</a:t>
            </a:r>
            <a:endParaRPr lang="en-US" sz="1200" dirty="0"/>
          </a:p>
        </p:txBody>
      </p:sp>
      <p:pic>
        <p:nvPicPr>
          <p:cNvPr id="39" name="Image 5" descr="gen-dedup-4ec7064e81e5814d609d5f3f8cc1ee31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010351" y="4457700"/>
            <a:ext cx="171907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572000" y="4953305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질문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4667098" y="5333695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의미와 해석 탐색.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"그 경험이 지금의 </a:t>
            </a:r>
            <a:r>
              <a:rPr lang="en-US" sz="1200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당신에게</a:t>
            </a: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</a:t>
            </a: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의미인가요?"</a:t>
            </a:r>
            <a:endParaRPr lang="en-US" sz="1200" dirty="0"/>
          </a:p>
        </p:txBody>
      </p:sp>
      <p:pic>
        <p:nvPicPr>
          <p:cNvPr id="42" name="Image 6" descr="gen-dedup-8cf09da8dacfea4c2065c466ed9605cb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96298" y="4457700"/>
            <a:ext cx="228600" cy="2286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287207" y="4953305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반성 질문</a:t>
            </a:r>
            <a:endParaRPr lang="en-US" sz="1600" dirty="0"/>
          </a:p>
        </p:txBody>
      </p:sp>
      <p:sp>
        <p:nvSpPr>
          <p:cNvPr id="44" name="Text 35"/>
          <p:cNvSpPr txBox="1"/>
          <p:nvPr/>
        </p:nvSpPr>
        <p:spPr>
          <a:xfrm>
            <a:off x="8382305" y="5333695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경험에 대한 성찰.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"돌이켜보면 무엇이 가장 중요했나요?"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61695" y="6238951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질문은 구체적이고, 개방적이며, 맥락과 연결되어야 합니다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질문 vs 좋은 질문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질문</a:t>
            </a:r>
            <a:endParaRPr lang="en-US" sz="2100" dirty="0"/>
          </a:p>
        </p:txBody>
      </p:sp>
      <p:pic>
        <p:nvPicPr>
          <p:cNvPr id="15" name="Image 0" descr="gen-dedup-b33ae2340f9df83d97b6fe914957a0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14335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38098" y="2115007"/>
            <a:ext cx="3810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유도 질문: "그 경험이 힘들었죠?"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(답을 유도)</a:t>
            </a:r>
            <a:endParaRPr lang="en-US" sz="1500" dirty="0"/>
          </a:p>
        </p:txBody>
      </p:sp>
      <p:pic>
        <p:nvPicPr>
          <p:cNvPr id="17" name="Image 1" descr="gen-dedup-b33ae2340f9df83d97b6fe914957a0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309524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38098" y="3066898"/>
            <a:ext cx="3810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이중 질문: "그때 기분이 어땠고 </a:t>
            </a:r>
            <a:r>
              <a:rPr lang="en-US" sz="1500" b="1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동료는</a:t>
            </a: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                </a:t>
            </a:r>
            <a:r>
              <a:rPr lang="en-US" sz="1500" b="1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어떻게</a:t>
            </a: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반응했나요?"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(두 질문 동시)</a:t>
            </a:r>
            <a:endParaRPr lang="en-US" sz="1500" dirty="0"/>
          </a:p>
        </p:txBody>
      </p:sp>
      <p:pic>
        <p:nvPicPr>
          <p:cNvPr id="19" name="Image 2" descr="gen-dedup-b33ae2340f9df83d97b6fe914957a0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4048049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8098" y="4019702"/>
            <a:ext cx="3810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 질문: "교육에 대해 어떻게 생각하세요?"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(너무 넓음)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질문</a:t>
            </a:r>
            <a:endParaRPr lang="en-US" sz="2100" dirty="0"/>
          </a:p>
        </p:txBody>
      </p:sp>
      <p:pic>
        <p:nvPicPr>
          <p:cNvPr id="23" name="Image 3" descr="gen-dedup-bd89d8fdd19795a5234247cb7b6790d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91756" y="2143354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24598" y="2115007"/>
            <a:ext cx="3810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 질문: "그 경험에 대해 이야기해 주세요"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(자유로운 응답)</a:t>
            </a:r>
            <a:endParaRPr lang="en-US" sz="1500" dirty="0"/>
          </a:p>
        </p:txBody>
      </p:sp>
      <p:pic>
        <p:nvPicPr>
          <p:cNvPr id="25" name="Image 4" descr="gen-dedup-bd89d8fdd19795a5234247cb7b6790d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91756" y="3095244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24598" y="3066898"/>
            <a:ext cx="3810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질문: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"그때 구체적으로 어떤 상황이었나요?"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(맥락 탐색)</a:t>
            </a:r>
            <a:endParaRPr lang="en-US" sz="1500" dirty="0"/>
          </a:p>
        </p:txBody>
      </p:sp>
      <p:pic>
        <p:nvPicPr>
          <p:cNvPr id="27" name="Image 5" descr="gen-dedup-bd89d8fdd19795a5234247cb7b6790d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91756" y="4048049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24598" y="4019702"/>
            <a:ext cx="3810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 질문: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"처음 그 일을 겪었을 때 어떤 일이 있었나요?"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(구체적 경험)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2714854" y="5896051"/>
            <a:ext cx="67647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질문은 참여자가 자신의 언어로 경험을 이야기하게 합니다"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762049"/>
          </a:xfrm>
          <a:prstGeom prst="roundRect">
            <a:avLst>
              <a:gd name="adj" fmla="val 13728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인터뷰 가이드 생성</a:t>
            </a:r>
            <a:endParaRPr lang="en-US" sz="3600" dirty="0"/>
          </a:p>
        </p:txBody>
      </p:sp>
      <p:pic>
        <p:nvPicPr>
          <p:cNvPr id="17" name="Image 1" descr="gen-dedup-253dd7c7c5292d1c4dbd55f75709cc8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2253082" y="2219249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요소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주제, 핵심 질문, 대상 특성, 인터뷰 시간, 윤리 고려사항을 명시합니다.</a:t>
            </a:r>
            <a:endParaRPr lang="en-US" sz="1300" dirty="0"/>
          </a:p>
        </p:txBody>
      </p:sp>
      <p:pic>
        <p:nvPicPr>
          <p:cNvPr id="20" name="Image 2" descr="gen-dedup-b7451b660311481601a03c451beeae28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010351" y="2219249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결과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섹션별 구조(도입-탐색-심화-정리),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질문, 추적 질문,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질문이 포함된 가이드</a:t>
            </a:r>
            <a:endParaRPr lang="en-US" sz="13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9724644" y="2219249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 민감도, 유도 질문 여부,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길이, 참여자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7621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예시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191049"/>
            <a:ext cx="10096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질적 연구 전문가입니다. [연구 주제]에 대해 반구조화 인터뷰 가이드를 작성해 주세요.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도입-경험탐색-심화-정리</a:t>
            </a: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순서로 구성하고 각 질문에 대한 추적 질문(probing question)을 포함해 주세요."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5905195"/>
            <a:ext cx="10096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ai-prompt.dreamitbiz.com</a:t>
            </a:r>
            <a:endParaRPr lang="en-US" sz="12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관찰의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개념과</a:t>
            </a: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"관찰은 참여자가 말하지 않는 것을 포착하는 방법입니다"</a:t>
            </a:r>
            <a:endParaRPr lang="en-US" sz="1500" dirty="0"/>
          </a:p>
        </p:txBody>
      </p:sp>
      <p:pic>
        <p:nvPicPr>
          <p:cNvPr id="14" name="Image 1" descr="gen-dedup-b4fbd1565d47d530d6b8004280e285de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5086807" y="1295705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906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자연적 상황의 기록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906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자연적 상황에서 일어나는 행동·상호작용·환경을 체계적으로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기록하는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자료수집 방법입니다.</a:t>
            </a:r>
            <a:endParaRPr lang="en-US" sz="1500" dirty="0"/>
          </a:p>
        </p:txBody>
      </p:sp>
      <p:pic>
        <p:nvPicPr>
          <p:cNvPr id="17" name="Image 2" descr="gen-dedup-c141ac2bd2b5907ee1d7d50629a3df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906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참여관찰 vs 비참여관찰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906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참여관찰은 연구자가 현장에 직접 참여하고, 비참여관찰은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외부에서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관찰만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수행합니다. 개입 정도에 따라 선택합니다.</a:t>
            </a:r>
            <a:endParaRPr lang="en-US" sz="1500" dirty="0"/>
          </a:p>
        </p:txBody>
      </p:sp>
      <p:pic>
        <p:nvPicPr>
          <p:cNvPr id="20" name="Image 3" descr="gen-dedup-17952d1ae0ed3857070a41897654f01b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5086807" y="4724705"/>
            <a:ext cx="30449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906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emic vs etic 관점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906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내부자(emic) 관점은 참여자의 시각으로, 외부자(etic) 관점은 연구자의 분석 틀로 현상을 이해합니다. 두 관점의 긴장과 조화가 중요합니다.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62025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ebbe571595c3d071875dba55e804cc5.png"/>
          <p:cNvPicPr>
            <a:picLocks noChangeAspect="1"/>
          </p:cNvPicPr>
          <p:nvPr/>
        </p:nvPicPr>
        <p:blipFill>
          <a:blip r:embed="rId3"/>
          <a:srcRect l="-399" r="-399"/>
          <a:stretch/>
        </p:blipFill>
        <p:spPr>
          <a:xfrm>
            <a:off x="5524805" y="761695"/>
            <a:ext cx="38405" cy="509595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047902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762402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4476902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자료수집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 통합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삼각검증 기반 자료 설계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497373" y="1123798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952805"/>
            <a:ext cx="5429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190549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자료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591056"/>
            <a:ext cx="54297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경험·인식·의미를 직접 탐색. 반구조화 인터뷰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질문과 추적 질문 설계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97373" y="2838298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667305"/>
            <a:ext cx="5429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905049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관찰 자료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305556"/>
            <a:ext cx="54297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 행동·상호작용·맥락을 체계적으로 기록.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메모와 관찰 일지 작성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497373" y="4552798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381805"/>
            <a:ext cx="5429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4619549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 자료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020056"/>
            <a:ext cx="54297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공식 문서·기록물·온라인 텍스트 등 기존 자료 수집.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정책문서·보고서·SNS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게시물 포함</a:t>
            </a:r>
            <a:endParaRPr lang="en-US" sz="1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9365d643f5903d2b3d1d3b6887032d0d.png"/>
          <p:cNvPicPr>
            <a:picLocks noChangeAspect="1"/>
          </p:cNvPicPr>
          <p:nvPr/>
        </p:nvPicPr>
        <p:blipFill>
          <a:blip r:embed="rId4"/>
          <a:srcRect t="-24999" b="-24999"/>
          <a:stretch/>
        </p:blipFill>
        <p:spPr>
          <a:xfrm>
            <a:off x="952805" y="1809598"/>
            <a:ext cx="95098" cy="190195"/>
          </a:xfrm>
          <a:prstGeom prst="rect">
            <a:avLst/>
          </a:prstGeom>
        </p:spPr>
      </p:pic>
      <p:pic>
        <p:nvPicPr>
          <p:cNvPr id="17" name="Image 4" descr="gen-dedup-d0712e6dfb1777fe967168f07506e056.png"/>
          <p:cNvPicPr>
            <a:picLocks noChangeAspect="1"/>
          </p:cNvPicPr>
          <p:nvPr/>
        </p:nvPicPr>
        <p:blipFill>
          <a:blip r:embed="rId5"/>
          <a:srcRect t="-24999" b="-24999"/>
          <a:stretch/>
        </p:blipFill>
        <p:spPr>
          <a:xfrm>
            <a:off x="11144707" y="1809598"/>
            <a:ext cx="95098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33195" y="3143707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5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3619195"/>
            <a:ext cx="95253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코딩 체계와 AI 자동화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5333695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근거이론적 코딩과 코드북 설계, 그리고 AI의 보조 역할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381098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3619195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858207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근거이론 기반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구조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개방코딩에서 범주화까지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97373" y="1218895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285646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600200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 줄 단위로 읽으며 의미 단위에 코드를 부여합니다.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많은 코드를 생성합니다.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97373" y="2457907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2860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2523744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지속적 비교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2790749"/>
            <a:ext cx="60542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새로운 자료와 기존 코드를 반복적으로 비교하며 코드를 수정·통합합니다.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97373" y="3696005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3524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3762756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범주화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4028846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유사한 코드를 묶어 하위범주와 상위범주를 구성합니다.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관계를 탐색합니다.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497373" y="4934102"/>
            <a:ext cx="96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001207" y="4762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001207" y="5000854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핵심범주 도출</a:t>
            </a:r>
            <a:endParaRPr lang="en-US" sz="2100" dirty="0"/>
          </a:p>
        </p:txBody>
      </p:sp>
      <p:sp>
        <p:nvSpPr>
          <p:cNvPr id="31" name="Text 26"/>
          <p:cNvSpPr txBox="1"/>
          <p:nvPr/>
        </p:nvSpPr>
        <p:spPr>
          <a:xfrm>
            <a:off x="6001207" y="526694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분석의 중심축이 되는 핵심범주를 선정하고 이론적 포화를 확인합니다.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53d5d090757e6db6b804309544e95b3e.png"/>
          <p:cNvPicPr>
            <a:picLocks noChangeAspect="1"/>
          </p:cNvPicPr>
          <p:nvPr/>
        </p:nvPicPr>
        <p:blipFill>
          <a:blip r:embed="rId2"/>
          <a:srcRect l="-400" r="-400"/>
          <a:stretch/>
        </p:blipFill>
        <p:spPr>
          <a:xfrm>
            <a:off x="4381805" y="571500"/>
            <a:ext cx="19202" cy="5715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5715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00707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429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858207"/>
            <a:ext cx="571500" cy="57150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차이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667098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"코드는 자료의 표지이고,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의미의 구조입니다"</a:t>
            </a:r>
            <a:endParaRPr lang="en-US" sz="1500" dirty="0"/>
          </a:p>
        </p:txBody>
      </p:sp>
      <p:pic>
        <p:nvPicPr>
          <p:cNvPr id="15" name="Image 1" descr="gen-dedup-084319438f58503c5b4029892c92eeca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5119726" y="724205"/>
            <a:ext cx="237744" cy="2670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10098" y="619049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5810098" y="1047902"/>
            <a:ext cx="5239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텍스트의 의미 단위에 부여하는 짧은 표지.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밀착된 구체적 표현입니다. (예: "업무 과부하 호소")</a:t>
            </a:r>
            <a:endParaRPr lang="en-US" sz="1500" dirty="0"/>
          </a:p>
        </p:txBody>
      </p:sp>
      <p:pic>
        <p:nvPicPr>
          <p:cNvPr id="18" name="Image 2" descr="gen-dedup-f0c3d75b698797ba40f26ed2c9ba303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2152498"/>
            <a:ext cx="267005" cy="2670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10098" y="2048256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하위범주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5810098" y="2476195"/>
            <a:ext cx="5239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유사한 코드들을 묶은 첫 번째 추상화 수준.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(예: "직무 스트레스 요인")</a:t>
            </a:r>
            <a:endParaRPr lang="en-US" sz="1500" dirty="0"/>
          </a:p>
        </p:txBody>
      </p:sp>
      <p:pic>
        <p:nvPicPr>
          <p:cNvPr id="21" name="Image 3" descr="gen-dedup-f522b9096baeda498f312fbcabdafd73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086807" y="3581705"/>
            <a:ext cx="30449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10098" y="3476549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상위범주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5810098" y="3905402"/>
            <a:ext cx="5239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하위범주들을 포괄하는 더 넓은 개념적 틀.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(예: "조직 환경과 소진")</a:t>
            </a:r>
            <a:endParaRPr lang="en-US" sz="1500" dirty="0"/>
          </a:p>
        </p:txBody>
      </p:sp>
      <p:pic>
        <p:nvPicPr>
          <p:cNvPr id="24" name="Image 4" descr="gen-dedup-da0fe304d1b26a507a446dbffa17393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5086807" y="5009998"/>
            <a:ext cx="304495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10098" y="4905756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핵심범주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5810098" y="5333695"/>
            <a:ext cx="5239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전체를 관통하는 중심 설명 축.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(예: "지속적 긴장 속 전문성 재구성")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eeae03d8301c1c4e3d0da4cdd005726.png"/>
          <p:cNvPicPr>
            <a:picLocks noChangeAspect="1"/>
          </p:cNvPicPr>
          <p:nvPr/>
        </p:nvPicPr>
        <p:blipFill>
          <a:blip r:embed="rId2"/>
          <a:srcRect t="-396" b="-396"/>
          <a:stretch/>
        </p:blipFill>
        <p:spPr>
          <a:xfrm>
            <a:off x="4190695" y="1429207"/>
            <a:ext cx="381030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1622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4866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810098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1345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04589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 구성 요소</a:t>
            </a:r>
            <a:endParaRPr lang="en-US" sz="4200" dirty="0"/>
          </a:p>
        </p:txBody>
      </p:sp>
      <p:pic>
        <p:nvPicPr>
          <p:cNvPr id="24" name="Image 1" descr="gen-dedup-a8eb9d5fa1427067232485c581b23ed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3195" y="2457907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76402" y="30476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코드명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76402" y="3619195"/>
            <a:ext cx="19431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간결하고 분석적인 명칭.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핵심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반영합니다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27" name="Image 2" descr="gen-dedup-312c4c29f4abcf0c0a56338aa857f2f5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3672230" y="2457907"/>
            <a:ext cx="200254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800807" y="30476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정의</a:t>
            </a:r>
            <a:endParaRPr lang="en-US" sz="1900" dirty="0"/>
          </a:p>
        </p:txBody>
      </p:sp>
      <p:sp>
        <p:nvSpPr>
          <p:cNvPr id="29" name="Text 24"/>
          <p:cNvSpPr txBox="1"/>
          <p:nvPr/>
        </p:nvSpPr>
        <p:spPr>
          <a:xfrm>
            <a:off x="2800807" y="3619195"/>
            <a:ext cx="19431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코드가 무엇을 의미하는지 1~2문장으로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0" name="Image 3" descr="gen-dedup-248853ccc8ff3f01e7f109defb8100d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2457907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124298" y="30476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포함 기준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5124298" y="3619195"/>
            <a:ext cx="19431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코드에 해당하는 자료의 특성과 조건을 명시합니다.</a:t>
            </a:r>
            <a:endParaRPr lang="en-US" sz="1300" dirty="0"/>
          </a:p>
        </p:txBody>
      </p:sp>
      <p:pic>
        <p:nvPicPr>
          <p:cNvPr id="33" name="Image 4" descr="gen-dedup-8dcc964d86c17c06d90628cbfc5f82f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5495" y="2457907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48702" y="30476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제외 기준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7448702" y="3619195"/>
            <a:ext cx="19431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유사하지만 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해당하지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6" name="Image 5" descr="gen-dedup-8569754b11702971dd5a0713cd240f69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644530" y="2457907"/>
            <a:ext cx="200254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73107" y="30476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예시문</a:t>
            </a:r>
            <a:endParaRPr lang="en-US" sz="1900" dirty="0"/>
          </a:p>
        </p:txBody>
      </p:sp>
      <p:sp>
        <p:nvSpPr>
          <p:cNvPr id="38" name="Text 30"/>
          <p:cNvSpPr txBox="1"/>
          <p:nvPr/>
        </p:nvSpPr>
        <p:spPr>
          <a:xfrm>
            <a:off x="9773107" y="3619195"/>
            <a:ext cx="19431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추출한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대표적인 인용문을 제시합니다.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761695" y="6048756"/>
            <a:ext cx="10668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코드북은 명료하고 일관되며, 다른 연구자도 적용할 수 있어야 합니다"</a:t>
            </a:r>
            <a:endParaRPr lang="en-US" sz="21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1430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5720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381098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361919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858207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1429207"/>
            <a:ext cx="30486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전사 정리와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자동화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8582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가능성과 한계를 구분하기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5810098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papers.dreamitbiz.com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teaching.dreamitbiz.com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391302" y="1143000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095451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전사본 구조화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362456"/>
            <a:ext cx="60130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음성 전사본의 화자 분리, 단락 구성, 시간 표시 등을 AI가 정리합니다.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91302" y="2381098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333549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초기 코드 제안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2600554"/>
            <a:ext cx="59307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표현·패턴을 탐지하여 코드 후보를 제안합니다. 연구자 검토 필수.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391302" y="3619195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3571646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범주 통합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3838651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코드 묶기와 하위·상위범주 구조 제안. AI 제안을 그대로 쓰면 맥락이 손실됩니다.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391302" y="48582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48097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SNS/온라인 텍스트 분류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001207" y="5076749"/>
            <a:ext cx="60542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대량의 온라인 텍스트를 주제별로 분류하는 초기 작업에 활용 가능합니다.</a:t>
            </a:r>
            <a:endParaRPr lang="en-US" sz="13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858207"/>
            <a:ext cx="10724998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57607" cy="1238098"/>
          </a:xfrm>
          <a:prstGeom prst="roundRect">
            <a:avLst>
              <a:gd name="adj" fmla="val 1953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인터뷰 가이드 설계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314346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(예: 신입사원 적응 경험)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줄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1인 프로필을 제공합니다.</a:t>
            </a:r>
            <a:endParaRPr lang="en-US" sz="1400" dirty="0"/>
          </a:p>
        </p:txBody>
      </p:sp>
      <p:pic>
        <p:nvPicPr>
          <p:cNvPr id="20" name="Image 2" descr="gen-dedup-08a1a983205b1017dc966e1ba2919cf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67374" y="2314346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도입·본질·정리 3단계 인터뷰 가이드 초안을 만듭니다.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개방형·탐색형·확인형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6~8개 구성합니다.</a:t>
            </a:r>
            <a:endParaRPr lang="en-US" sz="14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314346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질문이 닫혀 있지 않은가?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질문과 정렬되어 있는가?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민감한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부분이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보호되는가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238598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작성 → 조별 시연 → AI 피드백 비교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0096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858207"/>
            <a:ext cx="10724998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57607" cy="1238098"/>
          </a:xfrm>
          <a:prstGeom prst="roundRect">
            <a:avLst>
              <a:gd name="adj" fmla="val 1953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코드북 초안 작성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314346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짧은 인터뷰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단편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(약 600자)을 제공합니다.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업무 경험과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갈등을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서술합니다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400" dirty="0"/>
          </a:p>
        </p:txBody>
      </p:sp>
      <p:pic>
        <p:nvPicPr>
          <p:cNvPr id="20" name="Image 2" descr="gen-dedup-08a1a983205b1017dc966e1ba2919cf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67374" y="2314346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7" y="3333902"/>
            <a:ext cx="296125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개방코딩으로 5~7개 코드를 부여하고, 코드명·정의·예시 인용·메모를 포함한 코드북 초안을 작성합니다.</a:t>
            </a:r>
            <a:endParaRPr lang="en-US" sz="14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314346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코드명이 분석적이고 간결한가?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자료에 밀착되어 있는가?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경계가 모호하지 않은가?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238598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코딩 → 조별 코드북 통합 → AI 제안과 비교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06783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762756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048756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핵심 요약</a:t>
            </a:r>
            <a:endParaRPr lang="en-US" sz="4200" dirty="0"/>
          </a:p>
        </p:txBody>
      </p:sp>
      <p:pic>
        <p:nvPicPr>
          <p:cNvPr id="25" name="Image 2" descr="gen-dedup-ad7dc5e594f0163a9596d7c886cb090e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304849" y="2553005"/>
            <a:ext cx="2862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질적 연구+AI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810305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질적 연구의 구조화·요약·초안 작성을 보조합니다. 최종 해석과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판단은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몫입니다.</a:t>
            </a:r>
            <a:endParaRPr lang="en-US" sz="1200" dirty="0"/>
          </a:p>
        </p:txBody>
      </p:sp>
      <p:pic>
        <p:nvPicPr>
          <p:cNvPr id="28" name="Image 3" descr="gen-dedup-290b3035c44befe42013b24313d4080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553005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윤리·익명화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3810305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동의·비밀보장·최소위험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원칙을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반영하고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텍스트 익명화를 체계적으로 수행합니다.</a:t>
            </a:r>
            <a:endParaRPr lang="en-US" sz="1200" dirty="0"/>
          </a:p>
        </p:txBody>
      </p:sp>
      <p:pic>
        <p:nvPicPr>
          <p:cNvPr id="31" name="Image 4" descr="gen-dedup-8475a593cb204ccc07ec70c04c69fb7e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6010351" y="2553005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인터뷰 설계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3810305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반구조화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좋은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가이드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생성합니다.</a:t>
            </a:r>
            <a:endParaRPr lang="en-US" sz="1200" dirty="0"/>
          </a:p>
        </p:txBody>
      </p:sp>
      <p:pic>
        <p:nvPicPr>
          <p:cNvPr id="34" name="Image 5" descr="gen-dedup-6d60a36e3eb2c62ea369f279b3388343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291779" y="2553005"/>
            <a:ext cx="256946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코딩 체계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448702" y="3810305"/>
            <a:ext cx="194310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개방코딩→범주화→핵심범주 도출의 흐름을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설계합니다.</a:t>
            </a:r>
            <a:endParaRPr lang="en-US" sz="1200" dirty="0"/>
          </a:p>
        </p:txBody>
      </p:sp>
      <p:pic>
        <p:nvPicPr>
          <p:cNvPr id="37" name="Image 6" descr="gen-dedup-b121960b4b6ad206e0eb05016fe36166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29900" y="255300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AI의 한계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3810305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제안은 검증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없이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수용하지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않으며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해석·맥락 손실·편향 가능성을 항상 점검합니다.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모듈에서는 코드에서 주제로, 그리고 담화 분석으로 나아갑니다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524098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048902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762195"/>
            <a:ext cx="10724998" cy="1476756"/>
          </a:xfrm>
          <a:prstGeom prst="roundRect">
            <a:avLst>
              <a:gd name="adj" fmla="val 639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762195"/>
            <a:ext cx="57607" cy="1476756"/>
          </a:xfrm>
          <a:prstGeom prst="roundRect">
            <a:avLst>
              <a:gd name="adj" fmla="val 16385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714500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6902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239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0001707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산출물 정리</a:t>
            </a:r>
            <a:endParaRPr lang="en-US" sz="3600" dirty="0"/>
          </a:p>
        </p:txBody>
      </p:sp>
      <p:pic>
        <p:nvPicPr>
          <p:cNvPr id="19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867205" y="2219249"/>
            <a:ext cx="171907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57707" y="2762402"/>
            <a:ext cx="2190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설계 초안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57707" y="3286354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주제·목적·질문·자료원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참여자·절차를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 초안</a:t>
            </a:r>
            <a:endParaRPr lang="en-US" sz="1200" dirty="0"/>
          </a:p>
        </p:txBody>
      </p:sp>
      <p:pic>
        <p:nvPicPr>
          <p:cNvPr id="22" name="Image 2" descr="gen-dedup-15ad86d6f17cef40dbc24c5fa798e298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572000" y="2219249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619195" y="2762402"/>
            <a:ext cx="2190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체크리스트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619195" y="3286354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식별정보 탐지·대체어 처리·검수 절차를 담은 익명화 가이드</a:t>
            </a:r>
            <a:endParaRPr lang="en-US" sz="1200" dirty="0"/>
          </a:p>
        </p:txBody>
      </p:sp>
      <p:pic>
        <p:nvPicPr>
          <p:cNvPr id="25" name="Image 3" descr="gen-dedup-07521c9dfc6a9861e0962bb707a394eb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334402" y="2219249"/>
            <a:ext cx="286207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81598" y="2762402"/>
            <a:ext cx="2190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가이드 초안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381598" y="3286354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도입-탐색-심화-정리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반구조화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인터뷰 질문지</a:t>
            </a:r>
            <a:endParaRPr lang="en-US" sz="1200" dirty="0"/>
          </a:p>
        </p:txBody>
      </p:sp>
      <p:pic>
        <p:nvPicPr>
          <p:cNvPr id="28" name="Image 4" descr="gen-dedup-512e41e3a5f2640552916f4c2268d53b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0139782" y="2219249"/>
            <a:ext cx="200254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44000" y="2762402"/>
            <a:ext cx="2190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 초안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9144000" y="3286354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코드명·정의·포함/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기준·예시문을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포함한 초기 코드북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143000" y="5048402"/>
            <a:ext cx="9906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모듈: 모듈 2. 주제 분석과 담화 분석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143000" y="5524805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코드에서 주제로, 그리고 텍스트의 권력과 의미를 분석합니다.</a:t>
            </a:r>
            <a:endParaRPr lang="en-US" sz="15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1619402"/>
            <a:ext cx="53336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5" y="1580998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4619549"/>
            <a:ext cx="5333695" cy="192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6305" y="4581144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810805" y="952805"/>
            <a:ext cx="3429000" cy="34290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048195" y="3333902"/>
            <a:ext cx="1524305" cy="152430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0287000" y="4000500"/>
            <a:ext cx="952805" cy="9528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1239805" y="1333195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1143000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질적 연구 AI 활용 과정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2000707"/>
            <a:ext cx="6667805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2.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분석과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 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500085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대학원생·연구자·교수자 | 방식: 실습 중심 | 시간: 5시간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5352898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코드에서 주제로, 텍스트의 권력과 의미를 읽는 두 번째 모듈</a:t>
            </a:r>
            <a:endParaRPr lang="en-US" sz="1500" dirty="0"/>
          </a:p>
        </p:txBody>
      </p:sp>
      <p:pic>
        <p:nvPicPr>
          <p:cNvPr id="19" name="Image 2" descr="gen-dedup-81179e4a53c08d12d4d343567ab8ccc4.png"/>
          <p:cNvPicPr>
            <a:picLocks noChangeAspect="1"/>
          </p:cNvPicPr>
          <p:nvPr/>
        </p:nvPicPr>
        <p:blipFill>
          <a:blip r:embed="rId3"/>
          <a:srcRect l="-203" r="-203"/>
          <a:stretch/>
        </p:blipFill>
        <p:spPr>
          <a:xfrm>
            <a:off x="8986723" y="2190902"/>
            <a:ext cx="1076249" cy="952805"/>
          </a:xfrm>
          <a:prstGeom prst="rect">
            <a:avLst/>
          </a:prstGeom>
        </p:spPr>
      </p:pic>
      <p:pic>
        <p:nvPicPr>
          <p:cNvPr id="20" name="Image 3" descr="gen-dedup-f34823097934d477d3af557b663ceb8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4598" y="3810305"/>
            <a:ext cx="571500" cy="571500"/>
          </a:xfrm>
          <a:prstGeom prst="rect">
            <a:avLst/>
          </a:prstGeom>
        </p:spPr>
      </p:pic>
      <p:pic>
        <p:nvPicPr>
          <p:cNvPr id="21" name="Image 4" descr="gen-dedup-e3eef5db9a11cffd109c8168a1d6dcd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3207" y="4286707"/>
            <a:ext cx="381305" cy="381305"/>
          </a:xfrm>
          <a:prstGeom prst="rect">
            <a:avLst/>
          </a:prstGeom>
        </p:spPr>
      </p:pic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a8dadcde2dc00b0622a63a9dc46c547e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5524805" y="857707"/>
            <a:ext cx="38405" cy="50484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1047902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333549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619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4905756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621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1에서 이어지는 분석 여정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9528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1905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연결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50510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 초안과 연구 설계가 완성된 상태에서 시작합니다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238451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476195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790749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코드를 묶어 주제를 도출하고 주제 지도를 만듭니다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524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762756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07639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텍스트의 언어 사용 방식과 권력 관계를 탐색합니다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48097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048402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검증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536295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해석문의 오류를 점검하고 맥락 중심으로 수정합니다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286500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학습목표</a:t>
            </a:r>
            <a:endParaRPr lang="en-US" sz="4200" dirty="0"/>
          </a:p>
        </p:txBody>
      </p:sp>
      <p:pic>
        <p:nvPicPr>
          <p:cNvPr id="25" name="Image 2" descr="gen-dedup-148191ff2809bf7e4230c6c2f037973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319479" y="2553005"/>
            <a:ext cx="256946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주제 분석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 이해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4095598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분석의 6단계 절차를 이해하고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발전하는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파악합니다.</a:t>
            </a:r>
            <a:endParaRPr lang="en-US" sz="1200" dirty="0"/>
          </a:p>
        </p:txBody>
      </p:sp>
      <p:pic>
        <p:nvPicPr>
          <p:cNvPr id="28" name="Image 3" descr="gen-dedup-969407f493b94921da0fd5b6b6237f8e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3642970" y="2553005"/>
            <a:ext cx="256946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코드→주제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설명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4095598"/>
            <a:ext cx="17529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묶음이 하위주제·상위주제로 발전하는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 있습니다.</a:t>
            </a:r>
            <a:endParaRPr lang="en-US" sz="1200" dirty="0"/>
          </a:p>
        </p:txBody>
      </p:sp>
      <p:pic>
        <p:nvPicPr>
          <p:cNvPr id="31" name="Image 4" descr="gen-dedup-067a42f76b2f1d00877339dee345ff8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2553005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담화 분석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4095598"/>
            <a:ext cx="17529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분석의 개념과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설계할 수 있습니다.</a:t>
            </a:r>
            <a:endParaRPr lang="en-US" sz="1200" dirty="0"/>
          </a:p>
        </p:txBody>
      </p:sp>
      <p:pic>
        <p:nvPicPr>
          <p:cNvPr id="34" name="Image 5" descr="gen-dedup-9a58c0f1cc0a1940f1afc20b77450a90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277149" y="2553005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AI 해석문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생성/검증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4095598"/>
            <a:ext cx="17529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활용한 질적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생성과 체계적 검증 방식을 익힙니다.</a:t>
            </a:r>
            <a:endParaRPr lang="en-US" sz="1200" dirty="0"/>
          </a:p>
        </p:txBody>
      </p:sp>
      <p:pic>
        <p:nvPicPr>
          <p:cNvPr id="37" name="Image 6" descr="gen-dedup-af5f9fc5109d5dc5b9eb7473e7b7aadf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601554" y="2553005"/>
            <a:ext cx="286207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과잉 해석/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점검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23211" y="4095598"/>
            <a:ext cx="1848003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 해석과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점검하며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수정할 수 있습니다.</a:t>
            </a:r>
            <a:endParaRPr lang="en-US" sz="12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496105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"주제 분석은 자료 속 반복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의미 있는 구조로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조직하는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과정입니다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500" dirty="0"/>
          </a:p>
        </p:txBody>
      </p:sp>
      <p:pic>
        <p:nvPicPr>
          <p:cNvPr id="14" name="Image 1" descr="gen-dedup-21b18c8d7476db3bde3069397fe0616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패턴 탐색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전체를 반복적으로 읽으며 유사한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표현·경험·감정·전략이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되풀이되는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지점을 포착합니다.</a:t>
            </a:r>
            <a:endParaRPr lang="en-US" sz="1500" dirty="0"/>
          </a:p>
        </p:txBody>
      </p:sp>
      <p:pic>
        <p:nvPicPr>
          <p:cNvPr id="17" name="Image 2" descr="gen-dedup-fda38a45df08d4a28ad7d68894cfaf3c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5086807" y="3010205"/>
            <a:ext cx="30449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구조 조직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발견된 패턴을 코드로 표지하고, 유사 코드를 묶어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구조화합니다.</a:t>
            </a:r>
            <a:endParaRPr lang="en-US" sz="1500" dirty="0"/>
          </a:p>
        </p:txBody>
      </p:sp>
      <p:pic>
        <p:nvPicPr>
          <p:cNvPr id="20" name="Image 3" descr="gen-dedup-fe8a921a84e9a25daa8f513a4b3164b3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119726" y="4724705"/>
            <a:ext cx="237744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 주제의 차이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코드는 자료에 밀착된 표지이고, 주제는 코드를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포괄하는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설명 단위입니다. 주제는 연구자의 해석이 개입됩니다.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2586d8b4e6cc8d64c0c08a421ce59898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5524805" y="571500"/>
            <a:ext cx="38405" cy="5715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76169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1714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26673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3619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45720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447995" y="55248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분석의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절차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4286707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Braun &amp; Clarke의 6단계 모델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6665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8668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익숙해지기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11430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자료를 반복 읽으며 전체적 인상과 초기 아이디어를 메모합니다.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1619402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181965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초기 코딩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20958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단위마다 코드를 부여하고 체계적으로 정리합니다.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25722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277154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주제화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30476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코드를 묶어 잠정적 주제 후보를 도출합니다.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35240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001207" y="37243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검토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6001207" y="40005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주제가 코드와 전체 자료를 적절히 반영하는지 점검합니다.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001207" y="4476902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001207" y="467715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명명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001207" y="49533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주제의 핵심을 포착하는 분석적 이름을 부여합니다.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6001207" y="5429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6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001207" y="562904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서술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6001207" y="5905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설명문을 작성하고 인용문을 배치합니다.</a:t>
            </a:r>
            <a:endParaRPr lang="en-US" sz="1200" dirty="0"/>
          </a:p>
        </p:txBody>
      </p:sp>
      <p:sp>
        <p:nvSpPr>
          <p:cNvPr id="36" name="C 각주"/>
          <p:cNvSpPr txBox="1"/>
          <p:nvPr/>
        </p:nvSpPr>
        <p:spPr>
          <a:xfrm>
            <a:off x="762000" y="6429756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Braun, V., &amp; Clarke, V. (2006). Using thematic analysis in psychology. Qualitative Research in Psychology, 3(2), 77–101. https://doi.org/10.1191/1478088706qp063oa</a:t>
            </a:r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11430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476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51435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주제로</a:t>
            </a:r>
            <a:endParaRPr lang="en-US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479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묶음이 주제가 되는 구조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Level 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2856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 단위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63860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원래 발화와 텍스트 조각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381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Level 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61975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97180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단위에 부여한 분석적 표지. 예: "업무 과부하", "동료 갈등"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Level 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952951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30499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코드를 묶은 첫 번째 추상화. 예: "직무 스트레스 요인"</a:t>
            </a:r>
            <a:endParaRPr lang="en-US" sz="1300" dirty="0"/>
          </a:p>
        </p:txBody>
      </p:sp>
      <p:pic>
        <p:nvPicPr>
          <p:cNvPr id="25" name="Image 3" descr="gen-dedup-9b5a3f506dbb35e6e9c8b4051a0a5a88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5467198" y="5229454"/>
            <a:ext cx="152705" cy="1335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001207" y="50484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Level 4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001207" y="52861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6001207" y="563910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하위주제를 포괄하는 개념적 틀. 예: "조직 환경과 소진"</a:t>
            </a:r>
            <a:endParaRPr lang="en-US" sz="13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3eeae03d8301c1c4e3d0da4cdd005726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6381598"/>
            <a:ext cx="3810305" cy="192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666951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2935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9175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95324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분석에 적합한 자료 유형</a:t>
            </a:r>
            <a:endParaRPr lang="en-US" sz="4200" dirty="0"/>
          </a:p>
        </p:txBody>
      </p:sp>
      <p:pic>
        <p:nvPicPr>
          <p:cNvPr id="22" name="Image 2" descr="gen-dedup-8475a593cb204ccc07ec70c04c69fb7e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867205" y="2457907"/>
            <a:ext cx="1719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047695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인터뷰·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포커스그룹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810305"/>
            <a:ext cx="2095804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경험·인식·감정이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풍부하게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담긴 구술 자료. 가장 대표적인 주제 분석 자료입니다.</a:t>
            </a:r>
            <a:endParaRPr lang="en-US" sz="1200" dirty="0"/>
          </a:p>
        </p:txBody>
      </p:sp>
      <p:pic>
        <p:nvPicPr>
          <p:cNvPr id="25" name="Image 3" descr="gen-dedup-f1cae2ebe807913d0d5dd2c794dac97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4629607" y="2457907"/>
            <a:ext cx="171907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047695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관찰노트·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현장메모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3715207" y="3810305"/>
            <a:ext cx="20007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현장에서 관찰한 행동·상호작용·환경 기록. 인터뷰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보완합니다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28" name="Image 4" descr="gen-dedup-ca4eef62cc54ff825abe4b087b26772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2749" y="2457907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047695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SNS·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온라인 게시물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810305"/>
            <a:ext cx="20007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대량의 텍스트에서 반복 패턴과 주제를 추출할 때 효과적입니다.</a:t>
            </a:r>
            <a:endParaRPr lang="en-US" sz="1200" dirty="0"/>
          </a:p>
        </p:txBody>
      </p:sp>
      <p:pic>
        <p:nvPicPr>
          <p:cNvPr id="31" name="Image 5" descr="gen-dedup-ed005ba89e4b018aa4d540a33041fd50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153498" y="2457907"/>
            <a:ext cx="1719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047695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정책문서·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기관문서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810305"/>
            <a:ext cx="20007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공식 문서의 반복 담론과 가치 구조를 분석하는 데 적합합니다.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37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분석은 자료의 종류보다 '반복되는 의미 패턴'이 있는지가 핵심 기준입니다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333902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15207"/>
            <a:ext cx="7620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코드에서 주제로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333695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패턴 탐지, 코드 클러스터링, 주제 구조화와 명명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86098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858207"/>
            <a:ext cx="10724998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57607" cy="1238098"/>
          </a:xfrm>
          <a:prstGeom prst="roundRect">
            <a:avLst>
              <a:gd name="adj" fmla="val 1953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패턴 탐지 실습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314346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전사 단편 텍스트(약 500자). 참여자가 특정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구술 자료를 사용합니다.</a:t>
            </a:r>
            <a:endParaRPr lang="en-US" sz="1400" dirty="0"/>
          </a:p>
        </p:txBody>
      </p:sp>
      <p:pic>
        <p:nvPicPr>
          <p:cNvPr id="20" name="Image 2" descr="gen-dedup-08a1a983205b1017dc966e1ba2919cf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67374" y="2314346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표현·감정 표현·대처 전략·갈등 지점·전환점을 찾아 코드를 부여합니다. 근거 문장에 밑줄 표시.</a:t>
            </a:r>
            <a:endParaRPr lang="en-US" sz="14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314346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코드가 자료에 밀착되어 있는가?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과도한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일반화는 없는가?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하나의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코드에 여러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섞이지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않았는가?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238598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작업 → 조별 비교 → 코드 합의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62025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15243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3333902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5143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클러스터링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286707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코드를 묶어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하위주제로 조직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001207" y="1285646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52430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나열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981505"/>
            <a:ext cx="60332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생성된 전체 코드를 목록화하고 각 코드의 빈도와 분포를 확인합니다.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30952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3333902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유사성 판단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3791102"/>
            <a:ext cx="57150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의미적 유사성·맥락적 일치·경험적 연관성을 기준으로 코드를 그룹화합니다.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4905756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5143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 후보 도출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5600700"/>
            <a:ext cx="648858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묶인 코드 그룹에 잠정적 하위주제 이름을 부여하고 경계를 명확히 합니다.</a:t>
            </a:r>
            <a:endParaRPr lang="en-US" sz="14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95598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429207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952598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4476902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하위주제와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도출</a:t>
            </a:r>
            <a:endParaRPr lang="en-US" sz="4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381805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수준별 구조화 방법</a:t>
            </a:r>
            <a:endParaRPr lang="en-US" sz="1800" dirty="0"/>
          </a:p>
        </p:txBody>
      </p:sp>
      <p:pic>
        <p:nvPicPr>
          <p:cNvPr id="15" name="Image 3" descr="gen-dedup-59ba8ee205fb26ed54829634a6073bd5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5486400" y="1514246"/>
            <a:ext cx="114300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01207" y="1333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001207" y="1571854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 확정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6001207" y="1971446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클러스터를 검토하여 내적 일관성이 있는 하위주제를 확정합니다.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/배타 관계를 점검합니다.</a:t>
            </a:r>
            <a:endParaRPr lang="en-US" sz="1300" dirty="0"/>
          </a:p>
        </p:txBody>
      </p:sp>
      <p:pic>
        <p:nvPicPr>
          <p:cNvPr id="19" name="Image 4" descr="gen-dedup-59ba8ee205fb26ed54829634a6073bd5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5486400" y="3038551"/>
            <a:ext cx="114300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001207" y="28575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001207" y="3095244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 구성</a:t>
            </a:r>
            <a:endParaRPr lang="en-US" sz="2400" dirty="0"/>
          </a:p>
        </p:txBody>
      </p:sp>
      <p:sp>
        <p:nvSpPr>
          <p:cNvPr id="22" name="Text 15"/>
          <p:cNvSpPr txBox="1"/>
          <p:nvPr/>
        </p:nvSpPr>
        <p:spPr>
          <a:xfrm>
            <a:off x="6001207" y="3495751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관련 하위주제들을 더 넓은 개념적 틀로 묶어 상위주제를 구성합니다.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질문과의 정합성을 확인합니다.</a:t>
            </a:r>
            <a:endParaRPr lang="en-US" sz="1300" dirty="0"/>
          </a:p>
        </p:txBody>
      </p:sp>
      <p:pic>
        <p:nvPicPr>
          <p:cNvPr id="23" name="Image 5" descr="gen-dedup-59ba8ee205fb26ed54829634a6073bd5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5486400" y="4562856"/>
            <a:ext cx="114300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01207" y="43818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001207" y="4619549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 점검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6001207" y="5020056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하위주제-상위주제 간 포함·인과·대비 관계를 점검하고,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자료를 재검토하여 누락된 주제가 없는지 확인합니다.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476195" cy="3476549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476195" cy="3476549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476549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476195" cy="3476549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3eeae03d8301c1c4e3d0da4cdd005726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5857646"/>
            <a:ext cx="3810305" cy="192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42864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76902" y="242864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42864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42864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주제의 조건</a:t>
            </a:r>
            <a:endParaRPr lang="en-US" sz="4800" dirty="0"/>
          </a:p>
        </p:txBody>
      </p:sp>
      <p:pic>
        <p:nvPicPr>
          <p:cNvPr id="22" name="Image 2" descr="gen-dedup-d47d00345e2697035b92fd8a1252883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6407" y="260055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191256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포괄성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666744"/>
            <a:ext cx="20958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 주제 아래의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충분히 포괄합니다.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너무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좁거나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지엽적이지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않아야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합니다.</a:t>
            </a:r>
            <a:endParaRPr lang="en-US" sz="1400" dirty="0"/>
          </a:p>
        </p:txBody>
      </p:sp>
      <p:pic>
        <p:nvPicPr>
          <p:cNvPr id="25" name="Image 3" descr="gen-dedup-8cef48cb41633097bedcfd96735fadb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7895" y="2600554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191256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구분성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3715207" y="3666744"/>
            <a:ext cx="2189988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다른 주제와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명확히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구별됩니다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경계가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모호하면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설명력이 떨어집니다.</a:t>
            </a:r>
            <a:endParaRPr lang="en-US" sz="1400" dirty="0"/>
          </a:p>
        </p:txBody>
      </p:sp>
      <p:pic>
        <p:nvPicPr>
          <p:cNvPr id="28" name="Image 4" descr="gen-dedup-4ec7064e81e5814d609d5f3f8cc1ee31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7438644" y="2600554"/>
            <a:ext cx="171907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91256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설명력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666744"/>
            <a:ext cx="20958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질문에 대한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답을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제공하는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 기여합니다.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목적과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연결되는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힘이 있어야 합니다.</a:t>
            </a:r>
            <a:endParaRPr lang="en-US" sz="1400" dirty="0"/>
          </a:p>
        </p:txBody>
      </p:sp>
      <p:pic>
        <p:nvPicPr>
          <p:cNvPr id="31" name="Image 5" descr="gen-dedup-b86ac96940c58a6657c81b99ec5cdebe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201046" y="2600554"/>
            <a:ext cx="1719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191256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맥락성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666744"/>
            <a:ext cx="20958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자료가 생산된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반영합니다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상황과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뿌리를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둔 주제여야 합니다.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048756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주제는 자료에 근거하되, 연구자의 분석적 시선이 담긴 해석적 구성물입니다.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714146"/>
          </a:xfrm>
          <a:prstGeom prst="roundRect">
            <a:avLst>
              <a:gd name="adj" fmla="val 33862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명명법: 모호한 명칭 vs 분석적 명칭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모호한 명칭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57707" y="2190902"/>
            <a:ext cx="286207" cy="286207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gen-dedup-943b6474708a43fde2dbc5d49d5a831c.png"/>
          <p:cNvPicPr>
            <a:picLocks noChangeAspect="1"/>
          </p:cNvPicPr>
          <p:nvPr/>
        </p:nvPicPr>
        <p:blipFill>
          <a:blip r:embed="rId2"/>
          <a:srcRect l="-16666" r="-16666"/>
          <a:stretch/>
        </p:blipFill>
        <p:spPr>
          <a:xfrm>
            <a:off x="923544" y="2257654"/>
            <a:ext cx="152705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8098" y="2210105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"스트레스"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38098" y="2514600"/>
            <a:ext cx="3905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너무 넓고 일반적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707" y="3143707"/>
            <a:ext cx="286207" cy="286207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gen-dedup-943b6474708a43fde2dbc5d49d5a831c.png"/>
          <p:cNvPicPr>
            <a:picLocks noChangeAspect="1"/>
          </p:cNvPicPr>
          <p:nvPr/>
        </p:nvPicPr>
        <p:blipFill>
          <a:blip r:embed="rId2"/>
          <a:srcRect l="-16666" r="-16666"/>
          <a:stretch/>
        </p:blipFill>
        <p:spPr>
          <a:xfrm>
            <a:off x="923544" y="3209544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38098" y="3161995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"학교 이야기"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238098" y="3467405"/>
            <a:ext cx="3905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 나열에 불과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57707" y="4095598"/>
            <a:ext cx="286207" cy="286207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gen-dedup-943b6474708a43fde2dbc5d49d5a831c.png"/>
          <p:cNvPicPr>
            <a:picLocks noChangeAspect="1"/>
          </p:cNvPicPr>
          <p:nvPr/>
        </p:nvPicPr>
        <p:blipFill>
          <a:blip r:embed="rId2"/>
          <a:srcRect l="-16666" r="-16666"/>
          <a:stretch/>
        </p:blipFill>
        <p:spPr>
          <a:xfrm>
            <a:off x="923544" y="4162349"/>
            <a:ext cx="152705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38098" y="4114800"/>
            <a:ext cx="3905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"느낌"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238098" y="4419295"/>
            <a:ext cx="3905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 힘이 없음</a:t>
            </a:r>
            <a:endParaRPr lang="en-US" sz="1200" dirty="0"/>
          </a:p>
        </p:txBody>
      </p:sp>
      <p:pic>
        <p:nvPicPr>
          <p:cNvPr id="27" name="Image 3" descr="gen-dedup-5660aafd4e510509cad43999b9581a0b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5982005" y="3219602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 명칭</a:t>
            </a:r>
            <a:endParaRPr lang="en-US" sz="2100" dirty="0"/>
          </a:p>
        </p:txBody>
      </p:sp>
      <p:sp>
        <p:nvSpPr>
          <p:cNvPr id="29" name="Shape 23"/>
          <p:cNvSpPr/>
          <p:nvPr/>
        </p:nvSpPr>
        <p:spPr>
          <a:xfrm>
            <a:off x="7048195" y="2190902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gen-dedup-bf2ccef26acab8ebca16477a205d30eb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7114946" y="2257654"/>
            <a:ext cx="152705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29500" y="2210105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"과중한 행정 업무 속 교육적 소명의 긴장"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429500" y="2514600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관계와 과정이 드러남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7048195" y="3143707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gen-dedup-bf2ccef26acab8ebca16477a205d30eb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7114946" y="3209544"/>
            <a:ext cx="152705" cy="1527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29500" y="3161995"/>
            <a:ext cx="453725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"교실 밖 관계가 만드는 교사 정체성의 재구성"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429500" y="3467405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동사·주체·변화 포함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048195" y="4095598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gen-dedup-bf2ccef26acab8ebca16477a205d30eb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7114946" y="4162349"/>
            <a:ext cx="152705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429500" y="4114800"/>
            <a:ext cx="4348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"반복되는 실패 경험 속 자기 효능감의 침식"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7429500" y="4419295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메커니즘 포착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2649931" y="5967374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"주제명에는 동사·관계·과정이 드러나야 하며, 과장은 금지입니다"</a:t>
            </a:r>
            <a:endParaRPr lang="en-US" sz="16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047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762402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476902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047902"/>
            <a:ext cx="32388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지도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450385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"주제 지도는 분석 결과를 한눈에 보여주는 시각적 요약입니다"</a:t>
            </a:r>
            <a:endParaRPr lang="en-US" sz="1600" dirty="0"/>
          </a:p>
        </p:txBody>
      </p:sp>
      <p:pic>
        <p:nvPicPr>
          <p:cNvPr id="14" name="Image 1" descr="gen-dedup-8a5674fda4c66a7ab2b1a74387c6dd55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5105095" y="1200607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047902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간 관계 시각화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524305"/>
            <a:ext cx="56199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상위주제-하위주제 간 계층 관계, 주제 간 인과·동시 </a:t>
            </a:r>
            <a:r>
              <a:rPr lang="en-US" sz="16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발생·대비</a:t>
            </a: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관계를</a:t>
            </a: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도식으로 표현합니다.</a:t>
            </a:r>
            <a:endParaRPr lang="en-US" sz="1600" dirty="0"/>
          </a:p>
        </p:txBody>
      </p:sp>
      <p:pic>
        <p:nvPicPr>
          <p:cNvPr id="17" name="Image 2" descr="gen-dedup-d0d91229ecee3d33732645a937d530c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2915107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762402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제작 방법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238805"/>
            <a:ext cx="56199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중심에 핵심 주제를 놓고 하위주제를 방사형으로 배치합니다. </a:t>
            </a:r>
          </a:p>
          <a:p>
            <a:pPr marL="0" indent="0" algn="l">
              <a:buNone/>
            </a:pPr>
            <a:r>
              <a:rPr lang="en-US" sz="16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화살표로</a:t>
            </a: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영향 관계, 점선으로 잠정적 연결을 표시합니다.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810098" y="4476902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 장면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5810098" y="4953305"/>
            <a:ext cx="5964368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장의 도식, 논의 장의 프레임, 발표 자료의 구조도로 활용합니다. 독자가 분석 전체를 빠르게 파악하는 데 도움을 줍니다.</a:t>
            </a:r>
            <a:endParaRPr lang="en-US" sz="1600" dirty="0"/>
          </a:p>
        </p:txBody>
      </p:sp>
      <p:pic>
        <p:nvPicPr>
          <p:cNvPr id="22" name="Image 5" descr="gen-dedup-581a283fdab3ee3f5827fc8ab8563ed1.png">
            <a:extLst>
              <a:ext uri="{FF2B5EF4-FFF2-40B4-BE49-F238E27FC236}">
                <a16:creationId xmlns:a16="http://schemas.microsoft.com/office/drawing/2014/main" id="{0DD843D6-90CA-EC34-E6A7-5933EC42594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4297" y="4645057"/>
            <a:ext cx="228600" cy="228600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429146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769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코드북과 주제표 연결</a:t>
            </a:r>
            <a:endParaRPr lang="en-US" sz="4200" dirty="0"/>
          </a:p>
        </p:txBody>
      </p:sp>
      <p:pic>
        <p:nvPicPr>
          <p:cNvPr id="22" name="Image 2" descr="gen-dedup-00203266fb9ec950f0dea82ffd7670c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886407" y="2553005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코드 정의 관리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05256" y="3715207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코드의 정의·포함/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기준·예시문을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코드북에서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유지합니다.</a:t>
            </a:r>
            <a:endParaRPr lang="en-US" sz="1300" dirty="0"/>
          </a:p>
        </p:txBody>
      </p:sp>
      <p:pic>
        <p:nvPicPr>
          <p:cNvPr id="25" name="Image 3" descr="gen-dedup-690c345222b0d2d095f941ba2046d6e5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4647895" y="255300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주제 구조 매핑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666744" y="3715207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코드가 어떤 하위주제에, 하위주제가 어떤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상위주제에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속하는지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매핑 표를 작성합니다.</a:t>
            </a:r>
            <a:endParaRPr lang="en-US" sz="1300" dirty="0"/>
          </a:p>
        </p:txBody>
      </p:sp>
      <p:pic>
        <p:nvPicPr>
          <p:cNvPr id="28" name="Image 4" descr="gen-dedup-2c5c9813b52f6db2f92a62fdf92cbb75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410298" y="2553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버전 관리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429146" y="3715207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코딩과 주제화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과정에서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변경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이력을 기록합니다.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코드를 통합/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분리했는지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메모합니다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Image 5" descr="gen-dedup-581a283fdab3ee3f5827fc8ab8563ed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72700" y="2553005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감사 추적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191549" y="3715207"/>
            <a:ext cx="2190902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다른 연구자가 동일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경로를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따라갈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 있도록 판단 근거를 문서화합니다. </a:t>
            </a:r>
          </a:p>
          <a:p>
            <a:pPr marL="0" indent="0" algn="ctr">
              <a:buNone/>
            </a:pP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일관성과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투명성을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코드북과 주제표는 분석의 엄격성을 증명하는 핵심 문서입니다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9365d643f5903d2b3d1d3b6887032d0d.png"/>
          <p:cNvPicPr>
            <a:picLocks noChangeAspect="1"/>
          </p:cNvPicPr>
          <p:nvPr/>
        </p:nvPicPr>
        <p:blipFill>
          <a:blip r:embed="rId4"/>
          <a:srcRect t="-24999" b="-24999"/>
          <a:stretch/>
        </p:blipFill>
        <p:spPr>
          <a:xfrm>
            <a:off x="952805" y="1809598"/>
            <a:ext cx="95098" cy="190195"/>
          </a:xfrm>
          <a:prstGeom prst="rect">
            <a:avLst/>
          </a:prstGeom>
        </p:spPr>
      </p:pic>
      <p:pic>
        <p:nvPicPr>
          <p:cNvPr id="17" name="Image 4" descr="gen-dedup-d0712e6dfb1777fe967168f07506e056.png"/>
          <p:cNvPicPr>
            <a:picLocks noChangeAspect="1"/>
          </p:cNvPicPr>
          <p:nvPr/>
        </p:nvPicPr>
        <p:blipFill>
          <a:blip r:embed="rId5"/>
          <a:srcRect t="-24999" b="-24999"/>
          <a:stretch/>
        </p:blipFill>
        <p:spPr>
          <a:xfrm>
            <a:off x="11144707" y="1809598"/>
            <a:ext cx="95098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33195" y="3143707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3619195"/>
            <a:ext cx="95253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활용한 주제 분석 보조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5333695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군집, 주제 요약 초안 생성, 품질 점검과 인간 검증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2771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분석에서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AI의 역할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패턴의 후보를 제안하지만, 주제의 의미를 결정하는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것은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연구자입니다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500" dirty="0"/>
          </a:p>
        </p:txBody>
      </p:sp>
      <p:pic>
        <p:nvPicPr>
          <p:cNvPr id="14" name="Image 1" descr="gen-dedup-c1e51b5854aa76e7f57a2bc6cf15344f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묶기 제안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유사한 코드를 군집화하여 잠정적 하위주제 후보를 제안합니다.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유사성 기반으로 빠르게 초안을 생성합니다.</a:t>
            </a:r>
            <a:endParaRPr lang="en-US" sz="1500" dirty="0"/>
          </a:p>
        </p:txBody>
      </p:sp>
      <p:pic>
        <p:nvPicPr>
          <p:cNvPr id="17" name="Image 2" descr="gen-dedup-83c7b0aaa0ff4df742b24c421d15ad7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패턴·주제 후보 탐색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표현·감정 패턴·전략 유형을 탐지하여 주제 후보를 나열합니다. 빈도와 분포 정보를 제공합니다.</a:t>
            </a:r>
            <a:endParaRPr lang="en-US" sz="1500" dirty="0"/>
          </a:p>
        </p:txBody>
      </p:sp>
      <p:pic>
        <p:nvPicPr>
          <p:cNvPr id="20" name="Image 3" descr="gen-dedup-c81f6fe84762fefea3cf1e9446ad02c4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설명문 초안 생성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요약 설명문 초안을 작성합니다.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근거 불명·맥락 손실·편향 가능성이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있으므로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반드시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검토해야 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667098"/>
            <a:ext cx="10724998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667098"/>
            <a:ext cx="57607" cy="1762049"/>
          </a:xfrm>
          <a:prstGeom prst="roundRect">
            <a:avLst>
              <a:gd name="adj" fmla="val 13728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주제 요약 초안 생성</a:t>
            </a:r>
            <a:endParaRPr lang="en-US" sz="3600" dirty="0"/>
          </a:p>
        </p:txBody>
      </p:sp>
      <p:pic>
        <p:nvPicPr>
          <p:cNvPr id="17" name="Image 1" descr="gen-dedup-3c380b855a8c95d1dee5872585c0c72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2266798" y="2219249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요소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대표 인용문 3~5개와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코드 리스트를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제공합니다.</a:t>
            </a:r>
            <a:endParaRPr lang="en-US" sz="1400" dirty="0"/>
          </a:p>
        </p:txBody>
      </p:sp>
      <p:pic>
        <p:nvPicPr>
          <p:cNvPr id="20" name="Image 2" descr="gen-dedup-1089c05490c35b2f49212f10e27539dd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5982005" y="2219249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결과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주제당 3문장 요약 + 대표 인용 1개가 포함된 설명문 초안이 생성됩니다.</a:t>
            </a:r>
            <a:endParaRPr lang="en-US" sz="1400" dirty="0"/>
          </a:p>
        </p:txBody>
      </p:sp>
      <p:pic>
        <p:nvPicPr>
          <p:cNvPr id="23" name="Image 3" descr="gen-dedup-c205f9a33e32bbff6f50672b6afdc4b6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9696298" y="2219249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요약이 자료에 근거하는가?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일반론에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빠지지 않았는가?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정확한가?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858207"/>
            <a:ext cx="10096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예시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286146"/>
            <a:ext cx="1098468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"다음 코드와 인용문을 바탕으로 이 주제를 3문장으로 요약해 주세요. 요약은 자료 근거에 밀착하고 과잉 해석을 피해 주세요."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6001207"/>
            <a:ext cx="10096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ai-prompt.dreamitbiz.com</a:t>
            </a:r>
            <a:endParaRPr lang="en-US" sz="12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715207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715207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715207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715207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715207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429146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설명문 품질 점검 체크리스트</a:t>
            </a:r>
            <a:endParaRPr lang="en-US" sz="4200" dirty="0"/>
          </a:p>
        </p:txBody>
      </p:sp>
      <p:pic>
        <p:nvPicPr>
          <p:cNvPr id="25" name="Image 2" descr="gen-dedup-48741767aaea1747d89f88670ad16ac9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333195" y="255300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과도한 일반화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905402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 근거하지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광범위한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주장이 포함되어 있지는 않은가?</a:t>
            </a:r>
            <a:endParaRPr lang="en-US" sz="1200" dirty="0"/>
          </a:p>
        </p:txBody>
      </p:sp>
      <p:pic>
        <p:nvPicPr>
          <p:cNvPr id="28" name="Image 3" descr="gen-dedup-2007c5b8c98238bbee021e5e2dafca33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3657600" y="2553005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근거 부족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3905402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설명문의 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문장이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코드나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대응하는가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</a:t>
            </a:r>
            <a:endParaRPr lang="en-US" sz="1200" dirty="0"/>
          </a:p>
        </p:txBody>
      </p:sp>
      <p:pic>
        <p:nvPicPr>
          <p:cNvPr id="31" name="Image 4" descr="gen-dedup-6de11794cd8996ac58f2d1c47f9ba3f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2553005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맥락 비약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3905402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구체적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상황을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건너뛰고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바로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도약하지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않았는가?</a:t>
            </a:r>
            <a:endParaRPr lang="en-US" sz="1200" dirty="0"/>
          </a:p>
        </p:txBody>
      </p:sp>
      <p:pic>
        <p:nvPicPr>
          <p:cNvPr id="34" name="Image 5" descr="gen-dedup-2ebb48c8b9cbdedccf43a6c688dbae6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05495" y="2553005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사례 왜곡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3905402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인용문의 원래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왜곡하여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맞추고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있지는 않은가?</a:t>
            </a:r>
            <a:endParaRPr lang="en-US" sz="1200" dirty="0"/>
          </a:p>
        </p:txBody>
      </p:sp>
      <p:pic>
        <p:nvPicPr>
          <p:cNvPr id="37" name="Image 6" descr="gen-dedup-e9071036f3e115530b0a6774a3d75a08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10629900" y="255300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전형성 오판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3905402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소수 사례를 전체 참여자의 경험으로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일반화하고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않은가?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설명문은 자료의 대변인이어야 하며, 연구자의 희망을 투영하는 곳이 아닙니다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7616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190902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6191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5048402"/>
            <a:ext cx="571500" cy="571500"/>
          </a:xfrm>
          <a:prstGeom prst="ellipse">
            <a:avLst/>
          </a:prstGeom>
          <a:solidFill>
            <a:srgbClr val="F8F9FA"/>
          </a:solidFill>
          <a:ln w="25400">
            <a:solidFill>
              <a:srgbClr val="7A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인간 연구자의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고유 책임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496105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"AI가 제안한 주제를 수용하는 것이 아니라, 연구자가 주제를 구성하는 것입니다"</a:t>
            </a:r>
            <a:endParaRPr lang="en-US" sz="1500" dirty="0"/>
          </a:p>
        </p:txBody>
      </p:sp>
      <p:pic>
        <p:nvPicPr>
          <p:cNvPr id="15" name="Image 1" descr="gen-dedup-4786cc95a39933a380336954f3d0ad40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5105095" y="914400"/>
            <a:ext cx="267005" cy="2670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10098" y="80924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판단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810098" y="1190549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상황·배경·관계를 고려한 맥락 기반 해석은 AI가 대체할 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없는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고유의 역할입니다.</a:t>
            </a:r>
            <a:endParaRPr lang="en-US" sz="1300" dirty="0"/>
          </a:p>
        </p:txBody>
      </p:sp>
      <p:pic>
        <p:nvPicPr>
          <p:cNvPr id="18" name="Image 2" descr="gen-dedup-8bbe74e10dd9ed1e44642085d9a778c7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105095" y="2343607"/>
            <a:ext cx="267005" cy="2670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10098" y="2238451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검증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810098" y="2619756"/>
            <a:ext cx="61365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제안 주제가 자료 전체와 정합하는지, 반례는 없는지 직접 점검합니다.</a:t>
            </a:r>
            <a:endParaRPr lang="en-US" sz="1300" dirty="0"/>
          </a:p>
        </p:txBody>
      </p:sp>
      <p:pic>
        <p:nvPicPr>
          <p:cNvPr id="21" name="Image 3" descr="gen-dedup-4b0c60487aefbd9243a22d70422773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3771900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10098" y="366674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명명 책임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810098" y="4048049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주제의 이름은 분석적 힘을 담아야 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동사·관계·과정이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드러나는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명칭을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연구자가 직접 부여합니다.</a:t>
            </a:r>
            <a:endParaRPr lang="en-US" sz="1300" dirty="0"/>
          </a:p>
        </p:txBody>
      </p:sp>
      <p:pic>
        <p:nvPicPr>
          <p:cNvPr id="24" name="Image 4" descr="gen-dedup-5b351d422a96e62ff041ec140cb6631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05095" y="5201107"/>
            <a:ext cx="267005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10098" y="5095951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 재현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810098" y="5477256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경험이 왜곡되지 않도록 보호하며,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맥락을 보존하는 책임이 있습니다.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33319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952598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4572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설명문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286707"/>
            <a:ext cx="3048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근거 → 해석 → 의미의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3단 구조</a:t>
            </a:r>
            <a:endParaRPr lang="en-US" sz="1800" dirty="0"/>
          </a:p>
        </p:txBody>
      </p:sp>
      <p:pic>
        <p:nvPicPr>
          <p:cNvPr id="15" name="Image 3" descr="gen-dedup-871d74d138b93c466a2f292558486053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477256" y="1419149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01207" y="1238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자료 근거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001207" y="1476756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 대표 인용문 제시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6001207" y="1819656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 주제에 속하는 코드와 인용문을 제시합니다.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"참여자들은 ~라고 보고하였다"의 형태로 근거를 명시합니다.</a:t>
            </a:r>
            <a:endParaRPr lang="en-US" sz="1300" dirty="0"/>
          </a:p>
        </p:txBody>
      </p:sp>
      <p:pic>
        <p:nvPicPr>
          <p:cNvPr id="19" name="Image 4" descr="gen-dedup-cd89b3dea144ccc4d6de5b3a86ccb98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77256" y="3038551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001207" y="28575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해석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001207" y="3095244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분석적 시선으로 의미 설명</a:t>
            </a:r>
            <a:endParaRPr lang="en-US" sz="2100" dirty="0"/>
          </a:p>
        </p:txBody>
      </p:sp>
      <p:sp>
        <p:nvSpPr>
          <p:cNvPr id="22" name="Text 15"/>
          <p:cNvSpPr txBox="1"/>
          <p:nvPr/>
        </p:nvSpPr>
        <p:spPr>
          <a:xfrm>
            <a:off x="6001207" y="3438144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패턴의 의미를 설명합니다. "이는 ~를 의미하며,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~한 맥락에서 이해될 수 있다"의 구조로 작성합니다.</a:t>
            </a:r>
            <a:endParaRPr lang="en-US" sz="1300" dirty="0"/>
          </a:p>
        </p:txBody>
      </p:sp>
      <p:pic>
        <p:nvPicPr>
          <p:cNvPr id="23" name="Image 5" descr="gen-dedup-702032bbd3fb037e20a8f1a02ddc0175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5477256" y="4657954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01207" y="4476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의미와 시사점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001207" y="4714646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질문에 대한 답 제공 및 연결</a:t>
            </a:r>
            <a:endParaRPr lang="en-US" sz="2100" dirty="0"/>
          </a:p>
        </p:txBody>
      </p:sp>
      <p:sp>
        <p:nvSpPr>
          <p:cNvPr id="26" name="Text 18"/>
          <p:cNvSpPr txBox="1"/>
          <p:nvPr/>
        </p:nvSpPr>
        <p:spPr>
          <a:xfrm>
            <a:off x="6001207" y="5057546"/>
            <a:ext cx="62188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주제가 기존 연구와 어떻게 연결되는지 서술하며 반례나 한계도 명시합니다.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95330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194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19402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9365d643f5903d2b3d1d3b6887032d0d.png"/>
          <p:cNvPicPr>
            <a:picLocks noChangeAspect="1"/>
          </p:cNvPicPr>
          <p:nvPr/>
        </p:nvPicPr>
        <p:blipFill>
          <a:blip r:embed="rId4"/>
          <a:srcRect t="-24999" b="-24999"/>
          <a:stretch/>
        </p:blipFill>
        <p:spPr>
          <a:xfrm>
            <a:off x="952805" y="1762049"/>
            <a:ext cx="95098" cy="190195"/>
          </a:xfrm>
          <a:prstGeom prst="rect">
            <a:avLst/>
          </a:prstGeom>
        </p:spPr>
      </p:pic>
      <p:pic>
        <p:nvPicPr>
          <p:cNvPr id="17" name="Image 4" descr="gen-dedup-d0712e6dfb1777fe967168f07506e056.png"/>
          <p:cNvPicPr>
            <a:picLocks noChangeAspect="1"/>
          </p:cNvPicPr>
          <p:nvPr/>
        </p:nvPicPr>
        <p:blipFill>
          <a:blip r:embed="rId5"/>
          <a:srcRect t="-24999" b="-24999"/>
          <a:stretch/>
        </p:blipFill>
        <p:spPr>
          <a:xfrm>
            <a:off x="11144707" y="1762049"/>
            <a:ext cx="95098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38805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15207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297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텍스트가 의미와 권력을 구성하는 방식 읽기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828644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524451"/>
            <a:ext cx="309524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"담화 분석은 '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말했는가’가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아니라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'어떻게, 왜 그렇게 말했는가'를 묻습니다"</a:t>
            </a:r>
            <a:endParaRPr lang="en-US" sz="1500" dirty="0"/>
          </a:p>
        </p:txBody>
      </p:sp>
      <p:pic>
        <p:nvPicPr>
          <p:cNvPr id="14" name="Image 1" descr="gen-dedup-7073d5e0e0811a3e1dc1136ee55da50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언어와 의미 구성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텍스트의 언어 선택이 어떻게 특정 의미를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만들어내고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정당화하는지를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탐색합니다.</a:t>
            </a:r>
            <a:endParaRPr lang="en-US" sz="1500" dirty="0"/>
          </a:p>
        </p:txBody>
      </p:sp>
      <p:pic>
        <p:nvPicPr>
          <p:cNvPr id="17" name="Image 2" descr="gen-dedup-228317bdab5eaec2069d9e891bd2159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권력과 관계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61575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누가 말할 권리를 갖는가, 어떤 목소리가 배제되는가를 분석합니다.</a:t>
            </a:r>
            <a:endParaRPr lang="en-US" sz="1500" dirty="0"/>
          </a:p>
        </p:txBody>
      </p:sp>
      <p:pic>
        <p:nvPicPr>
          <p:cNvPr id="20" name="Image 3" descr="gen-dedup-ce94b3e6ee11c34a5b87e0b82cc6f38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텍스트-맥락-권력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63175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텍스트의 생산 맥락, 유통 경로, 수용 방식이 모두 분석 대상입니다.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분석이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필요한 이유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"내용 요약을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넘어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'어떻게 말하는가'에 주목할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분석이 필요합니다"</a:t>
            </a:r>
            <a:endParaRPr lang="en-US" sz="1500" dirty="0"/>
          </a:p>
        </p:txBody>
      </p:sp>
      <p:pic>
        <p:nvPicPr>
          <p:cNvPr id="14" name="Image 1" descr="gen-dedup-fb2b68d3cc18d218e2aa3b8969b9575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언어 사용의 전략성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8603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사건도 어떤 단어를 선택하느냐에 따라 의미가 달라집니다.</a:t>
            </a:r>
            <a:endParaRPr lang="en-US" sz="1500" dirty="0"/>
          </a:p>
        </p:txBody>
      </p:sp>
      <p:pic>
        <p:nvPicPr>
          <p:cNvPr id="17" name="Image 2" descr="gen-dedup-20655b3e8f94632bdd2f718c17ff5f0c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5086807" y="3010205"/>
            <a:ext cx="30449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정체성과 정당화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텍스트가 특정 집단의 정체성을 구성하고 어떤 행위를 정당화하는지 분석합니다.</a:t>
            </a:r>
            <a:endParaRPr lang="en-US" sz="1500" dirty="0"/>
          </a:p>
        </p:txBody>
      </p:sp>
      <p:pic>
        <p:nvPicPr>
          <p:cNvPr id="20" name="Image 3" descr="gen-dedup-2b824e545461f70ac24d185f5c3de4c4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086807" y="4724705"/>
            <a:ext cx="30449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배제된 목소리 발견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공식 담화에서 누락된 관점과 침묵된 경험을 드러냅니다.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904695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1904695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1904695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1904695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1904695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048756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 자료 선택</a:t>
            </a:r>
            <a:endParaRPr lang="en-US" sz="4200" dirty="0"/>
          </a:p>
        </p:txBody>
      </p:sp>
      <p:pic>
        <p:nvPicPr>
          <p:cNvPr id="25" name="Image 2" descr="gen-dedup-8eaee73270260120558a32848e01c50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195" y="236189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2952598"/>
            <a:ext cx="19431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정책문서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619195"/>
            <a:ext cx="17529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법령·지침·계획서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문서를 통해 제도적 담론과 정당화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28" name="Image 3" descr="gen-dedup-421c0ddab86b7c3d9e4d2904a7e4ebd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361895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2952598"/>
            <a:ext cx="19431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기사·보도자료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3619195"/>
            <a:ext cx="17529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언론이 특정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어떻게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다루는지 프레임 구성 방식을 분석합니다.</a:t>
            </a:r>
            <a:endParaRPr lang="en-US" sz="1300" dirty="0"/>
          </a:p>
        </p:txBody>
      </p:sp>
      <p:pic>
        <p:nvPicPr>
          <p:cNvPr id="31" name="Image 4" descr="gen-dedup-8d584b8fc5b668ef6de51876cbe03469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6010351" y="2361895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2952598"/>
            <a:ext cx="19431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 문서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3619195"/>
            <a:ext cx="17529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조직의 공식 입장, 보고서, 안내문에 담긴 가치와 범주화를 탐색합니다.</a:t>
            </a:r>
            <a:endParaRPr lang="en-US" sz="1300" dirty="0"/>
          </a:p>
        </p:txBody>
      </p:sp>
      <p:pic>
        <p:nvPicPr>
          <p:cNvPr id="34" name="Image 5" descr="gen-dedup-0665c0ab912569b556c378ea60a3fcd5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320126" y="2361895"/>
            <a:ext cx="200254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2952598"/>
            <a:ext cx="19431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SNS·캠페인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3619195"/>
            <a:ext cx="17529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온라인 담론의 확산 방식과 대중적 프레임 구성을 분석합니다.</a:t>
            </a:r>
            <a:endParaRPr lang="en-US" sz="1300" dirty="0"/>
          </a:p>
        </p:txBody>
      </p:sp>
      <p:pic>
        <p:nvPicPr>
          <p:cNvPr id="37" name="Image 6" descr="gen-dedup-5074702944067e6ffbabf85f9d7873c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29900" y="236189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2952598"/>
            <a:ext cx="19431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선정 기준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3619195"/>
            <a:ext cx="17529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대표성·비교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시기성·접근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가능성을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고려하여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선정합니다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14385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"담화 분석 자료는 '왜 이렇게 쓰였는가'가 중요합니다"</a:t>
            </a:r>
            <a:endParaRPr lang="en-US" sz="18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00707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00707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34049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666951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2935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9175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95324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 질문 프레임</a:t>
            </a:r>
            <a:endParaRPr lang="en-US" sz="4200" dirty="0"/>
          </a:p>
        </p:txBody>
      </p:sp>
      <p:pic>
        <p:nvPicPr>
          <p:cNvPr id="22" name="Image 2" descr="gen-dedup-21ca03277920193882870a849863e19c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852574" y="2457907"/>
            <a:ext cx="200254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047695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누가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57164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행위자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952805" y="3905402"/>
            <a:ext cx="2000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 위치에서 발화하는가?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제도적 권한은 무엇인가?</a:t>
            </a:r>
            <a:endParaRPr lang="en-US" sz="1200" dirty="0"/>
          </a:p>
        </p:txBody>
      </p:sp>
      <p:pic>
        <p:nvPicPr>
          <p:cNvPr id="26" name="Image 3" descr="gen-dedup-db6d55a085b92d0897c96800be60dca9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4586630" y="2457907"/>
            <a:ext cx="256946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619195" y="3047695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 언어로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3715207" y="357164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범주·은유·수사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3715207" y="3905402"/>
            <a:ext cx="2000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단어·은유·수사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무엇인가?</a:t>
            </a:r>
            <a:endParaRPr lang="en-US" sz="1200" dirty="0"/>
          </a:p>
        </p:txBody>
      </p:sp>
      <p:pic>
        <p:nvPicPr>
          <p:cNvPr id="30" name="Image 4" descr="gen-dedup-be6b23953850917a95ae5292742d43b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2749" y="2457907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381598" y="3047695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357164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정당화/비판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6476695" y="3905402"/>
            <a:ext cx="2000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 행위·정책을 정당화하거나 비판하는가?</a:t>
            </a:r>
            <a:endParaRPr lang="en-US" sz="1200" dirty="0"/>
          </a:p>
        </p:txBody>
      </p:sp>
      <p:pic>
        <p:nvPicPr>
          <p:cNvPr id="34" name="Image 5" descr="gen-dedup-f0286f9a45a61d28877d22d95f27a64c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096805" y="2457907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144000" y="3047695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누구를 배제</a:t>
            </a:r>
            <a:endParaRPr lang="en-US" sz="1900" dirty="0"/>
          </a:p>
        </p:txBody>
      </p:sp>
      <p:sp>
        <p:nvSpPr>
          <p:cNvPr id="36" name="Text 28"/>
          <p:cNvSpPr txBox="1"/>
          <p:nvPr/>
        </p:nvSpPr>
        <p:spPr>
          <a:xfrm>
            <a:off x="9239098" y="357164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침묵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9239098" y="3905402"/>
            <a:ext cx="2000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언급되지 않는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집단이나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관점은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무엇인가?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61695" y="5857646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분석의 핵심 질문은 '무엇이 당연하게 여겨지는가'입니다</a:t>
            </a:r>
            <a:endParaRPr lang="en-US" sz="18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95598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381098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3619195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858207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143707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</a:t>
            </a: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</a:t>
            </a: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분절과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표현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381805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분절과 탐지의 2단계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095451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333195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문장/단락 분절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676095"/>
            <a:ext cx="65891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 분석 가능한 단위로 나눕니다. 개별 주장·논점별·화자별로 구분합니다.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333549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572207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어휘 탐지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915107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자주 등장하는 핵심 단어와 구문을 표시합니다.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571646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810305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은유·대조 분석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153205"/>
            <a:ext cx="60542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추상적 개념을 구체화하는 비유 표현과 이분법적 대립 구조를 식별합니다.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48097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048402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배제된 목소리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5391302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언급되지 않는 관점이나 침묵된 집단을 파악합니다.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95330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38805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792785" y="3715207"/>
            <a:ext cx="1060704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담화 분석 보조와 해석 검증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297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요약, 프레임 분류, 과잉 해석 점검과 맥락 중심 해석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362206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80744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762049"/>
          </a:xfrm>
          <a:prstGeom prst="roundRect">
            <a:avLst>
              <a:gd name="adj" fmla="val 13728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343254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분석용 AI 프롬프트</a:t>
            </a:r>
            <a:endParaRPr lang="en-US" sz="3600" dirty="0"/>
          </a:p>
        </p:txBody>
      </p:sp>
      <p:pic>
        <p:nvPicPr>
          <p:cNvPr id="17" name="Image 1" descr="gen-dedup-253dd7c7c5292d1c4dbd55f75709cc87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2253082" y="2219249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요소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대상 텍스트 + 담화 분석 질문(누가/어떤 언어로/무엇을/누구를 배제)</a:t>
            </a:r>
            <a:endParaRPr lang="en-US" sz="1300" dirty="0"/>
          </a:p>
        </p:txBody>
      </p:sp>
      <p:pic>
        <p:nvPicPr>
          <p:cNvPr id="20" name="Image 2" descr="gen-dedup-b7451b660311481601a03c451beeae28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6010351" y="2219249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결과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단락별 요지, 반복 핵심어, 행위자-행위 매핑, 프레임 후보 분류</a:t>
            </a:r>
            <a:endParaRPr lang="en-US" sz="13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219249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294622" y="3238805"/>
            <a:ext cx="304769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텍스트에 없는 의도를 추정하지 않았는가? 가치판단 삽입은 없는가?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7621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예시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191049"/>
            <a:ext cx="10096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"다음 정책문서를 담화 분석해 주세요: 1)단락별 핵심 주장 2)반복 어휘와 은유 3)행위자와 책임 귀속 4)배제된 관점."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5905195"/>
            <a:ext cx="10096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claude.dreamitbiz.com</a:t>
            </a:r>
            <a:endParaRPr lang="en-US" sz="12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담화 분석 초안: 유용한 것 vs 위험한 것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유용한 것</a:t>
            </a:r>
            <a:endParaRPr lang="en-US" sz="2100" dirty="0"/>
          </a:p>
        </p:txBody>
      </p:sp>
      <p:pic>
        <p:nvPicPr>
          <p:cNvPr id="15" name="Image 0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2238451"/>
            <a:ext cx="171907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33195" y="2210105"/>
            <a:ext cx="4230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표현 목록(빈도와 분포를 빠르게 정리)</a:t>
            </a:r>
            <a:endParaRPr lang="en-US" sz="1500" dirty="0"/>
          </a:p>
        </p:txBody>
      </p:sp>
      <p:pic>
        <p:nvPicPr>
          <p:cNvPr id="17" name="Image 1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3191256"/>
            <a:ext cx="171907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33195" y="3161995"/>
            <a:ext cx="3620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프레임 </a:t>
            </a:r>
            <a:r>
              <a:rPr lang="en-US" sz="1500" b="1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후보</a:t>
            </a: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분류</a:t>
            </a:r>
            <a:endParaRPr lang="en-US" sz="1500" b="1" dirty="0">
              <a:solidFill>
                <a:srgbClr val="495057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(논리 구조와 정당화 패턴 초안)</a:t>
            </a:r>
            <a:endParaRPr lang="en-US" sz="1500" dirty="0"/>
          </a:p>
        </p:txBody>
      </p:sp>
      <p:pic>
        <p:nvPicPr>
          <p:cNvPr id="19" name="Image 2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4143146"/>
            <a:ext cx="171907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33195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 구조(단락별 핵심 주장 파악)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위험한 것</a:t>
            </a:r>
            <a:endParaRPr lang="en-US" sz="2100" dirty="0"/>
          </a:p>
        </p:txBody>
      </p:sp>
      <p:pic>
        <p:nvPicPr>
          <p:cNvPr id="23" name="Image 3" descr="gen-dedup-89744e00052846f9d424b97b95b67b69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7272223" y="2247595"/>
            <a:ext cx="219456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9695" y="2210105"/>
            <a:ext cx="4348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 외 추정(자료에 없는 저자 의도 추측)</a:t>
            </a:r>
            <a:endParaRPr lang="en-US" sz="1500" dirty="0"/>
          </a:p>
        </p:txBody>
      </p:sp>
      <p:pic>
        <p:nvPicPr>
          <p:cNvPr id="25" name="Image 4" descr="gen-dedup-19160587855d9618f1d44501c5c833e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95998" y="3200400"/>
            <a:ext cx="171907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19695" y="3038550"/>
            <a:ext cx="390540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가치판단 삽입(분석이 아닌 도덕적 평가 포함)</a:t>
            </a:r>
            <a:endParaRPr lang="en-US" sz="1500" dirty="0"/>
          </a:p>
        </p:txBody>
      </p:sp>
      <p:pic>
        <p:nvPicPr>
          <p:cNvPr id="27" name="Image 5" descr="gen-dedup-b884e5a00dbdc9b2d7811a275ac6938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95998" y="4153205"/>
            <a:ext cx="171907" cy="1719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19695" y="4114800"/>
            <a:ext cx="3620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가짜 인용/</a:t>
            </a:r>
            <a:r>
              <a:rPr lang="en-US" sz="1500" b="1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</a:t>
            </a:r>
            <a:endParaRPr lang="en-US" sz="1500" b="1" dirty="0">
              <a:solidFill>
                <a:srgbClr val="2D3748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(존재하지 않는 이론이나 연구 근거 제시)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2117750" y="5896051"/>
            <a:ext cx="7959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초안은 '착안점 목록'으로 활용하되, 해석의 주체는 연구자여야 합니다"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00707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00707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00707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00707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00707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429146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 해석의 징후와 편향 검토</a:t>
            </a:r>
            <a:endParaRPr lang="en-US" sz="4200" dirty="0"/>
          </a:p>
        </p:txBody>
      </p:sp>
      <p:pic>
        <p:nvPicPr>
          <p:cNvPr id="25" name="Image 2" descr="gen-dedup-cbdd2735a6b2a4cf5a9c2cb485fc6c7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195" y="2457907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04769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자료 밖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의도 부여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810305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텍스트에 명시되지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숨은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의도를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않은가?</a:t>
            </a:r>
            <a:endParaRPr lang="en-US" sz="1200" dirty="0"/>
          </a:p>
        </p:txBody>
      </p:sp>
      <p:pic>
        <p:nvPicPr>
          <p:cNvPr id="28" name="Image 3" descr="gen-dedup-990ff4e91fcfb6eff81e13f59ded4a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457907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04769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맥락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비약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3810305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 생산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무시하고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현재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관점으로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않았는가?</a:t>
            </a:r>
            <a:endParaRPr lang="en-US" sz="1200" dirty="0"/>
          </a:p>
        </p:txBody>
      </p:sp>
      <p:pic>
        <p:nvPicPr>
          <p:cNvPr id="31" name="Image 4" descr="gen-dedup-af5f9fc5109d5dc5b9eb7473e7b7aadf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952744" y="2457907"/>
            <a:ext cx="2862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도덕화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3810305"/>
            <a:ext cx="1752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대신 도덕적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판단을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있지 않은가?</a:t>
            </a:r>
            <a:endParaRPr lang="en-US" sz="1200" dirty="0"/>
          </a:p>
        </p:txBody>
      </p:sp>
      <p:pic>
        <p:nvPicPr>
          <p:cNvPr id="34" name="Image 5" descr="gen-dedup-21f5e9cc381827816ab3fdd51e1178c7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320126" y="2457907"/>
            <a:ext cx="200254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04769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자료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3810305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대상 텍스트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자체가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관점에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편중되어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않은가?</a:t>
            </a:r>
            <a:endParaRPr lang="en-US" sz="1200" dirty="0"/>
          </a:p>
        </p:txBody>
      </p:sp>
      <p:pic>
        <p:nvPicPr>
          <p:cNvPr id="37" name="Image 6" descr="gen-dedup-94a339420a0675138cfcb85146b4eb2e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601554" y="2457907"/>
            <a:ext cx="286207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04769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모델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3810305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훈련 데이터의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반영되고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않은가?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595274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편향은 제거하는 것이 아니라, 인식하고 명시하는 것입니다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1143000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476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5143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중심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해석으로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</a:t>
            </a:r>
            <a:endParaRPr lang="en-US" sz="39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2525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생산 배경과 상황 복원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2856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생산 배경 복원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68615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텍스트가 만들어진 시기·기관·목적·대상을 확인합니다.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381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61975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위치성 파악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3019349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저자의 제도적 위치, 권한, 이해관계를 분석합니다.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952951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 해석 비교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352544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텍스트에 대해 2~3가지 대안적 해석을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시도하고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가장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밀착된 해석을 선택합니다.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50484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28614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신중한 결론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568665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확인할 수 있는 것과 추정에 불과한 것을 구분하고 한계를 명시합니다.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143000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805" y="1952244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952244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476902" y="1952244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76902" y="1952244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01000" y="1952244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001000" y="1952244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52805" y="4334256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52805" y="4334256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6902" y="4334256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76902" y="4334256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001000" y="4334256"/>
            <a:ext cx="3238805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001000" y="4334256"/>
            <a:ext cx="3238805" cy="47549"/>
          </a:xfrm>
          <a:prstGeom prst="roundRect">
            <a:avLst>
              <a:gd name="adj" fmla="val 170939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rot="2700000">
            <a:off x="6048756" y="110459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143000" y="2143354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667098" y="2143354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191195" y="2143354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1143000" y="45244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67098" y="45244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191195" y="45244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 선택 기준과 제시 방식</a:t>
            </a:r>
            <a:endParaRPr lang="en-US" sz="3600" dirty="0"/>
          </a:p>
        </p:txBody>
      </p:sp>
      <p:sp>
        <p:nvSpPr>
          <p:cNvPr id="27" name="Shape 24"/>
          <p:cNvSpPr/>
          <p:nvPr/>
        </p:nvSpPr>
        <p:spPr>
          <a:xfrm>
            <a:off x="761695" y="1476756"/>
            <a:ext cx="47549" cy="228600"/>
          </a:xfrm>
          <a:prstGeom prst="rect">
            <a:avLst/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99439" y="1476756"/>
            <a:ext cx="104305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 기준</a:t>
            </a:r>
            <a:endParaRPr lang="en-US" sz="1800" dirty="0"/>
          </a:p>
        </p:txBody>
      </p:sp>
      <p:pic>
        <p:nvPicPr>
          <p:cNvPr id="29" name="Image 1" descr="gen-dedup-60be390614b3456ec30979e556bf540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1872" y="2286000"/>
            <a:ext cx="237744" cy="19019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714500" y="2238451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대표성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143000" y="2714854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 주제를 가장 잘 대표하는 인용문 선택. 다수 참여자의 공통 경험을 반영합니다.</a:t>
            </a:r>
            <a:endParaRPr lang="en-US" sz="1200" dirty="0"/>
          </a:p>
        </p:txBody>
      </p:sp>
      <p:pic>
        <p:nvPicPr>
          <p:cNvPr id="32" name="Image 2" descr="gen-dedup-d81265579186c5ae1b7b110f16a44d9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9744" y="2286000"/>
            <a:ext cx="190195" cy="19019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238598" y="2238451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대비성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4667098" y="2714854"/>
            <a:ext cx="285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내 다양한 관점이나 반례를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보여주는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해석의 균형을 확보합니다.</a:t>
            </a:r>
            <a:endParaRPr lang="en-US" sz="1200" dirty="0"/>
          </a:p>
        </p:txBody>
      </p:sp>
      <p:pic>
        <p:nvPicPr>
          <p:cNvPr id="35" name="Image 3" descr="gen-dedup-1b13b2b5b0c1b2d16ec04e5fec0878b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58530" y="2286000"/>
            <a:ext cx="142646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762695" y="2238451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설명력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191195" y="2714854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주제의 핵심 메커니즘을 생생하게 드러내는 인용문. 독자의 이해를 돕습니다.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61695" y="3857854"/>
            <a:ext cx="47549" cy="228600"/>
          </a:xfrm>
          <a:prstGeom prst="rect">
            <a:avLst/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999439" y="3857854"/>
            <a:ext cx="104305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제시 방식</a:t>
            </a:r>
            <a:endParaRPr lang="en-US" sz="1800" dirty="0"/>
          </a:p>
        </p:txBody>
      </p:sp>
      <p:pic>
        <p:nvPicPr>
          <p:cNvPr id="40" name="Image 4" descr="gen-dedup-570d0463a77fd72c8764df7050130615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295705" y="4667098"/>
            <a:ext cx="171907" cy="19019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714500" y="4619549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 인용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1143000" y="5095951"/>
            <a:ext cx="285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중요 시. 참여자의 서사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보존하며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들여쓰기 블록으로 제시합니다.</a:t>
            </a:r>
            <a:endParaRPr lang="en-US" sz="1200" dirty="0"/>
          </a:p>
        </p:txBody>
      </p:sp>
      <p:pic>
        <p:nvPicPr>
          <p:cNvPr id="43" name="Image 5" descr="gen-dedup-78c89230c752da9a992402955b634f4a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819802" y="4667098"/>
            <a:ext cx="171907" cy="19019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5238598" y="4619549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짧은 인용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4667098" y="5095951"/>
            <a:ext cx="285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포인트 강조 시. 본문에 통합하여 분석적 설명과 함께 제시합니다.</a:t>
            </a:r>
            <a:endParaRPr lang="en-US" sz="1200" dirty="0"/>
          </a:p>
        </p:txBody>
      </p:sp>
      <p:pic>
        <p:nvPicPr>
          <p:cNvPr id="46" name="Image 6" descr="gen-dedup-f22ae1c15d087fb4dbd8eacd587f50c2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34756" y="4667098"/>
            <a:ext cx="190195" cy="1901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762695" y="4619549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편집 원칙</a:t>
            </a:r>
            <a:endParaRPr lang="en-US" sz="1600" dirty="0"/>
          </a:p>
        </p:txBody>
      </p:sp>
      <p:sp>
        <p:nvSpPr>
          <p:cNvPr id="48" name="Text 39"/>
          <p:cNvSpPr txBox="1"/>
          <p:nvPr/>
        </p:nvSpPr>
        <p:spPr>
          <a:xfrm>
            <a:off x="8191195" y="5095951"/>
            <a:ext cx="285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원의를 보존하고, 익명화를 유지하며,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과도한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다듬기는 금지합니다.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761695" y="6191402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8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인용문은 분석의 근거이자 참여자 목소리의 창구입니다</a:t>
            </a:r>
            <a:endParaRPr lang="en-US" sz="16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714500"/>
          </a:xfrm>
          <a:prstGeom prst="roundRect">
            <a:avLst>
              <a:gd name="adj" fmla="val 474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714500"/>
          </a:xfrm>
          <a:prstGeom prst="roundRect">
            <a:avLst>
              <a:gd name="adj" fmla="val 141094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코드→주제 도출 + 담화 분석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219249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전사 단편(500자) + 짧은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(300자). 두 종류의 자료를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활용합니다</a:t>
            </a:r>
            <a:endParaRPr lang="en-US" sz="1300" dirty="0"/>
          </a:p>
        </p:txBody>
      </p:sp>
      <p:pic>
        <p:nvPicPr>
          <p:cNvPr id="20" name="Image 2" descr="gen-dedup-08a1a983205b1017dc966e1ba2919cf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67374" y="2219249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인터뷰: 코드 5개 도출→하위주제 2개→상위주제 1개 구성. 기사: 반복 어휘·은유·배제된 목소리 표시</a:t>
            </a:r>
            <a:endParaRPr lang="en-US" sz="13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219249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코드가 자료에 밀착되어 있는가?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주제명에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과정과 관계가 드러나는가? </a:t>
            </a:r>
            <a:b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</a:b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분석에서 맥락 비약은 없는가?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191049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작업 → 조별 비교 → 전체 토론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762049"/>
          </a:xfrm>
          <a:prstGeom prst="roundRect">
            <a:avLst>
              <a:gd name="adj" fmla="val 448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762049"/>
          </a:xfrm>
          <a:prstGeom prst="roundRect">
            <a:avLst>
              <a:gd name="adj" fmla="val 13728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AI 해석문 오류 찾기 + 성찰 메모</a:t>
            </a:r>
            <a:endParaRPr lang="en-US" sz="3600" dirty="0"/>
          </a:p>
        </p:txBody>
      </p:sp>
      <p:pic>
        <p:nvPicPr>
          <p:cNvPr id="17" name="Image 1" descr="gen-dedup-04d6d246d18ef98914bd227ecc2843c8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2238451" y="2219249"/>
            <a:ext cx="2862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 검토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생성한 주제 설명문과 담화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제공합니다.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오류·비약·편향을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찾아 표시합니다.</a:t>
            </a:r>
            <a:endParaRPr lang="en-US" sz="1300" dirty="0"/>
          </a:p>
        </p:txBody>
      </p:sp>
      <p:pic>
        <p:nvPicPr>
          <p:cNvPr id="20" name="Image 2" descr="gen-dedup-fcc826bc17d97c200b56a96c37cc550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2219249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중심 재서술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오류를 수정하고 자료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근거→해석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3단 구조로 재서술합니다.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해석도 시도합니다.</a:t>
            </a:r>
            <a:endParaRPr lang="en-US" sz="1300" dirty="0"/>
          </a:p>
        </p:txBody>
      </p:sp>
      <p:pic>
        <p:nvPicPr>
          <p:cNvPr id="23" name="Image 3" descr="gen-dedup-9fc04c90b2cc6192c83c540c8fcec869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9710928" y="2219249"/>
            <a:ext cx="200254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 초안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해석이 어디서 개입했는지, 어떤 판단 기준을 사용했는지, 위치성을 명시하는 성찰 메모를 작성합니다.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3336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참고: ai-prompt.dreamitbiz.com / claude.dreamitbiz.com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00707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00707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00707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00707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00707"/>
            <a:ext cx="2133295" cy="4048049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1622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4866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810098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1345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04589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핵심 요약</a:t>
            </a:r>
            <a:endParaRPr lang="en-US" sz="4200" dirty="0"/>
          </a:p>
        </p:txBody>
      </p:sp>
      <p:pic>
        <p:nvPicPr>
          <p:cNvPr id="24" name="Image 1" descr="gen-dedup-148191ff2809bf7e4230c6c2f037973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319479" y="2457907"/>
            <a:ext cx="256946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764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주제 분석 절차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71500" y="3715207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Braun &amp; Clarke 6단계: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익숙해지기→코딩→주제화→검토→명명→서술의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과정을 적용합니다.</a:t>
            </a:r>
            <a:endParaRPr lang="en-US" sz="1200" dirty="0"/>
          </a:p>
        </p:txBody>
      </p:sp>
      <p:pic>
        <p:nvPicPr>
          <p:cNvPr id="27" name="Image 2" descr="gen-dedup-6d60a36e3eb2c62ea369f279b3388343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3642970" y="2457907"/>
            <a:ext cx="256946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800807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코드→주제 구조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2800807" y="3715207"/>
            <a:ext cx="194310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코드→하위주제→상위주제로 발전하는 구조를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명명법을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익혔습니다.</a:t>
            </a:r>
            <a:endParaRPr lang="en-US" sz="1200" dirty="0"/>
          </a:p>
        </p:txBody>
      </p:sp>
      <p:pic>
        <p:nvPicPr>
          <p:cNvPr id="30" name="Image 3" descr="gen-dedup-067a42f76b2f1d00877339dee345ff8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2457907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002682" y="3047695"/>
            <a:ext cx="2187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담화 분석 프레임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219395" y="3715207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누가·어떤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언어로·무엇을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누구를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배제하는지를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묻는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프레임으로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분석합니다.</a:t>
            </a:r>
            <a:endParaRPr lang="en-US" sz="1200" dirty="0"/>
          </a:p>
        </p:txBody>
      </p:sp>
      <p:pic>
        <p:nvPicPr>
          <p:cNvPr id="33" name="Image 4" descr="gen-dedup-471b66f93923b37f676eb18df70a476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5495" y="2457907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487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AI 보조와 검증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543800" y="3715207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AI의 코드 군집·요약 초안·프레임 제안을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활용하되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검토합니다.</a:t>
            </a:r>
            <a:endParaRPr lang="en-US" sz="1200" dirty="0"/>
          </a:p>
        </p:txBody>
      </p:sp>
      <p:pic>
        <p:nvPicPr>
          <p:cNvPr id="36" name="Image 5" descr="gen-dedup-69882d068a09c185f3f11f684de4c678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0615270" y="2457907"/>
            <a:ext cx="256946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73107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맥락 중심 해석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868205" y="3715207"/>
            <a:ext cx="17529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생산 배경을 복원하고 대안 해석을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신중하고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근거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도출합니다.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61695" y="6143854"/>
            <a:ext cx="10668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모듈에서는 문헌 분석과 내러티브 구성으로 나아갑니다</a:t>
            </a:r>
            <a:endParaRPr lang="en-US" sz="18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524098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048902" y="1809598"/>
            <a:ext cx="2400300" cy="2686507"/>
          </a:xfrm>
          <a:prstGeom prst="roundRect">
            <a:avLst>
              <a:gd name="adj" fmla="val 4837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10724998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858207"/>
            <a:ext cx="57607" cy="1238098"/>
          </a:xfrm>
          <a:prstGeom prst="roundRect">
            <a:avLst>
              <a:gd name="adj" fmla="val 1953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714500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476902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239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0001707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산출물 정리</a:t>
            </a:r>
            <a:endParaRPr lang="en-US" sz="3600" dirty="0"/>
          </a:p>
        </p:txBody>
      </p:sp>
      <p:pic>
        <p:nvPicPr>
          <p:cNvPr id="19" name="Image 1" descr="gen-dedup-dd5325a1594c56cdbf6d6fbe9943fb5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7944" y="2219249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52805" y="2762402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분석표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3286354"/>
            <a:ext cx="20007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코드→하위주제→상위주제 구조와 대표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 분석 결과표</a:t>
            </a:r>
            <a:endParaRPr lang="en-US" sz="1300" dirty="0"/>
          </a:p>
        </p:txBody>
      </p:sp>
      <p:pic>
        <p:nvPicPr>
          <p:cNvPr id="22" name="Image 2" descr="gen-dedup-b7451b660311481601a03c451beeae28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629607" y="2219249"/>
            <a:ext cx="1719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504895" y="2762402"/>
            <a:ext cx="24213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 분석 보고서 초안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715207" y="3286354"/>
            <a:ext cx="20007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대상·질문·분석 포인트·해석·시사점을 포함한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초안</a:t>
            </a:r>
            <a:endParaRPr lang="en-US" sz="1300" dirty="0"/>
          </a:p>
        </p:txBody>
      </p:sp>
      <p:pic>
        <p:nvPicPr>
          <p:cNvPr id="25" name="Image 3" descr="gen-dedup-733a066da3b2658c7cd754051617c93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62749" y="2219249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76695" y="2762402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해석문 수정본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476695" y="3286354"/>
            <a:ext cx="20007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초안의 오류를 수정하고 맥락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재서술한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해석문</a:t>
            </a:r>
            <a:endParaRPr lang="en-US" sz="1300" dirty="0"/>
          </a:p>
        </p:txBody>
      </p:sp>
      <p:pic>
        <p:nvPicPr>
          <p:cNvPr id="28" name="Image 4" descr="gen-dedup-f23a522ff4ab4b6d084ba044a12921a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25151" y="2219249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39098" y="2762402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 초안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239098" y="3286354"/>
            <a:ext cx="20007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위치성·판단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개입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지점을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명시한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성찰 기록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047902" y="5095951"/>
            <a:ext cx="10096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 안내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047902" y="5572354"/>
            <a:ext cx="10096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모듈: 모듈 3. 문헌 분석과 내러티브 구성 — 배경 문헌과 개인 서사를 연결합니다</a:t>
            </a:r>
            <a:endParaRPr lang="en-US" sz="15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1476756"/>
            <a:ext cx="53336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5" y="1438351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4858207"/>
            <a:ext cx="5333695" cy="192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6305" y="4819802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810805" y="952805"/>
            <a:ext cx="3429000" cy="34290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1239805" y="1333195"/>
            <a:ext cx="333756" cy="333756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048195" y="3619195"/>
            <a:ext cx="1714500" cy="1714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0287000" y="4381805"/>
            <a:ext cx="1047902" cy="10479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952805"/>
            <a:ext cx="6667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질적 연구 AI 활용 과정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1857146"/>
            <a:ext cx="6667805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3.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분석과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구성 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5238598"/>
            <a:ext cx="6667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대학원생·연구자·교수자 | 방식: 실습 중심 | 시간: 5시간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5595214"/>
            <a:ext cx="6667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 문헌과 개인 서사를 연결하는 세 번째 모듈</a:t>
            </a:r>
            <a:endParaRPr lang="en-US" sz="1600" dirty="0"/>
          </a:p>
        </p:txBody>
      </p:sp>
      <p:pic>
        <p:nvPicPr>
          <p:cNvPr id="19" name="Image 2" descr="gen-dedup-31d484e63fde1b2b916c7a51c39595f8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8934602" y="2143354"/>
            <a:ext cx="1181405" cy="1047902"/>
          </a:xfrm>
          <a:prstGeom prst="rect">
            <a:avLst/>
          </a:prstGeom>
        </p:spPr>
      </p:pic>
      <p:pic>
        <p:nvPicPr>
          <p:cNvPr id="20" name="Image 3" descr="gen-dedup-cf44ea7e7a52f8ecdceba4f9409d8475.png"/>
          <p:cNvPicPr>
            <a:picLocks noChangeAspect="1"/>
          </p:cNvPicPr>
          <p:nvPr/>
        </p:nvPicPr>
        <p:blipFill>
          <a:blip r:embed="rId4"/>
          <a:srcRect l="-222" r="-222"/>
          <a:stretch/>
        </p:blipFill>
        <p:spPr>
          <a:xfrm>
            <a:off x="7672730" y="4166921"/>
            <a:ext cx="466344" cy="619049"/>
          </a:xfrm>
          <a:prstGeom prst="rect">
            <a:avLst/>
          </a:prstGeom>
        </p:spPr>
      </p:pic>
      <p:pic>
        <p:nvPicPr>
          <p:cNvPr id="21" name="Image 4" descr="gen-dedup-d5014e542de1cee74041eb5cdab512b0.png"/>
          <p:cNvPicPr>
            <a:picLocks noChangeAspect="1"/>
          </p:cNvPicPr>
          <p:nvPr/>
        </p:nvPicPr>
        <p:blipFill>
          <a:blip r:embed="rId5"/>
          <a:srcRect t="-279" b="-279"/>
          <a:stretch/>
        </p:blipFill>
        <p:spPr>
          <a:xfrm>
            <a:off x="10543946" y="4690872"/>
            <a:ext cx="533095" cy="428854"/>
          </a:xfrm>
          <a:prstGeom prst="rect">
            <a:avLst/>
          </a:prstGeom>
        </p:spPr>
      </p:pic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381098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361919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858207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286707"/>
            <a:ext cx="3621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2에서 이어지는 분석 확장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391302" y="1143000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모듈 2 연결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285646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분석표와 담화 분석 초안이 완성된 상태에서 시작합니다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391302" y="2381098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2860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문헌 분석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52374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문서를 데이터로 삼아 질적으로 분석하고 매트릭스를 구성합니다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391302" y="3619195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524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내러티브 구성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3762756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서사적 재구성과 생애사 구조를 추출합니다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391302" y="48582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4762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AI 보조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500085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검토 매트릭스·참고문헌 정리·생애사 요약을 AI로 생성합니다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34049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학습목표</a:t>
            </a:r>
            <a:endParaRPr lang="en-US" sz="4200" dirty="0"/>
          </a:p>
        </p:txBody>
      </p:sp>
      <p:pic>
        <p:nvPicPr>
          <p:cNvPr id="25" name="Image 2" descr="gen-dedup-aa8bdb069c5720b98abe3c701bd1b8a5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362456" y="2553005"/>
            <a:ext cx="1719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문헌 분석을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방법으로 이해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4095598"/>
            <a:ext cx="17529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문서·텍스트를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삼는 질적 접근의 의미와 절차를 이해합니다.</a:t>
            </a:r>
            <a:endParaRPr lang="en-US" sz="1200" dirty="0"/>
          </a:p>
        </p:txBody>
      </p:sp>
      <p:pic>
        <p:nvPicPr>
          <p:cNvPr id="28" name="Image 3" descr="gen-dedup-719c491c01b6da00e3d889808d60278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553005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AI 문헌 검토 매트릭스·참고문헌 정리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4095598"/>
            <a:ext cx="17529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활용하여 문헌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1" name="Image 4" descr="gen-dedup-1e001f9faf79cee51ee88ed377a731d1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967374" y="2553005"/>
            <a:ext cx="256946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내러티브/생애사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방법론 설명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4095598"/>
            <a:ext cx="17529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연구와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방법론의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철학적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설명할 수 있습니다.</a:t>
            </a:r>
            <a:endParaRPr lang="en-US" sz="1200" dirty="0"/>
          </a:p>
        </p:txBody>
      </p:sp>
      <p:pic>
        <p:nvPicPr>
          <p:cNvPr id="34" name="Image 5" descr="gen-dedup-581a283fdab3ee3f5827fc8ab8563ed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05495" y="2553005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생애사 구조·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 추출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4095598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 인터뷰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추출합니다.</a:t>
            </a:r>
            <a:endParaRPr lang="en-US" sz="1200" dirty="0"/>
          </a:p>
        </p:txBody>
      </p:sp>
      <p:pic>
        <p:nvPicPr>
          <p:cNvPr id="37" name="Image 6" descr="gen-dedup-9070f26cea2aaadbc24fff9e916e4e09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0629900" y="255300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학술용 vs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참여자용 요약 작성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4095598"/>
            <a:ext cx="1752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확인용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작성합니다.</a:t>
            </a:r>
            <a:endParaRPr lang="en-US" sz="12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496105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"문헌 분석은 기존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'읽는' 것이 아니라 '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’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방법입니다"</a:t>
            </a:r>
            <a:endParaRPr lang="en-US" sz="1500" dirty="0"/>
          </a:p>
        </p:txBody>
      </p:sp>
      <p:pic>
        <p:nvPicPr>
          <p:cNvPr id="14" name="Image 1" descr="gen-dedup-dbcbe452dec05053345834e0180b24b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8928" y="1295705"/>
            <a:ext cx="20025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데이터로서의 문서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715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정책문서·보고서·기사·기록물·온라인 게시물 등 기존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데이터로 활용하는 질적 접근입니다.</a:t>
            </a:r>
            <a:endParaRPr lang="en-US" sz="1500" dirty="0"/>
          </a:p>
        </p:txBody>
      </p:sp>
      <p:pic>
        <p:nvPicPr>
          <p:cNvPr id="17" name="Image 2" descr="gen-dedup-7bd7817d0ba3dce704ec8439d7addf4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구조 탐색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715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문서가 구성하는 의미·가치·정당화 구조를 체계적으로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주제를 도출합니다.</a:t>
            </a:r>
            <a:endParaRPr lang="en-US" sz="1500" dirty="0"/>
          </a:p>
        </p:txBody>
      </p:sp>
      <p:pic>
        <p:nvPicPr>
          <p:cNvPr id="20" name="Image 3" descr="gen-dedup-4de7f708b4e863c1656d9ce36a4a31f8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086807" y="4724705"/>
            <a:ext cx="30449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기반 해석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715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문서가 생산된 사회적·제도적·역사적 맥락을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고려하여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깊이를 확보합니다.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분석이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적합한 경우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"참여자를 직접 만나기 어려울 때, 문서가 현상을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말해주는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됩니다"</a:t>
            </a:r>
            <a:endParaRPr lang="en-US" sz="1500" dirty="0"/>
          </a:p>
        </p:txBody>
      </p:sp>
      <p:pic>
        <p:nvPicPr>
          <p:cNvPr id="14" name="Image 1" descr="gen-dedup-fa6372390b4255eac32bdf0337dff7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 변화 추적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법령·지침·계획서 등의 변화를 시간축으로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담론의 변동을 추적합니다.</a:t>
            </a:r>
            <a:endParaRPr lang="en-US" sz="1500" dirty="0"/>
          </a:p>
        </p:txBody>
      </p:sp>
      <p:pic>
        <p:nvPicPr>
          <p:cNvPr id="17" name="Image 2" descr="gen-dedup-9f694ab23e9ae7a86267407b00a07fc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제도 담론 분석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8603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 문서·보고서에 담긴 가치체계와 정당화 전략을 분석합니다.</a:t>
            </a:r>
            <a:endParaRPr lang="en-US" sz="1500" dirty="0"/>
          </a:p>
        </p:txBody>
      </p:sp>
      <p:pic>
        <p:nvPicPr>
          <p:cNvPr id="20" name="Image 3" descr="gen-dedup-83a1b4bc56cdddff88bb236ae74ef9d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공개 자료 활용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기사·SNS·웹 자료 등 공개적으로 접근 가능한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데이터로 수집하여 분석합니다.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90469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190469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190469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190469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1904695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190469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190902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문헌자료의 유형</a:t>
            </a:r>
            <a:endParaRPr lang="en-US" sz="4200" dirty="0"/>
          </a:p>
        </p:txBody>
      </p:sp>
      <p:pic>
        <p:nvPicPr>
          <p:cNvPr id="25" name="Image 2" descr="gen-dedup-becf72d97c4f5467c102c9b205f9e5b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195" y="236189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공식 문서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76402" y="3619195"/>
            <a:ext cx="194310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법령·시행령·지침·조례 등 법적 효력이 있는 공식 문서.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제도적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의도와 권한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28" name="Image 3" descr="gen-dedup-5d1a36898fd321456479dbac25b24f8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361895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보고서·계획서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00807" y="3619195"/>
            <a:ext cx="194310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정부·기관의 정책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계획서. 성과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프레임과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정당화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논리를 담고 있습니다.</a:t>
            </a:r>
            <a:endParaRPr lang="en-US" sz="1200" dirty="0"/>
          </a:p>
        </p:txBody>
      </p:sp>
      <p:pic>
        <p:nvPicPr>
          <p:cNvPr id="31" name="Image 4" descr="gen-dedup-3aa0c83bf22170391dbc698731090bf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2361895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기사·보도자료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124298" y="3619195"/>
            <a:ext cx="19431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언론 보도와 기관 보도자료.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담론의 프레임과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과정을 분석합니다.</a:t>
            </a:r>
            <a:endParaRPr lang="en-US" sz="1200" dirty="0"/>
          </a:p>
        </p:txBody>
      </p:sp>
      <p:pic>
        <p:nvPicPr>
          <p:cNvPr id="34" name="Image 5" descr="gen-dedup-b3d77a926dfce56dad7c4566dfc008e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05495" y="2361895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기록물·연감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448702" y="3619195"/>
            <a:ext cx="19431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역사적 기록물·통계연감·연표. 시간축 비교와 변화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추적에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7" name="Image 6" descr="gen-dedup-ca4eef62cc54ff825abe4b087b26772c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29900" y="236189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29525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온라인 자료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773107" y="3619195"/>
            <a:ext cx="194310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웹페이지·SNS·블로그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커뮤니티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게시물. 대중 담론과 비공식적 관점을 포착합니다.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001207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"자료 유형에 따라 분석의 초점과 코딩 전략이 달라집니다"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761695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429000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762195"/>
            <a:ext cx="476402" cy="476402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선정 기준과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질문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문헌 분석은 '문서가 무엇을 말하고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숨기는가’를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묻는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데서 시작합니다"</a:t>
            </a:r>
            <a:endParaRPr lang="en-US" sz="1500" dirty="0"/>
          </a:p>
        </p:txBody>
      </p:sp>
      <p:pic>
        <p:nvPicPr>
          <p:cNvPr id="15" name="Image 1" descr="gen-dedup-8ed5e6f619ffc8ea77d3ac10f7c21c6b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5048402" y="886054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809244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관련성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190549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질문과 직접적으로 관련된 문서를 선정합니다.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자료는 맥락 보조로 활용합니다.</a:t>
            </a:r>
            <a:endParaRPr lang="en-US" sz="1300" dirty="0"/>
          </a:p>
        </p:txBody>
      </p:sp>
      <p:pic>
        <p:nvPicPr>
          <p:cNvPr id="18" name="Image 2" descr="gen-dedup-b40d30f19dfc6d31bd020bb4e2d7e828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091379" y="2219249"/>
            <a:ext cx="200254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43354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시기성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23744"/>
            <a:ext cx="63221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대상 기간을 명확히 설정하고 시간축 비교가 가능한 자료를 선정합니다.</a:t>
            </a:r>
            <a:endParaRPr lang="en-US" sz="1300" dirty="0"/>
          </a:p>
        </p:txBody>
      </p:sp>
      <p:pic>
        <p:nvPicPr>
          <p:cNvPr id="21" name="Image 3" descr="gen-dedup-72f8b733fb223956e78a1ad8a2a120b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6749" y="355244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476549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857854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출처가 명확하고 검증 가능한 자료를 우선 선정합니다.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비공식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자료는 한계를 명시합니다.</a:t>
            </a:r>
            <a:endParaRPr lang="en-US" sz="1300" dirty="0"/>
          </a:p>
        </p:txBody>
      </p:sp>
      <p:pic>
        <p:nvPicPr>
          <p:cNvPr id="24" name="Image 4" descr="gen-dedup-f5fbe4d416aa57ee3664ff735bf7784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6749" y="488655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809744"/>
            <a:ext cx="5811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가능성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191049"/>
            <a:ext cx="5811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주제에 대한 다른 기관·시기·매체의 자료를 함께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수집하여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분석의 토대를 마련합니다.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95330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38805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15207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 절차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297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표면→구조→의미의 3수준 읽기와 코드화·주제화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621863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52898" y="1762049"/>
            <a:ext cx="381305" cy="3813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00446" y="3286354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00446" y="4809744"/>
            <a:ext cx="286207" cy="286207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 읽기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3단계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286707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표면에서 의미까지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001207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876349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표면 정보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2333549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문서에 명시된 사실·주장·수치·용어 정의·날짜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드러난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정보를 파악합니다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3143707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3400654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정보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3857854"/>
            <a:ext cx="63404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문서의 구획·논리 흐름·행위자 배치·인과관계 구성 방식을 분석합니다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4667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4924044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의미·권력 정보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5381244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정당화 전략·책임 귀속·배제된 관점·자연화된 가정을 탐색합니다</a:t>
            </a:r>
            <a:endParaRPr lang="en-US" sz="15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방법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"문헌 분석에서 코딩은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구조를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드러내는</a:t>
            </a:r>
            <a:endParaRPr lang="en-US" sz="1500" b="1" dirty="0">
              <a:solidFill>
                <a:srgbClr val="A83232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과정입니다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500" dirty="0"/>
          </a:p>
        </p:txBody>
      </p:sp>
      <p:pic>
        <p:nvPicPr>
          <p:cNvPr id="14" name="Image 1" descr="gen-dedup-6c8db38c5293e0ebb09fbaedc0fef2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코딩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90173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문서에서 반복적으로 등장하는 주장·근거·논점의 패턴을 코드화합니다.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분석과 동일한 논리를 적용합니다.</a:t>
            </a:r>
            <a:endParaRPr lang="en-US" sz="1500" dirty="0"/>
          </a:p>
        </p:txBody>
      </p:sp>
      <p:pic>
        <p:nvPicPr>
          <p:cNvPr id="17" name="Image 2" descr="gen-dedup-bb27dbe1e2551e491d4a3bda4a32ec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행위자 코딩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누가 무엇을 어떻게 말하는가를 중심으로 코드를 부여합니다.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행위자의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역할·권한·책임 귀속 방식을 분석합니다.</a:t>
            </a:r>
            <a:endParaRPr lang="en-US" sz="1500" dirty="0"/>
          </a:p>
        </p:txBody>
      </p:sp>
      <p:pic>
        <p:nvPicPr>
          <p:cNvPr id="20" name="Image 3" descr="gen-dedup-cba54cddafd0bf3d44da91b1e0baaf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가치 코딩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문서에 내재된 규범적 판단·평가 언어·정당화 수사를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코드화합니다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52898" y="1429207"/>
            <a:ext cx="381305" cy="3813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52898" y="2952598"/>
            <a:ext cx="381305" cy="3813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52898" y="4476902"/>
            <a:ext cx="381305" cy="38130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761695" y="2095805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시간축 비교와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 간 비교</a:t>
            </a:r>
            <a:endParaRPr lang="en-US" sz="4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286707"/>
            <a:ext cx="3048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변화와 차이를 포착하는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분석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352898" y="1533449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285646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시간축 비교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552651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주제에 대한 시기별 문서 비교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895551"/>
            <a:ext cx="5239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주제에 대한 시기별 문서를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용어·프레임·정당화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논리의 변화를 추적합니다.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352898" y="3057754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809951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문서 간 비교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3076956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서로 다른 기관·매체 문서 비교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419856"/>
            <a:ext cx="5239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시기의 서로 다른 기관·매체 문서를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표현·담론·강조점의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차이를 분석합니다.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352898" y="4581144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334256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증거 정리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4600346"/>
            <a:ext cx="5239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인용·문구·시점을 대비표로 정리</a:t>
            </a:r>
            <a:endParaRPr lang="en-US" sz="21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4943246"/>
            <a:ext cx="5889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인용·문구·시점을 대비표로 정리하여 비교 근거를 명확히 문서화합니다.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사례: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평생교육 정책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"표면→구조→의미 3수준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읽기를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정책 문서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분석에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사례입니다"</a:t>
            </a:r>
            <a:endParaRPr lang="en-US" sz="1500" dirty="0"/>
          </a:p>
        </p:txBody>
      </p:sp>
      <p:pic>
        <p:nvPicPr>
          <p:cNvPr id="14" name="Image 1" descr="gen-dedup-6c8db38c5293e0ebb09fbaedc0fef2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표면 읽기 — 무엇이 쓰여 있는가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80737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「제4차 평생교육진흥 기본계획(2018~2022)」에서 정책 키워드와 정량 지표를 추출합니다.</a:t>
            </a:r>
            <a:endParaRPr lang="en-US" sz="1500" dirty="0"/>
          </a:p>
        </p:txBody>
      </p:sp>
      <p:pic>
        <p:nvPicPr>
          <p:cNvPr id="17" name="Image 2" descr="gen-dedup-bb27dbe1e2551e491d4a3bda4a32ec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읽기 — 어떻게 조직되어 있는가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 추진체계, 전략·과제의 위계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역할 분담을 코드화합니다.</a:t>
            </a:r>
            <a:endParaRPr lang="en-US" sz="1500" dirty="0"/>
          </a:p>
        </p:txBody>
      </p:sp>
      <p:pic>
        <p:nvPicPr>
          <p:cNvPr id="20" name="Image 3" descr="gen-dedup-cba54cddafd0bf3d44da91b1e0baaf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읽기 — 무엇을 전제하는가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용어의 정의 변화와 문제 설정 프레임,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주체성에 대한 암묵적 가정을 비판적으로 해석합니다.</a:t>
            </a:r>
            <a:endParaRPr lang="en-US" sz="1500" dirty="0"/>
          </a:p>
        </p:txBody>
      </p:sp>
      <p:sp>
        <p:nvSpPr>
          <p:cNvPr id="23" name="C 각주"/>
          <p:cNvSpPr txBox="1"/>
          <p:nvPr/>
        </p:nvSpPr>
        <p:spPr>
          <a:xfrm>
            <a:off x="762000" y="6429756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교육부(2018). 「제4차 평생교육진흥 기본계획(2018~2022)」 — 2018.2.23 사회관계장관회의 확정. 분석 실습에는 원문을 직접 내려받아 씁니다.</a:t>
            </a: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074481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904695"/>
            <a:ext cx="3258007" cy="2590495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858207"/>
            <a:ext cx="10724998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57607" cy="1238098"/>
          </a:xfrm>
          <a:prstGeom prst="roundRect">
            <a:avLst>
              <a:gd name="adj" fmla="val 1953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190902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문헌 비교 매트릭스 작성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314346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주제의 학술 논문 3편(초록·결론) 또는 정책 문서 발췌본을 제공합니다.</a:t>
            </a:r>
            <a:endParaRPr lang="en-US" sz="1400" dirty="0"/>
          </a:p>
        </p:txBody>
      </p:sp>
      <p:pic>
        <p:nvPicPr>
          <p:cNvPr id="20" name="Image 2" descr="gen-dedup-08a1a983205b1017dc966e1ba2919cf7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67374" y="2314346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문헌별로 연구 질문·방법·핵심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근거·한계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5개 차원의 비교 매트릭스를 작성하고, 합의·균열·공백을 표시합니다.</a:t>
            </a:r>
            <a:endParaRPr lang="en-US" sz="14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314346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857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333902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차원이 일관되게 적용되는가?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차이가 명확히 드러나는가?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공백을 구체적으로 짚었는가?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238598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작성 → 조별 통합 매트릭스 → AI 요약과 비교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31575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95330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91256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666744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문헌 검토 보조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297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요약, 매트릭스, 주제군집, 비교표 생성과 사실 검증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671979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문헌 검토의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문헌 검토의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속도를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높이지만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정확성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책임입니다"</a:t>
            </a:r>
            <a:endParaRPr lang="en-US" sz="1500" dirty="0"/>
          </a:p>
        </p:txBody>
      </p:sp>
      <p:pic>
        <p:nvPicPr>
          <p:cNvPr id="14" name="Image 1" descr="gen-dedup-976f6292d8a51160e1bc3ac79cfa9a6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 문서 요약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방대한 정책문서·보고서·논문을 빠르게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구조적으로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도식화합니다. 단락별 핵심 주장을 추출합니다.</a:t>
            </a:r>
            <a:endParaRPr lang="en-US" sz="1500" dirty="0"/>
          </a:p>
        </p:txBody>
      </p:sp>
      <p:pic>
        <p:nvPicPr>
          <p:cNvPr id="17" name="Image 2" descr="gen-dedup-5853855cc424ffafdfb8c82c5db96d4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매트릭스·비교표 생성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6077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여러 문헌의 목적·방법·결과·한계를 비교하는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/출력 형식을 명확히 지정해야 합니다.</a:t>
            </a:r>
            <a:endParaRPr lang="en-US" sz="1500" dirty="0"/>
          </a:p>
        </p:txBody>
      </p:sp>
      <p:pic>
        <p:nvPicPr>
          <p:cNvPr id="20" name="Image 3" descr="gen-dedup-1cb6acfeb2e9ab12c796e0c60497b45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주제군집·동향 파악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선행연구의 주제 분포와 연구 동향을 초안 수준으로 파악합니다.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주제와 미탐색 영역을 식별합니다.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09851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009851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638398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638398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266944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266944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896405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896405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524951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524951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0153498" y="2095805"/>
            <a:ext cx="1524305" cy="3619195"/>
          </a:xfrm>
          <a:prstGeom prst="roundRect">
            <a:avLst>
              <a:gd name="adj" fmla="val 5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0153498" y="2095805"/>
            <a:ext cx="1524305" cy="47549"/>
          </a:xfrm>
          <a:prstGeom prst="roundRect">
            <a:avLst>
              <a:gd name="adj" fmla="val 192307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577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48625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114800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743346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3728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900135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0629900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검토 매트릭스 구조</a:t>
            </a:r>
            <a:endParaRPr lang="en-US" sz="4200" dirty="0"/>
          </a:p>
        </p:txBody>
      </p:sp>
      <p:pic>
        <p:nvPicPr>
          <p:cNvPr id="30" name="Image 1" descr="gen-dedup-152a58fb9ae3b6bc136cd90eed5ecfbf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000354" y="2553005"/>
            <a:ext cx="286207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76402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저자/연도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476402" y="3905402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서지정보와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 파악</a:t>
            </a:r>
            <a:endParaRPr lang="en-US" sz="1100" dirty="0"/>
          </a:p>
        </p:txBody>
      </p:sp>
      <p:pic>
        <p:nvPicPr>
          <p:cNvPr id="33" name="Image 2" descr="gen-dedup-c40675fbd0c9b065a44758acf1b2324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57246" y="2553005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104949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2104949" y="3905402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연구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질문과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탐구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목표</a:t>
            </a:r>
            <a:endParaRPr lang="en-US" sz="1100" dirty="0"/>
          </a:p>
        </p:txBody>
      </p:sp>
      <p:pic>
        <p:nvPicPr>
          <p:cNvPr id="36" name="Image 3" descr="gen-dedup-b561d75d6c711d5a3c62573ef722177f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300423" y="2553005"/>
            <a:ext cx="200254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733495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자료/대상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3733495" y="3905402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자료와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참여자 특성</a:t>
            </a:r>
            <a:endParaRPr lang="en-US" sz="1100" dirty="0"/>
          </a:p>
        </p:txBody>
      </p:sp>
      <p:pic>
        <p:nvPicPr>
          <p:cNvPr id="39" name="Image 4" descr="gen-dedup-b301660b8b7d0fd34ee59a518ee726ea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886907" y="2553005"/>
            <a:ext cx="286207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362956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방법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5362956" y="3905402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수집 및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방법론적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접근</a:t>
            </a:r>
            <a:endParaRPr lang="en-US" sz="1100" dirty="0"/>
          </a:p>
        </p:txBody>
      </p:sp>
      <p:pic>
        <p:nvPicPr>
          <p:cNvPr id="42" name="Image 5" descr="gen-dedup-28b746a03bfbd4b48846ce9ac87185a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43800" y="2553005"/>
            <a:ext cx="228600" cy="2286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991502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결과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6991502" y="3905402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발견과 논의점</a:t>
            </a:r>
            <a:endParaRPr lang="en-US" sz="1100" dirty="0"/>
          </a:p>
        </p:txBody>
      </p:sp>
      <p:pic>
        <p:nvPicPr>
          <p:cNvPr id="45" name="Image 6" descr="gen-dedup-4e9bb3160796e1c14c8234225dd7f0a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72346" y="2553005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620049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500" dirty="0"/>
          </a:p>
        </p:txBody>
      </p:sp>
      <p:sp>
        <p:nvSpPr>
          <p:cNvPr id="47" name="Text 38"/>
          <p:cNvSpPr txBox="1"/>
          <p:nvPr/>
        </p:nvSpPr>
        <p:spPr>
          <a:xfrm>
            <a:off x="8530438" y="3905402"/>
            <a:ext cx="1513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범위와 제약점</a:t>
            </a:r>
            <a:endParaRPr lang="en-US" sz="1100" dirty="0"/>
          </a:p>
        </p:txBody>
      </p:sp>
      <p:pic>
        <p:nvPicPr>
          <p:cNvPr id="48" name="Image 7" descr="gen-dedup-4ec7064e81e5814d609d5f3f8cc1ee31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0830154" y="2553005"/>
            <a:ext cx="171907" cy="22860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248595" y="31437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시사점</a:t>
            </a:r>
            <a:endParaRPr lang="en-US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10248595" y="3905402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연구와의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연결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및 공백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761695" y="6001207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검토 매트릭스는 선행연구를 체계적으로 비교하고 연구 공백을 발견하는 핵심 도구입니다</a:t>
            </a:r>
            <a:endParaRPr lang="en-US" sz="18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495398"/>
          </a:xfrm>
          <a:prstGeom prst="roundRect">
            <a:avLst>
              <a:gd name="adj" fmla="val 4476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809598"/>
          </a:xfrm>
          <a:prstGeom prst="roundRect">
            <a:avLst>
              <a:gd name="adj" fmla="val 425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809598"/>
          </a:xfrm>
          <a:prstGeom prst="roundRect">
            <a:avLst>
              <a:gd name="adj" fmla="val 13366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문헌 검토 매트릭스 생성</a:t>
            </a:r>
            <a:endParaRPr lang="en-US" sz="3600" dirty="0"/>
          </a:p>
        </p:txBody>
      </p:sp>
      <p:pic>
        <p:nvPicPr>
          <p:cNvPr id="17" name="Image 1" descr="gen-dedup-253dd7c7c5292d1c4dbd55f75709cc87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2253082" y="2219249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요소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3~5편의 서지정보(APA 형식) + 초록/키워드를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제공합니다</a:t>
            </a:r>
            <a:endParaRPr lang="en-US" sz="1400" dirty="0"/>
          </a:p>
        </p:txBody>
      </p:sp>
      <p:pic>
        <p:nvPicPr>
          <p:cNvPr id="20" name="Image 2" descr="gen-dedup-dd5325a1594c56cdbf6d6fbe9943fb5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2219249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결과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238805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저자/연도·목적·자료·방법·결과·한계·시사점 7열 매트릭스 표가 생성됩니다</a:t>
            </a:r>
            <a:endParaRPr lang="en-US" sz="14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219249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서지정보가 정확한가?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요약이 원문과 일치하는가?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서술이 과장되지 않았는가?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809744"/>
            <a:ext cx="10096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예시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238598"/>
            <a:ext cx="10096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"다음 논문 초록을 바탕으로 문헌 검토 매트릭스를 작성해 주세요: 열 구성은 저자/연도, 목적, 자료, 방법, 주요 결과, 한계, 시사점입니다."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5952744"/>
            <a:ext cx="10096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papers.dreamitbiz.com</a:t>
            </a:r>
            <a:endParaRPr lang="en-US" sz="12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 자동 생성: 장점 vs 위험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2100" dirty="0"/>
          </a:p>
        </p:txBody>
      </p:sp>
      <p:pic>
        <p:nvPicPr>
          <p:cNvPr id="15" name="Image 0" descr="gen-dedup-fffb7c5cf53bc5daefa2edd3bc9fe72e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152144" y="2238451"/>
            <a:ext cx="171907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76756" y="2210105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속도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대량 문헌의 서지정보를 빠르게 정리</a:t>
            </a:r>
            <a:endParaRPr lang="en-US" sz="1500" dirty="0"/>
          </a:p>
        </p:txBody>
      </p:sp>
      <p:pic>
        <p:nvPicPr>
          <p:cNvPr id="17" name="Image 1" descr="gen-dedup-0362d924a27ab10c081b1989ec733a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3191256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76756" y="3161995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 변환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APA·MLA·Chicago 등 자동 전환</a:t>
            </a:r>
            <a:endParaRPr lang="en-US" sz="1500" dirty="0"/>
          </a:p>
        </p:txBody>
      </p:sp>
      <p:pic>
        <p:nvPicPr>
          <p:cNvPr id="19" name="Image 2" descr="gen-dedup-c53023d8ad43b309ac5d2596d92befd4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1152144" y="4143146"/>
            <a:ext cx="171907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76756" y="4114800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표기 체계의 통일성 유지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</a:t>
            </a:r>
            <a:endParaRPr lang="en-US" sz="2100" dirty="0"/>
          </a:p>
        </p:txBody>
      </p:sp>
      <p:pic>
        <p:nvPicPr>
          <p:cNvPr id="23" name="Image 3" descr="gen-dedup-720549e0c6be0266ef59706ab3e1ee1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29500" y="2238451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63256" y="2210105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누락·오기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저자명·연도·권호 등 서지정보 오류</a:t>
            </a:r>
            <a:endParaRPr lang="en-US" sz="1500" dirty="0"/>
          </a:p>
        </p:txBody>
      </p:sp>
      <p:pic>
        <p:nvPicPr>
          <p:cNvPr id="25" name="Image 4" descr="gen-dedup-667a435dd4849dcc4a849a23c0e6348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53274" y="3191256"/>
            <a:ext cx="142646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63256" y="3161995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가짜 문헌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존재하지 않는 논문·학술지를 생성</a:t>
            </a:r>
            <a:endParaRPr lang="en-US" sz="1500" dirty="0"/>
          </a:p>
        </p:txBody>
      </p:sp>
      <p:pic>
        <p:nvPicPr>
          <p:cNvPr id="27" name="Image 5" descr="gen-dedup-a03a3e26c15b19eee1e6d99e503b1b7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05726" y="4143146"/>
            <a:ext cx="237744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63256" y="4114800"/>
            <a:ext cx="3477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DOI 오류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잘못된 DOI나 링크를 제시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2247595" y="5896051"/>
            <a:ext cx="77001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"AI가 생성한 참고문헌은 반드시 원문 대조를 통해 전수 검증해야 합니다"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 사실 검증 체크리스트</a:t>
            </a:r>
            <a:endParaRPr lang="en-US" sz="4200" dirty="0"/>
          </a:p>
        </p:txBody>
      </p:sp>
      <p:pic>
        <p:nvPicPr>
          <p:cNvPr id="25" name="Image 2" descr="gen-dedup-5bafeee828d1f453a55a01e9002c3b31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304849" y="2553005"/>
            <a:ext cx="2862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저자명 확인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4095598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저자의 성·이름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철자와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순서가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정확한지,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공동저자가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누락되지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200" dirty="0"/>
          </a:p>
        </p:txBody>
      </p:sp>
      <p:pic>
        <p:nvPicPr>
          <p:cNvPr id="28" name="Image 3" descr="gen-dedup-9bc936c5339c0cbbc43ce5291f6e7fc1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3672230" y="2553005"/>
            <a:ext cx="200254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연도 확인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00807" y="4095598"/>
            <a:ext cx="19431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출판연도가 정확한지,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온라인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선출판과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출판연도를 구분합니다.</a:t>
            </a:r>
            <a:endParaRPr lang="en-US" sz="1200" dirty="0"/>
          </a:p>
        </p:txBody>
      </p:sp>
      <p:pic>
        <p:nvPicPr>
          <p:cNvPr id="31" name="Image 4" descr="gen-dedup-47da7bba08c2e042c2a6cfa190d4071a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95721" y="2553005"/>
            <a:ext cx="200254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학술지·권호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명칭·권(volume)·호(issue)·페이지가 원문과 일치하는지 대조합니다.</a:t>
            </a:r>
            <a:endParaRPr lang="en-US" sz="1200" dirty="0"/>
          </a:p>
        </p:txBody>
      </p:sp>
      <p:pic>
        <p:nvPicPr>
          <p:cNvPr id="34" name="Image 5" descr="gen-dedup-b45d1181f74778eedd92d78a0d6ee527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277149" y="2553005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4487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DOI 검증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543800" y="4095598"/>
            <a:ext cx="17529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DOI가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해당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논문으로 연결되는지 직접 클릭하여 확인합니다.</a:t>
            </a:r>
            <a:endParaRPr lang="en-US" sz="1200" dirty="0"/>
          </a:p>
        </p:txBody>
      </p:sp>
      <p:pic>
        <p:nvPicPr>
          <p:cNvPr id="37" name="Image 6" descr="gen-dedup-83ac1bd01a48c063881b8b7339be3c36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10615270" y="2553005"/>
            <a:ext cx="256946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원문 대조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4095598"/>
            <a:ext cx="17529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DB(Google Scholar ·RISS·KCI)에서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원문을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검색하여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존재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여부와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일치를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590519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건의 가짜 참고문헌이 전체 연구의 신뢰를 훼손합니다</a:t>
            </a:r>
            <a:endParaRPr lang="en-US" sz="18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714500"/>
          </a:xfrm>
          <a:prstGeom prst="roundRect">
            <a:avLst>
              <a:gd name="adj" fmla="val 237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714500"/>
          </a:xfrm>
          <a:prstGeom prst="roundRect">
            <a:avLst>
              <a:gd name="adj" fmla="val 70547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공백</a:t>
            </a: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찾기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438498"/>
            <a:ext cx="3095244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 공백은 '아직 답이 없는 질문'을 발견하는 과정이며,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연구의 정당성을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출발점입니다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500" dirty="0"/>
          </a:p>
        </p:txBody>
      </p:sp>
      <p:pic>
        <p:nvPicPr>
          <p:cNvPr id="14" name="Image 1" descr="gen-dedup-fce97c164614447d6f534fc1d7b055b8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5086807" y="1295705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클러스터링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선행연구를 주제별로 묶어 어떤 영역이 반복적으로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연구되었고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영역이 미탐색인지 시각적으로 파악합니다.</a:t>
            </a:r>
            <a:endParaRPr lang="en-US" sz="1500" dirty="0"/>
          </a:p>
        </p:txBody>
      </p:sp>
      <p:pic>
        <p:nvPicPr>
          <p:cNvPr id="17" name="Image 2" descr="gen-dedup-295c9005433d6eee027db42b6a0bf98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공백 기술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'무엇이/왜/어떻게' 덜 다뤄졌는지를 구체적으로 기술합니다.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방법론적·대상적·맥락적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공백을 구분합니다.</a:t>
            </a:r>
            <a:endParaRPr lang="en-US" sz="1500" dirty="0"/>
          </a:p>
        </p:txBody>
      </p:sp>
      <p:pic>
        <p:nvPicPr>
          <p:cNvPr id="20" name="Image 3" descr="gen-dedup-de68d42dc38b0aac03c4b6547af139e1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119726" y="4724705"/>
            <a:ext cx="237744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 연구로의 전환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발견된 공백을 내 연구 질문과 연결하여 연구의 필요성과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기여를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명확히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진술합니다.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95598"/>
            <a:ext cx="2857500" cy="19202"/>
          </a:xfrm>
          <a:prstGeom prst="rect">
            <a:avLst/>
          </a:prstGeom>
        </p:spPr>
      </p:pic>
      <p:pic>
        <p:nvPicPr>
          <p:cNvPr id="9" name="Image 2" descr="gen-dedup-eb5ad9e72217b0b5faf8252af55d524f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761695"/>
            <a:ext cx="38405" cy="53336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952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095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238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4381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5524805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761695" y="2048256"/>
            <a:ext cx="32388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 초안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구조</a:t>
            </a:r>
            <a:endParaRPr lang="en-US" sz="4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배경에서 해석까지 5단계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857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배경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076249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맥락과 문헌 분석의 필요성을 서술합니다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000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자료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219249"/>
            <a:ext cx="59783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대상 문헌의 유형·수량·선정 기준·수집 기간을 명시합니다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3143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분석틀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3362249"/>
            <a:ext cx="63559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방법·주제화 전략·비교 기준 등 분석 프레임워크를 설명합니다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42867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결과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4505249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주제별·시간축별·문서간 비교 결과를 인용과 함께 제시합니다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5429707"/>
            <a:ext cx="5906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5. 해석과 시사점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5648249"/>
            <a:ext cx="6615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결과의 의미를 선행연구와 연결하고 연구 질문에 대한 답을 도출합니다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953305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14900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38805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15207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연구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297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서사적 재구성과 시간성·사회성·장소성의 탐구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66864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762402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철학적 기반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496105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"내러티브 연구는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이야기로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조직하고,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이야기 속에서 의미를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접근입니다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500" dirty="0"/>
          </a:p>
        </p:txBody>
      </p:sp>
      <p:pic>
        <p:nvPicPr>
          <p:cNvPr id="14" name="Image 1" descr="gen-dedup-7210d8b803bb52b35e2e4c3699201139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5086807" y="1295705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서사적 재구성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715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인간의 경험은 이야기 형태로 조직되고 전달됩니다.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연구는 이 이야기를 학술적으로 분석하고 재구성합니다.</a:t>
            </a:r>
            <a:endParaRPr lang="en-US" sz="1500" dirty="0"/>
          </a:p>
        </p:txBody>
      </p:sp>
      <p:pic>
        <p:nvPicPr>
          <p:cNvPr id="17" name="Image 2" descr="gen-dedup-5054a498f0f696f70fee61748688a8f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2915107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809951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시간성·사회성·장소성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286354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Clandinin &amp; Connelly의 3차원: 경험은 시간의 흐름 속에서,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사회적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관계 안에서, 특정 장소에서 구성됩니다.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세 축이 내러티브의 기본 틀입니다.</a:t>
            </a:r>
            <a:endParaRPr lang="en-US" sz="1500" dirty="0"/>
          </a:p>
        </p:txBody>
      </p:sp>
      <p:pic>
        <p:nvPicPr>
          <p:cNvPr id="20" name="Image 3" descr="gen-dedup-7b6dd36b400af93715f44cdb0acc99e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단위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715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연구의 데이터는 이야기 단위·장면·에피소드입니다.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사건이 아닌 맥락화된 서사가 분석 대상입니다.</a:t>
            </a:r>
            <a:endParaRPr lang="en-US" sz="1500" dirty="0"/>
          </a:p>
        </p:txBody>
      </p:sp>
      <p:sp>
        <p:nvSpPr>
          <p:cNvPr id="23" name="C 각주"/>
          <p:cNvSpPr txBox="1"/>
          <p:nvPr/>
        </p:nvSpPr>
        <p:spPr>
          <a:xfrm>
            <a:off x="762000" y="6429756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Clandinin, D. J., &amp; Connelly, F. M. (2000). Narrative inquiry: Experience and story in qualitative research. Jossey-Bass. · 세 축의 명칭(temporality·sociality·place): Connelly &amp; Clandinin (2006)</a:t>
            </a: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62549"/>
            <a:ext cx="11106302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62549"/>
            <a:ext cx="57607" cy="666598"/>
          </a:xfrm>
          <a:prstGeom prst="roundRect">
            <a:avLst>
              <a:gd name="adj" fmla="val 36281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이야기와 사건의 차이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나열 (사건)</a:t>
            </a:r>
            <a:endParaRPr lang="en-US" sz="2100" dirty="0"/>
          </a:p>
        </p:txBody>
      </p:sp>
      <p:pic>
        <p:nvPicPr>
          <p:cNvPr id="15" name="Image 0" descr="gen-dedup-9f92920ce840046c2912e054cc2891a3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7105" y="225765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29207" y="22101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시퀀스 중심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429207" y="2476195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사건을 시간순으로 단순 나열</a:t>
            </a:r>
            <a:endParaRPr lang="en-US" sz="1200" dirty="0"/>
          </a:p>
        </p:txBody>
      </p:sp>
      <p:pic>
        <p:nvPicPr>
          <p:cNvPr id="18" name="Image 1" descr="gen-dedup-a55fd57e51856b6c0548bccae3b9d3e4.png"/>
          <p:cNvPicPr>
            <a:picLocks noChangeAspect="1"/>
          </p:cNvPicPr>
          <p:nvPr/>
        </p:nvPicPr>
        <p:blipFill>
          <a:blip r:embed="rId3"/>
          <a:srcRect l="-16667" r="-16667"/>
          <a:stretch/>
        </p:blipFill>
        <p:spPr>
          <a:xfrm>
            <a:off x="1067105" y="3209544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29207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기록 중심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429207" y="3429000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무엇이 일어났는지 현상만 기술</a:t>
            </a:r>
            <a:endParaRPr lang="en-US" sz="1200" dirty="0"/>
          </a:p>
        </p:txBody>
      </p:sp>
      <p:pic>
        <p:nvPicPr>
          <p:cNvPr id="21" name="Image 2" descr="gen-dedup-1916e3b94e46aecc0fecfa9b3d83802e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1067105" y="4162349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29207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부재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429207" y="4381805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중요한지에 대한 설명 없음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810098" y="3219602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서사 구성 (이야기)</a:t>
            </a:r>
            <a:endParaRPr lang="en-US" sz="2100" dirty="0"/>
          </a:p>
        </p:txBody>
      </p:sp>
      <p:pic>
        <p:nvPicPr>
          <p:cNvPr id="26" name="Image 3" descr="gen-dedup-53f458849d6036f3b5a7e3c0b1fb3c52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7353605" y="2257654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763256" y="22101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의미의 맥락화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763256" y="2476195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사건에 의미와 관계를 부여하여 연결</a:t>
            </a:r>
            <a:endParaRPr lang="en-US" sz="1200" dirty="0"/>
          </a:p>
        </p:txBody>
      </p:sp>
      <p:pic>
        <p:nvPicPr>
          <p:cNvPr id="29" name="Image 4" descr="gen-dedup-54ecd42354e1a966ba06d716aa855a3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53605" y="3209544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63256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전환과 변화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763256" y="3429000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위기·선택·성장의 서사적 흐름 도출</a:t>
            </a:r>
            <a:endParaRPr lang="en-US" sz="1200" dirty="0"/>
          </a:p>
        </p:txBody>
      </p:sp>
      <p:pic>
        <p:nvPicPr>
          <p:cNvPr id="32" name="Image 5" descr="gen-dedup-2d65d084885ee650895634ee7160f87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53605" y="4162349"/>
            <a:ext cx="190195" cy="190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763256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'왜/어떻게'가 드러남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7763256" y="4381805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인과관계와 연구자의 해석이 포함됨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2064715" y="5991149"/>
            <a:ext cx="80640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"내러티브는 사실의 나열이 아니라, 경험에 의미를 부여하는 구성 행위입니다"</a:t>
            </a:r>
            <a:endParaRPr lang="en-US" sz="16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333195"/>
          </a:xfrm>
          <a:prstGeom prst="roundRect">
            <a:avLst>
              <a:gd name="adj" fmla="val 391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333195"/>
          </a:xfrm>
          <a:prstGeom prst="roundRect">
            <a:avLst>
              <a:gd name="adj" fmla="val 9070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 연구의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19549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"생애사 연구는 한 개인의 경험을 시간 흐름 속에서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이해하고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사회문화적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맥락과 연결합니다"</a:t>
            </a:r>
            <a:endParaRPr lang="en-US" sz="1500" dirty="0"/>
          </a:p>
        </p:txBody>
      </p:sp>
      <p:pic>
        <p:nvPicPr>
          <p:cNvPr id="14" name="Image 1" descr="gen-dedup-f6e0b55c2d7fdf9dbfdf51ebdba4dc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흐름 속 경험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개인의 삶을 시간의 흐름에 따라 추적하며,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시기의 경험이 어떻게 연결되고 변화하는지를 이해합니다.</a:t>
            </a:r>
            <a:endParaRPr lang="en-US" sz="1500" dirty="0"/>
          </a:p>
        </p:txBody>
      </p:sp>
      <p:pic>
        <p:nvPicPr>
          <p:cNvPr id="17" name="Image 2" descr="gen-dedup-8ef9665e597dce8681081d1d5d183ea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전환점과 정체성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선택·위기·변화·관계의 변곡점을 찾아 정체성이 어떻게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재구성되는지를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분석합니다.</a:t>
            </a:r>
            <a:endParaRPr lang="en-US" sz="1500" dirty="0"/>
          </a:p>
        </p:txBody>
      </p:sp>
      <p:pic>
        <p:nvPicPr>
          <p:cNvPr id="20" name="Image 3" descr="gen-dedup-ce94b3e6ee11c34a5b87e0b82cc6f38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현상과 삶의 연결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개인의 미시적 경험이 사회적·제도적·역사적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어떻게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연결되는지를 탐구합니다.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95805"/>
            <a:ext cx="2133295" cy="366674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95805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 찾기</a:t>
            </a:r>
            <a:endParaRPr lang="en-US" sz="4200" dirty="0"/>
          </a:p>
        </p:txBody>
      </p:sp>
      <p:pic>
        <p:nvPicPr>
          <p:cNvPr id="25" name="Image 2" descr="gen-dedup-7258e244c9044b9fae8fa38e4ba6a8a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347826" y="2553005"/>
            <a:ext cx="200254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619195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중요한 결정을 내린 순간.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진로·직업·관계에서의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의식적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선택과 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탐색합니다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28" name="Image 3" descr="gen-dedup-67e593bab857891ef3a9400209e5e05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3672230" y="2553005"/>
            <a:ext cx="200254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8008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위기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895905" y="3619195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예상치 못한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어려움이나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갈등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삶의 방향을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흔든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그에 대한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1" name="Image 4" descr="gen-dedup-026d403641f96c6e5735f011262b0c7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2553005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124298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변화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219395" y="3619195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가치관·태도·행동의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있는 변화.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이전과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이후의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차이를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서술합니다.</a:t>
            </a:r>
            <a:endParaRPr lang="en-US" sz="1200" dirty="0"/>
          </a:p>
        </p:txBody>
      </p:sp>
      <p:pic>
        <p:nvPicPr>
          <p:cNvPr id="34" name="Image 5" descr="gen-dedup-4a5b5eb647caa3428bf616c55aa8b221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277149" y="2553005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353605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448702" y="3619195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타인과의 만남·이별·갈등이 정체성에 미친 영향.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속에서의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변화를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추적합니다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7" name="Image 6" descr="gen-dedup-5cdb22e9acb6bf81115a90ae8b80fb0c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29900" y="255300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3107" y="3143707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정체성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868205" y="3619195"/>
            <a:ext cx="17529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 이해의 변곡점.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"나는 누구인가"에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인식이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재구성된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순간을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포착합니다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590519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전환점은 참여자의 서술에서 '대조'와 '감정 급변'이 나타나는 지점에서 발견됩니다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00707"/>
            <a:ext cx="2133295" cy="3857854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524244"/>
            <a:ext cx="3810305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622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4866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810098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1345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4589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 인터뷰 질문 설계</a:t>
            </a:r>
            <a:endParaRPr lang="en-US" sz="4200" dirty="0"/>
          </a:p>
        </p:txBody>
      </p:sp>
      <p:pic>
        <p:nvPicPr>
          <p:cNvPr id="25" name="Image 2" descr="gen-dedup-274fd3d9e8882faad7f2994c54ba4f0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195" y="2457907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764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시작점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3619195"/>
            <a:ext cx="1752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"처음 이 분야에 들어오게 된 계기를 이야기해 주세요."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71500" y="4134002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삶의 출발점이나 진입 동기를 탐색합니다.</a:t>
            </a:r>
            <a:endParaRPr lang="en-US" sz="1100" dirty="0"/>
          </a:p>
        </p:txBody>
      </p:sp>
      <p:pic>
        <p:nvPicPr>
          <p:cNvPr id="29" name="Image 3" descr="gen-dedup-990ff4e91fcfb6eff81e13f59ded4a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2457907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800807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전개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2895905" y="3619195"/>
            <a:ext cx="1752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"그 이후 어떤 </a:t>
            </a:r>
            <a:r>
              <a:rPr lang="en-US" sz="1100" b="1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과정을</a:t>
            </a:r>
            <a:r>
              <a:rPr lang="en-US" sz="1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거쳤나요</a:t>
            </a:r>
            <a:r>
              <a:rPr lang="en-US" sz="1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?"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2895905" y="4134002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흐름에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따른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전개를 추적합니다.</a:t>
            </a:r>
            <a:endParaRPr lang="en-US" sz="1100" dirty="0"/>
          </a:p>
        </p:txBody>
      </p:sp>
      <p:pic>
        <p:nvPicPr>
          <p:cNvPr id="33" name="Image 4" descr="gen-dedup-3d40779d110625e42368d4cf405fb27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2457907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24298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위기·전환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5219395" y="3619195"/>
            <a:ext cx="1752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"가장 어려웠던 </a:t>
            </a:r>
            <a:r>
              <a:rPr lang="en-US" sz="11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순간은</a:t>
            </a: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언제였나요</a:t>
            </a: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?"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219395" y="4134002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위기와 전환점을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중심으로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깊이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탐색합니다.</a:t>
            </a:r>
            <a:endParaRPr lang="en-US" sz="1100" dirty="0"/>
          </a:p>
        </p:txBody>
      </p:sp>
      <p:pic>
        <p:nvPicPr>
          <p:cNvPr id="37" name="Image 5" descr="gen-dedup-7787ee6a61d51491410f85b8663923ae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334756" y="2457907"/>
            <a:ext cx="171907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4487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의미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543800" y="3619195"/>
            <a:ext cx="1752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"그 경험이 지금의 당신에게 어떤 의미인가요?"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7543800" y="4134002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 의미화와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성찰을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이끌어냅니다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100" dirty="0"/>
          </a:p>
        </p:txBody>
      </p:sp>
      <p:pic>
        <p:nvPicPr>
          <p:cNvPr id="41" name="Image 6" descr="gen-dedup-d0760f3fc158b62026ccc937ec03930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29900" y="245790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773107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현재·미래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9868205" y="3619195"/>
            <a:ext cx="1752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"지금 돌이켜보면 </a:t>
            </a:r>
            <a:r>
              <a:rPr lang="en-US" sz="11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무엇이</a:t>
            </a: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가장</a:t>
            </a:r>
            <a:r>
              <a:rPr lang="en-US" sz="1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중요했나요?"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9868205" y="4134002"/>
            <a:ext cx="1752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현재 시점에서의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재해석과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전망을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탐색합니다.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761695" y="609630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 질문은 시간 흐름을 따라가되, 참여자가 자유롭게 의미를 구성할 수 있어야 합니다</a:t>
            </a:r>
            <a:endParaRPr lang="en-US" sz="18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2586d8b4e6cc8d64c0c08a421ce59898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5524805" y="571500"/>
            <a:ext cx="38405" cy="5715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905256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0958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286354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4476902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5667451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761695" y="2095805"/>
            <a:ext cx="30486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이야기 단위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분절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 시기별 분절 틀</a:t>
            </a:r>
            <a:endParaRPr lang="en-US" sz="1800" dirty="0"/>
          </a:p>
        </p:txBody>
      </p:sp>
      <p:pic>
        <p:nvPicPr>
          <p:cNvPr id="17" name="Image 3" descr="gen-dedup-c6860261f28194cacc755432480a010a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5501030" y="990295"/>
            <a:ext cx="85954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01207" y="8092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어린 시절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001207" y="1047902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가족·환경·초기 경험이 정체성의 토대를 형성하는 시기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001207" y="1324051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원가족과 성장 맥락을 탐색합니다.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001207" y="20007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진입기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001207" y="22384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새로운 역할·직업·관계에 진입하는 시기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001207" y="2514600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동기와 기대, 초기 적응 과정을 분석합니다.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001207" y="3191256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위기기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001207" y="34290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갈등·실패·혼란의 시기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001207" y="3705149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가치관이 흔들리고 새로운 대응이 필요한 상황을 포착합니다.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001207" y="43818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전환기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001207" y="46195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위기를 거쳐 변화가 일어나는 시기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001207" y="48956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새로운 인식·관계·역할로의 이동을 추적합니다.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001207" y="557235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5. 재구성기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001207" y="58100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 통합하여 정체성을 재정립하는 시기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001207" y="6086246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현재의 의미화와 미래 전망을 서술합니다.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9c3fec7a505058763764b13befaf783c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3047695" y="2857500"/>
            <a:ext cx="6096305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952598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144000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c3fec7a505058763764b13befaf783c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3047695" y="4858207"/>
            <a:ext cx="6096305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52598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144000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43707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440741" y="3619195"/>
            <a:ext cx="1131112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생애사 구조 추출과 요약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238598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 연대표, 주제 군집, 학술용과 참여자용 두 가지 요약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4515981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95598"/>
            <a:ext cx="2857500" cy="19202"/>
          </a:xfrm>
          <a:prstGeom prst="rect">
            <a:avLst/>
          </a:prstGeom>
        </p:spPr>
      </p:pic>
      <p:pic>
        <p:nvPicPr>
          <p:cNvPr id="9" name="Image 2" descr="gen-dedup-bad5e3265033ee53ba1749de683ca2a5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5524805" y="952805"/>
            <a:ext cx="38405" cy="49533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4761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5143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</a:t>
            </a: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</a:t>
            </a: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</a:t>
            </a: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</a:t>
            </a: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200" b="1" kern="0" spc="-150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추출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334256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연대표, 군집, 전환점 자동 제안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01207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사건 연대표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285646"/>
            <a:ext cx="5715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</a:rPr>
              <a:t>인터뷰 텍스트에서 시간·장소·사건을 추출하여 연대순으로 정리합니다. 시간 흐름의 전체 윤곽을 </a:t>
            </a:r>
            <a:r>
              <a:rPr lang="en-US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</a:rPr>
              <a:t>파악합니다</a:t>
            </a:r>
            <a:r>
              <a:rPr lang="en-US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</a:rPr>
              <a:t>.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6001207" y="2381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주제별 군집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2619756"/>
            <a:ext cx="5715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반복되는 주제·감정·전략을 묶어 군집화합니다.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시기별로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어떤 주제가 부각되는지 확인합니다.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전환점 자동 제안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3952951"/>
            <a:ext cx="5715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서술의 대조·감정 급변·시간 도약이 나타나는 </a:t>
            </a: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지점을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후보로 제안합니다.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50484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검토와 수정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5361302"/>
            <a:ext cx="5715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제안은 초안이므로 연구자가 맥락을 </a:t>
            </a: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고려하여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검토·수정·보완합니다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</a:t>
            </a: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일반화와 맥락 손실에 주의합니다.</a:t>
            </a:r>
            <a:endParaRPr lang="en-US" sz="18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 초안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"학술 요약은 분석적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개념으로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압축하되, 자료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명확히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유지합니다"</a:t>
            </a:r>
            <a:endParaRPr lang="en-US" sz="1500" dirty="0"/>
          </a:p>
        </p:txBody>
      </p:sp>
      <p:pic>
        <p:nvPicPr>
          <p:cNvPr id="14" name="Image 1" descr="gen-dedup-806fbf1771815e7af7a8bd21961076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중심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경험을 학술적 개념과 범주로 해석하여 기술합니다.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 구조에 기반한 분석적 서술입니다.</a:t>
            </a:r>
            <a:endParaRPr lang="en-US" sz="1500" dirty="0"/>
          </a:p>
        </p:txBody>
      </p:sp>
      <p:pic>
        <p:nvPicPr>
          <p:cNvPr id="17" name="Image 2" descr="gen-dedup-d8d46edf432b682803ea125d98d45ee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 중심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전환점·정체성 재구성·맥락적 의미 등 분석적 개념어를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패턴과 의미를 설명합니다.</a:t>
            </a:r>
            <a:endParaRPr lang="en-US" sz="1500" dirty="0"/>
          </a:p>
        </p:txBody>
      </p:sp>
      <p:pic>
        <p:nvPicPr>
          <p:cNvPr id="20" name="Image 3" descr="gen-dedup-15773f88e8991f99d493d66d8360ca3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압축적 기술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분량 제한에 맞추어 핵심 사건과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선별적으로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제시합니다.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길이와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형식은 학술지 가이드를 준수합니다.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확인용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 초안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496105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확인용 요약은 참여자가 읽고 '내 이야기가 맞다'고 확인할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있어야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합니다</a:t>
            </a:r>
            <a:endParaRPr lang="en-US" sz="1500" dirty="0"/>
          </a:p>
        </p:txBody>
      </p:sp>
      <p:pic>
        <p:nvPicPr>
          <p:cNvPr id="14" name="Image 1" descr="gen-dedup-397903f744c3c58bbb0cbf94f26b75f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095" y="1295705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쉬운 언어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용어를 피하고 일상적 표현으로 작성합니다.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자신의 경험을 인식할 수 있는 수준의 언어를 사용합니다.</a:t>
            </a:r>
            <a:endParaRPr lang="en-US" sz="1500" dirty="0"/>
          </a:p>
        </p:txBody>
      </p:sp>
      <p:pic>
        <p:nvPicPr>
          <p:cNvPr id="17" name="Image 2" descr="gen-dedup-4de7f708b4e863c1656d9ce36a4a31f8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5086807" y="3010205"/>
            <a:ext cx="30449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충실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구체적 상황·관계·감정을 생략하지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충실하게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반영합니다.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추상화보다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맥락의 보존을 우선합니다.</a:t>
            </a:r>
            <a:endParaRPr lang="en-US" sz="1500" dirty="0"/>
          </a:p>
        </p:txBody>
      </p:sp>
      <p:pic>
        <p:nvPicPr>
          <p:cNvPr id="20" name="Image 3" descr="gen-dedup-925b10aca677c8ef4438fca84730275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왜곡 최소화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해석이 참여자의 원래 의도와 다르지 않은지 확인합니다.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참여자에게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 요청 권리를 명시합니다.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 요약 vs 참여자 확인용 요약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</a:t>
            </a:r>
            <a:endParaRPr lang="en-US" sz="2100" dirty="0"/>
          </a:p>
        </p:txBody>
      </p:sp>
      <p:pic>
        <p:nvPicPr>
          <p:cNvPr id="15" name="Image 0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2238451"/>
            <a:ext cx="171907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33195" y="2210105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 개념어 사용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(전환점, 정체성 재구성 등)</a:t>
            </a:r>
            <a:endParaRPr lang="en-US" sz="1500" dirty="0"/>
          </a:p>
        </p:txBody>
      </p:sp>
      <p:pic>
        <p:nvPicPr>
          <p:cNvPr id="17" name="Image 1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3191256"/>
            <a:ext cx="171907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33195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압축과 패턴 중심 기술</a:t>
            </a:r>
            <a:endParaRPr lang="en-US" sz="1500" dirty="0"/>
          </a:p>
        </p:txBody>
      </p:sp>
      <p:pic>
        <p:nvPicPr>
          <p:cNvPr id="19" name="Image 2" descr="gen-dedup-60d74a48dbd67feda113e2befba08839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4143146"/>
            <a:ext cx="171907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33195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형식과 분량 제한 준수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확인용</a:t>
            </a:r>
            <a:endParaRPr lang="en-US" sz="2100" dirty="0"/>
          </a:p>
        </p:txBody>
      </p:sp>
      <p:pic>
        <p:nvPicPr>
          <p:cNvPr id="23" name="Image 3" descr="gen-dedup-32b90b2464b8c17e6210f25ea0fc0b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63079" y="2238451"/>
            <a:ext cx="237744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9695" y="22101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일상 언어와 구체적 표현 사용</a:t>
            </a:r>
            <a:endParaRPr lang="en-US" sz="1500" dirty="0"/>
          </a:p>
        </p:txBody>
      </p:sp>
      <p:pic>
        <p:nvPicPr>
          <p:cNvPr id="25" name="Image 4" descr="gen-dedup-18410841ff1def4b26754b6c79bd68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86854" y="3191256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19695" y="31619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맥락과 감정의 충실한 보존</a:t>
            </a:r>
            <a:endParaRPr lang="en-US" sz="1500" dirty="0"/>
          </a:p>
        </p:txBody>
      </p:sp>
      <p:pic>
        <p:nvPicPr>
          <p:cNvPr id="27" name="Image 5" descr="gen-dedup-374b6e126260733fe7d3cf410d42731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6854" y="41431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19695" y="41148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수정·보완 요청 권리 포함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5896051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"두 버전 모두 사실성과 익명화를 유지하되, 독자와 목적에 맞게 언어 수준을 조절합니다"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714500"/>
          </a:xfrm>
          <a:prstGeom prst="roundRect">
            <a:avLst>
              <a:gd name="adj" fmla="val 237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714500"/>
          </a:xfrm>
          <a:prstGeom prst="roundRect">
            <a:avLst>
              <a:gd name="adj" fmla="val 70547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분석과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결합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19549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"배경 문헌이 개인 서사에 맥락을 부여하고, 개인 서사가 문헌의 추상성에 생명을 불어넣습니다"</a:t>
            </a:r>
            <a:endParaRPr lang="en-US" sz="1500" dirty="0"/>
          </a:p>
        </p:txBody>
      </p:sp>
      <p:pic>
        <p:nvPicPr>
          <p:cNvPr id="14" name="Image 1" descr="gen-dedup-bd915fc6f84d7161ce5bc4119326e66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결합 구조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 문헌의 제도적·담론적 맥락과 개인의 미시적 경험을 연결합니다. 문헌이 '왜'를 설명하고 서사가 '어떻게'를 보여줍니다.</a:t>
            </a:r>
            <a:endParaRPr lang="en-US" sz="1500" dirty="0"/>
          </a:p>
        </p:txBody>
      </p:sp>
      <p:pic>
        <p:nvPicPr>
          <p:cNvPr id="17" name="Image 2" descr="gen-dedup-83a1b4bc56cdddff88bb236ae74ef9d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사회문화적 맥락 연결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경험이 사회적·제도적·역사적 조건과 어떻게 상호작용하는지를 문헌을 통해 조명합니다.</a:t>
            </a:r>
            <a:endParaRPr lang="en-US" sz="1500" dirty="0"/>
          </a:p>
        </p:txBody>
      </p:sp>
      <p:pic>
        <p:nvPicPr>
          <p:cNvPr id="20" name="Image 3" descr="gen-dedup-6d65942fb3ca97a8322b708dbe082ec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유사 접근과의 차이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자문화기술지(자기 경험+문화), 사례연구(경계 있는 사례),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(변화 중심)와의 접점과 차이를 이해합니다. 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381098" cy="3666744"/>
          </a:xfrm>
          <a:prstGeom prst="roundRect">
            <a:avLst>
              <a:gd name="adj" fmla="val 24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381098" cy="47549"/>
          </a:xfrm>
          <a:prstGeom prst="roundRect">
            <a:avLst>
              <a:gd name="adj" fmla="val 12307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001207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666951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2935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91756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95324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해석의 주의점</a:t>
            </a:r>
            <a:endParaRPr lang="en-US" sz="4200" dirty="0"/>
          </a:p>
        </p:txBody>
      </p:sp>
      <p:pic>
        <p:nvPicPr>
          <p:cNvPr id="22" name="Image 2" descr="gen-dedup-fb2493c771af373a72bc114ca03b05f2.png"/>
          <p:cNvPicPr>
            <a:picLocks noChangeAspect="1"/>
          </p:cNvPicPr>
          <p:nvPr/>
        </p:nvPicPr>
        <p:blipFill>
          <a:blip r:embed="rId4"/>
          <a:srcRect l="-5644" r="-5644"/>
          <a:stretch/>
        </p:blipFill>
        <p:spPr>
          <a:xfrm>
            <a:off x="1809598" y="2553005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143707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미화 경계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715207"/>
            <a:ext cx="2095804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경험을 영웅 서사로 미화하지 않습니다.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어려움과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모순,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불확실성도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그대로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드러냅니다.</a:t>
            </a:r>
            <a:endParaRPr lang="en-US" sz="1300" dirty="0"/>
          </a:p>
        </p:txBody>
      </p:sp>
      <p:pic>
        <p:nvPicPr>
          <p:cNvPr id="25" name="Image 3" descr="gen-dedup-6d2a89a6e4d07dbf462cdbede1a57b7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00346" y="255300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143707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단순화 금지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619195" y="3715207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복잡한 경험을 하나의 메시지로 환원하지 않습니다.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다성성과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모순을 유지합니다.</a:t>
            </a:r>
            <a:endParaRPr lang="en-US" sz="1300" dirty="0"/>
          </a:p>
        </p:txBody>
      </p:sp>
      <p:pic>
        <p:nvPicPr>
          <p:cNvPr id="28" name="Image 4" descr="gen-dedup-6de11794cd8996ac58f2d1c47f9ba3f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2749" y="2553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43707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 왜곡 경계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715207"/>
            <a:ext cx="2000707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사후적 인과관계를 부여하여 경험을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논리적으로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재구성하는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경계합니다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Image 5" descr="gen-dedup-4327b895cfbc69f0286c8e8ccd2adfd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25151" y="2553005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143707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편집 원칙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715207"/>
            <a:ext cx="2095804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발화의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원의를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보존하고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익명화를 유지하며, 연구자의 해석과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목소리를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구분합니다.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14385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연구의 힘은 복잡성을 유지하면서도 의미를 드러내는 데 있습니다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476195" cy="3571646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476195" cy="3571646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571646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476195" cy="3571646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34049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769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 결과 제시 형식</a:t>
            </a:r>
            <a:endParaRPr lang="en-US" sz="4200" dirty="0"/>
          </a:p>
        </p:txBody>
      </p:sp>
      <p:pic>
        <p:nvPicPr>
          <p:cNvPr id="22" name="Image 2" descr="gen-dedup-60a249d2637c23a081326b475733aab6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857146" y="2553005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연대기형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715207"/>
            <a:ext cx="2095805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순서에 따라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삶의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흐름과 변화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직관적으로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보여주는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형식입니다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25" name="Image 3" descr="gen-dedup-638b634228452a427823b83880a406e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7895" y="255300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주제형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715207" y="3715207"/>
            <a:ext cx="20958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주제를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중심으로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재구성합니다.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시간보다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의미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초점을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맞춥니다.</a:t>
            </a:r>
            <a:endParaRPr lang="en-US" sz="1300" dirty="0"/>
          </a:p>
        </p:txBody>
      </p:sp>
      <p:pic>
        <p:nvPicPr>
          <p:cNvPr id="28" name="Image 4" descr="gen-dedup-b587472ef03c6c8139fd2221d4ad7a9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10298" y="2553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장면형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715207"/>
            <a:ext cx="2095805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에피소드를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생생하게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재현합니다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독자가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참여자의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'체험'하게 하는 형식입니다.</a:t>
            </a:r>
            <a:endParaRPr lang="en-US" sz="1300" dirty="0"/>
          </a:p>
        </p:txBody>
      </p:sp>
      <p:pic>
        <p:nvPicPr>
          <p:cNvPr id="31" name="Image 5" descr="gen-dedup-0bd6dcd111eee60d5871318a5fb591dc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0158070" y="2553005"/>
            <a:ext cx="256946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복합형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715207"/>
            <a:ext cx="2095805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연대기·주제·장면을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혼합합니다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흐름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안에서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장면과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제시합니다.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65270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 선택은 연구 질문, 자료 특성, 독자(학술지/발표)에 따라 결정합니다</a:t>
            </a:r>
            <a:endParaRPr lang="en-US" sz="15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85646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714500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714500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714500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572000"/>
            <a:ext cx="10724998" cy="1809598"/>
          </a:xfrm>
          <a:prstGeom prst="roundRect">
            <a:avLst>
              <a:gd name="adj" fmla="val 425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572000"/>
            <a:ext cx="57607" cy="1809598"/>
          </a:xfrm>
          <a:prstGeom prst="roundRect">
            <a:avLst>
              <a:gd name="adj" fmla="val 13366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48156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00707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00707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00707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문헌 검토 매트릭스 + 전환점 찾기</a:t>
            </a:r>
            <a:endParaRPr lang="en-US" sz="36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124151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초록 3편 + 생애사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단편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(약 500자). 문헌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내러티브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분석을 동시에 연습합니다</a:t>
            </a:r>
            <a:endParaRPr lang="en-US" sz="1300" dirty="0"/>
          </a:p>
        </p:txBody>
      </p:sp>
      <p:pic>
        <p:nvPicPr>
          <p:cNvPr id="20" name="Image 2" descr="gen-dedup-dd5325a1594c56cdbf6d6fbe9943fb5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2124151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문헌: 저자/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연도·목적·방법·결과·한계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시사점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매트릭스 작성. 생애사: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2개와 근거 인용문 추출</a:t>
            </a:r>
            <a:endParaRPr lang="en-US" sz="1300" dirty="0"/>
          </a:p>
        </p:txBody>
      </p:sp>
      <p:pic>
        <p:nvPicPr>
          <p:cNvPr id="23" name="Image 3" descr="gen-dedup-8310d0221a2035721f54e41283c9c02b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724644" y="2124151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기준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 정보가 원문과 일치하는가?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 근거에 밀착되어 있는가?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905756"/>
            <a:ext cx="10096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작업 → 조별 비교 → 전체 토론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857646"/>
            <a:ext cx="10096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papers.dreamitbiz.com</a:t>
            </a:r>
            <a:endParaRPr lang="en-US" sz="12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2000707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2000707"/>
            <a:ext cx="3258007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143500"/>
            <a:ext cx="10724998" cy="952805"/>
          </a:xfrm>
          <a:prstGeom prst="roundRect">
            <a:avLst>
              <a:gd name="adj" fmla="val 1535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5143500"/>
            <a:ext cx="57607" cy="952805"/>
          </a:xfrm>
          <a:prstGeom prst="roundRect">
            <a:avLst>
              <a:gd name="adj" fmla="val 253969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286000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286000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286000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AI 요약 두 버전 생성 비교</a:t>
            </a:r>
            <a:endParaRPr lang="en-US" sz="3600" dirty="0"/>
          </a:p>
        </p:txBody>
      </p:sp>
      <p:pic>
        <p:nvPicPr>
          <p:cNvPr id="17" name="Image 1" descr="gen-dedup-b3fba909820ea789da70d7deb3ed3868.png"/>
          <p:cNvPicPr>
            <a:picLocks noChangeAspect="1"/>
          </p:cNvPicPr>
          <p:nvPr/>
        </p:nvPicPr>
        <p:blipFill>
          <a:blip r:embed="rId3"/>
          <a:srcRect t="-12500" b="-12500"/>
          <a:stretch/>
        </p:blipFill>
        <p:spPr>
          <a:xfrm>
            <a:off x="2266798" y="2409444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95259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요약 생성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429000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전환점이 표시된 생애사 단편을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 게재용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확인용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버전을 생성합니다.</a:t>
            </a:r>
            <a:endParaRPr lang="en-US" sz="1300" dirty="0"/>
          </a:p>
        </p:txBody>
      </p:sp>
      <p:pic>
        <p:nvPicPr>
          <p:cNvPr id="20" name="Image 2" descr="gen-dedup-4c8c1c903bfbddfa075094fb6f733f79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982005" y="2409444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95259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분석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67098" y="3429000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버전의 언어 수준·개념 사용·맥락 보존·압축 정도를 비교표로 정리합니다.</a:t>
            </a:r>
            <a:endParaRPr lang="en-US" sz="1300" dirty="0"/>
          </a:p>
        </p:txBody>
      </p:sp>
      <p:pic>
        <p:nvPicPr>
          <p:cNvPr id="23" name="Image 3" descr="gen-dedup-c205f9a33e32bbff6f50672b6afdc4b6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9696298" y="240944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95259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429000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요약이 과잉 해석하지 않았는가?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요약이 원의를 보존하고 있는가?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용어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난이도가 적절한가?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447995"/>
            <a:ext cx="10096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버전 작성 후 동료와 교차 검토하여 피드백을 교환합니다.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3617" y="2314346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04795" y="2000707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047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000707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353605" y="2000707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35360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677095" y="2000707"/>
            <a:ext cx="2133295" cy="3952951"/>
          </a:xfrm>
          <a:prstGeom prst="roundRect">
            <a:avLst>
              <a:gd name="adj" fmla="val 30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677095" y="2000707"/>
            <a:ext cx="2133295" cy="47549"/>
          </a:xfrm>
          <a:prstGeom prst="roundRect">
            <a:avLst>
              <a:gd name="adj" fmla="val 13736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1622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4866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810098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1345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04589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핵심 요약</a:t>
            </a:r>
            <a:endParaRPr lang="en-US" sz="4200" dirty="0"/>
          </a:p>
        </p:txBody>
      </p:sp>
      <p:pic>
        <p:nvPicPr>
          <p:cNvPr id="24" name="Image 1" descr="gen-dedup-aa8bdb069c5720b98abe3c701bd1b8a5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362456" y="2457907"/>
            <a:ext cx="171907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764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문헌 분석 절차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23951" y="3666744"/>
            <a:ext cx="184800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표면→구조→의미의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3수준 읽기와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주제·행위자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코딩으로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분석합니다.</a:t>
            </a:r>
            <a:endParaRPr lang="en-US" sz="1200" dirty="0"/>
          </a:p>
        </p:txBody>
      </p:sp>
      <p:pic>
        <p:nvPicPr>
          <p:cNvPr id="27" name="Image 2" descr="gen-dedup-719c491c01b6da00e3d889808d60278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0" y="2457907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800807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AI 문헌 검토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2848356" y="3666744"/>
            <a:ext cx="184800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매트릭스·비교표·주제군집을 AI로 빠르게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생성하되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반드시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전수 검증합니다.</a:t>
            </a:r>
            <a:endParaRPr lang="en-US" sz="1200" dirty="0"/>
          </a:p>
        </p:txBody>
      </p:sp>
      <p:pic>
        <p:nvPicPr>
          <p:cNvPr id="30" name="Image 3" descr="gen-dedup-1e001f9faf79cee51ee88ed377a731d1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5967374" y="2457907"/>
            <a:ext cx="256946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124298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내러티브/생애사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171846" y="3666744"/>
            <a:ext cx="184800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시간성·사회성·장소성의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3차원 틀로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서사적으로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재구성하고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추출합니다.</a:t>
            </a:r>
            <a:endParaRPr lang="en-US" sz="1200" dirty="0"/>
          </a:p>
        </p:txBody>
      </p:sp>
      <p:pic>
        <p:nvPicPr>
          <p:cNvPr id="33" name="Image 4" descr="gen-dedup-1b7342bff924e8050937764081a4f312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8305495" y="2457907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48702" y="304769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두 가지 요약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448702" y="3666744"/>
            <a:ext cx="2038198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게재용(분석 중심·압축)과 참여자 확인용(쉬운 언어·맥락 보존)을 구분하여 작성합니다.</a:t>
            </a:r>
            <a:endParaRPr lang="en-US" sz="1200" dirty="0"/>
          </a:p>
        </p:txBody>
      </p:sp>
      <p:pic>
        <p:nvPicPr>
          <p:cNvPr id="36" name="Image 5" descr="gen-dedup-8ed5e6f619ffc8ea77d3ac10f7c21c6b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601554" y="2457907"/>
            <a:ext cx="286207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73107" y="304769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문헌+내러티브 결합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820656" y="3666744"/>
            <a:ext cx="184800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 문헌의 제도적 맥락과 개인 서사의 미시적 경험을 연결하여 분석의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깊이를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모듈에서는 신뢰도 검증과 질적 보고서 작성으로 나아갑니다</a:t>
            </a:r>
            <a:endParaRPr lang="en-US" sz="16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809598"/>
            <a:ext cx="2590495" cy="2686507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333902" y="1809598"/>
            <a:ext cx="2590495" cy="2686507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1809598"/>
            <a:ext cx="2590495" cy="2686507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858707" y="1809598"/>
            <a:ext cx="2590495" cy="2686507"/>
          </a:xfrm>
          <a:prstGeom prst="roundRect">
            <a:avLst>
              <a:gd name="adj" fmla="val 415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10724998" cy="1333195"/>
          </a:xfrm>
          <a:prstGeom prst="roundRect">
            <a:avLst>
              <a:gd name="adj" fmla="val 783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858207"/>
            <a:ext cx="57607" cy="1333195"/>
          </a:xfrm>
          <a:prstGeom prst="roundRect">
            <a:avLst>
              <a:gd name="adj" fmla="val 181407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619402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818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144207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990569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산출물 정리</a:t>
            </a:r>
            <a:endParaRPr lang="en-US" sz="3600" dirty="0"/>
          </a:p>
        </p:txBody>
      </p:sp>
      <p:pic>
        <p:nvPicPr>
          <p:cNvPr id="19" name="Image 1" descr="gen-dedup-dd5325a1594c56cdbf6d6fbe9943fb5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2846" y="2219249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66598" y="2809951"/>
            <a:ext cx="2382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검토 매트릭스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66598" y="3333902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저자/연도·목적·자료·방법·결과·한계·시사점을 포함한 선행연구 비교표</a:t>
            </a:r>
            <a:endParaRPr lang="en-US" sz="1200" dirty="0"/>
          </a:p>
        </p:txBody>
      </p:sp>
      <p:pic>
        <p:nvPicPr>
          <p:cNvPr id="22" name="Image 2" descr="gen-dedup-1089c05490c35b2f49212f10e27539dd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4505249" y="2219249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429000" y="2809951"/>
            <a:ext cx="2382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분석 초안 보고서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429000" y="3333902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배경·자료·분석틀·결과·해석을 포함한 질적 문헌 분석 보고서 초안</a:t>
            </a:r>
            <a:endParaRPr lang="en-US" sz="1200" dirty="0"/>
          </a:p>
        </p:txBody>
      </p:sp>
      <p:pic>
        <p:nvPicPr>
          <p:cNvPr id="25" name="Image 3" descr="gen-dedup-126d2c87f3e5277d6141b1fad02b7ff0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7267651" y="2219249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191402" y="2809951"/>
            <a:ext cx="2382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 구조표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191402" y="3333902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사건 연대표·전환점 목록·생애 시기별 분절·주제 군집을 포함한 구조표</a:t>
            </a:r>
            <a:endParaRPr lang="en-US" sz="1200" dirty="0"/>
          </a:p>
        </p:txBody>
      </p:sp>
      <p:pic>
        <p:nvPicPr>
          <p:cNvPr id="28" name="Image 4" descr="gen-dedup-4c8c1c903bfbddfa075094fb6f733f7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0030054" y="2219249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53805" y="2809951"/>
            <a:ext cx="2382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가지 요약문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953805" y="3333902"/>
            <a:ext cx="2382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게재용 요약(분석 중심)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확인용 요약(맥락 보존)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버전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047902" y="5048402"/>
            <a:ext cx="10096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 안내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047902" y="5524805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4. 신뢰도 검증과 질적 보고서 작성</a:t>
            </a:r>
            <a:r>
              <a:rPr lang="en-US" sz="1500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— 엄격성 확보, 보고서 완성, 피어리뷰, 최종 발표</a:t>
            </a:r>
            <a:endParaRPr lang="en-US" sz="15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524244"/>
            <a:ext cx="6096305" cy="333756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524244"/>
            <a:ext cx="6096305" cy="333756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1524305"/>
            <a:ext cx="53336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5" y="1485900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9701fb51c6fadd9cd6356b3b5b126a8b.png"/>
          <p:cNvPicPr>
            <a:picLocks noChangeAspect="1"/>
          </p:cNvPicPr>
          <p:nvPr/>
        </p:nvPicPr>
        <p:blipFill>
          <a:blip r:embed="rId2"/>
          <a:srcRect t="-403" b="-403"/>
          <a:stretch/>
        </p:blipFill>
        <p:spPr>
          <a:xfrm>
            <a:off x="761695" y="4714646"/>
            <a:ext cx="5333695" cy="192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6305" y="4677156"/>
            <a:ext cx="95098" cy="95098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810805" y="857707"/>
            <a:ext cx="3619195" cy="36191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1239805" y="1238098"/>
            <a:ext cx="333756" cy="333756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048195" y="3524098"/>
            <a:ext cx="1619402" cy="1619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0287000" y="4381805"/>
            <a:ext cx="1047902" cy="10479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1047902"/>
            <a:ext cx="6667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질적 연구 AI 활용 과정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1904695"/>
            <a:ext cx="6667805" cy="253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4.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신뢰도 검증과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보고서 작성 </a:t>
            </a:r>
            <a:endParaRPr lang="en-US" sz="51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5095951"/>
            <a:ext cx="6667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대학원생·연구자·교수자 | 방식: 실습 중심 | 시간: 5시간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5499202"/>
            <a:ext cx="6667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 확보부터 보고서 완성까지, 전체 과정의 마지막 모듈</a:t>
            </a:r>
            <a:endParaRPr lang="en-US" sz="1500" dirty="0"/>
          </a:p>
        </p:txBody>
      </p:sp>
      <p:pic>
        <p:nvPicPr>
          <p:cNvPr id="19" name="Image 2" descr="gen-dedup-598dbce4c558d58f5300a114e754d7e3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9029700" y="2143354"/>
            <a:ext cx="1181405" cy="1047902"/>
          </a:xfrm>
          <a:prstGeom prst="rect">
            <a:avLst/>
          </a:prstGeom>
        </p:spPr>
      </p:pic>
      <p:pic>
        <p:nvPicPr>
          <p:cNvPr id="20" name="Image 3" descr="gen-dedup-99300a9466ec10c9cc15dfe7a83d3ab7.png"/>
          <p:cNvPicPr>
            <a:picLocks noChangeAspect="1"/>
          </p:cNvPicPr>
          <p:nvPr/>
        </p:nvPicPr>
        <p:blipFill>
          <a:blip r:embed="rId4"/>
          <a:srcRect l="-137" r="-137"/>
          <a:stretch/>
        </p:blipFill>
        <p:spPr>
          <a:xfrm>
            <a:off x="7586777" y="4024274"/>
            <a:ext cx="543154" cy="619049"/>
          </a:xfrm>
          <a:prstGeom prst="rect">
            <a:avLst/>
          </a:prstGeom>
        </p:spPr>
      </p:pic>
      <p:pic>
        <p:nvPicPr>
          <p:cNvPr id="21" name="Image 4" descr="gen-dedup-c4c3f2c3ffbd360b7c69727c76da4b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96982" y="4690872"/>
            <a:ext cx="428854" cy="428854"/>
          </a:xfrm>
          <a:prstGeom prst="rect">
            <a:avLst/>
          </a:prstGeom>
        </p:spPr>
      </p:pic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1047902"/>
            <a:ext cx="190195" cy="1901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209580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3143707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41906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5238598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761695" y="2095805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</a:t>
            </a:r>
            <a:endParaRPr lang="en-US" sz="4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20시간 과정의 마지막 여정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9528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1905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1~3 산출물 연결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466698"/>
            <a:ext cx="626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설계·코드북·주제 분석표·담화 분석·문헌 매트릭스·생애사 구조표가 완성된 상태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0007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2384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 확보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251460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신뢰성·전이 가능성·확증성·일관성 기준 점검과 삼각검증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0476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328635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작성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356250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방법·결과·논의 장 구조화와 인용문 배치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40955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433425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생성/검증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001207" y="461040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보고서 초안의 오류 점검과 맥락 중심 수정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001207" y="51435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001207" y="538124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피어리뷰·최종 발표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6001207" y="5658307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 검토와 발표 준비</a:t>
            </a:r>
            <a:endParaRPr lang="en-US" sz="12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8098" y="1904695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38098" y="1904695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572000" y="1904695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0" y="1904695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905902" y="1904695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905902" y="1904695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238098" y="4143146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238098" y="4143146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72000" y="4143146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0" y="4143146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905902" y="4143146"/>
            <a:ext cx="3047695" cy="2095805"/>
          </a:xfrm>
          <a:prstGeom prst="roundRect">
            <a:avLst>
              <a:gd name="adj" fmla="val 317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905902" y="4143146"/>
            <a:ext cx="3047695" cy="47549"/>
          </a:xfrm>
          <a:prstGeom prst="roundRect">
            <a:avLst>
              <a:gd name="adj" fmla="val 1398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2476195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10098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9144000" y="209580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2476195" y="433425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5810098" y="433425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9144000" y="4334256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학습목표</a:t>
            </a:r>
            <a:endParaRPr lang="en-US" sz="4200" dirty="0"/>
          </a:p>
        </p:txBody>
      </p:sp>
      <p:pic>
        <p:nvPicPr>
          <p:cNvPr id="28" name="Image 2" descr="gen-dedup-daf36bf42f9975d02f44ea602573fb84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2676449" y="2266798"/>
            <a:ext cx="171907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33195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엄격성 의미와 기준 이해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29207" y="3286354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엄격성의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4가지 기준을 이해합니다.</a:t>
            </a:r>
            <a:endParaRPr lang="en-US" sz="1200" dirty="0"/>
          </a:p>
        </p:txBody>
      </p:sp>
      <p:pic>
        <p:nvPicPr>
          <p:cNvPr id="31" name="Image 3" descr="gen-dedup-290b3035c44befe42013b24313d4080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2266798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667098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엄격성 확보 전략 설명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4762195" y="3286354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신뢰성·전이 가능성·확증성·일관성 확보 전략을 설명할 수 있습니다.</a:t>
            </a:r>
            <a:endParaRPr lang="en-US" sz="1200" dirty="0"/>
          </a:p>
        </p:txBody>
      </p:sp>
      <p:pic>
        <p:nvPicPr>
          <p:cNvPr id="34" name="Image 4" descr="gen-dedup-33626163e6bacc8549aecbc2e0c0c96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15907" y="2266798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001000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성찰 메모 작성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8096098" y="3286354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위치성과 해석 개입을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명시하는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메모를 작성합니다.</a:t>
            </a:r>
            <a:endParaRPr lang="en-US" sz="1200" dirty="0"/>
          </a:p>
        </p:txBody>
      </p:sp>
      <p:pic>
        <p:nvPicPr>
          <p:cNvPr id="37" name="Image 5" descr="gen-dedup-ed005ba89e4b018aa4d540a33041fd50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2676449" y="4505249"/>
            <a:ext cx="171907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333195" y="5048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보고서 구조와 작성 원리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1429207" y="5524805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보고서의 전체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원리를 익힙니다.</a:t>
            </a:r>
            <a:endParaRPr lang="en-US" sz="1200" dirty="0"/>
          </a:p>
        </p:txBody>
      </p:sp>
      <p:pic>
        <p:nvPicPr>
          <p:cNvPr id="40" name="Image 6" descr="gen-dedup-94a339420a0675138cfcb85146b4eb2e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5952744" y="4505249"/>
            <a:ext cx="286207" cy="2286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4667098" y="5048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AI 초안 생성·검증·수정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4762195" y="5524805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활용한 보고서 초안 생성과 체계적 검증·수정을 수행합니다.</a:t>
            </a:r>
            <a:endParaRPr lang="en-US" sz="1200" dirty="0"/>
          </a:p>
        </p:txBody>
      </p:sp>
      <p:pic>
        <p:nvPicPr>
          <p:cNvPr id="43" name="Image 7" descr="gen-dedup-164106c73fc72ec1dc9a8fc4cdeab378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9286646" y="4505249"/>
            <a:ext cx="286207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001000" y="5048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06. 피어리뷰와 최종 발표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8096098" y="5524805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체크리스트 기반 상호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발표를 준비합니다.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9D5DA8-2DC2-884E-AD38-7E3CAECCC4B0}"/>
              </a:ext>
            </a:extLst>
          </p:cNvPr>
          <p:cNvSpPr txBox="1"/>
          <p:nvPr/>
        </p:nvSpPr>
        <p:spPr>
          <a:xfrm>
            <a:off x="1060907" y="1638148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7A1F1F"/>
                </a:solidFill>
              </a:rPr>
              <a:t>ㅡ  그룹 </a:t>
            </a:r>
            <a:r>
              <a:rPr lang="en-US" altLang="ko-KR" sz="1100" b="1">
                <a:solidFill>
                  <a:srgbClr val="7A1F1F"/>
                </a:solidFill>
              </a:rPr>
              <a:t>1. </a:t>
            </a:r>
            <a:r>
              <a:rPr lang="ko-KR" altLang="en-US" sz="1100" b="1">
                <a:solidFill>
                  <a:srgbClr val="7A1F1F"/>
                </a:solidFill>
              </a:rPr>
              <a:t>엄격성 확보  ㅡ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D6FC39-9223-634C-91A2-395CA1CF48A9}"/>
              </a:ext>
            </a:extLst>
          </p:cNvPr>
          <p:cNvSpPr txBox="1"/>
          <p:nvPr/>
        </p:nvSpPr>
        <p:spPr>
          <a:xfrm>
            <a:off x="1060907" y="3886547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 b="1" dirty="0" err="1">
                <a:solidFill>
                  <a:srgbClr val="7A1F1F"/>
                </a:solidFill>
              </a:rPr>
              <a:t>ㅡ</a:t>
            </a:r>
            <a:r>
              <a:rPr lang="ko-KR" altLang="en-US" sz="1100" b="1" dirty="0">
                <a:solidFill>
                  <a:srgbClr val="7A1F1F"/>
                </a:solidFill>
              </a:rPr>
              <a:t>  그룹 </a:t>
            </a:r>
            <a:r>
              <a:rPr lang="en-US" altLang="ko-KR" sz="1100" b="1" dirty="0">
                <a:solidFill>
                  <a:srgbClr val="7A1F1F"/>
                </a:solidFill>
              </a:rPr>
              <a:t>2. </a:t>
            </a:r>
            <a:r>
              <a:rPr lang="ko-KR" altLang="en-US" sz="1100" b="1" dirty="0">
                <a:solidFill>
                  <a:srgbClr val="7A1F1F"/>
                </a:solidFill>
              </a:rPr>
              <a:t>보고서 작성과 검증  </a:t>
            </a:r>
            <a:r>
              <a:rPr lang="ko-KR" altLang="en-US" sz="1100" b="1" dirty="0" err="1">
                <a:solidFill>
                  <a:srgbClr val="7A1F1F"/>
                </a:solidFill>
              </a:rPr>
              <a:t>ㅡ</a:t>
            </a:r>
            <a:endParaRPr lang="ko-KR" altLang="en-US" sz="1100" b="1" dirty="0">
              <a:solidFill>
                <a:srgbClr val="7A1F1F"/>
              </a:solidFill>
            </a:endParaRPr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71854"/>
          </a:xfrm>
          <a:prstGeom prst="roundRect">
            <a:avLst>
              <a:gd name="adj" fmla="val 282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71854"/>
          </a:xfrm>
          <a:prstGeom prst="roundRect">
            <a:avLst>
              <a:gd name="adj" fmla="val 76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952598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7621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엄격성의</a:t>
            </a:r>
            <a:r>
              <a:rPr lang="en-US" sz="3900" dirty="0"/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필요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505249"/>
            <a:ext cx="2857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"엄격성은 '</a:t>
            </a: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주관적이다’라는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비판에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대한 연구 설계 </a:t>
            </a: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차원의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대응입니다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600" dirty="0"/>
          </a:p>
        </p:txBody>
      </p:sp>
      <p:pic>
        <p:nvPicPr>
          <p:cNvPr id="14" name="Image 1" descr="gen-dedup-c6a2ab21e279f6bfd9e1802441d81ab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주관성 비판의 한계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'질적 연구는 주관적이다'라는 비판은 양적 연구의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그대로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적용한 오해입니다.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연구에는 고유한 타당성 기준이 존재합니다.</a:t>
            </a:r>
            <a:endParaRPr lang="en-US" sz="1500" dirty="0"/>
          </a:p>
        </p:txBody>
      </p:sp>
      <p:pic>
        <p:nvPicPr>
          <p:cNvPr id="17" name="Image 2" descr="gen-dedup-8bfff726a98d78596d59faab5e1f82f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105302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3000146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차원의 대응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476549"/>
            <a:ext cx="56199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엄격성은 분석 결과가 아닌 연구 설계와 절차에서 확보됩니다.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투명성, 절차의 일관성, 해석의 성찰성이 핵심입니다.</a:t>
            </a:r>
            <a:endParaRPr lang="en-US" sz="1500" dirty="0"/>
          </a:p>
        </p:txBody>
      </p:sp>
      <p:pic>
        <p:nvPicPr>
          <p:cNvPr id="20" name="Image 3" descr="gen-dedup-d76cf9b09e2c54d1275b5a895baf28e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914900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809744"/>
            <a:ext cx="5619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타당성의 전통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286146"/>
            <a:ext cx="56199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Lincoln &amp; Guba(1985)의 신뢰성 기준은 질적 연구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고유의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체계로 학계에서 널리 인정받고 있습니다.</a:t>
            </a:r>
            <a:endParaRPr lang="en-US" sz="1500" dirty="0"/>
          </a:p>
        </p:txBody>
      </p:sp>
      <p:sp>
        <p:nvSpPr>
          <p:cNvPr id="23" name="C 각주"/>
          <p:cNvSpPr txBox="1"/>
          <p:nvPr/>
        </p:nvSpPr>
        <p:spPr>
          <a:xfrm>
            <a:off x="762000" y="6429756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Lincoln, Y. S., &amp; Guba, E. G. (1985). Naturalistic inquiry. Sage.</a:t>
            </a: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429000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429000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762695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762695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34049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238451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81805" y="2238451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048195" y="2238451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715500" y="2238451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엄격성 기준 지도</a:t>
            </a:r>
            <a:endParaRPr lang="en-US" sz="4200" dirty="0"/>
          </a:p>
        </p:txBody>
      </p:sp>
      <p:pic>
        <p:nvPicPr>
          <p:cNvPr id="22" name="Image 2" descr="gen-dedup-fa6c07ef723a83f86f59c9c6a907e5da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900123" y="2409444"/>
            <a:ext cx="200254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2952598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Credibility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05256" y="3715207"/>
            <a:ext cx="2190902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결과가 참여자의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반영하는가?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'내적 타당도'에 대응</a:t>
            </a:r>
            <a:endParaRPr lang="en-US" sz="1200" dirty="0"/>
          </a:p>
        </p:txBody>
      </p:sp>
      <p:pic>
        <p:nvPicPr>
          <p:cNvPr id="25" name="Image 3" descr="gen-dedup-2ebb48c8b9cbdedccf43a6c688dbae6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52798" y="2409444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24098" y="2952598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전이 가능성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Transferability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571646" y="3715207"/>
            <a:ext cx="2190902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결과가 유사한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 있는가?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'외적 타당도'에 대응</a:t>
            </a:r>
            <a:endParaRPr lang="en-US" sz="1200" dirty="0"/>
          </a:p>
        </p:txBody>
      </p:sp>
      <p:pic>
        <p:nvPicPr>
          <p:cNvPr id="28" name="Image 4" descr="gen-dedup-49b874970f35532dc5f3944ad80fa9c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0102" y="2409444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91402" y="2952598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확증성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Confirmability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238951" y="3715207"/>
            <a:ext cx="2190902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결과가 연구자의 편향이 아닌 자료에 근거하는가?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'객관성'에 대응</a:t>
            </a:r>
            <a:endParaRPr lang="en-US" sz="1200" dirty="0"/>
          </a:p>
        </p:txBody>
      </p:sp>
      <p:pic>
        <p:nvPicPr>
          <p:cNvPr id="31" name="Image 5" descr="gen-dedup-8cf09da8dacfea4c2065c466ed9605c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87407" y="240944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58707" y="2952598"/>
            <a:ext cx="2286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일관성/의존성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Dependability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906256" y="3715207"/>
            <a:ext cx="2190902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절차가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가능한가?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'신뢰도'에 대응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5274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4가지 기준은 서로 독립적이면서도 상호 보완적으로 작동합니다</a:t>
            </a:r>
            <a:endParaRPr lang="en-US" sz="1600" dirty="0"/>
          </a:p>
        </p:txBody>
      </p:sp>
      <p:sp>
        <p:nvSpPr>
          <p:cNvPr id="35" name="C 각주"/>
          <p:cNvSpPr txBox="1"/>
          <p:nvPr/>
        </p:nvSpPr>
        <p:spPr>
          <a:xfrm>
            <a:off x="762000" y="6429756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Lincoln, Y. S., &amp; Guba, E. G. (1985). Naturalistic inquiry. Sage. — 네 기준과 양적 연구 기준의 대응</a:t>
            </a: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신뢰성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 전략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496105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"신뢰성은 연구 결과가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경험을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얼마나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반영하는지를 보증합니다"</a:t>
            </a:r>
            <a:endParaRPr lang="en-US" sz="1500" dirty="0"/>
          </a:p>
        </p:txBody>
      </p:sp>
      <p:pic>
        <p:nvPicPr>
          <p:cNvPr id="14" name="Image 1" descr="gen-dedup-226effeba2c53e3ea355f9d614de9642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5119726" y="1295705"/>
            <a:ext cx="23774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장기적 관여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현장에 충분한 시간 동안 머물며 자료를 수집합니다.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피상적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이해를 넘어 맥락적 깊이를 확보합니다.</a:t>
            </a:r>
            <a:endParaRPr lang="en-US" sz="1500" dirty="0"/>
          </a:p>
        </p:txBody>
      </p:sp>
      <p:pic>
        <p:nvPicPr>
          <p:cNvPr id="17" name="Image 2" descr="gen-dedup-fbd70697c3c46eeb0aa7cf500e6207f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2177" y="3010205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확인 Member Checking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결과를 참여자에게 보여주고 정확성과 공정성을 확인합니다.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수정을 요청할 수 있는 기회를 보장합니다.</a:t>
            </a:r>
            <a:endParaRPr lang="en-US" sz="1500" dirty="0"/>
          </a:p>
        </p:txBody>
      </p:sp>
      <p:pic>
        <p:nvPicPr>
          <p:cNvPr id="20" name="Image 3" descr="gen-dedup-2e8b979a66991a6ca931535160352d1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삼각검증 Triangulation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인터뷰·관찰·문서자료 등 복수의 자료원과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확인하여 해석의 근거를 다층화합니다.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333195"/>
          </a:xfrm>
          <a:prstGeom prst="roundRect">
            <a:avLst>
              <a:gd name="adj" fmla="val 391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333195"/>
          </a:xfrm>
          <a:prstGeom prst="roundRect">
            <a:avLst>
              <a:gd name="adj" fmla="val 9070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전이 가능성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 전략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19549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"독자가 자신의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맥락에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가능한지 판단할 수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있도록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기술을 제공합니다"</a:t>
            </a:r>
            <a:endParaRPr lang="en-US" sz="1500" dirty="0"/>
          </a:p>
        </p:txBody>
      </p:sp>
      <p:pic>
        <p:nvPicPr>
          <p:cNvPr id="14" name="Image 1" descr="gen-dedup-5cc465d7cd0d1c2d4537573738f2c578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5119726" y="1295705"/>
            <a:ext cx="23774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맥락 기술 (Thick Description)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맥락·참여자 특성·환경·관계를 세밀하게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독자가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자신의 상황과 비교할 수 있게 합니다.</a:t>
            </a:r>
            <a:endParaRPr lang="en-US" sz="1500" dirty="0"/>
          </a:p>
        </p:txBody>
      </p:sp>
      <p:pic>
        <p:nvPicPr>
          <p:cNvPr id="17" name="Image 2" descr="gen-dedup-95ffa89cc2784611032b56011ee8f26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특성 명료화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대상의 경계·조건·제한사항을 명확히 서술합니다.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맥락에서 이 결과가 의미 있는지를 독자가 판단할 근거를 제공합니다.</a:t>
            </a:r>
            <a:endParaRPr lang="en-US" sz="1500" dirty="0"/>
          </a:p>
        </p:txBody>
      </p:sp>
      <p:pic>
        <p:nvPicPr>
          <p:cNvPr id="20" name="Image 3" descr="gen-dedup-2e8b979a66991a6ca931535160352d1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한계의 명시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전이 가능성의 범위와 제한을 솔직하게 기술합니다.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과도한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일반화를 경계하면서도 분석적 일반화의 가능성을 제시합니다.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확증성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 전략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496105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"확증성은 연구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편향이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자체에 근거함을 보여줍니다"</a:t>
            </a:r>
            <a:endParaRPr lang="en-US" sz="1500" dirty="0"/>
          </a:p>
        </p:txBody>
      </p:sp>
      <p:pic>
        <p:nvPicPr>
          <p:cNvPr id="14" name="Image 1" descr="gen-dedup-1515c72ceb9e70f1ec1f89e576148867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5119726" y="1295705"/>
            <a:ext cx="23774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근거 제시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해석에 대해 실제 자료(인용문·관찰 기록·문서)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제시합니다.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없는 주장은 삭제합니다.</a:t>
            </a:r>
            <a:endParaRPr lang="en-US" sz="1500" dirty="0"/>
          </a:p>
        </p:txBody>
      </p:sp>
      <p:pic>
        <p:nvPicPr>
          <p:cNvPr id="17" name="Image 2" descr="gen-dedup-8ef9665e597dce8681081d1d5d183ea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5095" y="3010205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 추적 (Audit Trail)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수집부터 분석, 해석까지의 전 과정을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문서화하여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제3자가 추적할 수 있게 합니다. 코드북·메모·판단 기록 포함.</a:t>
            </a:r>
            <a:endParaRPr lang="en-US" sz="1500" dirty="0"/>
          </a:p>
        </p:txBody>
      </p:sp>
      <p:pic>
        <p:nvPicPr>
          <p:cNvPr id="20" name="Image 3" descr="gen-dedup-0e7b7fa15038a65f314be2e756b173d6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086807" y="4724705"/>
            <a:ext cx="30449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 근거 문서화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이 코드를 부여했는지, 왜 이 주제로 묶었는지,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해석은 무엇이었는지를 기록합니다.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1430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143000"/>
          </a:xfrm>
          <a:prstGeom prst="roundRect">
            <a:avLst>
              <a:gd name="adj" fmla="val 10582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확보 전략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4" y="4524451"/>
            <a:ext cx="304769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"일관성은 연구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체계적이고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가능함을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보여주는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기준입니다"</a:t>
            </a:r>
            <a:endParaRPr lang="en-US" sz="1500" dirty="0"/>
          </a:p>
        </p:txBody>
      </p:sp>
      <p:pic>
        <p:nvPicPr>
          <p:cNvPr id="14" name="Image 1" descr="gen-dedup-7b5d8d6798a22b2a859c99235e5071d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8928" y="1295705"/>
            <a:ext cx="20025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 기록 표준화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수집·코딩·분석의 모든 절차를 상세히 기록합니다.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다른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연구자가 동일 절차를 따를 수 있어야 합니다.</a:t>
            </a:r>
            <a:endParaRPr lang="en-US" sz="1500" dirty="0"/>
          </a:p>
        </p:txBody>
      </p:sp>
      <p:pic>
        <p:nvPicPr>
          <p:cNvPr id="17" name="Image 2" descr="gen-dedup-bd4e011107892a95b4fdd4bc95b9d525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5119726" y="3010205"/>
            <a:ext cx="23774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 유지와 버전관리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코드북의 변경 이력을 체계적으로 관리합니다.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통합·분리·수정의 근거와 시점을 기록합니다.</a:t>
            </a:r>
            <a:endParaRPr lang="en-US" sz="1500" dirty="0"/>
          </a:p>
        </p:txBody>
      </p:sp>
      <p:pic>
        <p:nvPicPr>
          <p:cNvPr id="20" name="Image 3" descr="gen-dedup-d22c7d4f0e435e9ee8f45edbd7d4136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판단 근거 문서화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과정에서의 주요 판단(코드 부여·주제 명명·범주 구조화)에 대한 근거를 명시적으로 기록합니다.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000707"/>
            <a:ext cx="2572207" cy="385785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381451" y="2000707"/>
            <a:ext cx="2572207" cy="385785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381451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2000707"/>
            <a:ext cx="2572207" cy="385785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191402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01354" y="2000707"/>
            <a:ext cx="2572207" cy="385785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01354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476695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57185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81805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9175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삼각검증의 유형</a:t>
            </a:r>
            <a:endParaRPr lang="en-US" sz="4200" dirty="0"/>
          </a:p>
        </p:txBody>
      </p:sp>
      <p:pic>
        <p:nvPicPr>
          <p:cNvPr id="22" name="Image 2" descr="gen-dedup-b561d75d6c711d5a3c62573ef722177f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757477" y="2457907"/>
            <a:ext cx="200254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4146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자료원 삼각검증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66597" y="3619195"/>
            <a:ext cx="2286000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현상에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다양한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자료원(인터뷰·관찰·문서)을 교차 확인합니다.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일치와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불일치를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분석합니다.</a:t>
            </a:r>
            <a:endParaRPr lang="en-US" sz="1200" dirty="0"/>
          </a:p>
        </p:txBody>
      </p:sp>
      <p:pic>
        <p:nvPicPr>
          <p:cNvPr id="25" name="Image 3" descr="gen-dedup-cc7f75c6abba3839ae6d0d9afeffa7ea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4524451" y="2457907"/>
            <a:ext cx="286207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24098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삼각검증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571646" y="3619195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복수의 연구자가 동일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분석하고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편향을 줄입니다.</a:t>
            </a:r>
            <a:endParaRPr lang="en-US" sz="1200" dirty="0"/>
          </a:p>
        </p:txBody>
      </p:sp>
      <p:pic>
        <p:nvPicPr>
          <p:cNvPr id="28" name="Image 4" descr="gen-dedup-6e112b4add16dd44ade32818b881a8e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2749" y="2457907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34049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삼각검증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381598" y="3619195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서로 다른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</a:t>
            </a:r>
            <a:endParaRPr lang="en-US" sz="12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(인터뷰+관찰+설문)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결합하여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현상을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다각도로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파악합니다.</a:t>
            </a:r>
            <a:endParaRPr lang="en-US" sz="1200" dirty="0"/>
          </a:p>
        </p:txBody>
      </p:sp>
      <p:pic>
        <p:nvPicPr>
          <p:cNvPr id="31" name="Image 5" descr="gen-dedup-312c4c29f4abcf0c0a56338aa857f2f5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187330" y="2457907"/>
            <a:ext cx="200254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 삼각검증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191549" y="3619195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자료에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다른 이론적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렌즈를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다양성과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깊이를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확보합니다.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"삼각검증은 '정답 확인'이 아니라 '해석의 두께'를 확보하는 전략입니다"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381805"/>
            <a:ext cx="2857500" cy="19202"/>
          </a:xfrm>
          <a:prstGeom prst="rect">
            <a:avLst/>
          </a:prstGeom>
        </p:spPr>
      </p:pic>
      <p:pic>
        <p:nvPicPr>
          <p:cNvPr id="9" name="Image 2" descr="gen-dedup-52a08246592694b7430af1810b0f7df9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952805"/>
            <a:ext cx="38405" cy="4762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1143000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2381098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3619195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858207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61695" y="2095805"/>
            <a:ext cx="3048610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인터뷰-관찰-문서자료 연결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667098"/>
            <a:ext cx="3309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1~3 산출물의 삼각검증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97373" y="1224382"/>
            <a:ext cx="96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001207" y="10954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인터뷰 코딩 결과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1399946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1의 코드북과 모듈 2의 주제 분석표를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경험의 패턴을 확인합니다.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97373" y="2462479"/>
            <a:ext cx="96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23335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관찰 메모와 교차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63804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현장 관찰 기록과 인터뷰 결과를 비교하여 일치/불일치를 분석합니다.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97373" y="3700577"/>
            <a:ext cx="96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357164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문헌/담화 자료 연결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3877056"/>
            <a:ext cx="62398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3의 문헌 분석과 모듈 2의 담화 분석 결과를 개인 경험과 연결합니다.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497373" y="4938674"/>
            <a:ext cx="96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480974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충돌 자료 해석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5115154"/>
            <a:ext cx="61575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간 불일치를 삭제하지 않고 분석 대상으로 삼아 복잡성을 드러냅니다.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5000854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86354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62756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성찰과 위치성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77256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배경·가치·관점이 분석에 미치는 영향과 공개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0330327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성찰의</a:t>
            </a:r>
            <a:r>
              <a:rPr lang="en-US" sz="3900" dirty="0"/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496105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"성찰은 객관성의 포기가 아니라, 해석의 근거를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투명하게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공개하는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행위입니다"</a:t>
            </a:r>
            <a:endParaRPr lang="en-US" sz="1500" dirty="0"/>
          </a:p>
        </p:txBody>
      </p:sp>
      <p:pic>
        <p:nvPicPr>
          <p:cNvPr id="14" name="Image 1" descr="gen-dedup-b4fbd1565d47d530d6b8004280e285de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5086807" y="1295705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 개입의 인식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연구자는 자료를 중립적으로 읽지 않습니다.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무엇을 어떻게 보았는지, 어떤 렌즈를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사용했는지를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스스로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인식하고 기록합니다.</a:t>
            </a:r>
            <a:endParaRPr lang="en-US" sz="1500" dirty="0"/>
          </a:p>
        </p:txBody>
      </p:sp>
      <p:pic>
        <p:nvPicPr>
          <p:cNvPr id="17" name="Image 2" descr="gen-dedup-e6889006825f0b478bc48262ac1a10e1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5152644" y="3010205"/>
            <a:ext cx="171907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위치성 공개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학문적 배경·경험·가치관·사회적 위치가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분석에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미치는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영향을 독자에게 명시합니다.</a:t>
            </a:r>
            <a:endParaRPr lang="en-US" sz="1500" dirty="0"/>
          </a:p>
        </p:txBody>
      </p:sp>
      <p:pic>
        <p:nvPicPr>
          <p:cNvPr id="20" name="Image 3" descr="gen-dedup-bafb0703c90b6a41fc0acde1169a6c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 확보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성찰을 통해 연구자의 해석이 자의적이지 않음을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보여주고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독자와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참여자의 신뢰를 확보합니다.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000707"/>
            <a:ext cx="2572207" cy="366674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333902" y="2000707"/>
            <a:ext cx="2572207" cy="366674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333902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2000707"/>
            <a:ext cx="2572207" cy="366674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858707" y="2000707"/>
            <a:ext cx="2572207" cy="3666744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58707" y="2000707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3eeae03d8301c1c4e3d0da4cdd005726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4190695" y="6429146"/>
            <a:ext cx="3810305" cy="192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57185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3425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09574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85814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메모의 유형</a:t>
            </a:r>
            <a:endParaRPr lang="en-US" sz="4200" dirty="0"/>
          </a:p>
        </p:txBody>
      </p:sp>
      <p:pic>
        <p:nvPicPr>
          <p:cNvPr id="22" name="Image 2" descr="gen-dedup-d665dc9a14e6096709a03718b75e0e10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772107" y="2457907"/>
            <a:ext cx="1719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6598" y="3047695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현장 메모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61695" y="3524098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수집 현장에서 느낀 감정·인상·의문을 즉시 기록합니다. 현장의 분위기와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비언어적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단서를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포착합니다.</a:t>
            </a:r>
            <a:endParaRPr lang="en-US" sz="1300" dirty="0"/>
          </a:p>
        </p:txBody>
      </p:sp>
      <p:pic>
        <p:nvPicPr>
          <p:cNvPr id="25" name="Image 3" descr="gen-dedup-aa478887ac3b25a80f105cbe9140c80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05249" y="2457907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429000" y="3047695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분석 메모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524098" y="3524098"/>
            <a:ext cx="2190902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코딩과 주제화 과정에서 떠오른 해석·연결·의문을 기록합니다.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'왜 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부여했는가’의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남깁니다.</a:t>
            </a:r>
            <a:endParaRPr lang="en-US" sz="1300" dirty="0"/>
          </a:p>
        </p:txBody>
      </p:sp>
      <p:pic>
        <p:nvPicPr>
          <p:cNvPr id="28" name="Image 4" descr="gen-dedup-ebf62fe4a202e0647019ea23912e1ad8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239305" y="2457907"/>
            <a:ext cx="286207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91402" y="3047695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방법 메모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286500" y="3524098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절차와 방법론적 판단에 대한 기록입니다.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 방법을 선택했는지,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대안을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고려했는지를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문서화합니다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Image 5" descr="gen-dedup-bafdd0d325222841466ef113217a267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30054" y="2457907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53805" y="3047695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위치성 메모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048902" y="3524098"/>
            <a:ext cx="21909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자신의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배경·가치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선입견이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분석에 미친 영향을 성찰합니다.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'나는 왜 이렇게 해석했는가'를 묻습니다.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52744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메모는 연구의 부록이 아니라, 엄격성을 증명하는 핵심 문서입니다.</a:t>
            </a:r>
            <a:endParaRPr lang="en-US" sz="1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2781605"/>
          </a:xfrm>
          <a:prstGeom prst="roundRect">
            <a:avLst>
              <a:gd name="adj" fmla="val 360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2781605"/>
          </a:xfrm>
          <a:prstGeom prst="roundRect">
            <a:avLst>
              <a:gd name="adj" fmla="val 360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2781605"/>
          </a:xfrm>
          <a:prstGeom prst="roundRect">
            <a:avLst>
              <a:gd name="adj" fmla="val 360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953305"/>
            <a:ext cx="10724998" cy="761695"/>
          </a:xfrm>
          <a:prstGeom prst="roundRect">
            <a:avLst>
              <a:gd name="adj" fmla="val 2401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953305"/>
            <a:ext cx="57607" cy="761695"/>
          </a:xfrm>
          <a:prstGeom prst="roundRect">
            <a:avLst>
              <a:gd name="adj" fmla="val 31746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 작성 실습</a:t>
            </a:r>
            <a:endParaRPr lang="en-US" sz="3600" dirty="0"/>
          </a:p>
        </p:txBody>
      </p:sp>
      <p:pic>
        <p:nvPicPr>
          <p:cNvPr id="17" name="Image 1" descr="gen-dedup-1089c05490c35b2f49212f10e27539dd.png"/>
          <p:cNvPicPr>
            <a:picLocks noChangeAspect="1"/>
          </p:cNvPicPr>
          <p:nvPr/>
        </p:nvPicPr>
        <p:blipFill>
          <a:blip r:embed="rId3"/>
          <a:srcRect l="-16667" r="-16667"/>
          <a:stretch/>
        </p:blipFill>
        <p:spPr>
          <a:xfrm>
            <a:off x="2266798" y="2219249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자료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전사 단편 또는 분석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조각을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읽으며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떠오른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생각·감정·의문을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포착합니다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20" name="Image 2" descr="gen-dedup-fcc826bc17d97c200b56a96c37cc550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2219249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 초안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29520" y="3238805"/>
            <a:ext cx="2948726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질문(왜 이 부분이 눈에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띄었는가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?)·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감정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(이 자료를 읽으며 무엇을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느꼈는가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?)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·판단 기준(어떤 렌즈로 해석했는가?)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성찰 메모를 작성합니다.</a:t>
            </a:r>
            <a:endParaRPr lang="en-US" sz="1300" dirty="0"/>
          </a:p>
        </p:txBody>
      </p:sp>
      <p:pic>
        <p:nvPicPr>
          <p:cNvPr id="23" name="Image 3" descr="gen-dedup-c205f9a33e32bbff6f50672b6afdc4b6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9696298" y="2219249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6240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82305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위치성이 명시되어 있는가?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개입 지점이 구체적인가?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정당화에 빠지지 않았는가?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191049"/>
            <a:ext cx="10096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작성 → 조별 공유 → 피드백 교환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성찰 메모에 줄 수 있는 도움과 한계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도움</a:t>
            </a:r>
            <a:endParaRPr lang="en-US" sz="2100" dirty="0"/>
          </a:p>
        </p:txBody>
      </p:sp>
      <p:pic>
        <p:nvPicPr>
          <p:cNvPr id="15" name="Image 0" descr="gen-dedup-228edc5a98d1695c11adf542ddfecbad.png"/>
          <p:cNvPicPr>
            <a:picLocks noChangeAspect="1"/>
          </p:cNvPicPr>
          <p:nvPr/>
        </p:nvPicPr>
        <p:blipFill>
          <a:blip r:embed="rId2"/>
          <a:srcRect l="-1282" r="-1282"/>
          <a:stretch/>
        </p:blipFill>
        <p:spPr>
          <a:xfrm>
            <a:off x="985723" y="2238451"/>
            <a:ext cx="219456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33195" y="21717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457907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메모의 형식과 질문 프레임을 제안</a:t>
            </a:r>
            <a:endParaRPr lang="en-US" sz="1200" dirty="0"/>
          </a:p>
        </p:txBody>
      </p:sp>
      <p:pic>
        <p:nvPicPr>
          <p:cNvPr id="18" name="Image 1" descr="gen-dedup-96e866325a8f270facd0f2dcb316f9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354" y="3191256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33195" y="31245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 생성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3409798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성찰을 이끄는 탐색적 질문 제공</a:t>
            </a:r>
            <a:endParaRPr lang="en-US" sz="1200" dirty="0"/>
          </a:p>
        </p:txBody>
      </p:sp>
      <p:pic>
        <p:nvPicPr>
          <p:cNvPr id="21" name="Image 2" descr="gen-dedup-1dfc731f798ec10b9f3fdcf380934f4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354" y="4143146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33195" y="40763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 정리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333195" y="4362602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메모의 문장을 명료하게 다듬기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2100" dirty="0"/>
          </a:p>
        </p:txBody>
      </p:sp>
      <p:pic>
        <p:nvPicPr>
          <p:cNvPr id="26" name="Image 3" descr="gen-dedup-02d3da916b89dc0df86bd757cd70fb0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6854" y="2238451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619695" y="21717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 대체 불가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619695" y="2457907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실제 경험과 감정을 대신 기술할 수 없음</a:t>
            </a:r>
            <a:endParaRPr lang="en-US" sz="1200" dirty="0"/>
          </a:p>
        </p:txBody>
      </p:sp>
      <p:pic>
        <p:nvPicPr>
          <p:cNvPr id="29" name="Image 4" descr="gen-dedup-37ce821c70d0879f74d3a1e7171b029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86854" y="3191256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19695" y="31245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감정 추정 금지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619695" y="3409798"/>
            <a:ext cx="3812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연구자가 느꼈을 감정을 추측하거나 생성하면 안 됨</a:t>
            </a:r>
            <a:endParaRPr lang="en-US" sz="1200" dirty="0"/>
          </a:p>
        </p:txBody>
      </p:sp>
      <p:pic>
        <p:nvPicPr>
          <p:cNvPr id="32" name="Image 5" descr="gen-dedup-720549e0c6be0266ef59706ab3e1ee1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86854" y="4143146"/>
            <a:ext cx="190195" cy="190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619695" y="407639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과장된 해석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7619695" y="4362602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성찰을 극적으로 미화하거나 과장하는 오류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14070" y="5896051"/>
            <a:ext cx="101690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"성찰 메모는 AI가 '대신 써주는' 것이 아니라, 연구자가 AI의 도움으로 '더 잘 쓰는' 것입니다"</a:t>
            </a:r>
            <a:endParaRPr lang="en-US" sz="16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5000854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86354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762756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 보고서 작성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477256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구조와 장별 작성 원리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686595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95598"/>
            <a:ext cx="2857500" cy="19202"/>
          </a:xfrm>
          <a:prstGeom prst="rect">
            <a:avLst/>
          </a:prstGeom>
        </p:spPr>
      </p:pic>
      <p:pic>
        <p:nvPicPr>
          <p:cNvPr id="9" name="Image 2" descr="gen-dedup-bad5e3265033ee53ba1749de683ca2a5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5524805" y="761695"/>
            <a:ext cx="38405" cy="49533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47995" y="809244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447995" y="1714500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447995" y="2619756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47995" y="3524098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447995" y="4429354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447995" y="5333695"/>
            <a:ext cx="190195" cy="1901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761695" y="2095805"/>
            <a:ext cx="304861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구조</a:t>
            </a:r>
            <a:endParaRPr lang="en-US" sz="39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4286707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서론에서 부록까지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761695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1. 서론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095451"/>
            <a:ext cx="5524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배경·필요성·목적·연구 질문을 서술합니다.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01207" y="1666951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2. 연구방법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2000707"/>
            <a:ext cx="5524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참여자·자료수집·분석 절차·윤리·연구자 위치성을 기술합니다.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2572207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3. 결과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001207" y="2905049"/>
            <a:ext cx="60953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결과를 인용문과 함께 제시합니다. (코드→하위주제→상위주제 구조)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3476549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4. 논의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3810305"/>
            <a:ext cx="5524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결과와 선행연구·이론을 연결하고 시사점과 한계를 서술합니다.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001207" y="4381805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5. 결론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4714646"/>
            <a:ext cx="5524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발견을 요약하고 후속 연구를 제언합니다.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001207" y="5286146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6. 부록·참고문헌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001207" y="5619902"/>
            <a:ext cx="5524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가이드·코드북·윤리 문서·분석 예시를 부록으로 첨부합니다.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857707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333902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572000"/>
            <a:ext cx="476402" cy="476402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750869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장 쓰기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524451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"방법 장은 독자가 연구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따라갈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 있도록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투명하게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장입니다"</a:t>
            </a:r>
            <a:endParaRPr lang="en-US" sz="1500" dirty="0"/>
          </a:p>
        </p:txBody>
      </p:sp>
      <p:pic>
        <p:nvPicPr>
          <p:cNvPr id="15" name="Image 1" descr="gen-dedup-380908753395d89b5db2973fa65e911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5048402" y="981151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905256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285646"/>
            <a:ext cx="6527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선정 기준·규모·특성·접근 방법을 기술합니다. 윤리적 동의 절차도 포함합니다.</a:t>
            </a:r>
            <a:endParaRPr lang="en-US" sz="1300" dirty="0"/>
          </a:p>
        </p:txBody>
      </p:sp>
      <p:pic>
        <p:nvPicPr>
          <p:cNvPr id="18" name="Image 2" descr="gen-dedup-6fefe2406f1aa806064242794a30c017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091379" y="2219249"/>
            <a:ext cx="200254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4335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자료수집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23744"/>
            <a:ext cx="5906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인터뷰·관찰·문서자료의 수집 방법·기간·횟수·녹음/전사 방식을 상세히 기술합니다.</a:t>
            </a:r>
            <a:endParaRPr lang="en-US" sz="1300" dirty="0"/>
          </a:p>
        </p:txBody>
      </p:sp>
      <p:pic>
        <p:nvPicPr>
          <p:cNvPr id="21" name="Image 3" descr="gen-dedup-251b936b5c013022b15ec4cbd3bf68da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5062118" y="3457346"/>
            <a:ext cx="256946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381451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절차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762756"/>
            <a:ext cx="5906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방법·주제화 전략·범주화 과정을 단계별로 설명합니다. 사용한 분석 도구도 명시합니다.</a:t>
            </a:r>
            <a:endParaRPr lang="en-US" sz="1300" dirty="0"/>
          </a:p>
        </p:txBody>
      </p:sp>
      <p:pic>
        <p:nvPicPr>
          <p:cNvPr id="24" name="Image 4" descr="gen-dedup-aa3301eacfea31f3b674bf849eae43d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6749" y="4695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6195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윤리와 위치성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000854"/>
            <a:ext cx="673364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처리·IRB 승인·비밀보장 절차와 연구자의 배경·관점·위치성을 진술합니다.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</a:t>
            </a:r>
            <a:r>
              <a:rPr lang="en-US" sz="3900" dirty="0"/>
              <a:t> </a:t>
            </a:r>
            <a:r>
              <a:rPr lang="en-US" sz="3900" b="1" kern="0" spc="-112" dirty="0" err="1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쓰기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496105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"결과 장은 자료가 말하는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것을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제시하는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장입니다"</a:t>
            </a:r>
            <a:endParaRPr lang="en-US" sz="1500" dirty="0"/>
          </a:p>
        </p:txBody>
      </p:sp>
      <p:pic>
        <p:nvPicPr>
          <p:cNvPr id="14" name="Image 1" descr="gen-dedup-4bbefb21512062751cbf828f21a59425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5086807" y="1295705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구조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코드→하위주제→상위주제의 계층 구조로 결과를 조직합니다.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주제에 대해 자료 근거→해석→의미의 3단 구조로 서술합니다.</a:t>
            </a:r>
            <a:endParaRPr lang="en-US" sz="1500" dirty="0"/>
          </a:p>
        </p:txBody>
      </p:sp>
      <p:pic>
        <p:nvPicPr>
          <p:cNvPr id="17" name="Image 2" descr="gen-dedup-37bd05da400ee9af5236be95556ab85e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5119726" y="3010205"/>
            <a:ext cx="23774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 배치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대표성·대비성·설명력 기준으로 인용문을 선택합니다.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인용(맥락 보존)과 짧은 인용(포인트 강조)을 적절히 배치합니다.</a:t>
            </a:r>
            <a:endParaRPr lang="en-US" sz="1500" dirty="0"/>
          </a:p>
        </p:txBody>
      </p:sp>
      <p:pic>
        <p:nvPicPr>
          <p:cNvPr id="20" name="Image 3" descr="gen-dedup-5853855cc424ffafdfb8c82c5db96d4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표와 도식 활용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구조표·주제도·과정도·매트릭스를 활용하여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가독성과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재현성을 높입니다.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71854"/>
          </a:xfrm>
          <a:prstGeom prst="roundRect">
            <a:avLst>
              <a:gd name="adj" fmla="val 282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71854"/>
          </a:xfrm>
          <a:prstGeom prst="roundRect">
            <a:avLst>
              <a:gd name="adj" fmla="val 76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761695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3429000"/>
            <a:ext cx="476402" cy="476402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53305" y="4762195"/>
            <a:ext cx="476402" cy="476402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장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쓰기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474159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"논의 장은 결과의 </a:t>
            </a: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의미를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확장하고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학술적 </a:t>
            </a: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대화에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참여하는</a:t>
            </a: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장입니다"</a:t>
            </a:r>
            <a:endParaRPr lang="en-US" sz="1600" dirty="0"/>
          </a:p>
        </p:txBody>
      </p:sp>
      <p:pic>
        <p:nvPicPr>
          <p:cNvPr id="15" name="Image 1" descr="gen-dedup-8ed5e6f619ffc8ea77d3ac10f7c21c6b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5048402" y="886054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19902" y="809244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연결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5619902" y="1190549"/>
            <a:ext cx="61575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결과를 기존 연구와 비교하여 일치·불일치·확장 지점을 서술합니다.</a:t>
            </a:r>
            <a:endParaRPr lang="en-US" sz="1500" dirty="0"/>
          </a:p>
        </p:txBody>
      </p:sp>
      <p:pic>
        <p:nvPicPr>
          <p:cNvPr id="18" name="Image 2" descr="gen-dedup-7964e799181721f82e93585797909a4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6749" y="2219249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19902" y="2143354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확장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5619902" y="2523744"/>
            <a:ext cx="5811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결과가 이론적·실천적으로 어떤 의미를 갖는지 해석합니다.</a:t>
            </a:r>
            <a:endParaRPr lang="en-US" sz="1500" dirty="0"/>
          </a:p>
        </p:txBody>
      </p:sp>
      <p:pic>
        <p:nvPicPr>
          <p:cNvPr id="21" name="Image 3" descr="gen-dedup-e5243316de3578cfd0ededab2fd96a9a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048402" y="3552444"/>
            <a:ext cx="2862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9902" y="3476549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시사점과 한계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5619902" y="3857854"/>
            <a:ext cx="5811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기여와 한계를 솔직하게 서술합니다. 방법론적·맥락적 제한을 명시합니다.</a:t>
            </a:r>
            <a:endParaRPr lang="en-US" sz="1500" dirty="0"/>
          </a:p>
        </p:txBody>
      </p:sp>
      <p:pic>
        <p:nvPicPr>
          <p:cNvPr id="24" name="Image 4" descr="gen-dedup-458c6a09cd9a1ffdad4321d68ca69dd6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091379" y="4886554"/>
            <a:ext cx="200254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9902" y="4809744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후속 연구 제언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5619902" y="5191049"/>
            <a:ext cx="63404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연구의 한계를 넘어서는 후속 연구 방향을 구체적으로 제안합니다.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6C757D"/>
          </a:solidFill>
          <a:ln w="12700">
            <a:solidFill>
              <a:srgbClr val="6C75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0" y="1238098"/>
            <a:ext cx="4762195" cy="4248302"/>
          </a:xfrm>
          <a:prstGeom prst="roundRect">
            <a:avLst>
              <a:gd name="adj" fmla="val 1158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238098"/>
            <a:ext cx="4762195" cy="57607"/>
          </a:xfrm>
          <a:prstGeom prst="roundRect">
            <a:avLst>
              <a:gd name="adj" fmla="val 8541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5715000"/>
            <a:ext cx="11106302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5715000"/>
            <a:ext cx="57607" cy="571500"/>
          </a:xfrm>
          <a:prstGeom prst="roundRect">
            <a:avLst>
              <a:gd name="adj" fmla="val 42328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10098" y="3047695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381305"/>
            <a:ext cx="11049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결과와 논의의 차이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665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장</a:t>
            </a:r>
            <a:endParaRPr lang="en-US" sz="2100" dirty="0"/>
          </a:p>
        </p:txBody>
      </p:sp>
      <p:pic>
        <p:nvPicPr>
          <p:cNvPr id="15" name="Image 0" descr="gen-dedup-41c0d7761ddc7e8ff4e4f251fad8bfc7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1009498" y="2238451"/>
            <a:ext cx="171907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33195" y="2143354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근거 중심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(코드·인용문·관찰 기록에 기반한 제시)</a:t>
            </a:r>
            <a:endParaRPr lang="en-US" sz="1500" dirty="0"/>
          </a:p>
        </p:txBody>
      </p:sp>
      <p:pic>
        <p:nvPicPr>
          <p:cNvPr id="17" name="Image 1" descr="gen-dedup-76d1141907436f6b8303dfc32b59ff2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6579" y="3191256"/>
            <a:ext cx="237744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33195" y="3095244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 경험 재현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(자료가 말하는 것을 충실히 전달)</a:t>
            </a:r>
            <a:endParaRPr lang="en-US" sz="1500" dirty="0"/>
          </a:p>
        </p:txBody>
      </p:sp>
      <p:pic>
        <p:nvPicPr>
          <p:cNvPr id="19" name="Image 2" descr="gen-dedup-c9803841787365d2fa3d384d65f5fcd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354" y="4143146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33195" y="4048049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950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 최소화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(연구자의 의견보다 자료의 패턴 제시)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57316" y="32196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147675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장</a:t>
            </a:r>
            <a:endParaRPr lang="en-US" sz="2100" dirty="0"/>
          </a:p>
        </p:txBody>
      </p:sp>
      <p:pic>
        <p:nvPicPr>
          <p:cNvPr id="23" name="Image 3" descr="gen-dedup-ccb7adfafe7787c054e901bcf419061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6854" y="2238451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9695" y="2143354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확장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(결과를 넘어 학술적·실천적 의미 해석)</a:t>
            </a:r>
            <a:endParaRPr lang="en-US" sz="1500" dirty="0"/>
          </a:p>
        </p:txBody>
      </p:sp>
      <p:pic>
        <p:nvPicPr>
          <p:cNvPr id="25" name="Image 4" descr="gen-dedup-aabd60a13d870ad041de20af84a163b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63079" y="3191256"/>
            <a:ext cx="2377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19695" y="3095244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대화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(기존 이론·연구와의 일치·불일치 비교)</a:t>
            </a:r>
            <a:endParaRPr lang="en-US" sz="1500" dirty="0"/>
          </a:p>
        </p:txBody>
      </p:sp>
      <p:pic>
        <p:nvPicPr>
          <p:cNvPr id="27" name="Image 5" descr="gen-dedup-4eb5b46f9907da65313fa3ddb4e9902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86854" y="41431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19695" y="4048049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분석적 목소리</a:t>
            </a:r>
            <a:endParaRPr lang="en-US" sz="15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(해석·시사점·한계·제언 서술)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2042770" y="5896051"/>
            <a:ext cx="81162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결과는 '자료가 무엇을 보여주는가', 논의는 '그것이 왜 중요한가'를 다룹니다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00707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00707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00707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476695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76902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476402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표와 도식 활용</a:t>
            </a:r>
            <a:endParaRPr lang="en-US" sz="4200" dirty="0"/>
          </a:p>
        </p:txBody>
      </p:sp>
      <p:pic>
        <p:nvPicPr>
          <p:cNvPr id="22" name="Image 2" descr="gen-dedup-b7c364fa0b7093eab435a3fb1474063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6407" y="2457907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코드 구조표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61919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코드→하위주제→상위주제의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계층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관계를 표로 정리합니다.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코드의 빈도와 대표 인용문을 포함합니다.</a:t>
            </a:r>
            <a:endParaRPr lang="en-US" sz="1200" dirty="0"/>
          </a:p>
        </p:txBody>
      </p:sp>
      <p:pic>
        <p:nvPicPr>
          <p:cNvPr id="25" name="Image 3" descr="gen-dedup-969407f493b94921da0fd5b6b6237f8e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4634179" y="2457907"/>
            <a:ext cx="256946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주제도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715207" y="361919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간 관계를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인과·동시·대비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화살표와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점선으로 표현합니다.</a:t>
            </a:r>
            <a:endParaRPr lang="en-US" sz="1200" dirty="0"/>
          </a:p>
        </p:txBody>
      </p:sp>
      <p:pic>
        <p:nvPicPr>
          <p:cNvPr id="28" name="Image 4" descr="gen-dedup-fbc4acdb6d218301e7c6fb9190f83fa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10298" y="2457907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과정도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61919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흐름이나 변화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단계별로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도식화합니다.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생애사·전환점·발달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1" name="Image 5" descr="gen-dedup-e1db1080f9cdffe39c520cf87b6e12a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72700" y="2457907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047695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매트릭스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61919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복수의 사례나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표입니다.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주제별·참여자별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교차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 자료는 독자의 이해를 돕고, 분석의 투명성을 높이는 도구입니다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857500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819095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5000854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962449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286354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440741" y="3762756"/>
            <a:ext cx="1131112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보고서 초안 생성과 검증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5477256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생성→검증→수정의 3단계로 보고서 품질을 확보합니다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9063187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90695"/>
            <a:ext cx="3295498" cy="1524305"/>
          </a:xfrm>
          <a:prstGeom prst="roundRect">
            <a:avLst>
              <a:gd name="adj" fmla="val 299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9069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초안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" y="4524451"/>
            <a:ext cx="29535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초안은 '출발점'이며,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보고서는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검토와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수정을 거쳐 완성됩니다"</a:t>
            </a:r>
            <a:endParaRPr lang="en-US" sz="1500" dirty="0"/>
          </a:p>
        </p:txBody>
      </p:sp>
      <p:pic>
        <p:nvPicPr>
          <p:cNvPr id="14" name="Image 1" descr="gen-dedup-dbcbe452dec05053345834e0180b24b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8928" y="1295705"/>
            <a:ext cx="20025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요약문 초안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주제별 코드와 대표 인용문을 입력하면 결과 장의 주제 서술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생성합니다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근거→해석→의미의 3단 구조를 요청합니다.</a:t>
            </a:r>
            <a:endParaRPr lang="en-US" sz="1500" dirty="0"/>
          </a:p>
        </p:txBody>
      </p:sp>
      <p:pic>
        <p:nvPicPr>
          <p:cNvPr id="17" name="Image 2" descr="gen-dedup-2ca7d2a794e348a2b28c24797808d3a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8928" y="3010205"/>
            <a:ext cx="20025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서술 초안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정보·자료수집 절차·분석 방법·윤리 처리를 입력하면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초안을 생성합니다. 투명성과 재현성을 강조하도록 지시합니다.</a:t>
            </a:r>
            <a:endParaRPr lang="en-US" sz="1500" dirty="0"/>
          </a:p>
        </p:txBody>
      </p:sp>
      <p:pic>
        <p:nvPicPr>
          <p:cNvPr id="20" name="Image 3" descr="gen-dedup-66d226d9e769ac8044e01acc9288223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2177" y="4724705"/>
            <a:ext cx="333756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프레임 초안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요약과 관련 선행연구 목록을 입력하면 논의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프레임</a:t>
            </a:r>
            <a:endParaRPr lang="en-US" sz="15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(일치/불일치/확장/시사점)을 초안으로 제안합니다. 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095805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429000" y="2095805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4290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0" y="2095805"/>
            <a:ext cx="2476195" cy="385785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1440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524244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5243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818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968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검증 1: 자료 근거 대조</a:t>
            </a:r>
            <a:endParaRPr lang="en-US" sz="4200" dirty="0"/>
          </a:p>
        </p:txBody>
      </p:sp>
      <p:pic>
        <p:nvPicPr>
          <p:cNvPr id="22" name="Image 2" descr="gen-dedup-8ed5e6f619ffc8ea77d3ac10f7c21c6b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666951" y="2553005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6598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근거 연결 확인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66598" y="3905402"/>
            <a:ext cx="2286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초안의 각 문장이 실제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하나씩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대조합니다.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없는 주장은 즉시 삭제합니다.</a:t>
            </a:r>
            <a:endParaRPr lang="en-US" sz="1200" dirty="0"/>
          </a:p>
        </p:txBody>
      </p:sp>
      <p:pic>
        <p:nvPicPr>
          <p:cNvPr id="25" name="Image 3" descr="gen-dedup-5a30dabac6960382543b6cae8c9508a9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567428" y="2553005"/>
            <a:ext cx="200254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24098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인용문 실제 여부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524098" y="3905402"/>
            <a:ext cx="2286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제시한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전사본에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존재하는지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원문과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대조합니다.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존재하지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않는 인용은 교체합니다.</a:t>
            </a:r>
            <a:endParaRPr lang="en-US" sz="1200" dirty="0"/>
          </a:p>
        </p:txBody>
      </p:sp>
      <p:pic>
        <p:nvPicPr>
          <p:cNvPr id="28" name="Image 4" descr="gen-dedup-9070f26cea2aaadbc24fff9e916e4e0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410298" y="2553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표절·중복 감지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381598" y="3905402"/>
            <a:ext cx="2286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동일하거나 유사한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문장이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같은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표현으로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경향이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있습니다.</a:t>
            </a:r>
            <a:endParaRPr lang="en-US" sz="1200" dirty="0"/>
          </a:p>
        </p:txBody>
      </p:sp>
      <p:pic>
        <p:nvPicPr>
          <p:cNvPr id="31" name="Image 5" descr="gen-dedup-45b600fada40b73f3deca868968e86d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67798" y="2553005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39098" y="3143707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출처 미상 주장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905402"/>
            <a:ext cx="2286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"연구에 따르면", "일반적으로" 등 모호한 출처 표현을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교체하거나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삭제합니다.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14385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 없는 문장 하나가 전체 결과의 신뢰를 흔듭니다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095805"/>
            <a:ext cx="2572207" cy="3762756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2095805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333902" y="2095805"/>
            <a:ext cx="2572207" cy="3762756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333902" y="2095805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2095805"/>
            <a:ext cx="2572207" cy="3762756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2095805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858707" y="2095805"/>
            <a:ext cx="2572207" cy="3762756"/>
          </a:xfrm>
          <a:prstGeom prst="roundRect">
            <a:avLst>
              <a:gd name="adj" fmla="val 210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58707" y="2095805"/>
            <a:ext cx="2572207" cy="47549"/>
          </a:xfrm>
          <a:prstGeom prst="roundRect">
            <a:avLst>
              <a:gd name="adj" fmla="val 113960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57185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334256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09574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858146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-438912" y="571500"/>
            <a:ext cx="1307043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검증 2: 과잉 해석·논리 비약 수정</a:t>
            </a:r>
            <a:endParaRPr lang="en-US" sz="4200" dirty="0"/>
          </a:p>
        </p:txBody>
      </p:sp>
      <p:pic>
        <p:nvPicPr>
          <p:cNvPr id="21" name="Image 1" descr="gen-dedup-7531370f06ce92e4d5b01eec6a7b2b62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757477" y="2553005"/>
            <a:ext cx="200254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66598" y="31437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 해석 탐지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3810305"/>
            <a:ext cx="21909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자료가 보여주는 범위를 넘어서는 주장이 있는지 확인합니다.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"모든 참여자가", "반드시"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과도한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일반화를 수정합니다.</a:t>
            </a:r>
            <a:endParaRPr lang="en-US" sz="1200" dirty="0"/>
          </a:p>
        </p:txBody>
      </p:sp>
      <p:pic>
        <p:nvPicPr>
          <p:cNvPr id="24" name="Image 2" descr="gen-dedup-990ff4e91fcfb6eff81e13f59ded4a4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5249" y="2553005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429000" y="31437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 비약 수정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3524098" y="3810305"/>
            <a:ext cx="21909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원인→결과 사이에 근거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없는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도약이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있는지 점검합니다.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단계의 논리를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보충하거나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완화합니다.</a:t>
            </a:r>
            <a:endParaRPr lang="en-US" sz="1200" dirty="0"/>
          </a:p>
        </p:txBody>
      </p:sp>
      <p:pic>
        <p:nvPicPr>
          <p:cNvPr id="27" name="Image 3" descr="gen-dedup-69882d068a09c185f3f11f684de4c678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7253021" y="2553005"/>
            <a:ext cx="256946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91402" y="31437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회복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286500" y="3810305"/>
            <a:ext cx="2190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생략한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상황과 배경을 복원합니다. 추상적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기술로 수정합니다.</a:t>
            </a:r>
            <a:endParaRPr lang="en-US" sz="1200" dirty="0"/>
          </a:p>
        </p:txBody>
      </p:sp>
      <p:pic>
        <p:nvPicPr>
          <p:cNvPr id="30" name="Image 4" descr="gen-dedup-050391f8f1a94239b1025ce673b5c443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0043770" y="2553005"/>
            <a:ext cx="200254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953805" y="3143707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주장-근거 정합성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048902" y="3810305"/>
            <a:ext cx="2190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해석이 제시된 자료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연결되는지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609630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 해석을 줄이는 것이 해석의 품질을 높이는 가장 확실한 방법입니다</a:t>
            </a:r>
            <a:endParaRPr lang="en-US" sz="18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292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476549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476549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191402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906256" y="2000707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906256" y="2000707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3908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29354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144207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858146" y="2286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0234" y="476402"/>
            <a:ext cx="1211122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검증 3: 중복·일반론·형식 수정</a:t>
            </a:r>
            <a:endParaRPr lang="en-US" sz="4200" dirty="0"/>
          </a:p>
        </p:txBody>
      </p:sp>
      <p:pic>
        <p:nvPicPr>
          <p:cNvPr id="22" name="Image 2" descr="gen-dedup-77c15fc084d7be5fd6fe94c7ea59ec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6407" y="2457907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52805" y="3047695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중복 표현 제거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666744"/>
            <a:ext cx="2095805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동일 내용을 다른 표현으로 반복하는 경향이 있습니다.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겹치는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문단을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통합하거나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삭제합니다.</a:t>
            </a:r>
            <a:endParaRPr lang="en-US" sz="1200" dirty="0"/>
          </a:p>
        </p:txBody>
      </p:sp>
      <p:pic>
        <p:nvPicPr>
          <p:cNvPr id="25" name="Image 3" descr="gen-dedup-36b2a9b14cc4bec52682b4df25f2a2cf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614977" y="2457907"/>
            <a:ext cx="200254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66744" y="3047695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일반론 삭제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666744" y="3666744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"질적 연구에서는 일반적으로..." 등 교과서적 서술을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제거하고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밀착된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28" name="Image 4" descr="gen-dedup-3c2675953a57561a8f74fbf8fa7375c3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7300570" y="2457907"/>
            <a:ext cx="256946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047695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 오류 점검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381598" y="3666744"/>
            <a:ext cx="20958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 표기·인용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형식·번호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체계·들여쓰기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일관성을 확인합니다.</a:t>
            </a:r>
            <a:endParaRPr lang="en-US" sz="1200" dirty="0"/>
          </a:p>
        </p:txBody>
      </p:sp>
      <p:pic>
        <p:nvPicPr>
          <p:cNvPr id="31" name="Image 5" descr="gen-dedup-7da03e77a627a0132f62fb704869bc29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043770" y="2457907"/>
            <a:ext cx="200254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6451" y="3047695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문체 통일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096451" y="3666744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설명문·해석문·논증문의 문체가 혼재되지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않도록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목적에 맞는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문체로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통일합니다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05195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"형식의 완성도는 내용의 신뢰도에 직접 영향을 미칩니다"</a:t>
            </a:r>
            <a:endParaRPr lang="en-US" sz="1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3295498" cy="3857854"/>
          </a:xfrm>
          <a:prstGeom prst="roundRect">
            <a:avLst>
              <a:gd name="adj" fmla="val 128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3295498" cy="47549"/>
          </a:xfrm>
          <a:prstGeom prst="roundRect">
            <a:avLst>
              <a:gd name="adj" fmla="val 8892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438498" y="2095805"/>
            <a:ext cx="3295498" cy="3857854"/>
          </a:xfrm>
          <a:prstGeom prst="roundRect">
            <a:avLst>
              <a:gd name="adj" fmla="val 128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438498" y="2095805"/>
            <a:ext cx="3295498" cy="47549"/>
          </a:xfrm>
          <a:prstGeom prst="roundRect">
            <a:avLst>
              <a:gd name="adj" fmla="val 88928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15300" y="2095805"/>
            <a:ext cx="3295498" cy="3857854"/>
          </a:xfrm>
          <a:prstGeom prst="roundRect">
            <a:avLst>
              <a:gd name="adj" fmla="val 128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15300" y="2095805"/>
            <a:ext cx="3295498" cy="47549"/>
          </a:xfrm>
          <a:prstGeom prst="roundRect">
            <a:avLst>
              <a:gd name="adj" fmla="val 88928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124151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800954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477756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-74981" y="571500"/>
            <a:ext cx="1234257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학술적 문체 정리: 설명문·해석문·논증문</a:t>
            </a:r>
            <a:endParaRPr lang="en-US" sz="4200" dirty="0"/>
          </a:p>
        </p:txBody>
      </p:sp>
      <p:pic>
        <p:nvPicPr>
          <p:cNvPr id="18" name="Image 1" descr="gen-dedup-8c5e33c1c312da5ab27304de92c7e5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5144" y="2553005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52805" y="3143707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설명문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952805" y="3619195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사실과 절차를 전달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3857854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장, 결과 장 앞부분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52805" y="3995390"/>
            <a:ext cx="31043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객관적 기술, 자료 제시, 코드·인용문 나열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952805" y="4619549"/>
            <a:ext cx="2915107" cy="629107"/>
          </a:xfrm>
          <a:prstGeom prst="roundRect">
            <a:avLst>
              <a:gd name="adj" fmla="val 17618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952805" y="4619549"/>
            <a:ext cx="29151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"참여자 5명 중 4명이 업무 </a:t>
            </a:r>
            <a:r>
              <a:rPr lang="en-US" sz="1100" i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과부하를</a:t>
            </a: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i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보고하였다</a:t>
            </a: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100" dirty="0"/>
          </a:p>
        </p:txBody>
      </p:sp>
      <p:pic>
        <p:nvPicPr>
          <p:cNvPr id="25" name="Image 2" descr="gen-dedup-7787ee6a61d51491410f85b8663923ae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6001207" y="2553005"/>
            <a:ext cx="1719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629607" y="3143707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해석문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4629607" y="3619195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자료의 의미를 분석적으로 설명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629607" y="3857854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장 주제 서술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629607" y="4095598"/>
            <a:ext cx="35542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 해석, 맥락 연결, 근거 기반 추론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629607" y="4429354"/>
            <a:ext cx="2915107" cy="629107"/>
          </a:xfrm>
          <a:prstGeom prst="roundRect">
            <a:avLst>
              <a:gd name="adj" fmla="val 17618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4629607" y="4429354"/>
            <a:ext cx="29151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"이는 조직 문화가 개인의 대처 </a:t>
            </a:r>
            <a:r>
              <a:rPr lang="en-US" sz="1100" i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전략에</a:t>
            </a: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i="1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영향을</a:t>
            </a: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미침을 시사한다"</a:t>
            </a:r>
            <a:endParaRPr lang="en-US" sz="1100" dirty="0"/>
          </a:p>
        </p:txBody>
      </p:sp>
      <p:pic>
        <p:nvPicPr>
          <p:cNvPr id="32" name="Image 3" descr="gen-dedup-becf72d97c4f5467c102c9b205f9e5b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8749" y="2553005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305495" y="3143707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논증문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8305495" y="3619195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주장을 근거로 뒷받침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8305495" y="3857854"/>
            <a:ext cx="2915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위치: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장, 결론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305495" y="4095598"/>
            <a:ext cx="3214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특징: 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대화, 시사점 도출, 제언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8305495" y="4429354"/>
            <a:ext cx="2915107" cy="629107"/>
          </a:xfrm>
          <a:prstGeom prst="roundRect">
            <a:avLst>
              <a:gd name="adj" fmla="val 17618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8305495" y="4429354"/>
            <a:ext cx="29151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"본 연구의 결과는 선행연구(저자, 연도)의 주장을 확장하며, 맥락적 요인의 중요성을 부각한다"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문체는 목적이 다르므로, 장별로 적절한 문체를 선택하는 것이 중요합니다</a:t>
            </a:r>
            <a:endParaRPr lang="en-US" sz="16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476195" cy="3810305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476195" cy="3810305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810305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476195" cy="3810305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001207"/>
            <a:ext cx="3810305" cy="91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714500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76902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39305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001707" y="2381098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 최종 검토</a:t>
            </a:r>
            <a:endParaRPr lang="en-US" sz="4200" dirty="0"/>
          </a:p>
        </p:txBody>
      </p:sp>
      <p:pic>
        <p:nvPicPr>
          <p:cNvPr id="22" name="Image 2" descr="gen-dedup-fa6c07ef723a83f86f59c9c6a907e5da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900123" y="2553005"/>
            <a:ext cx="200254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707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본문-참고문헌 일치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3810305"/>
            <a:ext cx="2095805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본문에 인용된 모든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목록에 있는지,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참고문헌에만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없는 항목은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없는지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200" dirty="0"/>
          </a:p>
        </p:txBody>
      </p:sp>
      <p:pic>
        <p:nvPicPr>
          <p:cNvPr id="25" name="Image 3" descr="gen-dedup-471b66f93923b37f676eb18df70a476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7895" y="255300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195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서지정보 정확성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3715207" y="3810305"/>
            <a:ext cx="20958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저자명·연도·제목·학술지·권호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페이지·DOI가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원문과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일치하는지 검증합니다.</a:t>
            </a:r>
            <a:endParaRPr lang="en-US" sz="1200" dirty="0"/>
          </a:p>
        </p:txBody>
      </p:sp>
      <p:pic>
        <p:nvPicPr>
          <p:cNvPr id="28" name="Image 4" descr="gen-dedup-e3b52e38cdb2e7ac3dce6c1b2fc37bd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10298" y="255300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81598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 통일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81030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APA/MLA 등 선택한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일관되게 적용합니다.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들여쓰기·이탤릭·구두점을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통일합니다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pic>
        <p:nvPicPr>
          <p:cNvPr id="31" name="Image 5" descr="gen-dedup-9a58c0f1cc0a1940f1afc20b77450a90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144354" y="2553005"/>
            <a:ext cx="2862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1437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검증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239098" y="3810305"/>
            <a:ext cx="2095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제안한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반드시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 DB에서 원문 존재를 확인합니다.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문헌은 즉시 제거합니다.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참고문헌의 정확성은 연구의 학술적 신뢰를 결정하는 최종 관문입니다</a:t>
            </a:r>
            <a:endParaRPr lang="en-US" sz="17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2430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24098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24098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48902" y="2095805"/>
            <a:ext cx="2476195" cy="3666744"/>
          </a:xfrm>
          <a:prstGeom prst="roundRect">
            <a:avLst>
              <a:gd name="adj" fmla="val 227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48902" y="2095805"/>
            <a:ext cx="2476195" cy="47549"/>
          </a:xfrm>
          <a:prstGeom prst="roundRect">
            <a:avLst>
              <a:gd name="adj" fmla="val 11834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 rot="2700000">
            <a:off x="6048756" y="1485900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714500" y="24761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476902" y="24761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239305" y="24761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0001707" y="2476195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61695" y="571500"/>
            <a:ext cx="10668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 구성: 투명성과 재현성 확보</a:t>
            </a:r>
            <a:endParaRPr lang="en-US" sz="4200" dirty="0"/>
          </a:p>
        </p:txBody>
      </p:sp>
      <p:pic>
        <p:nvPicPr>
          <p:cNvPr id="21" name="Image 1" descr="gen-dedup-dda388de01df0e09b11e5ad6af13d6b2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857146" y="2648102"/>
            <a:ext cx="286207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7707" y="3238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인터뷰 가이드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3810305"/>
            <a:ext cx="20958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사용한 인터뷰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질문지를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첨부합니다.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질문·추적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질문·종료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구조를 보여줍니다.</a:t>
            </a:r>
            <a:endParaRPr lang="en-US" sz="1200" dirty="0"/>
          </a:p>
        </p:txBody>
      </p:sp>
      <p:pic>
        <p:nvPicPr>
          <p:cNvPr id="24" name="Image 2" descr="gen-dedup-312c4c29f4abcf0c0a56338aa857f2f5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662526" y="2648102"/>
            <a:ext cx="200254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619195" y="3238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코드북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3715207" y="3810305"/>
            <a:ext cx="20958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코드북(코드명·정의·포함/제외 기준·예시문)을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제공합니다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재현성을 보장합니다.</a:t>
            </a:r>
            <a:endParaRPr lang="en-US" sz="1200" dirty="0"/>
          </a:p>
        </p:txBody>
      </p:sp>
      <p:pic>
        <p:nvPicPr>
          <p:cNvPr id="27" name="Image 3" descr="gen-dedup-d6ecaefad5a143da2debe85a49c6c45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10298" y="2648102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81598" y="3238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 문서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476695" y="3810305"/>
            <a:ext cx="20958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IRB 승인서·동의서 양식·익명화 처리 기준 등 윤리 관련 문서를 첨부합니다.</a:t>
            </a:r>
            <a:endParaRPr lang="en-US" sz="1200" dirty="0"/>
          </a:p>
        </p:txBody>
      </p:sp>
      <p:pic>
        <p:nvPicPr>
          <p:cNvPr id="30" name="Image 4" descr="gen-dedup-719c491c01b6da00e3d889808d60278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72700" y="2648102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44000" y="3238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예시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239098" y="3810305"/>
            <a:ext cx="20958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 과정 예시·주제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전환점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목록 등 분석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제시합니다.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"부록은 독자가 연구 과정을 투명하게 추적할 수 있게 하는 감사 추적의 핵심입니다"</a:t>
            </a:r>
            <a:endParaRPr lang="en-US" sz="16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8095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472066af5812d1e873a03ab66b3bce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1809598"/>
            <a:ext cx="12191695" cy="95098"/>
          </a:xfrm>
          <a:prstGeom prst="rect">
            <a:avLst/>
          </a:prstGeom>
        </p:spPr>
      </p:pic>
      <p:pic>
        <p:nvPicPr>
          <p:cNvPr id="6" name="Image 1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2762402"/>
            <a:ext cx="5715000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7695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48902" y="2723998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fd67f95732fe2122622f186b6f8930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238805" y="4858207"/>
            <a:ext cx="5715000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47695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048902" y="4819802"/>
            <a:ext cx="95098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1666951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953598" y="1666951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07c2701eb25f84d01a70e2b5e2b5016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9030" y="1809598"/>
            <a:ext cx="142646" cy="190195"/>
          </a:xfrm>
          <a:prstGeom prst="rect">
            <a:avLst/>
          </a:prstGeom>
        </p:spPr>
      </p:pic>
      <p:pic>
        <p:nvPicPr>
          <p:cNvPr id="17" name="Image 4" descr="gen-dedup-644f96b25e4bf5620dc9a640fee579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0018" y="1809598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143707"/>
            <a:ext cx="762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3619195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피어리뷰와 최종 발표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2286000" y="5333695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외부 시선으로 논리와 엄격성을 점검하고, 발표를 준비합니다</a:t>
            </a:r>
            <a:endParaRPr lang="en-US" sz="18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1919102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381805"/>
            <a:ext cx="3295498" cy="1333195"/>
          </a:xfrm>
          <a:prstGeom prst="roundRect">
            <a:avLst>
              <a:gd name="adj" fmla="val 3919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381805"/>
            <a:ext cx="57607" cy="1333195"/>
          </a:xfrm>
          <a:prstGeom prst="roundRect">
            <a:avLst>
              <a:gd name="adj" fmla="val 90703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gen-dedup-77c36399815475e1c58b4cda30bb66b6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4381805" y="761695"/>
            <a:ext cx="19202" cy="5333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3305" y="1143000"/>
            <a:ext cx="571500" cy="571500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953305" y="2857500"/>
            <a:ext cx="571500" cy="571500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53305" y="4572000"/>
            <a:ext cx="571500" cy="571500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19549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"피어리뷰는 연구자가 보지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못한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맹점을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외부 시선으로 </a:t>
            </a: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발견하는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</a:t>
            </a: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향상 절차입니다"</a:t>
            </a:r>
            <a:endParaRPr lang="en-US" sz="1500" dirty="0"/>
          </a:p>
        </p:txBody>
      </p:sp>
      <p:pic>
        <p:nvPicPr>
          <p:cNvPr id="14" name="Image 1" descr="gen-dedup-98eb2a2fe6a4b43f8ad0a0f40951049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2177" y="1295705"/>
            <a:ext cx="333756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0098" y="1190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맹점 발견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1666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 자신이 인식하지 못한 논리적 비약·근거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부족·표현의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모호함을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연구자가 지적합니다.</a:t>
            </a:r>
            <a:endParaRPr lang="en-US" sz="1500" dirty="0"/>
          </a:p>
        </p:txBody>
      </p:sp>
      <p:pic>
        <p:nvPicPr>
          <p:cNvPr id="17" name="Image 2" descr="gen-dedup-e303840b0f473e36205545bd11325c1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8928" y="3010205"/>
            <a:ext cx="200254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0098" y="29050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논리·근거·윤리 재검토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810098" y="33814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질문-자료-분석의 정합성, 인용문의 적절성,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처리의 완결성을 체계적으로 점검합니다.</a:t>
            </a:r>
            <a:endParaRPr lang="en-US" sz="1500" dirty="0"/>
          </a:p>
        </p:txBody>
      </p:sp>
      <p:pic>
        <p:nvPicPr>
          <p:cNvPr id="20" name="Image 3" descr="gen-dedup-1cb6acfeb2e9ab12c796e0c60497b45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05095" y="4724705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10098" y="4619549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향상 피드백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810098" y="5095951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건설적 피드백을 통해 보고서의 완성도를 높입니다.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비판이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아닌 개선을 위한 협력 과정입니다.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143000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524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524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381805" y="1524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381805" y="1524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91195" y="1524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91195" y="1524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71500" y="3810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3810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81805" y="3810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381805" y="3810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91195" y="3810305"/>
            <a:ext cx="3429000" cy="2143354"/>
          </a:xfrm>
          <a:prstGeom prst="roundRect">
            <a:avLst>
              <a:gd name="adj" fmla="val 303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191195" y="3810305"/>
            <a:ext cx="3429000" cy="47549"/>
          </a:xfrm>
          <a:prstGeom prst="roundRect">
            <a:avLst>
              <a:gd name="adj" fmla="val 136752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rot="2700000">
            <a:off x="6048756" y="110459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048256" y="1714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857646" y="1714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667951" y="1714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048256" y="4000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857646" y="4000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667951" y="4000500"/>
            <a:ext cx="476402" cy="476402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체크리스트</a:t>
            </a:r>
            <a:endParaRPr lang="en-US" sz="3600" dirty="0"/>
          </a:p>
        </p:txBody>
      </p:sp>
      <p:pic>
        <p:nvPicPr>
          <p:cNvPr id="27" name="Image 1" descr="gen-dedup-978e20077518cb3b97a39075b42331cb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2176272" y="1857146"/>
            <a:ext cx="219456" cy="19019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1695" y="2286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질문-자료-분석 정합성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61695" y="2667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질문에 대해 적절한 자료가 수집되었고,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방법이 질문에 부합하는가?</a:t>
            </a:r>
            <a:endParaRPr lang="en-US" sz="1200" dirty="0"/>
          </a:p>
        </p:txBody>
      </p:sp>
      <p:pic>
        <p:nvPicPr>
          <p:cNvPr id="30" name="Image 2" descr="gen-dedup-18410841ff1def4b26754b6c79bd68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01207" y="1857146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572000" y="2286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주제 명료성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4572000" y="2667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주제명이 분석적이고 코드 구조가 명확한가?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경계가 모호하지 않은가?</a:t>
            </a:r>
            <a:endParaRPr lang="en-US" sz="1200" dirty="0"/>
          </a:p>
        </p:txBody>
      </p:sp>
      <p:pic>
        <p:nvPicPr>
          <p:cNvPr id="33" name="Image 3" descr="gen-dedup-78c89230c752da9a992402955b634f4a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9820656" y="1857146"/>
            <a:ext cx="171907" cy="1901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382305" y="2286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인용문 적절성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382305" y="2667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인용문이 대표성·설명력을 갖추고 있으며,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원의가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보존되어 있는가?</a:t>
            </a:r>
            <a:endParaRPr lang="en-US" sz="1200" dirty="0"/>
          </a:p>
        </p:txBody>
      </p:sp>
      <p:pic>
        <p:nvPicPr>
          <p:cNvPr id="36" name="Image 4" descr="gen-dedup-1e3c6267ea3584af4d5d03035834b01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90902" y="4143146"/>
            <a:ext cx="190195" cy="19019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61695" y="4572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해석 타당성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61695" y="4953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해석이 자료 근거에 밀착되어 있으며,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과잉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해석이나 논리 비약은 없는가?</a:t>
            </a:r>
            <a:endParaRPr lang="en-US" sz="1200" dirty="0"/>
          </a:p>
        </p:txBody>
      </p:sp>
      <p:pic>
        <p:nvPicPr>
          <p:cNvPr id="39" name="Image 5" descr="gen-dedup-04388fb15844b97590865aa48b5bb65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01207" y="4143146"/>
            <a:ext cx="190195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572000" y="4572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⑤ 윤리·익명화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0" y="4953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익명화가 완결되었으며,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민감정보가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노출되지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않았는가?</a:t>
            </a:r>
            <a:endParaRPr lang="en-US" sz="1200" dirty="0"/>
          </a:p>
        </p:txBody>
      </p:sp>
      <p:pic>
        <p:nvPicPr>
          <p:cNvPr id="42" name="Image 6" descr="gen-dedup-3dd6749f69d228632821dc811da86cd8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9820656" y="4143146"/>
            <a:ext cx="171907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382305" y="45720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⑥ 참고문헌 정확성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8382305" y="4953305"/>
            <a:ext cx="3048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 인용과 참고문헌이 일치하며,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문헌이 검증되었는가?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"체크리스트 기반 검토는 감정적 비판을 줄이고 구조적 개선을 이끌어냅니다"</a:t>
            </a:r>
            <a:endParaRPr lang="en-US" sz="16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1714500"/>
            <a:ext cx="2857500" cy="19202"/>
          </a:xfrm>
          <a:prstGeom prst="rect">
            <a:avLst/>
          </a:prstGeom>
        </p:spPr>
      </p:pic>
      <p:pic>
        <p:nvPicPr>
          <p:cNvPr id="8" name="Image 1" descr="gen-dedup-65163aeaf0719c3d642ed43dd0695e8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761695" y="4000500"/>
            <a:ext cx="2857500" cy="19202"/>
          </a:xfrm>
          <a:prstGeom prst="rect">
            <a:avLst/>
          </a:prstGeom>
        </p:spPr>
      </p:pic>
      <p:pic>
        <p:nvPicPr>
          <p:cNvPr id="9" name="Image 2" descr="gen-dedup-eb5ad9e72217b0b5faf8252af55d524f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761695"/>
            <a:ext cx="38405" cy="53336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91302" y="857707"/>
            <a:ext cx="304495" cy="304495"/>
          </a:xfrm>
          <a:prstGeom prst="ellipse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391302" y="1904695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391302" y="2952598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391302" y="4000500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391302" y="5048402"/>
            <a:ext cx="304495" cy="304495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761695" y="2095805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발표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구조</a:t>
            </a:r>
            <a:endParaRPr lang="en-US" sz="4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4286707"/>
            <a:ext cx="3048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핵심만 선별하여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도식 중심으로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391302" y="8577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001207" y="76169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배경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01207" y="1037844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필요성과 목적을 2~3문장으로 압축합니다.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질문을 명확히 제시합니다.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91302" y="1904695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01207" y="18095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방법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001207" y="2085746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참여자·자료수집·분석 절차를 요약합니다. 표나 도식으로 시각화합니다.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391302" y="2952598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28575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결과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001207" y="3133649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구조도와 대표 인용문 2~3개를 중심으로 결과를 제시합니다.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최소화하고 도식을 활용합니다.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391302" y="4000500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001207" y="390540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시사점과 한계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001207" y="4181551"/>
            <a:ext cx="61575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기여와 한계를 간결하게 서술합니다. 후속 연구 방향을 제안합니다.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5391302" y="5048402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001207" y="495330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질의응답 준비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6001207" y="5229454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질문 목록을 준비합니다. 방법론·AI 활용·윤리 질문에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대비합니다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190549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904695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904695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343400" y="1904695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343400" y="1904695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115300" y="1904695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115300" y="1904695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71500" y="3905402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3905402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43400" y="3905402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343400" y="3905402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115300" y="3905402"/>
            <a:ext cx="3486607" cy="1848002"/>
          </a:xfrm>
          <a:prstGeom prst="roundRect">
            <a:avLst>
              <a:gd name="adj" fmla="val 40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115300" y="3905402"/>
            <a:ext cx="3486607" cy="38405"/>
          </a:xfrm>
          <a:prstGeom prst="roundRect">
            <a:avLst>
              <a:gd name="adj" fmla="val 196366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1ab73fceac30cf447b753f0028c32ff7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190695" y="6381598"/>
            <a:ext cx="3810305" cy="91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 rot="2700000">
            <a:off x="6048756" y="1152144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2104949" y="2095805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76849" y="2095805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9648749" y="2095805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2104949" y="4095598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5876849" y="4095598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9648749" y="4095598"/>
            <a:ext cx="418795" cy="418795"/>
          </a:xfrm>
          <a:prstGeom prst="ellipse">
            <a:avLst/>
          </a:prstGeom>
          <a:solidFill>
            <a:srgbClr val="F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핵심 원칙과 질의응답 준비</a:t>
            </a:r>
            <a:endParaRPr lang="en-US" sz="3600" dirty="0"/>
          </a:p>
        </p:txBody>
      </p:sp>
      <p:sp>
        <p:nvSpPr>
          <p:cNvPr id="28" name="Text 24"/>
          <p:cNvSpPr txBox="1"/>
          <p:nvPr/>
        </p:nvSpPr>
        <p:spPr>
          <a:xfrm>
            <a:off x="571500" y="1476756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[발표 원칙]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6286500" y="1476756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[질의응답 대비]</a:t>
            </a:r>
            <a:endParaRPr lang="en-US" sz="1800" dirty="0"/>
          </a:p>
        </p:txBody>
      </p:sp>
      <p:pic>
        <p:nvPicPr>
          <p:cNvPr id="30" name="Image 2" descr="gen-dedup-c6a5cfdd1a8a2cb7f0181753218b316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19249" y="2210105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61695" y="2619756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01. 텍스트 절제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761695" y="3000146"/>
            <a:ext cx="3105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슬라이드당 핵심 메시지 1개만 전달합니다.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문장 대신 키워드와 도식을 사용합니다.</a:t>
            </a:r>
            <a:endParaRPr lang="en-US" sz="1100" dirty="0"/>
          </a:p>
        </p:txBody>
      </p:sp>
      <p:pic>
        <p:nvPicPr>
          <p:cNvPr id="33" name="Image 3" descr="gen-dedup-0006c6e8e6bdefa1e9694eee86078dd4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001207" y="2210105"/>
            <a:ext cx="171907" cy="1901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533595" y="2619756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02. 인용문 선별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533595" y="3000146"/>
            <a:ext cx="3105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가장 대표적인 인용문 2~3개만 엄선합니다.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인용은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분석의 근거를 보여주는 수단입니다.</a:t>
            </a:r>
            <a:endParaRPr lang="en-US" sz="1100" dirty="0"/>
          </a:p>
        </p:txBody>
      </p:sp>
      <p:pic>
        <p:nvPicPr>
          <p:cNvPr id="36" name="Image 4" descr="gen-dedup-61c5baaf7375897ac044eb67912a50f3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9748418" y="2210105"/>
            <a:ext cx="219456" cy="19019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305495" y="2619756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03. 도식 중심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305495" y="3000146"/>
            <a:ext cx="3105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구조도·과정도·매트릭스를 </a:t>
            </a: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활용하여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결과를</a:t>
            </a: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시각적으로 전달합니다.</a:t>
            </a:r>
            <a:endParaRPr lang="en-US" sz="1100" dirty="0"/>
          </a:p>
        </p:txBody>
      </p:sp>
      <p:pic>
        <p:nvPicPr>
          <p:cNvPr id="39" name="Image 5" descr="gen-dedup-250c4e9901e11cd5e4747996a4991568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229307" y="4209898"/>
            <a:ext cx="171907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61695" y="4619549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04. 방법론 질문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90093" y="5000854"/>
            <a:ext cx="34680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"왜 이 방법을 선택했는가?"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"참여자 수의 적절성은?" 등에 대한 답변을 준비합니다.</a:t>
            </a:r>
            <a:endParaRPr lang="en-US" sz="1100" dirty="0"/>
          </a:p>
        </p:txBody>
      </p:sp>
      <p:pic>
        <p:nvPicPr>
          <p:cNvPr id="42" name="Image 6" descr="gen-dedup-14d4cdd6bcdffebd3cc4c31caca77ed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67374" y="4209898"/>
            <a:ext cx="237744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533595" y="4619549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05. AI 활용 질문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4533595" y="5000854"/>
            <a:ext cx="3105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"AI를 어떻게 활용했는가?" "AI 의존도는?"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"검증 절차는?" 등에 대비합니다.</a:t>
            </a:r>
            <a:endParaRPr lang="en-US" sz="1100" dirty="0"/>
          </a:p>
        </p:txBody>
      </p:sp>
      <p:pic>
        <p:nvPicPr>
          <p:cNvPr id="45" name="Image 7" descr="gen-dedup-374b6e126260733fe7d3cf410d427318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3049" y="4209898"/>
            <a:ext cx="190195" cy="19019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305495" y="4619549"/>
            <a:ext cx="3105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06. 윤리 질문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8305495" y="5000854"/>
            <a:ext cx="3105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"익명화 절차는?" "참여자 확인은?"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"민감정보 처리는?" 등에 대한 답변을 준비합니다.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"질의응답은 연구의 깊이를 보여주는 기회입니다. 준비된 답변이 신뢰를 만듭니다"</a:t>
            </a:r>
            <a:endParaRPr lang="en-US" sz="16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14907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58007" cy="3066898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6902" y="1809598"/>
            <a:ext cx="3258007" cy="3066898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809598"/>
            <a:ext cx="3258007" cy="3066898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143500"/>
            <a:ext cx="10724998" cy="1047902"/>
          </a:xfrm>
          <a:prstGeom prst="roundRect">
            <a:avLst>
              <a:gd name="adj" fmla="val 1269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5143500"/>
            <a:ext cx="57607" cy="1047902"/>
          </a:xfrm>
          <a:prstGeom prst="roundRect">
            <a:avLst>
              <a:gd name="adj" fmla="val 230881"/>
            </a:avLst>
          </a:prstGeom>
          <a:solidFill>
            <a:srgbClr val="7A1F1F"/>
          </a:solidFill>
          <a:ln w="12700">
            <a:solidFill>
              <a:srgbClr val="7A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76502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43354" y="2048256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57646" y="2048256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572854" y="2048256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476402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실습: 보고서 완성과 피어리뷰</a:t>
            </a:r>
            <a:endParaRPr lang="en-US" sz="3900" dirty="0"/>
          </a:p>
        </p:txBody>
      </p:sp>
      <p:pic>
        <p:nvPicPr>
          <p:cNvPr id="17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2171700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2805" y="2714854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과제 A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000354" y="3238805"/>
            <a:ext cx="2762402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초안에서 결과 장 문단 1개와 논의 장 문단 1개를 선정합니다.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엄격성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근거·과잉 해석·논리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비약을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점검하고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수정합니다.</a:t>
            </a:r>
            <a:endParaRPr lang="en-US" sz="1400" dirty="0"/>
          </a:p>
        </p:txBody>
      </p:sp>
      <p:pic>
        <p:nvPicPr>
          <p:cNvPr id="20" name="Image 2" descr="gen-dedup-2a05d461e4bb5131720cee676ae1f6c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217170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7098" y="2714854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과제 B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4714646" y="3238805"/>
            <a:ext cx="2762402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메모를 작성합니다: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해석이 어디서 개입했는지,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판단 기준을 사용했는지,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대안적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해석은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무엇이었는지를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기록합니다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400" dirty="0"/>
          </a:p>
        </p:txBody>
      </p:sp>
      <p:pic>
        <p:nvPicPr>
          <p:cNvPr id="23" name="Image 3" descr="gen-dedup-44d99cdfa05b2d4c44525491dc9a5665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667951" y="2171700"/>
            <a:ext cx="2862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2305" y="2714854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과제 C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8429854" y="3238805"/>
            <a:ext cx="2762402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동료와 보고서 초안을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교환하여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체크리스트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검토합니다. 건설적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서면으로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작성합니다.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381244"/>
            <a:ext cx="10096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작업 → 피어리뷰 교환 → 피드백 반영 → 전체 토론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762549"/>
            <a:ext cx="10096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32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참고: teaching.dreamitbiz.com</a:t>
            </a:r>
            <a:endParaRPr lang="en-US" sz="12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3d055a11a1629fb80c60a3aef85f0bfa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809598"/>
            <a:ext cx="3276295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09898" y="1809598"/>
            <a:ext cx="3276295" cy="2686507"/>
          </a:xfrm>
          <a:prstGeom prst="roundRect">
            <a:avLst>
              <a:gd name="adj" fmla="val 3862"/>
            </a:avLst>
          </a:prstGeom>
          <a:solidFill>
            <a:srgbClr val="FFF5F5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58100" y="1809598"/>
            <a:ext cx="3886200" cy="2686507"/>
          </a:xfrm>
          <a:prstGeom prst="roundRect">
            <a:avLst>
              <a:gd name="adj" fmla="val 3862"/>
            </a:avLst>
          </a:prstGeom>
          <a:solidFill>
            <a:srgbClr val="F8F9FA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858207"/>
            <a:ext cx="10744200" cy="1333195"/>
          </a:xfrm>
          <a:prstGeom prst="roundRect">
            <a:avLst>
              <a:gd name="adj" fmla="val 7839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75895" cy="1333195"/>
          </a:xfrm>
          <a:prstGeom prst="roundRect">
            <a:avLst>
              <a:gd name="adj" fmla="val 137694"/>
            </a:avLst>
          </a:prstGeom>
          <a:solidFill>
            <a:srgbClr val="A83232"/>
          </a:solidFill>
          <a:ln w="12700">
            <a:solidFill>
              <a:srgbClr val="A832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rot="2700000">
            <a:off x="6048756" y="1295705"/>
            <a:ext cx="95098" cy="95098"/>
          </a:xfrm>
          <a:prstGeom prst="rect">
            <a:avLst/>
          </a:prstGeom>
          <a:solidFill>
            <a:srgbClr val="7A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52498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600700" y="2095805"/>
            <a:ext cx="476402" cy="476402"/>
          </a:xfrm>
          <a:prstGeom prst="ellipse">
            <a:avLst/>
          </a:prstGeom>
          <a:solidFill>
            <a:srgbClr val="A832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과정 회고와 최종 산출물</a:t>
            </a:r>
            <a:endParaRPr lang="en-US" sz="3600" dirty="0"/>
          </a:p>
        </p:txBody>
      </p:sp>
      <p:pic>
        <p:nvPicPr>
          <p:cNvPr id="16" name="Image 1" descr="gen-dedup-b3fba909820ea789da70d7deb3ed3868.png"/>
          <p:cNvPicPr>
            <a:picLocks noChangeAspect="1"/>
          </p:cNvPicPr>
          <p:nvPr/>
        </p:nvPicPr>
        <p:blipFill>
          <a:blip r:embed="rId3"/>
          <a:srcRect t="-12500" b="-12500"/>
          <a:stretch/>
        </p:blipFill>
        <p:spPr>
          <a:xfrm>
            <a:off x="2276856" y="2219249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52805" y="2762402"/>
            <a:ext cx="2876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도와준 것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52805" y="3238805"/>
            <a:ext cx="28767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구조화·요약·초안 생성·코드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매트릭스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작성·전사 정리·프레임 분류 등 반복적이고 시간 집약적인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작업을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보조했습니다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19" name="Image 2" descr="gen-dedup-73ad3b2f1756d7cbe32209a202c4e48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724144" y="2219249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01007" y="2762402"/>
            <a:ext cx="2876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연구자가 책임진 것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401007" y="3238805"/>
            <a:ext cx="28767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판단·의미 해석·주제 명명·윤리 준수·참여자 보호·검증·성찰·최종 판단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핵심적 판단과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책임을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수행했습니다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753198" y="1952244"/>
            <a:ext cx="36768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산출물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753198" y="2333549"/>
            <a:ext cx="3676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질적 연구 보고서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  (서론-방법-결과-논의-결론-부록)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753198" y="2860243"/>
            <a:ext cx="3676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연구자 성찰 메모 (위치성·판단 기준·해석 개입 기록)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753198" y="3386938"/>
            <a:ext cx="3676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피어리뷰 반영본 (동료 피드백을 반영한 수정 보고서)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7753198" y="3913632"/>
            <a:ext cx="3676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최종 발표안 (도식 중심 발표 슬라이드와 Q&amp;A 준비)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47902" y="5238598"/>
            <a:ext cx="10096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A1F1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20시간의 여정을 마칩니다. AI는 도구였고, 연구는 여러분의 것입니다.</a:t>
            </a:r>
            <a:endParaRPr lang="en-US" sz="21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1D88DD-36F1-8547-BECA-BE10764987E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ff09d01-5243-4b29-b3e3-365df74872d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16824</Words>
  <Application>Microsoft Macintosh PowerPoint</Application>
  <PresentationFormat>와이드스크린</PresentationFormat>
  <Paragraphs>2963</Paragraphs>
  <Slides>175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175</vt:i4>
      </vt:variant>
    </vt:vector>
  </HeadingPairs>
  <TitlesOfParts>
    <vt:vector size="178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17</cp:revision>
  <dcterms:created xsi:type="dcterms:W3CDTF">2026-05-28T23:51:40Z</dcterms:created>
  <dcterms:modified xsi:type="dcterms:W3CDTF">2026-05-29T08:53:22Z</dcterms:modified>
</cp:coreProperties>
</file>