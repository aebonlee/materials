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데이터 SQL 종합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경영진의 질문에 SQL로 답하기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경영진의 질문을 SQL 질의로 번역하는 절차를 익힌다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매출·고객·운영 관점의 실무 리포트 쿼리를 작성한다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 제외 등 집계의 함정을 리포트에 반영한다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조인·집계·서브쿼리를 한 질의 안에서 결합한다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남이 쓴 긴 SQL을 논리 실행 순서대로 읽고 해석한다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매출·고객·운영 세 관점의 시나리오 9개로 훈련합니다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주에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실무에서 SQL 리포트를 요청받는 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시나리오 묶음 A — 매출 리포트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시나리오 묶음 B — 고객 분석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시나리오 묶음 C — 운영 점검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남이 쓴 긴 SQL 읽는 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총괄보고서 마무리 안내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실무에서 SQL 리포트를 요청받는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자연어 질문을 SQL로 번역하는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「올해 분기별 매출이 어떻게 되죠?」 — 질문을 SQL로 바꾸고, 결과를 의사결정에 쓸 한 줄 해석으로 되돌려 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대상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→ orders + order_items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→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거를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기간 · 상태 · 등급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묶는 단위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분기별 · 카테고리별 · 직원별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셀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· 합계 · 비율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실무에서 SQL 리포트를 요청받는 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관점 · 시나리오 9개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묶음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문법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 매출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분기별 매출 · 베스트셀러 TOP 3 · 카테고리별 비중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QUARTER · LIMIT · 스칼라 서브쿼리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 고객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90일 미주문 고객 · 등급 승급 후보 · 신규 가입 추이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 EXISTS · HAVING ·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 운영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부족 상품 · 취소율 · 직원별 처리 실적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임계값 조건 · SUM(조건식) · LEFT 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번역 절차는 늘 같다 — 대상 테이블 → 거를 조건 → 묶는 단위 → 셀 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시나리오 A · 매출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2.1 분기별 매출 — 「2026년 분기별로, 주문 건수도」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69502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69502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28910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063615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063615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6418516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641851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QUARTER(o.order_date)      AS 분기,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COUNT(DISTINCT o.order_id) AS 주문건수,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 * i.unit_price)  AS 매출액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 o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o.order_id = i.order_id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AND  YEAR(o.order_date) = 2026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QUARTER(o.order_date)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분기;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1 | 7 | 536400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 | 6 | 428700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267300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50155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50155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묶는 단위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QUARTER: 1~4분기 번호를 돌려주는 MySQL 날짜 함수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302790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285645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285645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DISTINCT 필수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조인으로 행이 늘어나 주문번호 중복을 빼고 센다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44750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427605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427605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주문 제외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빼지 않으면 매출이 부풀려진다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639946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622801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622801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11–12행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해석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2분기 매출이 1분기보다 약 10만 원 줄었다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숫자만 내밀지 말고 원인 후보까지 한 줄 — 「주문 1건 적고, 1분기 고가 가전 판매 효과가 빠졌다」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시나리오 A · 매출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2.2 베스트셀러 TOP 3 — 기준은 매출액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409194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409194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722876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72287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38344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38344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353812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353812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98474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98474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p.name                    AS 상품명,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SUM(i.qty)                AS 판매수량,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 * i.unit_price) AS 매출액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products p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p.prod_id = i.prod_id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orders      o ON i.order_id = o.order_id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p.prod_id, p.name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매출액 DESC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LIMIT  3;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공기청정기       | 2 | 378000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무선 전기포트    | 3 | 126000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곡물 시리얼 세트 | 6 |  94800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423062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405917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405917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3테이블 조인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여부(status)는 orders에 있어 한 번 더 조인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486156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469011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469011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상품별 한 행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같은 상품 대비 기본키도 함께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533476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516331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51633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9–10행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 + 자르기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없이 LIMIT만 쓰면 의미 없는 3개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612343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595198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595198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2개로 매출 1위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고단가 상품 — 수량 기준이면 3색 볼펜 세트(18개)가 1위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「잘 팔린다」의 기준이 수량인지 매출액인지 먼저 되묻는다 — 기준에 따라 순위가 완전히 달라진다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시나리오 A · 매출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2.3 카테고리별 매출 비중 — 부분 합계 ÷ 전체 합계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24403"/>
            <a:ext cx="95250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24403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79304"/>
            <a:ext cx="95250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79304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34206"/>
            <a:ext cx="95250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3420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289108"/>
            <a:ext cx="95250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644009"/>
            <a:ext cx="95250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644009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p.category,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 * i.unit_price) AS 매출액,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ROUND(SUM(i.qty * i.unit_price) * 100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/ (SELECT SUM(i2.qty * i2.unit_price)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FROM   orders o2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JOIN   order_items i2 ON o2.order_id = i2.order_id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WHERE  o2.status &lt;&gt; '취소'), 1) AS 비중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products p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p.prod_id = i.prod_id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orders      o ON i.order_id = o.order_id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p.category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매출액 DESC;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39500" y="338280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87150" y="321135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87150" y="321135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01500" y="23431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2301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301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0" y="24574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ROUND(…, 1)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소수 첫째 자리까지 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39500" y="427005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87150" y="40986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87150" y="40986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001500" y="40830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230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30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0" y="41973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분모는 스칼라 서브쿼리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매출 한 값을 구한다 — 별칭 o2, i2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39500" y="480241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87150" y="463096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87150" y="463096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001500" y="58229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2301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301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0" y="59372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분모도 취소 제외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분모와 분자의 조건이 같아야 비중이 맞다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비중(%)은 부분 합계 ÷ 전체 합계 — 전체 합계를 구하는 스칼라 서브쿼리가 필요하다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시나리오 A · 매출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2.3 결과 — 가전이 매출의 절반 이상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카테고리별 매출 비중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제외 · 소수 첫째 자리까지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5467350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1288" y="5524024"/>
            <a:ext cx="4938224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862" y="5467350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5742622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1288" y="5799296"/>
            <a:ext cx="2544794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9432" y="574262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6017895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생활용품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1288" y="6074569"/>
            <a:ext cx="1182525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7163" y="601789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6400" y="6293167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1288" y="6349841"/>
            <a:ext cx="794657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9295" y="6293167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5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45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ornament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해석 한 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10종 중 2종인 가전이 매출의 절반 이상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83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67900" y="542925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7900" y="54292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가전 매출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13239" y="5429250"/>
            <a:ext cx="569836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5639" y="5429250"/>
            <a:ext cx="539356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504,000원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67900" y="5991225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67900" y="599122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13239" y="5991225"/>
            <a:ext cx="569836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5639" y="5991225"/>
            <a:ext cx="539356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 재고·품질 이슈가 곧 회사 매출 이슈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7900" y="655320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7900" y="65532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13239" y="6553200"/>
            <a:ext cx="569836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5639" y="6553200"/>
            <a:ext cx="539356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분모의 취소 제외를 빠뜨리면 비중이 전부 작게 나온다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시나리오 B · 고객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3.1 최근 90일 미주문 고객 — 「없는 것」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c.cust_id, c.name, c.grade, c.email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NOT EXISTS (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SELECT 1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FROM   orders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WHERE  o.cust_id = c.cust_id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AND  o.status &lt;&gt; '취소'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AND  o.order_date &gt;= DATE_SUB(CURDATE(), INTERVAL 90 DAY)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EXISTS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괄호 안 조건의 주문이 한 건도 없는 고객만 남긴다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 행의 고객과 연결한다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취소는 주문이 아니다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취소된 주문은 「주문한 적」으로 치지 않는다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기준일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실행일로부터 90일 전 — 실행 날짜마다 결과가 달라진다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살아있는 리포트 — 「기준일: 실행일로부터 90일」을 명기한다 · 주문 이력이 없는 신규 고객(C010)도 포함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시나리오 B · 고객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3.2 GOLD 승급 후보 — 집계 결과에 조건을 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c.cust_id, c.name,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 * i.unit_price) AS 누적결제액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orders      o ON c.cust_id  = o.cust_id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o.order_id = i.order_id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c.grade = 'SILVER'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AND  o.status &lt;&gt; '취소'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c.cust_id, c.name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HAVING SUM(i.qty * i.unit_price) &gt;= 50000;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 C005 | 박서연 | 57800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조건은 WHERE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대상 등급 · 취소 제외는 묶기 전에 거른다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조건은 HAVING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누적액 5만 원 이상 — WHERE에 쓰면 오류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99198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82053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82053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후보는 박서연 1명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그런데 그 주문(1015)은 아직 「주문접수」 상태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결제 완료만 인정할지, 접수도 인정할지는 SQL이 아니라 경영 정책의 문제 — 경계 사례는 되묻는다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시나리오 B · 고객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3.3 신규 가입 추이 — 시간 단위로 묶어 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YEAR(joined_date) AS 가입연도,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COUNT(*)          AS 신규가입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YEAR(joined_date)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가입연도;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2023 | 1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2024 | 3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2025 | 4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2026 | 2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 단위로 묶기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 단위라면 DATE_FORMAT 으로 '%Y-%m'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시간 순 정렬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 리포트는 반드시 시간 축으로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599198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582053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582053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2026년은 진행 중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완료된 해와 나란히 놓고 「줄었다」고 읽으면 오독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 한 테이블로 충분하다 — 조인이 필요 없다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시나리오 B · 고객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3.3 결과 — 2026년은 줄어든 것일까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연도별 신규 가입자 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한 테이블 · 조인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68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5467350"/>
            <a:ext cx="64308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686" y="5524024"/>
            <a:ext cx="1283457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2493" y="5467350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5742622"/>
            <a:ext cx="64308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686" y="5799296"/>
            <a:ext cx="3850370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9406" y="574262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6017895"/>
            <a:ext cx="64308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686" y="6074569"/>
            <a:ext cx="5133826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862" y="601789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6400" y="6293167"/>
            <a:ext cx="643086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95686" y="6349841"/>
            <a:ext cx="2566913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5949" y="6293167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500" y="3162300"/>
            <a:ext cx="7810500" cy="4438650"/>
          </a:xfrm>
          <a:prstGeom prst="roundRect">
            <a:avLst>
              <a:gd name="adj" fmla="val 107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4500" y="31623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ornament"/>
          <p:cNvSpPr txBox="1"/>
          <p:nvPr/>
        </p:nvSpPr>
        <p:spPr>
          <a:xfrm>
            <a:off x="16287750" y="33718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3486150"/>
            <a:ext cx="7162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대표적 오독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진행 중인 기간을 완료된 기간과 나란히 읽기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8350" y="5219700"/>
            <a:ext cx="7162800" cy="2381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67900" y="5429250"/>
            <a:ext cx="98824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7900" y="5429250"/>
            <a:ext cx="9882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56149" y="5429250"/>
            <a:ext cx="575545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8549" y="5429250"/>
            <a:ext cx="545065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연도가 끝나지 않았다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67900" y="5991225"/>
            <a:ext cx="98824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67900" y="5991225"/>
            <a:ext cx="9882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56149" y="5991225"/>
            <a:ext cx="575545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8549" y="5991225"/>
            <a:ext cx="545065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「가입이 줄었다」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7900" y="6553200"/>
            <a:ext cx="98824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7900" y="6553200"/>
            <a:ext cx="98824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56149" y="6553200"/>
            <a:ext cx="575545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08549" y="6553200"/>
            <a:ext cx="545065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「2026년은 진행 중」 각주를 단다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시나리오 C · 운영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4.1 재고 부족 상품 — 10개 미만은 발주 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prod_id, name, category, stock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stock &lt; 10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stock;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P004 | 제주 감귤 3kg | 식품 | 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P002 | 공기청정기    | 가전 | 8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임계값 조건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품절(0)과 부족(1~9)이 모두 걸린다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 적은 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급한 것부터 위로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제주 감귤 0개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품절 — 판매 기회를 잃는 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공기청정기 8개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1위 상품의 재고가 바닥나기 직전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「재고 부족」이라도 매출 기여도와 함께 읽어야 발주 우선순위가 나온다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시나리오 C · 운영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4.2 취소율 — 전체 · 취소 · 비율 세 숫자를 한 행으로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198114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COUNT(*)                                        AS 전체주문,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SUM(status = '취소')                             AS 취소건수,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ROUND(SUM(status = '취소') / COUNT(*) * 100, 1) AS 취소율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 15 | 2 | 13.3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6642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49497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49497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분모: 전체 주문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BY가 없어 테이블 전체가 한 그룹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00818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283673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283673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SUM(조건식)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비교식은 참=1, 거짓=0 — MySQL 관용구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33499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31784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31784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비율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÷ 전체 × 100, 소수 첫째 자리까지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15건 · 취소 2건 · 13.3%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다른 DBMS에서는 SUM(CASE WHEN … THEN 1 ELSE 0 END) · 분모가 무엇인지 반드시 밝힌다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시나리오 C · 운영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4.3 직원별 처리 실적 — 「빠짐없이」는 LEFT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69502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69502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79304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79304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28910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063615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063615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e.name, e.dept,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COUNT(o.order_id) AS 유효주문수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employees e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LEFT   JOIN orders o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ON  e.emp_id = o.emp_id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AND o.status &lt;&gt; '취소'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e.emp_id, e.name, e.dept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유효주문수 DESC;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이지은 | 영업팀 | 5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박준영 | 영업팀 | 1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(나머지 직원 6명은 0)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*/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2790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5645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5645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COUNT(o.order_id)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NULL은 세지 않으므로 매칭 없는 직원은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73770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56625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56625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직원이 기준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주문이 없는 직원도 0건으로 남긴다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44750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27605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27605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제외는 ON 절에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WHERE에 두면 주문 없는 직원이 사라진다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622201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605056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605056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박준영 3건 → 1건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2건(1005·1013)이 취소 — 산정 기준을 명기한다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온라인 주문(담당자 NULL, 7건)은 이 표에 아예 나타나지 않는다는 점도 함께 보고한다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2~4. 시나리오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숫자가 틀어지는 여섯 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무슨 일이 생기나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0638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63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 조인 뒤 COUNT(*)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1591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건수가 상세 행 수로 부풀려진다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1591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0638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063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 o.order_id)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7465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7465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39147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9147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7465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 없이 LIMIT 3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0100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7465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7465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 없는 3개가 나온다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0100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7465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7465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39147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39147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7465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 기준 DESC 다음에 LIMIT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5974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5974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47656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7656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5974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비중의 분모에 취소 포함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48609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5974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5974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분모만 커져 비중이 전부 작게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48609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5974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5974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47656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47656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5974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분모와 분자에 같은 조건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4483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4483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56165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56165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4483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진행 중인 연도를 비교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57118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4483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4483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「가입이 줄었다」고 오독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57118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4483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4483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56165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56165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4483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「진행 중」 각주를 단다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2992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2992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64674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64674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2992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JOIN 뒤 WHERE 취소 제외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65627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2992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2992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없는 직원이 결과에서 사라진다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65627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2992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2992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64674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64674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2992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제외 조건을 ON 절에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43000" y="71501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43000" y="7150100"/>
            <a:ext cx="57150" cy="7175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71600" y="731837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0" y="73183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24050" y="71501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취소율의 분모를 안 밝힘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6572250" y="74136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896100" y="7150100"/>
            <a:ext cx="4495800" cy="717550"/>
          </a:xfrm>
          <a:prstGeom prst="roundRect">
            <a:avLst>
              <a:gd name="adj" fmla="val 796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62800" y="7150100"/>
            <a:ext cx="396240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회의에서 서로 다른 숫자로 다툰다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1487150" y="741362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1811000" y="7150100"/>
            <a:ext cx="5334000" cy="717550"/>
          </a:xfrm>
          <a:prstGeom prst="roundRect">
            <a:avLst>
              <a:gd name="adj" fmla="val 7964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811000" y="7150100"/>
            <a:ext cx="57150" cy="7175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039600" y="731837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039600" y="73183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592050" y="7150100"/>
            <a:ext cx="4324350" cy="71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 주문인지 특정 기간인지 명기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남이 쓴 긴 SQL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SELECT부터가 아니라 FROM부터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스스로에게 던질 질문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/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테이블들이 무슨 키로 연결되는가? INNER인가 LEFT인가?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14337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8930" y="414337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행이 걸러지는가? 취소 제외·기간 조건이 있는가?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3870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930" y="483870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단위로 묶는가? (이 단위가 결과의 「한 행」이 된다)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53402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553402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묶은 뒤 어떤 그룹이 탈락하는가?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6229350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6229350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그룹에서 결국 무엇을 계산해 보여주는가? 별칭은 무엇인가?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/ LIMIT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6924675"/>
            <a:ext cx="10561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8930" y="6924675"/>
            <a:ext cx="10370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정렬하고 몇 개로 자르는가?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실무에서는 새로 쓰는 시간보다 전임자·동료가 남긴 쿼리를 해석하는 시간이 더 길다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남이 쓴 긴 SQL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읽을 때의 네 가지 요령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서브쿼리는 가장 안쪽 괄호부터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덩어리는 결국 ○○ 목록/한 값」이라고 이름을 붙인다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별칭부터 확정한다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o, c, i가 각각 어느 테이블인지 FROM 절에서 먼저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절마다 한 줄 주석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주석이 안 달리는 절이 이해 못 한 절이다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답하는 경영 질문을 한 문장으로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문장이 곧 리포트 제목이다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남이 쓴 긴 SQL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연습 — 3.2 승급 후보 쿼리를 실행 순서로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논리 실행 순서대로 읽으면 리포트 제목이 저절로 나온다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고객–주문–상세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8241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19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24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SILVER ·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제외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425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8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003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908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66609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1852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1852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187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092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5만 원 이상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95793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31036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1036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1036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371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6276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이름과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제목: 「SILVER 고객 중 누적 5만 원 이상 구매자 명단」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총괄보고서 마무리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다음 주(15주차 · 12/14)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6384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971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7336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총괄보고서는 15주차(12/14, 기말고사 날)에 제출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 실습을 정리하는 보고서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576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1910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9528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가장 의미 있다고 본 리포트를 골라 둔다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시나리오 9개 중 — 종합 분석 파트에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0768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4102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1720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질문 → SQL → 결과 해석 한 줄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쿼리마다 3단 구성으로 정리하는 것이 채점 기준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2960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629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3912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주차별 실습 결과를 미리 모아 둔다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주에는 편집만 하면 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 실습 DB 메뉴의 실무 시나리오 12선(기본→응용→심화)으로 다른 각도의 질문 12개를 더 연습할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670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67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67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67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대상 테이블 → 거를 조건 → 묶는 단위 → 셀 값 순서로 번역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7242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724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724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724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매출·실적 집계에는 언제나 status &lt;&gt; '취소'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815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5815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5815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5815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상위 N개는 ORDER BY + LIMIT, 비중은 같은 조건의 분모로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4387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4387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4387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4387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것은 NOT EXISTS, 집계 조건은 HAVING, 빠짐없이는 LEFT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2960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296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296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296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남의 SQL은 FROM부터 논리 실행 순서대로 읽는다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532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7153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7153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7153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리포트는 경영 질문 → SQL → 결과 해석 한 줄의 3단 구성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15주차 · 총정리와 기말고사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 여정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주차별 핵심 한 줄로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학기를 되짚는다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치트시트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DDL부터 DCL까지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실행되는 예문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TOP 10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틀리는 자리를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실험으로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기말고사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12/14 응시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통과제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총괄보고서도 15주차에 제출합니다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14주차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질문을 SQL로 번역하고, 결과를 한 줄 해석으로 되돌려 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 리포트 — 분기 · TOP 3 ·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분석 — 미주문 · 승급 후보 · 가입 추이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점검 — 재고 · 취소율 · 직원 실적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긴 SQL은 FROM부터 실행 순서대로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이번 주 결과물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시나리오 9개의 리포트 쿼리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